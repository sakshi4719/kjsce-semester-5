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6858000" cx="9144000"/>
  <p:notesSz cx="6858000" cy="9144000"/>
  <p:embeddedFontLst>
    <p:embeddedFont>
      <p:font typeface="Helvetica Neue"/>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6" roundtripDataSignature="AMtx7miG4HF+uHyq668cdBKBPTscmTN4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HelveticaNeue-bold.fntdata"/><Relationship Id="rId72" Type="http://schemas.openxmlformats.org/officeDocument/2006/relationships/font" Target="fonts/HelveticaNeue-regular.fntdata"/><Relationship Id="rId31" Type="http://schemas.openxmlformats.org/officeDocument/2006/relationships/slide" Target="slides/slide26.xml"/><Relationship Id="rId75" Type="http://schemas.openxmlformats.org/officeDocument/2006/relationships/font" Target="fonts/HelveticaNeue-boldItalic.fntdata"/><Relationship Id="rId30" Type="http://schemas.openxmlformats.org/officeDocument/2006/relationships/slide" Target="slides/slide25.xml"/><Relationship Id="rId74" Type="http://schemas.openxmlformats.org/officeDocument/2006/relationships/font" Target="fonts/HelveticaNeue-italic.fntdata"/><Relationship Id="rId33" Type="http://schemas.openxmlformats.org/officeDocument/2006/relationships/slide" Target="slides/slide28.xml"/><Relationship Id="rId32" Type="http://schemas.openxmlformats.org/officeDocument/2006/relationships/slide" Target="slides/slide27.xml"/><Relationship Id="rId76" Type="http://customschemas.google.com/relationships/presentationmetadata" Target="meta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13" name="Google Shape;11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23" name="Google Shape;12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33" name="Google Shape;13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43" name="Google Shape;14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53" name="Google Shape;15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63" name="Google Shape;16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73" name="Google Shape;17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192" name="Google Shape;19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59" name="Google Shape;25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69" name="Google Shape;26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80" name="Google Shape;28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91" name="Google Shape;29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18bca833b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18bca833b6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g318bca833b6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18bca833b6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18bca833b6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g318bca833b6_0_1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5" name="Google Shape;35;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7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7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7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7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7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7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7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74"/>
          <p:cNvSpPr/>
          <p:nvPr>
            <p:ph idx="2" type="pic"/>
          </p:nvPr>
        </p:nvSpPr>
        <p:spPr>
          <a:xfrm>
            <a:off x="1792288" y="612775"/>
            <a:ext cx="5486400" cy="4114800"/>
          </a:xfrm>
          <a:prstGeom prst="rect">
            <a:avLst/>
          </a:prstGeom>
          <a:noFill/>
          <a:ln>
            <a:noFill/>
          </a:ln>
        </p:spPr>
      </p:sp>
      <p:sp>
        <p:nvSpPr>
          <p:cNvPr id="68" name="Google Shape;68;p7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it4nextgen.com/wp-content/uploads/2016/08/mb6.jpg" TargetMode="External"/><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www.it4nextgen.com/wp-content/uploads/2016/08/mb6.jpg" TargetMode="External"/><Relationship Id="rId4"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www.it4nextgen.com/wp-content/uploads/2016/08/motherboard-pentium2.jpg" TargetMode="External"/><Relationship Id="rId4"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www.it4nextgen.com/wp-content/uploads/2016/08/motherboard-pentium2.jpg" TargetMode="External"/><Relationship Id="rId4"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www.it4nextgen.com/wp-content/uploads/2016/08/main-board-p4.jpg" TargetMode="External"/><Relationship Id="rId4"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I/O Management</a:t>
            </a:r>
            <a:endParaRPr/>
          </a:p>
        </p:txBody>
      </p:sp>
      <p:sp>
        <p:nvSpPr>
          <p:cNvPr id="89" name="Google Shape;8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
        <p:nvSpPr>
          <p:cNvPr id="90" name="Google Shape;90;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91" name="Google Shape;91;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2" name="Google Shape;92;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457200" y="127000"/>
            <a:ext cx="82296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Management</a:t>
            </a:r>
            <a:endParaRPr/>
          </a:p>
        </p:txBody>
      </p:sp>
      <p:sp>
        <p:nvSpPr>
          <p:cNvPr id="98" name="Google Shape;98;p2"/>
          <p:cNvSpPr txBox="1"/>
          <p:nvPr>
            <p:ph idx="1" type="body"/>
          </p:nvPr>
        </p:nvSpPr>
        <p:spPr>
          <a:xfrm>
            <a:off x="820738" y="1165225"/>
            <a:ext cx="725805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I/O management is a </a:t>
            </a:r>
            <a:r>
              <a:rPr b="1" lang="en-US" sz="2800">
                <a:solidFill>
                  <a:srgbClr val="0070C0"/>
                </a:solidFill>
              </a:rPr>
              <a:t>major component of operating system design and operation</a:t>
            </a:r>
            <a:endParaRPr/>
          </a:p>
          <a:p>
            <a:pPr indent="-285750" lvl="1" marL="742950" rtl="0" algn="l">
              <a:spcBef>
                <a:spcPts val="480"/>
              </a:spcBef>
              <a:spcAft>
                <a:spcPts val="0"/>
              </a:spcAft>
              <a:buClr>
                <a:schemeClr val="dk1"/>
              </a:buClr>
              <a:buSzPts val="2400"/>
              <a:buChar char="–"/>
            </a:pPr>
            <a:r>
              <a:rPr lang="en-US" sz="2400"/>
              <a:t>Important aspect of computer operation</a:t>
            </a:r>
            <a:endParaRPr/>
          </a:p>
          <a:p>
            <a:pPr indent="-285750" lvl="1" marL="742950" rtl="0" algn="l">
              <a:spcBef>
                <a:spcPts val="480"/>
              </a:spcBef>
              <a:spcAft>
                <a:spcPts val="0"/>
              </a:spcAft>
              <a:buClr>
                <a:srgbClr val="0070C0"/>
              </a:buClr>
              <a:buSzPts val="2400"/>
              <a:buChar char="–"/>
            </a:pPr>
            <a:r>
              <a:rPr b="1" lang="en-US" sz="2400">
                <a:solidFill>
                  <a:srgbClr val="0070C0"/>
                </a:solidFill>
              </a:rPr>
              <a:t>I/O devices vary greatly</a:t>
            </a:r>
            <a:endParaRPr/>
          </a:p>
          <a:p>
            <a:pPr indent="-285750" lvl="1" marL="742950" rtl="0" algn="l">
              <a:spcBef>
                <a:spcPts val="480"/>
              </a:spcBef>
              <a:spcAft>
                <a:spcPts val="0"/>
              </a:spcAft>
              <a:buClr>
                <a:srgbClr val="0070C0"/>
              </a:buClr>
              <a:buSzPts val="2400"/>
              <a:buChar char="–"/>
            </a:pPr>
            <a:r>
              <a:rPr b="1" lang="en-US" sz="2400">
                <a:solidFill>
                  <a:srgbClr val="0070C0"/>
                </a:solidFill>
              </a:rPr>
              <a:t>Various methods to control them</a:t>
            </a:r>
            <a:endParaRPr/>
          </a:p>
          <a:p>
            <a:pPr indent="-285750" lvl="1" marL="742950" rtl="0" algn="l">
              <a:spcBef>
                <a:spcPts val="480"/>
              </a:spcBef>
              <a:spcAft>
                <a:spcPts val="0"/>
              </a:spcAft>
              <a:buClr>
                <a:schemeClr val="dk1"/>
              </a:buClr>
              <a:buSzPts val="2400"/>
              <a:buChar char="–"/>
            </a:pPr>
            <a:r>
              <a:rPr lang="en-US" sz="2400"/>
              <a:t>Performance management </a:t>
            </a:r>
            <a:endParaRPr/>
          </a:p>
          <a:p>
            <a:pPr indent="-285750" lvl="1" marL="742950" rtl="0" algn="l">
              <a:spcBef>
                <a:spcPts val="480"/>
              </a:spcBef>
              <a:spcAft>
                <a:spcPts val="0"/>
              </a:spcAft>
              <a:buClr>
                <a:schemeClr val="dk1"/>
              </a:buClr>
              <a:buSzPts val="2400"/>
              <a:buChar char="–"/>
            </a:pPr>
            <a:r>
              <a:rPr lang="en-US" sz="2400"/>
              <a:t>New types of devices</a:t>
            </a:r>
            <a:endParaRPr/>
          </a:p>
          <a:p>
            <a:pPr indent="-107950" lvl="1" marL="742950" rtl="0" algn="l">
              <a:spcBef>
                <a:spcPts val="560"/>
              </a:spcBef>
              <a:spcAft>
                <a:spcPts val="0"/>
              </a:spcAft>
              <a:buClr>
                <a:schemeClr val="dk1"/>
              </a:buClr>
              <a:buSzPts val="2800"/>
              <a:buNone/>
            </a:pPr>
            <a:r>
              <a:t/>
            </a:r>
            <a:endParaRPr/>
          </a:p>
          <a:p>
            <a:pPr indent="-285750" lvl="1" marL="742950" rtl="0" algn="l">
              <a:spcBef>
                <a:spcPts val="560"/>
              </a:spcBef>
              <a:spcAft>
                <a:spcPts val="0"/>
              </a:spcAft>
              <a:buClr>
                <a:schemeClr val="dk1"/>
              </a:buClr>
              <a:buSzPts val="2800"/>
              <a:buFont typeface="Arial"/>
              <a:buNone/>
            </a:pPr>
            <a:r>
              <a:t/>
            </a:r>
            <a:endParaRPr/>
          </a:p>
        </p:txBody>
      </p:sp>
      <p:sp>
        <p:nvSpPr>
          <p:cNvPr id="99" name="Google Shape;99;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00" name="Google Shape;100;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1" name="Google Shape;101;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457200" y="127000"/>
            <a:ext cx="82296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Management</a:t>
            </a:r>
            <a:endParaRPr/>
          </a:p>
        </p:txBody>
      </p:sp>
      <p:sp>
        <p:nvSpPr>
          <p:cNvPr id="107" name="Google Shape;107;p3"/>
          <p:cNvSpPr txBox="1"/>
          <p:nvPr>
            <p:ph idx="1" type="body"/>
          </p:nvPr>
        </p:nvSpPr>
        <p:spPr>
          <a:xfrm>
            <a:off x="820738" y="1165225"/>
            <a:ext cx="725805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Ports, buses, device controllers </a:t>
            </a:r>
            <a:r>
              <a:rPr b="1" lang="en-US" sz="2400">
                <a:solidFill>
                  <a:srgbClr val="0070C0"/>
                </a:solidFill>
              </a:rPr>
              <a:t>connect to various devices</a:t>
            </a:r>
            <a:endParaRPr/>
          </a:p>
          <a:p>
            <a:pPr indent="-342900" lvl="0" marL="342900" rtl="0" algn="l">
              <a:spcBef>
                <a:spcPts val="480"/>
              </a:spcBef>
              <a:spcAft>
                <a:spcPts val="0"/>
              </a:spcAft>
              <a:buClr>
                <a:srgbClr val="3366FF"/>
              </a:buClr>
              <a:buSzPts val="2400"/>
              <a:buChar char="•"/>
            </a:pPr>
            <a:r>
              <a:rPr b="1" lang="en-US" sz="2400">
                <a:solidFill>
                  <a:srgbClr val="3366FF"/>
                </a:solidFill>
              </a:rPr>
              <a:t>Device drivers </a:t>
            </a:r>
            <a:r>
              <a:rPr lang="en-US" sz="2400"/>
              <a:t>encapsulate device details</a:t>
            </a:r>
            <a:endParaRPr/>
          </a:p>
          <a:p>
            <a:pPr indent="-285750" lvl="1" marL="742950" rtl="0" algn="l">
              <a:spcBef>
                <a:spcPts val="480"/>
              </a:spcBef>
              <a:spcAft>
                <a:spcPts val="0"/>
              </a:spcAft>
              <a:buClr>
                <a:schemeClr val="dk1"/>
              </a:buClr>
              <a:buSzPts val="2400"/>
              <a:buChar char="–"/>
            </a:pPr>
            <a:r>
              <a:rPr lang="en-US" sz="2400"/>
              <a:t>Present </a:t>
            </a:r>
            <a:r>
              <a:rPr b="1" lang="en-US" sz="2400">
                <a:solidFill>
                  <a:srgbClr val="0070C0"/>
                </a:solidFill>
              </a:rPr>
              <a:t>uniform device-access interface </a:t>
            </a:r>
            <a:r>
              <a:rPr lang="en-US" sz="2400"/>
              <a:t>to I/O subsystem</a:t>
            </a:r>
            <a:endParaRPr/>
          </a:p>
          <a:p>
            <a:pPr indent="-107950" lvl="1" marL="742950" rtl="0" algn="l">
              <a:spcBef>
                <a:spcPts val="560"/>
              </a:spcBef>
              <a:spcAft>
                <a:spcPts val="0"/>
              </a:spcAft>
              <a:buClr>
                <a:schemeClr val="dk1"/>
              </a:buClr>
              <a:buSzPts val="2800"/>
              <a:buNone/>
            </a:pPr>
            <a:r>
              <a:t/>
            </a:r>
            <a:endParaRPr/>
          </a:p>
          <a:p>
            <a:pPr indent="-107950" lvl="1" marL="742950" rtl="0" algn="l">
              <a:spcBef>
                <a:spcPts val="560"/>
              </a:spcBef>
              <a:spcAft>
                <a:spcPts val="0"/>
              </a:spcAft>
              <a:buClr>
                <a:schemeClr val="dk1"/>
              </a:buClr>
              <a:buSzPts val="2800"/>
              <a:buNone/>
            </a:pPr>
            <a:r>
              <a:t/>
            </a:r>
            <a:endParaRPr/>
          </a:p>
          <a:p>
            <a:pPr indent="-285750" lvl="1" marL="742950" rtl="0" algn="l">
              <a:spcBef>
                <a:spcPts val="560"/>
              </a:spcBef>
              <a:spcAft>
                <a:spcPts val="0"/>
              </a:spcAft>
              <a:buClr>
                <a:schemeClr val="dk1"/>
              </a:buClr>
              <a:buSzPts val="2800"/>
              <a:buFont typeface="Arial"/>
              <a:buNone/>
            </a:pPr>
            <a:r>
              <a:t/>
            </a:r>
            <a:endParaRPr/>
          </a:p>
        </p:txBody>
      </p:sp>
      <p:sp>
        <p:nvSpPr>
          <p:cNvPr id="108" name="Google Shape;10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09" name="Google Shape;10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0" name="Google Shape;11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701675" y="114300"/>
            <a:ext cx="798512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117" name="Google Shape;117;p4"/>
          <p:cNvSpPr txBox="1"/>
          <p:nvPr>
            <p:ph idx="1" type="body"/>
          </p:nvPr>
        </p:nvSpPr>
        <p:spPr>
          <a:xfrm>
            <a:off x="820738" y="1055688"/>
            <a:ext cx="7586662" cy="50180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Incredible variety of I/O devices</a:t>
            </a:r>
            <a:endParaRPr/>
          </a:p>
          <a:p>
            <a:pPr indent="-285750" lvl="1" marL="742950" rtl="0" algn="l">
              <a:spcBef>
                <a:spcPts val="480"/>
              </a:spcBef>
              <a:spcAft>
                <a:spcPts val="0"/>
              </a:spcAft>
              <a:buClr>
                <a:schemeClr val="accent1"/>
              </a:buClr>
              <a:buSzPts val="2400"/>
              <a:buChar char="–"/>
            </a:pPr>
            <a:r>
              <a:rPr b="1" lang="en-US" sz="2400">
                <a:solidFill>
                  <a:schemeClr val="accent1"/>
                </a:solidFill>
              </a:rPr>
              <a:t>Storage/Machine readable</a:t>
            </a:r>
            <a:endParaRPr/>
          </a:p>
          <a:p>
            <a:pPr indent="-228600" lvl="2" marL="1143000" rtl="0" algn="l">
              <a:spcBef>
                <a:spcPts val="480"/>
              </a:spcBef>
              <a:spcAft>
                <a:spcPts val="0"/>
              </a:spcAft>
              <a:buClr>
                <a:schemeClr val="dk1"/>
              </a:buClr>
              <a:buSzPts val="2400"/>
              <a:buChar char="•"/>
            </a:pPr>
            <a:r>
              <a:rPr b="1" lang="en-US"/>
              <a:t>Suitable for communicating with electronic equipment</a:t>
            </a:r>
            <a:endParaRPr/>
          </a:p>
          <a:p>
            <a:pPr indent="-228600" lvl="2" marL="1143000" rtl="0" algn="l">
              <a:spcBef>
                <a:spcPts val="480"/>
              </a:spcBef>
              <a:spcAft>
                <a:spcPts val="0"/>
              </a:spcAft>
              <a:buClr>
                <a:srgbClr val="0070C0"/>
              </a:buClr>
              <a:buSzPts val="2400"/>
              <a:buChar char="•"/>
            </a:pPr>
            <a:r>
              <a:rPr b="1" lang="en-US">
                <a:solidFill>
                  <a:srgbClr val="0070C0"/>
                </a:solidFill>
              </a:rPr>
              <a:t>Disks, </a:t>
            </a:r>
            <a:endParaRPr b="1">
              <a:solidFill>
                <a:srgbClr val="0070C0"/>
              </a:solidFill>
            </a:endParaRPr>
          </a:p>
          <a:p>
            <a:pPr indent="-228600" lvl="2" marL="1143000" rtl="0" algn="l">
              <a:spcBef>
                <a:spcPts val="480"/>
              </a:spcBef>
              <a:spcAft>
                <a:spcPts val="0"/>
              </a:spcAft>
              <a:buClr>
                <a:srgbClr val="0070C0"/>
              </a:buClr>
              <a:buSzPts val="2400"/>
              <a:buChar char="•"/>
            </a:pPr>
            <a:r>
              <a:rPr b="1" lang="en-US">
                <a:solidFill>
                  <a:srgbClr val="0070C0"/>
                </a:solidFill>
              </a:rPr>
              <a:t>Tapes</a:t>
            </a:r>
            <a:endParaRPr/>
          </a:p>
          <a:p>
            <a:pPr indent="-228600" lvl="2" marL="1143000" rtl="0" algn="l">
              <a:spcBef>
                <a:spcPts val="480"/>
              </a:spcBef>
              <a:spcAft>
                <a:spcPts val="0"/>
              </a:spcAft>
              <a:buClr>
                <a:schemeClr val="dk1"/>
              </a:buClr>
              <a:buSzPts val="2400"/>
              <a:buChar char="•"/>
            </a:pPr>
            <a:r>
              <a:rPr lang="en-US"/>
              <a:t>Sensors</a:t>
            </a:r>
            <a:endParaRPr/>
          </a:p>
          <a:p>
            <a:pPr indent="-228600" lvl="2" marL="1143000" rtl="0" algn="l">
              <a:spcBef>
                <a:spcPts val="480"/>
              </a:spcBef>
              <a:spcAft>
                <a:spcPts val="0"/>
              </a:spcAft>
              <a:buClr>
                <a:schemeClr val="dk1"/>
              </a:buClr>
              <a:buSzPts val="2400"/>
              <a:buChar char="•"/>
            </a:pPr>
            <a:r>
              <a:rPr lang="en-US"/>
              <a:t>Controllers</a:t>
            </a:r>
            <a:endParaRPr/>
          </a:p>
          <a:p>
            <a:pPr indent="-228600" lvl="2" marL="1143000" rtl="0" algn="l">
              <a:spcBef>
                <a:spcPts val="480"/>
              </a:spcBef>
              <a:spcAft>
                <a:spcPts val="0"/>
              </a:spcAft>
              <a:buClr>
                <a:srgbClr val="0070C0"/>
              </a:buClr>
              <a:buSzPts val="2400"/>
              <a:buChar char="•"/>
            </a:pPr>
            <a:r>
              <a:rPr b="1" lang="en-US">
                <a:solidFill>
                  <a:srgbClr val="0070C0"/>
                </a:solidFill>
              </a:rPr>
              <a:t>USB Keys</a:t>
            </a:r>
            <a:endParaRPr/>
          </a:p>
        </p:txBody>
      </p:sp>
      <p:sp>
        <p:nvSpPr>
          <p:cNvPr id="118" name="Google Shape;11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19" name="Google Shape;11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0" name="Google Shape;12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txBox="1"/>
          <p:nvPr>
            <p:ph type="title"/>
          </p:nvPr>
        </p:nvSpPr>
        <p:spPr>
          <a:xfrm>
            <a:off x="701675" y="114300"/>
            <a:ext cx="798512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127" name="Google Shape;127;p5"/>
          <p:cNvSpPr txBox="1"/>
          <p:nvPr>
            <p:ph idx="1" type="body"/>
          </p:nvPr>
        </p:nvSpPr>
        <p:spPr>
          <a:xfrm>
            <a:off x="820738" y="1055688"/>
            <a:ext cx="7586662" cy="50180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Incredible variety of I/O devices</a:t>
            </a:r>
            <a:endParaRPr/>
          </a:p>
          <a:p>
            <a:pPr indent="-285750" lvl="1" marL="742950" rtl="0" algn="l">
              <a:spcBef>
                <a:spcPts val="480"/>
              </a:spcBef>
              <a:spcAft>
                <a:spcPts val="0"/>
              </a:spcAft>
              <a:buClr>
                <a:schemeClr val="accent1"/>
              </a:buClr>
              <a:buSzPts val="2400"/>
              <a:buChar char="–"/>
            </a:pPr>
            <a:r>
              <a:rPr b="1" lang="en-US" sz="2400">
                <a:solidFill>
                  <a:schemeClr val="accent1"/>
                </a:solidFill>
              </a:rPr>
              <a:t>Transmission devices/Communication</a:t>
            </a:r>
            <a:endParaRPr/>
          </a:p>
          <a:p>
            <a:pPr indent="-228600" lvl="2" marL="1143000" rtl="0" algn="l">
              <a:spcBef>
                <a:spcPts val="480"/>
              </a:spcBef>
              <a:spcAft>
                <a:spcPts val="0"/>
              </a:spcAft>
              <a:buClr>
                <a:schemeClr val="dk1"/>
              </a:buClr>
              <a:buSzPts val="2400"/>
              <a:buChar char="•"/>
            </a:pPr>
            <a:r>
              <a:rPr lang="en-US"/>
              <a:t>Suitable for communicating with remote devices</a:t>
            </a:r>
            <a:endParaRPr/>
          </a:p>
          <a:p>
            <a:pPr indent="-228600" lvl="2" marL="1143000" rtl="0" algn="l">
              <a:spcBef>
                <a:spcPts val="480"/>
              </a:spcBef>
              <a:spcAft>
                <a:spcPts val="0"/>
              </a:spcAft>
              <a:buClr>
                <a:schemeClr val="dk1"/>
              </a:buClr>
              <a:buSzPts val="2400"/>
              <a:buChar char="•"/>
            </a:pPr>
            <a:r>
              <a:rPr lang="en-US"/>
              <a:t>network cards</a:t>
            </a:r>
            <a:endParaRPr/>
          </a:p>
          <a:p>
            <a:pPr indent="-228600" lvl="2" marL="1143000" rtl="0" algn="l">
              <a:spcBef>
                <a:spcPts val="480"/>
              </a:spcBef>
              <a:spcAft>
                <a:spcPts val="0"/>
              </a:spcAft>
              <a:buClr>
                <a:schemeClr val="dk1"/>
              </a:buClr>
              <a:buSzPts val="2400"/>
              <a:buChar char="•"/>
            </a:pPr>
            <a:r>
              <a:rPr lang="en-US"/>
              <a:t>modems</a:t>
            </a:r>
            <a:endParaRPr/>
          </a:p>
          <a:p>
            <a:pPr indent="-285750" lvl="1" marL="742950" rtl="0" algn="l">
              <a:spcBef>
                <a:spcPts val="480"/>
              </a:spcBef>
              <a:spcAft>
                <a:spcPts val="0"/>
              </a:spcAft>
              <a:buClr>
                <a:schemeClr val="accent1"/>
              </a:buClr>
              <a:buSzPts val="2400"/>
              <a:buChar char="–"/>
            </a:pPr>
            <a:r>
              <a:rPr b="1" lang="en-US" sz="2400">
                <a:solidFill>
                  <a:schemeClr val="accent1"/>
                </a:solidFill>
              </a:rPr>
              <a:t>Human-interface/Human Readable</a:t>
            </a:r>
            <a:endParaRPr/>
          </a:p>
          <a:p>
            <a:pPr indent="-228600" lvl="2" marL="1143000" rtl="0" algn="l">
              <a:spcBef>
                <a:spcPts val="480"/>
              </a:spcBef>
              <a:spcAft>
                <a:spcPts val="0"/>
              </a:spcAft>
              <a:buClr>
                <a:schemeClr val="dk1"/>
              </a:buClr>
              <a:buSzPts val="2400"/>
              <a:buChar char="•"/>
            </a:pPr>
            <a:r>
              <a:rPr lang="en-US"/>
              <a:t>Suitable for communicating with the user</a:t>
            </a:r>
            <a:endParaRPr/>
          </a:p>
          <a:p>
            <a:pPr indent="-228600" lvl="2" marL="1143000" rtl="0" algn="l">
              <a:spcBef>
                <a:spcPts val="480"/>
              </a:spcBef>
              <a:spcAft>
                <a:spcPts val="0"/>
              </a:spcAft>
              <a:buClr>
                <a:schemeClr val="dk1"/>
              </a:buClr>
              <a:buSzPts val="2400"/>
              <a:buChar char="•"/>
            </a:pPr>
            <a:r>
              <a:rPr lang="en-US"/>
              <a:t>Terminals i.e. Screen, video display</a:t>
            </a:r>
            <a:endParaRPr/>
          </a:p>
          <a:p>
            <a:pPr indent="-228600" lvl="2" marL="1143000" rtl="0" algn="l">
              <a:spcBef>
                <a:spcPts val="480"/>
              </a:spcBef>
              <a:spcAft>
                <a:spcPts val="0"/>
              </a:spcAft>
              <a:buClr>
                <a:schemeClr val="dk1"/>
              </a:buClr>
              <a:buSzPts val="2400"/>
              <a:buChar char="•"/>
            </a:pPr>
            <a:r>
              <a:rPr lang="en-US"/>
              <a:t>Keyboard, </a:t>
            </a:r>
            <a:endParaRPr/>
          </a:p>
          <a:p>
            <a:pPr indent="-228600" lvl="2" marL="1143000" rtl="0" algn="l">
              <a:spcBef>
                <a:spcPts val="480"/>
              </a:spcBef>
              <a:spcAft>
                <a:spcPts val="0"/>
              </a:spcAft>
              <a:buClr>
                <a:schemeClr val="dk1"/>
              </a:buClr>
              <a:buSzPts val="2400"/>
              <a:buChar char="•"/>
            </a:pPr>
            <a:r>
              <a:rPr lang="en-US"/>
              <a:t>Mouse, </a:t>
            </a:r>
            <a:endParaRPr/>
          </a:p>
          <a:p>
            <a:pPr indent="-228600" lvl="2" marL="1143000" rtl="0" algn="l">
              <a:spcBef>
                <a:spcPts val="480"/>
              </a:spcBef>
              <a:spcAft>
                <a:spcPts val="0"/>
              </a:spcAft>
              <a:buClr>
                <a:schemeClr val="dk1"/>
              </a:buClr>
              <a:buSzPts val="2400"/>
              <a:buChar char="•"/>
            </a:pPr>
            <a:r>
              <a:rPr lang="en-US"/>
              <a:t>Printers</a:t>
            </a:r>
            <a:endParaRPr/>
          </a:p>
        </p:txBody>
      </p:sp>
      <p:sp>
        <p:nvSpPr>
          <p:cNvPr id="128" name="Google Shape;12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29" name="Google Shape;12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0" name="Google Shape;13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txBox="1"/>
          <p:nvPr>
            <p:ph type="title"/>
          </p:nvPr>
        </p:nvSpPr>
        <p:spPr>
          <a:xfrm>
            <a:off x="701675" y="114300"/>
            <a:ext cx="798512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137" name="Google Shape;137;p6"/>
          <p:cNvSpPr txBox="1"/>
          <p:nvPr>
            <p:ph idx="1" type="body"/>
          </p:nvPr>
        </p:nvSpPr>
        <p:spPr>
          <a:xfrm>
            <a:off x="820738" y="1055688"/>
            <a:ext cx="7586662" cy="501808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Incredible variety of I/O devices</a:t>
            </a:r>
            <a:endParaRPr/>
          </a:p>
          <a:p>
            <a:pPr indent="-285750" lvl="1" marL="742950" rtl="0" algn="l">
              <a:spcBef>
                <a:spcPts val="480"/>
              </a:spcBef>
              <a:spcAft>
                <a:spcPts val="0"/>
              </a:spcAft>
              <a:buClr>
                <a:schemeClr val="dk1"/>
              </a:buClr>
              <a:buSzPts val="2400"/>
              <a:buChar char="–"/>
            </a:pPr>
            <a:r>
              <a:rPr lang="en-US" sz="2400"/>
              <a:t>More specialized devices –</a:t>
            </a:r>
            <a:endParaRPr/>
          </a:p>
          <a:p>
            <a:pPr indent="-228600" lvl="2" marL="1143000" rtl="0" algn="l">
              <a:spcBef>
                <a:spcPts val="480"/>
              </a:spcBef>
              <a:spcAft>
                <a:spcPts val="0"/>
              </a:spcAft>
              <a:buClr>
                <a:schemeClr val="dk1"/>
              </a:buClr>
              <a:buSzPts val="2400"/>
              <a:buChar char="•"/>
            </a:pPr>
            <a:r>
              <a:rPr lang="en-US"/>
              <a:t>Eg- Those involved in the steering of a </a:t>
            </a:r>
            <a:r>
              <a:rPr lang="en-US">
                <a:solidFill>
                  <a:srgbClr val="0070C0"/>
                </a:solidFill>
              </a:rPr>
              <a:t>military fighter jet or a space shuttle.</a:t>
            </a:r>
            <a:endParaRPr/>
          </a:p>
          <a:p>
            <a:pPr indent="-228600" lvl="2" marL="1143000" rtl="0" algn="l">
              <a:spcBef>
                <a:spcPts val="480"/>
              </a:spcBef>
              <a:spcAft>
                <a:spcPts val="0"/>
              </a:spcAft>
              <a:buClr>
                <a:schemeClr val="dk1"/>
              </a:buClr>
              <a:buSzPts val="2400"/>
              <a:buChar char="•"/>
            </a:pPr>
            <a:r>
              <a:rPr lang="en-US"/>
              <a:t>In these aircraft, </a:t>
            </a:r>
            <a:endParaRPr/>
          </a:p>
          <a:p>
            <a:pPr indent="-228600" lvl="3" marL="1600200" rtl="0" algn="l">
              <a:spcBef>
                <a:spcPts val="480"/>
              </a:spcBef>
              <a:spcAft>
                <a:spcPts val="0"/>
              </a:spcAft>
              <a:buClr>
                <a:schemeClr val="dk1"/>
              </a:buClr>
              <a:buSzPts val="2400"/>
              <a:buChar char="–"/>
            </a:pPr>
            <a:r>
              <a:rPr lang="en-US" sz="2400"/>
              <a:t>a human gives </a:t>
            </a:r>
            <a:r>
              <a:rPr lang="en-US" sz="2400">
                <a:solidFill>
                  <a:srgbClr val="0070C0"/>
                </a:solidFill>
              </a:rPr>
              <a:t>input to the flight computer </a:t>
            </a:r>
            <a:r>
              <a:rPr lang="en-US" sz="2400"/>
              <a:t>via </a:t>
            </a:r>
            <a:r>
              <a:rPr lang="en-US" sz="2400">
                <a:solidFill>
                  <a:srgbClr val="0070C0"/>
                </a:solidFill>
              </a:rPr>
              <a:t>a joystick and foot pedals</a:t>
            </a:r>
            <a:r>
              <a:rPr lang="en-US" sz="2400"/>
              <a:t>, and </a:t>
            </a:r>
            <a:endParaRPr/>
          </a:p>
          <a:p>
            <a:pPr indent="-228600" lvl="3" marL="1600200" rtl="0" algn="l">
              <a:spcBef>
                <a:spcPts val="480"/>
              </a:spcBef>
              <a:spcAft>
                <a:spcPts val="0"/>
              </a:spcAft>
              <a:buClr>
                <a:schemeClr val="dk1"/>
              </a:buClr>
              <a:buSzPts val="2400"/>
              <a:buChar char="–"/>
            </a:pPr>
            <a:r>
              <a:rPr lang="en-US" sz="2400"/>
              <a:t>the computer sends </a:t>
            </a:r>
            <a:r>
              <a:rPr lang="en-US" sz="2400">
                <a:solidFill>
                  <a:srgbClr val="0070C0"/>
                </a:solidFill>
              </a:rPr>
              <a:t>output commands that cause motors </a:t>
            </a:r>
            <a:r>
              <a:rPr lang="en-US" sz="2400"/>
              <a:t>to move rudders, flaps, and thrusters.</a:t>
            </a:r>
            <a:endParaRPr/>
          </a:p>
        </p:txBody>
      </p:sp>
      <p:sp>
        <p:nvSpPr>
          <p:cNvPr id="138" name="Google Shape;13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39" name="Google Shape;13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0" name="Google Shape;140;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701675" y="114300"/>
            <a:ext cx="798512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147" name="Google Shape;147;p7"/>
          <p:cNvSpPr txBox="1"/>
          <p:nvPr>
            <p:ph idx="1" type="body"/>
          </p:nvPr>
        </p:nvSpPr>
        <p:spPr>
          <a:xfrm>
            <a:off x="820738" y="1055688"/>
            <a:ext cx="7586662" cy="50180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t>Unit of transfer: </a:t>
            </a:r>
            <a:endParaRPr b="1" sz="2400"/>
          </a:p>
          <a:p>
            <a:pPr indent="-342900" lvl="0" marL="342900" rtl="0" algn="l">
              <a:spcBef>
                <a:spcPts val="480"/>
              </a:spcBef>
              <a:spcAft>
                <a:spcPts val="0"/>
              </a:spcAft>
              <a:buClr>
                <a:schemeClr val="dk1"/>
              </a:buClr>
              <a:buSzPts val="2400"/>
              <a:buChar char="•"/>
            </a:pPr>
            <a:r>
              <a:rPr lang="en-US" sz="2400"/>
              <a:t>Data may be transferred as a </a:t>
            </a:r>
            <a:r>
              <a:rPr lang="en-US" sz="2400">
                <a:solidFill>
                  <a:srgbClr val="0070C0"/>
                </a:solidFill>
              </a:rPr>
              <a:t>stream of bytes or characters (e.g., terminal I/O) or in larger blocks (e.g., disk I/O).</a:t>
            </a:r>
            <a:endParaRPr/>
          </a:p>
          <a:p>
            <a:pPr indent="0" lvl="0" marL="0" rtl="0" algn="l">
              <a:spcBef>
                <a:spcPts val="480"/>
              </a:spcBef>
              <a:spcAft>
                <a:spcPts val="0"/>
              </a:spcAft>
              <a:buClr>
                <a:schemeClr val="dk1"/>
              </a:buClr>
              <a:buSzPts val="2400"/>
              <a:buNone/>
            </a:pPr>
            <a:r>
              <a:rPr b="1" lang="en-US" sz="2400"/>
              <a:t>Data representation:</a:t>
            </a:r>
            <a:endParaRPr/>
          </a:p>
          <a:p>
            <a:pPr indent="-342900" lvl="0" marL="342900" rtl="0" algn="l">
              <a:spcBef>
                <a:spcPts val="480"/>
              </a:spcBef>
              <a:spcAft>
                <a:spcPts val="0"/>
              </a:spcAft>
              <a:buClr>
                <a:schemeClr val="dk1"/>
              </a:buClr>
              <a:buSzPts val="2400"/>
              <a:buChar char="•"/>
            </a:pPr>
            <a:r>
              <a:rPr lang="en-US" sz="2400"/>
              <a:t>Different data encoding schemes are used by different devices, including </a:t>
            </a:r>
            <a:r>
              <a:rPr lang="en-US" sz="2400">
                <a:solidFill>
                  <a:srgbClr val="0070C0"/>
                </a:solidFill>
              </a:rPr>
              <a:t>differences in character code and parity conventions.</a:t>
            </a:r>
            <a:endParaRPr/>
          </a:p>
          <a:p>
            <a:pPr indent="0" lvl="0" marL="0" rtl="0" algn="l">
              <a:spcBef>
                <a:spcPts val="480"/>
              </a:spcBef>
              <a:spcAft>
                <a:spcPts val="0"/>
              </a:spcAft>
              <a:buClr>
                <a:schemeClr val="dk1"/>
              </a:buClr>
              <a:buSzPts val="2400"/>
              <a:buNone/>
            </a:pPr>
            <a:r>
              <a:rPr b="1" lang="en-US" sz="2400"/>
              <a:t>Error conditions: </a:t>
            </a:r>
            <a:endParaRPr b="1" sz="2400"/>
          </a:p>
          <a:p>
            <a:pPr indent="-342900" lvl="0" marL="342900" rtl="0" algn="l">
              <a:spcBef>
                <a:spcPts val="480"/>
              </a:spcBef>
              <a:spcAft>
                <a:spcPts val="0"/>
              </a:spcAft>
              <a:buClr>
                <a:schemeClr val="dk1"/>
              </a:buClr>
              <a:buSzPts val="2400"/>
              <a:buChar char="•"/>
            </a:pPr>
            <a:r>
              <a:rPr lang="en-US" sz="2400"/>
              <a:t>The nature of errors, the way in which they are </a:t>
            </a:r>
            <a:r>
              <a:rPr lang="en-US" sz="2400">
                <a:solidFill>
                  <a:srgbClr val="0070C0"/>
                </a:solidFill>
              </a:rPr>
              <a:t>reported, </a:t>
            </a:r>
            <a:r>
              <a:rPr lang="en-US" sz="2400"/>
              <a:t>their </a:t>
            </a:r>
            <a:r>
              <a:rPr lang="en-US" sz="2400">
                <a:solidFill>
                  <a:srgbClr val="0070C0"/>
                </a:solidFill>
              </a:rPr>
              <a:t>consequences</a:t>
            </a:r>
            <a:r>
              <a:rPr lang="en-US" sz="2400"/>
              <a:t>, and the available range of </a:t>
            </a:r>
            <a:r>
              <a:rPr lang="en-US" sz="2400">
                <a:solidFill>
                  <a:srgbClr val="0070C0"/>
                </a:solidFill>
              </a:rPr>
              <a:t>responses differ</a:t>
            </a:r>
            <a:r>
              <a:rPr lang="en-US" sz="2400"/>
              <a:t> widely from one device to another.</a:t>
            </a:r>
            <a:endParaRPr sz="2400"/>
          </a:p>
        </p:txBody>
      </p:sp>
      <p:sp>
        <p:nvSpPr>
          <p:cNvPr id="148" name="Google Shape;14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49" name="Google Shape;149;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50" name="Google Shape;150;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701675" y="114300"/>
            <a:ext cx="798512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157" name="Google Shape;157;p8"/>
          <p:cNvSpPr txBox="1"/>
          <p:nvPr>
            <p:ph idx="1" type="body"/>
          </p:nvPr>
        </p:nvSpPr>
        <p:spPr>
          <a:xfrm>
            <a:off x="820738" y="1055688"/>
            <a:ext cx="7586662" cy="50180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t>Types of I/O devices-</a:t>
            </a:r>
            <a:endParaRPr/>
          </a:p>
          <a:p>
            <a:pPr indent="-342900" lvl="0" marL="342900" rtl="0" algn="l">
              <a:spcBef>
                <a:spcPts val="480"/>
              </a:spcBef>
              <a:spcAft>
                <a:spcPts val="0"/>
              </a:spcAft>
              <a:buClr>
                <a:schemeClr val="dk1"/>
              </a:buClr>
              <a:buSzPts val="2400"/>
              <a:buChar char="•"/>
            </a:pPr>
            <a:r>
              <a:rPr lang="en-US" sz="2400"/>
              <a:t>Block oriented </a:t>
            </a:r>
            <a:endParaRPr sz="2400"/>
          </a:p>
          <a:p>
            <a:pPr indent="-342900" lvl="0" marL="342900" rtl="0" algn="l">
              <a:spcBef>
                <a:spcPts val="480"/>
              </a:spcBef>
              <a:spcAft>
                <a:spcPts val="0"/>
              </a:spcAft>
              <a:buClr>
                <a:schemeClr val="dk1"/>
              </a:buClr>
              <a:buSzPts val="2400"/>
              <a:buChar char="•"/>
            </a:pPr>
            <a:r>
              <a:rPr lang="en-US" sz="2400"/>
              <a:t>Stream oriented</a:t>
            </a:r>
            <a:endParaRPr/>
          </a:p>
        </p:txBody>
      </p:sp>
      <p:sp>
        <p:nvSpPr>
          <p:cNvPr id="158" name="Google Shape;15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59" name="Google Shape;15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60" name="Google Shape;16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type="title"/>
          </p:nvPr>
        </p:nvSpPr>
        <p:spPr>
          <a:xfrm>
            <a:off x="701675" y="114300"/>
            <a:ext cx="798512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167" name="Google Shape;167;p9"/>
          <p:cNvSpPr txBox="1"/>
          <p:nvPr>
            <p:ph idx="1" type="body"/>
          </p:nvPr>
        </p:nvSpPr>
        <p:spPr>
          <a:xfrm>
            <a:off x="820738" y="1055688"/>
            <a:ext cx="7586662" cy="50180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t>Block-oriented device </a:t>
            </a:r>
            <a:endParaRPr b="1" sz="2400"/>
          </a:p>
          <a:p>
            <a:pPr indent="-342900" lvl="0" marL="342900" rtl="0" algn="l">
              <a:spcBef>
                <a:spcPts val="480"/>
              </a:spcBef>
              <a:spcAft>
                <a:spcPts val="0"/>
              </a:spcAft>
              <a:buClr>
                <a:schemeClr val="dk1"/>
              </a:buClr>
              <a:buSzPts val="2400"/>
              <a:buChar char="•"/>
            </a:pPr>
            <a:r>
              <a:rPr lang="en-US" sz="2400"/>
              <a:t>stores information in </a:t>
            </a:r>
            <a:r>
              <a:rPr lang="en-US" sz="2400">
                <a:solidFill>
                  <a:schemeClr val="accent1"/>
                </a:solidFill>
              </a:rPr>
              <a:t>blocks that are usually of fixed size</a:t>
            </a:r>
            <a:r>
              <a:rPr lang="en-US" sz="2400"/>
              <a:t>, and transfers are made </a:t>
            </a:r>
            <a:r>
              <a:rPr lang="en-US" sz="2400">
                <a:solidFill>
                  <a:schemeClr val="accent1"/>
                </a:solidFill>
              </a:rPr>
              <a:t>one block at a time</a:t>
            </a:r>
            <a:r>
              <a:rPr lang="en-US" sz="2400"/>
              <a:t>. </a:t>
            </a:r>
            <a:endParaRPr sz="2400"/>
          </a:p>
          <a:p>
            <a:pPr indent="-342900" lvl="0" marL="342900" rtl="0" algn="l">
              <a:spcBef>
                <a:spcPts val="480"/>
              </a:spcBef>
              <a:spcAft>
                <a:spcPts val="0"/>
              </a:spcAft>
              <a:buClr>
                <a:schemeClr val="dk1"/>
              </a:buClr>
              <a:buSzPts val="2400"/>
              <a:buChar char="•"/>
            </a:pPr>
            <a:r>
              <a:rPr lang="en-US" sz="2400"/>
              <a:t>Generally, it is possible to reference data by its block number. </a:t>
            </a:r>
            <a:endParaRPr sz="2400"/>
          </a:p>
          <a:p>
            <a:pPr indent="-342900" lvl="0" marL="342900" rtl="0" algn="l">
              <a:spcBef>
                <a:spcPts val="480"/>
              </a:spcBef>
              <a:spcAft>
                <a:spcPts val="0"/>
              </a:spcAft>
              <a:buClr>
                <a:schemeClr val="dk1"/>
              </a:buClr>
              <a:buSzPts val="2400"/>
              <a:buChar char="•"/>
            </a:pPr>
            <a:r>
              <a:rPr lang="en-US" sz="2400"/>
              <a:t>Disks and USB keys devices. </a:t>
            </a:r>
            <a:endParaRPr sz="2400"/>
          </a:p>
        </p:txBody>
      </p:sp>
      <p:sp>
        <p:nvSpPr>
          <p:cNvPr id="168" name="Google Shape;16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69" name="Google Shape;16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70" name="Google Shape;17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701675" y="114300"/>
            <a:ext cx="798512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177" name="Google Shape;177;p10"/>
          <p:cNvSpPr txBox="1"/>
          <p:nvPr>
            <p:ph idx="1" type="body"/>
          </p:nvPr>
        </p:nvSpPr>
        <p:spPr>
          <a:xfrm>
            <a:off x="820738" y="1055688"/>
            <a:ext cx="7586662" cy="50180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t>Stream-oriented device </a:t>
            </a:r>
            <a:endParaRPr b="1" sz="2400"/>
          </a:p>
          <a:p>
            <a:pPr indent="-342900" lvl="0" marL="342900" rtl="0" algn="l">
              <a:spcBef>
                <a:spcPts val="480"/>
              </a:spcBef>
              <a:spcAft>
                <a:spcPts val="0"/>
              </a:spcAft>
              <a:buClr>
                <a:schemeClr val="dk1"/>
              </a:buClr>
              <a:buSzPts val="2400"/>
              <a:buChar char="•"/>
            </a:pPr>
            <a:r>
              <a:rPr lang="en-US" sz="2400"/>
              <a:t>transfers data in and out </a:t>
            </a:r>
            <a:r>
              <a:rPr lang="en-US" sz="2400">
                <a:solidFill>
                  <a:schemeClr val="accent1"/>
                </a:solidFill>
              </a:rPr>
              <a:t>as a stream of bytes, with no block structure. </a:t>
            </a:r>
            <a:endParaRPr sz="2400">
              <a:solidFill>
                <a:schemeClr val="accent1"/>
              </a:solidFill>
            </a:endParaRPr>
          </a:p>
          <a:p>
            <a:pPr indent="-342900" lvl="0" marL="342900" rtl="0" algn="l">
              <a:spcBef>
                <a:spcPts val="480"/>
              </a:spcBef>
              <a:spcAft>
                <a:spcPts val="0"/>
              </a:spcAft>
              <a:buClr>
                <a:schemeClr val="dk1"/>
              </a:buClr>
              <a:buSzPts val="2400"/>
              <a:buChar char="•"/>
            </a:pPr>
            <a:r>
              <a:rPr lang="en-US" sz="2400"/>
              <a:t>Terminals, printers, communications ports, mouse and other pointing devices, and most other </a:t>
            </a:r>
            <a:r>
              <a:rPr lang="en-US" sz="2400">
                <a:solidFill>
                  <a:schemeClr val="accent1"/>
                </a:solidFill>
              </a:rPr>
              <a:t>devices that are not secondary storage</a:t>
            </a:r>
            <a:endParaRPr sz="2400">
              <a:solidFill>
                <a:schemeClr val="accent1"/>
              </a:solidFill>
            </a:endParaRPr>
          </a:p>
        </p:txBody>
      </p:sp>
      <p:sp>
        <p:nvSpPr>
          <p:cNvPr id="178" name="Google Shape;17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79" name="Google Shape;17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80" name="Google Shape;18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86" name="Google Shape;186;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How the devices are attached and how the software can control the hardware??</a:t>
            </a:r>
            <a:endParaRPr/>
          </a:p>
        </p:txBody>
      </p:sp>
      <p:sp>
        <p:nvSpPr>
          <p:cNvPr id="187" name="Google Shape;18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88" name="Google Shape;188;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89" name="Google Shape;189;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type="title"/>
          </p:nvPr>
        </p:nvSpPr>
        <p:spPr>
          <a:xfrm>
            <a:off x="701675" y="114300"/>
            <a:ext cx="798512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196" name="Google Shape;196;p12"/>
          <p:cNvSpPr txBox="1"/>
          <p:nvPr>
            <p:ph idx="1" type="body"/>
          </p:nvPr>
        </p:nvSpPr>
        <p:spPr>
          <a:xfrm>
            <a:off x="820738" y="1055688"/>
            <a:ext cx="7586662" cy="501808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Common concepts – signals from I/O devices interface with computer</a:t>
            </a:r>
            <a:endParaRPr/>
          </a:p>
          <a:p>
            <a:pPr indent="-285750" lvl="1" marL="742950" rtl="0" algn="l">
              <a:spcBef>
                <a:spcPts val="360"/>
              </a:spcBef>
              <a:spcAft>
                <a:spcPts val="0"/>
              </a:spcAft>
              <a:buClr>
                <a:srgbClr val="3366FF"/>
              </a:buClr>
              <a:buSzPts val="1800"/>
              <a:buChar char="–"/>
            </a:pPr>
            <a:r>
              <a:rPr b="1" lang="en-US" sz="1800">
                <a:solidFill>
                  <a:srgbClr val="3366FF"/>
                </a:solidFill>
              </a:rPr>
              <a:t>Port </a:t>
            </a:r>
            <a:r>
              <a:rPr lang="en-US" sz="1800"/>
              <a:t>– connection point for device</a:t>
            </a:r>
            <a:endParaRPr/>
          </a:p>
          <a:p>
            <a:pPr indent="-285750" lvl="1" marL="742950" rtl="0" algn="l">
              <a:spcBef>
                <a:spcPts val="360"/>
              </a:spcBef>
              <a:spcAft>
                <a:spcPts val="0"/>
              </a:spcAft>
              <a:buClr>
                <a:srgbClr val="3366FF"/>
              </a:buClr>
              <a:buSzPts val="1800"/>
              <a:buChar char="–"/>
            </a:pPr>
            <a:r>
              <a:rPr b="1" lang="en-US" sz="1800">
                <a:solidFill>
                  <a:srgbClr val="3366FF"/>
                </a:solidFill>
              </a:rPr>
              <a:t>Bus</a:t>
            </a:r>
            <a:r>
              <a:rPr lang="en-US" sz="1800"/>
              <a:t> - </a:t>
            </a:r>
            <a:r>
              <a:rPr b="1" lang="en-US" sz="1800">
                <a:solidFill>
                  <a:srgbClr val="3366FF"/>
                </a:solidFill>
              </a:rPr>
              <a:t>daisy chain</a:t>
            </a:r>
            <a:r>
              <a:rPr lang="en-US" sz="1800">
                <a:solidFill>
                  <a:srgbClr val="3366FF"/>
                </a:solidFill>
              </a:rPr>
              <a:t> </a:t>
            </a:r>
            <a:r>
              <a:rPr lang="en-US" sz="1800"/>
              <a:t>or shared direct access</a:t>
            </a:r>
            <a:endParaRPr/>
          </a:p>
          <a:p>
            <a:pPr indent="-228600" lvl="2" marL="1143000" rtl="0" algn="l">
              <a:spcBef>
                <a:spcPts val="360"/>
              </a:spcBef>
              <a:spcAft>
                <a:spcPts val="0"/>
              </a:spcAft>
              <a:buClr>
                <a:srgbClr val="3366FF"/>
              </a:buClr>
              <a:buSzPts val="1800"/>
              <a:buChar char="•"/>
            </a:pPr>
            <a:r>
              <a:rPr b="1" lang="en-US" sz="1800">
                <a:solidFill>
                  <a:srgbClr val="3366FF"/>
                </a:solidFill>
              </a:rPr>
              <a:t>PCI</a:t>
            </a:r>
            <a:r>
              <a:rPr lang="en-US" sz="1800"/>
              <a:t> bus common in PCs and servers, PCI Express (</a:t>
            </a:r>
            <a:r>
              <a:rPr b="1" lang="en-US" sz="1800">
                <a:solidFill>
                  <a:srgbClr val="3366FF"/>
                </a:solidFill>
              </a:rPr>
              <a:t>PCIe</a:t>
            </a:r>
            <a:r>
              <a:rPr lang="en-US" sz="1800"/>
              <a:t>) </a:t>
            </a:r>
            <a:endParaRPr/>
          </a:p>
          <a:p>
            <a:pPr indent="-228600" lvl="2" marL="1143000" rtl="0" algn="l">
              <a:spcBef>
                <a:spcPts val="360"/>
              </a:spcBef>
              <a:spcAft>
                <a:spcPts val="0"/>
              </a:spcAft>
              <a:buClr>
                <a:srgbClr val="3366FF"/>
              </a:buClr>
              <a:buSzPts val="1800"/>
              <a:buChar char="•"/>
            </a:pPr>
            <a:r>
              <a:rPr b="1" lang="en-US" sz="1800">
                <a:solidFill>
                  <a:srgbClr val="3366FF"/>
                </a:solidFill>
              </a:rPr>
              <a:t>expansion</a:t>
            </a:r>
            <a:r>
              <a:rPr lang="en-US" sz="1800"/>
              <a:t> </a:t>
            </a:r>
            <a:r>
              <a:rPr b="1" lang="en-US" sz="1800">
                <a:solidFill>
                  <a:srgbClr val="3366FF"/>
                </a:solidFill>
              </a:rPr>
              <a:t>bus</a:t>
            </a:r>
            <a:r>
              <a:rPr lang="en-US" sz="1800"/>
              <a:t> connects relatively slow devices</a:t>
            </a:r>
            <a:endParaRPr/>
          </a:p>
          <a:p>
            <a:pPr indent="-285750" lvl="1" marL="742950" rtl="0" algn="l">
              <a:spcBef>
                <a:spcPts val="360"/>
              </a:spcBef>
              <a:spcAft>
                <a:spcPts val="0"/>
              </a:spcAft>
              <a:buClr>
                <a:srgbClr val="3366FF"/>
              </a:buClr>
              <a:buSzPts val="1800"/>
              <a:buChar char="–"/>
            </a:pPr>
            <a:r>
              <a:rPr b="1" lang="en-US" sz="1800">
                <a:solidFill>
                  <a:srgbClr val="3366FF"/>
                </a:solidFill>
              </a:rPr>
              <a:t>Controller</a:t>
            </a:r>
            <a:r>
              <a:rPr lang="en-US" sz="1800"/>
              <a:t> (</a:t>
            </a:r>
            <a:r>
              <a:rPr b="1" lang="en-US" sz="1800">
                <a:solidFill>
                  <a:srgbClr val="3366FF"/>
                </a:solidFill>
              </a:rPr>
              <a:t>host adapter</a:t>
            </a:r>
            <a:r>
              <a:rPr lang="en-US" sz="1800"/>
              <a:t>) – electronics that operate port, bus, device</a:t>
            </a:r>
            <a:endParaRPr/>
          </a:p>
          <a:p>
            <a:pPr indent="-228600" lvl="2" marL="1143000" rtl="0" algn="l">
              <a:spcBef>
                <a:spcPts val="360"/>
              </a:spcBef>
              <a:spcAft>
                <a:spcPts val="0"/>
              </a:spcAft>
              <a:buClr>
                <a:schemeClr val="dk1"/>
              </a:buClr>
              <a:buSzPts val="1800"/>
              <a:buChar char="•"/>
            </a:pPr>
            <a:r>
              <a:rPr lang="en-US" sz="1800"/>
              <a:t>Sometimes </a:t>
            </a:r>
            <a:r>
              <a:rPr b="1" lang="en-US" sz="1800">
                <a:solidFill>
                  <a:schemeClr val="accent1"/>
                </a:solidFill>
              </a:rPr>
              <a:t>integrated</a:t>
            </a:r>
            <a:endParaRPr/>
          </a:p>
          <a:p>
            <a:pPr indent="-228600" lvl="2" marL="1143000" rtl="0" algn="l">
              <a:spcBef>
                <a:spcPts val="360"/>
              </a:spcBef>
              <a:spcAft>
                <a:spcPts val="0"/>
              </a:spcAft>
              <a:buClr>
                <a:schemeClr val="dk1"/>
              </a:buClr>
              <a:buSzPts val="1800"/>
              <a:buChar char="•"/>
            </a:pPr>
            <a:r>
              <a:rPr lang="en-US" sz="1800"/>
              <a:t>Sometimes </a:t>
            </a:r>
            <a:r>
              <a:rPr b="1" lang="en-US" sz="1800">
                <a:solidFill>
                  <a:schemeClr val="accent1"/>
                </a:solidFill>
              </a:rPr>
              <a:t>separate</a:t>
            </a:r>
            <a:r>
              <a:rPr lang="en-US" sz="1800"/>
              <a:t> circuit board (host adapter)</a:t>
            </a:r>
            <a:endParaRPr/>
          </a:p>
          <a:p>
            <a:pPr indent="-228600" lvl="2" marL="1143000" rtl="0" algn="l">
              <a:spcBef>
                <a:spcPts val="360"/>
              </a:spcBef>
              <a:spcAft>
                <a:spcPts val="0"/>
              </a:spcAft>
              <a:buClr>
                <a:schemeClr val="dk1"/>
              </a:buClr>
              <a:buSzPts val="1800"/>
              <a:buChar char="•"/>
            </a:pPr>
            <a:r>
              <a:rPr lang="en-US" sz="1800"/>
              <a:t>Contains processor, microcode, private memory, bus controller, etc</a:t>
            </a:r>
            <a:endParaRPr sz="1800"/>
          </a:p>
          <a:p>
            <a:pPr indent="-228600" lvl="3" marL="1600200" rtl="0" algn="l">
              <a:spcBef>
                <a:spcPts val="360"/>
              </a:spcBef>
              <a:spcAft>
                <a:spcPts val="0"/>
              </a:spcAft>
              <a:buClr>
                <a:schemeClr val="dk1"/>
              </a:buClr>
              <a:buSzPts val="1800"/>
              <a:buChar char="–"/>
            </a:pPr>
            <a:r>
              <a:rPr lang="en-US" sz="1800"/>
              <a:t>Some talk to per-device controller with bus controller, microcode, memory, etc</a:t>
            </a:r>
            <a:endParaRPr sz="1800"/>
          </a:p>
        </p:txBody>
      </p:sp>
      <p:sp>
        <p:nvSpPr>
          <p:cNvPr id="197" name="Google Shape;19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198" name="Google Shape;19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99" name="Google Shape;19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I/O Hardware</a:t>
            </a:r>
            <a:endParaRPr/>
          </a:p>
        </p:txBody>
      </p:sp>
      <p:sp>
        <p:nvSpPr>
          <p:cNvPr id="205" name="Google Shape;205;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 device communicates with a computer system by </a:t>
            </a:r>
            <a:r>
              <a:rPr lang="en-US" sz="2400">
                <a:solidFill>
                  <a:srgbClr val="0070C0"/>
                </a:solidFill>
              </a:rPr>
              <a:t>sending signals over a cable or even through the air. </a:t>
            </a:r>
            <a:endParaRPr sz="2400">
              <a:solidFill>
                <a:srgbClr val="0070C0"/>
              </a:solidFill>
            </a:endParaRPr>
          </a:p>
          <a:p>
            <a:pPr indent="0" lvl="0" marL="0" rtl="0" algn="l">
              <a:spcBef>
                <a:spcPts val="480"/>
              </a:spcBef>
              <a:spcAft>
                <a:spcPts val="0"/>
              </a:spcAft>
              <a:buClr>
                <a:srgbClr val="0070C0"/>
              </a:buClr>
              <a:buSzPts val="2400"/>
              <a:buNone/>
            </a:pPr>
            <a:r>
              <a:rPr b="1" lang="en-US" sz="2400">
                <a:solidFill>
                  <a:srgbClr val="0070C0"/>
                </a:solidFill>
              </a:rPr>
              <a:t>Port-</a:t>
            </a:r>
            <a:endParaRPr/>
          </a:p>
          <a:p>
            <a:pPr indent="-342900" lvl="0" marL="342900" rtl="0" algn="l">
              <a:spcBef>
                <a:spcPts val="480"/>
              </a:spcBef>
              <a:spcAft>
                <a:spcPts val="0"/>
              </a:spcAft>
              <a:buClr>
                <a:srgbClr val="0070C0"/>
              </a:buClr>
              <a:buSzPts val="2400"/>
              <a:buChar char="•"/>
            </a:pPr>
            <a:r>
              <a:rPr lang="en-US" sz="2400">
                <a:solidFill>
                  <a:srgbClr val="0070C0"/>
                </a:solidFill>
              </a:rPr>
              <a:t>A connection point</a:t>
            </a:r>
            <a:r>
              <a:rPr lang="en-US" sz="2400"/>
              <a:t> via which the device communicates with the machine. Eg- a serial port. </a:t>
            </a:r>
            <a:endParaRPr sz="2400"/>
          </a:p>
        </p:txBody>
      </p:sp>
      <p:pic>
        <p:nvPicPr>
          <p:cNvPr descr="motherboard-interface-connectors" id="206" name="Google Shape;206;p13">
            <a:hlinkClick r:id="rId3"/>
          </p:cNvPr>
          <p:cNvPicPr preferRelativeResize="0"/>
          <p:nvPr/>
        </p:nvPicPr>
        <p:blipFill rotWithShape="1">
          <a:blip r:embed="rId4">
            <a:alphaModFix/>
          </a:blip>
          <a:srcRect b="0" l="0" r="0" t="0"/>
          <a:stretch/>
        </p:blipFill>
        <p:spPr>
          <a:xfrm>
            <a:off x="1219200" y="3810000"/>
            <a:ext cx="5867400" cy="2362200"/>
          </a:xfrm>
          <a:prstGeom prst="rect">
            <a:avLst/>
          </a:prstGeom>
          <a:noFill/>
          <a:ln>
            <a:noFill/>
          </a:ln>
        </p:spPr>
      </p:pic>
      <p:sp>
        <p:nvSpPr>
          <p:cNvPr id="207" name="Google Shape;20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08" name="Google Shape;20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09" name="Google Shape;20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4"/>
          <p:cNvSpPr txBox="1"/>
          <p:nvPr>
            <p:ph type="title"/>
          </p:nvPr>
        </p:nvSpPr>
        <p:spPr>
          <a:xfrm>
            <a:off x="457200" y="274638"/>
            <a:ext cx="8229600" cy="61753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sp>
        <p:nvSpPr>
          <p:cNvPr id="215" name="Google Shape;215;p14"/>
          <p:cNvSpPr txBox="1"/>
          <p:nvPr>
            <p:ph idx="1" type="body"/>
          </p:nvPr>
        </p:nvSpPr>
        <p:spPr>
          <a:xfrm>
            <a:off x="457200" y="1066800"/>
            <a:ext cx="8229600" cy="50593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b="1" lang="en-US" sz="2000"/>
              <a:t>Serial Port:</a:t>
            </a:r>
            <a:endParaRPr sz="2000"/>
          </a:p>
          <a:p>
            <a:pPr indent="-342900" lvl="0" marL="342900" rtl="0" algn="l">
              <a:spcBef>
                <a:spcPts val="400"/>
              </a:spcBef>
              <a:spcAft>
                <a:spcPts val="0"/>
              </a:spcAft>
              <a:buClr>
                <a:schemeClr val="dk1"/>
              </a:buClr>
              <a:buSzPts val="2000"/>
              <a:buChar char="•"/>
            </a:pPr>
            <a:r>
              <a:rPr lang="en-US" sz="2000"/>
              <a:t>An interface that is used for </a:t>
            </a:r>
            <a:r>
              <a:rPr lang="en-US" sz="2000">
                <a:solidFill>
                  <a:schemeClr val="accent1"/>
                </a:solidFill>
              </a:rPr>
              <a:t>connecting the serial lines to attain the serial communication. </a:t>
            </a:r>
            <a:endParaRPr/>
          </a:p>
          <a:p>
            <a:pPr indent="-342900" lvl="0" marL="342900" rtl="0" algn="l">
              <a:spcBef>
                <a:spcPts val="400"/>
              </a:spcBef>
              <a:spcAft>
                <a:spcPts val="0"/>
              </a:spcAft>
              <a:buClr>
                <a:schemeClr val="dk1"/>
              </a:buClr>
              <a:buSzPts val="2000"/>
              <a:buChar char="•"/>
            </a:pPr>
            <a:r>
              <a:rPr lang="en-US" sz="2000"/>
              <a:t>These ports can dock a </a:t>
            </a:r>
            <a:r>
              <a:rPr lang="en-US" sz="2000">
                <a:solidFill>
                  <a:schemeClr val="accent1"/>
                </a:solidFill>
              </a:rPr>
              <a:t>9-pin D-shaped connector </a:t>
            </a:r>
            <a:r>
              <a:rPr lang="en-US" sz="2000"/>
              <a:t>that connects to the transmission line, is called DB-9 connectors.</a:t>
            </a:r>
            <a:endParaRPr/>
          </a:p>
          <a:p>
            <a:pPr indent="-215900" lvl="0" marL="342900" rtl="0" algn="l">
              <a:spcBef>
                <a:spcPts val="400"/>
              </a:spcBef>
              <a:spcAft>
                <a:spcPts val="0"/>
              </a:spcAft>
              <a:buClr>
                <a:schemeClr val="dk1"/>
              </a:buClr>
              <a:buSzPts val="2000"/>
              <a:buNone/>
            </a:pPr>
            <a:r>
              <a:t/>
            </a:r>
            <a:endParaRPr b="1" sz="2000"/>
          </a:p>
          <a:p>
            <a:pPr indent="-215900" lvl="0" marL="342900" rtl="0" algn="l">
              <a:spcBef>
                <a:spcPts val="400"/>
              </a:spcBef>
              <a:spcAft>
                <a:spcPts val="0"/>
              </a:spcAft>
              <a:buClr>
                <a:schemeClr val="dk1"/>
              </a:buClr>
              <a:buSzPts val="2000"/>
              <a:buNone/>
            </a:pPr>
            <a:r>
              <a:t/>
            </a:r>
            <a:endParaRPr b="1" sz="2000"/>
          </a:p>
          <a:p>
            <a:pPr indent="0" lvl="0" marL="0" rtl="0" algn="l">
              <a:spcBef>
                <a:spcPts val="400"/>
              </a:spcBef>
              <a:spcAft>
                <a:spcPts val="0"/>
              </a:spcAft>
              <a:buClr>
                <a:schemeClr val="dk1"/>
              </a:buClr>
              <a:buSzPts val="2000"/>
              <a:buNone/>
            </a:pPr>
            <a:r>
              <a:rPr b="1" lang="en-US" sz="2000"/>
              <a:t>Parallel Port:</a:t>
            </a:r>
            <a:endParaRPr sz="2000"/>
          </a:p>
          <a:p>
            <a:pPr indent="-342900" lvl="0" marL="342900" rtl="0" algn="l">
              <a:spcBef>
                <a:spcPts val="400"/>
              </a:spcBef>
              <a:spcAft>
                <a:spcPts val="0"/>
              </a:spcAft>
              <a:buClr>
                <a:schemeClr val="dk1"/>
              </a:buClr>
              <a:buSzPts val="2000"/>
              <a:buChar char="•"/>
            </a:pPr>
            <a:r>
              <a:rPr lang="en-US" sz="2000"/>
              <a:t>Unlike serial port, a parallel port can move </a:t>
            </a:r>
            <a:r>
              <a:rPr lang="en-US" sz="2000">
                <a:solidFill>
                  <a:schemeClr val="accent1"/>
                </a:solidFill>
              </a:rPr>
              <a:t>a set of 8 bits at a time on eight different wires.</a:t>
            </a:r>
            <a:r>
              <a:rPr lang="en-US" sz="2000"/>
              <a:t> That’s why it is </a:t>
            </a:r>
            <a:r>
              <a:rPr lang="en-US" sz="2000">
                <a:solidFill>
                  <a:schemeClr val="accent1"/>
                </a:solidFill>
              </a:rPr>
              <a:t>faster in comparison to the serial communication. </a:t>
            </a:r>
            <a:endParaRPr/>
          </a:p>
          <a:p>
            <a:pPr indent="-342900" lvl="0" marL="342900" rtl="0" algn="l">
              <a:spcBef>
                <a:spcPts val="400"/>
              </a:spcBef>
              <a:spcAft>
                <a:spcPts val="0"/>
              </a:spcAft>
              <a:buClr>
                <a:schemeClr val="dk1"/>
              </a:buClr>
              <a:buSzPts val="2000"/>
              <a:buChar char="•"/>
            </a:pPr>
            <a:r>
              <a:rPr lang="en-US" sz="2000"/>
              <a:t>Unlike serial port, It uses a </a:t>
            </a:r>
            <a:r>
              <a:rPr lang="en-US" sz="2000">
                <a:solidFill>
                  <a:schemeClr val="accent1"/>
                </a:solidFill>
              </a:rPr>
              <a:t>25 pin connector </a:t>
            </a:r>
            <a:r>
              <a:rPr lang="en-US" sz="2000"/>
              <a:t>that is called DB-25 connector. </a:t>
            </a:r>
            <a:endParaRPr sz="2000"/>
          </a:p>
        </p:txBody>
      </p:sp>
      <p:pic>
        <p:nvPicPr>
          <p:cNvPr id="216" name="Google Shape;216;p14"/>
          <p:cNvPicPr preferRelativeResize="0"/>
          <p:nvPr/>
        </p:nvPicPr>
        <p:blipFill rotWithShape="1">
          <a:blip r:embed="rId3">
            <a:alphaModFix/>
          </a:blip>
          <a:srcRect b="0" l="0" r="0" t="0"/>
          <a:stretch/>
        </p:blipFill>
        <p:spPr>
          <a:xfrm>
            <a:off x="3124200" y="2819400"/>
            <a:ext cx="3505200" cy="914400"/>
          </a:xfrm>
          <a:prstGeom prst="rect">
            <a:avLst/>
          </a:prstGeom>
          <a:noFill/>
          <a:ln>
            <a:noFill/>
          </a:ln>
        </p:spPr>
      </p:pic>
      <p:pic>
        <p:nvPicPr>
          <p:cNvPr descr="https://media.geeksforgeeks.org/wp-content/uploads/20191024152720/Untitled-Diagram-2110.png" id="217" name="Google Shape;217;p14"/>
          <p:cNvPicPr preferRelativeResize="0"/>
          <p:nvPr/>
        </p:nvPicPr>
        <p:blipFill rotWithShape="1">
          <a:blip r:embed="rId4">
            <a:alphaModFix/>
          </a:blip>
          <a:srcRect b="0" l="0" r="0" t="0"/>
          <a:stretch/>
        </p:blipFill>
        <p:spPr>
          <a:xfrm>
            <a:off x="3124200" y="5334000"/>
            <a:ext cx="3429000" cy="1143000"/>
          </a:xfrm>
          <a:prstGeom prst="rect">
            <a:avLst/>
          </a:prstGeom>
          <a:noFill/>
          <a:ln>
            <a:noFill/>
          </a:ln>
        </p:spPr>
      </p:pic>
      <p:sp>
        <p:nvSpPr>
          <p:cNvPr id="218" name="Google Shape;2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19" name="Google Shape;2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20" name="Google Shape;2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I/O Hardware</a:t>
            </a:r>
            <a:endParaRPr/>
          </a:p>
        </p:txBody>
      </p:sp>
      <p:pic>
        <p:nvPicPr>
          <p:cNvPr descr="motherboard-interface-connectors" id="226" name="Google Shape;226;p15">
            <a:hlinkClick r:id="rId3"/>
          </p:cNvPr>
          <p:cNvPicPr preferRelativeResize="0"/>
          <p:nvPr>
            <p:ph idx="1" type="body"/>
          </p:nvPr>
        </p:nvPicPr>
        <p:blipFill rotWithShape="1">
          <a:blip r:embed="rId4">
            <a:alphaModFix/>
          </a:blip>
          <a:srcRect b="0" l="0" r="0" t="0"/>
          <a:stretch/>
        </p:blipFill>
        <p:spPr>
          <a:xfrm>
            <a:off x="914400" y="2057400"/>
            <a:ext cx="7315199" cy="3886200"/>
          </a:xfrm>
          <a:prstGeom prst="rect">
            <a:avLst/>
          </a:prstGeom>
          <a:noFill/>
          <a:ln>
            <a:noFill/>
          </a:ln>
        </p:spPr>
      </p:pic>
      <p:sp>
        <p:nvSpPr>
          <p:cNvPr id="227" name="Google Shape;227;p15"/>
          <p:cNvSpPr/>
          <p:nvPr/>
        </p:nvSpPr>
        <p:spPr>
          <a:xfrm>
            <a:off x="609600" y="1600200"/>
            <a:ext cx="6629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Check Serial Port and Parallel Port</a:t>
            </a:r>
            <a:endParaRPr sz="1800">
              <a:solidFill>
                <a:schemeClr val="dk1"/>
              </a:solidFill>
              <a:latin typeface="Calibri"/>
              <a:ea typeface="Calibri"/>
              <a:cs typeface="Calibri"/>
              <a:sym typeface="Calibri"/>
            </a:endParaRPr>
          </a:p>
        </p:txBody>
      </p:sp>
      <p:sp>
        <p:nvSpPr>
          <p:cNvPr id="228" name="Google Shape;22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29" name="Google Shape;22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30" name="Google Shape;23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16"/>
          <p:cNvPicPr preferRelativeResize="0"/>
          <p:nvPr>
            <p:ph idx="1" type="body"/>
          </p:nvPr>
        </p:nvPicPr>
        <p:blipFill rotWithShape="1">
          <a:blip r:embed="rId3">
            <a:alphaModFix/>
          </a:blip>
          <a:srcRect b="0" l="0" r="0" t="0"/>
          <a:stretch/>
        </p:blipFill>
        <p:spPr>
          <a:xfrm>
            <a:off x="381000" y="304800"/>
            <a:ext cx="8305800" cy="6172200"/>
          </a:xfrm>
          <a:prstGeom prst="rect">
            <a:avLst/>
          </a:prstGeom>
          <a:noFill/>
          <a:ln>
            <a:noFill/>
          </a:ln>
        </p:spPr>
      </p:pic>
      <p:sp>
        <p:nvSpPr>
          <p:cNvPr id="236" name="Google Shape;23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37" name="Google Shape;23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38" name="Google Shape;23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I/O Hardware</a:t>
            </a:r>
            <a:endParaRPr/>
          </a:p>
        </p:txBody>
      </p:sp>
      <p:sp>
        <p:nvSpPr>
          <p:cNvPr id="244" name="Google Shape;244;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70C0"/>
              </a:buClr>
              <a:buSzPts val="2400"/>
              <a:buNone/>
            </a:pPr>
            <a:r>
              <a:rPr b="1" lang="en-US" sz="2400">
                <a:solidFill>
                  <a:srgbClr val="0070C0"/>
                </a:solidFill>
              </a:rPr>
              <a:t>Bus-</a:t>
            </a:r>
            <a:endParaRPr/>
          </a:p>
          <a:p>
            <a:pPr indent="-342900" lvl="0" marL="342900" rtl="0" algn="l">
              <a:spcBef>
                <a:spcPts val="480"/>
              </a:spcBef>
              <a:spcAft>
                <a:spcPts val="0"/>
              </a:spcAft>
              <a:buClr>
                <a:schemeClr val="dk1"/>
              </a:buClr>
              <a:buSzPts val="2400"/>
              <a:buChar char="•"/>
            </a:pPr>
            <a:r>
              <a:rPr lang="en-US" sz="2400"/>
              <a:t>If devices use a common </a:t>
            </a:r>
            <a:r>
              <a:rPr lang="en-US" sz="2400">
                <a:solidFill>
                  <a:srgbClr val="0070C0"/>
                </a:solidFill>
              </a:rPr>
              <a:t>set of wires</a:t>
            </a:r>
            <a:r>
              <a:rPr lang="en-US" sz="2400"/>
              <a:t>, the connection is called a </a:t>
            </a:r>
            <a:r>
              <a:rPr i="1" lang="en-US" sz="2400"/>
              <a:t>bus. </a:t>
            </a:r>
            <a:endParaRPr i="1" sz="2400"/>
          </a:p>
          <a:p>
            <a:pPr indent="-342900" lvl="0" marL="342900" rtl="0" algn="l">
              <a:spcBef>
                <a:spcPts val="480"/>
              </a:spcBef>
              <a:spcAft>
                <a:spcPts val="0"/>
              </a:spcAft>
              <a:buClr>
                <a:schemeClr val="dk1"/>
              </a:buClr>
              <a:buSzPts val="2400"/>
              <a:buChar char="•"/>
            </a:pPr>
            <a:r>
              <a:rPr b="1" lang="en-US" sz="2400"/>
              <a:t>Set of wires and a rigidly defined protocol that specifies a set of messages that can be sent on the wires.</a:t>
            </a:r>
            <a:endParaRPr/>
          </a:p>
          <a:p>
            <a:pPr indent="-342900" lvl="0" marL="342900" rtl="0" algn="l">
              <a:spcBef>
                <a:spcPts val="480"/>
              </a:spcBef>
              <a:spcAft>
                <a:spcPts val="0"/>
              </a:spcAft>
              <a:buClr>
                <a:schemeClr val="dk1"/>
              </a:buClr>
              <a:buSzPts val="2400"/>
              <a:buChar char="•"/>
            </a:pPr>
            <a:r>
              <a:rPr lang="en-US" sz="2400"/>
              <a:t>The messages are conveyed by </a:t>
            </a:r>
            <a:r>
              <a:rPr lang="en-US" sz="2400">
                <a:solidFill>
                  <a:srgbClr val="0070C0"/>
                </a:solidFill>
              </a:rPr>
              <a:t>patterns of electrical voltages applied to the wires </a:t>
            </a:r>
            <a:r>
              <a:rPr lang="en-US" sz="2400"/>
              <a:t>with defined timings.</a:t>
            </a:r>
            <a:endParaRPr/>
          </a:p>
        </p:txBody>
      </p:sp>
      <p:sp>
        <p:nvSpPr>
          <p:cNvPr id="245" name="Google Shape;24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46" name="Google Shape;24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47" name="Google Shape;24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I/O Hardware</a:t>
            </a:r>
            <a:endParaRPr/>
          </a:p>
        </p:txBody>
      </p:sp>
      <p:sp>
        <p:nvSpPr>
          <p:cNvPr id="253" name="Google Shape;25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70C0"/>
              </a:buClr>
              <a:buSzPts val="3200"/>
              <a:buChar char="•"/>
            </a:pPr>
            <a:r>
              <a:rPr b="1" lang="en-US">
                <a:solidFill>
                  <a:srgbClr val="0070C0"/>
                </a:solidFill>
              </a:rPr>
              <a:t>Daisy Chain-</a:t>
            </a:r>
            <a:endParaRPr/>
          </a:p>
          <a:p>
            <a:pPr indent="-342900" lvl="0" marL="342900" rtl="0" algn="l">
              <a:spcBef>
                <a:spcPts val="480"/>
              </a:spcBef>
              <a:spcAft>
                <a:spcPts val="0"/>
              </a:spcAft>
              <a:buClr>
                <a:schemeClr val="dk1"/>
              </a:buClr>
              <a:buSzPts val="2400"/>
              <a:buChar char="•"/>
            </a:pPr>
            <a:r>
              <a:rPr lang="en-US" sz="2400"/>
              <a:t>When </a:t>
            </a:r>
            <a:r>
              <a:rPr lang="en-US" sz="2400">
                <a:solidFill>
                  <a:srgbClr val="0070C0"/>
                </a:solidFill>
              </a:rPr>
              <a:t>device </a:t>
            </a:r>
            <a:r>
              <a:rPr i="1" lang="en-US" sz="2400">
                <a:solidFill>
                  <a:srgbClr val="0070C0"/>
                </a:solidFill>
              </a:rPr>
              <a:t>A </a:t>
            </a:r>
            <a:r>
              <a:rPr lang="en-US" sz="2400">
                <a:solidFill>
                  <a:srgbClr val="0070C0"/>
                </a:solidFill>
              </a:rPr>
              <a:t>has a cable that plugs into device </a:t>
            </a:r>
            <a:r>
              <a:rPr i="1" lang="en-US" sz="2400">
                <a:solidFill>
                  <a:srgbClr val="0070C0"/>
                </a:solidFill>
              </a:rPr>
              <a:t>B</a:t>
            </a:r>
            <a:r>
              <a:rPr i="1" lang="en-US" sz="2400"/>
              <a:t>, </a:t>
            </a:r>
            <a:r>
              <a:rPr lang="en-US" sz="2400"/>
              <a:t>and</a:t>
            </a:r>
            <a:endParaRPr/>
          </a:p>
          <a:p>
            <a:pPr indent="-342900" lvl="0" marL="342900" rtl="0" algn="l">
              <a:spcBef>
                <a:spcPts val="480"/>
              </a:spcBef>
              <a:spcAft>
                <a:spcPts val="0"/>
              </a:spcAft>
              <a:buClr>
                <a:srgbClr val="0070C0"/>
              </a:buClr>
              <a:buSzPts val="2400"/>
              <a:buChar char="•"/>
            </a:pPr>
            <a:r>
              <a:rPr lang="en-US" sz="2400">
                <a:solidFill>
                  <a:srgbClr val="0070C0"/>
                </a:solidFill>
              </a:rPr>
              <a:t>Device </a:t>
            </a:r>
            <a:r>
              <a:rPr i="1" lang="en-US" sz="2400">
                <a:solidFill>
                  <a:srgbClr val="0070C0"/>
                </a:solidFill>
              </a:rPr>
              <a:t>B</a:t>
            </a:r>
            <a:r>
              <a:rPr i="1" lang="en-US" sz="2400"/>
              <a:t> </a:t>
            </a:r>
            <a:r>
              <a:rPr lang="en-US" sz="2400"/>
              <a:t>has a cable that </a:t>
            </a:r>
            <a:r>
              <a:rPr lang="en-US" sz="2400">
                <a:solidFill>
                  <a:srgbClr val="0070C0"/>
                </a:solidFill>
              </a:rPr>
              <a:t>plugs into device C</a:t>
            </a:r>
            <a:r>
              <a:rPr lang="en-US" sz="2400"/>
              <a:t>,</a:t>
            </a:r>
            <a:endParaRPr/>
          </a:p>
          <a:p>
            <a:pPr indent="-342900" lvl="0" marL="342900" rtl="0" algn="l">
              <a:spcBef>
                <a:spcPts val="480"/>
              </a:spcBef>
              <a:spcAft>
                <a:spcPts val="0"/>
              </a:spcAft>
              <a:buClr>
                <a:srgbClr val="0070C0"/>
              </a:buClr>
              <a:buSzPts val="2400"/>
              <a:buChar char="•"/>
            </a:pPr>
            <a:r>
              <a:rPr lang="en-US" sz="2400">
                <a:solidFill>
                  <a:srgbClr val="0070C0"/>
                </a:solidFill>
              </a:rPr>
              <a:t>Device C</a:t>
            </a:r>
            <a:r>
              <a:rPr lang="en-US" sz="2400"/>
              <a:t> </a:t>
            </a:r>
            <a:r>
              <a:rPr lang="en-US" sz="2400">
                <a:solidFill>
                  <a:srgbClr val="0070C0"/>
                </a:solidFill>
              </a:rPr>
              <a:t>plugs into </a:t>
            </a:r>
            <a:r>
              <a:rPr lang="en-US" sz="2400"/>
              <a:t>a port on the </a:t>
            </a:r>
            <a:r>
              <a:rPr lang="en-US" sz="2400">
                <a:solidFill>
                  <a:srgbClr val="0070C0"/>
                </a:solidFill>
              </a:rPr>
              <a:t>computer</a:t>
            </a:r>
            <a:r>
              <a:rPr lang="en-US" sz="2400"/>
              <a:t>,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Daisy Chain  usually operates as a bus.</a:t>
            </a:r>
            <a:endParaRPr/>
          </a:p>
        </p:txBody>
      </p:sp>
      <p:sp>
        <p:nvSpPr>
          <p:cNvPr id="254" name="Google Shape;25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55" name="Google Shape;25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56" name="Google Shape;25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9"/>
          <p:cNvSpPr txBox="1"/>
          <p:nvPr>
            <p:ph type="title"/>
          </p:nvPr>
        </p:nvSpPr>
        <p:spPr>
          <a:xfrm>
            <a:off x="758825" y="127000"/>
            <a:ext cx="792797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83333"/>
              <a:buFont typeface="Calibri"/>
              <a:buNone/>
            </a:pPr>
            <a:r>
              <a:rPr lang="en-US"/>
              <a:t>A Typical PC Bus Structure</a:t>
            </a:r>
            <a:endParaRPr sz="2400"/>
          </a:p>
        </p:txBody>
      </p:sp>
      <p:pic>
        <p:nvPicPr>
          <p:cNvPr id="263" name="Google Shape;263;p19"/>
          <p:cNvPicPr preferRelativeResize="0"/>
          <p:nvPr/>
        </p:nvPicPr>
        <p:blipFill rotWithShape="1">
          <a:blip r:embed="rId3">
            <a:alphaModFix/>
          </a:blip>
          <a:srcRect b="0" l="0" r="0" t="0"/>
          <a:stretch/>
        </p:blipFill>
        <p:spPr>
          <a:xfrm>
            <a:off x="1817688" y="1228725"/>
            <a:ext cx="5727700" cy="4403725"/>
          </a:xfrm>
          <a:prstGeom prst="rect">
            <a:avLst/>
          </a:prstGeom>
          <a:noFill/>
          <a:ln>
            <a:noFill/>
          </a:ln>
        </p:spPr>
      </p:pic>
      <p:sp>
        <p:nvSpPr>
          <p:cNvPr id="264" name="Google Shape;26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65" name="Google Shape;26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66" name="Google Shape;26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0"/>
          <p:cNvSpPr txBox="1"/>
          <p:nvPr>
            <p:ph type="title"/>
          </p:nvPr>
        </p:nvSpPr>
        <p:spPr>
          <a:xfrm>
            <a:off x="758825" y="127000"/>
            <a:ext cx="792797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83333"/>
              <a:buFont typeface="Calibri"/>
              <a:buNone/>
            </a:pPr>
            <a:r>
              <a:rPr lang="en-US"/>
              <a:t>A Typical PC Bus Structure</a:t>
            </a:r>
            <a:endParaRPr sz="2400"/>
          </a:p>
        </p:txBody>
      </p:sp>
      <p:pic>
        <p:nvPicPr>
          <p:cNvPr id="273" name="Google Shape;273;p20"/>
          <p:cNvPicPr preferRelativeResize="0"/>
          <p:nvPr/>
        </p:nvPicPr>
        <p:blipFill rotWithShape="1">
          <a:blip r:embed="rId3">
            <a:alphaModFix/>
          </a:blip>
          <a:srcRect b="0" l="0" r="0" t="0"/>
          <a:stretch/>
        </p:blipFill>
        <p:spPr>
          <a:xfrm>
            <a:off x="4191000" y="1371600"/>
            <a:ext cx="4725988" cy="4403725"/>
          </a:xfrm>
          <a:prstGeom prst="rect">
            <a:avLst/>
          </a:prstGeom>
          <a:noFill/>
          <a:ln>
            <a:noFill/>
          </a:ln>
        </p:spPr>
      </p:pic>
      <p:sp>
        <p:nvSpPr>
          <p:cNvPr id="274" name="Google Shape;274;p20"/>
          <p:cNvSpPr/>
          <p:nvPr/>
        </p:nvSpPr>
        <p:spPr>
          <a:xfrm>
            <a:off x="609600" y="1242580"/>
            <a:ext cx="3581400" cy="489364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"Peripheral Component Interconnect." hardware bus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400"/>
              <a:buFont typeface="Arial"/>
              <a:buChar char="•"/>
            </a:pPr>
            <a:r>
              <a:rPr b="1" lang="en-US" sz="2400">
                <a:solidFill>
                  <a:srgbClr val="0070C0"/>
                </a:solidFill>
                <a:latin typeface="Calibri"/>
                <a:ea typeface="Calibri"/>
                <a:cs typeface="Calibri"/>
                <a:sym typeface="Calibri"/>
              </a:rPr>
              <a:t>Common PC system bus</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connects the </a:t>
            </a:r>
            <a:r>
              <a:rPr b="0" i="0" lang="en-US" sz="2400" u="none" cap="none" strike="noStrike">
                <a:solidFill>
                  <a:srgbClr val="0070C0"/>
                </a:solidFill>
                <a:latin typeface="Calibri"/>
                <a:ea typeface="Calibri"/>
                <a:cs typeface="Calibri"/>
                <a:sym typeface="Calibri"/>
              </a:rPr>
              <a:t>processor-memory subsystem </a:t>
            </a:r>
            <a:r>
              <a:rPr b="0" i="0" lang="en-US" sz="2400" u="none" cap="none" strike="noStrike">
                <a:solidFill>
                  <a:schemeClr val="dk1"/>
                </a:solidFill>
                <a:latin typeface="Calibri"/>
                <a:ea typeface="Calibri"/>
                <a:cs typeface="Calibri"/>
                <a:sym typeface="Calibri"/>
              </a:rPr>
              <a:t>to the </a:t>
            </a:r>
            <a:r>
              <a:rPr b="0" i="0" lang="en-US" sz="2400" u="none" cap="none" strike="noStrike">
                <a:solidFill>
                  <a:srgbClr val="0070C0"/>
                </a:solidFill>
                <a:latin typeface="Calibri"/>
                <a:ea typeface="Calibri"/>
                <a:cs typeface="Calibri"/>
                <a:sym typeface="Calibri"/>
              </a:rPr>
              <a:t>fast devices </a:t>
            </a:r>
            <a:endParaRPr/>
          </a:p>
          <a:p>
            <a:pPr indent="-342900" lvl="0" marL="342900" marR="0" rtl="0" algn="l">
              <a:spcBef>
                <a:spcPts val="0"/>
              </a:spcBef>
              <a:spcAft>
                <a:spcPts val="0"/>
              </a:spcAft>
              <a:buClr>
                <a:srgbClr val="0070C0"/>
              </a:buClr>
              <a:buSzPts val="2400"/>
              <a:buFont typeface="Arial"/>
              <a:buChar char="•"/>
            </a:pPr>
            <a:r>
              <a:rPr b="1" lang="en-US" sz="2400">
                <a:solidFill>
                  <a:srgbClr val="0070C0"/>
                </a:solidFill>
                <a:latin typeface="Calibri"/>
                <a:ea typeface="Calibri"/>
                <a:cs typeface="Calibri"/>
                <a:sym typeface="Calibri"/>
              </a:rPr>
              <a:t>Expansion Bus </a:t>
            </a:r>
            <a:endParaRPr/>
          </a:p>
          <a:p>
            <a:pPr indent="-342900" lvl="1" marL="800100" marR="0" rtl="0" algn="l">
              <a:spcBef>
                <a:spcPts val="0"/>
              </a:spcBef>
              <a:spcAft>
                <a:spcPts val="0"/>
              </a:spcAft>
              <a:buClr>
                <a:srgbClr val="0070C0"/>
              </a:buClr>
              <a:buSzPts val="2400"/>
              <a:buFont typeface="Arial"/>
              <a:buChar char="•"/>
            </a:pPr>
            <a:r>
              <a:rPr b="0" i="0" lang="en-US" sz="2400" u="none" cap="none" strike="noStrike">
                <a:solidFill>
                  <a:srgbClr val="0070C0"/>
                </a:solidFill>
                <a:latin typeface="Calibri"/>
                <a:ea typeface="Calibri"/>
                <a:cs typeface="Calibri"/>
                <a:sym typeface="Calibri"/>
              </a:rPr>
              <a:t>connects relatively slow devices</a:t>
            </a:r>
            <a:r>
              <a:rPr b="0" i="0" lang="en-US" sz="2400" u="none" cap="none" strike="noStrike">
                <a:solidFill>
                  <a:schemeClr val="dk1"/>
                </a:solidFill>
                <a:latin typeface="Calibri"/>
                <a:ea typeface="Calibri"/>
                <a:cs typeface="Calibri"/>
                <a:sym typeface="Calibri"/>
              </a:rPr>
              <a:t>, such as the </a:t>
            </a:r>
            <a:r>
              <a:rPr b="0" i="0" lang="en-US" sz="2400" u="none" cap="none" strike="noStrike">
                <a:solidFill>
                  <a:srgbClr val="0070C0"/>
                </a:solidFill>
                <a:latin typeface="Calibri"/>
                <a:ea typeface="Calibri"/>
                <a:cs typeface="Calibri"/>
                <a:sym typeface="Calibri"/>
              </a:rPr>
              <a:t>keyboard and serial </a:t>
            </a:r>
            <a:r>
              <a:rPr b="0" i="0" lang="en-US" sz="2400" u="none" cap="none" strike="noStrike">
                <a:solidFill>
                  <a:schemeClr val="dk1"/>
                </a:solidFill>
                <a:latin typeface="Calibri"/>
                <a:ea typeface="Calibri"/>
                <a:cs typeface="Calibri"/>
                <a:sym typeface="Calibri"/>
              </a:rPr>
              <a:t>and USB ports.</a:t>
            </a:r>
            <a:endParaRPr/>
          </a:p>
        </p:txBody>
      </p:sp>
      <p:sp>
        <p:nvSpPr>
          <p:cNvPr id="275" name="Google Shape;27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76" name="Google Shape;27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77" name="Google Shape;27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1"/>
          <p:cNvSpPr txBox="1"/>
          <p:nvPr>
            <p:ph type="title"/>
          </p:nvPr>
        </p:nvSpPr>
        <p:spPr>
          <a:xfrm>
            <a:off x="758825" y="127000"/>
            <a:ext cx="792797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83333"/>
              <a:buFont typeface="Calibri"/>
              <a:buNone/>
            </a:pPr>
            <a:r>
              <a:rPr lang="en-US"/>
              <a:t>A Typical PC Bus Structure</a:t>
            </a:r>
            <a:endParaRPr sz="2400"/>
          </a:p>
        </p:txBody>
      </p:sp>
      <p:pic>
        <p:nvPicPr>
          <p:cNvPr id="284" name="Google Shape;284;p21"/>
          <p:cNvPicPr preferRelativeResize="0"/>
          <p:nvPr/>
        </p:nvPicPr>
        <p:blipFill rotWithShape="1">
          <a:blip r:embed="rId3">
            <a:alphaModFix/>
          </a:blip>
          <a:srcRect b="0" l="0" r="0" t="0"/>
          <a:stretch/>
        </p:blipFill>
        <p:spPr>
          <a:xfrm>
            <a:off x="4876800" y="1371600"/>
            <a:ext cx="4040188" cy="4403725"/>
          </a:xfrm>
          <a:prstGeom prst="rect">
            <a:avLst/>
          </a:prstGeom>
          <a:noFill/>
          <a:ln>
            <a:noFill/>
          </a:ln>
        </p:spPr>
      </p:pic>
      <p:sp>
        <p:nvSpPr>
          <p:cNvPr id="285" name="Google Shape;285;p21"/>
          <p:cNvSpPr/>
          <p:nvPr/>
        </p:nvSpPr>
        <p:spPr>
          <a:xfrm>
            <a:off x="284018" y="856357"/>
            <a:ext cx="3886200" cy="489364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2400"/>
              <a:buFont typeface="Arial"/>
              <a:buChar char="•"/>
            </a:pPr>
            <a:r>
              <a:rPr b="1" lang="en-US" sz="2400">
                <a:solidFill>
                  <a:schemeClr val="accent1"/>
                </a:solidFill>
                <a:latin typeface="Calibri"/>
                <a:ea typeface="Calibri"/>
                <a:cs typeface="Calibri"/>
                <a:sym typeface="Calibri"/>
              </a:rPr>
              <a:t>Top-right portion </a:t>
            </a:r>
            <a:r>
              <a:rPr lang="en-US" sz="2400">
                <a:solidFill>
                  <a:schemeClr val="dk1"/>
                </a:solidFill>
                <a:latin typeface="Calibri"/>
                <a:ea typeface="Calibri"/>
                <a:cs typeface="Calibri"/>
                <a:sym typeface="Calibri"/>
              </a:rPr>
              <a:t>, </a:t>
            </a:r>
            <a:endParaRPr/>
          </a:p>
          <a:p>
            <a:pPr indent="-342900" lvl="1" marL="800100" marR="0" rtl="0" algn="l">
              <a:spcBef>
                <a:spcPts val="0"/>
              </a:spcBef>
              <a:spcAft>
                <a:spcPts val="0"/>
              </a:spcAft>
              <a:buClr>
                <a:schemeClr val="accent1"/>
              </a:buClr>
              <a:buSzPts val="2400"/>
              <a:buFont typeface="Arial"/>
              <a:buChar char="•"/>
            </a:pPr>
            <a:r>
              <a:rPr b="1" i="0" lang="en-US" sz="2400" u="none" cap="none" strike="noStrike">
                <a:solidFill>
                  <a:schemeClr val="accent1"/>
                </a:solidFill>
                <a:latin typeface="Calibri"/>
                <a:ea typeface="Calibri"/>
                <a:cs typeface="Calibri"/>
                <a:sym typeface="Calibri"/>
              </a:rPr>
              <a:t>four disks </a:t>
            </a:r>
            <a:r>
              <a:rPr b="0" i="0" lang="en-US" sz="2400" u="none" cap="none" strike="noStrike">
                <a:solidFill>
                  <a:schemeClr val="dk1"/>
                </a:solidFill>
                <a:latin typeface="Calibri"/>
                <a:ea typeface="Calibri"/>
                <a:cs typeface="Calibri"/>
                <a:sym typeface="Calibri"/>
              </a:rPr>
              <a:t>are connected together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accent1"/>
              </a:buClr>
              <a:buSzPts val="2400"/>
              <a:buFont typeface="Arial"/>
              <a:buChar char="•"/>
            </a:pPr>
            <a:r>
              <a:rPr b="1" i="0" lang="en-US" sz="2400" u="none" cap="none" strike="noStrike">
                <a:solidFill>
                  <a:schemeClr val="accent1"/>
                </a:solidFill>
                <a:latin typeface="Calibri"/>
                <a:ea typeface="Calibri"/>
                <a:cs typeface="Calibri"/>
                <a:sym typeface="Calibri"/>
              </a:rPr>
              <a:t>on a SCSI bus</a:t>
            </a:r>
            <a:r>
              <a:rPr b="0" i="0" lang="en-US" sz="2400" u="none" cap="none" strike="noStrike">
                <a:solidFill>
                  <a:schemeClr val="dk1"/>
                </a:solidFill>
                <a:latin typeface="Calibri"/>
                <a:ea typeface="Calibri"/>
                <a:cs typeface="Calibri"/>
                <a:sym typeface="Calibri"/>
              </a:rPr>
              <a:t> plugged into a SCSI controller.</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accent1"/>
              </a:buClr>
              <a:buSzPts val="2400"/>
              <a:buFont typeface="Arial"/>
              <a:buChar char="•"/>
            </a:pPr>
            <a:r>
              <a:rPr b="1" i="1" lang="en-US" sz="2400">
                <a:solidFill>
                  <a:schemeClr val="accent1"/>
                </a:solidFill>
                <a:latin typeface="Calibri"/>
                <a:ea typeface="Calibri"/>
                <a:cs typeface="Calibri"/>
                <a:sym typeface="Calibri"/>
              </a:rPr>
              <a:t>Small Computer System Interface</a:t>
            </a:r>
            <a:r>
              <a:rPr b="1" lang="en-US" sz="2400">
                <a:solidFill>
                  <a:schemeClr val="accent1"/>
                </a:solidFill>
                <a:latin typeface="Calibri"/>
                <a:ea typeface="Calibri"/>
                <a:cs typeface="Calibri"/>
                <a:sym typeface="Calibri"/>
              </a:rPr>
              <a:t> (</a:t>
            </a:r>
            <a:r>
              <a:rPr b="1" i="1" lang="en-US" sz="2400">
                <a:solidFill>
                  <a:schemeClr val="accent1"/>
                </a:solidFill>
                <a:latin typeface="Calibri"/>
                <a:ea typeface="Calibri"/>
                <a:cs typeface="Calibri"/>
                <a:sym typeface="Calibri"/>
              </a:rPr>
              <a:t>SCSI</a:t>
            </a:r>
            <a:r>
              <a:rPr b="1" lang="en-US" sz="2400">
                <a:solidFill>
                  <a:schemeClr val="accent1"/>
                </a:solidFill>
                <a:latin typeface="Calibri"/>
                <a:ea typeface="Calibri"/>
                <a:cs typeface="Calibri"/>
                <a:sym typeface="Calibri"/>
              </a:rPr>
              <a:t>) </a:t>
            </a:r>
            <a:endParaRPr b="1" sz="2400">
              <a:solidFill>
                <a:schemeClr val="accent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set of </a:t>
            </a:r>
            <a:r>
              <a:rPr b="1" i="0" lang="en-US" sz="2400" u="none" cap="none" strike="noStrike">
                <a:solidFill>
                  <a:schemeClr val="accent1"/>
                </a:solidFill>
                <a:latin typeface="Calibri"/>
                <a:ea typeface="Calibri"/>
                <a:cs typeface="Calibri"/>
                <a:sym typeface="Calibri"/>
              </a:rPr>
              <a:t>parallel interface standards </a:t>
            </a:r>
            <a:r>
              <a:rPr b="0" i="0" lang="en-US" sz="2400" u="none" cap="none" strike="noStrike">
                <a:solidFill>
                  <a:schemeClr val="dk1"/>
                </a:solidFill>
                <a:latin typeface="Calibri"/>
                <a:ea typeface="Calibri"/>
                <a:cs typeface="Calibri"/>
                <a:sym typeface="Calibri"/>
              </a:rPr>
              <a:t>that allows PCs to communicate with peripheral hardware faster</a:t>
            </a:r>
            <a:endParaRPr/>
          </a:p>
        </p:txBody>
      </p:sp>
      <p:sp>
        <p:nvSpPr>
          <p:cNvPr id="286" name="Google Shape;28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87" name="Google Shape;28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88" name="Google Shape;28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2"/>
          <p:cNvSpPr txBox="1"/>
          <p:nvPr>
            <p:ph type="title"/>
          </p:nvPr>
        </p:nvSpPr>
        <p:spPr>
          <a:xfrm>
            <a:off x="758825" y="127000"/>
            <a:ext cx="792797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83333"/>
              <a:buFont typeface="Calibri"/>
              <a:buNone/>
            </a:pPr>
            <a:r>
              <a:rPr lang="en-US"/>
              <a:t>A Typical PC Bus Structure</a:t>
            </a:r>
            <a:endParaRPr sz="2400"/>
          </a:p>
        </p:txBody>
      </p:sp>
      <p:pic>
        <p:nvPicPr>
          <p:cNvPr id="295" name="Google Shape;295;p22"/>
          <p:cNvPicPr preferRelativeResize="0"/>
          <p:nvPr/>
        </p:nvPicPr>
        <p:blipFill rotWithShape="1">
          <a:blip r:embed="rId3">
            <a:alphaModFix/>
          </a:blip>
          <a:srcRect b="0" l="0" r="0" t="0"/>
          <a:stretch/>
        </p:blipFill>
        <p:spPr>
          <a:xfrm>
            <a:off x="4876800" y="1371600"/>
            <a:ext cx="4040188" cy="4403725"/>
          </a:xfrm>
          <a:prstGeom prst="rect">
            <a:avLst/>
          </a:prstGeom>
          <a:noFill/>
          <a:ln>
            <a:noFill/>
          </a:ln>
        </p:spPr>
      </p:pic>
      <p:sp>
        <p:nvSpPr>
          <p:cNvPr id="296" name="Google Shape;296;p22"/>
          <p:cNvSpPr/>
          <p:nvPr/>
        </p:nvSpPr>
        <p:spPr>
          <a:xfrm>
            <a:off x="284018" y="856357"/>
            <a:ext cx="3886200" cy="452431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Other common buses used to interconnect main parts of a computer</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PCI-x with throughput up to 4.3 GB;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PCI Express (PCie), with throughput up to 16 GB</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Hypertransport with throughput up to 20 GB.</a:t>
            </a:r>
            <a:endParaRPr/>
          </a:p>
          <a:p>
            <a:pPr indent="-190500" lvl="1" marL="8001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97" name="Google Shape;29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298" name="Google Shape;29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99" name="Google Shape;29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3"/>
          <p:cNvSpPr txBox="1"/>
          <p:nvPr>
            <p:ph type="title"/>
          </p:nvPr>
        </p:nvSpPr>
        <p:spPr>
          <a:xfrm>
            <a:off x="457200" y="274638"/>
            <a:ext cx="8229600" cy="258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Expansion Slots</a:t>
            </a:r>
            <a:endParaRPr/>
          </a:p>
        </p:txBody>
      </p:sp>
      <p:sp>
        <p:nvSpPr>
          <p:cNvPr id="305" name="Google Shape;305;p23"/>
          <p:cNvSpPr txBox="1"/>
          <p:nvPr>
            <p:ph idx="1" type="body"/>
          </p:nvPr>
        </p:nvSpPr>
        <p:spPr>
          <a:xfrm>
            <a:off x="457200" y="838200"/>
            <a:ext cx="3962400" cy="5715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t>ISA slots.</a:t>
            </a:r>
            <a:r>
              <a:rPr lang="en-US" sz="2400"/>
              <a:t> </a:t>
            </a:r>
            <a:endParaRPr sz="2400"/>
          </a:p>
          <a:p>
            <a:pPr indent="-342900" lvl="0" marL="342900" rtl="0" algn="l">
              <a:spcBef>
                <a:spcPts val="480"/>
              </a:spcBef>
              <a:spcAft>
                <a:spcPts val="0"/>
              </a:spcAft>
              <a:buClr>
                <a:schemeClr val="dk1"/>
              </a:buClr>
              <a:buSzPts val="2400"/>
              <a:buChar char="•"/>
            </a:pPr>
            <a:r>
              <a:rPr lang="en-US" sz="2400"/>
              <a:t>Oldest expansion slots in the history of motherboards. </a:t>
            </a:r>
            <a:endParaRPr sz="2400"/>
          </a:p>
          <a:p>
            <a:pPr indent="-342900" lvl="0" marL="342900" rtl="0" algn="l">
              <a:spcBef>
                <a:spcPts val="480"/>
              </a:spcBef>
              <a:spcAft>
                <a:spcPts val="0"/>
              </a:spcAft>
              <a:buClr>
                <a:schemeClr val="dk1"/>
              </a:buClr>
              <a:buSzPts val="2400"/>
              <a:buChar char="•"/>
            </a:pPr>
            <a:r>
              <a:rPr lang="en-US" sz="2400"/>
              <a:t>Used in AT boards and are identified by black color. </a:t>
            </a:r>
            <a:endParaRPr sz="2400"/>
          </a:p>
          <a:p>
            <a:pPr indent="-342900" lvl="0" marL="342900" rtl="0" algn="l">
              <a:spcBef>
                <a:spcPts val="480"/>
              </a:spcBef>
              <a:spcAft>
                <a:spcPts val="0"/>
              </a:spcAft>
              <a:buClr>
                <a:schemeClr val="dk1"/>
              </a:buClr>
              <a:buSzPts val="2400"/>
              <a:buChar char="•"/>
            </a:pPr>
            <a:r>
              <a:rPr lang="en-US" sz="2400"/>
              <a:t>Conventional display cards or sound cards were installed in these slots. </a:t>
            </a:r>
            <a:endParaRPr sz="2400"/>
          </a:p>
          <a:p>
            <a:pPr indent="-342900" lvl="0" marL="342900" rtl="0" algn="l">
              <a:spcBef>
                <a:spcPts val="480"/>
              </a:spcBef>
              <a:spcAft>
                <a:spcPts val="0"/>
              </a:spcAft>
              <a:buClr>
                <a:schemeClr val="dk1"/>
              </a:buClr>
              <a:buSzPts val="2400"/>
              <a:buChar char="•"/>
            </a:pPr>
            <a:r>
              <a:rPr lang="en-US" sz="2400"/>
              <a:t>The full form of ISA is </a:t>
            </a:r>
            <a:r>
              <a:rPr b="1" lang="en-US" sz="2400"/>
              <a:t>Industry Standard Architecture</a:t>
            </a:r>
            <a:r>
              <a:rPr lang="en-US" sz="2400"/>
              <a:t> and is </a:t>
            </a:r>
            <a:r>
              <a:rPr lang="en-US" sz="2400">
                <a:solidFill>
                  <a:srgbClr val="0070C0"/>
                </a:solidFill>
              </a:rPr>
              <a:t>a 16- bit bus.</a:t>
            </a:r>
            <a:endParaRPr sz="2400">
              <a:solidFill>
                <a:srgbClr val="0070C0"/>
              </a:solidFill>
            </a:endParaRPr>
          </a:p>
          <a:p>
            <a:pPr indent="-139700" lvl="0" marL="342900" rtl="0" algn="l">
              <a:spcBef>
                <a:spcPts val="640"/>
              </a:spcBef>
              <a:spcAft>
                <a:spcPts val="0"/>
              </a:spcAft>
              <a:buClr>
                <a:schemeClr val="dk1"/>
              </a:buClr>
              <a:buSzPts val="3200"/>
              <a:buNone/>
            </a:pPr>
            <a:r>
              <a:t/>
            </a:r>
            <a:endParaRPr b="1"/>
          </a:p>
        </p:txBody>
      </p:sp>
      <p:pic>
        <p:nvPicPr>
          <p:cNvPr descr="Motherboard types-P2" id="306" name="Google Shape;306;p23">
            <a:hlinkClick r:id="rId3"/>
          </p:cNvPr>
          <p:cNvPicPr preferRelativeResize="0"/>
          <p:nvPr/>
        </p:nvPicPr>
        <p:blipFill rotWithShape="1">
          <a:blip r:embed="rId4">
            <a:alphaModFix/>
          </a:blip>
          <a:srcRect b="0" l="0" r="0" t="0"/>
          <a:stretch/>
        </p:blipFill>
        <p:spPr>
          <a:xfrm>
            <a:off x="4149725" y="1676400"/>
            <a:ext cx="4994275" cy="3912870"/>
          </a:xfrm>
          <a:prstGeom prst="rect">
            <a:avLst/>
          </a:prstGeom>
          <a:noFill/>
          <a:ln>
            <a:noFill/>
          </a:ln>
        </p:spPr>
      </p:pic>
      <p:sp>
        <p:nvSpPr>
          <p:cNvPr id="307" name="Google Shape;30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08" name="Google Shape;30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09" name="Google Shape;30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4"/>
          <p:cNvSpPr txBox="1"/>
          <p:nvPr>
            <p:ph type="title"/>
          </p:nvPr>
        </p:nvSpPr>
        <p:spPr>
          <a:xfrm>
            <a:off x="457200" y="274638"/>
            <a:ext cx="8229600" cy="258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Expansion Slots</a:t>
            </a:r>
            <a:endParaRPr/>
          </a:p>
        </p:txBody>
      </p:sp>
      <p:sp>
        <p:nvSpPr>
          <p:cNvPr id="315" name="Google Shape;315;p24"/>
          <p:cNvSpPr txBox="1"/>
          <p:nvPr>
            <p:ph idx="1" type="body"/>
          </p:nvPr>
        </p:nvSpPr>
        <p:spPr>
          <a:xfrm>
            <a:off x="187325" y="775335"/>
            <a:ext cx="3962400" cy="5715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t>PCI Slots.</a:t>
            </a:r>
            <a:r>
              <a:rPr lang="en-US" sz="2400"/>
              <a:t> </a:t>
            </a:r>
            <a:endParaRPr sz="2400"/>
          </a:p>
          <a:p>
            <a:pPr indent="-342900" lvl="0" marL="342900" rtl="0" algn="l">
              <a:spcBef>
                <a:spcPts val="480"/>
              </a:spcBef>
              <a:spcAft>
                <a:spcPts val="0"/>
              </a:spcAft>
              <a:buClr>
                <a:schemeClr val="dk1"/>
              </a:buClr>
              <a:buSzPts val="2400"/>
              <a:buChar char="•"/>
            </a:pPr>
            <a:r>
              <a:rPr b="1" lang="en-US" sz="2400"/>
              <a:t>PCI (Peripheral Component Interconnect) Slot:</a:t>
            </a:r>
            <a:r>
              <a:rPr lang="en-US" sz="2400"/>
              <a:t> Supports peripherals like sound cards, DVD decoders, and graphic accelerators</a:t>
            </a:r>
            <a:endParaRPr/>
          </a:p>
          <a:p>
            <a:pPr indent="-342900" lvl="0" marL="342900" rtl="0" algn="l">
              <a:spcBef>
                <a:spcPts val="480"/>
              </a:spcBef>
              <a:spcAft>
                <a:spcPts val="0"/>
              </a:spcAft>
              <a:buClr>
                <a:schemeClr val="dk1"/>
              </a:buClr>
              <a:buSzPts val="2400"/>
              <a:buChar char="•"/>
            </a:pPr>
            <a:r>
              <a:rPr lang="en-US" sz="2400"/>
              <a:t>There are usually anywhere from </a:t>
            </a:r>
            <a:r>
              <a:rPr lang="en-US" sz="2400">
                <a:solidFill>
                  <a:srgbClr val="0070C0"/>
                </a:solidFill>
              </a:rPr>
              <a:t>1 to 6 PCI slots </a:t>
            </a:r>
            <a:r>
              <a:rPr lang="en-US" sz="2400"/>
              <a:t>available on the motherboard.</a:t>
            </a:r>
            <a:endParaRPr sz="2400"/>
          </a:p>
          <a:p>
            <a:pPr indent="-342900" lvl="0" marL="342900" rtl="0" algn="l">
              <a:spcBef>
                <a:spcPts val="480"/>
              </a:spcBef>
              <a:spcAft>
                <a:spcPts val="0"/>
              </a:spcAft>
              <a:buClr>
                <a:schemeClr val="dk1"/>
              </a:buClr>
              <a:buSzPts val="2400"/>
              <a:buChar char="•"/>
            </a:pPr>
            <a:r>
              <a:rPr lang="en-US" sz="2400"/>
              <a:t>The PCI supports </a:t>
            </a:r>
            <a:r>
              <a:rPr lang="en-US" sz="2400">
                <a:solidFill>
                  <a:srgbClr val="0070C0"/>
                </a:solidFill>
              </a:rPr>
              <a:t>64-bit high-speed bus.</a:t>
            </a:r>
            <a:endParaRPr sz="2400">
              <a:solidFill>
                <a:srgbClr val="0070C0"/>
              </a:solidFill>
            </a:endParaRPr>
          </a:p>
          <a:p>
            <a:pPr indent="-139700" lvl="0" marL="342900" rtl="0" algn="l">
              <a:spcBef>
                <a:spcPts val="640"/>
              </a:spcBef>
              <a:spcAft>
                <a:spcPts val="0"/>
              </a:spcAft>
              <a:buClr>
                <a:schemeClr val="dk1"/>
              </a:buClr>
              <a:buSzPts val="3200"/>
              <a:buNone/>
            </a:pPr>
            <a:r>
              <a:t/>
            </a:r>
            <a:endParaRPr b="1"/>
          </a:p>
        </p:txBody>
      </p:sp>
      <p:pic>
        <p:nvPicPr>
          <p:cNvPr descr="Motherboard types-P2" id="316" name="Google Shape;316;p24">
            <a:hlinkClick r:id="rId3"/>
          </p:cNvPr>
          <p:cNvPicPr preferRelativeResize="0"/>
          <p:nvPr/>
        </p:nvPicPr>
        <p:blipFill rotWithShape="1">
          <a:blip r:embed="rId4">
            <a:alphaModFix/>
          </a:blip>
          <a:srcRect b="0" l="0" r="0" t="0"/>
          <a:stretch/>
        </p:blipFill>
        <p:spPr>
          <a:xfrm>
            <a:off x="4149725" y="1676400"/>
            <a:ext cx="4994275" cy="3912870"/>
          </a:xfrm>
          <a:prstGeom prst="rect">
            <a:avLst/>
          </a:prstGeom>
          <a:noFill/>
          <a:ln>
            <a:noFill/>
          </a:ln>
        </p:spPr>
      </p:pic>
      <p:sp>
        <p:nvSpPr>
          <p:cNvPr id="317" name="Google Shape;31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18" name="Google Shape;31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19" name="Google Shape;31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5"/>
          <p:cNvSpPr txBox="1"/>
          <p:nvPr>
            <p:ph type="title"/>
          </p:nvPr>
        </p:nvSpPr>
        <p:spPr>
          <a:xfrm>
            <a:off x="457200" y="274638"/>
            <a:ext cx="8229600" cy="258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Expansion Slots</a:t>
            </a:r>
            <a:endParaRPr/>
          </a:p>
        </p:txBody>
      </p:sp>
      <p:sp>
        <p:nvSpPr>
          <p:cNvPr id="325" name="Google Shape;325;p25"/>
          <p:cNvSpPr txBox="1"/>
          <p:nvPr>
            <p:ph idx="1" type="body"/>
          </p:nvPr>
        </p:nvSpPr>
        <p:spPr>
          <a:xfrm>
            <a:off x="152400" y="685800"/>
            <a:ext cx="3692525" cy="57150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b="1"/>
          </a:p>
          <a:p>
            <a:pPr indent="0" lvl="0" marL="0" rtl="0" algn="l">
              <a:spcBef>
                <a:spcPts val="480"/>
              </a:spcBef>
              <a:spcAft>
                <a:spcPts val="0"/>
              </a:spcAft>
              <a:buClr>
                <a:schemeClr val="dk1"/>
              </a:buClr>
              <a:buSzPts val="2400"/>
              <a:buNone/>
            </a:pPr>
            <a:r>
              <a:rPr b="1" lang="en-US" sz="2400"/>
              <a:t>PCI express</a:t>
            </a:r>
            <a:r>
              <a:rPr lang="en-US" sz="2400"/>
              <a:t>. </a:t>
            </a:r>
            <a:endParaRPr sz="2400"/>
          </a:p>
          <a:p>
            <a:pPr indent="-342900" lvl="0" marL="342900" rtl="0" algn="l">
              <a:spcBef>
                <a:spcPts val="480"/>
              </a:spcBef>
              <a:spcAft>
                <a:spcPts val="0"/>
              </a:spcAft>
              <a:buClr>
                <a:schemeClr val="dk1"/>
              </a:buClr>
              <a:buSzPts val="2400"/>
              <a:buChar char="•"/>
            </a:pPr>
            <a:r>
              <a:rPr lang="en-US" sz="2400"/>
              <a:t>Also known as </a:t>
            </a:r>
            <a:r>
              <a:rPr lang="en-US" sz="2400">
                <a:solidFill>
                  <a:srgbClr val="0070C0"/>
                </a:solidFill>
              </a:rPr>
              <a:t>PCIe</a:t>
            </a:r>
            <a:r>
              <a:rPr lang="en-US" sz="2400"/>
              <a:t>, </a:t>
            </a:r>
            <a:endParaRPr sz="2400"/>
          </a:p>
          <a:p>
            <a:pPr indent="-342900" lvl="0" marL="342900" rtl="0" algn="l">
              <a:spcBef>
                <a:spcPts val="480"/>
              </a:spcBef>
              <a:spcAft>
                <a:spcPts val="0"/>
              </a:spcAft>
              <a:buClr>
                <a:schemeClr val="dk1"/>
              </a:buClr>
              <a:buSzPts val="2400"/>
              <a:buChar char="•"/>
            </a:pPr>
            <a:r>
              <a:rPr lang="en-US" sz="2400"/>
              <a:t>Latest and the fastest component of the motherboard to support add-on cards. </a:t>
            </a:r>
            <a:endParaRPr sz="2400"/>
          </a:p>
          <a:p>
            <a:pPr indent="-342900" lvl="0" marL="342900" rtl="0" algn="l">
              <a:spcBef>
                <a:spcPts val="480"/>
              </a:spcBef>
              <a:spcAft>
                <a:spcPts val="0"/>
              </a:spcAft>
              <a:buClr>
                <a:schemeClr val="dk1"/>
              </a:buClr>
              <a:buSzPts val="2400"/>
              <a:buChar char="•"/>
            </a:pPr>
            <a:r>
              <a:rPr lang="en-US" sz="2400"/>
              <a:t>It supports full duplex serial bus.</a:t>
            </a:r>
            <a:endParaRPr sz="2400"/>
          </a:p>
        </p:txBody>
      </p:sp>
      <p:pic>
        <p:nvPicPr>
          <p:cNvPr descr="motherboard-p4" id="326" name="Google Shape;326;p25">
            <a:hlinkClick r:id="rId3"/>
          </p:cNvPr>
          <p:cNvPicPr preferRelativeResize="0"/>
          <p:nvPr/>
        </p:nvPicPr>
        <p:blipFill rotWithShape="1">
          <a:blip r:embed="rId4">
            <a:alphaModFix/>
          </a:blip>
          <a:srcRect b="0" l="0" r="0" t="0"/>
          <a:stretch/>
        </p:blipFill>
        <p:spPr>
          <a:xfrm>
            <a:off x="3886200" y="1490345"/>
            <a:ext cx="5029200" cy="3615055"/>
          </a:xfrm>
          <a:prstGeom prst="rect">
            <a:avLst/>
          </a:prstGeom>
          <a:noFill/>
          <a:ln>
            <a:noFill/>
          </a:ln>
        </p:spPr>
      </p:pic>
      <p:sp>
        <p:nvSpPr>
          <p:cNvPr id="327" name="Google Shape;32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28" name="Google Shape;32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29" name="Google Shape;32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335" name="Google Shape;335;p26"/>
          <p:cNvSpPr/>
          <p:nvPr/>
        </p:nvSpPr>
        <p:spPr>
          <a:xfrm>
            <a:off x="457200" y="1752600"/>
            <a:ext cx="81534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Three techniques for performing I/O:</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Programmed I/O</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Interrupt-driven I/O</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Direct memory access (DMA)</a:t>
            </a:r>
            <a:endParaRPr sz="2400">
              <a:solidFill>
                <a:schemeClr val="dk1"/>
              </a:solidFill>
              <a:latin typeface="Calibri"/>
              <a:ea typeface="Calibri"/>
              <a:cs typeface="Calibri"/>
              <a:sym typeface="Calibri"/>
            </a:endParaRPr>
          </a:p>
        </p:txBody>
      </p:sp>
      <p:sp>
        <p:nvSpPr>
          <p:cNvPr id="336" name="Google Shape;33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37" name="Google Shape;33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38" name="Google Shape;33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344" name="Google Shape;344;p27"/>
          <p:cNvSpPr/>
          <p:nvPr/>
        </p:nvSpPr>
        <p:spPr>
          <a:xfrm>
            <a:off x="457200" y="1752600"/>
            <a:ext cx="8153400" cy="22159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Programmed I/O: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a:t>
            </a:r>
            <a:r>
              <a:rPr lang="en-US" sz="2400">
                <a:solidFill>
                  <a:srgbClr val="0070C0"/>
                </a:solidFill>
                <a:latin typeface="Calibri"/>
                <a:ea typeface="Calibri"/>
                <a:cs typeface="Calibri"/>
                <a:sym typeface="Calibri"/>
              </a:rPr>
              <a:t>processor issues an I/O command</a:t>
            </a:r>
            <a:r>
              <a:rPr lang="en-US" sz="2400">
                <a:solidFill>
                  <a:schemeClr val="dk1"/>
                </a:solidFill>
                <a:latin typeface="Calibri"/>
                <a:ea typeface="Calibri"/>
                <a:cs typeface="Calibri"/>
                <a:sym typeface="Calibri"/>
              </a:rPr>
              <a:t>, on behalf of a process, to an I/O module;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that </a:t>
            </a:r>
            <a:r>
              <a:rPr lang="en-US" sz="2400">
                <a:solidFill>
                  <a:srgbClr val="0070C0"/>
                </a:solidFill>
                <a:latin typeface="Calibri"/>
                <a:ea typeface="Calibri"/>
                <a:cs typeface="Calibri"/>
                <a:sym typeface="Calibri"/>
              </a:rPr>
              <a:t>process then busy waits </a:t>
            </a:r>
            <a:r>
              <a:rPr lang="en-US" sz="2400">
                <a:solidFill>
                  <a:schemeClr val="dk1"/>
                </a:solidFill>
                <a:latin typeface="Calibri"/>
                <a:ea typeface="Calibri"/>
                <a:cs typeface="Calibri"/>
                <a:sym typeface="Calibri"/>
              </a:rPr>
              <a:t>for the operation to be completed before proceeding.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46" name="Google Shape;34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47" name="Google Shape;34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353" name="Google Shape;353;p28"/>
          <p:cNvSpPr/>
          <p:nvPr/>
        </p:nvSpPr>
        <p:spPr>
          <a:xfrm>
            <a:off x="457200" y="1752600"/>
            <a:ext cx="8153400"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Interrupt-driven I/O: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a:t>
            </a:r>
            <a:r>
              <a:rPr lang="en-US" sz="2400">
                <a:solidFill>
                  <a:srgbClr val="0070C0"/>
                </a:solidFill>
                <a:latin typeface="Calibri"/>
                <a:ea typeface="Calibri"/>
                <a:cs typeface="Calibri"/>
                <a:sym typeface="Calibri"/>
              </a:rPr>
              <a:t>processor issues an I/O command </a:t>
            </a:r>
            <a:r>
              <a:rPr lang="en-US" sz="2400">
                <a:solidFill>
                  <a:schemeClr val="dk1"/>
                </a:solidFill>
                <a:latin typeface="Calibri"/>
                <a:ea typeface="Calibri"/>
                <a:cs typeface="Calibri"/>
                <a:sym typeface="Calibri"/>
              </a:rPr>
              <a:t>on behalf of a process.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There are then two possibilities.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If the I/O instruction from the </a:t>
            </a:r>
            <a:r>
              <a:rPr lang="en-US" sz="2400">
                <a:solidFill>
                  <a:srgbClr val="0070C0"/>
                </a:solidFill>
                <a:latin typeface="Calibri"/>
                <a:ea typeface="Calibri"/>
                <a:cs typeface="Calibri"/>
                <a:sym typeface="Calibri"/>
              </a:rPr>
              <a:t>process is non blocking, </a:t>
            </a:r>
            <a:endParaRPr sz="2400">
              <a:solidFill>
                <a:srgbClr val="0070C0"/>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a:t>
            </a:r>
            <a:r>
              <a:rPr b="0" i="0" lang="en-US" sz="2400" u="none" cap="none" strike="noStrike">
                <a:solidFill>
                  <a:srgbClr val="0070C0"/>
                </a:solidFill>
                <a:latin typeface="Calibri"/>
                <a:ea typeface="Calibri"/>
                <a:cs typeface="Calibri"/>
                <a:sym typeface="Calibri"/>
              </a:rPr>
              <a:t>processor continues to execute instructions from the process</a:t>
            </a:r>
            <a:r>
              <a:rPr b="0" i="0" lang="en-US" sz="2400" u="none" cap="none" strike="noStrike">
                <a:solidFill>
                  <a:schemeClr val="dk1"/>
                </a:solidFill>
                <a:latin typeface="Calibri"/>
                <a:ea typeface="Calibri"/>
                <a:cs typeface="Calibri"/>
                <a:sym typeface="Calibri"/>
              </a:rPr>
              <a:t> that issued the I/O command. </a:t>
            </a:r>
            <a:endParaRPr b="0" i="0" sz="2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If the I/O instruction is </a:t>
            </a:r>
            <a:r>
              <a:rPr lang="en-US" sz="2400">
                <a:solidFill>
                  <a:srgbClr val="0070C0"/>
                </a:solidFill>
                <a:latin typeface="Calibri"/>
                <a:ea typeface="Calibri"/>
                <a:cs typeface="Calibri"/>
                <a:sym typeface="Calibri"/>
              </a:rPr>
              <a:t>blocking, </a:t>
            </a:r>
            <a:endParaRPr sz="2400">
              <a:solidFill>
                <a:srgbClr val="0070C0"/>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then the next instruction that the </a:t>
            </a:r>
            <a:r>
              <a:rPr b="0" i="0" lang="en-US" sz="2400" u="none" cap="none" strike="noStrike">
                <a:solidFill>
                  <a:srgbClr val="0070C0"/>
                </a:solidFill>
                <a:latin typeface="Calibri"/>
                <a:ea typeface="Calibri"/>
                <a:cs typeface="Calibri"/>
                <a:sym typeface="Calibri"/>
              </a:rPr>
              <a:t>processor executes is from the OS, </a:t>
            </a:r>
            <a:endParaRPr b="0" i="0" sz="2400" u="none" cap="none" strike="noStrike">
              <a:solidFill>
                <a:srgbClr val="0070C0"/>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which will </a:t>
            </a:r>
            <a:r>
              <a:rPr b="0" i="0" lang="en-US" sz="2400" u="none" cap="none" strike="noStrike">
                <a:solidFill>
                  <a:srgbClr val="0070C0"/>
                </a:solidFill>
                <a:latin typeface="Calibri"/>
                <a:ea typeface="Calibri"/>
                <a:cs typeface="Calibri"/>
                <a:sym typeface="Calibri"/>
              </a:rPr>
              <a:t>put the current process in a blocked</a:t>
            </a:r>
            <a:r>
              <a:rPr b="0" i="0" lang="en-US" sz="2400" u="none" cap="none" strike="noStrike">
                <a:solidFill>
                  <a:schemeClr val="dk1"/>
                </a:solidFill>
                <a:latin typeface="Calibri"/>
                <a:ea typeface="Calibri"/>
                <a:cs typeface="Calibri"/>
                <a:sym typeface="Calibri"/>
              </a:rPr>
              <a:t> state </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Interrupt the current process and </a:t>
            </a:r>
            <a:r>
              <a:rPr b="0" i="0" lang="en-US" sz="2400" u="none" cap="none" strike="noStrike">
                <a:solidFill>
                  <a:srgbClr val="0070C0"/>
                </a:solidFill>
                <a:latin typeface="Calibri"/>
                <a:ea typeface="Calibri"/>
                <a:cs typeface="Calibri"/>
                <a:sym typeface="Calibri"/>
              </a:rPr>
              <a:t>schedule another process.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354" name="Google Shape;35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55" name="Google Shape;35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56" name="Google Shape;35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362" name="Google Shape;362;p29"/>
          <p:cNvSpPr/>
          <p:nvPr/>
        </p:nvSpPr>
        <p:spPr>
          <a:xfrm>
            <a:off x="457200" y="1752600"/>
            <a:ext cx="81534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Direct memory access (DMA):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processor sends a request for </a:t>
            </a:r>
            <a:r>
              <a:rPr lang="en-US" sz="2400">
                <a:solidFill>
                  <a:srgbClr val="0070C0"/>
                </a:solidFill>
                <a:latin typeface="Calibri"/>
                <a:ea typeface="Calibri"/>
                <a:cs typeface="Calibri"/>
                <a:sym typeface="Calibri"/>
              </a:rPr>
              <a:t>the transfer of a block of data to the DMA module</a:t>
            </a:r>
            <a:r>
              <a:rPr lang="en-US" sz="2400">
                <a:solidFill>
                  <a:schemeClr val="dk1"/>
                </a:solidFill>
                <a:latin typeface="Calibri"/>
                <a:ea typeface="Calibri"/>
                <a:cs typeface="Calibri"/>
                <a:sym typeface="Calibri"/>
              </a:rPr>
              <a:t> and is </a:t>
            </a:r>
            <a:r>
              <a:rPr lang="en-US" sz="2400">
                <a:solidFill>
                  <a:srgbClr val="0070C0"/>
                </a:solidFill>
                <a:latin typeface="Calibri"/>
                <a:ea typeface="Calibri"/>
                <a:cs typeface="Calibri"/>
                <a:sym typeface="Calibri"/>
              </a:rPr>
              <a:t>interrupted only after the entire block has been transferred.</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 DMA module controls the exchange of data between main memory and an I/O module. </a:t>
            </a:r>
            <a:endParaRPr/>
          </a:p>
          <a:p>
            <a:pPr indent="-190500" lvl="0" marL="342900" marR="0" rtl="0" algn="l">
              <a:spcBef>
                <a:spcPts val="0"/>
              </a:spcBef>
              <a:spcAft>
                <a:spcPts val="0"/>
              </a:spcAft>
              <a:buClr>
                <a:schemeClr val="dk1"/>
              </a:buClr>
              <a:buSzPts val="2400"/>
              <a:buFont typeface="Arial"/>
              <a:buNone/>
            </a:pPr>
            <a:r>
              <a:t/>
            </a:r>
            <a:endParaRPr sz="2400">
              <a:solidFill>
                <a:srgbClr val="0070C0"/>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DMA is the </a:t>
            </a:r>
            <a:r>
              <a:rPr lang="en-US" sz="2400">
                <a:solidFill>
                  <a:srgbClr val="0070C0"/>
                </a:solidFill>
                <a:latin typeface="Calibri"/>
                <a:ea typeface="Calibri"/>
                <a:cs typeface="Calibri"/>
                <a:sym typeface="Calibri"/>
              </a:rPr>
              <a:t>dominant form of transfer</a:t>
            </a:r>
            <a:r>
              <a:rPr lang="en-US" sz="2400">
                <a:solidFill>
                  <a:schemeClr val="dk1"/>
                </a:solidFill>
                <a:latin typeface="Calibri"/>
                <a:ea typeface="Calibri"/>
                <a:cs typeface="Calibri"/>
                <a:sym typeface="Calibri"/>
              </a:rPr>
              <a:t> that must be supported by the operating system.</a:t>
            </a:r>
            <a:endParaRPr sz="2400">
              <a:solidFill>
                <a:srgbClr val="0070C0"/>
              </a:solidFill>
              <a:latin typeface="Calibri"/>
              <a:ea typeface="Calibri"/>
              <a:cs typeface="Calibri"/>
              <a:sym typeface="Calibri"/>
            </a:endParaRPr>
          </a:p>
        </p:txBody>
      </p:sp>
      <p:sp>
        <p:nvSpPr>
          <p:cNvPr id="363" name="Google Shape;363;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64" name="Google Shape;364;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65" name="Google Shape;365;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371" name="Google Shape;371;p30"/>
          <p:cNvSpPr/>
          <p:nvPr/>
        </p:nvSpPr>
        <p:spPr>
          <a:xfrm>
            <a:off x="457200" y="1752600"/>
            <a:ext cx="8153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rgbClr val="0070C0"/>
              </a:solidFill>
              <a:latin typeface="Calibri"/>
              <a:ea typeface="Calibri"/>
              <a:cs typeface="Calibri"/>
              <a:sym typeface="Calibri"/>
            </a:endParaRPr>
          </a:p>
        </p:txBody>
      </p:sp>
      <p:pic>
        <p:nvPicPr>
          <p:cNvPr id="372" name="Google Shape;372;p30"/>
          <p:cNvPicPr preferRelativeResize="0"/>
          <p:nvPr/>
        </p:nvPicPr>
        <p:blipFill rotWithShape="1">
          <a:blip r:embed="rId3">
            <a:alphaModFix/>
          </a:blip>
          <a:srcRect b="0" l="0" r="0" t="0"/>
          <a:stretch/>
        </p:blipFill>
        <p:spPr>
          <a:xfrm>
            <a:off x="723900" y="2214264"/>
            <a:ext cx="7620000" cy="2052935"/>
          </a:xfrm>
          <a:prstGeom prst="rect">
            <a:avLst/>
          </a:prstGeom>
          <a:noFill/>
          <a:ln>
            <a:noFill/>
          </a:ln>
        </p:spPr>
      </p:pic>
      <p:sp>
        <p:nvSpPr>
          <p:cNvPr id="373" name="Google Shape;373;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74" name="Google Shape;374;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75" name="Google Shape;375;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382" name="Google Shape;382;p31"/>
          <p:cNvSpPr/>
          <p:nvPr/>
        </p:nvSpPr>
        <p:spPr>
          <a:xfrm>
            <a:off x="457200" y="1752600"/>
            <a:ext cx="81534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Direct memory access (DMA):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DMA unit is capable of </a:t>
            </a:r>
            <a:r>
              <a:rPr lang="en-US" sz="2400">
                <a:solidFill>
                  <a:srgbClr val="0070C0"/>
                </a:solidFill>
                <a:latin typeface="Calibri"/>
                <a:ea typeface="Calibri"/>
                <a:cs typeface="Calibri"/>
                <a:sym typeface="Calibri"/>
              </a:rPr>
              <a:t>mimicking the processor </a:t>
            </a:r>
            <a:endParaRPr sz="2400">
              <a:solidFill>
                <a:srgbClr val="0070C0"/>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Taking </a:t>
            </a:r>
            <a:r>
              <a:rPr lang="en-US" sz="2400">
                <a:solidFill>
                  <a:srgbClr val="FF33CC"/>
                </a:solidFill>
                <a:latin typeface="Calibri"/>
                <a:ea typeface="Calibri"/>
                <a:cs typeface="Calibri"/>
                <a:sym typeface="Calibri"/>
              </a:rPr>
              <a:t>control of the system bus just like a processor</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needs to do this to transfer data to and from memory over the system bus.</a:t>
            </a:r>
            <a:endParaRPr/>
          </a:p>
          <a:p>
            <a:pPr indent="-190500" lvl="0" marL="342900" marR="0" rtl="0" algn="l">
              <a:spcBef>
                <a:spcPts val="0"/>
              </a:spcBef>
              <a:spcAft>
                <a:spcPts val="0"/>
              </a:spcAft>
              <a:buClr>
                <a:schemeClr val="dk1"/>
              </a:buClr>
              <a:buSzPts val="2400"/>
              <a:buFont typeface="Arial"/>
              <a:buNone/>
            </a:pPr>
            <a:r>
              <a:t/>
            </a:r>
            <a:endParaRPr sz="2400">
              <a:solidFill>
                <a:srgbClr val="0070C0"/>
              </a:solidFill>
              <a:latin typeface="Calibri"/>
              <a:ea typeface="Calibri"/>
              <a:cs typeface="Calibri"/>
              <a:sym typeface="Calibri"/>
            </a:endParaRPr>
          </a:p>
        </p:txBody>
      </p:sp>
      <p:sp>
        <p:nvSpPr>
          <p:cNvPr id="383" name="Google Shape;383;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84" name="Google Shape;384;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85" name="Google Shape;385;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391" name="Google Shape;391;p32"/>
          <p:cNvSpPr/>
          <p:nvPr/>
        </p:nvSpPr>
        <p:spPr>
          <a:xfrm>
            <a:off x="457200" y="2057400"/>
            <a:ext cx="81534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Direct memory access (DMA):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DMA technique works as follows.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When the </a:t>
            </a:r>
            <a:r>
              <a:rPr lang="en-US" sz="2400">
                <a:solidFill>
                  <a:schemeClr val="accent1"/>
                </a:solidFill>
                <a:latin typeface="Calibri"/>
                <a:ea typeface="Calibri"/>
                <a:cs typeface="Calibri"/>
                <a:sym typeface="Calibri"/>
              </a:rPr>
              <a:t>processor wishes to read or write a block of data, it issues a command to the DMA module by sending to the DMA module some information:</a:t>
            </a:r>
            <a:endParaRPr sz="2400">
              <a:solidFill>
                <a:schemeClr val="accent1"/>
              </a:solidFill>
              <a:latin typeface="Calibri"/>
              <a:ea typeface="Calibri"/>
              <a:cs typeface="Calibri"/>
              <a:sym typeface="Calibri"/>
            </a:endParaRPr>
          </a:p>
        </p:txBody>
      </p:sp>
      <p:sp>
        <p:nvSpPr>
          <p:cNvPr id="392" name="Google Shape;39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393" name="Google Shape;39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94" name="Google Shape;39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400" name="Google Shape;400;p33"/>
          <p:cNvSpPr/>
          <p:nvPr/>
        </p:nvSpPr>
        <p:spPr>
          <a:xfrm>
            <a:off x="304800" y="1749532"/>
            <a:ext cx="464820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Direct memory access (DMA):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information is:</a:t>
            </a:r>
            <a:endParaRPr sz="24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Whether </a:t>
            </a:r>
            <a:r>
              <a:rPr b="0" i="0" lang="en-US" sz="2400" u="none" cap="none" strike="noStrike">
                <a:solidFill>
                  <a:schemeClr val="accent1"/>
                </a:solidFill>
                <a:latin typeface="Calibri"/>
                <a:ea typeface="Calibri"/>
                <a:cs typeface="Calibri"/>
                <a:sym typeface="Calibri"/>
              </a:rPr>
              <a:t>a read or write is requested, </a:t>
            </a:r>
            <a:endParaRPr b="0" i="0" sz="2400" u="none" cap="none" strike="noStrike">
              <a:solidFill>
                <a:schemeClr val="accent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Using the </a:t>
            </a:r>
            <a:r>
              <a:rPr b="0" i="0" lang="en-US" sz="2400" u="none" cap="none" strike="noStrike">
                <a:solidFill>
                  <a:srgbClr val="0070C0"/>
                </a:solidFill>
                <a:latin typeface="Calibri"/>
                <a:ea typeface="Calibri"/>
                <a:cs typeface="Calibri"/>
                <a:sym typeface="Calibri"/>
              </a:rPr>
              <a:t>read or write control line </a:t>
            </a:r>
            <a:r>
              <a:rPr b="0" i="0" lang="en-US" sz="2400" u="none" cap="none" strike="noStrike">
                <a:solidFill>
                  <a:schemeClr val="dk1"/>
                </a:solidFill>
                <a:latin typeface="Calibri"/>
                <a:ea typeface="Calibri"/>
                <a:cs typeface="Calibri"/>
                <a:sym typeface="Calibri"/>
              </a:rPr>
              <a:t>between the processor and the DMA module</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a:t>
            </a:r>
            <a:r>
              <a:rPr b="0" i="0" lang="en-US" sz="2400" u="none" cap="none" strike="noStrike">
                <a:solidFill>
                  <a:srgbClr val="0070C0"/>
                </a:solidFill>
                <a:latin typeface="Calibri"/>
                <a:ea typeface="Calibri"/>
                <a:cs typeface="Calibri"/>
                <a:sym typeface="Calibri"/>
              </a:rPr>
              <a:t>address of the I/O device </a:t>
            </a:r>
            <a:r>
              <a:rPr b="0" i="0" lang="en-US" sz="2400" u="none" cap="none" strike="noStrike">
                <a:solidFill>
                  <a:schemeClr val="dk1"/>
                </a:solidFill>
                <a:latin typeface="Calibri"/>
                <a:ea typeface="Calibri"/>
                <a:cs typeface="Calibri"/>
                <a:sym typeface="Calibri"/>
              </a:rPr>
              <a:t>involved, </a:t>
            </a:r>
            <a:r>
              <a:rPr b="0" i="0" lang="en-US" sz="2400" u="none" cap="none" strike="noStrike">
                <a:solidFill>
                  <a:srgbClr val="0070C0"/>
                </a:solidFill>
                <a:latin typeface="Calibri"/>
                <a:ea typeface="Calibri"/>
                <a:cs typeface="Calibri"/>
                <a:sym typeface="Calibri"/>
              </a:rPr>
              <a:t>communicated on the data lines </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401" name="Google Shape;401;p33"/>
          <p:cNvPicPr preferRelativeResize="0"/>
          <p:nvPr/>
        </p:nvPicPr>
        <p:blipFill rotWithShape="1">
          <a:blip r:embed="rId3">
            <a:alphaModFix/>
          </a:blip>
          <a:srcRect b="0" l="0" r="0" t="0"/>
          <a:stretch/>
        </p:blipFill>
        <p:spPr>
          <a:xfrm>
            <a:off x="5105400" y="1749532"/>
            <a:ext cx="3848100" cy="4194067"/>
          </a:xfrm>
          <a:prstGeom prst="rect">
            <a:avLst/>
          </a:prstGeom>
          <a:noFill/>
          <a:ln>
            <a:noFill/>
          </a:ln>
        </p:spPr>
      </p:pic>
      <p:cxnSp>
        <p:nvCxnSpPr>
          <p:cNvPr id="402" name="Google Shape;402;p33"/>
          <p:cNvCxnSpPr/>
          <p:nvPr/>
        </p:nvCxnSpPr>
        <p:spPr>
          <a:xfrm>
            <a:off x="4191000" y="4114800"/>
            <a:ext cx="1676400" cy="762000"/>
          </a:xfrm>
          <a:prstGeom prst="straightConnector1">
            <a:avLst/>
          </a:prstGeom>
          <a:noFill/>
          <a:ln cap="flat" cmpd="sng" w="9525">
            <a:solidFill>
              <a:srgbClr val="4A7DBA"/>
            </a:solidFill>
            <a:prstDash val="solid"/>
            <a:round/>
            <a:headEnd len="sm" w="sm" type="none"/>
            <a:tailEnd len="med" w="med" type="stealth"/>
          </a:ln>
        </p:spPr>
      </p:cxnSp>
      <p:sp>
        <p:nvSpPr>
          <p:cNvPr id="403" name="Google Shape;403;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04" name="Google Shape;404;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05" name="Google Shape;405;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411" name="Google Shape;411;p34"/>
          <p:cNvSpPr/>
          <p:nvPr/>
        </p:nvSpPr>
        <p:spPr>
          <a:xfrm>
            <a:off x="457200" y="1225689"/>
            <a:ext cx="449580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Direct memory access (DMA):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 The </a:t>
            </a:r>
            <a:r>
              <a:rPr lang="en-US" sz="2400">
                <a:solidFill>
                  <a:srgbClr val="0070C0"/>
                </a:solidFill>
                <a:latin typeface="Calibri"/>
                <a:ea typeface="Calibri"/>
                <a:cs typeface="Calibri"/>
                <a:sym typeface="Calibri"/>
              </a:rPr>
              <a:t>starting location in memory </a:t>
            </a:r>
            <a:r>
              <a:rPr lang="en-US" sz="2400">
                <a:solidFill>
                  <a:schemeClr val="dk1"/>
                </a:solidFill>
                <a:latin typeface="Calibri"/>
                <a:ea typeface="Calibri"/>
                <a:cs typeface="Calibri"/>
                <a:sym typeface="Calibri"/>
              </a:rPr>
              <a:t>to read from or write to, communicated on the </a:t>
            </a:r>
            <a:r>
              <a:rPr lang="en-US" sz="2400">
                <a:solidFill>
                  <a:schemeClr val="accent1"/>
                </a:solidFill>
                <a:latin typeface="Calibri"/>
                <a:ea typeface="Calibri"/>
                <a:cs typeface="Calibri"/>
                <a:sym typeface="Calibri"/>
              </a:rPr>
              <a:t>data lines </a:t>
            </a:r>
            <a:r>
              <a:rPr lang="en-US" sz="2400">
                <a:solidFill>
                  <a:schemeClr val="dk1"/>
                </a:solidFill>
                <a:latin typeface="Calibri"/>
                <a:ea typeface="Calibri"/>
                <a:cs typeface="Calibri"/>
                <a:sym typeface="Calibri"/>
              </a:rPr>
              <a:t>and </a:t>
            </a:r>
            <a:r>
              <a:rPr lang="en-US" sz="2400">
                <a:solidFill>
                  <a:srgbClr val="0070C0"/>
                </a:solidFill>
                <a:latin typeface="Calibri"/>
                <a:ea typeface="Calibri"/>
                <a:cs typeface="Calibri"/>
                <a:sym typeface="Calibri"/>
              </a:rPr>
              <a:t>stored by the DMA module in its address register</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 The </a:t>
            </a:r>
            <a:r>
              <a:rPr lang="en-US" sz="2400">
                <a:solidFill>
                  <a:srgbClr val="0070C0"/>
                </a:solidFill>
                <a:latin typeface="Calibri"/>
                <a:ea typeface="Calibri"/>
                <a:cs typeface="Calibri"/>
                <a:sym typeface="Calibri"/>
              </a:rPr>
              <a:t>number of words to be read or written</a:t>
            </a:r>
            <a:r>
              <a:rPr lang="en-US" sz="2400">
                <a:solidFill>
                  <a:schemeClr val="dk1"/>
                </a:solidFill>
                <a:latin typeface="Calibri"/>
                <a:ea typeface="Calibri"/>
                <a:cs typeface="Calibri"/>
                <a:sym typeface="Calibri"/>
              </a:rPr>
              <a:t>, again communicated via </a:t>
            </a:r>
            <a:r>
              <a:rPr lang="en-US" sz="2400">
                <a:solidFill>
                  <a:schemeClr val="accent1"/>
                </a:solidFill>
                <a:latin typeface="Calibri"/>
                <a:ea typeface="Calibri"/>
                <a:cs typeface="Calibri"/>
                <a:sym typeface="Calibri"/>
              </a:rPr>
              <a:t>the data lines </a:t>
            </a:r>
            <a:r>
              <a:rPr lang="en-US" sz="2400">
                <a:solidFill>
                  <a:schemeClr val="dk1"/>
                </a:solidFill>
                <a:latin typeface="Calibri"/>
                <a:ea typeface="Calibri"/>
                <a:cs typeface="Calibri"/>
                <a:sym typeface="Calibri"/>
              </a:rPr>
              <a:t>and </a:t>
            </a:r>
            <a:r>
              <a:rPr lang="en-US" sz="2400">
                <a:solidFill>
                  <a:srgbClr val="0070C0"/>
                </a:solidFill>
                <a:latin typeface="Calibri"/>
                <a:ea typeface="Calibri"/>
                <a:cs typeface="Calibri"/>
                <a:sym typeface="Calibri"/>
              </a:rPr>
              <a:t>stored in the data count register</a:t>
            </a:r>
            <a:endParaRPr sz="2400">
              <a:solidFill>
                <a:srgbClr val="0070C0"/>
              </a:solidFill>
              <a:latin typeface="Calibri"/>
              <a:ea typeface="Calibri"/>
              <a:cs typeface="Calibri"/>
              <a:sym typeface="Calibri"/>
            </a:endParaRPr>
          </a:p>
        </p:txBody>
      </p:sp>
      <p:pic>
        <p:nvPicPr>
          <p:cNvPr id="412" name="Google Shape;412;p34"/>
          <p:cNvPicPr preferRelativeResize="0"/>
          <p:nvPr/>
        </p:nvPicPr>
        <p:blipFill rotWithShape="1">
          <a:blip r:embed="rId3">
            <a:alphaModFix/>
          </a:blip>
          <a:srcRect b="0" l="0" r="0" t="0"/>
          <a:stretch/>
        </p:blipFill>
        <p:spPr>
          <a:xfrm>
            <a:off x="5105400" y="1749532"/>
            <a:ext cx="3848100" cy="4194067"/>
          </a:xfrm>
          <a:prstGeom prst="rect">
            <a:avLst/>
          </a:prstGeom>
          <a:noFill/>
          <a:ln>
            <a:noFill/>
          </a:ln>
        </p:spPr>
      </p:pic>
      <p:cxnSp>
        <p:nvCxnSpPr>
          <p:cNvPr id="413" name="Google Shape;413;p34"/>
          <p:cNvCxnSpPr/>
          <p:nvPr/>
        </p:nvCxnSpPr>
        <p:spPr>
          <a:xfrm>
            <a:off x="4800600" y="2209800"/>
            <a:ext cx="1219200" cy="838200"/>
          </a:xfrm>
          <a:prstGeom prst="straightConnector1">
            <a:avLst/>
          </a:prstGeom>
          <a:noFill/>
          <a:ln cap="flat" cmpd="sng" w="9525">
            <a:solidFill>
              <a:srgbClr val="4A7DBA"/>
            </a:solidFill>
            <a:prstDash val="solid"/>
            <a:round/>
            <a:headEnd len="sm" w="sm" type="none"/>
            <a:tailEnd len="med" w="med" type="stealth"/>
          </a:ln>
        </p:spPr>
      </p:cxnSp>
      <p:cxnSp>
        <p:nvCxnSpPr>
          <p:cNvPr id="414" name="Google Shape;414;p34"/>
          <p:cNvCxnSpPr/>
          <p:nvPr/>
        </p:nvCxnSpPr>
        <p:spPr>
          <a:xfrm>
            <a:off x="3200400" y="3657600"/>
            <a:ext cx="3276600" cy="0"/>
          </a:xfrm>
          <a:prstGeom prst="straightConnector1">
            <a:avLst/>
          </a:prstGeom>
          <a:noFill/>
          <a:ln cap="flat" cmpd="sng" w="9525">
            <a:solidFill>
              <a:srgbClr val="4A7DBA"/>
            </a:solidFill>
            <a:prstDash val="solid"/>
            <a:round/>
            <a:headEnd len="sm" w="sm" type="none"/>
            <a:tailEnd len="med" w="med" type="stealth"/>
          </a:ln>
        </p:spPr>
      </p:cxnSp>
      <p:cxnSp>
        <p:nvCxnSpPr>
          <p:cNvPr id="415" name="Google Shape;415;p34"/>
          <p:cNvCxnSpPr/>
          <p:nvPr/>
        </p:nvCxnSpPr>
        <p:spPr>
          <a:xfrm flipH="1" rot="10800000">
            <a:off x="4455968" y="2819400"/>
            <a:ext cx="3164032" cy="2743200"/>
          </a:xfrm>
          <a:prstGeom prst="straightConnector1">
            <a:avLst/>
          </a:prstGeom>
          <a:noFill/>
          <a:ln cap="flat" cmpd="sng" w="38100">
            <a:solidFill>
              <a:schemeClr val="accent6"/>
            </a:solidFill>
            <a:prstDash val="solid"/>
            <a:round/>
            <a:headEnd len="sm" w="sm" type="none"/>
            <a:tailEnd len="med" w="med" type="stealth"/>
          </a:ln>
          <a:effectLst>
            <a:outerShdw blurRad="40000" rotWithShape="0" dir="5400000" dist="23000">
              <a:srgbClr val="000000">
                <a:alpha val="34901"/>
              </a:srgbClr>
            </a:outerShdw>
          </a:effectLst>
        </p:spPr>
      </p:cxnSp>
      <p:cxnSp>
        <p:nvCxnSpPr>
          <p:cNvPr id="416" name="Google Shape;416;p34"/>
          <p:cNvCxnSpPr/>
          <p:nvPr/>
        </p:nvCxnSpPr>
        <p:spPr>
          <a:xfrm flipH="1" rot="10800000">
            <a:off x="4455968" y="3276600"/>
            <a:ext cx="1716232" cy="1042555"/>
          </a:xfrm>
          <a:prstGeom prst="straightConnector1">
            <a:avLst/>
          </a:prstGeom>
          <a:noFill/>
          <a:ln cap="flat" cmpd="sng" w="38100">
            <a:solidFill>
              <a:schemeClr val="accent6"/>
            </a:solidFill>
            <a:prstDash val="solid"/>
            <a:round/>
            <a:headEnd len="sm" w="sm" type="none"/>
            <a:tailEnd len="med" w="med" type="stealth"/>
          </a:ln>
          <a:effectLst>
            <a:outerShdw blurRad="40000" rotWithShape="0" dir="5400000" dist="23000">
              <a:srgbClr val="000000">
                <a:alpha val="34901"/>
              </a:srgbClr>
            </a:outerShdw>
          </a:effectLst>
        </p:spPr>
      </p:cxnSp>
      <p:sp>
        <p:nvSpPr>
          <p:cNvPr id="417" name="Google Shape;41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18" name="Google Shape;41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19" name="Google Shape;41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425" name="Google Shape;425;p35"/>
          <p:cNvSpPr/>
          <p:nvPr/>
        </p:nvSpPr>
        <p:spPr>
          <a:xfrm>
            <a:off x="457200" y="1371600"/>
            <a:ext cx="4267200"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Direct memory access (DMA):</a:t>
            </a:r>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 </a:t>
            </a:r>
            <a:endParaRPr/>
          </a:p>
          <a:p>
            <a:pPr indent="-342900" lvl="0" marL="342900" marR="0" rtl="0" algn="l">
              <a:spcBef>
                <a:spcPts val="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The processor then continues with other work. </a:t>
            </a:r>
            <a:endParaRPr sz="2400">
              <a:solidFill>
                <a:srgbClr val="FF0000"/>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It has delegated this I/O operation to the DMA module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426" name="Google Shape;426;p35"/>
          <p:cNvPicPr preferRelativeResize="0"/>
          <p:nvPr/>
        </p:nvPicPr>
        <p:blipFill rotWithShape="1">
          <a:blip r:embed="rId3">
            <a:alphaModFix/>
          </a:blip>
          <a:srcRect b="0" l="0" r="0" t="0"/>
          <a:stretch/>
        </p:blipFill>
        <p:spPr>
          <a:xfrm>
            <a:off x="5105400" y="1749532"/>
            <a:ext cx="3848100" cy="4194067"/>
          </a:xfrm>
          <a:prstGeom prst="rect">
            <a:avLst/>
          </a:prstGeom>
          <a:noFill/>
          <a:ln>
            <a:noFill/>
          </a:ln>
        </p:spPr>
      </p:pic>
      <p:sp>
        <p:nvSpPr>
          <p:cNvPr id="427" name="Google Shape;42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28" name="Google Shape;42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29" name="Google Shape;42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435" name="Google Shape;435;p36"/>
          <p:cNvSpPr/>
          <p:nvPr/>
        </p:nvSpPr>
        <p:spPr>
          <a:xfrm>
            <a:off x="457200" y="1371600"/>
            <a:ext cx="42672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Direct memory access (DMA):</a:t>
            </a:r>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 </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DMA module </a:t>
            </a:r>
            <a:r>
              <a:rPr lang="en-US" sz="2400">
                <a:solidFill>
                  <a:srgbClr val="0070C0"/>
                </a:solidFill>
                <a:latin typeface="Calibri"/>
                <a:ea typeface="Calibri"/>
                <a:cs typeface="Calibri"/>
                <a:sym typeface="Calibri"/>
              </a:rPr>
              <a:t>transfers the entire block of data, </a:t>
            </a:r>
            <a:endParaRPr sz="2400">
              <a:solidFill>
                <a:srgbClr val="0070C0"/>
              </a:solidFill>
              <a:latin typeface="Calibri"/>
              <a:ea typeface="Calibri"/>
              <a:cs typeface="Calibri"/>
              <a:sym typeface="Calibri"/>
            </a:endParaRPr>
          </a:p>
          <a:p>
            <a:pPr indent="-342900" lvl="1" marL="800100" marR="0" rtl="0" algn="l">
              <a:spcBef>
                <a:spcPts val="0"/>
              </a:spcBef>
              <a:spcAft>
                <a:spcPts val="0"/>
              </a:spcAft>
              <a:buClr>
                <a:srgbClr val="0070C0"/>
              </a:buClr>
              <a:buSzPts val="2400"/>
              <a:buFont typeface="Arial"/>
              <a:buChar char="•"/>
            </a:pPr>
            <a:r>
              <a:rPr b="0" i="0" lang="en-US" sz="2400" u="none" cap="none" strike="noStrike">
                <a:solidFill>
                  <a:srgbClr val="0070C0"/>
                </a:solidFill>
                <a:latin typeface="Calibri"/>
                <a:ea typeface="Calibri"/>
                <a:cs typeface="Calibri"/>
                <a:sym typeface="Calibri"/>
              </a:rPr>
              <a:t>one word at a time, </a:t>
            </a:r>
            <a:endParaRPr b="0" i="0" sz="2400" u="none" cap="none" strike="noStrike">
              <a:solidFill>
                <a:srgbClr val="0070C0"/>
              </a:solidFill>
              <a:latin typeface="Calibri"/>
              <a:ea typeface="Calibri"/>
              <a:cs typeface="Calibri"/>
              <a:sym typeface="Calibri"/>
            </a:endParaRPr>
          </a:p>
          <a:p>
            <a:pPr indent="-342900" lvl="1" marL="800100" marR="0" rtl="0" algn="l">
              <a:spcBef>
                <a:spcPts val="0"/>
              </a:spcBef>
              <a:spcAft>
                <a:spcPts val="0"/>
              </a:spcAft>
              <a:buClr>
                <a:srgbClr val="0070C0"/>
              </a:buClr>
              <a:buSzPts val="2400"/>
              <a:buFont typeface="Arial"/>
              <a:buChar char="•"/>
            </a:pPr>
            <a:r>
              <a:rPr b="0" i="0" lang="en-US" sz="2400" u="none" cap="none" strike="noStrike">
                <a:solidFill>
                  <a:srgbClr val="0070C0"/>
                </a:solidFill>
                <a:latin typeface="Calibri"/>
                <a:ea typeface="Calibri"/>
                <a:cs typeface="Calibri"/>
                <a:sym typeface="Calibri"/>
              </a:rPr>
              <a:t>directly to or from memory, </a:t>
            </a:r>
            <a:endParaRPr b="0" i="0" sz="2400" u="none" cap="none" strike="noStrike">
              <a:solidFill>
                <a:srgbClr val="0070C0"/>
              </a:solidFill>
              <a:latin typeface="Calibri"/>
              <a:ea typeface="Calibri"/>
              <a:cs typeface="Calibri"/>
              <a:sym typeface="Calibri"/>
            </a:endParaRPr>
          </a:p>
          <a:p>
            <a:pPr indent="-342900" lvl="1" marL="800100" marR="0" rtl="0" algn="l">
              <a:spcBef>
                <a:spcPts val="0"/>
              </a:spcBef>
              <a:spcAft>
                <a:spcPts val="0"/>
              </a:spcAft>
              <a:buClr>
                <a:srgbClr val="FF0000"/>
              </a:buClr>
              <a:buSzPts val="2400"/>
              <a:buFont typeface="Arial"/>
              <a:buChar char="•"/>
            </a:pPr>
            <a:r>
              <a:rPr b="1" i="0" lang="en-US" sz="2400" u="none" cap="none" strike="noStrike">
                <a:solidFill>
                  <a:srgbClr val="FF0000"/>
                </a:solidFill>
                <a:latin typeface="Calibri"/>
                <a:ea typeface="Calibri"/>
                <a:cs typeface="Calibri"/>
                <a:sym typeface="Calibri"/>
              </a:rPr>
              <a:t>without going through the processor</a:t>
            </a:r>
            <a:endParaRPr/>
          </a:p>
        </p:txBody>
      </p:sp>
      <p:pic>
        <p:nvPicPr>
          <p:cNvPr id="436" name="Google Shape;436;p36"/>
          <p:cNvPicPr preferRelativeResize="0"/>
          <p:nvPr/>
        </p:nvPicPr>
        <p:blipFill rotWithShape="1">
          <a:blip r:embed="rId3">
            <a:alphaModFix/>
          </a:blip>
          <a:srcRect b="0" l="0" r="0" t="0"/>
          <a:stretch/>
        </p:blipFill>
        <p:spPr>
          <a:xfrm>
            <a:off x="5105400" y="1749532"/>
            <a:ext cx="3848100" cy="4194067"/>
          </a:xfrm>
          <a:prstGeom prst="rect">
            <a:avLst/>
          </a:prstGeom>
          <a:noFill/>
          <a:ln>
            <a:noFill/>
          </a:ln>
        </p:spPr>
      </p:pic>
      <p:sp>
        <p:nvSpPr>
          <p:cNvPr id="437" name="Google Shape;43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38" name="Google Shape;43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39" name="Google Shape;43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11.2 ORGANIZATION OF THE I/O FUNCTION</a:t>
            </a:r>
            <a:endParaRPr/>
          </a:p>
        </p:txBody>
      </p:sp>
      <p:sp>
        <p:nvSpPr>
          <p:cNvPr id="445" name="Google Shape;445;p37"/>
          <p:cNvSpPr/>
          <p:nvPr/>
        </p:nvSpPr>
        <p:spPr>
          <a:xfrm>
            <a:off x="457200" y="1752600"/>
            <a:ext cx="42672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Direct memory access (DMA):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When the transfer is </a:t>
            </a:r>
            <a:r>
              <a:rPr lang="en-US" sz="2400">
                <a:solidFill>
                  <a:srgbClr val="0070C0"/>
                </a:solidFill>
                <a:latin typeface="Calibri"/>
                <a:ea typeface="Calibri"/>
                <a:cs typeface="Calibri"/>
                <a:sym typeface="Calibri"/>
              </a:rPr>
              <a:t>complete,</a:t>
            </a: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DMA module sends an </a:t>
            </a:r>
            <a:r>
              <a:rPr lang="en-US" sz="2400">
                <a:solidFill>
                  <a:schemeClr val="accent1"/>
                </a:solidFill>
                <a:latin typeface="Calibri"/>
                <a:ea typeface="Calibri"/>
                <a:cs typeface="Calibri"/>
                <a:sym typeface="Calibri"/>
              </a:rPr>
              <a:t>interrupt signal to the processor.</a:t>
            </a:r>
            <a:endParaRPr/>
          </a:p>
          <a:p>
            <a:pPr indent="-342900" lvl="0" marL="342900" marR="0" rtl="0" algn="l">
              <a:spcBef>
                <a:spcPts val="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The processor is involved only at the beginning and end of the transfer</a:t>
            </a:r>
            <a:endParaRPr/>
          </a:p>
        </p:txBody>
      </p:sp>
      <p:pic>
        <p:nvPicPr>
          <p:cNvPr id="446" name="Google Shape;446;p37"/>
          <p:cNvPicPr preferRelativeResize="0"/>
          <p:nvPr/>
        </p:nvPicPr>
        <p:blipFill rotWithShape="1">
          <a:blip r:embed="rId3">
            <a:alphaModFix/>
          </a:blip>
          <a:srcRect b="0" l="0" r="0" t="0"/>
          <a:stretch/>
        </p:blipFill>
        <p:spPr>
          <a:xfrm>
            <a:off x="5105400" y="1749532"/>
            <a:ext cx="3848100" cy="4194067"/>
          </a:xfrm>
          <a:prstGeom prst="rect">
            <a:avLst/>
          </a:prstGeom>
          <a:noFill/>
          <a:ln>
            <a:noFill/>
          </a:ln>
        </p:spPr>
      </p:pic>
      <p:sp>
        <p:nvSpPr>
          <p:cNvPr id="447" name="Google Shape;44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48" name="Google Shape;44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49" name="Google Shape;44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50" name="Google Shape;450;p37"/>
          <p:cNvCxnSpPr/>
          <p:nvPr/>
        </p:nvCxnSpPr>
        <p:spPr>
          <a:xfrm>
            <a:off x="3200400" y="3886200"/>
            <a:ext cx="2819400" cy="83820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8"/>
          <p:cNvSpPr txBox="1"/>
          <p:nvPr>
            <p:ph type="title"/>
          </p:nvPr>
        </p:nvSpPr>
        <p:spPr>
          <a:xfrm>
            <a:off x="533400" y="34636"/>
            <a:ext cx="8229600" cy="258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Direct Memory Access (DMA) </a:t>
            </a:r>
            <a:endParaRPr/>
          </a:p>
        </p:txBody>
      </p:sp>
      <p:sp>
        <p:nvSpPr>
          <p:cNvPr id="456" name="Google Shape;456;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57" name="Google Shape;457;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58" name="Google Shape;458;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9" name="Google Shape;459;p38"/>
          <p:cNvSpPr txBox="1"/>
          <p:nvPr/>
        </p:nvSpPr>
        <p:spPr>
          <a:xfrm>
            <a:off x="533400" y="1066800"/>
            <a:ext cx="7924800" cy="415498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DMA Controller is a hardware device that allows I/O devices to directly access memory with less participation of the processor. </a:t>
            </a:r>
            <a:endParaRPr sz="2400">
              <a:solidFill>
                <a:schemeClr val="dk1"/>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For The data transfer between a storage media such as magnetic disk and memory unit. The peripherals can directly communicate with each other using the memory buses, removing the intervention of the CPU. This type of data transfer technique is known as DMA or direct memory access. </a:t>
            </a:r>
            <a:endParaRPr sz="2400">
              <a:solidFill>
                <a:schemeClr val="dk1"/>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9"/>
          <p:cNvSpPr txBox="1"/>
          <p:nvPr>
            <p:ph type="title"/>
          </p:nvPr>
        </p:nvSpPr>
        <p:spPr>
          <a:xfrm>
            <a:off x="533400" y="34636"/>
            <a:ext cx="8229600" cy="258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Direct Memory Access (DMA) </a:t>
            </a:r>
            <a:endParaRPr/>
          </a:p>
        </p:txBody>
      </p:sp>
      <p:sp>
        <p:nvSpPr>
          <p:cNvPr id="465" name="Google Shape;46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66" name="Google Shape;46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67" name="Google Shape;46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8" name="Google Shape;468;p39"/>
          <p:cNvSpPr txBox="1"/>
          <p:nvPr/>
        </p:nvSpPr>
        <p:spPr>
          <a:xfrm>
            <a:off x="533400" y="1066800"/>
            <a:ext cx="7924800" cy="156966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During DMA, the CPU is idle and it has no control over the memory buses. The DMA controller takes over the buses to manage the transfer directly between the I/O devices and the memory unit.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0"/>
          <p:cNvSpPr txBox="1"/>
          <p:nvPr>
            <p:ph type="title"/>
          </p:nvPr>
        </p:nvSpPr>
        <p:spPr>
          <a:xfrm>
            <a:off x="533400" y="34636"/>
            <a:ext cx="8229600" cy="258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Direct Memory Access (DMA) </a:t>
            </a:r>
            <a:endParaRPr/>
          </a:p>
        </p:txBody>
      </p:sp>
      <p:sp>
        <p:nvSpPr>
          <p:cNvPr id="474" name="Google Shape;47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75" name="Google Shape;47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76" name="Google Shape;47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7" name="Google Shape;477;p40"/>
          <p:cNvSpPr txBox="1"/>
          <p:nvPr/>
        </p:nvSpPr>
        <p:spPr>
          <a:xfrm>
            <a:off x="304800" y="533400"/>
            <a:ext cx="8534400"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GATE | GATE-CS-2016 (Set 1) | Question 41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The size of the data count register of a DMA controller is 16 bits. The processor needs to transfer a file of 29,154 kilobytes from disk to main memory. The memory is byte addressable. The minimum number of times the DMA controller needs to get the control of the system bus from the processor to transfer the file from the disk to main memory is _________</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(A)</a:t>
            </a:r>
            <a:r>
              <a:rPr lang="en-US" sz="2000">
                <a:solidFill>
                  <a:schemeClr val="dk1"/>
                </a:solidFill>
                <a:latin typeface="Calibri"/>
                <a:ea typeface="Calibri"/>
                <a:cs typeface="Calibri"/>
                <a:sym typeface="Calibri"/>
              </a:rPr>
              <a:t> 3644</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(B)</a:t>
            </a:r>
            <a:r>
              <a:rPr lang="en-US" sz="2000">
                <a:solidFill>
                  <a:schemeClr val="dk1"/>
                </a:solidFill>
                <a:latin typeface="Calibri"/>
                <a:ea typeface="Calibri"/>
                <a:cs typeface="Calibri"/>
                <a:sym typeface="Calibri"/>
              </a:rPr>
              <a:t> 3645</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(C)</a:t>
            </a:r>
            <a:r>
              <a:rPr lang="en-US" sz="2000">
                <a:solidFill>
                  <a:schemeClr val="dk1"/>
                </a:solidFill>
                <a:latin typeface="Calibri"/>
                <a:ea typeface="Calibri"/>
                <a:cs typeface="Calibri"/>
                <a:sym typeface="Calibri"/>
              </a:rPr>
              <a:t> 456</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(D)</a:t>
            </a:r>
            <a:r>
              <a:rPr lang="en-US" sz="2000">
                <a:solidFill>
                  <a:schemeClr val="dk1"/>
                </a:solidFill>
                <a:latin typeface="Calibri"/>
                <a:ea typeface="Calibri"/>
                <a:cs typeface="Calibri"/>
                <a:sym typeface="Calibri"/>
              </a:rPr>
              <a:t> 1823</a:t>
            </a:r>
            <a:br>
              <a:rPr lang="en-US" sz="2000">
                <a:solidFill>
                  <a:schemeClr val="dk1"/>
                </a:solidFill>
                <a:latin typeface="Calibri"/>
                <a:ea typeface="Calibri"/>
                <a:cs typeface="Calibri"/>
                <a:sym typeface="Calibri"/>
              </a:rPr>
            </a:br>
            <a:br>
              <a:rPr lang="en-US"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1"/>
          <p:cNvSpPr txBox="1"/>
          <p:nvPr>
            <p:ph type="title"/>
          </p:nvPr>
        </p:nvSpPr>
        <p:spPr>
          <a:xfrm>
            <a:off x="533400" y="34636"/>
            <a:ext cx="8229600" cy="258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Direct Memory Access (DMA) </a:t>
            </a:r>
            <a:endParaRPr/>
          </a:p>
        </p:txBody>
      </p:sp>
      <p:sp>
        <p:nvSpPr>
          <p:cNvPr id="483" name="Google Shape;483;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84" name="Google Shape;484;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85" name="Google Shape;485;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6" name="Google Shape;486;p41"/>
          <p:cNvSpPr txBox="1"/>
          <p:nvPr/>
        </p:nvSpPr>
        <p:spPr>
          <a:xfrm>
            <a:off x="304800" y="381000"/>
            <a:ext cx="8534400" cy="59400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GATE | GATE-CS-2016 (Set 1) | Question 41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The size of the data count register of a DMA controller is 16 bits. The processor needs to transfer a file of 29,154 kilobytes from disk to main memory. The memory is byte addressable. The minimum number of times the DMA controller needs to get the control of the system bus from the processor to transfer the file from the disk to main memory is _________</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(A)</a:t>
            </a:r>
            <a:r>
              <a:rPr lang="en-US" sz="2000">
                <a:solidFill>
                  <a:schemeClr val="dk1"/>
                </a:solidFill>
                <a:latin typeface="Calibri"/>
                <a:ea typeface="Calibri"/>
                <a:cs typeface="Calibri"/>
                <a:sym typeface="Calibri"/>
              </a:rPr>
              <a:t> 3644</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(B)</a:t>
            </a:r>
            <a:r>
              <a:rPr lang="en-US" sz="2000">
                <a:solidFill>
                  <a:schemeClr val="dk1"/>
                </a:solidFill>
                <a:latin typeface="Calibri"/>
                <a:ea typeface="Calibri"/>
                <a:cs typeface="Calibri"/>
                <a:sym typeface="Calibri"/>
              </a:rPr>
              <a:t> 3645</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(C)</a:t>
            </a:r>
            <a:r>
              <a:rPr lang="en-US" sz="2000">
                <a:solidFill>
                  <a:schemeClr val="dk1"/>
                </a:solidFill>
                <a:latin typeface="Calibri"/>
                <a:ea typeface="Calibri"/>
                <a:cs typeface="Calibri"/>
                <a:sym typeface="Calibri"/>
              </a:rPr>
              <a:t> 456</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(D)</a:t>
            </a:r>
            <a:r>
              <a:rPr lang="en-US" sz="2000">
                <a:solidFill>
                  <a:schemeClr val="dk1"/>
                </a:solidFill>
                <a:latin typeface="Calibri"/>
                <a:ea typeface="Calibri"/>
                <a:cs typeface="Calibri"/>
                <a:sym typeface="Calibri"/>
              </a:rPr>
              <a:t> 1823</a:t>
            </a:r>
            <a:br>
              <a:rPr lang="en-US" sz="2000">
                <a:solidFill>
                  <a:schemeClr val="dk1"/>
                </a:solidFill>
                <a:latin typeface="Calibri"/>
                <a:ea typeface="Calibri"/>
                <a:cs typeface="Calibri"/>
                <a:sym typeface="Calibri"/>
              </a:rPr>
            </a:b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Answer:</a:t>
            </a:r>
            <a:r>
              <a:rPr lang="en-US" sz="2000">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(C)</a:t>
            </a:r>
            <a:br>
              <a:rPr lang="en-US" sz="2000">
                <a:solidFill>
                  <a:schemeClr val="dk1"/>
                </a:solidFill>
                <a:latin typeface="Calibri"/>
                <a:ea typeface="Calibri"/>
                <a:cs typeface="Calibri"/>
                <a:sym typeface="Calibri"/>
              </a:rPr>
            </a:br>
            <a:r>
              <a:rPr b="1" lang="en-US" sz="2000">
                <a:solidFill>
                  <a:schemeClr val="dk1"/>
                </a:solidFill>
                <a:latin typeface="Calibri"/>
                <a:ea typeface="Calibri"/>
                <a:cs typeface="Calibri"/>
                <a:sym typeface="Calibri"/>
              </a:rPr>
              <a:t>Explanation:</a:t>
            </a:r>
            <a:r>
              <a:rPr lang="en-US" sz="2000">
                <a:solidFill>
                  <a:schemeClr val="dk1"/>
                </a:solidFill>
                <a:latin typeface="Calibri"/>
                <a:ea typeface="Calibri"/>
                <a:cs typeface="Calibri"/>
                <a:sym typeface="Calibri"/>
              </a:rPr>
              <a:t> Size of data count register of the DMA controller = 16 bits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Data that can be transferred in one go = 2</a:t>
            </a:r>
            <a:r>
              <a:rPr baseline="30000" lang="en-US" sz="2000">
                <a:solidFill>
                  <a:schemeClr val="dk1"/>
                </a:solidFill>
                <a:latin typeface="Calibri"/>
                <a:ea typeface="Calibri"/>
                <a:cs typeface="Calibri"/>
                <a:sym typeface="Calibri"/>
              </a:rPr>
              <a:t>16</a:t>
            </a:r>
            <a:r>
              <a:rPr lang="en-US" sz="2000">
                <a:solidFill>
                  <a:schemeClr val="dk1"/>
                </a:solidFill>
                <a:latin typeface="Calibri"/>
                <a:ea typeface="Calibri"/>
                <a:cs typeface="Calibri"/>
                <a:sym typeface="Calibri"/>
              </a:rPr>
              <a:t> bytes = 64 kilobytes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File size to be transferred = 29154 kilobytes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So, number of times the DMA controller needs to get the control of the system bus from the processor to transfer the file from the disk to main memory = ceil(29154/64) = 456</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OPERATING SYSTEM DESIGN ISSUES FOR I/O</a:t>
            </a:r>
            <a:endParaRPr/>
          </a:p>
        </p:txBody>
      </p:sp>
      <p:sp>
        <p:nvSpPr>
          <p:cNvPr id="492" name="Google Shape;492;p42"/>
          <p:cNvSpPr/>
          <p:nvPr/>
        </p:nvSpPr>
        <p:spPr>
          <a:xfrm>
            <a:off x="685800" y="1813173"/>
            <a:ext cx="78486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Design Objectives</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objectives are paramount in designing the I/O facility: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accent1"/>
              </a:buClr>
              <a:buSzPts val="2400"/>
              <a:buFont typeface="Arial"/>
              <a:buChar char="•"/>
            </a:pPr>
            <a:r>
              <a:rPr lang="en-US" sz="2400">
                <a:solidFill>
                  <a:schemeClr val="accent1"/>
                </a:solidFill>
                <a:latin typeface="Calibri"/>
                <a:ea typeface="Calibri"/>
                <a:cs typeface="Calibri"/>
                <a:sym typeface="Calibri"/>
              </a:rPr>
              <a:t>Efficiency </a:t>
            </a:r>
            <a:endParaRPr/>
          </a:p>
          <a:p>
            <a:pPr indent="-285750" lvl="0" marL="285750" marR="0" rtl="0" algn="l">
              <a:spcBef>
                <a:spcPts val="0"/>
              </a:spcBef>
              <a:spcAft>
                <a:spcPts val="0"/>
              </a:spcAft>
              <a:buClr>
                <a:schemeClr val="accent1"/>
              </a:buClr>
              <a:buSzPts val="2400"/>
              <a:buFont typeface="Arial"/>
              <a:buChar char="•"/>
            </a:pPr>
            <a:r>
              <a:rPr lang="en-US" sz="2400">
                <a:solidFill>
                  <a:schemeClr val="accent1"/>
                </a:solidFill>
                <a:latin typeface="Calibri"/>
                <a:ea typeface="Calibri"/>
                <a:cs typeface="Calibri"/>
                <a:sym typeface="Calibri"/>
              </a:rPr>
              <a:t>Generality</a:t>
            </a:r>
            <a:endParaRPr sz="2400">
              <a:solidFill>
                <a:schemeClr val="accent1"/>
              </a:solidFill>
              <a:latin typeface="Calibri"/>
              <a:ea typeface="Calibri"/>
              <a:cs typeface="Calibri"/>
              <a:sym typeface="Calibri"/>
            </a:endParaRPr>
          </a:p>
        </p:txBody>
      </p:sp>
      <p:sp>
        <p:nvSpPr>
          <p:cNvPr id="493" name="Google Shape;493;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494" name="Google Shape;494;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95" name="Google Shape;495;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OPERATING SYSTEM DESIGN ISSUES</a:t>
            </a:r>
            <a:endParaRPr/>
          </a:p>
        </p:txBody>
      </p:sp>
      <p:sp>
        <p:nvSpPr>
          <p:cNvPr id="501" name="Google Shape;501;p43"/>
          <p:cNvSpPr/>
          <p:nvPr/>
        </p:nvSpPr>
        <p:spPr>
          <a:xfrm>
            <a:off x="685800" y="1813173"/>
            <a:ext cx="78486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Efficiency</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Most I/O devices are </a:t>
            </a:r>
            <a:r>
              <a:rPr b="1" lang="en-US" sz="2400">
                <a:solidFill>
                  <a:srgbClr val="0070C0"/>
                </a:solidFill>
                <a:latin typeface="Calibri"/>
                <a:ea typeface="Calibri"/>
                <a:cs typeface="Calibri"/>
                <a:sym typeface="Calibri"/>
              </a:rPr>
              <a:t>extremely slow compared with main memory and the processor. </a:t>
            </a:r>
            <a:endParaRPr b="1" sz="2400">
              <a:solidFill>
                <a:srgbClr val="0070C0"/>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Solution??</a:t>
            </a:r>
            <a:endParaRPr b="1" sz="2400">
              <a:solidFill>
                <a:srgbClr val="0070C0"/>
              </a:solidFill>
              <a:latin typeface="Calibri"/>
              <a:ea typeface="Calibri"/>
              <a:cs typeface="Calibri"/>
              <a:sym typeface="Calibri"/>
            </a:endParaRPr>
          </a:p>
        </p:txBody>
      </p:sp>
      <p:sp>
        <p:nvSpPr>
          <p:cNvPr id="502" name="Google Shape;50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03" name="Google Shape;50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04" name="Google Shape;50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OPERATING SYSTEM DESIGN ISSUES</a:t>
            </a:r>
            <a:endParaRPr/>
          </a:p>
        </p:txBody>
      </p:sp>
      <p:sp>
        <p:nvSpPr>
          <p:cNvPr id="510" name="Google Shape;510;p44"/>
          <p:cNvSpPr/>
          <p:nvPr/>
        </p:nvSpPr>
        <p:spPr>
          <a:xfrm>
            <a:off x="685800" y="1813173"/>
            <a:ext cx="78486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Efficiency</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Soln=M</a:t>
            </a:r>
            <a:r>
              <a:rPr b="1" lang="en-US" sz="2400">
                <a:solidFill>
                  <a:srgbClr val="0070C0"/>
                </a:solidFill>
                <a:latin typeface="Calibri"/>
                <a:ea typeface="Calibri"/>
                <a:cs typeface="Calibri"/>
                <a:sym typeface="Calibri"/>
              </a:rPr>
              <a:t>ultiprogramming, </a:t>
            </a:r>
            <a:endParaRPr b="1" sz="2400">
              <a:solidFill>
                <a:srgbClr val="0070C0"/>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Allow </a:t>
            </a:r>
            <a:r>
              <a:rPr b="1" lang="en-US" sz="2400">
                <a:solidFill>
                  <a:srgbClr val="0070C0"/>
                </a:solidFill>
                <a:latin typeface="Calibri"/>
                <a:ea typeface="Calibri"/>
                <a:cs typeface="Calibri"/>
                <a:sym typeface="Calibri"/>
              </a:rPr>
              <a:t>some processes to be waiting </a:t>
            </a:r>
            <a:r>
              <a:rPr lang="en-US" sz="2400">
                <a:solidFill>
                  <a:schemeClr val="dk1"/>
                </a:solidFill>
                <a:latin typeface="Calibri"/>
                <a:ea typeface="Calibri"/>
                <a:cs typeface="Calibri"/>
                <a:sym typeface="Calibri"/>
              </a:rPr>
              <a:t>on I/O operations while </a:t>
            </a:r>
            <a:r>
              <a:rPr b="1" lang="en-US" sz="2400">
                <a:solidFill>
                  <a:srgbClr val="0070C0"/>
                </a:solidFill>
                <a:latin typeface="Calibri"/>
                <a:ea typeface="Calibri"/>
                <a:cs typeface="Calibri"/>
                <a:sym typeface="Calibri"/>
              </a:rPr>
              <a:t>another process is executing</a:t>
            </a: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However, even with the vast size of main memory in today’s machines, it will still often be the case that </a:t>
            </a:r>
            <a:r>
              <a:rPr b="1" lang="en-US" sz="2400">
                <a:solidFill>
                  <a:srgbClr val="0070C0"/>
                </a:solidFill>
                <a:latin typeface="Calibri"/>
                <a:ea typeface="Calibri"/>
                <a:cs typeface="Calibri"/>
                <a:sym typeface="Calibri"/>
              </a:rPr>
              <a:t>I/O is not keeping up with the activities of the processor.</a:t>
            </a:r>
            <a:endParaRPr/>
          </a:p>
        </p:txBody>
      </p:sp>
      <p:sp>
        <p:nvSpPr>
          <p:cNvPr id="511" name="Google Shape;51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12" name="Google Shape;51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13" name="Google Shape;51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OPERATING SYSTEM DESIGN ISSUES</a:t>
            </a:r>
            <a:endParaRPr/>
          </a:p>
        </p:txBody>
      </p:sp>
      <p:sp>
        <p:nvSpPr>
          <p:cNvPr id="519" name="Google Shape;519;p45"/>
          <p:cNvSpPr/>
          <p:nvPr/>
        </p:nvSpPr>
        <p:spPr>
          <a:xfrm>
            <a:off x="685800" y="1813173"/>
            <a:ext cx="78486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Generality  </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the interests of </a:t>
            </a:r>
            <a:r>
              <a:rPr b="1" lang="en-US" sz="2400">
                <a:solidFill>
                  <a:srgbClr val="0070C0"/>
                </a:solidFill>
                <a:latin typeface="Calibri"/>
                <a:ea typeface="Calibri"/>
                <a:cs typeface="Calibri"/>
                <a:sym typeface="Calibri"/>
              </a:rPr>
              <a:t>simplicity </a:t>
            </a:r>
            <a:r>
              <a:rPr lang="en-US" sz="2400">
                <a:solidFill>
                  <a:schemeClr val="dk1"/>
                </a:solidFill>
                <a:latin typeface="Calibri"/>
                <a:ea typeface="Calibri"/>
                <a:cs typeface="Calibri"/>
                <a:sym typeface="Calibri"/>
              </a:rPr>
              <a:t>and freedom from error, it is desirable to </a:t>
            </a:r>
            <a:r>
              <a:rPr b="1" lang="en-US" sz="2400">
                <a:solidFill>
                  <a:srgbClr val="0070C0"/>
                </a:solidFill>
                <a:latin typeface="Calibri"/>
                <a:ea typeface="Calibri"/>
                <a:cs typeface="Calibri"/>
                <a:sym typeface="Calibri"/>
              </a:rPr>
              <a:t>handle all devices in a uniform manner. </a:t>
            </a:r>
            <a:endParaRPr b="1" sz="2400">
              <a:solidFill>
                <a:srgbClr val="0070C0"/>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Uniformity=</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way in which </a:t>
            </a:r>
            <a:r>
              <a:rPr b="1" i="0" lang="en-US" sz="2400" u="none" cap="none" strike="noStrike">
                <a:solidFill>
                  <a:srgbClr val="0070C0"/>
                </a:solidFill>
                <a:latin typeface="Calibri"/>
                <a:ea typeface="Calibri"/>
                <a:cs typeface="Calibri"/>
                <a:sym typeface="Calibri"/>
              </a:rPr>
              <a:t>processes view I/O </a:t>
            </a:r>
            <a:r>
              <a:rPr b="0" i="0" lang="en-US" sz="2400" u="none" cap="none" strike="noStrike">
                <a:solidFill>
                  <a:schemeClr val="dk1"/>
                </a:solidFill>
                <a:latin typeface="Calibri"/>
                <a:ea typeface="Calibri"/>
                <a:cs typeface="Calibri"/>
                <a:sym typeface="Calibri"/>
              </a:rPr>
              <a:t>devices</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way in which the </a:t>
            </a:r>
            <a:r>
              <a:rPr b="1" i="0" lang="en-US" sz="2400" u="none" cap="none" strike="noStrike">
                <a:solidFill>
                  <a:srgbClr val="0070C0"/>
                </a:solidFill>
                <a:latin typeface="Calibri"/>
                <a:ea typeface="Calibri"/>
                <a:cs typeface="Calibri"/>
                <a:sym typeface="Calibri"/>
              </a:rPr>
              <a:t>OS manages I/O </a:t>
            </a:r>
            <a:r>
              <a:rPr b="0" i="0" lang="en-US" sz="2400" u="none" cap="none" strike="noStrike">
                <a:solidFill>
                  <a:schemeClr val="dk1"/>
                </a:solidFill>
                <a:latin typeface="Calibri"/>
                <a:ea typeface="Calibri"/>
                <a:cs typeface="Calibri"/>
                <a:sym typeface="Calibri"/>
              </a:rPr>
              <a:t>devices and operations. </a:t>
            </a:r>
            <a:endParaRPr b="0" i="0" sz="2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Due to </a:t>
            </a:r>
            <a:r>
              <a:rPr b="1" lang="en-US" sz="2400">
                <a:solidFill>
                  <a:srgbClr val="0070C0"/>
                </a:solidFill>
                <a:latin typeface="Calibri"/>
                <a:ea typeface="Calibri"/>
                <a:cs typeface="Calibri"/>
                <a:sym typeface="Calibri"/>
              </a:rPr>
              <a:t>diversity</a:t>
            </a:r>
            <a:r>
              <a:rPr lang="en-US" sz="2400">
                <a:solidFill>
                  <a:schemeClr val="dk1"/>
                </a:solidFill>
                <a:latin typeface="Calibri"/>
                <a:ea typeface="Calibri"/>
                <a:cs typeface="Calibri"/>
                <a:sym typeface="Calibri"/>
              </a:rPr>
              <a:t> of device characteristics, it is </a:t>
            </a:r>
            <a:r>
              <a:rPr b="1" lang="en-US" sz="2400">
                <a:solidFill>
                  <a:srgbClr val="0070C0"/>
                </a:solidFill>
                <a:latin typeface="Calibri"/>
                <a:ea typeface="Calibri"/>
                <a:cs typeface="Calibri"/>
                <a:sym typeface="Calibri"/>
              </a:rPr>
              <a:t>difficult</a:t>
            </a:r>
            <a:r>
              <a:rPr lang="en-US" sz="2400">
                <a:solidFill>
                  <a:schemeClr val="dk1"/>
                </a:solidFill>
                <a:latin typeface="Calibri"/>
                <a:ea typeface="Calibri"/>
                <a:cs typeface="Calibri"/>
                <a:sym typeface="Calibri"/>
              </a:rPr>
              <a:t> to achieve </a:t>
            </a:r>
            <a:r>
              <a:rPr b="1" lang="en-US" sz="2400">
                <a:solidFill>
                  <a:srgbClr val="0070C0"/>
                </a:solidFill>
                <a:latin typeface="Calibri"/>
                <a:ea typeface="Calibri"/>
                <a:cs typeface="Calibri"/>
                <a:sym typeface="Calibri"/>
              </a:rPr>
              <a:t>true generality</a:t>
            </a:r>
            <a:endParaRPr b="1" sz="2400">
              <a:solidFill>
                <a:srgbClr val="0070C0"/>
              </a:solidFill>
              <a:latin typeface="Calibri"/>
              <a:ea typeface="Calibri"/>
              <a:cs typeface="Calibri"/>
              <a:sym typeface="Calibri"/>
            </a:endParaRPr>
          </a:p>
        </p:txBody>
      </p:sp>
      <p:sp>
        <p:nvSpPr>
          <p:cNvPr id="520" name="Google Shape;520;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21" name="Google Shape;521;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22" name="Google Shape;522;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OPERATING SYSTEM DESIGN ISSUES</a:t>
            </a:r>
            <a:endParaRPr/>
          </a:p>
        </p:txBody>
      </p:sp>
      <p:sp>
        <p:nvSpPr>
          <p:cNvPr id="528" name="Google Shape;528;p46"/>
          <p:cNvSpPr/>
          <p:nvPr/>
        </p:nvSpPr>
        <p:spPr>
          <a:xfrm>
            <a:off x="685800" y="1219200"/>
            <a:ext cx="7848600"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Generality  </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Soln=</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Use a </a:t>
            </a:r>
            <a:r>
              <a:rPr b="1" lang="en-US" sz="2400">
                <a:solidFill>
                  <a:srgbClr val="0070C0"/>
                </a:solidFill>
                <a:latin typeface="Calibri"/>
                <a:ea typeface="Calibri"/>
                <a:cs typeface="Calibri"/>
                <a:sym typeface="Calibri"/>
              </a:rPr>
              <a:t>hierarchical, modular approach </a:t>
            </a:r>
            <a:r>
              <a:rPr lang="en-US" sz="2400">
                <a:solidFill>
                  <a:schemeClr val="dk1"/>
                </a:solidFill>
                <a:latin typeface="Calibri"/>
                <a:ea typeface="Calibri"/>
                <a:cs typeface="Calibri"/>
                <a:sym typeface="Calibri"/>
              </a:rPr>
              <a:t>to the design of the I/O function.</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This approach </a:t>
            </a:r>
            <a:r>
              <a:rPr b="1" lang="en-US" sz="2400">
                <a:solidFill>
                  <a:schemeClr val="accent1"/>
                </a:solidFill>
                <a:latin typeface="Calibri"/>
                <a:ea typeface="Calibri"/>
                <a:cs typeface="Calibri"/>
                <a:sym typeface="Calibri"/>
              </a:rPr>
              <a:t>hides details</a:t>
            </a:r>
            <a:r>
              <a:rPr b="1" lang="en-US" sz="24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of device I/O in lower-level routines so that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400"/>
              <a:buFont typeface="Arial"/>
              <a:buChar char="•"/>
            </a:pPr>
            <a:r>
              <a:rPr b="1" lang="en-US" sz="2400">
                <a:solidFill>
                  <a:srgbClr val="0070C0"/>
                </a:solidFill>
                <a:latin typeface="Calibri"/>
                <a:ea typeface="Calibri"/>
                <a:cs typeface="Calibri"/>
                <a:sym typeface="Calibri"/>
              </a:rPr>
              <a:t>User processes and  Upper levels </a:t>
            </a:r>
            <a:r>
              <a:rPr lang="en-US" sz="2400">
                <a:solidFill>
                  <a:schemeClr val="dk1"/>
                </a:solidFill>
                <a:latin typeface="Calibri"/>
                <a:ea typeface="Calibri"/>
                <a:cs typeface="Calibri"/>
                <a:sym typeface="Calibri"/>
              </a:rPr>
              <a:t>of the OS see devices in terms of </a:t>
            </a:r>
            <a:r>
              <a:rPr b="1" lang="en-US" sz="2400">
                <a:solidFill>
                  <a:srgbClr val="0070C0"/>
                </a:solidFill>
                <a:latin typeface="Calibri"/>
                <a:ea typeface="Calibri"/>
                <a:cs typeface="Calibri"/>
                <a:sym typeface="Calibri"/>
              </a:rPr>
              <a:t>general functions</a:t>
            </a:r>
            <a:r>
              <a:rPr lang="en-US" sz="2400">
                <a:solidFill>
                  <a:schemeClr val="dk1"/>
                </a:solidFill>
                <a:latin typeface="Calibri"/>
                <a:ea typeface="Calibri"/>
                <a:cs typeface="Calibri"/>
                <a:sym typeface="Calibri"/>
              </a:rPr>
              <a:t>, such as </a:t>
            </a:r>
            <a:endParaRPr sz="24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read,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write,</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open,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close,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lock,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unlock</a:t>
            </a:r>
            <a:endParaRPr b="1" i="0" sz="2400" u="none" cap="none" strike="noStrike">
              <a:solidFill>
                <a:srgbClr val="0070C0"/>
              </a:solidFill>
              <a:latin typeface="Calibri"/>
              <a:ea typeface="Calibri"/>
              <a:cs typeface="Calibri"/>
              <a:sym typeface="Calibri"/>
            </a:endParaRPr>
          </a:p>
        </p:txBody>
      </p:sp>
      <p:sp>
        <p:nvSpPr>
          <p:cNvPr id="529" name="Google Shape;529;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30" name="Google Shape;530;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31" name="Google Shape;531;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Logical Structure of the I/O Function</a:t>
            </a:r>
            <a:endParaRPr/>
          </a:p>
        </p:txBody>
      </p:sp>
      <p:sp>
        <p:nvSpPr>
          <p:cNvPr id="537" name="Google Shape;537;p47"/>
          <p:cNvSpPr/>
          <p:nvPr/>
        </p:nvSpPr>
        <p:spPr>
          <a:xfrm>
            <a:off x="685800" y="1219200"/>
            <a:ext cx="7848600"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Hierarchical Approach-</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Leads to an organization of the OS into a series of layers</a:t>
            </a:r>
            <a:endParaRPr/>
          </a:p>
          <a:p>
            <a:pPr indent="-190500" lvl="0" marL="342900" marR="0" rtl="0" algn="l">
              <a:spcBef>
                <a:spcPts val="0"/>
              </a:spcBef>
              <a:spcAft>
                <a:spcPts val="0"/>
              </a:spcAft>
              <a:buClr>
                <a:schemeClr val="dk1"/>
              </a:buClr>
              <a:buSzPts val="2400"/>
              <a:buFont typeface="Arial"/>
              <a:buNone/>
            </a:pPr>
            <a:r>
              <a:t/>
            </a:r>
            <a:endParaRPr b="1" sz="2400">
              <a:solidFill>
                <a:schemeClr val="accent1"/>
              </a:solidFill>
              <a:latin typeface="Calibri"/>
              <a:ea typeface="Calibri"/>
              <a:cs typeface="Calibri"/>
              <a:sym typeface="Calibri"/>
            </a:endParaRPr>
          </a:p>
          <a:p>
            <a:pPr indent="-342900" lvl="0" marL="342900" marR="0" rtl="0" algn="l">
              <a:spcBef>
                <a:spcPts val="0"/>
              </a:spcBef>
              <a:spcAft>
                <a:spcPts val="0"/>
              </a:spcAft>
              <a:buClr>
                <a:schemeClr val="accent1"/>
              </a:buClr>
              <a:buSzPts val="2400"/>
              <a:buFont typeface="Arial"/>
              <a:buChar char="•"/>
            </a:pPr>
            <a:r>
              <a:rPr b="1" lang="en-US" sz="2400">
                <a:solidFill>
                  <a:schemeClr val="accent1"/>
                </a:solidFill>
                <a:latin typeface="Calibri"/>
                <a:ea typeface="Calibri"/>
                <a:cs typeface="Calibri"/>
                <a:sym typeface="Calibri"/>
              </a:rPr>
              <a:t>Each layer performs a related subset of the functions required of the OS</a:t>
            </a:r>
            <a:endParaRPr/>
          </a:p>
          <a:p>
            <a:pPr indent="-190500" lvl="0" marL="342900" marR="0" rtl="0" algn="l">
              <a:spcBef>
                <a:spcPts val="0"/>
              </a:spcBef>
              <a:spcAft>
                <a:spcPts val="0"/>
              </a:spcAft>
              <a:buClr>
                <a:schemeClr val="dk1"/>
              </a:buClr>
              <a:buSzPts val="2400"/>
              <a:buFont typeface="Arial"/>
              <a:buNone/>
            </a:pPr>
            <a:r>
              <a:t/>
            </a:r>
            <a:endParaRPr b="1" sz="2400">
              <a:solidFill>
                <a:schemeClr val="accent1"/>
              </a:solidFill>
              <a:latin typeface="Calibri"/>
              <a:ea typeface="Calibri"/>
              <a:cs typeface="Calibri"/>
              <a:sym typeface="Calibri"/>
            </a:endParaRPr>
          </a:p>
          <a:p>
            <a:pPr indent="-342900" lvl="0" marL="342900" marR="0" rtl="0" algn="l">
              <a:spcBef>
                <a:spcPts val="0"/>
              </a:spcBef>
              <a:spcAft>
                <a:spcPts val="0"/>
              </a:spcAft>
              <a:buClr>
                <a:schemeClr val="accent1"/>
              </a:buClr>
              <a:buSzPts val="2400"/>
              <a:buFont typeface="Arial"/>
              <a:buChar char="•"/>
            </a:pPr>
            <a:r>
              <a:rPr b="1" lang="en-US" sz="2400">
                <a:solidFill>
                  <a:schemeClr val="accent1"/>
                </a:solidFill>
                <a:latin typeface="Calibri"/>
                <a:ea typeface="Calibri"/>
                <a:cs typeface="Calibri"/>
                <a:sym typeface="Calibri"/>
              </a:rPr>
              <a:t>It relies on the next lower layer to perform more primitive functions and to conceal the details of those functions. </a:t>
            </a:r>
            <a:endParaRPr b="1" sz="2400">
              <a:solidFill>
                <a:schemeClr val="accent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b="1" sz="2400">
              <a:solidFill>
                <a:schemeClr val="accent1"/>
              </a:solidFill>
              <a:latin typeface="Calibri"/>
              <a:ea typeface="Calibri"/>
              <a:cs typeface="Calibri"/>
              <a:sym typeface="Calibri"/>
            </a:endParaRPr>
          </a:p>
          <a:p>
            <a:pPr indent="-342900" lvl="0" marL="342900" marR="0" rtl="0" algn="l">
              <a:spcBef>
                <a:spcPts val="0"/>
              </a:spcBef>
              <a:spcAft>
                <a:spcPts val="0"/>
              </a:spcAft>
              <a:buClr>
                <a:schemeClr val="accent1"/>
              </a:buClr>
              <a:buSzPts val="2400"/>
              <a:buFont typeface="Arial"/>
              <a:buChar char="•"/>
            </a:pPr>
            <a:r>
              <a:rPr b="1" lang="en-US" sz="2400">
                <a:solidFill>
                  <a:schemeClr val="accent1"/>
                </a:solidFill>
                <a:latin typeface="Calibri"/>
                <a:ea typeface="Calibri"/>
                <a:cs typeface="Calibri"/>
                <a:sym typeface="Calibri"/>
              </a:rPr>
              <a:t>It provides services to the next higher layer. </a:t>
            </a:r>
            <a:endParaRPr b="1" sz="2400">
              <a:solidFill>
                <a:schemeClr val="accent1"/>
              </a:solidFill>
              <a:latin typeface="Calibri"/>
              <a:ea typeface="Calibri"/>
              <a:cs typeface="Calibri"/>
              <a:sym typeface="Calibri"/>
            </a:endParaRPr>
          </a:p>
        </p:txBody>
      </p:sp>
      <p:sp>
        <p:nvSpPr>
          <p:cNvPr id="538" name="Google Shape;53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39" name="Google Shape;53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40" name="Google Shape;54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Logical Structure of the I/O Function</a:t>
            </a:r>
            <a:endParaRPr/>
          </a:p>
        </p:txBody>
      </p:sp>
      <p:sp>
        <p:nvSpPr>
          <p:cNvPr id="546" name="Google Shape;546;p48"/>
          <p:cNvSpPr/>
          <p:nvPr/>
        </p:nvSpPr>
        <p:spPr>
          <a:xfrm>
            <a:off x="685800" y="1219200"/>
            <a:ext cx="7848600"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Hierarchical Approach-</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Ideally, the layers should be defined so that </a:t>
            </a:r>
            <a:r>
              <a:rPr lang="en-US" sz="2400">
                <a:solidFill>
                  <a:schemeClr val="accent1"/>
                </a:solidFill>
                <a:latin typeface="Calibri"/>
                <a:ea typeface="Calibri"/>
                <a:cs typeface="Calibri"/>
                <a:sym typeface="Calibri"/>
              </a:rPr>
              <a:t>changes in one layer do not require changes in other layers.</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Decomposed one problem into a number of more manageable sub problems.</a:t>
            </a:r>
            <a:endParaRPr b="1" sz="2400">
              <a:solidFill>
                <a:srgbClr val="0070C0"/>
              </a:solidFill>
              <a:latin typeface="Calibri"/>
              <a:ea typeface="Calibri"/>
              <a:cs typeface="Calibri"/>
              <a:sym typeface="Calibri"/>
            </a:endParaRPr>
          </a:p>
        </p:txBody>
      </p:sp>
      <p:sp>
        <p:nvSpPr>
          <p:cNvPr id="547" name="Google Shape;54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48" name="Google Shape;548;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49" name="Google Shape;54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9"/>
          <p:cNvSpPr txBox="1"/>
          <p:nvPr>
            <p:ph type="title"/>
          </p:nvPr>
        </p:nvSpPr>
        <p:spPr>
          <a:xfrm>
            <a:off x="495300" y="13855"/>
            <a:ext cx="8229600" cy="334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n-US" sz="3200"/>
              <a:t>Logical Structure of the I/O Function</a:t>
            </a:r>
            <a:endParaRPr sz="3200"/>
          </a:p>
        </p:txBody>
      </p:sp>
      <p:sp>
        <p:nvSpPr>
          <p:cNvPr id="555" name="Google Shape;555;p49"/>
          <p:cNvSpPr/>
          <p:nvPr/>
        </p:nvSpPr>
        <p:spPr>
          <a:xfrm>
            <a:off x="651164" y="457200"/>
            <a:ext cx="7848600" cy="132343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Hierarchy/Logical Structure for I/O </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details of the organization will depend on type of device and the application</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Most operating systems approach I/O in </a:t>
            </a:r>
            <a:r>
              <a:rPr b="1" lang="en-US" sz="2000">
                <a:solidFill>
                  <a:schemeClr val="accent1"/>
                </a:solidFill>
                <a:latin typeface="Calibri"/>
                <a:ea typeface="Calibri"/>
                <a:cs typeface="Calibri"/>
                <a:sym typeface="Calibri"/>
              </a:rPr>
              <a:t>approximately this way.</a:t>
            </a:r>
            <a:endParaRPr/>
          </a:p>
        </p:txBody>
      </p:sp>
      <p:pic>
        <p:nvPicPr>
          <p:cNvPr id="556" name="Google Shape;556;p49"/>
          <p:cNvPicPr preferRelativeResize="0"/>
          <p:nvPr/>
        </p:nvPicPr>
        <p:blipFill rotWithShape="1">
          <a:blip r:embed="rId3">
            <a:alphaModFix/>
          </a:blip>
          <a:srcRect b="0" l="0" r="0" t="0"/>
          <a:stretch/>
        </p:blipFill>
        <p:spPr>
          <a:xfrm>
            <a:off x="193964" y="1780639"/>
            <a:ext cx="8763000" cy="4772561"/>
          </a:xfrm>
          <a:prstGeom prst="rect">
            <a:avLst/>
          </a:prstGeom>
          <a:noFill/>
          <a:ln>
            <a:noFill/>
          </a:ln>
        </p:spPr>
      </p:pic>
      <p:sp>
        <p:nvSpPr>
          <p:cNvPr id="557" name="Google Shape;55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58" name="Google Shape;55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59" name="Google Shape;55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Logical Structure of the I/O Function</a:t>
            </a:r>
            <a:endParaRPr/>
          </a:p>
        </p:txBody>
      </p:sp>
      <p:sp>
        <p:nvSpPr>
          <p:cNvPr id="565" name="Google Shape;565;p50"/>
          <p:cNvSpPr/>
          <p:nvPr/>
        </p:nvSpPr>
        <p:spPr>
          <a:xfrm>
            <a:off x="228600" y="1752600"/>
            <a:ext cx="48006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Logical I/O: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Deals with the </a:t>
            </a:r>
            <a:r>
              <a:rPr b="1" lang="en-US" sz="2400">
                <a:solidFill>
                  <a:srgbClr val="0070C0"/>
                </a:solidFill>
                <a:latin typeface="Calibri"/>
                <a:ea typeface="Calibri"/>
                <a:cs typeface="Calibri"/>
                <a:sym typeface="Calibri"/>
              </a:rPr>
              <a:t>device as a logical resource</a:t>
            </a:r>
            <a:endParaRPr/>
          </a:p>
          <a:p>
            <a:pPr indent="-342900" lvl="0" marL="342900" marR="0" rtl="0" algn="l">
              <a:spcBef>
                <a:spcPts val="0"/>
              </a:spcBef>
              <a:spcAft>
                <a:spcPts val="0"/>
              </a:spcAft>
              <a:buClr>
                <a:srgbClr val="0070C0"/>
              </a:buClr>
              <a:buSzPts val="2400"/>
              <a:buFont typeface="Arial"/>
              <a:buChar char="•"/>
            </a:pPr>
            <a:r>
              <a:rPr b="1" lang="en-US" sz="2400">
                <a:solidFill>
                  <a:srgbClr val="0070C0"/>
                </a:solidFill>
                <a:latin typeface="Calibri"/>
                <a:ea typeface="Calibri"/>
                <a:cs typeface="Calibri"/>
                <a:sym typeface="Calibri"/>
              </a:rPr>
              <a:t>Not concerned </a:t>
            </a:r>
            <a:r>
              <a:rPr lang="en-US" sz="2400">
                <a:solidFill>
                  <a:schemeClr val="dk1"/>
                </a:solidFill>
                <a:latin typeface="Calibri"/>
                <a:ea typeface="Calibri"/>
                <a:cs typeface="Calibri"/>
                <a:sym typeface="Calibri"/>
              </a:rPr>
              <a:t>with the details of actually </a:t>
            </a:r>
            <a:r>
              <a:rPr b="1" lang="en-US" sz="2400">
                <a:solidFill>
                  <a:srgbClr val="0070C0"/>
                </a:solidFill>
                <a:latin typeface="Calibri"/>
                <a:ea typeface="Calibri"/>
                <a:cs typeface="Calibri"/>
                <a:sym typeface="Calibri"/>
              </a:rPr>
              <a:t>controlling the device. </a:t>
            </a:r>
            <a:endParaRPr b="1" sz="2400">
              <a:solidFill>
                <a:srgbClr val="0070C0"/>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b="1" sz="2400">
              <a:solidFill>
                <a:srgbClr val="0070C0"/>
              </a:solidFill>
              <a:latin typeface="Calibri"/>
              <a:ea typeface="Calibri"/>
              <a:cs typeface="Calibri"/>
              <a:sym typeface="Calibri"/>
            </a:endParaRPr>
          </a:p>
        </p:txBody>
      </p:sp>
      <p:pic>
        <p:nvPicPr>
          <p:cNvPr id="566" name="Google Shape;566;p50"/>
          <p:cNvPicPr preferRelativeResize="0"/>
          <p:nvPr/>
        </p:nvPicPr>
        <p:blipFill rotWithShape="1">
          <a:blip r:embed="rId3">
            <a:alphaModFix/>
          </a:blip>
          <a:srcRect b="0" l="0" r="0" t="0"/>
          <a:stretch/>
        </p:blipFill>
        <p:spPr>
          <a:xfrm>
            <a:off x="5029200" y="1191491"/>
            <a:ext cx="3924300" cy="5029200"/>
          </a:xfrm>
          <a:prstGeom prst="rect">
            <a:avLst/>
          </a:prstGeom>
          <a:noFill/>
          <a:ln>
            <a:noFill/>
          </a:ln>
        </p:spPr>
      </p:pic>
      <p:sp>
        <p:nvSpPr>
          <p:cNvPr id="567" name="Google Shape;567;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68" name="Google Shape;568;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69" name="Google Shape;569;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Logical Structure of the I/O Function</a:t>
            </a:r>
            <a:endParaRPr/>
          </a:p>
        </p:txBody>
      </p:sp>
      <p:sp>
        <p:nvSpPr>
          <p:cNvPr id="575" name="Google Shape;575;p51"/>
          <p:cNvSpPr/>
          <p:nvPr/>
        </p:nvSpPr>
        <p:spPr>
          <a:xfrm>
            <a:off x="242455" y="1676400"/>
            <a:ext cx="48006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Logical I/O: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Concerned with managing general I/O functions on behalf of user processes, </a:t>
            </a:r>
            <a:endParaRPr sz="24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allowing them to deal with the device in  terms of </a:t>
            </a:r>
            <a:r>
              <a:rPr b="1" i="0" lang="en-US" sz="2400" u="none" cap="none" strike="noStrike">
                <a:solidFill>
                  <a:srgbClr val="0070C0"/>
                </a:solidFill>
                <a:latin typeface="Calibri"/>
                <a:ea typeface="Calibri"/>
                <a:cs typeface="Calibri"/>
                <a:sym typeface="Calibri"/>
              </a:rPr>
              <a:t>a device identifier</a:t>
            </a:r>
            <a:r>
              <a:rPr b="0" i="0" lang="en-US" sz="2400" u="none" cap="none" strike="noStrike">
                <a:solidFill>
                  <a:schemeClr val="dk1"/>
                </a:solidFill>
                <a:latin typeface="Calibri"/>
                <a:ea typeface="Calibri"/>
                <a:cs typeface="Calibri"/>
                <a:sym typeface="Calibri"/>
              </a:rPr>
              <a:t> </a:t>
            </a:r>
            <a:endParaRPr/>
          </a:p>
          <a:p>
            <a:pPr indent="-342900" lvl="1" marL="800100" marR="0" rtl="0" algn="l">
              <a:spcBef>
                <a:spcPts val="0"/>
              </a:spcBef>
              <a:spcAft>
                <a:spcPts val="0"/>
              </a:spcAft>
              <a:buClr>
                <a:srgbClr val="0070C0"/>
              </a:buClr>
              <a:buSzPts val="2400"/>
              <a:buFont typeface="Arial"/>
              <a:buChar char="•"/>
            </a:pPr>
            <a:r>
              <a:rPr b="1" i="0" lang="en-US" sz="2400" u="none" cap="none" strike="noStrike">
                <a:solidFill>
                  <a:srgbClr val="0070C0"/>
                </a:solidFill>
                <a:latin typeface="Calibri"/>
                <a:ea typeface="Calibri"/>
                <a:cs typeface="Calibri"/>
                <a:sym typeface="Calibri"/>
              </a:rPr>
              <a:t>simple commands such as open, close, read, and write</a:t>
            </a:r>
            <a:endParaRPr b="1" i="0" sz="2400" u="none" cap="none" strike="noStrike">
              <a:solidFill>
                <a:srgbClr val="0070C0"/>
              </a:solidFill>
              <a:latin typeface="Calibri"/>
              <a:ea typeface="Calibri"/>
              <a:cs typeface="Calibri"/>
              <a:sym typeface="Calibri"/>
            </a:endParaRPr>
          </a:p>
        </p:txBody>
      </p:sp>
      <p:pic>
        <p:nvPicPr>
          <p:cNvPr id="576" name="Google Shape;576;p51"/>
          <p:cNvPicPr preferRelativeResize="0"/>
          <p:nvPr/>
        </p:nvPicPr>
        <p:blipFill rotWithShape="1">
          <a:blip r:embed="rId3">
            <a:alphaModFix/>
          </a:blip>
          <a:srcRect b="0" l="0" r="0" t="0"/>
          <a:stretch/>
        </p:blipFill>
        <p:spPr>
          <a:xfrm>
            <a:off x="5029200" y="1191491"/>
            <a:ext cx="3924300" cy="5029200"/>
          </a:xfrm>
          <a:prstGeom prst="rect">
            <a:avLst/>
          </a:prstGeom>
          <a:noFill/>
          <a:ln>
            <a:noFill/>
          </a:ln>
        </p:spPr>
      </p:pic>
      <p:sp>
        <p:nvSpPr>
          <p:cNvPr id="577" name="Google Shape;577;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78" name="Google Shape;578;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79" name="Google Shape;579;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Logical Structure of the I/O Function</a:t>
            </a:r>
            <a:endParaRPr/>
          </a:p>
        </p:txBody>
      </p:sp>
      <p:sp>
        <p:nvSpPr>
          <p:cNvPr id="585" name="Google Shape;585;p52"/>
          <p:cNvSpPr/>
          <p:nvPr/>
        </p:nvSpPr>
        <p:spPr>
          <a:xfrm>
            <a:off x="685800" y="1600200"/>
            <a:ext cx="43434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Device I/O: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requested </a:t>
            </a:r>
            <a:r>
              <a:rPr b="1" lang="en-US" sz="2400">
                <a:solidFill>
                  <a:srgbClr val="0070C0"/>
                </a:solidFill>
                <a:latin typeface="Calibri"/>
                <a:ea typeface="Calibri"/>
                <a:cs typeface="Calibri"/>
                <a:sym typeface="Calibri"/>
              </a:rPr>
              <a:t>operations </a:t>
            </a:r>
            <a:r>
              <a:rPr lang="en-US" sz="2400">
                <a:solidFill>
                  <a:schemeClr val="dk1"/>
                </a:solidFill>
                <a:latin typeface="Calibri"/>
                <a:ea typeface="Calibri"/>
                <a:cs typeface="Calibri"/>
                <a:sym typeface="Calibri"/>
              </a:rPr>
              <a:t>and data (buffered characters, records, etc.) </a:t>
            </a:r>
            <a:r>
              <a:rPr b="1" lang="en-US" sz="2400">
                <a:solidFill>
                  <a:srgbClr val="0070C0"/>
                </a:solidFill>
                <a:latin typeface="Calibri"/>
                <a:ea typeface="Calibri"/>
                <a:cs typeface="Calibri"/>
                <a:sym typeface="Calibri"/>
              </a:rPr>
              <a:t>are converted </a:t>
            </a:r>
            <a:r>
              <a:rPr lang="en-US" sz="2400">
                <a:solidFill>
                  <a:schemeClr val="dk1"/>
                </a:solidFill>
                <a:latin typeface="Calibri"/>
                <a:ea typeface="Calibri"/>
                <a:cs typeface="Calibri"/>
                <a:sym typeface="Calibri"/>
              </a:rPr>
              <a:t>into </a:t>
            </a:r>
            <a:endParaRPr sz="2400">
              <a:solidFill>
                <a:schemeClr val="dk1"/>
              </a:solidFill>
              <a:latin typeface="Calibri"/>
              <a:ea typeface="Calibri"/>
              <a:cs typeface="Calibri"/>
              <a:sym typeface="Calibri"/>
            </a:endParaRPr>
          </a:p>
          <a:p>
            <a:pPr indent="-342900" lvl="1" marL="800100" marR="0" rtl="0" algn="l">
              <a:spcBef>
                <a:spcPts val="0"/>
              </a:spcBef>
              <a:spcAft>
                <a:spcPts val="0"/>
              </a:spcAft>
              <a:buClr>
                <a:srgbClr val="0070C0"/>
              </a:buClr>
              <a:buSzPts val="2400"/>
              <a:buFont typeface="Arial"/>
              <a:buChar char="•"/>
            </a:pPr>
            <a:r>
              <a:rPr b="1" i="0" lang="en-US" sz="2400" u="none" cap="none" strike="noStrike">
                <a:solidFill>
                  <a:srgbClr val="0070C0"/>
                </a:solidFill>
                <a:latin typeface="Calibri"/>
                <a:ea typeface="Calibri"/>
                <a:cs typeface="Calibri"/>
                <a:sym typeface="Calibri"/>
              </a:rPr>
              <a:t>appropriate sequences of I/O instructions</a:t>
            </a:r>
            <a:r>
              <a:rPr b="0" i="0" lang="en-US" sz="24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channel commands,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accent1"/>
              </a:buClr>
              <a:buSzPts val="2400"/>
              <a:buFont typeface="Arial"/>
              <a:buChar char="•"/>
            </a:pPr>
            <a:r>
              <a:rPr b="1" i="0" lang="en-US" sz="2400" u="none" cap="none" strike="noStrike">
                <a:solidFill>
                  <a:schemeClr val="accent1"/>
                </a:solidFill>
                <a:latin typeface="Calibri"/>
                <a:ea typeface="Calibri"/>
                <a:cs typeface="Calibri"/>
                <a:sym typeface="Calibri"/>
              </a:rPr>
              <a:t>controller orders</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586" name="Google Shape;586;p52"/>
          <p:cNvPicPr preferRelativeResize="0"/>
          <p:nvPr/>
        </p:nvPicPr>
        <p:blipFill rotWithShape="1">
          <a:blip r:embed="rId3">
            <a:alphaModFix/>
          </a:blip>
          <a:srcRect b="0" l="0" r="0" t="0"/>
          <a:stretch/>
        </p:blipFill>
        <p:spPr>
          <a:xfrm>
            <a:off x="5029200" y="1191491"/>
            <a:ext cx="3924300" cy="5029200"/>
          </a:xfrm>
          <a:prstGeom prst="rect">
            <a:avLst/>
          </a:prstGeom>
          <a:noFill/>
          <a:ln>
            <a:noFill/>
          </a:ln>
        </p:spPr>
      </p:pic>
      <p:sp>
        <p:nvSpPr>
          <p:cNvPr id="587" name="Google Shape;58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88" name="Google Shape;58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89" name="Google Shape;58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Logical Structure of the I/O Function</a:t>
            </a:r>
            <a:endParaRPr/>
          </a:p>
        </p:txBody>
      </p:sp>
      <p:sp>
        <p:nvSpPr>
          <p:cNvPr id="595" name="Google Shape;595;p53"/>
          <p:cNvSpPr/>
          <p:nvPr/>
        </p:nvSpPr>
        <p:spPr>
          <a:xfrm>
            <a:off x="685800" y="1828202"/>
            <a:ext cx="43434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Device I/O: </a:t>
            </a:r>
            <a:endParaRPr b="1" sz="2400">
              <a:solidFill>
                <a:schemeClr val="dk1"/>
              </a:solidFill>
              <a:latin typeface="Calibri"/>
              <a:ea typeface="Calibri"/>
              <a:cs typeface="Calibri"/>
              <a:sym typeface="Calibri"/>
            </a:endParaRPr>
          </a:p>
          <a:p>
            <a:pPr indent="-342900" lvl="0" marL="342900" marR="0" rtl="0" algn="l">
              <a:spcBef>
                <a:spcPts val="0"/>
              </a:spcBef>
              <a:spcAft>
                <a:spcPts val="0"/>
              </a:spcAft>
              <a:buClr>
                <a:srgbClr val="0070C0"/>
              </a:buClr>
              <a:buSzPts val="2400"/>
              <a:buFont typeface="Arial"/>
              <a:buChar char="•"/>
            </a:pPr>
            <a:r>
              <a:rPr b="1" lang="en-US" sz="2400">
                <a:solidFill>
                  <a:srgbClr val="0070C0"/>
                </a:solidFill>
                <a:latin typeface="Calibri"/>
                <a:ea typeface="Calibri"/>
                <a:cs typeface="Calibri"/>
                <a:sym typeface="Calibri"/>
              </a:rPr>
              <a:t>Buffering techniques may be used to improve utilization</a:t>
            </a:r>
            <a:endParaRPr b="1" sz="2400">
              <a:solidFill>
                <a:srgbClr val="0070C0"/>
              </a:solidFill>
              <a:latin typeface="Calibri"/>
              <a:ea typeface="Calibri"/>
              <a:cs typeface="Calibri"/>
              <a:sym typeface="Calibri"/>
            </a:endParaRPr>
          </a:p>
        </p:txBody>
      </p:sp>
      <p:pic>
        <p:nvPicPr>
          <p:cNvPr id="596" name="Google Shape;596;p53"/>
          <p:cNvPicPr preferRelativeResize="0"/>
          <p:nvPr/>
        </p:nvPicPr>
        <p:blipFill rotWithShape="1">
          <a:blip r:embed="rId3">
            <a:alphaModFix/>
          </a:blip>
          <a:srcRect b="0" l="0" r="0" t="0"/>
          <a:stretch/>
        </p:blipFill>
        <p:spPr>
          <a:xfrm>
            <a:off x="5029200" y="1191491"/>
            <a:ext cx="3924300" cy="5029200"/>
          </a:xfrm>
          <a:prstGeom prst="rect">
            <a:avLst/>
          </a:prstGeom>
          <a:noFill/>
          <a:ln>
            <a:noFill/>
          </a:ln>
        </p:spPr>
      </p:pic>
      <p:sp>
        <p:nvSpPr>
          <p:cNvPr id="597" name="Google Shape;597;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598" name="Google Shape;598;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99" name="Google Shape;599;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Logical Structure of the I/O Function</a:t>
            </a:r>
            <a:endParaRPr/>
          </a:p>
        </p:txBody>
      </p:sp>
      <p:sp>
        <p:nvSpPr>
          <p:cNvPr id="605" name="Google Shape;605;p54"/>
          <p:cNvSpPr/>
          <p:nvPr/>
        </p:nvSpPr>
        <p:spPr>
          <a:xfrm>
            <a:off x="381000" y="1676400"/>
            <a:ext cx="4343400"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Scheduling and control: </a:t>
            </a:r>
            <a:endParaRPr b="1"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actual </a:t>
            </a:r>
            <a:r>
              <a:rPr b="1" lang="en-US" sz="2400">
                <a:solidFill>
                  <a:srgbClr val="0070C0"/>
                </a:solidFill>
                <a:latin typeface="Calibri"/>
                <a:ea typeface="Calibri"/>
                <a:cs typeface="Calibri"/>
                <a:sym typeface="Calibri"/>
              </a:rPr>
              <a:t>queueing and scheduling </a:t>
            </a:r>
            <a:r>
              <a:rPr lang="en-US" sz="2400">
                <a:solidFill>
                  <a:schemeClr val="dk1"/>
                </a:solidFill>
                <a:latin typeface="Calibri"/>
                <a:ea typeface="Calibri"/>
                <a:cs typeface="Calibri"/>
                <a:sym typeface="Calibri"/>
              </a:rPr>
              <a:t>of I/O operations occurs at this layer, as well as the control of the operations.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b="1" sz="2400">
              <a:solidFill>
                <a:srgbClr val="0070C0"/>
              </a:solidFill>
              <a:latin typeface="Calibri"/>
              <a:ea typeface="Calibri"/>
              <a:cs typeface="Calibri"/>
              <a:sym typeface="Calibri"/>
            </a:endParaRPr>
          </a:p>
          <a:p>
            <a:pPr indent="-342900" lvl="0" marL="342900" marR="0" rtl="0" algn="l">
              <a:spcBef>
                <a:spcPts val="0"/>
              </a:spcBef>
              <a:spcAft>
                <a:spcPts val="0"/>
              </a:spcAft>
              <a:buClr>
                <a:srgbClr val="0070C0"/>
              </a:buClr>
              <a:buSzPts val="2400"/>
              <a:buFont typeface="Arial"/>
              <a:buChar char="•"/>
            </a:pPr>
            <a:r>
              <a:rPr b="1" lang="en-US" sz="2400">
                <a:solidFill>
                  <a:srgbClr val="0070C0"/>
                </a:solidFill>
                <a:latin typeface="Calibri"/>
                <a:ea typeface="Calibri"/>
                <a:cs typeface="Calibri"/>
                <a:sym typeface="Calibri"/>
              </a:rPr>
              <a:t>Interrupts are handled </a:t>
            </a:r>
            <a:endParaRPr b="1" sz="2400">
              <a:solidFill>
                <a:srgbClr val="0070C0"/>
              </a:solidFill>
              <a:latin typeface="Calibri"/>
              <a:ea typeface="Calibri"/>
              <a:cs typeface="Calibri"/>
              <a:sym typeface="Calibri"/>
            </a:endParaRPr>
          </a:p>
        </p:txBody>
      </p:sp>
      <p:pic>
        <p:nvPicPr>
          <p:cNvPr id="606" name="Google Shape;606;p54"/>
          <p:cNvPicPr preferRelativeResize="0"/>
          <p:nvPr/>
        </p:nvPicPr>
        <p:blipFill rotWithShape="1">
          <a:blip r:embed="rId3">
            <a:alphaModFix/>
          </a:blip>
          <a:srcRect b="0" l="0" r="0" t="0"/>
          <a:stretch/>
        </p:blipFill>
        <p:spPr>
          <a:xfrm>
            <a:off x="5029200" y="1191491"/>
            <a:ext cx="3924300" cy="5029200"/>
          </a:xfrm>
          <a:prstGeom prst="rect">
            <a:avLst/>
          </a:prstGeom>
          <a:noFill/>
          <a:ln>
            <a:noFill/>
          </a:ln>
        </p:spPr>
      </p:pic>
      <p:sp>
        <p:nvSpPr>
          <p:cNvPr id="607" name="Google Shape;607;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08" name="Google Shape;608;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09" name="Google Shape;609;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Logical Structure of the I/O Function</a:t>
            </a:r>
            <a:endParaRPr/>
          </a:p>
        </p:txBody>
      </p:sp>
      <p:sp>
        <p:nvSpPr>
          <p:cNvPr id="615" name="Google Shape;615;p55"/>
          <p:cNvSpPr/>
          <p:nvPr/>
        </p:nvSpPr>
        <p:spPr>
          <a:xfrm>
            <a:off x="381000" y="1600200"/>
            <a:ext cx="43434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Scheduling and control: </a:t>
            </a:r>
            <a:endParaRPr b="1"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accent1"/>
              </a:buClr>
              <a:buSzPts val="2400"/>
              <a:buFont typeface="Arial"/>
              <a:buChar char="•"/>
            </a:pPr>
            <a:r>
              <a:rPr b="1" lang="en-US" sz="2400">
                <a:solidFill>
                  <a:schemeClr val="accent1"/>
                </a:solidFill>
                <a:latin typeface="Calibri"/>
                <a:ea typeface="Calibri"/>
                <a:cs typeface="Calibri"/>
                <a:sym typeface="Calibri"/>
              </a:rPr>
              <a:t>I/O status </a:t>
            </a:r>
            <a:r>
              <a:rPr lang="en-US" sz="2400">
                <a:solidFill>
                  <a:schemeClr val="dk1"/>
                </a:solidFill>
                <a:latin typeface="Calibri"/>
                <a:ea typeface="Calibri"/>
                <a:cs typeface="Calibri"/>
                <a:sym typeface="Calibri"/>
              </a:rPr>
              <a:t>is collected and reported</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Layer of software that </a:t>
            </a:r>
            <a:r>
              <a:rPr b="1" lang="en-US" sz="2400">
                <a:solidFill>
                  <a:srgbClr val="0070C0"/>
                </a:solidFill>
                <a:latin typeface="Calibri"/>
                <a:ea typeface="Calibri"/>
                <a:cs typeface="Calibri"/>
                <a:sym typeface="Calibri"/>
              </a:rPr>
              <a:t>actually interacts with the I/O module </a:t>
            </a:r>
            <a:r>
              <a:rPr lang="en-US" sz="2400">
                <a:solidFill>
                  <a:schemeClr val="dk1"/>
                </a:solidFill>
                <a:latin typeface="Calibri"/>
                <a:ea typeface="Calibri"/>
                <a:cs typeface="Calibri"/>
                <a:sym typeface="Calibri"/>
              </a:rPr>
              <a:t>and hence the device hardware</a:t>
            </a:r>
            <a:endParaRPr b="1" sz="2400">
              <a:solidFill>
                <a:srgbClr val="0070C0"/>
              </a:solidFill>
              <a:latin typeface="Calibri"/>
              <a:ea typeface="Calibri"/>
              <a:cs typeface="Calibri"/>
              <a:sym typeface="Calibri"/>
            </a:endParaRPr>
          </a:p>
        </p:txBody>
      </p:sp>
      <p:pic>
        <p:nvPicPr>
          <p:cNvPr id="616" name="Google Shape;616;p55"/>
          <p:cNvPicPr preferRelativeResize="0"/>
          <p:nvPr/>
        </p:nvPicPr>
        <p:blipFill rotWithShape="1">
          <a:blip r:embed="rId3">
            <a:alphaModFix/>
          </a:blip>
          <a:srcRect b="0" l="0" r="0" t="0"/>
          <a:stretch/>
        </p:blipFill>
        <p:spPr>
          <a:xfrm>
            <a:off x="5029200" y="1191491"/>
            <a:ext cx="3924300" cy="5029200"/>
          </a:xfrm>
          <a:prstGeom prst="rect">
            <a:avLst/>
          </a:prstGeom>
          <a:noFill/>
          <a:ln>
            <a:noFill/>
          </a:ln>
        </p:spPr>
      </p:pic>
      <p:sp>
        <p:nvSpPr>
          <p:cNvPr id="617" name="Google Shape;61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18" name="Google Shape;61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19" name="Google Shape;61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pic>
        <p:nvPicPr>
          <p:cNvPr id="625" name="Google Shape;625;p56"/>
          <p:cNvPicPr preferRelativeResize="0"/>
          <p:nvPr/>
        </p:nvPicPr>
        <p:blipFill rotWithShape="1">
          <a:blip r:embed="rId3">
            <a:alphaModFix/>
          </a:blip>
          <a:srcRect b="6249" l="38598" r="31616" t="28174"/>
          <a:stretch/>
        </p:blipFill>
        <p:spPr>
          <a:xfrm>
            <a:off x="533400" y="1524000"/>
            <a:ext cx="8153400" cy="4796971"/>
          </a:xfrm>
          <a:prstGeom prst="rect">
            <a:avLst/>
          </a:prstGeom>
          <a:noFill/>
          <a:ln>
            <a:noFill/>
          </a:ln>
        </p:spPr>
      </p:pic>
      <p:sp>
        <p:nvSpPr>
          <p:cNvPr id="626" name="Google Shape;626;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27" name="Google Shape;627;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28" name="Google Shape;628;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sp>
        <p:nvSpPr>
          <p:cNvPr id="634" name="Google Shape;634;p57"/>
          <p:cNvSpPr/>
          <p:nvPr/>
        </p:nvSpPr>
        <p:spPr>
          <a:xfrm>
            <a:off x="533400" y="1524000"/>
            <a:ext cx="77724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Single Buffer</a:t>
            </a:r>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simplest type of support that the OS can provide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When a user process issues an I/O request, </a:t>
            </a:r>
            <a:endParaRPr sz="2400">
              <a:solidFill>
                <a:schemeClr val="dk1"/>
              </a:solidFill>
              <a:latin typeface="Calibri"/>
              <a:ea typeface="Calibri"/>
              <a:cs typeface="Calibri"/>
              <a:sym typeface="Calibri"/>
            </a:endParaRPr>
          </a:p>
          <a:p>
            <a:pPr indent="-285750" lvl="1" marL="742950" marR="0" rtl="0" algn="l">
              <a:spcBef>
                <a:spcPts val="0"/>
              </a:spcBef>
              <a:spcAft>
                <a:spcPts val="0"/>
              </a:spcAft>
              <a:buClr>
                <a:srgbClr val="0070C0"/>
              </a:buClr>
              <a:buSzPts val="2400"/>
              <a:buFont typeface="Arial"/>
              <a:buChar char="•"/>
            </a:pPr>
            <a:r>
              <a:rPr b="0" i="0" lang="en-US" sz="2400" u="none" cap="none" strike="noStrike">
                <a:solidFill>
                  <a:srgbClr val="0070C0"/>
                </a:solidFill>
                <a:latin typeface="Calibri"/>
                <a:ea typeface="Calibri"/>
                <a:cs typeface="Calibri"/>
                <a:sym typeface="Calibri"/>
              </a:rPr>
              <a:t>the OS assigns a buffer in the system portion</a:t>
            </a:r>
            <a:r>
              <a:rPr b="0" i="0" lang="en-US" sz="2400" u="none" cap="none" strike="noStrike">
                <a:solidFill>
                  <a:schemeClr val="dk1"/>
                </a:solidFill>
                <a:latin typeface="Calibri"/>
                <a:ea typeface="Calibri"/>
                <a:cs typeface="Calibri"/>
                <a:sym typeface="Calibri"/>
              </a:rPr>
              <a:t> of main memory to the operation.</a:t>
            </a:r>
            <a:endParaRPr/>
          </a:p>
          <a:p>
            <a:pPr indent="-133350" lvl="0" marL="285750" marR="0" rtl="0" algn="l">
              <a:spcBef>
                <a:spcPts val="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p:txBody>
      </p:sp>
      <p:pic>
        <p:nvPicPr>
          <p:cNvPr id="635" name="Google Shape;635;p57"/>
          <p:cNvPicPr preferRelativeResize="0"/>
          <p:nvPr/>
        </p:nvPicPr>
        <p:blipFill rotWithShape="1">
          <a:blip r:embed="rId3">
            <a:alphaModFix/>
          </a:blip>
          <a:srcRect b="41143" l="38598" r="31616" t="41865"/>
          <a:stretch/>
        </p:blipFill>
        <p:spPr>
          <a:xfrm>
            <a:off x="2057400" y="3962400"/>
            <a:ext cx="4724400" cy="1828800"/>
          </a:xfrm>
          <a:prstGeom prst="rect">
            <a:avLst/>
          </a:prstGeom>
          <a:noFill/>
          <a:ln>
            <a:noFill/>
          </a:ln>
        </p:spPr>
      </p:pic>
      <p:sp>
        <p:nvSpPr>
          <p:cNvPr id="636" name="Google Shape;636;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37" name="Google Shape;637;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38" name="Google Shape;638;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sp>
        <p:nvSpPr>
          <p:cNvPr id="644" name="Google Shape;644;p58"/>
          <p:cNvSpPr/>
          <p:nvPr/>
        </p:nvSpPr>
        <p:spPr>
          <a:xfrm>
            <a:off x="228600" y="1295400"/>
            <a:ext cx="8153400"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Single Buffer</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Input transfers are made to the system buffer.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When the transfer is complete, the </a:t>
            </a:r>
            <a:r>
              <a:rPr lang="en-US" sz="2400">
                <a:solidFill>
                  <a:srgbClr val="0070C0"/>
                </a:solidFill>
                <a:latin typeface="Calibri"/>
                <a:ea typeface="Calibri"/>
                <a:cs typeface="Calibri"/>
                <a:sym typeface="Calibri"/>
              </a:rPr>
              <a:t>process moves the block into user space </a:t>
            </a:r>
            <a:r>
              <a:rPr lang="en-US" sz="2400">
                <a:solidFill>
                  <a:schemeClr val="dk1"/>
                </a:solidFill>
                <a:latin typeface="Calibri"/>
                <a:ea typeface="Calibri"/>
                <a:cs typeface="Calibri"/>
                <a:sym typeface="Calibri"/>
              </a:rPr>
              <a:t>and immediately requests another block. </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is called </a:t>
            </a:r>
            <a:r>
              <a:rPr lang="en-US" sz="2400">
                <a:solidFill>
                  <a:srgbClr val="0070C0"/>
                </a:solidFill>
                <a:latin typeface="Calibri"/>
                <a:ea typeface="Calibri"/>
                <a:cs typeface="Calibri"/>
                <a:sym typeface="Calibri"/>
              </a:rPr>
              <a:t>reading ahead</a:t>
            </a:r>
            <a:r>
              <a:rPr lang="en-US" sz="2400">
                <a:solidFill>
                  <a:schemeClr val="dk1"/>
                </a:solidFill>
                <a:latin typeface="Calibri"/>
                <a:ea typeface="Calibri"/>
                <a:cs typeface="Calibri"/>
                <a:sym typeface="Calibri"/>
              </a:rPr>
              <a:t>, or anticipated input; </a:t>
            </a:r>
            <a:endParaRPr/>
          </a:p>
        </p:txBody>
      </p:sp>
      <p:pic>
        <p:nvPicPr>
          <p:cNvPr id="645" name="Google Shape;645;p58"/>
          <p:cNvPicPr preferRelativeResize="0"/>
          <p:nvPr/>
        </p:nvPicPr>
        <p:blipFill rotWithShape="1">
          <a:blip r:embed="rId3">
            <a:alphaModFix/>
          </a:blip>
          <a:srcRect b="41143" l="38598" r="31616" t="41865"/>
          <a:stretch/>
        </p:blipFill>
        <p:spPr>
          <a:xfrm>
            <a:off x="1676400" y="4114800"/>
            <a:ext cx="5105400" cy="2057400"/>
          </a:xfrm>
          <a:prstGeom prst="rect">
            <a:avLst/>
          </a:prstGeom>
          <a:noFill/>
          <a:ln>
            <a:noFill/>
          </a:ln>
        </p:spPr>
      </p:pic>
      <p:sp>
        <p:nvSpPr>
          <p:cNvPr id="646" name="Google Shape;646;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47" name="Google Shape;647;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48" name="Google Shape;648;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sp>
        <p:nvSpPr>
          <p:cNvPr id="654" name="Google Shape;654;p59"/>
          <p:cNvSpPr/>
          <p:nvPr/>
        </p:nvSpPr>
        <p:spPr>
          <a:xfrm>
            <a:off x="228600" y="1295400"/>
            <a:ext cx="86106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Single Buffer</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Done in the expectation that the </a:t>
            </a:r>
            <a:r>
              <a:rPr lang="en-US" sz="2400">
                <a:solidFill>
                  <a:srgbClr val="0070C0"/>
                </a:solidFill>
                <a:latin typeface="Calibri"/>
                <a:ea typeface="Calibri"/>
                <a:cs typeface="Calibri"/>
                <a:sym typeface="Calibri"/>
              </a:rPr>
              <a:t>block will eventually be needed</a:t>
            </a:r>
            <a:r>
              <a:rPr lang="en-US" sz="2400">
                <a:solidFill>
                  <a:schemeClr val="dk1"/>
                </a:solidFill>
                <a:latin typeface="Calibri"/>
                <a:ea typeface="Calibri"/>
                <a:cs typeface="Calibri"/>
                <a:sym typeface="Calibri"/>
              </a:rPr>
              <a:t>.</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This approach provides a speedup compared to no buffering.</a:t>
            </a:r>
            <a:endParaRPr b="1" sz="2400">
              <a:solidFill>
                <a:schemeClr val="dk1"/>
              </a:solidFill>
              <a:latin typeface="Calibri"/>
              <a:ea typeface="Calibri"/>
              <a:cs typeface="Calibri"/>
              <a:sym typeface="Calibri"/>
            </a:endParaRPr>
          </a:p>
        </p:txBody>
      </p:sp>
      <p:pic>
        <p:nvPicPr>
          <p:cNvPr id="655" name="Google Shape;655;p59"/>
          <p:cNvPicPr preferRelativeResize="0"/>
          <p:nvPr/>
        </p:nvPicPr>
        <p:blipFill rotWithShape="1">
          <a:blip r:embed="rId3">
            <a:alphaModFix/>
          </a:blip>
          <a:srcRect b="41143" l="38598" r="31616" t="41865"/>
          <a:stretch/>
        </p:blipFill>
        <p:spPr>
          <a:xfrm>
            <a:off x="2057400" y="3962400"/>
            <a:ext cx="4724400" cy="1828800"/>
          </a:xfrm>
          <a:prstGeom prst="rect">
            <a:avLst/>
          </a:prstGeom>
          <a:noFill/>
          <a:ln>
            <a:noFill/>
          </a:ln>
        </p:spPr>
      </p:pic>
      <p:sp>
        <p:nvSpPr>
          <p:cNvPr id="656" name="Google Shape;656;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57" name="Google Shape;657;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58" name="Google Shape;658;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sp>
        <p:nvSpPr>
          <p:cNvPr id="664" name="Google Shape;664;p60"/>
          <p:cNvSpPr/>
          <p:nvPr/>
        </p:nvSpPr>
        <p:spPr>
          <a:xfrm>
            <a:off x="533400" y="1219200"/>
            <a:ext cx="78486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Double Buffer</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Assigning </a:t>
            </a:r>
            <a:r>
              <a:rPr lang="en-US" sz="2400">
                <a:solidFill>
                  <a:srgbClr val="0070C0"/>
                </a:solidFill>
                <a:latin typeface="Calibri"/>
                <a:ea typeface="Calibri"/>
                <a:cs typeface="Calibri"/>
                <a:sym typeface="Calibri"/>
              </a:rPr>
              <a:t>two system buffers</a:t>
            </a:r>
            <a:r>
              <a:rPr lang="en-US" sz="2400">
                <a:solidFill>
                  <a:schemeClr val="dk1"/>
                </a:solidFill>
                <a:latin typeface="Calibri"/>
                <a:ea typeface="Calibri"/>
                <a:cs typeface="Calibri"/>
                <a:sym typeface="Calibri"/>
              </a:rPr>
              <a:t> to the operation </a:t>
            </a:r>
            <a:endParaRPr sz="24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 process now transfers </a:t>
            </a:r>
            <a:r>
              <a:rPr b="0" i="0" lang="en-US" sz="2400" u="none" cap="none" strike="noStrike">
                <a:solidFill>
                  <a:srgbClr val="0070C0"/>
                </a:solidFill>
                <a:latin typeface="Calibri"/>
                <a:ea typeface="Calibri"/>
                <a:cs typeface="Calibri"/>
                <a:sym typeface="Calibri"/>
              </a:rPr>
              <a:t>data to (or from) one buffer</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while the </a:t>
            </a:r>
            <a:r>
              <a:rPr b="0" i="0" lang="en-US" sz="2400" u="none" cap="none" strike="noStrike">
                <a:solidFill>
                  <a:srgbClr val="0070C0"/>
                </a:solidFill>
                <a:latin typeface="Calibri"/>
                <a:ea typeface="Calibri"/>
                <a:cs typeface="Calibri"/>
                <a:sym typeface="Calibri"/>
              </a:rPr>
              <a:t>operating system empties (or fills) the other</a:t>
            </a:r>
            <a:r>
              <a:rPr b="0" i="0" lang="en-US" sz="24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Known as </a:t>
            </a:r>
            <a:r>
              <a:rPr b="1" lang="en-US" sz="2400">
                <a:solidFill>
                  <a:schemeClr val="dk1"/>
                </a:solidFill>
                <a:latin typeface="Calibri"/>
                <a:ea typeface="Calibri"/>
                <a:cs typeface="Calibri"/>
                <a:sym typeface="Calibri"/>
              </a:rPr>
              <a:t>buffer swapping </a:t>
            </a:r>
            <a:r>
              <a:rPr lang="en-US" sz="2400">
                <a:solidFill>
                  <a:schemeClr val="dk1"/>
                </a:solidFill>
                <a:latin typeface="Calibri"/>
                <a:ea typeface="Calibri"/>
                <a:cs typeface="Calibri"/>
                <a:sym typeface="Calibri"/>
              </a:rPr>
              <a:t>.</a:t>
            </a:r>
            <a:endParaRPr b="1"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p:txBody>
      </p:sp>
      <p:pic>
        <p:nvPicPr>
          <p:cNvPr id="665" name="Google Shape;665;p60"/>
          <p:cNvPicPr preferRelativeResize="0"/>
          <p:nvPr/>
        </p:nvPicPr>
        <p:blipFill rotWithShape="1">
          <a:blip r:embed="rId3">
            <a:alphaModFix/>
          </a:blip>
          <a:srcRect b="26586" l="38598" r="31616" t="58668"/>
          <a:stretch/>
        </p:blipFill>
        <p:spPr>
          <a:xfrm>
            <a:off x="685800" y="3810000"/>
            <a:ext cx="6629400" cy="2133600"/>
          </a:xfrm>
          <a:prstGeom prst="rect">
            <a:avLst/>
          </a:prstGeom>
          <a:noFill/>
          <a:ln>
            <a:noFill/>
          </a:ln>
        </p:spPr>
      </p:pic>
      <p:sp>
        <p:nvSpPr>
          <p:cNvPr id="666" name="Google Shape;666;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67" name="Google Shape;667;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68" name="Google Shape;668;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sp>
        <p:nvSpPr>
          <p:cNvPr id="674" name="Google Shape;674;p61"/>
          <p:cNvSpPr/>
          <p:nvPr/>
        </p:nvSpPr>
        <p:spPr>
          <a:xfrm>
            <a:off x="381000" y="1371600"/>
            <a:ext cx="8153400"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Circular Buffer</a:t>
            </a:r>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Double buffering may be </a:t>
            </a:r>
            <a:r>
              <a:rPr b="1" lang="en-US" sz="2400">
                <a:solidFill>
                  <a:schemeClr val="accent1"/>
                </a:solidFill>
                <a:latin typeface="Calibri"/>
                <a:ea typeface="Calibri"/>
                <a:cs typeface="Calibri"/>
                <a:sym typeface="Calibri"/>
              </a:rPr>
              <a:t>inadequate</a:t>
            </a:r>
            <a:r>
              <a:rPr lang="en-US" sz="2400">
                <a:solidFill>
                  <a:schemeClr val="dk1"/>
                </a:solidFill>
                <a:latin typeface="Calibri"/>
                <a:ea typeface="Calibri"/>
                <a:cs typeface="Calibri"/>
                <a:sym typeface="Calibri"/>
              </a:rPr>
              <a:t> if the process performs </a:t>
            </a:r>
            <a:r>
              <a:rPr b="1" lang="en-US" sz="2400">
                <a:solidFill>
                  <a:schemeClr val="accent1"/>
                </a:solidFill>
                <a:latin typeface="Calibri"/>
                <a:ea typeface="Calibri"/>
                <a:cs typeface="Calibri"/>
                <a:sym typeface="Calibri"/>
              </a:rPr>
              <a:t>rapid bursts of I/O</a:t>
            </a:r>
            <a:endParaRPr/>
          </a:p>
          <a:p>
            <a:pPr indent="-133350" lvl="0" marL="285750" marR="0" rtl="0" algn="l">
              <a:spcBef>
                <a:spcPts val="0"/>
              </a:spcBef>
              <a:spcAft>
                <a:spcPts val="0"/>
              </a:spcAft>
              <a:buClr>
                <a:schemeClr val="dk1"/>
              </a:buClr>
              <a:buSzPts val="2400"/>
              <a:buFont typeface="Arial"/>
              <a:buNone/>
            </a:pPr>
            <a:r>
              <a:t/>
            </a:r>
            <a:endParaRPr b="1" sz="2400">
              <a:solidFill>
                <a:schemeClr val="accent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this case, the problem can often be </a:t>
            </a:r>
            <a:r>
              <a:rPr b="1" lang="en-US" sz="2400">
                <a:solidFill>
                  <a:schemeClr val="accent1"/>
                </a:solidFill>
                <a:latin typeface="Calibri"/>
                <a:ea typeface="Calibri"/>
                <a:cs typeface="Calibri"/>
                <a:sym typeface="Calibri"/>
              </a:rPr>
              <a:t>alleviated by using more than two buffers.</a:t>
            </a:r>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675" name="Google Shape;675;p61"/>
          <p:cNvPicPr preferRelativeResize="0"/>
          <p:nvPr/>
        </p:nvPicPr>
        <p:blipFill rotWithShape="1">
          <a:blip r:embed="rId3">
            <a:alphaModFix/>
          </a:blip>
          <a:srcRect b="10118" l="38598" r="31616" t="73819"/>
          <a:stretch/>
        </p:blipFill>
        <p:spPr>
          <a:xfrm>
            <a:off x="1066800" y="3802513"/>
            <a:ext cx="6019800" cy="1988687"/>
          </a:xfrm>
          <a:prstGeom prst="rect">
            <a:avLst/>
          </a:prstGeom>
          <a:noFill/>
          <a:ln>
            <a:noFill/>
          </a:ln>
        </p:spPr>
      </p:pic>
      <p:sp>
        <p:nvSpPr>
          <p:cNvPr id="676" name="Google Shape;676;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77" name="Google Shape;677;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78" name="Google Shape;678;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sp>
        <p:nvSpPr>
          <p:cNvPr id="684" name="Google Shape;684;p62"/>
          <p:cNvSpPr/>
          <p:nvPr/>
        </p:nvSpPr>
        <p:spPr>
          <a:xfrm>
            <a:off x="353290" y="1143000"/>
            <a:ext cx="8104909"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Circular Buffer</a:t>
            </a:r>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When more than two buffers are used,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collection of buffers is referred to as circular buffer, </a:t>
            </a:r>
            <a:endParaRPr/>
          </a:p>
          <a:p>
            <a:pPr indent="-285750" lvl="1" marL="742950" marR="0" rtl="0" algn="l">
              <a:spcBef>
                <a:spcPts val="0"/>
              </a:spcBef>
              <a:spcAft>
                <a:spcPts val="0"/>
              </a:spcAft>
              <a:buClr>
                <a:srgbClr val="0070C0"/>
              </a:buClr>
              <a:buSzPts val="2400"/>
              <a:buFont typeface="Arial"/>
              <a:buChar char="•"/>
            </a:pPr>
            <a:r>
              <a:rPr b="0" i="0" lang="en-US" sz="2400" u="none" cap="none" strike="noStrike">
                <a:solidFill>
                  <a:srgbClr val="0070C0"/>
                </a:solidFill>
                <a:latin typeface="Calibri"/>
                <a:ea typeface="Calibri"/>
                <a:cs typeface="Calibri"/>
                <a:sym typeface="Calibri"/>
              </a:rPr>
              <a:t>with each individual buffer being one unit in the circular buffer. </a:t>
            </a:r>
            <a:endParaRPr b="0" i="0" sz="2400" u="none" cap="none" strike="noStrike">
              <a:solidFill>
                <a:srgbClr val="0070C0"/>
              </a:solidFill>
              <a:latin typeface="Calibri"/>
              <a:ea typeface="Calibri"/>
              <a:cs typeface="Calibri"/>
              <a:sym typeface="Calibri"/>
            </a:endParaRPr>
          </a:p>
          <a:p>
            <a:pPr indent="-285750" lvl="1" marL="74295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This is simply the bounded-buffer producer/consumer model</a:t>
            </a:r>
            <a:endParaRPr b="1" i="0" sz="2400" u="none" cap="none" strike="noStrike">
              <a:solidFill>
                <a:schemeClr val="dk1"/>
              </a:solidFill>
              <a:latin typeface="Calibri"/>
              <a:ea typeface="Calibri"/>
              <a:cs typeface="Calibri"/>
              <a:sym typeface="Calibri"/>
            </a:endParaRPr>
          </a:p>
        </p:txBody>
      </p:sp>
      <p:sp>
        <p:nvSpPr>
          <p:cNvPr id="685" name="Google Shape;685;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686" name="Google Shape;686;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87" name="Google Shape;687;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88" name="Google Shape;688;p62"/>
          <p:cNvPicPr preferRelativeResize="0"/>
          <p:nvPr/>
        </p:nvPicPr>
        <p:blipFill rotWithShape="1">
          <a:blip r:embed="rId3">
            <a:alphaModFix/>
          </a:blip>
          <a:srcRect b="10118" l="38598" r="31616" t="73819"/>
          <a:stretch/>
        </p:blipFill>
        <p:spPr>
          <a:xfrm>
            <a:off x="1066800" y="4343400"/>
            <a:ext cx="6019800" cy="1988687"/>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g318bca833b6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695" name="Google Shape;695;g318bca833b6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696" name="Google Shape;696;g318bca833b6_0_0"/>
          <p:cNvSpPr txBox="1"/>
          <p:nvPr/>
        </p:nvSpPr>
        <p:spPr>
          <a:xfrm>
            <a:off x="2143650" y="1854000"/>
            <a:ext cx="4856700" cy="150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100">
                <a:solidFill>
                  <a:schemeClr val="dk1"/>
                </a:solidFill>
              </a:rPr>
              <a:t>I/O buffering</a:t>
            </a:r>
            <a:r>
              <a:rPr lang="en-US" sz="1100">
                <a:solidFill>
                  <a:schemeClr val="dk1"/>
                </a:solidFill>
              </a:rPr>
              <a:t> is the process of temporarily storing data in memory (a buffer) during input/output operations.</a:t>
            </a:r>
            <a:endParaRPr sz="1100">
              <a:solidFill>
                <a:schemeClr val="dk1"/>
              </a:solidFill>
            </a:endParaRPr>
          </a:p>
          <a:p>
            <a:pPr indent="-298450" lvl="0" marL="457200" rtl="0" algn="l">
              <a:lnSpc>
                <a:spcPct val="115000"/>
              </a:lnSpc>
              <a:spcBef>
                <a:spcPts val="1400"/>
              </a:spcBef>
              <a:spcAft>
                <a:spcPts val="0"/>
              </a:spcAft>
              <a:buClr>
                <a:schemeClr val="dk1"/>
              </a:buClr>
              <a:buSzPts val="1100"/>
              <a:buChar char="●"/>
            </a:pPr>
            <a:r>
              <a:rPr lang="en-US" sz="1100">
                <a:solidFill>
                  <a:schemeClr val="dk1"/>
                </a:solidFill>
              </a:rPr>
              <a:t>It helps coordinate </a:t>
            </a:r>
            <a:r>
              <a:rPr b="1" lang="en-US" sz="1100">
                <a:solidFill>
                  <a:schemeClr val="dk1"/>
                </a:solidFill>
              </a:rPr>
              <a:t>slow I/O devices</a:t>
            </a:r>
            <a:r>
              <a:rPr lang="en-US" sz="1100">
                <a:solidFill>
                  <a:schemeClr val="dk1"/>
                </a:solidFill>
              </a:rPr>
              <a:t> (e.g., disks, networks) with </a:t>
            </a:r>
            <a:r>
              <a:rPr b="1" lang="en-US" sz="1100">
                <a:solidFill>
                  <a:schemeClr val="dk1"/>
                </a:solidFill>
              </a:rPr>
              <a:t>faster processors</a:t>
            </a:r>
            <a:r>
              <a:rPr lang="en-US"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 buffer ensures the CPU and I/O devices can work efficiently without waiting for each other.</a:t>
            </a:r>
            <a:endParaRPr sz="1100">
              <a:solidFill>
                <a:schemeClr val="dk1"/>
              </a:solidFill>
            </a:endParaRPr>
          </a:p>
        </p:txBody>
      </p:sp>
      <p:sp>
        <p:nvSpPr>
          <p:cNvPr id="697" name="Google Shape;697;g318bca833b6_0_0"/>
          <p:cNvSpPr txBox="1"/>
          <p:nvPr/>
        </p:nvSpPr>
        <p:spPr>
          <a:xfrm>
            <a:off x="2218200" y="3698075"/>
            <a:ext cx="4563600" cy="232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Why is I/O Buffering Needed?</a:t>
            </a:r>
            <a:endParaRPr b="1" sz="1300">
              <a:solidFill>
                <a:schemeClr val="dk1"/>
              </a:solidFill>
            </a:endParaRPr>
          </a:p>
          <a:p>
            <a:pPr indent="-298450" lvl="0" marL="457200" rtl="0" algn="l">
              <a:lnSpc>
                <a:spcPct val="115000"/>
              </a:lnSpc>
              <a:spcBef>
                <a:spcPts val="1400"/>
              </a:spcBef>
              <a:spcAft>
                <a:spcPts val="0"/>
              </a:spcAft>
              <a:buClr>
                <a:schemeClr val="dk1"/>
              </a:buClr>
              <a:buSzPts val="1100"/>
              <a:buAutoNum type="arabicPeriod"/>
            </a:pPr>
            <a:r>
              <a:rPr b="1" lang="en-US" sz="1100">
                <a:solidFill>
                  <a:schemeClr val="dk1"/>
                </a:solidFill>
              </a:rPr>
              <a:t>Speed Mismatch</a:t>
            </a:r>
            <a:r>
              <a:rPr lang="en-US"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CPU is much faster than I/O devices. Buffering allows the CPU to continue working while the slower I/O device processes data.</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Data Integrity</a:t>
            </a:r>
            <a:r>
              <a:rPr lang="en-US"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Protects data during transfer between devices with different speeds or priorities.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Efficient Resource Utilization</a:t>
            </a:r>
            <a:r>
              <a:rPr lang="en-US"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Reduces idle time of the CPU and I/O devices.</a:t>
            </a:r>
            <a:endParaRPr sz="1100">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18bca833b6_0_1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704" name="Google Shape;704;g318bca833b6_0_1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705" name="Google Shape;705;g318bca833b6_0_12"/>
          <p:cNvSpPr txBox="1"/>
          <p:nvPr/>
        </p:nvSpPr>
        <p:spPr>
          <a:xfrm>
            <a:off x="374550" y="1891150"/>
            <a:ext cx="8394900" cy="426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Types of Buffering</a:t>
            </a:r>
            <a:endParaRPr b="1" sz="1300">
              <a:solidFill>
                <a:schemeClr val="dk1"/>
              </a:solidFill>
            </a:endParaRPr>
          </a:p>
          <a:p>
            <a:pPr indent="-298450" lvl="0" marL="457200" rtl="0" algn="l">
              <a:lnSpc>
                <a:spcPct val="115000"/>
              </a:lnSpc>
              <a:spcBef>
                <a:spcPts val="1400"/>
              </a:spcBef>
              <a:spcAft>
                <a:spcPts val="0"/>
              </a:spcAft>
              <a:buClr>
                <a:schemeClr val="dk1"/>
              </a:buClr>
              <a:buSzPts val="1100"/>
              <a:buAutoNum type="arabicPeriod"/>
            </a:pPr>
            <a:r>
              <a:rPr b="1" lang="en-US" sz="1100">
                <a:solidFill>
                  <a:schemeClr val="dk1"/>
                </a:solidFill>
              </a:rPr>
              <a:t>No Buffering</a:t>
            </a:r>
            <a:r>
              <a:rPr lang="en-US"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Data is directly transferred between the process and the I/O device.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Drawbacks</a:t>
            </a:r>
            <a:r>
              <a:rPr lang="en-US" sz="1100">
                <a:solidFill>
                  <a:schemeClr val="dk1"/>
                </a:solidFill>
              </a:rPr>
              <a:t>:</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US" sz="1100">
                <a:solidFill>
                  <a:schemeClr val="dk1"/>
                </a:solidFill>
              </a:rPr>
              <a:t>CPU must wait for I/O to complete (inefficient).</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US" sz="1100">
                <a:solidFill>
                  <a:schemeClr val="dk1"/>
                </a:solidFill>
              </a:rPr>
              <a:t>Risk of data corruption if multiple processes access the device simultaneously.</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Single Buffering</a:t>
            </a:r>
            <a:r>
              <a:rPr lang="en-US"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A single buffer is used between the process and the I/O device.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While the buffer is being filled (input) or emptied (output), the CPU can perform other tasks.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Limitation</a:t>
            </a:r>
            <a:r>
              <a:rPr lang="en-US" sz="1100">
                <a:solidFill>
                  <a:schemeClr val="dk1"/>
                </a:solidFill>
              </a:rPr>
              <a:t>: Still causes some idle time when the buffer is processed.</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Double Buffering</a:t>
            </a:r>
            <a:r>
              <a:rPr lang="en-US"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Two buffers are used alternately.</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While one buffer is being filled, the other is processed by the CPU or device.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Advantages</a:t>
            </a:r>
            <a:r>
              <a:rPr lang="en-US" sz="1100">
                <a:solidFill>
                  <a:schemeClr val="dk1"/>
                </a:solidFill>
              </a:rPr>
              <a:t>: Reduces idle time and ensures smoother data flow.</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Circular Buffering</a:t>
            </a:r>
            <a:r>
              <a:rPr lang="en-US"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A </a:t>
            </a:r>
            <a:r>
              <a:rPr b="1" lang="en-US" sz="1100">
                <a:solidFill>
                  <a:schemeClr val="dk1"/>
                </a:solidFill>
              </a:rPr>
              <a:t>fixed-size queue</a:t>
            </a:r>
            <a:r>
              <a:rPr lang="en-US" sz="1100">
                <a:solidFill>
                  <a:schemeClr val="dk1"/>
                </a:solidFill>
              </a:rPr>
              <a:t> of multiple buffers (more than two) used cyclically.</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When one buffer is filled, the next one is used.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Advantages</a:t>
            </a:r>
            <a:r>
              <a:rPr lang="en-US" sz="1100">
                <a:solidFill>
                  <a:schemeClr val="dk1"/>
                </a:solidFill>
              </a:rPr>
              <a:t>:</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US" sz="1100">
                <a:solidFill>
                  <a:schemeClr val="dk1"/>
                </a:solidFill>
              </a:rPr>
              <a:t>Handles bursts of data more efficiently.</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US" sz="1100">
                <a:solidFill>
                  <a:schemeClr val="dk1"/>
                </a:solidFill>
              </a:rPr>
              <a:t>Suitable for high-speed devices or streaming data (e.g., video).</a:t>
            </a:r>
            <a:endParaRPr sz="1100">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sp>
        <p:nvSpPr>
          <p:cNvPr id="711" name="Google Shape;711;p63"/>
          <p:cNvSpPr/>
          <p:nvPr/>
        </p:nvSpPr>
        <p:spPr>
          <a:xfrm>
            <a:off x="914400" y="1752600"/>
            <a:ext cx="73914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The Utility of Buffering</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Buffering is a technique that </a:t>
            </a:r>
            <a:r>
              <a:rPr b="1" lang="en-US" sz="2400">
                <a:solidFill>
                  <a:schemeClr val="accent1"/>
                </a:solidFill>
                <a:latin typeface="Calibri"/>
                <a:ea typeface="Calibri"/>
                <a:cs typeface="Calibri"/>
                <a:sym typeface="Calibri"/>
              </a:rPr>
              <a:t>smoothes out peaks in I/O demand. </a:t>
            </a:r>
            <a:endParaRPr b="1" sz="2400">
              <a:solidFill>
                <a:schemeClr val="accent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No amount of buffering will allow an I/O device to keep pace with a process indefinitely </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when the </a:t>
            </a:r>
            <a:r>
              <a:rPr b="1" i="0" lang="en-US" sz="2400" u="none" cap="none" strike="noStrike">
                <a:solidFill>
                  <a:schemeClr val="accent1"/>
                </a:solidFill>
                <a:latin typeface="Calibri"/>
                <a:ea typeface="Calibri"/>
                <a:cs typeface="Calibri"/>
                <a:sym typeface="Calibri"/>
              </a:rPr>
              <a:t>average demand of the process is greater than the I/O device can service</a:t>
            </a:r>
            <a:endParaRPr b="1" i="0" sz="2400" u="none" cap="none" strike="noStrike">
              <a:solidFill>
                <a:schemeClr val="accent1"/>
              </a:solidFill>
              <a:latin typeface="Calibri"/>
              <a:ea typeface="Calibri"/>
              <a:cs typeface="Calibri"/>
              <a:sym typeface="Calibri"/>
            </a:endParaRPr>
          </a:p>
          <a:p>
            <a:pPr indent="-342900" lvl="1" marL="800100" marR="0" rtl="0" algn="l">
              <a:spcBef>
                <a:spcPts val="0"/>
              </a:spcBef>
              <a:spcAft>
                <a:spcPts val="0"/>
              </a:spcAft>
              <a:buClr>
                <a:schemeClr val="accent1"/>
              </a:buClr>
              <a:buSzPts val="2400"/>
              <a:buFont typeface="Arial"/>
              <a:buChar char="•"/>
            </a:pPr>
            <a:r>
              <a:rPr b="1" i="0" lang="en-US" sz="2400" u="none" cap="none" strike="noStrike">
                <a:solidFill>
                  <a:schemeClr val="accent1"/>
                </a:solidFill>
                <a:latin typeface="Calibri"/>
                <a:ea typeface="Calibri"/>
                <a:cs typeface="Calibri"/>
                <a:sym typeface="Calibri"/>
              </a:rPr>
              <a:t>Why??</a:t>
            </a:r>
            <a:endParaRPr/>
          </a:p>
          <a:p>
            <a:pPr indent="0" lvl="0" marL="0" marR="0" rtl="0" algn="l">
              <a:spcBef>
                <a:spcPts val="0"/>
              </a:spcBef>
              <a:spcAft>
                <a:spcPts val="0"/>
              </a:spcAft>
              <a:buNone/>
            </a:pPr>
            <a:r>
              <a:t/>
            </a:r>
            <a:endParaRPr b="1" sz="2400">
              <a:solidFill>
                <a:schemeClr val="accent1"/>
              </a:solidFill>
              <a:latin typeface="Calibri"/>
              <a:ea typeface="Calibri"/>
              <a:cs typeface="Calibri"/>
              <a:sym typeface="Calibri"/>
            </a:endParaRPr>
          </a:p>
        </p:txBody>
      </p:sp>
      <p:sp>
        <p:nvSpPr>
          <p:cNvPr id="712" name="Google Shape;712;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713" name="Google Shape;713;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14" name="Google Shape;714;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I/O BUFFERING</a:t>
            </a:r>
            <a:endParaRPr/>
          </a:p>
        </p:txBody>
      </p:sp>
      <p:sp>
        <p:nvSpPr>
          <p:cNvPr id="720" name="Google Shape;720;p64"/>
          <p:cNvSpPr/>
          <p:nvPr/>
        </p:nvSpPr>
        <p:spPr>
          <a:xfrm>
            <a:off x="914400" y="1752600"/>
            <a:ext cx="7391400" cy="341632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Even with multiple buffers, </a:t>
            </a:r>
            <a:endParaRPr sz="24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all of the buffers will eventually fill up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process will have to wait after processing each chunk of data. </a:t>
            </a:r>
            <a:endParaRPr b="0" i="0" sz="2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a multiprogramming environment, </a:t>
            </a:r>
            <a:endParaRPr sz="24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Variety of I/O activity</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Variety of process activity to service,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accent1"/>
              </a:buClr>
              <a:buSzPts val="2400"/>
              <a:buFont typeface="Arial"/>
              <a:buChar char="•"/>
            </a:pPr>
            <a:r>
              <a:rPr b="1" i="0" lang="en-US" sz="2400" u="none" cap="none" strike="noStrike">
                <a:solidFill>
                  <a:schemeClr val="accent1"/>
                </a:solidFill>
                <a:latin typeface="Calibri"/>
                <a:ea typeface="Calibri"/>
                <a:cs typeface="Calibri"/>
                <a:sym typeface="Calibri"/>
              </a:rPr>
              <a:t>buffering can increase the efficiency of the OS and the performance of individual processes.</a:t>
            </a:r>
            <a:endParaRPr/>
          </a:p>
        </p:txBody>
      </p:sp>
      <p:sp>
        <p:nvSpPr>
          <p:cNvPr id="721" name="Google Shape;72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10/19/2023</a:t>
            </a:r>
            <a:endParaRPr/>
          </a:p>
        </p:txBody>
      </p:sp>
      <p:sp>
        <p:nvSpPr>
          <p:cNvPr id="722" name="Google Shape;722;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23" name="Google Shape;72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2020-10-17T08:13:22Z</dcterms:created>
  <dc:creator>Admin</dc:creator>
</cp:coreProperties>
</file>
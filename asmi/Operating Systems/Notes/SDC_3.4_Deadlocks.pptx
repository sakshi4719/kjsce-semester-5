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Lst>
  <p:sldSz cy="6858000" cx="9144000"/>
  <p:notesSz cx="6858000" cy="9144000"/>
  <p:embeddedFontLst>
    <p:embeddedFont>
      <p:font typeface="Helvetica Neue"/>
      <p:regular r:id="rId136"/>
      <p:bold r:id="rId137"/>
      <p:italic r:id="rId138"/>
      <p:boldItalic r:id="rId1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40" roundtripDataSignature="AMtx7mghtPxNXAbnPMlY/E2lKpS/QV48Mg=="/>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Sakshi Raut"/>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1577878-F0BF-430C-8C56-D3E61FE2EFA2}">
  <a:tblStyle styleId="{81577878-F0BF-430C-8C56-D3E61FE2EFA2}" styleName="Table_0">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9" Type="http://schemas.openxmlformats.org/officeDocument/2006/relationships/slide" Target="slides/slide102.xml"/><Relationship Id="rId108" Type="http://schemas.openxmlformats.org/officeDocument/2006/relationships/slide" Target="slides/slide101.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29" Type="http://schemas.openxmlformats.org/officeDocument/2006/relationships/slide" Target="slides/slide122.xml"/><Relationship Id="rId128" Type="http://schemas.openxmlformats.org/officeDocument/2006/relationships/slide" Target="slides/slide121.xml"/><Relationship Id="rId127" Type="http://schemas.openxmlformats.org/officeDocument/2006/relationships/slide" Target="slides/slide120.xml"/><Relationship Id="rId126" Type="http://schemas.openxmlformats.org/officeDocument/2006/relationships/slide" Target="slides/slide119.xml"/><Relationship Id="rId26" Type="http://schemas.openxmlformats.org/officeDocument/2006/relationships/slide" Target="slides/slide19.xml"/><Relationship Id="rId121" Type="http://schemas.openxmlformats.org/officeDocument/2006/relationships/slide" Target="slides/slide114.xml"/><Relationship Id="rId25" Type="http://schemas.openxmlformats.org/officeDocument/2006/relationships/slide" Target="slides/slide18.xml"/><Relationship Id="rId120" Type="http://schemas.openxmlformats.org/officeDocument/2006/relationships/slide" Target="slides/slide113.xml"/><Relationship Id="rId28" Type="http://schemas.openxmlformats.org/officeDocument/2006/relationships/slide" Target="slides/slide21.xml"/><Relationship Id="rId27" Type="http://schemas.openxmlformats.org/officeDocument/2006/relationships/slide" Target="slides/slide20.xml"/><Relationship Id="rId125" Type="http://schemas.openxmlformats.org/officeDocument/2006/relationships/slide" Target="slides/slide118.xml"/><Relationship Id="rId29" Type="http://schemas.openxmlformats.org/officeDocument/2006/relationships/slide" Target="slides/slide22.xml"/><Relationship Id="rId124" Type="http://schemas.openxmlformats.org/officeDocument/2006/relationships/slide" Target="slides/slide117.xml"/><Relationship Id="rId123" Type="http://schemas.openxmlformats.org/officeDocument/2006/relationships/slide" Target="slides/slide116.xml"/><Relationship Id="rId122" Type="http://schemas.openxmlformats.org/officeDocument/2006/relationships/slide" Target="slides/slide115.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slide" Target="slides/slide111.xml"/><Relationship Id="rId117" Type="http://schemas.openxmlformats.org/officeDocument/2006/relationships/slide" Target="slides/slide110.xml"/><Relationship Id="rId116" Type="http://schemas.openxmlformats.org/officeDocument/2006/relationships/slide" Target="slides/slide109.xml"/><Relationship Id="rId115" Type="http://schemas.openxmlformats.org/officeDocument/2006/relationships/slide" Target="slides/slide108.xml"/><Relationship Id="rId119" Type="http://schemas.openxmlformats.org/officeDocument/2006/relationships/slide" Target="slides/slide112.xml"/><Relationship Id="rId15" Type="http://schemas.openxmlformats.org/officeDocument/2006/relationships/slide" Target="slides/slide8.xml"/><Relationship Id="rId110" Type="http://schemas.openxmlformats.org/officeDocument/2006/relationships/slide" Target="slides/slide103.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slide" Target="slides/slide107.xml"/><Relationship Id="rId18" Type="http://schemas.openxmlformats.org/officeDocument/2006/relationships/slide" Target="slides/slide11.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40" Type="http://customschemas.google.com/relationships/presentationmetadata" Target="metadata"/><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139" Type="http://schemas.openxmlformats.org/officeDocument/2006/relationships/font" Target="fonts/HelveticaNeue-boldItalic.fntdata"/><Relationship Id="rId138" Type="http://schemas.openxmlformats.org/officeDocument/2006/relationships/font" Target="fonts/HelveticaNeue-italic.fntdata"/><Relationship Id="rId137" Type="http://schemas.openxmlformats.org/officeDocument/2006/relationships/font" Target="fonts/HelveticaNeue-bold.fntdata"/><Relationship Id="rId132" Type="http://schemas.openxmlformats.org/officeDocument/2006/relationships/slide" Target="slides/slide125.xml"/><Relationship Id="rId131" Type="http://schemas.openxmlformats.org/officeDocument/2006/relationships/slide" Target="slides/slide124.xml"/><Relationship Id="rId130" Type="http://schemas.openxmlformats.org/officeDocument/2006/relationships/slide" Target="slides/slide123.xml"/><Relationship Id="rId136" Type="http://schemas.openxmlformats.org/officeDocument/2006/relationships/font" Target="fonts/HelveticaNeue-regular.fntdata"/><Relationship Id="rId135" Type="http://schemas.openxmlformats.org/officeDocument/2006/relationships/slide" Target="slides/slide128.xml"/><Relationship Id="rId134" Type="http://schemas.openxmlformats.org/officeDocument/2006/relationships/slide" Target="slides/slide127.xml"/><Relationship Id="rId133" Type="http://schemas.openxmlformats.org/officeDocument/2006/relationships/slide" Target="slides/slide126.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4-11-09T10:44:10.579">
    <p:pos x="480" y="0"/>
    <p:text>DINT GET</p:text>
    <p:extLst>
      <p:ext uri="{C676402C-5697-4E1C-873F-D02D1690AC5C}">
        <p15:threadingInfo timeZoneBias="0"/>
      </p:ext>
      <p:ext uri="http://customooxmlschemas.google.com/">
        <go:slidesCustomData xmlns:go="http://customooxmlschemas.google.com/" commentPostId="AAABYTG3JP4"/>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95" name="Google Shape;9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05" name="Google Shape;105;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15" name="Google Shape;11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25" name="Google Shape;12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 name="Google Shape;126;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35" name="Google Shape;13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81" name="Google Shape;18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92" name="Google Shape;19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 name="Google Shape;193;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03" name="Google Shape;20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 name="Google Shape;204;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14" name="Google Shape;21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24" name="Google Shape;22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35" name="Google Shape;235;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6" name="Google Shape;236;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46" name="Google Shape;24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 name="Google Shape;247;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63" name="Google Shape;26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91" name="Google Shape;29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2" name="Google Shape;292;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19" name="Google Shape;319;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 name="Google Shape;320;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29" name="Google Shape;329;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40" name="Google Shape;340;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51" name="Google Shape;351;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61" name="Google Shape;361;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 name="Google Shape;362;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74" name="Google Shape;374;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5" name="Google Shape;375;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87" name="Google Shape;387;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400" name="Google Shape;400;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1" name="Google Shape;401;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411" name="Google Shape;411;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2" name="Google Shape;412;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422" name="Google Shape;422;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3" name="Google Shape;423;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432" name="Google Shape;432;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442" name="Google Shape;442;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3" name="Google Shape;443;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452" name="Google Shape;452;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3" name="Google Shape;453;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461" name="Google Shape;461;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2" name="Google Shape;462;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472" name="Google Shape;472;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3" name="Google Shape;473;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483" name="Google Shape;483;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4" name="Google Shape;484;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494" name="Google Shape;494;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5" name="Google Shape;495;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505" name="Google Shape;505;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6" name="Google Shape;506;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516" name="Google Shape;516;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7" name="Google Shape;517;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527" name="Google Shape;527;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8" name="Google Shape;528;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538" name="Google Shape;538;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9" name="Google Shape;539;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549" name="Google Shape;549;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0" name="Google Shape;550;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560" name="Google Shape;560;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1" name="Google Shape;561;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571" name="Google Shape;571;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2" name="Google Shape;572;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581" name="Google Shape;581;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2" name="Google Shape;582;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591" name="Google Shape;591;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2" name="Google Shape;592;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01" name="Google Shape;601;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2" name="Google Shape;602;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11" name="Google Shape;611;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2" name="Google Shape;612;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21" name="Google Shape;621;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2" name="Google Shape;622;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31" name="Google Shape;631;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2" name="Google Shape;632;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41" name="Google Shape;641;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2" name="Google Shape;642;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50" name="Google Shape;650;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1" name="Google Shape;651;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0" name="Google Shape;660;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69" name="Google Shape;669;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0" name="Google Shape;670;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80" name="Google Shape;680;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1" name="Google Shape;681;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90" name="Google Shape;690;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1" name="Google Shape;691;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700" name="Google Shape;700;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1" name="Google Shape;701;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5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710" name="Google Shape;710;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1" name="Google Shape;711;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720" name="Google Shape;720;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1" name="Google Shape;721;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730" name="Google Shape;730;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1" name="Google Shape;731;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6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740" name="Google Shape;740;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1" name="Google Shape;741;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6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750" name="Google Shape;750;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1" name="Google Shape;751;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6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760" name="Google Shape;760;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1" name="Google Shape;761;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6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770" name="Google Shape;770;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1" name="Google Shape;771;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6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780" name="Google Shape;780;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1" name="Google Shape;781;p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6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790" name="Google Shape;790;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1" name="Google Shape;791;p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6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801" name="Google Shape;801;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2" name="Google Shape;802;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6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811" name="Google Shape;811;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2" name="Google Shape;812;p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1" name="Google Shape;821;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6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830" name="Google Shape;830;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1" name="Google Shape;831;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7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841" name="Google Shape;841;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2" name="Google Shape;842;p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7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853" name="Google Shape;853;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4" name="Google Shape;854;p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7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863" name="Google Shape;863;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4" name="Google Shape;864;p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4" name="Google Shape;874;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7" name="Google Shape;887;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0" name="Google Shape;900;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2" name="Google Shape;912;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924" name="Google Shape;924;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5" name="Google Shape;925;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7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934" name="Google Shape;934;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5" name="Google Shape;935;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p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6" name="Google Shape;946;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p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4" name="Google Shape;964;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5" name="Google Shape;975;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p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7" name="Google Shape;987;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p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9" name="Google Shape;999;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p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7" name="Google Shape;1007;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p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6" name="Google Shape;1016;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5" name="Google Shape;1025;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5" name="Google Shape;1035;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6" name="Google Shape;1046;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p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6" name="Google Shape;1056;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p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7" name="Google Shape;1067;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p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8" name="Google Shape;1078;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p9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089" name="Google Shape;1089;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0" name="Google Shape;1090;p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p9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098" name="Google Shape;1098;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9" name="Google Shape;1099;p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p9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108" name="Google Shape;1108;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9" name="Google Shape;1109;p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p9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118" name="Google Shape;1118;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9" name="Google Shape;1119;p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p9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128" name="Google Shape;1128;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9" name="Google Shape;1129;p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p9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138" name="Google Shape;1138;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9" name="Google Shape;1139;p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p9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150" name="Google Shape;1150;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1" name="Google Shape;1151;p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p9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160" name="Google Shape;1160;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1" name="Google Shape;1161;p9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p10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178" name="Google Shape;1178;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9" name="Google Shape;1179;p1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p10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189" name="Google Shape;1189;p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0" name="Google Shape;1190;p1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p1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9" name="Google Shape;1199;p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p10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208" name="Google Shape;1208;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9" name="Google Shape;1209;p1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p10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218" name="Google Shape;1218;p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9" name="Google Shape;1219;p1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p10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231" name="Google Shape;1231;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2" name="Google Shape;1232;p1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p10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244" name="Google Shape;1244;p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5" name="Google Shape;1245;p1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2" name="Shape 1252"/>
        <p:cNvGrpSpPr/>
        <p:nvPr/>
      </p:nvGrpSpPr>
      <p:grpSpPr>
        <a:xfrm>
          <a:off x="0" y="0"/>
          <a:ext cx="0" cy="0"/>
          <a:chOff x="0" y="0"/>
          <a:chExt cx="0" cy="0"/>
        </a:xfrm>
      </p:grpSpPr>
      <p:sp>
        <p:nvSpPr>
          <p:cNvPr id="1253" name="Google Shape;1253;p10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254" name="Google Shape;1254;p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5" name="Google Shape;1255;p1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p10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267" name="Google Shape;1267;p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8" name="Google Shape;1268;p1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p10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280" name="Google Shape;1280;p1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1" name="Google Shape;1281;p1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p1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290" name="Google Shape;1290;p1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1" name="Google Shape;1291;p1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p1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300" name="Google Shape;1300;p1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1" name="Google Shape;1301;p1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8" name="Shape 1308"/>
        <p:cNvGrpSpPr/>
        <p:nvPr/>
      </p:nvGrpSpPr>
      <p:grpSpPr>
        <a:xfrm>
          <a:off x="0" y="0"/>
          <a:ext cx="0" cy="0"/>
          <a:chOff x="0" y="0"/>
          <a:chExt cx="0" cy="0"/>
        </a:xfrm>
      </p:grpSpPr>
      <p:sp>
        <p:nvSpPr>
          <p:cNvPr id="1309" name="Google Shape;1309;p1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310" name="Google Shape;1310;p1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1" name="Google Shape;1311;p1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8" name="Shape 1318"/>
        <p:cNvGrpSpPr/>
        <p:nvPr/>
      </p:nvGrpSpPr>
      <p:grpSpPr>
        <a:xfrm>
          <a:off x="0" y="0"/>
          <a:ext cx="0" cy="0"/>
          <a:chOff x="0" y="0"/>
          <a:chExt cx="0" cy="0"/>
        </a:xfrm>
      </p:grpSpPr>
      <p:sp>
        <p:nvSpPr>
          <p:cNvPr id="1319" name="Google Shape;1319;p1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320" name="Google Shape;1320;p1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1" name="Google Shape;1321;p1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p1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330" name="Google Shape;1330;p1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1" name="Google Shape;1331;p1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p1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340" name="Google Shape;1340;p1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1" name="Google Shape;1341;p1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8" name="Shape 1348"/>
        <p:cNvGrpSpPr/>
        <p:nvPr/>
      </p:nvGrpSpPr>
      <p:grpSpPr>
        <a:xfrm>
          <a:off x="0" y="0"/>
          <a:ext cx="0" cy="0"/>
          <a:chOff x="0" y="0"/>
          <a:chExt cx="0" cy="0"/>
        </a:xfrm>
      </p:grpSpPr>
      <p:sp>
        <p:nvSpPr>
          <p:cNvPr id="1349" name="Google Shape;1349;p1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350" name="Google Shape;1350;p1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1" name="Google Shape;1351;p1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p1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360" name="Google Shape;1360;p1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1" name="Google Shape;1361;p1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p1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370" name="Google Shape;1370;p1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1" name="Google Shape;1371;p1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8" name="Shape 1378"/>
        <p:cNvGrpSpPr/>
        <p:nvPr/>
      </p:nvGrpSpPr>
      <p:grpSpPr>
        <a:xfrm>
          <a:off x="0" y="0"/>
          <a:ext cx="0" cy="0"/>
          <a:chOff x="0" y="0"/>
          <a:chExt cx="0" cy="0"/>
        </a:xfrm>
      </p:grpSpPr>
      <p:sp>
        <p:nvSpPr>
          <p:cNvPr id="1379" name="Google Shape;1379;p1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380" name="Google Shape;1380;p1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1" name="Google Shape;1381;p1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p1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390" name="Google Shape;1390;p1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1" name="Google Shape;1391;p1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p1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400" name="Google Shape;1400;p1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1" name="Google Shape;1401;p1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8" name="Shape 1408"/>
        <p:cNvGrpSpPr/>
        <p:nvPr/>
      </p:nvGrpSpPr>
      <p:grpSpPr>
        <a:xfrm>
          <a:off x="0" y="0"/>
          <a:ext cx="0" cy="0"/>
          <a:chOff x="0" y="0"/>
          <a:chExt cx="0" cy="0"/>
        </a:xfrm>
      </p:grpSpPr>
      <p:sp>
        <p:nvSpPr>
          <p:cNvPr id="1409" name="Google Shape;1409;p1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410" name="Google Shape;1410;p1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1" name="Google Shape;1411;p1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8" name="Shape 1418"/>
        <p:cNvGrpSpPr/>
        <p:nvPr/>
      </p:nvGrpSpPr>
      <p:grpSpPr>
        <a:xfrm>
          <a:off x="0" y="0"/>
          <a:ext cx="0" cy="0"/>
          <a:chOff x="0" y="0"/>
          <a:chExt cx="0" cy="0"/>
        </a:xfrm>
      </p:grpSpPr>
      <p:sp>
        <p:nvSpPr>
          <p:cNvPr id="1419" name="Google Shape;1419;p1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420" name="Google Shape;1420;p1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1" name="Google Shape;1421;p1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8" name="Shape 1428"/>
        <p:cNvGrpSpPr/>
        <p:nvPr/>
      </p:nvGrpSpPr>
      <p:grpSpPr>
        <a:xfrm>
          <a:off x="0" y="0"/>
          <a:ext cx="0" cy="0"/>
          <a:chOff x="0" y="0"/>
          <a:chExt cx="0" cy="0"/>
        </a:xfrm>
      </p:grpSpPr>
      <p:sp>
        <p:nvSpPr>
          <p:cNvPr id="1429" name="Google Shape;1429;p1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430" name="Google Shape;1430;p1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1" name="Google Shape;1431;p1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8" name="Shape 1438"/>
        <p:cNvGrpSpPr/>
        <p:nvPr/>
      </p:nvGrpSpPr>
      <p:grpSpPr>
        <a:xfrm>
          <a:off x="0" y="0"/>
          <a:ext cx="0" cy="0"/>
          <a:chOff x="0" y="0"/>
          <a:chExt cx="0" cy="0"/>
        </a:xfrm>
      </p:grpSpPr>
      <p:sp>
        <p:nvSpPr>
          <p:cNvPr id="1439" name="Google Shape;1439;p1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440" name="Google Shape;1440;p1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1" name="Google Shape;1441;p1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8" name="Shape 1448"/>
        <p:cNvGrpSpPr/>
        <p:nvPr/>
      </p:nvGrpSpPr>
      <p:grpSpPr>
        <a:xfrm>
          <a:off x="0" y="0"/>
          <a:ext cx="0" cy="0"/>
          <a:chOff x="0" y="0"/>
          <a:chExt cx="0" cy="0"/>
        </a:xfrm>
      </p:grpSpPr>
      <p:sp>
        <p:nvSpPr>
          <p:cNvPr id="1449" name="Google Shape;1449;p1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450" name="Google Shape;1450;p1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1" name="Google Shape;1451;p1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8" name="Shape 1458"/>
        <p:cNvGrpSpPr/>
        <p:nvPr/>
      </p:nvGrpSpPr>
      <p:grpSpPr>
        <a:xfrm>
          <a:off x="0" y="0"/>
          <a:ext cx="0" cy="0"/>
          <a:chOff x="0" y="0"/>
          <a:chExt cx="0" cy="0"/>
        </a:xfrm>
      </p:grpSpPr>
      <p:sp>
        <p:nvSpPr>
          <p:cNvPr id="1459" name="Google Shape;1459;p1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460" name="Google Shape;1460;p1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1" name="Google Shape;1461;p1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8" name="Shape 1468"/>
        <p:cNvGrpSpPr/>
        <p:nvPr/>
      </p:nvGrpSpPr>
      <p:grpSpPr>
        <a:xfrm>
          <a:off x="0" y="0"/>
          <a:ext cx="0" cy="0"/>
          <a:chOff x="0" y="0"/>
          <a:chExt cx="0" cy="0"/>
        </a:xfrm>
      </p:grpSpPr>
      <p:sp>
        <p:nvSpPr>
          <p:cNvPr id="1469" name="Google Shape;1469;p1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470" name="Google Shape;1470;p1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1" name="Google Shape;1471;p1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3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3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1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 name="Shape 32"/>
        <p:cNvGrpSpPr/>
        <p:nvPr/>
      </p:nvGrpSpPr>
      <p:grpSpPr>
        <a:xfrm>
          <a:off x="0" y="0"/>
          <a:ext cx="0" cy="0"/>
          <a:chOff x="0" y="0"/>
          <a:chExt cx="0" cy="0"/>
        </a:xfrm>
      </p:grpSpPr>
      <p:sp>
        <p:nvSpPr>
          <p:cNvPr id="33" name="Google Shape;33;p1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3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5" name="Google Shape;35;p13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9" name="Shape 39"/>
        <p:cNvGrpSpPr/>
        <p:nvPr/>
      </p:nvGrpSpPr>
      <p:grpSpPr>
        <a:xfrm>
          <a:off x="0" y="0"/>
          <a:ext cx="0" cy="0"/>
          <a:chOff x="0" y="0"/>
          <a:chExt cx="0" cy="0"/>
        </a:xfrm>
      </p:grpSpPr>
      <p:sp>
        <p:nvSpPr>
          <p:cNvPr id="40" name="Google Shape;40;p13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3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42" name="Google Shape;42;p1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1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8" name="Google Shape;48;p1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9" name="Google Shape;49;p1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0" name="Google Shape;50;p1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1" name="Google Shape;51;p1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3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3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13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1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3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38"/>
          <p:cNvSpPr/>
          <p:nvPr>
            <p:ph idx="2" type="pic"/>
          </p:nvPr>
        </p:nvSpPr>
        <p:spPr>
          <a:xfrm>
            <a:off x="1792288" y="612775"/>
            <a:ext cx="5486400" cy="4114800"/>
          </a:xfrm>
          <a:prstGeom prst="rect">
            <a:avLst/>
          </a:prstGeom>
          <a:noFill/>
          <a:ln>
            <a:noFill/>
          </a:ln>
        </p:spPr>
      </p:sp>
      <p:sp>
        <p:nvSpPr>
          <p:cNvPr id="68" name="Google Shape;68;p13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3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4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4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9.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8.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8.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1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14.png"/><Relationship Id="rId4" Type="http://schemas.openxmlformats.org/officeDocument/2006/relationships/image" Target="../media/image20.png"/><Relationship Id="rId5" Type="http://schemas.openxmlformats.org/officeDocument/2006/relationships/image" Target="../media/image1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14.png"/><Relationship Id="rId4" Type="http://schemas.openxmlformats.org/officeDocument/2006/relationships/image" Target="../media/image20.png"/><Relationship Id="rId5" Type="http://schemas.openxmlformats.org/officeDocument/2006/relationships/image" Target="../media/image1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14.png"/><Relationship Id="rId4" Type="http://schemas.openxmlformats.org/officeDocument/2006/relationships/image" Target="../media/image20.png"/><Relationship Id="rId5" Type="http://schemas.openxmlformats.org/officeDocument/2006/relationships/image" Target="../media/image1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14.png"/><Relationship Id="rId4" Type="http://schemas.openxmlformats.org/officeDocument/2006/relationships/image" Target="../media/image20.png"/><Relationship Id="rId5" Type="http://schemas.openxmlformats.org/officeDocument/2006/relationships/image" Target="../media/image1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comments" Target="../comments/comment1.xml"/><Relationship Id="rId4" Type="http://schemas.openxmlformats.org/officeDocument/2006/relationships/image" Target="../media/image20.png"/><Relationship Id="rId5" Type="http://schemas.openxmlformats.org/officeDocument/2006/relationships/image" Target="../media/image1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1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22.png"/><Relationship Id="rId4" Type="http://schemas.openxmlformats.org/officeDocument/2006/relationships/image" Target="../media/image2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22.png"/><Relationship Id="rId4" Type="http://schemas.openxmlformats.org/officeDocument/2006/relationships/image" Target="../media/image2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22.png"/><Relationship Id="rId4" Type="http://schemas.openxmlformats.org/officeDocument/2006/relationships/image" Target="../media/image23.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18.jp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24.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24.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24.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image" Target="../media/image24.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24.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Deadlocks</a:t>
            </a:r>
            <a:endParaRPr/>
          </a:p>
        </p:txBody>
      </p:sp>
      <p:sp>
        <p:nvSpPr>
          <p:cNvPr id="89" name="Google Shape;89;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t/>
            </a:r>
            <a:endParaRPr/>
          </a:p>
        </p:txBody>
      </p:sp>
      <p:sp>
        <p:nvSpPr>
          <p:cNvPr id="90" name="Google Shape;90;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91" name="Google Shape;91;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92" name="Google Shape;92;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type="title"/>
          </p:nvPr>
        </p:nvSpPr>
        <p:spPr>
          <a:xfrm>
            <a:off x="457200" y="163513"/>
            <a:ext cx="8229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Objectives</a:t>
            </a:r>
            <a:endParaRPr/>
          </a:p>
        </p:txBody>
      </p:sp>
      <p:sp>
        <p:nvSpPr>
          <p:cNvPr id="99" name="Google Shape;99;p2"/>
          <p:cNvSpPr txBox="1"/>
          <p:nvPr>
            <p:ph idx="1" type="body"/>
          </p:nvPr>
        </p:nvSpPr>
        <p:spPr>
          <a:xfrm>
            <a:off x="882650" y="1233488"/>
            <a:ext cx="7118350" cy="45005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lang="en-US" sz="2800"/>
              <a:t>To develop a description of deadlocks, </a:t>
            </a:r>
            <a:endParaRPr/>
          </a:p>
          <a:p>
            <a:pPr indent="-285750" lvl="1" marL="742950" rtl="0" algn="l">
              <a:spcBef>
                <a:spcPts val="480"/>
              </a:spcBef>
              <a:spcAft>
                <a:spcPts val="0"/>
              </a:spcAft>
              <a:buClr>
                <a:schemeClr val="dk1"/>
              </a:buClr>
              <a:buSzPts val="2400"/>
              <a:buChar char="–"/>
            </a:pPr>
            <a:r>
              <a:rPr lang="en-US" sz="2400"/>
              <a:t>which prevent sets of concurrent processes from completing their tasks</a:t>
            </a:r>
            <a:endParaRPr/>
          </a:p>
          <a:p>
            <a:pPr indent="-342900" lvl="0" marL="342900" rtl="0" algn="l">
              <a:spcBef>
                <a:spcPts val="560"/>
              </a:spcBef>
              <a:spcAft>
                <a:spcPts val="0"/>
              </a:spcAft>
              <a:buClr>
                <a:schemeClr val="dk1"/>
              </a:buClr>
              <a:buSzPts val="2800"/>
              <a:buChar char="•"/>
            </a:pPr>
            <a:r>
              <a:rPr lang="en-US" sz="2800"/>
              <a:t>To present a number of different methods for</a:t>
            </a:r>
            <a:endParaRPr/>
          </a:p>
          <a:p>
            <a:pPr indent="-285750" lvl="1" marL="742950" rtl="0" algn="l">
              <a:spcBef>
                <a:spcPts val="480"/>
              </a:spcBef>
              <a:spcAft>
                <a:spcPts val="0"/>
              </a:spcAft>
              <a:buClr>
                <a:schemeClr val="dk1"/>
              </a:buClr>
              <a:buSzPts val="2400"/>
              <a:buChar char="–"/>
            </a:pPr>
            <a:r>
              <a:rPr lang="en-US" sz="2400"/>
              <a:t> preventing or </a:t>
            </a:r>
            <a:endParaRPr/>
          </a:p>
          <a:p>
            <a:pPr indent="-285750" lvl="1" marL="742950" rtl="0" algn="l">
              <a:spcBef>
                <a:spcPts val="480"/>
              </a:spcBef>
              <a:spcAft>
                <a:spcPts val="0"/>
              </a:spcAft>
              <a:buClr>
                <a:schemeClr val="dk1"/>
              </a:buClr>
              <a:buSzPts val="2400"/>
              <a:buChar char="–"/>
            </a:pPr>
            <a:r>
              <a:rPr lang="en-US" sz="2400"/>
              <a:t>avoiding deadlocks in a computer system</a:t>
            </a:r>
            <a:endParaRPr/>
          </a:p>
          <a:p>
            <a:pPr indent="-342900" lvl="0" marL="342900" rtl="0" algn="l">
              <a:spcBef>
                <a:spcPts val="720"/>
              </a:spcBef>
              <a:spcAft>
                <a:spcPts val="0"/>
              </a:spcAft>
              <a:buClr>
                <a:schemeClr val="dk1"/>
              </a:buClr>
              <a:buSzPts val="3060"/>
              <a:buFont typeface="Arial"/>
              <a:buNone/>
            </a:pPr>
            <a:r>
              <a:t/>
            </a:r>
            <a:endParaRPr sz="3600"/>
          </a:p>
        </p:txBody>
      </p:sp>
      <p:sp>
        <p:nvSpPr>
          <p:cNvPr id="100" name="Google Shape;100;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01" name="Google Shape;101;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02" name="Google Shape;102;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3"/>
          <p:cNvSpPr txBox="1"/>
          <p:nvPr>
            <p:ph type="title"/>
          </p:nvPr>
        </p:nvSpPr>
        <p:spPr>
          <a:xfrm>
            <a:off x="457200" y="176213"/>
            <a:ext cx="8229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System Model</a:t>
            </a:r>
            <a:endParaRPr/>
          </a:p>
        </p:txBody>
      </p:sp>
      <p:sp>
        <p:nvSpPr>
          <p:cNvPr id="109" name="Google Shape;109;p3"/>
          <p:cNvSpPr txBox="1"/>
          <p:nvPr>
            <p:ph idx="1" type="body"/>
          </p:nvPr>
        </p:nvSpPr>
        <p:spPr>
          <a:xfrm>
            <a:off x="941388" y="1158875"/>
            <a:ext cx="7351712" cy="4483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lang="en-US" sz="2800"/>
              <a:t>System consists of finite no of resources</a:t>
            </a:r>
            <a:endParaRPr/>
          </a:p>
          <a:p>
            <a:pPr indent="-285750" lvl="1" marL="742950" rtl="0" algn="l">
              <a:spcBef>
                <a:spcPts val="480"/>
              </a:spcBef>
              <a:spcAft>
                <a:spcPts val="0"/>
              </a:spcAft>
              <a:buClr>
                <a:schemeClr val="dk1"/>
              </a:buClr>
              <a:buSzPts val="2400"/>
              <a:buChar char="–"/>
            </a:pPr>
            <a:r>
              <a:rPr lang="en-US" sz="2400"/>
              <a:t>To be distributed among a number of competing processes</a:t>
            </a:r>
            <a:endParaRPr/>
          </a:p>
          <a:p>
            <a:pPr indent="-342900" lvl="0" marL="342900" rtl="0" algn="l">
              <a:spcBef>
                <a:spcPts val="560"/>
              </a:spcBef>
              <a:spcAft>
                <a:spcPts val="0"/>
              </a:spcAft>
              <a:buClr>
                <a:schemeClr val="dk1"/>
              </a:buClr>
              <a:buSzPts val="2800"/>
              <a:buChar char="•"/>
            </a:pPr>
            <a:r>
              <a:rPr lang="en-US" sz="2800"/>
              <a:t>Resources are partitioned into several types, </a:t>
            </a:r>
            <a:endParaRPr sz="2800"/>
          </a:p>
          <a:p>
            <a:pPr indent="-285750" lvl="1" marL="742950" rtl="0" algn="l">
              <a:spcBef>
                <a:spcPts val="480"/>
              </a:spcBef>
              <a:spcAft>
                <a:spcPts val="0"/>
              </a:spcAft>
              <a:buClr>
                <a:schemeClr val="dk1"/>
              </a:buClr>
              <a:buSzPts val="2400"/>
              <a:buChar char="–"/>
            </a:pPr>
            <a:r>
              <a:rPr lang="en-US" sz="2400"/>
              <a:t>Each consisting of some number of identical instances. </a:t>
            </a:r>
            <a:endParaRPr sz="2400"/>
          </a:p>
          <a:p>
            <a:pPr indent="-107950" lvl="1" marL="742950" rtl="0" algn="l">
              <a:spcBef>
                <a:spcPts val="560"/>
              </a:spcBef>
              <a:spcAft>
                <a:spcPts val="0"/>
              </a:spcAft>
              <a:buClr>
                <a:schemeClr val="dk1"/>
              </a:buClr>
              <a:buSzPts val="2800"/>
              <a:buNone/>
            </a:pPr>
            <a:r>
              <a:t/>
            </a:r>
            <a:endParaRPr/>
          </a:p>
        </p:txBody>
      </p:sp>
      <p:sp>
        <p:nvSpPr>
          <p:cNvPr id="110" name="Google Shape;110;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11" name="Google Shape;111;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12" name="Google Shape;112;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4"/>
          <p:cNvSpPr txBox="1"/>
          <p:nvPr>
            <p:ph type="title"/>
          </p:nvPr>
        </p:nvSpPr>
        <p:spPr>
          <a:xfrm>
            <a:off x="457200" y="176213"/>
            <a:ext cx="8229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System Model</a:t>
            </a:r>
            <a:endParaRPr/>
          </a:p>
        </p:txBody>
      </p:sp>
      <p:sp>
        <p:nvSpPr>
          <p:cNvPr id="119" name="Google Shape;119;p4"/>
          <p:cNvSpPr txBox="1"/>
          <p:nvPr>
            <p:ph idx="1" type="body"/>
          </p:nvPr>
        </p:nvSpPr>
        <p:spPr>
          <a:xfrm>
            <a:off x="941388" y="1158875"/>
            <a:ext cx="7351712" cy="4483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lang="en-US" sz="2800"/>
              <a:t>Resource types –</a:t>
            </a:r>
            <a:endParaRPr/>
          </a:p>
          <a:p>
            <a:pPr indent="-285750" lvl="1" marL="742950" rtl="0" algn="l">
              <a:spcBef>
                <a:spcPts val="480"/>
              </a:spcBef>
              <a:spcAft>
                <a:spcPts val="0"/>
              </a:spcAft>
              <a:buClr>
                <a:schemeClr val="dk1"/>
              </a:buClr>
              <a:buSzPts val="2400"/>
              <a:buChar char="–"/>
            </a:pPr>
            <a:r>
              <a:rPr lang="en-US" sz="2400"/>
              <a:t>Memory space</a:t>
            </a:r>
            <a:endParaRPr/>
          </a:p>
          <a:p>
            <a:pPr indent="-285750" lvl="1" marL="742950" rtl="0" algn="l">
              <a:spcBef>
                <a:spcPts val="480"/>
              </a:spcBef>
              <a:spcAft>
                <a:spcPts val="0"/>
              </a:spcAft>
              <a:buClr>
                <a:schemeClr val="dk1"/>
              </a:buClr>
              <a:buSzPts val="2400"/>
              <a:buChar char="–"/>
            </a:pPr>
            <a:r>
              <a:rPr lang="en-US" sz="2400"/>
              <a:t>CPU cycles</a:t>
            </a:r>
            <a:endParaRPr/>
          </a:p>
          <a:p>
            <a:pPr indent="-285750" lvl="1" marL="742950" rtl="0" algn="l">
              <a:spcBef>
                <a:spcPts val="480"/>
              </a:spcBef>
              <a:spcAft>
                <a:spcPts val="0"/>
              </a:spcAft>
              <a:buClr>
                <a:schemeClr val="dk1"/>
              </a:buClr>
              <a:buSzPts val="2400"/>
              <a:buChar char="–"/>
            </a:pPr>
            <a:r>
              <a:rPr lang="en-US" sz="2400"/>
              <a:t>Files</a:t>
            </a:r>
            <a:endParaRPr/>
          </a:p>
          <a:p>
            <a:pPr indent="-285750" lvl="1" marL="742950" rtl="0" algn="l">
              <a:spcBef>
                <a:spcPts val="480"/>
              </a:spcBef>
              <a:spcAft>
                <a:spcPts val="0"/>
              </a:spcAft>
              <a:buClr>
                <a:schemeClr val="dk1"/>
              </a:buClr>
              <a:buSzPts val="2400"/>
              <a:buChar char="–"/>
            </a:pPr>
            <a:r>
              <a:rPr lang="en-US" sz="2400"/>
              <a:t>I/0 devices (such as printers and DVD drives) </a:t>
            </a:r>
            <a:endParaRPr sz="2400"/>
          </a:p>
          <a:p>
            <a:pPr indent="-342900" lvl="0" marL="342900" rtl="0" algn="l">
              <a:spcBef>
                <a:spcPts val="560"/>
              </a:spcBef>
              <a:spcAft>
                <a:spcPts val="0"/>
              </a:spcAft>
              <a:buClr>
                <a:schemeClr val="dk1"/>
              </a:buClr>
              <a:buSzPts val="2800"/>
              <a:buChar char="•"/>
            </a:pPr>
            <a:r>
              <a:rPr lang="en-US" sz="2800"/>
              <a:t>If a system has two CPUs, </a:t>
            </a:r>
            <a:endParaRPr sz="2800"/>
          </a:p>
          <a:p>
            <a:pPr indent="-285750" lvl="1" marL="742950" rtl="0" algn="l">
              <a:spcBef>
                <a:spcPts val="480"/>
              </a:spcBef>
              <a:spcAft>
                <a:spcPts val="0"/>
              </a:spcAft>
              <a:buClr>
                <a:schemeClr val="dk1"/>
              </a:buClr>
              <a:buSzPts val="2400"/>
              <a:buChar char="–"/>
            </a:pPr>
            <a:r>
              <a:rPr lang="en-US" sz="2400"/>
              <a:t>then the resource type </a:t>
            </a:r>
            <a:r>
              <a:rPr i="1" lang="en-US" sz="2400"/>
              <a:t>CPU </a:t>
            </a:r>
            <a:r>
              <a:rPr lang="en-US" sz="2400"/>
              <a:t>has two instances</a:t>
            </a:r>
            <a:endParaRPr sz="2400"/>
          </a:p>
        </p:txBody>
      </p:sp>
      <p:sp>
        <p:nvSpPr>
          <p:cNvPr id="120" name="Google Shape;120;p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21" name="Google Shape;121;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22" name="Google Shape;122;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5"/>
          <p:cNvSpPr txBox="1"/>
          <p:nvPr>
            <p:ph type="title"/>
          </p:nvPr>
        </p:nvSpPr>
        <p:spPr>
          <a:xfrm>
            <a:off x="457200" y="176213"/>
            <a:ext cx="8229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System Model</a:t>
            </a:r>
            <a:endParaRPr/>
          </a:p>
        </p:txBody>
      </p:sp>
      <p:sp>
        <p:nvSpPr>
          <p:cNvPr id="129" name="Google Shape;129;p5"/>
          <p:cNvSpPr txBox="1"/>
          <p:nvPr>
            <p:ph idx="1" type="body"/>
          </p:nvPr>
        </p:nvSpPr>
        <p:spPr>
          <a:xfrm>
            <a:off x="941388" y="1158875"/>
            <a:ext cx="7351712" cy="4483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lang="en-US" sz="2800"/>
              <a:t>Resource types </a:t>
            </a:r>
            <a:r>
              <a:rPr i="1" lang="en-US" sz="2800"/>
              <a:t>R</a:t>
            </a:r>
            <a:r>
              <a:rPr baseline="-25000" lang="en-US" sz="2800"/>
              <a:t>1</a:t>
            </a:r>
            <a:r>
              <a:rPr lang="en-US" sz="2800"/>
              <a:t>, </a:t>
            </a:r>
            <a:r>
              <a:rPr i="1" lang="en-US" sz="2800"/>
              <a:t>R</a:t>
            </a:r>
            <a:r>
              <a:rPr baseline="-25000" lang="en-US" sz="2800"/>
              <a:t>2</a:t>
            </a:r>
            <a:r>
              <a:rPr lang="en-US" sz="2800"/>
              <a:t>, . . ., </a:t>
            </a:r>
            <a:r>
              <a:rPr i="1" lang="en-US" sz="2800"/>
              <a:t>R</a:t>
            </a:r>
            <a:r>
              <a:rPr baseline="-25000" lang="en-US" sz="2800"/>
              <a:t>m</a:t>
            </a:r>
            <a:endParaRPr/>
          </a:p>
          <a:p>
            <a:pPr indent="-342900" lvl="0" marL="342900" rtl="0" algn="l">
              <a:spcBef>
                <a:spcPts val="560"/>
              </a:spcBef>
              <a:spcAft>
                <a:spcPts val="0"/>
              </a:spcAft>
              <a:buClr>
                <a:schemeClr val="dk1"/>
              </a:buClr>
              <a:buSzPts val="2800"/>
              <a:buChar char="•"/>
            </a:pPr>
            <a:r>
              <a:rPr lang="en-US" sz="2800"/>
              <a:t>Each resource type </a:t>
            </a:r>
            <a:r>
              <a:rPr i="1" lang="en-US" sz="2800"/>
              <a:t>R</a:t>
            </a:r>
            <a:r>
              <a:rPr baseline="-25000" lang="en-US" sz="2800"/>
              <a:t>i</a:t>
            </a:r>
            <a:r>
              <a:rPr lang="en-US" sz="2800"/>
              <a:t> has </a:t>
            </a:r>
            <a:r>
              <a:rPr i="1" lang="en-US" sz="2800"/>
              <a:t>W</a:t>
            </a:r>
            <a:r>
              <a:rPr baseline="-25000" lang="en-US" sz="2800"/>
              <a:t>i</a:t>
            </a:r>
            <a:r>
              <a:rPr lang="en-US" sz="2800"/>
              <a:t> instances.</a:t>
            </a:r>
            <a:endParaRPr/>
          </a:p>
          <a:p>
            <a:pPr indent="-342900" lvl="0" marL="342900" rtl="0" algn="l">
              <a:spcBef>
                <a:spcPts val="560"/>
              </a:spcBef>
              <a:spcAft>
                <a:spcPts val="0"/>
              </a:spcAft>
              <a:buClr>
                <a:schemeClr val="dk1"/>
              </a:buClr>
              <a:buSzPts val="2800"/>
              <a:buChar char="•"/>
            </a:pPr>
            <a:r>
              <a:rPr lang="en-US" sz="2800"/>
              <a:t>A process may utilize a resource in only the following sequence:</a:t>
            </a:r>
            <a:endParaRPr/>
          </a:p>
          <a:p>
            <a:pPr indent="-285750" lvl="1" marL="742950" rtl="0" algn="l">
              <a:spcBef>
                <a:spcPts val="480"/>
              </a:spcBef>
              <a:spcAft>
                <a:spcPts val="0"/>
              </a:spcAft>
              <a:buClr>
                <a:schemeClr val="dk1"/>
              </a:buClr>
              <a:buSzPts val="2400"/>
              <a:buChar char="–"/>
            </a:pPr>
            <a:r>
              <a:rPr b="1" lang="en-US" sz="2400"/>
              <a:t>request </a:t>
            </a:r>
            <a:endParaRPr/>
          </a:p>
          <a:p>
            <a:pPr indent="-285750" lvl="1" marL="742950" rtl="0" algn="l">
              <a:spcBef>
                <a:spcPts val="480"/>
              </a:spcBef>
              <a:spcAft>
                <a:spcPts val="0"/>
              </a:spcAft>
              <a:buClr>
                <a:schemeClr val="dk1"/>
              </a:buClr>
              <a:buSzPts val="2400"/>
              <a:buChar char="–"/>
            </a:pPr>
            <a:r>
              <a:rPr b="1" lang="en-US" sz="2400"/>
              <a:t>use </a:t>
            </a:r>
            <a:endParaRPr/>
          </a:p>
          <a:p>
            <a:pPr indent="-285750" lvl="1" marL="742950" rtl="0" algn="l">
              <a:spcBef>
                <a:spcPts val="480"/>
              </a:spcBef>
              <a:spcAft>
                <a:spcPts val="0"/>
              </a:spcAft>
              <a:buClr>
                <a:schemeClr val="dk1"/>
              </a:buClr>
              <a:buSzPts val="2400"/>
              <a:buChar char="–"/>
            </a:pPr>
            <a:r>
              <a:rPr b="1" lang="en-US" sz="2400"/>
              <a:t>release</a:t>
            </a:r>
            <a:endParaRPr/>
          </a:p>
        </p:txBody>
      </p:sp>
      <p:sp>
        <p:nvSpPr>
          <p:cNvPr id="130" name="Google Shape;1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31" name="Google Shape;1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32" name="Google Shape;1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6"/>
          <p:cNvSpPr txBox="1"/>
          <p:nvPr>
            <p:ph type="title"/>
          </p:nvPr>
        </p:nvSpPr>
        <p:spPr>
          <a:xfrm>
            <a:off x="457200" y="176213"/>
            <a:ext cx="8229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System Model</a:t>
            </a:r>
            <a:endParaRPr/>
          </a:p>
        </p:txBody>
      </p:sp>
      <p:sp>
        <p:nvSpPr>
          <p:cNvPr id="139" name="Google Shape;139;p6"/>
          <p:cNvSpPr txBox="1"/>
          <p:nvPr>
            <p:ph idx="1" type="body"/>
          </p:nvPr>
        </p:nvSpPr>
        <p:spPr>
          <a:xfrm>
            <a:off x="941388" y="1158875"/>
            <a:ext cx="7351712" cy="4483100"/>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chemeClr val="dk1"/>
              </a:buClr>
              <a:buSzPct val="100000"/>
              <a:buChar char="•"/>
            </a:pPr>
            <a:r>
              <a:rPr lang="en-US"/>
              <a:t>Request</a:t>
            </a:r>
            <a:endParaRPr/>
          </a:p>
          <a:p>
            <a:pPr indent="-285750" lvl="1" marL="742950" rtl="0" algn="l">
              <a:spcBef>
                <a:spcPts val="476"/>
              </a:spcBef>
              <a:spcAft>
                <a:spcPts val="0"/>
              </a:spcAft>
              <a:buClr>
                <a:schemeClr val="dk1"/>
              </a:buClr>
              <a:buSzPct val="100000"/>
              <a:buChar char="–"/>
            </a:pPr>
            <a:r>
              <a:rPr lang="en-US"/>
              <a:t>The process requests the resource. </a:t>
            </a:r>
            <a:endParaRPr/>
          </a:p>
          <a:p>
            <a:pPr indent="-285750" lvl="1" marL="742950" rtl="0" algn="l">
              <a:spcBef>
                <a:spcPts val="476"/>
              </a:spcBef>
              <a:spcAft>
                <a:spcPts val="0"/>
              </a:spcAft>
              <a:buClr>
                <a:schemeClr val="dk1"/>
              </a:buClr>
              <a:buSzPct val="100000"/>
              <a:buChar char="–"/>
            </a:pPr>
            <a:r>
              <a:rPr lang="en-US"/>
              <a:t>If the request cannot be granted immediately </a:t>
            </a:r>
            <a:endParaRPr/>
          </a:p>
          <a:p>
            <a:pPr indent="-285750" lvl="1" marL="742950" rtl="0" algn="l">
              <a:spcBef>
                <a:spcPts val="476"/>
              </a:spcBef>
              <a:spcAft>
                <a:spcPts val="0"/>
              </a:spcAft>
              <a:buClr>
                <a:schemeClr val="dk1"/>
              </a:buClr>
              <a:buSzPct val="100000"/>
              <a:buChar char="–"/>
            </a:pPr>
            <a:r>
              <a:rPr lang="en-US"/>
              <a:t>If the resource is being used by another process</a:t>
            </a:r>
            <a:endParaRPr/>
          </a:p>
          <a:p>
            <a:pPr indent="-285750" lvl="1" marL="742950" rtl="0" algn="l">
              <a:spcBef>
                <a:spcPts val="476"/>
              </a:spcBef>
              <a:spcAft>
                <a:spcPts val="0"/>
              </a:spcAft>
              <a:buClr>
                <a:schemeClr val="dk1"/>
              </a:buClr>
              <a:buSzPct val="100000"/>
              <a:buChar char="–"/>
            </a:pPr>
            <a:r>
              <a:rPr lang="en-US"/>
              <a:t>then the requesting process must wait until it can acquire the resource</a:t>
            </a:r>
            <a:endParaRPr/>
          </a:p>
          <a:p>
            <a:pPr indent="-342900" lvl="0" marL="342900" rtl="0" algn="l">
              <a:spcBef>
                <a:spcPts val="544"/>
              </a:spcBef>
              <a:spcAft>
                <a:spcPts val="0"/>
              </a:spcAft>
              <a:buClr>
                <a:schemeClr val="dk1"/>
              </a:buClr>
              <a:buSzPct val="100000"/>
              <a:buChar char="•"/>
            </a:pPr>
            <a:r>
              <a:rPr lang="en-US"/>
              <a:t>Use</a:t>
            </a:r>
            <a:endParaRPr/>
          </a:p>
          <a:p>
            <a:pPr indent="-285750" lvl="1" marL="742950" rtl="0" algn="l">
              <a:spcBef>
                <a:spcPts val="476"/>
              </a:spcBef>
              <a:spcAft>
                <a:spcPts val="0"/>
              </a:spcAft>
              <a:buClr>
                <a:schemeClr val="dk1"/>
              </a:buClr>
              <a:buSzPct val="100000"/>
              <a:buChar char="–"/>
            </a:pPr>
            <a:r>
              <a:rPr lang="en-US"/>
              <a:t>The process can operate on the resource </a:t>
            </a:r>
            <a:endParaRPr/>
          </a:p>
          <a:p>
            <a:pPr indent="-285750" lvl="1" marL="742950" rtl="0" algn="l">
              <a:spcBef>
                <a:spcPts val="476"/>
              </a:spcBef>
              <a:spcAft>
                <a:spcPts val="0"/>
              </a:spcAft>
              <a:buClr>
                <a:schemeClr val="dk1"/>
              </a:buClr>
              <a:buSzPct val="100000"/>
              <a:buChar char="–"/>
            </a:pPr>
            <a:r>
              <a:rPr lang="en-US"/>
              <a:t>If the resource is a printer, the process can print on the printer</a:t>
            </a:r>
            <a:endParaRPr/>
          </a:p>
          <a:p>
            <a:pPr indent="-342900" lvl="0" marL="342900" rtl="0" algn="l">
              <a:spcBef>
                <a:spcPts val="544"/>
              </a:spcBef>
              <a:spcAft>
                <a:spcPts val="0"/>
              </a:spcAft>
              <a:buClr>
                <a:schemeClr val="dk1"/>
              </a:buClr>
              <a:buSzPct val="100000"/>
              <a:buChar char="•"/>
            </a:pPr>
            <a:r>
              <a:rPr lang="en-US"/>
              <a:t>Release</a:t>
            </a:r>
            <a:endParaRPr/>
          </a:p>
          <a:p>
            <a:pPr indent="-285750" lvl="1" marL="742950" rtl="0" algn="l">
              <a:spcBef>
                <a:spcPts val="476"/>
              </a:spcBef>
              <a:spcAft>
                <a:spcPts val="0"/>
              </a:spcAft>
              <a:buClr>
                <a:schemeClr val="dk1"/>
              </a:buClr>
              <a:buSzPct val="100000"/>
              <a:buChar char="–"/>
            </a:pPr>
            <a:r>
              <a:rPr lang="en-US"/>
              <a:t>The process releases the resource.</a:t>
            </a:r>
            <a:endParaRPr b="1"/>
          </a:p>
        </p:txBody>
      </p:sp>
      <p:sp>
        <p:nvSpPr>
          <p:cNvPr id="140" name="Google Shape;140;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41" name="Google Shape;141;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42" name="Google Shape;142;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Deadlock</a:t>
            </a:r>
            <a:endParaRPr/>
          </a:p>
        </p:txBody>
      </p:sp>
      <p:sp>
        <p:nvSpPr>
          <p:cNvPr id="148" name="Google Shape;148;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Char char="•"/>
            </a:pPr>
            <a:r>
              <a:rPr lang="en-US" sz="2800"/>
              <a:t>A set of processes is in a deadlocked state when </a:t>
            </a:r>
            <a:endParaRPr sz="2800"/>
          </a:p>
          <a:p>
            <a:pPr indent="-285750" lvl="1" marL="742950" rtl="0" algn="l">
              <a:spcBef>
                <a:spcPts val="480"/>
              </a:spcBef>
              <a:spcAft>
                <a:spcPts val="0"/>
              </a:spcAft>
              <a:buClr>
                <a:schemeClr val="dk1"/>
              </a:buClr>
              <a:buSzPts val="2400"/>
              <a:buChar char="–"/>
            </a:pPr>
            <a:r>
              <a:rPr lang="en-US" sz="2400"/>
              <a:t>every process in the set is waiting for an event that can be caused only by another process in the set. </a:t>
            </a:r>
            <a:endParaRPr/>
          </a:p>
          <a:p>
            <a:pPr indent="-133350" lvl="1" marL="742950" rtl="0" algn="l">
              <a:spcBef>
                <a:spcPts val="480"/>
              </a:spcBef>
              <a:spcAft>
                <a:spcPts val="0"/>
              </a:spcAft>
              <a:buClr>
                <a:schemeClr val="dk1"/>
              </a:buClr>
              <a:buSzPts val="2400"/>
              <a:buNone/>
            </a:pPr>
            <a:r>
              <a:t/>
            </a:r>
            <a:endParaRPr sz="2400"/>
          </a:p>
          <a:p>
            <a:pPr indent="-342900" lvl="0" marL="342900" rtl="0" algn="l">
              <a:spcBef>
                <a:spcPts val="560"/>
              </a:spcBef>
              <a:spcAft>
                <a:spcPts val="0"/>
              </a:spcAft>
              <a:buClr>
                <a:schemeClr val="dk1"/>
              </a:buClr>
              <a:buSzPts val="2800"/>
              <a:buChar char="•"/>
            </a:pPr>
            <a:r>
              <a:rPr lang="en-US" sz="2800"/>
              <a:t>The events with which we are concerned are </a:t>
            </a:r>
            <a:endParaRPr/>
          </a:p>
          <a:p>
            <a:pPr indent="-285750" lvl="1" marL="742950" rtl="0" algn="l">
              <a:spcBef>
                <a:spcPts val="480"/>
              </a:spcBef>
              <a:spcAft>
                <a:spcPts val="0"/>
              </a:spcAft>
              <a:buClr>
                <a:schemeClr val="dk1"/>
              </a:buClr>
              <a:buSzPts val="2400"/>
              <a:buChar char="–"/>
            </a:pPr>
            <a:r>
              <a:rPr lang="en-US" sz="2400"/>
              <a:t>resource acquisition and </a:t>
            </a:r>
            <a:endParaRPr/>
          </a:p>
          <a:p>
            <a:pPr indent="-285750" lvl="1" marL="742950" rtl="0" algn="l">
              <a:spcBef>
                <a:spcPts val="480"/>
              </a:spcBef>
              <a:spcAft>
                <a:spcPts val="0"/>
              </a:spcAft>
              <a:buClr>
                <a:schemeClr val="dk1"/>
              </a:buClr>
              <a:buSzPts val="2400"/>
              <a:buChar char="–"/>
            </a:pPr>
            <a:r>
              <a:rPr lang="en-US" sz="2400"/>
              <a:t>release</a:t>
            </a:r>
            <a:endParaRPr sz="2400"/>
          </a:p>
        </p:txBody>
      </p:sp>
      <p:sp>
        <p:nvSpPr>
          <p:cNvPr id="149" name="Google Shape;149;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50" name="Google Shape;150;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51" name="Google Shape;151;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Deadlock</a:t>
            </a:r>
            <a:endParaRPr/>
          </a:p>
        </p:txBody>
      </p:sp>
      <p:sp>
        <p:nvSpPr>
          <p:cNvPr id="157" name="Google Shape;157;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Char char="•"/>
            </a:pPr>
            <a:r>
              <a:rPr lang="en-US" sz="2800"/>
              <a:t>The resources may be either </a:t>
            </a:r>
            <a:endParaRPr sz="2800"/>
          </a:p>
          <a:p>
            <a:pPr indent="-285750" lvl="1" marL="742950" rtl="0" algn="l">
              <a:spcBef>
                <a:spcPts val="480"/>
              </a:spcBef>
              <a:spcAft>
                <a:spcPts val="0"/>
              </a:spcAft>
              <a:buClr>
                <a:schemeClr val="dk1"/>
              </a:buClr>
              <a:buSzPts val="2400"/>
              <a:buChar char="–"/>
            </a:pPr>
            <a:r>
              <a:rPr lang="en-US" sz="2400"/>
              <a:t>physical resources (for example, printers, tape drives, memory space, and CPU cycles) or </a:t>
            </a:r>
            <a:endParaRPr sz="2400"/>
          </a:p>
          <a:p>
            <a:pPr indent="-285750" lvl="1" marL="742950" rtl="0" algn="l">
              <a:spcBef>
                <a:spcPts val="480"/>
              </a:spcBef>
              <a:spcAft>
                <a:spcPts val="0"/>
              </a:spcAft>
              <a:buClr>
                <a:schemeClr val="dk1"/>
              </a:buClr>
              <a:buSzPts val="2400"/>
              <a:buChar char="–"/>
            </a:pPr>
            <a:r>
              <a:rPr lang="en-US" sz="2400"/>
              <a:t>logical resources (for example, files, semaphores, and monitors).</a:t>
            </a:r>
            <a:endParaRPr/>
          </a:p>
        </p:txBody>
      </p:sp>
      <p:sp>
        <p:nvSpPr>
          <p:cNvPr id="158" name="Google Shape;158;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59" name="Google Shape;159;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60" name="Google Shape;160;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n-US" sz="3200"/>
              <a:t>Deadlock involving the same resource type</a:t>
            </a:r>
            <a:endParaRPr b="1"/>
          </a:p>
        </p:txBody>
      </p:sp>
      <p:sp>
        <p:nvSpPr>
          <p:cNvPr id="166" name="Google Shape;166;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Consider a system with 3 CD RW drives and 3 processes.</a:t>
            </a:r>
            <a:endParaRPr sz="2400"/>
          </a:p>
          <a:p>
            <a:pPr indent="-285750" lvl="1" marL="742950" rtl="0" algn="l">
              <a:spcBef>
                <a:spcPts val="480"/>
              </a:spcBef>
              <a:spcAft>
                <a:spcPts val="0"/>
              </a:spcAft>
              <a:buClr>
                <a:schemeClr val="dk1"/>
              </a:buClr>
              <a:buSzPts val="2400"/>
              <a:buChar char="–"/>
            </a:pPr>
            <a:r>
              <a:rPr lang="en-US" sz="2400"/>
              <a:t>Each process holds one CD RW drives. </a:t>
            </a:r>
            <a:endParaRPr/>
          </a:p>
          <a:p>
            <a:pPr indent="-285750" lvl="1" marL="742950" rtl="0" algn="l">
              <a:spcBef>
                <a:spcPts val="480"/>
              </a:spcBef>
              <a:spcAft>
                <a:spcPts val="0"/>
              </a:spcAft>
              <a:buClr>
                <a:schemeClr val="dk1"/>
              </a:buClr>
              <a:buSzPts val="2400"/>
              <a:buChar char="–"/>
            </a:pPr>
            <a:r>
              <a:rPr lang="en-US" sz="2400"/>
              <a:t>If each process now requests another drive</a:t>
            </a:r>
            <a:endParaRPr/>
          </a:p>
          <a:p>
            <a:pPr indent="-285750" lvl="1" marL="742950" rtl="0" algn="l">
              <a:spcBef>
                <a:spcPts val="480"/>
              </a:spcBef>
              <a:spcAft>
                <a:spcPts val="0"/>
              </a:spcAft>
              <a:buClr>
                <a:schemeClr val="dk1"/>
              </a:buClr>
              <a:buSzPts val="2400"/>
              <a:buChar char="–"/>
            </a:pPr>
            <a:r>
              <a:rPr lang="en-US" sz="2400"/>
              <a:t>The three processes will be in a deadlocked state.</a:t>
            </a:r>
            <a:endParaRPr/>
          </a:p>
          <a:p>
            <a:pPr indent="-285750" lvl="1" marL="742950" rtl="0" algn="l">
              <a:spcBef>
                <a:spcPts val="480"/>
              </a:spcBef>
              <a:spcAft>
                <a:spcPts val="0"/>
              </a:spcAft>
              <a:buClr>
                <a:schemeClr val="dk1"/>
              </a:buClr>
              <a:buSzPts val="2400"/>
              <a:buChar char="–"/>
            </a:pPr>
            <a:r>
              <a:rPr lang="en-US" sz="2400"/>
              <a:t>Each is waiting for the event "CD RW drive is released," which can be caused by one of the other waiting processes.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Deadlock involving the same resource type.</a:t>
            </a:r>
            <a:endParaRPr/>
          </a:p>
        </p:txBody>
      </p:sp>
      <p:sp>
        <p:nvSpPr>
          <p:cNvPr id="167" name="Google Shape;167;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68" name="Google Shape;168;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69" name="Google Shape;169;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b="1" lang="en-US" sz="3200"/>
              <a:t>Deadlock involving different resources</a:t>
            </a:r>
            <a:endParaRPr b="1" sz="3200"/>
          </a:p>
        </p:txBody>
      </p:sp>
      <p:sp>
        <p:nvSpPr>
          <p:cNvPr id="175" name="Google Shape;175;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Deadlocks may also involve different resource types.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Consider a system with one printer and one DVD drive. Suppose that </a:t>
            </a:r>
            <a:endParaRPr sz="2400"/>
          </a:p>
          <a:p>
            <a:pPr indent="-285750" lvl="1" marL="742950" rtl="0" algn="l">
              <a:spcBef>
                <a:spcPts val="480"/>
              </a:spcBef>
              <a:spcAft>
                <a:spcPts val="0"/>
              </a:spcAft>
              <a:buClr>
                <a:schemeClr val="dk1"/>
              </a:buClr>
              <a:buSzPts val="2400"/>
              <a:buChar char="–"/>
            </a:pPr>
            <a:r>
              <a:rPr lang="en-US" sz="2400"/>
              <a:t>Process </a:t>
            </a:r>
            <a:r>
              <a:rPr i="1" lang="en-US" sz="2400"/>
              <a:t>Pi </a:t>
            </a:r>
            <a:r>
              <a:rPr lang="en-US" sz="2400"/>
              <a:t>is holding the DVD </a:t>
            </a:r>
            <a:endParaRPr sz="2400"/>
          </a:p>
          <a:p>
            <a:pPr indent="-285750" lvl="1" marL="742950" rtl="0" algn="l">
              <a:spcBef>
                <a:spcPts val="480"/>
              </a:spcBef>
              <a:spcAft>
                <a:spcPts val="0"/>
              </a:spcAft>
              <a:buClr>
                <a:schemeClr val="dk1"/>
              </a:buClr>
              <a:buSzPts val="2400"/>
              <a:buChar char="–"/>
            </a:pPr>
            <a:r>
              <a:rPr lang="en-US" sz="2400"/>
              <a:t>Process </a:t>
            </a:r>
            <a:r>
              <a:rPr i="1" lang="en-US" sz="2400"/>
              <a:t>Pj </a:t>
            </a:r>
            <a:r>
              <a:rPr lang="en-US" sz="2400"/>
              <a:t>is holding the printer. </a:t>
            </a:r>
            <a:endParaRPr sz="2400"/>
          </a:p>
          <a:p>
            <a:pPr indent="-285750" lvl="1" marL="742950" rtl="0" algn="l">
              <a:spcBef>
                <a:spcPts val="480"/>
              </a:spcBef>
              <a:spcAft>
                <a:spcPts val="0"/>
              </a:spcAft>
              <a:buClr>
                <a:schemeClr val="dk1"/>
              </a:buClr>
              <a:buSzPts val="2400"/>
              <a:buChar char="–"/>
            </a:pPr>
            <a:r>
              <a:rPr lang="en-US" sz="2400"/>
              <a:t>If </a:t>
            </a:r>
            <a:r>
              <a:rPr i="1" lang="en-US" sz="2400"/>
              <a:t>Pi </a:t>
            </a:r>
            <a:r>
              <a:rPr lang="en-US" sz="2400"/>
              <a:t>requests the printer </a:t>
            </a:r>
            <a:endParaRPr/>
          </a:p>
          <a:p>
            <a:pPr indent="-285750" lvl="1" marL="742950" rtl="0" algn="l">
              <a:spcBef>
                <a:spcPts val="480"/>
              </a:spcBef>
              <a:spcAft>
                <a:spcPts val="0"/>
              </a:spcAft>
              <a:buClr>
                <a:schemeClr val="dk1"/>
              </a:buClr>
              <a:buSzPts val="2400"/>
              <a:buChar char="–"/>
            </a:pPr>
            <a:r>
              <a:rPr i="1" lang="en-US" sz="2400"/>
              <a:t>If Pj </a:t>
            </a:r>
            <a:r>
              <a:rPr lang="en-US" sz="2400"/>
              <a:t>requests the DVD drive, </a:t>
            </a:r>
            <a:endParaRPr sz="2400"/>
          </a:p>
          <a:p>
            <a:pPr indent="-285750" lvl="1" marL="742950" rtl="0" algn="l">
              <a:spcBef>
                <a:spcPts val="480"/>
              </a:spcBef>
              <a:spcAft>
                <a:spcPts val="0"/>
              </a:spcAft>
              <a:buClr>
                <a:schemeClr val="dk1"/>
              </a:buClr>
              <a:buSzPts val="2400"/>
              <a:buChar char="–"/>
            </a:pPr>
            <a:r>
              <a:rPr lang="en-US" sz="2400"/>
              <a:t>A deadlock occurs.</a:t>
            </a:r>
            <a:endParaRPr/>
          </a:p>
        </p:txBody>
      </p:sp>
      <p:sp>
        <p:nvSpPr>
          <p:cNvPr id="176" name="Google Shape;176;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77" name="Google Shape;177;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78" name="Google Shape;178;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1"/>
          <p:cNvSpPr txBox="1"/>
          <p:nvPr>
            <p:ph type="title"/>
          </p:nvPr>
        </p:nvSpPr>
        <p:spPr>
          <a:xfrm>
            <a:off x="749300" y="182563"/>
            <a:ext cx="79375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Characterization</a:t>
            </a:r>
            <a:endParaRPr/>
          </a:p>
        </p:txBody>
      </p:sp>
      <p:sp>
        <p:nvSpPr>
          <p:cNvPr id="185" name="Google Shape;185;p11"/>
          <p:cNvSpPr txBox="1"/>
          <p:nvPr>
            <p:ph idx="1" type="body"/>
          </p:nvPr>
        </p:nvSpPr>
        <p:spPr>
          <a:xfrm>
            <a:off x="1335088" y="1541463"/>
            <a:ext cx="6691312" cy="466883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3366FF"/>
              </a:buClr>
              <a:buSzPts val="3200"/>
              <a:buChar char="•"/>
            </a:pPr>
            <a:r>
              <a:rPr b="1" lang="en-US">
                <a:solidFill>
                  <a:srgbClr val="3366FF"/>
                </a:solidFill>
              </a:rPr>
              <a:t>Mutual exclusion</a:t>
            </a:r>
            <a:endParaRPr/>
          </a:p>
          <a:p>
            <a:pPr indent="-342900" lvl="0" marL="342900" rtl="0" algn="l">
              <a:spcBef>
                <a:spcPts val="640"/>
              </a:spcBef>
              <a:spcAft>
                <a:spcPts val="0"/>
              </a:spcAft>
              <a:buClr>
                <a:srgbClr val="3366FF"/>
              </a:buClr>
              <a:buSzPts val="3200"/>
              <a:buChar char="•"/>
            </a:pPr>
            <a:r>
              <a:rPr b="1" lang="en-US">
                <a:solidFill>
                  <a:srgbClr val="3366FF"/>
                </a:solidFill>
              </a:rPr>
              <a:t>Hold and wait</a:t>
            </a:r>
            <a:endParaRPr sz="800"/>
          </a:p>
          <a:p>
            <a:pPr indent="-342900" lvl="0" marL="342900" rtl="0" algn="l">
              <a:spcBef>
                <a:spcPts val="640"/>
              </a:spcBef>
              <a:spcAft>
                <a:spcPts val="0"/>
              </a:spcAft>
              <a:buClr>
                <a:srgbClr val="3366FF"/>
              </a:buClr>
              <a:buSzPts val="3200"/>
              <a:buChar char="•"/>
            </a:pPr>
            <a:r>
              <a:rPr b="1" lang="en-US">
                <a:solidFill>
                  <a:srgbClr val="3366FF"/>
                </a:solidFill>
              </a:rPr>
              <a:t>No preemption</a:t>
            </a:r>
            <a:endParaRPr/>
          </a:p>
          <a:p>
            <a:pPr indent="-342900" lvl="0" marL="342900" rtl="0" algn="l">
              <a:spcBef>
                <a:spcPts val="640"/>
              </a:spcBef>
              <a:spcAft>
                <a:spcPts val="0"/>
              </a:spcAft>
              <a:buClr>
                <a:srgbClr val="3366FF"/>
              </a:buClr>
              <a:buSzPts val="3200"/>
              <a:buChar char="•"/>
            </a:pPr>
            <a:r>
              <a:rPr b="1" lang="en-US">
                <a:solidFill>
                  <a:srgbClr val="3366FF"/>
                </a:solidFill>
              </a:rPr>
              <a:t>Circular wait</a:t>
            </a:r>
            <a:endParaRPr/>
          </a:p>
        </p:txBody>
      </p:sp>
      <p:sp>
        <p:nvSpPr>
          <p:cNvPr id="186" name="Google Shape;186;p11"/>
          <p:cNvSpPr txBox="1"/>
          <p:nvPr/>
        </p:nvSpPr>
        <p:spPr>
          <a:xfrm>
            <a:off x="825500" y="909529"/>
            <a:ext cx="6353175" cy="646331"/>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dk1"/>
                </a:solidFill>
                <a:latin typeface="Helvetica Neue"/>
                <a:ea typeface="Helvetica Neue"/>
                <a:cs typeface="Helvetica Neue"/>
                <a:sym typeface="Helvetica Neue"/>
              </a:rPr>
              <a:t>Deadlock can arise if the following four conditions hold simultaneously.</a:t>
            </a:r>
            <a:endParaRPr/>
          </a:p>
        </p:txBody>
      </p:sp>
      <p:sp>
        <p:nvSpPr>
          <p:cNvPr id="187" name="Google Shape;187;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88" name="Google Shape;188;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89" name="Google Shape;189;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2"/>
          <p:cNvSpPr txBox="1"/>
          <p:nvPr>
            <p:ph type="title"/>
          </p:nvPr>
        </p:nvSpPr>
        <p:spPr>
          <a:xfrm>
            <a:off x="749300" y="182563"/>
            <a:ext cx="79375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Characterization</a:t>
            </a:r>
            <a:endParaRPr/>
          </a:p>
        </p:txBody>
      </p:sp>
      <p:sp>
        <p:nvSpPr>
          <p:cNvPr id="196" name="Google Shape;196;p12"/>
          <p:cNvSpPr txBox="1"/>
          <p:nvPr>
            <p:ph idx="1" type="body"/>
          </p:nvPr>
        </p:nvSpPr>
        <p:spPr>
          <a:xfrm>
            <a:off x="1335088" y="1541463"/>
            <a:ext cx="6691312" cy="46688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3366FF"/>
              </a:buClr>
              <a:buSzPts val="2400"/>
              <a:buNone/>
            </a:pPr>
            <a:r>
              <a:rPr b="1" lang="en-US" sz="2400">
                <a:solidFill>
                  <a:srgbClr val="3366FF"/>
                </a:solidFill>
              </a:rPr>
              <a:t>Mutual exclusion</a:t>
            </a:r>
            <a:r>
              <a:rPr b="1" lang="en-US" sz="2400"/>
              <a:t>:</a:t>
            </a:r>
            <a:r>
              <a:rPr lang="en-US" sz="2400"/>
              <a:t>  </a:t>
            </a:r>
            <a:endParaRPr/>
          </a:p>
          <a:p>
            <a:pPr indent="-342900" lvl="0" marL="342900" rtl="0" algn="l">
              <a:spcBef>
                <a:spcPts val="480"/>
              </a:spcBef>
              <a:spcAft>
                <a:spcPts val="0"/>
              </a:spcAft>
              <a:buClr>
                <a:schemeClr val="dk1"/>
              </a:buClr>
              <a:buSzPts val="2400"/>
              <a:buChar char="•"/>
            </a:pPr>
            <a:r>
              <a:rPr lang="en-US" sz="2400"/>
              <a:t>Only one process at a time can use a resource</a:t>
            </a:r>
            <a:endParaRPr/>
          </a:p>
          <a:p>
            <a:pPr indent="-342900" lvl="0" marL="342900" rtl="0" algn="l">
              <a:spcBef>
                <a:spcPts val="480"/>
              </a:spcBef>
              <a:spcAft>
                <a:spcPts val="0"/>
              </a:spcAft>
              <a:buClr>
                <a:schemeClr val="dk1"/>
              </a:buClr>
              <a:buSzPts val="2400"/>
              <a:buChar char="•"/>
            </a:pPr>
            <a:r>
              <a:rPr lang="en-US" sz="2400"/>
              <a:t>If another process requests that resource, the requesting process must be delayed until the resource has been released</a:t>
            </a:r>
            <a:endParaRPr sz="500"/>
          </a:p>
          <a:p>
            <a:pPr indent="0" lvl="0" marL="0" rtl="0" algn="l">
              <a:spcBef>
                <a:spcPts val="480"/>
              </a:spcBef>
              <a:spcAft>
                <a:spcPts val="0"/>
              </a:spcAft>
              <a:buClr>
                <a:srgbClr val="3366FF"/>
              </a:buClr>
              <a:buSzPts val="2400"/>
              <a:buNone/>
            </a:pPr>
            <a:r>
              <a:rPr b="1" lang="en-US" sz="2400">
                <a:solidFill>
                  <a:srgbClr val="3366FF"/>
                </a:solidFill>
              </a:rPr>
              <a:t>Hold and wait</a:t>
            </a:r>
            <a:r>
              <a:rPr b="1" lang="en-US" sz="2400"/>
              <a:t>:</a:t>
            </a:r>
            <a:r>
              <a:rPr lang="en-US" sz="2400"/>
              <a:t>  </a:t>
            </a:r>
            <a:endParaRPr/>
          </a:p>
          <a:p>
            <a:pPr indent="-342900" lvl="0" marL="342900" rtl="0" algn="l">
              <a:spcBef>
                <a:spcPts val="480"/>
              </a:spcBef>
              <a:spcAft>
                <a:spcPts val="0"/>
              </a:spcAft>
              <a:buClr>
                <a:schemeClr val="dk1"/>
              </a:buClr>
              <a:buSzPts val="2400"/>
              <a:buChar char="•"/>
            </a:pPr>
            <a:r>
              <a:rPr lang="en-US" sz="2400"/>
              <a:t>A process holding at least one resource is waiting to acquire additional resources held by other processes</a:t>
            </a:r>
            <a:endParaRPr sz="500"/>
          </a:p>
        </p:txBody>
      </p:sp>
      <p:sp>
        <p:nvSpPr>
          <p:cNvPr id="197" name="Google Shape;197;p12"/>
          <p:cNvSpPr txBox="1"/>
          <p:nvPr/>
        </p:nvSpPr>
        <p:spPr>
          <a:xfrm>
            <a:off x="825500" y="1049338"/>
            <a:ext cx="6353175" cy="36671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dk1"/>
                </a:solidFill>
                <a:latin typeface="Helvetica Neue"/>
                <a:ea typeface="Helvetica Neue"/>
                <a:cs typeface="Helvetica Neue"/>
                <a:sym typeface="Helvetica Neue"/>
              </a:rPr>
              <a:t>Deadlock can arise if four conditions hold simultaneously.</a:t>
            </a:r>
            <a:endParaRPr/>
          </a:p>
        </p:txBody>
      </p:sp>
      <p:sp>
        <p:nvSpPr>
          <p:cNvPr id="198" name="Google Shape;19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99" name="Google Shape;19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00" name="Google Shape;20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3"/>
          <p:cNvSpPr txBox="1"/>
          <p:nvPr>
            <p:ph type="title"/>
          </p:nvPr>
        </p:nvSpPr>
        <p:spPr>
          <a:xfrm>
            <a:off x="749300" y="182563"/>
            <a:ext cx="79375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Characterization</a:t>
            </a:r>
            <a:endParaRPr/>
          </a:p>
        </p:txBody>
      </p:sp>
      <p:sp>
        <p:nvSpPr>
          <p:cNvPr id="207" name="Google Shape;207;p13"/>
          <p:cNvSpPr txBox="1"/>
          <p:nvPr>
            <p:ph idx="1" type="body"/>
          </p:nvPr>
        </p:nvSpPr>
        <p:spPr>
          <a:xfrm>
            <a:off x="1335088" y="1541463"/>
            <a:ext cx="6691312" cy="4668837"/>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spcBef>
                <a:spcPts val="0"/>
              </a:spcBef>
              <a:spcAft>
                <a:spcPts val="0"/>
              </a:spcAft>
              <a:buClr>
                <a:srgbClr val="3366FF"/>
              </a:buClr>
              <a:buSzPct val="100000"/>
              <a:buNone/>
            </a:pPr>
            <a:r>
              <a:rPr b="1" lang="en-US">
                <a:solidFill>
                  <a:srgbClr val="3366FF"/>
                </a:solidFill>
              </a:rPr>
              <a:t>No preemption</a:t>
            </a:r>
            <a:endParaRPr/>
          </a:p>
          <a:p>
            <a:pPr indent="-342900" lvl="0" marL="342900" rtl="0" algn="l">
              <a:spcBef>
                <a:spcPts val="496"/>
              </a:spcBef>
              <a:spcAft>
                <a:spcPts val="0"/>
              </a:spcAft>
              <a:buClr>
                <a:schemeClr val="dk1"/>
              </a:buClr>
              <a:buSzPct val="100000"/>
              <a:buChar char="•"/>
            </a:pPr>
            <a:r>
              <a:rPr lang="en-US"/>
              <a:t>Resources cannot be preempted</a:t>
            </a:r>
            <a:endParaRPr/>
          </a:p>
          <a:p>
            <a:pPr indent="-342900" lvl="0" marL="342900" rtl="0" algn="l">
              <a:spcBef>
                <a:spcPts val="496"/>
              </a:spcBef>
              <a:spcAft>
                <a:spcPts val="0"/>
              </a:spcAft>
              <a:buClr>
                <a:schemeClr val="dk1"/>
              </a:buClr>
              <a:buSzPts val="2480"/>
              <a:buChar char="•"/>
            </a:pPr>
            <a:r>
              <a:rPr lang="en-US"/>
              <a:t>A resource can be released only voluntarily by the process holding it, after that process has completed its task</a:t>
            </a:r>
            <a:endParaRPr sz="800"/>
          </a:p>
          <a:p>
            <a:pPr indent="0" lvl="0" marL="0" rtl="0" algn="l">
              <a:spcBef>
                <a:spcPts val="496"/>
              </a:spcBef>
              <a:spcAft>
                <a:spcPts val="0"/>
              </a:spcAft>
              <a:buClr>
                <a:srgbClr val="3366FF"/>
              </a:buClr>
              <a:buSzPct val="100000"/>
              <a:buNone/>
            </a:pPr>
            <a:r>
              <a:rPr b="1" lang="en-US">
                <a:solidFill>
                  <a:srgbClr val="3366FF"/>
                </a:solidFill>
              </a:rPr>
              <a:t>Circular wait</a:t>
            </a:r>
            <a:endParaRPr b="1"/>
          </a:p>
          <a:p>
            <a:pPr indent="-342900" lvl="0" marL="342900" rtl="0" algn="l">
              <a:spcBef>
                <a:spcPts val="496"/>
              </a:spcBef>
              <a:spcAft>
                <a:spcPts val="0"/>
              </a:spcAft>
              <a:buClr>
                <a:schemeClr val="dk1"/>
              </a:buClr>
              <a:buSzPct val="100000"/>
              <a:buChar char="•"/>
            </a:pPr>
            <a:r>
              <a:rPr lang="en-US"/>
              <a:t>There exists a set {</a:t>
            </a:r>
            <a:r>
              <a:rPr i="1" lang="en-US"/>
              <a:t>P</a:t>
            </a:r>
            <a:r>
              <a:rPr baseline="-25000" lang="en-US"/>
              <a:t>0</a:t>
            </a:r>
            <a:r>
              <a:rPr lang="en-US"/>
              <a:t>, </a:t>
            </a:r>
            <a:r>
              <a:rPr i="1" lang="en-US"/>
              <a:t>P</a:t>
            </a:r>
            <a:r>
              <a:rPr baseline="-25000" lang="en-US"/>
              <a:t>1</a:t>
            </a:r>
            <a:r>
              <a:rPr lang="en-US"/>
              <a:t>, …, </a:t>
            </a:r>
            <a:r>
              <a:rPr i="1" lang="en-US"/>
              <a:t>P</a:t>
            </a:r>
            <a:r>
              <a:rPr baseline="-25000" lang="en-US"/>
              <a:t>n</a:t>
            </a:r>
            <a:r>
              <a:rPr lang="en-US"/>
              <a:t>} of waiting processes such that </a:t>
            </a:r>
            <a:endParaRPr/>
          </a:p>
          <a:p>
            <a:pPr indent="-342900" lvl="0" marL="342900" rtl="0" algn="l">
              <a:spcBef>
                <a:spcPts val="496"/>
              </a:spcBef>
              <a:spcAft>
                <a:spcPts val="0"/>
              </a:spcAft>
              <a:buClr>
                <a:schemeClr val="dk1"/>
              </a:buClr>
              <a:buSzPct val="100000"/>
              <a:buChar char="•"/>
            </a:pPr>
            <a:r>
              <a:rPr i="1" lang="en-US"/>
              <a:t>P</a:t>
            </a:r>
            <a:r>
              <a:rPr baseline="-25000" lang="en-US"/>
              <a:t>0 </a:t>
            </a:r>
            <a:r>
              <a:rPr lang="en-US"/>
              <a:t>is waiting for a resource that is held by </a:t>
            </a:r>
            <a:r>
              <a:rPr i="1" lang="en-US"/>
              <a:t>P</a:t>
            </a:r>
            <a:r>
              <a:rPr baseline="-25000" lang="en-US"/>
              <a:t>1</a:t>
            </a:r>
            <a:r>
              <a:rPr lang="en-US"/>
              <a:t>, </a:t>
            </a:r>
            <a:endParaRPr/>
          </a:p>
          <a:p>
            <a:pPr indent="-342900" lvl="0" marL="342900" rtl="0" algn="l">
              <a:spcBef>
                <a:spcPts val="496"/>
              </a:spcBef>
              <a:spcAft>
                <a:spcPts val="0"/>
              </a:spcAft>
              <a:buClr>
                <a:schemeClr val="dk1"/>
              </a:buClr>
              <a:buSzPct val="100000"/>
              <a:buChar char="•"/>
            </a:pPr>
            <a:r>
              <a:rPr i="1" lang="en-US"/>
              <a:t>P</a:t>
            </a:r>
            <a:r>
              <a:rPr baseline="-25000" lang="en-US"/>
              <a:t>1</a:t>
            </a:r>
            <a:r>
              <a:rPr lang="en-US"/>
              <a:t> is waiting for a resource that is held by </a:t>
            </a:r>
            <a:r>
              <a:rPr i="1" lang="en-US"/>
              <a:t>P</a:t>
            </a:r>
            <a:r>
              <a:rPr baseline="-25000" lang="en-US"/>
              <a:t>2</a:t>
            </a:r>
            <a:r>
              <a:rPr lang="en-US"/>
              <a:t>, …, </a:t>
            </a:r>
            <a:endParaRPr/>
          </a:p>
          <a:p>
            <a:pPr indent="-342900" lvl="0" marL="342900" rtl="0" algn="l">
              <a:spcBef>
                <a:spcPts val="496"/>
              </a:spcBef>
              <a:spcAft>
                <a:spcPts val="0"/>
              </a:spcAft>
              <a:buClr>
                <a:schemeClr val="dk1"/>
              </a:buClr>
              <a:buSzPct val="100000"/>
              <a:buChar char="•"/>
            </a:pPr>
            <a:r>
              <a:rPr i="1" lang="en-US"/>
              <a:t>P</a:t>
            </a:r>
            <a:r>
              <a:rPr baseline="-25000" i="1" lang="en-US"/>
              <a:t>n</a:t>
            </a:r>
            <a:r>
              <a:rPr baseline="-25000" lang="en-US"/>
              <a:t>–1</a:t>
            </a:r>
            <a:r>
              <a:rPr lang="en-US"/>
              <a:t> is waiting for a resource that is held by </a:t>
            </a:r>
            <a:r>
              <a:rPr i="1" lang="en-US"/>
              <a:t>P</a:t>
            </a:r>
            <a:r>
              <a:rPr baseline="-25000" lang="en-US"/>
              <a:t>n</a:t>
            </a:r>
            <a:r>
              <a:rPr lang="en-US"/>
              <a:t>, </a:t>
            </a:r>
            <a:endParaRPr/>
          </a:p>
          <a:p>
            <a:pPr indent="-342900" lvl="0" marL="342900" rtl="0" algn="l">
              <a:spcBef>
                <a:spcPts val="496"/>
              </a:spcBef>
              <a:spcAft>
                <a:spcPts val="0"/>
              </a:spcAft>
              <a:buClr>
                <a:schemeClr val="dk1"/>
              </a:buClr>
              <a:buSzPct val="100000"/>
              <a:buChar char="•"/>
            </a:pPr>
            <a:r>
              <a:rPr i="1" lang="en-US"/>
              <a:t>P</a:t>
            </a:r>
            <a:r>
              <a:rPr baseline="-25000" lang="en-US"/>
              <a:t>n</a:t>
            </a:r>
            <a:r>
              <a:rPr lang="en-US"/>
              <a:t> is waiting for a resource that is held by </a:t>
            </a:r>
            <a:r>
              <a:rPr i="1" lang="en-US"/>
              <a:t>P</a:t>
            </a:r>
            <a:r>
              <a:rPr baseline="-25000" lang="en-US"/>
              <a:t>0</a:t>
            </a:r>
            <a:r>
              <a:rPr lang="en-US"/>
              <a:t>.</a:t>
            </a:r>
            <a:endParaRPr/>
          </a:p>
          <a:p>
            <a:pPr indent="-185420" lvl="0" marL="342900" rtl="0" algn="l">
              <a:spcBef>
                <a:spcPts val="496"/>
              </a:spcBef>
              <a:spcAft>
                <a:spcPts val="0"/>
              </a:spcAft>
              <a:buClr>
                <a:schemeClr val="dk1"/>
              </a:buClr>
              <a:buSzPct val="100000"/>
              <a:buNone/>
            </a:pPr>
            <a:r>
              <a:t/>
            </a:r>
            <a:endParaRPr/>
          </a:p>
        </p:txBody>
      </p:sp>
      <p:sp>
        <p:nvSpPr>
          <p:cNvPr id="208" name="Google Shape;208;p13"/>
          <p:cNvSpPr txBox="1"/>
          <p:nvPr/>
        </p:nvSpPr>
        <p:spPr>
          <a:xfrm>
            <a:off x="825500" y="1049338"/>
            <a:ext cx="6353175" cy="36671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dk1"/>
                </a:solidFill>
                <a:latin typeface="Helvetica Neue"/>
                <a:ea typeface="Helvetica Neue"/>
                <a:cs typeface="Helvetica Neue"/>
                <a:sym typeface="Helvetica Neue"/>
              </a:rPr>
              <a:t>Deadlock can arise if four conditions hold simultaneously.</a:t>
            </a:r>
            <a:endParaRPr/>
          </a:p>
        </p:txBody>
      </p:sp>
      <p:sp>
        <p:nvSpPr>
          <p:cNvPr id="209" name="Google Shape;209;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210" name="Google Shape;210;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11" name="Google Shape;211;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4"/>
          <p:cNvSpPr txBox="1"/>
          <p:nvPr>
            <p:ph type="title"/>
          </p:nvPr>
        </p:nvSpPr>
        <p:spPr>
          <a:xfrm>
            <a:off x="749300" y="182563"/>
            <a:ext cx="79375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with Mutex Locks</a:t>
            </a:r>
            <a:endParaRPr/>
          </a:p>
        </p:txBody>
      </p:sp>
      <p:sp>
        <p:nvSpPr>
          <p:cNvPr id="218" name="Google Shape;218;p14"/>
          <p:cNvSpPr txBox="1"/>
          <p:nvPr>
            <p:ph idx="1" type="body"/>
          </p:nvPr>
        </p:nvSpPr>
        <p:spPr>
          <a:xfrm>
            <a:off x="844550" y="1141413"/>
            <a:ext cx="7742238" cy="50847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Deadlocks can occur via system calls, locking, etc.</a:t>
            </a:r>
            <a:endParaRPr/>
          </a:p>
        </p:txBody>
      </p:sp>
      <p:sp>
        <p:nvSpPr>
          <p:cNvPr id="219" name="Google Shape;219;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220" name="Google Shape;220;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21" name="Google Shape;221;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5"/>
          <p:cNvSpPr txBox="1"/>
          <p:nvPr>
            <p:ph type="title"/>
          </p:nvPr>
        </p:nvSpPr>
        <p:spPr>
          <a:xfrm>
            <a:off x="1003300" y="166688"/>
            <a:ext cx="76835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Resource-Allocation Graph</a:t>
            </a:r>
            <a:endParaRPr/>
          </a:p>
        </p:txBody>
      </p:sp>
      <p:sp>
        <p:nvSpPr>
          <p:cNvPr id="228" name="Google Shape;228;p15"/>
          <p:cNvSpPr txBox="1"/>
          <p:nvPr>
            <p:ph idx="1" type="body"/>
          </p:nvPr>
        </p:nvSpPr>
        <p:spPr>
          <a:xfrm>
            <a:off x="1184275" y="1557338"/>
            <a:ext cx="6808788" cy="401955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V is partitioned into two types:</a:t>
            </a:r>
            <a:endParaRPr/>
          </a:p>
          <a:p>
            <a:pPr indent="-285750" lvl="1" marL="742950" rtl="0" algn="l">
              <a:spcBef>
                <a:spcPts val="560"/>
              </a:spcBef>
              <a:spcAft>
                <a:spcPts val="0"/>
              </a:spcAft>
              <a:buClr>
                <a:schemeClr val="dk1"/>
              </a:buClr>
              <a:buSzPts val="2800"/>
              <a:buChar char="–"/>
            </a:pPr>
            <a:r>
              <a:rPr i="1" lang="en-US"/>
              <a:t>P</a:t>
            </a:r>
            <a:r>
              <a:rPr lang="en-US"/>
              <a:t> = {</a:t>
            </a:r>
            <a:r>
              <a:rPr i="1" lang="en-US"/>
              <a:t>P</a:t>
            </a:r>
            <a:r>
              <a:rPr baseline="-25000" lang="en-US"/>
              <a:t>1</a:t>
            </a:r>
            <a:r>
              <a:rPr lang="en-US"/>
              <a:t>, </a:t>
            </a:r>
            <a:r>
              <a:rPr i="1" lang="en-US"/>
              <a:t>P</a:t>
            </a:r>
            <a:r>
              <a:rPr baseline="-25000" lang="en-US"/>
              <a:t>2</a:t>
            </a:r>
            <a:r>
              <a:rPr lang="en-US"/>
              <a:t>, …, </a:t>
            </a:r>
            <a:r>
              <a:rPr i="1" lang="en-US"/>
              <a:t>P</a:t>
            </a:r>
            <a:r>
              <a:rPr baseline="-25000" i="1" lang="en-US"/>
              <a:t>n</a:t>
            </a:r>
            <a:r>
              <a:rPr lang="en-US"/>
              <a:t>}, </a:t>
            </a:r>
            <a:endParaRPr/>
          </a:p>
          <a:p>
            <a:pPr indent="-285750" lvl="1" marL="742950" rtl="0" algn="l">
              <a:spcBef>
                <a:spcPts val="560"/>
              </a:spcBef>
              <a:spcAft>
                <a:spcPts val="0"/>
              </a:spcAft>
              <a:buClr>
                <a:schemeClr val="dk1"/>
              </a:buClr>
              <a:buSzPts val="2800"/>
              <a:buChar char="–"/>
            </a:pPr>
            <a:r>
              <a:rPr lang="en-US"/>
              <a:t>the set consisting of all the processes in the system</a:t>
            </a:r>
            <a:br>
              <a:rPr lang="en-US"/>
            </a:br>
            <a:endParaRPr/>
          </a:p>
          <a:p>
            <a:pPr indent="-285750" lvl="1" marL="742950" rtl="0" algn="l">
              <a:spcBef>
                <a:spcPts val="560"/>
              </a:spcBef>
              <a:spcAft>
                <a:spcPts val="0"/>
              </a:spcAft>
              <a:buClr>
                <a:schemeClr val="dk1"/>
              </a:buClr>
              <a:buSzPts val="2800"/>
              <a:buChar char="–"/>
            </a:pPr>
            <a:r>
              <a:rPr i="1" lang="en-US"/>
              <a:t>R</a:t>
            </a:r>
            <a:r>
              <a:rPr lang="en-US"/>
              <a:t> = {</a:t>
            </a:r>
            <a:r>
              <a:rPr i="1" lang="en-US"/>
              <a:t>R</a:t>
            </a:r>
            <a:r>
              <a:rPr baseline="-25000" lang="en-US"/>
              <a:t>1</a:t>
            </a:r>
            <a:r>
              <a:rPr lang="en-US"/>
              <a:t>, </a:t>
            </a:r>
            <a:r>
              <a:rPr i="1" lang="en-US"/>
              <a:t>R</a:t>
            </a:r>
            <a:r>
              <a:rPr baseline="-25000" lang="en-US"/>
              <a:t>2</a:t>
            </a:r>
            <a:r>
              <a:rPr lang="en-US"/>
              <a:t>, …, </a:t>
            </a:r>
            <a:r>
              <a:rPr i="1" lang="en-US"/>
              <a:t>R</a:t>
            </a:r>
            <a:r>
              <a:rPr baseline="-25000" i="1" lang="en-US"/>
              <a:t>m</a:t>
            </a:r>
            <a:r>
              <a:rPr lang="en-US"/>
              <a:t>}, </a:t>
            </a:r>
            <a:endParaRPr/>
          </a:p>
          <a:p>
            <a:pPr indent="-285750" lvl="1" marL="742950" rtl="0" algn="l">
              <a:spcBef>
                <a:spcPts val="560"/>
              </a:spcBef>
              <a:spcAft>
                <a:spcPts val="0"/>
              </a:spcAft>
              <a:buClr>
                <a:schemeClr val="dk1"/>
              </a:buClr>
              <a:buSzPts val="2800"/>
              <a:buChar char="–"/>
            </a:pPr>
            <a:r>
              <a:rPr lang="en-US"/>
              <a:t>the set consisting of all resource types in the system</a:t>
            </a:r>
            <a:endParaRPr/>
          </a:p>
          <a:p>
            <a:pPr indent="-228600" lvl="1" marL="742950" rtl="0" algn="l">
              <a:spcBef>
                <a:spcPts val="180"/>
              </a:spcBef>
              <a:spcAft>
                <a:spcPts val="0"/>
              </a:spcAft>
              <a:buClr>
                <a:schemeClr val="dk1"/>
              </a:buClr>
              <a:buSzPts val="900"/>
              <a:buNone/>
            </a:pPr>
            <a:r>
              <a:t/>
            </a:r>
            <a:endParaRPr sz="900"/>
          </a:p>
        </p:txBody>
      </p:sp>
      <p:sp>
        <p:nvSpPr>
          <p:cNvPr id="229" name="Google Shape;229;p15"/>
          <p:cNvSpPr txBox="1"/>
          <p:nvPr/>
        </p:nvSpPr>
        <p:spPr>
          <a:xfrm>
            <a:off x="822325" y="1035050"/>
            <a:ext cx="4692650" cy="39687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0" i="0" lang="en-US" sz="2000" u="none" cap="none" strike="noStrike">
                <a:solidFill>
                  <a:schemeClr val="dk1"/>
                </a:solidFill>
                <a:latin typeface="Helvetica Neue"/>
                <a:ea typeface="Helvetica Neue"/>
                <a:cs typeface="Helvetica Neue"/>
                <a:sym typeface="Helvetica Neue"/>
              </a:rPr>
              <a:t>A set of vertices </a:t>
            </a:r>
            <a:r>
              <a:rPr b="0" i="1" lang="en-US" sz="2000" u="none" cap="none" strike="noStrike">
                <a:solidFill>
                  <a:schemeClr val="dk1"/>
                </a:solidFill>
                <a:latin typeface="Helvetica Neue"/>
                <a:ea typeface="Helvetica Neue"/>
                <a:cs typeface="Helvetica Neue"/>
                <a:sym typeface="Helvetica Neue"/>
              </a:rPr>
              <a:t>V</a:t>
            </a:r>
            <a:r>
              <a:rPr b="0" i="0" lang="en-US" sz="2000" u="none" cap="none" strike="noStrike">
                <a:solidFill>
                  <a:schemeClr val="dk1"/>
                </a:solidFill>
                <a:latin typeface="Helvetica Neue"/>
                <a:ea typeface="Helvetica Neue"/>
                <a:cs typeface="Helvetica Neue"/>
                <a:sym typeface="Helvetica Neue"/>
              </a:rPr>
              <a:t> and a set of edges </a:t>
            </a:r>
            <a:r>
              <a:rPr b="0" i="1" lang="en-US" sz="2000" u="none" cap="none" strike="noStrike">
                <a:solidFill>
                  <a:schemeClr val="dk1"/>
                </a:solidFill>
                <a:latin typeface="Helvetica Neue"/>
                <a:ea typeface="Helvetica Neue"/>
                <a:cs typeface="Helvetica Neue"/>
                <a:sym typeface="Helvetica Neue"/>
              </a:rPr>
              <a:t>E</a:t>
            </a:r>
            <a:r>
              <a:rPr b="0" i="0" lang="en-US" sz="2000" u="none" cap="none" strike="noStrike">
                <a:solidFill>
                  <a:schemeClr val="dk1"/>
                </a:solidFill>
                <a:latin typeface="Helvetica Neue"/>
                <a:ea typeface="Helvetica Neue"/>
                <a:cs typeface="Helvetica Neue"/>
                <a:sym typeface="Helvetica Neue"/>
              </a:rPr>
              <a:t>.</a:t>
            </a:r>
            <a:endParaRPr/>
          </a:p>
        </p:txBody>
      </p:sp>
      <p:sp>
        <p:nvSpPr>
          <p:cNvPr id="230" name="Google Shape;230;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231" name="Google Shape;231;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32" name="Google Shape;232;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6"/>
          <p:cNvSpPr txBox="1"/>
          <p:nvPr>
            <p:ph type="title"/>
          </p:nvPr>
        </p:nvSpPr>
        <p:spPr>
          <a:xfrm>
            <a:off x="1003300" y="166688"/>
            <a:ext cx="76835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Resource-Allocation Graph</a:t>
            </a:r>
            <a:endParaRPr/>
          </a:p>
        </p:txBody>
      </p:sp>
      <p:sp>
        <p:nvSpPr>
          <p:cNvPr id="239" name="Google Shape;239;p16"/>
          <p:cNvSpPr txBox="1"/>
          <p:nvPr>
            <p:ph idx="1" type="body"/>
          </p:nvPr>
        </p:nvSpPr>
        <p:spPr>
          <a:xfrm>
            <a:off x="1184275" y="1557338"/>
            <a:ext cx="6808788" cy="4019550"/>
          </a:xfrm>
          <a:prstGeom prst="rect">
            <a:avLst/>
          </a:prstGeom>
          <a:noFill/>
          <a:ln>
            <a:noFill/>
          </a:ln>
        </p:spPr>
        <p:txBody>
          <a:bodyPr anchorCtr="0" anchor="t" bIns="45700" lIns="91425" spcFirstLastPara="1" rIns="91425" wrap="square" tIns="45700">
            <a:normAutofit fontScale="85000" lnSpcReduction="10000"/>
          </a:bodyPr>
          <a:lstStyle/>
          <a:p>
            <a:pPr indent="0" lvl="0" marL="0" rtl="0" algn="l">
              <a:spcBef>
                <a:spcPts val="0"/>
              </a:spcBef>
              <a:spcAft>
                <a:spcPts val="0"/>
              </a:spcAft>
              <a:buClr>
                <a:srgbClr val="3366FF"/>
              </a:buClr>
              <a:buSzPct val="100000"/>
              <a:buNone/>
            </a:pPr>
            <a:r>
              <a:rPr b="1" lang="en-US">
                <a:solidFill>
                  <a:srgbClr val="3366FF"/>
                </a:solidFill>
              </a:rPr>
              <a:t>request edge</a:t>
            </a:r>
            <a:r>
              <a:rPr lang="en-US">
                <a:solidFill>
                  <a:srgbClr val="3366FF"/>
                </a:solidFill>
              </a:rPr>
              <a:t> </a:t>
            </a:r>
            <a:r>
              <a:rPr lang="en-US"/>
              <a:t>– </a:t>
            </a:r>
            <a:endParaRPr/>
          </a:p>
          <a:p>
            <a:pPr indent="-342900" lvl="0" marL="342900" rtl="0" algn="l">
              <a:spcBef>
                <a:spcPts val="544"/>
              </a:spcBef>
              <a:spcAft>
                <a:spcPts val="0"/>
              </a:spcAft>
              <a:buClr>
                <a:schemeClr val="dk1"/>
              </a:buClr>
              <a:buSzPct val="100000"/>
              <a:buChar char="•"/>
            </a:pPr>
            <a:r>
              <a:rPr lang="en-US"/>
              <a:t>directed edge </a:t>
            </a:r>
            <a:r>
              <a:rPr i="1" lang="en-US"/>
              <a:t>P</a:t>
            </a:r>
            <a:r>
              <a:rPr baseline="-25000" i="1" lang="en-US"/>
              <a:t>i </a:t>
            </a:r>
            <a:r>
              <a:rPr lang="en-US"/>
              <a:t>→ </a:t>
            </a:r>
            <a:r>
              <a:rPr i="1" lang="en-US"/>
              <a:t>R</a:t>
            </a:r>
            <a:r>
              <a:rPr baseline="-25000" i="1" lang="en-US"/>
              <a:t>j</a:t>
            </a:r>
            <a:endParaRPr baseline="-25000" i="1"/>
          </a:p>
          <a:p>
            <a:pPr indent="-342900" lvl="0" marL="342900" rtl="0" algn="l">
              <a:spcBef>
                <a:spcPts val="544"/>
              </a:spcBef>
              <a:spcAft>
                <a:spcPts val="0"/>
              </a:spcAft>
              <a:buClr>
                <a:schemeClr val="dk1"/>
              </a:buClr>
              <a:buSzPct val="100000"/>
              <a:buChar char="•"/>
            </a:pPr>
            <a:r>
              <a:rPr i="1" lang="en-US"/>
              <a:t>P</a:t>
            </a:r>
            <a:r>
              <a:rPr baseline="-25000" i="1" lang="en-US"/>
              <a:t>i </a:t>
            </a:r>
            <a:r>
              <a:rPr i="1" lang="en-US"/>
              <a:t>Process </a:t>
            </a:r>
            <a:r>
              <a:rPr lang="en-US"/>
              <a:t>requested an instance of Resource type </a:t>
            </a:r>
            <a:r>
              <a:rPr i="1" lang="en-US"/>
              <a:t>R</a:t>
            </a:r>
            <a:r>
              <a:rPr baseline="-25000" i="1" lang="en-US"/>
              <a:t>j </a:t>
            </a:r>
            <a:endParaRPr/>
          </a:p>
          <a:p>
            <a:pPr indent="-342900" lvl="0" marL="342900" rtl="0" algn="l">
              <a:spcBef>
                <a:spcPts val="544"/>
              </a:spcBef>
              <a:spcAft>
                <a:spcPts val="0"/>
              </a:spcAft>
              <a:buClr>
                <a:schemeClr val="dk1"/>
              </a:buClr>
              <a:buSzPct val="100000"/>
              <a:buChar char="•"/>
            </a:pPr>
            <a:r>
              <a:rPr i="1" lang="en-US"/>
              <a:t>P</a:t>
            </a:r>
            <a:r>
              <a:rPr baseline="-25000" i="1" lang="en-US"/>
              <a:t>i</a:t>
            </a:r>
            <a:r>
              <a:rPr i="1" lang="en-US"/>
              <a:t> is currently waiting for that resource</a:t>
            </a:r>
            <a:endParaRPr baseline="-25000" i="1"/>
          </a:p>
          <a:p>
            <a:pPr indent="-170180" lvl="0" marL="342900" rtl="0" algn="l">
              <a:spcBef>
                <a:spcPts val="544"/>
              </a:spcBef>
              <a:spcAft>
                <a:spcPts val="0"/>
              </a:spcAft>
              <a:buClr>
                <a:schemeClr val="dk1"/>
              </a:buClr>
              <a:buSzPct val="100000"/>
              <a:buNone/>
            </a:pPr>
            <a:r>
              <a:t/>
            </a:r>
            <a:endParaRPr baseline="-25000" i="1"/>
          </a:p>
          <a:p>
            <a:pPr indent="-299720" lvl="0" marL="342900" rtl="0" algn="l">
              <a:spcBef>
                <a:spcPts val="136"/>
              </a:spcBef>
              <a:spcAft>
                <a:spcPts val="0"/>
              </a:spcAft>
              <a:buClr>
                <a:schemeClr val="dk1"/>
              </a:buClr>
              <a:buSzPct val="100000"/>
              <a:buNone/>
            </a:pPr>
            <a:r>
              <a:t/>
            </a:r>
            <a:endParaRPr baseline="-25000" i="1" sz="800"/>
          </a:p>
          <a:p>
            <a:pPr indent="0" lvl="0" marL="0" rtl="0" algn="l">
              <a:spcBef>
                <a:spcPts val="544"/>
              </a:spcBef>
              <a:spcAft>
                <a:spcPts val="0"/>
              </a:spcAft>
              <a:buClr>
                <a:srgbClr val="3366FF"/>
              </a:buClr>
              <a:buSzPct val="100000"/>
              <a:buNone/>
            </a:pPr>
            <a:r>
              <a:rPr b="1" lang="en-US">
                <a:solidFill>
                  <a:srgbClr val="3366FF"/>
                </a:solidFill>
              </a:rPr>
              <a:t>assignment edge</a:t>
            </a:r>
            <a:r>
              <a:rPr lang="en-US">
                <a:solidFill>
                  <a:srgbClr val="3366FF"/>
                </a:solidFill>
              </a:rPr>
              <a:t> </a:t>
            </a:r>
            <a:r>
              <a:rPr lang="en-US"/>
              <a:t>– </a:t>
            </a:r>
            <a:endParaRPr/>
          </a:p>
          <a:p>
            <a:pPr indent="-342900" lvl="0" marL="342900" rtl="0" algn="l">
              <a:spcBef>
                <a:spcPts val="544"/>
              </a:spcBef>
              <a:spcAft>
                <a:spcPts val="0"/>
              </a:spcAft>
              <a:buClr>
                <a:schemeClr val="dk1"/>
              </a:buClr>
              <a:buSzPct val="100000"/>
              <a:buChar char="•"/>
            </a:pPr>
            <a:r>
              <a:rPr lang="en-US"/>
              <a:t>directed edge </a:t>
            </a:r>
            <a:r>
              <a:rPr i="1" lang="en-US"/>
              <a:t>R</a:t>
            </a:r>
            <a:r>
              <a:rPr baseline="-25000" i="1" lang="en-US"/>
              <a:t>j</a:t>
            </a:r>
            <a:r>
              <a:rPr i="1" lang="en-US"/>
              <a:t> </a:t>
            </a:r>
            <a:r>
              <a:rPr lang="en-US"/>
              <a:t>→ </a:t>
            </a:r>
            <a:r>
              <a:rPr i="1" lang="en-US"/>
              <a:t>P</a:t>
            </a:r>
            <a:r>
              <a:rPr baseline="-25000" i="1" lang="en-US"/>
              <a:t>i</a:t>
            </a:r>
            <a:endParaRPr/>
          </a:p>
          <a:p>
            <a:pPr indent="-342900" lvl="0" marL="342900" rtl="0" algn="l">
              <a:spcBef>
                <a:spcPts val="544"/>
              </a:spcBef>
              <a:spcAft>
                <a:spcPts val="0"/>
              </a:spcAft>
              <a:buClr>
                <a:schemeClr val="dk1"/>
              </a:buClr>
              <a:buSzPct val="100000"/>
              <a:buChar char="•"/>
            </a:pPr>
            <a:r>
              <a:rPr i="1" lang="en-US"/>
              <a:t>R</a:t>
            </a:r>
            <a:r>
              <a:rPr baseline="-25000" i="1" lang="en-US"/>
              <a:t>j</a:t>
            </a:r>
            <a:r>
              <a:rPr i="1" lang="en-US"/>
              <a:t> Resource has been allocated to Process P</a:t>
            </a:r>
            <a:r>
              <a:rPr baseline="-25000" i="1" lang="en-US"/>
              <a:t>i</a:t>
            </a:r>
            <a:endParaRPr baseline="-25000" i="1"/>
          </a:p>
          <a:p>
            <a:pPr indent="-170180" lvl="0" marL="342900" rtl="0" algn="l">
              <a:spcBef>
                <a:spcPts val="544"/>
              </a:spcBef>
              <a:spcAft>
                <a:spcPts val="0"/>
              </a:spcAft>
              <a:buClr>
                <a:schemeClr val="dk1"/>
              </a:buClr>
              <a:buSzPct val="100000"/>
              <a:buNone/>
            </a:pPr>
            <a:r>
              <a:t/>
            </a:r>
            <a:endParaRPr baseline="-25000" i="1"/>
          </a:p>
          <a:p>
            <a:pPr indent="-170180" lvl="0" marL="342900" rtl="0" algn="l">
              <a:spcBef>
                <a:spcPts val="544"/>
              </a:spcBef>
              <a:spcAft>
                <a:spcPts val="0"/>
              </a:spcAft>
              <a:buClr>
                <a:schemeClr val="dk1"/>
              </a:buClr>
              <a:buSzPct val="100000"/>
              <a:buNone/>
            </a:pPr>
            <a:r>
              <a:t/>
            </a:r>
            <a:endParaRPr/>
          </a:p>
        </p:txBody>
      </p:sp>
      <p:sp>
        <p:nvSpPr>
          <p:cNvPr id="240" name="Google Shape;240;p16"/>
          <p:cNvSpPr txBox="1"/>
          <p:nvPr/>
        </p:nvSpPr>
        <p:spPr>
          <a:xfrm>
            <a:off x="822325" y="1035050"/>
            <a:ext cx="4692650" cy="39687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0" i="0" lang="en-US" sz="2000" u="none" cap="none" strike="noStrike">
                <a:solidFill>
                  <a:schemeClr val="dk1"/>
                </a:solidFill>
                <a:latin typeface="Helvetica Neue"/>
                <a:ea typeface="Helvetica Neue"/>
                <a:cs typeface="Helvetica Neue"/>
                <a:sym typeface="Helvetica Neue"/>
              </a:rPr>
              <a:t>A set of vertices </a:t>
            </a:r>
            <a:r>
              <a:rPr b="0" i="1" lang="en-US" sz="2000" u="none" cap="none" strike="noStrike">
                <a:solidFill>
                  <a:schemeClr val="dk1"/>
                </a:solidFill>
                <a:latin typeface="Helvetica Neue"/>
                <a:ea typeface="Helvetica Neue"/>
                <a:cs typeface="Helvetica Neue"/>
                <a:sym typeface="Helvetica Neue"/>
              </a:rPr>
              <a:t>V</a:t>
            </a:r>
            <a:r>
              <a:rPr b="0" i="0" lang="en-US" sz="2000" u="none" cap="none" strike="noStrike">
                <a:solidFill>
                  <a:schemeClr val="dk1"/>
                </a:solidFill>
                <a:latin typeface="Helvetica Neue"/>
                <a:ea typeface="Helvetica Neue"/>
                <a:cs typeface="Helvetica Neue"/>
                <a:sym typeface="Helvetica Neue"/>
              </a:rPr>
              <a:t> and a set of edges </a:t>
            </a:r>
            <a:r>
              <a:rPr b="0" i="1" lang="en-US" sz="2000" u="none" cap="none" strike="noStrike">
                <a:solidFill>
                  <a:schemeClr val="dk1"/>
                </a:solidFill>
                <a:latin typeface="Helvetica Neue"/>
                <a:ea typeface="Helvetica Neue"/>
                <a:cs typeface="Helvetica Neue"/>
                <a:sym typeface="Helvetica Neue"/>
              </a:rPr>
              <a:t>E</a:t>
            </a:r>
            <a:r>
              <a:rPr b="0" i="0" lang="en-US" sz="2000" u="none" cap="none" strike="noStrike">
                <a:solidFill>
                  <a:schemeClr val="dk1"/>
                </a:solidFill>
                <a:latin typeface="Helvetica Neue"/>
                <a:ea typeface="Helvetica Neue"/>
                <a:cs typeface="Helvetica Neue"/>
                <a:sym typeface="Helvetica Neue"/>
              </a:rPr>
              <a:t>.</a:t>
            </a:r>
            <a:endParaRPr/>
          </a:p>
        </p:txBody>
      </p:sp>
      <p:sp>
        <p:nvSpPr>
          <p:cNvPr id="241" name="Google Shape;241;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242" name="Google Shape;242;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43" name="Google Shape;243;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7"/>
          <p:cNvSpPr txBox="1"/>
          <p:nvPr>
            <p:ph type="title"/>
          </p:nvPr>
        </p:nvSpPr>
        <p:spPr>
          <a:xfrm>
            <a:off x="1128713" y="182563"/>
            <a:ext cx="78105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Resource-Allocation Graph (Cont.)</a:t>
            </a:r>
            <a:endParaRPr/>
          </a:p>
        </p:txBody>
      </p:sp>
      <p:sp>
        <p:nvSpPr>
          <p:cNvPr id="250" name="Google Shape;250;p17"/>
          <p:cNvSpPr txBox="1"/>
          <p:nvPr>
            <p:ph idx="1" type="body"/>
          </p:nvPr>
        </p:nvSpPr>
        <p:spPr>
          <a:xfrm>
            <a:off x="885825" y="1138238"/>
            <a:ext cx="7343775" cy="259556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Process</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Resource Type with 4 instances-</a:t>
            </a:r>
            <a:endParaRPr/>
          </a:p>
          <a:p>
            <a:pPr indent="-285750" lvl="1" marL="742950" rtl="0" algn="l">
              <a:spcBef>
                <a:spcPts val="480"/>
              </a:spcBef>
              <a:spcAft>
                <a:spcPts val="0"/>
              </a:spcAft>
              <a:buClr>
                <a:schemeClr val="dk1"/>
              </a:buClr>
              <a:buSzPts val="2400"/>
              <a:buChar char="–"/>
            </a:pPr>
            <a:r>
              <a:rPr lang="en-US" sz="2400"/>
              <a:t>Resource may have more than 1 instance</a:t>
            </a:r>
            <a:endParaRPr/>
          </a:p>
          <a:p>
            <a:pPr indent="-285750" lvl="1" marL="742950" rtl="0" algn="l">
              <a:spcBef>
                <a:spcPts val="480"/>
              </a:spcBef>
              <a:spcAft>
                <a:spcPts val="0"/>
              </a:spcAft>
              <a:buClr>
                <a:schemeClr val="dk1"/>
              </a:buClr>
              <a:buSzPts val="2400"/>
              <a:buChar char="–"/>
            </a:pPr>
            <a:r>
              <a:rPr lang="en-US" sz="2400"/>
              <a:t>Each such instance is a dot within the square</a:t>
            </a:r>
            <a:endParaRPr/>
          </a:p>
          <a:p>
            <a:pPr indent="-342900" lvl="0" marL="342900" rtl="0" algn="l">
              <a:spcBef>
                <a:spcPts val="480"/>
              </a:spcBef>
              <a:spcAft>
                <a:spcPts val="0"/>
              </a:spcAft>
              <a:buClr>
                <a:schemeClr val="dk1"/>
              </a:buClr>
              <a:buSzPts val="2400"/>
              <a:buFont typeface="Arial"/>
              <a:buNone/>
            </a:pPr>
            <a:r>
              <a:t/>
            </a:r>
            <a:endParaRPr sz="2400"/>
          </a:p>
        </p:txBody>
      </p:sp>
      <p:sp>
        <p:nvSpPr>
          <p:cNvPr id="251" name="Google Shape;251;p17"/>
          <p:cNvSpPr/>
          <p:nvPr/>
        </p:nvSpPr>
        <p:spPr>
          <a:xfrm>
            <a:off x="3117850" y="1158876"/>
            <a:ext cx="495300" cy="495300"/>
          </a:xfrm>
          <a:prstGeom prst="ellipse">
            <a:avLst/>
          </a:prstGeom>
          <a:solidFill>
            <a:srgbClr val="CCEC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grpSp>
        <p:nvGrpSpPr>
          <p:cNvPr id="252" name="Google Shape;252;p17"/>
          <p:cNvGrpSpPr/>
          <p:nvPr/>
        </p:nvGrpSpPr>
        <p:grpSpPr>
          <a:xfrm>
            <a:off x="6360463" y="1981200"/>
            <a:ext cx="438150" cy="419100"/>
            <a:chOff x="2666" y="1966"/>
            <a:chExt cx="276" cy="264"/>
          </a:xfrm>
        </p:grpSpPr>
        <p:sp>
          <p:nvSpPr>
            <p:cNvPr id="253" name="Google Shape;253;p17"/>
            <p:cNvSpPr/>
            <p:nvPr/>
          </p:nvSpPr>
          <p:spPr>
            <a:xfrm>
              <a:off x="2666" y="1966"/>
              <a:ext cx="276" cy="264"/>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54" name="Google Shape;254;p17"/>
            <p:cNvSpPr/>
            <p:nvPr/>
          </p:nvSpPr>
          <p:spPr>
            <a:xfrm>
              <a:off x="2736" y="2026"/>
              <a:ext cx="47" cy="47"/>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55" name="Google Shape;255;p17"/>
            <p:cNvSpPr/>
            <p:nvPr/>
          </p:nvSpPr>
          <p:spPr>
            <a:xfrm>
              <a:off x="2832" y="2026"/>
              <a:ext cx="47" cy="47"/>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56" name="Google Shape;256;p17"/>
            <p:cNvSpPr/>
            <p:nvPr/>
          </p:nvSpPr>
          <p:spPr>
            <a:xfrm>
              <a:off x="2736" y="2108"/>
              <a:ext cx="47" cy="47"/>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57" name="Google Shape;257;p17"/>
            <p:cNvSpPr/>
            <p:nvPr/>
          </p:nvSpPr>
          <p:spPr>
            <a:xfrm>
              <a:off x="2832" y="2108"/>
              <a:ext cx="47" cy="47"/>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grpSp>
      <p:sp>
        <p:nvSpPr>
          <p:cNvPr id="258" name="Google Shape;25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259" name="Google Shape;25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60" name="Google Shape;26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8"/>
          <p:cNvSpPr txBox="1"/>
          <p:nvPr>
            <p:ph type="title"/>
          </p:nvPr>
        </p:nvSpPr>
        <p:spPr>
          <a:xfrm>
            <a:off x="1128713" y="182563"/>
            <a:ext cx="78105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Resource-Allocation Graph (Cont.)</a:t>
            </a:r>
            <a:endParaRPr/>
          </a:p>
        </p:txBody>
      </p:sp>
      <p:sp>
        <p:nvSpPr>
          <p:cNvPr id="267" name="Google Shape;267;p18"/>
          <p:cNvSpPr txBox="1"/>
          <p:nvPr>
            <p:ph idx="1" type="body"/>
          </p:nvPr>
        </p:nvSpPr>
        <p:spPr>
          <a:xfrm>
            <a:off x="885825" y="1138238"/>
            <a:ext cx="7343775"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i="1" lang="en-US" sz="2400"/>
              <a:t>P</a:t>
            </a:r>
            <a:r>
              <a:rPr baseline="-25000" i="1" lang="en-US" sz="2400"/>
              <a:t>i</a:t>
            </a:r>
            <a:r>
              <a:rPr i="1" lang="en-US" sz="2400"/>
              <a:t> </a:t>
            </a:r>
            <a:r>
              <a:rPr lang="en-US" sz="2400"/>
              <a:t>requests instance of </a:t>
            </a:r>
            <a:r>
              <a:rPr i="1" lang="en-US" sz="2400"/>
              <a:t>R</a:t>
            </a:r>
            <a:r>
              <a:rPr baseline="-25000" i="1" lang="en-US" sz="2400"/>
              <a:t>j</a:t>
            </a:r>
            <a:endParaRPr baseline="-25000" i="1" sz="2400"/>
          </a:p>
          <a:p>
            <a:pPr indent="-285750" lvl="1" marL="742950" rtl="0" algn="l">
              <a:spcBef>
                <a:spcPts val="480"/>
              </a:spcBef>
              <a:spcAft>
                <a:spcPts val="0"/>
              </a:spcAft>
              <a:buClr>
                <a:schemeClr val="dk1"/>
              </a:buClr>
              <a:buSzPts val="2400"/>
              <a:buChar char="–"/>
            </a:pPr>
            <a:r>
              <a:rPr i="1" lang="en-US" sz="2400"/>
              <a:t>Request edge points only to the square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Font typeface="Arial"/>
              <a:buNone/>
            </a:pPr>
            <a:r>
              <a:t/>
            </a:r>
            <a:endParaRPr sz="2400"/>
          </a:p>
          <a:p>
            <a:pPr indent="-342900" lvl="0" marL="342900" rtl="0" algn="l">
              <a:spcBef>
                <a:spcPts val="480"/>
              </a:spcBef>
              <a:spcAft>
                <a:spcPts val="0"/>
              </a:spcAft>
              <a:buClr>
                <a:schemeClr val="dk1"/>
              </a:buClr>
              <a:buSzPts val="2400"/>
              <a:buChar char="•"/>
            </a:pPr>
            <a:r>
              <a:rPr i="1" lang="en-US" sz="2400"/>
              <a:t>P</a:t>
            </a:r>
            <a:r>
              <a:rPr baseline="-25000" i="1" lang="en-US" sz="2400"/>
              <a:t>i</a:t>
            </a:r>
            <a:r>
              <a:rPr lang="en-US" sz="2400"/>
              <a:t> is holding an instance of </a:t>
            </a:r>
            <a:r>
              <a:rPr i="1" lang="en-US" sz="2400"/>
              <a:t>R</a:t>
            </a:r>
            <a:r>
              <a:rPr baseline="-25000" i="1" lang="en-US" sz="2400"/>
              <a:t>j</a:t>
            </a:r>
            <a:endParaRPr baseline="-25000" i="1" sz="2400"/>
          </a:p>
          <a:p>
            <a:pPr indent="-285750" lvl="1" marL="742950" rtl="0" algn="l">
              <a:spcBef>
                <a:spcPts val="480"/>
              </a:spcBef>
              <a:spcAft>
                <a:spcPts val="0"/>
              </a:spcAft>
              <a:buClr>
                <a:schemeClr val="dk1"/>
              </a:buClr>
              <a:buSzPts val="2400"/>
              <a:buChar char="–"/>
            </a:pPr>
            <a:r>
              <a:rPr i="1" lang="en-US" sz="2400"/>
              <a:t>Assignment edge also designates one of the dots in the square</a:t>
            </a:r>
            <a:endParaRPr/>
          </a:p>
        </p:txBody>
      </p:sp>
      <p:sp>
        <p:nvSpPr>
          <p:cNvPr id="268" name="Google Shape;268;p18"/>
          <p:cNvSpPr/>
          <p:nvPr/>
        </p:nvSpPr>
        <p:spPr>
          <a:xfrm>
            <a:off x="3876675" y="4191000"/>
            <a:ext cx="495300" cy="495300"/>
          </a:xfrm>
          <a:prstGeom prst="ellipse">
            <a:avLst/>
          </a:prstGeom>
          <a:solidFill>
            <a:srgbClr val="CCEC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800" u="none" cap="none" strike="noStrike">
                <a:solidFill>
                  <a:schemeClr val="dk1"/>
                </a:solidFill>
                <a:latin typeface="Helvetica Neue"/>
                <a:ea typeface="Helvetica Neue"/>
                <a:cs typeface="Helvetica Neue"/>
                <a:sym typeface="Helvetica Neue"/>
              </a:rPr>
              <a:t>P</a:t>
            </a:r>
            <a:r>
              <a:rPr b="0" baseline="-25000" i="1" lang="en-US" sz="1800" u="none" cap="none" strike="noStrike">
                <a:solidFill>
                  <a:schemeClr val="dk1"/>
                </a:solidFill>
                <a:latin typeface="Helvetica Neue"/>
                <a:ea typeface="Helvetica Neue"/>
                <a:cs typeface="Helvetica Neue"/>
                <a:sym typeface="Helvetica Neue"/>
              </a:rPr>
              <a:t>i</a:t>
            </a:r>
            <a:endParaRPr b="0" i="0" sz="1800" u="none" cap="none" strike="noStrike">
              <a:solidFill>
                <a:schemeClr val="dk1"/>
              </a:solidFill>
              <a:latin typeface="Helvetica Neue"/>
              <a:ea typeface="Helvetica Neue"/>
              <a:cs typeface="Helvetica Neue"/>
              <a:sym typeface="Helvetica Neue"/>
            </a:endParaRPr>
          </a:p>
        </p:txBody>
      </p:sp>
      <p:sp>
        <p:nvSpPr>
          <p:cNvPr id="269" name="Google Shape;269;p18"/>
          <p:cNvSpPr/>
          <p:nvPr/>
        </p:nvSpPr>
        <p:spPr>
          <a:xfrm>
            <a:off x="3860800" y="2133600"/>
            <a:ext cx="495300" cy="495300"/>
          </a:xfrm>
          <a:prstGeom prst="ellipse">
            <a:avLst/>
          </a:prstGeom>
          <a:solidFill>
            <a:srgbClr val="CCEC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800" u="none" cap="none" strike="noStrike">
                <a:solidFill>
                  <a:schemeClr val="dk1"/>
                </a:solidFill>
                <a:latin typeface="Helvetica Neue"/>
                <a:ea typeface="Helvetica Neue"/>
                <a:cs typeface="Helvetica Neue"/>
                <a:sym typeface="Helvetica Neue"/>
              </a:rPr>
              <a:t>P</a:t>
            </a:r>
            <a:r>
              <a:rPr b="0" baseline="-25000" i="1" lang="en-US" sz="1800" u="none" cap="none" strike="noStrike">
                <a:solidFill>
                  <a:schemeClr val="dk1"/>
                </a:solidFill>
                <a:latin typeface="Helvetica Neue"/>
                <a:ea typeface="Helvetica Neue"/>
                <a:cs typeface="Helvetica Neue"/>
                <a:sym typeface="Helvetica Neue"/>
              </a:rPr>
              <a:t>i</a:t>
            </a:r>
            <a:endParaRPr b="0" i="1" sz="1800" u="none" cap="none" strike="noStrike">
              <a:solidFill>
                <a:schemeClr val="dk1"/>
              </a:solidFill>
              <a:latin typeface="Helvetica Neue"/>
              <a:ea typeface="Helvetica Neue"/>
              <a:cs typeface="Helvetica Neue"/>
              <a:sym typeface="Helvetica Neue"/>
            </a:endParaRPr>
          </a:p>
        </p:txBody>
      </p:sp>
      <p:grpSp>
        <p:nvGrpSpPr>
          <p:cNvPr id="270" name="Google Shape;270;p18"/>
          <p:cNvGrpSpPr/>
          <p:nvPr/>
        </p:nvGrpSpPr>
        <p:grpSpPr>
          <a:xfrm>
            <a:off x="4692650" y="2197100"/>
            <a:ext cx="438150" cy="419100"/>
            <a:chOff x="2666" y="1966"/>
            <a:chExt cx="276" cy="264"/>
          </a:xfrm>
        </p:grpSpPr>
        <p:sp>
          <p:nvSpPr>
            <p:cNvPr id="271" name="Google Shape;271;p18"/>
            <p:cNvSpPr/>
            <p:nvPr/>
          </p:nvSpPr>
          <p:spPr>
            <a:xfrm>
              <a:off x="2666" y="1966"/>
              <a:ext cx="276" cy="264"/>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72" name="Google Shape;272;p18"/>
            <p:cNvSpPr/>
            <p:nvPr/>
          </p:nvSpPr>
          <p:spPr>
            <a:xfrm>
              <a:off x="2736" y="2026"/>
              <a:ext cx="47" cy="47"/>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73" name="Google Shape;273;p18"/>
            <p:cNvSpPr/>
            <p:nvPr/>
          </p:nvSpPr>
          <p:spPr>
            <a:xfrm>
              <a:off x="2832" y="2026"/>
              <a:ext cx="47" cy="47"/>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74" name="Google Shape;274;p18"/>
            <p:cNvSpPr/>
            <p:nvPr/>
          </p:nvSpPr>
          <p:spPr>
            <a:xfrm>
              <a:off x="2736" y="2108"/>
              <a:ext cx="47" cy="47"/>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75" name="Google Shape;275;p18"/>
            <p:cNvSpPr/>
            <p:nvPr/>
          </p:nvSpPr>
          <p:spPr>
            <a:xfrm>
              <a:off x="2832" y="2108"/>
              <a:ext cx="47" cy="47"/>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grpSp>
      <p:cxnSp>
        <p:nvCxnSpPr>
          <p:cNvPr id="276" name="Google Shape;276;p18"/>
          <p:cNvCxnSpPr/>
          <p:nvPr/>
        </p:nvCxnSpPr>
        <p:spPr>
          <a:xfrm>
            <a:off x="4365625" y="2400300"/>
            <a:ext cx="304800" cy="0"/>
          </a:xfrm>
          <a:prstGeom prst="straightConnector1">
            <a:avLst/>
          </a:prstGeom>
          <a:noFill/>
          <a:ln cap="flat" cmpd="sng" w="9525">
            <a:solidFill>
              <a:schemeClr val="dk1"/>
            </a:solidFill>
            <a:prstDash val="solid"/>
            <a:round/>
            <a:headEnd len="med" w="med" type="none"/>
            <a:tailEnd len="med" w="med" type="triangle"/>
          </a:ln>
        </p:spPr>
      </p:cxnSp>
      <p:sp>
        <p:nvSpPr>
          <p:cNvPr id="277" name="Google Shape;277;p18"/>
          <p:cNvSpPr txBox="1"/>
          <p:nvPr/>
        </p:nvSpPr>
        <p:spPr>
          <a:xfrm>
            <a:off x="4752975" y="2614613"/>
            <a:ext cx="338138" cy="3048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0" i="1" lang="en-US" sz="1400" u="none" cap="none" strike="noStrike">
                <a:solidFill>
                  <a:schemeClr val="dk1"/>
                </a:solidFill>
                <a:latin typeface="Helvetica Neue"/>
                <a:ea typeface="Helvetica Neue"/>
                <a:cs typeface="Helvetica Neue"/>
                <a:sym typeface="Helvetica Neue"/>
              </a:rPr>
              <a:t>R</a:t>
            </a:r>
            <a:r>
              <a:rPr b="0" baseline="-25000" i="1" lang="en-US" sz="1400" u="none" cap="none" strike="noStrike">
                <a:solidFill>
                  <a:schemeClr val="dk1"/>
                </a:solidFill>
                <a:latin typeface="Helvetica Neue"/>
                <a:ea typeface="Helvetica Neue"/>
                <a:cs typeface="Helvetica Neue"/>
                <a:sym typeface="Helvetica Neue"/>
              </a:rPr>
              <a:t>j</a:t>
            </a:r>
            <a:endParaRPr b="0" i="1" sz="1400" u="none" cap="none" strike="noStrike">
              <a:solidFill>
                <a:schemeClr val="dk1"/>
              </a:solidFill>
              <a:latin typeface="Helvetica Neue"/>
              <a:ea typeface="Helvetica Neue"/>
              <a:cs typeface="Helvetica Neue"/>
              <a:sym typeface="Helvetica Neue"/>
            </a:endParaRPr>
          </a:p>
        </p:txBody>
      </p:sp>
      <p:grpSp>
        <p:nvGrpSpPr>
          <p:cNvPr id="278" name="Google Shape;278;p18"/>
          <p:cNvGrpSpPr/>
          <p:nvPr/>
        </p:nvGrpSpPr>
        <p:grpSpPr>
          <a:xfrm>
            <a:off x="4670425" y="4254500"/>
            <a:ext cx="438150" cy="419100"/>
            <a:chOff x="2666" y="1966"/>
            <a:chExt cx="276" cy="264"/>
          </a:xfrm>
        </p:grpSpPr>
        <p:sp>
          <p:nvSpPr>
            <p:cNvPr id="279" name="Google Shape;279;p18"/>
            <p:cNvSpPr/>
            <p:nvPr/>
          </p:nvSpPr>
          <p:spPr>
            <a:xfrm>
              <a:off x="2666" y="1966"/>
              <a:ext cx="276" cy="264"/>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80" name="Google Shape;280;p18"/>
            <p:cNvSpPr/>
            <p:nvPr/>
          </p:nvSpPr>
          <p:spPr>
            <a:xfrm>
              <a:off x="2736" y="2026"/>
              <a:ext cx="47" cy="47"/>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81" name="Google Shape;281;p18"/>
            <p:cNvSpPr/>
            <p:nvPr/>
          </p:nvSpPr>
          <p:spPr>
            <a:xfrm>
              <a:off x="2832" y="2026"/>
              <a:ext cx="47" cy="47"/>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82" name="Google Shape;282;p18"/>
            <p:cNvSpPr/>
            <p:nvPr/>
          </p:nvSpPr>
          <p:spPr>
            <a:xfrm>
              <a:off x="2736" y="2108"/>
              <a:ext cx="47" cy="47"/>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83" name="Google Shape;283;p18"/>
            <p:cNvSpPr/>
            <p:nvPr/>
          </p:nvSpPr>
          <p:spPr>
            <a:xfrm>
              <a:off x="2832" y="2108"/>
              <a:ext cx="47" cy="47"/>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grpSp>
      <p:cxnSp>
        <p:nvCxnSpPr>
          <p:cNvPr id="284" name="Google Shape;284;p18"/>
          <p:cNvCxnSpPr/>
          <p:nvPr/>
        </p:nvCxnSpPr>
        <p:spPr>
          <a:xfrm flipH="1">
            <a:off x="4343400" y="4400550"/>
            <a:ext cx="476250" cy="104775"/>
          </a:xfrm>
          <a:prstGeom prst="straightConnector1">
            <a:avLst/>
          </a:prstGeom>
          <a:noFill/>
          <a:ln cap="flat" cmpd="sng" w="9525">
            <a:solidFill>
              <a:schemeClr val="dk1"/>
            </a:solidFill>
            <a:prstDash val="solid"/>
            <a:round/>
            <a:headEnd len="med" w="med" type="none"/>
            <a:tailEnd len="med" w="med" type="triangle"/>
          </a:ln>
        </p:spPr>
      </p:cxnSp>
      <p:sp>
        <p:nvSpPr>
          <p:cNvPr id="285" name="Google Shape;285;p18"/>
          <p:cNvSpPr txBox="1"/>
          <p:nvPr/>
        </p:nvSpPr>
        <p:spPr>
          <a:xfrm>
            <a:off x="4721225" y="4643437"/>
            <a:ext cx="338138" cy="3048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0" i="1" lang="en-US" sz="1400" u="none" cap="none" strike="noStrike">
                <a:solidFill>
                  <a:schemeClr val="dk1"/>
                </a:solidFill>
                <a:latin typeface="Helvetica Neue"/>
                <a:ea typeface="Helvetica Neue"/>
                <a:cs typeface="Helvetica Neue"/>
                <a:sym typeface="Helvetica Neue"/>
              </a:rPr>
              <a:t>R</a:t>
            </a:r>
            <a:r>
              <a:rPr b="0" baseline="-25000" i="1" lang="en-US" sz="1400" u="none" cap="none" strike="noStrike">
                <a:solidFill>
                  <a:schemeClr val="dk1"/>
                </a:solidFill>
                <a:latin typeface="Helvetica Neue"/>
                <a:ea typeface="Helvetica Neue"/>
                <a:cs typeface="Helvetica Neue"/>
                <a:sym typeface="Helvetica Neue"/>
              </a:rPr>
              <a:t>j</a:t>
            </a:r>
            <a:endParaRPr b="0" i="1" sz="1400" u="none" cap="none" strike="noStrike">
              <a:solidFill>
                <a:schemeClr val="dk1"/>
              </a:solidFill>
              <a:latin typeface="Helvetica Neue"/>
              <a:ea typeface="Helvetica Neue"/>
              <a:cs typeface="Helvetica Neue"/>
              <a:sym typeface="Helvetica Neue"/>
            </a:endParaRPr>
          </a:p>
        </p:txBody>
      </p:sp>
      <p:sp>
        <p:nvSpPr>
          <p:cNvPr id="286" name="Google Shape;286;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287" name="Google Shape;287;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88" name="Google Shape;28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9"/>
          <p:cNvSpPr txBox="1"/>
          <p:nvPr>
            <p:ph type="title"/>
          </p:nvPr>
        </p:nvSpPr>
        <p:spPr>
          <a:xfrm>
            <a:off x="1128713" y="182563"/>
            <a:ext cx="78105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Resource-Allocation Graph (Cont.)</a:t>
            </a:r>
            <a:endParaRPr/>
          </a:p>
        </p:txBody>
      </p:sp>
      <p:sp>
        <p:nvSpPr>
          <p:cNvPr id="295" name="Google Shape;295;p19"/>
          <p:cNvSpPr txBox="1"/>
          <p:nvPr>
            <p:ph idx="1" type="body"/>
          </p:nvPr>
        </p:nvSpPr>
        <p:spPr>
          <a:xfrm>
            <a:off x="885825" y="1138238"/>
            <a:ext cx="7343775"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i="1" lang="en-US" sz="2400"/>
              <a:t>P</a:t>
            </a:r>
            <a:r>
              <a:rPr baseline="-25000" i="1" lang="en-US" sz="2400"/>
              <a:t>i</a:t>
            </a:r>
            <a:r>
              <a:rPr i="1" lang="en-US" sz="2400"/>
              <a:t> </a:t>
            </a:r>
            <a:r>
              <a:rPr lang="en-US" sz="2400"/>
              <a:t>requests instance of </a:t>
            </a:r>
            <a:r>
              <a:rPr i="1" lang="en-US" sz="2400"/>
              <a:t>R</a:t>
            </a:r>
            <a:r>
              <a:rPr baseline="-25000" i="1" lang="en-US" sz="2400"/>
              <a:t>j</a:t>
            </a:r>
            <a:endParaRPr baseline="-25000" i="1" sz="2400"/>
          </a:p>
          <a:p>
            <a:pPr indent="-285750" lvl="1" marL="742950" rtl="0" algn="l">
              <a:spcBef>
                <a:spcPts val="400"/>
              </a:spcBef>
              <a:spcAft>
                <a:spcPts val="0"/>
              </a:spcAft>
              <a:buClr>
                <a:schemeClr val="dk1"/>
              </a:buClr>
              <a:buSzPts val="2000"/>
              <a:buChar char="–"/>
            </a:pPr>
            <a:r>
              <a:rPr i="1" lang="en-US" sz="2000"/>
              <a:t>When process requests , the request edge is inserted in the graph</a:t>
            </a:r>
            <a:endParaRPr/>
          </a:p>
          <a:p>
            <a:pPr indent="-285750" lvl="1" marL="742950" rtl="0" algn="l">
              <a:spcBef>
                <a:spcPts val="400"/>
              </a:spcBef>
              <a:spcAft>
                <a:spcPts val="0"/>
              </a:spcAft>
              <a:buClr>
                <a:schemeClr val="dk1"/>
              </a:buClr>
              <a:buSzPts val="2000"/>
              <a:buChar char="–"/>
            </a:pPr>
            <a:r>
              <a:rPr i="1" lang="en-US" sz="2000"/>
              <a:t>When request is granted, request edge is transformed to assignment edge the resource</a:t>
            </a:r>
            <a:endParaRPr/>
          </a:p>
          <a:p>
            <a:pPr indent="-285750" lvl="1" marL="742950" rtl="0" algn="l">
              <a:spcBef>
                <a:spcPts val="400"/>
              </a:spcBef>
              <a:spcAft>
                <a:spcPts val="0"/>
              </a:spcAft>
              <a:buClr>
                <a:schemeClr val="dk1"/>
              </a:buClr>
              <a:buSzPts val="2000"/>
              <a:buChar char="–"/>
            </a:pPr>
            <a:r>
              <a:rPr i="1" lang="en-US" sz="2000"/>
              <a:t>When Resource not needed, assignment edge is deleted</a:t>
            </a:r>
            <a:endParaRPr/>
          </a:p>
          <a:p>
            <a:pPr indent="-133350" lvl="1" marL="74295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Font typeface="Arial"/>
              <a:buNone/>
            </a:pPr>
            <a:r>
              <a:t/>
            </a:r>
            <a:endParaRPr sz="2400"/>
          </a:p>
        </p:txBody>
      </p:sp>
      <p:sp>
        <p:nvSpPr>
          <p:cNvPr id="296" name="Google Shape;296;p19"/>
          <p:cNvSpPr/>
          <p:nvPr/>
        </p:nvSpPr>
        <p:spPr>
          <a:xfrm>
            <a:off x="3876675" y="5316538"/>
            <a:ext cx="495300" cy="495300"/>
          </a:xfrm>
          <a:prstGeom prst="ellipse">
            <a:avLst/>
          </a:prstGeom>
          <a:solidFill>
            <a:srgbClr val="CCEC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800" u="none" cap="none" strike="noStrike">
                <a:solidFill>
                  <a:schemeClr val="dk1"/>
                </a:solidFill>
                <a:latin typeface="Helvetica Neue"/>
                <a:ea typeface="Helvetica Neue"/>
                <a:cs typeface="Helvetica Neue"/>
                <a:sym typeface="Helvetica Neue"/>
              </a:rPr>
              <a:t>P</a:t>
            </a:r>
            <a:r>
              <a:rPr b="0" baseline="-25000" i="1" lang="en-US" sz="1800" u="none" cap="none" strike="noStrike">
                <a:solidFill>
                  <a:schemeClr val="dk1"/>
                </a:solidFill>
                <a:latin typeface="Helvetica Neue"/>
                <a:ea typeface="Helvetica Neue"/>
                <a:cs typeface="Helvetica Neue"/>
                <a:sym typeface="Helvetica Neue"/>
              </a:rPr>
              <a:t>i</a:t>
            </a:r>
            <a:endParaRPr b="0" i="0" sz="1800" u="none" cap="none" strike="noStrike">
              <a:solidFill>
                <a:schemeClr val="dk1"/>
              </a:solidFill>
              <a:latin typeface="Helvetica Neue"/>
              <a:ea typeface="Helvetica Neue"/>
              <a:cs typeface="Helvetica Neue"/>
              <a:sym typeface="Helvetica Neue"/>
            </a:endParaRPr>
          </a:p>
        </p:txBody>
      </p:sp>
      <p:sp>
        <p:nvSpPr>
          <p:cNvPr id="297" name="Google Shape;297;p19"/>
          <p:cNvSpPr/>
          <p:nvPr/>
        </p:nvSpPr>
        <p:spPr>
          <a:xfrm>
            <a:off x="3860800" y="3914775"/>
            <a:ext cx="495300" cy="495300"/>
          </a:xfrm>
          <a:prstGeom prst="ellipse">
            <a:avLst/>
          </a:prstGeom>
          <a:solidFill>
            <a:srgbClr val="CCEC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1800" u="none" cap="none" strike="noStrike">
                <a:solidFill>
                  <a:schemeClr val="dk1"/>
                </a:solidFill>
                <a:latin typeface="Helvetica Neue"/>
                <a:ea typeface="Helvetica Neue"/>
                <a:cs typeface="Helvetica Neue"/>
                <a:sym typeface="Helvetica Neue"/>
              </a:rPr>
              <a:t>P</a:t>
            </a:r>
            <a:r>
              <a:rPr b="0" baseline="-25000" i="1" lang="en-US" sz="1800" u="none" cap="none" strike="noStrike">
                <a:solidFill>
                  <a:schemeClr val="dk1"/>
                </a:solidFill>
                <a:latin typeface="Helvetica Neue"/>
                <a:ea typeface="Helvetica Neue"/>
                <a:cs typeface="Helvetica Neue"/>
                <a:sym typeface="Helvetica Neue"/>
              </a:rPr>
              <a:t>i</a:t>
            </a:r>
            <a:endParaRPr b="0" i="1" sz="1800" u="none" cap="none" strike="noStrike">
              <a:solidFill>
                <a:schemeClr val="dk1"/>
              </a:solidFill>
              <a:latin typeface="Helvetica Neue"/>
              <a:ea typeface="Helvetica Neue"/>
              <a:cs typeface="Helvetica Neue"/>
              <a:sym typeface="Helvetica Neue"/>
            </a:endParaRPr>
          </a:p>
        </p:txBody>
      </p:sp>
      <p:grpSp>
        <p:nvGrpSpPr>
          <p:cNvPr id="298" name="Google Shape;298;p19"/>
          <p:cNvGrpSpPr/>
          <p:nvPr/>
        </p:nvGrpSpPr>
        <p:grpSpPr>
          <a:xfrm>
            <a:off x="4692650" y="3978275"/>
            <a:ext cx="438150" cy="419100"/>
            <a:chOff x="2666" y="1966"/>
            <a:chExt cx="276" cy="264"/>
          </a:xfrm>
        </p:grpSpPr>
        <p:sp>
          <p:nvSpPr>
            <p:cNvPr id="299" name="Google Shape;299;p19"/>
            <p:cNvSpPr/>
            <p:nvPr/>
          </p:nvSpPr>
          <p:spPr>
            <a:xfrm>
              <a:off x="2666" y="1966"/>
              <a:ext cx="276" cy="264"/>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300" name="Google Shape;300;p19"/>
            <p:cNvSpPr/>
            <p:nvPr/>
          </p:nvSpPr>
          <p:spPr>
            <a:xfrm>
              <a:off x="2736" y="2026"/>
              <a:ext cx="47" cy="47"/>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301" name="Google Shape;301;p19"/>
            <p:cNvSpPr/>
            <p:nvPr/>
          </p:nvSpPr>
          <p:spPr>
            <a:xfrm>
              <a:off x="2832" y="2026"/>
              <a:ext cx="47" cy="47"/>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302" name="Google Shape;302;p19"/>
            <p:cNvSpPr/>
            <p:nvPr/>
          </p:nvSpPr>
          <p:spPr>
            <a:xfrm>
              <a:off x="2736" y="2108"/>
              <a:ext cx="47" cy="47"/>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303" name="Google Shape;303;p19"/>
            <p:cNvSpPr/>
            <p:nvPr/>
          </p:nvSpPr>
          <p:spPr>
            <a:xfrm>
              <a:off x="2832" y="2108"/>
              <a:ext cx="47" cy="47"/>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grpSp>
      <p:cxnSp>
        <p:nvCxnSpPr>
          <p:cNvPr id="304" name="Google Shape;304;p19"/>
          <p:cNvCxnSpPr/>
          <p:nvPr/>
        </p:nvCxnSpPr>
        <p:spPr>
          <a:xfrm>
            <a:off x="4365625" y="4181475"/>
            <a:ext cx="304800" cy="0"/>
          </a:xfrm>
          <a:prstGeom prst="straightConnector1">
            <a:avLst/>
          </a:prstGeom>
          <a:noFill/>
          <a:ln cap="flat" cmpd="sng" w="9525">
            <a:solidFill>
              <a:schemeClr val="dk1"/>
            </a:solidFill>
            <a:prstDash val="solid"/>
            <a:round/>
            <a:headEnd len="med" w="med" type="none"/>
            <a:tailEnd len="med" w="med" type="triangle"/>
          </a:ln>
        </p:spPr>
      </p:cxnSp>
      <p:sp>
        <p:nvSpPr>
          <p:cNvPr id="305" name="Google Shape;305;p19"/>
          <p:cNvSpPr txBox="1"/>
          <p:nvPr/>
        </p:nvSpPr>
        <p:spPr>
          <a:xfrm>
            <a:off x="4752975" y="4395788"/>
            <a:ext cx="338138" cy="3048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0" i="1" lang="en-US" sz="1400" u="none" cap="none" strike="noStrike">
                <a:solidFill>
                  <a:schemeClr val="dk1"/>
                </a:solidFill>
                <a:latin typeface="Helvetica Neue"/>
                <a:ea typeface="Helvetica Neue"/>
                <a:cs typeface="Helvetica Neue"/>
                <a:sym typeface="Helvetica Neue"/>
              </a:rPr>
              <a:t>R</a:t>
            </a:r>
            <a:r>
              <a:rPr b="0" baseline="-25000" i="1" lang="en-US" sz="1400" u="none" cap="none" strike="noStrike">
                <a:solidFill>
                  <a:schemeClr val="dk1"/>
                </a:solidFill>
                <a:latin typeface="Helvetica Neue"/>
                <a:ea typeface="Helvetica Neue"/>
                <a:cs typeface="Helvetica Neue"/>
                <a:sym typeface="Helvetica Neue"/>
              </a:rPr>
              <a:t>j</a:t>
            </a:r>
            <a:endParaRPr b="0" i="1" sz="1400" u="none" cap="none" strike="noStrike">
              <a:solidFill>
                <a:schemeClr val="dk1"/>
              </a:solidFill>
              <a:latin typeface="Helvetica Neue"/>
              <a:ea typeface="Helvetica Neue"/>
              <a:cs typeface="Helvetica Neue"/>
              <a:sym typeface="Helvetica Neue"/>
            </a:endParaRPr>
          </a:p>
        </p:txBody>
      </p:sp>
      <p:grpSp>
        <p:nvGrpSpPr>
          <p:cNvPr id="306" name="Google Shape;306;p19"/>
          <p:cNvGrpSpPr/>
          <p:nvPr/>
        </p:nvGrpSpPr>
        <p:grpSpPr>
          <a:xfrm>
            <a:off x="4670425" y="5380038"/>
            <a:ext cx="438150" cy="419100"/>
            <a:chOff x="2666" y="1966"/>
            <a:chExt cx="276" cy="264"/>
          </a:xfrm>
        </p:grpSpPr>
        <p:sp>
          <p:nvSpPr>
            <p:cNvPr id="307" name="Google Shape;307;p19"/>
            <p:cNvSpPr/>
            <p:nvPr/>
          </p:nvSpPr>
          <p:spPr>
            <a:xfrm>
              <a:off x="2666" y="1966"/>
              <a:ext cx="276" cy="264"/>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308" name="Google Shape;308;p19"/>
            <p:cNvSpPr/>
            <p:nvPr/>
          </p:nvSpPr>
          <p:spPr>
            <a:xfrm>
              <a:off x="2736" y="2026"/>
              <a:ext cx="47" cy="47"/>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309" name="Google Shape;309;p19"/>
            <p:cNvSpPr/>
            <p:nvPr/>
          </p:nvSpPr>
          <p:spPr>
            <a:xfrm>
              <a:off x="2832" y="2026"/>
              <a:ext cx="47" cy="47"/>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310" name="Google Shape;310;p19"/>
            <p:cNvSpPr/>
            <p:nvPr/>
          </p:nvSpPr>
          <p:spPr>
            <a:xfrm>
              <a:off x="2736" y="2108"/>
              <a:ext cx="47" cy="47"/>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311" name="Google Shape;311;p19"/>
            <p:cNvSpPr/>
            <p:nvPr/>
          </p:nvSpPr>
          <p:spPr>
            <a:xfrm>
              <a:off x="2832" y="2108"/>
              <a:ext cx="47" cy="47"/>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grpSp>
      <p:cxnSp>
        <p:nvCxnSpPr>
          <p:cNvPr id="312" name="Google Shape;312;p19"/>
          <p:cNvCxnSpPr/>
          <p:nvPr/>
        </p:nvCxnSpPr>
        <p:spPr>
          <a:xfrm flipH="1">
            <a:off x="4343400" y="5526088"/>
            <a:ext cx="476250" cy="104775"/>
          </a:xfrm>
          <a:prstGeom prst="straightConnector1">
            <a:avLst/>
          </a:prstGeom>
          <a:noFill/>
          <a:ln cap="flat" cmpd="sng" w="9525">
            <a:solidFill>
              <a:schemeClr val="dk1"/>
            </a:solidFill>
            <a:prstDash val="solid"/>
            <a:round/>
            <a:headEnd len="med" w="med" type="none"/>
            <a:tailEnd len="med" w="med" type="triangle"/>
          </a:ln>
        </p:spPr>
      </p:cxnSp>
      <p:sp>
        <p:nvSpPr>
          <p:cNvPr id="313" name="Google Shape;313;p19"/>
          <p:cNvSpPr txBox="1"/>
          <p:nvPr/>
        </p:nvSpPr>
        <p:spPr>
          <a:xfrm>
            <a:off x="4721225" y="5768975"/>
            <a:ext cx="338138" cy="3048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0" i="1" lang="en-US" sz="1400" u="none" cap="none" strike="noStrike">
                <a:solidFill>
                  <a:schemeClr val="dk1"/>
                </a:solidFill>
                <a:latin typeface="Helvetica Neue"/>
                <a:ea typeface="Helvetica Neue"/>
                <a:cs typeface="Helvetica Neue"/>
                <a:sym typeface="Helvetica Neue"/>
              </a:rPr>
              <a:t>R</a:t>
            </a:r>
            <a:r>
              <a:rPr b="0" baseline="-25000" i="1" lang="en-US" sz="1400" u="none" cap="none" strike="noStrike">
                <a:solidFill>
                  <a:schemeClr val="dk1"/>
                </a:solidFill>
                <a:latin typeface="Helvetica Neue"/>
                <a:ea typeface="Helvetica Neue"/>
                <a:cs typeface="Helvetica Neue"/>
                <a:sym typeface="Helvetica Neue"/>
              </a:rPr>
              <a:t>j</a:t>
            </a:r>
            <a:endParaRPr b="0" i="1" sz="1400" u="none" cap="none" strike="noStrike">
              <a:solidFill>
                <a:schemeClr val="dk1"/>
              </a:solidFill>
              <a:latin typeface="Helvetica Neue"/>
              <a:ea typeface="Helvetica Neue"/>
              <a:cs typeface="Helvetica Neue"/>
              <a:sym typeface="Helvetica Neue"/>
            </a:endParaRPr>
          </a:p>
        </p:txBody>
      </p:sp>
      <p:sp>
        <p:nvSpPr>
          <p:cNvPr id="314" name="Google Shape;31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315" name="Google Shape;31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16" name="Google Shape;31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0"/>
          <p:cNvSpPr txBox="1"/>
          <p:nvPr>
            <p:ph type="title"/>
          </p:nvPr>
        </p:nvSpPr>
        <p:spPr>
          <a:xfrm>
            <a:off x="1076325" y="207963"/>
            <a:ext cx="8150225" cy="5127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2800"/>
              <a:t>Example of a Resource Allocation Graph</a:t>
            </a:r>
            <a:endParaRPr/>
          </a:p>
        </p:txBody>
      </p:sp>
      <p:pic>
        <p:nvPicPr>
          <p:cNvPr id="323" name="Google Shape;323;p20"/>
          <p:cNvPicPr preferRelativeResize="0"/>
          <p:nvPr/>
        </p:nvPicPr>
        <p:blipFill rotWithShape="1">
          <a:blip r:embed="rId3">
            <a:alphaModFix/>
          </a:blip>
          <a:srcRect b="1532" l="25286" r="25286" t="926"/>
          <a:stretch/>
        </p:blipFill>
        <p:spPr>
          <a:xfrm>
            <a:off x="1143000" y="1316038"/>
            <a:ext cx="2741612" cy="4059237"/>
          </a:xfrm>
          <a:prstGeom prst="rect">
            <a:avLst/>
          </a:prstGeom>
          <a:noFill/>
          <a:ln>
            <a:noFill/>
          </a:ln>
        </p:spPr>
      </p:pic>
      <p:sp>
        <p:nvSpPr>
          <p:cNvPr id="324" name="Google Shape;324;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325" name="Google Shape;325;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26" name="Google Shape;326;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1"/>
          <p:cNvSpPr txBox="1"/>
          <p:nvPr>
            <p:ph type="title"/>
          </p:nvPr>
        </p:nvSpPr>
        <p:spPr>
          <a:xfrm>
            <a:off x="1076325" y="207963"/>
            <a:ext cx="8150225" cy="5127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2800"/>
              <a:t>Example of a Resource Allocation Graph</a:t>
            </a:r>
            <a:endParaRPr/>
          </a:p>
        </p:txBody>
      </p:sp>
      <p:pic>
        <p:nvPicPr>
          <p:cNvPr id="333" name="Google Shape;333;p21"/>
          <p:cNvPicPr preferRelativeResize="0"/>
          <p:nvPr/>
        </p:nvPicPr>
        <p:blipFill rotWithShape="1">
          <a:blip r:embed="rId3">
            <a:alphaModFix/>
          </a:blip>
          <a:srcRect b="1532" l="25286" r="25286" t="926"/>
          <a:stretch/>
        </p:blipFill>
        <p:spPr>
          <a:xfrm>
            <a:off x="1143000" y="1316038"/>
            <a:ext cx="2741612" cy="4059237"/>
          </a:xfrm>
          <a:prstGeom prst="rect">
            <a:avLst/>
          </a:prstGeom>
          <a:noFill/>
          <a:ln>
            <a:noFill/>
          </a:ln>
        </p:spPr>
      </p:pic>
      <p:sp>
        <p:nvSpPr>
          <p:cNvPr id="334" name="Google Shape;334;p21"/>
          <p:cNvSpPr txBox="1"/>
          <p:nvPr/>
        </p:nvSpPr>
        <p:spPr>
          <a:xfrm>
            <a:off x="4724400" y="1447800"/>
            <a:ext cx="4267200" cy="401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Sets P,R,E</a:t>
            </a:r>
            <a:endParaRPr/>
          </a:p>
          <a:p>
            <a:pPr indent="-342900" lvl="0" marL="342900"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P={P1,P2,P3}</a:t>
            </a:r>
            <a:endParaRPr/>
          </a:p>
          <a:p>
            <a:pPr indent="-342900" lvl="0" marL="342900"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R={R1,R2,R3}</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Resource Instances</a:t>
            </a:r>
            <a:endParaRPr/>
          </a:p>
          <a:p>
            <a:pPr indent="-342900" lvl="0" marL="342900"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R1=1 Instance</a:t>
            </a:r>
            <a:endParaRPr/>
          </a:p>
          <a:p>
            <a:pPr indent="-342900" lvl="0" marL="342900"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R2=2 instances</a:t>
            </a:r>
            <a:endParaRPr/>
          </a:p>
          <a:p>
            <a:pPr indent="-342900" lvl="0" marL="342900"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R3=1 instances</a:t>
            </a:r>
            <a:endParaRPr/>
          </a:p>
          <a:p>
            <a:pPr indent="-342900" lvl="0" marL="342900"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R4=3 instances</a:t>
            </a:r>
            <a:endParaRPr/>
          </a:p>
          <a:p>
            <a:pPr indent="-241300" lvl="1" marL="742950" marR="0" rtl="0" algn="l">
              <a:spcBef>
                <a:spcPts val="140"/>
              </a:spcBef>
              <a:spcAft>
                <a:spcPts val="0"/>
              </a:spcAft>
              <a:buClr>
                <a:schemeClr val="dk1"/>
              </a:buClr>
              <a:buSzPts val="700"/>
              <a:buFont typeface="Arial"/>
              <a:buNone/>
            </a:pPr>
            <a:r>
              <a:t/>
            </a:r>
            <a:endParaRPr b="0" i="0" sz="700" u="none" cap="none" strike="noStrike">
              <a:solidFill>
                <a:schemeClr val="dk1"/>
              </a:solidFill>
              <a:latin typeface="Calibri"/>
              <a:ea typeface="Calibri"/>
              <a:cs typeface="Calibri"/>
              <a:sym typeface="Calibri"/>
            </a:endParaRPr>
          </a:p>
        </p:txBody>
      </p:sp>
      <p:sp>
        <p:nvSpPr>
          <p:cNvPr id="335" name="Google Shape;335;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336" name="Google Shape;336;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37" name="Google Shape;337;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2"/>
          <p:cNvSpPr txBox="1"/>
          <p:nvPr>
            <p:ph type="title"/>
          </p:nvPr>
        </p:nvSpPr>
        <p:spPr>
          <a:xfrm>
            <a:off x="1076325" y="207963"/>
            <a:ext cx="8150225" cy="5127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2800"/>
              <a:t>Example of a Resource Allocation Graph</a:t>
            </a:r>
            <a:endParaRPr/>
          </a:p>
        </p:txBody>
      </p:sp>
      <p:pic>
        <p:nvPicPr>
          <p:cNvPr id="344" name="Google Shape;344;p22"/>
          <p:cNvPicPr preferRelativeResize="0"/>
          <p:nvPr/>
        </p:nvPicPr>
        <p:blipFill rotWithShape="1">
          <a:blip r:embed="rId3">
            <a:alphaModFix/>
          </a:blip>
          <a:srcRect b="1532" l="25286" r="25286" t="926"/>
          <a:stretch/>
        </p:blipFill>
        <p:spPr>
          <a:xfrm>
            <a:off x="381000" y="1316037"/>
            <a:ext cx="2741612" cy="4059237"/>
          </a:xfrm>
          <a:prstGeom prst="rect">
            <a:avLst/>
          </a:prstGeom>
          <a:noFill/>
          <a:ln>
            <a:noFill/>
          </a:ln>
        </p:spPr>
      </p:pic>
      <p:sp>
        <p:nvSpPr>
          <p:cNvPr id="345" name="Google Shape;345;p22"/>
          <p:cNvSpPr txBox="1"/>
          <p:nvPr/>
        </p:nvSpPr>
        <p:spPr>
          <a:xfrm>
            <a:off x="3352800" y="1447800"/>
            <a:ext cx="5638800" cy="48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Process states:</a:t>
            </a:r>
            <a:endParaRPr/>
          </a:p>
          <a:p>
            <a:pPr indent="-342900" lvl="0" marL="342900"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Process P1 is holding an instance of resource type R2 and is waiting for an instance of resource type R1 .</a:t>
            </a:r>
            <a:endParaRPr/>
          </a:p>
          <a:p>
            <a:pPr indent="-342900" lvl="0" marL="342900"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Process P2 is holding an instance of R1 and an instance of R2 and is waiting for an instance of R3.</a:t>
            </a:r>
            <a:endParaRPr/>
          </a:p>
          <a:p>
            <a:pPr indent="-342900" lvl="0" marL="342900"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Process </a:t>
            </a:r>
            <a:r>
              <a:rPr b="0" i="1" lang="en-US" sz="2400" u="none" cap="none" strike="noStrike">
                <a:solidFill>
                  <a:schemeClr val="dk1"/>
                </a:solidFill>
                <a:latin typeface="Calibri"/>
                <a:ea typeface="Calibri"/>
                <a:cs typeface="Calibri"/>
                <a:sym typeface="Calibri"/>
              </a:rPr>
              <a:t>P3 </a:t>
            </a:r>
            <a:r>
              <a:rPr b="0" i="0" lang="en-US" sz="2400" u="none" cap="none" strike="noStrike">
                <a:solidFill>
                  <a:schemeClr val="dk1"/>
                </a:solidFill>
                <a:latin typeface="Calibri"/>
                <a:ea typeface="Calibri"/>
                <a:cs typeface="Calibri"/>
                <a:sym typeface="Calibri"/>
              </a:rPr>
              <a:t>is holding an instance of R3 .</a:t>
            </a:r>
            <a:endParaRPr/>
          </a:p>
          <a:p>
            <a:pPr indent="-190500" lvl="0" marL="342900"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342900" lvl="0" marL="342900"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E={P1-&gt;R1,P2-&gt;R3,R1-&gt;P2,</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	R2-&gt;P2,R2-&gt;P1,R3-&gt;P3}</a:t>
            </a:r>
            <a:endParaRPr/>
          </a:p>
          <a:p>
            <a:pPr indent="-190500" lvl="0" marL="342900"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346" name="Google Shape;34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347" name="Google Shape;34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48" name="Google Shape;34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3"/>
          <p:cNvSpPr txBox="1"/>
          <p:nvPr>
            <p:ph type="title"/>
          </p:nvPr>
        </p:nvSpPr>
        <p:spPr>
          <a:xfrm>
            <a:off x="457200" y="152400"/>
            <a:ext cx="8229600"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Basic Facts</a:t>
            </a:r>
            <a:endParaRPr/>
          </a:p>
        </p:txBody>
      </p:sp>
      <p:sp>
        <p:nvSpPr>
          <p:cNvPr id="355" name="Google Shape;355;p23"/>
          <p:cNvSpPr txBox="1"/>
          <p:nvPr>
            <p:ph idx="1" type="body"/>
          </p:nvPr>
        </p:nvSpPr>
        <p:spPr>
          <a:xfrm>
            <a:off x="865188" y="1217613"/>
            <a:ext cx="7897812" cy="440055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lang="en-US"/>
              <a:t>If graph contains no cycles ⇒ no deadlock</a:t>
            </a:r>
            <a:endParaRPr/>
          </a:p>
          <a:p>
            <a:pPr indent="-342900" lvl="0" marL="342900" rtl="0" algn="l">
              <a:spcBef>
                <a:spcPts val="592"/>
              </a:spcBef>
              <a:spcAft>
                <a:spcPts val="0"/>
              </a:spcAft>
              <a:buClr>
                <a:schemeClr val="dk1"/>
              </a:buClr>
              <a:buSzPct val="100000"/>
              <a:buChar char="•"/>
            </a:pPr>
            <a:r>
              <a:rPr lang="en-US"/>
              <a:t>If graph contains a cycle ⇒</a:t>
            </a:r>
            <a:endParaRPr/>
          </a:p>
          <a:p>
            <a:pPr indent="-285750" lvl="1" marL="742950" rtl="0" algn="l">
              <a:spcBef>
                <a:spcPts val="518"/>
              </a:spcBef>
              <a:spcAft>
                <a:spcPts val="0"/>
              </a:spcAft>
              <a:buClr>
                <a:schemeClr val="dk1"/>
              </a:buClr>
              <a:buSzPct val="100000"/>
              <a:buChar char="–"/>
            </a:pPr>
            <a:r>
              <a:rPr lang="en-US"/>
              <a:t>Deadlock may exist</a:t>
            </a:r>
            <a:endParaRPr/>
          </a:p>
          <a:p>
            <a:pPr indent="-285750" lvl="1" marL="742950" rtl="0" algn="l">
              <a:spcBef>
                <a:spcPts val="518"/>
              </a:spcBef>
              <a:spcAft>
                <a:spcPts val="0"/>
              </a:spcAft>
              <a:buClr>
                <a:schemeClr val="dk1"/>
              </a:buClr>
              <a:buSzPct val="100000"/>
              <a:buChar char="–"/>
            </a:pPr>
            <a:r>
              <a:rPr lang="en-US"/>
              <a:t>if only one instance per resource type, then deadlock</a:t>
            </a:r>
            <a:endParaRPr/>
          </a:p>
          <a:p>
            <a:pPr indent="-228600" lvl="2" marL="1143000" rtl="0" algn="l">
              <a:spcBef>
                <a:spcPts val="444"/>
              </a:spcBef>
              <a:spcAft>
                <a:spcPts val="0"/>
              </a:spcAft>
              <a:buClr>
                <a:schemeClr val="dk1"/>
              </a:buClr>
              <a:buSzPct val="100000"/>
              <a:buChar char="•"/>
            </a:pPr>
            <a:r>
              <a:rPr lang="en-US"/>
              <a:t>In this case, cycle is both necessary and sufficient condition for deadlock</a:t>
            </a:r>
            <a:endParaRPr/>
          </a:p>
          <a:p>
            <a:pPr indent="-285750" lvl="1" marL="742950" rtl="0" algn="l">
              <a:spcBef>
                <a:spcPts val="518"/>
              </a:spcBef>
              <a:spcAft>
                <a:spcPts val="0"/>
              </a:spcAft>
              <a:buClr>
                <a:schemeClr val="dk1"/>
              </a:buClr>
              <a:buSzPct val="100000"/>
              <a:buChar char="–"/>
            </a:pPr>
            <a:r>
              <a:rPr lang="en-US"/>
              <a:t>if several instances per resource type, possibility of deadlock</a:t>
            </a:r>
            <a:endParaRPr/>
          </a:p>
          <a:p>
            <a:pPr indent="-228600" lvl="2" marL="1143000" rtl="0" algn="l">
              <a:spcBef>
                <a:spcPts val="444"/>
              </a:spcBef>
              <a:spcAft>
                <a:spcPts val="0"/>
              </a:spcAft>
              <a:buClr>
                <a:schemeClr val="dk1"/>
              </a:buClr>
              <a:buSzPct val="100000"/>
              <a:buChar char="•"/>
            </a:pPr>
            <a:r>
              <a:rPr lang="en-US"/>
              <a:t>In this case, cycle is necessary but not sufficient condition for existence of deadlock</a:t>
            </a:r>
            <a:endParaRPr/>
          </a:p>
        </p:txBody>
      </p:sp>
      <p:sp>
        <p:nvSpPr>
          <p:cNvPr id="356" name="Google Shape;356;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357" name="Google Shape;357;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58" name="Google Shape;358;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4"/>
          <p:cNvSpPr txBox="1"/>
          <p:nvPr>
            <p:ph type="title"/>
          </p:nvPr>
        </p:nvSpPr>
        <p:spPr>
          <a:xfrm>
            <a:off x="1033463" y="273050"/>
            <a:ext cx="8378825" cy="4699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2800"/>
              <a:t>Resource Allocation Graph With A Deadlock</a:t>
            </a:r>
            <a:endParaRPr/>
          </a:p>
        </p:txBody>
      </p:sp>
      <p:pic>
        <p:nvPicPr>
          <p:cNvPr id="365" name="Google Shape;365;p24"/>
          <p:cNvPicPr preferRelativeResize="0"/>
          <p:nvPr/>
        </p:nvPicPr>
        <p:blipFill rotWithShape="1">
          <a:blip r:embed="rId3">
            <a:alphaModFix/>
          </a:blip>
          <a:srcRect b="0" l="0" r="0" t="0"/>
          <a:stretch/>
        </p:blipFill>
        <p:spPr>
          <a:xfrm>
            <a:off x="2362200" y="1252538"/>
            <a:ext cx="1905000" cy="4098925"/>
          </a:xfrm>
          <a:prstGeom prst="rect">
            <a:avLst/>
          </a:prstGeom>
          <a:noFill/>
          <a:ln>
            <a:noFill/>
          </a:ln>
        </p:spPr>
      </p:pic>
      <p:sp>
        <p:nvSpPr>
          <p:cNvPr id="366" name="Google Shape;366;p24"/>
          <p:cNvSpPr txBox="1"/>
          <p:nvPr/>
        </p:nvSpPr>
        <p:spPr>
          <a:xfrm>
            <a:off x="4800600" y="1447800"/>
            <a:ext cx="4191000" cy="4724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FF0000"/>
              </a:buClr>
              <a:buSzPts val="2400"/>
              <a:buFont typeface="Arial"/>
              <a:buChar char="•"/>
            </a:pPr>
            <a:r>
              <a:rPr b="0" i="0" lang="en-US" sz="2400" u="none" cap="none" strike="noStrike">
                <a:solidFill>
                  <a:srgbClr val="FF0000"/>
                </a:solidFill>
                <a:latin typeface="Calibri"/>
                <a:ea typeface="Calibri"/>
                <a:cs typeface="Calibri"/>
                <a:sym typeface="Calibri"/>
              </a:rPr>
              <a:t>If P3 requests an instance of resource R2?</a:t>
            </a:r>
            <a:endParaRPr/>
          </a:p>
          <a:p>
            <a:pPr indent="-342900" lvl="0" marL="342900"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Since no resource instance is free, a request edge P3-&gt;R2 is added</a:t>
            </a:r>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pic>
        <p:nvPicPr>
          <p:cNvPr id="367" name="Google Shape;367;p24"/>
          <p:cNvPicPr preferRelativeResize="0"/>
          <p:nvPr/>
        </p:nvPicPr>
        <p:blipFill rotWithShape="1">
          <a:blip r:embed="rId4">
            <a:alphaModFix/>
          </a:blip>
          <a:srcRect b="1532" l="25286" r="25286" t="926"/>
          <a:stretch/>
        </p:blipFill>
        <p:spPr>
          <a:xfrm>
            <a:off x="315047" y="1252538"/>
            <a:ext cx="1818553" cy="4059237"/>
          </a:xfrm>
          <a:prstGeom prst="rect">
            <a:avLst/>
          </a:prstGeom>
          <a:noFill/>
          <a:ln>
            <a:noFill/>
          </a:ln>
        </p:spPr>
      </p:pic>
      <p:cxnSp>
        <p:nvCxnSpPr>
          <p:cNvPr id="368" name="Google Shape;368;p24"/>
          <p:cNvCxnSpPr/>
          <p:nvPr/>
        </p:nvCxnSpPr>
        <p:spPr>
          <a:xfrm>
            <a:off x="1447800" y="5791200"/>
            <a:ext cx="1981200" cy="0"/>
          </a:xfrm>
          <a:prstGeom prst="straightConnector1">
            <a:avLst/>
          </a:prstGeom>
          <a:noFill/>
          <a:ln cap="flat" cmpd="sng" w="9525">
            <a:solidFill>
              <a:srgbClr val="4A7DBA"/>
            </a:solidFill>
            <a:prstDash val="solid"/>
            <a:round/>
            <a:headEnd len="sm" w="sm" type="none"/>
            <a:tailEnd len="med" w="med" type="stealth"/>
          </a:ln>
        </p:spPr>
      </p:cxnSp>
      <p:sp>
        <p:nvSpPr>
          <p:cNvPr id="369" name="Google Shape;369;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370" name="Google Shape;370;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71" name="Google Shape;371;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25"/>
          <p:cNvSpPr txBox="1"/>
          <p:nvPr>
            <p:ph type="title"/>
          </p:nvPr>
        </p:nvSpPr>
        <p:spPr>
          <a:xfrm>
            <a:off x="1033463" y="273050"/>
            <a:ext cx="8378825" cy="4699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2800"/>
              <a:t>Resource Allocation Graph With A Deadlock</a:t>
            </a:r>
            <a:endParaRPr/>
          </a:p>
        </p:txBody>
      </p:sp>
      <p:pic>
        <p:nvPicPr>
          <p:cNvPr id="378" name="Google Shape;378;p25"/>
          <p:cNvPicPr preferRelativeResize="0"/>
          <p:nvPr/>
        </p:nvPicPr>
        <p:blipFill rotWithShape="1">
          <a:blip r:embed="rId3">
            <a:alphaModFix/>
          </a:blip>
          <a:srcRect b="0" l="0" r="0" t="0"/>
          <a:stretch/>
        </p:blipFill>
        <p:spPr>
          <a:xfrm>
            <a:off x="2362200" y="1252538"/>
            <a:ext cx="1905000" cy="4098925"/>
          </a:xfrm>
          <a:prstGeom prst="rect">
            <a:avLst/>
          </a:prstGeom>
          <a:noFill/>
          <a:ln>
            <a:noFill/>
          </a:ln>
        </p:spPr>
      </p:pic>
      <p:sp>
        <p:nvSpPr>
          <p:cNvPr id="379" name="Google Shape;379;p25"/>
          <p:cNvSpPr txBox="1"/>
          <p:nvPr/>
        </p:nvSpPr>
        <p:spPr>
          <a:xfrm>
            <a:off x="4800600" y="1447800"/>
            <a:ext cx="4191000" cy="4724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So, Now Two cycles exist –</a:t>
            </a:r>
            <a:endParaRPr/>
          </a:p>
          <a:p>
            <a:pPr indent="0" lvl="0" marL="0" marR="0" rtl="0" algn="l">
              <a:spcBef>
                <a:spcPts val="400"/>
              </a:spcBef>
              <a:spcAft>
                <a:spcPts val="0"/>
              </a:spcAft>
              <a:buClr>
                <a:schemeClr val="dk1"/>
              </a:buClr>
              <a:buSzPts val="2000"/>
              <a:buFont typeface="Arial"/>
              <a:buNone/>
            </a:pPr>
            <a:r>
              <a:rPr b="0" i="0" lang="en-US" sz="2000" u="none" cap="none" strike="noStrike">
                <a:solidFill>
                  <a:schemeClr val="dk1"/>
                </a:solidFill>
                <a:latin typeface="Calibri"/>
                <a:ea typeface="Calibri"/>
                <a:cs typeface="Calibri"/>
                <a:sym typeface="Calibri"/>
              </a:rPr>
              <a:t>P1-&gt;R1-&gt;P2-&gt;R3-&gt;P3-&gt;R2-&gt;P1</a:t>
            </a:r>
            <a:endParaRPr/>
          </a:p>
          <a:p>
            <a:pPr indent="0" lvl="0" marL="0" marR="0" rtl="0" algn="l">
              <a:spcBef>
                <a:spcPts val="400"/>
              </a:spcBef>
              <a:spcAft>
                <a:spcPts val="0"/>
              </a:spcAft>
              <a:buClr>
                <a:schemeClr val="dk1"/>
              </a:buClr>
              <a:buSzPts val="2000"/>
              <a:buFont typeface="Arial"/>
              <a:buNone/>
            </a:pPr>
            <a:r>
              <a:rPr b="0" i="0" lang="en-US" sz="2000" u="none" cap="none" strike="noStrike">
                <a:solidFill>
                  <a:schemeClr val="dk1"/>
                </a:solidFill>
                <a:latin typeface="Calibri"/>
                <a:ea typeface="Calibri"/>
                <a:cs typeface="Calibri"/>
                <a:sym typeface="Calibri"/>
              </a:rPr>
              <a:t>P2-&gt;R3-&gt;P3-&gt;R2-&gt;P2 </a:t>
            </a:r>
            <a:endParaRPr/>
          </a:p>
          <a:p>
            <a:pPr indent="-215900" lvl="0" marL="342900" marR="0" rtl="0" algn="l">
              <a:spcBef>
                <a:spcPts val="40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P1,P2,P3 are deadlocked</a:t>
            </a:r>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pic>
        <p:nvPicPr>
          <p:cNvPr id="380" name="Google Shape;380;p25"/>
          <p:cNvPicPr preferRelativeResize="0"/>
          <p:nvPr/>
        </p:nvPicPr>
        <p:blipFill rotWithShape="1">
          <a:blip r:embed="rId4">
            <a:alphaModFix/>
          </a:blip>
          <a:srcRect b="1532" l="25286" r="25286" t="926"/>
          <a:stretch/>
        </p:blipFill>
        <p:spPr>
          <a:xfrm>
            <a:off x="315047" y="1252538"/>
            <a:ext cx="1818553" cy="4059237"/>
          </a:xfrm>
          <a:prstGeom prst="rect">
            <a:avLst/>
          </a:prstGeom>
          <a:noFill/>
          <a:ln>
            <a:noFill/>
          </a:ln>
        </p:spPr>
      </p:pic>
      <p:cxnSp>
        <p:nvCxnSpPr>
          <p:cNvPr id="381" name="Google Shape;381;p25"/>
          <p:cNvCxnSpPr/>
          <p:nvPr/>
        </p:nvCxnSpPr>
        <p:spPr>
          <a:xfrm>
            <a:off x="1447800" y="5791200"/>
            <a:ext cx="1981200" cy="0"/>
          </a:xfrm>
          <a:prstGeom prst="straightConnector1">
            <a:avLst/>
          </a:prstGeom>
          <a:noFill/>
          <a:ln cap="flat" cmpd="sng" w="9525">
            <a:solidFill>
              <a:srgbClr val="4A7DBA"/>
            </a:solidFill>
            <a:prstDash val="solid"/>
            <a:round/>
            <a:headEnd len="sm" w="sm" type="none"/>
            <a:tailEnd len="med" w="med" type="stealth"/>
          </a:ln>
        </p:spPr>
      </p:cxnSp>
      <p:sp>
        <p:nvSpPr>
          <p:cNvPr id="382" name="Google Shape;382;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383" name="Google Shape;383;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84" name="Google Shape;384;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26"/>
          <p:cNvSpPr txBox="1"/>
          <p:nvPr>
            <p:ph type="title"/>
          </p:nvPr>
        </p:nvSpPr>
        <p:spPr>
          <a:xfrm>
            <a:off x="1033463" y="273050"/>
            <a:ext cx="8378825" cy="4699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2800"/>
              <a:t>Resource Allocation Graph With A Deadlock</a:t>
            </a:r>
            <a:endParaRPr/>
          </a:p>
        </p:txBody>
      </p:sp>
      <p:pic>
        <p:nvPicPr>
          <p:cNvPr id="391" name="Google Shape;391;p26"/>
          <p:cNvPicPr preferRelativeResize="0"/>
          <p:nvPr/>
        </p:nvPicPr>
        <p:blipFill rotWithShape="1">
          <a:blip r:embed="rId3">
            <a:alphaModFix/>
          </a:blip>
          <a:srcRect b="0" l="0" r="0" t="0"/>
          <a:stretch/>
        </p:blipFill>
        <p:spPr>
          <a:xfrm>
            <a:off x="2362200" y="1252538"/>
            <a:ext cx="1905000" cy="4098925"/>
          </a:xfrm>
          <a:prstGeom prst="rect">
            <a:avLst/>
          </a:prstGeom>
          <a:noFill/>
          <a:ln>
            <a:noFill/>
          </a:ln>
        </p:spPr>
      </p:pic>
      <p:sp>
        <p:nvSpPr>
          <p:cNvPr id="392" name="Google Shape;392;p26"/>
          <p:cNvSpPr txBox="1"/>
          <p:nvPr/>
        </p:nvSpPr>
        <p:spPr>
          <a:xfrm>
            <a:off x="4800600" y="1447800"/>
            <a:ext cx="4191000" cy="4724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P1,P2,P3 are deadlocked</a:t>
            </a:r>
            <a:endParaRPr/>
          </a:p>
          <a:p>
            <a:pPr indent="-342900" lvl="0" marL="342900"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Process </a:t>
            </a:r>
            <a:r>
              <a:rPr b="0" i="1" lang="en-US" sz="2000" u="none" cap="none" strike="noStrike">
                <a:solidFill>
                  <a:schemeClr val="dk1"/>
                </a:solidFill>
                <a:latin typeface="Calibri"/>
                <a:ea typeface="Calibri"/>
                <a:cs typeface="Calibri"/>
                <a:sym typeface="Calibri"/>
              </a:rPr>
              <a:t>P2 </a:t>
            </a:r>
            <a:r>
              <a:rPr b="0" i="0" lang="en-US" sz="2000" u="none" cap="none" strike="noStrike">
                <a:solidFill>
                  <a:schemeClr val="dk1"/>
                </a:solidFill>
                <a:latin typeface="Calibri"/>
                <a:ea typeface="Calibri"/>
                <a:cs typeface="Calibri"/>
                <a:sym typeface="Calibri"/>
              </a:rPr>
              <a:t>is waiting for the resource </a:t>
            </a:r>
            <a:r>
              <a:rPr b="0" i="1" lang="en-US" sz="2000" u="none" cap="none" strike="noStrike">
                <a:solidFill>
                  <a:schemeClr val="dk1"/>
                </a:solidFill>
                <a:latin typeface="Calibri"/>
                <a:ea typeface="Calibri"/>
                <a:cs typeface="Calibri"/>
                <a:sym typeface="Calibri"/>
              </a:rPr>
              <a:t>R3, </a:t>
            </a:r>
            <a:r>
              <a:rPr b="0" i="0" lang="en-US" sz="2000" u="none" cap="none" strike="noStrike">
                <a:solidFill>
                  <a:schemeClr val="dk1"/>
                </a:solidFill>
                <a:latin typeface="Calibri"/>
                <a:ea typeface="Calibri"/>
                <a:cs typeface="Calibri"/>
                <a:sym typeface="Calibri"/>
              </a:rPr>
              <a:t>which is held by process </a:t>
            </a:r>
            <a:r>
              <a:rPr b="0" i="1" lang="en-US" sz="2000" u="none" cap="none" strike="noStrike">
                <a:solidFill>
                  <a:schemeClr val="dk1"/>
                </a:solidFill>
                <a:latin typeface="Calibri"/>
                <a:ea typeface="Calibri"/>
                <a:cs typeface="Calibri"/>
                <a:sym typeface="Calibri"/>
              </a:rPr>
              <a:t>P3. </a:t>
            </a:r>
            <a:r>
              <a:rPr b="0" i="0" lang="en-US" sz="2000" u="none" cap="none" strike="noStrike">
                <a:solidFill>
                  <a:schemeClr val="dk1"/>
                </a:solidFill>
                <a:latin typeface="Calibri"/>
                <a:ea typeface="Calibri"/>
                <a:cs typeface="Calibri"/>
                <a:sym typeface="Calibri"/>
              </a:rPr>
              <a:t>Process </a:t>
            </a:r>
            <a:r>
              <a:rPr b="0" i="1" lang="en-US" sz="2000" u="none" cap="none" strike="noStrike">
                <a:solidFill>
                  <a:schemeClr val="dk1"/>
                </a:solidFill>
                <a:latin typeface="Calibri"/>
                <a:ea typeface="Calibri"/>
                <a:cs typeface="Calibri"/>
                <a:sym typeface="Calibri"/>
              </a:rPr>
              <a:t>P3 </a:t>
            </a:r>
            <a:r>
              <a:rPr b="0" i="0" lang="en-US" sz="2000" u="none" cap="none" strike="noStrike">
                <a:solidFill>
                  <a:schemeClr val="dk1"/>
                </a:solidFill>
                <a:latin typeface="Calibri"/>
                <a:ea typeface="Calibri"/>
                <a:cs typeface="Calibri"/>
                <a:sym typeface="Calibri"/>
              </a:rPr>
              <a:t>is waiting for either process </a:t>
            </a:r>
            <a:r>
              <a:rPr b="0" i="1" lang="en-US" sz="2000" u="none" cap="none" strike="noStrike">
                <a:solidFill>
                  <a:schemeClr val="dk1"/>
                </a:solidFill>
                <a:latin typeface="Calibri"/>
                <a:ea typeface="Calibri"/>
                <a:cs typeface="Calibri"/>
                <a:sym typeface="Calibri"/>
              </a:rPr>
              <a:t>P1 </a:t>
            </a:r>
            <a:r>
              <a:rPr b="0" i="0" lang="en-US" sz="2000" u="none" cap="none" strike="noStrike">
                <a:solidFill>
                  <a:schemeClr val="dk1"/>
                </a:solidFill>
                <a:latin typeface="Calibri"/>
                <a:ea typeface="Calibri"/>
                <a:cs typeface="Calibri"/>
                <a:sym typeface="Calibri"/>
              </a:rPr>
              <a:t>or process </a:t>
            </a:r>
            <a:r>
              <a:rPr b="0" i="1" lang="en-US" sz="2000" u="none" cap="none" strike="noStrike">
                <a:solidFill>
                  <a:schemeClr val="dk1"/>
                </a:solidFill>
                <a:latin typeface="Calibri"/>
                <a:ea typeface="Calibri"/>
                <a:cs typeface="Calibri"/>
                <a:sym typeface="Calibri"/>
              </a:rPr>
              <a:t>P2 </a:t>
            </a:r>
            <a:r>
              <a:rPr b="0" i="0" lang="en-US" sz="2000" u="none" cap="none" strike="noStrike">
                <a:solidFill>
                  <a:schemeClr val="dk1"/>
                </a:solidFill>
                <a:latin typeface="Calibri"/>
                <a:ea typeface="Calibri"/>
                <a:cs typeface="Calibri"/>
                <a:sym typeface="Calibri"/>
              </a:rPr>
              <a:t>to release resource R2. </a:t>
            </a:r>
            <a:endParaRPr b="0" i="0" sz="2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In addition, process </a:t>
            </a:r>
            <a:r>
              <a:rPr b="0" i="1" lang="en-US" sz="2000" u="none" cap="none" strike="noStrike">
                <a:solidFill>
                  <a:schemeClr val="dk1"/>
                </a:solidFill>
                <a:latin typeface="Calibri"/>
                <a:ea typeface="Calibri"/>
                <a:cs typeface="Calibri"/>
                <a:sym typeface="Calibri"/>
              </a:rPr>
              <a:t>P1 </a:t>
            </a:r>
            <a:r>
              <a:rPr b="0" i="0" lang="en-US" sz="2000" u="none" cap="none" strike="noStrike">
                <a:solidFill>
                  <a:schemeClr val="dk1"/>
                </a:solidFill>
                <a:latin typeface="Calibri"/>
                <a:ea typeface="Calibri"/>
                <a:cs typeface="Calibri"/>
                <a:sym typeface="Calibri"/>
              </a:rPr>
              <a:t>is waiting for process </a:t>
            </a:r>
            <a:r>
              <a:rPr b="0" i="1" lang="en-US" sz="2000" u="none" cap="none" strike="noStrike">
                <a:solidFill>
                  <a:schemeClr val="dk1"/>
                </a:solidFill>
                <a:latin typeface="Calibri"/>
                <a:ea typeface="Calibri"/>
                <a:cs typeface="Calibri"/>
                <a:sym typeface="Calibri"/>
              </a:rPr>
              <a:t>P2 </a:t>
            </a:r>
            <a:r>
              <a:rPr b="0" i="0" lang="en-US" sz="2000" u="none" cap="none" strike="noStrike">
                <a:solidFill>
                  <a:schemeClr val="dk1"/>
                </a:solidFill>
                <a:latin typeface="Calibri"/>
                <a:ea typeface="Calibri"/>
                <a:cs typeface="Calibri"/>
                <a:sym typeface="Calibri"/>
              </a:rPr>
              <a:t>to release resource R1.</a:t>
            </a:r>
            <a:endParaRPr/>
          </a:p>
          <a:p>
            <a:pPr indent="-342900" lvl="0" marL="342900" marR="0" rtl="0" algn="l">
              <a:spcBef>
                <a:spcPts val="4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Circular Wait</a:t>
            </a:r>
            <a:endParaRPr b="0" i="0" sz="2000" u="none" cap="none" strike="noStrike">
              <a:solidFill>
                <a:schemeClr val="dk1"/>
              </a:solidFill>
              <a:latin typeface="Calibri"/>
              <a:ea typeface="Calibri"/>
              <a:cs typeface="Calibri"/>
              <a:sym typeface="Calibri"/>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pic>
        <p:nvPicPr>
          <p:cNvPr id="393" name="Google Shape;393;p26"/>
          <p:cNvPicPr preferRelativeResize="0"/>
          <p:nvPr/>
        </p:nvPicPr>
        <p:blipFill rotWithShape="1">
          <a:blip r:embed="rId4">
            <a:alphaModFix/>
          </a:blip>
          <a:srcRect b="1532" l="25286" r="25286" t="926"/>
          <a:stretch/>
        </p:blipFill>
        <p:spPr>
          <a:xfrm>
            <a:off x="315047" y="1252538"/>
            <a:ext cx="1818553" cy="4059237"/>
          </a:xfrm>
          <a:prstGeom prst="rect">
            <a:avLst/>
          </a:prstGeom>
          <a:noFill/>
          <a:ln>
            <a:noFill/>
          </a:ln>
        </p:spPr>
      </p:pic>
      <p:cxnSp>
        <p:nvCxnSpPr>
          <p:cNvPr id="394" name="Google Shape;394;p26"/>
          <p:cNvCxnSpPr/>
          <p:nvPr/>
        </p:nvCxnSpPr>
        <p:spPr>
          <a:xfrm>
            <a:off x="1447800" y="5791200"/>
            <a:ext cx="1981200" cy="0"/>
          </a:xfrm>
          <a:prstGeom prst="straightConnector1">
            <a:avLst/>
          </a:prstGeom>
          <a:noFill/>
          <a:ln cap="flat" cmpd="sng" w="9525">
            <a:solidFill>
              <a:srgbClr val="4A7DBA"/>
            </a:solidFill>
            <a:prstDash val="solid"/>
            <a:round/>
            <a:headEnd len="sm" w="sm" type="none"/>
            <a:tailEnd len="med" w="med" type="stealth"/>
          </a:ln>
        </p:spPr>
      </p:cxnSp>
      <p:sp>
        <p:nvSpPr>
          <p:cNvPr id="395" name="Google Shape;39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396" name="Google Shape;39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97" name="Google Shape;39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7"/>
          <p:cNvSpPr txBox="1"/>
          <p:nvPr>
            <p:ph type="title"/>
          </p:nvPr>
        </p:nvSpPr>
        <p:spPr>
          <a:xfrm>
            <a:off x="1" y="76200"/>
            <a:ext cx="9196388" cy="762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US" sz="3200"/>
              <a:t>Resource Allocation Graph With A Cycle But No Deadlock</a:t>
            </a:r>
            <a:endParaRPr/>
          </a:p>
        </p:txBody>
      </p:sp>
      <p:pic>
        <p:nvPicPr>
          <p:cNvPr descr="7" id="404" name="Google Shape;404;p27"/>
          <p:cNvPicPr preferRelativeResize="0"/>
          <p:nvPr/>
        </p:nvPicPr>
        <p:blipFill rotWithShape="1">
          <a:blip r:embed="rId3">
            <a:alphaModFix/>
          </a:blip>
          <a:srcRect b="0" l="0" r="0" t="0"/>
          <a:stretch/>
        </p:blipFill>
        <p:spPr>
          <a:xfrm>
            <a:off x="762000" y="1215015"/>
            <a:ext cx="2952750" cy="3767137"/>
          </a:xfrm>
          <a:prstGeom prst="rect">
            <a:avLst/>
          </a:prstGeom>
          <a:noFill/>
          <a:ln>
            <a:noFill/>
          </a:ln>
        </p:spPr>
      </p:pic>
      <p:sp>
        <p:nvSpPr>
          <p:cNvPr id="405" name="Google Shape;405;p27"/>
          <p:cNvSpPr txBox="1"/>
          <p:nvPr/>
        </p:nvSpPr>
        <p:spPr>
          <a:xfrm>
            <a:off x="4724400" y="1447800"/>
            <a:ext cx="4267200" cy="4724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One cycle exist –</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P1-&gt;R1-&gt;P3-&gt;R2-&gt;P1</a:t>
            </a:r>
            <a:endParaRPr/>
          </a:p>
          <a:p>
            <a:pPr indent="-190500" lvl="0" marL="342900"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342900" lvl="0" marL="342900"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Still No Deadlock</a:t>
            </a:r>
            <a:endParaRPr/>
          </a:p>
          <a:p>
            <a:pPr indent="-342900" lvl="0" marL="342900"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t>
            </a:r>
            <a:endParaRPr/>
          </a:p>
          <a:p>
            <a:pPr indent="-190500" lvl="0" marL="342900"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406" name="Google Shape;406;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407" name="Google Shape;407;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08" name="Google Shape;408;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28"/>
          <p:cNvSpPr txBox="1"/>
          <p:nvPr>
            <p:ph type="title"/>
          </p:nvPr>
        </p:nvSpPr>
        <p:spPr>
          <a:xfrm>
            <a:off x="1" y="76200"/>
            <a:ext cx="9196388" cy="762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US" sz="3200"/>
              <a:t>Resource Allocation Graph With A Cycle But No Deadlock</a:t>
            </a:r>
            <a:endParaRPr/>
          </a:p>
        </p:txBody>
      </p:sp>
      <p:pic>
        <p:nvPicPr>
          <p:cNvPr descr="7" id="415" name="Google Shape;415;p28"/>
          <p:cNvPicPr preferRelativeResize="0"/>
          <p:nvPr/>
        </p:nvPicPr>
        <p:blipFill rotWithShape="1">
          <a:blip r:embed="rId3">
            <a:alphaModFix/>
          </a:blip>
          <a:srcRect b="0" l="0" r="0" t="0"/>
          <a:stretch/>
        </p:blipFill>
        <p:spPr>
          <a:xfrm>
            <a:off x="762000" y="1215015"/>
            <a:ext cx="2952750" cy="3767137"/>
          </a:xfrm>
          <a:prstGeom prst="rect">
            <a:avLst/>
          </a:prstGeom>
          <a:noFill/>
          <a:ln>
            <a:noFill/>
          </a:ln>
        </p:spPr>
      </p:pic>
      <p:sp>
        <p:nvSpPr>
          <p:cNvPr id="416" name="Google Shape;416;p28"/>
          <p:cNvSpPr txBox="1"/>
          <p:nvPr/>
        </p:nvSpPr>
        <p:spPr>
          <a:xfrm>
            <a:off x="4724400" y="1447800"/>
            <a:ext cx="4267200" cy="4724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Still No Deadlock</a:t>
            </a:r>
            <a:endParaRPr/>
          </a:p>
          <a:p>
            <a:pPr indent="-342900" lvl="0" marL="342900"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P4 may release its instance of resource R2, which can be allocated to P3 </a:t>
            </a:r>
            <a:endParaRPr/>
          </a:p>
          <a:p>
            <a:pPr indent="-342900" lvl="0" marL="342900"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Thus, Breaking the cycle</a:t>
            </a:r>
            <a:endParaRPr b="0" i="0" sz="2400" u="none" cap="none" strike="noStrike">
              <a:solidFill>
                <a:schemeClr val="dk1"/>
              </a:solidFill>
              <a:latin typeface="Calibri"/>
              <a:ea typeface="Calibri"/>
              <a:cs typeface="Calibri"/>
              <a:sym typeface="Calibri"/>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417" name="Google Shape;41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418" name="Google Shape;41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19" name="Google Shape;41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29"/>
          <p:cNvSpPr txBox="1"/>
          <p:nvPr>
            <p:ph type="title"/>
          </p:nvPr>
        </p:nvSpPr>
        <p:spPr>
          <a:xfrm>
            <a:off x="1109663" y="214313"/>
            <a:ext cx="7577137"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Methods for Handling Deadlocks</a:t>
            </a:r>
            <a:endParaRPr/>
          </a:p>
        </p:txBody>
      </p:sp>
      <p:sp>
        <p:nvSpPr>
          <p:cNvPr id="426" name="Google Shape;426;p29"/>
          <p:cNvSpPr txBox="1"/>
          <p:nvPr>
            <p:ph idx="1" type="body"/>
          </p:nvPr>
        </p:nvSpPr>
        <p:spPr>
          <a:xfrm>
            <a:off x="882650" y="1198562"/>
            <a:ext cx="6153150" cy="482123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Ensure that the system will </a:t>
            </a:r>
            <a:r>
              <a:rPr b="1" i="1" lang="en-US" sz="2400">
                <a:solidFill>
                  <a:srgbClr val="FF0066"/>
                </a:solidFill>
              </a:rPr>
              <a:t>never</a:t>
            </a:r>
            <a:r>
              <a:rPr lang="en-US" sz="2400"/>
              <a:t> enter a deadlock state:</a:t>
            </a:r>
            <a:endParaRPr/>
          </a:p>
          <a:p>
            <a:pPr indent="-285750" lvl="1" marL="742950" rtl="0" algn="l">
              <a:spcBef>
                <a:spcPts val="480"/>
              </a:spcBef>
              <a:spcAft>
                <a:spcPts val="0"/>
              </a:spcAft>
              <a:buClr>
                <a:schemeClr val="dk1"/>
              </a:buClr>
              <a:buSzPts val="2400"/>
              <a:buChar char="–"/>
            </a:pPr>
            <a:r>
              <a:rPr lang="en-US" sz="2400"/>
              <a:t>Deadlock prevention</a:t>
            </a:r>
            <a:endParaRPr/>
          </a:p>
          <a:p>
            <a:pPr indent="-285750" lvl="1" marL="742950" rtl="0" algn="l">
              <a:spcBef>
                <a:spcPts val="480"/>
              </a:spcBef>
              <a:spcAft>
                <a:spcPts val="0"/>
              </a:spcAft>
              <a:buClr>
                <a:schemeClr val="dk1"/>
              </a:buClr>
              <a:buSzPts val="2400"/>
              <a:buChar char="–"/>
            </a:pPr>
            <a:r>
              <a:rPr lang="en-US" sz="2400"/>
              <a:t>Deadlock avoidance</a:t>
            </a:r>
            <a:endParaRPr/>
          </a:p>
        </p:txBody>
      </p:sp>
      <p:sp>
        <p:nvSpPr>
          <p:cNvPr id="427" name="Google Shape;427;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428" name="Google Shape;428;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29" name="Google Shape;429;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0"/>
          <p:cNvSpPr txBox="1"/>
          <p:nvPr>
            <p:ph type="title"/>
          </p:nvPr>
        </p:nvSpPr>
        <p:spPr>
          <a:xfrm>
            <a:off x="1109663" y="214313"/>
            <a:ext cx="7577137"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Methods for Handling Deadlocks</a:t>
            </a:r>
            <a:endParaRPr/>
          </a:p>
        </p:txBody>
      </p:sp>
      <p:sp>
        <p:nvSpPr>
          <p:cNvPr id="436" name="Google Shape;436;p30"/>
          <p:cNvSpPr txBox="1"/>
          <p:nvPr>
            <p:ph idx="1" type="body"/>
          </p:nvPr>
        </p:nvSpPr>
        <p:spPr>
          <a:xfrm>
            <a:off x="882650" y="1198562"/>
            <a:ext cx="7270750" cy="482123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If the system does not apply either a Deadlock prevention or Deadlock avoidance, </a:t>
            </a:r>
            <a:endParaRPr/>
          </a:p>
          <a:p>
            <a:pPr indent="-285750" lvl="1" marL="742950" rtl="0" algn="l">
              <a:spcBef>
                <a:spcPts val="480"/>
              </a:spcBef>
              <a:spcAft>
                <a:spcPts val="0"/>
              </a:spcAft>
              <a:buClr>
                <a:schemeClr val="dk1"/>
              </a:buClr>
              <a:buSzPts val="2400"/>
              <a:buChar char="–"/>
            </a:pPr>
            <a:r>
              <a:rPr lang="en-US" sz="2400"/>
              <a:t>then deadlock may occur</a:t>
            </a:r>
            <a:endParaRPr/>
          </a:p>
        </p:txBody>
      </p:sp>
      <p:sp>
        <p:nvSpPr>
          <p:cNvPr id="437" name="Google Shape;43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438" name="Google Shape;43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39" name="Google Shape;43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31"/>
          <p:cNvSpPr txBox="1"/>
          <p:nvPr>
            <p:ph type="title"/>
          </p:nvPr>
        </p:nvSpPr>
        <p:spPr>
          <a:xfrm>
            <a:off x="1109663" y="214313"/>
            <a:ext cx="7577137"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Methods for Handling Deadlocks</a:t>
            </a:r>
            <a:endParaRPr/>
          </a:p>
        </p:txBody>
      </p:sp>
      <p:sp>
        <p:nvSpPr>
          <p:cNvPr id="446" name="Google Shape;446;p31"/>
          <p:cNvSpPr txBox="1"/>
          <p:nvPr>
            <p:ph idx="1" type="body"/>
          </p:nvPr>
        </p:nvSpPr>
        <p:spPr>
          <a:xfrm>
            <a:off x="882650" y="1198562"/>
            <a:ext cx="7270750" cy="482123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Then Allow the system to enter a deadlock state and then recover</a:t>
            </a:r>
            <a:endParaRPr/>
          </a:p>
          <a:p>
            <a:pPr indent="-342900" lvl="0" marL="342900" rtl="0" algn="l">
              <a:spcBef>
                <a:spcPts val="480"/>
              </a:spcBef>
              <a:spcAft>
                <a:spcPts val="0"/>
              </a:spcAft>
              <a:buClr>
                <a:schemeClr val="dk1"/>
              </a:buClr>
              <a:buSzPts val="2400"/>
              <a:buChar char="•"/>
            </a:pPr>
            <a:r>
              <a:rPr lang="en-US" sz="2400"/>
              <a:t>Ignore the problem and pretend that deadlocks never occur in the system;</a:t>
            </a:r>
            <a:endParaRPr/>
          </a:p>
          <a:p>
            <a:pPr indent="-285750" lvl="1" marL="742950" rtl="0" algn="l">
              <a:spcBef>
                <a:spcPts val="480"/>
              </a:spcBef>
              <a:spcAft>
                <a:spcPts val="0"/>
              </a:spcAft>
              <a:buClr>
                <a:schemeClr val="dk1"/>
              </a:buClr>
              <a:buSzPts val="2400"/>
              <a:buChar char="–"/>
            </a:pPr>
            <a:r>
              <a:rPr lang="en-US" sz="2400"/>
              <a:t> used by most operating systems, including UNIX</a:t>
            </a:r>
            <a:endParaRPr/>
          </a:p>
        </p:txBody>
      </p:sp>
      <p:sp>
        <p:nvSpPr>
          <p:cNvPr id="447" name="Google Shape;447;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448" name="Google Shape;448;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49" name="Google Shape;449;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32"/>
          <p:cNvSpPr txBox="1"/>
          <p:nvPr>
            <p:ph type="title"/>
          </p:nvPr>
        </p:nvSpPr>
        <p:spPr>
          <a:xfrm>
            <a:off x="609600" y="2895600"/>
            <a:ext cx="7800975"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Prevention</a:t>
            </a:r>
            <a:endParaRPr/>
          </a:p>
        </p:txBody>
      </p:sp>
      <p:sp>
        <p:nvSpPr>
          <p:cNvPr id="456" name="Google Shape;456;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457" name="Google Shape;457;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58" name="Google Shape;458;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33"/>
          <p:cNvSpPr txBox="1"/>
          <p:nvPr>
            <p:ph type="title"/>
          </p:nvPr>
        </p:nvSpPr>
        <p:spPr>
          <a:xfrm>
            <a:off x="885825" y="198438"/>
            <a:ext cx="7800975"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Prevention</a:t>
            </a:r>
            <a:endParaRPr/>
          </a:p>
        </p:txBody>
      </p:sp>
      <p:sp>
        <p:nvSpPr>
          <p:cNvPr id="465" name="Google Shape;465;p33"/>
          <p:cNvSpPr txBox="1"/>
          <p:nvPr>
            <p:ph idx="1" type="body"/>
          </p:nvPr>
        </p:nvSpPr>
        <p:spPr>
          <a:xfrm>
            <a:off x="1160463" y="1633538"/>
            <a:ext cx="6523037" cy="38227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70C0"/>
              </a:buClr>
              <a:buSzPts val="2400"/>
              <a:buChar char="•"/>
            </a:pPr>
            <a:r>
              <a:rPr lang="en-US" sz="2400">
                <a:solidFill>
                  <a:srgbClr val="0070C0"/>
                </a:solidFill>
              </a:rPr>
              <a:t>Prevent the occurrence of a deadlock</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Provides a set of methods for ensuring that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rgbClr val="FF0000"/>
              </a:buClr>
              <a:buSzPts val="2400"/>
              <a:buChar char="•"/>
            </a:pPr>
            <a:r>
              <a:rPr b="1" lang="en-US" sz="2400">
                <a:solidFill>
                  <a:srgbClr val="FF0000"/>
                </a:solidFill>
              </a:rPr>
              <a:t>at least one of the necessary conditions cannot hold. </a:t>
            </a:r>
            <a:endParaRPr/>
          </a:p>
          <a:p>
            <a:pPr indent="-190500" lvl="0" marL="342900" rtl="0" algn="l">
              <a:spcBef>
                <a:spcPts val="480"/>
              </a:spcBef>
              <a:spcAft>
                <a:spcPts val="0"/>
              </a:spcAft>
              <a:buClr>
                <a:schemeClr val="dk1"/>
              </a:buClr>
              <a:buSzPts val="2400"/>
              <a:buNone/>
            </a:pPr>
            <a:r>
              <a:t/>
            </a:r>
            <a:endParaRPr b="1" sz="2400">
              <a:solidFill>
                <a:srgbClr val="FF0000"/>
              </a:solidFill>
            </a:endParaRPr>
          </a:p>
          <a:p>
            <a:pPr indent="-342900" lvl="0" marL="342900" rtl="0" algn="l">
              <a:spcBef>
                <a:spcPts val="480"/>
              </a:spcBef>
              <a:spcAft>
                <a:spcPts val="0"/>
              </a:spcAft>
              <a:buClr>
                <a:srgbClr val="FF0000"/>
              </a:buClr>
              <a:buSzPts val="2400"/>
              <a:buChar char="•"/>
            </a:pPr>
            <a:r>
              <a:rPr b="1" lang="en-US" sz="2400">
                <a:solidFill>
                  <a:srgbClr val="FF0000"/>
                </a:solidFill>
              </a:rPr>
              <a:t>by constraining how requests for resources can be made.</a:t>
            </a:r>
            <a:endParaRPr b="1" sz="2400">
              <a:solidFill>
                <a:srgbClr val="FF0000"/>
              </a:solidFill>
            </a:endParaRPr>
          </a:p>
        </p:txBody>
      </p:sp>
      <p:sp>
        <p:nvSpPr>
          <p:cNvPr id="466" name="Google Shape;466;p33"/>
          <p:cNvSpPr txBox="1"/>
          <p:nvPr/>
        </p:nvSpPr>
        <p:spPr>
          <a:xfrm>
            <a:off x="819150" y="1116013"/>
            <a:ext cx="4273550" cy="36671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dk1"/>
                </a:solidFill>
                <a:latin typeface="Helvetica Neue"/>
                <a:ea typeface="Helvetica Neue"/>
                <a:cs typeface="Helvetica Neue"/>
                <a:sym typeface="Helvetica Neue"/>
              </a:rPr>
              <a:t>Restrain the ways request can be made</a:t>
            </a:r>
            <a:endParaRPr/>
          </a:p>
        </p:txBody>
      </p:sp>
      <p:sp>
        <p:nvSpPr>
          <p:cNvPr id="467" name="Google Shape;467;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468" name="Google Shape;468;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69" name="Google Shape;469;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34"/>
          <p:cNvSpPr txBox="1"/>
          <p:nvPr>
            <p:ph type="title"/>
          </p:nvPr>
        </p:nvSpPr>
        <p:spPr>
          <a:xfrm>
            <a:off x="885825" y="198438"/>
            <a:ext cx="7800975"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Prevention</a:t>
            </a:r>
            <a:endParaRPr/>
          </a:p>
        </p:txBody>
      </p:sp>
      <p:sp>
        <p:nvSpPr>
          <p:cNvPr id="476" name="Google Shape;476;p34"/>
          <p:cNvSpPr txBox="1"/>
          <p:nvPr>
            <p:ph idx="1" type="body"/>
          </p:nvPr>
        </p:nvSpPr>
        <p:spPr>
          <a:xfrm>
            <a:off x="1160463" y="1633538"/>
            <a:ext cx="6523037" cy="38227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Mutual Exclusion</a:t>
            </a:r>
            <a:r>
              <a:rPr lang="en-US"/>
              <a:t> – </a:t>
            </a:r>
            <a:endParaRPr/>
          </a:p>
          <a:p>
            <a:pPr indent="-342900" lvl="0" marL="342900" rtl="0" algn="l">
              <a:spcBef>
                <a:spcPts val="480"/>
              </a:spcBef>
              <a:spcAft>
                <a:spcPts val="0"/>
              </a:spcAft>
              <a:buClr>
                <a:srgbClr val="0070C0"/>
              </a:buClr>
              <a:buSzPts val="2400"/>
              <a:buChar char="•"/>
            </a:pPr>
            <a:r>
              <a:rPr lang="en-US" sz="2400">
                <a:solidFill>
                  <a:srgbClr val="0070C0"/>
                </a:solidFill>
              </a:rPr>
              <a:t>ME not required for sharable resources (e.g., read-only files); </a:t>
            </a:r>
            <a:endParaRPr/>
          </a:p>
          <a:p>
            <a:pPr indent="-285750" lvl="1" marL="742950" rtl="0" algn="l">
              <a:spcBef>
                <a:spcPts val="480"/>
              </a:spcBef>
              <a:spcAft>
                <a:spcPts val="0"/>
              </a:spcAft>
              <a:buClr>
                <a:schemeClr val="dk1"/>
              </a:buClr>
              <a:buSzPts val="2400"/>
              <a:buChar char="–"/>
            </a:pPr>
            <a:r>
              <a:rPr lang="en-US" sz="2400"/>
              <a:t>Eg-If several processes attempt to open a read-only file at the  same time, they can be granted simultaneous access to the file.</a:t>
            </a:r>
            <a:endParaRPr sz="2400"/>
          </a:p>
        </p:txBody>
      </p:sp>
      <p:sp>
        <p:nvSpPr>
          <p:cNvPr id="477" name="Google Shape;477;p34"/>
          <p:cNvSpPr txBox="1"/>
          <p:nvPr/>
        </p:nvSpPr>
        <p:spPr>
          <a:xfrm>
            <a:off x="819150" y="1116013"/>
            <a:ext cx="4273550" cy="36671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dk1"/>
                </a:solidFill>
                <a:latin typeface="Helvetica Neue"/>
                <a:ea typeface="Helvetica Neue"/>
                <a:cs typeface="Helvetica Neue"/>
                <a:sym typeface="Helvetica Neue"/>
              </a:rPr>
              <a:t>Restrain the ways request can be made</a:t>
            </a:r>
            <a:endParaRPr/>
          </a:p>
        </p:txBody>
      </p:sp>
      <p:sp>
        <p:nvSpPr>
          <p:cNvPr id="478" name="Google Shape;478;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479" name="Google Shape;479;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80" name="Google Shape;480;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35"/>
          <p:cNvSpPr txBox="1"/>
          <p:nvPr>
            <p:ph type="title"/>
          </p:nvPr>
        </p:nvSpPr>
        <p:spPr>
          <a:xfrm>
            <a:off x="885825" y="198438"/>
            <a:ext cx="7800975"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Prevention</a:t>
            </a:r>
            <a:endParaRPr/>
          </a:p>
        </p:txBody>
      </p:sp>
      <p:sp>
        <p:nvSpPr>
          <p:cNvPr id="487" name="Google Shape;487;p35"/>
          <p:cNvSpPr txBox="1"/>
          <p:nvPr>
            <p:ph idx="1" type="body"/>
          </p:nvPr>
        </p:nvSpPr>
        <p:spPr>
          <a:xfrm>
            <a:off x="1160463" y="1633538"/>
            <a:ext cx="6523037" cy="38227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Mutual Exclusion</a:t>
            </a:r>
            <a:r>
              <a:rPr lang="en-US"/>
              <a:t> – </a:t>
            </a:r>
            <a:endParaRPr/>
          </a:p>
          <a:p>
            <a:pPr indent="-342900" lvl="0" marL="342900" rtl="0" algn="l">
              <a:spcBef>
                <a:spcPts val="480"/>
              </a:spcBef>
              <a:spcAft>
                <a:spcPts val="0"/>
              </a:spcAft>
              <a:buClr>
                <a:srgbClr val="0070C0"/>
              </a:buClr>
              <a:buSzPts val="2400"/>
              <a:buChar char="•"/>
            </a:pPr>
            <a:r>
              <a:rPr lang="en-US" sz="2400">
                <a:solidFill>
                  <a:srgbClr val="0070C0"/>
                </a:solidFill>
              </a:rPr>
              <a:t>ME must hold for non-sharable resources</a:t>
            </a:r>
            <a:endParaRPr/>
          </a:p>
          <a:p>
            <a:pPr indent="-285750" lvl="1" marL="742950" rtl="0" algn="l">
              <a:spcBef>
                <a:spcPts val="480"/>
              </a:spcBef>
              <a:spcAft>
                <a:spcPts val="0"/>
              </a:spcAft>
              <a:buClr>
                <a:schemeClr val="dk1"/>
              </a:buClr>
              <a:buSzPts val="2400"/>
              <a:buChar char="–"/>
            </a:pPr>
            <a:r>
              <a:rPr lang="en-US" sz="2400"/>
              <a:t>Eg- A printer cannot be simultaneously shared by several processes.</a:t>
            </a:r>
            <a:endParaRPr sz="2400"/>
          </a:p>
        </p:txBody>
      </p:sp>
      <p:sp>
        <p:nvSpPr>
          <p:cNvPr id="488" name="Google Shape;488;p35"/>
          <p:cNvSpPr txBox="1"/>
          <p:nvPr/>
        </p:nvSpPr>
        <p:spPr>
          <a:xfrm>
            <a:off x="819150" y="1116013"/>
            <a:ext cx="4273550" cy="36671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dk1"/>
                </a:solidFill>
                <a:latin typeface="Helvetica Neue"/>
                <a:ea typeface="Helvetica Neue"/>
                <a:cs typeface="Helvetica Neue"/>
                <a:sym typeface="Helvetica Neue"/>
              </a:rPr>
              <a:t>Restrain the ways request can be made</a:t>
            </a:r>
            <a:endParaRPr/>
          </a:p>
        </p:txBody>
      </p:sp>
      <p:sp>
        <p:nvSpPr>
          <p:cNvPr id="489" name="Google Shape;489;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490" name="Google Shape;490;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91" name="Google Shape;491;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36"/>
          <p:cNvSpPr txBox="1"/>
          <p:nvPr>
            <p:ph type="title"/>
          </p:nvPr>
        </p:nvSpPr>
        <p:spPr>
          <a:xfrm>
            <a:off x="885825" y="198438"/>
            <a:ext cx="7800975"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Prevention</a:t>
            </a:r>
            <a:endParaRPr/>
          </a:p>
        </p:txBody>
      </p:sp>
      <p:sp>
        <p:nvSpPr>
          <p:cNvPr id="498" name="Google Shape;498;p36"/>
          <p:cNvSpPr txBox="1"/>
          <p:nvPr>
            <p:ph idx="1" type="body"/>
          </p:nvPr>
        </p:nvSpPr>
        <p:spPr>
          <a:xfrm>
            <a:off x="1160463" y="1633538"/>
            <a:ext cx="6523037" cy="38227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Hold and Wait</a:t>
            </a:r>
            <a:endParaRPr/>
          </a:p>
          <a:p>
            <a:pPr indent="-285750" lvl="1" marL="742950" rtl="0" algn="l">
              <a:spcBef>
                <a:spcPts val="560"/>
              </a:spcBef>
              <a:spcAft>
                <a:spcPts val="0"/>
              </a:spcAft>
              <a:buClr>
                <a:schemeClr val="dk1"/>
              </a:buClr>
              <a:buSzPts val="2800"/>
              <a:buChar char="–"/>
            </a:pPr>
            <a:r>
              <a:rPr lang="en-US"/>
              <a:t>Must guarantee that whenever a process </a:t>
            </a:r>
            <a:r>
              <a:rPr lang="en-US">
                <a:solidFill>
                  <a:srgbClr val="0070C0"/>
                </a:solidFill>
              </a:rPr>
              <a:t>requests a resource</a:t>
            </a:r>
            <a:r>
              <a:rPr lang="en-US"/>
              <a:t>, </a:t>
            </a:r>
            <a:endParaRPr/>
          </a:p>
          <a:p>
            <a:pPr indent="-285750" lvl="1" marL="742950" rtl="0" algn="l">
              <a:spcBef>
                <a:spcPts val="560"/>
              </a:spcBef>
              <a:spcAft>
                <a:spcPts val="0"/>
              </a:spcAft>
              <a:buClr>
                <a:srgbClr val="0070C0"/>
              </a:buClr>
              <a:buSzPts val="2800"/>
              <a:buChar char="–"/>
            </a:pPr>
            <a:r>
              <a:rPr lang="en-US">
                <a:solidFill>
                  <a:srgbClr val="0070C0"/>
                </a:solidFill>
              </a:rPr>
              <a:t>it does not hold any other resources</a:t>
            </a:r>
            <a:endParaRPr/>
          </a:p>
        </p:txBody>
      </p:sp>
      <p:sp>
        <p:nvSpPr>
          <p:cNvPr id="499" name="Google Shape;499;p36"/>
          <p:cNvSpPr txBox="1"/>
          <p:nvPr/>
        </p:nvSpPr>
        <p:spPr>
          <a:xfrm>
            <a:off x="819150" y="1116013"/>
            <a:ext cx="4273550" cy="36671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dk1"/>
                </a:solidFill>
                <a:latin typeface="Helvetica Neue"/>
                <a:ea typeface="Helvetica Neue"/>
                <a:cs typeface="Helvetica Neue"/>
                <a:sym typeface="Helvetica Neue"/>
              </a:rPr>
              <a:t>Restrain the ways request can be made</a:t>
            </a:r>
            <a:endParaRPr/>
          </a:p>
        </p:txBody>
      </p:sp>
      <p:sp>
        <p:nvSpPr>
          <p:cNvPr id="500" name="Google Shape;500;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501" name="Google Shape;501;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02" name="Google Shape;502;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37"/>
          <p:cNvSpPr txBox="1"/>
          <p:nvPr>
            <p:ph type="title"/>
          </p:nvPr>
        </p:nvSpPr>
        <p:spPr>
          <a:xfrm>
            <a:off x="885825" y="198438"/>
            <a:ext cx="7800975"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Prevention</a:t>
            </a:r>
            <a:endParaRPr/>
          </a:p>
        </p:txBody>
      </p:sp>
      <p:sp>
        <p:nvSpPr>
          <p:cNvPr id="509" name="Google Shape;509;p37"/>
          <p:cNvSpPr txBox="1"/>
          <p:nvPr>
            <p:ph idx="1" type="body"/>
          </p:nvPr>
        </p:nvSpPr>
        <p:spPr>
          <a:xfrm>
            <a:off x="1160463" y="1633538"/>
            <a:ext cx="6523037" cy="43100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Method 1</a:t>
            </a:r>
            <a:endParaRPr/>
          </a:p>
          <a:p>
            <a:pPr indent="-285750" lvl="1" marL="742950" rtl="0" algn="l">
              <a:spcBef>
                <a:spcPts val="560"/>
              </a:spcBef>
              <a:spcAft>
                <a:spcPts val="0"/>
              </a:spcAft>
              <a:buClr>
                <a:schemeClr val="dk1"/>
              </a:buClr>
              <a:buSzPts val="2800"/>
              <a:buChar char="–"/>
            </a:pPr>
            <a:r>
              <a:rPr lang="en-US"/>
              <a:t>Require process to request and </a:t>
            </a:r>
            <a:r>
              <a:rPr lang="en-US">
                <a:solidFill>
                  <a:srgbClr val="0070C0"/>
                </a:solidFill>
              </a:rPr>
              <a:t>be allocated all its resources </a:t>
            </a:r>
            <a:endParaRPr/>
          </a:p>
          <a:p>
            <a:pPr indent="-228600" lvl="2" marL="1143000" rtl="0" algn="l">
              <a:spcBef>
                <a:spcPts val="480"/>
              </a:spcBef>
              <a:spcAft>
                <a:spcPts val="0"/>
              </a:spcAft>
              <a:buClr>
                <a:srgbClr val="0070C0"/>
              </a:buClr>
              <a:buSzPts val="2400"/>
              <a:buChar char="•"/>
            </a:pPr>
            <a:r>
              <a:rPr lang="en-US">
                <a:solidFill>
                  <a:srgbClr val="0070C0"/>
                </a:solidFill>
              </a:rPr>
              <a:t>before it begins execution, </a:t>
            </a:r>
            <a:endParaRPr/>
          </a:p>
          <a:p>
            <a:pPr indent="-285750" lvl="1" marL="742950" rtl="0" algn="l">
              <a:spcBef>
                <a:spcPts val="560"/>
              </a:spcBef>
              <a:spcAft>
                <a:spcPts val="0"/>
              </a:spcAft>
              <a:buClr>
                <a:schemeClr val="dk1"/>
              </a:buClr>
              <a:buSzPts val="2800"/>
              <a:buChar char="–"/>
            </a:pPr>
            <a:r>
              <a:rPr lang="en-US"/>
              <a:t>Implement this provision by requiring that system calls requesting resources for a process </a:t>
            </a:r>
            <a:endParaRPr/>
          </a:p>
          <a:p>
            <a:pPr indent="-228600" lvl="2" marL="1143000" rtl="0" algn="l">
              <a:spcBef>
                <a:spcPts val="480"/>
              </a:spcBef>
              <a:spcAft>
                <a:spcPts val="0"/>
              </a:spcAft>
              <a:buClr>
                <a:schemeClr val="dk1"/>
              </a:buClr>
              <a:buSzPts val="2400"/>
              <a:buChar char="•"/>
            </a:pPr>
            <a:r>
              <a:rPr lang="en-US"/>
              <a:t>precede all other system calls.</a:t>
            </a:r>
            <a:endParaRPr/>
          </a:p>
          <a:p>
            <a:pPr indent="0" lvl="1" marL="457200" rtl="0" algn="l">
              <a:spcBef>
                <a:spcPts val="560"/>
              </a:spcBef>
              <a:spcAft>
                <a:spcPts val="0"/>
              </a:spcAft>
              <a:buClr>
                <a:schemeClr val="dk1"/>
              </a:buClr>
              <a:buSzPts val="2800"/>
              <a:buNone/>
            </a:pPr>
            <a:r>
              <a:rPr lang="en-US"/>
              <a:t>			</a:t>
            </a:r>
            <a:endParaRPr/>
          </a:p>
        </p:txBody>
      </p:sp>
      <p:sp>
        <p:nvSpPr>
          <p:cNvPr id="510" name="Google Shape;510;p37"/>
          <p:cNvSpPr txBox="1"/>
          <p:nvPr/>
        </p:nvSpPr>
        <p:spPr>
          <a:xfrm>
            <a:off x="819150" y="1114703"/>
            <a:ext cx="2013693"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Verdana"/>
                <a:ea typeface="Verdana"/>
                <a:cs typeface="Verdana"/>
                <a:sym typeface="Verdana"/>
              </a:rPr>
              <a:t>Hold and Wait</a:t>
            </a:r>
            <a:endParaRPr/>
          </a:p>
        </p:txBody>
      </p:sp>
      <p:sp>
        <p:nvSpPr>
          <p:cNvPr id="511" name="Google Shape;511;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512" name="Google Shape;512;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13" name="Google Shape;513;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38"/>
          <p:cNvSpPr txBox="1"/>
          <p:nvPr>
            <p:ph type="title"/>
          </p:nvPr>
        </p:nvSpPr>
        <p:spPr>
          <a:xfrm>
            <a:off x="885825" y="198438"/>
            <a:ext cx="7800975"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Prevention</a:t>
            </a:r>
            <a:endParaRPr/>
          </a:p>
        </p:txBody>
      </p:sp>
      <p:sp>
        <p:nvSpPr>
          <p:cNvPr id="520" name="Google Shape;520;p38"/>
          <p:cNvSpPr txBox="1"/>
          <p:nvPr>
            <p:ph idx="1" type="body"/>
          </p:nvPr>
        </p:nvSpPr>
        <p:spPr>
          <a:xfrm>
            <a:off x="1160463" y="1633538"/>
            <a:ext cx="6523037" cy="4310062"/>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Char char="•"/>
            </a:pPr>
            <a:r>
              <a:rPr lang="en-US"/>
              <a:t>Method 2</a:t>
            </a:r>
            <a:endParaRPr/>
          </a:p>
          <a:p>
            <a:pPr indent="-285750" lvl="1" marL="742950" rtl="0" algn="l">
              <a:spcBef>
                <a:spcPts val="560"/>
              </a:spcBef>
              <a:spcAft>
                <a:spcPts val="0"/>
              </a:spcAft>
              <a:buClr>
                <a:schemeClr val="dk1"/>
              </a:buClr>
              <a:buSzPts val="2800"/>
              <a:buChar char="–"/>
            </a:pPr>
            <a:r>
              <a:rPr lang="en-US"/>
              <a:t>allow process to request resources </a:t>
            </a:r>
            <a:endParaRPr/>
          </a:p>
          <a:p>
            <a:pPr indent="-228600" lvl="2" marL="1143000" rtl="0" algn="l">
              <a:spcBef>
                <a:spcPts val="480"/>
              </a:spcBef>
              <a:spcAft>
                <a:spcPts val="0"/>
              </a:spcAft>
              <a:buClr>
                <a:schemeClr val="dk1"/>
              </a:buClr>
              <a:buSzPts val="2400"/>
              <a:buChar char="•"/>
            </a:pPr>
            <a:r>
              <a:rPr lang="en-US"/>
              <a:t>only when the process has none allocated to it.</a:t>
            </a:r>
            <a:endParaRPr/>
          </a:p>
          <a:p>
            <a:pPr indent="-285750" lvl="1" marL="742950" rtl="0" algn="l">
              <a:spcBef>
                <a:spcPts val="560"/>
              </a:spcBef>
              <a:spcAft>
                <a:spcPts val="0"/>
              </a:spcAft>
              <a:buClr>
                <a:srgbClr val="0070C0"/>
              </a:buClr>
              <a:buSzPts val="2800"/>
              <a:buChar char="–"/>
            </a:pPr>
            <a:r>
              <a:rPr lang="en-US">
                <a:solidFill>
                  <a:srgbClr val="0070C0"/>
                </a:solidFill>
              </a:rPr>
              <a:t>A process may request some resources and use them</a:t>
            </a:r>
            <a:endParaRPr/>
          </a:p>
          <a:p>
            <a:pPr indent="-228600" lvl="2" marL="1143000" rtl="0" algn="l">
              <a:spcBef>
                <a:spcPts val="480"/>
              </a:spcBef>
              <a:spcAft>
                <a:spcPts val="0"/>
              </a:spcAft>
              <a:buClr>
                <a:schemeClr val="dk1"/>
              </a:buClr>
              <a:buSzPts val="2400"/>
              <a:buChar char="•"/>
            </a:pPr>
            <a:r>
              <a:rPr lang="en-US" u="sng"/>
              <a:t>Before it can request any additional resources</a:t>
            </a:r>
            <a:endParaRPr/>
          </a:p>
          <a:p>
            <a:pPr indent="-228600" lvl="2" marL="1143000" rtl="0" algn="l">
              <a:spcBef>
                <a:spcPts val="480"/>
              </a:spcBef>
              <a:spcAft>
                <a:spcPts val="0"/>
              </a:spcAft>
              <a:buClr>
                <a:schemeClr val="dk1"/>
              </a:buClr>
              <a:buSzPts val="2400"/>
              <a:buChar char="•"/>
            </a:pPr>
            <a:r>
              <a:rPr lang="en-US" u="sng"/>
              <a:t>It must release all the resources that it is currently allocated.</a:t>
            </a:r>
            <a:endParaRPr u="sng"/>
          </a:p>
        </p:txBody>
      </p:sp>
      <p:sp>
        <p:nvSpPr>
          <p:cNvPr id="521" name="Google Shape;521;p38"/>
          <p:cNvSpPr txBox="1"/>
          <p:nvPr/>
        </p:nvSpPr>
        <p:spPr>
          <a:xfrm>
            <a:off x="819150" y="1114703"/>
            <a:ext cx="2013693"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Verdana"/>
                <a:ea typeface="Verdana"/>
                <a:cs typeface="Verdana"/>
                <a:sym typeface="Verdana"/>
              </a:rPr>
              <a:t>Hold and Wait</a:t>
            </a:r>
            <a:endParaRPr/>
          </a:p>
        </p:txBody>
      </p:sp>
      <p:sp>
        <p:nvSpPr>
          <p:cNvPr id="522" name="Google Shape;522;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523" name="Google Shape;523;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24" name="Google Shape;524;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39"/>
          <p:cNvSpPr txBox="1"/>
          <p:nvPr>
            <p:ph type="title"/>
          </p:nvPr>
        </p:nvSpPr>
        <p:spPr>
          <a:xfrm>
            <a:off x="885825" y="198438"/>
            <a:ext cx="7800975"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Prevention</a:t>
            </a:r>
            <a:endParaRPr/>
          </a:p>
        </p:txBody>
      </p:sp>
      <p:sp>
        <p:nvSpPr>
          <p:cNvPr id="531" name="Google Shape;531;p39"/>
          <p:cNvSpPr txBox="1"/>
          <p:nvPr>
            <p:ph idx="1" type="body"/>
          </p:nvPr>
        </p:nvSpPr>
        <p:spPr>
          <a:xfrm>
            <a:off x="1160463" y="1633538"/>
            <a:ext cx="6523037" cy="43100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Consider a process that </a:t>
            </a:r>
            <a:endParaRPr/>
          </a:p>
          <a:p>
            <a:pPr indent="-285750" lvl="1" marL="742950" rtl="0" algn="l">
              <a:spcBef>
                <a:spcPts val="560"/>
              </a:spcBef>
              <a:spcAft>
                <a:spcPts val="0"/>
              </a:spcAft>
              <a:buClr>
                <a:schemeClr val="dk1"/>
              </a:buClr>
              <a:buSzPts val="2800"/>
              <a:buChar char="–"/>
            </a:pPr>
            <a:r>
              <a:rPr lang="en-US"/>
              <a:t>copies data from a DVD drive to a file on disk, </a:t>
            </a:r>
            <a:endParaRPr/>
          </a:p>
          <a:p>
            <a:pPr indent="-285750" lvl="1" marL="742950" rtl="0" algn="l">
              <a:spcBef>
                <a:spcPts val="560"/>
              </a:spcBef>
              <a:spcAft>
                <a:spcPts val="0"/>
              </a:spcAft>
              <a:buClr>
                <a:schemeClr val="dk1"/>
              </a:buClr>
              <a:buSzPts val="2800"/>
              <a:buChar char="–"/>
            </a:pPr>
            <a:r>
              <a:rPr lang="en-US"/>
              <a:t>sorts the file, and </a:t>
            </a:r>
            <a:endParaRPr/>
          </a:p>
          <a:p>
            <a:pPr indent="-285750" lvl="1" marL="742950" rtl="0" algn="l">
              <a:spcBef>
                <a:spcPts val="560"/>
              </a:spcBef>
              <a:spcAft>
                <a:spcPts val="0"/>
              </a:spcAft>
              <a:buClr>
                <a:schemeClr val="dk1"/>
              </a:buClr>
              <a:buSzPts val="2800"/>
              <a:buChar char="–"/>
            </a:pPr>
            <a:r>
              <a:rPr lang="en-US"/>
              <a:t>then prints the results to a printer. </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sp>
        <p:nvSpPr>
          <p:cNvPr id="532" name="Google Shape;532;p39"/>
          <p:cNvSpPr txBox="1"/>
          <p:nvPr/>
        </p:nvSpPr>
        <p:spPr>
          <a:xfrm>
            <a:off x="819150" y="1114703"/>
            <a:ext cx="6776214"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Verdana"/>
                <a:ea typeface="Verdana"/>
                <a:cs typeface="Verdana"/>
                <a:sym typeface="Verdana"/>
              </a:rPr>
              <a:t>Hold and Wait-</a:t>
            </a:r>
            <a:r>
              <a:rPr b="0" i="0" lang="en-US" sz="1800" u="none" cap="none" strike="noStrike">
                <a:solidFill>
                  <a:schemeClr val="dk1"/>
                </a:solidFill>
                <a:latin typeface="Verdana"/>
                <a:ea typeface="Verdana"/>
                <a:cs typeface="Verdana"/>
                <a:sym typeface="Verdana"/>
              </a:rPr>
              <a:t> Difference between these two protocols</a:t>
            </a:r>
            <a:endParaRPr b="1" i="0" sz="1800" u="none" cap="none" strike="noStrike">
              <a:solidFill>
                <a:schemeClr val="dk1"/>
              </a:solidFill>
              <a:latin typeface="Verdana"/>
              <a:ea typeface="Verdana"/>
              <a:cs typeface="Verdana"/>
              <a:sym typeface="Verdana"/>
            </a:endParaRPr>
          </a:p>
        </p:txBody>
      </p:sp>
      <p:sp>
        <p:nvSpPr>
          <p:cNvPr id="533" name="Google Shape;533;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534" name="Google Shape;534;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35" name="Google Shape;535;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40"/>
          <p:cNvSpPr txBox="1"/>
          <p:nvPr>
            <p:ph type="title"/>
          </p:nvPr>
        </p:nvSpPr>
        <p:spPr>
          <a:xfrm>
            <a:off x="885825" y="198438"/>
            <a:ext cx="7800975"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Prevention</a:t>
            </a:r>
            <a:endParaRPr/>
          </a:p>
        </p:txBody>
      </p:sp>
      <p:sp>
        <p:nvSpPr>
          <p:cNvPr id="542" name="Google Shape;542;p40"/>
          <p:cNvSpPr txBox="1"/>
          <p:nvPr>
            <p:ph idx="1" type="body"/>
          </p:nvPr>
        </p:nvSpPr>
        <p:spPr>
          <a:xfrm>
            <a:off x="1160463" y="1633538"/>
            <a:ext cx="6523037" cy="431006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US" sz="2400"/>
              <a:t>Method 1</a:t>
            </a:r>
            <a:endParaRPr/>
          </a:p>
          <a:p>
            <a:pPr indent="-342900" lvl="0" marL="342900" rtl="0" algn="l">
              <a:spcBef>
                <a:spcPts val="480"/>
              </a:spcBef>
              <a:spcAft>
                <a:spcPts val="0"/>
              </a:spcAft>
              <a:buClr>
                <a:schemeClr val="dk1"/>
              </a:buClr>
              <a:buSzPts val="2400"/>
              <a:buChar char="•"/>
            </a:pPr>
            <a:r>
              <a:rPr lang="en-US" sz="2400" u="sng"/>
              <a:t>If all resources must be requested at the beginning of the process, </a:t>
            </a:r>
            <a:endParaRPr sz="2400" u="sng"/>
          </a:p>
          <a:p>
            <a:pPr indent="-342900" lvl="0" marL="342900" rtl="0" algn="l">
              <a:spcBef>
                <a:spcPts val="480"/>
              </a:spcBef>
              <a:spcAft>
                <a:spcPts val="0"/>
              </a:spcAft>
              <a:buClr>
                <a:schemeClr val="dk1"/>
              </a:buClr>
              <a:buSzPts val="2400"/>
              <a:buChar char="•"/>
            </a:pPr>
            <a:r>
              <a:rPr lang="en-US" sz="2400" u="sng"/>
              <a:t>The process must initially request the DVD drive, disk file, and printer. </a:t>
            </a:r>
            <a:endParaRPr sz="2400" u="sng"/>
          </a:p>
          <a:p>
            <a:pPr indent="-342900" lvl="0" marL="342900" rtl="0" algn="l">
              <a:spcBef>
                <a:spcPts val="480"/>
              </a:spcBef>
              <a:spcAft>
                <a:spcPts val="0"/>
              </a:spcAft>
              <a:buClr>
                <a:schemeClr val="dk1"/>
              </a:buClr>
              <a:buSzPts val="2400"/>
              <a:buChar char="•"/>
            </a:pPr>
            <a:r>
              <a:rPr lang="en-US" sz="2400"/>
              <a:t>It will hold the printer for its entire execution, even though it needs the printer only at the end.</a:t>
            </a:r>
            <a:endParaRPr/>
          </a:p>
          <a:p>
            <a:pPr indent="-139700" lvl="0" marL="342900" rtl="0" algn="l">
              <a:spcBef>
                <a:spcPts val="640"/>
              </a:spcBef>
              <a:spcAft>
                <a:spcPts val="0"/>
              </a:spcAft>
              <a:buClr>
                <a:schemeClr val="dk1"/>
              </a:buClr>
              <a:buSzPts val="3200"/>
              <a:buNone/>
            </a:pPr>
            <a:r>
              <a:t/>
            </a:r>
            <a:endParaRPr/>
          </a:p>
        </p:txBody>
      </p:sp>
      <p:sp>
        <p:nvSpPr>
          <p:cNvPr id="543" name="Google Shape;543;p40"/>
          <p:cNvSpPr txBox="1"/>
          <p:nvPr/>
        </p:nvSpPr>
        <p:spPr>
          <a:xfrm>
            <a:off x="819150" y="1114703"/>
            <a:ext cx="6776214"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Verdana"/>
                <a:ea typeface="Verdana"/>
                <a:cs typeface="Verdana"/>
                <a:sym typeface="Verdana"/>
              </a:rPr>
              <a:t>Hold and Wait-</a:t>
            </a:r>
            <a:r>
              <a:rPr b="0" i="0" lang="en-US" sz="1800" u="none" cap="none" strike="noStrike">
                <a:solidFill>
                  <a:schemeClr val="dk1"/>
                </a:solidFill>
                <a:latin typeface="Verdana"/>
                <a:ea typeface="Verdana"/>
                <a:cs typeface="Verdana"/>
                <a:sym typeface="Verdana"/>
              </a:rPr>
              <a:t> Difference between these two protocols</a:t>
            </a:r>
            <a:endParaRPr b="1" i="0" sz="1800" u="none" cap="none" strike="noStrike">
              <a:solidFill>
                <a:schemeClr val="dk1"/>
              </a:solidFill>
              <a:latin typeface="Verdana"/>
              <a:ea typeface="Verdana"/>
              <a:cs typeface="Verdana"/>
              <a:sym typeface="Verdana"/>
            </a:endParaRPr>
          </a:p>
        </p:txBody>
      </p:sp>
      <p:sp>
        <p:nvSpPr>
          <p:cNvPr id="544" name="Google Shape;544;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545" name="Google Shape;545;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46" name="Google Shape;546;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41"/>
          <p:cNvSpPr txBox="1"/>
          <p:nvPr>
            <p:ph type="title"/>
          </p:nvPr>
        </p:nvSpPr>
        <p:spPr>
          <a:xfrm>
            <a:off x="885825" y="198438"/>
            <a:ext cx="7800975"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Prevention</a:t>
            </a:r>
            <a:endParaRPr/>
          </a:p>
        </p:txBody>
      </p:sp>
      <p:sp>
        <p:nvSpPr>
          <p:cNvPr id="553" name="Google Shape;553;p41"/>
          <p:cNvSpPr txBox="1"/>
          <p:nvPr>
            <p:ph idx="1" type="body"/>
          </p:nvPr>
        </p:nvSpPr>
        <p:spPr>
          <a:xfrm>
            <a:off x="1160463" y="1633538"/>
            <a:ext cx="6523037" cy="4310062"/>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2400"/>
              <a:buNone/>
            </a:pPr>
            <a:r>
              <a:rPr lang="en-US" sz="2400"/>
              <a:t>Method 2</a:t>
            </a:r>
            <a:endParaRPr/>
          </a:p>
          <a:p>
            <a:pPr indent="-342900" lvl="0" marL="342900" rtl="0" algn="l">
              <a:spcBef>
                <a:spcPts val="480"/>
              </a:spcBef>
              <a:spcAft>
                <a:spcPts val="0"/>
              </a:spcAft>
              <a:buClr>
                <a:schemeClr val="dk1"/>
              </a:buClr>
              <a:buSzPts val="2400"/>
              <a:buChar char="•"/>
            </a:pPr>
            <a:r>
              <a:rPr lang="en-US" sz="2400" u="sng"/>
              <a:t>The process to request initially only the DVD drive and disk file. </a:t>
            </a:r>
            <a:endParaRPr sz="2400" u="sng"/>
          </a:p>
          <a:p>
            <a:pPr indent="-342900" lvl="0" marL="342900" rtl="0" algn="l">
              <a:spcBef>
                <a:spcPts val="480"/>
              </a:spcBef>
              <a:spcAft>
                <a:spcPts val="0"/>
              </a:spcAft>
              <a:buClr>
                <a:schemeClr val="dk1"/>
              </a:buClr>
              <a:buSzPts val="2400"/>
              <a:buChar char="•"/>
            </a:pPr>
            <a:r>
              <a:rPr lang="en-US" sz="2400"/>
              <a:t>It copies from the DVD drive to the disk and then releases both the DVD drive and the disk file. </a:t>
            </a:r>
            <a:endParaRPr sz="2400"/>
          </a:p>
          <a:p>
            <a:pPr indent="-342900" lvl="0" marL="342900" rtl="0" algn="l">
              <a:spcBef>
                <a:spcPts val="480"/>
              </a:spcBef>
              <a:spcAft>
                <a:spcPts val="0"/>
              </a:spcAft>
              <a:buClr>
                <a:schemeClr val="dk1"/>
              </a:buClr>
              <a:buSzPts val="2400"/>
              <a:buChar char="•"/>
            </a:pPr>
            <a:r>
              <a:rPr lang="en-US" sz="2400" u="sng"/>
              <a:t>The process must then again request the disk file and the printer. </a:t>
            </a:r>
            <a:endParaRPr sz="2400" u="sng"/>
          </a:p>
          <a:p>
            <a:pPr indent="-342900" lvl="0" marL="342900" rtl="0" algn="l">
              <a:spcBef>
                <a:spcPts val="480"/>
              </a:spcBef>
              <a:spcAft>
                <a:spcPts val="0"/>
              </a:spcAft>
              <a:buClr>
                <a:schemeClr val="dk1"/>
              </a:buClr>
              <a:buSzPts val="2400"/>
              <a:buChar char="•"/>
            </a:pPr>
            <a:r>
              <a:rPr lang="en-US" sz="2400"/>
              <a:t>After copying the disk file to the printer, it releases these two resources </a:t>
            </a:r>
            <a:endParaRPr sz="2400"/>
          </a:p>
          <a:p>
            <a:pPr indent="-342900" lvl="0" marL="342900" rtl="0" algn="l">
              <a:spcBef>
                <a:spcPts val="480"/>
              </a:spcBef>
              <a:spcAft>
                <a:spcPts val="0"/>
              </a:spcAft>
              <a:buClr>
                <a:schemeClr val="dk1"/>
              </a:buClr>
              <a:buSzPts val="2400"/>
              <a:buChar char="•"/>
            </a:pPr>
            <a:r>
              <a:rPr lang="en-US" sz="2400"/>
              <a:t>Terminates.</a:t>
            </a:r>
            <a:endParaRPr sz="2400"/>
          </a:p>
        </p:txBody>
      </p:sp>
      <p:sp>
        <p:nvSpPr>
          <p:cNvPr id="554" name="Google Shape;554;p41"/>
          <p:cNvSpPr txBox="1"/>
          <p:nvPr/>
        </p:nvSpPr>
        <p:spPr>
          <a:xfrm>
            <a:off x="819150" y="1114703"/>
            <a:ext cx="6776214"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Verdana"/>
                <a:ea typeface="Verdana"/>
                <a:cs typeface="Verdana"/>
                <a:sym typeface="Verdana"/>
              </a:rPr>
              <a:t>Hold and Wait-</a:t>
            </a:r>
            <a:r>
              <a:rPr b="0" i="0" lang="en-US" sz="1800" u="none" cap="none" strike="noStrike">
                <a:solidFill>
                  <a:schemeClr val="dk1"/>
                </a:solidFill>
                <a:latin typeface="Verdana"/>
                <a:ea typeface="Verdana"/>
                <a:cs typeface="Verdana"/>
                <a:sym typeface="Verdana"/>
              </a:rPr>
              <a:t> Difference between these two protocols</a:t>
            </a:r>
            <a:endParaRPr b="1" i="0" sz="1800" u="none" cap="none" strike="noStrike">
              <a:solidFill>
                <a:schemeClr val="dk1"/>
              </a:solidFill>
              <a:latin typeface="Verdana"/>
              <a:ea typeface="Verdana"/>
              <a:cs typeface="Verdana"/>
              <a:sym typeface="Verdana"/>
            </a:endParaRPr>
          </a:p>
        </p:txBody>
      </p:sp>
      <p:sp>
        <p:nvSpPr>
          <p:cNvPr id="555" name="Google Shape;555;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556" name="Google Shape;556;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57" name="Google Shape;557;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42"/>
          <p:cNvSpPr txBox="1"/>
          <p:nvPr>
            <p:ph type="title"/>
          </p:nvPr>
        </p:nvSpPr>
        <p:spPr>
          <a:xfrm>
            <a:off x="885825" y="198438"/>
            <a:ext cx="7800975"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Prevention</a:t>
            </a:r>
            <a:endParaRPr/>
          </a:p>
        </p:txBody>
      </p:sp>
      <p:sp>
        <p:nvSpPr>
          <p:cNvPr id="564" name="Google Shape;564;p42"/>
          <p:cNvSpPr txBox="1"/>
          <p:nvPr>
            <p:ph idx="1" type="body"/>
          </p:nvPr>
        </p:nvSpPr>
        <p:spPr>
          <a:xfrm>
            <a:off x="1160463" y="1633538"/>
            <a:ext cx="6523037" cy="431006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Char char="•"/>
            </a:pPr>
            <a:r>
              <a:rPr lang="en-US" sz="2400"/>
              <a:t>Two main disadvantages. </a:t>
            </a:r>
            <a:endParaRPr sz="2400"/>
          </a:p>
          <a:p>
            <a:pPr indent="-342900" lvl="0" marL="342900" rtl="0" algn="l">
              <a:spcBef>
                <a:spcPts val="480"/>
              </a:spcBef>
              <a:spcAft>
                <a:spcPts val="0"/>
              </a:spcAft>
              <a:buClr>
                <a:schemeClr val="dk1"/>
              </a:buClr>
              <a:buSzPts val="2400"/>
              <a:buChar char="•"/>
            </a:pPr>
            <a:r>
              <a:rPr lang="en-US" sz="2400"/>
              <a:t>First Method, resource utilization may be low, </a:t>
            </a:r>
            <a:endParaRPr sz="2400"/>
          </a:p>
          <a:p>
            <a:pPr indent="-285750" lvl="1" marL="742950" rtl="0" algn="l">
              <a:spcBef>
                <a:spcPts val="480"/>
              </a:spcBef>
              <a:spcAft>
                <a:spcPts val="0"/>
              </a:spcAft>
              <a:buClr>
                <a:schemeClr val="dk1"/>
              </a:buClr>
              <a:buSzPts val="2400"/>
              <a:buChar char="–"/>
            </a:pPr>
            <a:r>
              <a:rPr lang="en-US" sz="2400" u="sng"/>
              <a:t>since resources may be allocated but unused for a long period.</a:t>
            </a:r>
            <a:endParaRPr/>
          </a:p>
          <a:p>
            <a:pPr indent="-342900" lvl="0" marL="342900" rtl="0" algn="l">
              <a:spcBef>
                <a:spcPts val="480"/>
              </a:spcBef>
              <a:spcAft>
                <a:spcPts val="0"/>
              </a:spcAft>
              <a:buClr>
                <a:schemeClr val="dk1"/>
              </a:buClr>
              <a:buSzPts val="2400"/>
              <a:buChar char="•"/>
            </a:pPr>
            <a:r>
              <a:rPr lang="en-US" sz="2400"/>
              <a:t>Second Method, starvation is possible. </a:t>
            </a:r>
            <a:endParaRPr sz="2400"/>
          </a:p>
          <a:p>
            <a:pPr indent="-285750" lvl="1" marL="742950" rtl="0" algn="l">
              <a:spcBef>
                <a:spcPts val="480"/>
              </a:spcBef>
              <a:spcAft>
                <a:spcPts val="0"/>
              </a:spcAft>
              <a:buClr>
                <a:schemeClr val="dk1"/>
              </a:buClr>
              <a:buSzPts val="2400"/>
              <a:buChar char="–"/>
            </a:pPr>
            <a:r>
              <a:rPr lang="en-US" sz="2400"/>
              <a:t>A process that needs several popular resources may have to wait indefinitely, </a:t>
            </a:r>
            <a:endParaRPr sz="2400"/>
          </a:p>
          <a:p>
            <a:pPr indent="-285750" lvl="1" marL="742950" rtl="0" algn="l">
              <a:spcBef>
                <a:spcPts val="480"/>
              </a:spcBef>
              <a:spcAft>
                <a:spcPts val="0"/>
              </a:spcAft>
              <a:buClr>
                <a:schemeClr val="dk1"/>
              </a:buClr>
              <a:buSzPts val="2400"/>
              <a:buChar char="–"/>
            </a:pPr>
            <a:r>
              <a:rPr lang="en-US" sz="2400" u="sng"/>
              <a:t>because at least one of the resources that it needs is always allocated to some other process.</a:t>
            </a:r>
            <a:endParaRPr sz="2400" u="sng"/>
          </a:p>
        </p:txBody>
      </p:sp>
      <p:sp>
        <p:nvSpPr>
          <p:cNvPr id="565" name="Google Shape;565;p42"/>
          <p:cNvSpPr txBox="1"/>
          <p:nvPr/>
        </p:nvSpPr>
        <p:spPr>
          <a:xfrm>
            <a:off x="819150" y="1114703"/>
            <a:ext cx="6776214"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Verdana"/>
                <a:ea typeface="Verdana"/>
                <a:cs typeface="Verdana"/>
                <a:sym typeface="Verdana"/>
              </a:rPr>
              <a:t>Hold and Wait-</a:t>
            </a:r>
            <a:r>
              <a:rPr b="0" i="0" lang="en-US" sz="1800" u="none" cap="none" strike="noStrike">
                <a:solidFill>
                  <a:schemeClr val="dk1"/>
                </a:solidFill>
                <a:latin typeface="Verdana"/>
                <a:ea typeface="Verdana"/>
                <a:cs typeface="Verdana"/>
                <a:sym typeface="Verdana"/>
              </a:rPr>
              <a:t> Difference between these two protocols</a:t>
            </a:r>
            <a:endParaRPr b="1" i="0" sz="1800" u="none" cap="none" strike="noStrike">
              <a:solidFill>
                <a:schemeClr val="dk1"/>
              </a:solidFill>
              <a:latin typeface="Verdana"/>
              <a:ea typeface="Verdana"/>
              <a:cs typeface="Verdana"/>
              <a:sym typeface="Verdana"/>
            </a:endParaRPr>
          </a:p>
        </p:txBody>
      </p:sp>
      <p:sp>
        <p:nvSpPr>
          <p:cNvPr id="566" name="Google Shape;566;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567" name="Google Shape;567;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68" name="Google Shape;568;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43"/>
          <p:cNvSpPr txBox="1"/>
          <p:nvPr>
            <p:ph type="title"/>
          </p:nvPr>
        </p:nvSpPr>
        <p:spPr>
          <a:xfrm>
            <a:off x="1003300" y="166688"/>
            <a:ext cx="76835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Prevention (Cont.)</a:t>
            </a:r>
            <a:endParaRPr/>
          </a:p>
        </p:txBody>
      </p:sp>
      <p:sp>
        <p:nvSpPr>
          <p:cNvPr id="575" name="Google Shape;575;p43"/>
          <p:cNvSpPr txBox="1"/>
          <p:nvPr>
            <p:ph idx="1" type="body"/>
          </p:nvPr>
        </p:nvSpPr>
        <p:spPr>
          <a:xfrm>
            <a:off x="838200" y="1076325"/>
            <a:ext cx="6705600" cy="4446588"/>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b="1" lang="en-US"/>
              <a:t>No Preemption</a:t>
            </a:r>
            <a:r>
              <a:rPr lang="en-US"/>
              <a:t> –</a:t>
            </a:r>
            <a:endParaRPr/>
          </a:p>
          <a:p>
            <a:pPr indent="-285750" lvl="1" marL="742950" rtl="0" algn="l">
              <a:spcBef>
                <a:spcPts val="518"/>
              </a:spcBef>
              <a:spcAft>
                <a:spcPts val="0"/>
              </a:spcAft>
              <a:buClr>
                <a:schemeClr val="dk1"/>
              </a:buClr>
              <a:buSzPct val="100000"/>
              <a:buChar char="–"/>
            </a:pPr>
            <a:r>
              <a:rPr lang="en-US"/>
              <a:t>Method 1</a:t>
            </a:r>
            <a:endParaRPr/>
          </a:p>
          <a:p>
            <a:pPr indent="-285750" lvl="1" marL="742950" rtl="0" algn="l">
              <a:spcBef>
                <a:spcPts val="518"/>
              </a:spcBef>
              <a:spcAft>
                <a:spcPts val="0"/>
              </a:spcAft>
              <a:buClr>
                <a:schemeClr val="dk1"/>
              </a:buClr>
              <a:buSzPct val="100000"/>
              <a:buChar char="–"/>
            </a:pPr>
            <a:r>
              <a:rPr lang="en-US"/>
              <a:t>If a process that is holding some resources requests another resource that cannot be immediately allocated to it, </a:t>
            </a:r>
            <a:endParaRPr/>
          </a:p>
          <a:p>
            <a:pPr indent="-228600" lvl="2" marL="1143000" rtl="0" algn="l">
              <a:spcBef>
                <a:spcPts val="444"/>
              </a:spcBef>
              <a:spcAft>
                <a:spcPts val="0"/>
              </a:spcAft>
              <a:buClr>
                <a:srgbClr val="0070C0"/>
              </a:buClr>
              <a:buSzPct val="100000"/>
              <a:buChar char="•"/>
            </a:pPr>
            <a:r>
              <a:rPr b="1" lang="en-US">
                <a:solidFill>
                  <a:srgbClr val="0070C0"/>
                </a:solidFill>
              </a:rPr>
              <a:t>then all resources currently being held are released</a:t>
            </a:r>
            <a:endParaRPr/>
          </a:p>
          <a:p>
            <a:pPr indent="-228600" lvl="2" marL="1143000" rtl="0" algn="l">
              <a:spcBef>
                <a:spcPts val="444"/>
              </a:spcBef>
              <a:spcAft>
                <a:spcPts val="0"/>
              </a:spcAft>
              <a:buClr>
                <a:srgbClr val="0070C0"/>
              </a:buClr>
              <a:buSzPct val="100000"/>
              <a:buChar char="•"/>
            </a:pPr>
            <a:r>
              <a:rPr b="1" lang="en-US">
                <a:solidFill>
                  <a:srgbClr val="0070C0"/>
                </a:solidFill>
              </a:rPr>
              <a:t>Preempted resources are added to the list of resources </a:t>
            </a:r>
            <a:endParaRPr/>
          </a:p>
          <a:p>
            <a:pPr indent="-285750" lvl="1" marL="742950" rtl="0" algn="l">
              <a:spcBef>
                <a:spcPts val="518"/>
              </a:spcBef>
              <a:spcAft>
                <a:spcPts val="0"/>
              </a:spcAft>
              <a:buClr>
                <a:schemeClr val="dk1"/>
              </a:buClr>
              <a:buSzPct val="100000"/>
              <a:buChar char="–"/>
            </a:pPr>
            <a:r>
              <a:rPr lang="en-US"/>
              <a:t>Process will be restarted only when </a:t>
            </a:r>
            <a:endParaRPr/>
          </a:p>
          <a:p>
            <a:pPr indent="-228600" lvl="2" marL="1143000" rtl="0" algn="l">
              <a:spcBef>
                <a:spcPts val="444"/>
              </a:spcBef>
              <a:spcAft>
                <a:spcPts val="0"/>
              </a:spcAft>
              <a:buClr>
                <a:schemeClr val="dk1"/>
              </a:buClr>
              <a:buSzPct val="100000"/>
              <a:buChar char="•"/>
            </a:pPr>
            <a:r>
              <a:rPr lang="en-US"/>
              <a:t>it can regain its old resources, as well as </a:t>
            </a:r>
            <a:endParaRPr/>
          </a:p>
          <a:p>
            <a:pPr indent="-228600" lvl="2" marL="1143000" rtl="0" algn="l">
              <a:spcBef>
                <a:spcPts val="444"/>
              </a:spcBef>
              <a:spcAft>
                <a:spcPts val="0"/>
              </a:spcAft>
              <a:buClr>
                <a:schemeClr val="dk1"/>
              </a:buClr>
              <a:buSzPct val="100000"/>
              <a:buChar char="•"/>
            </a:pPr>
            <a:r>
              <a:rPr lang="en-US"/>
              <a:t>the new ones that it is requesting</a:t>
            </a:r>
            <a:endParaRPr/>
          </a:p>
        </p:txBody>
      </p:sp>
      <p:sp>
        <p:nvSpPr>
          <p:cNvPr id="576" name="Google Shape;576;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577" name="Google Shape;577;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78" name="Google Shape;578;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44"/>
          <p:cNvSpPr txBox="1"/>
          <p:nvPr>
            <p:ph type="title"/>
          </p:nvPr>
        </p:nvSpPr>
        <p:spPr>
          <a:xfrm>
            <a:off x="1003300" y="166688"/>
            <a:ext cx="76835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Prevention (Cont.)</a:t>
            </a:r>
            <a:endParaRPr/>
          </a:p>
        </p:txBody>
      </p:sp>
      <p:sp>
        <p:nvSpPr>
          <p:cNvPr id="585" name="Google Shape;585;p44"/>
          <p:cNvSpPr txBox="1"/>
          <p:nvPr>
            <p:ph idx="1" type="body"/>
          </p:nvPr>
        </p:nvSpPr>
        <p:spPr>
          <a:xfrm>
            <a:off x="838200" y="1076324"/>
            <a:ext cx="7239000" cy="52482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No Preemption</a:t>
            </a:r>
            <a:r>
              <a:rPr lang="en-US"/>
              <a:t> –</a:t>
            </a:r>
            <a:endParaRPr/>
          </a:p>
          <a:p>
            <a:pPr indent="-285750" lvl="1" marL="742950" rtl="0" algn="l">
              <a:spcBef>
                <a:spcPts val="480"/>
              </a:spcBef>
              <a:spcAft>
                <a:spcPts val="0"/>
              </a:spcAft>
              <a:buClr>
                <a:schemeClr val="dk1"/>
              </a:buClr>
              <a:buSzPts val="2400"/>
              <a:buChar char="–"/>
            </a:pPr>
            <a:r>
              <a:rPr lang="en-US" sz="2400"/>
              <a:t>Method 2-</a:t>
            </a:r>
            <a:endParaRPr/>
          </a:p>
          <a:p>
            <a:pPr indent="-342900" lvl="0" marL="342900" rtl="0" algn="l">
              <a:spcBef>
                <a:spcPts val="480"/>
              </a:spcBef>
              <a:spcAft>
                <a:spcPts val="0"/>
              </a:spcAft>
              <a:buClr>
                <a:schemeClr val="dk1"/>
              </a:buClr>
              <a:buSzPts val="2400"/>
              <a:buChar char="•"/>
            </a:pPr>
            <a:r>
              <a:rPr lang="en-US" sz="2400"/>
              <a:t>If a process requests some resources, </a:t>
            </a:r>
            <a:endParaRPr sz="2400"/>
          </a:p>
          <a:p>
            <a:pPr indent="-285750" lvl="1" marL="742950" rtl="0" algn="l">
              <a:spcBef>
                <a:spcPts val="480"/>
              </a:spcBef>
              <a:spcAft>
                <a:spcPts val="0"/>
              </a:spcAft>
              <a:buClr>
                <a:schemeClr val="dk1"/>
              </a:buClr>
              <a:buSzPts val="2400"/>
              <a:buChar char="–"/>
            </a:pPr>
            <a:r>
              <a:rPr lang="en-US" sz="2400"/>
              <a:t>If they are not available, </a:t>
            </a:r>
            <a:endParaRPr/>
          </a:p>
          <a:p>
            <a:pPr indent="-285750" lvl="1" marL="742950" rtl="0" algn="l">
              <a:spcBef>
                <a:spcPts val="480"/>
              </a:spcBef>
              <a:spcAft>
                <a:spcPts val="0"/>
              </a:spcAft>
              <a:buClr>
                <a:srgbClr val="0070C0"/>
              </a:buClr>
              <a:buSzPts val="2400"/>
              <a:buChar char="–"/>
            </a:pPr>
            <a:r>
              <a:rPr lang="en-US" sz="2400">
                <a:solidFill>
                  <a:srgbClr val="0070C0"/>
                </a:solidFill>
              </a:rPr>
              <a:t>check If they are allocated to some other process that is waiting for additional resources. </a:t>
            </a:r>
            <a:endParaRPr sz="2400">
              <a:solidFill>
                <a:srgbClr val="0070C0"/>
              </a:solidFill>
            </a:endParaRPr>
          </a:p>
          <a:p>
            <a:pPr indent="-342900" lvl="0" marL="342900" rtl="0" algn="l">
              <a:spcBef>
                <a:spcPts val="480"/>
              </a:spcBef>
              <a:spcAft>
                <a:spcPts val="0"/>
              </a:spcAft>
              <a:buClr>
                <a:schemeClr val="dk1"/>
              </a:buClr>
              <a:buSzPts val="2400"/>
              <a:buChar char="•"/>
            </a:pPr>
            <a:r>
              <a:rPr lang="en-US" sz="2400"/>
              <a:t>If so, we </a:t>
            </a:r>
            <a:endParaRPr sz="2400"/>
          </a:p>
          <a:p>
            <a:pPr indent="-285750" lvl="1" marL="742950" rtl="0" algn="l">
              <a:spcBef>
                <a:spcPts val="480"/>
              </a:spcBef>
              <a:spcAft>
                <a:spcPts val="0"/>
              </a:spcAft>
              <a:buClr>
                <a:srgbClr val="0070C0"/>
              </a:buClr>
              <a:buSzPts val="2400"/>
              <a:buChar char="–"/>
            </a:pPr>
            <a:r>
              <a:rPr lang="en-US" sz="2400">
                <a:solidFill>
                  <a:srgbClr val="0070C0"/>
                </a:solidFill>
              </a:rPr>
              <a:t>preempt the desired resources from the waiting process and </a:t>
            </a:r>
            <a:endParaRPr/>
          </a:p>
          <a:p>
            <a:pPr indent="-285750" lvl="1" marL="742950" rtl="0" algn="l">
              <a:spcBef>
                <a:spcPts val="480"/>
              </a:spcBef>
              <a:spcAft>
                <a:spcPts val="0"/>
              </a:spcAft>
              <a:buClr>
                <a:srgbClr val="0070C0"/>
              </a:buClr>
              <a:buSzPts val="2400"/>
              <a:buChar char="–"/>
            </a:pPr>
            <a:r>
              <a:rPr lang="en-US" sz="2400">
                <a:solidFill>
                  <a:srgbClr val="0070C0"/>
                </a:solidFill>
              </a:rPr>
              <a:t>allocate them to the requesting process. </a:t>
            </a:r>
            <a:endParaRPr sz="2400">
              <a:solidFill>
                <a:srgbClr val="0070C0"/>
              </a:solidFill>
            </a:endParaRPr>
          </a:p>
        </p:txBody>
      </p:sp>
      <p:sp>
        <p:nvSpPr>
          <p:cNvPr id="586" name="Google Shape;586;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587" name="Google Shape;587;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88" name="Google Shape;588;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45"/>
          <p:cNvSpPr txBox="1"/>
          <p:nvPr>
            <p:ph type="title"/>
          </p:nvPr>
        </p:nvSpPr>
        <p:spPr>
          <a:xfrm>
            <a:off x="1003300" y="166688"/>
            <a:ext cx="76835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Prevention (Cont.)</a:t>
            </a:r>
            <a:endParaRPr/>
          </a:p>
        </p:txBody>
      </p:sp>
      <p:sp>
        <p:nvSpPr>
          <p:cNvPr id="595" name="Google Shape;595;p45"/>
          <p:cNvSpPr txBox="1"/>
          <p:nvPr>
            <p:ph idx="1" type="body"/>
          </p:nvPr>
        </p:nvSpPr>
        <p:spPr>
          <a:xfrm>
            <a:off x="838200" y="1076324"/>
            <a:ext cx="7239000" cy="5248275"/>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Char char="•"/>
            </a:pPr>
            <a:r>
              <a:rPr b="1" lang="en-US"/>
              <a:t>No Preemption</a:t>
            </a:r>
            <a:r>
              <a:rPr lang="en-US"/>
              <a:t> –</a:t>
            </a:r>
            <a:endParaRPr/>
          </a:p>
          <a:p>
            <a:pPr indent="-285750" lvl="1" marL="742950" rtl="0" algn="l">
              <a:spcBef>
                <a:spcPts val="560"/>
              </a:spcBef>
              <a:spcAft>
                <a:spcPts val="0"/>
              </a:spcAft>
              <a:buClr>
                <a:schemeClr val="dk1"/>
              </a:buClr>
              <a:buSzPts val="2800"/>
              <a:buChar char="–"/>
            </a:pPr>
            <a:r>
              <a:rPr lang="en-US"/>
              <a:t>Method 2-</a:t>
            </a:r>
            <a:endParaRPr/>
          </a:p>
          <a:p>
            <a:pPr indent="-342900" lvl="0" marL="342900" rtl="0" algn="l">
              <a:spcBef>
                <a:spcPts val="480"/>
              </a:spcBef>
              <a:spcAft>
                <a:spcPts val="0"/>
              </a:spcAft>
              <a:buClr>
                <a:schemeClr val="dk1"/>
              </a:buClr>
              <a:buSzPts val="2400"/>
              <a:buChar char="•"/>
            </a:pPr>
            <a:r>
              <a:rPr lang="en-US" sz="2400"/>
              <a:t>If the resources are </a:t>
            </a:r>
            <a:endParaRPr sz="2400"/>
          </a:p>
          <a:p>
            <a:pPr indent="-285750" lvl="1" marL="742950" rtl="0" algn="l">
              <a:spcBef>
                <a:spcPts val="400"/>
              </a:spcBef>
              <a:spcAft>
                <a:spcPts val="0"/>
              </a:spcAft>
              <a:buClr>
                <a:srgbClr val="0070C0"/>
              </a:buClr>
              <a:buSzPts val="2000"/>
              <a:buChar char="–"/>
            </a:pPr>
            <a:r>
              <a:rPr lang="en-US" sz="2000">
                <a:solidFill>
                  <a:srgbClr val="0070C0"/>
                </a:solidFill>
              </a:rPr>
              <a:t>neither available </a:t>
            </a:r>
            <a:endParaRPr/>
          </a:p>
          <a:p>
            <a:pPr indent="-285750" lvl="1" marL="742950" rtl="0" algn="l">
              <a:spcBef>
                <a:spcPts val="400"/>
              </a:spcBef>
              <a:spcAft>
                <a:spcPts val="0"/>
              </a:spcAft>
              <a:buClr>
                <a:srgbClr val="0070C0"/>
              </a:buClr>
              <a:buSzPts val="2000"/>
              <a:buChar char="–"/>
            </a:pPr>
            <a:r>
              <a:rPr lang="en-US" sz="2000">
                <a:solidFill>
                  <a:srgbClr val="0070C0"/>
                </a:solidFill>
              </a:rPr>
              <a:t>nor held by a waiting process, </a:t>
            </a:r>
            <a:endParaRPr sz="2000">
              <a:solidFill>
                <a:srgbClr val="0070C0"/>
              </a:solidFill>
            </a:endParaRPr>
          </a:p>
          <a:p>
            <a:pPr indent="-285750" lvl="1" marL="742950" rtl="0" algn="l">
              <a:spcBef>
                <a:spcPts val="400"/>
              </a:spcBef>
              <a:spcAft>
                <a:spcPts val="0"/>
              </a:spcAft>
              <a:buClr>
                <a:schemeClr val="dk1"/>
              </a:buClr>
              <a:buSzPts val="2000"/>
              <a:buChar char="–"/>
            </a:pPr>
            <a:r>
              <a:rPr lang="en-US" sz="2000"/>
              <a:t>the requesting process must wait. </a:t>
            </a:r>
            <a:endParaRPr sz="2000"/>
          </a:p>
          <a:p>
            <a:pPr indent="-342900" lvl="0" marL="342900" rtl="0" algn="l">
              <a:spcBef>
                <a:spcPts val="480"/>
              </a:spcBef>
              <a:spcAft>
                <a:spcPts val="0"/>
              </a:spcAft>
              <a:buClr>
                <a:schemeClr val="dk1"/>
              </a:buClr>
              <a:buSzPts val="2400"/>
              <a:buChar char="•"/>
            </a:pPr>
            <a:r>
              <a:rPr lang="en-US" sz="2400"/>
              <a:t>While it is waiting, </a:t>
            </a:r>
            <a:endParaRPr sz="2400"/>
          </a:p>
          <a:p>
            <a:pPr indent="-285750" lvl="1" marL="742950" rtl="0" algn="l">
              <a:spcBef>
                <a:spcPts val="400"/>
              </a:spcBef>
              <a:spcAft>
                <a:spcPts val="0"/>
              </a:spcAft>
              <a:buClr>
                <a:srgbClr val="0070C0"/>
              </a:buClr>
              <a:buSzPts val="2000"/>
              <a:buChar char="–"/>
            </a:pPr>
            <a:r>
              <a:rPr lang="en-US" sz="2000">
                <a:solidFill>
                  <a:srgbClr val="0070C0"/>
                </a:solidFill>
              </a:rPr>
              <a:t>some of its resources may be preempted, </a:t>
            </a:r>
            <a:endParaRPr sz="2000">
              <a:solidFill>
                <a:srgbClr val="0070C0"/>
              </a:solidFill>
            </a:endParaRPr>
          </a:p>
          <a:p>
            <a:pPr indent="-285750" lvl="1" marL="742950" rtl="0" algn="l">
              <a:spcBef>
                <a:spcPts val="400"/>
              </a:spcBef>
              <a:spcAft>
                <a:spcPts val="0"/>
              </a:spcAft>
              <a:buClr>
                <a:srgbClr val="0070C0"/>
              </a:buClr>
              <a:buSzPts val="2000"/>
              <a:buChar char="–"/>
            </a:pPr>
            <a:r>
              <a:rPr lang="en-US" sz="2000">
                <a:solidFill>
                  <a:srgbClr val="0070C0"/>
                </a:solidFill>
              </a:rPr>
              <a:t>but only if another process requests them.</a:t>
            </a:r>
            <a:r>
              <a:rPr lang="en-US" sz="2000"/>
              <a:t> </a:t>
            </a:r>
            <a:endParaRPr sz="2000"/>
          </a:p>
          <a:p>
            <a:pPr indent="-342900" lvl="0" marL="342900" rtl="0" algn="l">
              <a:spcBef>
                <a:spcPts val="480"/>
              </a:spcBef>
              <a:spcAft>
                <a:spcPts val="0"/>
              </a:spcAft>
              <a:buClr>
                <a:schemeClr val="dk1"/>
              </a:buClr>
              <a:buSzPts val="2400"/>
              <a:buChar char="•"/>
            </a:pPr>
            <a:r>
              <a:rPr lang="en-US" sz="2400"/>
              <a:t>A process can be restarted only </a:t>
            </a:r>
            <a:endParaRPr sz="2400"/>
          </a:p>
          <a:p>
            <a:pPr indent="-285750" lvl="1" marL="742950" rtl="0" algn="l">
              <a:spcBef>
                <a:spcPts val="400"/>
              </a:spcBef>
              <a:spcAft>
                <a:spcPts val="0"/>
              </a:spcAft>
              <a:buClr>
                <a:schemeClr val="dk1"/>
              </a:buClr>
              <a:buSzPts val="2000"/>
              <a:buChar char="–"/>
            </a:pPr>
            <a:r>
              <a:rPr lang="en-US" sz="2000"/>
              <a:t>when it is allocated the new resources it is requesting and</a:t>
            </a:r>
            <a:endParaRPr/>
          </a:p>
          <a:p>
            <a:pPr indent="-285750" lvl="1" marL="742950" rtl="0" algn="l">
              <a:spcBef>
                <a:spcPts val="400"/>
              </a:spcBef>
              <a:spcAft>
                <a:spcPts val="0"/>
              </a:spcAft>
              <a:buClr>
                <a:schemeClr val="dk1"/>
              </a:buClr>
              <a:buSzPts val="2000"/>
              <a:buChar char="–"/>
            </a:pPr>
            <a:r>
              <a:rPr lang="en-US" sz="2000"/>
              <a:t> recovers any resources that were preempted while it was waiting.</a:t>
            </a:r>
            <a:endParaRPr sz="2000"/>
          </a:p>
        </p:txBody>
      </p:sp>
      <p:sp>
        <p:nvSpPr>
          <p:cNvPr id="596" name="Google Shape;596;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597" name="Google Shape;597;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98" name="Google Shape;598;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46"/>
          <p:cNvSpPr txBox="1"/>
          <p:nvPr>
            <p:ph type="title"/>
          </p:nvPr>
        </p:nvSpPr>
        <p:spPr>
          <a:xfrm>
            <a:off x="1003300" y="166688"/>
            <a:ext cx="76835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Prevention (Cont.)</a:t>
            </a:r>
            <a:endParaRPr/>
          </a:p>
        </p:txBody>
      </p:sp>
      <p:sp>
        <p:nvSpPr>
          <p:cNvPr id="605" name="Google Shape;605;p46"/>
          <p:cNvSpPr txBox="1"/>
          <p:nvPr>
            <p:ph idx="1" type="body"/>
          </p:nvPr>
        </p:nvSpPr>
        <p:spPr>
          <a:xfrm>
            <a:off x="838200" y="1076325"/>
            <a:ext cx="6705600" cy="444658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Circular Wait</a:t>
            </a:r>
            <a:r>
              <a:rPr lang="en-US"/>
              <a:t> – </a:t>
            </a:r>
            <a:endParaRPr/>
          </a:p>
          <a:p>
            <a:pPr indent="-342900" lvl="0" marL="342900" rtl="0" algn="l">
              <a:spcBef>
                <a:spcPts val="640"/>
              </a:spcBef>
              <a:spcAft>
                <a:spcPts val="0"/>
              </a:spcAft>
              <a:buClr>
                <a:schemeClr val="dk1"/>
              </a:buClr>
              <a:buSzPts val="3200"/>
              <a:buChar char="•"/>
            </a:pPr>
            <a:r>
              <a:rPr lang="en-US"/>
              <a:t>Impose a total ordering of all resource types, </a:t>
            </a:r>
            <a:endParaRPr/>
          </a:p>
          <a:p>
            <a:pPr indent="-342900" lvl="0" marL="342900" rtl="0" algn="l">
              <a:spcBef>
                <a:spcPts val="640"/>
              </a:spcBef>
              <a:spcAft>
                <a:spcPts val="0"/>
              </a:spcAft>
              <a:buClr>
                <a:schemeClr val="dk1"/>
              </a:buClr>
              <a:buSzPts val="3200"/>
              <a:buChar char="•"/>
            </a:pPr>
            <a:r>
              <a:rPr lang="en-US"/>
              <a:t>Requires that </a:t>
            </a:r>
            <a:r>
              <a:rPr lang="en-US">
                <a:solidFill>
                  <a:srgbClr val="0070C0"/>
                </a:solidFill>
              </a:rPr>
              <a:t>each process requests resources in an increasing order of enumeration</a:t>
            </a:r>
            <a:endParaRPr/>
          </a:p>
          <a:p>
            <a:pPr indent="-107950" lvl="1" marL="742950" rtl="0" algn="l">
              <a:spcBef>
                <a:spcPts val="560"/>
              </a:spcBef>
              <a:spcAft>
                <a:spcPts val="0"/>
              </a:spcAft>
              <a:buClr>
                <a:schemeClr val="dk1"/>
              </a:buClr>
              <a:buSzPts val="2800"/>
              <a:buNone/>
            </a:pPr>
            <a:r>
              <a:t/>
            </a:r>
            <a:endParaRPr/>
          </a:p>
        </p:txBody>
      </p:sp>
      <p:sp>
        <p:nvSpPr>
          <p:cNvPr id="606" name="Google Shape;606;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607" name="Google Shape;607;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08" name="Google Shape;608;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47"/>
          <p:cNvSpPr txBox="1"/>
          <p:nvPr>
            <p:ph type="title"/>
          </p:nvPr>
        </p:nvSpPr>
        <p:spPr>
          <a:xfrm>
            <a:off x="1003300" y="166688"/>
            <a:ext cx="76835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Prevention (Cont.)</a:t>
            </a:r>
            <a:endParaRPr/>
          </a:p>
        </p:txBody>
      </p:sp>
      <p:sp>
        <p:nvSpPr>
          <p:cNvPr id="615" name="Google Shape;615;p47"/>
          <p:cNvSpPr txBox="1"/>
          <p:nvPr>
            <p:ph idx="1" type="body"/>
          </p:nvPr>
        </p:nvSpPr>
        <p:spPr>
          <a:xfrm>
            <a:off x="838200" y="1076325"/>
            <a:ext cx="6705600" cy="444658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Circular Wait</a:t>
            </a:r>
            <a:r>
              <a:rPr lang="en-US"/>
              <a:t> </a:t>
            </a:r>
            <a:endParaRPr/>
          </a:p>
          <a:p>
            <a:pPr indent="-342900" lvl="0" marL="342900" rtl="0" algn="l">
              <a:spcBef>
                <a:spcPts val="480"/>
              </a:spcBef>
              <a:spcAft>
                <a:spcPts val="0"/>
              </a:spcAft>
              <a:buClr>
                <a:schemeClr val="dk1"/>
              </a:buClr>
              <a:buSzPts val="2400"/>
              <a:buChar char="•"/>
            </a:pPr>
            <a:r>
              <a:rPr i="1" lang="en-US" sz="2400"/>
              <a:t>Resources R </a:t>
            </a:r>
            <a:r>
              <a:rPr lang="en-US" sz="2400"/>
              <a:t>= { R1, R2, ... , Rm} </a:t>
            </a:r>
            <a:endParaRPr sz="2400"/>
          </a:p>
          <a:p>
            <a:pPr indent="-342900" lvl="0" marL="342900" rtl="0" algn="l">
              <a:spcBef>
                <a:spcPts val="480"/>
              </a:spcBef>
              <a:spcAft>
                <a:spcPts val="0"/>
              </a:spcAft>
              <a:buClr>
                <a:schemeClr val="dk1"/>
              </a:buClr>
              <a:buSzPts val="2400"/>
              <a:buChar char="•"/>
            </a:pPr>
            <a:r>
              <a:rPr lang="en-US" sz="2400"/>
              <a:t>Assign to each resource type a unique integer number, </a:t>
            </a:r>
            <a:endParaRPr sz="2400"/>
          </a:p>
          <a:p>
            <a:pPr indent="-285750" lvl="1" marL="742950" rtl="0" algn="l">
              <a:spcBef>
                <a:spcPts val="480"/>
              </a:spcBef>
              <a:spcAft>
                <a:spcPts val="0"/>
              </a:spcAft>
              <a:buClr>
                <a:schemeClr val="dk1"/>
              </a:buClr>
              <a:buSzPts val="2400"/>
              <a:buChar char="–"/>
            </a:pPr>
            <a:r>
              <a:rPr lang="en-US" sz="2400"/>
              <a:t>which allows us to compare two resources </a:t>
            </a:r>
            <a:endParaRPr/>
          </a:p>
          <a:p>
            <a:pPr indent="-285750" lvl="1" marL="742950" rtl="0" algn="l">
              <a:spcBef>
                <a:spcPts val="480"/>
              </a:spcBef>
              <a:spcAft>
                <a:spcPts val="0"/>
              </a:spcAft>
              <a:buClr>
                <a:srgbClr val="0070C0"/>
              </a:buClr>
              <a:buSzPts val="2400"/>
              <a:buChar char="–"/>
            </a:pPr>
            <a:r>
              <a:rPr lang="en-US" sz="2400">
                <a:solidFill>
                  <a:srgbClr val="0070C0"/>
                </a:solidFill>
              </a:rPr>
              <a:t>to determine whether one precedes another in our ordering. </a:t>
            </a:r>
            <a:endParaRPr sz="2400">
              <a:solidFill>
                <a:srgbClr val="0070C0"/>
              </a:solidFill>
            </a:endParaRPr>
          </a:p>
          <a:p>
            <a:pPr indent="-342900" lvl="0" marL="342900" rtl="0" algn="l">
              <a:spcBef>
                <a:spcPts val="480"/>
              </a:spcBef>
              <a:spcAft>
                <a:spcPts val="0"/>
              </a:spcAft>
              <a:buClr>
                <a:schemeClr val="dk1"/>
              </a:buClr>
              <a:buSzPts val="2400"/>
              <a:buChar char="•"/>
            </a:pPr>
            <a:r>
              <a:rPr lang="en-US" sz="2400"/>
              <a:t>Define a one-to-one function </a:t>
            </a:r>
            <a:endParaRPr/>
          </a:p>
          <a:p>
            <a:pPr indent="0" lvl="0" marL="0" rtl="0" algn="l">
              <a:spcBef>
                <a:spcPts val="480"/>
              </a:spcBef>
              <a:spcAft>
                <a:spcPts val="0"/>
              </a:spcAft>
              <a:buClr>
                <a:schemeClr val="dk1"/>
              </a:buClr>
              <a:buSzPts val="2400"/>
              <a:buNone/>
            </a:pPr>
            <a:r>
              <a:rPr lang="en-US" sz="2400"/>
              <a:t>		</a:t>
            </a:r>
            <a:r>
              <a:rPr lang="en-US" sz="2400">
                <a:solidFill>
                  <a:srgbClr val="0070C0"/>
                </a:solidFill>
              </a:rPr>
              <a:t>F: </a:t>
            </a:r>
            <a:r>
              <a:rPr i="1" lang="en-US" sz="2400">
                <a:solidFill>
                  <a:srgbClr val="0070C0"/>
                </a:solidFill>
              </a:rPr>
              <a:t>R -&gt;</a:t>
            </a:r>
            <a:r>
              <a:rPr lang="en-US" sz="2400">
                <a:solidFill>
                  <a:srgbClr val="0070C0"/>
                </a:solidFill>
              </a:rPr>
              <a:t> </a:t>
            </a:r>
            <a:r>
              <a:rPr i="1" lang="en-US" sz="2400">
                <a:solidFill>
                  <a:srgbClr val="0070C0"/>
                </a:solidFill>
              </a:rPr>
              <a:t>N</a:t>
            </a:r>
            <a:endParaRPr/>
          </a:p>
          <a:p>
            <a:pPr indent="-342900" lvl="0" marL="342900" rtl="0" algn="l">
              <a:spcBef>
                <a:spcPts val="480"/>
              </a:spcBef>
              <a:spcAft>
                <a:spcPts val="0"/>
              </a:spcAft>
              <a:buClr>
                <a:schemeClr val="dk1"/>
              </a:buClr>
              <a:buSzPts val="2400"/>
              <a:buChar char="•"/>
            </a:pPr>
            <a:r>
              <a:rPr lang="en-US" sz="2400"/>
              <a:t>where </a:t>
            </a:r>
            <a:r>
              <a:rPr i="1" lang="en-US" sz="2400"/>
              <a:t>N </a:t>
            </a:r>
            <a:r>
              <a:rPr lang="en-US" sz="2400"/>
              <a:t>is the set of natural numbers. </a:t>
            </a:r>
            <a:endParaRPr sz="2400"/>
          </a:p>
        </p:txBody>
      </p:sp>
      <p:sp>
        <p:nvSpPr>
          <p:cNvPr id="616" name="Google Shape;616;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617" name="Google Shape;617;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18" name="Google Shape;618;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48"/>
          <p:cNvSpPr txBox="1"/>
          <p:nvPr>
            <p:ph type="title"/>
          </p:nvPr>
        </p:nvSpPr>
        <p:spPr>
          <a:xfrm>
            <a:off x="1003300" y="166688"/>
            <a:ext cx="76835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Prevention (Cont.)</a:t>
            </a:r>
            <a:endParaRPr/>
          </a:p>
        </p:txBody>
      </p:sp>
      <p:sp>
        <p:nvSpPr>
          <p:cNvPr id="625" name="Google Shape;625;p48"/>
          <p:cNvSpPr txBox="1"/>
          <p:nvPr>
            <p:ph idx="1" type="body"/>
          </p:nvPr>
        </p:nvSpPr>
        <p:spPr>
          <a:xfrm>
            <a:off x="838200" y="1076325"/>
            <a:ext cx="6705600" cy="444658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Char char="•"/>
            </a:pPr>
            <a:r>
              <a:rPr b="1" lang="en-US" sz="2400"/>
              <a:t>Circular Wait</a:t>
            </a:r>
            <a:r>
              <a:rPr lang="en-US" sz="2400"/>
              <a:t> </a:t>
            </a:r>
            <a:endParaRPr/>
          </a:p>
          <a:p>
            <a:pPr indent="-342900" lvl="0" marL="342900" rtl="0" algn="l">
              <a:spcBef>
                <a:spcPts val="480"/>
              </a:spcBef>
              <a:spcAft>
                <a:spcPts val="0"/>
              </a:spcAft>
              <a:buClr>
                <a:schemeClr val="dk1"/>
              </a:buClr>
              <a:buSzPts val="2400"/>
              <a:buChar char="•"/>
            </a:pPr>
            <a:r>
              <a:rPr lang="en-US" sz="2400"/>
              <a:t>For example, if the set of resource types </a:t>
            </a:r>
            <a:r>
              <a:rPr i="1" lang="en-US" sz="2400"/>
              <a:t>R </a:t>
            </a:r>
            <a:r>
              <a:rPr lang="en-US" sz="2400"/>
              <a:t>includes  tape drives, disk drives, and printers, then the function </a:t>
            </a:r>
            <a:r>
              <a:rPr i="1" lang="en-US" sz="2400"/>
              <a:t>F </a:t>
            </a:r>
            <a:r>
              <a:rPr lang="en-US" sz="2400"/>
              <a:t>might be defined as follows:</a:t>
            </a:r>
            <a:endParaRPr/>
          </a:p>
          <a:p>
            <a:pPr indent="0" lvl="0" marL="0" rtl="0" algn="l">
              <a:spcBef>
                <a:spcPts val="480"/>
              </a:spcBef>
              <a:spcAft>
                <a:spcPts val="0"/>
              </a:spcAft>
              <a:buClr>
                <a:schemeClr val="dk1"/>
              </a:buClr>
              <a:buSzPts val="2400"/>
              <a:buNone/>
            </a:pPr>
            <a:r>
              <a:rPr i="1" lang="en-US" sz="2400"/>
              <a:t>	F </a:t>
            </a:r>
            <a:r>
              <a:rPr lang="en-US" sz="2400"/>
              <a:t>(tape drive) = 1</a:t>
            </a:r>
            <a:endParaRPr/>
          </a:p>
          <a:p>
            <a:pPr indent="0" lvl="0" marL="0" rtl="0" algn="l">
              <a:spcBef>
                <a:spcPts val="480"/>
              </a:spcBef>
              <a:spcAft>
                <a:spcPts val="0"/>
              </a:spcAft>
              <a:buClr>
                <a:schemeClr val="dk1"/>
              </a:buClr>
              <a:buSzPts val="2400"/>
              <a:buNone/>
            </a:pPr>
            <a:r>
              <a:rPr i="1" lang="en-US" sz="2400"/>
              <a:t>	F </a:t>
            </a:r>
            <a:r>
              <a:rPr lang="en-US" sz="2400"/>
              <a:t>(disk drive) = 5</a:t>
            </a:r>
            <a:endParaRPr/>
          </a:p>
          <a:p>
            <a:pPr indent="0" lvl="0" marL="0" rtl="0" algn="l">
              <a:spcBef>
                <a:spcPts val="480"/>
              </a:spcBef>
              <a:spcAft>
                <a:spcPts val="0"/>
              </a:spcAft>
              <a:buClr>
                <a:schemeClr val="dk1"/>
              </a:buClr>
              <a:buSzPts val="2400"/>
              <a:buNone/>
            </a:pPr>
            <a:r>
              <a:rPr i="1" lang="en-US" sz="2400"/>
              <a:t>	F </a:t>
            </a:r>
            <a:r>
              <a:rPr lang="en-US" sz="2400"/>
              <a:t>(printer) = 12</a:t>
            </a:r>
            <a:endParaRPr sz="2400"/>
          </a:p>
          <a:p>
            <a:pPr indent="-342900" lvl="0" marL="342900" rtl="0" algn="l">
              <a:spcBef>
                <a:spcPts val="480"/>
              </a:spcBef>
              <a:spcAft>
                <a:spcPts val="0"/>
              </a:spcAft>
              <a:buClr>
                <a:schemeClr val="dk1"/>
              </a:buClr>
              <a:buSzPts val="2400"/>
              <a:buChar char="•"/>
            </a:pPr>
            <a:r>
              <a:rPr lang="en-US" sz="2400"/>
              <a:t>A process that wants to use the tape drive and printer at the same time </a:t>
            </a:r>
            <a:endParaRPr sz="2400"/>
          </a:p>
          <a:p>
            <a:pPr indent="-285750" lvl="1" marL="742950" rtl="0" algn="l">
              <a:spcBef>
                <a:spcPts val="480"/>
              </a:spcBef>
              <a:spcAft>
                <a:spcPts val="0"/>
              </a:spcAft>
              <a:buClr>
                <a:srgbClr val="0070C0"/>
              </a:buClr>
              <a:buSzPts val="2400"/>
              <a:buChar char="–"/>
            </a:pPr>
            <a:r>
              <a:rPr lang="en-US" sz="2400">
                <a:solidFill>
                  <a:srgbClr val="0070C0"/>
                </a:solidFill>
              </a:rPr>
              <a:t>must first request the tape drive and then request the printer.</a:t>
            </a:r>
            <a:endParaRPr sz="2400">
              <a:solidFill>
                <a:srgbClr val="0070C0"/>
              </a:solidFill>
            </a:endParaRPr>
          </a:p>
        </p:txBody>
      </p:sp>
      <p:sp>
        <p:nvSpPr>
          <p:cNvPr id="626" name="Google Shape;626;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627" name="Google Shape;627;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28" name="Google Shape;628;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49"/>
          <p:cNvSpPr txBox="1"/>
          <p:nvPr>
            <p:ph type="title"/>
          </p:nvPr>
        </p:nvSpPr>
        <p:spPr>
          <a:xfrm>
            <a:off x="1003300" y="166688"/>
            <a:ext cx="76835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Prevention (Cont.)</a:t>
            </a:r>
            <a:endParaRPr/>
          </a:p>
        </p:txBody>
      </p:sp>
      <p:sp>
        <p:nvSpPr>
          <p:cNvPr id="635" name="Google Shape;635;p49"/>
          <p:cNvSpPr txBox="1"/>
          <p:nvPr>
            <p:ph idx="1" type="body"/>
          </p:nvPr>
        </p:nvSpPr>
        <p:spPr>
          <a:xfrm>
            <a:off x="838200" y="1076325"/>
            <a:ext cx="6705600" cy="444658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Circular Wait</a:t>
            </a:r>
            <a:r>
              <a:rPr lang="en-US"/>
              <a:t> </a:t>
            </a:r>
            <a:endParaRPr/>
          </a:p>
          <a:p>
            <a:pPr indent="-342900" lvl="0" marL="342900" rtl="0" algn="l">
              <a:spcBef>
                <a:spcPts val="480"/>
              </a:spcBef>
              <a:spcAft>
                <a:spcPts val="0"/>
              </a:spcAft>
              <a:buClr>
                <a:schemeClr val="dk1"/>
              </a:buClr>
              <a:buSzPts val="2400"/>
              <a:buChar char="•"/>
            </a:pPr>
            <a:r>
              <a:rPr lang="en-US" sz="2400"/>
              <a:t>A process can initially request any number of instances of a resource type, </a:t>
            </a:r>
            <a:r>
              <a:rPr i="1" lang="en-US" sz="2400"/>
              <a:t>Ri. </a:t>
            </a:r>
            <a:endParaRPr/>
          </a:p>
          <a:p>
            <a:pPr indent="-342900" lvl="0" marL="342900" rtl="0" algn="l">
              <a:spcBef>
                <a:spcPts val="480"/>
              </a:spcBef>
              <a:spcAft>
                <a:spcPts val="0"/>
              </a:spcAft>
              <a:buClr>
                <a:schemeClr val="dk1"/>
              </a:buClr>
              <a:buSzPts val="2400"/>
              <a:buChar char="•"/>
            </a:pPr>
            <a:r>
              <a:rPr lang="en-US" sz="2400"/>
              <a:t>After that, the process can request instances of resource type </a:t>
            </a:r>
            <a:r>
              <a:rPr i="1" lang="en-US" sz="2400"/>
              <a:t>Rj </a:t>
            </a:r>
            <a:endParaRPr i="1" sz="2400"/>
          </a:p>
          <a:p>
            <a:pPr indent="-342900" lvl="0" marL="342900" rtl="0" algn="l">
              <a:spcBef>
                <a:spcPts val="480"/>
              </a:spcBef>
              <a:spcAft>
                <a:spcPts val="0"/>
              </a:spcAft>
              <a:buClr>
                <a:schemeClr val="dk1"/>
              </a:buClr>
              <a:buSzPts val="2400"/>
              <a:buChar char="•"/>
            </a:pPr>
            <a:r>
              <a:rPr lang="en-US" sz="2400"/>
              <a:t>If and only if F(Rj) &gt; F(Ri)</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p:txBody>
      </p:sp>
      <p:sp>
        <p:nvSpPr>
          <p:cNvPr id="636" name="Google Shape;636;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637" name="Google Shape;637;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38" name="Google Shape;638;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50"/>
          <p:cNvSpPr txBox="1"/>
          <p:nvPr>
            <p:ph type="title"/>
          </p:nvPr>
        </p:nvSpPr>
        <p:spPr>
          <a:xfrm>
            <a:off x="914400" y="3048000"/>
            <a:ext cx="7762875"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Avoidance</a:t>
            </a:r>
            <a:endParaRPr/>
          </a:p>
        </p:txBody>
      </p:sp>
      <p:sp>
        <p:nvSpPr>
          <p:cNvPr id="645" name="Google Shape;645;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646" name="Google Shape;646;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47" name="Google Shape;647;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51"/>
          <p:cNvSpPr txBox="1"/>
          <p:nvPr>
            <p:ph type="title"/>
          </p:nvPr>
        </p:nvSpPr>
        <p:spPr>
          <a:xfrm>
            <a:off x="923925" y="198438"/>
            <a:ext cx="7762875"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Avoidance</a:t>
            </a:r>
            <a:endParaRPr/>
          </a:p>
        </p:txBody>
      </p:sp>
      <p:sp>
        <p:nvSpPr>
          <p:cNvPr id="654" name="Google Shape;654;p51"/>
          <p:cNvSpPr txBox="1"/>
          <p:nvPr>
            <p:ph idx="1" type="body"/>
          </p:nvPr>
        </p:nvSpPr>
        <p:spPr>
          <a:xfrm>
            <a:off x="1371600" y="1447800"/>
            <a:ext cx="6629400" cy="37830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70C0"/>
              </a:buClr>
              <a:buSzPts val="2400"/>
              <a:buNone/>
            </a:pPr>
            <a:r>
              <a:rPr lang="en-US" sz="2400">
                <a:solidFill>
                  <a:srgbClr val="0070C0"/>
                </a:solidFill>
              </a:rPr>
              <a:t>Disadvantages of Deadlock prevention??</a:t>
            </a:r>
            <a:endParaRPr/>
          </a:p>
          <a:p>
            <a:pPr indent="-342900" lvl="0" marL="342900" rtl="0" algn="l">
              <a:spcBef>
                <a:spcPts val="480"/>
              </a:spcBef>
              <a:spcAft>
                <a:spcPts val="0"/>
              </a:spcAft>
              <a:buClr>
                <a:schemeClr val="dk1"/>
              </a:buClr>
              <a:buSzPts val="2400"/>
              <a:buChar char="•"/>
            </a:pPr>
            <a:r>
              <a:rPr lang="en-US" sz="2400"/>
              <a:t>Possible side effects of preventing deadlocks, are </a:t>
            </a:r>
            <a:endParaRPr sz="2400"/>
          </a:p>
          <a:p>
            <a:pPr indent="-285750" lvl="1" marL="742950" rtl="0" algn="l">
              <a:spcBef>
                <a:spcPts val="480"/>
              </a:spcBef>
              <a:spcAft>
                <a:spcPts val="0"/>
              </a:spcAft>
              <a:buClr>
                <a:schemeClr val="dk1"/>
              </a:buClr>
              <a:buSzPts val="2400"/>
              <a:buChar char="–"/>
            </a:pPr>
            <a:r>
              <a:rPr lang="en-US" sz="2400" u="sng"/>
              <a:t>low device utilization and </a:t>
            </a:r>
            <a:endParaRPr sz="2400" u="sng"/>
          </a:p>
          <a:p>
            <a:pPr indent="-285750" lvl="1" marL="742950" rtl="0" algn="l">
              <a:spcBef>
                <a:spcPts val="480"/>
              </a:spcBef>
              <a:spcAft>
                <a:spcPts val="0"/>
              </a:spcAft>
              <a:buClr>
                <a:schemeClr val="dk1"/>
              </a:buClr>
              <a:buSzPts val="2400"/>
              <a:buChar char="–"/>
            </a:pPr>
            <a:r>
              <a:rPr lang="en-US" sz="2400" u="sng"/>
              <a:t>reduced system throughput.</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An alternative method for avoiding deadlocks </a:t>
            </a:r>
            <a:endParaRPr sz="2400"/>
          </a:p>
          <a:p>
            <a:pPr indent="-285750" lvl="1" marL="742950" rtl="0" algn="l">
              <a:spcBef>
                <a:spcPts val="480"/>
              </a:spcBef>
              <a:spcAft>
                <a:spcPts val="0"/>
              </a:spcAft>
              <a:buClr>
                <a:schemeClr val="dk1"/>
              </a:buClr>
              <a:buSzPts val="2400"/>
              <a:buChar char="–"/>
            </a:pPr>
            <a:r>
              <a:rPr lang="en-US" sz="2400"/>
              <a:t>Deadlock Avoidance</a:t>
            </a:r>
            <a:endParaRPr/>
          </a:p>
          <a:p>
            <a:pPr indent="-285750" lvl="1" marL="742950" rtl="0" algn="l">
              <a:spcBef>
                <a:spcPts val="480"/>
              </a:spcBef>
              <a:spcAft>
                <a:spcPts val="0"/>
              </a:spcAft>
              <a:buClr>
                <a:srgbClr val="0070C0"/>
              </a:buClr>
              <a:buSzPts val="2400"/>
              <a:buChar char="–"/>
            </a:pPr>
            <a:r>
              <a:rPr lang="en-US" sz="2400">
                <a:solidFill>
                  <a:srgbClr val="0070C0"/>
                </a:solidFill>
              </a:rPr>
              <a:t>is to require additional information about how resources are to be requested</a:t>
            </a:r>
            <a:endParaRPr sz="2400">
              <a:solidFill>
                <a:srgbClr val="0070C0"/>
              </a:solidFill>
            </a:endParaRPr>
          </a:p>
        </p:txBody>
      </p:sp>
      <p:sp>
        <p:nvSpPr>
          <p:cNvPr id="655" name="Google Shape;655;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656" name="Google Shape;656;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57" name="Google Shape;657;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A priori</a:t>
            </a:r>
            <a:endParaRPr/>
          </a:p>
        </p:txBody>
      </p:sp>
      <p:sp>
        <p:nvSpPr>
          <p:cNvPr id="663" name="Google Shape;663;p5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In Latin </a:t>
            </a:r>
            <a:r>
              <a:rPr i="1" lang="en-US" sz="2400"/>
              <a:t>a priori</a:t>
            </a:r>
            <a:r>
              <a:rPr lang="en-US" sz="2400"/>
              <a:t> means “what comes first.” </a:t>
            </a:r>
            <a:endParaRPr sz="2400"/>
          </a:p>
          <a:p>
            <a:pPr indent="-190500" lvl="0" marL="342900" rtl="0" algn="l">
              <a:spcBef>
                <a:spcPts val="480"/>
              </a:spcBef>
              <a:spcAft>
                <a:spcPts val="0"/>
              </a:spcAft>
              <a:buClr>
                <a:schemeClr val="dk1"/>
              </a:buClr>
              <a:buSzPts val="2400"/>
              <a:buNone/>
            </a:pPr>
            <a:r>
              <a:t/>
            </a:r>
            <a:endParaRPr i="1" sz="2400"/>
          </a:p>
          <a:p>
            <a:pPr indent="-342900" lvl="0" marL="342900" rtl="0" algn="l">
              <a:spcBef>
                <a:spcPts val="480"/>
              </a:spcBef>
              <a:spcAft>
                <a:spcPts val="0"/>
              </a:spcAft>
              <a:buClr>
                <a:schemeClr val="dk1"/>
              </a:buClr>
              <a:buSzPts val="2400"/>
              <a:buChar char="•"/>
            </a:pPr>
            <a:r>
              <a:rPr i="1" lang="en-US" sz="2400"/>
              <a:t>A priori</a:t>
            </a:r>
            <a:r>
              <a:rPr lang="en-US" sz="2400"/>
              <a:t> understandings are the assumptions that come before the rest of the assessment, argument, or analysis.</a:t>
            </a:r>
            <a:endParaRPr/>
          </a:p>
        </p:txBody>
      </p:sp>
      <p:sp>
        <p:nvSpPr>
          <p:cNvPr id="664" name="Google Shape;664;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665" name="Google Shape;665;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66" name="Google Shape;666;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53"/>
          <p:cNvSpPr txBox="1"/>
          <p:nvPr>
            <p:ph type="title"/>
          </p:nvPr>
        </p:nvSpPr>
        <p:spPr>
          <a:xfrm>
            <a:off x="923925" y="198438"/>
            <a:ext cx="7762875"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Avoidance</a:t>
            </a:r>
            <a:endParaRPr/>
          </a:p>
        </p:txBody>
      </p:sp>
      <p:sp>
        <p:nvSpPr>
          <p:cNvPr id="673" name="Google Shape;673;p53"/>
          <p:cNvSpPr txBox="1"/>
          <p:nvPr>
            <p:ph idx="1" type="body"/>
          </p:nvPr>
        </p:nvSpPr>
        <p:spPr>
          <a:xfrm>
            <a:off x="1397000" y="1814513"/>
            <a:ext cx="6629400" cy="378301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Simplest and most useful model requires that </a:t>
            </a:r>
            <a:endParaRPr/>
          </a:p>
          <a:p>
            <a:pPr indent="-285750" lvl="1" marL="742950" rtl="0" algn="l">
              <a:spcBef>
                <a:spcPts val="480"/>
              </a:spcBef>
              <a:spcAft>
                <a:spcPts val="0"/>
              </a:spcAft>
              <a:buClr>
                <a:schemeClr val="dk1"/>
              </a:buClr>
              <a:buSzPts val="2400"/>
              <a:buChar char="–"/>
            </a:pPr>
            <a:r>
              <a:rPr lang="en-US" sz="2400"/>
              <a:t>each process declare the </a:t>
            </a:r>
            <a:r>
              <a:rPr b="1" i="1" lang="en-US" sz="2400">
                <a:solidFill>
                  <a:srgbClr val="0070C0"/>
                </a:solidFill>
              </a:rPr>
              <a:t>maximum number</a:t>
            </a:r>
            <a:r>
              <a:rPr b="1" lang="en-US" sz="2400"/>
              <a:t> </a:t>
            </a:r>
            <a:r>
              <a:rPr lang="en-US" sz="2400"/>
              <a:t>of resources of each type that it </a:t>
            </a:r>
            <a:r>
              <a:rPr lang="en-US" sz="2400">
                <a:solidFill>
                  <a:srgbClr val="0070C0"/>
                </a:solidFill>
              </a:rPr>
              <a:t>may need</a:t>
            </a:r>
            <a:endParaRPr/>
          </a:p>
        </p:txBody>
      </p:sp>
      <p:sp>
        <p:nvSpPr>
          <p:cNvPr id="674" name="Google Shape;674;p53"/>
          <p:cNvSpPr txBox="1"/>
          <p:nvPr/>
        </p:nvSpPr>
        <p:spPr>
          <a:xfrm>
            <a:off x="1154113" y="1098550"/>
            <a:ext cx="7769225" cy="64135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Helvetica Neue"/>
                <a:ea typeface="Helvetica Neue"/>
                <a:cs typeface="Helvetica Neue"/>
                <a:sym typeface="Helvetica Neue"/>
              </a:rPr>
              <a:t>Requires that the system has some additional </a:t>
            </a:r>
            <a:r>
              <a:rPr b="1" i="1" lang="en-US" sz="1800" u="none" cap="none" strike="noStrike">
                <a:solidFill>
                  <a:srgbClr val="0070C0"/>
                </a:solidFill>
                <a:latin typeface="Helvetica Neue"/>
                <a:ea typeface="Helvetica Neue"/>
                <a:cs typeface="Helvetica Neue"/>
                <a:sym typeface="Helvetica Neue"/>
              </a:rPr>
              <a:t>a priori </a:t>
            </a:r>
            <a:r>
              <a:rPr b="0" i="0" lang="en-US" sz="1800" u="none" cap="none" strike="noStrike">
                <a:solidFill>
                  <a:srgbClr val="0070C0"/>
                </a:solidFill>
                <a:latin typeface="Helvetica Neue"/>
                <a:ea typeface="Helvetica Neue"/>
                <a:cs typeface="Helvetica Neue"/>
                <a:sym typeface="Helvetica Neue"/>
              </a:rPr>
              <a:t>information </a:t>
            </a:r>
            <a:br>
              <a:rPr b="0" i="0" lang="en-US" sz="1800" u="none" cap="none" strike="noStrike">
                <a:solidFill>
                  <a:srgbClr val="0070C0"/>
                </a:solidFill>
                <a:latin typeface="Helvetica Neue"/>
                <a:ea typeface="Helvetica Neue"/>
                <a:cs typeface="Helvetica Neue"/>
                <a:sym typeface="Helvetica Neue"/>
              </a:rPr>
            </a:br>
            <a:r>
              <a:rPr b="0" i="0" lang="en-US" sz="1800" u="none" cap="none" strike="noStrike">
                <a:solidFill>
                  <a:schemeClr val="dk1"/>
                </a:solidFill>
                <a:latin typeface="Helvetica Neue"/>
                <a:ea typeface="Helvetica Neue"/>
                <a:cs typeface="Helvetica Neue"/>
                <a:sym typeface="Helvetica Neue"/>
              </a:rPr>
              <a:t>available</a:t>
            </a:r>
            <a:endParaRPr/>
          </a:p>
        </p:txBody>
      </p:sp>
      <p:sp>
        <p:nvSpPr>
          <p:cNvPr id="675" name="Google Shape;675;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676" name="Google Shape;676;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77" name="Google Shape;677;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54"/>
          <p:cNvSpPr txBox="1"/>
          <p:nvPr>
            <p:ph type="title"/>
          </p:nvPr>
        </p:nvSpPr>
        <p:spPr>
          <a:xfrm>
            <a:off x="923925" y="198438"/>
            <a:ext cx="7762875"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Avoidance</a:t>
            </a:r>
            <a:endParaRPr/>
          </a:p>
        </p:txBody>
      </p:sp>
      <p:sp>
        <p:nvSpPr>
          <p:cNvPr id="684" name="Google Shape;684;p54"/>
          <p:cNvSpPr txBox="1"/>
          <p:nvPr>
            <p:ph idx="1" type="body"/>
          </p:nvPr>
        </p:nvSpPr>
        <p:spPr>
          <a:xfrm>
            <a:off x="838200" y="1524000"/>
            <a:ext cx="7188200" cy="40735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Given this </a:t>
            </a:r>
            <a:r>
              <a:rPr lang="en-US" sz="2400">
                <a:solidFill>
                  <a:srgbClr val="0070C0"/>
                </a:solidFill>
              </a:rPr>
              <a:t>a priori information, </a:t>
            </a:r>
            <a:endParaRPr sz="2400">
              <a:solidFill>
                <a:srgbClr val="0070C0"/>
              </a:solidFill>
            </a:endParaRPr>
          </a:p>
          <a:p>
            <a:pPr indent="-285750" lvl="1" marL="742950" rtl="0" algn="l">
              <a:spcBef>
                <a:spcPts val="480"/>
              </a:spcBef>
              <a:spcAft>
                <a:spcPts val="0"/>
              </a:spcAft>
              <a:buClr>
                <a:srgbClr val="0070C0"/>
              </a:buClr>
              <a:buSzPts val="2400"/>
              <a:buChar char="–"/>
            </a:pPr>
            <a:r>
              <a:rPr lang="en-US" sz="2400">
                <a:solidFill>
                  <a:srgbClr val="0070C0"/>
                </a:solidFill>
              </a:rPr>
              <a:t>it is possible to construct an algorithm </a:t>
            </a:r>
            <a:endParaRPr sz="2400">
              <a:solidFill>
                <a:srgbClr val="0070C0"/>
              </a:solidFill>
            </a:endParaRPr>
          </a:p>
          <a:p>
            <a:pPr indent="-285750" lvl="1" marL="742950" rtl="0" algn="l">
              <a:spcBef>
                <a:spcPts val="480"/>
              </a:spcBef>
              <a:spcAft>
                <a:spcPts val="0"/>
              </a:spcAft>
              <a:buClr>
                <a:srgbClr val="0070C0"/>
              </a:buClr>
              <a:buSzPts val="2400"/>
              <a:buChar char="–"/>
            </a:pPr>
            <a:r>
              <a:rPr lang="en-US" sz="2400">
                <a:solidFill>
                  <a:srgbClr val="0070C0"/>
                </a:solidFill>
              </a:rPr>
              <a:t>That ensures that the system will never enter a deadlocked state. </a:t>
            </a:r>
            <a:endParaRPr sz="2400">
              <a:solidFill>
                <a:srgbClr val="0070C0"/>
              </a:solidFill>
            </a:endParaRPr>
          </a:p>
          <a:p>
            <a:pPr indent="-285750" lvl="1" marL="742950" rtl="0" algn="l">
              <a:spcBef>
                <a:spcPts val="480"/>
              </a:spcBef>
              <a:spcAft>
                <a:spcPts val="0"/>
              </a:spcAft>
              <a:buClr>
                <a:schemeClr val="dk1"/>
              </a:buClr>
              <a:buSzPts val="2400"/>
              <a:buChar char="–"/>
            </a:pPr>
            <a:r>
              <a:rPr lang="en-US" sz="2400"/>
              <a:t>Such an algorithm defines the deadlock-avoidance approach.</a:t>
            </a:r>
            <a:endParaRPr sz="2400"/>
          </a:p>
        </p:txBody>
      </p:sp>
      <p:sp>
        <p:nvSpPr>
          <p:cNvPr id="685" name="Google Shape;685;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686" name="Google Shape;686;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87" name="Google Shape;687;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55"/>
          <p:cNvSpPr txBox="1"/>
          <p:nvPr>
            <p:ph type="title"/>
          </p:nvPr>
        </p:nvSpPr>
        <p:spPr>
          <a:xfrm>
            <a:off x="923925" y="198438"/>
            <a:ext cx="7762875"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Avoidance</a:t>
            </a:r>
            <a:endParaRPr/>
          </a:p>
        </p:txBody>
      </p:sp>
      <p:sp>
        <p:nvSpPr>
          <p:cNvPr id="694" name="Google Shape;694;p55"/>
          <p:cNvSpPr txBox="1"/>
          <p:nvPr>
            <p:ph idx="1" type="body"/>
          </p:nvPr>
        </p:nvSpPr>
        <p:spPr>
          <a:xfrm>
            <a:off x="838200" y="1524000"/>
            <a:ext cx="7188200" cy="4073525"/>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2400"/>
              <a:buChar char="•"/>
            </a:pPr>
            <a:r>
              <a:rPr lang="en-US" sz="2400"/>
              <a:t>The deadlock-avoidance algorithm </a:t>
            </a:r>
            <a:endParaRPr/>
          </a:p>
          <a:p>
            <a:pPr indent="-285750" lvl="1" marL="742950" rtl="0" algn="l">
              <a:spcBef>
                <a:spcPts val="480"/>
              </a:spcBef>
              <a:spcAft>
                <a:spcPts val="0"/>
              </a:spcAft>
              <a:buClr>
                <a:schemeClr val="dk1"/>
              </a:buClr>
              <a:buSzPts val="2400"/>
              <a:buChar char="–"/>
            </a:pPr>
            <a:r>
              <a:rPr lang="en-US" sz="2400"/>
              <a:t>dynamically examines the resource-allocation state </a:t>
            </a:r>
            <a:endParaRPr/>
          </a:p>
          <a:p>
            <a:pPr indent="-285750" lvl="1" marL="742950" rtl="0" algn="l">
              <a:spcBef>
                <a:spcPts val="480"/>
              </a:spcBef>
              <a:spcAft>
                <a:spcPts val="0"/>
              </a:spcAft>
              <a:buClr>
                <a:schemeClr val="dk1"/>
              </a:buClr>
              <a:buSzPts val="2400"/>
              <a:buChar char="–"/>
            </a:pPr>
            <a:r>
              <a:rPr lang="en-US" sz="2400"/>
              <a:t>to ensure that there can never be a circular-wait condition</a:t>
            </a:r>
            <a:endParaRPr/>
          </a:p>
          <a:p>
            <a:pPr indent="-133350" lvl="1" marL="74295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Resource-allocation </a:t>
            </a:r>
            <a:r>
              <a:rPr i="1" lang="en-US" sz="2400"/>
              <a:t>state</a:t>
            </a:r>
            <a:r>
              <a:rPr lang="en-US" sz="2400"/>
              <a:t> is defined by </a:t>
            </a:r>
            <a:endParaRPr sz="2400"/>
          </a:p>
          <a:p>
            <a:pPr indent="-285750" lvl="1" marL="742950" rtl="0" algn="l">
              <a:spcBef>
                <a:spcPts val="480"/>
              </a:spcBef>
              <a:spcAft>
                <a:spcPts val="0"/>
              </a:spcAft>
              <a:buClr>
                <a:schemeClr val="dk1"/>
              </a:buClr>
              <a:buSzPts val="2400"/>
              <a:buChar char="–"/>
            </a:pPr>
            <a:r>
              <a:rPr lang="en-US" sz="2400"/>
              <a:t>the number of available resources, </a:t>
            </a:r>
            <a:endParaRPr/>
          </a:p>
          <a:p>
            <a:pPr indent="-285750" lvl="1" marL="742950" rtl="0" algn="l">
              <a:spcBef>
                <a:spcPts val="480"/>
              </a:spcBef>
              <a:spcAft>
                <a:spcPts val="0"/>
              </a:spcAft>
              <a:buClr>
                <a:schemeClr val="dk1"/>
              </a:buClr>
              <a:buSzPts val="2400"/>
              <a:buChar char="–"/>
            </a:pPr>
            <a:r>
              <a:rPr lang="en-US" sz="2400"/>
              <a:t>the number of allocated resources, </a:t>
            </a:r>
            <a:endParaRPr/>
          </a:p>
          <a:p>
            <a:pPr indent="-285750" lvl="1" marL="742950" rtl="0" algn="l">
              <a:spcBef>
                <a:spcPts val="480"/>
              </a:spcBef>
              <a:spcAft>
                <a:spcPts val="0"/>
              </a:spcAft>
              <a:buClr>
                <a:schemeClr val="dk1"/>
              </a:buClr>
              <a:buSzPts val="2400"/>
              <a:buChar char="–"/>
            </a:pPr>
            <a:r>
              <a:rPr lang="en-US" sz="2400"/>
              <a:t>and the maximum demands of the processes</a:t>
            </a:r>
            <a:endParaRPr/>
          </a:p>
        </p:txBody>
      </p:sp>
      <p:sp>
        <p:nvSpPr>
          <p:cNvPr id="695" name="Google Shape;695;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696" name="Google Shape;696;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97" name="Google Shape;697;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56"/>
          <p:cNvSpPr txBox="1"/>
          <p:nvPr>
            <p:ph type="title"/>
          </p:nvPr>
        </p:nvSpPr>
        <p:spPr>
          <a:xfrm>
            <a:off x="457200" y="136525"/>
            <a:ext cx="8229600"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Safe State</a:t>
            </a:r>
            <a:endParaRPr/>
          </a:p>
        </p:txBody>
      </p:sp>
      <p:sp>
        <p:nvSpPr>
          <p:cNvPr id="704" name="Google Shape;704;p56"/>
          <p:cNvSpPr txBox="1"/>
          <p:nvPr>
            <p:ph idx="1" type="body"/>
          </p:nvPr>
        </p:nvSpPr>
        <p:spPr>
          <a:xfrm>
            <a:off x="919163" y="1165225"/>
            <a:ext cx="7358062" cy="499745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A state is </a:t>
            </a:r>
            <a:r>
              <a:rPr i="1" lang="en-US" sz="2400"/>
              <a:t>safe </a:t>
            </a:r>
            <a:r>
              <a:rPr lang="en-US" sz="2400"/>
              <a:t>if </a:t>
            </a:r>
            <a:endParaRPr sz="2400"/>
          </a:p>
          <a:p>
            <a:pPr indent="-285750" lvl="1" marL="742950" rtl="0" algn="l">
              <a:spcBef>
                <a:spcPts val="480"/>
              </a:spcBef>
              <a:spcAft>
                <a:spcPts val="0"/>
              </a:spcAft>
              <a:buClr>
                <a:schemeClr val="dk1"/>
              </a:buClr>
              <a:buSzPts val="2400"/>
              <a:buChar char="–"/>
            </a:pPr>
            <a:r>
              <a:rPr lang="en-US" sz="2400" u="sng"/>
              <a:t>the system can allocate resources to each process </a:t>
            </a:r>
            <a:r>
              <a:rPr lang="en-US" sz="2400" u="sng">
                <a:solidFill>
                  <a:srgbClr val="0070C0"/>
                </a:solidFill>
              </a:rPr>
              <a:t>(up to its maximum) </a:t>
            </a:r>
            <a:r>
              <a:rPr lang="en-US" sz="2400" u="sng"/>
              <a:t>in some order and </a:t>
            </a:r>
            <a:endParaRPr sz="2400" u="sng"/>
          </a:p>
          <a:p>
            <a:pPr indent="-285750" lvl="1" marL="742950" rtl="0" algn="l">
              <a:spcBef>
                <a:spcPts val="480"/>
              </a:spcBef>
              <a:spcAft>
                <a:spcPts val="0"/>
              </a:spcAft>
              <a:buClr>
                <a:schemeClr val="dk1"/>
              </a:buClr>
              <a:buSzPts val="2400"/>
              <a:buChar char="–"/>
            </a:pPr>
            <a:r>
              <a:rPr lang="en-US" sz="2400" u="sng"/>
              <a:t>still avoid a deadlock.</a:t>
            </a:r>
            <a:endParaRPr/>
          </a:p>
          <a:p>
            <a:pPr indent="-133350" lvl="1" marL="742950" rtl="0" algn="l">
              <a:spcBef>
                <a:spcPts val="480"/>
              </a:spcBef>
              <a:spcAft>
                <a:spcPts val="0"/>
              </a:spcAft>
              <a:buClr>
                <a:schemeClr val="dk1"/>
              </a:buClr>
              <a:buSzPts val="2400"/>
              <a:buNone/>
            </a:pPr>
            <a:r>
              <a:t/>
            </a:r>
            <a:endParaRPr sz="2400" u="sng"/>
          </a:p>
          <a:p>
            <a:pPr indent="-342900" lvl="0" marL="342900" rtl="0" algn="l">
              <a:spcBef>
                <a:spcPts val="480"/>
              </a:spcBef>
              <a:spcAft>
                <a:spcPts val="0"/>
              </a:spcAft>
              <a:buClr>
                <a:schemeClr val="dk1"/>
              </a:buClr>
              <a:buSzPts val="2400"/>
              <a:buChar char="•"/>
            </a:pPr>
            <a:r>
              <a:rPr lang="en-US" sz="2400"/>
              <a:t>Everytime When a process requests an available resource, system must decide </a:t>
            </a:r>
            <a:endParaRPr sz="2400"/>
          </a:p>
          <a:p>
            <a:pPr indent="-285750" lvl="1" marL="742950" rtl="0" algn="l">
              <a:spcBef>
                <a:spcPts val="480"/>
              </a:spcBef>
              <a:spcAft>
                <a:spcPts val="0"/>
              </a:spcAft>
              <a:buClr>
                <a:srgbClr val="0070C0"/>
              </a:buClr>
              <a:buSzPts val="2400"/>
              <a:buChar char="–"/>
            </a:pPr>
            <a:r>
              <a:rPr lang="en-US" sz="2400" u="sng">
                <a:solidFill>
                  <a:srgbClr val="0070C0"/>
                </a:solidFill>
              </a:rPr>
              <a:t>if immediate allocation leaves the system in a safe state</a:t>
            </a:r>
            <a:endParaRPr/>
          </a:p>
          <a:p>
            <a:pPr indent="-133350" lvl="1" marL="742950" rtl="0" algn="l">
              <a:spcBef>
                <a:spcPts val="480"/>
              </a:spcBef>
              <a:spcAft>
                <a:spcPts val="0"/>
              </a:spcAft>
              <a:buClr>
                <a:schemeClr val="dk1"/>
              </a:buClr>
              <a:buSzPts val="2400"/>
              <a:buNone/>
            </a:pPr>
            <a:r>
              <a:t/>
            </a:r>
            <a:endParaRPr sz="2400" u="sng"/>
          </a:p>
        </p:txBody>
      </p:sp>
      <p:sp>
        <p:nvSpPr>
          <p:cNvPr id="705" name="Google Shape;705;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706" name="Google Shape;706;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707" name="Google Shape;707;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57"/>
          <p:cNvSpPr txBox="1"/>
          <p:nvPr>
            <p:ph type="title"/>
          </p:nvPr>
        </p:nvSpPr>
        <p:spPr>
          <a:xfrm>
            <a:off x="457200" y="136525"/>
            <a:ext cx="8229600"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Safe State</a:t>
            </a:r>
            <a:endParaRPr/>
          </a:p>
        </p:txBody>
      </p:sp>
      <p:sp>
        <p:nvSpPr>
          <p:cNvPr id="714" name="Google Shape;714;p57"/>
          <p:cNvSpPr txBox="1"/>
          <p:nvPr>
            <p:ph idx="1" type="body"/>
          </p:nvPr>
        </p:nvSpPr>
        <p:spPr>
          <a:xfrm>
            <a:off x="919163" y="1165225"/>
            <a:ext cx="7358062" cy="4997450"/>
          </a:xfrm>
          <a:prstGeom prst="rect">
            <a:avLst/>
          </a:prstGeom>
          <a:noFill/>
          <a:ln>
            <a:noFill/>
          </a:ln>
        </p:spPr>
        <p:txBody>
          <a:bodyPr anchorCtr="0" anchor="t" bIns="45700" lIns="91425" spcFirstLastPara="1" rIns="91425" wrap="square" tIns="45700">
            <a:normAutofit/>
          </a:bodyPr>
          <a:lstStyle/>
          <a:p>
            <a:pPr indent="-190500" lvl="0" marL="342900" rtl="0" algn="l">
              <a:spcBef>
                <a:spcPts val="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System is in </a:t>
            </a:r>
            <a:r>
              <a:rPr b="1" lang="en-US" sz="2400">
                <a:solidFill>
                  <a:srgbClr val="3366FF"/>
                </a:solidFill>
              </a:rPr>
              <a:t>safe state</a:t>
            </a:r>
            <a:r>
              <a:rPr lang="en-US" sz="2400">
                <a:solidFill>
                  <a:srgbClr val="3366FF"/>
                </a:solidFill>
              </a:rPr>
              <a:t> </a:t>
            </a:r>
            <a:r>
              <a:rPr lang="en-US" sz="2400"/>
              <a:t>if there exists a sequence &lt;</a:t>
            </a:r>
            <a:r>
              <a:rPr i="1" lang="en-US" sz="2400"/>
              <a:t>P</a:t>
            </a:r>
            <a:r>
              <a:rPr baseline="-25000" i="1" lang="en-US" sz="2400"/>
              <a:t>1</a:t>
            </a:r>
            <a:r>
              <a:rPr i="1" lang="en-US" sz="2400"/>
              <a:t>, P</a:t>
            </a:r>
            <a:r>
              <a:rPr baseline="-25000" i="1" lang="en-US" sz="2400"/>
              <a:t>2</a:t>
            </a:r>
            <a:r>
              <a:rPr i="1" lang="en-US" sz="2400"/>
              <a:t>, …, P</a:t>
            </a:r>
            <a:r>
              <a:rPr baseline="-25000" i="1" lang="en-US" sz="2400"/>
              <a:t>n</a:t>
            </a:r>
            <a:r>
              <a:rPr lang="en-US" sz="2400"/>
              <a:t>&gt; of ALL the  processes  in the systems such that  for each P</a:t>
            </a:r>
            <a:r>
              <a:rPr baseline="-25000" lang="en-US" sz="2400"/>
              <a:t>i</a:t>
            </a:r>
            <a:r>
              <a:rPr lang="en-US" sz="2400"/>
              <a:t>, </a:t>
            </a:r>
            <a:endParaRPr/>
          </a:p>
          <a:p>
            <a:pPr indent="-285750" lvl="1" marL="742950" rtl="0" algn="l">
              <a:spcBef>
                <a:spcPts val="480"/>
              </a:spcBef>
              <a:spcAft>
                <a:spcPts val="0"/>
              </a:spcAft>
              <a:buClr>
                <a:schemeClr val="dk1"/>
              </a:buClr>
              <a:buSzPts val="2400"/>
              <a:buChar char="–"/>
            </a:pPr>
            <a:r>
              <a:rPr lang="en-US" sz="2400"/>
              <a:t>the resources that P</a:t>
            </a:r>
            <a:r>
              <a:rPr baseline="-25000" lang="en-US" sz="2400"/>
              <a:t>i </a:t>
            </a:r>
            <a:r>
              <a:rPr lang="en-US" sz="2400"/>
              <a:t>can still request can be satisfied by currently available resources + resources held by all the </a:t>
            </a:r>
            <a:r>
              <a:rPr i="1" lang="en-US" sz="2400"/>
              <a:t>P</a:t>
            </a:r>
            <a:r>
              <a:rPr baseline="-25000" i="1" lang="en-US" sz="2400"/>
              <a:t>j</a:t>
            </a:r>
            <a:r>
              <a:rPr lang="en-US" sz="2400"/>
              <a:t>, with</a:t>
            </a:r>
            <a:r>
              <a:rPr i="1" lang="en-US" sz="2400"/>
              <a:t> j </a:t>
            </a:r>
            <a:r>
              <a:rPr lang="en-US" sz="2400"/>
              <a:t>&lt; </a:t>
            </a:r>
            <a:r>
              <a:rPr i="1" lang="en-US" sz="2400"/>
              <a:t>i</a:t>
            </a:r>
            <a:endParaRPr sz="2400"/>
          </a:p>
        </p:txBody>
      </p:sp>
      <p:sp>
        <p:nvSpPr>
          <p:cNvPr id="715" name="Google Shape;715;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716" name="Google Shape;716;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717" name="Google Shape;717;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58"/>
          <p:cNvSpPr txBox="1"/>
          <p:nvPr>
            <p:ph type="title"/>
          </p:nvPr>
        </p:nvSpPr>
        <p:spPr>
          <a:xfrm>
            <a:off x="457200" y="136525"/>
            <a:ext cx="8229600"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Safe State</a:t>
            </a:r>
            <a:endParaRPr/>
          </a:p>
        </p:txBody>
      </p:sp>
      <p:sp>
        <p:nvSpPr>
          <p:cNvPr id="724" name="Google Shape;724;p58"/>
          <p:cNvSpPr txBox="1"/>
          <p:nvPr>
            <p:ph idx="1" type="body"/>
          </p:nvPr>
        </p:nvSpPr>
        <p:spPr>
          <a:xfrm>
            <a:off x="919163" y="1165225"/>
            <a:ext cx="7358062" cy="499745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lang="en-US" sz="2800"/>
              <a:t>That is:</a:t>
            </a:r>
            <a:endParaRPr/>
          </a:p>
          <a:p>
            <a:pPr indent="-285750" lvl="1" marL="742950" rtl="0" algn="l">
              <a:spcBef>
                <a:spcPts val="480"/>
              </a:spcBef>
              <a:spcAft>
                <a:spcPts val="0"/>
              </a:spcAft>
              <a:buClr>
                <a:srgbClr val="0070C0"/>
              </a:buClr>
              <a:buSzPts val="2400"/>
              <a:buChar char="–"/>
            </a:pPr>
            <a:r>
              <a:rPr lang="en-US" sz="2400">
                <a:solidFill>
                  <a:srgbClr val="0070C0"/>
                </a:solidFill>
              </a:rPr>
              <a:t>If P</a:t>
            </a:r>
            <a:r>
              <a:rPr baseline="-25000" lang="en-US" sz="2400">
                <a:solidFill>
                  <a:srgbClr val="0070C0"/>
                </a:solidFill>
              </a:rPr>
              <a:t>i</a:t>
            </a:r>
            <a:r>
              <a:rPr lang="en-US" sz="2400">
                <a:solidFill>
                  <a:srgbClr val="0070C0"/>
                </a:solidFill>
              </a:rPr>
              <a:t> resource needs are not immediately available, then </a:t>
            </a:r>
            <a:r>
              <a:rPr i="1" lang="en-US" sz="2400">
                <a:solidFill>
                  <a:srgbClr val="0070C0"/>
                </a:solidFill>
              </a:rPr>
              <a:t>P</a:t>
            </a:r>
            <a:r>
              <a:rPr baseline="-25000" i="1" lang="en-US" sz="2400">
                <a:solidFill>
                  <a:srgbClr val="0070C0"/>
                </a:solidFill>
              </a:rPr>
              <a:t>i</a:t>
            </a:r>
            <a:r>
              <a:rPr lang="en-US" sz="2400">
                <a:solidFill>
                  <a:srgbClr val="0070C0"/>
                </a:solidFill>
              </a:rPr>
              <a:t> can wait until all </a:t>
            </a:r>
            <a:r>
              <a:rPr i="1" lang="en-US" sz="2400">
                <a:solidFill>
                  <a:srgbClr val="0070C0"/>
                </a:solidFill>
              </a:rPr>
              <a:t>P</a:t>
            </a:r>
            <a:r>
              <a:rPr baseline="-25000" i="1" lang="en-US" sz="2400">
                <a:solidFill>
                  <a:srgbClr val="0070C0"/>
                </a:solidFill>
              </a:rPr>
              <a:t>j</a:t>
            </a:r>
            <a:r>
              <a:rPr i="1" lang="en-US" sz="2400">
                <a:solidFill>
                  <a:srgbClr val="0070C0"/>
                </a:solidFill>
              </a:rPr>
              <a:t> </a:t>
            </a:r>
            <a:r>
              <a:rPr lang="en-US" sz="2400">
                <a:solidFill>
                  <a:srgbClr val="0070C0"/>
                </a:solidFill>
              </a:rPr>
              <a:t>have finished (</a:t>
            </a:r>
            <a:r>
              <a:rPr i="1" lang="en-US" sz="2400">
                <a:solidFill>
                  <a:srgbClr val="0070C0"/>
                </a:solidFill>
              </a:rPr>
              <a:t>j </a:t>
            </a:r>
            <a:r>
              <a:rPr lang="en-US" sz="2400">
                <a:solidFill>
                  <a:srgbClr val="0070C0"/>
                </a:solidFill>
              </a:rPr>
              <a:t>&lt; </a:t>
            </a:r>
            <a:r>
              <a:rPr i="1" lang="en-US" sz="2400">
                <a:solidFill>
                  <a:srgbClr val="0070C0"/>
                </a:solidFill>
              </a:rPr>
              <a:t>i</a:t>
            </a:r>
            <a:r>
              <a:rPr lang="en-US" sz="2400">
                <a:solidFill>
                  <a:srgbClr val="0070C0"/>
                </a:solidFill>
              </a:rPr>
              <a:t>)</a:t>
            </a:r>
            <a:endParaRPr/>
          </a:p>
          <a:p>
            <a:pPr indent="-133350" lvl="1" marL="742950" rtl="0" algn="l">
              <a:spcBef>
                <a:spcPts val="480"/>
              </a:spcBef>
              <a:spcAft>
                <a:spcPts val="0"/>
              </a:spcAft>
              <a:buClr>
                <a:schemeClr val="dk1"/>
              </a:buClr>
              <a:buSzPts val="2400"/>
              <a:buNone/>
            </a:pPr>
            <a:r>
              <a:t/>
            </a:r>
            <a:endParaRPr sz="2400"/>
          </a:p>
          <a:p>
            <a:pPr indent="-285750" lvl="1" marL="742950" rtl="0" algn="l">
              <a:spcBef>
                <a:spcPts val="640"/>
              </a:spcBef>
              <a:spcAft>
                <a:spcPts val="0"/>
              </a:spcAft>
              <a:buClr>
                <a:srgbClr val="0070C0"/>
              </a:buClr>
              <a:buSzPts val="2400"/>
              <a:buChar char="–"/>
            </a:pPr>
            <a:r>
              <a:rPr lang="en-US" sz="2400">
                <a:solidFill>
                  <a:srgbClr val="0070C0"/>
                </a:solidFill>
              </a:rPr>
              <a:t>When </a:t>
            </a:r>
            <a:r>
              <a:rPr i="1" lang="en-US" sz="3200">
                <a:solidFill>
                  <a:srgbClr val="0070C0"/>
                </a:solidFill>
              </a:rPr>
              <a:t>P</a:t>
            </a:r>
            <a:r>
              <a:rPr baseline="-25000" i="1" lang="en-US" sz="3200">
                <a:solidFill>
                  <a:srgbClr val="0070C0"/>
                </a:solidFill>
              </a:rPr>
              <a:t>j</a:t>
            </a:r>
            <a:r>
              <a:rPr lang="en-US" sz="3200">
                <a:solidFill>
                  <a:srgbClr val="0070C0"/>
                </a:solidFill>
              </a:rPr>
              <a:t> </a:t>
            </a:r>
            <a:r>
              <a:rPr lang="en-US" sz="2400">
                <a:solidFill>
                  <a:srgbClr val="0070C0"/>
                </a:solidFill>
              </a:rPr>
              <a:t>is finished, </a:t>
            </a:r>
            <a:r>
              <a:rPr i="1" lang="en-US" sz="2400">
                <a:solidFill>
                  <a:srgbClr val="0070C0"/>
                </a:solidFill>
              </a:rPr>
              <a:t>P</a:t>
            </a:r>
            <a:r>
              <a:rPr baseline="-25000" i="1" lang="en-US" sz="2400">
                <a:solidFill>
                  <a:srgbClr val="0070C0"/>
                </a:solidFill>
              </a:rPr>
              <a:t>i</a:t>
            </a:r>
            <a:r>
              <a:rPr lang="en-US" sz="2400">
                <a:solidFill>
                  <a:srgbClr val="0070C0"/>
                </a:solidFill>
              </a:rPr>
              <a:t> can obtain needed resources, execute, return allocated resources, and terminate</a:t>
            </a:r>
            <a:endParaRPr/>
          </a:p>
          <a:p>
            <a:pPr indent="-133350" lvl="1" marL="742950" rtl="0" algn="l">
              <a:spcBef>
                <a:spcPts val="480"/>
              </a:spcBef>
              <a:spcAft>
                <a:spcPts val="0"/>
              </a:spcAft>
              <a:buClr>
                <a:schemeClr val="dk1"/>
              </a:buClr>
              <a:buSzPts val="2400"/>
              <a:buNone/>
            </a:pPr>
            <a:r>
              <a:t/>
            </a:r>
            <a:endParaRPr sz="2400"/>
          </a:p>
          <a:p>
            <a:pPr indent="-285750" lvl="1" marL="742950" rtl="0" algn="l">
              <a:spcBef>
                <a:spcPts val="480"/>
              </a:spcBef>
              <a:spcAft>
                <a:spcPts val="0"/>
              </a:spcAft>
              <a:buClr>
                <a:schemeClr val="dk1"/>
              </a:buClr>
              <a:buSzPts val="2400"/>
              <a:buChar char="–"/>
            </a:pPr>
            <a:r>
              <a:rPr lang="en-US" sz="2400"/>
              <a:t>When </a:t>
            </a:r>
            <a:r>
              <a:rPr i="1" lang="en-US" sz="2400"/>
              <a:t>P</a:t>
            </a:r>
            <a:r>
              <a:rPr baseline="-25000" i="1" lang="en-US" sz="2400"/>
              <a:t>i</a:t>
            </a:r>
            <a:r>
              <a:rPr lang="en-US" sz="2400"/>
              <a:t> terminates, </a:t>
            </a:r>
            <a:r>
              <a:rPr i="1" lang="en-US" sz="2400"/>
              <a:t>P</a:t>
            </a:r>
            <a:r>
              <a:rPr baseline="-25000" i="1" lang="en-US" sz="2400"/>
              <a:t>i </a:t>
            </a:r>
            <a:r>
              <a:rPr baseline="-25000" lang="en-US" sz="2400"/>
              <a:t>+1</a:t>
            </a:r>
            <a:r>
              <a:rPr lang="en-US" sz="2400"/>
              <a:t> can obtain its needed resources, and so on </a:t>
            </a:r>
            <a:endParaRPr/>
          </a:p>
        </p:txBody>
      </p:sp>
      <p:sp>
        <p:nvSpPr>
          <p:cNvPr id="725" name="Google Shape;725;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726" name="Google Shape;726;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727" name="Google Shape;727;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59"/>
          <p:cNvSpPr txBox="1"/>
          <p:nvPr>
            <p:ph type="title"/>
          </p:nvPr>
        </p:nvSpPr>
        <p:spPr>
          <a:xfrm>
            <a:off x="457200" y="152400"/>
            <a:ext cx="8229600"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Basic Facts</a:t>
            </a:r>
            <a:endParaRPr/>
          </a:p>
        </p:txBody>
      </p:sp>
      <p:sp>
        <p:nvSpPr>
          <p:cNvPr id="734" name="Google Shape;734;p59"/>
          <p:cNvSpPr txBox="1"/>
          <p:nvPr>
            <p:ph idx="1" type="body"/>
          </p:nvPr>
        </p:nvSpPr>
        <p:spPr>
          <a:xfrm>
            <a:off x="922338" y="1190625"/>
            <a:ext cx="6597650" cy="441483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lang="en-US" sz="2800"/>
              <a:t>If a system is in safe state ⇒ no deadlocks</a:t>
            </a:r>
            <a:br>
              <a:rPr lang="en-US" sz="2800"/>
            </a:br>
            <a:endParaRPr sz="2800"/>
          </a:p>
          <a:p>
            <a:pPr indent="-342900" lvl="0" marL="342900" rtl="0" algn="l">
              <a:spcBef>
                <a:spcPts val="560"/>
              </a:spcBef>
              <a:spcAft>
                <a:spcPts val="0"/>
              </a:spcAft>
              <a:buClr>
                <a:schemeClr val="dk1"/>
              </a:buClr>
              <a:buSzPts val="2800"/>
              <a:buChar char="•"/>
            </a:pPr>
            <a:r>
              <a:rPr lang="en-US" sz="2800"/>
              <a:t>If a system is in unsafe state ⇒ possibility of deadlock</a:t>
            </a:r>
            <a:br>
              <a:rPr lang="en-US" sz="2800"/>
            </a:br>
            <a:endParaRPr sz="2800"/>
          </a:p>
          <a:p>
            <a:pPr indent="-342900" lvl="0" marL="342900" rtl="0" algn="l">
              <a:spcBef>
                <a:spcPts val="560"/>
              </a:spcBef>
              <a:spcAft>
                <a:spcPts val="0"/>
              </a:spcAft>
              <a:buClr>
                <a:srgbClr val="0070C0"/>
              </a:buClr>
              <a:buSzPts val="2800"/>
              <a:buChar char="•"/>
            </a:pPr>
            <a:r>
              <a:rPr lang="en-US" sz="2800">
                <a:solidFill>
                  <a:srgbClr val="0070C0"/>
                </a:solidFill>
              </a:rPr>
              <a:t>Avoidance ⇒ ensure that a system will never enter an unsafe state.</a:t>
            </a:r>
            <a:endParaRPr/>
          </a:p>
        </p:txBody>
      </p:sp>
      <p:sp>
        <p:nvSpPr>
          <p:cNvPr id="735" name="Google Shape;735;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736" name="Google Shape;736;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737" name="Google Shape;737;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60"/>
          <p:cNvSpPr txBox="1"/>
          <p:nvPr>
            <p:ph type="title"/>
          </p:nvPr>
        </p:nvSpPr>
        <p:spPr>
          <a:xfrm>
            <a:off x="846138" y="150813"/>
            <a:ext cx="7840662"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Safe, Unsafe, Deadlock State </a:t>
            </a:r>
            <a:endParaRPr/>
          </a:p>
        </p:txBody>
      </p:sp>
      <p:pic>
        <p:nvPicPr>
          <p:cNvPr id="744" name="Google Shape;744;p60"/>
          <p:cNvPicPr preferRelativeResize="0"/>
          <p:nvPr/>
        </p:nvPicPr>
        <p:blipFill rotWithShape="1">
          <a:blip r:embed="rId3">
            <a:alphaModFix/>
          </a:blip>
          <a:srcRect b="2194" l="13437" r="13682" t="1572"/>
          <a:stretch/>
        </p:blipFill>
        <p:spPr>
          <a:xfrm>
            <a:off x="2446338" y="1308100"/>
            <a:ext cx="4022725" cy="3983038"/>
          </a:xfrm>
          <a:prstGeom prst="rect">
            <a:avLst/>
          </a:prstGeom>
          <a:noFill/>
          <a:ln>
            <a:noFill/>
          </a:ln>
        </p:spPr>
      </p:pic>
      <p:sp>
        <p:nvSpPr>
          <p:cNvPr id="745" name="Google Shape;745;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746" name="Google Shape;746;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747" name="Google Shape;747;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61"/>
          <p:cNvSpPr txBox="1"/>
          <p:nvPr>
            <p:ph type="title"/>
          </p:nvPr>
        </p:nvSpPr>
        <p:spPr>
          <a:xfrm>
            <a:off x="1041400" y="166688"/>
            <a:ext cx="76454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Avoidance Algorithms</a:t>
            </a:r>
            <a:endParaRPr/>
          </a:p>
        </p:txBody>
      </p:sp>
      <p:sp>
        <p:nvSpPr>
          <p:cNvPr id="754" name="Google Shape;754;p61"/>
          <p:cNvSpPr txBox="1"/>
          <p:nvPr>
            <p:ph idx="1" type="body"/>
          </p:nvPr>
        </p:nvSpPr>
        <p:spPr>
          <a:xfrm>
            <a:off x="906463" y="1171575"/>
            <a:ext cx="6659562" cy="4483100"/>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solidFill>
                  <a:schemeClr val="dk1"/>
                </a:solidFill>
                <a:latin typeface="Calibri"/>
                <a:ea typeface="Calibri"/>
                <a:cs typeface="Calibri"/>
                <a:sym typeface="Calibri"/>
              </a:rPr>
              <a:t>Single instance of a resource type</a:t>
            </a:r>
            <a:endParaRPr/>
          </a:p>
          <a:p>
            <a:pPr indent="-285750" lvl="1" marL="742950" rtl="0" algn="l">
              <a:spcBef>
                <a:spcPts val="560"/>
              </a:spcBef>
              <a:spcAft>
                <a:spcPts val="0"/>
              </a:spcAft>
              <a:buClr>
                <a:schemeClr val="dk1"/>
              </a:buClr>
              <a:buSzPts val="2800"/>
              <a:buChar char="–"/>
            </a:pPr>
            <a:r>
              <a:rPr lang="en-US">
                <a:solidFill>
                  <a:schemeClr val="dk1"/>
                </a:solidFill>
                <a:latin typeface="Calibri"/>
                <a:ea typeface="Calibri"/>
                <a:cs typeface="Calibri"/>
                <a:sym typeface="Calibri"/>
              </a:rPr>
              <a:t>Use a resource-allocation graph</a:t>
            </a:r>
            <a:endParaRPr/>
          </a:p>
          <a:p>
            <a:pPr indent="-285750" lvl="1" marL="742950" rtl="0" algn="l">
              <a:spcBef>
                <a:spcPts val="560"/>
              </a:spcBef>
              <a:spcAft>
                <a:spcPts val="0"/>
              </a:spcAft>
              <a:buClr>
                <a:schemeClr val="dk1"/>
              </a:buClr>
              <a:buSzPts val="2800"/>
              <a:buFont typeface="Arial"/>
              <a:buNone/>
            </a:pPr>
            <a:r>
              <a:t/>
            </a:r>
            <a:endParaRPr/>
          </a:p>
          <a:p>
            <a:pPr indent="-342900" lvl="0" marL="342900" rtl="0" algn="l">
              <a:spcBef>
                <a:spcPts val="640"/>
              </a:spcBef>
              <a:spcAft>
                <a:spcPts val="0"/>
              </a:spcAft>
              <a:buClr>
                <a:schemeClr val="dk1"/>
              </a:buClr>
              <a:buSzPts val="3200"/>
              <a:buChar char="•"/>
            </a:pPr>
            <a:r>
              <a:rPr lang="en-US">
                <a:solidFill>
                  <a:schemeClr val="dk1"/>
                </a:solidFill>
                <a:latin typeface="Calibri"/>
                <a:ea typeface="Calibri"/>
                <a:cs typeface="Calibri"/>
                <a:sym typeface="Calibri"/>
              </a:rPr>
              <a:t>Multiple instances of a resource type</a:t>
            </a:r>
            <a:endParaRPr/>
          </a:p>
          <a:p>
            <a:pPr indent="-285750" lvl="1" marL="742950" rtl="0" algn="l">
              <a:spcBef>
                <a:spcPts val="560"/>
              </a:spcBef>
              <a:spcAft>
                <a:spcPts val="0"/>
              </a:spcAft>
              <a:buClr>
                <a:schemeClr val="dk1"/>
              </a:buClr>
              <a:buSzPts val="2800"/>
              <a:buChar char="–"/>
            </a:pPr>
            <a:r>
              <a:rPr lang="en-US">
                <a:solidFill>
                  <a:schemeClr val="dk1"/>
                </a:solidFill>
                <a:latin typeface="Calibri"/>
                <a:ea typeface="Calibri"/>
                <a:cs typeface="Calibri"/>
                <a:sym typeface="Calibri"/>
              </a:rPr>
              <a:t> Use the banker’s algorithm</a:t>
            </a:r>
            <a:endParaRPr/>
          </a:p>
        </p:txBody>
      </p:sp>
      <p:sp>
        <p:nvSpPr>
          <p:cNvPr id="755" name="Google Shape;755;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756" name="Google Shape;756;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757" name="Google Shape;757;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62"/>
          <p:cNvSpPr txBox="1"/>
          <p:nvPr>
            <p:ph type="title"/>
          </p:nvPr>
        </p:nvSpPr>
        <p:spPr>
          <a:xfrm>
            <a:off x="1123950" y="198438"/>
            <a:ext cx="7831138"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Resource-Allocation Graph Scheme</a:t>
            </a:r>
            <a:endParaRPr/>
          </a:p>
        </p:txBody>
      </p:sp>
      <p:sp>
        <p:nvSpPr>
          <p:cNvPr id="764" name="Google Shape;764;p62"/>
          <p:cNvSpPr txBox="1"/>
          <p:nvPr>
            <p:ph idx="1" type="body"/>
          </p:nvPr>
        </p:nvSpPr>
        <p:spPr>
          <a:xfrm>
            <a:off x="858838" y="1155700"/>
            <a:ext cx="6989762" cy="4483100"/>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rmAutofit/>
          </a:bodyPr>
          <a:lstStyle/>
          <a:p>
            <a:pPr indent="-342900" lvl="0" marL="342900" rtl="0" algn="l">
              <a:spcBef>
                <a:spcPts val="0"/>
              </a:spcBef>
              <a:spcAft>
                <a:spcPts val="0"/>
              </a:spcAft>
              <a:buClr>
                <a:srgbClr val="3366FF"/>
              </a:buClr>
              <a:buSzPts val="2400"/>
              <a:buChar char="•"/>
            </a:pPr>
            <a:r>
              <a:rPr b="1" lang="en-US" sz="2400">
                <a:solidFill>
                  <a:srgbClr val="3366FF"/>
                </a:solidFill>
                <a:latin typeface="Calibri"/>
                <a:ea typeface="Calibri"/>
                <a:cs typeface="Calibri"/>
                <a:sym typeface="Calibri"/>
              </a:rPr>
              <a:t>Claim edge</a:t>
            </a:r>
            <a:r>
              <a:rPr lang="en-US" sz="2400">
                <a:solidFill>
                  <a:srgbClr val="3366FF"/>
                </a:solidFill>
                <a:latin typeface="Calibri"/>
                <a:ea typeface="Calibri"/>
                <a:cs typeface="Calibri"/>
                <a:sym typeface="Calibri"/>
              </a:rPr>
              <a:t> </a:t>
            </a:r>
            <a:r>
              <a:rPr i="1" lang="en-US" sz="2400">
                <a:solidFill>
                  <a:schemeClr val="dk1"/>
                </a:solidFill>
                <a:latin typeface="Calibri"/>
                <a:ea typeface="Calibri"/>
                <a:cs typeface="Calibri"/>
                <a:sym typeface="Calibri"/>
              </a:rPr>
              <a:t>P</a:t>
            </a:r>
            <a:r>
              <a:rPr baseline="-25000" i="1" lang="en-US" sz="2400">
                <a:solidFill>
                  <a:schemeClr val="dk1"/>
                </a:solidFill>
                <a:latin typeface="Calibri"/>
                <a:ea typeface="Calibri"/>
                <a:cs typeface="Calibri"/>
                <a:sym typeface="Calibri"/>
              </a:rPr>
              <a:t>i</a:t>
            </a:r>
            <a:r>
              <a:rPr lang="en-US" sz="2400">
                <a:solidFill>
                  <a:schemeClr val="dk1"/>
                </a:solidFill>
                <a:latin typeface="Calibri"/>
                <a:ea typeface="Calibri"/>
                <a:cs typeface="Calibri"/>
                <a:sym typeface="Calibri"/>
              </a:rPr>
              <a:t> → </a:t>
            </a:r>
            <a:r>
              <a:rPr i="1" lang="en-US" sz="2400">
                <a:solidFill>
                  <a:schemeClr val="dk1"/>
                </a:solidFill>
                <a:latin typeface="Calibri"/>
                <a:ea typeface="Calibri"/>
                <a:cs typeface="Calibri"/>
                <a:sym typeface="Calibri"/>
              </a:rPr>
              <a:t>R</a:t>
            </a:r>
            <a:r>
              <a:rPr baseline="-25000" i="1" lang="en-US" sz="2400">
                <a:solidFill>
                  <a:schemeClr val="dk1"/>
                </a:solidFill>
                <a:latin typeface="Calibri"/>
                <a:ea typeface="Calibri"/>
                <a:cs typeface="Calibri"/>
                <a:sym typeface="Calibri"/>
              </a:rPr>
              <a:t>j</a:t>
            </a:r>
            <a:r>
              <a:rPr lang="en-US" sz="2400">
                <a:solidFill>
                  <a:schemeClr val="dk1"/>
                </a:solidFill>
                <a:latin typeface="Calibri"/>
                <a:ea typeface="Calibri"/>
                <a:cs typeface="Calibri"/>
                <a:sym typeface="Calibri"/>
              </a:rPr>
              <a:t> indicated that process </a:t>
            </a:r>
            <a:r>
              <a:rPr i="1" lang="en-US" sz="2400">
                <a:solidFill>
                  <a:schemeClr val="dk1"/>
                </a:solidFill>
                <a:latin typeface="Calibri"/>
                <a:ea typeface="Calibri"/>
                <a:cs typeface="Calibri"/>
                <a:sym typeface="Calibri"/>
              </a:rPr>
              <a:t>P</a:t>
            </a:r>
            <a:r>
              <a:rPr baseline="-25000" i="1" lang="en-US" sz="2400">
                <a:solidFill>
                  <a:schemeClr val="dk1"/>
                </a:solidFill>
                <a:latin typeface="Calibri"/>
                <a:ea typeface="Calibri"/>
                <a:cs typeface="Calibri"/>
                <a:sym typeface="Calibri"/>
              </a:rPr>
              <a:t>j</a:t>
            </a:r>
            <a:r>
              <a:rPr lang="en-US" sz="2400">
                <a:solidFill>
                  <a:schemeClr val="dk1"/>
                </a:solidFill>
                <a:latin typeface="Calibri"/>
                <a:ea typeface="Calibri"/>
                <a:cs typeface="Calibri"/>
                <a:sym typeface="Calibri"/>
              </a:rPr>
              <a:t> </a:t>
            </a:r>
            <a:r>
              <a:rPr b="1" lang="en-US" sz="2400">
                <a:solidFill>
                  <a:schemeClr val="dk1"/>
                </a:solidFill>
                <a:latin typeface="Calibri"/>
                <a:ea typeface="Calibri"/>
                <a:cs typeface="Calibri"/>
                <a:sym typeface="Calibri"/>
              </a:rPr>
              <a:t>may request</a:t>
            </a:r>
            <a:r>
              <a:rPr lang="en-US" sz="2400">
                <a:solidFill>
                  <a:schemeClr val="dk1"/>
                </a:solidFill>
                <a:latin typeface="Calibri"/>
                <a:ea typeface="Calibri"/>
                <a:cs typeface="Calibri"/>
                <a:sym typeface="Calibri"/>
              </a:rPr>
              <a:t> resource </a:t>
            </a:r>
            <a:r>
              <a:rPr i="1" lang="en-US" sz="2400">
                <a:solidFill>
                  <a:schemeClr val="dk1"/>
                </a:solidFill>
                <a:latin typeface="Calibri"/>
                <a:ea typeface="Calibri"/>
                <a:cs typeface="Calibri"/>
                <a:sym typeface="Calibri"/>
              </a:rPr>
              <a:t>R</a:t>
            </a:r>
            <a:r>
              <a:rPr baseline="-25000" i="1" lang="en-US" sz="2400">
                <a:solidFill>
                  <a:schemeClr val="dk1"/>
                </a:solidFill>
                <a:latin typeface="Calibri"/>
                <a:ea typeface="Calibri"/>
                <a:cs typeface="Calibri"/>
                <a:sym typeface="Calibri"/>
              </a:rPr>
              <a:t>j</a:t>
            </a:r>
            <a:r>
              <a:rPr lang="en-US" sz="2400">
                <a:solidFill>
                  <a:schemeClr val="dk1"/>
                </a:solidFill>
                <a:latin typeface="Calibri"/>
                <a:ea typeface="Calibri"/>
                <a:cs typeface="Calibri"/>
                <a:sym typeface="Calibri"/>
              </a:rPr>
              <a:t>; represented by a dashed line</a:t>
            </a:r>
            <a:endParaRPr/>
          </a:p>
          <a:p>
            <a:pPr indent="-342900" lvl="0" marL="342900" rtl="0" algn="l">
              <a:spcBef>
                <a:spcPts val="480"/>
              </a:spcBef>
              <a:spcAft>
                <a:spcPts val="0"/>
              </a:spcAft>
              <a:buClr>
                <a:schemeClr val="dk1"/>
              </a:buClr>
              <a:buSzPts val="2400"/>
              <a:buChar char="•"/>
            </a:pPr>
            <a:r>
              <a:rPr lang="en-US" sz="2400">
                <a:solidFill>
                  <a:schemeClr val="dk1"/>
                </a:solidFill>
                <a:latin typeface="Calibri"/>
                <a:ea typeface="Calibri"/>
                <a:cs typeface="Calibri"/>
                <a:sym typeface="Calibri"/>
              </a:rPr>
              <a:t>Claim edge converts to request edge when a process requests a resource</a:t>
            </a:r>
            <a:endParaRPr/>
          </a:p>
          <a:p>
            <a:pPr indent="-342900" lvl="0" marL="342900" rtl="0" algn="l">
              <a:spcBef>
                <a:spcPts val="480"/>
              </a:spcBef>
              <a:spcAft>
                <a:spcPts val="0"/>
              </a:spcAft>
              <a:buClr>
                <a:schemeClr val="dk1"/>
              </a:buClr>
              <a:buSzPts val="2400"/>
              <a:buChar char="•"/>
            </a:pPr>
            <a:r>
              <a:rPr lang="en-US" sz="2400">
                <a:solidFill>
                  <a:schemeClr val="dk1"/>
                </a:solidFill>
                <a:latin typeface="Calibri"/>
                <a:ea typeface="Calibri"/>
                <a:cs typeface="Calibri"/>
                <a:sym typeface="Calibri"/>
              </a:rPr>
              <a:t>Request edge converted to an assignment edge when the  resource is allocated to the process</a:t>
            </a:r>
            <a:endParaRPr/>
          </a:p>
          <a:p>
            <a:pPr indent="-342900" lvl="0" marL="342900" rtl="0" algn="l">
              <a:spcBef>
                <a:spcPts val="480"/>
              </a:spcBef>
              <a:spcAft>
                <a:spcPts val="0"/>
              </a:spcAft>
              <a:buClr>
                <a:schemeClr val="dk1"/>
              </a:buClr>
              <a:buSzPts val="2400"/>
              <a:buChar char="•"/>
            </a:pPr>
            <a:r>
              <a:rPr b="1" lang="en-US" sz="2400">
                <a:solidFill>
                  <a:schemeClr val="dk1"/>
                </a:solidFill>
                <a:latin typeface="Calibri"/>
                <a:ea typeface="Calibri"/>
                <a:cs typeface="Calibri"/>
                <a:sym typeface="Calibri"/>
              </a:rPr>
              <a:t>When a resource is released by a process, assignment edge reconverts to a claim edge</a:t>
            </a:r>
            <a:endParaRPr/>
          </a:p>
          <a:p>
            <a:pPr indent="-342900" lvl="0" marL="342900" rtl="0" algn="l">
              <a:spcBef>
                <a:spcPts val="480"/>
              </a:spcBef>
              <a:spcAft>
                <a:spcPts val="0"/>
              </a:spcAft>
              <a:buClr>
                <a:schemeClr val="dk1"/>
              </a:buClr>
              <a:buSzPts val="2400"/>
              <a:buChar char="•"/>
            </a:pPr>
            <a:r>
              <a:rPr lang="en-US" sz="2400">
                <a:solidFill>
                  <a:schemeClr val="dk1"/>
                </a:solidFill>
                <a:latin typeface="Calibri"/>
                <a:ea typeface="Calibri"/>
                <a:cs typeface="Calibri"/>
                <a:sym typeface="Calibri"/>
              </a:rPr>
              <a:t>Resources must be claimed </a:t>
            </a:r>
            <a:r>
              <a:rPr i="1" lang="en-US" sz="2400">
                <a:solidFill>
                  <a:schemeClr val="dk1"/>
                </a:solidFill>
                <a:latin typeface="Calibri"/>
                <a:ea typeface="Calibri"/>
                <a:cs typeface="Calibri"/>
                <a:sym typeface="Calibri"/>
              </a:rPr>
              <a:t>a priori</a:t>
            </a:r>
            <a:r>
              <a:rPr lang="en-US" sz="2400">
                <a:solidFill>
                  <a:schemeClr val="dk1"/>
                </a:solidFill>
                <a:latin typeface="Calibri"/>
                <a:ea typeface="Calibri"/>
                <a:cs typeface="Calibri"/>
                <a:sym typeface="Calibri"/>
              </a:rPr>
              <a:t> in the system</a:t>
            </a:r>
            <a:endParaRPr sz="2400"/>
          </a:p>
        </p:txBody>
      </p:sp>
      <p:sp>
        <p:nvSpPr>
          <p:cNvPr id="765" name="Google Shape;765;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766" name="Google Shape;766;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767" name="Google Shape;767;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63"/>
          <p:cNvSpPr txBox="1"/>
          <p:nvPr>
            <p:ph type="title"/>
          </p:nvPr>
        </p:nvSpPr>
        <p:spPr>
          <a:xfrm>
            <a:off x="741363" y="280988"/>
            <a:ext cx="8224837" cy="457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2800"/>
              <a:t>Resource-Allocation Graph</a:t>
            </a:r>
            <a:endParaRPr/>
          </a:p>
        </p:txBody>
      </p:sp>
      <p:pic>
        <p:nvPicPr>
          <p:cNvPr descr="7" id="774" name="Google Shape;774;p63"/>
          <p:cNvPicPr preferRelativeResize="0"/>
          <p:nvPr/>
        </p:nvPicPr>
        <p:blipFill rotWithShape="1">
          <a:blip r:embed="rId3">
            <a:alphaModFix/>
          </a:blip>
          <a:srcRect b="0" l="0" r="0" t="0"/>
          <a:stretch/>
        </p:blipFill>
        <p:spPr>
          <a:xfrm>
            <a:off x="2668588" y="1409700"/>
            <a:ext cx="3681412" cy="3730625"/>
          </a:xfrm>
          <a:prstGeom prst="rect">
            <a:avLst/>
          </a:prstGeom>
          <a:noFill/>
          <a:ln>
            <a:noFill/>
          </a:ln>
        </p:spPr>
      </p:pic>
      <p:sp>
        <p:nvSpPr>
          <p:cNvPr id="775" name="Google Shape;775;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776" name="Google Shape;776;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777" name="Google Shape;777;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64"/>
          <p:cNvSpPr txBox="1"/>
          <p:nvPr>
            <p:ph type="title"/>
          </p:nvPr>
        </p:nvSpPr>
        <p:spPr>
          <a:xfrm>
            <a:off x="1131888" y="260350"/>
            <a:ext cx="8243887" cy="457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2800"/>
              <a:t>Unsafe State In Resource-Allocation Graph</a:t>
            </a:r>
            <a:endParaRPr/>
          </a:p>
        </p:txBody>
      </p:sp>
      <p:pic>
        <p:nvPicPr>
          <p:cNvPr descr="7" id="784" name="Google Shape;784;p64"/>
          <p:cNvPicPr preferRelativeResize="0"/>
          <p:nvPr/>
        </p:nvPicPr>
        <p:blipFill rotWithShape="1">
          <a:blip r:embed="rId3">
            <a:alphaModFix/>
          </a:blip>
          <a:srcRect b="0" l="0" r="0" t="0"/>
          <a:stretch/>
        </p:blipFill>
        <p:spPr>
          <a:xfrm>
            <a:off x="2971800" y="1282700"/>
            <a:ext cx="3360738" cy="3406775"/>
          </a:xfrm>
          <a:prstGeom prst="rect">
            <a:avLst/>
          </a:prstGeom>
          <a:noFill/>
          <a:ln>
            <a:noFill/>
          </a:ln>
        </p:spPr>
      </p:pic>
      <p:sp>
        <p:nvSpPr>
          <p:cNvPr id="785" name="Google Shape;785;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786" name="Google Shape;786;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787" name="Google Shape;787;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65"/>
          <p:cNvSpPr txBox="1"/>
          <p:nvPr>
            <p:ph type="title"/>
          </p:nvPr>
        </p:nvSpPr>
        <p:spPr>
          <a:xfrm>
            <a:off x="1303338" y="150813"/>
            <a:ext cx="7656512" cy="5762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Resource-Allocation Graph Algorithm</a:t>
            </a:r>
            <a:endParaRPr/>
          </a:p>
        </p:txBody>
      </p:sp>
      <p:sp>
        <p:nvSpPr>
          <p:cNvPr id="794" name="Google Shape;794;p65"/>
          <p:cNvSpPr txBox="1"/>
          <p:nvPr>
            <p:ph idx="1" type="body"/>
          </p:nvPr>
        </p:nvSpPr>
        <p:spPr>
          <a:xfrm>
            <a:off x="933450" y="1187450"/>
            <a:ext cx="4171950" cy="4303713"/>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lang="en-US" sz="2800">
                <a:solidFill>
                  <a:schemeClr val="dk1"/>
                </a:solidFill>
                <a:latin typeface="Calibri"/>
                <a:ea typeface="Calibri"/>
                <a:cs typeface="Calibri"/>
                <a:sym typeface="Calibri"/>
              </a:rPr>
              <a:t>Suppose that process</a:t>
            </a:r>
            <a:r>
              <a:rPr i="1" lang="en-US" sz="2800">
                <a:solidFill>
                  <a:schemeClr val="dk1"/>
                </a:solidFill>
                <a:latin typeface="Calibri"/>
                <a:ea typeface="Calibri"/>
                <a:cs typeface="Calibri"/>
                <a:sym typeface="Calibri"/>
              </a:rPr>
              <a:t> P</a:t>
            </a:r>
            <a:r>
              <a:rPr baseline="-25000" i="1" lang="en-US" sz="2800">
                <a:solidFill>
                  <a:schemeClr val="dk1"/>
                </a:solidFill>
                <a:latin typeface="Calibri"/>
                <a:ea typeface="Calibri"/>
                <a:cs typeface="Calibri"/>
                <a:sym typeface="Calibri"/>
              </a:rPr>
              <a:t>i</a:t>
            </a:r>
            <a:r>
              <a:rPr lang="en-US" sz="2800">
                <a:solidFill>
                  <a:schemeClr val="dk1"/>
                </a:solidFill>
                <a:latin typeface="Calibri"/>
                <a:ea typeface="Calibri"/>
                <a:cs typeface="Calibri"/>
                <a:sym typeface="Calibri"/>
              </a:rPr>
              <a:t> requests a resource </a:t>
            </a:r>
            <a:r>
              <a:rPr i="1" lang="en-US" sz="2800">
                <a:solidFill>
                  <a:schemeClr val="dk1"/>
                </a:solidFill>
                <a:latin typeface="Calibri"/>
                <a:ea typeface="Calibri"/>
                <a:cs typeface="Calibri"/>
                <a:sym typeface="Calibri"/>
              </a:rPr>
              <a:t>R</a:t>
            </a:r>
            <a:r>
              <a:rPr baseline="-25000" i="1" lang="en-US" sz="2800">
                <a:solidFill>
                  <a:schemeClr val="dk1"/>
                </a:solidFill>
                <a:latin typeface="Calibri"/>
                <a:ea typeface="Calibri"/>
                <a:cs typeface="Calibri"/>
                <a:sym typeface="Calibri"/>
              </a:rPr>
              <a:t>j</a:t>
            </a:r>
            <a:endParaRPr baseline="-25000" i="1" sz="2800"/>
          </a:p>
          <a:p>
            <a:pPr indent="-342900" lvl="0" marL="342900" rtl="0" algn="l">
              <a:spcBef>
                <a:spcPts val="560"/>
              </a:spcBef>
              <a:spcAft>
                <a:spcPts val="0"/>
              </a:spcAft>
              <a:buClr>
                <a:schemeClr val="dk1"/>
              </a:buClr>
              <a:buSzPts val="2800"/>
              <a:buChar char="•"/>
            </a:pPr>
            <a:r>
              <a:rPr lang="en-US" sz="2800">
                <a:solidFill>
                  <a:schemeClr val="dk1"/>
                </a:solidFill>
                <a:latin typeface="Calibri"/>
                <a:ea typeface="Calibri"/>
                <a:cs typeface="Calibri"/>
                <a:sym typeface="Calibri"/>
              </a:rPr>
              <a:t>The request can be granted only </a:t>
            </a:r>
            <a:endParaRPr/>
          </a:p>
          <a:p>
            <a:pPr indent="-285750" lvl="1" marL="742950" rtl="0" algn="l">
              <a:spcBef>
                <a:spcPts val="480"/>
              </a:spcBef>
              <a:spcAft>
                <a:spcPts val="0"/>
              </a:spcAft>
              <a:buClr>
                <a:schemeClr val="dk1"/>
              </a:buClr>
              <a:buSzPts val="2400"/>
              <a:buChar char="–"/>
            </a:pPr>
            <a:r>
              <a:rPr lang="en-US" sz="2400">
                <a:solidFill>
                  <a:schemeClr val="dk1"/>
                </a:solidFill>
                <a:latin typeface="Calibri"/>
                <a:ea typeface="Calibri"/>
                <a:cs typeface="Calibri"/>
                <a:sym typeface="Calibri"/>
              </a:rPr>
              <a:t>if converting the request edge to an assignment edge </a:t>
            </a:r>
            <a:endParaRPr/>
          </a:p>
          <a:p>
            <a:pPr indent="-285750" lvl="1" marL="742950" rtl="0" algn="l">
              <a:spcBef>
                <a:spcPts val="480"/>
              </a:spcBef>
              <a:spcAft>
                <a:spcPts val="0"/>
              </a:spcAft>
              <a:buClr>
                <a:schemeClr val="dk1"/>
              </a:buClr>
              <a:buSzPts val="2400"/>
              <a:buChar char="–"/>
            </a:pPr>
            <a:r>
              <a:rPr lang="en-US" sz="2400">
                <a:solidFill>
                  <a:schemeClr val="dk1"/>
                </a:solidFill>
                <a:latin typeface="Calibri"/>
                <a:ea typeface="Calibri"/>
                <a:cs typeface="Calibri"/>
                <a:sym typeface="Calibri"/>
              </a:rPr>
              <a:t>does not result in the formation of a cycle in the resource allocation graph</a:t>
            </a:r>
            <a:endParaRPr/>
          </a:p>
        </p:txBody>
      </p:sp>
      <p:pic>
        <p:nvPicPr>
          <p:cNvPr descr="7" id="795" name="Google Shape;795;p65"/>
          <p:cNvPicPr preferRelativeResize="0"/>
          <p:nvPr/>
        </p:nvPicPr>
        <p:blipFill rotWithShape="1">
          <a:blip r:embed="rId3">
            <a:alphaModFix/>
          </a:blip>
          <a:srcRect b="0" l="0" r="0" t="0"/>
          <a:stretch/>
        </p:blipFill>
        <p:spPr>
          <a:xfrm>
            <a:off x="5486400" y="1600200"/>
            <a:ext cx="3360738" cy="3406775"/>
          </a:xfrm>
          <a:prstGeom prst="rect">
            <a:avLst/>
          </a:prstGeom>
          <a:noFill/>
          <a:ln>
            <a:noFill/>
          </a:ln>
        </p:spPr>
      </p:pic>
      <p:sp>
        <p:nvSpPr>
          <p:cNvPr id="796" name="Google Shape;796;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797" name="Google Shape;797;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798" name="Google Shape;798;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66"/>
          <p:cNvSpPr txBox="1"/>
          <p:nvPr>
            <p:ph type="title"/>
          </p:nvPr>
        </p:nvSpPr>
        <p:spPr>
          <a:xfrm>
            <a:off x="914400" y="182563"/>
            <a:ext cx="77724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Banker’s Algorithm</a:t>
            </a:r>
            <a:endParaRPr/>
          </a:p>
        </p:txBody>
      </p:sp>
      <p:sp>
        <p:nvSpPr>
          <p:cNvPr id="805" name="Google Shape;805;p66"/>
          <p:cNvSpPr txBox="1"/>
          <p:nvPr>
            <p:ph idx="1" type="body"/>
          </p:nvPr>
        </p:nvSpPr>
        <p:spPr>
          <a:xfrm>
            <a:off x="858838" y="1128713"/>
            <a:ext cx="6756400" cy="44418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Multiple instances</a:t>
            </a:r>
            <a:br>
              <a:rPr lang="en-US"/>
            </a:br>
            <a:endParaRPr/>
          </a:p>
          <a:p>
            <a:pPr indent="-342900" lvl="0" marL="342900" rtl="0" algn="l">
              <a:spcBef>
                <a:spcPts val="640"/>
              </a:spcBef>
              <a:spcAft>
                <a:spcPts val="0"/>
              </a:spcAft>
              <a:buClr>
                <a:schemeClr val="dk1"/>
              </a:buClr>
              <a:buSzPts val="3200"/>
              <a:buChar char="•"/>
            </a:pPr>
            <a:r>
              <a:rPr lang="en-US"/>
              <a:t>Each process must </a:t>
            </a:r>
            <a:r>
              <a:rPr lang="en-US">
                <a:solidFill>
                  <a:srgbClr val="0070C0"/>
                </a:solidFill>
              </a:rPr>
              <a:t>a priori claim maximum use</a:t>
            </a:r>
            <a:endParaRPr/>
          </a:p>
          <a:p>
            <a:pPr indent="-285750" lvl="1" marL="742950" rtl="0" algn="l">
              <a:spcBef>
                <a:spcPts val="560"/>
              </a:spcBef>
              <a:spcAft>
                <a:spcPts val="0"/>
              </a:spcAft>
              <a:buClr>
                <a:schemeClr val="dk1"/>
              </a:buClr>
              <a:buSzPts val="2800"/>
              <a:buChar char="–"/>
            </a:pPr>
            <a:r>
              <a:rPr lang="en-US"/>
              <a:t>This number </a:t>
            </a:r>
            <a:r>
              <a:rPr lang="en-US">
                <a:solidFill>
                  <a:srgbClr val="0070C0"/>
                </a:solidFill>
              </a:rPr>
              <a:t>may not exceed the total number of resources in the system.</a:t>
            </a:r>
            <a:br>
              <a:rPr lang="en-US">
                <a:solidFill>
                  <a:srgbClr val="0070C0"/>
                </a:solidFill>
              </a:rPr>
            </a:br>
            <a:endParaRPr>
              <a:solidFill>
                <a:srgbClr val="0070C0"/>
              </a:solidFill>
            </a:endParaRPr>
          </a:p>
        </p:txBody>
      </p:sp>
      <p:sp>
        <p:nvSpPr>
          <p:cNvPr id="806" name="Google Shape;806;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807" name="Google Shape;807;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808" name="Google Shape;808;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67"/>
          <p:cNvSpPr txBox="1"/>
          <p:nvPr>
            <p:ph type="title"/>
          </p:nvPr>
        </p:nvSpPr>
        <p:spPr>
          <a:xfrm>
            <a:off x="914400" y="182563"/>
            <a:ext cx="77724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Banker’s Algorithm</a:t>
            </a:r>
            <a:endParaRPr/>
          </a:p>
        </p:txBody>
      </p:sp>
      <p:sp>
        <p:nvSpPr>
          <p:cNvPr id="815" name="Google Shape;815;p67"/>
          <p:cNvSpPr txBox="1"/>
          <p:nvPr>
            <p:ph idx="1" type="body"/>
          </p:nvPr>
        </p:nvSpPr>
        <p:spPr>
          <a:xfrm>
            <a:off x="858838" y="1128713"/>
            <a:ext cx="6756400" cy="44418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When a process requests a resource </a:t>
            </a:r>
            <a:r>
              <a:rPr lang="en-US">
                <a:solidFill>
                  <a:srgbClr val="0070C0"/>
                </a:solidFill>
              </a:rPr>
              <a:t>it may have to wait  </a:t>
            </a:r>
            <a:br>
              <a:rPr lang="en-US"/>
            </a:br>
            <a:endParaRPr/>
          </a:p>
          <a:p>
            <a:pPr indent="-342900" lvl="0" marL="342900" rtl="0" algn="l">
              <a:spcBef>
                <a:spcPts val="640"/>
              </a:spcBef>
              <a:spcAft>
                <a:spcPts val="0"/>
              </a:spcAft>
              <a:buClr>
                <a:schemeClr val="dk1"/>
              </a:buClr>
              <a:buSzPts val="3200"/>
              <a:buChar char="•"/>
            </a:pPr>
            <a:r>
              <a:rPr lang="en-US"/>
              <a:t>When a process </a:t>
            </a:r>
            <a:r>
              <a:rPr lang="en-US">
                <a:solidFill>
                  <a:srgbClr val="0070C0"/>
                </a:solidFill>
              </a:rPr>
              <a:t>gets all its resources it must return them in a finite amount of time</a:t>
            </a:r>
            <a:endParaRPr/>
          </a:p>
        </p:txBody>
      </p:sp>
      <p:sp>
        <p:nvSpPr>
          <p:cNvPr id="816" name="Google Shape;816;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817" name="Google Shape;817;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818" name="Google Shape;818;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6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Banker’s Algorithm</a:t>
            </a:r>
            <a:endParaRPr/>
          </a:p>
        </p:txBody>
      </p:sp>
      <p:sp>
        <p:nvSpPr>
          <p:cNvPr id="824" name="Google Shape;824;p6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lang="en-US" sz="2800"/>
              <a:t>A resource allocation and deadlock avoidance algorithm. </a:t>
            </a:r>
            <a:endParaRPr sz="2800"/>
          </a:p>
          <a:p>
            <a:pPr indent="-342900" lvl="0" marL="342900" rtl="0" algn="l">
              <a:spcBef>
                <a:spcPts val="560"/>
              </a:spcBef>
              <a:spcAft>
                <a:spcPts val="0"/>
              </a:spcAft>
              <a:buClr>
                <a:schemeClr val="dk1"/>
              </a:buClr>
              <a:buSzPts val="2800"/>
              <a:buChar char="•"/>
            </a:pPr>
            <a:r>
              <a:rPr lang="en-US" sz="2800"/>
              <a:t>This algorithm test for safety simulating </a:t>
            </a:r>
            <a:endParaRPr sz="2800"/>
          </a:p>
          <a:p>
            <a:pPr indent="-285750" lvl="1" marL="742950" rtl="0" algn="l">
              <a:spcBef>
                <a:spcPts val="480"/>
              </a:spcBef>
              <a:spcAft>
                <a:spcPts val="0"/>
              </a:spcAft>
              <a:buClr>
                <a:schemeClr val="dk1"/>
              </a:buClr>
              <a:buSzPts val="2400"/>
              <a:buChar char="–"/>
            </a:pPr>
            <a:r>
              <a:rPr lang="en-US" sz="2400"/>
              <a:t>the allocation for predetermined maximum possible amounts of all resources, </a:t>
            </a:r>
            <a:endParaRPr sz="2400"/>
          </a:p>
          <a:p>
            <a:pPr indent="-285750" lvl="1" marL="742950" rtl="0" algn="l">
              <a:spcBef>
                <a:spcPts val="480"/>
              </a:spcBef>
              <a:spcAft>
                <a:spcPts val="0"/>
              </a:spcAft>
              <a:buClr>
                <a:schemeClr val="dk1"/>
              </a:buClr>
              <a:buSzPts val="2400"/>
              <a:buChar char="–"/>
            </a:pPr>
            <a:r>
              <a:rPr lang="en-US" sz="2400"/>
              <a:t>then makes </a:t>
            </a:r>
            <a:r>
              <a:rPr lang="en-US" sz="2400">
                <a:solidFill>
                  <a:srgbClr val="0070C0"/>
                </a:solidFill>
              </a:rPr>
              <a:t>an “s-state” check to test for possible activities, </a:t>
            </a:r>
            <a:endParaRPr sz="2400">
              <a:solidFill>
                <a:srgbClr val="0070C0"/>
              </a:solidFill>
            </a:endParaRPr>
          </a:p>
          <a:p>
            <a:pPr indent="-285750" lvl="1" marL="742950" rtl="0" algn="l">
              <a:spcBef>
                <a:spcPts val="480"/>
              </a:spcBef>
              <a:spcAft>
                <a:spcPts val="0"/>
              </a:spcAft>
              <a:buClr>
                <a:schemeClr val="dk1"/>
              </a:buClr>
              <a:buSzPts val="2400"/>
              <a:buChar char="–"/>
            </a:pPr>
            <a:r>
              <a:rPr lang="en-US" sz="2400"/>
              <a:t>before deciding </a:t>
            </a:r>
            <a:r>
              <a:rPr lang="en-US" sz="2400">
                <a:solidFill>
                  <a:srgbClr val="0070C0"/>
                </a:solidFill>
              </a:rPr>
              <a:t>whether allocation should be allowed to continue.</a:t>
            </a:r>
            <a:endParaRPr/>
          </a:p>
        </p:txBody>
      </p:sp>
      <p:sp>
        <p:nvSpPr>
          <p:cNvPr id="825" name="Google Shape;825;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826" name="Google Shape;826;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827" name="Google Shape;827;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69"/>
          <p:cNvSpPr txBox="1"/>
          <p:nvPr>
            <p:ph type="title"/>
          </p:nvPr>
        </p:nvSpPr>
        <p:spPr>
          <a:xfrm>
            <a:off x="1536556" y="27709"/>
            <a:ext cx="7586662" cy="4318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2800"/>
              <a:t>Data Structures for the Banker’s Algorithm </a:t>
            </a:r>
            <a:endParaRPr sz="2800"/>
          </a:p>
        </p:txBody>
      </p:sp>
      <p:sp>
        <p:nvSpPr>
          <p:cNvPr id="834" name="Google Shape;834;p69"/>
          <p:cNvSpPr txBox="1"/>
          <p:nvPr>
            <p:ph idx="1" type="body"/>
          </p:nvPr>
        </p:nvSpPr>
        <p:spPr>
          <a:xfrm>
            <a:off x="228600" y="533400"/>
            <a:ext cx="8763000" cy="4975226"/>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Char char="•"/>
            </a:pPr>
            <a:r>
              <a:rPr b="1" lang="en-US" sz="2400"/>
              <a:t>Available</a:t>
            </a:r>
            <a:r>
              <a:rPr i="1" lang="en-US" sz="2400"/>
              <a:t>:</a:t>
            </a:r>
            <a:r>
              <a:rPr lang="en-US" sz="2400"/>
              <a:t> </a:t>
            </a:r>
            <a:endParaRPr/>
          </a:p>
          <a:p>
            <a:pPr indent="-285750" lvl="1" marL="742950" rtl="0" algn="l">
              <a:spcBef>
                <a:spcPts val="400"/>
              </a:spcBef>
              <a:spcAft>
                <a:spcPts val="0"/>
              </a:spcAft>
              <a:buClr>
                <a:schemeClr val="dk1"/>
              </a:buClr>
              <a:buSzPts val="2000"/>
              <a:buChar char="–"/>
            </a:pPr>
            <a:r>
              <a:rPr lang="en-US" sz="2000"/>
              <a:t> Vector of length </a:t>
            </a:r>
            <a:r>
              <a:rPr i="1" lang="en-US" sz="2000"/>
              <a:t>m</a:t>
            </a:r>
            <a:r>
              <a:rPr lang="en-US" sz="2000"/>
              <a:t>. </a:t>
            </a:r>
            <a:endParaRPr/>
          </a:p>
          <a:p>
            <a:pPr indent="-285750" lvl="1" marL="742950" rtl="0" algn="l">
              <a:spcBef>
                <a:spcPts val="480"/>
              </a:spcBef>
              <a:spcAft>
                <a:spcPts val="0"/>
              </a:spcAft>
              <a:buClr>
                <a:schemeClr val="dk1"/>
              </a:buClr>
              <a:buSzPts val="2000"/>
              <a:buChar char="–"/>
            </a:pPr>
            <a:r>
              <a:rPr lang="en-US" sz="2000"/>
              <a:t>If available [</a:t>
            </a:r>
            <a:r>
              <a:rPr i="1" lang="en-US" sz="2000"/>
              <a:t>j</a:t>
            </a:r>
            <a:r>
              <a:rPr lang="en-US" sz="2000"/>
              <a:t>] = </a:t>
            </a:r>
            <a:r>
              <a:rPr i="1" lang="en-US" sz="2000"/>
              <a:t>k</a:t>
            </a:r>
            <a:r>
              <a:rPr lang="en-US" sz="2000"/>
              <a:t>, there are</a:t>
            </a:r>
            <a:r>
              <a:rPr i="1" lang="en-US" sz="2000"/>
              <a:t> k</a:t>
            </a:r>
            <a:r>
              <a:rPr lang="en-US" sz="2000"/>
              <a:t> instances of resource type </a:t>
            </a:r>
            <a:r>
              <a:rPr i="1" lang="en-US" sz="2400"/>
              <a:t>R</a:t>
            </a:r>
            <a:r>
              <a:rPr baseline="-25000" i="1" lang="en-US" sz="2400"/>
              <a:t>j</a:t>
            </a:r>
            <a:r>
              <a:rPr baseline="-25000" lang="en-US" sz="2400"/>
              <a:t>  </a:t>
            </a:r>
            <a:r>
              <a:rPr lang="en-US" sz="2000"/>
              <a:t>available</a:t>
            </a:r>
            <a:endParaRPr/>
          </a:p>
          <a:p>
            <a:pPr indent="-304800" lvl="0" marL="342900" rtl="0" algn="l">
              <a:spcBef>
                <a:spcPts val="120"/>
              </a:spcBef>
              <a:spcAft>
                <a:spcPts val="0"/>
              </a:spcAft>
              <a:buClr>
                <a:schemeClr val="dk1"/>
              </a:buClr>
              <a:buSzPts val="600"/>
              <a:buNone/>
            </a:pPr>
            <a:r>
              <a:t/>
            </a:r>
            <a:endParaRPr sz="600"/>
          </a:p>
          <a:p>
            <a:pPr indent="-342900" lvl="0" marL="342900" rtl="0" algn="l">
              <a:spcBef>
                <a:spcPts val="480"/>
              </a:spcBef>
              <a:spcAft>
                <a:spcPts val="0"/>
              </a:spcAft>
              <a:buClr>
                <a:srgbClr val="000000"/>
              </a:buClr>
              <a:buSzPts val="2400"/>
              <a:buChar char="•"/>
            </a:pPr>
            <a:r>
              <a:rPr b="1" lang="en-US" sz="2400">
                <a:solidFill>
                  <a:srgbClr val="000000"/>
                </a:solidFill>
              </a:rPr>
              <a:t>Max</a:t>
            </a:r>
            <a:r>
              <a:rPr i="1" lang="en-US" sz="2400"/>
              <a:t>: </a:t>
            </a:r>
            <a:endParaRPr/>
          </a:p>
          <a:p>
            <a:pPr indent="-285750" lvl="1" marL="742950" rtl="0" algn="l">
              <a:spcBef>
                <a:spcPts val="400"/>
              </a:spcBef>
              <a:spcAft>
                <a:spcPts val="0"/>
              </a:spcAft>
              <a:buClr>
                <a:schemeClr val="dk1"/>
              </a:buClr>
              <a:buSzPts val="2000"/>
              <a:buChar char="–"/>
            </a:pPr>
            <a:r>
              <a:rPr i="1" lang="en-US" sz="2000"/>
              <a:t>n x m</a:t>
            </a:r>
            <a:r>
              <a:rPr lang="en-US" sz="2000"/>
              <a:t> matrix.  </a:t>
            </a:r>
            <a:endParaRPr/>
          </a:p>
          <a:p>
            <a:pPr indent="-285750" lvl="1" marL="742950" rtl="0" algn="l">
              <a:spcBef>
                <a:spcPts val="400"/>
              </a:spcBef>
              <a:spcAft>
                <a:spcPts val="0"/>
              </a:spcAft>
              <a:buClr>
                <a:schemeClr val="dk1"/>
              </a:buClr>
              <a:buSzPts val="2000"/>
              <a:buChar char="–"/>
            </a:pPr>
            <a:r>
              <a:rPr lang="en-US" sz="2000"/>
              <a:t>If </a:t>
            </a:r>
            <a:r>
              <a:rPr i="1" lang="en-US" sz="2000"/>
              <a:t>Max </a:t>
            </a:r>
            <a:r>
              <a:rPr lang="en-US" sz="2000"/>
              <a:t>[</a:t>
            </a:r>
            <a:r>
              <a:rPr i="1" lang="en-US" sz="2000"/>
              <a:t>i,j</a:t>
            </a:r>
            <a:r>
              <a:rPr lang="en-US" sz="2000"/>
              <a:t>] = </a:t>
            </a:r>
            <a:r>
              <a:rPr i="1" lang="en-US" sz="2000"/>
              <a:t>k</a:t>
            </a:r>
            <a:r>
              <a:rPr lang="en-US" sz="2000"/>
              <a:t>, then process </a:t>
            </a:r>
            <a:r>
              <a:rPr i="1" lang="en-US" sz="2000"/>
              <a:t>P</a:t>
            </a:r>
            <a:r>
              <a:rPr baseline="-25000" i="1" lang="en-US" sz="2000"/>
              <a:t>i</a:t>
            </a:r>
            <a:r>
              <a:rPr i="1" lang="en-US" sz="2000"/>
              <a:t> </a:t>
            </a:r>
            <a:r>
              <a:rPr lang="en-US" sz="2000"/>
              <a:t>may request at most</a:t>
            </a:r>
            <a:r>
              <a:rPr i="1" lang="en-US" sz="2000"/>
              <a:t> k </a:t>
            </a:r>
            <a:r>
              <a:rPr lang="en-US" sz="2000"/>
              <a:t>instances of resource type </a:t>
            </a:r>
            <a:r>
              <a:rPr i="1" lang="en-US" sz="2000"/>
              <a:t>R</a:t>
            </a:r>
            <a:r>
              <a:rPr baseline="-25000" i="1" lang="en-US" sz="2000"/>
              <a:t>j</a:t>
            </a:r>
            <a:endParaRPr baseline="-25000" i="1" sz="2000"/>
          </a:p>
          <a:p>
            <a:pPr indent="-304800" lvl="0" marL="342900" rtl="0" algn="l">
              <a:spcBef>
                <a:spcPts val="120"/>
              </a:spcBef>
              <a:spcAft>
                <a:spcPts val="0"/>
              </a:spcAft>
              <a:buClr>
                <a:schemeClr val="dk1"/>
              </a:buClr>
              <a:buSzPts val="600"/>
              <a:buNone/>
            </a:pPr>
            <a:r>
              <a:t/>
            </a:r>
            <a:endParaRPr baseline="-25000" i="1" sz="600"/>
          </a:p>
          <a:p>
            <a:pPr indent="-342900" lvl="0" marL="342900" rtl="0" algn="l">
              <a:spcBef>
                <a:spcPts val="480"/>
              </a:spcBef>
              <a:spcAft>
                <a:spcPts val="0"/>
              </a:spcAft>
              <a:buClr>
                <a:srgbClr val="000000"/>
              </a:buClr>
              <a:buSzPts val="2400"/>
              <a:buChar char="•"/>
            </a:pPr>
            <a:r>
              <a:rPr b="1" lang="en-US" sz="2400">
                <a:solidFill>
                  <a:srgbClr val="000000"/>
                </a:solidFill>
              </a:rPr>
              <a:t>Allocation</a:t>
            </a:r>
            <a:r>
              <a:rPr i="1" lang="en-US" sz="2400"/>
              <a:t>:  </a:t>
            </a:r>
            <a:endParaRPr/>
          </a:p>
          <a:p>
            <a:pPr indent="-285750" lvl="1" marL="742950" rtl="0" algn="l">
              <a:spcBef>
                <a:spcPts val="400"/>
              </a:spcBef>
              <a:spcAft>
                <a:spcPts val="0"/>
              </a:spcAft>
              <a:buClr>
                <a:schemeClr val="dk1"/>
              </a:buClr>
              <a:buSzPts val="2000"/>
              <a:buChar char="–"/>
            </a:pPr>
            <a:r>
              <a:rPr i="1" lang="en-US" sz="2000"/>
              <a:t>n </a:t>
            </a:r>
            <a:r>
              <a:rPr lang="en-US" sz="2000"/>
              <a:t>x</a:t>
            </a:r>
            <a:r>
              <a:rPr i="1" lang="en-US" sz="2000"/>
              <a:t> m</a:t>
            </a:r>
            <a:r>
              <a:rPr lang="en-US" sz="2000"/>
              <a:t> matrix.  </a:t>
            </a:r>
            <a:endParaRPr/>
          </a:p>
          <a:p>
            <a:pPr indent="-285750" lvl="1" marL="742950" rtl="0" algn="l">
              <a:spcBef>
                <a:spcPts val="400"/>
              </a:spcBef>
              <a:spcAft>
                <a:spcPts val="0"/>
              </a:spcAft>
              <a:buClr>
                <a:schemeClr val="dk1"/>
              </a:buClr>
              <a:buSzPts val="2000"/>
              <a:buChar char="–"/>
            </a:pPr>
            <a:r>
              <a:rPr lang="en-US" sz="2000"/>
              <a:t>If Allocation[</a:t>
            </a:r>
            <a:r>
              <a:rPr i="1" lang="en-US" sz="2000"/>
              <a:t>i,j</a:t>
            </a:r>
            <a:r>
              <a:rPr lang="en-US" sz="2000"/>
              <a:t>] = </a:t>
            </a:r>
            <a:r>
              <a:rPr i="1" lang="en-US" sz="2000"/>
              <a:t>k</a:t>
            </a:r>
            <a:r>
              <a:rPr lang="en-US" sz="2000"/>
              <a:t> then</a:t>
            </a:r>
            <a:r>
              <a:rPr i="1" lang="en-US" sz="2000"/>
              <a:t> P</a:t>
            </a:r>
            <a:r>
              <a:rPr baseline="-25000" i="1" lang="en-US" sz="2000"/>
              <a:t>i</a:t>
            </a:r>
            <a:r>
              <a:rPr lang="en-US" sz="2000"/>
              <a:t> is currently allocated </a:t>
            </a:r>
            <a:r>
              <a:rPr i="1" lang="en-US" sz="2000"/>
              <a:t>k</a:t>
            </a:r>
            <a:r>
              <a:rPr lang="en-US" sz="2000"/>
              <a:t> instances of </a:t>
            </a:r>
            <a:r>
              <a:rPr i="1" lang="en-US" sz="2000"/>
              <a:t>R</a:t>
            </a:r>
            <a:r>
              <a:rPr baseline="-25000" i="1" lang="en-US" sz="2000"/>
              <a:t>j</a:t>
            </a:r>
            <a:endParaRPr baseline="-25000" i="1" sz="2000"/>
          </a:p>
          <a:p>
            <a:pPr indent="-304800" lvl="0" marL="342900" rtl="0" algn="l">
              <a:spcBef>
                <a:spcPts val="120"/>
              </a:spcBef>
              <a:spcAft>
                <a:spcPts val="0"/>
              </a:spcAft>
              <a:buClr>
                <a:schemeClr val="dk1"/>
              </a:buClr>
              <a:buSzPts val="600"/>
              <a:buNone/>
            </a:pPr>
            <a:r>
              <a:t/>
            </a:r>
            <a:endParaRPr baseline="-25000" i="1" sz="600"/>
          </a:p>
          <a:p>
            <a:pPr indent="-342900" lvl="0" marL="342900" rtl="0" algn="l">
              <a:spcBef>
                <a:spcPts val="480"/>
              </a:spcBef>
              <a:spcAft>
                <a:spcPts val="0"/>
              </a:spcAft>
              <a:buClr>
                <a:srgbClr val="000000"/>
              </a:buClr>
              <a:buSzPts val="2400"/>
              <a:buChar char="•"/>
            </a:pPr>
            <a:r>
              <a:rPr b="1" lang="en-US" sz="2400">
                <a:solidFill>
                  <a:srgbClr val="000000"/>
                </a:solidFill>
              </a:rPr>
              <a:t>Need</a:t>
            </a:r>
            <a:r>
              <a:rPr i="1" lang="en-US" sz="2400"/>
              <a:t>:  </a:t>
            </a:r>
            <a:endParaRPr/>
          </a:p>
          <a:p>
            <a:pPr indent="-285750" lvl="1" marL="742950" rtl="0" algn="l">
              <a:spcBef>
                <a:spcPts val="400"/>
              </a:spcBef>
              <a:spcAft>
                <a:spcPts val="0"/>
              </a:spcAft>
              <a:buClr>
                <a:schemeClr val="dk1"/>
              </a:buClr>
              <a:buSzPts val="2000"/>
              <a:buChar char="–"/>
            </a:pPr>
            <a:r>
              <a:rPr i="1" lang="en-US" sz="2000"/>
              <a:t>n </a:t>
            </a:r>
            <a:r>
              <a:rPr lang="en-US" sz="2000"/>
              <a:t>x</a:t>
            </a:r>
            <a:r>
              <a:rPr i="1" lang="en-US" sz="2000"/>
              <a:t> m</a:t>
            </a:r>
            <a:r>
              <a:rPr lang="en-US" sz="2000"/>
              <a:t> matrix. </a:t>
            </a:r>
            <a:endParaRPr/>
          </a:p>
          <a:p>
            <a:pPr indent="-285750" lvl="1" marL="742950" rtl="0" algn="l">
              <a:spcBef>
                <a:spcPts val="400"/>
              </a:spcBef>
              <a:spcAft>
                <a:spcPts val="0"/>
              </a:spcAft>
              <a:buClr>
                <a:schemeClr val="dk1"/>
              </a:buClr>
              <a:buSzPts val="2000"/>
              <a:buChar char="–"/>
            </a:pPr>
            <a:r>
              <a:rPr lang="en-US" sz="2000"/>
              <a:t>If </a:t>
            </a:r>
            <a:r>
              <a:rPr i="1" lang="en-US" sz="2000"/>
              <a:t>Need</a:t>
            </a:r>
            <a:r>
              <a:rPr lang="en-US" sz="2000"/>
              <a:t>[</a:t>
            </a:r>
            <a:r>
              <a:rPr i="1" lang="en-US" sz="2000"/>
              <a:t>i,j</a:t>
            </a:r>
            <a:r>
              <a:rPr lang="en-US" sz="2000"/>
              <a:t>] =</a:t>
            </a:r>
            <a:r>
              <a:rPr i="1" lang="en-US" sz="2000"/>
              <a:t> k</a:t>
            </a:r>
            <a:r>
              <a:rPr lang="en-US" sz="2000"/>
              <a:t>, then</a:t>
            </a:r>
            <a:r>
              <a:rPr i="1" lang="en-US" sz="2000"/>
              <a:t> P</a:t>
            </a:r>
            <a:r>
              <a:rPr baseline="-25000" i="1" lang="en-US" sz="2000"/>
              <a:t>i</a:t>
            </a:r>
            <a:r>
              <a:rPr lang="en-US" sz="2000"/>
              <a:t> may need </a:t>
            </a:r>
            <a:r>
              <a:rPr i="1" lang="en-US" sz="2000"/>
              <a:t>k</a:t>
            </a:r>
            <a:r>
              <a:rPr lang="en-US" sz="2000"/>
              <a:t> more instances of </a:t>
            </a:r>
            <a:r>
              <a:rPr i="1" lang="en-US" sz="2000"/>
              <a:t>R</a:t>
            </a:r>
            <a:r>
              <a:rPr baseline="-25000" i="1" lang="en-US" sz="2000"/>
              <a:t>j</a:t>
            </a:r>
            <a:r>
              <a:rPr baseline="-25000" lang="en-US" sz="2000"/>
              <a:t> </a:t>
            </a:r>
            <a:r>
              <a:rPr lang="en-US" sz="2000"/>
              <a:t>to complete its task</a:t>
            </a:r>
            <a:endParaRPr/>
          </a:p>
          <a:p>
            <a:pPr indent="-228600" lvl="2" marL="1143000" rtl="0" algn="l">
              <a:spcBef>
                <a:spcPts val="320"/>
              </a:spcBef>
              <a:spcAft>
                <a:spcPts val="0"/>
              </a:spcAft>
              <a:buClr>
                <a:schemeClr val="dk1"/>
              </a:buClr>
              <a:buSzPts val="1600"/>
              <a:buFont typeface="Arimo"/>
              <a:buNone/>
            </a:pPr>
            <a:br>
              <a:rPr lang="en-US" sz="1600"/>
            </a:br>
            <a:r>
              <a:rPr i="1" lang="en-US" sz="1600"/>
              <a:t>Need</a:t>
            </a:r>
            <a:r>
              <a:rPr lang="en-US" sz="1600"/>
              <a:t> [</a:t>
            </a:r>
            <a:r>
              <a:rPr i="1" lang="en-US" sz="1600"/>
              <a:t>i,j]</a:t>
            </a:r>
            <a:r>
              <a:rPr lang="en-US" sz="1600"/>
              <a:t> = </a:t>
            </a:r>
            <a:r>
              <a:rPr i="1" lang="en-US" sz="1600"/>
              <a:t>Max</a:t>
            </a:r>
            <a:r>
              <a:rPr lang="en-US" sz="1600"/>
              <a:t>[</a:t>
            </a:r>
            <a:r>
              <a:rPr i="1" lang="en-US" sz="1600"/>
              <a:t>i,j</a:t>
            </a:r>
            <a:r>
              <a:rPr lang="en-US" sz="1600"/>
              <a:t>] – </a:t>
            </a:r>
            <a:r>
              <a:rPr i="1" lang="en-US" sz="1600"/>
              <a:t>Allocation</a:t>
            </a:r>
            <a:r>
              <a:rPr lang="en-US" sz="1600"/>
              <a:t> [</a:t>
            </a:r>
            <a:r>
              <a:rPr i="1" lang="en-US" sz="1600"/>
              <a:t>i,j</a:t>
            </a:r>
            <a:r>
              <a:rPr lang="en-US" sz="1600"/>
              <a:t>]</a:t>
            </a:r>
            <a:endParaRPr/>
          </a:p>
        </p:txBody>
      </p:sp>
      <p:sp>
        <p:nvSpPr>
          <p:cNvPr id="835" name="Google Shape;835;p69"/>
          <p:cNvSpPr txBox="1"/>
          <p:nvPr/>
        </p:nvSpPr>
        <p:spPr>
          <a:xfrm>
            <a:off x="5400668" y="609600"/>
            <a:ext cx="3743332" cy="78483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1" lang="en-US" sz="1800" u="none" cap="none" strike="noStrike">
                <a:solidFill>
                  <a:srgbClr val="00B0F0"/>
                </a:solidFill>
                <a:latin typeface="Helvetica Neue"/>
                <a:ea typeface="Helvetica Neue"/>
                <a:cs typeface="Helvetica Neue"/>
                <a:sym typeface="Helvetica Neue"/>
              </a:rPr>
              <a:t>n</a:t>
            </a:r>
            <a:r>
              <a:rPr b="1" i="0" lang="en-US" sz="1800" u="none" cap="none" strike="noStrike">
                <a:solidFill>
                  <a:srgbClr val="00B0F0"/>
                </a:solidFill>
                <a:latin typeface="Helvetica Neue"/>
                <a:ea typeface="Helvetica Neue"/>
                <a:cs typeface="Helvetica Neue"/>
                <a:sym typeface="Helvetica Neue"/>
              </a:rPr>
              <a:t> = number of processes</a:t>
            </a:r>
            <a:endParaRPr/>
          </a:p>
          <a:p>
            <a:pPr indent="0" lvl="0" marL="0" marR="0" rtl="0" algn="l">
              <a:spcBef>
                <a:spcPts val="900"/>
              </a:spcBef>
              <a:spcAft>
                <a:spcPts val="0"/>
              </a:spcAft>
              <a:buNone/>
            </a:pPr>
            <a:r>
              <a:rPr b="1" i="1" lang="en-US" sz="1800" u="none" cap="none" strike="noStrike">
                <a:solidFill>
                  <a:srgbClr val="00B0F0"/>
                </a:solidFill>
                <a:latin typeface="Helvetica Neue"/>
                <a:ea typeface="Helvetica Neue"/>
                <a:cs typeface="Helvetica Neue"/>
                <a:sym typeface="Helvetica Neue"/>
              </a:rPr>
              <a:t>m </a:t>
            </a:r>
            <a:r>
              <a:rPr b="1" i="0" lang="en-US" sz="1800" u="none" cap="none" strike="noStrike">
                <a:solidFill>
                  <a:srgbClr val="00B0F0"/>
                </a:solidFill>
                <a:latin typeface="Helvetica Neue"/>
                <a:ea typeface="Helvetica Neue"/>
                <a:cs typeface="Helvetica Neue"/>
                <a:sym typeface="Helvetica Neue"/>
              </a:rPr>
              <a:t>= number of resources types. </a:t>
            </a:r>
            <a:endParaRPr/>
          </a:p>
        </p:txBody>
      </p:sp>
      <p:sp>
        <p:nvSpPr>
          <p:cNvPr id="836" name="Google Shape;836;p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837" name="Google Shape;837;p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838" name="Google Shape;838;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70"/>
          <p:cNvSpPr txBox="1"/>
          <p:nvPr>
            <p:ph type="title"/>
          </p:nvPr>
        </p:nvSpPr>
        <p:spPr>
          <a:xfrm>
            <a:off x="457200" y="166688"/>
            <a:ext cx="8229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Safety Algorithm</a:t>
            </a:r>
            <a:endParaRPr/>
          </a:p>
        </p:txBody>
      </p:sp>
      <p:sp>
        <p:nvSpPr>
          <p:cNvPr id="845" name="Google Shape;845;p70"/>
          <p:cNvSpPr txBox="1"/>
          <p:nvPr>
            <p:ph idx="1" type="body"/>
          </p:nvPr>
        </p:nvSpPr>
        <p:spPr>
          <a:xfrm>
            <a:off x="908050" y="1157288"/>
            <a:ext cx="7372350" cy="4943475"/>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90000"/>
              </a:lnSpc>
              <a:spcBef>
                <a:spcPts val="0"/>
              </a:spcBef>
              <a:spcAft>
                <a:spcPts val="0"/>
              </a:spcAft>
              <a:buClr>
                <a:schemeClr val="dk1"/>
              </a:buClr>
              <a:buSzPct val="100000"/>
              <a:buFont typeface="Arial"/>
              <a:buNone/>
            </a:pPr>
            <a:r>
              <a:rPr lang="en-US"/>
              <a:t>1.	</a:t>
            </a:r>
            <a:r>
              <a:rPr lang="en-US" sz="2600"/>
              <a:t>Let </a:t>
            </a:r>
            <a:r>
              <a:rPr b="1" i="1" lang="en-US" sz="2600">
                <a:solidFill>
                  <a:srgbClr val="000000"/>
                </a:solidFill>
              </a:rPr>
              <a:t>Work</a:t>
            </a:r>
            <a:r>
              <a:rPr i="1" lang="en-US" sz="2600">
                <a:solidFill>
                  <a:srgbClr val="000000"/>
                </a:solidFill>
              </a:rPr>
              <a:t> </a:t>
            </a:r>
            <a:r>
              <a:rPr lang="en-US" sz="2600"/>
              <a:t>and </a:t>
            </a:r>
            <a:r>
              <a:rPr b="1" i="1" lang="en-US" sz="2600">
                <a:solidFill>
                  <a:srgbClr val="000000"/>
                </a:solidFill>
              </a:rPr>
              <a:t>Finish</a:t>
            </a:r>
            <a:r>
              <a:rPr lang="en-US" sz="2600">
                <a:solidFill>
                  <a:srgbClr val="000000"/>
                </a:solidFill>
              </a:rPr>
              <a:t> </a:t>
            </a:r>
            <a:r>
              <a:rPr lang="en-US" sz="2600"/>
              <a:t>be vectors of length</a:t>
            </a:r>
            <a:r>
              <a:rPr i="1" lang="en-US" sz="2600"/>
              <a:t> m</a:t>
            </a:r>
            <a:r>
              <a:rPr lang="en-US" sz="2600"/>
              <a:t> and</a:t>
            </a:r>
            <a:r>
              <a:rPr i="1" lang="en-US" sz="2600"/>
              <a:t> n</a:t>
            </a:r>
            <a:r>
              <a:rPr lang="en-US" sz="2600"/>
              <a:t>, respectively.  Initialize:</a:t>
            </a:r>
            <a:endParaRPr/>
          </a:p>
          <a:p>
            <a:pPr indent="-342900" lvl="3" marL="1543050" rtl="0" algn="l">
              <a:lnSpc>
                <a:spcPct val="90000"/>
              </a:lnSpc>
              <a:spcBef>
                <a:spcPts val="314"/>
              </a:spcBef>
              <a:spcAft>
                <a:spcPts val="0"/>
              </a:spcAft>
              <a:buClr>
                <a:schemeClr val="dk1"/>
              </a:buClr>
              <a:buSzPct val="100000"/>
              <a:buFont typeface="Calibri"/>
              <a:buNone/>
            </a:pPr>
            <a:r>
              <a:rPr b="1" i="1" lang="en-US" sz="1700" u="sng"/>
              <a:t>Work </a:t>
            </a:r>
            <a:r>
              <a:rPr b="1" lang="en-US" sz="1700" u="sng"/>
              <a:t>= </a:t>
            </a:r>
            <a:r>
              <a:rPr b="1" i="1" lang="en-US" sz="1700" u="sng"/>
              <a:t>Available</a:t>
            </a:r>
            <a:endParaRPr/>
          </a:p>
          <a:p>
            <a:pPr indent="-342900" lvl="3" marL="1543050" rtl="0" algn="l">
              <a:lnSpc>
                <a:spcPct val="90000"/>
              </a:lnSpc>
              <a:spcBef>
                <a:spcPts val="314"/>
              </a:spcBef>
              <a:spcAft>
                <a:spcPts val="0"/>
              </a:spcAft>
              <a:buClr>
                <a:schemeClr val="dk1"/>
              </a:buClr>
              <a:buSzPct val="100000"/>
              <a:buFont typeface="Calibri"/>
              <a:buNone/>
            </a:pPr>
            <a:r>
              <a:rPr b="1" i="1" lang="en-US" sz="1700" u="sng"/>
              <a:t>Finish </a:t>
            </a:r>
            <a:r>
              <a:rPr b="1" lang="en-US" sz="1700" u="sng"/>
              <a:t>[</a:t>
            </a:r>
            <a:r>
              <a:rPr b="1" i="1" lang="en-US" sz="1700" u="sng"/>
              <a:t>i</a:t>
            </a:r>
            <a:r>
              <a:rPr b="1" lang="en-US" sz="1700" u="sng"/>
              <a:t>] =</a:t>
            </a:r>
            <a:r>
              <a:rPr b="1" i="1" lang="en-US" sz="1700" u="sng"/>
              <a:t> false </a:t>
            </a:r>
            <a:r>
              <a:rPr b="1" lang="en-US" sz="1700" u="sng"/>
              <a:t>for</a:t>
            </a:r>
            <a:r>
              <a:rPr b="1" i="1" lang="en-US" sz="1700" u="sng"/>
              <a:t> i</a:t>
            </a:r>
            <a:r>
              <a:rPr b="1" lang="en-US" sz="1700" u="sng"/>
              <a:t> = 0, 1, …, </a:t>
            </a:r>
            <a:r>
              <a:rPr b="1" i="1" lang="en-US" sz="1700" u="sng"/>
              <a:t>n- </a:t>
            </a:r>
            <a:r>
              <a:rPr b="1" lang="en-US" sz="1700" u="sng"/>
              <a:t>1</a:t>
            </a:r>
            <a:endParaRPr/>
          </a:p>
          <a:p>
            <a:pPr indent="-342900" lvl="3" marL="1543050" rtl="0" algn="l">
              <a:lnSpc>
                <a:spcPct val="90000"/>
              </a:lnSpc>
              <a:spcBef>
                <a:spcPts val="92"/>
              </a:spcBef>
              <a:spcAft>
                <a:spcPts val="0"/>
              </a:spcAft>
              <a:buClr>
                <a:schemeClr val="dk1"/>
              </a:buClr>
              <a:buSzPct val="100000"/>
              <a:buFont typeface="Calibri"/>
              <a:buNone/>
            </a:pPr>
            <a:r>
              <a:t/>
            </a:r>
            <a:endParaRPr sz="500"/>
          </a:p>
          <a:p>
            <a:pPr indent="-342900" lvl="0" marL="342900" rtl="0" algn="l">
              <a:lnSpc>
                <a:spcPct val="90000"/>
              </a:lnSpc>
              <a:spcBef>
                <a:spcPts val="481"/>
              </a:spcBef>
              <a:spcAft>
                <a:spcPts val="0"/>
              </a:spcAft>
              <a:buClr>
                <a:schemeClr val="dk1"/>
              </a:buClr>
              <a:buSzPct val="100000"/>
              <a:buFont typeface="Arial"/>
              <a:buNone/>
            </a:pPr>
            <a:r>
              <a:rPr lang="en-US" sz="2600"/>
              <a:t>2.	Find an </a:t>
            </a:r>
            <a:r>
              <a:rPr b="1" i="1" lang="en-US" sz="2600"/>
              <a:t>i</a:t>
            </a:r>
            <a:r>
              <a:rPr i="1" lang="en-US" sz="2600"/>
              <a:t> </a:t>
            </a:r>
            <a:r>
              <a:rPr lang="en-US" sz="2600"/>
              <a:t>such that both: </a:t>
            </a:r>
            <a:endParaRPr/>
          </a:p>
          <a:p>
            <a:pPr indent="-342900" lvl="1" marL="800100" rtl="0" algn="l">
              <a:lnSpc>
                <a:spcPct val="90000"/>
              </a:lnSpc>
              <a:spcBef>
                <a:spcPts val="407"/>
              </a:spcBef>
              <a:spcAft>
                <a:spcPts val="0"/>
              </a:spcAft>
              <a:buClr>
                <a:schemeClr val="dk1"/>
              </a:buClr>
              <a:buSzPct val="100000"/>
              <a:buFont typeface="Arial"/>
              <a:buNone/>
            </a:pPr>
            <a:r>
              <a:rPr lang="en-US" sz="2200"/>
              <a:t>(a) </a:t>
            </a:r>
            <a:r>
              <a:rPr b="1" i="1" lang="en-US" sz="2200"/>
              <a:t>Finish</a:t>
            </a:r>
            <a:r>
              <a:rPr b="1" lang="en-US" sz="2200"/>
              <a:t> [</a:t>
            </a:r>
            <a:r>
              <a:rPr b="1" i="1" lang="en-US" sz="2200"/>
              <a:t>i</a:t>
            </a:r>
            <a:r>
              <a:rPr b="1" lang="en-US" sz="2200"/>
              <a:t>] = </a:t>
            </a:r>
            <a:r>
              <a:rPr b="1" i="1" lang="en-US" sz="2200"/>
              <a:t>false</a:t>
            </a:r>
            <a:endParaRPr b="1" sz="2200"/>
          </a:p>
          <a:p>
            <a:pPr indent="-342900" lvl="1" marL="800100" rtl="0" algn="l">
              <a:lnSpc>
                <a:spcPct val="90000"/>
              </a:lnSpc>
              <a:spcBef>
                <a:spcPts val="407"/>
              </a:spcBef>
              <a:spcAft>
                <a:spcPts val="0"/>
              </a:spcAft>
              <a:buClr>
                <a:schemeClr val="dk1"/>
              </a:buClr>
              <a:buSzPct val="100000"/>
              <a:buFont typeface="Arial"/>
              <a:buNone/>
            </a:pPr>
            <a:r>
              <a:rPr lang="en-US" sz="2200"/>
              <a:t>(b) </a:t>
            </a:r>
            <a:r>
              <a:rPr b="1" i="1" lang="en-US" sz="2200"/>
              <a:t>Need</a:t>
            </a:r>
            <a:r>
              <a:rPr b="1" baseline="-25000" i="1" lang="en-US" sz="2200"/>
              <a:t>i</a:t>
            </a:r>
            <a:r>
              <a:rPr b="1" lang="en-US" sz="2200"/>
              <a:t> ≤ </a:t>
            </a:r>
            <a:r>
              <a:rPr b="1" i="1" lang="en-US" sz="2200"/>
              <a:t>Work</a:t>
            </a:r>
            <a:endParaRPr/>
          </a:p>
          <a:p>
            <a:pPr indent="-342900" lvl="1" marL="800100" rtl="0" algn="l">
              <a:lnSpc>
                <a:spcPct val="90000"/>
              </a:lnSpc>
              <a:spcBef>
                <a:spcPts val="407"/>
              </a:spcBef>
              <a:spcAft>
                <a:spcPts val="0"/>
              </a:spcAft>
              <a:buClr>
                <a:schemeClr val="dk1"/>
              </a:buClr>
              <a:buSzPct val="100000"/>
              <a:buFont typeface="Arial"/>
              <a:buNone/>
            </a:pPr>
            <a:r>
              <a:rPr b="1" i="1" lang="en-US" sz="2200"/>
              <a:t>(Add the process in the safe sequence)</a:t>
            </a:r>
            <a:endParaRPr/>
          </a:p>
          <a:p>
            <a:pPr indent="-342900" lvl="1" marL="800100" rtl="0" algn="l">
              <a:lnSpc>
                <a:spcPct val="90000"/>
              </a:lnSpc>
              <a:spcBef>
                <a:spcPts val="407"/>
              </a:spcBef>
              <a:spcAft>
                <a:spcPts val="0"/>
              </a:spcAft>
              <a:buClr>
                <a:schemeClr val="dk1"/>
              </a:buClr>
              <a:buSzPct val="100000"/>
              <a:buFont typeface="Arial"/>
              <a:buNone/>
            </a:pPr>
            <a:r>
              <a:rPr lang="en-US" sz="2200"/>
              <a:t>If no such</a:t>
            </a:r>
            <a:r>
              <a:rPr b="1" lang="en-US" sz="2200"/>
              <a:t> </a:t>
            </a:r>
            <a:r>
              <a:rPr b="1" i="1" lang="en-US" sz="2200"/>
              <a:t>i </a:t>
            </a:r>
            <a:r>
              <a:rPr lang="en-US" sz="2200"/>
              <a:t>exists, go to step 4</a:t>
            </a:r>
            <a:endParaRPr/>
          </a:p>
          <a:p>
            <a:pPr indent="-342900" lvl="1" marL="800100" rtl="0" algn="l">
              <a:lnSpc>
                <a:spcPct val="90000"/>
              </a:lnSpc>
              <a:spcBef>
                <a:spcPts val="92"/>
              </a:spcBef>
              <a:spcAft>
                <a:spcPts val="0"/>
              </a:spcAft>
              <a:buClr>
                <a:schemeClr val="dk1"/>
              </a:buClr>
              <a:buSzPct val="100000"/>
              <a:buFont typeface="Arial"/>
              <a:buNone/>
            </a:pPr>
            <a:r>
              <a:t/>
            </a:r>
            <a:endParaRPr sz="500"/>
          </a:p>
          <a:p>
            <a:pPr indent="-342900" lvl="0" marL="342900" rtl="0" algn="l">
              <a:lnSpc>
                <a:spcPct val="90000"/>
              </a:lnSpc>
              <a:spcBef>
                <a:spcPts val="481"/>
              </a:spcBef>
              <a:spcAft>
                <a:spcPts val="0"/>
              </a:spcAft>
              <a:buClr>
                <a:schemeClr val="dk1"/>
              </a:buClr>
              <a:buSzPct val="100000"/>
              <a:buFont typeface="Arial"/>
              <a:buNone/>
            </a:pPr>
            <a:r>
              <a:rPr i="1" lang="en-US" sz="2600"/>
              <a:t>3.  </a:t>
            </a:r>
            <a:r>
              <a:rPr b="1" i="1" lang="en-US" sz="2600"/>
              <a:t>Work</a:t>
            </a:r>
            <a:r>
              <a:rPr b="1" lang="en-US" sz="2600"/>
              <a:t> = </a:t>
            </a:r>
            <a:r>
              <a:rPr b="1" i="1" lang="en-US" sz="2600"/>
              <a:t>Work </a:t>
            </a:r>
            <a:r>
              <a:rPr b="1" lang="en-US" sz="2600"/>
              <a:t>+ </a:t>
            </a:r>
            <a:r>
              <a:rPr b="1" i="1" lang="en-US" sz="2600"/>
              <a:t>Allocation</a:t>
            </a:r>
            <a:r>
              <a:rPr b="1" baseline="-25000" i="1" lang="en-US" sz="2600"/>
              <a:t>i</a:t>
            </a:r>
            <a:br>
              <a:rPr b="1" lang="en-US" sz="2600"/>
            </a:br>
            <a:r>
              <a:rPr b="1" i="1" lang="en-US" sz="2600"/>
              <a:t>Finish</a:t>
            </a:r>
            <a:r>
              <a:rPr b="1" lang="en-US" sz="2600"/>
              <a:t>[</a:t>
            </a:r>
            <a:r>
              <a:rPr b="1" i="1" lang="en-US" sz="2600"/>
              <a:t>i</a:t>
            </a:r>
            <a:r>
              <a:rPr b="1" lang="en-US" sz="2600"/>
              <a:t>] =</a:t>
            </a:r>
            <a:r>
              <a:rPr b="1" i="1" lang="en-US" sz="2600"/>
              <a:t> true</a:t>
            </a:r>
            <a:br>
              <a:rPr b="1" lang="en-US" sz="2600"/>
            </a:br>
            <a:r>
              <a:rPr lang="en-US" sz="2600"/>
              <a:t>go to step 2</a:t>
            </a:r>
            <a:endParaRPr/>
          </a:p>
          <a:p>
            <a:pPr indent="-313563" lvl="0" marL="342900" rtl="0" algn="l">
              <a:lnSpc>
                <a:spcPct val="90000"/>
              </a:lnSpc>
              <a:spcBef>
                <a:spcPts val="92"/>
              </a:spcBef>
              <a:spcAft>
                <a:spcPts val="0"/>
              </a:spcAft>
              <a:buClr>
                <a:schemeClr val="dk1"/>
              </a:buClr>
              <a:buSzPct val="100000"/>
              <a:buNone/>
            </a:pPr>
            <a:r>
              <a:t/>
            </a:r>
            <a:endParaRPr sz="500"/>
          </a:p>
          <a:p>
            <a:pPr indent="-342900" lvl="0" marL="342900" rtl="0" algn="l">
              <a:lnSpc>
                <a:spcPct val="90000"/>
              </a:lnSpc>
              <a:spcBef>
                <a:spcPts val="481"/>
              </a:spcBef>
              <a:spcAft>
                <a:spcPts val="0"/>
              </a:spcAft>
              <a:buClr>
                <a:schemeClr val="dk1"/>
              </a:buClr>
              <a:buSzPct val="100000"/>
              <a:buFont typeface="Arial"/>
              <a:buNone/>
            </a:pPr>
            <a:r>
              <a:rPr lang="en-US" sz="2600"/>
              <a:t>4.	If </a:t>
            </a:r>
            <a:r>
              <a:rPr b="1" i="1" lang="en-US" sz="2600"/>
              <a:t>Finish</a:t>
            </a:r>
            <a:r>
              <a:rPr b="1" lang="en-US" sz="2600"/>
              <a:t> [</a:t>
            </a:r>
            <a:r>
              <a:rPr b="1" i="1" lang="en-US" sz="2600"/>
              <a:t>i</a:t>
            </a:r>
            <a:r>
              <a:rPr b="1" lang="en-US" sz="2600"/>
              <a:t>] == </a:t>
            </a:r>
            <a:r>
              <a:rPr b="1" i="1" lang="en-US" sz="2600"/>
              <a:t>true</a:t>
            </a:r>
            <a:r>
              <a:rPr b="1" lang="en-US" sz="2600"/>
              <a:t> </a:t>
            </a:r>
            <a:r>
              <a:rPr lang="en-US" sz="2600"/>
              <a:t>for all </a:t>
            </a:r>
            <a:r>
              <a:rPr b="1" i="1" lang="en-US" sz="2600"/>
              <a:t>i</a:t>
            </a:r>
            <a:r>
              <a:rPr lang="en-US" sz="2600"/>
              <a:t>, then the system is in a safe state</a:t>
            </a:r>
            <a:endParaRPr/>
          </a:p>
        </p:txBody>
      </p:sp>
      <p:sp>
        <p:nvSpPr>
          <p:cNvPr id="846" name="Google Shape;846;p70"/>
          <p:cNvSpPr/>
          <p:nvPr/>
        </p:nvSpPr>
        <p:spPr>
          <a:xfrm rot="-2209248">
            <a:off x="5752985" y="2589049"/>
            <a:ext cx="857689" cy="2594302"/>
          </a:xfrm>
          <a:prstGeom prst="curvedLeft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7" name="Google Shape;847;p70"/>
          <p:cNvSpPr/>
          <p:nvPr/>
        </p:nvSpPr>
        <p:spPr>
          <a:xfrm>
            <a:off x="3553691" y="3228109"/>
            <a:ext cx="5256276" cy="228600"/>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48" name="Google Shape;848;p7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849" name="Google Shape;849;p7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850" name="Google Shape;850;p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71"/>
          <p:cNvSpPr txBox="1"/>
          <p:nvPr>
            <p:ph type="title"/>
          </p:nvPr>
        </p:nvSpPr>
        <p:spPr>
          <a:xfrm>
            <a:off x="1022350" y="152400"/>
            <a:ext cx="7664450"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Example of Banker’s Algorithm</a:t>
            </a:r>
            <a:endParaRPr/>
          </a:p>
        </p:txBody>
      </p:sp>
      <p:sp>
        <p:nvSpPr>
          <p:cNvPr id="857" name="Google Shape;857;p71"/>
          <p:cNvSpPr txBox="1"/>
          <p:nvPr>
            <p:ph idx="1" type="body"/>
          </p:nvPr>
        </p:nvSpPr>
        <p:spPr>
          <a:xfrm>
            <a:off x="852488" y="1360488"/>
            <a:ext cx="7923212" cy="454025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70C0"/>
              </a:buClr>
              <a:buSzPts val="2000"/>
              <a:buChar char="•"/>
            </a:pPr>
            <a:r>
              <a:rPr lang="en-US" sz="2000">
                <a:solidFill>
                  <a:srgbClr val="0070C0"/>
                </a:solidFill>
              </a:rPr>
              <a:t>5 processes </a:t>
            </a:r>
            <a:r>
              <a:rPr i="1" lang="en-US" sz="2000">
                <a:solidFill>
                  <a:srgbClr val="0070C0"/>
                </a:solidFill>
              </a:rPr>
              <a:t>P</a:t>
            </a:r>
            <a:r>
              <a:rPr baseline="-25000" lang="en-US" sz="2000">
                <a:solidFill>
                  <a:srgbClr val="0070C0"/>
                </a:solidFill>
              </a:rPr>
              <a:t>0  </a:t>
            </a:r>
            <a:r>
              <a:rPr lang="en-US" sz="2000">
                <a:solidFill>
                  <a:srgbClr val="0070C0"/>
                </a:solidFill>
              </a:rPr>
              <a:t>through </a:t>
            </a:r>
            <a:r>
              <a:rPr i="1" lang="en-US" sz="2000">
                <a:solidFill>
                  <a:srgbClr val="0070C0"/>
                </a:solidFill>
              </a:rPr>
              <a:t>P</a:t>
            </a:r>
            <a:r>
              <a:rPr baseline="-25000" lang="en-US" sz="2000">
                <a:solidFill>
                  <a:srgbClr val="0070C0"/>
                </a:solidFill>
              </a:rPr>
              <a:t>4</a:t>
            </a:r>
            <a:r>
              <a:rPr lang="en-US" sz="2000">
                <a:solidFill>
                  <a:srgbClr val="0070C0"/>
                </a:solidFill>
              </a:rPr>
              <a:t>; </a:t>
            </a:r>
            <a:endParaRPr/>
          </a:p>
          <a:p>
            <a:pPr indent="-342900" lvl="0" marL="342900" rtl="0" algn="l">
              <a:spcBef>
                <a:spcPts val="400"/>
              </a:spcBef>
              <a:spcAft>
                <a:spcPts val="0"/>
              </a:spcAft>
              <a:buClr>
                <a:srgbClr val="0070C0"/>
              </a:buClr>
              <a:buSzPts val="2000"/>
              <a:buFont typeface="Arial"/>
              <a:buNone/>
            </a:pPr>
            <a:r>
              <a:rPr lang="en-US" sz="2000">
                <a:solidFill>
                  <a:srgbClr val="0070C0"/>
                </a:solidFill>
              </a:rPr>
              <a:t>      3 resource types:</a:t>
            </a:r>
            <a:endParaRPr/>
          </a:p>
          <a:p>
            <a:pPr indent="-342900" lvl="0" marL="342900" rtl="0" algn="l">
              <a:spcBef>
                <a:spcPts val="400"/>
              </a:spcBef>
              <a:spcAft>
                <a:spcPts val="0"/>
              </a:spcAft>
              <a:buClr>
                <a:srgbClr val="0070C0"/>
              </a:buClr>
              <a:buSzPts val="2000"/>
              <a:buFont typeface="Arial"/>
              <a:buNone/>
            </a:pPr>
            <a:r>
              <a:rPr lang="en-US" sz="2000">
                <a:solidFill>
                  <a:srgbClr val="0070C0"/>
                </a:solidFill>
              </a:rPr>
              <a:t>              </a:t>
            </a:r>
            <a:r>
              <a:rPr i="1" lang="en-US" sz="2000">
                <a:solidFill>
                  <a:srgbClr val="0070C0"/>
                </a:solidFill>
              </a:rPr>
              <a:t>A</a:t>
            </a:r>
            <a:r>
              <a:rPr lang="en-US" sz="2000">
                <a:solidFill>
                  <a:srgbClr val="0070C0"/>
                </a:solidFill>
              </a:rPr>
              <a:t> (10 instances),  </a:t>
            </a:r>
            <a:r>
              <a:rPr i="1" lang="en-US" sz="2000">
                <a:solidFill>
                  <a:srgbClr val="0070C0"/>
                </a:solidFill>
              </a:rPr>
              <a:t>B</a:t>
            </a:r>
            <a:r>
              <a:rPr lang="en-US" sz="2000">
                <a:solidFill>
                  <a:srgbClr val="0070C0"/>
                </a:solidFill>
              </a:rPr>
              <a:t> (5instances), and </a:t>
            </a:r>
            <a:r>
              <a:rPr i="1" lang="en-US" sz="2000">
                <a:solidFill>
                  <a:srgbClr val="0070C0"/>
                </a:solidFill>
              </a:rPr>
              <a:t>C</a:t>
            </a:r>
            <a:r>
              <a:rPr lang="en-US" sz="2000">
                <a:solidFill>
                  <a:srgbClr val="0070C0"/>
                </a:solidFill>
              </a:rPr>
              <a:t> (7 instances)</a:t>
            </a:r>
            <a:endParaRPr/>
          </a:p>
          <a:p>
            <a:pPr indent="-342900" lvl="0" marL="342900" rtl="0" algn="l">
              <a:spcBef>
                <a:spcPts val="400"/>
              </a:spcBef>
              <a:spcAft>
                <a:spcPts val="0"/>
              </a:spcAft>
              <a:buClr>
                <a:schemeClr val="dk1"/>
              </a:buClr>
              <a:buSzPts val="2000"/>
              <a:buChar char="•"/>
            </a:pPr>
            <a:r>
              <a:rPr lang="en-US" sz="2000"/>
              <a:t>Snapshot at time </a:t>
            </a:r>
            <a:r>
              <a:rPr i="1" lang="en-US" sz="2000"/>
              <a:t>T</a:t>
            </a:r>
            <a:r>
              <a:rPr baseline="-25000" lang="en-US" sz="2000"/>
              <a:t>0</a:t>
            </a:r>
            <a:r>
              <a:rPr lang="en-US" sz="2000"/>
              <a:t>:</a:t>
            </a:r>
            <a:endParaRPr/>
          </a:p>
          <a:p>
            <a:pPr indent="-342900" lvl="0" marL="342900" rtl="0" algn="l">
              <a:spcBef>
                <a:spcPts val="400"/>
              </a:spcBef>
              <a:spcAft>
                <a:spcPts val="0"/>
              </a:spcAft>
              <a:buClr>
                <a:schemeClr val="dk1"/>
              </a:buClr>
              <a:buSzPts val="2000"/>
              <a:buFont typeface="Arial"/>
              <a:buNone/>
            </a:pPr>
            <a:r>
              <a:rPr lang="en-US" sz="2000"/>
              <a:t>			</a:t>
            </a:r>
            <a:r>
              <a:rPr i="1" lang="en-US" sz="2000" u="sng"/>
              <a:t>Allocation</a:t>
            </a:r>
            <a:r>
              <a:rPr i="1" lang="en-US" sz="2000"/>
              <a:t>	  </a:t>
            </a:r>
            <a:r>
              <a:rPr i="1" lang="en-US" sz="2000" u="sng"/>
              <a:t>Max</a:t>
            </a:r>
            <a:r>
              <a:rPr i="1" lang="en-US" sz="2000"/>
              <a:t>	</a:t>
            </a:r>
            <a:r>
              <a:rPr i="1" lang="en-US" sz="2000" u="sng"/>
              <a:t>Available</a:t>
            </a:r>
            <a:endParaRPr i="1" sz="2000"/>
          </a:p>
          <a:p>
            <a:pPr indent="-342900" lvl="0" marL="342900" rtl="0" algn="l">
              <a:spcBef>
                <a:spcPts val="400"/>
              </a:spcBef>
              <a:spcAft>
                <a:spcPts val="0"/>
              </a:spcAft>
              <a:buClr>
                <a:schemeClr val="dk1"/>
              </a:buClr>
              <a:buSzPts val="2000"/>
              <a:buFont typeface="Arial"/>
              <a:buNone/>
            </a:pPr>
            <a:r>
              <a:rPr i="1" lang="en-US" sz="2000"/>
              <a:t>			A B C	       A B C 	A B C</a:t>
            </a:r>
            <a:endParaRPr/>
          </a:p>
          <a:p>
            <a:pPr indent="-342900" lvl="0" marL="342900" rtl="0" algn="l">
              <a:spcBef>
                <a:spcPts val="400"/>
              </a:spcBef>
              <a:spcAft>
                <a:spcPts val="0"/>
              </a:spcAft>
              <a:buClr>
                <a:schemeClr val="dk1"/>
              </a:buClr>
              <a:buSzPts val="2000"/>
              <a:buFont typeface="Arial"/>
              <a:buNone/>
            </a:pPr>
            <a:r>
              <a:rPr lang="en-US" sz="2000"/>
              <a:t>		</a:t>
            </a:r>
            <a:r>
              <a:rPr i="1" lang="en-US" sz="2000"/>
              <a:t>P</a:t>
            </a:r>
            <a:r>
              <a:rPr baseline="-25000" lang="en-US" sz="2000"/>
              <a:t>0	</a:t>
            </a:r>
            <a:r>
              <a:rPr lang="en-US" sz="2000"/>
              <a:t>0 1 0	         7 5 3 	3 3 2</a:t>
            </a:r>
            <a:endParaRPr/>
          </a:p>
          <a:p>
            <a:pPr indent="-342900" lvl="0" marL="342900" rtl="0" algn="l">
              <a:spcBef>
                <a:spcPts val="400"/>
              </a:spcBef>
              <a:spcAft>
                <a:spcPts val="0"/>
              </a:spcAft>
              <a:buClr>
                <a:schemeClr val="dk1"/>
              </a:buClr>
              <a:buSzPts val="2000"/>
              <a:buFont typeface="Arial"/>
              <a:buNone/>
            </a:pPr>
            <a:r>
              <a:rPr lang="en-US" sz="2000"/>
              <a:t>		 </a:t>
            </a:r>
            <a:r>
              <a:rPr i="1" lang="en-US" sz="2000"/>
              <a:t>P</a:t>
            </a:r>
            <a:r>
              <a:rPr baseline="-25000" lang="en-US" sz="2000"/>
              <a:t>1	</a:t>
            </a:r>
            <a:r>
              <a:rPr lang="en-US" sz="2000"/>
              <a:t>2 0 0 	        3 2 2  </a:t>
            </a:r>
            <a:endParaRPr/>
          </a:p>
          <a:p>
            <a:pPr indent="-342900" lvl="0" marL="342900" rtl="0" algn="l">
              <a:spcBef>
                <a:spcPts val="400"/>
              </a:spcBef>
              <a:spcAft>
                <a:spcPts val="0"/>
              </a:spcAft>
              <a:buClr>
                <a:schemeClr val="dk1"/>
              </a:buClr>
              <a:buSzPts val="2000"/>
              <a:buFont typeface="Arial"/>
              <a:buNone/>
            </a:pPr>
            <a:r>
              <a:rPr lang="en-US" sz="2000"/>
              <a:t>		 </a:t>
            </a:r>
            <a:r>
              <a:rPr i="1" lang="en-US" sz="2000"/>
              <a:t>P</a:t>
            </a:r>
            <a:r>
              <a:rPr baseline="-25000" lang="en-US" sz="2000"/>
              <a:t>2</a:t>
            </a:r>
            <a:r>
              <a:rPr lang="en-US" sz="2000"/>
              <a:t>	3 0 2 	        9 0 2</a:t>
            </a:r>
            <a:endParaRPr/>
          </a:p>
          <a:p>
            <a:pPr indent="-342900" lvl="0" marL="342900" rtl="0" algn="l">
              <a:spcBef>
                <a:spcPts val="400"/>
              </a:spcBef>
              <a:spcAft>
                <a:spcPts val="0"/>
              </a:spcAft>
              <a:buClr>
                <a:schemeClr val="dk1"/>
              </a:buClr>
              <a:buSzPts val="2000"/>
              <a:buFont typeface="Arial"/>
              <a:buNone/>
            </a:pPr>
            <a:r>
              <a:rPr lang="en-US" sz="2000"/>
              <a:t>		 </a:t>
            </a:r>
            <a:r>
              <a:rPr i="1" lang="en-US" sz="2000"/>
              <a:t>P</a:t>
            </a:r>
            <a:r>
              <a:rPr baseline="-25000" lang="en-US" sz="2000"/>
              <a:t>3</a:t>
            </a:r>
            <a:r>
              <a:rPr lang="en-US" sz="2000"/>
              <a:t>	2 1 1 	        2 2 2</a:t>
            </a:r>
            <a:endParaRPr/>
          </a:p>
          <a:p>
            <a:pPr indent="-342900" lvl="0" marL="342900" rtl="0" algn="l">
              <a:spcBef>
                <a:spcPts val="400"/>
              </a:spcBef>
              <a:spcAft>
                <a:spcPts val="0"/>
              </a:spcAft>
              <a:buClr>
                <a:schemeClr val="dk1"/>
              </a:buClr>
              <a:buSzPts val="2000"/>
              <a:buFont typeface="Arial"/>
              <a:buNone/>
            </a:pPr>
            <a:r>
              <a:rPr lang="en-US" sz="2000"/>
              <a:t>		 </a:t>
            </a:r>
            <a:r>
              <a:rPr i="1" lang="en-US" sz="2000"/>
              <a:t>P</a:t>
            </a:r>
            <a:r>
              <a:rPr baseline="-25000" lang="en-US" sz="2000"/>
              <a:t>4</a:t>
            </a:r>
            <a:r>
              <a:rPr lang="en-US" sz="2000"/>
              <a:t>	0 0 2	         4 3 3  		</a:t>
            </a:r>
            <a:endParaRPr/>
          </a:p>
        </p:txBody>
      </p:sp>
      <p:sp>
        <p:nvSpPr>
          <p:cNvPr id="858" name="Google Shape;858;p7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859" name="Google Shape;859;p7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860" name="Google Shape;860;p7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7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Example (Cont.)</a:t>
            </a:r>
            <a:endParaRPr/>
          </a:p>
        </p:txBody>
      </p:sp>
      <p:sp>
        <p:nvSpPr>
          <p:cNvPr id="867" name="Google Shape;867;p72"/>
          <p:cNvSpPr txBox="1"/>
          <p:nvPr>
            <p:ph idx="1" type="body"/>
          </p:nvPr>
        </p:nvSpPr>
        <p:spPr>
          <a:xfrm>
            <a:off x="931863" y="1136650"/>
            <a:ext cx="7724775" cy="46402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The content of the matrix </a:t>
            </a:r>
            <a:r>
              <a:rPr b="1" i="1" lang="en-US" sz="2000"/>
              <a:t>Need</a:t>
            </a:r>
            <a:r>
              <a:rPr lang="en-US" sz="2000"/>
              <a:t> is defined to be </a:t>
            </a:r>
            <a:r>
              <a:rPr b="1" i="1" lang="en-US" sz="2000"/>
              <a:t>Max</a:t>
            </a:r>
            <a:r>
              <a:rPr b="1" lang="en-US" sz="2000"/>
              <a:t> – </a:t>
            </a:r>
            <a:r>
              <a:rPr b="1" i="1" lang="en-US" sz="2000"/>
              <a:t>Allocation</a:t>
            </a:r>
            <a:endParaRPr b="1" sz="2000"/>
          </a:p>
          <a:p>
            <a:pPr indent="-342900" lvl="0" marL="342900" rtl="0" algn="l">
              <a:spcBef>
                <a:spcPts val="400"/>
              </a:spcBef>
              <a:spcAft>
                <a:spcPts val="0"/>
              </a:spcAft>
              <a:buClr>
                <a:schemeClr val="dk1"/>
              </a:buClr>
              <a:buSzPts val="2000"/>
              <a:buFont typeface="Arial"/>
              <a:buNone/>
            </a:pPr>
            <a:r>
              <a:t/>
            </a:r>
            <a:endParaRPr sz="2000"/>
          </a:p>
          <a:p>
            <a:pPr indent="-342900" lvl="0" marL="342900" rtl="0" algn="l">
              <a:spcBef>
                <a:spcPts val="400"/>
              </a:spcBef>
              <a:spcAft>
                <a:spcPts val="0"/>
              </a:spcAft>
              <a:buClr>
                <a:schemeClr val="dk1"/>
              </a:buClr>
              <a:buSzPts val="2000"/>
              <a:buFont typeface="Arial"/>
              <a:buNone/>
            </a:pPr>
            <a:r>
              <a:rPr lang="en-US" sz="2000"/>
              <a:t>			</a:t>
            </a:r>
            <a:r>
              <a:rPr i="1" lang="en-US" sz="2000" u="sng"/>
              <a:t>Need</a:t>
            </a:r>
            <a:endParaRPr sz="2000" u="sng"/>
          </a:p>
          <a:p>
            <a:pPr indent="-342900" lvl="0" marL="342900" rtl="0" algn="l">
              <a:spcBef>
                <a:spcPts val="400"/>
              </a:spcBef>
              <a:spcAft>
                <a:spcPts val="0"/>
              </a:spcAft>
              <a:buClr>
                <a:schemeClr val="dk1"/>
              </a:buClr>
              <a:buSzPts val="2000"/>
              <a:buFont typeface="Arial"/>
              <a:buNone/>
            </a:pPr>
            <a:r>
              <a:rPr lang="en-US" sz="2000"/>
              <a:t>			</a:t>
            </a:r>
            <a:r>
              <a:rPr i="1" lang="en-US" sz="2000"/>
              <a:t>A B C</a:t>
            </a:r>
            <a:endParaRPr/>
          </a:p>
          <a:p>
            <a:pPr indent="-342900" lvl="0" marL="342900" rtl="0" algn="l">
              <a:spcBef>
                <a:spcPts val="400"/>
              </a:spcBef>
              <a:spcAft>
                <a:spcPts val="0"/>
              </a:spcAft>
              <a:buClr>
                <a:schemeClr val="dk1"/>
              </a:buClr>
              <a:buSzPts val="2000"/>
              <a:buFont typeface="Arial"/>
              <a:buNone/>
            </a:pPr>
            <a:r>
              <a:rPr lang="en-US" sz="2000"/>
              <a:t>		 </a:t>
            </a:r>
            <a:r>
              <a:rPr i="1" lang="en-US" sz="2000"/>
              <a:t>P</a:t>
            </a:r>
            <a:r>
              <a:rPr baseline="-25000" lang="en-US" sz="2000"/>
              <a:t>0	</a:t>
            </a:r>
            <a:r>
              <a:rPr lang="en-US" sz="2000"/>
              <a:t>7 4 3 </a:t>
            </a:r>
            <a:endParaRPr/>
          </a:p>
          <a:p>
            <a:pPr indent="-342900" lvl="0" marL="342900" rtl="0" algn="l">
              <a:spcBef>
                <a:spcPts val="400"/>
              </a:spcBef>
              <a:spcAft>
                <a:spcPts val="0"/>
              </a:spcAft>
              <a:buClr>
                <a:schemeClr val="dk1"/>
              </a:buClr>
              <a:buSzPts val="2000"/>
              <a:buFont typeface="Arial"/>
              <a:buNone/>
            </a:pPr>
            <a:r>
              <a:rPr lang="en-US" sz="2000"/>
              <a:t>		 </a:t>
            </a:r>
            <a:r>
              <a:rPr i="1" lang="en-US" sz="2000"/>
              <a:t>P</a:t>
            </a:r>
            <a:r>
              <a:rPr baseline="-25000" lang="en-US" sz="2000"/>
              <a:t>1	</a:t>
            </a:r>
            <a:r>
              <a:rPr lang="en-US" sz="2000"/>
              <a:t>1 2 2 </a:t>
            </a:r>
            <a:endParaRPr/>
          </a:p>
          <a:p>
            <a:pPr indent="-342900" lvl="0" marL="342900" rtl="0" algn="l">
              <a:spcBef>
                <a:spcPts val="400"/>
              </a:spcBef>
              <a:spcAft>
                <a:spcPts val="0"/>
              </a:spcAft>
              <a:buClr>
                <a:schemeClr val="dk1"/>
              </a:buClr>
              <a:buSzPts val="2000"/>
              <a:buFont typeface="Arial"/>
              <a:buNone/>
            </a:pPr>
            <a:r>
              <a:rPr lang="en-US" sz="2000"/>
              <a:t>		 </a:t>
            </a:r>
            <a:r>
              <a:rPr i="1" lang="en-US" sz="2000"/>
              <a:t>P</a:t>
            </a:r>
            <a:r>
              <a:rPr baseline="-25000" lang="en-US" sz="2000"/>
              <a:t>2</a:t>
            </a:r>
            <a:r>
              <a:rPr lang="en-US" sz="2000"/>
              <a:t>	6 0 0 </a:t>
            </a:r>
            <a:endParaRPr/>
          </a:p>
          <a:p>
            <a:pPr indent="-342900" lvl="0" marL="342900" rtl="0" algn="l">
              <a:spcBef>
                <a:spcPts val="400"/>
              </a:spcBef>
              <a:spcAft>
                <a:spcPts val="0"/>
              </a:spcAft>
              <a:buClr>
                <a:schemeClr val="dk1"/>
              </a:buClr>
              <a:buSzPts val="2000"/>
              <a:buFont typeface="Arial"/>
              <a:buNone/>
            </a:pPr>
            <a:r>
              <a:rPr lang="en-US" sz="2000"/>
              <a:t>		 </a:t>
            </a:r>
            <a:r>
              <a:rPr i="1" lang="en-US" sz="2000"/>
              <a:t>P</a:t>
            </a:r>
            <a:r>
              <a:rPr baseline="-25000" lang="en-US" sz="2000"/>
              <a:t>3</a:t>
            </a:r>
            <a:r>
              <a:rPr lang="en-US" sz="2000"/>
              <a:t>	0 1 1</a:t>
            </a:r>
            <a:endParaRPr/>
          </a:p>
          <a:p>
            <a:pPr indent="-342900" lvl="0" marL="342900" rtl="0" algn="l">
              <a:spcBef>
                <a:spcPts val="400"/>
              </a:spcBef>
              <a:spcAft>
                <a:spcPts val="0"/>
              </a:spcAft>
              <a:buClr>
                <a:schemeClr val="dk1"/>
              </a:buClr>
              <a:buSzPts val="2000"/>
              <a:buFont typeface="Arial"/>
              <a:buNone/>
            </a:pPr>
            <a:r>
              <a:rPr lang="en-US" sz="2000"/>
              <a:t>		 </a:t>
            </a:r>
            <a:r>
              <a:rPr i="1" lang="en-US" sz="2000"/>
              <a:t>P</a:t>
            </a:r>
            <a:r>
              <a:rPr baseline="-25000" lang="en-US" sz="2000"/>
              <a:t>4</a:t>
            </a:r>
            <a:r>
              <a:rPr lang="en-US" sz="2000"/>
              <a:t>	4 3 1 </a:t>
            </a:r>
            <a:br>
              <a:rPr lang="en-US" sz="2000"/>
            </a:br>
            <a:endParaRPr sz="2000"/>
          </a:p>
          <a:p>
            <a:pPr indent="-342900" lvl="0" marL="342900" rtl="0" algn="l">
              <a:spcBef>
                <a:spcPts val="400"/>
              </a:spcBef>
              <a:spcAft>
                <a:spcPts val="0"/>
              </a:spcAft>
              <a:buClr>
                <a:schemeClr val="dk1"/>
              </a:buClr>
              <a:buSzPts val="2000"/>
              <a:buChar char="•"/>
            </a:pPr>
            <a:r>
              <a:rPr lang="en-US" sz="2000"/>
              <a:t>The system is in a safe state since the sequence &lt; </a:t>
            </a:r>
            <a:r>
              <a:rPr i="1" lang="en-US" sz="2000"/>
              <a:t>P</a:t>
            </a:r>
            <a:r>
              <a:rPr baseline="-25000" lang="en-US" sz="2000"/>
              <a:t>1</a:t>
            </a:r>
            <a:r>
              <a:rPr lang="en-US" sz="2000"/>
              <a:t>, </a:t>
            </a:r>
            <a:r>
              <a:rPr i="1" lang="en-US" sz="2000"/>
              <a:t>P</a:t>
            </a:r>
            <a:r>
              <a:rPr baseline="-25000" lang="en-US" sz="2000"/>
              <a:t>3</a:t>
            </a:r>
            <a:r>
              <a:rPr lang="en-US" sz="2000"/>
              <a:t>, </a:t>
            </a:r>
            <a:r>
              <a:rPr i="1" lang="en-US" sz="2000"/>
              <a:t>P</a:t>
            </a:r>
            <a:r>
              <a:rPr baseline="-25000" lang="en-US" sz="2000"/>
              <a:t>4</a:t>
            </a:r>
            <a:r>
              <a:rPr lang="en-US" sz="2000"/>
              <a:t>, </a:t>
            </a:r>
            <a:r>
              <a:rPr i="1" lang="en-US" sz="2000"/>
              <a:t>P</a:t>
            </a:r>
            <a:r>
              <a:rPr baseline="-25000" lang="en-US" sz="2000"/>
              <a:t>2</a:t>
            </a:r>
            <a:r>
              <a:rPr lang="en-US" sz="2000"/>
              <a:t>, </a:t>
            </a:r>
            <a:r>
              <a:rPr i="1" lang="en-US" sz="2000"/>
              <a:t>P</a:t>
            </a:r>
            <a:r>
              <a:rPr baseline="-25000" lang="en-US" sz="2000"/>
              <a:t>0</a:t>
            </a:r>
            <a:r>
              <a:rPr lang="en-US" sz="2000"/>
              <a:t>&gt; satisfies safety criteria</a:t>
            </a:r>
            <a:endParaRPr baseline="-25000" sz="2000"/>
          </a:p>
        </p:txBody>
      </p:sp>
      <p:pic>
        <p:nvPicPr>
          <p:cNvPr id="868" name="Google Shape;868;p72"/>
          <p:cNvPicPr preferRelativeResize="0"/>
          <p:nvPr/>
        </p:nvPicPr>
        <p:blipFill rotWithShape="1">
          <a:blip r:embed="rId3">
            <a:alphaModFix/>
          </a:blip>
          <a:srcRect b="0" l="0" r="0" t="0"/>
          <a:stretch/>
        </p:blipFill>
        <p:spPr>
          <a:xfrm>
            <a:off x="5486401" y="1752600"/>
            <a:ext cx="3048000" cy="685800"/>
          </a:xfrm>
          <a:prstGeom prst="rect">
            <a:avLst/>
          </a:prstGeom>
          <a:noFill/>
          <a:ln>
            <a:noFill/>
          </a:ln>
        </p:spPr>
      </p:pic>
      <p:sp>
        <p:nvSpPr>
          <p:cNvPr id="869" name="Google Shape;869;p7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870" name="Google Shape;870;p7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871" name="Google Shape;871;p7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73"/>
          <p:cNvSpPr txBox="1"/>
          <p:nvPr>
            <p:ph type="title"/>
          </p:nvPr>
        </p:nvSpPr>
        <p:spPr>
          <a:xfrm>
            <a:off x="457200" y="274638"/>
            <a:ext cx="8229600" cy="3349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US" sz="2800"/>
              <a:t>Applying the Safety algorithm on the given system,</a:t>
            </a:r>
            <a:endParaRPr/>
          </a:p>
        </p:txBody>
      </p:sp>
      <p:pic>
        <p:nvPicPr>
          <p:cNvPr id="877" name="Google Shape;877;p73"/>
          <p:cNvPicPr preferRelativeResize="0"/>
          <p:nvPr>
            <p:ph idx="1" type="body"/>
          </p:nvPr>
        </p:nvPicPr>
        <p:blipFill rotWithShape="1">
          <a:blip r:embed="rId3">
            <a:alphaModFix/>
          </a:blip>
          <a:srcRect b="73325" l="0" r="66970" t="0"/>
          <a:stretch/>
        </p:blipFill>
        <p:spPr>
          <a:xfrm>
            <a:off x="0" y="1571409"/>
            <a:ext cx="4243243" cy="2667000"/>
          </a:xfrm>
          <a:prstGeom prst="rect">
            <a:avLst/>
          </a:prstGeom>
          <a:noFill/>
          <a:ln>
            <a:noFill/>
          </a:ln>
        </p:spPr>
      </p:pic>
      <p:sp>
        <p:nvSpPr>
          <p:cNvPr id="878" name="Google Shape;878;p73"/>
          <p:cNvSpPr txBox="1"/>
          <p:nvPr/>
        </p:nvSpPr>
        <p:spPr>
          <a:xfrm>
            <a:off x="4079008" y="2417618"/>
            <a:ext cx="5064991" cy="1828800"/>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3200"/>
              <a:buFont typeface="Arial"/>
              <a:buNone/>
            </a:pPr>
            <a:r>
              <a:rPr b="0" i="0" lang="en-US" sz="3200" u="none" cap="none" strike="noStrike">
                <a:solidFill>
                  <a:schemeClr val="dk1"/>
                </a:solidFill>
                <a:latin typeface="Calibri"/>
                <a:ea typeface="Calibri"/>
                <a:cs typeface="Calibri"/>
                <a:sym typeface="Calibri"/>
              </a:rPr>
              <a:t>1.	</a:t>
            </a:r>
            <a:r>
              <a:rPr b="0" i="0" lang="en-US" sz="2000" u="none" cap="none" strike="noStrike">
                <a:solidFill>
                  <a:schemeClr val="dk1"/>
                </a:solidFill>
                <a:latin typeface="Calibri"/>
                <a:ea typeface="Calibri"/>
                <a:cs typeface="Calibri"/>
                <a:sym typeface="Calibri"/>
              </a:rPr>
              <a:t>Let </a:t>
            </a:r>
            <a:r>
              <a:rPr b="1" i="1" lang="en-US" sz="2000" u="none" cap="none" strike="noStrike">
                <a:solidFill>
                  <a:srgbClr val="000000"/>
                </a:solidFill>
                <a:latin typeface="Calibri"/>
                <a:ea typeface="Calibri"/>
                <a:cs typeface="Calibri"/>
                <a:sym typeface="Calibri"/>
              </a:rPr>
              <a:t>Work</a:t>
            </a:r>
            <a:r>
              <a:rPr b="0" i="1" lang="en-US" sz="2000" u="none" cap="none" strike="noStrike">
                <a:solidFill>
                  <a:srgbClr val="000000"/>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and </a:t>
            </a:r>
            <a:r>
              <a:rPr b="1" i="1" lang="en-US" sz="2000" u="none" cap="none" strike="noStrike">
                <a:solidFill>
                  <a:srgbClr val="000000"/>
                </a:solidFill>
                <a:latin typeface="Calibri"/>
                <a:ea typeface="Calibri"/>
                <a:cs typeface="Calibri"/>
                <a:sym typeface="Calibri"/>
              </a:rPr>
              <a:t>Finish</a:t>
            </a:r>
            <a:r>
              <a:rPr b="0" i="0" lang="en-US" sz="2000" u="none" cap="none" strike="noStrike">
                <a:solidFill>
                  <a:srgbClr val="000000"/>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be vectors of length</a:t>
            </a:r>
            <a:r>
              <a:rPr b="0" i="1" lang="en-US" sz="2000" u="none" cap="none" strike="noStrike">
                <a:solidFill>
                  <a:schemeClr val="dk1"/>
                </a:solidFill>
                <a:latin typeface="Calibri"/>
                <a:ea typeface="Calibri"/>
                <a:cs typeface="Calibri"/>
                <a:sym typeface="Calibri"/>
              </a:rPr>
              <a:t> m</a:t>
            </a:r>
            <a:r>
              <a:rPr b="0" i="0" lang="en-US" sz="2000" u="none" cap="none" strike="noStrike">
                <a:solidFill>
                  <a:schemeClr val="dk1"/>
                </a:solidFill>
                <a:latin typeface="Calibri"/>
                <a:ea typeface="Calibri"/>
                <a:cs typeface="Calibri"/>
                <a:sym typeface="Calibri"/>
              </a:rPr>
              <a:t> and</a:t>
            </a:r>
            <a:r>
              <a:rPr b="0" i="1" lang="en-US" sz="2000" u="none" cap="none" strike="noStrike">
                <a:solidFill>
                  <a:schemeClr val="dk1"/>
                </a:solidFill>
                <a:latin typeface="Calibri"/>
                <a:ea typeface="Calibri"/>
                <a:cs typeface="Calibri"/>
                <a:sym typeface="Calibri"/>
              </a:rPr>
              <a:t> n</a:t>
            </a:r>
            <a:r>
              <a:rPr b="0" i="0" lang="en-US" sz="2000" u="none" cap="none" strike="noStrike">
                <a:solidFill>
                  <a:schemeClr val="dk1"/>
                </a:solidFill>
                <a:latin typeface="Calibri"/>
                <a:ea typeface="Calibri"/>
                <a:cs typeface="Calibri"/>
                <a:sym typeface="Calibri"/>
              </a:rPr>
              <a:t>, respectively.  Initialize:</a:t>
            </a:r>
            <a:endParaRPr/>
          </a:p>
          <a:p>
            <a:pPr indent="-342900" lvl="3" marL="1543050" marR="0" rtl="0" algn="l">
              <a:lnSpc>
                <a:spcPct val="90000"/>
              </a:lnSpc>
              <a:spcBef>
                <a:spcPts val="400"/>
              </a:spcBef>
              <a:spcAft>
                <a:spcPts val="0"/>
              </a:spcAft>
              <a:buClr>
                <a:schemeClr val="dk1"/>
              </a:buClr>
              <a:buSzPts val="2000"/>
              <a:buFont typeface="Arial"/>
              <a:buNone/>
            </a:pPr>
            <a:r>
              <a:rPr b="1" i="1" lang="en-US" sz="2000" u="none" cap="none" strike="noStrike">
                <a:solidFill>
                  <a:schemeClr val="dk1"/>
                </a:solidFill>
                <a:latin typeface="Calibri"/>
                <a:ea typeface="Calibri"/>
                <a:cs typeface="Calibri"/>
                <a:sym typeface="Calibri"/>
              </a:rPr>
              <a:t>Work </a:t>
            </a:r>
            <a:r>
              <a:rPr b="1" i="0" lang="en-US" sz="2000" u="none" cap="none" strike="noStrike">
                <a:solidFill>
                  <a:schemeClr val="dk1"/>
                </a:solidFill>
                <a:latin typeface="Calibri"/>
                <a:ea typeface="Calibri"/>
                <a:cs typeface="Calibri"/>
                <a:sym typeface="Calibri"/>
              </a:rPr>
              <a:t>= </a:t>
            </a:r>
            <a:r>
              <a:rPr b="1" i="1" lang="en-US" sz="2000" u="none" cap="none" strike="noStrike">
                <a:solidFill>
                  <a:schemeClr val="dk1"/>
                </a:solidFill>
                <a:latin typeface="Calibri"/>
                <a:ea typeface="Calibri"/>
                <a:cs typeface="Calibri"/>
                <a:sym typeface="Calibri"/>
              </a:rPr>
              <a:t>Available</a:t>
            </a:r>
            <a:endParaRPr/>
          </a:p>
          <a:p>
            <a:pPr indent="-342900" lvl="3" marL="1543050" marR="0" rtl="0" algn="l">
              <a:lnSpc>
                <a:spcPct val="90000"/>
              </a:lnSpc>
              <a:spcBef>
                <a:spcPts val="400"/>
              </a:spcBef>
              <a:spcAft>
                <a:spcPts val="0"/>
              </a:spcAft>
              <a:buClr>
                <a:schemeClr val="dk1"/>
              </a:buClr>
              <a:buSzPts val="2000"/>
              <a:buFont typeface="Arial"/>
              <a:buNone/>
            </a:pPr>
            <a:r>
              <a:rPr b="1" i="1" lang="en-US" sz="2000" u="none" cap="none" strike="noStrike">
                <a:solidFill>
                  <a:schemeClr val="dk1"/>
                </a:solidFill>
                <a:latin typeface="Calibri"/>
                <a:ea typeface="Calibri"/>
                <a:cs typeface="Calibri"/>
                <a:sym typeface="Calibri"/>
              </a:rPr>
              <a:t>Finish </a:t>
            </a:r>
            <a:r>
              <a:rPr b="1" i="0" lang="en-US" sz="2000" u="none" cap="none" strike="noStrike">
                <a:solidFill>
                  <a:schemeClr val="dk1"/>
                </a:solidFill>
                <a:latin typeface="Calibri"/>
                <a:ea typeface="Calibri"/>
                <a:cs typeface="Calibri"/>
                <a:sym typeface="Calibri"/>
              </a:rPr>
              <a:t>[</a:t>
            </a:r>
            <a:r>
              <a:rPr b="1" i="1" lang="en-US" sz="2000" u="none" cap="none" strike="noStrike">
                <a:solidFill>
                  <a:schemeClr val="dk1"/>
                </a:solidFill>
                <a:latin typeface="Calibri"/>
                <a:ea typeface="Calibri"/>
                <a:cs typeface="Calibri"/>
                <a:sym typeface="Calibri"/>
              </a:rPr>
              <a:t>i</a:t>
            </a:r>
            <a:r>
              <a:rPr b="1" i="0" lang="en-US" sz="2000" u="none" cap="none" strike="noStrike">
                <a:solidFill>
                  <a:schemeClr val="dk1"/>
                </a:solidFill>
                <a:latin typeface="Calibri"/>
                <a:ea typeface="Calibri"/>
                <a:cs typeface="Calibri"/>
                <a:sym typeface="Calibri"/>
              </a:rPr>
              <a:t>] =</a:t>
            </a:r>
            <a:r>
              <a:rPr b="1" i="1" lang="en-US" sz="2000" u="none" cap="none" strike="noStrike">
                <a:solidFill>
                  <a:schemeClr val="dk1"/>
                </a:solidFill>
                <a:latin typeface="Calibri"/>
                <a:ea typeface="Calibri"/>
                <a:cs typeface="Calibri"/>
                <a:sym typeface="Calibri"/>
              </a:rPr>
              <a:t> false </a:t>
            </a:r>
            <a:r>
              <a:rPr b="1" i="0" lang="en-US" sz="2000" u="none" cap="none" strike="noStrike">
                <a:solidFill>
                  <a:schemeClr val="dk1"/>
                </a:solidFill>
                <a:latin typeface="Calibri"/>
                <a:ea typeface="Calibri"/>
                <a:cs typeface="Calibri"/>
                <a:sym typeface="Calibri"/>
              </a:rPr>
              <a:t>for</a:t>
            </a:r>
            <a:r>
              <a:rPr b="1" i="1" lang="en-US" sz="2000" u="none" cap="none" strike="noStrike">
                <a:solidFill>
                  <a:schemeClr val="dk1"/>
                </a:solidFill>
                <a:latin typeface="Calibri"/>
                <a:ea typeface="Calibri"/>
                <a:cs typeface="Calibri"/>
                <a:sym typeface="Calibri"/>
              </a:rPr>
              <a:t> i</a:t>
            </a:r>
            <a:r>
              <a:rPr b="1" i="0" lang="en-US" sz="2000" u="none" cap="none" strike="noStrike">
                <a:solidFill>
                  <a:schemeClr val="dk1"/>
                </a:solidFill>
                <a:latin typeface="Calibri"/>
                <a:ea typeface="Calibri"/>
                <a:cs typeface="Calibri"/>
                <a:sym typeface="Calibri"/>
              </a:rPr>
              <a:t> = 0, 1, …, </a:t>
            </a:r>
            <a:r>
              <a:rPr b="1" i="1" lang="en-US" sz="2000" u="none" cap="none" strike="noStrike">
                <a:solidFill>
                  <a:schemeClr val="dk1"/>
                </a:solidFill>
                <a:latin typeface="Calibri"/>
                <a:ea typeface="Calibri"/>
                <a:cs typeface="Calibri"/>
                <a:sym typeface="Calibri"/>
              </a:rPr>
              <a:t>n- </a:t>
            </a:r>
            <a:r>
              <a:rPr b="1" i="0" lang="en-US" sz="2000" u="none" cap="none" strike="noStrike">
                <a:solidFill>
                  <a:schemeClr val="dk1"/>
                </a:solidFill>
                <a:latin typeface="Calibri"/>
                <a:ea typeface="Calibri"/>
                <a:cs typeface="Calibri"/>
                <a:sym typeface="Calibri"/>
              </a:rPr>
              <a:t>1</a:t>
            </a:r>
            <a:endParaRPr/>
          </a:p>
          <a:p>
            <a:pPr indent="-342900" lvl="3" marL="1543050" marR="0" rtl="0" algn="l">
              <a:lnSpc>
                <a:spcPct val="90000"/>
              </a:lnSpc>
              <a:spcBef>
                <a:spcPts val="60"/>
              </a:spcBef>
              <a:spcAft>
                <a:spcPts val="0"/>
              </a:spcAft>
              <a:buClr>
                <a:schemeClr val="dk1"/>
              </a:buClr>
              <a:buSzPts val="300"/>
              <a:buFont typeface="Arial"/>
              <a:buNone/>
            </a:pPr>
            <a:r>
              <a:t/>
            </a:r>
            <a:endParaRPr b="0" i="0" sz="300" u="none" cap="none" strike="noStrike">
              <a:solidFill>
                <a:schemeClr val="dk1"/>
              </a:solidFill>
              <a:latin typeface="Calibri"/>
              <a:ea typeface="Calibri"/>
              <a:cs typeface="Calibri"/>
              <a:sym typeface="Calibri"/>
            </a:endParaRPr>
          </a:p>
          <a:p>
            <a:pPr indent="-342900" lvl="0" marL="342900" marR="0" rtl="0" algn="l">
              <a:lnSpc>
                <a:spcPct val="90000"/>
              </a:lnSpc>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pic>
        <p:nvPicPr>
          <p:cNvPr id="879" name="Google Shape;879;p73"/>
          <p:cNvPicPr preferRelativeResize="0"/>
          <p:nvPr/>
        </p:nvPicPr>
        <p:blipFill rotWithShape="1">
          <a:blip r:embed="rId4">
            <a:alphaModFix/>
          </a:blip>
          <a:srcRect b="0" l="0" r="0" t="0"/>
          <a:stretch/>
        </p:blipFill>
        <p:spPr>
          <a:xfrm>
            <a:off x="4114800" y="4246418"/>
            <a:ext cx="3305175" cy="2373457"/>
          </a:xfrm>
          <a:prstGeom prst="rect">
            <a:avLst/>
          </a:prstGeom>
          <a:noFill/>
          <a:ln>
            <a:noFill/>
          </a:ln>
        </p:spPr>
      </p:pic>
      <p:pic>
        <p:nvPicPr>
          <p:cNvPr id="880" name="Google Shape;880;p73"/>
          <p:cNvPicPr preferRelativeResize="0"/>
          <p:nvPr/>
        </p:nvPicPr>
        <p:blipFill rotWithShape="1">
          <a:blip r:embed="rId5">
            <a:alphaModFix/>
          </a:blip>
          <a:srcRect b="0" l="0" r="0" t="0"/>
          <a:stretch/>
        </p:blipFill>
        <p:spPr>
          <a:xfrm>
            <a:off x="7399193" y="4246418"/>
            <a:ext cx="1619250" cy="2373457"/>
          </a:xfrm>
          <a:prstGeom prst="rect">
            <a:avLst/>
          </a:prstGeom>
          <a:noFill/>
          <a:ln>
            <a:noFill/>
          </a:ln>
        </p:spPr>
      </p:pic>
      <p:sp>
        <p:nvSpPr>
          <p:cNvPr id="881" name="Google Shape;881;p73"/>
          <p:cNvSpPr txBox="1"/>
          <p:nvPr/>
        </p:nvSpPr>
        <p:spPr>
          <a:xfrm>
            <a:off x="4277879" y="1675656"/>
            <a:ext cx="3294492" cy="707886"/>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1" lang="en-US" sz="1600" u="none" cap="none" strike="noStrike">
                <a:solidFill>
                  <a:srgbClr val="00B0F0"/>
                </a:solidFill>
                <a:latin typeface="Helvetica Neue"/>
                <a:ea typeface="Helvetica Neue"/>
                <a:cs typeface="Helvetica Neue"/>
                <a:sym typeface="Helvetica Neue"/>
              </a:rPr>
              <a:t>n</a:t>
            </a:r>
            <a:r>
              <a:rPr b="1" i="0" lang="en-US" sz="1600" u="none" cap="none" strike="noStrike">
                <a:solidFill>
                  <a:srgbClr val="00B0F0"/>
                </a:solidFill>
                <a:latin typeface="Helvetica Neue"/>
                <a:ea typeface="Helvetica Neue"/>
                <a:cs typeface="Helvetica Neue"/>
                <a:sym typeface="Helvetica Neue"/>
              </a:rPr>
              <a:t> = number of processes</a:t>
            </a:r>
            <a:endParaRPr/>
          </a:p>
          <a:p>
            <a:pPr indent="0" lvl="0" marL="0" marR="0" rtl="0" algn="l">
              <a:spcBef>
                <a:spcPts val="800"/>
              </a:spcBef>
              <a:spcAft>
                <a:spcPts val="0"/>
              </a:spcAft>
              <a:buNone/>
            </a:pPr>
            <a:r>
              <a:rPr b="1" i="1" lang="en-US" sz="1600" u="none" cap="none" strike="noStrike">
                <a:solidFill>
                  <a:srgbClr val="00B0F0"/>
                </a:solidFill>
                <a:latin typeface="Helvetica Neue"/>
                <a:ea typeface="Helvetica Neue"/>
                <a:cs typeface="Helvetica Neue"/>
                <a:sym typeface="Helvetica Neue"/>
              </a:rPr>
              <a:t>m </a:t>
            </a:r>
            <a:r>
              <a:rPr b="1" i="0" lang="en-US" sz="1600" u="none" cap="none" strike="noStrike">
                <a:solidFill>
                  <a:srgbClr val="00B0F0"/>
                </a:solidFill>
                <a:latin typeface="Helvetica Neue"/>
                <a:ea typeface="Helvetica Neue"/>
                <a:cs typeface="Helvetica Neue"/>
                <a:sym typeface="Helvetica Neue"/>
              </a:rPr>
              <a:t>= number of resources types </a:t>
            </a:r>
            <a:endParaRPr b="1" i="0" sz="1600" u="none" cap="none" strike="noStrike">
              <a:solidFill>
                <a:srgbClr val="00B0F0"/>
              </a:solidFill>
              <a:latin typeface="Helvetica Neue"/>
              <a:ea typeface="Helvetica Neue"/>
              <a:cs typeface="Helvetica Neue"/>
              <a:sym typeface="Helvetica Neue"/>
            </a:endParaRPr>
          </a:p>
        </p:txBody>
      </p:sp>
      <p:sp>
        <p:nvSpPr>
          <p:cNvPr id="882" name="Google Shape;882;p7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883" name="Google Shape;883;p7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884" name="Google Shape;884;p7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74"/>
          <p:cNvSpPr txBox="1"/>
          <p:nvPr>
            <p:ph type="title"/>
          </p:nvPr>
        </p:nvSpPr>
        <p:spPr>
          <a:xfrm>
            <a:off x="457200" y="274638"/>
            <a:ext cx="8229600" cy="3349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US" sz="2800"/>
              <a:t>Applying the Safety algorithm on the given system,</a:t>
            </a:r>
            <a:endParaRPr/>
          </a:p>
        </p:txBody>
      </p:sp>
      <p:pic>
        <p:nvPicPr>
          <p:cNvPr id="890" name="Google Shape;890;p74"/>
          <p:cNvPicPr preferRelativeResize="0"/>
          <p:nvPr>
            <p:ph idx="1" type="body"/>
          </p:nvPr>
        </p:nvPicPr>
        <p:blipFill rotWithShape="1">
          <a:blip r:embed="rId3">
            <a:alphaModFix/>
          </a:blip>
          <a:srcRect b="0" l="0" r="66970" t="0"/>
          <a:stretch/>
        </p:blipFill>
        <p:spPr>
          <a:xfrm>
            <a:off x="-1" y="838200"/>
            <a:ext cx="4243243" cy="5791200"/>
          </a:xfrm>
          <a:prstGeom prst="rect">
            <a:avLst/>
          </a:prstGeom>
          <a:noFill/>
          <a:ln>
            <a:noFill/>
          </a:ln>
        </p:spPr>
      </p:pic>
      <p:sp>
        <p:nvSpPr>
          <p:cNvPr id="891" name="Google Shape;891;p74"/>
          <p:cNvSpPr txBox="1"/>
          <p:nvPr/>
        </p:nvSpPr>
        <p:spPr>
          <a:xfrm>
            <a:off x="4243243" y="1150361"/>
            <a:ext cx="4775200" cy="4943475"/>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3200"/>
              <a:buFont typeface="Arial"/>
              <a:buNone/>
            </a:pPr>
            <a:r>
              <a:rPr b="0" i="0" lang="en-US" sz="3200" u="none" cap="none" strike="noStrike">
                <a:solidFill>
                  <a:schemeClr val="dk1"/>
                </a:solidFill>
                <a:latin typeface="Calibri"/>
                <a:ea typeface="Calibri"/>
                <a:cs typeface="Calibri"/>
                <a:sym typeface="Calibri"/>
              </a:rPr>
              <a:t>1.	</a:t>
            </a:r>
            <a:r>
              <a:rPr b="0" i="0" lang="en-US" sz="2000" u="none" cap="none" strike="noStrike">
                <a:solidFill>
                  <a:schemeClr val="dk1"/>
                </a:solidFill>
                <a:latin typeface="Calibri"/>
                <a:ea typeface="Calibri"/>
                <a:cs typeface="Calibri"/>
                <a:sym typeface="Calibri"/>
              </a:rPr>
              <a:t>Let </a:t>
            </a:r>
            <a:r>
              <a:rPr b="1" i="1" lang="en-US" sz="2000" u="none" cap="none" strike="noStrike">
                <a:solidFill>
                  <a:srgbClr val="000000"/>
                </a:solidFill>
                <a:latin typeface="Calibri"/>
                <a:ea typeface="Calibri"/>
                <a:cs typeface="Calibri"/>
                <a:sym typeface="Calibri"/>
              </a:rPr>
              <a:t>Work</a:t>
            </a:r>
            <a:r>
              <a:rPr b="0" i="1" lang="en-US" sz="2000" u="none" cap="none" strike="noStrike">
                <a:solidFill>
                  <a:srgbClr val="000000"/>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and </a:t>
            </a:r>
            <a:r>
              <a:rPr b="1" i="1" lang="en-US" sz="2000" u="none" cap="none" strike="noStrike">
                <a:solidFill>
                  <a:srgbClr val="000000"/>
                </a:solidFill>
                <a:latin typeface="Calibri"/>
                <a:ea typeface="Calibri"/>
                <a:cs typeface="Calibri"/>
                <a:sym typeface="Calibri"/>
              </a:rPr>
              <a:t>Finish</a:t>
            </a:r>
            <a:r>
              <a:rPr b="0" i="0" lang="en-US" sz="2000" u="none" cap="none" strike="noStrike">
                <a:solidFill>
                  <a:srgbClr val="000000"/>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be vectors of length</a:t>
            </a:r>
            <a:r>
              <a:rPr b="0" i="1" lang="en-US" sz="2000" u="none" cap="none" strike="noStrike">
                <a:solidFill>
                  <a:schemeClr val="dk1"/>
                </a:solidFill>
                <a:latin typeface="Calibri"/>
                <a:ea typeface="Calibri"/>
                <a:cs typeface="Calibri"/>
                <a:sym typeface="Calibri"/>
              </a:rPr>
              <a:t> m</a:t>
            </a:r>
            <a:r>
              <a:rPr b="0" i="0" lang="en-US" sz="2000" u="none" cap="none" strike="noStrike">
                <a:solidFill>
                  <a:schemeClr val="dk1"/>
                </a:solidFill>
                <a:latin typeface="Calibri"/>
                <a:ea typeface="Calibri"/>
                <a:cs typeface="Calibri"/>
                <a:sym typeface="Calibri"/>
              </a:rPr>
              <a:t> and</a:t>
            </a:r>
            <a:r>
              <a:rPr b="0" i="1" lang="en-US" sz="2000" u="none" cap="none" strike="noStrike">
                <a:solidFill>
                  <a:schemeClr val="dk1"/>
                </a:solidFill>
                <a:latin typeface="Calibri"/>
                <a:ea typeface="Calibri"/>
                <a:cs typeface="Calibri"/>
                <a:sym typeface="Calibri"/>
              </a:rPr>
              <a:t> n</a:t>
            </a:r>
            <a:r>
              <a:rPr b="0" i="0" lang="en-US" sz="2000" u="none" cap="none" strike="noStrike">
                <a:solidFill>
                  <a:schemeClr val="dk1"/>
                </a:solidFill>
                <a:latin typeface="Calibri"/>
                <a:ea typeface="Calibri"/>
                <a:cs typeface="Calibri"/>
                <a:sym typeface="Calibri"/>
              </a:rPr>
              <a:t>, respectively.  Initialize:</a:t>
            </a:r>
            <a:endParaRPr/>
          </a:p>
          <a:p>
            <a:pPr indent="-342900" lvl="3" marL="1543050" marR="0" rtl="0" algn="l">
              <a:lnSpc>
                <a:spcPct val="90000"/>
              </a:lnSpc>
              <a:spcBef>
                <a:spcPts val="240"/>
              </a:spcBef>
              <a:spcAft>
                <a:spcPts val="0"/>
              </a:spcAft>
              <a:buClr>
                <a:schemeClr val="dk1"/>
              </a:buClr>
              <a:buSzPts val="1200"/>
              <a:buFont typeface="Arial"/>
              <a:buNone/>
            </a:pPr>
            <a:r>
              <a:rPr b="1" i="1" lang="en-US" sz="1200" u="none" cap="none" strike="noStrike">
                <a:solidFill>
                  <a:schemeClr val="dk1"/>
                </a:solidFill>
                <a:latin typeface="Calibri"/>
                <a:ea typeface="Calibri"/>
                <a:cs typeface="Calibri"/>
                <a:sym typeface="Calibri"/>
              </a:rPr>
              <a:t>Work </a:t>
            </a:r>
            <a:r>
              <a:rPr b="1" i="0" lang="en-US" sz="1200" u="none" cap="none" strike="noStrike">
                <a:solidFill>
                  <a:schemeClr val="dk1"/>
                </a:solidFill>
                <a:latin typeface="Calibri"/>
                <a:ea typeface="Calibri"/>
                <a:cs typeface="Calibri"/>
                <a:sym typeface="Calibri"/>
              </a:rPr>
              <a:t>= </a:t>
            </a:r>
            <a:r>
              <a:rPr b="1" i="1" lang="en-US" sz="1200" u="none" cap="none" strike="noStrike">
                <a:solidFill>
                  <a:schemeClr val="dk1"/>
                </a:solidFill>
                <a:latin typeface="Calibri"/>
                <a:ea typeface="Calibri"/>
                <a:cs typeface="Calibri"/>
                <a:sym typeface="Calibri"/>
              </a:rPr>
              <a:t>Available</a:t>
            </a:r>
            <a:endParaRPr/>
          </a:p>
          <a:p>
            <a:pPr indent="-342900" lvl="3" marL="1543050" marR="0" rtl="0" algn="l">
              <a:lnSpc>
                <a:spcPct val="90000"/>
              </a:lnSpc>
              <a:spcBef>
                <a:spcPts val="240"/>
              </a:spcBef>
              <a:spcAft>
                <a:spcPts val="0"/>
              </a:spcAft>
              <a:buClr>
                <a:schemeClr val="dk1"/>
              </a:buClr>
              <a:buSzPts val="1200"/>
              <a:buFont typeface="Arial"/>
              <a:buNone/>
            </a:pPr>
            <a:r>
              <a:rPr b="1" i="1" lang="en-US" sz="1200" u="none" cap="none" strike="noStrike">
                <a:solidFill>
                  <a:schemeClr val="dk1"/>
                </a:solidFill>
                <a:latin typeface="Calibri"/>
                <a:ea typeface="Calibri"/>
                <a:cs typeface="Calibri"/>
                <a:sym typeface="Calibri"/>
              </a:rPr>
              <a:t>Finish </a:t>
            </a:r>
            <a:r>
              <a:rPr b="1" i="0" lang="en-US" sz="1200" u="none" cap="none" strike="noStrike">
                <a:solidFill>
                  <a:schemeClr val="dk1"/>
                </a:solidFill>
                <a:latin typeface="Calibri"/>
                <a:ea typeface="Calibri"/>
                <a:cs typeface="Calibri"/>
                <a:sym typeface="Calibri"/>
              </a:rPr>
              <a:t>[</a:t>
            </a:r>
            <a:r>
              <a:rPr b="1" i="1" lang="en-US" sz="1200" u="none" cap="none" strike="noStrike">
                <a:solidFill>
                  <a:schemeClr val="dk1"/>
                </a:solidFill>
                <a:latin typeface="Calibri"/>
                <a:ea typeface="Calibri"/>
                <a:cs typeface="Calibri"/>
                <a:sym typeface="Calibri"/>
              </a:rPr>
              <a:t>i</a:t>
            </a:r>
            <a:r>
              <a:rPr b="1" i="0" lang="en-US" sz="1200" u="none" cap="none" strike="noStrike">
                <a:solidFill>
                  <a:schemeClr val="dk1"/>
                </a:solidFill>
                <a:latin typeface="Calibri"/>
                <a:ea typeface="Calibri"/>
                <a:cs typeface="Calibri"/>
                <a:sym typeface="Calibri"/>
              </a:rPr>
              <a:t>] =</a:t>
            </a:r>
            <a:r>
              <a:rPr b="1" i="1" lang="en-US" sz="1200" u="none" cap="none" strike="noStrike">
                <a:solidFill>
                  <a:schemeClr val="dk1"/>
                </a:solidFill>
                <a:latin typeface="Calibri"/>
                <a:ea typeface="Calibri"/>
                <a:cs typeface="Calibri"/>
                <a:sym typeface="Calibri"/>
              </a:rPr>
              <a:t> false </a:t>
            </a:r>
            <a:r>
              <a:rPr b="1" i="0" lang="en-US" sz="1200" u="none" cap="none" strike="noStrike">
                <a:solidFill>
                  <a:schemeClr val="dk1"/>
                </a:solidFill>
                <a:latin typeface="Calibri"/>
                <a:ea typeface="Calibri"/>
                <a:cs typeface="Calibri"/>
                <a:sym typeface="Calibri"/>
              </a:rPr>
              <a:t>for</a:t>
            </a:r>
            <a:r>
              <a:rPr b="1" i="1" lang="en-US" sz="1200" u="none" cap="none" strike="noStrike">
                <a:solidFill>
                  <a:schemeClr val="dk1"/>
                </a:solidFill>
                <a:latin typeface="Calibri"/>
                <a:ea typeface="Calibri"/>
                <a:cs typeface="Calibri"/>
                <a:sym typeface="Calibri"/>
              </a:rPr>
              <a:t> i</a:t>
            </a:r>
            <a:r>
              <a:rPr b="1" i="0" lang="en-US" sz="1200" u="none" cap="none" strike="noStrike">
                <a:solidFill>
                  <a:schemeClr val="dk1"/>
                </a:solidFill>
                <a:latin typeface="Calibri"/>
                <a:ea typeface="Calibri"/>
                <a:cs typeface="Calibri"/>
                <a:sym typeface="Calibri"/>
              </a:rPr>
              <a:t> = 0, 1, …, </a:t>
            </a:r>
            <a:r>
              <a:rPr b="1" i="1" lang="en-US" sz="1200" u="none" cap="none" strike="noStrike">
                <a:solidFill>
                  <a:schemeClr val="dk1"/>
                </a:solidFill>
                <a:latin typeface="Calibri"/>
                <a:ea typeface="Calibri"/>
                <a:cs typeface="Calibri"/>
                <a:sym typeface="Calibri"/>
              </a:rPr>
              <a:t>n- </a:t>
            </a:r>
            <a:r>
              <a:rPr b="1" i="0" lang="en-US" sz="1200" u="none" cap="none" strike="noStrike">
                <a:solidFill>
                  <a:schemeClr val="dk1"/>
                </a:solidFill>
                <a:latin typeface="Calibri"/>
                <a:ea typeface="Calibri"/>
                <a:cs typeface="Calibri"/>
                <a:sym typeface="Calibri"/>
              </a:rPr>
              <a:t>1</a:t>
            </a:r>
            <a:endParaRPr/>
          </a:p>
          <a:p>
            <a:pPr indent="-342900" lvl="3" marL="1543050" marR="0" rtl="0" algn="l">
              <a:lnSpc>
                <a:spcPct val="90000"/>
              </a:lnSpc>
              <a:spcBef>
                <a:spcPts val="40"/>
              </a:spcBef>
              <a:spcAft>
                <a:spcPts val="0"/>
              </a:spcAft>
              <a:buClr>
                <a:schemeClr val="dk1"/>
              </a:buClr>
              <a:buSzPts val="200"/>
              <a:buFont typeface="Arial"/>
              <a:buNone/>
            </a:pPr>
            <a:r>
              <a:t/>
            </a:r>
            <a:endParaRPr b="0" i="0" sz="200" u="none" cap="none" strike="noStrike">
              <a:solidFill>
                <a:schemeClr val="dk1"/>
              </a:solidFill>
              <a:latin typeface="Calibri"/>
              <a:ea typeface="Calibri"/>
              <a:cs typeface="Calibri"/>
              <a:sym typeface="Calibri"/>
            </a:endParaRPr>
          </a:p>
          <a:p>
            <a:pPr indent="-342900" lvl="0" marL="342900" marR="0" rtl="0" algn="l">
              <a:lnSpc>
                <a:spcPct val="90000"/>
              </a:lnSpc>
              <a:spcBef>
                <a:spcPts val="400"/>
              </a:spcBef>
              <a:spcAft>
                <a:spcPts val="0"/>
              </a:spcAft>
              <a:buClr>
                <a:schemeClr val="dk1"/>
              </a:buClr>
              <a:buSzPts val="2000"/>
              <a:buFont typeface="Arial"/>
              <a:buNone/>
            </a:pPr>
            <a:r>
              <a:rPr b="0" i="0" lang="en-US" sz="2000" u="none" cap="none" strike="noStrike">
                <a:solidFill>
                  <a:schemeClr val="dk1"/>
                </a:solidFill>
                <a:latin typeface="Calibri"/>
                <a:ea typeface="Calibri"/>
                <a:cs typeface="Calibri"/>
                <a:sym typeface="Calibri"/>
              </a:rPr>
              <a:t>2.	Find an </a:t>
            </a:r>
            <a:r>
              <a:rPr b="1" i="1" lang="en-US" sz="2000" u="none" cap="none" strike="noStrike">
                <a:solidFill>
                  <a:schemeClr val="dk1"/>
                </a:solidFill>
                <a:latin typeface="Calibri"/>
                <a:ea typeface="Calibri"/>
                <a:cs typeface="Calibri"/>
                <a:sym typeface="Calibri"/>
              </a:rPr>
              <a:t>i</a:t>
            </a:r>
            <a:r>
              <a:rPr b="0" i="1" lang="en-US" sz="2000" u="none" cap="none" strike="noStrike">
                <a:solidFill>
                  <a:schemeClr val="dk1"/>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such that both: </a:t>
            </a:r>
            <a:endParaRPr/>
          </a:p>
          <a:p>
            <a:pPr indent="-342900" lvl="1" marL="80010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(a) </a:t>
            </a:r>
            <a:r>
              <a:rPr b="1" i="1" lang="en-US" sz="1800" u="none" cap="none" strike="noStrike">
                <a:solidFill>
                  <a:schemeClr val="dk1"/>
                </a:solidFill>
                <a:latin typeface="Calibri"/>
                <a:ea typeface="Calibri"/>
                <a:cs typeface="Calibri"/>
                <a:sym typeface="Calibri"/>
              </a:rPr>
              <a:t>Finish</a:t>
            </a:r>
            <a:r>
              <a:rPr b="1" i="0" lang="en-US" sz="1800" u="none" cap="none" strike="noStrike">
                <a:solidFill>
                  <a:schemeClr val="dk1"/>
                </a:solidFill>
                <a:latin typeface="Calibri"/>
                <a:ea typeface="Calibri"/>
                <a:cs typeface="Calibri"/>
                <a:sym typeface="Calibri"/>
              </a:rPr>
              <a:t> [</a:t>
            </a:r>
            <a:r>
              <a:rPr b="1" i="1" lang="en-US" sz="1800" u="none" cap="none" strike="noStrike">
                <a:solidFill>
                  <a:schemeClr val="dk1"/>
                </a:solidFill>
                <a:latin typeface="Calibri"/>
                <a:ea typeface="Calibri"/>
                <a:cs typeface="Calibri"/>
                <a:sym typeface="Calibri"/>
              </a:rPr>
              <a:t>i</a:t>
            </a:r>
            <a:r>
              <a:rPr b="1" i="0" lang="en-US" sz="1800" u="none" cap="none" strike="noStrike">
                <a:solidFill>
                  <a:schemeClr val="dk1"/>
                </a:solidFill>
                <a:latin typeface="Calibri"/>
                <a:ea typeface="Calibri"/>
                <a:cs typeface="Calibri"/>
                <a:sym typeface="Calibri"/>
              </a:rPr>
              <a:t>] = </a:t>
            </a:r>
            <a:r>
              <a:rPr b="1" i="1" lang="en-US" sz="1800" u="none" cap="none" strike="noStrike">
                <a:solidFill>
                  <a:schemeClr val="dk1"/>
                </a:solidFill>
                <a:latin typeface="Calibri"/>
                <a:ea typeface="Calibri"/>
                <a:cs typeface="Calibri"/>
                <a:sym typeface="Calibri"/>
              </a:rPr>
              <a:t>false</a:t>
            </a:r>
            <a:endParaRPr b="1" i="0" sz="1800" u="none" cap="none" strike="noStrike">
              <a:solidFill>
                <a:schemeClr val="dk1"/>
              </a:solidFill>
              <a:latin typeface="Calibri"/>
              <a:ea typeface="Calibri"/>
              <a:cs typeface="Calibri"/>
              <a:sym typeface="Calibri"/>
            </a:endParaRPr>
          </a:p>
          <a:p>
            <a:pPr indent="-342900" lvl="1" marL="80010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(b) </a:t>
            </a:r>
            <a:r>
              <a:rPr b="1" i="1" lang="en-US" sz="1800" u="none" cap="none" strike="noStrike">
                <a:solidFill>
                  <a:schemeClr val="dk1"/>
                </a:solidFill>
                <a:latin typeface="Calibri"/>
                <a:ea typeface="Calibri"/>
                <a:cs typeface="Calibri"/>
                <a:sym typeface="Calibri"/>
              </a:rPr>
              <a:t>Need</a:t>
            </a:r>
            <a:r>
              <a:rPr b="1" baseline="-25000" i="1" lang="en-US" sz="1800" u="none" cap="none" strike="noStrike">
                <a:solidFill>
                  <a:schemeClr val="dk1"/>
                </a:solidFill>
                <a:latin typeface="Calibri"/>
                <a:ea typeface="Calibri"/>
                <a:cs typeface="Calibri"/>
                <a:sym typeface="Calibri"/>
              </a:rPr>
              <a:t>i</a:t>
            </a:r>
            <a:r>
              <a:rPr b="1" i="0" lang="en-US" sz="1800" u="none" cap="none" strike="noStrike">
                <a:solidFill>
                  <a:schemeClr val="dk1"/>
                </a:solidFill>
                <a:latin typeface="Calibri"/>
                <a:ea typeface="Calibri"/>
                <a:cs typeface="Calibri"/>
                <a:sym typeface="Calibri"/>
              </a:rPr>
              <a:t> ≤ </a:t>
            </a:r>
            <a:r>
              <a:rPr b="1" i="1" lang="en-US" sz="1800" u="none" cap="none" strike="noStrike">
                <a:solidFill>
                  <a:schemeClr val="dk1"/>
                </a:solidFill>
                <a:latin typeface="Calibri"/>
                <a:ea typeface="Calibri"/>
                <a:cs typeface="Calibri"/>
                <a:sym typeface="Calibri"/>
              </a:rPr>
              <a:t>Work</a:t>
            </a:r>
            <a:endParaRPr/>
          </a:p>
          <a:p>
            <a:pPr indent="-342900" lvl="1" marL="80010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If no such</a:t>
            </a:r>
            <a:r>
              <a:rPr b="1" i="0" lang="en-US" sz="1800" u="none" cap="none" strike="noStrike">
                <a:solidFill>
                  <a:schemeClr val="dk1"/>
                </a:solidFill>
                <a:latin typeface="Calibri"/>
                <a:ea typeface="Calibri"/>
                <a:cs typeface="Calibri"/>
                <a:sym typeface="Calibri"/>
              </a:rPr>
              <a:t> </a:t>
            </a:r>
            <a:r>
              <a:rPr b="1" i="1" lang="en-US" sz="1800" u="none" cap="none" strike="noStrike">
                <a:solidFill>
                  <a:schemeClr val="dk1"/>
                </a:solidFill>
                <a:latin typeface="Calibri"/>
                <a:ea typeface="Calibri"/>
                <a:cs typeface="Calibri"/>
                <a:sym typeface="Calibri"/>
              </a:rPr>
              <a:t>i </a:t>
            </a:r>
            <a:r>
              <a:rPr b="0" i="0" lang="en-US" sz="1800" u="none" cap="none" strike="noStrike">
                <a:solidFill>
                  <a:schemeClr val="dk1"/>
                </a:solidFill>
                <a:latin typeface="Calibri"/>
                <a:ea typeface="Calibri"/>
                <a:cs typeface="Calibri"/>
                <a:sym typeface="Calibri"/>
              </a:rPr>
              <a:t>exists, go to step 4</a:t>
            </a:r>
            <a:endParaRPr/>
          </a:p>
          <a:p>
            <a:pPr indent="-342900" lvl="1" marL="800100" marR="0" rtl="0" algn="l">
              <a:lnSpc>
                <a:spcPct val="90000"/>
              </a:lnSpc>
              <a:spcBef>
                <a:spcPts val="40"/>
              </a:spcBef>
              <a:spcAft>
                <a:spcPts val="0"/>
              </a:spcAft>
              <a:buClr>
                <a:schemeClr val="dk1"/>
              </a:buClr>
              <a:buSzPts val="200"/>
              <a:buFont typeface="Arial"/>
              <a:buNone/>
            </a:pPr>
            <a:r>
              <a:t/>
            </a:r>
            <a:endParaRPr b="0" i="0" sz="200" u="none" cap="none" strike="noStrike">
              <a:solidFill>
                <a:schemeClr val="dk1"/>
              </a:solidFill>
              <a:latin typeface="Calibri"/>
              <a:ea typeface="Calibri"/>
              <a:cs typeface="Calibri"/>
              <a:sym typeface="Calibri"/>
            </a:endParaRPr>
          </a:p>
          <a:p>
            <a:pPr indent="-342900" lvl="0" marL="342900" marR="0" rtl="0" algn="l">
              <a:lnSpc>
                <a:spcPct val="90000"/>
              </a:lnSpc>
              <a:spcBef>
                <a:spcPts val="400"/>
              </a:spcBef>
              <a:spcAft>
                <a:spcPts val="0"/>
              </a:spcAft>
              <a:buClr>
                <a:schemeClr val="dk1"/>
              </a:buClr>
              <a:buSzPts val="2000"/>
              <a:buFont typeface="Arial"/>
              <a:buNone/>
            </a:pPr>
            <a:r>
              <a:rPr b="0" i="1" lang="en-US" sz="2000" u="none" cap="none" strike="noStrike">
                <a:solidFill>
                  <a:schemeClr val="dk1"/>
                </a:solidFill>
                <a:latin typeface="Calibri"/>
                <a:ea typeface="Calibri"/>
                <a:cs typeface="Calibri"/>
                <a:sym typeface="Calibri"/>
              </a:rPr>
              <a:t>3.  </a:t>
            </a:r>
            <a:r>
              <a:rPr b="1" i="1" lang="en-US" sz="2000" u="none" cap="none" strike="noStrike">
                <a:solidFill>
                  <a:schemeClr val="dk1"/>
                </a:solidFill>
                <a:latin typeface="Calibri"/>
                <a:ea typeface="Calibri"/>
                <a:cs typeface="Calibri"/>
                <a:sym typeface="Calibri"/>
              </a:rPr>
              <a:t>Work</a:t>
            </a:r>
            <a:r>
              <a:rPr b="1" i="0" lang="en-US" sz="2000" u="none" cap="none" strike="noStrike">
                <a:solidFill>
                  <a:schemeClr val="dk1"/>
                </a:solidFill>
                <a:latin typeface="Calibri"/>
                <a:ea typeface="Calibri"/>
                <a:cs typeface="Calibri"/>
                <a:sym typeface="Calibri"/>
              </a:rPr>
              <a:t> = </a:t>
            </a:r>
            <a:r>
              <a:rPr b="1" i="1" lang="en-US" sz="2000" u="none" cap="none" strike="noStrike">
                <a:solidFill>
                  <a:schemeClr val="dk1"/>
                </a:solidFill>
                <a:latin typeface="Calibri"/>
                <a:ea typeface="Calibri"/>
                <a:cs typeface="Calibri"/>
                <a:sym typeface="Calibri"/>
              </a:rPr>
              <a:t>Work </a:t>
            </a:r>
            <a:r>
              <a:rPr b="1" i="0" lang="en-US" sz="2000" u="none" cap="none" strike="noStrike">
                <a:solidFill>
                  <a:schemeClr val="dk1"/>
                </a:solidFill>
                <a:latin typeface="Calibri"/>
                <a:ea typeface="Calibri"/>
                <a:cs typeface="Calibri"/>
                <a:sym typeface="Calibri"/>
              </a:rPr>
              <a:t>+ </a:t>
            </a:r>
            <a:r>
              <a:rPr b="1" i="1" lang="en-US" sz="2000" u="none" cap="none" strike="noStrike">
                <a:solidFill>
                  <a:schemeClr val="dk1"/>
                </a:solidFill>
                <a:latin typeface="Calibri"/>
                <a:ea typeface="Calibri"/>
                <a:cs typeface="Calibri"/>
                <a:sym typeface="Calibri"/>
              </a:rPr>
              <a:t>Allocation</a:t>
            </a:r>
            <a:r>
              <a:rPr b="1" baseline="-25000" i="1" lang="en-US" sz="2000" u="none" cap="none" strike="noStrike">
                <a:solidFill>
                  <a:schemeClr val="dk1"/>
                </a:solidFill>
                <a:latin typeface="Calibri"/>
                <a:ea typeface="Calibri"/>
                <a:cs typeface="Calibri"/>
                <a:sym typeface="Calibri"/>
              </a:rPr>
              <a:t>i</a:t>
            </a:r>
            <a:br>
              <a:rPr b="1" i="0" lang="en-US" sz="2000" u="none" cap="none" strike="noStrike">
                <a:solidFill>
                  <a:schemeClr val="dk1"/>
                </a:solidFill>
                <a:latin typeface="Calibri"/>
                <a:ea typeface="Calibri"/>
                <a:cs typeface="Calibri"/>
                <a:sym typeface="Calibri"/>
              </a:rPr>
            </a:br>
            <a:r>
              <a:rPr b="1" i="1" lang="en-US" sz="2000" u="none" cap="none" strike="noStrike">
                <a:solidFill>
                  <a:schemeClr val="dk1"/>
                </a:solidFill>
                <a:latin typeface="Calibri"/>
                <a:ea typeface="Calibri"/>
                <a:cs typeface="Calibri"/>
                <a:sym typeface="Calibri"/>
              </a:rPr>
              <a:t>Finish</a:t>
            </a:r>
            <a:r>
              <a:rPr b="1" i="0" lang="en-US" sz="2000" u="none" cap="none" strike="noStrike">
                <a:solidFill>
                  <a:schemeClr val="dk1"/>
                </a:solidFill>
                <a:latin typeface="Calibri"/>
                <a:ea typeface="Calibri"/>
                <a:cs typeface="Calibri"/>
                <a:sym typeface="Calibri"/>
              </a:rPr>
              <a:t>[</a:t>
            </a:r>
            <a:r>
              <a:rPr b="1" i="1" lang="en-US" sz="2000" u="none" cap="none" strike="noStrike">
                <a:solidFill>
                  <a:schemeClr val="dk1"/>
                </a:solidFill>
                <a:latin typeface="Calibri"/>
                <a:ea typeface="Calibri"/>
                <a:cs typeface="Calibri"/>
                <a:sym typeface="Calibri"/>
              </a:rPr>
              <a:t>i</a:t>
            </a:r>
            <a:r>
              <a:rPr b="1" i="0" lang="en-US" sz="2000" u="none" cap="none" strike="noStrike">
                <a:solidFill>
                  <a:schemeClr val="dk1"/>
                </a:solidFill>
                <a:latin typeface="Calibri"/>
                <a:ea typeface="Calibri"/>
                <a:cs typeface="Calibri"/>
                <a:sym typeface="Calibri"/>
              </a:rPr>
              <a:t>] =</a:t>
            </a:r>
            <a:r>
              <a:rPr b="1" i="1" lang="en-US" sz="2000" u="none" cap="none" strike="noStrike">
                <a:solidFill>
                  <a:schemeClr val="dk1"/>
                </a:solidFill>
                <a:latin typeface="Calibri"/>
                <a:ea typeface="Calibri"/>
                <a:cs typeface="Calibri"/>
                <a:sym typeface="Calibri"/>
              </a:rPr>
              <a:t> true</a:t>
            </a:r>
            <a:br>
              <a:rPr b="1" i="0" lang="en-US" sz="2000" u="none" cap="none" strike="noStrike">
                <a:solidFill>
                  <a:schemeClr val="dk1"/>
                </a:solidFill>
                <a:latin typeface="Calibri"/>
                <a:ea typeface="Calibri"/>
                <a:cs typeface="Calibri"/>
                <a:sym typeface="Calibri"/>
              </a:rPr>
            </a:br>
            <a:r>
              <a:rPr b="0" i="0" lang="en-US" sz="2000" u="none" cap="none" strike="noStrike">
                <a:solidFill>
                  <a:schemeClr val="dk1"/>
                </a:solidFill>
                <a:latin typeface="Calibri"/>
                <a:ea typeface="Calibri"/>
                <a:cs typeface="Calibri"/>
                <a:sym typeface="Calibri"/>
              </a:rPr>
              <a:t>go to step 2</a:t>
            </a:r>
            <a:endParaRPr/>
          </a:p>
          <a:p>
            <a:pPr indent="-330200" lvl="0" marL="342900" marR="0" rtl="0" algn="l">
              <a:lnSpc>
                <a:spcPct val="90000"/>
              </a:lnSpc>
              <a:spcBef>
                <a:spcPts val="40"/>
              </a:spcBef>
              <a:spcAft>
                <a:spcPts val="0"/>
              </a:spcAft>
              <a:buClr>
                <a:schemeClr val="dk1"/>
              </a:buClr>
              <a:buSzPts val="200"/>
              <a:buFont typeface="Arial"/>
              <a:buNone/>
            </a:pPr>
            <a:r>
              <a:t/>
            </a:r>
            <a:endParaRPr b="0" i="0" sz="200" u="none" cap="none" strike="noStrike">
              <a:solidFill>
                <a:schemeClr val="dk1"/>
              </a:solidFill>
              <a:latin typeface="Calibri"/>
              <a:ea typeface="Calibri"/>
              <a:cs typeface="Calibri"/>
              <a:sym typeface="Calibri"/>
            </a:endParaRPr>
          </a:p>
          <a:p>
            <a:pPr indent="-342900" lvl="0" marL="342900" marR="0" rtl="0" algn="l">
              <a:lnSpc>
                <a:spcPct val="90000"/>
              </a:lnSpc>
              <a:spcBef>
                <a:spcPts val="400"/>
              </a:spcBef>
              <a:spcAft>
                <a:spcPts val="0"/>
              </a:spcAft>
              <a:buClr>
                <a:schemeClr val="dk1"/>
              </a:buClr>
              <a:buSzPts val="2000"/>
              <a:buFont typeface="Arial"/>
              <a:buNone/>
            </a:pPr>
            <a:r>
              <a:rPr b="0" i="0" lang="en-US" sz="2000" u="none" cap="none" strike="noStrike">
                <a:solidFill>
                  <a:schemeClr val="dk1"/>
                </a:solidFill>
                <a:latin typeface="Calibri"/>
                <a:ea typeface="Calibri"/>
                <a:cs typeface="Calibri"/>
                <a:sym typeface="Calibri"/>
              </a:rPr>
              <a:t>4.	If </a:t>
            </a:r>
            <a:r>
              <a:rPr b="1" i="1" lang="en-US" sz="2000" u="none" cap="none" strike="noStrike">
                <a:solidFill>
                  <a:schemeClr val="dk1"/>
                </a:solidFill>
                <a:latin typeface="Calibri"/>
                <a:ea typeface="Calibri"/>
                <a:cs typeface="Calibri"/>
                <a:sym typeface="Calibri"/>
              </a:rPr>
              <a:t>Finish</a:t>
            </a:r>
            <a:r>
              <a:rPr b="1" i="0" lang="en-US" sz="2000" u="none" cap="none" strike="noStrike">
                <a:solidFill>
                  <a:schemeClr val="dk1"/>
                </a:solidFill>
                <a:latin typeface="Calibri"/>
                <a:ea typeface="Calibri"/>
                <a:cs typeface="Calibri"/>
                <a:sym typeface="Calibri"/>
              </a:rPr>
              <a:t> [</a:t>
            </a:r>
            <a:r>
              <a:rPr b="1" i="1" lang="en-US" sz="2000" u="none" cap="none" strike="noStrike">
                <a:solidFill>
                  <a:schemeClr val="dk1"/>
                </a:solidFill>
                <a:latin typeface="Calibri"/>
                <a:ea typeface="Calibri"/>
                <a:cs typeface="Calibri"/>
                <a:sym typeface="Calibri"/>
              </a:rPr>
              <a:t>i</a:t>
            </a:r>
            <a:r>
              <a:rPr b="1" i="0" lang="en-US" sz="2000" u="none" cap="none" strike="noStrike">
                <a:solidFill>
                  <a:schemeClr val="dk1"/>
                </a:solidFill>
                <a:latin typeface="Calibri"/>
                <a:ea typeface="Calibri"/>
                <a:cs typeface="Calibri"/>
                <a:sym typeface="Calibri"/>
              </a:rPr>
              <a:t>] == </a:t>
            </a:r>
            <a:r>
              <a:rPr b="1" i="1" lang="en-US" sz="2000" u="none" cap="none" strike="noStrike">
                <a:solidFill>
                  <a:schemeClr val="dk1"/>
                </a:solidFill>
                <a:latin typeface="Calibri"/>
                <a:ea typeface="Calibri"/>
                <a:cs typeface="Calibri"/>
                <a:sym typeface="Calibri"/>
              </a:rPr>
              <a:t>true</a:t>
            </a:r>
            <a:r>
              <a:rPr b="1" i="0" lang="en-US" sz="2000" u="none" cap="none" strike="noStrike">
                <a:solidFill>
                  <a:schemeClr val="dk1"/>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for all </a:t>
            </a:r>
            <a:r>
              <a:rPr b="1" i="1" lang="en-US" sz="2000" u="none" cap="none" strike="noStrike">
                <a:solidFill>
                  <a:schemeClr val="dk1"/>
                </a:solidFill>
                <a:latin typeface="Calibri"/>
                <a:ea typeface="Calibri"/>
                <a:cs typeface="Calibri"/>
                <a:sym typeface="Calibri"/>
              </a:rPr>
              <a:t>i</a:t>
            </a:r>
            <a:r>
              <a:rPr b="0" i="0" lang="en-US" sz="2000" u="none" cap="none" strike="noStrike">
                <a:solidFill>
                  <a:schemeClr val="dk1"/>
                </a:solidFill>
                <a:latin typeface="Calibri"/>
                <a:ea typeface="Calibri"/>
                <a:cs typeface="Calibri"/>
                <a:sym typeface="Calibri"/>
              </a:rPr>
              <a:t>, then the system is in a safe state</a:t>
            </a:r>
            <a:endParaRPr/>
          </a:p>
        </p:txBody>
      </p:sp>
      <p:pic>
        <p:nvPicPr>
          <p:cNvPr id="892" name="Google Shape;892;p74"/>
          <p:cNvPicPr preferRelativeResize="0"/>
          <p:nvPr/>
        </p:nvPicPr>
        <p:blipFill rotWithShape="1">
          <a:blip r:embed="rId4">
            <a:alphaModFix/>
          </a:blip>
          <a:srcRect b="0" l="0" r="0" t="0"/>
          <a:stretch/>
        </p:blipFill>
        <p:spPr>
          <a:xfrm>
            <a:off x="4114800" y="5181600"/>
            <a:ext cx="3305175" cy="1676400"/>
          </a:xfrm>
          <a:prstGeom prst="rect">
            <a:avLst/>
          </a:prstGeom>
          <a:noFill/>
          <a:ln>
            <a:noFill/>
          </a:ln>
        </p:spPr>
      </p:pic>
      <p:pic>
        <p:nvPicPr>
          <p:cNvPr id="893" name="Google Shape;893;p74"/>
          <p:cNvPicPr preferRelativeResize="0"/>
          <p:nvPr/>
        </p:nvPicPr>
        <p:blipFill rotWithShape="1">
          <a:blip r:embed="rId5">
            <a:alphaModFix/>
          </a:blip>
          <a:srcRect b="0" l="0" r="0" t="0"/>
          <a:stretch/>
        </p:blipFill>
        <p:spPr>
          <a:xfrm>
            <a:off x="7399193" y="5153024"/>
            <a:ext cx="1619250" cy="1781176"/>
          </a:xfrm>
          <a:prstGeom prst="rect">
            <a:avLst/>
          </a:prstGeom>
          <a:noFill/>
          <a:ln>
            <a:noFill/>
          </a:ln>
        </p:spPr>
      </p:pic>
      <p:sp>
        <p:nvSpPr>
          <p:cNvPr id="894" name="Google Shape;894;p74"/>
          <p:cNvSpPr txBox="1"/>
          <p:nvPr/>
        </p:nvSpPr>
        <p:spPr>
          <a:xfrm>
            <a:off x="4243243" y="762000"/>
            <a:ext cx="2557110" cy="55399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1" lang="en-US" sz="1200" u="none" cap="none" strike="noStrike">
                <a:solidFill>
                  <a:srgbClr val="00B0F0"/>
                </a:solidFill>
                <a:latin typeface="Helvetica Neue"/>
                <a:ea typeface="Helvetica Neue"/>
                <a:cs typeface="Helvetica Neue"/>
                <a:sym typeface="Helvetica Neue"/>
              </a:rPr>
              <a:t>n</a:t>
            </a:r>
            <a:r>
              <a:rPr b="1" i="0" lang="en-US" sz="1200" u="none" cap="none" strike="noStrike">
                <a:solidFill>
                  <a:srgbClr val="00B0F0"/>
                </a:solidFill>
                <a:latin typeface="Helvetica Neue"/>
                <a:ea typeface="Helvetica Neue"/>
                <a:cs typeface="Helvetica Neue"/>
                <a:sym typeface="Helvetica Neue"/>
              </a:rPr>
              <a:t> = number of processes</a:t>
            </a:r>
            <a:endParaRPr/>
          </a:p>
          <a:p>
            <a:pPr indent="0" lvl="0" marL="0" marR="0" rtl="0" algn="l">
              <a:spcBef>
                <a:spcPts val="600"/>
              </a:spcBef>
              <a:spcAft>
                <a:spcPts val="0"/>
              </a:spcAft>
              <a:buNone/>
            </a:pPr>
            <a:r>
              <a:rPr b="1" i="1" lang="en-US" sz="1200" u="none" cap="none" strike="noStrike">
                <a:solidFill>
                  <a:srgbClr val="00B0F0"/>
                </a:solidFill>
                <a:latin typeface="Helvetica Neue"/>
                <a:ea typeface="Helvetica Neue"/>
                <a:cs typeface="Helvetica Neue"/>
                <a:sym typeface="Helvetica Neue"/>
              </a:rPr>
              <a:t>m </a:t>
            </a:r>
            <a:r>
              <a:rPr b="1" i="0" lang="en-US" sz="1200" u="none" cap="none" strike="noStrike">
                <a:solidFill>
                  <a:srgbClr val="00B0F0"/>
                </a:solidFill>
                <a:latin typeface="Helvetica Neue"/>
                <a:ea typeface="Helvetica Neue"/>
                <a:cs typeface="Helvetica Neue"/>
                <a:sym typeface="Helvetica Neue"/>
              </a:rPr>
              <a:t>= number of resources types </a:t>
            </a:r>
            <a:endParaRPr b="1" i="0" sz="1200" u="none" cap="none" strike="noStrike">
              <a:solidFill>
                <a:srgbClr val="00B0F0"/>
              </a:solidFill>
              <a:latin typeface="Helvetica Neue"/>
              <a:ea typeface="Helvetica Neue"/>
              <a:cs typeface="Helvetica Neue"/>
              <a:sym typeface="Helvetica Neue"/>
            </a:endParaRPr>
          </a:p>
        </p:txBody>
      </p:sp>
      <p:sp>
        <p:nvSpPr>
          <p:cNvPr id="895" name="Google Shape;895;p7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896" name="Google Shape;896;p74"/>
          <p:cNvSpPr txBox="1"/>
          <p:nvPr>
            <p:ph idx="11" type="ftr"/>
          </p:nvPr>
        </p:nvSpPr>
        <p:spPr>
          <a:xfrm>
            <a:off x="1313007" y="6492875"/>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897" name="Google Shape;897;p7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75"/>
          <p:cNvSpPr txBox="1"/>
          <p:nvPr>
            <p:ph type="title"/>
          </p:nvPr>
        </p:nvSpPr>
        <p:spPr>
          <a:xfrm>
            <a:off x="457200" y="274638"/>
            <a:ext cx="8229600" cy="3349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US" sz="2800"/>
              <a:t>Applying the Safety algorithm on the given system,</a:t>
            </a:r>
            <a:endParaRPr/>
          </a:p>
        </p:txBody>
      </p:sp>
      <p:pic>
        <p:nvPicPr>
          <p:cNvPr id="903" name="Google Shape;903;p75"/>
          <p:cNvPicPr preferRelativeResize="0"/>
          <p:nvPr>
            <p:ph idx="1" type="body"/>
          </p:nvPr>
        </p:nvPicPr>
        <p:blipFill rotWithShape="1">
          <a:blip r:embed="rId3">
            <a:alphaModFix/>
          </a:blip>
          <a:srcRect b="0" l="33332" r="33485" t="0"/>
          <a:stretch/>
        </p:blipFill>
        <p:spPr>
          <a:xfrm>
            <a:off x="0" y="762000"/>
            <a:ext cx="4343400" cy="5791200"/>
          </a:xfrm>
          <a:prstGeom prst="rect">
            <a:avLst/>
          </a:prstGeom>
          <a:noFill/>
          <a:ln>
            <a:noFill/>
          </a:ln>
        </p:spPr>
      </p:pic>
      <p:sp>
        <p:nvSpPr>
          <p:cNvPr id="904" name="Google Shape;904;p75"/>
          <p:cNvSpPr txBox="1"/>
          <p:nvPr/>
        </p:nvSpPr>
        <p:spPr>
          <a:xfrm>
            <a:off x="4243243" y="1157287"/>
            <a:ext cx="4775200" cy="4943475"/>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3200"/>
              <a:buFont typeface="Arial"/>
              <a:buNone/>
            </a:pPr>
            <a:r>
              <a:rPr b="0" i="0" lang="en-US" sz="3200" u="none" cap="none" strike="noStrike">
                <a:solidFill>
                  <a:schemeClr val="dk1"/>
                </a:solidFill>
                <a:latin typeface="Calibri"/>
                <a:ea typeface="Calibri"/>
                <a:cs typeface="Calibri"/>
                <a:sym typeface="Calibri"/>
              </a:rPr>
              <a:t>1.	</a:t>
            </a:r>
            <a:r>
              <a:rPr b="0" i="0" lang="en-US" sz="2000" u="none" cap="none" strike="noStrike">
                <a:solidFill>
                  <a:schemeClr val="dk1"/>
                </a:solidFill>
                <a:latin typeface="Calibri"/>
                <a:ea typeface="Calibri"/>
                <a:cs typeface="Calibri"/>
                <a:sym typeface="Calibri"/>
              </a:rPr>
              <a:t>Let </a:t>
            </a:r>
            <a:r>
              <a:rPr b="1" i="1" lang="en-US" sz="2000" u="none" cap="none" strike="noStrike">
                <a:solidFill>
                  <a:srgbClr val="000000"/>
                </a:solidFill>
                <a:latin typeface="Calibri"/>
                <a:ea typeface="Calibri"/>
                <a:cs typeface="Calibri"/>
                <a:sym typeface="Calibri"/>
              </a:rPr>
              <a:t>Work</a:t>
            </a:r>
            <a:r>
              <a:rPr b="0" i="1" lang="en-US" sz="2000" u="none" cap="none" strike="noStrike">
                <a:solidFill>
                  <a:srgbClr val="000000"/>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and </a:t>
            </a:r>
            <a:r>
              <a:rPr b="1" i="1" lang="en-US" sz="2000" u="none" cap="none" strike="noStrike">
                <a:solidFill>
                  <a:srgbClr val="000000"/>
                </a:solidFill>
                <a:latin typeface="Calibri"/>
                <a:ea typeface="Calibri"/>
                <a:cs typeface="Calibri"/>
                <a:sym typeface="Calibri"/>
              </a:rPr>
              <a:t>Finish</a:t>
            </a:r>
            <a:r>
              <a:rPr b="0" i="0" lang="en-US" sz="2000" u="none" cap="none" strike="noStrike">
                <a:solidFill>
                  <a:srgbClr val="000000"/>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be vectors of length</a:t>
            </a:r>
            <a:r>
              <a:rPr b="0" i="1" lang="en-US" sz="2000" u="none" cap="none" strike="noStrike">
                <a:solidFill>
                  <a:schemeClr val="dk1"/>
                </a:solidFill>
                <a:latin typeface="Calibri"/>
                <a:ea typeface="Calibri"/>
                <a:cs typeface="Calibri"/>
                <a:sym typeface="Calibri"/>
              </a:rPr>
              <a:t> m</a:t>
            </a:r>
            <a:r>
              <a:rPr b="0" i="0" lang="en-US" sz="2000" u="none" cap="none" strike="noStrike">
                <a:solidFill>
                  <a:schemeClr val="dk1"/>
                </a:solidFill>
                <a:latin typeface="Calibri"/>
                <a:ea typeface="Calibri"/>
                <a:cs typeface="Calibri"/>
                <a:sym typeface="Calibri"/>
              </a:rPr>
              <a:t> and</a:t>
            </a:r>
            <a:r>
              <a:rPr b="0" i="1" lang="en-US" sz="2000" u="none" cap="none" strike="noStrike">
                <a:solidFill>
                  <a:schemeClr val="dk1"/>
                </a:solidFill>
                <a:latin typeface="Calibri"/>
                <a:ea typeface="Calibri"/>
                <a:cs typeface="Calibri"/>
                <a:sym typeface="Calibri"/>
              </a:rPr>
              <a:t> n</a:t>
            </a:r>
            <a:r>
              <a:rPr b="0" i="0" lang="en-US" sz="2000" u="none" cap="none" strike="noStrike">
                <a:solidFill>
                  <a:schemeClr val="dk1"/>
                </a:solidFill>
                <a:latin typeface="Calibri"/>
                <a:ea typeface="Calibri"/>
                <a:cs typeface="Calibri"/>
                <a:sym typeface="Calibri"/>
              </a:rPr>
              <a:t>, respectively.  Initialize:</a:t>
            </a:r>
            <a:endParaRPr/>
          </a:p>
          <a:p>
            <a:pPr indent="-342900" lvl="3" marL="1543050" marR="0" rtl="0" algn="l">
              <a:lnSpc>
                <a:spcPct val="90000"/>
              </a:lnSpc>
              <a:spcBef>
                <a:spcPts val="240"/>
              </a:spcBef>
              <a:spcAft>
                <a:spcPts val="0"/>
              </a:spcAft>
              <a:buClr>
                <a:schemeClr val="dk1"/>
              </a:buClr>
              <a:buSzPts val="1200"/>
              <a:buFont typeface="Arial"/>
              <a:buNone/>
            </a:pPr>
            <a:r>
              <a:rPr b="1" i="1" lang="en-US" sz="1200" u="none" cap="none" strike="noStrike">
                <a:solidFill>
                  <a:schemeClr val="dk1"/>
                </a:solidFill>
                <a:latin typeface="Calibri"/>
                <a:ea typeface="Calibri"/>
                <a:cs typeface="Calibri"/>
                <a:sym typeface="Calibri"/>
              </a:rPr>
              <a:t>Work </a:t>
            </a:r>
            <a:r>
              <a:rPr b="1" i="0" lang="en-US" sz="1200" u="none" cap="none" strike="noStrike">
                <a:solidFill>
                  <a:schemeClr val="dk1"/>
                </a:solidFill>
                <a:latin typeface="Calibri"/>
                <a:ea typeface="Calibri"/>
                <a:cs typeface="Calibri"/>
                <a:sym typeface="Calibri"/>
              </a:rPr>
              <a:t>= </a:t>
            </a:r>
            <a:r>
              <a:rPr b="1" i="1" lang="en-US" sz="1200" u="none" cap="none" strike="noStrike">
                <a:solidFill>
                  <a:schemeClr val="dk1"/>
                </a:solidFill>
                <a:latin typeface="Calibri"/>
                <a:ea typeface="Calibri"/>
                <a:cs typeface="Calibri"/>
                <a:sym typeface="Calibri"/>
              </a:rPr>
              <a:t>Available</a:t>
            </a:r>
            <a:endParaRPr/>
          </a:p>
          <a:p>
            <a:pPr indent="-342900" lvl="3" marL="1543050" marR="0" rtl="0" algn="l">
              <a:lnSpc>
                <a:spcPct val="90000"/>
              </a:lnSpc>
              <a:spcBef>
                <a:spcPts val="240"/>
              </a:spcBef>
              <a:spcAft>
                <a:spcPts val="0"/>
              </a:spcAft>
              <a:buClr>
                <a:schemeClr val="dk1"/>
              </a:buClr>
              <a:buSzPts val="1200"/>
              <a:buFont typeface="Arial"/>
              <a:buNone/>
            </a:pPr>
            <a:r>
              <a:rPr b="1" i="1" lang="en-US" sz="1200" u="none" cap="none" strike="noStrike">
                <a:solidFill>
                  <a:schemeClr val="dk1"/>
                </a:solidFill>
                <a:latin typeface="Calibri"/>
                <a:ea typeface="Calibri"/>
                <a:cs typeface="Calibri"/>
                <a:sym typeface="Calibri"/>
              </a:rPr>
              <a:t>Finish </a:t>
            </a:r>
            <a:r>
              <a:rPr b="1" i="0" lang="en-US" sz="1200" u="none" cap="none" strike="noStrike">
                <a:solidFill>
                  <a:schemeClr val="dk1"/>
                </a:solidFill>
                <a:latin typeface="Calibri"/>
                <a:ea typeface="Calibri"/>
                <a:cs typeface="Calibri"/>
                <a:sym typeface="Calibri"/>
              </a:rPr>
              <a:t>[</a:t>
            </a:r>
            <a:r>
              <a:rPr b="1" i="1" lang="en-US" sz="1200" u="none" cap="none" strike="noStrike">
                <a:solidFill>
                  <a:schemeClr val="dk1"/>
                </a:solidFill>
                <a:latin typeface="Calibri"/>
                <a:ea typeface="Calibri"/>
                <a:cs typeface="Calibri"/>
                <a:sym typeface="Calibri"/>
              </a:rPr>
              <a:t>i</a:t>
            </a:r>
            <a:r>
              <a:rPr b="1" i="0" lang="en-US" sz="1200" u="none" cap="none" strike="noStrike">
                <a:solidFill>
                  <a:schemeClr val="dk1"/>
                </a:solidFill>
                <a:latin typeface="Calibri"/>
                <a:ea typeface="Calibri"/>
                <a:cs typeface="Calibri"/>
                <a:sym typeface="Calibri"/>
              </a:rPr>
              <a:t>] =</a:t>
            </a:r>
            <a:r>
              <a:rPr b="1" i="1" lang="en-US" sz="1200" u="none" cap="none" strike="noStrike">
                <a:solidFill>
                  <a:schemeClr val="dk1"/>
                </a:solidFill>
                <a:latin typeface="Calibri"/>
                <a:ea typeface="Calibri"/>
                <a:cs typeface="Calibri"/>
                <a:sym typeface="Calibri"/>
              </a:rPr>
              <a:t> false </a:t>
            </a:r>
            <a:r>
              <a:rPr b="1" i="0" lang="en-US" sz="1200" u="none" cap="none" strike="noStrike">
                <a:solidFill>
                  <a:schemeClr val="dk1"/>
                </a:solidFill>
                <a:latin typeface="Calibri"/>
                <a:ea typeface="Calibri"/>
                <a:cs typeface="Calibri"/>
                <a:sym typeface="Calibri"/>
              </a:rPr>
              <a:t>for</a:t>
            </a:r>
            <a:r>
              <a:rPr b="1" i="1" lang="en-US" sz="1200" u="none" cap="none" strike="noStrike">
                <a:solidFill>
                  <a:schemeClr val="dk1"/>
                </a:solidFill>
                <a:latin typeface="Calibri"/>
                <a:ea typeface="Calibri"/>
                <a:cs typeface="Calibri"/>
                <a:sym typeface="Calibri"/>
              </a:rPr>
              <a:t> i</a:t>
            </a:r>
            <a:r>
              <a:rPr b="1" i="0" lang="en-US" sz="1200" u="none" cap="none" strike="noStrike">
                <a:solidFill>
                  <a:schemeClr val="dk1"/>
                </a:solidFill>
                <a:latin typeface="Calibri"/>
                <a:ea typeface="Calibri"/>
                <a:cs typeface="Calibri"/>
                <a:sym typeface="Calibri"/>
              </a:rPr>
              <a:t> = 0, 1, …, </a:t>
            </a:r>
            <a:r>
              <a:rPr b="1" i="1" lang="en-US" sz="1200" u="none" cap="none" strike="noStrike">
                <a:solidFill>
                  <a:schemeClr val="dk1"/>
                </a:solidFill>
                <a:latin typeface="Calibri"/>
                <a:ea typeface="Calibri"/>
                <a:cs typeface="Calibri"/>
                <a:sym typeface="Calibri"/>
              </a:rPr>
              <a:t>n- </a:t>
            </a:r>
            <a:r>
              <a:rPr b="1" i="0" lang="en-US" sz="1200" u="none" cap="none" strike="noStrike">
                <a:solidFill>
                  <a:schemeClr val="dk1"/>
                </a:solidFill>
                <a:latin typeface="Calibri"/>
                <a:ea typeface="Calibri"/>
                <a:cs typeface="Calibri"/>
                <a:sym typeface="Calibri"/>
              </a:rPr>
              <a:t>1</a:t>
            </a:r>
            <a:endParaRPr/>
          </a:p>
          <a:p>
            <a:pPr indent="-342900" lvl="3" marL="1543050" marR="0" rtl="0" algn="l">
              <a:lnSpc>
                <a:spcPct val="90000"/>
              </a:lnSpc>
              <a:spcBef>
                <a:spcPts val="40"/>
              </a:spcBef>
              <a:spcAft>
                <a:spcPts val="0"/>
              </a:spcAft>
              <a:buClr>
                <a:schemeClr val="dk1"/>
              </a:buClr>
              <a:buSzPts val="200"/>
              <a:buFont typeface="Arial"/>
              <a:buNone/>
            </a:pPr>
            <a:r>
              <a:t/>
            </a:r>
            <a:endParaRPr b="0" i="0" sz="200" u="none" cap="none" strike="noStrike">
              <a:solidFill>
                <a:schemeClr val="dk1"/>
              </a:solidFill>
              <a:latin typeface="Calibri"/>
              <a:ea typeface="Calibri"/>
              <a:cs typeface="Calibri"/>
              <a:sym typeface="Calibri"/>
            </a:endParaRPr>
          </a:p>
          <a:p>
            <a:pPr indent="-342900" lvl="0" marL="342900" marR="0" rtl="0" algn="l">
              <a:lnSpc>
                <a:spcPct val="90000"/>
              </a:lnSpc>
              <a:spcBef>
                <a:spcPts val="400"/>
              </a:spcBef>
              <a:spcAft>
                <a:spcPts val="0"/>
              </a:spcAft>
              <a:buClr>
                <a:schemeClr val="dk1"/>
              </a:buClr>
              <a:buSzPts val="2000"/>
              <a:buFont typeface="Arial"/>
              <a:buNone/>
            </a:pPr>
            <a:r>
              <a:rPr b="0" i="0" lang="en-US" sz="2000" u="none" cap="none" strike="noStrike">
                <a:solidFill>
                  <a:schemeClr val="dk1"/>
                </a:solidFill>
                <a:latin typeface="Calibri"/>
                <a:ea typeface="Calibri"/>
                <a:cs typeface="Calibri"/>
                <a:sym typeface="Calibri"/>
              </a:rPr>
              <a:t>2.	Find an </a:t>
            </a:r>
            <a:r>
              <a:rPr b="1" i="1" lang="en-US" sz="2000" u="none" cap="none" strike="noStrike">
                <a:solidFill>
                  <a:schemeClr val="dk1"/>
                </a:solidFill>
                <a:latin typeface="Calibri"/>
                <a:ea typeface="Calibri"/>
                <a:cs typeface="Calibri"/>
                <a:sym typeface="Calibri"/>
              </a:rPr>
              <a:t>i</a:t>
            </a:r>
            <a:r>
              <a:rPr b="0" i="1" lang="en-US" sz="2000" u="none" cap="none" strike="noStrike">
                <a:solidFill>
                  <a:schemeClr val="dk1"/>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such that both: </a:t>
            </a:r>
            <a:endParaRPr/>
          </a:p>
          <a:p>
            <a:pPr indent="-342900" lvl="1" marL="80010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(a) </a:t>
            </a:r>
            <a:r>
              <a:rPr b="1" i="1" lang="en-US" sz="1800" u="none" cap="none" strike="noStrike">
                <a:solidFill>
                  <a:schemeClr val="dk1"/>
                </a:solidFill>
                <a:latin typeface="Calibri"/>
                <a:ea typeface="Calibri"/>
                <a:cs typeface="Calibri"/>
                <a:sym typeface="Calibri"/>
              </a:rPr>
              <a:t>Finish</a:t>
            </a:r>
            <a:r>
              <a:rPr b="1" i="0" lang="en-US" sz="1800" u="none" cap="none" strike="noStrike">
                <a:solidFill>
                  <a:schemeClr val="dk1"/>
                </a:solidFill>
                <a:latin typeface="Calibri"/>
                <a:ea typeface="Calibri"/>
                <a:cs typeface="Calibri"/>
                <a:sym typeface="Calibri"/>
              </a:rPr>
              <a:t> [</a:t>
            </a:r>
            <a:r>
              <a:rPr b="1" i="1" lang="en-US" sz="1800" u="none" cap="none" strike="noStrike">
                <a:solidFill>
                  <a:schemeClr val="dk1"/>
                </a:solidFill>
                <a:latin typeface="Calibri"/>
                <a:ea typeface="Calibri"/>
                <a:cs typeface="Calibri"/>
                <a:sym typeface="Calibri"/>
              </a:rPr>
              <a:t>i</a:t>
            </a:r>
            <a:r>
              <a:rPr b="1" i="0" lang="en-US" sz="1800" u="none" cap="none" strike="noStrike">
                <a:solidFill>
                  <a:schemeClr val="dk1"/>
                </a:solidFill>
                <a:latin typeface="Calibri"/>
                <a:ea typeface="Calibri"/>
                <a:cs typeface="Calibri"/>
                <a:sym typeface="Calibri"/>
              </a:rPr>
              <a:t>] = </a:t>
            </a:r>
            <a:r>
              <a:rPr b="1" i="1" lang="en-US" sz="1800" u="none" cap="none" strike="noStrike">
                <a:solidFill>
                  <a:schemeClr val="dk1"/>
                </a:solidFill>
                <a:latin typeface="Calibri"/>
                <a:ea typeface="Calibri"/>
                <a:cs typeface="Calibri"/>
                <a:sym typeface="Calibri"/>
              </a:rPr>
              <a:t>false</a:t>
            </a:r>
            <a:endParaRPr b="1" i="0" sz="1800" u="none" cap="none" strike="noStrike">
              <a:solidFill>
                <a:schemeClr val="dk1"/>
              </a:solidFill>
              <a:latin typeface="Calibri"/>
              <a:ea typeface="Calibri"/>
              <a:cs typeface="Calibri"/>
              <a:sym typeface="Calibri"/>
            </a:endParaRPr>
          </a:p>
          <a:p>
            <a:pPr indent="-342900" lvl="1" marL="80010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(b) </a:t>
            </a:r>
            <a:r>
              <a:rPr b="1" i="1" lang="en-US" sz="1800" u="none" cap="none" strike="noStrike">
                <a:solidFill>
                  <a:schemeClr val="dk1"/>
                </a:solidFill>
                <a:latin typeface="Calibri"/>
                <a:ea typeface="Calibri"/>
                <a:cs typeface="Calibri"/>
                <a:sym typeface="Calibri"/>
              </a:rPr>
              <a:t>Need</a:t>
            </a:r>
            <a:r>
              <a:rPr b="1" baseline="-25000" i="1" lang="en-US" sz="1800" u="none" cap="none" strike="noStrike">
                <a:solidFill>
                  <a:schemeClr val="dk1"/>
                </a:solidFill>
                <a:latin typeface="Calibri"/>
                <a:ea typeface="Calibri"/>
                <a:cs typeface="Calibri"/>
                <a:sym typeface="Calibri"/>
              </a:rPr>
              <a:t>i</a:t>
            </a:r>
            <a:r>
              <a:rPr b="1" i="0" lang="en-US" sz="1800" u="none" cap="none" strike="noStrike">
                <a:solidFill>
                  <a:schemeClr val="dk1"/>
                </a:solidFill>
                <a:latin typeface="Calibri"/>
                <a:ea typeface="Calibri"/>
                <a:cs typeface="Calibri"/>
                <a:sym typeface="Calibri"/>
              </a:rPr>
              <a:t> ≤ </a:t>
            </a:r>
            <a:r>
              <a:rPr b="1" i="1" lang="en-US" sz="1800" u="none" cap="none" strike="noStrike">
                <a:solidFill>
                  <a:schemeClr val="dk1"/>
                </a:solidFill>
                <a:latin typeface="Calibri"/>
                <a:ea typeface="Calibri"/>
                <a:cs typeface="Calibri"/>
                <a:sym typeface="Calibri"/>
              </a:rPr>
              <a:t>Work</a:t>
            </a:r>
            <a:endParaRPr/>
          </a:p>
          <a:p>
            <a:pPr indent="-342900" lvl="1" marL="80010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If no such</a:t>
            </a:r>
            <a:r>
              <a:rPr b="1" i="0" lang="en-US" sz="1800" u="none" cap="none" strike="noStrike">
                <a:solidFill>
                  <a:schemeClr val="dk1"/>
                </a:solidFill>
                <a:latin typeface="Calibri"/>
                <a:ea typeface="Calibri"/>
                <a:cs typeface="Calibri"/>
                <a:sym typeface="Calibri"/>
              </a:rPr>
              <a:t> </a:t>
            </a:r>
            <a:r>
              <a:rPr b="1" i="1" lang="en-US" sz="1800" u="none" cap="none" strike="noStrike">
                <a:solidFill>
                  <a:schemeClr val="dk1"/>
                </a:solidFill>
                <a:latin typeface="Calibri"/>
                <a:ea typeface="Calibri"/>
                <a:cs typeface="Calibri"/>
                <a:sym typeface="Calibri"/>
              </a:rPr>
              <a:t>i </a:t>
            </a:r>
            <a:r>
              <a:rPr b="0" i="0" lang="en-US" sz="1800" u="none" cap="none" strike="noStrike">
                <a:solidFill>
                  <a:schemeClr val="dk1"/>
                </a:solidFill>
                <a:latin typeface="Calibri"/>
                <a:ea typeface="Calibri"/>
                <a:cs typeface="Calibri"/>
                <a:sym typeface="Calibri"/>
              </a:rPr>
              <a:t>exists, go to step 4</a:t>
            </a:r>
            <a:endParaRPr/>
          </a:p>
          <a:p>
            <a:pPr indent="-342900" lvl="1" marL="800100" marR="0" rtl="0" algn="l">
              <a:lnSpc>
                <a:spcPct val="90000"/>
              </a:lnSpc>
              <a:spcBef>
                <a:spcPts val="40"/>
              </a:spcBef>
              <a:spcAft>
                <a:spcPts val="0"/>
              </a:spcAft>
              <a:buClr>
                <a:schemeClr val="dk1"/>
              </a:buClr>
              <a:buSzPts val="200"/>
              <a:buFont typeface="Arial"/>
              <a:buNone/>
            </a:pPr>
            <a:r>
              <a:t/>
            </a:r>
            <a:endParaRPr b="0" i="0" sz="200" u="none" cap="none" strike="noStrike">
              <a:solidFill>
                <a:schemeClr val="dk1"/>
              </a:solidFill>
              <a:latin typeface="Calibri"/>
              <a:ea typeface="Calibri"/>
              <a:cs typeface="Calibri"/>
              <a:sym typeface="Calibri"/>
            </a:endParaRPr>
          </a:p>
          <a:p>
            <a:pPr indent="-342900" lvl="0" marL="342900" marR="0" rtl="0" algn="l">
              <a:lnSpc>
                <a:spcPct val="90000"/>
              </a:lnSpc>
              <a:spcBef>
                <a:spcPts val="400"/>
              </a:spcBef>
              <a:spcAft>
                <a:spcPts val="0"/>
              </a:spcAft>
              <a:buClr>
                <a:schemeClr val="dk1"/>
              </a:buClr>
              <a:buSzPts val="2000"/>
              <a:buFont typeface="Arial"/>
              <a:buNone/>
            </a:pPr>
            <a:r>
              <a:rPr b="0" i="1" lang="en-US" sz="2000" u="none" cap="none" strike="noStrike">
                <a:solidFill>
                  <a:schemeClr val="dk1"/>
                </a:solidFill>
                <a:latin typeface="Calibri"/>
                <a:ea typeface="Calibri"/>
                <a:cs typeface="Calibri"/>
                <a:sym typeface="Calibri"/>
              </a:rPr>
              <a:t>3.  </a:t>
            </a:r>
            <a:r>
              <a:rPr b="1" i="1" lang="en-US" sz="2000" u="none" cap="none" strike="noStrike">
                <a:solidFill>
                  <a:schemeClr val="dk1"/>
                </a:solidFill>
                <a:latin typeface="Calibri"/>
                <a:ea typeface="Calibri"/>
                <a:cs typeface="Calibri"/>
                <a:sym typeface="Calibri"/>
              </a:rPr>
              <a:t>Work</a:t>
            </a:r>
            <a:r>
              <a:rPr b="1" i="0" lang="en-US" sz="2000" u="none" cap="none" strike="noStrike">
                <a:solidFill>
                  <a:schemeClr val="dk1"/>
                </a:solidFill>
                <a:latin typeface="Calibri"/>
                <a:ea typeface="Calibri"/>
                <a:cs typeface="Calibri"/>
                <a:sym typeface="Calibri"/>
              </a:rPr>
              <a:t> = </a:t>
            </a:r>
            <a:r>
              <a:rPr b="1" i="1" lang="en-US" sz="2000" u="none" cap="none" strike="noStrike">
                <a:solidFill>
                  <a:schemeClr val="dk1"/>
                </a:solidFill>
                <a:latin typeface="Calibri"/>
                <a:ea typeface="Calibri"/>
                <a:cs typeface="Calibri"/>
                <a:sym typeface="Calibri"/>
              </a:rPr>
              <a:t>Work </a:t>
            </a:r>
            <a:r>
              <a:rPr b="1" i="0" lang="en-US" sz="2000" u="none" cap="none" strike="noStrike">
                <a:solidFill>
                  <a:schemeClr val="dk1"/>
                </a:solidFill>
                <a:latin typeface="Calibri"/>
                <a:ea typeface="Calibri"/>
                <a:cs typeface="Calibri"/>
                <a:sym typeface="Calibri"/>
              </a:rPr>
              <a:t>+ </a:t>
            </a:r>
            <a:r>
              <a:rPr b="1" i="1" lang="en-US" sz="2000" u="none" cap="none" strike="noStrike">
                <a:solidFill>
                  <a:schemeClr val="dk1"/>
                </a:solidFill>
                <a:latin typeface="Calibri"/>
                <a:ea typeface="Calibri"/>
                <a:cs typeface="Calibri"/>
                <a:sym typeface="Calibri"/>
              </a:rPr>
              <a:t>Allocation</a:t>
            </a:r>
            <a:r>
              <a:rPr b="1" baseline="-25000" i="1" lang="en-US" sz="2000" u="none" cap="none" strike="noStrike">
                <a:solidFill>
                  <a:schemeClr val="dk1"/>
                </a:solidFill>
                <a:latin typeface="Calibri"/>
                <a:ea typeface="Calibri"/>
                <a:cs typeface="Calibri"/>
                <a:sym typeface="Calibri"/>
              </a:rPr>
              <a:t>i</a:t>
            </a:r>
            <a:br>
              <a:rPr b="1" i="0" lang="en-US" sz="2000" u="none" cap="none" strike="noStrike">
                <a:solidFill>
                  <a:schemeClr val="dk1"/>
                </a:solidFill>
                <a:latin typeface="Calibri"/>
                <a:ea typeface="Calibri"/>
                <a:cs typeface="Calibri"/>
                <a:sym typeface="Calibri"/>
              </a:rPr>
            </a:br>
            <a:r>
              <a:rPr b="1" i="1" lang="en-US" sz="2000" u="none" cap="none" strike="noStrike">
                <a:solidFill>
                  <a:schemeClr val="dk1"/>
                </a:solidFill>
                <a:latin typeface="Calibri"/>
                <a:ea typeface="Calibri"/>
                <a:cs typeface="Calibri"/>
                <a:sym typeface="Calibri"/>
              </a:rPr>
              <a:t>Finish</a:t>
            </a:r>
            <a:r>
              <a:rPr b="1" i="0" lang="en-US" sz="2000" u="none" cap="none" strike="noStrike">
                <a:solidFill>
                  <a:schemeClr val="dk1"/>
                </a:solidFill>
                <a:latin typeface="Calibri"/>
                <a:ea typeface="Calibri"/>
                <a:cs typeface="Calibri"/>
                <a:sym typeface="Calibri"/>
              </a:rPr>
              <a:t>[</a:t>
            </a:r>
            <a:r>
              <a:rPr b="1" i="1" lang="en-US" sz="2000" u="none" cap="none" strike="noStrike">
                <a:solidFill>
                  <a:schemeClr val="dk1"/>
                </a:solidFill>
                <a:latin typeface="Calibri"/>
                <a:ea typeface="Calibri"/>
                <a:cs typeface="Calibri"/>
                <a:sym typeface="Calibri"/>
              </a:rPr>
              <a:t>i</a:t>
            </a:r>
            <a:r>
              <a:rPr b="1" i="0" lang="en-US" sz="2000" u="none" cap="none" strike="noStrike">
                <a:solidFill>
                  <a:schemeClr val="dk1"/>
                </a:solidFill>
                <a:latin typeface="Calibri"/>
                <a:ea typeface="Calibri"/>
                <a:cs typeface="Calibri"/>
                <a:sym typeface="Calibri"/>
              </a:rPr>
              <a:t>] =</a:t>
            </a:r>
            <a:r>
              <a:rPr b="1" i="1" lang="en-US" sz="2000" u="none" cap="none" strike="noStrike">
                <a:solidFill>
                  <a:schemeClr val="dk1"/>
                </a:solidFill>
                <a:latin typeface="Calibri"/>
                <a:ea typeface="Calibri"/>
                <a:cs typeface="Calibri"/>
                <a:sym typeface="Calibri"/>
              </a:rPr>
              <a:t> true</a:t>
            </a:r>
            <a:br>
              <a:rPr b="1" i="0" lang="en-US" sz="2000" u="none" cap="none" strike="noStrike">
                <a:solidFill>
                  <a:schemeClr val="dk1"/>
                </a:solidFill>
                <a:latin typeface="Calibri"/>
                <a:ea typeface="Calibri"/>
                <a:cs typeface="Calibri"/>
                <a:sym typeface="Calibri"/>
              </a:rPr>
            </a:br>
            <a:r>
              <a:rPr b="0" i="0" lang="en-US" sz="2000" u="none" cap="none" strike="noStrike">
                <a:solidFill>
                  <a:schemeClr val="dk1"/>
                </a:solidFill>
                <a:latin typeface="Calibri"/>
                <a:ea typeface="Calibri"/>
                <a:cs typeface="Calibri"/>
                <a:sym typeface="Calibri"/>
              </a:rPr>
              <a:t>go to step 2</a:t>
            </a:r>
            <a:endParaRPr/>
          </a:p>
          <a:p>
            <a:pPr indent="-330200" lvl="0" marL="342900" marR="0" rtl="0" algn="l">
              <a:lnSpc>
                <a:spcPct val="90000"/>
              </a:lnSpc>
              <a:spcBef>
                <a:spcPts val="40"/>
              </a:spcBef>
              <a:spcAft>
                <a:spcPts val="0"/>
              </a:spcAft>
              <a:buClr>
                <a:schemeClr val="dk1"/>
              </a:buClr>
              <a:buSzPts val="200"/>
              <a:buFont typeface="Arial"/>
              <a:buNone/>
            </a:pPr>
            <a:r>
              <a:t/>
            </a:r>
            <a:endParaRPr b="0" i="0" sz="200" u="none" cap="none" strike="noStrike">
              <a:solidFill>
                <a:schemeClr val="dk1"/>
              </a:solidFill>
              <a:latin typeface="Calibri"/>
              <a:ea typeface="Calibri"/>
              <a:cs typeface="Calibri"/>
              <a:sym typeface="Calibri"/>
            </a:endParaRPr>
          </a:p>
          <a:p>
            <a:pPr indent="-342900" lvl="0" marL="342900" marR="0" rtl="0" algn="l">
              <a:lnSpc>
                <a:spcPct val="90000"/>
              </a:lnSpc>
              <a:spcBef>
                <a:spcPts val="400"/>
              </a:spcBef>
              <a:spcAft>
                <a:spcPts val="0"/>
              </a:spcAft>
              <a:buClr>
                <a:schemeClr val="dk1"/>
              </a:buClr>
              <a:buSzPts val="2000"/>
              <a:buFont typeface="Arial"/>
              <a:buNone/>
            </a:pPr>
            <a:r>
              <a:rPr b="0" i="0" lang="en-US" sz="2000" u="none" cap="none" strike="noStrike">
                <a:solidFill>
                  <a:schemeClr val="dk1"/>
                </a:solidFill>
                <a:latin typeface="Calibri"/>
                <a:ea typeface="Calibri"/>
                <a:cs typeface="Calibri"/>
                <a:sym typeface="Calibri"/>
              </a:rPr>
              <a:t>4.	If </a:t>
            </a:r>
            <a:r>
              <a:rPr b="1" i="1" lang="en-US" sz="2000" u="none" cap="none" strike="noStrike">
                <a:solidFill>
                  <a:schemeClr val="dk1"/>
                </a:solidFill>
                <a:latin typeface="Calibri"/>
                <a:ea typeface="Calibri"/>
                <a:cs typeface="Calibri"/>
                <a:sym typeface="Calibri"/>
              </a:rPr>
              <a:t>Finish</a:t>
            </a:r>
            <a:r>
              <a:rPr b="1" i="0" lang="en-US" sz="2000" u="none" cap="none" strike="noStrike">
                <a:solidFill>
                  <a:schemeClr val="dk1"/>
                </a:solidFill>
                <a:latin typeface="Calibri"/>
                <a:ea typeface="Calibri"/>
                <a:cs typeface="Calibri"/>
                <a:sym typeface="Calibri"/>
              </a:rPr>
              <a:t> [</a:t>
            </a:r>
            <a:r>
              <a:rPr b="1" i="1" lang="en-US" sz="2000" u="none" cap="none" strike="noStrike">
                <a:solidFill>
                  <a:schemeClr val="dk1"/>
                </a:solidFill>
                <a:latin typeface="Calibri"/>
                <a:ea typeface="Calibri"/>
                <a:cs typeface="Calibri"/>
                <a:sym typeface="Calibri"/>
              </a:rPr>
              <a:t>i</a:t>
            </a:r>
            <a:r>
              <a:rPr b="1" i="0" lang="en-US" sz="2000" u="none" cap="none" strike="noStrike">
                <a:solidFill>
                  <a:schemeClr val="dk1"/>
                </a:solidFill>
                <a:latin typeface="Calibri"/>
                <a:ea typeface="Calibri"/>
                <a:cs typeface="Calibri"/>
                <a:sym typeface="Calibri"/>
              </a:rPr>
              <a:t>] == </a:t>
            </a:r>
            <a:r>
              <a:rPr b="1" i="1" lang="en-US" sz="2000" u="none" cap="none" strike="noStrike">
                <a:solidFill>
                  <a:schemeClr val="dk1"/>
                </a:solidFill>
                <a:latin typeface="Calibri"/>
                <a:ea typeface="Calibri"/>
                <a:cs typeface="Calibri"/>
                <a:sym typeface="Calibri"/>
              </a:rPr>
              <a:t>true</a:t>
            </a:r>
            <a:r>
              <a:rPr b="1" i="0" lang="en-US" sz="2000" u="none" cap="none" strike="noStrike">
                <a:solidFill>
                  <a:schemeClr val="dk1"/>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for all </a:t>
            </a:r>
            <a:r>
              <a:rPr b="1" i="1" lang="en-US" sz="2000" u="none" cap="none" strike="noStrike">
                <a:solidFill>
                  <a:schemeClr val="dk1"/>
                </a:solidFill>
                <a:latin typeface="Calibri"/>
                <a:ea typeface="Calibri"/>
                <a:cs typeface="Calibri"/>
                <a:sym typeface="Calibri"/>
              </a:rPr>
              <a:t>i</a:t>
            </a:r>
            <a:r>
              <a:rPr b="0" i="0" lang="en-US" sz="2000" u="none" cap="none" strike="noStrike">
                <a:solidFill>
                  <a:schemeClr val="dk1"/>
                </a:solidFill>
                <a:latin typeface="Calibri"/>
                <a:ea typeface="Calibri"/>
                <a:cs typeface="Calibri"/>
                <a:sym typeface="Calibri"/>
              </a:rPr>
              <a:t>, then the system is in a safe state</a:t>
            </a:r>
            <a:endParaRPr/>
          </a:p>
        </p:txBody>
      </p:sp>
      <p:pic>
        <p:nvPicPr>
          <p:cNvPr id="905" name="Google Shape;905;p75"/>
          <p:cNvPicPr preferRelativeResize="0"/>
          <p:nvPr/>
        </p:nvPicPr>
        <p:blipFill rotWithShape="1">
          <a:blip r:embed="rId4">
            <a:alphaModFix/>
          </a:blip>
          <a:srcRect b="0" l="0" r="0" t="0"/>
          <a:stretch/>
        </p:blipFill>
        <p:spPr>
          <a:xfrm>
            <a:off x="4114800" y="5181600"/>
            <a:ext cx="3305175" cy="1438275"/>
          </a:xfrm>
          <a:prstGeom prst="rect">
            <a:avLst/>
          </a:prstGeom>
          <a:noFill/>
          <a:ln>
            <a:noFill/>
          </a:ln>
        </p:spPr>
      </p:pic>
      <p:pic>
        <p:nvPicPr>
          <p:cNvPr id="906" name="Google Shape;906;p75"/>
          <p:cNvPicPr preferRelativeResize="0"/>
          <p:nvPr/>
        </p:nvPicPr>
        <p:blipFill rotWithShape="1">
          <a:blip r:embed="rId5">
            <a:alphaModFix/>
          </a:blip>
          <a:srcRect b="0" l="0" r="0" t="0"/>
          <a:stretch/>
        </p:blipFill>
        <p:spPr>
          <a:xfrm>
            <a:off x="7399193" y="5153025"/>
            <a:ext cx="1619250" cy="1466850"/>
          </a:xfrm>
          <a:prstGeom prst="rect">
            <a:avLst/>
          </a:prstGeom>
          <a:noFill/>
          <a:ln>
            <a:noFill/>
          </a:ln>
        </p:spPr>
      </p:pic>
      <p:sp>
        <p:nvSpPr>
          <p:cNvPr id="907" name="Google Shape;907;p7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908" name="Google Shape;908;p7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909" name="Google Shape;909;p7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76"/>
          <p:cNvSpPr txBox="1"/>
          <p:nvPr>
            <p:ph type="title"/>
          </p:nvPr>
        </p:nvSpPr>
        <p:spPr>
          <a:xfrm>
            <a:off x="457200" y="274638"/>
            <a:ext cx="8229600" cy="3349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US" sz="2800"/>
              <a:t>Applying the Safety algorithm on the given system,</a:t>
            </a:r>
            <a:endParaRPr/>
          </a:p>
        </p:txBody>
      </p:sp>
      <p:pic>
        <p:nvPicPr>
          <p:cNvPr id="915" name="Google Shape;915;p76"/>
          <p:cNvPicPr preferRelativeResize="0"/>
          <p:nvPr>
            <p:ph idx="1" type="body"/>
          </p:nvPr>
        </p:nvPicPr>
        <p:blipFill rotWithShape="1">
          <a:blip r:embed="rId3">
            <a:alphaModFix/>
          </a:blip>
          <a:srcRect b="0" l="66667" r="0" t="0"/>
          <a:stretch/>
        </p:blipFill>
        <p:spPr>
          <a:xfrm>
            <a:off x="20781" y="838200"/>
            <a:ext cx="4322619" cy="5791200"/>
          </a:xfrm>
          <a:prstGeom prst="rect">
            <a:avLst/>
          </a:prstGeom>
          <a:noFill/>
          <a:ln>
            <a:noFill/>
          </a:ln>
        </p:spPr>
      </p:pic>
      <p:sp>
        <p:nvSpPr>
          <p:cNvPr id="916" name="Google Shape;916;p76"/>
          <p:cNvSpPr txBox="1"/>
          <p:nvPr/>
        </p:nvSpPr>
        <p:spPr>
          <a:xfrm>
            <a:off x="4243243" y="1143433"/>
            <a:ext cx="4775200" cy="4943475"/>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3200"/>
              <a:buFont typeface="Arial"/>
              <a:buNone/>
            </a:pPr>
            <a:r>
              <a:rPr b="0" i="0" lang="en-US" sz="3200" u="none" cap="none" strike="noStrike">
                <a:solidFill>
                  <a:schemeClr val="dk1"/>
                </a:solidFill>
                <a:latin typeface="Calibri"/>
                <a:ea typeface="Calibri"/>
                <a:cs typeface="Calibri"/>
                <a:sym typeface="Calibri"/>
              </a:rPr>
              <a:t>1.	</a:t>
            </a:r>
            <a:r>
              <a:rPr b="0" i="0" lang="en-US" sz="2000" u="none" cap="none" strike="noStrike">
                <a:solidFill>
                  <a:schemeClr val="dk1"/>
                </a:solidFill>
                <a:latin typeface="Calibri"/>
                <a:ea typeface="Calibri"/>
                <a:cs typeface="Calibri"/>
                <a:sym typeface="Calibri"/>
              </a:rPr>
              <a:t>Let </a:t>
            </a:r>
            <a:r>
              <a:rPr b="1" i="1" lang="en-US" sz="2000" u="none" cap="none" strike="noStrike">
                <a:solidFill>
                  <a:srgbClr val="000000"/>
                </a:solidFill>
                <a:latin typeface="Calibri"/>
                <a:ea typeface="Calibri"/>
                <a:cs typeface="Calibri"/>
                <a:sym typeface="Calibri"/>
              </a:rPr>
              <a:t>Work</a:t>
            </a:r>
            <a:r>
              <a:rPr b="0" i="1" lang="en-US" sz="2000" u="none" cap="none" strike="noStrike">
                <a:solidFill>
                  <a:srgbClr val="000000"/>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and </a:t>
            </a:r>
            <a:r>
              <a:rPr b="1" i="1" lang="en-US" sz="2000" u="none" cap="none" strike="noStrike">
                <a:solidFill>
                  <a:srgbClr val="000000"/>
                </a:solidFill>
                <a:latin typeface="Calibri"/>
                <a:ea typeface="Calibri"/>
                <a:cs typeface="Calibri"/>
                <a:sym typeface="Calibri"/>
              </a:rPr>
              <a:t>Finish</a:t>
            </a:r>
            <a:r>
              <a:rPr b="0" i="0" lang="en-US" sz="2000" u="none" cap="none" strike="noStrike">
                <a:solidFill>
                  <a:srgbClr val="000000"/>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be vectors of length</a:t>
            </a:r>
            <a:r>
              <a:rPr b="0" i="1" lang="en-US" sz="2000" u="none" cap="none" strike="noStrike">
                <a:solidFill>
                  <a:schemeClr val="dk1"/>
                </a:solidFill>
                <a:latin typeface="Calibri"/>
                <a:ea typeface="Calibri"/>
                <a:cs typeface="Calibri"/>
                <a:sym typeface="Calibri"/>
              </a:rPr>
              <a:t> m</a:t>
            </a:r>
            <a:r>
              <a:rPr b="0" i="0" lang="en-US" sz="2000" u="none" cap="none" strike="noStrike">
                <a:solidFill>
                  <a:schemeClr val="dk1"/>
                </a:solidFill>
                <a:latin typeface="Calibri"/>
                <a:ea typeface="Calibri"/>
                <a:cs typeface="Calibri"/>
                <a:sym typeface="Calibri"/>
              </a:rPr>
              <a:t> and</a:t>
            </a:r>
            <a:r>
              <a:rPr b="0" i="1" lang="en-US" sz="2000" u="none" cap="none" strike="noStrike">
                <a:solidFill>
                  <a:schemeClr val="dk1"/>
                </a:solidFill>
                <a:latin typeface="Calibri"/>
                <a:ea typeface="Calibri"/>
                <a:cs typeface="Calibri"/>
                <a:sym typeface="Calibri"/>
              </a:rPr>
              <a:t> n</a:t>
            </a:r>
            <a:r>
              <a:rPr b="0" i="0" lang="en-US" sz="2000" u="none" cap="none" strike="noStrike">
                <a:solidFill>
                  <a:schemeClr val="dk1"/>
                </a:solidFill>
                <a:latin typeface="Calibri"/>
                <a:ea typeface="Calibri"/>
                <a:cs typeface="Calibri"/>
                <a:sym typeface="Calibri"/>
              </a:rPr>
              <a:t>, respectively.  Initialize:</a:t>
            </a:r>
            <a:endParaRPr/>
          </a:p>
          <a:p>
            <a:pPr indent="-342900" lvl="3" marL="1543050" marR="0" rtl="0" algn="l">
              <a:lnSpc>
                <a:spcPct val="90000"/>
              </a:lnSpc>
              <a:spcBef>
                <a:spcPts val="240"/>
              </a:spcBef>
              <a:spcAft>
                <a:spcPts val="0"/>
              </a:spcAft>
              <a:buClr>
                <a:schemeClr val="dk1"/>
              </a:buClr>
              <a:buSzPts val="1200"/>
              <a:buFont typeface="Arial"/>
              <a:buNone/>
            </a:pPr>
            <a:r>
              <a:rPr b="1" i="1" lang="en-US" sz="1200" u="none" cap="none" strike="noStrike">
                <a:solidFill>
                  <a:schemeClr val="dk1"/>
                </a:solidFill>
                <a:latin typeface="Calibri"/>
                <a:ea typeface="Calibri"/>
                <a:cs typeface="Calibri"/>
                <a:sym typeface="Calibri"/>
              </a:rPr>
              <a:t>Work </a:t>
            </a:r>
            <a:r>
              <a:rPr b="1" i="0" lang="en-US" sz="1200" u="none" cap="none" strike="noStrike">
                <a:solidFill>
                  <a:schemeClr val="dk1"/>
                </a:solidFill>
                <a:latin typeface="Calibri"/>
                <a:ea typeface="Calibri"/>
                <a:cs typeface="Calibri"/>
                <a:sym typeface="Calibri"/>
              </a:rPr>
              <a:t>= </a:t>
            </a:r>
            <a:r>
              <a:rPr b="1" i="1" lang="en-US" sz="1200" u="none" cap="none" strike="noStrike">
                <a:solidFill>
                  <a:schemeClr val="dk1"/>
                </a:solidFill>
                <a:latin typeface="Calibri"/>
                <a:ea typeface="Calibri"/>
                <a:cs typeface="Calibri"/>
                <a:sym typeface="Calibri"/>
              </a:rPr>
              <a:t>Available</a:t>
            </a:r>
            <a:endParaRPr/>
          </a:p>
          <a:p>
            <a:pPr indent="-342900" lvl="3" marL="1543050" marR="0" rtl="0" algn="l">
              <a:lnSpc>
                <a:spcPct val="90000"/>
              </a:lnSpc>
              <a:spcBef>
                <a:spcPts val="240"/>
              </a:spcBef>
              <a:spcAft>
                <a:spcPts val="0"/>
              </a:spcAft>
              <a:buClr>
                <a:schemeClr val="dk1"/>
              </a:buClr>
              <a:buSzPts val="1200"/>
              <a:buFont typeface="Arial"/>
              <a:buNone/>
            </a:pPr>
            <a:r>
              <a:rPr b="1" i="1" lang="en-US" sz="1200" u="none" cap="none" strike="noStrike">
                <a:solidFill>
                  <a:schemeClr val="dk1"/>
                </a:solidFill>
                <a:latin typeface="Calibri"/>
                <a:ea typeface="Calibri"/>
                <a:cs typeface="Calibri"/>
                <a:sym typeface="Calibri"/>
              </a:rPr>
              <a:t>Finish </a:t>
            </a:r>
            <a:r>
              <a:rPr b="1" i="0" lang="en-US" sz="1200" u="none" cap="none" strike="noStrike">
                <a:solidFill>
                  <a:schemeClr val="dk1"/>
                </a:solidFill>
                <a:latin typeface="Calibri"/>
                <a:ea typeface="Calibri"/>
                <a:cs typeface="Calibri"/>
                <a:sym typeface="Calibri"/>
              </a:rPr>
              <a:t>[</a:t>
            </a:r>
            <a:r>
              <a:rPr b="1" i="1" lang="en-US" sz="1200" u="none" cap="none" strike="noStrike">
                <a:solidFill>
                  <a:schemeClr val="dk1"/>
                </a:solidFill>
                <a:latin typeface="Calibri"/>
                <a:ea typeface="Calibri"/>
                <a:cs typeface="Calibri"/>
                <a:sym typeface="Calibri"/>
              </a:rPr>
              <a:t>i</a:t>
            </a:r>
            <a:r>
              <a:rPr b="1" i="0" lang="en-US" sz="1200" u="none" cap="none" strike="noStrike">
                <a:solidFill>
                  <a:schemeClr val="dk1"/>
                </a:solidFill>
                <a:latin typeface="Calibri"/>
                <a:ea typeface="Calibri"/>
                <a:cs typeface="Calibri"/>
                <a:sym typeface="Calibri"/>
              </a:rPr>
              <a:t>] =</a:t>
            </a:r>
            <a:r>
              <a:rPr b="1" i="1" lang="en-US" sz="1200" u="none" cap="none" strike="noStrike">
                <a:solidFill>
                  <a:schemeClr val="dk1"/>
                </a:solidFill>
                <a:latin typeface="Calibri"/>
                <a:ea typeface="Calibri"/>
                <a:cs typeface="Calibri"/>
                <a:sym typeface="Calibri"/>
              </a:rPr>
              <a:t> false </a:t>
            </a:r>
            <a:r>
              <a:rPr b="1" i="0" lang="en-US" sz="1200" u="none" cap="none" strike="noStrike">
                <a:solidFill>
                  <a:schemeClr val="dk1"/>
                </a:solidFill>
                <a:latin typeface="Calibri"/>
                <a:ea typeface="Calibri"/>
                <a:cs typeface="Calibri"/>
                <a:sym typeface="Calibri"/>
              </a:rPr>
              <a:t>for</a:t>
            </a:r>
            <a:r>
              <a:rPr b="1" i="1" lang="en-US" sz="1200" u="none" cap="none" strike="noStrike">
                <a:solidFill>
                  <a:schemeClr val="dk1"/>
                </a:solidFill>
                <a:latin typeface="Calibri"/>
                <a:ea typeface="Calibri"/>
                <a:cs typeface="Calibri"/>
                <a:sym typeface="Calibri"/>
              </a:rPr>
              <a:t> i</a:t>
            </a:r>
            <a:r>
              <a:rPr b="1" i="0" lang="en-US" sz="1200" u="none" cap="none" strike="noStrike">
                <a:solidFill>
                  <a:schemeClr val="dk1"/>
                </a:solidFill>
                <a:latin typeface="Calibri"/>
                <a:ea typeface="Calibri"/>
                <a:cs typeface="Calibri"/>
                <a:sym typeface="Calibri"/>
              </a:rPr>
              <a:t> = 0, 1, …, </a:t>
            </a:r>
            <a:r>
              <a:rPr b="1" i="1" lang="en-US" sz="1200" u="none" cap="none" strike="noStrike">
                <a:solidFill>
                  <a:schemeClr val="dk1"/>
                </a:solidFill>
                <a:latin typeface="Calibri"/>
                <a:ea typeface="Calibri"/>
                <a:cs typeface="Calibri"/>
                <a:sym typeface="Calibri"/>
              </a:rPr>
              <a:t>n- </a:t>
            </a:r>
            <a:r>
              <a:rPr b="1" i="0" lang="en-US" sz="1200" u="none" cap="none" strike="noStrike">
                <a:solidFill>
                  <a:schemeClr val="dk1"/>
                </a:solidFill>
                <a:latin typeface="Calibri"/>
                <a:ea typeface="Calibri"/>
                <a:cs typeface="Calibri"/>
                <a:sym typeface="Calibri"/>
              </a:rPr>
              <a:t>1</a:t>
            </a:r>
            <a:endParaRPr/>
          </a:p>
          <a:p>
            <a:pPr indent="-342900" lvl="3" marL="1543050" marR="0" rtl="0" algn="l">
              <a:lnSpc>
                <a:spcPct val="90000"/>
              </a:lnSpc>
              <a:spcBef>
                <a:spcPts val="40"/>
              </a:spcBef>
              <a:spcAft>
                <a:spcPts val="0"/>
              </a:spcAft>
              <a:buClr>
                <a:schemeClr val="dk1"/>
              </a:buClr>
              <a:buSzPts val="200"/>
              <a:buFont typeface="Arial"/>
              <a:buNone/>
            </a:pPr>
            <a:r>
              <a:t/>
            </a:r>
            <a:endParaRPr b="0" i="0" sz="200" u="none" cap="none" strike="noStrike">
              <a:solidFill>
                <a:schemeClr val="dk1"/>
              </a:solidFill>
              <a:latin typeface="Calibri"/>
              <a:ea typeface="Calibri"/>
              <a:cs typeface="Calibri"/>
              <a:sym typeface="Calibri"/>
            </a:endParaRPr>
          </a:p>
          <a:p>
            <a:pPr indent="-342900" lvl="0" marL="342900" marR="0" rtl="0" algn="l">
              <a:lnSpc>
                <a:spcPct val="90000"/>
              </a:lnSpc>
              <a:spcBef>
                <a:spcPts val="400"/>
              </a:spcBef>
              <a:spcAft>
                <a:spcPts val="0"/>
              </a:spcAft>
              <a:buClr>
                <a:schemeClr val="dk1"/>
              </a:buClr>
              <a:buSzPts val="2000"/>
              <a:buFont typeface="Arial"/>
              <a:buNone/>
            </a:pPr>
            <a:r>
              <a:rPr b="0" i="0" lang="en-US" sz="2000" u="none" cap="none" strike="noStrike">
                <a:solidFill>
                  <a:schemeClr val="dk1"/>
                </a:solidFill>
                <a:latin typeface="Calibri"/>
                <a:ea typeface="Calibri"/>
                <a:cs typeface="Calibri"/>
                <a:sym typeface="Calibri"/>
              </a:rPr>
              <a:t>2.	Find an </a:t>
            </a:r>
            <a:r>
              <a:rPr b="1" i="1" lang="en-US" sz="2000" u="none" cap="none" strike="noStrike">
                <a:solidFill>
                  <a:schemeClr val="dk1"/>
                </a:solidFill>
                <a:latin typeface="Calibri"/>
                <a:ea typeface="Calibri"/>
                <a:cs typeface="Calibri"/>
                <a:sym typeface="Calibri"/>
              </a:rPr>
              <a:t>i</a:t>
            </a:r>
            <a:r>
              <a:rPr b="0" i="1" lang="en-US" sz="2000" u="none" cap="none" strike="noStrike">
                <a:solidFill>
                  <a:schemeClr val="dk1"/>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such that both: </a:t>
            </a:r>
            <a:endParaRPr/>
          </a:p>
          <a:p>
            <a:pPr indent="-342900" lvl="1" marL="80010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(a) </a:t>
            </a:r>
            <a:r>
              <a:rPr b="1" i="1" lang="en-US" sz="1800" u="none" cap="none" strike="noStrike">
                <a:solidFill>
                  <a:schemeClr val="dk1"/>
                </a:solidFill>
                <a:latin typeface="Calibri"/>
                <a:ea typeface="Calibri"/>
                <a:cs typeface="Calibri"/>
                <a:sym typeface="Calibri"/>
              </a:rPr>
              <a:t>Finish</a:t>
            </a:r>
            <a:r>
              <a:rPr b="1" i="0" lang="en-US" sz="1800" u="none" cap="none" strike="noStrike">
                <a:solidFill>
                  <a:schemeClr val="dk1"/>
                </a:solidFill>
                <a:latin typeface="Calibri"/>
                <a:ea typeface="Calibri"/>
                <a:cs typeface="Calibri"/>
                <a:sym typeface="Calibri"/>
              </a:rPr>
              <a:t> [</a:t>
            </a:r>
            <a:r>
              <a:rPr b="1" i="1" lang="en-US" sz="1800" u="none" cap="none" strike="noStrike">
                <a:solidFill>
                  <a:schemeClr val="dk1"/>
                </a:solidFill>
                <a:latin typeface="Calibri"/>
                <a:ea typeface="Calibri"/>
                <a:cs typeface="Calibri"/>
                <a:sym typeface="Calibri"/>
              </a:rPr>
              <a:t>i</a:t>
            </a:r>
            <a:r>
              <a:rPr b="1" i="0" lang="en-US" sz="1800" u="none" cap="none" strike="noStrike">
                <a:solidFill>
                  <a:schemeClr val="dk1"/>
                </a:solidFill>
                <a:latin typeface="Calibri"/>
                <a:ea typeface="Calibri"/>
                <a:cs typeface="Calibri"/>
                <a:sym typeface="Calibri"/>
              </a:rPr>
              <a:t>] = </a:t>
            </a:r>
            <a:r>
              <a:rPr b="1" i="1" lang="en-US" sz="1800" u="none" cap="none" strike="noStrike">
                <a:solidFill>
                  <a:schemeClr val="dk1"/>
                </a:solidFill>
                <a:latin typeface="Calibri"/>
                <a:ea typeface="Calibri"/>
                <a:cs typeface="Calibri"/>
                <a:sym typeface="Calibri"/>
              </a:rPr>
              <a:t>false</a:t>
            </a:r>
            <a:endParaRPr b="1" i="0" sz="1800" u="none" cap="none" strike="noStrike">
              <a:solidFill>
                <a:schemeClr val="dk1"/>
              </a:solidFill>
              <a:latin typeface="Calibri"/>
              <a:ea typeface="Calibri"/>
              <a:cs typeface="Calibri"/>
              <a:sym typeface="Calibri"/>
            </a:endParaRPr>
          </a:p>
          <a:p>
            <a:pPr indent="-342900" lvl="1" marL="80010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(b) </a:t>
            </a:r>
            <a:r>
              <a:rPr b="1" i="1" lang="en-US" sz="1800" u="none" cap="none" strike="noStrike">
                <a:solidFill>
                  <a:schemeClr val="dk1"/>
                </a:solidFill>
                <a:latin typeface="Calibri"/>
                <a:ea typeface="Calibri"/>
                <a:cs typeface="Calibri"/>
                <a:sym typeface="Calibri"/>
              </a:rPr>
              <a:t>Need</a:t>
            </a:r>
            <a:r>
              <a:rPr b="1" baseline="-25000" i="1" lang="en-US" sz="1800" u="none" cap="none" strike="noStrike">
                <a:solidFill>
                  <a:schemeClr val="dk1"/>
                </a:solidFill>
                <a:latin typeface="Calibri"/>
                <a:ea typeface="Calibri"/>
                <a:cs typeface="Calibri"/>
                <a:sym typeface="Calibri"/>
              </a:rPr>
              <a:t>i</a:t>
            </a:r>
            <a:r>
              <a:rPr b="1" i="0" lang="en-US" sz="1800" u="none" cap="none" strike="noStrike">
                <a:solidFill>
                  <a:schemeClr val="dk1"/>
                </a:solidFill>
                <a:latin typeface="Calibri"/>
                <a:ea typeface="Calibri"/>
                <a:cs typeface="Calibri"/>
                <a:sym typeface="Calibri"/>
              </a:rPr>
              <a:t> ≤ </a:t>
            </a:r>
            <a:r>
              <a:rPr b="1" i="1" lang="en-US" sz="1800" u="none" cap="none" strike="noStrike">
                <a:solidFill>
                  <a:schemeClr val="dk1"/>
                </a:solidFill>
                <a:latin typeface="Calibri"/>
                <a:ea typeface="Calibri"/>
                <a:cs typeface="Calibri"/>
                <a:sym typeface="Calibri"/>
              </a:rPr>
              <a:t>Work</a:t>
            </a:r>
            <a:endParaRPr/>
          </a:p>
          <a:p>
            <a:pPr indent="-342900" lvl="1" marL="80010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If no such</a:t>
            </a:r>
            <a:r>
              <a:rPr b="1" i="0" lang="en-US" sz="1800" u="none" cap="none" strike="noStrike">
                <a:solidFill>
                  <a:schemeClr val="dk1"/>
                </a:solidFill>
                <a:latin typeface="Calibri"/>
                <a:ea typeface="Calibri"/>
                <a:cs typeface="Calibri"/>
                <a:sym typeface="Calibri"/>
              </a:rPr>
              <a:t> </a:t>
            </a:r>
            <a:r>
              <a:rPr b="1" i="1" lang="en-US" sz="1800" u="none" cap="none" strike="noStrike">
                <a:solidFill>
                  <a:schemeClr val="dk1"/>
                </a:solidFill>
                <a:latin typeface="Calibri"/>
                <a:ea typeface="Calibri"/>
                <a:cs typeface="Calibri"/>
                <a:sym typeface="Calibri"/>
              </a:rPr>
              <a:t>i </a:t>
            </a:r>
            <a:r>
              <a:rPr b="0" i="0" lang="en-US" sz="1800" u="none" cap="none" strike="noStrike">
                <a:solidFill>
                  <a:schemeClr val="dk1"/>
                </a:solidFill>
                <a:latin typeface="Calibri"/>
                <a:ea typeface="Calibri"/>
                <a:cs typeface="Calibri"/>
                <a:sym typeface="Calibri"/>
              </a:rPr>
              <a:t>exists, go to step 4</a:t>
            </a:r>
            <a:endParaRPr/>
          </a:p>
          <a:p>
            <a:pPr indent="-342900" lvl="1" marL="800100" marR="0" rtl="0" algn="l">
              <a:lnSpc>
                <a:spcPct val="90000"/>
              </a:lnSpc>
              <a:spcBef>
                <a:spcPts val="40"/>
              </a:spcBef>
              <a:spcAft>
                <a:spcPts val="0"/>
              </a:spcAft>
              <a:buClr>
                <a:schemeClr val="dk1"/>
              </a:buClr>
              <a:buSzPts val="200"/>
              <a:buFont typeface="Arial"/>
              <a:buNone/>
            </a:pPr>
            <a:r>
              <a:t/>
            </a:r>
            <a:endParaRPr b="0" i="0" sz="200" u="none" cap="none" strike="noStrike">
              <a:solidFill>
                <a:schemeClr val="dk1"/>
              </a:solidFill>
              <a:latin typeface="Calibri"/>
              <a:ea typeface="Calibri"/>
              <a:cs typeface="Calibri"/>
              <a:sym typeface="Calibri"/>
            </a:endParaRPr>
          </a:p>
          <a:p>
            <a:pPr indent="-342900" lvl="0" marL="342900" marR="0" rtl="0" algn="l">
              <a:lnSpc>
                <a:spcPct val="90000"/>
              </a:lnSpc>
              <a:spcBef>
                <a:spcPts val="400"/>
              </a:spcBef>
              <a:spcAft>
                <a:spcPts val="0"/>
              </a:spcAft>
              <a:buClr>
                <a:schemeClr val="dk1"/>
              </a:buClr>
              <a:buSzPts val="2000"/>
              <a:buFont typeface="Arial"/>
              <a:buNone/>
            </a:pPr>
            <a:r>
              <a:rPr b="0" i="1" lang="en-US" sz="2000" u="none" cap="none" strike="noStrike">
                <a:solidFill>
                  <a:schemeClr val="dk1"/>
                </a:solidFill>
                <a:latin typeface="Calibri"/>
                <a:ea typeface="Calibri"/>
                <a:cs typeface="Calibri"/>
                <a:sym typeface="Calibri"/>
              </a:rPr>
              <a:t>3.  </a:t>
            </a:r>
            <a:r>
              <a:rPr b="1" i="1" lang="en-US" sz="2000" u="none" cap="none" strike="noStrike">
                <a:solidFill>
                  <a:schemeClr val="dk1"/>
                </a:solidFill>
                <a:latin typeface="Calibri"/>
                <a:ea typeface="Calibri"/>
                <a:cs typeface="Calibri"/>
                <a:sym typeface="Calibri"/>
              </a:rPr>
              <a:t>Work</a:t>
            </a:r>
            <a:r>
              <a:rPr b="1" i="0" lang="en-US" sz="2000" u="none" cap="none" strike="noStrike">
                <a:solidFill>
                  <a:schemeClr val="dk1"/>
                </a:solidFill>
                <a:latin typeface="Calibri"/>
                <a:ea typeface="Calibri"/>
                <a:cs typeface="Calibri"/>
                <a:sym typeface="Calibri"/>
              </a:rPr>
              <a:t> = </a:t>
            </a:r>
            <a:r>
              <a:rPr b="1" i="1" lang="en-US" sz="2000" u="none" cap="none" strike="noStrike">
                <a:solidFill>
                  <a:schemeClr val="dk1"/>
                </a:solidFill>
                <a:latin typeface="Calibri"/>
                <a:ea typeface="Calibri"/>
                <a:cs typeface="Calibri"/>
                <a:sym typeface="Calibri"/>
              </a:rPr>
              <a:t>Work </a:t>
            </a:r>
            <a:r>
              <a:rPr b="1" i="0" lang="en-US" sz="2000" u="none" cap="none" strike="noStrike">
                <a:solidFill>
                  <a:schemeClr val="dk1"/>
                </a:solidFill>
                <a:latin typeface="Calibri"/>
                <a:ea typeface="Calibri"/>
                <a:cs typeface="Calibri"/>
                <a:sym typeface="Calibri"/>
              </a:rPr>
              <a:t>+ </a:t>
            </a:r>
            <a:r>
              <a:rPr b="1" i="1" lang="en-US" sz="2000" u="none" cap="none" strike="noStrike">
                <a:solidFill>
                  <a:schemeClr val="dk1"/>
                </a:solidFill>
                <a:latin typeface="Calibri"/>
                <a:ea typeface="Calibri"/>
                <a:cs typeface="Calibri"/>
                <a:sym typeface="Calibri"/>
              </a:rPr>
              <a:t>Allocation</a:t>
            </a:r>
            <a:r>
              <a:rPr b="1" baseline="-25000" i="1" lang="en-US" sz="2000" u="none" cap="none" strike="noStrike">
                <a:solidFill>
                  <a:schemeClr val="dk1"/>
                </a:solidFill>
                <a:latin typeface="Calibri"/>
                <a:ea typeface="Calibri"/>
                <a:cs typeface="Calibri"/>
                <a:sym typeface="Calibri"/>
              </a:rPr>
              <a:t>i</a:t>
            </a:r>
            <a:br>
              <a:rPr b="1" i="0" lang="en-US" sz="2000" u="none" cap="none" strike="noStrike">
                <a:solidFill>
                  <a:schemeClr val="dk1"/>
                </a:solidFill>
                <a:latin typeface="Calibri"/>
                <a:ea typeface="Calibri"/>
                <a:cs typeface="Calibri"/>
                <a:sym typeface="Calibri"/>
              </a:rPr>
            </a:br>
            <a:r>
              <a:rPr b="1" i="1" lang="en-US" sz="2000" u="none" cap="none" strike="noStrike">
                <a:solidFill>
                  <a:schemeClr val="dk1"/>
                </a:solidFill>
                <a:latin typeface="Calibri"/>
                <a:ea typeface="Calibri"/>
                <a:cs typeface="Calibri"/>
                <a:sym typeface="Calibri"/>
              </a:rPr>
              <a:t>Finish</a:t>
            </a:r>
            <a:r>
              <a:rPr b="1" i="0" lang="en-US" sz="2000" u="none" cap="none" strike="noStrike">
                <a:solidFill>
                  <a:schemeClr val="dk1"/>
                </a:solidFill>
                <a:latin typeface="Calibri"/>
                <a:ea typeface="Calibri"/>
                <a:cs typeface="Calibri"/>
                <a:sym typeface="Calibri"/>
              </a:rPr>
              <a:t>[</a:t>
            </a:r>
            <a:r>
              <a:rPr b="1" i="1" lang="en-US" sz="2000" u="none" cap="none" strike="noStrike">
                <a:solidFill>
                  <a:schemeClr val="dk1"/>
                </a:solidFill>
                <a:latin typeface="Calibri"/>
                <a:ea typeface="Calibri"/>
                <a:cs typeface="Calibri"/>
                <a:sym typeface="Calibri"/>
              </a:rPr>
              <a:t>i</a:t>
            </a:r>
            <a:r>
              <a:rPr b="1" i="0" lang="en-US" sz="2000" u="none" cap="none" strike="noStrike">
                <a:solidFill>
                  <a:schemeClr val="dk1"/>
                </a:solidFill>
                <a:latin typeface="Calibri"/>
                <a:ea typeface="Calibri"/>
                <a:cs typeface="Calibri"/>
                <a:sym typeface="Calibri"/>
              </a:rPr>
              <a:t>] =</a:t>
            </a:r>
            <a:r>
              <a:rPr b="1" i="1" lang="en-US" sz="2000" u="none" cap="none" strike="noStrike">
                <a:solidFill>
                  <a:schemeClr val="dk1"/>
                </a:solidFill>
                <a:latin typeface="Calibri"/>
                <a:ea typeface="Calibri"/>
                <a:cs typeface="Calibri"/>
                <a:sym typeface="Calibri"/>
              </a:rPr>
              <a:t> true</a:t>
            </a:r>
            <a:br>
              <a:rPr b="1" i="0" lang="en-US" sz="2000" u="none" cap="none" strike="noStrike">
                <a:solidFill>
                  <a:schemeClr val="dk1"/>
                </a:solidFill>
                <a:latin typeface="Calibri"/>
                <a:ea typeface="Calibri"/>
                <a:cs typeface="Calibri"/>
                <a:sym typeface="Calibri"/>
              </a:rPr>
            </a:br>
            <a:r>
              <a:rPr b="0" i="0" lang="en-US" sz="2000" u="none" cap="none" strike="noStrike">
                <a:solidFill>
                  <a:schemeClr val="dk1"/>
                </a:solidFill>
                <a:latin typeface="Calibri"/>
                <a:ea typeface="Calibri"/>
                <a:cs typeface="Calibri"/>
                <a:sym typeface="Calibri"/>
              </a:rPr>
              <a:t>go to step 2</a:t>
            </a:r>
            <a:endParaRPr/>
          </a:p>
          <a:p>
            <a:pPr indent="-330200" lvl="0" marL="342900" marR="0" rtl="0" algn="l">
              <a:lnSpc>
                <a:spcPct val="90000"/>
              </a:lnSpc>
              <a:spcBef>
                <a:spcPts val="40"/>
              </a:spcBef>
              <a:spcAft>
                <a:spcPts val="0"/>
              </a:spcAft>
              <a:buClr>
                <a:schemeClr val="dk1"/>
              </a:buClr>
              <a:buSzPts val="200"/>
              <a:buFont typeface="Arial"/>
              <a:buNone/>
            </a:pPr>
            <a:r>
              <a:t/>
            </a:r>
            <a:endParaRPr b="0" i="0" sz="200" u="none" cap="none" strike="noStrike">
              <a:solidFill>
                <a:schemeClr val="dk1"/>
              </a:solidFill>
              <a:latin typeface="Calibri"/>
              <a:ea typeface="Calibri"/>
              <a:cs typeface="Calibri"/>
              <a:sym typeface="Calibri"/>
            </a:endParaRPr>
          </a:p>
          <a:p>
            <a:pPr indent="-342900" lvl="0" marL="342900" marR="0" rtl="0" algn="l">
              <a:lnSpc>
                <a:spcPct val="90000"/>
              </a:lnSpc>
              <a:spcBef>
                <a:spcPts val="400"/>
              </a:spcBef>
              <a:spcAft>
                <a:spcPts val="0"/>
              </a:spcAft>
              <a:buClr>
                <a:schemeClr val="dk1"/>
              </a:buClr>
              <a:buSzPts val="2000"/>
              <a:buFont typeface="Arial"/>
              <a:buNone/>
            </a:pPr>
            <a:r>
              <a:rPr b="0" i="0" lang="en-US" sz="2000" u="none" cap="none" strike="noStrike">
                <a:solidFill>
                  <a:schemeClr val="dk1"/>
                </a:solidFill>
                <a:latin typeface="Calibri"/>
                <a:ea typeface="Calibri"/>
                <a:cs typeface="Calibri"/>
                <a:sym typeface="Calibri"/>
              </a:rPr>
              <a:t>4.	If </a:t>
            </a:r>
            <a:r>
              <a:rPr b="1" i="1" lang="en-US" sz="2000" u="none" cap="none" strike="noStrike">
                <a:solidFill>
                  <a:schemeClr val="dk1"/>
                </a:solidFill>
                <a:latin typeface="Calibri"/>
                <a:ea typeface="Calibri"/>
                <a:cs typeface="Calibri"/>
                <a:sym typeface="Calibri"/>
              </a:rPr>
              <a:t>Finish</a:t>
            </a:r>
            <a:r>
              <a:rPr b="1" i="0" lang="en-US" sz="2000" u="none" cap="none" strike="noStrike">
                <a:solidFill>
                  <a:schemeClr val="dk1"/>
                </a:solidFill>
                <a:latin typeface="Calibri"/>
                <a:ea typeface="Calibri"/>
                <a:cs typeface="Calibri"/>
                <a:sym typeface="Calibri"/>
              </a:rPr>
              <a:t> [</a:t>
            </a:r>
            <a:r>
              <a:rPr b="1" i="1" lang="en-US" sz="2000" u="none" cap="none" strike="noStrike">
                <a:solidFill>
                  <a:schemeClr val="dk1"/>
                </a:solidFill>
                <a:latin typeface="Calibri"/>
                <a:ea typeface="Calibri"/>
                <a:cs typeface="Calibri"/>
                <a:sym typeface="Calibri"/>
              </a:rPr>
              <a:t>i</a:t>
            </a:r>
            <a:r>
              <a:rPr b="1" i="0" lang="en-US" sz="2000" u="none" cap="none" strike="noStrike">
                <a:solidFill>
                  <a:schemeClr val="dk1"/>
                </a:solidFill>
                <a:latin typeface="Calibri"/>
                <a:ea typeface="Calibri"/>
                <a:cs typeface="Calibri"/>
                <a:sym typeface="Calibri"/>
              </a:rPr>
              <a:t>] == </a:t>
            </a:r>
            <a:r>
              <a:rPr b="1" i="1" lang="en-US" sz="2000" u="none" cap="none" strike="noStrike">
                <a:solidFill>
                  <a:schemeClr val="dk1"/>
                </a:solidFill>
                <a:latin typeface="Calibri"/>
                <a:ea typeface="Calibri"/>
                <a:cs typeface="Calibri"/>
                <a:sym typeface="Calibri"/>
              </a:rPr>
              <a:t>true</a:t>
            </a:r>
            <a:r>
              <a:rPr b="1" i="0" lang="en-US" sz="2000" u="none" cap="none" strike="noStrike">
                <a:solidFill>
                  <a:schemeClr val="dk1"/>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for all </a:t>
            </a:r>
            <a:r>
              <a:rPr b="1" i="1" lang="en-US" sz="2000" u="none" cap="none" strike="noStrike">
                <a:solidFill>
                  <a:schemeClr val="dk1"/>
                </a:solidFill>
                <a:latin typeface="Calibri"/>
                <a:ea typeface="Calibri"/>
                <a:cs typeface="Calibri"/>
                <a:sym typeface="Calibri"/>
              </a:rPr>
              <a:t>i</a:t>
            </a:r>
            <a:r>
              <a:rPr b="0" i="0" lang="en-US" sz="2000" u="none" cap="none" strike="noStrike">
                <a:solidFill>
                  <a:schemeClr val="dk1"/>
                </a:solidFill>
                <a:latin typeface="Calibri"/>
                <a:ea typeface="Calibri"/>
                <a:cs typeface="Calibri"/>
                <a:sym typeface="Calibri"/>
              </a:rPr>
              <a:t>, then the system is in a safe state</a:t>
            </a:r>
            <a:endParaRPr/>
          </a:p>
        </p:txBody>
      </p:sp>
      <p:pic>
        <p:nvPicPr>
          <p:cNvPr id="917" name="Google Shape;917;p76"/>
          <p:cNvPicPr preferRelativeResize="0"/>
          <p:nvPr/>
        </p:nvPicPr>
        <p:blipFill rotWithShape="1">
          <a:blip r:embed="rId4">
            <a:alphaModFix/>
          </a:blip>
          <a:srcRect b="0" l="0" r="0" t="0"/>
          <a:stretch/>
        </p:blipFill>
        <p:spPr>
          <a:xfrm>
            <a:off x="4114800" y="5181600"/>
            <a:ext cx="3305175" cy="1438275"/>
          </a:xfrm>
          <a:prstGeom prst="rect">
            <a:avLst/>
          </a:prstGeom>
          <a:noFill/>
          <a:ln>
            <a:noFill/>
          </a:ln>
        </p:spPr>
      </p:pic>
      <p:pic>
        <p:nvPicPr>
          <p:cNvPr id="918" name="Google Shape;918;p76"/>
          <p:cNvPicPr preferRelativeResize="0"/>
          <p:nvPr/>
        </p:nvPicPr>
        <p:blipFill rotWithShape="1">
          <a:blip r:embed="rId5">
            <a:alphaModFix/>
          </a:blip>
          <a:srcRect b="0" l="0" r="0" t="0"/>
          <a:stretch/>
        </p:blipFill>
        <p:spPr>
          <a:xfrm>
            <a:off x="7448550" y="5153025"/>
            <a:ext cx="1619250" cy="1466850"/>
          </a:xfrm>
          <a:prstGeom prst="rect">
            <a:avLst/>
          </a:prstGeom>
          <a:noFill/>
          <a:ln>
            <a:noFill/>
          </a:ln>
        </p:spPr>
      </p:pic>
      <p:sp>
        <p:nvSpPr>
          <p:cNvPr id="919" name="Google Shape;919;p7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920" name="Google Shape;920;p7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921" name="Google Shape;921;p7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77"/>
          <p:cNvSpPr txBox="1"/>
          <p:nvPr>
            <p:ph type="title"/>
          </p:nvPr>
        </p:nvSpPr>
        <p:spPr>
          <a:xfrm>
            <a:off x="1273175" y="231775"/>
            <a:ext cx="7924800" cy="457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2800"/>
              <a:t>Resource-Request Algorithm for Process </a:t>
            </a:r>
            <a:r>
              <a:rPr i="1" lang="en-US" sz="2800"/>
              <a:t>P</a:t>
            </a:r>
            <a:r>
              <a:rPr baseline="-25000" i="1" lang="en-US" sz="2800"/>
              <a:t>i</a:t>
            </a:r>
            <a:endParaRPr sz="2800"/>
          </a:p>
        </p:txBody>
      </p:sp>
      <p:sp>
        <p:nvSpPr>
          <p:cNvPr id="928" name="Google Shape;928;p77"/>
          <p:cNvSpPr txBox="1"/>
          <p:nvPr>
            <p:ph idx="1" type="body"/>
          </p:nvPr>
        </p:nvSpPr>
        <p:spPr>
          <a:xfrm>
            <a:off x="822325" y="1114425"/>
            <a:ext cx="7642225" cy="4686300"/>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lnSpc>
                <a:spcPct val="90000"/>
              </a:lnSpc>
              <a:spcBef>
                <a:spcPts val="0"/>
              </a:spcBef>
              <a:spcAft>
                <a:spcPts val="0"/>
              </a:spcAft>
              <a:buClr>
                <a:schemeClr val="dk1"/>
              </a:buClr>
              <a:buSzPct val="100000"/>
              <a:buFont typeface="Arial"/>
              <a:buNone/>
            </a:pPr>
            <a:r>
              <a:rPr i="1" lang="en-US"/>
              <a:t>     </a:t>
            </a:r>
            <a:r>
              <a:rPr b="1" i="1" lang="en-US"/>
              <a:t>Request</a:t>
            </a:r>
            <a:r>
              <a:rPr b="1" baseline="-25000" i="1" lang="en-US"/>
              <a:t>i</a:t>
            </a:r>
            <a:r>
              <a:rPr lang="en-US"/>
              <a:t> = request vector for process </a:t>
            </a:r>
            <a:r>
              <a:rPr b="1" i="1" lang="en-US"/>
              <a:t>P</a:t>
            </a:r>
            <a:r>
              <a:rPr b="1" baseline="-25000" i="1" lang="en-US"/>
              <a:t>i</a:t>
            </a:r>
            <a:r>
              <a:rPr lang="en-US"/>
              <a:t>.  </a:t>
            </a:r>
            <a:endParaRPr/>
          </a:p>
          <a:p>
            <a:pPr indent="-342900" lvl="0" marL="342900" rtl="0" algn="l">
              <a:lnSpc>
                <a:spcPct val="90000"/>
              </a:lnSpc>
              <a:spcBef>
                <a:spcPts val="496"/>
              </a:spcBef>
              <a:spcAft>
                <a:spcPts val="0"/>
              </a:spcAft>
              <a:buClr>
                <a:schemeClr val="dk1"/>
              </a:buClr>
              <a:buSzPct val="100000"/>
              <a:buFont typeface="Arial"/>
              <a:buNone/>
            </a:pPr>
            <a:r>
              <a:rPr lang="en-US"/>
              <a:t>If </a:t>
            </a:r>
            <a:r>
              <a:rPr b="1" i="1" lang="en-US"/>
              <a:t>Request</a:t>
            </a:r>
            <a:r>
              <a:rPr b="1" baseline="-25000" i="1" lang="en-US"/>
              <a:t>i</a:t>
            </a:r>
            <a:r>
              <a:rPr b="1" baseline="-25000" lang="en-US"/>
              <a:t> </a:t>
            </a:r>
            <a:r>
              <a:rPr b="1" lang="en-US"/>
              <a:t>[</a:t>
            </a:r>
            <a:r>
              <a:rPr b="1" i="1" lang="en-US"/>
              <a:t>j</a:t>
            </a:r>
            <a:r>
              <a:rPr b="1" lang="en-US"/>
              <a:t>] = </a:t>
            </a:r>
            <a:r>
              <a:rPr b="1" i="1" lang="en-US"/>
              <a:t>k</a:t>
            </a:r>
            <a:r>
              <a:rPr b="1" lang="en-US"/>
              <a:t> </a:t>
            </a:r>
            <a:r>
              <a:rPr lang="en-US"/>
              <a:t>then process </a:t>
            </a:r>
            <a:r>
              <a:rPr b="1" i="1" lang="en-US"/>
              <a:t>P</a:t>
            </a:r>
            <a:r>
              <a:rPr b="1" baseline="-25000" i="1" lang="en-US"/>
              <a:t>i</a:t>
            </a:r>
            <a:r>
              <a:rPr lang="en-US"/>
              <a:t> wants </a:t>
            </a:r>
            <a:r>
              <a:rPr b="1" i="1" lang="en-US"/>
              <a:t>k</a:t>
            </a:r>
            <a:r>
              <a:rPr lang="en-US"/>
              <a:t> instances of resource type </a:t>
            </a:r>
            <a:r>
              <a:rPr b="1" i="1" lang="en-US"/>
              <a:t>R</a:t>
            </a:r>
            <a:r>
              <a:rPr b="1" baseline="-25000" i="1" lang="en-US"/>
              <a:t>j</a:t>
            </a:r>
            <a:endParaRPr b="1" baseline="-25000"/>
          </a:p>
          <a:p>
            <a:pPr indent="-285750" lvl="1" marL="742950" rtl="0" algn="l">
              <a:lnSpc>
                <a:spcPct val="90000"/>
              </a:lnSpc>
              <a:spcBef>
                <a:spcPts val="434"/>
              </a:spcBef>
              <a:spcAft>
                <a:spcPts val="0"/>
              </a:spcAft>
              <a:buClr>
                <a:schemeClr val="dk1"/>
              </a:buClr>
              <a:buSzPct val="100000"/>
              <a:buFont typeface="Arial"/>
              <a:buNone/>
            </a:pPr>
            <a:r>
              <a:rPr lang="en-US"/>
              <a:t>1.	If </a:t>
            </a:r>
            <a:r>
              <a:rPr b="1" i="1" lang="en-US"/>
              <a:t>Request</a:t>
            </a:r>
            <a:r>
              <a:rPr b="1" baseline="-25000" i="1" lang="en-US"/>
              <a:t>i</a:t>
            </a:r>
            <a:r>
              <a:rPr b="1" i="1" lang="en-US"/>
              <a:t> </a:t>
            </a:r>
            <a:r>
              <a:rPr b="1" lang="en-US"/>
              <a:t>≤ </a:t>
            </a:r>
            <a:r>
              <a:rPr b="1" i="1" lang="en-US"/>
              <a:t>Need</a:t>
            </a:r>
            <a:r>
              <a:rPr b="1" baseline="-25000" i="1" lang="en-US"/>
              <a:t>i</a:t>
            </a:r>
            <a:r>
              <a:rPr b="1" i="1" lang="en-US"/>
              <a:t> </a:t>
            </a:r>
            <a:r>
              <a:rPr lang="en-US"/>
              <a:t>go to step 2.  Otherwise, </a:t>
            </a:r>
            <a:r>
              <a:rPr b="1" lang="en-US">
                <a:solidFill>
                  <a:srgbClr val="0070C0"/>
                </a:solidFill>
              </a:rPr>
              <a:t>raise error </a:t>
            </a:r>
            <a:r>
              <a:rPr lang="en-US"/>
              <a:t>condition, since process has exceeded its maximum claim</a:t>
            </a:r>
            <a:endParaRPr/>
          </a:p>
          <a:p>
            <a:pPr indent="-285750" lvl="1" marL="742950" rtl="0" algn="l">
              <a:lnSpc>
                <a:spcPct val="90000"/>
              </a:lnSpc>
              <a:spcBef>
                <a:spcPts val="434"/>
              </a:spcBef>
              <a:spcAft>
                <a:spcPts val="0"/>
              </a:spcAft>
              <a:buClr>
                <a:schemeClr val="dk1"/>
              </a:buClr>
              <a:buSzPct val="100000"/>
              <a:buFont typeface="Arial"/>
              <a:buNone/>
            </a:pPr>
            <a:r>
              <a:rPr lang="en-US"/>
              <a:t>2.	If </a:t>
            </a:r>
            <a:r>
              <a:rPr b="1" i="1" lang="en-US"/>
              <a:t>Request</a:t>
            </a:r>
            <a:r>
              <a:rPr b="1" baseline="-25000" i="1" lang="en-US"/>
              <a:t>i</a:t>
            </a:r>
            <a:r>
              <a:rPr b="1" lang="en-US"/>
              <a:t> ≤ </a:t>
            </a:r>
            <a:r>
              <a:rPr b="1" i="1" lang="en-US"/>
              <a:t>Available</a:t>
            </a:r>
            <a:r>
              <a:rPr lang="en-US"/>
              <a:t>, go to step 3.  Otherwise </a:t>
            </a:r>
            <a:r>
              <a:rPr b="1" i="1" lang="en-US">
                <a:solidFill>
                  <a:srgbClr val="0070C0"/>
                </a:solidFill>
              </a:rPr>
              <a:t>P</a:t>
            </a:r>
            <a:r>
              <a:rPr b="1" baseline="-25000" i="1" lang="en-US">
                <a:solidFill>
                  <a:srgbClr val="0070C0"/>
                </a:solidFill>
              </a:rPr>
              <a:t>i</a:t>
            </a:r>
            <a:r>
              <a:rPr b="1" lang="en-US">
                <a:solidFill>
                  <a:srgbClr val="0070C0"/>
                </a:solidFill>
              </a:rPr>
              <a:t>  must wait</a:t>
            </a:r>
            <a:r>
              <a:rPr lang="en-US"/>
              <a:t>, since resources are not available</a:t>
            </a:r>
            <a:endParaRPr/>
          </a:p>
          <a:p>
            <a:pPr indent="-285750" lvl="1" marL="742950" rtl="0" algn="l">
              <a:lnSpc>
                <a:spcPct val="90000"/>
              </a:lnSpc>
              <a:spcBef>
                <a:spcPts val="434"/>
              </a:spcBef>
              <a:spcAft>
                <a:spcPts val="0"/>
              </a:spcAft>
              <a:buClr>
                <a:schemeClr val="dk1"/>
              </a:buClr>
              <a:buSzPct val="100000"/>
              <a:buFont typeface="Arial"/>
              <a:buNone/>
            </a:pPr>
            <a:r>
              <a:rPr lang="en-US"/>
              <a:t>3.	Pretend to allocate requested resources to </a:t>
            </a:r>
            <a:r>
              <a:rPr b="1" i="1" lang="en-US"/>
              <a:t>P</a:t>
            </a:r>
            <a:r>
              <a:rPr b="1" baseline="-25000" i="1" lang="en-US"/>
              <a:t>i</a:t>
            </a:r>
            <a:r>
              <a:rPr lang="en-US"/>
              <a:t> by modifying the state as follows:</a:t>
            </a:r>
            <a:endParaRPr/>
          </a:p>
          <a:p>
            <a:pPr indent="-228600" lvl="3" marL="1600200" rtl="0" algn="l">
              <a:lnSpc>
                <a:spcPct val="90000"/>
              </a:lnSpc>
              <a:spcBef>
                <a:spcPts val="310"/>
              </a:spcBef>
              <a:spcAft>
                <a:spcPts val="0"/>
              </a:spcAft>
              <a:buClr>
                <a:schemeClr val="dk1"/>
              </a:buClr>
              <a:buSzPct val="100000"/>
              <a:buFont typeface="Calibri"/>
              <a:buNone/>
            </a:pPr>
            <a:r>
              <a:rPr lang="en-US"/>
              <a:t>		</a:t>
            </a:r>
            <a:r>
              <a:rPr b="1" i="1" lang="en-US"/>
              <a:t>Available</a:t>
            </a:r>
            <a:r>
              <a:rPr b="1" lang="en-US"/>
              <a:t> = </a:t>
            </a:r>
            <a:r>
              <a:rPr b="1" i="1" lang="en-US"/>
              <a:t>Available  </a:t>
            </a:r>
            <a:r>
              <a:rPr b="1" lang="en-US"/>
              <a:t>–</a:t>
            </a:r>
            <a:r>
              <a:rPr b="1" i="1" lang="en-US"/>
              <a:t> Request</a:t>
            </a:r>
            <a:r>
              <a:rPr b="1" baseline="-25000" i="1" lang="en-US"/>
              <a:t>i</a:t>
            </a:r>
            <a:r>
              <a:rPr b="1" i="1" lang="en-US"/>
              <a:t>;</a:t>
            </a:r>
            <a:endParaRPr/>
          </a:p>
          <a:p>
            <a:pPr indent="-228600" lvl="3" marL="1600200" rtl="0" algn="l">
              <a:lnSpc>
                <a:spcPct val="90000"/>
              </a:lnSpc>
              <a:spcBef>
                <a:spcPts val="310"/>
              </a:spcBef>
              <a:spcAft>
                <a:spcPts val="0"/>
              </a:spcAft>
              <a:buClr>
                <a:schemeClr val="dk1"/>
              </a:buClr>
              <a:buSzPct val="100000"/>
              <a:buFont typeface="Calibri"/>
              <a:buNone/>
            </a:pPr>
            <a:r>
              <a:rPr b="1" lang="en-US"/>
              <a:t>		</a:t>
            </a:r>
            <a:r>
              <a:rPr b="1" i="1" lang="en-US"/>
              <a:t>Allocation</a:t>
            </a:r>
            <a:r>
              <a:rPr b="1" baseline="-25000" i="1" lang="en-US"/>
              <a:t>i</a:t>
            </a:r>
            <a:r>
              <a:rPr b="1" baseline="-25000" lang="en-US"/>
              <a:t> </a:t>
            </a:r>
            <a:r>
              <a:rPr b="1" lang="en-US"/>
              <a:t>= </a:t>
            </a:r>
            <a:r>
              <a:rPr b="1" i="1" lang="en-US"/>
              <a:t>Allocation</a:t>
            </a:r>
            <a:r>
              <a:rPr b="1" baseline="-25000" i="1" lang="en-US"/>
              <a:t>i</a:t>
            </a:r>
            <a:r>
              <a:rPr b="1" lang="en-US"/>
              <a:t> + </a:t>
            </a:r>
            <a:r>
              <a:rPr b="1" i="1" lang="en-US"/>
              <a:t>Request</a:t>
            </a:r>
            <a:r>
              <a:rPr b="1" baseline="-25000" i="1" lang="en-US"/>
              <a:t>i</a:t>
            </a:r>
            <a:r>
              <a:rPr b="1" lang="en-US"/>
              <a:t>;</a:t>
            </a:r>
            <a:endParaRPr/>
          </a:p>
          <a:p>
            <a:pPr indent="-228600" lvl="3" marL="1600200" rtl="0" algn="l">
              <a:lnSpc>
                <a:spcPct val="90000"/>
              </a:lnSpc>
              <a:spcBef>
                <a:spcPts val="310"/>
              </a:spcBef>
              <a:spcAft>
                <a:spcPts val="0"/>
              </a:spcAft>
              <a:buClr>
                <a:schemeClr val="dk1"/>
              </a:buClr>
              <a:buSzPct val="100000"/>
              <a:buFont typeface="Calibri"/>
              <a:buNone/>
            </a:pPr>
            <a:r>
              <a:rPr b="1" lang="en-US"/>
              <a:t>		</a:t>
            </a:r>
            <a:r>
              <a:rPr b="1" i="1" lang="en-US"/>
              <a:t>Need</a:t>
            </a:r>
            <a:r>
              <a:rPr b="1" baseline="-25000" i="1" lang="en-US"/>
              <a:t>i</a:t>
            </a:r>
            <a:r>
              <a:rPr b="1" i="1" lang="en-US"/>
              <a:t> </a:t>
            </a:r>
            <a:r>
              <a:rPr b="1" lang="en-US"/>
              <a:t>=</a:t>
            </a:r>
            <a:r>
              <a:rPr b="1" i="1" lang="en-US"/>
              <a:t> Need</a:t>
            </a:r>
            <a:r>
              <a:rPr b="1" baseline="-25000" i="1" lang="en-US"/>
              <a:t>i</a:t>
            </a:r>
            <a:r>
              <a:rPr b="1" lang="en-US"/>
              <a:t> – </a:t>
            </a:r>
            <a:r>
              <a:rPr b="1" i="1" lang="en-US"/>
              <a:t>Request</a:t>
            </a:r>
            <a:r>
              <a:rPr b="1" baseline="-25000" i="1" lang="en-US"/>
              <a:t>i</a:t>
            </a:r>
            <a:r>
              <a:rPr b="1" i="1" lang="en-US"/>
              <a:t>;</a:t>
            </a:r>
            <a:endParaRPr/>
          </a:p>
          <a:p>
            <a:pPr indent="-285750" lvl="1" marL="742950" rtl="0" algn="l">
              <a:lnSpc>
                <a:spcPct val="90000"/>
              </a:lnSpc>
              <a:spcBef>
                <a:spcPts val="434"/>
              </a:spcBef>
              <a:spcAft>
                <a:spcPts val="0"/>
              </a:spcAft>
              <a:buClr>
                <a:srgbClr val="CC6600"/>
              </a:buClr>
              <a:buSzPct val="80000"/>
              <a:buFont typeface="Arial"/>
              <a:buChar char="●"/>
            </a:pPr>
            <a:r>
              <a:rPr b="1" lang="en-US">
                <a:solidFill>
                  <a:srgbClr val="0070C0"/>
                </a:solidFill>
              </a:rPr>
              <a:t>Apply Safety Algorithm</a:t>
            </a:r>
            <a:endParaRPr/>
          </a:p>
          <a:p>
            <a:pPr indent="-228600" lvl="2" marL="1143000" rtl="0" algn="l">
              <a:lnSpc>
                <a:spcPct val="90000"/>
              </a:lnSpc>
              <a:spcBef>
                <a:spcPts val="372"/>
              </a:spcBef>
              <a:spcAft>
                <a:spcPts val="0"/>
              </a:spcAft>
              <a:buClr>
                <a:srgbClr val="CC6600"/>
              </a:buClr>
              <a:buSzPct val="80000"/>
              <a:buFont typeface="Arial"/>
              <a:buChar char="●"/>
            </a:pPr>
            <a:r>
              <a:rPr lang="en-US"/>
              <a:t>If safe ⇒ the resources are allocated to </a:t>
            </a:r>
            <a:r>
              <a:rPr b="1" i="1" lang="en-US"/>
              <a:t>P</a:t>
            </a:r>
            <a:r>
              <a:rPr b="1" baseline="-25000" i="1" lang="en-US"/>
              <a:t>i</a:t>
            </a:r>
            <a:endParaRPr/>
          </a:p>
          <a:p>
            <a:pPr indent="-228600" lvl="2" marL="1143000" rtl="0" algn="l">
              <a:lnSpc>
                <a:spcPct val="90000"/>
              </a:lnSpc>
              <a:spcBef>
                <a:spcPts val="372"/>
              </a:spcBef>
              <a:spcAft>
                <a:spcPts val="0"/>
              </a:spcAft>
              <a:buClr>
                <a:srgbClr val="CC6600"/>
              </a:buClr>
              <a:buSzPct val="80000"/>
              <a:buFont typeface="Arial"/>
              <a:buChar char="●"/>
            </a:pPr>
            <a:r>
              <a:rPr lang="en-US"/>
              <a:t>If unsafe ⇒ </a:t>
            </a:r>
            <a:r>
              <a:rPr b="1" i="1" lang="en-US"/>
              <a:t>P</a:t>
            </a:r>
            <a:r>
              <a:rPr b="1" baseline="-25000" i="1" lang="en-US"/>
              <a:t>i</a:t>
            </a:r>
            <a:r>
              <a:rPr lang="en-US"/>
              <a:t> must wait, and the old resource-allocation state is restored</a:t>
            </a:r>
            <a:endParaRPr/>
          </a:p>
        </p:txBody>
      </p:sp>
      <p:sp>
        <p:nvSpPr>
          <p:cNvPr id="929" name="Google Shape;929;p7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930" name="Google Shape;930;p7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931" name="Google Shape;931;p7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78"/>
          <p:cNvSpPr txBox="1"/>
          <p:nvPr>
            <p:ph type="title"/>
          </p:nvPr>
        </p:nvSpPr>
        <p:spPr>
          <a:xfrm>
            <a:off x="762000" y="0"/>
            <a:ext cx="7869237" cy="5762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US" sz="2800"/>
              <a:t>Example:  </a:t>
            </a:r>
            <a:r>
              <a:rPr i="1" lang="en-US" sz="2800"/>
              <a:t>P</a:t>
            </a:r>
            <a:r>
              <a:rPr baseline="-25000" lang="en-US" sz="2800"/>
              <a:t>1</a:t>
            </a:r>
            <a:r>
              <a:rPr lang="en-US" sz="2800"/>
              <a:t> </a:t>
            </a:r>
            <a:r>
              <a:rPr lang="en-US" sz="2800">
                <a:extLst>
                  <a:ext uri="http://customooxmlschemas.google.com/">
                    <go:slidesCustomData xmlns:go="http://customooxmlschemas.google.com/" textRoundtripDataId="0"/>
                  </a:ext>
                </a:extLst>
              </a:rPr>
              <a:t>Request</a:t>
            </a:r>
            <a:r>
              <a:rPr lang="en-US" sz="2800"/>
              <a:t> (1,0,2)</a:t>
            </a:r>
            <a:endParaRPr/>
          </a:p>
        </p:txBody>
      </p:sp>
      <p:sp>
        <p:nvSpPr>
          <p:cNvPr id="938" name="Google Shape;938;p78"/>
          <p:cNvSpPr txBox="1"/>
          <p:nvPr>
            <p:ph idx="1" type="body"/>
          </p:nvPr>
        </p:nvSpPr>
        <p:spPr>
          <a:xfrm>
            <a:off x="533400" y="2082511"/>
            <a:ext cx="7766050" cy="45720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000"/>
              <a:buChar char="•"/>
            </a:pPr>
            <a:r>
              <a:rPr lang="en-US" sz="2000"/>
              <a:t>Check that Request ≤ Available (that is, (1,0,2) ≤ (3,3,2) ⇒ true</a:t>
            </a:r>
            <a:endParaRPr i="1" sz="2000"/>
          </a:p>
          <a:p>
            <a:pPr indent="-342900" lvl="0" marL="342900" rtl="0" algn="l">
              <a:spcBef>
                <a:spcPts val="400"/>
              </a:spcBef>
              <a:spcAft>
                <a:spcPts val="0"/>
              </a:spcAft>
              <a:buClr>
                <a:schemeClr val="dk1"/>
              </a:buClr>
              <a:buSzPts val="2000"/>
              <a:buFont typeface="Arial"/>
              <a:buNone/>
            </a:pPr>
            <a:r>
              <a:rPr i="1" lang="en-US" sz="2000"/>
              <a:t>			</a:t>
            </a:r>
            <a:r>
              <a:rPr i="1" lang="en-US" sz="2000" u="sng"/>
              <a:t>Allocation</a:t>
            </a:r>
            <a:r>
              <a:rPr i="1" lang="en-US" sz="2000"/>
              <a:t>	</a:t>
            </a:r>
            <a:r>
              <a:rPr i="1" lang="en-US" sz="2000" u="sng"/>
              <a:t>Need</a:t>
            </a:r>
            <a:r>
              <a:rPr i="1" lang="en-US" sz="2000"/>
              <a:t>	   </a:t>
            </a:r>
            <a:r>
              <a:rPr i="1" lang="en-US" sz="2000" u="sng"/>
              <a:t>Available</a:t>
            </a:r>
            <a:endParaRPr i="1" sz="2000"/>
          </a:p>
          <a:p>
            <a:pPr indent="-342900" lvl="0" marL="342900" rtl="0" algn="l">
              <a:spcBef>
                <a:spcPts val="400"/>
              </a:spcBef>
              <a:spcAft>
                <a:spcPts val="0"/>
              </a:spcAft>
              <a:buClr>
                <a:schemeClr val="dk1"/>
              </a:buClr>
              <a:buSzPts val="2000"/>
              <a:buFont typeface="Arial"/>
              <a:buNone/>
            </a:pPr>
            <a:r>
              <a:rPr i="1" lang="en-US" sz="2000"/>
              <a:t>			A B C	A B C	 A B C </a:t>
            </a:r>
            <a:endParaRPr/>
          </a:p>
          <a:p>
            <a:pPr indent="-342900" lvl="0" marL="342900" rtl="0" algn="l">
              <a:spcBef>
                <a:spcPts val="400"/>
              </a:spcBef>
              <a:spcAft>
                <a:spcPts val="0"/>
              </a:spcAft>
              <a:buClr>
                <a:schemeClr val="dk1"/>
              </a:buClr>
              <a:buSzPts val="2000"/>
              <a:buFont typeface="Arial"/>
              <a:buNone/>
            </a:pPr>
            <a:r>
              <a:rPr lang="en-US" sz="2000"/>
              <a:t>		</a:t>
            </a:r>
            <a:r>
              <a:rPr i="1" lang="en-US" sz="2000"/>
              <a:t>P</a:t>
            </a:r>
            <a:r>
              <a:rPr baseline="-25000" lang="en-US" sz="2000"/>
              <a:t>0</a:t>
            </a:r>
            <a:r>
              <a:rPr lang="en-US" sz="2000"/>
              <a:t>	0 1 0 	7 4 3 	2 3 0</a:t>
            </a:r>
            <a:endParaRPr/>
          </a:p>
          <a:p>
            <a:pPr indent="-342900" lvl="0" marL="342900" rtl="0" algn="l">
              <a:spcBef>
                <a:spcPts val="400"/>
              </a:spcBef>
              <a:spcAft>
                <a:spcPts val="0"/>
              </a:spcAft>
              <a:buClr>
                <a:schemeClr val="dk1"/>
              </a:buClr>
              <a:buSzPts val="2000"/>
              <a:buFont typeface="Arial"/>
              <a:buNone/>
            </a:pPr>
            <a:r>
              <a:rPr lang="en-US" sz="2000"/>
              <a:t>		</a:t>
            </a:r>
            <a:r>
              <a:rPr i="1" lang="en-US" sz="2000"/>
              <a:t>P</a:t>
            </a:r>
            <a:r>
              <a:rPr baseline="-25000" lang="en-US" sz="2000"/>
              <a:t>1</a:t>
            </a:r>
            <a:r>
              <a:rPr lang="en-US" sz="2000"/>
              <a:t>	      3 0 2             0 2 0 	</a:t>
            </a:r>
            <a:endParaRPr/>
          </a:p>
          <a:p>
            <a:pPr indent="-342900" lvl="0" marL="342900" rtl="0" algn="l">
              <a:spcBef>
                <a:spcPts val="400"/>
              </a:spcBef>
              <a:spcAft>
                <a:spcPts val="0"/>
              </a:spcAft>
              <a:buClr>
                <a:schemeClr val="dk1"/>
              </a:buClr>
              <a:buSzPts val="2000"/>
              <a:buFont typeface="Arial"/>
              <a:buNone/>
            </a:pPr>
            <a:r>
              <a:rPr lang="en-US" sz="2000"/>
              <a:t>		</a:t>
            </a:r>
            <a:r>
              <a:rPr i="1" lang="en-US" sz="2000"/>
              <a:t>P</a:t>
            </a:r>
            <a:r>
              <a:rPr baseline="-25000" lang="en-US" sz="2000"/>
              <a:t>2</a:t>
            </a:r>
            <a:r>
              <a:rPr lang="en-US" sz="2000"/>
              <a:t>	3 0 2 	 6 0 0 </a:t>
            </a:r>
            <a:endParaRPr/>
          </a:p>
          <a:p>
            <a:pPr indent="-342900" lvl="0" marL="342900" rtl="0" algn="l">
              <a:spcBef>
                <a:spcPts val="400"/>
              </a:spcBef>
              <a:spcAft>
                <a:spcPts val="0"/>
              </a:spcAft>
              <a:buClr>
                <a:schemeClr val="dk1"/>
              </a:buClr>
              <a:buSzPts val="2000"/>
              <a:buFont typeface="Arial"/>
              <a:buNone/>
            </a:pPr>
            <a:r>
              <a:rPr lang="en-US" sz="2000"/>
              <a:t>		</a:t>
            </a:r>
            <a:r>
              <a:rPr i="1" lang="en-US" sz="2000"/>
              <a:t>P</a:t>
            </a:r>
            <a:r>
              <a:rPr baseline="-25000" lang="en-US" sz="2000"/>
              <a:t>3</a:t>
            </a:r>
            <a:r>
              <a:rPr lang="en-US" sz="2000"/>
              <a:t>	2 1 1 	0 1 1</a:t>
            </a:r>
            <a:endParaRPr/>
          </a:p>
          <a:p>
            <a:pPr indent="-342900" lvl="0" marL="342900" rtl="0" algn="l">
              <a:spcBef>
                <a:spcPts val="400"/>
              </a:spcBef>
              <a:spcAft>
                <a:spcPts val="0"/>
              </a:spcAft>
              <a:buClr>
                <a:schemeClr val="dk1"/>
              </a:buClr>
              <a:buSzPts val="2000"/>
              <a:buFont typeface="Arial"/>
              <a:buNone/>
            </a:pPr>
            <a:r>
              <a:rPr lang="en-US" sz="2000"/>
              <a:t>		</a:t>
            </a:r>
            <a:r>
              <a:rPr i="1" lang="en-US" sz="2000"/>
              <a:t>P</a:t>
            </a:r>
            <a:r>
              <a:rPr baseline="-25000" lang="en-US" sz="2000"/>
              <a:t>4</a:t>
            </a:r>
            <a:r>
              <a:rPr lang="en-US" sz="2000"/>
              <a:t>	0 0 2 	 4 3 1 </a:t>
            </a:r>
            <a:endParaRPr/>
          </a:p>
          <a:p>
            <a:pPr indent="-342900" lvl="0" marL="342900" rtl="0" algn="l">
              <a:spcBef>
                <a:spcPts val="80"/>
              </a:spcBef>
              <a:spcAft>
                <a:spcPts val="0"/>
              </a:spcAft>
              <a:buClr>
                <a:schemeClr val="dk1"/>
              </a:buClr>
              <a:buSzPts val="400"/>
              <a:buFont typeface="Arial"/>
              <a:buNone/>
            </a:pPr>
            <a:r>
              <a:t/>
            </a:r>
            <a:endParaRPr sz="400"/>
          </a:p>
          <a:p>
            <a:pPr indent="-342900" lvl="0" marL="342900" rtl="0" algn="l">
              <a:spcBef>
                <a:spcPts val="400"/>
              </a:spcBef>
              <a:spcAft>
                <a:spcPts val="0"/>
              </a:spcAft>
              <a:buClr>
                <a:schemeClr val="dk1"/>
              </a:buClr>
              <a:buSzPts val="2000"/>
              <a:buChar char="•"/>
            </a:pPr>
            <a:r>
              <a:rPr lang="en-US" sz="2000"/>
              <a:t>Executing safety algorithm shows that sequence &lt; </a:t>
            </a:r>
            <a:r>
              <a:rPr b="1" i="1" lang="en-US" sz="2000"/>
              <a:t>P</a:t>
            </a:r>
            <a:r>
              <a:rPr b="1" baseline="-25000" lang="en-US" sz="2000"/>
              <a:t>1</a:t>
            </a:r>
            <a:r>
              <a:rPr b="1" lang="en-US" sz="2000"/>
              <a:t>, </a:t>
            </a:r>
            <a:r>
              <a:rPr b="1" i="1" lang="en-US" sz="2000"/>
              <a:t>P</a:t>
            </a:r>
            <a:r>
              <a:rPr b="1" baseline="-25000" lang="en-US" sz="2000"/>
              <a:t>3</a:t>
            </a:r>
            <a:r>
              <a:rPr b="1" lang="en-US" sz="2000"/>
              <a:t>, </a:t>
            </a:r>
            <a:r>
              <a:rPr b="1" i="1" lang="en-US" sz="2000"/>
              <a:t>P</a:t>
            </a:r>
            <a:r>
              <a:rPr b="1" baseline="-25000" lang="en-US" sz="2000"/>
              <a:t>4</a:t>
            </a:r>
            <a:r>
              <a:rPr b="1" lang="en-US" sz="2000"/>
              <a:t>, </a:t>
            </a:r>
            <a:r>
              <a:rPr b="1" i="1" lang="en-US" sz="2000"/>
              <a:t>P</a:t>
            </a:r>
            <a:r>
              <a:rPr b="1" baseline="-25000" lang="en-US" sz="2000"/>
              <a:t>0</a:t>
            </a:r>
            <a:r>
              <a:rPr b="1" lang="en-US" sz="2000"/>
              <a:t>, </a:t>
            </a:r>
            <a:r>
              <a:rPr b="1" i="1" lang="en-US" sz="2000"/>
              <a:t>P</a:t>
            </a:r>
            <a:r>
              <a:rPr b="1" baseline="-25000" lang="en-US" sz="2000"/>
              <a:t>2</a:t>
            </a:r>
            <a:r>
              <a:rPr lang="en-US" sz="2000"/>
              <a:t>&gt; satisfies safety requirement</a:t>
            </a:r>
            <a:endParaRPr/>
          </a:p>
          <a:p>
            <a:pPr indent="-317500" lvl="0" marL="342900" rtl="0" algn="l">
              <a:spcBef>
                <a:spcPts val="80"/>
              </a:spcBef>
              <a:spcAft>
                <a:spcPts val="0"/>
              </a:spcAft>
              <a:buClr>
                <a:schemeClr val="dk1"/>
              </a:buClr>
              <a:buSzPts val="400"/>
              <a:buNone/>
            </a:pPr>
            <a:r>
              <a:t/>
            </a:r>
            <a:endParaRPr sz="400"/>
          </a:p>
          <a:p>
            <a:pPr indent="-342900" lvl="0" marL="342900" rtl="0" algn="l">
              <a:spcBef>
                <a:spcPts val="400"/>
              </a:spcBef>
              <a:spcAft>
                <a:spcPts val="0"/>
              </a:spcAft>
              <a:buClr>
                <a:schemeClr val="dk1"/>
              </a:buClr>
              <a:buSzPts val="2000"/>
              <a:buChar char="•"/>
            </a:pPr>
            <a:r>
              <a:rPr lang="en-US" sz="2000"/>
              <a:t>Can request for (3,3,0) by </a:t>
            </a:r>
            <a:r>
              <a:rPr b="1" i="1" lang="en-US" sz="2000"/>
              <a:t>P</a:t>
            </a:r>
            <a:r>
              <a:rPr b="1" baseline="-25000" lang="en-US" sz="2000"/>
              <a:t>4</a:t>
            </a:r>
            <a:r>
              <a:rPr lang="en-US" sz="2000"/>
              <a:t> be granted?</a:t>
            </a:r>
            <a:endParaRPr/>
          </a:p>
          <a:p>
            <a:pPr indent="-317500" lvl="0" marL="342900" rtl="0" algn="l">
              <a:spcBef>
                <a:spcPts val="80"/>
              </a:spcBef>
              <a:spcAft>
                <a:spcPts val="0"/>
              </a:spcAft>
              <a:buClr>
                <a:schemeClr val="dk1"/>
              </a:buClr>
              <a:buSzPts val="400"/>
              <a:buNone/>
            </a:pPr>
            <a:r>
              <a:t/>
            </a:r>
            <a:endParaRPr sz="400"/>
          </a:p>
          <a:p>
            <a:pPr indent="-342900" lvl="0" marL="342900" rtl="0" algn="l">
              <a:spcBef>
                <a:spcPts val="400"/>
              </a:spcBef>
              <a:spcAft>
                <a:spcPts val="0"/>
              </a:spcAft>
              <a:buClr>
                <a:schemeClr val="dk1"/>
              </a:buClr>
              <a:buSzPts val="2000"/>
              <a:buChar char="•"/>
            </a:pPr>
            <a:r>
              <a:rPr lang="en-US" sz="2000"/>
              <a:t>Can request for (0,2,0) by </a:t>
            </a:r>
            <a:r>
              <a:rPr b="1" i="1" lang="en-US" sz="2000"/>
              <a:t>P</a:t>
            </a:r>
            <a:r>
              <a:rPr b="1" baseline="-25000" lang="en-US" sz="2000"/>
              <a:t>0</a:t>
            </a:r>
            <a:r>
              <a:rPr lang="en-US" sz="2000"/>
              <a:t> be granted?</a:t>
            </a:r>
            <a:endParaRPr/>
          </a:p>
          <a:p>
            <a:pPr indent="-342900" lvl="0" marL="342900" rtl="0" algn="l">
              <a:spcBef>
                <a:spcPts val="400"/>
              </a:spcBef>
              <a:spcAft>
                <a:spcPts val="0"/>
              </a:spcAft>
              <a:buClr>
                <a:schemeClr val="dk1"/>
              </a:buClr>
              <a:buSzPts val="2000"/>
              <a:buFont typeface="Arial"/>
              <a:buNone/>
            </a:pPr>
            <a:r>
              <a:t/>
            </a:r>
            <a:endParaRPr sz="2000"/>
          </a:p>
        </p:txBody>
      </p:sp>
      <p:sp>
        <p:nvSpPr>
          <p:cNvPr id="939" name="Google Shape;939;p7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940" name="Google Shape;940;p7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941" name="Google Shape;941;p7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942" name="Google Shape;942;p78"/>
          <p:cNvPicPr preferRelativeResize="0"/>
          <p:nvPr/>
        </p:nvPicPr>
        <p:blipFill rotWithShape="1">
          <a:blip r:embed="rId4">
            <a:alphaModFix/>
          </a:blip>
          <a:srcRect b="0" l="0" r="0" t="0"/>
          <a:stretch/>
        </p:blipFill>
        <p:spPr>
          <a:xfrm>
            <a:off x="1752600" y="714375"/>
            <a:ext cx="3305175" cy="1438275"/>
          </a:xfrm>
          <a:prstGeom prst="rect">
            <a:avLst/>
          </a:prstGeom>
          <a:noFill/>
          <a:ln>
            <a:noFill/>
          </a:ln>
        </p:spPr>
      </p:pic>
      <p:pic>
        <p:nvPicPr>
          <p:cNvPr id="943" name="Google Shape;943;p78"/>
          <p:cNvPicPr preferRelativeResize="0"/>
          <p:nvPr/>
        </p:nvPicPr>
        <p:blipFill rotWithShape="1">
          <a:blip r:embed="rId5">
            <a:alphaModFix/>
          </a:blip>
          <a:srcRect b="0" l="0" r="0" t="0"/>
          <a:stretch/>
        </p:blipFill>
        <p:spPr>
          <a:xfrm>
            <a:off x="5086350" y="685800"/>
            <a:ext cx="1619250" cy="146685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p79"/>
          <p:cNvSpPr txBox="1"/>
          <p:nvPr>
            <p:ph idx="1" type="body"/>
          </p:nvPr>
        </p:nvSpPr>
        <p:spPr>
          <a:xfrm>
            <a:off x="443345" y="3810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What will happen if process P1 requests one additional instance of resource type A and two instances of resource type C?</a:t>
            </a:r>
            <a:endParaRPr/>
          </a:p>
          <a:p>
            <a:pPr indent="-190500" lvl="0" marL="342900" rtl="0" algn="l">
              <a:spcBef>
                <a:spcPts val="480"/>
              </a:spcBef>
              <a:spcAft>
                <a:spcPts val="0"/>
              </a:spcAft>
              <a:buClr>
                <a:schemeClr val="dk1"/>
              </a:buClr>
              <a:buSzPts val="2400"/>
              <a:buNone/>
            </a:pPr>
            <a:r>
              <a:t/>
            </a:r>
            <a:endParaRPr sz="2400"/>
          </a:p>
        </p:txBody>
      </p:sp>
      <p:pic>
        <p:nvPicPr>
          <p:cNvPr id="949" name="Google Shape;949;p79"/>
          <p:cNvPicPr preferRelativeResize="0"/>
          <p:nvPr/>
        </p:nvPicPr>
        <p:blipFill rotWithShape="1">
          <a:blip r:embed="rId3">
            <a:alphaModFix/>
          </a:blip>
          <a:srcRect b="0" l="0" r="0" t="0"/>
          <a:stretch/>
        </p:blipFill>
        <p:spPr>
          <a:xfrm>
            <a:off x="381000" y="2895600"/>
            <a:ext cx="8305800" cy="3581400"/>
          </a:xfrm>
          <a:prstGeom prst="rect">
            <a:avLst/>
          </a:prstGeom>
          <a:noFill/>
          <a:ln>
            <a:noFill/>
          </a:ln>
        </p:spPr>
      </p:pic>
      <p:pic>
        <p:nvPicPr>
          <p:cNvPr id="950" name="Google Shape;950;p79"/>
          <p:cNvPicPr preferRelativeResize="0"/>
          <p:nvPr/>
        </p:nvPicPr>
        <p:blipFill rotWithShape="1">
          <a:blip r:embed="rId4">
            <a:alphaModFix/>
          </a:blip>
          <a:srcRect b="0" l="0" r="0" t="0"/>
          <a:stretch/>
        </p:blipFill>
        <p:spPr>
          <a:xfrm>
            <a:off x="3554557" y="1381125"/>
            <a:ext cx="3305175" cy="1819275"/>
          </a:xfrm>
          <a:prstGeom prst="rect">
            <a:avLst/>
          </a:prstGeom>
          <a:noFill/>
          <a:ln>
            <a:noFill/>
          </a:ln>
        </p:spPr>
      </p:pic>
      <p:pic>
        <p:nvPicPr>
          <p:cNvPr id="951" name="Google Shape;951;p79"/>
          <p:cNvPicPr preferRelativeResize="0"/>
          <p:nvPr/>
        </p:nvPicPr>
        <p:blipFill rotWithShape="1">
          <a:blip r:embed="rId5">
            <a:alphaModFix/>
          </a:blip>
          <a:srcRect b="0" l="0" r="0" t="0"/>
          <a:stretch/>
        </p:blipFill>
        <p:spPr>
          <a:xfrm>
            <a:off x="6838950" y="1381125"/>
            <a:ext cx="1619250" cy="1819275"/>
          </a:xfrm>
          <a:prstGeom prst="rect">
            <a:avLst/>
          </a:prstGeom>
          <a:noFill/>
          <a:ln>
            <a:noFill/>
          </a:ln>
        </p:spPr>
      </p:pic>
      <p:sp>
        <p:nvSpPr>
          <p:cNvPr id="952" name="Google Shape;952;p79"/>
          <p:cNvSpPr/>
          <p:nvPr/>
        </p:nvSpPr>
        <p:spPr>
          <a:xfrm>
            <a:off x="5962650" y="2052638"/>
            <a:ext cx="895350" cy="233362"/>
          </a:xfrm>
          <a:prstGeom prst="rect">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53" name="Google Shape;953;p79"/>
          <p:cNvSpPr/>
          <p:nvPr/>
        </p:nvSpPr>
        <p:spPr>
          <a:xfrm>
            <a:off x="7467600" y="2232747"/>
            <a:ext cx="895350" cy="233362"/>
          </a:xfrm>
          <a:prstGeom prst="rect">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54" name="Google Shape;954;p79"/>
          <p:cNvSpPr/>
          <p:nvPr/>
        </p:nvSpPr>
        <p:spPr>
          <a:xfrm>
            <a:off x="7391400" y="5105400"/>
            <a:ext cx="895350" cy="233362"/>
          </a:xfrm>
          <a:prstGeom prst="rect">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55" name="Google Shape;955;p79"/>
          <p:cNvSpPr/>
          <p:nvPr/>
        </p:nvSpPr>
        <p:spPr>
          <a:xfrm>
            <a:off x="4557280" y="5338762"/>
            <a:ext cx="895350" cy="233362"/>
          </a:xfrm>
          <a:prstGeom prst="rect">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56" name="Google Shape;956;p79"/>
          <p:cNvSpPr/>
          <p:nvPr/>
        </p:nvSpPr>
        <p:spPr>
          <a:xfrm>
            <a:off x="4247717" y="2286000"/>
            <a:ext cx="895350" cy="233362"/>
          </a:xfrm>
          <a:prstGeom prst="rect">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57" name="Google Shape;957;p79"/>
          <p:cNvSpPr/>
          <p:nvPr/>
        </p:nvSpPr>
        <p:spPr>
          <a:xfrm>
            <a:off x="5962650" y="5338762"/>
            <a:ext cx="895350" cy="233362"/>
          </a:xfrm>
          <a:prstGeom prst="rect">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58" name="Google Shape;958;p7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959" name="Google Shape;959;p7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960" name="Google Shape;960;p7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61" name="Google Shape;961;p79"/>
          <p:cNvSpPr txBox="1"/>
          <p:nvPr>
            <p:ph type="title"/>
          </p:nvPr>
        </p:nvSpPr>
        <p:spPr>
          <a:xfrm>
            <a:off x="762000" y="0"/>
            <a:ext cx="7869237" cy="5762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US" sz="2800"/>
              <a:t>Example:  </a:t>
            </a:r>
            <a:r>
              <a:rPr i="1" lang="en-US" sz="2800"/>
              <a:t>Explanation</a:t>
            </a:r>
            <a:endParaRPr sz="2800"/>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8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2400"/>
              <a:buFont typeface="Calibri"/>
              <a:buNone/>
            </a:pPr>
            <a:r>
              <a:rPr lang="en-US" sz="2400"/>
              <a:t>We must determine whether this new system state is safe. To do so, we again execute Safety algorithm again</a:t>
            </a:r>
            <a:endParaRPr sz="2400"/>
          </a:p>
        </p:txBody>
      </p:sp>
      <p:pic>
        <p:nvPicPr>
          <p:cNvPr id="967" name="Google Shape;967;p80"/>
          <p:cNvPicPr preferRelativeResize="0"/>
          <p:nvPr>
            <p:ph idx="1" type="body"/>
          </p:nvPr>
        </p:nvPicPr>
        <p:blipFill rotWithShape="1">
          <a:blip r:embed="rId3">
            <a:alphaModFix/>
          </a:blip>
          <a:srcRect b="0" l="0" r="67832" t="0"/>
          <a:stretch/>
        </p:blipFill>
        <p:spPr>
          <a:xfrm>
            <a:off x="152400" y="1295400"/>
            <a:ext cx="4038601" cy="5181600"/>
          </a:xfrm>
          <a:prstGeom prst="rect">
            <a:avLst/>
          </a:prstGeom>
          <a:noFill/>
          <a:ln>
            <a:noFill/>
          </a:ln>
        </p:spPr>
      </p:pic>
      <p:sp>
        <p:nvSpPr>
          <p:cNvPr id="968" name="Google Shape;968;p80"/>
          <p:cNvSpPr txBox="1"/>
          <p:nvPr/>
        </p:nvSpPr>
        <p:spPr>
          <a:xfrm>
            <a:off x="4368800" y="1157288"/>
            <a:ext cx="4775200" cy="4943475"/>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1.	</a:t>
            </a:r>
            <a:r>
              <a:rPr b="0" i="0" lang="en-US" sz="1800" u="none" cap="none" strike="noStrike">
                <a:solidFill>
                  <a:schemeClr val="dk1"/>
                </a:solidFill>
                <a:latin typeface="Calibri"/>
                <a:ea typeface="Calibri"/>
                <a:cs typeface="Calibri"/>
                <a:sym typeface="Calibri"/>
              </a:rPr>
              <a:t>Let </a:t>
            </a:r>
            <a:r>
              <a:rPr b="1" i="1" lang="en-US" sz="1800" u="none" cap="none" strike="noStrike">
                <a:solidFill>
                  <a:srgbClr val="000000"/>
                </a:solidFill>
                <a:latin typeface="Calibri"/>
                <a:ea typeface="Calibri"/>
                <a:cs typeface="Calibri"/>
                <a:sym typeface="Calibri"/>
              </a:rPr>
              <a:t>Work</a:t>
            </a:r>
            <a:r>
              <a:rPr b="0" i="1" lang="en-US" sz="1800" u="none" cap="none" strike="noStrike">
                <a:solidFill>
                  <a:srgbClr val="000000"/>
                </a:solidFill>
                <a:latin typeface="Calibri"/>
                <a:ea typeface="Calibri"/>
                <a:cs typeface="Calibri"/>
                <a:sym typeface="Calibri"/>
              </a:rPr>
              <a:t> </a:t>
            </a:r>
            <a:r>
              <a:rPr b="0" i="0" lang="en-US" sz="1800" u="none" cap="none" strike="noStrike">
                <a:solidFill>
                  <a:schemeClr val="dk1"/>
                </a:solidFill>
                <a:latin typeface="Calibri"/>
                <a:ea typeface="Calibri"/>
                <a:cs typeface="Calibri"/>
                <a:sym typeface="Calibri"/>
              </a:rPr>
              <a:t>and </a:t>
            </a:r>
            <a:r>
              <a:rPr b="1" i="1" lang="en-US" sz="1800" u="none" cap="none" strike="noStrike">
                <a:solidFill>
                  <a:srgbClr val="000000"/>
                </a:solidFill>
                <a:latin typeface="Calibri"/>
                <a:ea typeface="Calibri"/>
                <a:cs typeface="Calibri"/>
                <a:sym typeface="Calibri"/>
              </a:rPr>
              <a:t>Finish</a:t>
            </a:r>
            <a:r>
              <a:rPr b="0" i="0" lang="en-US" sz="1800" u="none" cap="none" strike="noStrike">
                <a:solidFill>
                  <a:srgbClr val="000000"/>
                </a:solidFill>
                <a:latin typeface="Calibri"/>
                <a:ea typeface="Calibri"/>
                <a:cs typeface="Calibri"/>
                <a:sym typeface="Calibri"/>
              </a:rPr>
              <a:t> </a:t>
            </a:r>
            <a:r>
              <a:rPr b="0" i="0" lang="en-US" sz="1800" u="none" cap="none" strike="noStrike">
                <a:solidFill>
                  <a:schemeClr val="dk1"/>
                </a:solidFill>
                <a:latin typeface="Calibri"/>
                <a:ea typeface="Calibri"/>
                <a:cs typeface="Calibri"/>
                <a:sym typeface="Calibri"/>
              </a:rPr>
              <a:t>be vectors of length</a:t>
            </a:r>
            <a:r>
              <a:rPr b="0" i="1" lang="en-US" sz="1800" u="none" cap="none" strike="noStrike">
                <a:solidFill>
                  <a:schemeClr val="dk1"/>
                </a:solidFill>
                <a:latin typeface="Calibri"/>
                <a:ea typeface="Calibri"/>
                <a:cs typeface="Calibri"/>
                <a:sym typeface="Calibri"/>
              </a:rPr>
              <a:t> m</a:t>
            </a:r>
            <a:r>
              <a:rPr b="0" i="0" lang="en-US" sz="1800" u="none" cap="none" strike="noStrike">
                <a:solidFill>
                  <a:schemeClr val="dk1"/>
                </a:solidFill>
                <a:latin typeface="Calibri"/>
                <a:ea typeface="Calibri"/>
                <a:cs typeface="Calibri"/>
                <a:sym typeface="Calibri"/>
              </a:rPr>
              <a:t> and</a:t>
            </a:r>
            <a:r>
              <a:rPr b="0" i="1" lang="en-US" sz="1800" u="none" cap="none" strike="noStrike">
                <a:solidFill>
                  <a:schemeClr val="dk1"/>
                </a:solidFill>
                <a:latin typeface="Calibri"/>
                <a:ea typeface="Calibri"/>
                <a:cs typeface="Calibri"/>
                <a:sym typeface="Calibri"/>
              </a:rPr>
              <a:t> n</a:t>
            </a:r>
            <a:r>
              <a:rPr b="0" i="0" lang="en-US" sz="1800" u="none" cap="none" strike="noStrike">
                <a:solidFill>
                  <a:schemeClr val="dk1"/>
                </a:solidFill>
                <a:latin typeface="Calibri"/>
                <a:ea typeface="Calibri"/>
                <a:cs typeface="Calibri"/>
                <a:sym typeface="Calibri"/>
              </a:rPr>
              <a:t>, respectively.  Initialize:</a:t>
            </a:r>
            <a:endParaRPr/>
          </a:p>
          <a:p>
            <a:pPr indent="-342900" lvl="3" marL="1543050" marR="0" rtl="0" algn="l">
              <a:lnSpc>
                <a:spcPct val="90000"/>
              </a:lnSpc>
              <a:spcBef>
                <a:spcPts val="220"/>
              </a:spcBef>
              <a:spcAft>
                <a:spcPts val="0"/>
              </a:spcAft>
              <a:buClr>
                <a:schemeClr val="dk1"/>
              </a:buClr>
              <a:buSzPts val="1100"/>
              <a:buFont typeface="Arial"/>
              <a:buNone/>
            </a:pPr>
            <a:r>
              <a:rPr b="1" i="1" lang="en-US" sz="1100" u="none" cap="none" strike="noStrike">
                <a:solidFill>
                  <a:schemeClr val="dk1"/>
                </a:solidFill>
                <a:latin typeface="Calibri"/>
                <a:ea typeface="Calibri"/>
                <a:cs typeface="Calibri"/>
                <a:sym typeface="Calibri"/>
              </a:rPr>
              <a:t>Work </a:t>
            </a:r>
            <a:r>
              <a:rPr b="1" i="0" lang="en-US" sz="1100" u="none" cap="none" strike="noStrike">
                <a:solidFill>
                  <a:schemeClr val="dk1"/>
                </a:solidFill>
                <a:latin typeface="Calibri"/>
                <a:ea typeface="Calibri"/>
                <a:cs typeface="Calibri"/>
                <a:sym typeface="Calibri"/>
              </a:rPr>
              <a:t>= </a:t>
            </a:r>
            <a:r>
              <a:rPr b="1" i="1" lang="en-US" sz="1100" u="none" cap="none" strike="noStrike">
                <a:solidFill>
                  <a:schemeClr val="dk1"/>
                </a:solidFill>
                <a:latin typeface="Calibri"/>
                <a:ea typeface="Calibri"/>
                <a:cs typeface="Calibri"/>
                <a:sym typeface="Calibri"/>
              </a:rPr>
              <a:t>Available</a:t>
            </a:r>
            <a:endParaRPr/>
          </a:p>
          <a:p>
            <a:pPr indent="-342900" lvl="3" marL="1543050" marR="0" rtl="0" algn="l">
              <a:lnSpc>
                <a:spcPct val="90000"/>
              </a:lnSpc>
              <a:spcBef>
                <a:spcPts val="220"/>
              </a:spcBef>
              <a:spcAft>
                <a:spcPts val="0"/>
              </a:spcAft>
              <a:buClr>
                <a:schemeClr val="dk1"/>
              </a:buClr>
              <a:buSzPts val="1100"/>
              <a:buFont typeface="Arial"/>
              <a:buNone/>
            </a:pPr>
            <a:r>
              <a:rPr b="1" i="1" lang="en-US" sz="1100" u="none" cap="none" strike="noStrike">
                <a:solidFill>
                  <a:schemeClr val="dk1"/>
                </a:solidFill>
                <a:latin typeface="Calibri"/>
                <a:ea typeface="Calibri"/>
                <a:cs typeface="Calibri"/>
                <a:sym typeface="Calibri"/>
              </a:rPr>
              <a:t>Finish </a:t>
            </a:r>
            <a:r>
              <a:rPr b="1" i="0" lang="en-US" sz="1100" u="none" cap="none" strike="noStrike">
                <a:solidFill>
                  <a:schemeClr val="dk1"/>
                </a:solidFill>
                <a:latin typeface="Calibri"/>
                <a:ea typeface="Calibri"/>
                <a:cs typeface="Calibri"/>
                <a:sym typeface="Calibri"/>
              </a:rPr>
              <a:t>[</a:t>
            </a:r>
            <a:r>
              <a:rPr b="1" i="1" lang="en-US" sz="1100" u="none" cap="none" strike="noStrike">
                <a:solidFill>
                  <a:schemeClr val="dk1"/>
                </a:solidFill>
                <a:latin typeface="Calibri"/>
                <a:ea typeface="Calibri"/>
                <a:cs typeface="Calibri"/>
                <a:sym typeface="Calibri"/>
              </a:rPr>
              <a:t>i</a:t>
            </a:r>
            <a:r>
              <a:rPr b="1" i="0" lang="en-US" sz="1100" u="none" cap="none" strike="noStrike">
                <a:solidFill>
                  <a:schemeClr val="dk1"/>
                </a:solidFill>
                <a:latin typeface="Calibri"/>
                <a:ea typeface="Calibri"/>
                <a:cs typeface="Calibri"/>
                <a:sym typeface="Calibri"/>
              </a:rPr>
              <a:t>] =</a:t>
            </a:r>
            <a:r>
              <a:rPr b="1" i="1" lang="en-US" sz="1100" u="none" cap="none" strike="noStrike">
                <a:solidFill>
                  <a:schemeClr val="dk1"/>
                </a:solidFill>
                <a:latin typeface="Calibri"/>
                <a:ea typeface="Calibri"/>
                <a:cs typeface="Calibri"/>
                <a:sym typeface="Calibri"/>
              </a:rPr>
              <a:t> false </a:t>
            </a:r>
            <a:r>
              <a:rPr b="1" i="0" lang="en-US" sz="1100" u="none" cap="none" strike="noStrike">
                <a:solidFill>
                  <a:schemeClr val="dk1"/>
                </a:solidFill>
                <a:latin typeface="Calibri"/>
                <a:ea typeface="Calibri"/>
                <a:cs typeface="Calibri"/>
                <a:sym typeface="Calibri"/>
              </a:rPr>
              <a:t>for</a:t>
            </a:r>
            <a:r>
              <a:rPr b="1" i="1" lang="en-US" sz="1100" u="none" cap="none" strike="noStrike">
                <a:solidFill>
                  <a:schemeClr val="dk1"/>
                </a:solidFill>
                <a:latin typeface="Calibri"/>
                <a:ea typeface="Calibri"/>
                <a:cs typeface="Calibri"/>
                <a:sym typeface="Calibri"/>
              </a:rPr>
              <a:t> i</a:t>
            </a:r>
            <a:r>
              <a:rPr b="1" i="0" lang="en-US" sz="1100" u="none" cap="none" strike="noStrike">
                <a:solidFill>
                  <a:schemeClr val="dk1"/>
                </a:solidFill>
                <a:latin typeface="Calibri"/>
                <a:ea typeface="Calibri"/>
                <a:cs typeface="Calibri"/>
                <a:sym typeface="Calibri"/>
              </a:rPr>
              <a:t> = 0, 1, …, </a:t>
            </a:r>
            <a:r>
              <a:rPr b="1" i="1" lang="en-US" sz="1100" u="none" cap="none" strike="noStrike">
                <a:solidFill>
                  <a:schemeClr val="dk1"/>
                </a:solidFill>
                <a:latin typeface="Calibri"/>
                <a:ea typeface="Calibri"/>
                <a:cs typeface="Calibri"/>
                <a:sym typeface="Calibri"/>
              </a:rPr>
              <a:t>n- </a:t>
            </a:r>
            <a:r>
              <a:rPr b="1" i="0" lang="en-US" sz="1100" u="none" cap="none" strike="noStrike">
                <a:solidFill>
                  <a:schemeClr val="dk1"/>
                </a:solidFill>
                <a:latin typeface="Calibri"/>
                <a:ea typeface="Calibri"/>
                <a:cs typeface="Calibri"/>
                <a:sym typeface="Calibri"/>
              </a:rPr>
              <a:t>1</a:t>
            </a:r>
            <a:endParaRPr/>
          </a:p>
          <a:p>
            <a:pPr indent="-342900" lvl="3" marL="1543050" marR="0" rtl="0" algn="l">
              <a:lnSpc>
                <a:spcPct val="90000"/>
              </a:lnSpc>
              <a:spcBef>
                <a:spcPts val="20"/>
              </a:spcBef>
              <a:spcAft>
                <a:spcPts val="0"/>
              </a:spcAft>
              <a:buClr>
                <a:schemeClr val="dk1"/>
              </a:buClr>
              <a:buSzPts val="100"/>
              <a:buFont typeface="Arial"/>
              <a:buNone/>
            </a:pPr>
            <a:r>
              <a:t/>
            </a:r>
            <a:endParaRPr b="0" i="0" sz="100" u="none" cap="none" strike="noStrike">
              <a:solidFill>
                <a:schemeClr val="dk1"/>
              </a:solidFill>
              <a:latin typeface="Calibri"/>
              <a:ea typeface="Calibri"/>
              <a:cs typeface="Calibri"/>
              <a:sym typeface="Calibri"/>
            </a:endParaRPr>
          </a:p>
          <a:p>
            <a:pPr indent="-342900" lvl="0" marL="34290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2.	Find an </a:t>
            </a:r>
            <a:r>
              <a:rPr b="1" i="1" lang="en-US" sz="1800" u="none" cap="none" strike="noStrike">
                <a:solidFill>
                  <a:schemeClr val="dk1"/>
                </a:solidFill>
                <a:latin typeface="Calibri"/>
                <a:ea typeface="Calibri"/>
                <a:cs typeface="Calibri"/>
                <a:sym typeface="Calibri"/>
              </a:rPr>
              <a:t>i</a:t>
            </a:r>
            <a:r>
              <a:rPr b="0" i="1" lang="en-US" sz="1800" u="none" cap="none" strike="noStrike">
                <a:solidFill>
                  <a:schemeClr val="dk1"/>
                </a:solidFill>
                <a:latin typeface="Calibri"/>
                <a:ea typeface="Calibri"/>
                <a:cs typeface="Calibri"/>
                <a:sym typeface="Calibri"/>
              </a:rPr>
              <a:t> </a:t>
            </a:r>
            <a:r>
              <a:rPr b="0" i="0" lang="en-US" sz="1800" u="none" cap="none" strike="noStrike">
                <a:solidFill>
                  <a:schemeClr val="dk1"/>
                </a:solidFill>
                <a:latin typeface="Calibri"/>
                <a:ea typeface="Calibri"/>
                <a:cs typeface="Calibri"/>
                <a:sym typeface="Calibri"/>
              </a:rPr>
              <a:t>such that both: </a:t>
            </a:r>
            <a:endParaRPr/>
          </a:p>
          <a:p>
            <a:pPr indent="-342900" lvl="1" marL="800100" marR="0" rtl="0" algn="l">
              <a:lnSpc>
                <a:spcPct val="90000"/>
              </a:lnSpc>
              <a:spcBef>
                <a:spcPts val="320"/>
              </a:spcBef>
              <a:spcAft>
                <a:spcPts val="0"/>
              </a:spcAft>
              <a:buClr>
                <a:schemeClr val="dk1"/>
              </a:buClr>
              <a:buSzPts val="1600"/>
              <a:buFont typeface="Arial"/>
              <a:buNone/>
            </a:pPr>
            <a:r>
              <a:rPr b="0" i="0" lang="en-US" sz="1600" u="none" cap="none" strike="noStrike">
                <a:solidFill>
                  <a:schemeClr val="dk1"/>
                </a:solidFill>
                <a:latin typeface="Calibri"/>
                <a:ea typeface="Calibri"/>
                <a:cs typeface="Calibri"/>
                <a:sym typeface="Calibri"/>
              </a:rPr>
              <a:t>(a) </a:t>
            </a:r>
            <a:r>
              <a:rPr b="1" i="1" lang="en-US" sz="1600" u="none" cap="none" strike="noStrike">
                <a:solidFill>
                  <a:schemeClr val="dk1"/>
                </a:solidFill>
                <a:latin typeface="Calibri"/>
                <a:ea typeface="Calibri"/>
                <a:cs typeface="Calibri"/>
                <a:sym typeface="Calibri"/>
              </a:rPr>
              <a:t>Finish</a:t>
            </a:r>
            <a:r>
              <a:rPr b="1" i="0" lang="en-US" sz="1600" u="none" cap="none" strike="noStrike">
                <a:solidFill>
                  <a:schemeClr val="dk1"/>
                </a:solidFill>
                <a:latin typeface="Calibri"/>
                <a:ea typeface="Calibri"/>
                <a:cs typeface="Calibri"/>
                <a:sym typeface="Calibri"/>
              </a:rPr>
              <a:t> [</a:t>
            </a:r>
            <a:r>
              <a:rPr b="1" i="1" lang="en-US" sz="1600" u="none" cap="none" strike="noStrike">
                <a:solidFill>
                  <a:schemeClr val="dk1"/>
                </a:solidFill>
                <a:latin typeface="Calibri"/>
                <a:ea typeface="Calibri"/>
                <a:cs typeface="Calibri"/>
                <a:sym typeface="Calibri"/>
              </a:rPr>
              <a:t>i</a:t>
            </a:r>
            <a:r>
              <a:rPr b="1" i="0" lang="en-US" sz="1600" u="none" cap="none" strike="noStrike">
                <a:solidFill>
                  <a:schemeClr val="dk1"/>
                </a:solidFill>
                <a:latin typeface="Calibri"/>
                <a:ea typeface="Calibri"/>
                <a:cs typeface="Calibri"/>
                <a:sym typeface="Calibri"/>
              </a:rPr>
              <a:t>] = </a:t>
            </a:r>
            <a:r>
              <a:rPr b="1" i="1" lang="en-US" sz="1600" u="none" cap="none" strike="noStrike">
                <a:solidFill>
                  <a:schemeClr val="dk1"/>
                </a:solidFill>
                <a:latin typeface="Calibri"/>
                <a:ea typeface="Calibri"/>
                <a:cs typeface="Calibri"/>
                <a:sym typeface="Calibri"/>
              </a:rPr>
              <a:t>false</a:t>
            </a:r>
            <a:endParaRPr b="1" i="0" sz="1600" u="none" cap="none" strike="noStrike">
              <a:solidFill>
                <a:schemeClr val="dk1"/>
              </a:solidFill>
              <a:latin typeface="Calibri"/>
              <a:ea typeface="Calibri"/>
              <a:cs typeface="Calibri"/>
              <a:sym typeface="Calibri"/>
            </a:endParaRPr>
          </a:p>
          <a:p>
            <a:pPr indent="-342900" lvl="1" marL="800100" marR="0" rtl="0" algn="l">
              <a:lnSpc>
                <a:spcPct val="90000"/>
              </a:lnSpc>
              <a:spcBef>
                <a:spcPts val="320"/>
              </a:spcBef>
              <a:spcAft>
                <a:spcPts val="0"/>
              </a:spcAft>
              <a:buClr>
                <a:schemeClr val="dk1"/>
              </a:buClr>
              <a:buSzPts val="1600"/>
              <a:buFont typeface="Arial"/>
              <a:buNone/>
            </a:pPr>
            <a:r>
              <a:rPr b="0" i="0" lang="en-US" sz="1600" u="none" cap="none" strike="noStrike">
                <a:solidFill>
                  <a:schemeClr val="dk1"/>
                </a:solidFill>
                <a:latin typeface="Calibri"/>
                <a:ea typeface="Calibri"/>
                <a:cs typeface="Calibri"/>
                <a:sym typeface="Calibri"/>
              </a:rPr>
              <a:t>(b) </a:t>
            </a:r>
            <a:r>
              <a:rPr b="1" i="1" lang="en-US" sz="1600" u="none" cap="none" strike="noStrike">
                <a:solidFill>
                  <a:schemeClr val="dk1"/>
                </a:solidFill>
                <a:latin typeface="Calibri"/>
                <a:ea typeface="Calibri"/>
                <a:cs typeface="Calibri"/>
                <a:sym typeface="Calibri"/>
              </a:rPr>
              <a:t>Need</a:t>
            </a:r>
            <a:r>
              <a:rPr b="1" baseline="-25000" i="1" lang="en-US" sz="1600" u="none" cap="none" strike="noStrike">
                <a:solidFill>
                  <a:schemeClr val="dk1"/>
                </a:solidFill>
                <a:latin typeface="Calibri"/>
                <a:ea typeface="Calibri"/>
                <a:cs typeface="Calibri"/>
                <a:sym typeface="Calibri"/>
              </a:rPr>
              <a:t>i</a:t>
            </a:r>
            <a:r>
              <a:rPr b="1" i="0" lang="en-US" sz="1600" u="none" cap="none" strike="noStrike">
                <a:solidFill>
                  <a:schemeClr val="dk1"/>
                </a:solidFill>
                <a:latin typeface="Calibri"/>
                <a:ea typeface="Calibri"/>
                <a:cs typeface="Calibri"/>
                <a:sym typeface="Calibri"/>
              </a:rPr>
              <a:t> ≤ </a:t>
            </a:r>
            <a:r>
              <a:rPr b="1" i="1" lang="en-US" sz="1600" u="none" cap="none" strike="noStrike">
                <a:solidFill>
                  <a:schemeClr val="dk1"/>
                </a:solidFill>
                <a:latin typeface="Calibri"/>
                <a:ea typeface="Calibri"/>
                <a:cs typeface="Calibri"/>
                <a:sym typeface="Calibri"/>
              </a:rPr>
              <a:t>Work</a:t>
            </a:r>
            <a:endParaRPr/>
          </a:p>
          <a:p>
            <a:pPr indent="-342900" lvl="1" marL="800100" marR="0" rtl="0" algn="l">
              <a:lnSpc>
                <a:spcPct val="90000"/>
              </a:lnSpc>
              <a:spcBef>
                <a:spcPts val="320"/>
              </a:spcBef>
              <a:spcAft>
                <a:spcPts val="0"/>
              </a:spcAft>
              <a:buClr>
                <a:schemeClr val="dk1"/>
              </a:buClr>
              <a:buSzPts val="1600"/>
              <a:buFont typeface="Arial"/>
              <a:buNone/>
            </a:pPr>
            <a:r>
              <a:rPr b="0" i="0" lang="en-US" sz="1600" u="none" cap="none" strike="noStrike">
                <a:solidFill>
                  <a:schemeClr val="dk1"/>
                </a:solidFill>
                <a:latin typeface="Calibri"/>
                <a:ea typeface="Calibri"/>
                <a:cs typeface="Calibri"/>
                <a:sym typeface="Calibri"/>
              </a:rPr>
              <a:t>If no such</a:t>
            </a:r>
            <a:r>
              <a:rPr b="1" i="0" lang="en-US" sz="1600" u="none" cap="none" strike="noStrike">
                <a:solidFill>
                  <a:schemeClr val="dk1"/>
                </a:solidFill>
                <a:latin typeface="Calibri"/>
                <a:ea typeface="Calibri"/>
                <a:cs typeface="Calibri"/>
                <a:sym typeface="Calibri"/>
              </a:rPr>
              <a:t> </a:t>
            </a:r>
            <a:r>
              <a:rPr b="1" i="1" lang="en-US" sz="1600" u="none" cap="none" strike="noStrike">
                <a:solidFill>
                  <a:schemeClr val="dk1"/>
                </a:solidFill>
                <a:latin typeface="Calibri"/>
                <a:ea typeface="Calibri"/>
                <a:cs typeface="Calibri"/>
                <a:sym typeface="Calibri"/>
              </a:rPr>
              <a:t>i </a:t>
            </a:r>
            <a:r>
              <a:rPr b="0" i="0" lang="en-US" sz="1600" u="none" cap="none" strike="noStrike">
                <a:solidFill>
                  <a:schemeClr val="dk1"/>
                </a:solidFill>
                <a:latin typeface="Calibri"/>
                <a:ea typeface="Calibri"/>
                <a:cs typeface="Calibri"/>
                <a:sym typeface="Calibri"/>
              </a:rPr>
              <a:t>exists, go to step 4</a:t>
            </a:r>
            <a:endParaRPr/>
          </a:p>
          <a:p>
            <a:pPr indent="-342900" lvl="1" marL="800100" marR="0" rtl="0" algn="l">
              <a:lnSpc>
                <a:spcPct val="90000"/>
              </a:lnSpc>
              <a:spcBef>
                <a:spcPts val="20"/>
              </a:spcBef>
              <a:spcAft>
                <a:spcPts val="0"/>
              </a:spcAft>
              <a:buClr>
                <a:schemeClr val="dk1"/>
              </a:buClr>
              <a:buSzPts val="100"/>
              <a:buFont typeface="Arial"/>
              <a:buNone/>
            </a:pPr>
            <a:r>
              <a:t/>
            </a:r>
            <a:endParaRPr b="0" i="0" sz="100" u="none" cap="none" strike="noStrike">
              <a:solidFill>
                <a:schemeClr val="dk1"/>
              </a:solidFill>
              <a:latin typeface="Calibri"/>
              <a:ea typeface="Calibri"/>
              <a:cs typeface="Calibri"/>
              <a:sym typeface="Calibri"/>
            </a:endParaRPr>
          </a:p>
          <a:p>
            <a:pPr indent="-342900" lvl="0" marL="342900" marR="0" rtl="0" algn="l">
              <a:lnSpc>
                <a:spcPct val="90000"/>
              </a:lnSpc>
              <a:spcBef>
                <a:spcPts val="360"/>
              </a:spcBef>
              <a:spcAft>
                <a:spcPts val="0"/>
              </a:spcAft>
              <a:buClr>
                <a:schemeClr val="dk1"/>
              </a:buClr>
              <a:buSzPts val="1800"/>
              <a:buFont typeface="Arial"/>
              <a:buNone/>
            </a:pPr>
            <a:r>
              <a:rPr b="0" i="1" lang="en-US" sz="1800" u="none" cap="none" strike="noStrike">
                <a:solidFill>
                  <a:schemeClr val="dk1"/>
                </a:solidFill>
                <a:latin typeface="Calibri"/>
                <a:ea typeface="Calibri"/>
                <a:cs typeface="Calibri"/>
                <a:sym typeface="Calibri"/>
              </a:rPr>
              <a:t>3.  </a:t>
            </a:r>
            <a:r>
              <a:rPr b="1" i="1" lang="en-US" sz="1800" u="none" cap="none" strike="noStrike">
                <a:solidFill>
                  <a:schemeClr val="dk1"/>
                </a:solidFill>
                <a:latin typeface="Calibri"/>
                <a:ea typeface="Calibri"/>
                <a:cs typeface="Calibri"/>
                <a:sym typeface="Calibri"/>
              </a:rPr>
              <a:t>Work</a:t>
            </a:r>
            <a:r>
              <a:rPr b="1" i="0" lang="en-US" sz="1800" u="none" cap="none" strike="noStrike">
                <a:solidFill>
                  <a:schemeClr val="dk1"/>
                </a:solidFill>
                <a:latin typeface="Calibri"/>
                <a:ea typeface="Calibri"/>
                <a:cs typeface="Calibri"/>
                <a:sym typeface="Calibri"/>
              </a:rPr>
              <a:t> = </a:t>
            </a:r>
            <a:r>
              <a:rPr b="1" i="1" lang="en-US" sz="1800" u="none" cap="none" strike="noStrike">
                <a:solidFill>
                  <a:schemeClr val="dk1"/>
                </a:solidFill>
                <a:latin typeface="Calibri"/>
                <a:ea typeface="Calibri"/>
                <a:cs typeface="Calibri"/>
                <a:sym typeface="Calibri"/>
              </a:rPr>
              <a:t>Work </a:t>
            </a:r>
            <a:r>
              <a:rPr b="1" i="0" lang="en-US" sz="1800" u="none" cap="none" strike="noStrike">
                <a:solidFill>
                  <a:schemeClr val="dk1"/>
                </a:solidFill>
                <a:latin typeface="Calibri"/>
                <a:ea typeface="Calibri"/>
                <a:cs typeface="Calibri"/>
                <a:sym typeface="Calibri"/>
              </a:rPr>
              <a:t>+ </a:t>
            </a:r>
            <a:r>
              <a:rPr b="1" i="1" lang="en-US" sz="1800" u="none" cap="none" strike="noStrike">
                <a:solidFill>
                  <a:schemeClr val="dk1"/>
                </a:solidFill>
                <a:latin typeface="Calibri"/>
                <a:ea typeface="Calibri"/>
                <a:cs typeface="Calibri"/>
                <a:sym typeface="Calibri"/>
              </a:rPr>
              <a:t>Allocation</a:t>
            </a:r>
            <a:r>
              <a:rPr b="1" baseline="-25000" i="1" lang="en-US" sz="1800" u="none" cap="none" strike="noStrike">
                <a:solidFill>
                  <a:schemeClr val="dk1"/>
                </a:solidFill>
                <a:latin typeface="Calibri"/>
                <a:ea typeface="Calibri"/>
                <a:cs typeface="Calibri"/>
                <a:sym typeface="Calibri"/>
              </a:rPr>
              <a:t>i</a:t>
            </a:r>
            <a:br>
              <a:rPr b="1" i="0" lang="en-US" sz="1800" u="none" cap="none" strike="noStrike">
                <a:solidFill>
                  <a:schemeClr val="dk1"/>
                </a:solidFill>
                <a:latin typeface="Calibri"/>
                <a:ea typeface="Calibri"/>
                <a:cs typeface="Calibri"/>
                <a:sym typeface="Calibri"/>
              </a:rPr>
            </a:br>
            <a:r>
              <a:rPr b="1" i="1" lang="en-US" sz="1800" u="none" cap="none" strike="noStrike">
                <a:solidFill>
                  <a:schemeClr val="dk1"/>
                </a:solidFill>
                <a:latin typeface="Calibri"/>
                <a:ea typeface="Calibri"/>
                <a:cs typeface="Calibri"/>
                <a:sym typeface="Calibri"/>
              </a:rPr>
              <a:t>Finish</a:t>
            </a:r>
            <a:r>
              <a:rPr b="1" i="0" lang="en-US" sz="1800" u="none" cap="none" strike="noStrike">
                <a:solidFill>
                  <a:schemeClr val="dk1"/>
                </a:solidFill>
                <a:latin typeface="Calibri"/>
                <a:ea typeface="Calibri"/>
                <a:cs typeface="Calibri"/>
                <a:sym typeface="Calibri"/>
              </a:rPr>
              <a:t>[</a:t>
            </a:r>
            <a:r>
              <a:rPr b="1" i="1" lang="en-US" sz="1800" u="none" cap="none" strike="noStrike">
                <a:solidFill>
                  <a:schemeClr val="dk1"/>
                </a:solidFill>
                <a:latin typeface="Calibri"/>
                <a:ea typeface="Calibri"/>
                <a:cs typeface="Calibri"/>
                <a:sym typeface="Calibri"/>
              </a:rPr>
              <a:t>i</a:t>
            </a:r>
            <a:r>
              <a:rPr b="1" i="0" lang="en-US" sz="1800" u="none" cap="none" strike="noStrike">
                <a:solidFill>
                  <a:schemeClr val="dk1"/>
                </a:solidFill>
                <a:latin typeface="Calibri"/>
                <a:ea typeface="Calibri"/>
                <a:cs typeface="Calibri"/>
                <a:sym typeface="Calibri"/>
              </a:rPr>
              <a:t>] =</a:t>
            </a:r>
            <a:r>
              <a:rPr b="1" i="1" lang="en-US" sz="1800" u="none" cap="none" strike="noStrike">
                <a:solidFill>
                  <a:schemeClr val="dk1"/>
                </a:solidFill>
                <a:latin typeface="Calibri"/>
                <a:ea typeface="Calibri"/>
                <a:cs typeface="Calibri"/>
                <a:sym typeface="Calibri"/>
              </a:rPr>
              <a:t> true</a:t>
            </a:r>
            <a:br>
              <a:rPr b="1"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go to step 2</a:t>
            </a:r>
            <a:endParaRPr/>
          </a:p>
          <a:p>
            <a:pPr indent="-336550" lvl="0" marL="342900" marR="0" rtl="0" algn="l">
              <a:lnSpc>
                <a:spcPct val="90000"/>
              </a:lnSpc>
              <a:spcBef>
                <a:spcPts val="20"/>
              </a:spcBef>
              <a:spcAft>
                <a:spcPts val="0"/>
              </a:spcAft>
              <a:buClr>
                <a:schemeClr val="dk1"/>
              </a:buClr>
              <a:buSzPts val="100"/>
              <a:buFont typeface="Arial"/>
              <a:buNone/>
            </a:pPr>
            <a:r>
              <a:t/>
            </a:r>
            <a:endParaRPr b="0" i="0" sz="100" u="none" cap="none" strike="noStrike">
              <a:solidFill>
                <a:schemeClr val="dk1"/>
              </a:solidFill>
              <a:latin typeface="Calibri"/>
              <a:ea typeface="Calibri"/>
              <a:cs typeface="Calibri"/>
              <a:sym typeface="Calibri"/>
            </a:endParaRPr>
          </a:p>
          <a:p>
            <a:pPr indent="-342900" lvl="0" marL="34290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4.	If </a:t>
            </a:r>
            <a:r>
              <a:rPr b="1" i="1" lang="en-US" sz="1800" u="none" cap="none" strike="noStrike">
                <a:solidFill>
                  <a:schemeClr val="dk1"/>
                </a:solidFill>
                <a:latin typeface="Calibri"/>
                <a:ea typeface="Calibri"/>
                <a:cs typeface="Calibri"/>
                <a:sym typeface="Calibri"/>
              </a:rPr>
              <a:t>Finish</a:t>
            </a:r>
            <a:r>
              <a:rPr b="1" i="0" lang="en-US" sz="1800" u="none" cap="none" strike="noStrike">
                <a:solidFill>
                  <a:schemeClr val="dk1"/>
                </a:solidFill>
                <a:latin typeface="Calibri"/>
                <a:ea typeface="Calibri"/>
                <a:cs typeface="Calibri"/>
                <a:sym typeface="Calibri"/>
              </a:rPr>
              <a:t> [</a:t>
            </a:r>
            <a:r>
              <a:rPr b="1" i="1" lang="en-US" sz="1800" u="none" cap="none" strike="noStrike">
                <a:solidFill>
                  <a:schemeClr val="dk1"/>
                </a:solidFill>
                <a:latin typeface="Calibri"/>
                <a:ea typeface="Calibri"/>
                <a:cs typeface="Calibri"/>
                <a:sym typeface="Calibri"/>
              </a:rPr>
              <a:t>i</a:t>
            </a:r>
            <a:r>
              <a:rPr b="1" i="0" lang="en-US" sz="1800" u="none" cap="none" strike="noStrike">
                <a:solidFill>
                  <a:schemeClr val="dk1"/>
                </a:solidFill>
                <a:latin typeface="Calibri"/>
                <a:ea typeface="Calibri"/>
                <a:cs typeface="Calibri"/>
                <a:sym typeface="Calibri"/>
              </a:rPr>
              <a:t>] == </a:t>
            </a:r>
            <a:r>
              <a:rPr b="1" i="1" lang="en-US" sz="1800" u="none" cap="none" strike="noStrike">
                <a:solidFill>
                  <a:schemeClr val="dk1"/>
                </a:solidFill>
                <a:latin typeface="Calibri"/>
                <a:ea typeface="Calibri"/>
                <a:cs typeface="Calibri"/>
                <a:sym typeface="Calibri"/>
              </a:rPr>
              <a:t>true</a:t>
            </a:r>
            <a:r>
              <a:rPr b="1" i="0" lang="en-US" sz="1800" u="none" cap="none" strike="noStrike">
                <a:solidFill>
                  <a:schemeClr val="dk1"/>
                </a:solidFill>
                <a:latin typeface="Calibri"/>
                <a:ea typeface="Calibri"/>
                <a:cs typeface="Calibri"/>
                <a:sym typeface="Calibri"/>
              </a:rPr>
              <a:t> </a:t>
            </a:r>
            <a:r>
              <a:rPr b="0" i="0" lang="en-US" sz="1800" u="none" cap="none" strike="noStrike">
                <a:solidFill>
                  <a:schemeClr val="dk1"/>
                </a:solidFill>
                <a:latin typeface="Calibri"/>
                <a:ea typeface="Calibri"/>
                <a:cs typeface="Calibri"/>
                <a:sym typeface="Calibri"/>
              </a:rPr>
              <a:t>for all </a:t>
            </a:r>
            <a:r>
              <a:rPr b="1" i="1" lang="en-US" sz="1800" u="none" cap="none" strike="noStrike">
                <a:solidFill>
                  <a:schemeClr val="dk1"/>
                </a:solidFill>
                <a:latin typeface="Calibri"/>
                <a:ea typeface="Calibri"/>
                <a:cs typeface="Calibri"/>
                <a:sym typeface="Calibri"/>
              </a:rPr>
              <a:t>i</a:t>
            </a:r>
            <a:r>
              <a:rPr b="0" i="0" lang="en-US" sz="1800" u="none" cap="none" strike="noStrike">
                <a:solidFill>
                  <a:schemeClr val="dk1"/>
                </a:solidFill>
                <a:latin typeface="Calibri"/>
                <a:ea typeface="Calibri"/>
                <a:cs typeface="Calibri"/>
                <a:sym typeface="Calibri"/>
              </a:rPr>
              <a:t>, then the system is in a safe state</a:t>
            </a:r>
            <a:endParaRPr/>
          </a:p>
        </p:txBody>
      </p:sp>
      <p:pic>
        <p:nvPicPr>
          <p:cNvPr id="969" name="Google Shape;969;p80"/>
          <p:cNvPicPr preferRelativeResize="0"/>
          <p:nvPr/>
        </p:nvPicPr>
        <p:blipFill rotWithShape="1">
          <a:blip r:embed="rId4">
            <a:alphaModFix/>
          </a:blip>
          <a:srcRect b="0" l="0" r="0" t="31229"/>
          <a:stretch/>
        </p:blipFill>
        <p:spPr>
          <a:xfrm>
            <a:off x="4191001" y="5181600"/>
            <a:ext cx="4089400" cy="1565564"/>
          </a:xfrm>
          <a:prstGeom prst="rect">
            <a:avLst/>
          </a:prstGeom>
          <a:noFill/>
          <a:ln>
            <a:noFill/>
          </a:ln>
        </p:spPr>
      </p:pic>
      <p:sp>
        <p:nvSpPr>
          <p:cNvPr id="970" name="Google Shape;970;p8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971" name="Google Shape;971;p8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972" name="Google Shape;972;p8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8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2400"/>
              <a:buFont typeface="Calibri"/>
              <a:buNone/>
            </a:pPr>
            <a:r>
              <a:rPr lang="en-US" sz="2400"/>
              <a:t>We must determine whether this new system state is safe. To do so, we again execute Safety algorithm again</a:t>
            </a:r>
            <a:endParaRPr sz="2400"/>
          </a:p>
        </p:txBody>
      </p:sp>
      <p:pic>
        <p:nvPicPr>
          <p:cNvPr id="978" name="Google Shape;978;p81"/>
          <p:cNvPicPr preferRelativeResize="0"/>
          <p:nvPr>
            <p:ph idx="1" type="body"/>
          </p:nvPr>
        </p:nvPicPr>
        <p:blipFill rotWithShape="1">
          <a:blip r:embed="rId3">
            <a:alphaModFix/>
          </a:blip>
          <a:srcRect b="0" l="33877" r="33643" t="0"/>
          <a:stretch/>
        </p:blipFill>
        <p:spPr>
          <a:xfrm>
            <a:off x="0" y="1219200"/>
            <a:ext cx="4227946" cy="5257800"/>
          </a:xfrm>
          <a:prstGeom prst="rect">
            <a:avLst/>
          </a:prstGeom>
          <a:noFill/>
          <a:ln>
            <a:noFill/>
          </a:ln>
        </p:spPr>
      </p:pic>
      <p:sp>
        <p:nvSpPr>
          <p:cNvPr id="979" name="Google Shape;979;p81"/>
          <p:cNvSpPr txBox="1"/>
          <p:nvPr/>
        </p:nvSpPr>
        <p:spPr>
          <a:xfrm>
            <a:off x="4227946" y="1371600"/>
            <a:ext cx="4775200" cy="4943475"/>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1.	</a:t>
            </a:r>
            <a:r>
              <a:rPr b="0" i="0" lang="en-US" sz="1800" u="none" cap="none" strike="noStrike">
                <a:solidFill>
                  <a:schemeClr val="dk1"/>
                </a:solidFill>
                <a:latin typeface="Calibri"/>
                <a:ea typeface="Calibri"/>
                <a:cs typeface="Calibri"/>
                <a:sym typeface="Calibri"/>
              </a:rPr>
              <a:t>Let </a:t>
            </a:r>
            <a:r>
              <a:rPr b="1" i="1" lang="en-US" sz="1800" u="none" cap="none" strike="noStrike">
                <a:solidFill>
                  <a:srgbClr val="000000"/>
                </a:solidFill>
                <a:latin typeface="Calibri"/>
                <a:ea typeface="Calibri"/>
                <a:cs typeface="Calibri"/>
                <a:sym typeface="Calibri"/>
              </a:rPr>
              <a:t>Work</a:t>
            </a:r>
            <a:r>
              <a:rPr b="0" i="1" lang="en-US" sz="1800" u="none" cap="none" strike="noStrike">
                <a:solidFill>
                  <a:srgbClr val="000000"/>
                </a:solidFill>
                <a:latin typeface="Calibri"/>
                <a:ea typeface="Calibri"/>
                <a:cs typeface="Calibri"/>
                <a:sym typeface="Calibri"/>
              </a:rPr>
              <a:t> </a:t>
            </a:r>
            <a:r>
              <a:rPr b="0" i="0" lang="en-US" sz="1800" u="none" cap="none" strike="noStrike">
                <a:solidFill>
                  <a:schemeClr val="dk1"/>
                </a:solidFill>
                <a:latin typeface="Calibri"/>
                <a:ea typeface="Calibri"/>
                <a:cs typeface="Calibri"/>
                <a:sym typeface="Calibri"/>
              </a:rPr>
              <a:t>and </a:t>
            </a:r>
            <a:r>
              <a:rPr b="1" i="1" lang="en-US" sz="1800" u="none" cap="none" strike="noStrike">
                <a:solidFill>
                  <a:srgbClr val="000000"/>
                </a:solidFill>
                <a:latin typeface="Calibri"/>
                <a:ea typeface="Calibri"/>
                <a:cs typeface="Calibri"/>
                <a:sym typeface="Calibri"/>
              </a:rPr>
              <a:t>Finish</a:t>
            </a:r>
            <a:r>
              <a:rPr b="0" i="0" lang="en-US" sz="1800" u="none" cap="none" strike="noStrike">
                <a:solidFill>
                  <a:srgbClr val="000000"/>
                </a:solidFill>
                <a:latin typeface="Calibri"/>
                <a:ea typeface="Calibri"/>
                <a:cs typeface="Calibri"/>
                <a:sym typeface="Calibri"/>
              </a:rPr>
              <a:t> </a:t>
            </a:r>
            <a:r>
              <a:rPr b="0" i="0" lang="en-US" sz="1800" u="none" cap="none" strike="noStrike">
                <a:solidFill>
                  <a:schemeClr val="dk1"/>
                </a:solidFill>
                <a:latin typeface="Calibri"/>
                <a:ea typeface="Calibri"/>
                <a:cs typeface="Calibri"/>
                <a:sym typeface="Calibri"/>
              </a:rPr>
              <a:t>be vectors of length</a:t>
            </a:r>
            <a:r>
              <a:rPr b="0" i="1" lang="en-US" sz="1800" u="none" cap="none" strike="noStrike">
                <a:solidFill>
                  <a:schemeClr val="dk1"/>
                </a:solidFill>
                <a:latin typeface="Calibri"/>
                <a:ea typeface="Calibri"/>
                <a:cs typeface="Calibri"/>
                <a:sym typeface="Calibri"/>
              </a:rPr>
              <a:t> m</a:t>
            </a:r>
            <a:r>
              <a:rPr b="0" i="0" lang="en-US" sz="1800" u="none" cap="none" strike="noStrike">
                <a:solidFill>
                  <a:schemeClr val="dk1"/>
                </a:solidFill>
                <a:latin typeface="Calibri"/>
                <a:ea typeface="Calibri"/>
                <a:cs typeface="Calibri"/>
                <a:sym typeface="Calibri"/>
              </a:rPr>
              <a:t> and</a:t>
            </a:r>
            <a:r>
              <a:rPr b="0" i="1" lang="en-US" sz="1800" u="none" cap="none" strike="noStrike">
                <a:solidFill>
                  <a:schemeClr val="dk1"/>
                </a:solidFill>
                <a:latin typeface="Calibri"/>
                <a:ea typeface="Calibri"/>
                <a:cs typeface="Calibri"/>
                <a:sym typeface="Calibri"/>
              </a:rPr>
              <a:t> n</a:t>
            </a:r>
            <a:r>
              <a:rPr b="0" i="0" lang="en-US" sz="1800" u="none" cap="none" strike="noStrike">
                <a:solidFill>
                  <a:schemeClr val="dk1"/>
                </a:solidFill>
                <a:latin typeface="Calibri"/>
                <a:ea typeface="Calibri"/>
                <a:cs typeface="Calibri"/>
                <a:sym typeface="Calibri"/>
              </a:rPr>
              <a:t>, respectively.  Initialize:</a:t>
            </a:r>
            <a:endParaRPr/>
          </a:p>
          <a:p>
            <a:pPr indent="-342900" lvl="3" marL="1543050" marR="0" rtl="0" algn="l">
              <a:lnSpc>
                <a:spcPct val="90000"/>
              </a:lnSpc>
              <a:spcBef>
                <a:spcPts val="220"/>
              </a:spcBef>
              <a:spcAft>
                <a:spcPts val="0"/>
              </a:spcAft>
              <a:buClr>
                <a:schemeClr val="dk1"/>
              </a:buClr>
              <a:buSzPts val="1100"/>
              <a:buFont typeface="Arial"/>
              <a:buNone/>
            </a:pPr>
            <a:r>
              <a:rPr b="1" i="1" lang="en-US" sz="1100" u="none" cap="none" strike="noStrike">
                <a:solidFill>
                  <a:schemeClr val="dk1"/>
                </a:solidFill>
                <a:latin typeface="Calibri"/>
                <a:ea typeface="Calibri"/>
                <a:cs typeface="Calibri"/>
                <a:sym typeface="Calibri"/>
              </a:rPr>
              <a:t>Work </a:t>
            </a:r>
            <a:r>
              <a:rPr b="1" i="0" lang="en-US" sz="1100" u="none" cap="none" strike="noStrike">
                <a:solidFill>
                  <a:schemeClr val="dk1"/>
                </a:solidFill>
                <a:latin typeface="Calibri"/>
                <a:ea typeface="Calibri"/>
                <a:cs typeface="Calibri"/>
                <a:sym typeface="Calibri"/>
              </a:rPr>
              <a:t>= </a:t>
            </a:r>
            <a:r>
              <a:rPr b="1" i="1" lang="en-US" sz="1100" u="none" cap="none" strike="noStrike">
                <a:solidFill>
                  <a:schemeClr val="dk1"/>
                </a:solidFill>
                <a:latin typeface="Calibri"/>
                <a:ea typeface="Calibri"/>
                <a:cs typeface="Calibri"/>
                <a:sym typeface="Calibri"/>
              </a:rPr>
              <a:t>Available</a:t>
            </a:r>
            <a:endParaRPr/>
          </a:p>
          <a:p>
            <a:pPr indent="-342900" lvl="3" marL="1543050" marR="0" rtl="0" algn="l">
              <a:lnSpc>
                <a:spcPct val="90000"/>
              </a:lnSpc>
              <a:spcBef>
                <a:spcPts val="220"/>
              </a:spcBef>
              <a:spcAft>
                <a:spcPts val="0"/>
              </a:spcAft>
              <a:buClr>
                <a:schemeClr val="dk1"/>
              </a:buClr>
              <a:buSzPts val="1100"/>
              <a:buFont typeface="Arial"/>
              <a:buNone/>
            </a:pPr>
            <a:r>
              <a:rPr b="1" i="1" lang="en-US" sz="1100" u="none" cap="none" strike="noStrike">
                <a:solidFill>
                  <a:schemeClr val="dk1"/>
                </a:solidFill>
                <a:latin typeface="Calibri"/>
                <a:ea typeface="Calibri"/>
                <a:cs typeface="Calibri"/>
                <a:sym typeface="Calibri"/>
              </a:rPr>
              <a:t>Finish </a:t>
            </a:r>
            <a:r>
              <a:rPr b="1" i="0" lang="en-US" sz="1100" u="none" cap="none" strike="noStrike">
                <a:solidFill>
                  <a:schemeClr val="dk1"/>
                </a:solidFill>
                <a:latin typeface="Calibri"/>
                <a:ea typeface="Calibri"/>
                <a:cs typeface="Calibri"/>
                <a:sym typeface="Calibri"/>
              </a:rPr>
              <a:t>[</a:t>
            </a:r>
            <a:r>
              <a:rPr b="1" i="1" lang="en-US" sz="1100" u="none" cap="none" strike="noStrike">
                <a:solidFill>
                  <a:schemeClr val="dk1"/>
                </a:solidFill>
                <a:latin typeface="Calibri"/>
                <a:ea typeface="Calibri"/>
                <a:cs typeface="Calibri"/>
                <a:sym typeface="Calibri"/>
              </a:rPr>
              <a:t>i</a:t>
            </a:r>
            <a:r>
              <a:rPr b="1" i="0" lang="en-US" sz="1100" u="none" cap="none" strike="noStrike">
                <a:solidFill>
                  <a:schemeClr val="dk1"/>
                </a:solidFill>
                <a:latin typeface="Calibri"/>
                <a:ea typeface="Calibri"/>
                <a:cs typeface="Calibri"/>
                <a:sym typeface="Calibri"/>
              </a:rPr>
              <a:t>] =</a:t>
            </a:r>
            <a:r>
              <a:rPr b="1" i="1" lang="en-US" sz="1100" u="none" cap="none" strike="noStrike">
                <a:solidFill>
                  <a:schemeClr val="dk1"/>
                </a:solidFill>
                <a:latin typeface="Calibri"/>
                <a:ea typeface="Calibri"/>
                <a:cs typeface="Calibri"/>
                <a:sym typeface="Calibri"/>
              </a:rPr>
              <a:t> false </a:t>
            </a:r>
            <a:r>
              <a:rPr b="1" i="0" lang="en-US" sz="1100" u="none" cap="none" strike="noStrike">
                <a:solidFill>
                  <a:schemeClr val="dk1"/>
                </a:solidFill>
                <a:latin typeface="Calibri"/>
                <a:ea typeface="Calibri"/>
                <a:cs typeface="Calibri"/>
                <a:sym typeface="Calibri"/>
              </a:rPr>
              <a:t>for</a:t>
            </a:r>
            <a:r>
              <a:rPr b="1" i="1" lang="en-US" sz="1100" u="none" cap="none" strike="noStrike">
                <a:solidFill>
                  <a:schemeClr val="dk1"/>
                </a:solidFill>
                <a:latin typeface="Calibri"/>
                <a:ea typeface="Calibri"/>
                <a:cs typeface="Calibri"/>
                <a:sym typeface="Calibri"/>
              </a:rPr>
              <a:t> i</a:t>
            </a:r>
            <a:r>
              <a:rPr b="1" i="0" lang="en-US" sz="1100" u="none" cap="none" strike="noStrike">
                <a:solidFill>
                  <a:schemeClr val="dk1"/>
                </a:solidFill>
                <a:latin typeface="Calibri"/>
                <a:ea typeface="Calibri"/>
                <a:cs typeface="Calibri"/>
                <a:sym typeface="Calibri"/>
              </a:rPr>
              <a:t> = 0, 1, …, </a:t>
            </a:r>
            <a:r>
              <a:rPr b="1" i="1" lang="en-US" sz="1100" u="none" cap="none" strike="noStrike">
                <a:solidFill>
                  <a:schemeClr val="dk1"/>
                </a:solidFill>
                <a:latin typeface="Calibri"/>
                <a:ea typeface="Calibri"/>
                <a:cs typeface="Calibri"/>
                <a:sym typeface="Calibri"/>
              </a:rPr>
              <a:t>n- </a:t>
            </a:r>
            <a:r>
              <a:rPr b="1" i="0" lang="en-US" sz="1100" u="none" cap="none" strike="noStrike">
                <a:solidFill>
                  <a:schemeClr val="dk1"/>
                </a:solidFill>
                <a:latin typeface="Calibri"/>
                <a:ea typeface="Calibri"/>
                <a:cs typeface="Calibri"/>
                <a:sym typeface="Calibri"/>
              </a:rPr>
              <a:t>1</a:t>
            </a:r>
            <a:endParaRPr/>
          </a:p>
          <a:p>
            <a:pPr indent="-342900" lvl="3" marL="1543050" marR="0" rtl="0" algn="l">
              <a:lnSpc>
                <a:spcPct val="90000"/>
              </a:lnSpc>
              <a:spcBef>
                <a:spcPts val="20"/>
              </a:spcBef>
              <a:spcAft>
                <a:spcPts val="0"/>
              </a:spcAft>
              <a:buClr>
                <a:schemeClr val="dk1"/>
              </a:buClr>
              <a:buSzPts val="100"/>
              <a:buFont typeface="Arial"/>
              <a:buNone/>
            </a:pPr>
            <a:r>
              <a:t/>
            </a:r>
            <a:endParaRPr b="0" i="0" sz="100" u="none" cap="none" strike="noStrike">
              <a:solidFill>
                <a:schemeClr val="dk1"/>
              </a:solidFill>
              <a:latin typeface="Calibri"/>
              <a:ea typeface="Calibri"/>
              <a:cs typeface="Calibri"/>
              <a:sym typeface="Calibri"/>
            </a:endParaRPr>
          </a:p>
          <a:p>
            <a:pPr indent="-342900" lvl="0" marL="34290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2.	Find an </a:t>
            </a:r>
            <a:r>
              <a:rPr b="1" i="1" lang="en-US" sz="1800" u="none" cap="none" strike="noStrike">
                <a:solidFill>
                  <a:schemeClr val="dk1"/>
                </a:solidFill>
                <a:latin typeface="Calibri"/>
                <a:ea typeface="Calibri"/>
                <a:cs typeface="Calibri"/>
                <a:sym typeface="Calibri"/>
              </a:rPr>
              <a:t>i</a:t>
            </a:r>
            <a:r>
              <a:rPr b="0" i="1" lang="en-US" sz="1800" u="none" cap="none" strike="noStrike">
                <a:solidFill>
                  <a:schemeClr val="dk1"/>
                </a:solidFill>
                <a:latin typeface="Calibri"/>
                <a:ea typeface="Calibri"/>
                <a:cs typeface="Calibri"/>
                <a:sym typeface="Calibri"/>
              </a:rPr>
              <a:t> </a:t>
            </a:r>
            <a:r>
              <a:rPr b="0" i="0" lang="en-US" sz="1800" u="none" cap="none" strike="noStrike">
                <a:solidFill>
                  <a:schemeClr val="dk1"/>
                </a:solidFill>
                <a:latin typeface="Calibri"/>
                <a:ea typeface="Calibri"/>
                <a:cs typeface="Calibri"/>
                <a:sym typeface="Calibri"/>
              </a:rPr>
              <a:t>such that both: </a:t>
            </a:r>
            <a:endParaRPr/>
          </a:p>
          <a:p>
            <a:pPr indent="-342900" lvl="1" marL="800100" marR="0" rtl="0" algn="l">
              <a:lnSpc>
                <a:spcPct val="90000"/>
              </a:lnSpc>
              <a:spcBef>
                <a:spcPts val="320"/>
              </a:spcBef>
              <a:spcAft>
                <a:spcPts val="0"/>
              </a:spcAft>
              <a:buClr>
                <a:schemeClr val="dk1"/>
              </a:buClr>
              <a:buSzPts val="1600"/>
              <a:buFont typeface="Arial"/>
              <a:buNone/>
            </a:pPr>
            <a:r>
              <a:rPr b="0" i="0" lang="en-US" sz="1600" u="none" cap="none" strike="noStrike">
                <a:solidFill>
                  <a:schemeClr val="dk1"/>
                </a:solidFill>
                <a:latin typeface="Calibri"/>
                <a:ea typeface="Calibri"/>
                <a:cs typeface="Calibri"/>
                <a:sym typeface="Calibri"/>
              </a:rPr>
              <a:t>(a) </a:t>
            </a:r>
            <a:r>
              <a:rPr b="1" i="1" lang="en-US" sz="1600" u="none" cap="none" strike="noStrike">
                <a:solidFill>
                  <a:schemeClr val="dk1"/>
                </a:solidFill>
                <a:latin typeface="Calibri"/>
                <a:ea typeface="Calibri"/>
                <a:cs typeface="Calibri"/>
                <a:sym typeface="Calibri"/>
              </a:rPr>
              <a:t>Finish</a:t>
            </a:r>
            <a:r>
              <a:rPr b="1" i="0" lang="en-US" sz="1600" u="none" cap="none" strike="noStrike">
                <a:solidFill>
                  <a:schemeClr val="dk1"/>
                </a:solidFill>
                <a:latin typeface="Calibri"/>
                <a:ea typeface="Calibri"/>
                <a:cs typeface="Calibri"/>
                <a:sym typeface="Calibri"/>
              </a:rPr>
              <a:t> [</a:t>
            </a:r>
            <a:r>
              <a:rPr b="1" i="1" lang="en-US" sz="1600" u="none" cap="none" strike="noStrike">
                <a:solidFill>
                  <a:schemeClr val="dk1"/>
                </a:solidFill>
                <a:latin typeface="Calibri"/>
                <a:ea typeface="Calibri"/>
                <a:cs typeface="Calibri"/>
                <a:sym typeface="Calibri"/>
              </a:rPr>
              <a:t>i</a:t>
            </a:r>
            <a:r>
              <a:rPr b="1" i="0" lang="en-US" sz="1600" u="none" cap="none" strike="noStrike">
                <a:solidFill>
                  <a:schemeClr val="dk1"/>
                </a:solidFill>
                <a:latin typeface="Calibri"/>
                <a:ea typeface="Calibri"/>
                <a:cs typeface="Calibri"/>
                <a:sym typeface="Calibri"/>
              </a:rPr>
              <a:t>] = </a:t>
            </a:r>
            <a:r>
              <a:rPr b="1" i="1" lang="en-US" sz="1600" u="none" cap="none" strike="noStrike">
                <a:solidFill>
                  <a:schemeClr val="dk1"/>
                </a:solidFill>
                <a:latin typeface="Calibri"/>
                <a:ea typeface="Calibri"/>
                <a:cs typeface="Calibri"/>
                <a:sym typeface="Calibri"/>
              </a:rPr>
              <a:t>false</a:t>
            </a:r>
            <a:endParaRPr b="1" i="0" sz="1600" u="none" cap="none" strike="noStrike">
              <a:solidFill>
                <a:schemeClr val="dk1"/>
              </a:solidFill>
              <a:latin typeface="Calibri"/>
              <a:ea typeface="Calibri"/>
              <a:cs typeface="Calibri"/>
              <a:sym typeface="Calibri"/>
            </a:endParaRPr>
          </a:p>
          <a:p>
            <a:pPr indent="-342900" lvl="1" marL="800100" marR="0" rtl="0" algn="l">
              <a:lnSpc>
                <a:spcPct val="90000"/>
              </a:lnSpc>
              <a:spcBef>
                <a:spcPts val="320"/>
              </a:spcBef>
              <a:spcAft>
                <a:spcPts val="0"/>
              </a:spcAft>
              <a:buClr>
                <a:schemeClr val="dk1"/>
              </a:buClr>
              <a:buSzPts val="1600"/>
              <a:buFont typeface="Arial"/>
              <a:buNone/>
            </a:pPr>
            <a:r>
              <a:rPr b="0" i="0" lang="en-US" sz="1600" u="none" cap="none" strike="noStrike">
                <a:solidFill>
                  <a:schemeClr val="dk1"/>
                </a:solidFill>
                <a:latin typeface="Calibri"/>
                <a:ea typeface="Calibri"/>
                <a:cs typeface="Calibri"/>
                <a:sym typeface="Calibri"/>
              </a:rPr>
              <a:t>(b) </a:t>
            </a:r>
            <a:r>
              <a:rPr b="1" i="1" lang="en-US" sz="1600" u="none" cap="none" strike="noStrike">
                <a:solidFill>
                  <a:srgbClr val="0070C0"/>
                </a:solidFill>
                <a:latin typeface="Calibri"/>
                <a:ea typeface="Calibri"/>
                <a:cs typeface="Calibri"/>
                <a:sym typeface="Calibri"/>
              </a:rPr>
              <a:t>Need</a:t>
            </a:r>
            <a:r>
              <a:rPr b="1" baseline="-25000" i="1" lang="en-US" sz="1600" u="none" cap="none" strike="noStrike">
                <a:solidFill>
                  <a:srgbClr val="0070C0"/>
                </a:solidFill>
                <a:latin typeface="Calibri"/>
                <a:ea typeface="Calibri"/>
                <a:cs typeface="Calibri"/>
                <a:sym typeface="Calibri"/>
              </a:rPr>
              <a:t>i</a:t>
            </a:r>
            <a:r>
              <a:rPr b="1" i="0" lang="en-US" sz="1600" u="none" cap="none" strike="noStrike">
                <a:solidFill>
                  <a:srgbClr val="0070C0"/>
                </a:solidFill>
                <a:latin typeface="Calibri"/>
                <a:ea typeface="Calibri"/>
                <a:cs typeface="Calibri"/>
                <a:sym typeface="Calibri"/>
              </a:rPr>
              <a:t> ≤ </a:t>
            </a:r>
            <a:r>
              <a:rPr b="1" i="1" lang="en-US" sz="1600" u="none" cap="none" strike="noStrike">
                <a:solidFill>
                  <a:srgbClr val="0070C0"/>
                </a:solidFill>
                <a:latin typeface="Calibri"/>
                <a:ea typeface="Calibri"/>
                <a:cs typeface="Calibri"/>
                <a:sym typeface="Calibri"/>
              </a:rPr>
              <a:t>Work</a:t>
            </a:r>
            <a:endParaRPr/>
          </a:p>
          <a:p>
            <a:pPr indent="-342900" lvl="1" marL="800100" marR="0" rtl="0" algn="l">
              <a:lnSpc>
                <a:spcPct val="90000"/>
              </a:lnSpc>
              <a:spcBef>
                <a:spcPts val="320"/>
              </a:spcBef>
              <a:spcAft>
                <a:spcPts val="0"/>
              </a:spcAft>
              <a:buClr>
                <a:schemeClr val="dk1"/>
              </a:buClr>
              <a:buSzPts val="1600"/>
              <a:buFont typeface="Arial"/>
              <a:buNone/>
            </a:pPr>
            <a:r>
              <a:rPr b="0" i="0" lang="en-US" sz="1600" u="none" cap="none" strike="noStrike">
                <a:solidFill>
                  <a:schemeClr val="dk1"/>
                </a:solidFill>
                <a:latin typeface="Calibri"/>
                <a:ea typeface="Calibri"/>
                <a:cs typeface="Calibri"/>
                <a:sym typeface="Calibri"/>
              </a:rPr>
              <a:t>If no such</a:t>
            </a:r>
            <a:r>
              <a:rPr b="1" i="0" lang="en-US" sz="1600" u="none" cap="none" strike="noStrike">
                <a:solidFill>
                  <a:schemeClr val="dk1"/>
                </a:solidFill>
                <a:latin typeface="Calibri"/>
                <a:ea typeface="Calibri"/>
                <a:cs typeface="Calibri"/>
                <a:sym typeface="Calibri"/>
              </a:rPr>
              <a:t> </a:t>
            </a:r>
            <a:r>
              <a:rPr b="1" i="1" lang="en-US" sz="1600" u="none" cap="none" strike="noStrike">
                <a:solidFill>
                  <a:schemeClr val="dk1"/>
                </a:solidFill>
                <a:latin typeface="Calibri"/>
                <a:ea typeface="Calibri"/>
                <a:cs typeface="Calibri"/>
                <a:sym typeface="Calibri"/>
              </a:rPr>
              <a:t>i </a:t>
            </a:r>
            <a:r>
              <a:rPr b="0" i="0" lang="en-US" sz="1600" u="none" cap="none" strike="noStrike">
                <a:solidFill>
                  <a:schemeClr val="dk1"/>
                </a:solidFill>
                <a:latin typeface="Calibri"/>
                <a:ea typeface="Calibri"/>
                <a:cs typeface="Calibri"/>
                <a:sym typeface="Calibri"/>
              </a:rPr>
              <a:t>exists, go to step 4</a:t>
            </a:r>
            <a:endParaRPr/>
          </a:p>
          <a:p>
            <a:pPr indent="-342900" lvl="1" marL="800100" marR="0" rtl="0" algn="l">
              <a:lnSpc>
                <a:spcPct val="90000"/>
              </a:lnSpc>
              <a:spcBef>
                <a:spcPts val="20"/>
              </a:spcBef>
              <a:spcAft>
                <a:spcPts val="0"/>
              </a:spcAft>
              <a:buClr>
                <a:schemeClr val="dk1"/>
              </a:buClr>
              <a:buSzPts val="100"/>
              <a:buFont typeface="Arial"/>
              <a:buNone/>
            </a:pPr>
            <a:r>
              <a:t/>
            </a:r>
            <a:endParaRPr b="0" i="0" sz="100" u="none" cap="none" strike="noStrike">
              <a:solidFill>
                <a:schemeClr val="dk1"/>
              </a:solidFill>
              <a:latin typeface="Calibri"/>
              <a:ea typeface="Calibri"/>
              <a:cs typeface="Calibri"/>
              <a:sym typeface="Calibri"/>
            </a:endParaRPr>
          </a:p>
          <a:p>
            <a:pPr indent="-342900" lvl="0" marL="342900" marR="0" rtl="0" algn="l">
              <a:lnSpc>
                <a:spcPct val="90000"/>
              </a:lnSpc>
              <a:spcBef>
                <a:spcPts val="360"/>
              </a:spcBef>
              <a:spcAft>
                <a:spcPts val="0"/>
              </a:spcAft>
              <a:buClr>
                <a:schemeClr val="dk1"/>
              </a:buClr>
              <a:buSzPts val="1800"/>
              <a:buFont typeface="Arial"/>
              <a:buNone/>
            </a:pPr>
            <a:r>
              <a:rPr b="0" i="1" lang="en-US" sz="1800" u="none" cap="none" strike="noStrike">
                <a:solidFill>
                  <a:schemeClr val="dk1"/>
                </a:solidFill>
                <a:latin typeface="Calibri"/>
                <a:ea typeface="Calibri"/>
                <a:cs typeface="Calibri"/>
                <a:sym typeface="Calibri"/>
              </a:rPr>
              <a:t>3.  </a:t>
            </a:r>
            <a:r>
              <a:rPr b="1" i="1" lang="en-US" sz="1800" u="none" cap="none" strike="noStrike">
                <a:solidFill>
                  <a:schemeClr val="dk1"/>
                </a:solidFill>
                <a:latin typeface="Calibri"/>
                <a:ea typeface="Calibri"/>
                <a:cs typeface="Calibri"/>
                <a:sym typeface="Calibri"/>
              </a:rPr>
              <a:t>Work</a:t>
            </a:r>
            <a:r>
              <a:rPr b="1" i="0" lang="en-US" sz="1800" u="none" cap="none" strike="noStrike">
                <a:solidFill>
                  <a:schemeClr val="dk1"/>
                </a:solidFill>
                <a:latin typeface="Calibri"/>
                <a:ea typeface="Calibri"/>
                <a:cs typeface="Calibri"/>
                <a:sym typeface="Calibri"/>
              </a:rPr>
              <a:t> = </a:t>
            </a:r>
            <a:r>
              <a:rPr b="1" i="1" lang="en-US" sz="1800" u="none" cap="none" strike="noStrike">
                <a:solidFill>
                  <a:schemeClr val="dk1"/>
                </a:solidFill>
                <a:latin typeface="Calibri"/>
                <a:ea typeface="Calibri"/>
                <a:cs typeface="Calibri"/>
                <a:sym typeface="Calibri"/>
              </a:rPr>
              <a:t>Work </a:t>
            </a:r>
            <a:r>
              <a:rPr b="1" i="0" lang="en-US" sz="1800" u="none" cap="none" strike="noStrike">
                <a:solidFill>
                  <a:schemeClr val="dk1"/>
                </a:solidFill>
                <a:latin typeface="Calibri"/>
                <a:ea typeface="Calibri"/>
                <a:cs typeface="Calibri"/>
                <a:sym typeface="Calibri"/>
              </a:rPr>
              <a:t>+ </a:t>
            </a:r>
            <a:r>
              <a:rPr b="1" i="1" lang="en-US" sz="1800" u="none" cap="none" strike="noStrike">
                <a:solidFill>
                  <a:schemeClr val="dk1"/>
                </a:solidFill>
                <a:latin typeface="Calibri"/>
                <a:ea typeface="Calibri"/>
                <a:cs typeface="Calibri"/>
                <a:sym typeface="Calibri"/>
              </a:rPr>
              <a:t>Allocation</a:t>
            </a:r>
            <a:r>
              <a:rPr b="1" baseline="-25000" i="1" lang="en-US" sz="1800" u="none" cap="none" strike="noStrike">
                <a:solidFill>
                  <a:schemeClr val="dk1"/>
                </a:solidFill>
                <a:latin typeface="Calibri"/>
                <a:ea typeface="Calibri"/>
                <a:cs typeface="Calibri"/>
                <a:sym typeface="Calibri"/>
              </a:rPr>
              <a:t>i</a:t>
            </a:r>
            <a:br>
              <a:rPr b="1" i="0" lang="en-US" sz="1800" u="none" cap="none" strike="noStrike">
                <a:solidFill>
                  <a:schemeClr val="dk1"/>
                </a:solidFill>
                <a:latin typeface="Calibri"/>
                <a:ea typeface="Calibri"/>
                <a:cs typeface="Calibri"/>
                <a:sym typeface="Calibri"/>
              </a:rPr>
            </a:br>
            <a:r>
              <a:rPr b="1" i="1" lang="en-US" sz="1800" u="none" cap="none" strike="noStrike">
                <a:solidFill>
                  <a:schemeClr val="dk1"/>
                </a:solidFill>
                <a:latin typeface="Calibri"/>
                <a:ea typeface="Calibri"/>
                <a:cs typeface="Calibri"/>
                <a:sym typeface="Calibri"/>
              </a:rPr>
              <a:t>Finish</a:t>
            </a:r>
            <a:r>
              <a:rPr b="1" i="0" lang="en-US" sz="1800" u="none" cap="none" strike="noStrike">
                <a:solidFill>
                  <a:schemeClr val="dk1"/>
                </a:solidFill>
                <a:latin typeface="Calibri"/>
                <a:ea typeface="Calibri"/>
                <a:cs typeface="Calibri"/>
                <a:sym typeface="Calibri"/>
              </a:rPr>
              <a:t>[</a:t>
            </a:r>
            <a:r>
              <a:rPr b="1" i="1" lang="en-US" sz="1800" u="none" cap="none" strike="noStrike">
                <a:solidFill>
                  <a:schemeClr val="dk1"/>
                </a:solidFill>
                <a:latin typeface="Calibri"/>
                <a:ea typeface="Calibri"/>
                <a:cs typeface="Calibri"/>
                <a:sym typeface="Calibri"/>
              </a:rPr>
              <a:t>i</a:t>
            </a:r>
            <a:r>
              <a:rPr b="1" i="0" lang="en-US" sz="1800" u="none" cap="none" strike="noStrike">
                <a:solidFill>
                  <a:schemeClr val="dk1"/>
                </a:solidFill>
                <a:latin typeface="Calibri"/>
                <a:ea typeface="Calibri"/>
                <a:cs typeface="Calibri"/>
                <a:sym typeface="Calibri"/>
              </a:rPr>
              <a:t>] =</a:t>
            </a:r>
            <a:r>
              <a:rPr b="1" i="1" lang="en-US" sz="1800" u="none" cap="none" strike="noStrike">
                <a:solidFill>
                  <a:schemeClr val="dk1"/>
                </a:solidFill>
                <a:latin typeface="Calibri"/>
                <a:ea typeface="Calibri"/>
                <a:cs typeface="Calibri"/>
                <a:sym typeface="Calibri"/>
              </a:rPr>
              <a:t> true</a:t>
            </a:r>
            <a:br>
              <a:rPr b="1"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go to step 2</a:t>
            </a:r>
            <a:endParaRPr/>
          </a:p>
          <a:p>
            <a:pPr indent="-336550" lvl="0" marL="342900" marR="0" rtl="0" algn="l">
              <a:lnSpc>
                <a:spcPct val="90000"/>
              </a:lnSpc>
              <a:spcBef>
                <a:spcPts val="20"/>
              </a:spcBef>
              <a:spcAft>
                <a:spcPts val="0"/>
              </a:spcAft>
              <a:buClr>
                <a:schemeClr val="dk1"/>
              </a:buClr>
              <a:buSzPts val="100"/>
              <a:buFont typeface="Arial"/>
              <a:buNone/>
            </a:pPr>
            <a:r>
              <a:t/>
            </a:r>
            <a:endParaRPr b="0" i="0" sz="100" u="none" cap="none" strike="noStrike">
              <a:solidFill>
                <a:schemeClr val="dk1"/>
              </a:solidFill>
              <a:latin typeface="Calibri"/>
              <a:ea typeface="Calibri"/>
              <a:cs typeface="Calibri"/>
              <a:sym typeface="Calibri"/>
            </a:endParaRPr>
          </a:p>
          <a:p>
            <a:pPr indent="-342900" lvl="0" marL="34290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4.	If </a:t>
            </a:r>
            <a:r>
              <a:rPr b="1" i="1" lang="en-US" sz="1800" u="none" cap="none" strike="noStrike">
                <a:solidFill>
                  <a:schemeClr val="dk1"/>
                </a:solidFill>
                <a:latin typeface="Calibri"/>
                <a:ea typeface="Calibri"/>
                <a:cs typeface="Calibri"/>
                <a:sym typeface="Calibri"/>
              </a:rPr>
              <a:t>Finish</a:t>
            </a:r>
            <a:r>
              <a:rPr b="1" i="0" lang="en-US" sz="1800" u="none" cap="none" strike="noStrike">
                <a:solidFill>
                  <a:schemeClr val="dk1"/>
                </a:solidFill>
                <a:latin typeface="Calibri"/>
                <a:ea typeface="Calibri"/>
                <a:cs typeface="Calibri"/>
                <a:sym typeface="Calibri"/>
              </a:rPr>
              <a:t> [</a:t>
            </a:r>
            <a:r>
              <a:rPr b="1" i="1" lang="en-US" sz="1800" u="none" cap="none" strike="noStrike">
                <a:solidFill>
                  <a:schemeClr val="dk1"/>
                </a:solidFill>
                <a:latin typeface="Calibri"/>
                <a:ea typeface="Calibri"/>
                <a:cs typeface="Calibri"/>
                <a:sym typeface="Calibri"/>
              </a:rPr>
              <a:t>i</a:t>
            </a:r>
            <a:r>
              <a:rPr b="1" i="0" lang="en-US" sz="1800" u="none" cap="none" strike="noStrike">
                <a:solidFill>
                  <a:schemeClr val="dk1"/>
                </a:solidFill>
                <a:latin typeface="Calibri"/>
                <a:ea typeface="Calibri"/>
                <a:cs typeface="Calibri"/>
                <a:sym typeface="Calibri"/>
              </a:rPr>
              <a:t>] == </a:t>
            </a:r>
            <a:r>
              <a:rPr b="1" i="1" lang="en-US" sz="1800" u="none" cap="none" strike="noStrike">
                <a:solidFill>
                  <a:schemeClr val="dk1"/>
                </a:solidFill>
                <a:latin typeface="Calibri"/>
                <a:ea typeface="Calibri"/>
                <a:cs typeface="Calibri"/>
                <a:sym typeface="Calibri"/>
              </a:rPr>
              <a:t>true</a:t>
            </a:r>
            <a:r>
              <a:rPr b="1" i="0" lang="en-US" sz="1800" u="none" cap="none" strike="noStrike">
                <a:solidFill>
                  <a:schemeClr val="dk1"/>
                </a:solidFill>
                <a:latin typeface="Calibri"/>
                <a:ea typeface="Calibri"/>
                <a:cs typeface="Calibri"/>
                <a:sym typeface="Calibri"/>
              </a:rPr>
              <a:t> </a:t>
            </a:r>
            <a:r>
              <a:rPr b="0" i="0" lang="en-US" sz="1800" u="none" cap="none" strike="noStrike">
                <a:solidFill>
                  <a:schemeClr val="dk1"/>
                </a:solidFill>
                <a:latin typeface="Calibri"/>
                <a:ea typeface="Calibri"/>
                <a:cs typeface="Calibri"/>
                <a:sym typeface="Calibri"/>
              </a:rPr>
              <a:t>for all </a:t>
            </a:r>
            <a:r>
              <a:rPr b="1" i="1" lang="en-US" sz="1800" u="none" cap="none" strike="noStrike">
                <a:solidFill>
                  <a:schemeClr val="dk1"/>
                </a:solidFill>
                <a:latin typeface="Calibri"/>
                <a:ea typeface="Calibri"/>
                <a:cs typeface="Calibri"/>
                <a:sym typeface="Calibri"/>
              </a:rPr>
              <a:t>i</a:t>
            </a:r>
            <a:r>
              <a:rPr b="0" i="0" lang="en-US" sz="1800" u="none" cap="none" strike="noStrike">
                <a:solidFill>
                  <a:schemeClr val="dk1"/>
                </a:solidFill>
                <a:latin typeface="Calibri"/>
                <a:ea typeface="Calibri"/>
                <a:cs typeface="Calibri"/>
                <a:sym typeface="Calibri"/>
              </a:rPr>
              <a:t>, then the system is in a safe state</a:t>
            </a:r>
            <a:endParaRPr/>
          </a:p>
        </p:txBody>
      </p:sp>
      <p:pic>
        <p:nvPicPr>
          <p:cNvPr id="980" name="Google Shape;980;p81"/>
          <p:cNvPicPr preferRelativeResize="0"/>
          <p:nvPr/>
        </p:nvPicPr>
        <p:blipFill rotWithShape="1">
          <a:blip r:embed="rId4">
            <a:alphaModFix/>
          </a:blip>
          <a:srcRect b="0" l="0" r="0" t="31229"/>
          <a:stretch/>
        </p:blipFill>
        <p:spPr>
          <a:xfrm>
            <a:off x="4191001" y="4953000"/>
            <a:ext cx="4089400" cy="1565564"/>
          </a:xfrm>
          <a:prstGeom prst="rect">
            <a:avLst/>
          </a:prstGeom>
          <a:noFill/>
          <a:ln>
            <a:noFill/>
          </a:ln>
        </p:spPr>
      </p:pic>
      <p:sp>
        <p:nvSpPr>
          <p:cNvPr id="981" name="Google Shape;981;p81"/>
          <p:cNvSpPr/>
          <p:nvPr/>
        </p:nvSpPr>
        <p:spPr>
          <a:xfrm>
            <a:off x="6324600" y="3124200"/>
            <a:ext cx="2678546" cy="152400"/>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82" name="Google Shape;982;p8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983" name="Google Shape;983;p8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984" name="Google Shape;984;p8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p82"/>
          <p:cNvSpPr txBox="1"/>
          <p:nvPr>
            <p:ph type="title"/>
          </p:nvPr>
        </p:nvSpPr>
        <p:spPr>
          <a:xfrm>
            <a:off x="380999" y="152400"/>
            <a:ext cx="8229600" cy="5635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2400"/>
              <a:buFont typeface="Calibri"/>
              <a:buNone/>
            </a:pPr>
            <a:r>
              <a:rPr lang="en-US" sz="2400"/>
              <a:t>We must determine whether this new system state is safe. To do so, we again execute Safety algorithm again</a:t>
            </a:r>
            <a:endParaRPr sz="2400"/>
          </a:p>
        </p:txBody>
      </p:sp>
      <p:pic>
        <p:nvPicPr>
          <p:cNvPr id="990" name="Google Shape;990;p82"/>
          <p:cNvPicPr preferRelativeResize="0"/>
          <p:nvPr>
            <p:ph idx="1" type="body"/>
          </p:nvPr>
        </p:nvPicPr>
        <p:blipFill rotWithShape="1">
          <a:blip r:embed="rId3">
            <a:alphaModFix/>
          </a:blip>
          <a:srcRect b="0" l="68065" r="0" t="0"/>
          <a:stretch/>
        </p:blipFill>
        <p:spPr>
          <a:xfrm>
            <a:off x="304800" y="838200"/>
            <a:ext cx="4064000" cy="5638800"/>
          </a:xfrm>
          <a:prstGeom prst="rect">
            <a:avLst/>
          </a:prstGeom>
          <a:noFill/>
          <a:ln>
            <a:noFill/>
          </a:ln>
        </p:spPr>
      </p:pic>
      <p:sp>
        <p:nvSpPr>
          <p:cNvPr id="991" name="Google Shape;991;p82"/>
          <p:cNvSpPr txBox="1"/>
          <p:nvPr/>
        </p:nvSpPr>
        <p:spPr>
          <a:xfrm>
            <a:off x="4191000" y="1295400"/>
            <a:ext cx="4775200" cy="4943475"/>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1.	</a:t>
            </a:r>
            <a:r>
              <a:rPr b="0" i="0" lang="en-US" sz="1800" u="none" cap="none" strike="noStrike">
                <a:solidFill>
                  <a:schemeClr val="dk1"/>
                </a:solidFill>
                <a:latin typeface="Calibri"/>
                <a:ea typeface="Calibri"/>
                <a:cs typeface="Calibri"/>
                <a:sym typeface="Calibri"/>
              </a:rPr>
              <a:t>Let </a:t>
            </a:r>
            <a:r>
              <a:rPr b="1" i="1" lang="en-US" sz="1800" u="none" cap="none" strike="noStrike">
                <a:solidFill>
                  <a:srgbClr val="000000"/>
                </a:solidFill>
                <a:latin typeface="Calibri"/>
                <a:ea typeface="Calibri"/>
                <a:cs typeface="Calibri"/>
                <a:sym typeface="Calibri"/>
              </a:rPr>
              <a:t>Work</a:t>
            </a:r>
            <a:r>
              <a:rPr b="0" i="1" lang="en-US" sz="1800" u="none" cap="none" strike="noStrike">
                <a:solidFill>
                  <a:srgbClr val="000000"/>
                </a:solidFill>
                <a:latin typeface="Calibri"/>
                <a:ea typeface="Calibri"/>
                <a:cs typeface="Calibri"/>
                <a:sym typeface="Calibri"/>
              </a:rPr>
              <a:t> </a:t>
            </a:r>
            <a:r>
              <a:rPr b="0" i="0" lang="en-US" sz="1800" u="none" cap="none" strike="noStrike">
                <a:solidFill>
                  <a:schemeClr val="dk1"/>
                </a:solidFill>
                <a:latin typeface="Calibri"/>
                <a:ea typeface="Calibri"/>
                <a:cs typeface="Calibri"/>
                <a:sym typeface="Calibri"/>
              </a:rPr>
              <a:t>and </a:t>
            </a:r>
            <a:r>
              <a:rPr b="1" i="1" lang="en-US" sz="1800" u="none" cap="none" strike="noStrike">
                <a:solidFill>
                  <a:srgbClr val="000000"/>
                </a:solidFill>
                <a:latin typeface="Calibri"/>
                <a:ea typeface="Calibri"/>
                <a:cs typeface="Calibri"/>
                <a:sym typeface="Calibri"/>
              </a:rPr>
              <a:t>Finish</a:t>
            </a:r>
            <a:r>
              <a:rPr b="0" i="0" lang="en-US" sz="1800" u="none" cap="none" strike="noStrike">
                <a:solidFill>
                  <a:srgbClr val="000000"/>
                </a:solidFill>
                <a:latin typeface="Calibri"/>
                <a:ea typeface="Calibri"/>
                <a:cs typeface="Calibri"/>
                <a:sym typeface="Calibri"/>
              </a:rPr>
              <a:t> </a:t>
            </a:r>
            <a:r>
              <a:rPr b="0" i="0" lang="en-US" sz="1800" u="none" cap="none" strike="noStrike">
                <a:solidFill>
                  <a:schemeClr val="dk1"/>
                </a:solidFill>
                <a:latin typeface="Calibri"/>
                <a:ea typeface="Calibri"/>
                <a:cs typeface="Calibri"/>
                <a:sym typeface="Calibri"/>
              </a:rPr>
              <a:t>be vectors of length</a:t>
            </a:r>
            <a:r>
              <a:rPr b="0" i="1" lang="en-US" sz="1800" u="none" cap="none" strike="noStrike">
                <a:solidFill>
                  <a:schemeClr val="dk1"/>
                </a:solidFill>
                <a:latin typeface="Calibri"/>
                <a:ea typeface="Calibri"/>
                <a:cs typeface="Calibri"/>
                <a:sym typeface="Calibri"/>
              </a:rPr>
              <a:t> m</a:t>
            </a:r>
            <a:r>
              <a:rPr b="0" i="0" lang="en-US" sz="1800" u="none" cap="none" strike="noStrike">
                <a:solidFill>
                  <a:schemeClr val="dk1"/>
                </a:solidFill>
                <a:latin typeface="Calibri"/>
                <a:ea typeface="Calibri"/>
                <a:cs typeface="Calibri"/>
                <a:sym typeface="Calibri"/>
              </a:rPr>
              <a:t> and</a:t>
            </a:r>
            <a:r>
              <a:rPr b="0" i="1" lang="en-US" sz="1800" u="none" cap="none" strike="noStrike">
                <a:solidFill>
                  <a:schemeClr val="dk1"/>
                </a:solidFill>
                <a:latin typeface="Calibri"/>
                <a:ea typeface="Calibri"/>
                <a:cs typeface="Calibri"/>
                <a:sym typeface="Calibri"/>
              </a:rPr>
              <a:t> n</a:t>
            </a:r>
            <a:r>
              <a:rPr b="0" i="0" lang="en-US" sz="1800" u="none" cap="none" strike="noStrike">
                <a:solidFill>
                  <a:schemeClr val="dk1"/>
                </a:solidFill>
                <a:latin typeface="Calibri"/>
                <a:ea typeface="Calibri"/>
                <a:cs typeface="Calibri"/>
                <a:sym typeface="Calibri"/>
              </a:rPr>
              <a:t>, respectively.  Initialize:</a:t>
            </a:r>
            <a:endParaRPr/>
          </a:p>
          <a:p>
            <a:pPr indent="-342900" lvl="3" marL="1543050" marR="0" rtl="0" algn="l">
              <a:lnSpc>
                <a:spcPct val="90000"/>
              </a:lnSpc>
              <a:spcBef>
                <a:spcPts val="220"/>
              </a:spcBef>
              <a:spcAft>
                <a:spcPts val="0"/>
              </a:spcAft>
              <a:buClr>
                <a:schemeClr val="dk1"/>
              </a:buClr>
              <a:buSzPts val="1100"/>
              <a:buFont typeface="Arial"/>
              <a:buNone/>
            </a:pPr>
            <a:r>
              <a:rPr b="1" i="1" lang="en-US" sz="1100" u="none" cap="none" strike="noStrike">
                <a:solidFill>
                  <a:schemeClr val="dk1"/>
                </a:solidFill>
                <a:latin typeface="Calibri"/>
                <a:ea typeface="Calibri"/>
                <a:cs typeface="Calibri"/>
                <a:sym typeface="Calibri"/>
              </a:rPr>
              <a:t>Work </a:t>
            </a:r>
            <a:r>
              <a:rPr b="1" i="0" lang="en-US" sz="1100" u="none" cap="none" strike="noStrike">
                <a:solidFill>
                  <a:schemeClr val="dk1"/>
                </a:solidFill>
                <a:latin typeface="Calibri"/>
                <a:ea typeface="Calibri"/>
                <a:cs typeface="Calibri"/>
                <a:sym typeface="Calibri"/>
              </a:rPr>
              <a:t>= </a:t>
            </a:r>
            <a:r>
              <a:rPr b="1" i="1" lang="en-US" sz="1100" u="none" cap="none" strike="noStrike">
                <a:solidFill>
                  <a:schemeClr val="dk1"/>
                </a:solidFill>
                <a:latin typeface="Calibri"/>
                <a:ea typeface="Calibri"/>
                <a:cs typeface="Calibri"/>
                <a:sym typeface="Calibri"/>
              </a:rPr>
              <a:t>Available</a:t>
            </a:r>
            <a:endParaRPr/>
          </a:p>
          <a:p>
            <a:pPr indent="-342900" lvl="3" marL="1543050" marR="0" rtl="0" algn="l">
              <a:lnSpc>
                <a:spcPct val="90000"/>
              </a:lnSpc>
              <a:spcBef>
                <a:spcPts val="220"/>
              </a:spcBef>
              <a:spcAft>
                <a:spcPts val="0"/>
              </a:spcAft>
              <a:buClr>
                <a:schemeClr val="dk1"/>
              </a:buClr>
              <a:buSzPts val="1100"/>
              <a:buFont typeface="Arial"/>
              <a:buNone/>
            </a:pPr>
            <a:r>
              <a:rPr b="1" i="1" lang="en-US" sz="1100" u="none" cap="none" strike="noStrike">
                <a:solidFill>
                  <a:schemeClr val="dk1"/>
                </a:solidFill>
                <a:latin typeface="Calibri"/>
                <a:ea typeface="Calibri"/>
                <a:cs typeface="Calibri"/>
                <a:sym typeface="Calibri"/>
              </a:rPr>
              <a:t>Finish </a:t>
            </a:r>
            <a:r>
              <a:rPr b="1" i="0" lang="en-US" sz="1100" u="none" cap="none" strike="noStrike">
                <a:solidFill>
                  <a:schemeClr val="dk1"/>
                </a:solidFill>
                <a:latin typeface="Calibri"/>
                <a:ea typeface="Calibri"/>
                <a:cs typeface="Calibri"/>
                <a:sym typeface="Calibri"/>
              </a:rPr>
              <a:t>[</a:t>
            </a:r>
            <a:r>
              <a:rPr b="1" i="1" lang="en-US" sz="1100" u="none" cap="none" strike="noStrike">
                <a:solidFill>
                  <a:schemeClr val="dk1"/>
                </a:solidFill>
                <a:latin typeface="Calibri"/>
                <a:ea typeface="Calibri"/>
                <a:cs typeface="Calibri"/>
                <a:sym typeface="Calibri"/>
              </a:rPr>
              <a:t>i</a:t>
            </a:r>
            <a:r>
              <a:rPr b="1" i="0" lang="en-US" sz="1100" u="none" cap="none" strike="noStrike">
                <a:solidFill>
                  <a:schemeClr val="dk1"/>
                </a:solidFill>
                <a:latin typeface="Calibri"/>
                <a:ea typeface="Calibri"/>
                <a:cs typeface="Calibri"/>
                <a:sym typeface="Calibri"/>
              </a:rPr>
              <a:t>] =</a:t>
            </a:r>
            <a:r>
              <a:rPr b="1" i="1" lang="en-US" sz="1100" u="none" cap="none" strike="noStrike">
                <a:solidFill>
                  <a:schemeClr val="dk1"/>
                </a:solidFill>
                <a:latin typeface="Calibri"/>
                <a:ea typeface="Calibri"/>
                <a:cs typeface="Calibri"/>
                <a:sym typeface="Calibri"/>
              </a:rPr>
              <a:t> false </a:t>
            </a:r>
            <a:r>
              <a:rPr b="1" i="0" lang="en-US" sz="1100" u="none" cap="none" strike="noStrike">
                <a:solidFill>
                  <a:schemeClr val="dk1"/>
                </a:solidFill>
                <a:latin typeface="Calibri"/>
                <a:ea typeface="Calibri"/>
                <a:cs typeface="Calibri"/>
                <a:sym typeface="Calibri"/>
              </a:rPr>
              <a:t>for</a:t>
            </a:r>
            <a:r>
              <a:rPr b="1" i="1" lang="en-US" sz="1100" u="none" cap="none" strike="noStrike">
                <a:solidFill>
                  <a:schemeClr val="dk1"/>
                </a:solidFill>
                <a:latin typeface="Calibri"/>
                <a:ea typeface="Calibri"/>
                <a:cs typeface="Calibri"/>
                <a:sym typeface="Calibri"/>
              </a:rPr>
              <a:t> i</a:t>
            </a:r>
            <a:r>
              <a:rPr b="1" i="0" lang="en-US" sz="1100" u="none" cap="none" strike="noStrike">
                <a:solidFill>
                  <a:schemeClr val="dk1"/>
                </a:solidFill>
                <a:latin typeface="Calibri"/>
                <a:ea typeface="Calibri"/>
                <a:cs typeface="Calibri"/>
                <a:sym typeface="Calibri"/>
              </a:rPr>
              <a:t> = 0, 1, …, </a:t>
            </a:r>
            <a:r>
              <a:rPr b="1" i="1" lang="en-US" sz="1100" u="none" cap="none" strike="noStrike">
                <a:solidFill>
                  <a:schemeClr val="dk1"/>
                </a:solidFill>
                <a:latin typeface="Calibri"/>
                <a:ea typeface="Calibri"/>
                <a:cs typeface="Calibri"/>
                <a:sym typeface="Calibri"/>
              </a:rPr>
              <a:t>n- </a:t>
            </a:r>
            <a:r>
              <a:rPr b="1" i="0" lang="en-US" sz="1100" u="none" cap="none" strike="noStrike">
                <a:solidFill>
                  <a:schemeClr val="dk1"/>
                </a:solidFill>
                <a:latin typeface="Calibri"/>
                <a:ea typeface="Calibri"/>
                <a:cs typeface="Calibri"/>
                <a:sym typeface="Calibri"/>
              </a:rPr>
              <a:t>1</a:t>
            </a:r>
            <a:endParaRPr/>
          </a:p>
          <a:p>
            <a:pPr indent="-342900" lvl="3" marL="1543050" marR="0" rtl="0" algn="l">
              <a:lnSpc>
                <a:spcPct val="90000"/>
              </a:lnSpc>
              <a:spcBef>
                <a:spcPts val="20"/>
              </a:spcBef>
              <a:spcAft>
                <a:spcPts val="0"/>
              </a:spcAft>
              <a:buClr>
                <a:schemeClr val="dk1"/>
              </a:buClr>
              <a:buSzPts val="100"/>
              <a:buFont typeface="Arial"/>
              <a:buNone/>
            </a:pPr>
            <a:r>
              <a:t/>
            </a:r>
            <a:endParaRPr b="0" i="0" sz="100" u="none" cap="none" strike="noStrike">
              <a:solidFill>
                <a:schemeClr val="dk1"/>
              </a:solidFill>
              <a:latin typeface="Calibri"/>
              <a:ea typeface="Calibri"/>
              <a:cs typeface="Calibri"/>
              <a:sym typeface="Calibri"/>
            </a:endParaRPr>
          </a:p>
          <a:p>
            <a:pPr indent="-342900" lvl="0" marL="34290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2.	Find an </a:t>
            </a:r>
            <a:r>
              <a:rPr b="1" i="1" lang="en-US" sz="1800" u="none" cap="none" strike="noStrike">
                <a:solidFill>
                  <a:schemeClr val="dk1"/>
                </a:solidFill>
                <a:latin typeface="Calibri"/>
                <a:ea typeface="Calibri"/>
                <a:cs typeface="Calibri"/>
                <a:sym typeface="Calibri"/>
              </a:rPr>
              <a:t>i</a:t>
            </a:r>
            <a:r>
              <a:rPr b="0" i="1" lang="en-US" sz="1800" u="none" cap="none" strike="noStrike">
                <a:solidFill>
                  <a:schemeClr val="dk1"/>
                </a:solidFill>
                <a:latin typeface="Calibri"/>
                <a:ea typeface="Calibri"/>
                <a:cs typeface="Calibri"/>
                <a:sym typeface="Calibri"/>
              </a:rPr>
              <a:t> </a:t>
            </a:r>
            <a:r>
              <a:rPr b="0" i="0" lang="en-US" sz="1800" u="none" cap="none" strike="noStrike">
                <a:solidFill>
                  <a:schemeClr val="dk1"/>
                </a:solidFill>
                <a:latin typeface="Calibri"/>
                <a:ea typeface="Calibri"/>
                <a:cs typeface="Calibri"/>
                <a:sym typeface="Calibri"/>
              </a:rPr>
              <a:t>such that both: </a:t>
            </a:r>
            <a:endParaRPr/>
          </a:p>
          <a:p>
            <a:pPr indent="-342900" lvl="1" marL="800100" marR="0" rtl="0" algn="l">
              <a:lnSpc>
                <a:spcPct val="90000"/>
              </a:lnSpc>
              <a:spcBef>
                <a:spcPts val="320"/>
              </a:spcBef>
              <a:spcAft>
                <a:spcPts val="0"/>
              </a:spcAft>
              <a:buClr>
                <a:schemeClr val="dk1"/>
              </a:buClr>
              <a:buSzPts val="1600"/>
              <a:buFont typeface="Arial"/>
              <a:buNone/>
            </a:pPr>
            <a:r>
              <a:rPr b="0" i="0" lang="en-US" sz="1600" u="none" cap="none" strike="noStrike">
                <a:solidFill>
                  <a:schemeClr val="dk1"/>
                </a:solidFill>
                <a:latin typeface="Calibri"/>
                <a:ea typeface="Calibri"/>
                <a:cs typeface="Calibri"/>
                <a:sym typeface="Calibri"/>
              </a:rPr>
              <a:t>(a) </a:t>
            </a:r>
            <a:r>
              <a:rPr b="1" i="1" lang="en-US" sz="1600" u="none" cap="none" strike="noStrike">
                <a:solidFill>
                  <a:schemeClr val="dk1"/>
                </a:solidFill>
                <a:latin typeface="Calibri"/>
                <a:ea typeface="Calibri"/>
                <a:cs typeface="Calibri"/>
                <a:sym typeface="Calibri"/>
              </a:rPr>
              <a:t>Finish</a:t>
            </a:r>
            <a:r>
              <a:rPr b="1" i="0" lang="en-US" sz="1600" u="none" cap="none" strike="noStrike">
                <a:solidFill>
                  <a:schemeClr val="dk1"/>
                </a:solidFill>
                <a:latin typeface="Calibri"/>
                <a:ea typeface="Calibri"/>
                <a:cs typeface="Calibri"/>
                <a:sym typeface="Calibri"/>
              </a:rPr>
              <a:t> [</a:t>
            </a:r>
            <a:r>
              <a:rPr b="1" i="1" lang="en-US" sz="1600" u="none" cap="none" strike="noStrike">
                <a:solidFill>
                  <a:schemeClr val="dk1"/>
                </a:solidFill>
                <a:latin typeface="Calibri"/>
                <a:ea typeface="Calibri"/>
                <a:cs typeface="Calibri"/>
                <a:sym typeface="Calibri"/>
              </a:rPr>
              <a:t>i</a:t>
            </a:r>
            <a:r>
              <a:rPr b="1" i="0" lang="en-US" sz="1600" u="none" cap="none" strike="noStrike">
                <a:solidFill>
                  <a:schemeClr val="dk1"/>
                </a:solidFill>
                <a:latin typeface="Calibri"/>
                <a:ea typeface="Calibri"/>
                <a:cs typeface="Calibri"/>
                <a:sym typeface="Calibri"/>
              </a:rPr>
              <a:t>] = </a:t>
            </a:r>
            <a:r>
              <a:rPr b="1" i="1" lang="en-US" sz="1600" u="none" cap="none" strike="noStrike">
                <a:solidFill>
                  <a:schemeClr val="dk1"/>
                </a:solidFill>
                <a:latin typeface="Calibri"/>
                <a:ea typeface="Calibri"/>
                <a:cs typeface="Calibri"/>
                <a:sym typeface="Calibri"/>
              </a:rPr>
              <a:t>false</a:t>
            </a:r>
            <a:endParaRPr b="1" i="0" sz="1600" u="none" cap="none" strike="noStrike">
              <a:solidFill>
                <a:schemeClr val="dk1"/>
              </a:solidFill>
              <a:latin typeface="Calibri"/>
              <a:ea typeface="Calibri"/>
              <a:cs typeface="Calibri"/>
              <a:sym typeface="Calibri"/>
            </a:endParaRPr>
          </a:p>
          <a:p>
            <a:pPr indent="-342900" lvl="1" marL="800100" marR="0" rtl="0" algn="l">
              <a:lnSpc>
                <a:spcPct val="90000"/>
              </a:lnSpc>
              <a:spcBef>
                <a:spcPts val="320"/>
              </a:spcBef>
              <a:spcAft>
                <a:spcPts val="0"/>
              </a:spcAft>
              <a:buClr>
                <a:schemeClr val="dk1"/>
              </a:buClr>
              <a:buSzPts val="1600"/>
              <a:buFont typeface="Arial"/>
              <a:buNone/>
            </a:pPr>
            <a:r>
              <a:rPr b="0" i="0" lang="en-US" sz="1600" u="none" cap="none" strike="noStrike">
                <a:solidFill>
                  <a:schemeClr val="dk1"/>
                </a:solidFill>
                <a:latin typeface="Calibri"/>
                <a:ea typeface="Calibri"/>
                <a:cs typeface="Calibri"/>
                <a:sym typeface="Calibri"/>
              </a:rPr>
              <a:t>(b) </a:t>
            </a:r>
            <a:r>
              <a:rPr b="1" i="1" lang="en-US" sz="1600" u="none" cap="none" strike="noStrike">
                <a:solidFill>
                  <a:schemeClr val="dk1"/>
                </a:solidFill>
                <a:latin typeface="Calibri"/>
                <a:ea typeface="Calibri"/>
                <a:cs typeface="Calibri"/>
                <a:sym typeface="Calibri"/>
              </a:rPr>
              <a:t>Need</a:t>
            </a:r>
            <a:r>
              <a:rPr b="1" baseline="-25000" i="1" lang="en-US" sz="1600" u="none" cap="none" strike="noStrike">
                <a:solidFill>
                  <a:schemeClr val="dk1"/>
                </a:solidFill>
                <a:latin typeface="Calibri"/>
                <a:ea typeface="Calibri"/>
                <a:cs typeface="Calibri"/>
                <a:sym typeface="Calibri"/>
              </a:rPr>
              <a:t>i</a:t>
            </a:r>
            <a:r>
              <a:rPr b="1" i="0" lang="en-US" sz="1600" u="none" cap="none" strike="noStrike">
                <a:solidFill>
                  <a:schemeClr val="dk1"/>
                </a:solidFill>
                <a:latin typeface="Calibri"/>
                <a:ea typeface="Calibri"/>
                <a:cs typeface="Calibri"/>
                <a:sym typeface="Calibri"/>
              </a:rPr>
              <a:t> ≤ </a:t>
            </a:r>
            <a:r>
              <a:rPr b="1" i="1" lang="en-US" sz="1600" u="none" cap="none" strike="noStrike">
                <a:solidFill>
                  <a:schemeClr val="dk1"/>
                </a:solidFill>
                <a:latin typeface="Calibri"/>
                <a:ea typeface="Calibri"/>
                <a:cs typeface="Calibri"/>
                <a:sym typeface="Calibri"/>
              </a:rPr>
              <a:t>Work</a:t>
            </a:r>
            <a:endParaRPr/>
          </a:p>
          <a:p>
            <a:pPr indent="-342900" lvl="1" marL="800100" marR="0" rtl="0" algn="l">
              <a:lnSpc>
                <a:spcPct val="90000"/>
              </a:lnSpc>
              <a:spcBef>
                <a:spcPts val="320"/>
              </a:spcBef>
              <a:spcAft>
                <a:spcPts val="0"/>
              </a:spcAft>
              <a:buClr>
                <a:schemeClr val="dk1"/>
              </a:buClr>
              <a:buSzPts val="1600"/>
              <a:buFont typeface="Arial"/>
              <a:buNone/>
            </a:pPr>
            <a:r>
              <a:rPr b="0" i="0" lang="en-US" sz="1600" u="none" cap="none" strike="noStrike">
                <a:solidFill>
                  <a:schemeClr val="dk1"/>
                </a:solidFill>
                <a:latin typeface="Calibri"/>
                <a:ea typeface="Calibri"/>
                <a:cs typeface="Calibri"/>
                <a:sym typeface="Calibri"/>
              </a:rPr>
              <a:t>If no such</a:t>
            </a:r>
            <a:r>
              <a:rPr b="1" i="0" lang="en-US" sz="1600" u="none" cap="none" strike="noStrike">
                <a:solidFill>
                  <a:schemeClr val="dk1"/>
                </a:solidFill>
                <a:latin typeface="Calibri"/>
                <a:ea typeface="Calibri"/>
                <a:cs typeface="Calibri"/>
                <a:sym typeface="Calibri"/>
              </a:rPr>
              <a:t> </a:t>
            </a:r>
            <a:r>
              <a:rPr b="1" i="1" lang="en-US" sz="1600" u="none" cap="none" strike="noStrike">
                <a:solidFill>
                  <a:schemeClr val="dk1"/>
                </a:solidFill>
                <a:latin typeface="Calibri"/>
                <a:ea typeface="Calibri"/>
                <a:cs typeface="Calibri"/>
                <a:sym typeface="Calibri"/>
              </a:rPr>
              <a:t>i </a:t>
            </a:r>
            <a:r>
              <a:rPr b="0" i="0" lang="en-US" sz="1600" u="none" cap="none" strike="noStrike">
                <a:solidFill>
                  <a:schemeClr val="dk1"/>
                </a:solidFill>
                <a:latin typeface="Calibri"/>
                <a:ea typeface="Calibri"/>
                <a:cs typeface="Calibri"/>
                <a:sym typeface="Calibri"/>
              </a:rPr>
              <a:t>exists, go to step 4</a:t>
            </a:r>
            <a:endParaRPr/>
          </a:p>
          <a:p>
            <a:pPr indent="-342900" lvl="1" marL="800100" marR="0" rtl="0" algn="l">
              <a:lnSpc>
                <a:spcPct val="90000"/>
              </a:lnSpc>
              <a:spcBef>
                <a:spcPts val="20"/>
              </a:spcBef>
              <a:spcAft>
                <a:spcPts val="0"/>
              </a:spcAft>
              <a:buClr>
                <a:schemeClr val="dk1"/>
              </a:buClr>
              <a:buSzPts val="100"/>
              <a:buFont typeface="Arial"/>
              <a:buNone/>
            </a:pPr>
            <a:r>
              <a:t/>
            </a:r>
            <a:endParaRPr b="0" i="0" sz="100" u="none" cap="none" strike="noStrike">
              <a:solidFill>
                <a:schemeClr val="dk1"/>
              </a:solidFill>
              <a:latin typeface="Calibri"/>
              <a:ea typeface="Calibri"/>
              <a:cs typeface="Calibri"/>
              <a:sym typeface="Calibri"/>
            </a:endParaRPr>
          </a:p>
          <a:p>
            <a:pPr indent="-342900" lvl="0" marL="342900" marR="0" rtl="0" algn="l">
              <a:lnSpc>
                <a:spcPct val="90000"/>
              </a:lnSpc>
              <a:spcBef>
                <a:spcPts val="360"/>
              </a:spcBef>
              <a:spcAft>
                <a:spcPts val="0"/>
              </a:spcAft>
              <a:buClr>
                <a:schemeClr val="dk1"/>
              </a:buClr>
              <a:buSzPts val="1800"/>
              <a:buFont typeface="Arial"/>
              <a:buNone/>
            </a:pPr>
            <a:r>
              <a:rPr b="0" i="1" lang="en-US" sz="1800" u="none" cap="none" strike="noStrike">
                <a:solidFill>
                  <a:schemeClr val="dk1"/>
                </a:solidFill>
                <a:latin typeface="Calibri"/>
                <a:ea typeface="Calibri"/>
                <a:cs typeface="Calibri"/>
                <a:sym typeface="Calibri"/>
              </a:rPr>
              <a:t>3.  </a:t>
            </a:r>
            <a:r>
              <a:rPr b="1" i="1" lang="en-US" sz="1800" u="none" cap="none" strike="noStrike">
                <a:solidFill>
                  <a:schemeClr val="dk1"/>
                </a:solidFill>
                <a:latin typeface="Calibri"/>
                <a:ea typeface="Calibri"/>
                <a:cs typeface="Calibri"/>
                <a:sym typeface="Calibri"/>
              </a:rPr>
              <a:t>Work</a:t>
            </a:r>
            <a:r>
              <a:rPr b="1" i="0" lang="en-US" sz="1800" u="none" cap="none" strike="noStrike">
                <a:solidFill>
                  <a:schemeClr val="dk1"/>
                </a:solidFill>
                <a:latin typeface="Calibri"/>
                <a:ea typeface="Calibri"/>
                <a:cs typeface="Calibri"/>
                <a:sym typeface="Calibri"/>
              </a:rPr>
              <a:t> = </a:t>
            </a:r>
            <a:r>
              <a:rPr b="1" i="1" lang="en-US" sz="1800" u="none" cap="none" strike="noStrike">
                <a:solidFill>
                  <a:schemeClr val="dk1"/>
                </a:solidFill>
                <a:latin typeface="Calibri"/>
                <a:ea typeface="Calibri"/>
                <a:cs typeface="Calibri"/>
                <a:sym typeface="Calibri"/>
              </a:rPr>
              <a:t>Work </a:t>
            </a:r>
            <a:r>
              <a:rPr b="1" i="0" lang="en-US" sz="1800" u="none" cap="none" strike="noStrike">
                <a:solidFill>
                  <a:schemeClr val="dk1"/>
                </a:solidFill>
                <a:latin typeface="Calibri"/>
                <a:ea typeface="Calibri"/>
                <a:cs typeface="Calibri"/>
                <a:sym typeface="Calibri"/>
              </a:rPr>
              <a:t>+ </a:t>
            </a:r>
            <a:r>
              <a:rPr b="1" i="1" lang="en-US" sz="1800" u="none" cap="none" strike="noStrike">
                <a:solidFill>
                  <a:schemeClr val="dk1"/>
                </a:solidFill>
                <a:latin typeface="Calibri"/>
                <a:ea typeface="Calibri"/>
                <a:cs typeface="Calibri"/>
                <a:sym typeface="Calibri"/>
              </a:rPr>
              <a:t>Allocation</a:t>
            </a:r>
            <a:r>
              <a:rPr b="1" baseline="-25000" i="1" lang="en-US" sz="1800" u="none" cap="none" strike="noStrike">
                <a:solidFill>
                  <a:schemeClr val="dk1"/>
                </a:solidFill>
                <a:latin typeface="Calibri"/>
                <a:ea typeface="Calibri"/>
                <a:cs typeface="Calibri"/>
                <a:sym typeface="Calibri"/>
              </a:rPr>
              <a:t>i</a:t>
            </a:r>
            <a:br>
              <a:rPr b="1" i="0" lang="en-US" sz="1800" u="none" cap="none" strike="noStrike">
                <a:solidFill>
                  <a:schemeClr val="dk1"/>
                </a:solidFill>
                <a:latin typeface="Calibri"/>
                <a:ea typeface="Calibri"/>
                <a:cs typeface="Calibri"/>
                <a:sym typeface="Calibri"/>
              </a:rPr>
            </a:br>
            <a:r>
              <a:rPr b="1" i="1" lang="en-US" sz="1800" u="none" cap="none" strike="noStrike">
                <a:solidFill>
                  <a:schemeClr val="dk1"/>
                </a:solidFill>
                <a:latin typeface="Calibri"/>
                <a:ea typeface="Calibri"/>
                <a:cs typeface="Calibri"/>
                <a:sym typeface="Calibri"/>
              </a:rPr>
              <a:t>Finish</a:t>
            </a:r>
            <a:r>
              <a:rPr b="1" i="0" lang="en-US" sz="1800" u="none" cap="none" strike="noStrike">
                <a:solidFill>
                  <a:schemeClr val="dk1"/>
                </a:solidFill>
                <a:latin typeface="Calibri"/>
                <a:ea typeface="Calibri"/>
                <a:cs typeface="Calibri"/>
                <a:sym typeface="Calibri"/>
              </a:rPr>
              <a:t>[</a:t>
            </a:r>
            <a:r>
              <a:rPr b="1" i="1" lang="en-US" sz="1800" u="none" cap="none" strike="noStrike">
                <a:solidFill>
                  <a:schemeClr val="dk1"/>
                </a:solidFill>
                <a:latin typeface="Calibri"/>
                <a:ea typeface="Calibri"/>
                <a:cs typeface="Calibri"/>
                <a:sym typeface="Calibri"/>
              </a:rPr>
              <a:t>i</a:t>
            </a:r>
            <a:r>
              <a:rPr b="1" i="0" lang="en-US" sz="1800" u="none" cap="none" strike="noStrike">
                <a:solidFill>
                  <a:schemeClr val="dk1"/>
                </a:solidFill>
                <a:latin typeface="Calibri"/>
                <a:ea typeface="Calibri"/>
                <a:cs typeface="Calibri"/>
                <a:sym typeface="Calibri"/>
              </a:rPr>
              <a:t>] =</a:t>
            </a:r>
            <a:r>
              <a:rPr b="1" i="1" lang="en-US" sz="1800" u="none" cap="none" strike="noStrike">
                <a:solidFill>
                  <a:schemeClr val="dk1"/>
                </a:solidFill>
                <a:latin typeface="Calibri"/>
                <a:ea typeface="Calibri"/>
                <a:cs typeface="Calibri"/>
                <a:sym typeface="Calibri"/>
              </a:rPr>
              <a:t> true</a:t>
            </a:r>
            <a:br>
              <a:rPr b="1"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go to step 2</a:t>
            </a:r>
            <a:endParaRPr/>
          </a:p>
          <a:p>
            <a:pPr indent="-336550" lvl="0" marL="342900" marR="0" rtl="0" algn="l">
              <a:lnSpc>
                <a:spcPct val="90000"/>
              </a:lnSpc>
              <a:spcBef>
                <a:spcPts val="20"/>
              </a:spcBef>
              <a:spcAft>
                <a:spcPts val="0"/>
              </a:spcAft>
              <a:buClr>
                <a:schemeClr val="dk1"/>
              </a:buClr>
              <a:buSzPts val="100"/>
              <a:buFont typeface="Arial"/>
              <a:buNone/>
            </a:pPr>
            <a:r>
              <a:t/>
            </a:r>
            <a:endParaRPr b="0" i="0" sz="100" u="none" cap="none" strike="noStrike">
              <a:solidFill>
                <a:schemeClr val="dk1"/>
              </a:solidFill>
              <a:latin typeface="Calibri"/>
              <a:ea typeface="Calibri"/>
              <a:cs typeface="Calibri"/>
              <a:sym typeface="Calibri"/>
            </a:endParaRPr>
          </a:p>
          <a:p>
            <a:pPr indent="-342900" lvl="0" marL="34290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4.	If </a:t>
            </a:r>
            <a:r>
              <a:rPr b="1" i="1" lang="en-US" sz="1800" u="none" cap="none" strike="noStrike">
                <a:solidFill>
                  <a:schemeClr val="dk1"/>
                </a:solidFill>
                <a:latin typeface="Calibri"/>
                <a:ea typeface="Calibri"/>
                <a:cs typeface="Calibri"/>
                <a:sym typeface="Calibri"/>
              </a:rPr>
              <a:t>Finish</a:t>
            </a:r>
            <a:r>
              <a:rPr b="1" i="0" lang="en-US" sz="1800" u="none" cap="none" strike="noStrike">
                <a:solidFill>
                  <a:schemeClr val="dk1"/>
                </a:solidFill>
                <a:latin typeface="Calibri"/>
                <a:ea typeface="Calibri"/>
                <a:cs typeface="Calibri"/>
                <a:sym typeface="Calibri"/>
              </a:rPr>
              <a:t> [</a:t>
            </a:r>
            <a:r>
              <a:rPr b="1" i="1" lang="en-US" sz="1800" u="none" cap="none" strike="noStrike">
                <a:solidFill>
                  <a:schemeClr val="dk1"/>
                </a:solidFill>
                <a:latin typeface="Calibri"/>
                <a:ea typeface="Calibri"/>
                <a:cs typeface="Calibri"/>
                <a:sym typeface="Calibri"/>
              </a:rPr>
              <a:t>i</a:t>
            </a:r>
            <a:r>
              <a:rPr b="1" i="0" lang="en-US" sz="1800" u="none" cap="none" strike="noStrike">
                <a:solidFill>
                  <a:schemeClr val="dk1"/>
                </a:solidFill>
                <a:latin typeface="Calibri"/>
                <a:ea typeface="Calibri"/>
                <a:cs typeface="Calibri"/>
                <a:sym typeface="Calibri"/>
              </a:rPr>
              <a:t>] == </a:t>
            </a:r>
            <a:r>
              <a:rPr b="1" i="1" lang="en-US" sz="1800" u="none" cap="none" strike="noStrike">
                <a:solidFill>
                  <a:schemeClr val="dk1"/>
                </a:solidFill>
                <a:latin typeface="Calibri"/>
                <a:ea typeface="Calibri"/>
                <a:cs typeface="Calibri"/>
                <a:sym typeface="Calibri"/>
              </a:rPr>
              <a:t>true</a:t>
            </a:r>
            <a:r>
              <a:rPr b="1" i="0" lang="en-US" sz="1800" u="none" cap="none" strike="noStrike">
                <a:solidFill>
                  <a:schemeClr val="dk1"/>
                </a:solidFill>
                <a:latin typeface="Calibri"/>
                <a:ea typeface="Calibri"/>
                <a:cs typeface="Calibri"/>
                <a:sym typeface="Calibri"/>
              </a:rPr>
              <a:t> </a:t>
            </a:r>
            <a:r>
              <a:rPr b="0" i="0" lang="en-US" sz="1800" u="none" cap="none" strike="noStrike">
                <a:solidFill>
                  <a:schemeClr val="dk1"/>
                </a:solidFill>
                <a:latin typeface="Calibri"/>
                <a:ea typeface="Calibri"/>
                <a:cs typeface="Calibri"/>
                <a:sym typeface="Calibri"/>
              </a:rPr>
              <a:t>for all </a:t>
            </a:r>
            <a:r>
              <a:rPr b="1" i="1" lang="en-US" sz="1800" u="none" cap="none" strike="noStrike">
                <a:solidFill>
                  <a:schemeClr val="dk1"/>
                </a:solidFill>
                <a:latin typeface="Calibri"/>
                <a:ea typeface="Calibri"/>
                <a:cs typeface="Calibri"/>
                <a:sym typeface="Calibri"/>
              </a:rPr>
              <a:t>i</a:t>
            </a:r>
            <a:r>
              <a:rPr b="0" i="0" lang="en-US" sz="1800" u="none" cap="none" strike="noStrike">
                <a:solidFill>
                  <a:schemeClr val="dk1"/>
                </a:solidFill>
                <a:latin typeface="Calibri"/>
                <a:ea typeface="Calibri"/>
                <a:cs typeface="Calibri"/>
                <a:sym typeface="Calibri"/>
              </a:rPr>
              <a:t>, then the system is in a safe state</a:t>
            </a:r>
            <a:endParaRPr/>
          </a:p>
        </p:txBody>
      </p:sp>
      <p:pic>
        <p:nvPicPr>
          <p:cNvPr id="992" name="Google Shape;992;p82"/>
          <p:cNvPicPr preferRelativeResize="0"/>
          <p:nvPr/>
        </p:nvPicPr>
        <p:blipFill rotWithShape="1">
          <a:blip r:embed="rId4">
            <a:alphaModFix/>
          </a:blip>
          <a:srcRect b="0" l="0" r="0" t="31229"/>
          <a:stretch/>
        </p:blipFill>
        <p:spPr>
          <a:xfrm>
            <a:off x="4368800" y="5181600"/>
            <a:ext cx="4089400" cy="1565564"/>
          </a:xfrm>
          <a:prstGeom prst="rect">
            <a:avLst/>
          </a:prstGeom>
          <a:noFill/>
          <a:ln>
            <a:noFill/>
          </a:ln>
        </p:spPr>
      </p:pic>
      <p:sp>
        <p:nvSpPr>
          <p:cNvPr id="993" name="Google Shape;993;p82"/>
          <p:cNvSpPr/>
          <p:nvPr/>
        </p:nvSpPr>
        <p:spPr>
          <a:xfrm>
            <a:off x="380999" y="5934670"/>
            <a:ext cx="3810001"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00B0F0"/>
                </a:solidFill>
                <a:latin typeface="Calibri"/>
                <a:ea typeface="Calibri"/>
                <a:cs typeface="Calibri"/>
                <a:sym typeface="Calibri"/>
              </a:rPr>
              <a:t>Hence the new system state is safe, so we can immediately grant the request for process  P</a:t>
            </a:r>
            <a:r>
              <a:rPr b="1" baseline="-25000" i="0" lang="en-US" sz="1800" u="none" cap="none" strike="noStrike">
                <a:solidFill>
                  <a:srgbClr val="00B0F0"/>
                </a:solidFill>
                <a:latin typeface="Calibri"/>
                <a:ea typeface="Calibri"/>
                <a:cs typeface="Calibri"/>
                <a:sym typeface="Calibri"/>
              </a:rPr>
              <a:t>1 .</a:t>
            </a:r>
            <a:endParaRPr b="1" sz="1800">
              <a:solidFill>
                <a:srgbClr val="00B0F0"/>
              </a:solidFill>
              <a:latin typeface="Calibri"/>
              <a:ea typeface="Calibri"/>
              <a:cs typeface="Calibri"/>
              <a:sym typeface="Calibri"/>
            </a:endParaRPr>
          </a:p>
        </p:txBody>
      </p:sp>
      <p:sp>
        <p:nvSpPr>
          <p:cNvPr id="994" name="Google Shape;994;p8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995" name="Google Shape;995;p8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996" name="Google Shape;996;p8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8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Why Banker’s algorithm is named so?</a:t>
            </a:r>
            <a:endParaRPr/>
          </a:p>
        </p:txBody>
      </p:sp>
      <p:sp>
        <p:nvSpPr>
          <p:cNvPr id="1002" name="Google Shape;1002;p8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003" name="Google Shape;1003;p8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004" name="Google Shape;1004;p8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8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Why Banker’s algorithm is named so?</a:t>
            </a:r>
            <a:endParaRPr/>
          </a:p>
        </p:txBody>
      </p:sp>
      <p:sp>
        <p:nvSpPr>
          <p:cNvPr id="1010" name="Google Shape;1010;p8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Banker’s algorithm is named so because it is used in banking system to check </a:t>
            </a:r>
            <a:r>
              <a:rPr b="1" lang="en-US" sz="2400">
                <a:solidFill>
                  <a:srgbClr val="0070C0"/>
                </a:solidFill>
              </a:rPr>
              <a:t>whether loan can be sanctioned to a person or not.</a:t>
            </a:r>
            <a:endParaRPr/>
          </a:p>
          <a:p>
            <a:pPr indent="-342900" lvl="0" marL="342900" rtl="0" algn="l">
              <a:spcBef>
                <a:spcPts val="480"/>
              </a:spcBef>
              <a:spcAft>
                <a:spcPts val="0"/>
              </a:spcAft>
              <a:buClr>
                <a:schemeClr val="dk1"/>
              </a:buClr>
              <a:buSzPts val="2400"/>
              <a:buChar char="•"/>
            </a:pPr>
            <a:r>
              <a:rPr lang="en-US" sz="2400"/>
              <a:t>Suppose there are </a:t>
            </a:r>
            <a:r>
              <a:rPr lang="en-US" sz="2400" u="sng"/>
              <a:t>n number of account holders in a bank and the total sum of their money is S. </a:t>
            </a:r>
            <a:endParaRPr sz="2400" u="sng"/>
          </a:p>
          <a:p>
            <a:pPr indent="-342900" lvl="0" marL="342900" rtl="0" algn="l">
              <a:spcBef>
                <a:spcPts val="480"/>
              </a:spcBef>
              <a:spcAft>
                <a:spcPts val="0"/>
              </a:spcAft>
              <a:buClr>
                <a:schemeClr val="dk1"/>
              </a:buClr>
              <a:buSzPts val="2400"/>
              <a:buChar char="•"/>
            </a:pPr>
            <a:r>
              <a:rPr lang="en-US" sz="2400"/>
              <a:t>If a person applies for a loan then the bank </a:t>
            </a:r>
            <a:endParaRPr sz="2400"/>
          </a:p>
          <a:p>
            <a:pPr indent="-285750" lvl="1" marL="742950" rtl="0" algn="l">
              <a:spcBef>
                <a:spcPts val="400"/>
              </a:spcBef>
              <a:spcAft>
                <a:spcPts val="0"/>
              </a:spcAft>
              <a:buClr>
                <a:schemeClr val="dk1"/>
              </a:buClr>
              <a:buSzPts val="2000"/>
              <a:buChar char="–"/>
            </a:pPr>
            <a:r>
              <a:rPr lang="en-US" sz="2000" u="sng"/>
              <a:t>first subtracts the loan amount from the total money </a:t>
            </a:r>
            <a:r>
              <a:rPr lang="en-US" sz="2000"/>
              <a:t>that bank has and </a:t>
            </a:r>
            <a:endParaRPr sz="2000"/>
          </a:p>
          <a:p>
            <a:pPr indent="-285750" lvl="1" marL="742950" rtl="0" algn="l">
              <a:spcBef>
                <a:spcPts val="400"/>
              </a:spcBef>
              <a:spcAft>
                <a:spcPts val="0"/>
              </a:spcAft>
              <a:buClr>
                <a:schemeClr val="dk1"/>
              </a:buClr>
              <a:buSzPts val="2000"/>
              <a:buChar char="–"/>
            </a:pPr>
            <a:r>
              <a:rPr lang="en-US" sz="2000"/>
              <a:t>if the </a:t>
            </a:r>
            <a:r>
              <a:rPr lang="en-US" sz="2000" u="sng"/>
              <a:t>remaining amount is greater than S then only the loan is sanctioned. </a:t>
            </a:r>
            <a:endParaRPr sz="2000" u="sng"/>
          </a:p>
        </p:txBody>
      </p:sp>
      <p:sp>
        <p:nvSpPr>
          <p:cNvPr id="1011" name="Google Shape;1011;p8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012" name="Google Shape;1012;p8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013" name="Google Shape;1013;p8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p8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Why Banker’s algorithm is named so?</a:t>
            </a:r>
            <a:endParaRPr/>
          </a:p>
        </p:txBody>
      </p:sp>
      <p:sp>
        <p:nvSpPr>
          <p:cNvPr id="1019" name="Google Shape;1019;p8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It is done because if all the account holders comes to withdraw their money then the bank can easily do it.</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Bank would </a:t>
            </a:r>
            <a:r>
              <a:rPr lang="en-US" sz="2400">
                <a:solidFill>
                  <a:srgbClr val="0070C0"/>
                </a:solidFill>
              </a:rPr>
              <a:t>never allocate its money in such a way that it can no longer satisfy the needs of all its customers. </a:t>
            </a:r>
            <a:endParaRPr sz="2400">
              <a:solidFill>
                <a:srgbClr val="0070C0"/>
              </a:solidFill>
            </a:endParaRPr>
          </a:p>
          <a:p>
            <a:pPr indent="-190500" lvl="0" marL="342900" rtl="0" algn="l">
              <a:spcBef>
                <a:spcPts val="480"/>
              </a:spcBef>
              <a:spcAft>
                <a:spcPts val="0"/>
              </a:spcAft>
              <a:buClr>
                <a:schemeClr val="dk1"/>
              </a:buClr>
              <a:buSzPts val="2400"/>
              <a:buNone/>
            </a:pPr>
            <a:r>
              <a:t/>
            </a:r>
            <a:endParaRPr sz="2400">
              <a:solidFill>
                <a:srgbClr val="0070C0"/>
              </a:solidFill>
            </a:endParaRPr>
          </a:p>
          <a:p>
            <a:pPr indent="-342900" lvl="0" marL="342900" rtl="0" algn="l">
              <a:spcBef>
                <a:spcPts val="480"/>
              </a:spcBef>
              <a:spcAft>
                <a:spcPts val="0"/>
              </a:spcAft>
              <a:buClr>
                <a:schemeClr val="dk1"/>
              </a:buClr>
              <a:buSzPts val="2400"/>
              <a:buChar char="•"/>
            </a:pPr>
            <a:r>
              <a:rPr lang="en-US" sz="2400"/>
              <a:t>The bank would try to be in </a:t>
            </a:r>
            <a:r>
              <a:rPr lang="en-US" sz="2400">
                <a:solidFill>
                  <a:srgbClr val="0070C0"/>
                </a:solidFill>
              </a:rPr>
              <a:t>safe state always.</a:t>
            </a:r>
            <a:endParaRPr/>
          </a:p>
          <a:p>
            <a:pPr indent="-139700" lvl="0" marL="342900" rtl="0" algn="l">
              <a:spcBef>
                <a:spcPts val="640"/>
              </a:spcBef>
              <a:spcAft>
                <a:spcPts val="0"/>
              </a:spcAft>
              <a:buClr>
                <a:schemeClr val="dk1"/>
              </a:buClr>
              <a:buSzPts val="3200"/>
              <a:buNone/>
            </a:pPr>
            <a:r>
              <a:t/>
            </a:r>
            <a:endParaRPr>
              <a:solidFill>
                <a:srgbClr val="0070C0"/>
              </a:solidFill>
            </a:endParaRPr>
          </a:p>
        </p:txBody>
      </p:sp>
      <p:sp>
        <p:nvSpPr>
          <p:cNvPr id="1020" name="Google Shape;1020;p8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021" name="Google Shape;1021;p8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022" name="Google Shape;1022;p8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86"/>
          <p:cNvSpPr txBox="1"/>
          <p:nvPr>
            <p:ph type="title"/>
          </p:nvPr>
        </p:nvSpPr>
        <p:spPr>
          <a:xfrm>
            <a:off x="228600" y="4267200"/>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2000"/>
              <a:buFont typeface="Calibri"/>
              <a:buNone/>
            </a:pPr>
            <a:r>
              <a:rPr lang="en-US" sz="2000"/>
              <a:t>Consider the following snapshot of a system-</a:t>
            </a:r>
            <a:br>
              <a:rPr lang="en-US" sz="2000"/>
            </a:br>
            <a:r>
              <a:rPr lang="en-US" sz="2000"/>
              <a:t>Answer the following questions using the Banker’s algorithm-</a:t>
            </a:r>
            <a:br>
              <a:rPr lang="en-US" sz="2000"/>
            </a:br>
            <a:r>
              <a:rPr lang="en-US" sz="2000"/>
              <a:t>(i) What are the total instances of Resources</a:t>
            </a:r>
            <a:br>
              <a:rPr lang="en-US" sz="2000"/>
            </a:br>
            <a:r>
              <a:rPr lang="en-US" sz="2000"/>
              <a:t>(ii) What is the content of the matrix need?</a:t>
            </a:r>
            <a:br>
              <a:rPr lang="en-US" sz="2000"/>
            </a:br>
            <a:r>
              <a:rPr lang="en-US" sz="2000"/>
              <a:t>(iii) Is the system in a safe state?</a:t>
            </a:r>
            <a:br>
              <a:rPr lang="en-US" sz="2000"/>
            </a:br>
            <a:r>
              <a:rPr lang="en-US" sz="2000"/>
              <a:t>(iv) If a request from process P1 arrives for (0,4,2,0), can the request be granted immediately?</a:t>
            </a:r>
            <a:br>
              <a:rPr lang="en-US" sz="2000"/>
            </a:br>
            <a:endParaRPr sz="2000"/>
          </a:p>
        </p:txBody>
      </p:sp>
      <p:graphicFrame>
        <p:nvGraphicFramePr>
          <p:cNvPr id="1028" name="Google Shape;1028;p86"/>
          <p:cNvGraphicFramePr/>
          <p:nvPr/>
        </p:nvGraphicFramePr>
        <p:xfrm>
          <a:off x="609600" y="304800"/>
          <a:ext cx="3000000" cy="3000000"/>
        </p:xfrm>
        <a:graphic>
          <a:graphicData uri="http://schemas.openxmlformats.org/drawingml/2006/table">
            <a:tbl>
              <a:tblPr bandRow="1" firstCol="1" firstRow="1">
                <a:noFill/>
                <a:tableStyleId>{81577878-F0BF-430C-8C56-D3E61FE2EFA2}</a:tableStyleId>
              </a:tblPr>
              <a:tblGrid>
                <a:gridCol w="1010800"/>
                <a:gridCol w="410500"/>
                <a:gridCol w="410500"/>
                <a:gridCol w="410500"/>
                <a:gridCol w="410500"/>
                <a:gridCol w="410500"/>
                <a:gridCol w="410500"/>
                <a:gridCol w="410500"/>
                <a:gridCol w="410500"/>
                <a:gridCol w="410500"/>
                <a:gridCol w="410500"/>
                <a:gridCol w="410500"/>
                <a:gridCol w="410500"/>
              </a:tblGrid>
              <a:tr h="182725">
                <a:tc rowSpan="2">
                  <a:txBody>
                    <a:bodyPr/>
                    <a:lstStyle/>
                    <a:p>
                      <a:pPr indent="0" lvl="0" marL="0" marR="0" rtl="0" algn="ctr">
                        <a:spcBef>
                          <a:spcPts val="0"/>
                        </a:spcBef>
                        <a:spcAft>
                          <a:spcPts val="0"/>
                        </a:spcAft>
                        <a:buNone/>
                      </a:pPr>
                      <a:r>
                        <a:rPr lang="en-US" sz="1600" u="none" cap="none" strike="noStrike"/>
                        <a:t>Process</a:t>
                      </a:r>
                      <a:endParaRPr/>
                    </a:p>
                  </a:txBody>
                  <a:tcPr marT="0" marB="0" marR="68525" marL="68525"/>
                </a:tc>
                <a:tc gridSpan="4">
                  <a:txBody>
                    <a:bodyPr/>
                    <a:lstStyle/>
                    <a:p>
                      <a:pPr indent="0" lvl="0" marL="0" marR="0" rtl="0" algn="ctr">
                        <a:spcBef>
                          <a:spcPts val="0"/>
                        </a:spcBef>
                        <a:spcAft>
                          <a:spcPts val="0"/>
                        </a:spcAft>
                        <a:buNone/>
                      </a:pPr>
                      <a:r>
                        <a:rPr lang="en-US" sz="1600" u="none" cap="none" strike="noStrike"/>
                        <a:t>Allocation</a:t>
                      </a:r>
                      <a:endParaRPr/>
                    </a:p>
                  </a:txBody>
                  <a:tcPr marT="0" marB="0" marR="68525" marL="68525"/>
                </a:tc>
                <a:tc hMerge="1"/>
                <a:tc hMerge="1"/>
                <a:tc hMerge="1"/>
                <a:tc gridSpan="4">
                  <a:txBody>
                    <a:bodyPr/>
                    <a:lstStyle/>
                    <a:p>
                      <a:pPr indent="0" lvl="0" marL="0" marR="0" rtl="0" algn="ctr">
                        <a:spcBef>
                          <a:spcPts val="0"/>
                        </a:spcBef>
                        <a:spcAft>
                          <a:spcPts val="0"/>
                        </a:spcAft>
                        <a:buNone/>
                      </a:pPr>
                      <a:r>
                        <a:rPr lang="en-US" sz="1600" u="none" cap="none" strike="noStrike"/>
                        <a:t>Max</a:t>
                      </a:r>
                      <a:endParaRPr/>
                    </a:p>
                  </a:txBody>
                  <a:tcPr marT="0" marB="0" marR="68525" marL="68525"/>
                </a:tc>
                <a:tc hMerge="1"/>
                <a:tc hMerge="1"/>
                <a:tc hMerge="1"/>
                <a:tc gridSpan="4">
                  <a:txBody>
                    <a:bodyPr/>
                    <a:lstStyle/>
                    <a:p>
                      <a:pPr indent="0" lvl="0" marL="0" marR="0" rtl="0" algn="ctr">
                        <a:spcBef>
                          <a:spcPts val="0"/>
                        </a:spcBef>
                        <a:spcAft>
                          <a:spcPts val="0"/>
                        </a:spcAft>
                        <a:buNone/>
                      </a:pPr>
                      <a:r>
                        <a:rPr lang="en-US" sz="1600" u="none" cap="none" strike="noStrike"/>
                        <a:t>Available</a:t>
                      </a:r>
                      <a:endParaRPr/>
                    </a:p>
                  </a:txBody>
                  <a:tcPr marT="0" marB="0" marR="68525" marL="68525"/>
                </a:tc>
                <a:tc hMerge="1"/>
                <a:tc hMerge="1"/>
                <a:tc hMerge="1"/>
              </a:tr>
              <a:tr h="182725">
                <a:tc vMerge="1"/>
                <a:tc>
                  <a:txBody>
                    <a:bodyPr/>
                    <a:lstStyle/>
                    <a:p>
                      <a:pPr indent="0" lvl="0" marL="0" marR="0" rtl="0" algn="ctr">
                        <a:spcBef>
                          <a:spcPts val="0"/>
                        </a:spcBef>
                        <a:spcAft>
                          <a:spcPts val="0"/>
                        </a:spcAft>
                        <a:buNone/>
                      </a:pPr>
                      <a:r>
                        <a:rPr lang="en-US" sz="1600" u="none" cap="none" strike="noStrike"/>
                        <a:t>A</a:t>
                      </a:r>
                      <a:endParaRPr/>
                    </a:p>
                  </a:txBody>
                  <a:tcPr marT="0" marB="0" marR="68525" marL="68525"/>
                </a:tc>
                <a:tc>
                  <a:txBody>
                    <a:bodyPr/>
                    <a:lstStyle/>
                    <a:p>
                      <a:pPr indent="0" lvl="0" marL="0" marR="0" rtl="0" algn="ctr">
                        <a:spcBef>
                          <a:spcPts val="0"/>
                        </a:spcBef>
                        <a:spcAft>
                          <a:spcPts val="0"/>
                        </a:spcAft>
                        <a:buNone/>
                      </a:pPr>
                      <a:r>
                        <a:rPr lang="en-US" sz="1600" u="none" cap="none" strike="noStrike"/>
                        <a:t>B</a:t>
                      </a:r>
                      <a:endParaRPr/>
                    </a:p>
                  </a:txBody>
                  <a:tcPr marT="0" marB="0" marR="68525" marL="68525"/>
                </a:tc>
                <a:tc>
                  <a:txBody>
                    <a:bodyPr/>
                    <a:lstStyle/>
                    <a:p>
                      <a:pPr indent="0" lvl="0" marL="0" marR="0" rtl="0" algn="ctr">
                        <a:spcBef>
                          <a:spcPts val="0"/>
                        </a:spcBef>
                        <a:spcAft>
                          <a:spcPts val="0"/>
                        </a:spcAft>
                        <a:buNone/>
                      </a:pPr>
                      <a:r>
                        <a:rPr lang="en-US" sz="1600" u="none" cap="none" strike="noStrike"/>
                        <a:t>C</a:t>
                      </a:r>
                      <a:endParaRPr/>
                    </a:p>
                  </a:txBody>
                  <a:tcPr marT="0" marB="0" marR="68525" marL="68525"/>
                </a:tc>
                <a:tc>
                  <a:txBody>
                    <a:bodyPr/>
                    <a:lstStyle/>
                    <a:p>
                      <a:pPr indent="0" lvl="0" marL="0" marR="0" rtl="0" algn="ctr">
                        <a:spcBef>
                          <a:spcPts val="0"/>
                        </a:spcBef>
                        <a:spcAft>
                          <a:spcPts val="0"/>
                        </a:spcAft>
                        <a:buNone/>
                      </a:pPr>
                      <a:r>
                        <a:rPr lang="en-US" sz="1600" u="none" cap="none" strike="noStrike"/>
                        <a:t>D</a:t>
                      </a:r>
                      <a:endParaRPr/>
                    </a:p>
                  </a:txBody>
                  <a:tcPr marT="0" marB="0" marR="68525" marL="68525"/>
                </a:tc>
                <a:tc>
                  <a:txBody>
                    <a:bodyPr/>
                    <a:lstStyle/>
                    <a:p>
                      <a:pPr indent="0" lvl="0" marL="0" marR="0" rtl="0" algn="ctr">
                        <a:spcBef>
                          <a:spcPts val="0"/>
                        </a:spcBef>
                        <a:spcAft>
                          <a:spcPts val="0"/>
                        </a:spcAft>
                        <a:buNone/>
                      </a:pPr>
                      <a:r>
                        <a:rPr lang="en-US" sz="1600" u="none" cap="none" strike="noStrike"/>
                        <a:t>A</a:t>
                      </a:r>
                      <a:endParaRPr/>
                    </a:p>
                  </a:txBody>
                  <a:tcPr marT="0" marB="0" marR="68525" marL="68525"/>
                </a:tc>
                <a:tc>
                  <a:txBody>
                    <a:bodyPr/>
                    <a:lstStyle/>
                    <a:p>
                      <a:pPr indent="0" lvl="0" marL="0" marR="0" rtl="0" algn="ctr">
                        <a:spcBef>
                          <a:spcPts val="0"/>
                        </a:spcBef>
                        <a:spcAft>
                          <a:spcPts val="0"/>
                        </a:spcAft>
                        <a:buNone/>
                      </a:pPr>
                      <a:r>
                        <a:rPr lang="en-US" sz="1600" u="none" cap="none" strike="noStrike"/>
                        <a:t>B</a:t>
                      </a:r>
                      <a:endParaRPr/>
                    </a:p>
                  </a:txBody>
                  <a:tcPr marT="0" marB="0" marR="68525" marL="68525"/>
                </a:tc>
                <a:tc>
                  <a:txBody>
                    <a:bodyPr/>
                    <a:lstStyle/>
                    <a:p>
                      <a:pPr indent="0" lvl="0" marL="0" marR="0" rtl="0" algn="ctr">
                        <a:spcBef>
                          <a:spcPts val="0"/>
                        </a:spcBef>
                        <a:spcAft>
                          <a:spcPts val="0"/>
                        </a:spcAft>
                        <a:buNone/>
                      </a:pPr>
                      <a:r>
                        <a:rPr lang="en-US" sz="1600" u="none" cap="none" strike="noStrike"/>
                        <a:t>C</a:t>
                      </a:r>
                      <a:endParaRPr/>
                    </a:p>
                  </a:txBody>
                  <a:tcPr marT="0" marB="0" marR="68525" marL="68525"/>
                </a:tc>
                <a:tc>
                  <a:txBody>
                    <a:bodyPr/>
                    <a:lstStyle/>
                    <a:p>
                      <a:pPr indent="0" lvl="0" marL="0" marR="0" rtl="0" algn="ctr">
                        <a:spcBef>
                          <a:spcPts val="0"/>
                        </a:spcBef>
                        <a:spcAft>
                          <a:spcPts val="0"/>
                        </a:spcAft>
                        <a:buNone/>
                      </a:pPr>
                      <a:r>
                        <a:rPr lang="en-US" sz="1600" u="none" cap="none" strike="noStrike"/>
                        <a:t>D</a:t>
                      </a:r>
                      <a:endParaRPr/>
                    </a:p>
                  </a:txBody>
                  <a:tcPr marT="0" marB="0" marR="68525" marL="68525"/>
                </a:tc>
                <a:tc>
                  <a:txBody>
                    <a:bodyPr/>
                    <a:lstStyle/>
                    <a:p>
                      <a:pPr indent="0" lvl="0" marL="0" marR="0" rtl="0" algn="ctr">
                        <a:spcBef>
                          <a:spcPts val="0"/>
                        </a:spcBef>
                        <a:spcAft>
                          <a:spcPts val="0"/>
                        </a:spcAft>
                        <a:buNone/>
                      </a:pPr>
                      <a:r>
                        <a:rPr lang="en-US" sz="1600" u="none" cap="none" strike="noStrike"/>
                        <a:t>A</a:t>
                      </a:r>
                      <a:endParaRPr/>
                    </a:p>
                  </a:txBody>
                  <a:tcPr marT="0" marB="0" marR="68525" marL="68525"/>
                </a:tc>
                <a:tc>
                  <a:txBody>
                    <a:bodyPr/>
                    <a:lstStyle/>
                    <a:p>
                      <a:pPr indent="0" lvl="0" marL="0" marR="0" rtl="0" algn="ctr">
                        <a:spcBef>
                          <a:spcPts val="0"/>
                        </a:spcBef>
                        <a:spcAft>
                          <a:spcPts val="0"/>
                        </a:spcAft>
                        <a:buNone/>
                      </a:pPr>
                      <a:r>
                        <a:rPr lang="en-US" sz="1600" u="none" cap="none" strike="noStrike"/>
                        <a:t>B</a:t>
                      </a:r>
                      <a:endParaRPr/>
                    </a:p>
                  </a:txBody>
                  <a:tcPr marT="0" marB="0" marR="68525" marL="68525"/>
                </a:tc>
                <a:tc>
                  <a:txBody>
                    <a:bodyPr/>
                    <a:lstStyle/>
                    <a:p>
                      <a:pPr indent="0" lvl="0" marL="0" marR="0" rtl="0" algn="ctr">
                        <a:spcBef>
                          <a:spcPts val="0"/>
                        </a:spcBef>
                        <a:spcAft>
                          <a:spcPts val="0"/>
                        </a:spcAft>
                        <a:buNone/>
                      </a:pPr>
                      <a:r>
                        <a:rPr lang="en-US" sz="1600" u="none" cap="none" strike="noStrike"/>
                        <a:t>C</a:t>
                      </a:r>
                      <a:endParaRPr/>
                    </a:p>
                  </a:txBody>
                  <a:tcPr marT="0" marB="0" marR="68525" marL="68525"/>
                </a:tc>
                <a:tc>
                  <a:txBody>
                    <a:bodyPr/>
                    <a:lstStyle/>
                    <a:p>
                      <a:pPr indent="0" lvl="0" marL="0" marR="0" rtl="0" algn="ctr">
                        <a:spcBef>
                          <a:spcPts val="0"/>
                        </a:spcBef>
                        <a:spcAft>
                          <a:spcPts val="0"/>
                        </a:spcAft>
                        <a:buNone/>
                      </a:pPr>
                      <a:r>
                        <a:rPr lang="en-US" sz="1600" u="none" cap="none" strike="noStrike"/>
                        <a:t>D</a:t>
                      </a:r>
                      <a:endParaRPr/>
                    </a:p>
                  </a:txBody>
                  <a:tcPr marT="0" marB="0" marR="68525" marL="68525"/>
                </a:tc>
              </a:tr>
              <a:tr h="274100">
                <a:tc>
                  <a:txBody>
                    <a:bodyPr/>
                    <a:lstStyle/>
                    <a:p>
                      <a:pPr indent="0" lvl="0" marL="0" marR="0" rtl="0" algn="ctr">
                        <a:spcBef>
                          <a:spcPts val="0"/>
                        </a:spcBef>
                        <a:spcAft>
                          <a:spcPts val="0"/>
                        </a:spcAft>
                        <a:buNone/>
                      </a:pPr>
                      <a:r>
                        <a:rPr lang="en-US" sz="1600" u="none" cap="none" strike="noStrike"/>
                        <a:t>P0</a:t>
                      </a:r>
                      <a:endParaRPr/>
                    </a:p>
                  </a:txBody>
                  <a:tcPr marT="0" marB="0" marR="68525" marL="68525"/>
                </a:tc>
                <a:tc>
                  <a:txBody>
                    <a:bodyPr/>
                    <a:lstStyle/>
                    <a:p>
                      <a:pPr indent="0" lvl="0" marL="0" marR="0" rtl="0" algn="ctr">
                        <a:spcBef>
                          <a:spcPts val="0"/>
                        </a:spcBef>
                        <a:spcAft>
                          <a:spcPts val="0"/>
                        </a:spcAft>
                        <a:buNone/>
                      </a:pPr>
                      <a:r>
                        <a:rPr lang="en-US" sz="1600" u="none" cap="none" strike="noStrike"/>
                        <a:t>0</a:t>
                      </a:r>
                      <a:endParaRPr/>
                    </a:p>
                  </a:txBody>
                  <a:tcPr marT="0" marB="0" marR="68525" marL="68525"/>
                </a:tc>
                <a:tc>
                  <a:txBody>
                    <a:bodyPr/>
                    <a:lstStyle/>
                    <a:p>
                      <a:pPr indent="0" lvl="0" marL="0" marR="0" rtl="0" algn="ctr">
                        <a:spcBef>
                          <a:spcPts val="0"/>
                        </a:spcBef>
                        <a:spcAft>
                          <a:spcPts val="0"/>
                        </a:spcAft>
                        <a:buNone/>
                      </a:pPr>
                      <a:r>
                        <a:rPr lang="en-US" sz="1600" u="none" cap="none" strike="noStrike"/>
                        <a:t>0</a:t>
                      </a:r>
                      <a:endParaRPr/>
                    </a:p>
                  </a:txBody>
                  <a:tcPr marT="0" marB="0" marR="68525" marL="68525"/>
                </a:tc>
                <a:tc>
                  <a:txBody>
                    <a:bodyPr/>
                    <a:lstStyle/>
                    <a:p>
                      <a:pPr indent="0" lvl="0" marL="0" marR="0" rtl="0" algn="ctr">
                        <a:spcBef>
                          <a:spcPts val="0"/>
                        </a:spcBef>
                        <a:spcAft>
                          <a:spcPts val="0"/>
                        </a:spcAft>
                        <a:buNone/>
                      </a:pPr>
                      <a:r>
                        <a:rPr lang="en-US" sz="1600" u="none" cap="none" strike="noStrike"/>
                        <a:t>1</a:t>
                      </a:r>
                      <a:endParaRPr/>
                    </a:p>
                  </a:txBody>
                  <a:tcPr marT="0" marB="0" marR="68525" marL="68525"/>
                </a:tc>
                <a:tc>
                  <a:txBody>
                    <a:bodyPr/>
                    <a:lstStyle/>
                    <a:p>
                      <a:pPr indent="0" lvl="0" marL="0" marR="0" rtl="0" algn="ctr">
                        <a:spcBef>
                          <a:spcPts val="0"/>
                        </a:spcBef>
                        <a:spcAft>
                          <a:spcPts val="0"/>
                        </a:spcAft>
                        <a:buNone/>
                      </a:pPr>
                      <a:r>
                        <a:rPr lang="en-US" sz="1600" u="none" cap="none" strike="noStrike"/>
                        <a:t>2</a:t>
                      </a:r>
                      <a:endParaRPr/>
                    </a:p>
                  </a:txBody>
                  <a:tcPr marT="0" marB="0" marR="68525" marL="68525"/>
                </a:tc>
                <a:tc>
                  <a:txBody>
                    <a:bodyPr/>
                    <a:lstStyle/>
                    <a:p>
                      <a:pPr indent="0" lvl="0" marL="0" marR="0" rtl="0" algn="ctr">
                        <a:spcBef>
                          <a:spcPts val="0"/>
                        </a:spcBef>
                        <a:spcAft>
                          <a:spcPts val="0"/>
                        </a:spcAft>
                        <a:buNone/>
                      </a:pPr>
                      <a:r>
                        <a:rPr lang="en-US" sz="1600" u="none" cap="none" strike="noStrike"/>
                        <a:t>0</a:t>
                      </a:r>
                      <a:endParaRPr/>
                    </a:p>
                  </a:txBody>
                  <a:tcPr marT="0" marB="0" marR="68525" marL="68525"/>
                </a:tc>
                <a:tc>
                  <a:txBody>
                    <a:bodyPr/>
                    <a:lstStyle/>
                    <a:p>
                      <a:pPr indent="0" lvl="0" marL="0" marR="0" rtl="0" algn="ctr">
                        <a:spcBef>
                          <a:spcPts val="0"/>
                        </a:spcBef>
                        <a:spcAft>
                          <a:spcPts val="0"/>
                        </a:spcAft>
                        <a:buNone/>
                      </a:pPr>
                      <a:r>
                        <a:rPr lang="en-US" sz="1600" u="none" cap="none" strike="noStrike"/>
                        <a:t>0</a:t>
                      </a:r>
                      <a:endParaRPr/>
                    </a:p>
                  </a:txBody>
                  <a:tcPr marT="0" marB="0" marR="68525" marL="68525"/>
                </a:tc>
                <a:tc>
                  <a:txBody>
                    <a:bodyPr/>
                    <a:lstStyle/>
                    <a:p>
                      <a:pPr indent="0" lvl="0" marL="0" marR="0" rtl="0" algn="ctr">
                        <a:spcBef>
                          <a:spcPts val="0"/>
                        </a:spcBef>
                        <a:spcAft>
                          <a:spcPts val="0"/>
                        </a:spcAft>
                        <a:buNone/>
                      </a:pPr>
                      <a:r>
                        <a:rPr lang="en-US" sz="1600" u="none" cap="none" strike="noStrike"/>
                        <a:t>1</a:t>
                      </a:r>
                      <a:endParaRPr/>
                    </a:p>
                  </a:txBody>
                  <a:tcPr marT="0" marB="0" marR="68525" marL="68525"/>
                </a:tc>
                <a:tc>
                  <a:txBody>
                    <a:bodyPr/>
                    <a:lstStyle/>
                    <a:p>
                      <a:pPr indent="0" lvl="0" marL="0" marR="0" rtl="0" algn="ctr">
                        <a:spcBef>
                          <a:spcPts val="0"/>
                        </a:spcBef>
                        <a:spcAft>
                          <a:spcPts val="0"/>
                        </a:spcAft>
                        <a:buNone/>
                      </a:pPr>
                      <a:r>
                        <a:rPr lang="en-US" sz="1600" u="none" cap="none" strike="noStrike"/>
                        <a:t>2</a:t>
                      </a:r>
                      <a:endParaRPr/>
                    </a:p>
                  </a:txBody>
                  <a:tcPr marT="0" marB="0" marR="68525" marL="68525"/>
                </a:tc>
                <a:tc>
                  <a:txBody>
                    <a:bodyPr/>
                    <a:lstStyle/>
                    <a:p>
                      <a:pPr indent="0" lvl="0" marL="0" marR="0" rtl="0" algn="ctr">
                        <a:spcBef>
                          <a:spcPts val="0"/>
                        </a:spcBef>
                        <a:spcAft>
                          <a:spcPts val="0"/>
                        </a:spcAft>
                        <a:buNone/>
                      </a:pPr>
                      <a:r>
                        <a:rPr lang="en-US" sz="1600" u="none" cap="none" strike="noStrike"/>
                        <a:t>1</a:t>
                      </a:r>
                      <a:endParaRPr/>
                    </a:p>
                  </a:txBody>
                  <a:tcPr marT="0" marB="0" marR="68525" marL="68525"/>
                </a:tc>
                <a:tc>
                  <a:txBody>
                    <a:bodyPr/>
                    <a:lstStyle/>
                    <a:p>
                      <a:pPr indent="0" lvl="0" marL="0" marR="0" rtl="0" algn="ctr">
                        <a:spcBef>
                          <a:spcPts val="0"/>
                        </a:spcBef>
                        <a:spcAft>
                          <a:spcPts val="0"/>
                        </a:spcAft>
                        <a:buNone/>
                      </a:pPr>
                      <a:r>
                        <a:rPr lang="en-US" sz="1600" u="none" cap="none" strike="noStrike"/>
                        <a:t>5</a:t>
                      </a:r>
                      <a:endParaRPr/>
                    </a:p>
                  </a:txBody>
                  <a:tcPr marT="0" marB="0" marR="68525" marL="68525"/>
                </a:tc>
                <a:tc>
                  <a:txBody>
                    <a:bodyPr/>
                    <a:lstStyle/>
                    <a:p>
                      <a:pPr indent="0" lvl="0" marL="0" marR="0" rtl="0" algn="ctr">
                        <a:spcBef>
                          <a:spcPts val="0"/>
                        </a:spcBef>
                        <a:spcAft>
                          <a:spcPts val="0"/>
                        </a:spcAft>
                        <a:buNone/>
                      </a:pPr>
                      <a:r>
                        <a:rPr lang="en-US" sz="1600" u="none" cap="none" strike="noStrike"/>
                        <a:t>2</a:t>
                      </a:r>
                      <a:endParaRPr/>
                    </a:p>
                  </a:txBody>
                  <a:tcPr marT="0" marB="0" marR="68525" marL="68525"/>
                </a:tc>
                <a:tc>
                  <a:txBody>
                    <a:bodyPr/>
                    <a:lstStyle/>
                    <a:p>
                      <a:pPr indent="0" lvl="0" marL="0" marR="0" rtl="0" algn="ctr">
                        <a:spcBef>
                          <a:spcPts val="0"/>
                        </a:spcBef>
                        <a:spcAft>
                          <a:spcPts val="0"/>
                        </a:spcAft>
                        <a:buNone/>
                      </a:pPr>
                      <a:r>
                        <a:rPr lang="en-US" sz="1600" u="none" cap="none" strike="noStrike"/>
                        <a:t>0</a:t>
                      </a:r>
                      <a:endParaRPr/>
                    </a:p>
                  </a:txBody>
                  <a:tcPr marT="0" marB="0" marR="68525" marL="68525"/>
                </a:tc>
              </a:tr>
              <a:tr h="548200">
                <a:tc>
                  <a:txBody>
                    <a:bodyPr/>
                    <a:lstStyle/>
                    <a:p>
                      <a:pPr indent="0" lvl="0" marL="0" marR="0" rtl="0" algn="ctr">
                        <a:spcBef>
                          <a:spcPts val="0"/>
                        </a:spcBef>
                        <a:spcAft>
                          <a:spcPts val="0"/>
                        </a:spcAft>
                        <a:buNone/>
                      </a:pPr>
                      <a:r>
                        <a:rPr lang="en-US" sz="1600" u="none" cap="none" strike="noStrike"/>
                        <a:t>P1</a:t>
                      </a:r>
                      <a:endParaRPr/>
                    </a:p>
                  </a:txBody>
                  <a:tcPr marT="0" marB="0" marR="68525" marL="68525"/>
                </a:tc>
                <a:tc>
                  <a:txBody>
                    <a:bodyPr/>
                    <a:lstStyle/>
                    <a:p>
                      <a:pPr indent="0" lvl="0" marL="0" marR="0" rtl="0" algn="ctr">
                        <a:spcBef>
                          <a:spcPts val="0"/>
                        </a:spcBef>
                        <a:spcAft>
                          <a:spcPts val="0"/>
                        </a:spcAft>
                        <a:buNone/>
                      </a:pPr>
                      <a:r>
                        <a:rPr lang="en-US" sz="1600" u="none" cap="none" strike="noStrike"/>
                        <a:t>1</a:t>
                      </a:r>
                      <a:endParaRPr/>
                    </a:p>
                  </a:txBody>
                  <a:tcPr marT="0" marB="0" marR="68525" marL="68525"/>
                </a:tc>
                <a:tc>
                  <a:txBody>
                    <a:bodyPr/>
                    <a:lstStyle/>
                    <a:p>
                      <a:pPr indent="0" lvl="0" marL="0" marR="0" rtl="0" algn="ctr">
                        <a:spcBef>
                          <a:spcPts val="0"/>
                        </a:spcBef>
                        <a:spcAft>
                          <a:spcPts val="0"/>
                        </a:spcAft>
                        <a:buNone/>
                      </a:pPr>
                      <a:r>
                        <a:rPr lang="en-US" sz="1600" u="none" cap="none" strike="noStrike"/>
                        <a:t>0</a:t>
                      </a:r>
                      <a:endParaRPr/>
                    </a:p>
                  </a:txBody>
                  <a:tcPr marT="0" marB="0" marR="68525" marL="68525"/>
                </a:tc>
                <a:tc>
                  <a:txBody>
                    <a:bodyPr/>
                    <a:lstStyle/>
                    <a:p>
                      <a:pPr indent="0" lvl="0" marL="0" marR="0" rtl="0" algn="ctr">
                        <a:spcBef>
                          <a:spcPts val="0"/>
                        </a:spcBef>
                        <a:spcAft>
                          <a:spcPts val="0"/>
                        </a:spcAft>
                        <a:buNone/>
                      </a:pPr>
                      <a:r>
                        <a:rPr lang="en-US" sz="1600" u="none" cap="none" strike="noStrike"/>
                        <a:t>0</a:t>
                      </a:r>
                      <a:endParaRPr/>
                    </a:p>
                  </a:txBody>
                  <a:tcPr marT="0" marB="0" marR="68525" marL="68525"/>
                </a:tc>
                <a:tc>
                  <a:txBody>
                    <a:bodyPr/>
                    <a:lstStyle/>
                    <a:p>
                      <a:pPr indent="0" lvl="0" marL="0" marR="0" rtl="0" algn="ctr">
                        <a:spcBef>
                          <a:spcPts val="0"/>
                        </a:spcBef>
                        <a:spcAft>
                          <a:spcPts val="0"/>
                        </a:spcAft>
                        <a:buNone/>
                      </a:pPr>
                      <a:r>
                        <a:rPr lang="en-US" sz="1600" u="none" cap="none" strike="noStrike"/>
                        <a:t>0</a:t>
                      </a:r>
                      <a:endParaRPr/>
                    </a:p>
                  </a:txBody>
                  <a:tcPr marT="0" marB="0" marR="68525" marL="68525"/>
                </a:tc>
                <a:tc>
                  <a:txBody>
                    <a:bodyPr/>
                    <a:lstStyle/>
                    <a:p>
                      <a:pPr indent="0" lvl="0" marL="0" marR="0" rtl="0" algn="ctr">
                        <a:spcBef>
                          <a:spcPts val="0"/>
                        </a:spcBef>
                        <a:spcAft>
                          <a:spcPts val="0"/>
                        </a:spcAft>
                        <a:buNone/>
                      </a:pPr>
                      <a:r>
                        <a:rPr lang="en-US" sz="1600" u="none" cap="none" strike="noStrike"/>
                        <a:t>1</a:t>
                      </a:r>
                      <a:endParaRPr/>
                    </a:p>
                  </a:txBody>
                  <a:tcPr marT="0" marB="0" marR="68525" marL="68525"/>
                </a:tc>
                <a:tc>
                  <a:txBody>
                    <a:bodyPr/>
                    <a:lstStyle/>
                    <a:p>
                      <a:pPr indent="0" lvl="0" marL="0" marR="0" rtl="0" algn="ctr">
                        <a:spcBef>
                          <a:spcPts val="0"/>
                        </a:spcBef>
                        <a:spcAft>
                          <a:spcPts val="0"/>
                        </a:spcAft>
                        <a:buNone/>
                      </a:pPr>
                      <a:r>
                        <a:rPr lang="en-US" sz="1600" u="none" cap="none" strike="noStrike"/>
                        <a:t>7</a:t>
                      </a:r>
                      <a:endParaRPr/>
                    </a:p>
                  </a:txBody>
                  <a:tcPr marT="0" marB="0" marR="68525" marL="68525"/>
                </a:tc>
                <a:tc>
                  <a:txBody>
                    <a:bodyPr/>
                    <a:lstStyle/>
                    <a:p>
                      <a:pPr indent="0" lvl="0" marL="0" marR="0" rtl="0" algn="ctr">
                        <a:spcBef>
                          <a:spcPts val="0"/>
                        </a:spcBef>
                        <a:spcAft>
                          <a:spcPts val="0"/>
                        </a:spcAft>
                        <a:buNone/>
                      </a:pPr>
                      <a:r>
                        <a:rPr lang="en-US" sz="1600" u="none" cap="none" strike="noStrike"/>
                        <a:t>5</a:t>
                      </a:r>
                      <a:endParaRPr/>
                    </a:p>
                  </a:txBody>
                  <a:tcPr marT="0" marB="0" marR="68525" marL="68525"/>
                </a:tc>
                <a:tc>
                  <a:txBody>
                    <a:bodyPr/>
                    <a:lstStyle/>
                    <a:p>
                      <a:pPr indent="0" lvl="0" marL="0" marR="0" rtl="0" algn="ctr">
                        <a:spcBef>
                          <a:spcPts val="0"/>
                        </a:spcBef>
                        <a:spcAft>
                          <a:spcPts val="0"/>
                        </a:spcAft>
                        <a:buNone/>
                      </a:pPr>
                      <a:r>
                        <a:rPr lang="en-US" sz="1600" u="none" cap="none" strike="noStrike"/>
                        <a:t>0</a:t>
                      </a:r>
                      <a:endParaRPr/>
                    </a:p>
                  </a:txBody>
                  <a:tcPr marT="0" marB="0" marR="68525" marL="68525"/>
                </a:tc>
                <a:tc>
                  <a:txBody>
                    <a:bodyPr/>
                    <a:lstStyle/>
                    <a:p>
                      <a:pPr indent="0" lvl="0" marL="0" marR="0" rtl="0" algn="ctr">
                        <a:spcBef>
                          <a:spcPts val="0"/>
                        </a:spcBef>
                        <a:spcAft>
                          <a:spcPts val="0"/>
                        </a:spcAft>
                        <a:buNone/>
                      </a:pPr>
                      <a:br>
                        <a:rPr lang="en-US" sz="1600" u="none" cap="none" strike="noStrike"/>
                      </a:br>
                      <a:endParaRPr sz="1600" u="none" cap="none" strike="noStrike"/>
                    </a:p>
                  </a:txBody>
                  <a:tcPr marT="0" marB="0" marR="68525" marL="68525"/>
                </a:tc>
                <a:tc>
                  <a:txBody>
                    <a:bodyPr/>
                    <a:lstStyle/>
                    <a:p>
                      <a:pPr indent="0" lvl="0" marL="0" marR="0" rtl="0" algn="ctr">
                        <a:spcBef>
                          <a:spcPts val="0"/>
                        </a:spcBef>
                        <a:spcAft>
                          <a:spcPts val="0"/>
                        </a:spcAft>
                        <a:buNone/>
                      </a:pPr>
                      <a:br>
                        <a:rPr lang="en-US" sz="1600" u="none" cap="none" strike="noStrike"/>
                      </a:br>
                      <a:endParaRPr sz="1600" u="none" cap="none" strike="noStrike"/>
                    </a:p>
                  </a:txBody>
                  <a:tcPr marT="0" marB="0" marR="68525" marL="68525"/>
                </a:tc>
                <a:tc>
                  <a:txBody>
                    <a:bodyPr/>
                    <a:lstStyle/>
                    <a:p>
                      <a:pPr indent="0" lvl="0" marL="0" marR="0" rtl="0" algn="ctr">
                        <a:spcBef>
                          <a:spcPts val="0"/>
                        </a:spcBef>
                        <a:spcAft>
                          <a:spcPts val="0"/>
                        </a:spcAft>
                        <a:buNone/>
                      </a:pPr>
                      <a:br>
                        <a:rPr lang="en-US" sz="1600" u="none" cap="none" strike="noStrike"/>
                      </a:br>
                      <a:endParaRPr sz="1600" u="none" cap="none" strike="noStrike"/>
                    </a:p>
                  </a:txBody>
                  <a:tcPr marT="0" marB="0" marR="68525" marL="68525"/>
                </a:tc>
                <a:tc>
                  <a:txBody>
                    <a:bodyPr/>
                    <a:lstStyle/>
                    <a:p>
                      <a:pPr indent="0" lvl="0" marL="0" marR="0" rtl="0" algn="ctr">
                        <a:spcBef>
                          <a:spcPts val="0"/>
                        </a:spcBef>
                        <a:spcAft>
                          <a:spcPts val="0"/>
                        </a:spcAft>
                        <a:buNone/>
                      </a:pPr>
                      <a:br>
                        <a:rPr lang="en-US" sz="1600" u="none" cap="none" strike="noStrike"/>
                      </a:br>
                      <a:endParaRPr sz="1600" u="none" cap="none" strike="noStrike"/>
                    </a:p>
                  </a:txBody>
                  <a:tcPr marT="0" marB="0" marR="68525" marL="68525"/>
                </a:tc>
              </a:tr>
              <a:tr h="548200">
                <a:tc>
                  <a:txBody>
                    <a:bodyPr/>
                    <a:lstStyle/>
                    <a:p>
                      <a:pPr indent="0" lvl="0" marL="0" marR="0" rtl="0" algn="ctr">
                        <a:spcBef>
                          <a:spcPts val="0"/>
                        </a:spcBef>
                        <a:spcAft>
                          <a:spcPts val="0"/>
                        </a:spcAft>
                        <a:buNone/>
                      </a:pPr>
                      <a:r>
                        <a:rPr lang="en-US" sz="1600" u="none" cap="none" strike="noStrike"/>
                        <a:t>P2</a:t>
                      </a:r>
                      <a:endParaRPr/>
                    </a:p>
                  </a:txBody>
                  <a:tcPr marT="0" marB="0" marR="68525" marL="68525"/>
                </a:tc>
                <a:tc>
                  <a:txBody>
                    <a:bodyPr/>
                    <a:lstStyle/>
                    <a:p>
                      <a:pPr indent="0" lvl="0" marL="0" marR="0" rtl="0" algn="ctr">
                        <a:spcBef>
                          <a:spcPts val="0"/>
                        </a:spcBef>
                        <a:spcAft>
                          <a:spcPts val="0"/>
                        </a:spcAft>
                        <a:buNone/>
                      </a:pPr>
                      <a:r>
                        <a:rPr lang="en-US" sz="1600" u="none" cap="none" strike="noStrike"/>
                        <a:t>1</a:t>
                      </a:r>
                      <a:endParaRPr/>
                    </a:p>
                  </a:txBody>
                  <a:tcPr marT="0" marB="0" marR="68525" marL="68525"/>
                </a:tc>
                <a:tc>
                  <a:txBody>
                    <a:bodyPr/>
                    <a:lstStyle/>
                    <a:p>
                      <a:pPr indent="0" lvl="0" marL="0" marR="0" rtl="0" algn="ctr">
                        <a:spcBef>
                          <a:spcPts val="0"/>
                        </a:spcBef>
                        <a:spcAft>
                          <a:spcPts val="0"/>
                        </a:spcAft>
                        <a:buNone/>
                      </a:pPr>
                      <a:r>
                        <a:rPr lang="en-US" sz="1600" u="none" cap="none" strike="noStrike"/>
                        <a:t>3</a:t>
                      </a:r>
                      <a:endParaRPr/>
                    </a:p>
                  </a:txBody>
                  <a:tcPr marT="0" marB="0" marR="68525" marL="68525"/>
                </a:tc>
                <a:tc>
                  <a:txBody>
                    <a:bodyPr/>
                    <a:lstStyle/>
                    <a:p>
                      <a:pPr indent="0" lvl="0" marL="0" marR="0" rtl="0" algn="ctr">
                        <a:spcBef>
                          <a:spcPts val="0"/>
                        </a:spcBef>
                        <a:spcAft>
                          <a:spcPts val="0"/>
                        </a:spcAft>
                        <a:buNone/>
                      </a:pPr>
                      <a:r>
                        <a:rPr lang="en-US" sz="1600" u="none" cap="none" strike="noStrike"/>
                        <a:t>5</a:t>
                      </a:r>
                      <a:endParaRPr/>
                    </a:p>
                  </a:txBody>
                  <a:tcPr marT="0" marB="0" marR="68525" marL="68525"/>
                </a:tc>
                <a:tc>
                  <a:txBody>
                    <a:bodyPr/>
                    <a:lstStyle/>
                    <a:p>
                      <a:pPr indent="0" lvl="0" marL="0" marR="0" rtl="0" algn="ctr">
                        <a:spcBef>
                          <a:spcPts val="0"/>
                        </a:spcBef>
                        <a:spcAft>
                          <a:spcPts val="0"/>
                        </a:spcAft>
                        <a:buNone/>
                      </a:pPr>
                      <a:r>
                        <a:rPr lang="en-US" sz="1600" u="none" cap="none" strike="noStrike"/>
                        <a:t>4</a:t>
                      </a:r>
                      <a:endParaRPr/>
                    </a:p>
                  </a:txBody>
                  <a:tcPr marT="0" marB="0" marR="68525" marL="68525"/>
                </a:tc>
                <a:tc>
                  <a:txBody>
                    <a:bodyPr/>
                    <a:lstStyle/>
                    <a:p>
                      <a:pPr indent="0" lvl="0" marL="0" marR="0" rtl="0" algn="ctr">
                        <a:spcBef>
                          <a:spcPts val="0"/>
                        </a:spcBef>
                        <a:spcAft>
                          <a:spcPts val="0"/>
                        </a:spcAft>
                        <a:buNone/>
                      </a:pPr>
                      <a:r>
                        <a:rPr lang="en-US" sz="1600" u="none" cap="none" strike="noStrike"/>
                        <a:t>2</a:t>
                      </a:r>
                      <a:endParaRPr/>
                    </a:p>
                  </a:txBody>
                  <a:tcPr marT="0" marB="0" marR="68525" marL="68525"/>
                </a:tc>
                <a:tc>
                  <a:txBody>
                    <a:bodyPr/>
                    <a:lstStyle/>
                    <a:p>
                      <a:pPr indent="0" lvl="0" marL="0" marR="0" rtl="0" algn="ctr">
                        <a:spcBef>
                          <a:spcPts val="0"/>
                        </a:spcBef>
                        <a:spcAft>
                          <a:spcPts val="0"/>
                        </a:spcAft>
                        <a:buNone/>
                      </a:pPr>
                      <a:r>
                        <a:rPr lang="en-US" sz="1600" u="none" cap="none" strike="noStrike"/>
                        <a:t>3</a:t>
                      </a:r>
                      <a:endParaRPr/>
                    </a:p>
                  </a:txBody>
                  <a:tcPr marT="0" marB="0" marR="68525" marL="68525"/>
                </a:tc>
                <a:tc>
                  <a:txBody>
                    <a:bodyPr/>
                    <a:lstStyle/>
                    <a:p>
                      <a:pPr indent="0" lvl="0" marL="0" marR="0" rtl="0" algn="ctr">
                        <a:spcBef>
                          <a:spcPts val="0"/>
                        </a:spcBef>
                        <a:spcAft>
                          <a:spcPts val="0"/>
                        </a:spcAft>
                        <a:buNone/>
                      </a:pPr>
                      <a:r>
                        <a:rPr lang="en-US" sz="1600" u="none" cap="none" strike="noStrike"/>
                        <a:t>5</a:t>
                      </a:r>
                      <a:endParaRPr/>
                    </a:p>
                  </a:txBody>
                  <a:tcPr marT="0" marB="0" marR="68525" marL="68525"/>
                </a:tc>
                <a:tc>
                  <a:txBody>
                    <a:bodyPr/>
                    <a:lstStyle/>
                    <a:p>
                      <a:pPr indent="0" lvl="0" marL="0" marR="0" rtl="0" algn="ctr">
                        <a:spcBef>
                          <a:spcPts val="0"/>
                        </a:spcBef>
                        <a:spcAft>
                          <a:spcPts val="0"/>
                        </a:spcAft>
                        <a:buNone/>
                      </a:pPr>
                      <a:r>
                        <a:rPr lang="en-US" sz="1600" u="none" cap="none" strike="noStrike"/>
                        <a:t>6</a:t>
                      </a:r>
                      <a:endParaRPr/>
                    </a:p>
                  </a:txBody>
                  <a:tcPr marT="0" marB="0" marR="68525" marL="68525"/>
                </a:tc>
                <a:tc>
                  <a:txBody>
                    <a:bodyPr/>
                    <a:lstStyle/>
                    <a:p>
                      <a:pPr indent="0" lvl="0" marL="0" marR="0" rtl="0" algn="ctr">
                        <a:spcBef>
                          <a:spcPts val="0"/>
                        </a:spcBef>
                        <a:spcAft>
                          <a:spcPts val="0"/>
                        </a:spcAft>
                        <a:buNone/>
                      </a:pPr>
                      <a:br>
                        <a:rPr lang="en-US" sz="1600" u="none" cap="none" strike="noStrike"/>
                      </a:br>
                      <a:endParaRPr sz="1600" u="none" cap="none" strike="noStrike"/>
                    </a:p>
                  </a:txBody>
                  <a:tcPr marT="0" marB="0" marR="68525" marL="68525"/>
                </a:tc>
                <a:tc>
                  <a:txBody>
                    <a:bodyPr/>
                    <a:lstStyle/>
                    <a:p>
                      <a:pPr indent="0" lvl="0" marL="0" marR="0" rtl="0" algn="ctr">
                        <a:spcBef>
                          <a:spcPts val="0"/>
                        </a:spcBef>
                        <a:spcAft>
                          <a:spcPts val="0"/>
                        </a:spcAft>
                        <a:buNone/>
                      </a:pPr>
                      <a:br>
                        <a:rPr lang="en-US" sz="1600" u="none" cap="none" strike="noStrike"/>
                      </a:br>
                      <a:endParaRPr sz="1600" u="none" cap="none" strike="noStrike"/>
                    </a:p>
                  </a:txBody>
                  <a:tcPr marT="0" marB="0" marR="68525" marL="68525"/>
                </a:tc>
                <a:tc>
                  <a:txBody>
                    <a:bodyPr/>
                    <a:lstStyle/>
                    <a:p>
                      <a:pPr indent="0" lvl="0" marL="0" marR="0" rtl="0" algn="ctr">
                        <a:spcBef>
                          <a:spcPts val="0"/>
                        </a:spcBef>
                        <a:spcAft>
                          <a:spcPts val="0"/>
                        </a:spcAft>
                        <a:buNone/>
                      </a:pPr>
                      <a:br>
                        <a:rPr lang="en-US" sz="1600" u="none" cap="none" strike="noStrike"/>
                      </a:br>
                      <a:endParaRPr sz="1600" u="none" cap="none" strike="noStrike"/>
                    </a:p>
                  </a:txBody>
                  <a:tcPr marT="0" marB="0" marR="68525" marL="68525"/>
                </a:tc>
                <a:tc>
                  <a:txBody>
                    <a:bodyPr/>
                    <a:lstStyle/>
                    <a:p>
                      <a:pPr indent="0" lvl="0" marL="0" marR="0" rtl="0" algn="ctr">
                        <a:spcBef>
                          <a:spcPts val="0"/>
                        </a:spcBef>
                        <a:spcAft>
                          <a:spcPts val="0"/>
                        </a:spcAft>
                        <a:buNone/>
                      </a:pPr>
                      <a:br>
                        <a:rPr lang="en-US" sz="1600" u="none" cap="none" strike="noStrike"/>
                      </a:br>
                      <a:endParaRPr sz="1600" u="none" cap="none" strike="noStrike"/>
                    </a:p>
                  </a:txBody>
                  <a:tcPr marT="0" marB="0" marR="68525" marL="68525"/>
                </a:tc>
              </a:tr>
              <a:tr h="548200">
                <a:tc>
                  <a:txBody>
                    <a:bodyPr/>
                    <a:lstStyle/>
                    <a:p>
                      <a:pPr indent="0" lvl="0" marL="0" marR="0" rtl="0" algn="ctr">
                        <a:spcBef>
                          <a:spcPts val="0"/>
                        </a:spcBef>
                        <a:spcAft>
                          <a:spcPts val="0"/>
                        </a:spcAft>
                        <a:buNone/>
                      </a:pPr>
                      <a:r>
                        <a:rPr lang="en-US" sz="1600" u="none" cap="none" strike="noStrike"/>
                        <a:t>P3</a:t>
                      </a:r>
                      <a:endParaRPr/>
                    </a:p>
                  </a:txBody>
                  <a:tcPr marT="0" marB="0" marR="68525" marL="68525"/>
                </a:tc>
                <a:tc>
                  <a:txBody>
                    <a:bodyPr/>
                    <a:lstStyle/>
                    <a:p>
                      <a:pPr indent="0" lvl="0" marL="0" marR="0" rtl="0" algn="ctr">
                        <a:spcBef>
                          <a:spcPts val="0"/>
                        </a:spcBef>
                        <a:spcAft>
                          <a:spcPts val="0"/>
                        </a:spcAft>
                        <a:buNone/>
                      </a:pPr>
                      <a:r>
                        <a:rPr lang="en-US" sz="1600" u="none" cap="none" strike="noStrike"/>
                        <a:t>0</a:t>
                      </a:r>
                      <a:endParaRPr/>
                    </a:p>
                  </a:txBody>
                  <a:tcPr marT="0" marB="0" marR="68525" marL="68525"/>
                </a:tc>
                <a:tc>
                  <a:txBody>
                    <a:bodyPr/>
                    <a:lstStyle/>
                    <a:p>
                      <a:pPr indent="0" lvl="0" marL="0" marR="0" rtl="0" algn="ctr">
                        <a:spcBef>
                          <a:spcPts val="0"/>
                        </a:spcBef>
                        <a:spcAft>
                          <a:spcPts val="0"/>
                        </a:spcAft>
                        <a:buNone/>
                      </a:pPr>
                      <a:r>
                        <a:rPr lang="en-US" sz="1600" u="none" cap="none" strike="noStrike"/>
                        <a:t>6</a:t>
                      </a:r>
                      <a:endParaRPr/>
                    </a:p>
                  </a:txBody>
                  <a:tcPr marT="0" marB="0" marR="68525" marL="68525"/>
                </a:tc>
                <a:tc>
                  <a:txBody>
                    <a:bodyPr/>
                    <a:lstStyle/>
                    <a:p>
                      <a:pPr indent="0" lvl="0" marL="0" marR="0" rtl="0" algn="ctr">
                        <a:spcBef>
                          <a:spcPts val="0"/>
                        </a:spcBef>
                        <a:spcAft>
                          <a:spcPts val="0"/>
                        </a:spcAft>
                        <a:buNone/>
                      </a:pPr>
                      <a:r>
                        <a:rPr lang="en-US" sz="1600" u="none" cap="none" strike="noStrike"/>
                        <a:t>3</a:t>
                      </a:r>
                      <a:endParaRPr/>
                    </a:p>
                  </a:txBody>
                  <a:tcPr marT="0" marB="0" marR="68525" marL="68525"/>
                </a:tc>
                <a:tc>
                  <a:txBody>
                    <a:bodyPr/>
                    <a:lstStyle/>
                    <a:p>
                      <a:pPr indent="0" lvl="0" marL="0" marR="0" rtl="0" algn="ctr">
                        <a:spcBef>
                          <a:spcPts val="0"/>
                        </a:spcBef>
                        <a:spcAft>
                          <a:spcPts val="0"/>
                        </a:spcAft>
                        <a:buNone/>
                      </a:pPr>
                      <a:r>
                        <a:rPr lang="en-US" sz="1600" u="none" cap="none" strike="noStrike"/>
                        <a:t>2</a:t>
                      </a:r>
                      <a:endParaRPr/>
                    </a:p>
                  </a:txBody>
                  <a:tcPr marT="0" marB="0" marR="68525" marL="68525"/>
                </a:tc>
                <a:tc>
                  <a:txBody>
                    <a:bodyPr/>
                    <a:lstStyle/>
                    <a:p>
                      <a:pPr indent="0" lvl="0" marL="0" marR="0" rtl="0" algn="ctr">
                        <a:spcBef>
                          <a:spcPts val="0"/>
                        </a:spcBef>
                        <a:spcAft>
                          <a:spcPts val="0"/>
                        </a:spcAft>
                        <a:buNone/>
                      </a:pPr>
                      <a:r>
                        <a:rPr lang="en-US" sz="1600" u="none" cap="none" strike="noStrike"/>
                        <a:t>0</a:t>
                      </a:r>
                      <a:endParaRPr/>
                    </a:p>
                  </a:txBody>
                  <a:tcPr marT="0" marB="0" marR="68525" marL="68525"/>
                </a:tc>
                <a:tc>
                  <a:txBody>
                    <a:bodyPr/>
                    <a:lstStyle/>
                    <a:p>
                      <a:pPr indent="0" lvl="0" marL="0" marR="0" rtl="0" algn="ctr">
                        <a:spcBef>
                          <a:spcPts val="0"/>
                        </a:spcBef>
                        <a:spcAft>
                          <a:spcPts val="0"/>
                        </a:spcAft>
                        <a:buNone/>
                      </a:pPr>
                      <a:r>
                        <a:rPr lang="en-US" sz="1600" u="none" cap="none" strike="noStrike"/>
                        <a:t>6</a:t>
                      </a:r>
                      <a:endParaRPr/>
                    </a:p>
                  </a:txBody>
                  <a:tcPr marT="0" marB="0" marR="68525" marL="68525"/>
                </a:tc>
                <a:tc>
                  <a:txBody>
                    <a:bodyPr/>
                    <a:lstStyle/>
                    <a:p>
                      <a:pPr indent="0" lvl="0" marL="0" marR="0" rtl="0" algn="ctr">
                        <a:spcBef>
                          <a:spcPts val="0"/>
                        </a:spcBef>
                        <a:spcAft>
                          <a:spcPts val="0"/>
                        </a:spcAft>
                        <a:buNone/>
                      </a:pPr>
                      <a:r>
                        <a:rPr lang="en-US" sz="1600" u="none" cap="none" strike="noStrike"/>
                        <a:t>5</a:t>
                      </a:r>
                      <a:endParaRPr/>
                    </a:p>
                  </a:txBody>
                  <a:tcPr marT="0" marB="0" marR="68525" marL="68525"/>
                </a:tc>
                <a:tc>
                  <a:txBody>
                    <a:bodyPr/>
                    <a:lstStyle/>
                    <a:p>
                      <a:pPr indent="0" lvl="0" marL="0" marR="0" rtl="0" algn="ctr">
                        <a:spcBef>
                          <a:spcPts val="0"/>
                        </a:spcBef>
                        <a:spcAft>
                          <a:spcPts val="0"/>
                        </a:spcAft>
                        <a:buNone/>
                      </a:pPr>
                      <a:r>
                        <a:rPr lang="en-US" sz="1600" u="none" cap="none" strike="noStrike"/>
                        <a:t>2</a:t>
                      </a:r>
                      <a:endParaRPr/>
                    </a:p>
                  </a:txBody>
                  <a:tcPr marT="0" marB="0" marR="68525" marL="68525"/>
                </a:tc>
                <a:tc>
                  <a:txBody>
                    <a:bodyPr/>
                    <a:lstStyle/>
                    <a:p>
                      <a:pPr indent="0" lvl="0" marL="0" marR="0" rtl="0" algn="ctr">
                        <a:spcBef>
                          <a:spcPts val="0"/>
                        </a:spcBef>
                        <a:spcAft>
                          <a:spcPts val="0"/>
                        </a:spcAft>
                        <a:buNone/>
                      </a:pPr>
                      <a:br>
                        <a:rPr lang="en-US" sz="1600" u="none" cap="none" strike="noStrike"/>
                      </a:br>
                      <a:endParaRPr sz="1600" u="none" cap="none" strike="noStrike"/>
                    </a:p>
                  </a:txBody>
                  <a:tcPr marT="0" marB="0" marR="68525" marL="68525"/>
                </a:tc>
                <a:tc>
                  <a:txBody>
                    <a:bodyPr/>
                    <a:lstStyle/>
                    <a:p>
                      <a:pPr indent="0" lvl="0" marL="0" marR="0" rtl="0" algn="ctr">
                        <a:spcBef>
                          <a:spcPts val="0"/>
                        </a:spcBef>
                        <a:spcAft>
                          <a:spcPts val="0"/>
                        </a:spcAft>
                        <a:buNone/>
                      </a:pPr>
                      <a:br>
                        <a:rPr lang="en-US" sz="1600" u="none" cap="none" strike="noStrike"/>
                      </a:br>
                      <a:endParaRPr sz="1600" u="none" cap="none" strike="noStrike"/>
                    </a:p>
                  </a:txBody>
                  <a:tcPr marT="0" marB="0" marR="68525" marL="68525"/>
                </a:tc>
                <a:tc>
                  <a:txBody>
                    <a:bodyPr/>
                    <a:lstStyle/>
                    <a:p>
                      <a:pPr indent="0" lvl="0" marL="0" marR="0" rtl="0" algn="ctr">
                        <a:spcBef>
                          <a:spcPts val="0"/>
                        </a:spcBef>
                        <a:spcAft>
                          <a:spcPts val="0"/>
                        </a:spcAft>
                        <a:buNone/>
                      </a:pPr>
                      <a:br>
                        <a:rPr lang="en-US" sz="1600" u="none" cap="none" strike="noStrike"/>
                      </a:br>
                      <a:endParaRPr sz="1600" u="none" cap="none" strike="noStrike"/>
                    </a:p>
                  </a:txBody>
                  <a:tcPr marT="0" marB="0" marR="68525" marL="68525"/>
                </a:tc>
                <a:tc>
                  <a:txBody>
                    <a:bodyPr/>
                    <a:lstStyle/>
                    <a:p>
                      <a:pPr indent="0" lvl="0" marL="0" marR="0" rtl="0" algn="ctr">
                        <a:spcBef>
                          <a:spcPts val="0"/>
                        </a:spcBef>
                        <a:spcAft>
                          <a:spcPts val="0"/>
                        </a:spcAft>
                        <a:buNone/>
                      </a:pPr>
                      <a:br>
                        <a:rPr lang="en-US" sz="1600" u="none" cap="none" strike="noStrike"/>
                      </a:br>
                      <a:endParaRPr sz="1600" u="none" cap="none" strike="noStrike"/>
                    </a:p>
                  </a:txBody>
                  <a:tcPr marT="0" marB="0" marR="68525" marL="68525"/>
                </a:tc>
              </a:tr>
              <a:tr h="548200">
                <a:tc>
                  <a:txBody>
                    <a:bodyPr/>
                    <a:lstStyle/>
                    <a:p>
                      <a:pPr indent="0" lvl="0" marL="0" marR="0" rtl="0" algn="ctr">
                        <a:spcBef>
                          <a:spcPts val="0"/>
                        </a:spcBef>
                        <a:spcAft>
                          <a:spcPts val="0"/>
                        </a:spcAft>
                        <a:buNone/>
                      </a:pPr>
                      <a:r>
                        <a:rPr lang="en-US" sz="1600" u="none" cap="none" strike="noStrike"/>
                        <a:t>P4</a:t>
                      </a:r>
                      <a:endParaRPr/>
                    </a:p>
                  </a:txBody>
                  <a:tcPr marT="0" marB="0" marR="68525" marL="68525"/>
                </a:tc>
                <a:tc>
                  <a:txBody>
                    <a:bodyPr/>
                    <a:lstStyle/>
                    <a:p>
                      <a:pPr indent="0" lvl="0" marL="0" marR="0" rtl="0" algn="ctr">
                        <a:spcBef>
                          <a:spcPts val="0"/>
                        </a:spcBef>
                        <a:spcAft>
                          <a:spcPts val="0"/>
                        </a:spcAft>
                        <a:buNone/>
                      </a:pPr>
                      <a:r>
                        <a:rPr lang="en-US" sz="1600" u="none" cap="none" strike="noStrike"/>
                        <a:t>0</a:t>
                      </a:r>
                      <a:endParaRPr/>
                    </a:p>
                  </a:txBody>
                  <a:tcPr marT="0" marB="0" marR="68525" marL="68525"/>
                </a:tc>
                <a:tc>
                  <a:txBody>
                    <a:bodyPr/>
                    <a:lstStyle/>
                    <a:p>
                      <a:pPr indent="0" lvl="0" marL="0" marR="0" rtl="0" algn="ctr">
                        <a:spcBef>
                          <a:spcPts val="0"/>
                        </a:spcBef>
                        <a:spcAft>
                          <a:spcPts val="0"/>
                        </a:spcAft>
                        <a:buNone/>
                      </a:pPr>
                      <a:r>
                        <a:rPr lang="en-US" sz="1600" u="none" cap="none" strike="noStrike"/>
                        <a:t>0</a:t>
                      </a:r>
                      <a:endParaRPr/>
                    </a:p>
                  </a:txBody>
                  <a:tcPr marT="0" marB="0" marR="68525" marL="68525"/>
                </a:tc>
                <a:tc>
                  <a:txBody>
                    <a:bodyPr/>
                    <a:lstStyle/>
                    <a:p>
                      <a:pPr indent="0" lvl="0" marL="0" marR="0" rtl="0" algn="ctr">
                        <a:spcBef>
                          <a:spcPts val="0"/>
                        </a:spcBef>
                        <a:spcAft>
                          <a:spcPts val="0"/>
                        </a:spcAft>
                        <a:buNone/>
                      </a:pPr>
                      <a:r>
                        <a:rPr lang="en-US" sz="1600" u="none" cap="none" strike="noStrike"/>
                        <a:t>1</a:t>
                      </a:r>
                      <a:endParaRPr/>
                    </a:p>
                  </a:txBody>
                  <a:tcPr marT="0" marB="0" marR="68525" marL="68525"/>
                </a:tc>
                <a:tc>
                  <a:txBody>
                    <a:bodyPr/>
                    <a:lstStyle/>
                    <a:p>
                      <a:pPr indent="0" lvl="0" marL="0" marR="0" rtl="0" algn="ctr">
                        <a:spcBef>
                          <a:spcPts val="0"/>
                        </a:spcBef>
                        <a:spcAft>
                          <a:spcPts val="0"/>
                        </a:spcAft>
                        <a:buNone/>
                      </a:pPr>
                      <a:r>
                        <a:rPr lang="en-US" sz="1600" u="none" cap="none" strike="noStrike"/>
                        <a:t>4</a:t>
                      </a:r>
                      <a:endParaRPr/>
                    </a:p>
                  </a:txBody>
                  <a:tcPr marT="0" marB="0" marR="68525" marL="68525"/>
                </a:tc>
                <a:tc>
                  <a:txBody>
                    <a:bodyPr/>
                    <a:lstStyle/>
                    <a:p>
                      <a:pPr indent="0" lvl="0" marL="0" marR="0" rtl="0" algn="ctr">
                        <a:spcBef>
                          <a:spcPts val="0"/>
                        </a:spcBef>
                        <a:spcAft>
                          <a:spcPts val="0"/>
                        </a:spcAft>
                        <a:buNone/>
                      </a:pPr>
                      <a:r>
                        <a:rPr lang="en-US" sz="1600" u="none" cap="none" strike="noStrike"/>
                        <a:t>0</a:t>
                      </a:r>
                      <a:endParaRPr/>
                    </a:p>
                  </a:txBody>
                  <a:tcPr marT="0" marB="0" marR="68525" marL="68525"/>
                </a:tc>
                <a:tc>
                  <a:txBody>
                    <a:bodyPr/>
                    <a:lstStyle/>
                    <a:p>
                      <a:pPr indent="0" lvl="0" marL="0" marR="0" rtl="0" algn="ctr">
                        <a:spcBef>
                          <a:spcPts val="0"/>
                        </a:spcBef>
                        <a:spcAft>
                          <a:spcPts val="0"/>
                        </a:spcAft>
                        <a:buNone/>
                      </a:pPr>
                      <a:r>
                        <a:rPr lang="en-US" sz="1600" u="none" cap="none" strike="noStrike"/>
                        <a:t>6</a:t>
                      </a:r>
                      <a:endParaRPr/>
                    </a:p>
                  </a:txBody>
                  <a:tcPr marT="0" marB="0" marR="68525" marL="68525"/>
                </a:tc>
                <a:tc>
                  <a:txBody>
                    <a:bodyPr/>
                    <a:lstStyle/>
                    <a:p>
                      <a:pPr indent="0" lvl="0" marL="0" marR="0" rtl="0" algn="ctr">
                        <a:spcBef>
                          <a:spcPts val="0"/>
                        </a:spcBef>
                        <a:spcAft>
                          <a:spcPts val="0"/>
                        </a:spcAft>
                        <a:buNone/>
                      </a:pPr>
                      <a:r>
                        <a:rPr lang="en-US" sz="1600" u="none" cap="none" strike="noStrike"/>
                        <a:t>5</a:t>
                      </a:r>
                      <a:endParaRPr/>
                    </a:p>
                  </a:txBody>
                  <a:tcPr marT="0" marB="0" marR="68525" marL="68525"/>
                </a:tc>
                <a:tc>
                  <a:txBody>
                    <a:bodyPr/>
                    <a:lstStyle/>
                    <a:p>
                      <a:pPr indent="0" lvl="0" marL="0" marR="0" rtl="0" algn="ctr">
                        <a:spcBef>
                          <a:spcPts val="0"/>
                        </a:spcBef>
                        <a:spcAft>
                          <a:spcPts val="0"/>
                        </a:spcAft>
                        <a:buNone/>
                      </a:pPr>
                      <a:r>
                        <a:rPr lang="en-US" sz="1600" u="none" cap="none" strike="noStrike"/>
                        <a:t>6</a:t>
                      </a:r>
                      <a:endParaRPr/>
                    </a:p>
                  </a:txBody>
                  <a:tcPr marT="0" marB="0" marR="68525" marL="68525"/>
                </a:tc>
                <a:tc>
                  <a:txBody>
                    <a:bodyPr/>
                    <a:lstStyle/>
                    <a:p>
                      <a:pPr indent="0" lvl="0" marL="0" marR="0" rtl="0" algn="ctr">
                        <a:spcBef>
                          <a:spcPts val="0"/>
                        </a:spcBef>
                        <a:spcAft>
                          <a:spcPts val="0"/>
                        </a:spcAft>
                        <a:buNone/>
                      </a:pPr>
                      <a:br>
                        <a:rPr lang="en-US" sz="1600" u="none" cap="none" strike="noStrike"/>
                      </a:br>
                      <a:endParaRPr sz="1600" u="none" cap="none" strike="noStrike"/>
                    </a:p>
                  </a:txBody>
                  <a:tcPr marT="0" marB="0" marR="68525" marL="68525"/>
                </a:tc>
                <a:tc>
                  <a:txBody>
                    <a:bodyPr/>
                    <a:lstStyle/>
                    <a:p>
                      <a:pPr indent="0" lvl="0" marL="0" marR="0" rtl="0" algn="ctr">
                        <a:spcBef>
                          <a:spcPts val="0"/>
                        </a:spcBef>
                        <a:spcAft>
                          <a:spcPts val="0"/>
                        </a:spcAft>
                        <a:buNone/>
                      </a:pPr>
                      <a:br>
                        <a:rPr lang="en-US" sz="1600" u="none" cap="none" strike="noStrike"/>
                      </a:br>
                      <a:endParaRPr sz="1600" u="none" cap="none" strike="noStrike"/>
                    </a:p>
                  </a:txBody>
                  <a:tcPr marT="0" marB="0" marR="68525" marL="68525"/>
                </a:tc>
                <a:tc>
                  <a:txBody>
                    <a:bodyPr/>
                    <a:lstStyle/>
                    <a:p>
                      <a:pPr indent="0" lvl="0" marL="0" marR="0" rtl="0" algn="ctr">
                        <a:spcBef>
                          <a:spcPts val="0"/>
                        </a:spcBef>
                        <a:spcAft>
                          <a:spcPts val="0"/>
                        </a:spcAft>
                        <a:buNone/>
                      </a:pPr>
                      <a:r>
                        <a:t/>
                      </a:r>
                      <a:endParaRPr sz="1600" u="none" cap="none" strike="noStrike"/>
                    </a:p>
                  </a:txBody>
                  <a:tcPr marT="0" marB="0" marR="68525" marL="68525"/>
                </a:tc>
                <a:tc>
                  <a:txBody>
                    <a:bodyPr/>
                    <a:lstStyle/>
                    <a:p>
                      <a:pPr indent="0" lvl="0" marL="0" marR="0" rtl="0" algn="l">
                        <a:spcBef>
                          <a:spcPts val="0"/>
                        </a:spcBef>
                        <a:spcAft>
                          <a:spcPts val="0"/>
                        </a:spcAft>
                        <a:buNone/>
                      </a:pPr>
                      <a:r>
                        <a:t/>
                      </a:r>
                      <a:endParaRPr sz="1600"/>
                    </a:p>
                  </a:txBody>
                  <a:tcPr marT="45675" marB="45675" marR="91375" marL="91375"/>
                </a:tc>
              </a:tr>
            </a:tbl>
          </a:graphicData>
        </a:graphic>
      </p:graphicFrame>
      <p:sp>
        <p:nvSpPr>
          <p:cNvPr id="1029" name="Google Shape;1029;p8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030" name="Google Shape;1030;p8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031" name="Google Shape;1031;p8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32" name="Google Shape;1032;p86"/>
          <p:cNvSpPr/>
          <p:nvPr/>
        </p:nvSpPr>
        <p:spPr>
          <a:xfrm>
            <a:off x="457200" y="2446338"/>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Times New Roman"/>
              <a:buNone/>
            </a:pPr>
            <a:br>
              <a:rPr b="0" i="0" lang="en-US" sz="1200" u="none" cap="none" strike="noStrike">
                <a:solidFill>
                  <a:schemeClr val="dk1"/>
                </a:solidFill>
                <a:latin typeface="Times New Roman"/>
                <a:ea typeface="Times New Roman"/>
                <a:cs typeface="Times New Roman"/>
                <a:sym typeface="Times New Roman"/>
              </a:rPr>
            </a:b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87"/>
          <p:cNvSpPr txBox="1"/>
          <p:nvPr>
            <p:ph type="title"/>
          </p:nvPr>
        </p:nvSpPr>
        <p:spPr>
          <a:xfrm>
            <a:off x="228600" y="4267200"/>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2000"/>
              <a:buFont typeface="Calibri"/>
              <a:buNone/>
            </a:pPr>
            <a:r>
              <a:rPr lang="en-US" sz="2000"/>
              <a:t>(i) What are the total instances of Resources</a:t>
            </a:r>
            <a:br>
              <a:rPr lang="en-US" sz="2000"/>
            </a:br>
            <a:r>
              <a:rPr lang="en-US" sz="2000"/>
              <a:t>For A=1+1+1=3</a:t>
            </a:r>
            <a:br>
              <a:rPr lang="en-US" sz="2000"/>
            </a:br>
            <a:r>
              <a:rPr lang="en-US" sz="2000"/>
              <a:t>For B=3+6+5=14</a:t>
            </a:r>
            <a:br>
              <a:rPr lang="en-US" sz="2000"/>
            </a:br>
            <a:r>
              <a:rPr lang="en-US" sz="2000"/>
              <a:t>For C=1+5+3+1+2=12</a:t>
            </a:r>
            <a:br>
              <a:rPr lang="en-US" sz="2000"/>
            </a:br>
            <a:r>
              <a:rPr lang="en-US" sz="2000"/>
              <a:t>For D=2+4+2+4=12</a:t>
            </a:r>
            <a:endParaRPr sz="2000"/>
          </a:p>
        </p:txBody>
      </p:sp>
      <p:graphicFrame>
        <p:nvGraphicFramePr>
          <p:cNvPr id="1038" name="Google Shape;1038;p87"/>
          <p:cNvGraphicFramePr/>
          <p:nvPr/>
        </p:nvGraphicFramePr>
        <p:xfrm>
          <a:off x="609600" y="762000"/>
          <a:ext cx="3000000" cy="3000000"/>
        </p:xfrm>
        <a:graphic>
          <a:graphicData uri="http://schemas.openxmlformats.org/drawingml/2006/table">
            <a:tbl>
              <a:tblPr bandRow="1" firstCol="1" firstRow="1">
                <a:noFill/>
                <a:tableStyleId>{81577878-F0BF-430C-8C56-D3E61FE2EFA2}</a:tableStyleId>
              </a:tblPr>
              <a:tblGrid>
                <a:gridCol w="1010800"/>
                <a:gridCol w="410500"/>
                <a:gridCol w="410500"/>
                <a:gridCol w="410500"/>
                <a:gridCol w="410500"/>
                <a:gridCol w="410500"/>
                <a:gridCol w="410500"/>
                <a:gridCol w="410500"/>
                <a:gridCol w="410500"/>
                <a:gridCol w="410500"/>
                <a:gridCol w="410500"/>
                <a:gridCol w="410500"/>
                <a:gridCol w="410500"/>
              </a:tblGrid>
              <a:tr h="182725">
                <a:tc rowSpan="2">
                  <a:txBody>
                    <a:bodyPr/>
                    <a:lstStyle/>
                    <a:p>
                      <a:pPr indent="0" lvl="0" marL="0" marR="0" rtl="0" algn="ctr">
                        <a:spcBef>
                          <a:spcPts val="0"/>
                        </a:spcBef>
                        <a:spcAft>
                          <a:spcPts val="0"/>
                        </a:spcAft>
                        <a:buNone/>
                      </a:pPr>
                      <a:r>
                        <a:rPr lang="en-US" sz="1600"/>
                        <a:t>Process</a:t>
                      </a:r>
                      <a:endParaRPr/>
                    </a:p>
                  </a:txBody>
                  <a:tcPr marT="0" marB="0" marR="68525" marL="68525"/>
                </a:tc>
                <a:tc gridSpan="4">
                  <a:txBody>
                    <a:bodyPr/>
                    <a:lstStyle/>
                    <a:p>
                      <a:pPr indent="0" lvl="0" marL="0" marR="0" rtl="0" algn="ctr">
                        <a:spcBef>
                          <a:spcPts val="0"/>
                        </a:spcBef>
                        <a:spcAft>
                          <a:spcPts val="0"/>
                        </a:spcAft>
                        <a:buNone/>
                      </a:pPr>
                      <a:r>
                        <a:rPr lang="en-US" sz="1600"/>
                        <a:t>Allocation</a:t>
                      </a:r>
                      <a:endParaRPr/>
                    </a:p>
                  </a:txBody>
                  <a:tcPr marT="0" marB="0" marR="68525" marL="68525"/>
                </a:tc>
                <a:tc hMerge="1"/>
                <a:tc hMerge="1"/>
                <a:tc hMerge="1"/>
                <a:tc gridSpan="4">
                  <a:txBody>
                    <a:bodyPr/>
                    <a:lstStyle/>
                    <a:p>
                      <a:pPr indent="0" lvl="0" marL="0" marR="0" rtl="0" algn="ctr">
                        <a:spcBef>
                          <a:spcPts val="0"/>
                        </a:spcBef>
                        <a:spcAft>
                          <a:spcPts val="0"/>
                        </a:spcAft>
                        <a:buNone/>
                      </a:pPr>
                      <a:r>
                        <a:rPr lang="en-US" sz="1600"/>
                        <a:t>Max</a:t>
                      </a:r>
                      <a:endParaRPr/>
                    </a:p>
                  </a:txBody>
                  <a:tcPr marT="0" marB="0" marR="68525" marL="68525"/>
                </a:tc>
                <a:tc hMerge="1"/>
                <a:tc hMerge="1"/>
                <a:tc hMerge="1"/>
                <a:tc gridSpan="4">
                  <a:txBody>
                    <a:bodyPr/>
                    <a:lstStyle/>
                    <a:p>
                      <a:pPr indent="0" lvl="0" marL="0" marR="0" rtl="0" algn="ctr">
                        <a:spcBef>
                          <a:spcPts val="0"/>
                        </a:spcBef>
                        <a:spcAft>
                          <a:spcPts val="0"/>
                        </a:spcAft>
                        <a:buNone/>
                      </a:pPr>
                      <a:r>
                        <a:rPr lang="en-US" sz="1600"/>
                        <a:t>Available</a:t>
                      </a:r>
                      <a:endParaRPr/>
                    </a:p>
                  </a:txBody>
                  <a:tcPr marT="0" marB="0" marR="68525" marL="68525"/>
                </a:tc>
                <a:tc hMerge="1"/>
                <a:tc hMerge="1"/>
                <a:tc hMerge="1"/>
              </a:tr>
              <a:tr h="182725">
                <a:tc vMerge="1"/>
                <a:tc>
                  <a:txBody>
                    <a:bodyPr/>
                    <a:lstStyle/>
                    <a:p>
                      <a:pPr indent="0" lvl="0" marL="0" marR="0" rtl="0" algn="ctr">
                        <a:spcBef>
                          <a:spcPts val="0"/>
                        </a:spcBef>
                        <a:spcAft>
                          <a:spcPts val="0"/>
                        </a:spcAft>
                        <a:buNone/>
                      </a:pPr>
                      <a:r>
                        <a:rPr lang="en-US" sz="1600"/>
                        <a:t>A</a:t>
                      </a:r>
                      <a:endParaRPr/>
                    </a:p>
                  </a:txBody>
                  <a:tcPr marT="0" marB="0" marR="68525" marL="68525"/>
                </a:tc>
                <a:tc>
                  <a:txBody>
                    <a:bodyPr/>
                    <a:lstStyle/>
                    <a:p>
                      <a:pPr indent="0" lvl="0" marL="0" marR="0" rtl="0" algn="ctr">
                        <a:spcBef>
                          <a:spcPts val="0"/>
                        </a:spcBef>
                        <a:spcAft>
                          <a:spcPts val="0"/>
                        </a:spcAft>
                        <a:buNone/>
                      </a:pPr>
                      <a:r>
                        <a:rPr lang="en-US" sz="1600"/>
                        <a:t>B</a:t>
                      </a:r>
                      <a:endParaRPr/>
                    </a:p>
                  </a:txBody>
                  <a:tcPr marT="0" marB="0" marR="68525" marL="68525"/>
                </a:tc>
                <a:tc>
                  <a:txBody>
                    <a:bodyPr/>
                    <a:lstStyle/>
                    <a:p>
                      <a:pPr indent="0" lvl="0" marL="0" marR="0" rtl="0" algn="ctr">
                        <a:spcBef>
                          <a:spcPts val="0"/>
                        </a:spcBef>
                        <a:spcAft>
                          <a:spcPts val="0"/>
                        </a:spcAft>
                        <a:buNone/>
                      </a:pPr>
                      <a:r>
                        <a:rPr lang="en-US" sz="1600"/>
                        <a:t>C</a:t>
                      </a:r>
                      <a:endParaRPr/>
                    </a:p>
                  </a:txBody>
                  <a:tcPr marT="0" marB="0" marR="68525" marL="68525"/>
                </a:tc>
                <a:tc>
                  <a:txBody>
                    <a:bodyPr/>
                    <a:lstStyle/>
                    <a:p>
                      <a:pPr indent="0" lvl="0" marL="0" marR="0" rtl="0" algn="ctr">
                        <a:spcBef>
                          <a:spcPts val="0"/>
                        </a:spcBef>
                        <a:spcAft>
                          <a:spcPts val="0"/>
                        </a:spcAft>
                        <a:buNone/>
                      </a:pPr>
                      <a:r>
                        <a:rPr lang="en-US" sz="1600"/>
                        <a:t>D</a:t>
                      </a:r>
                      <a:endParaRPr/>
                    </a:p>
                  </a:txBody>
                  <a:tcPr marT="0" marB="0" marR="68525" marL="68525"/>
                </a:tc>
                <a:tc>
                  <a:txBody>
                    <a:bodyPr/>
                    <a:lstStyle/>
                    <a:p>
                      <a:pPr indent="0" lvl="0" marL="0" marR="0" rtl="0" algn="ctr">
                        <a:spcBef>
                          <a:spcPts val="0"/>
                        </a:spcBef>
                        <a:spcAft>
                          <a:spcPts val="0"/>
                        </a:spcAft>
                        <a:buNone/>
                      </a:pPr>
                      <a:r>
                        <a:rPr lang="en-US" sz="1600"/>
                        <a:t>A</a:t>
                      </a:r>
                      <a:endParaRPr/>
                    </a:p>
                  </a:txBody>
                  <a:tcPr marT="0" marB="0" marR="68525" marL="68525"/>
                </a:tc>
                <a:tc>
                  <a:txBody>
                    <a:bodyPr/>
                    <a:lstStyle/>
                    <a:p>
                      <a:pPr indent="0" lvl="0" marL="0" marR="0" rtl="0" algn="ctr">
                        <a:spcBef>
                          <a:spcPts val="0"/>
                        </a:spcBef>
                        <a:spcAft>
                          <a:spcPts val="0"/>
                        </a:spcAft>
                        <a:buNone/>
                      </a:pPr>
                      <a:r>
                        <a:rPr lang="en-US" sz="1600"/>
                        <a:t>B</a:t>
                      </a:r>
                      <a:endParaRPr/>
                    </a:p>
                  </a:txBody>
                  <a:tcPr marT="0" marB="0" marR="68525" marL="68525"/>
                </a:tc>
                <a:tc>
                  <a:txBody>
                    <a:bodyPr/>
                    <a:lstStyle/>
                    <a:p>
                      <a:pPr indent="0" lvl="0" marL="0" marR="0" rtl="0" algn="ctr">
                        <a:spcBef>
                          <a:spcPts val="0"/>
                        </a:spcBef>
                        <a:spcAft>
                          <a:spcPts val="0"/>
                        </a:spcAft>
                        <a:buNone/>
                      </a:pPr>
                      <a:r>
                        <a:rPr lang="en-US" sz="1600"/>
                        <a:t>C</a:t>
                      </a:r>
                      <a:endParaRPr/>
                    </a:p>
                  </a:txBody>
                  <a:tcPr marT="0" marB="0" marR="68525" marL="68525"/>
                </a:tc>
                <a:tc>
                  <a:txBody>
                    <a:bodyPr/>
                    <a:lstStyle/>
                    <a:p>
                      <a:pPr indent="0" lvl="0" marL="0" marR="0" rtl="0" algn="ctr">
                        <a:spcBef>
                          <a:spcPts val="0"/>
                        </a:spcBef>
                        <a:spcAft>
                          <a:spcPts val="0"/>
                        </a:spcAft>
                        <a:buNone/>
                      </a:pPr>
                      <a:r>
                        <a:rPr lang="en-US" sz="1600"/>
                        <a:t>D</a:t>
                      </a:r>
                      <a:endParaRPr/>
                    </a:p>
                  </a:txBody>
                  <a:tcPr marT="0" marB="0" marR="68525" marL="68525"/>
                </a:tc>
                <a:tc>
                  <a:txBody>
                    <a:bodyPr/>
                    <a:lstStyle/>
                    <a:p>
                      <a:pPr indent="0" lvl="0" marL="0" marR="0" rtl="0" algn="ctr">
                        <a:spcBef>
                          <a:spcPts val="0"/>
                        </a:spcBef>
                        <a:spcAft>
                          <a:spcPts val="0"/>
                        </a:spcAft>
                        <a:buNone/>
                      </a:pPr>
                      <a:r>
                        <a:rPr lang="en-US" sz="1600"/>
                        <a:t>A</a:t>
                      </a:r>
                      <a:endParaRPr/>
                    </a:p>
                  </a:txBody>
                  <a:tcPr marT="0" marB="0" marR="68525" marL="68525"/>
                </a:tc>
                <a:tc>
                  <a:txBody>
                    <a:bodyPr/>
                    <a:lstStyle/>
                    <a:p>
                      <a:pPr indent="0" lvl="0" marL="0" marR="0" rtl="0" algn="ctr">
                        <a:spcBef>
                          <a:spcPts val="0"/>
                        </a:spcBef>
                        <a:spcAft>
                          <a:spcPts val="0"/>
                        </a:spcAft>
                        <a:buNone/>
                      </a:pPr>
                      <a:r>
                        <a:rPr lang="en-US" sz="1600"/>
                        <a:t>B</a:t>
                      </a:r>
                      <a:endParaRPr/>
                    </a:p>
                  </a:txBody>
                  <a:tcPr marT="0" marB="0" marR="68525" marL="68525"/>
                </a:tc>
                <a:tc>
                  <a:txBody>
                    <a:bodyPr/>
                    <a:lstStyle/>
                    <a:p>
                      <a:pPr indent="0" lvl="0" marL="0" marR="0" rtl="0" algn="ctr">
                        <a:spcBef>
                          <a:spcPts val="0"/>
                        </a:spcBef>
                        <a:spcAft>
                          <a:spcPts val="0"/>
                        </a:spcAft>
                        <a:buNone/>
                      </a:pPr>
                      <a:r>
                        <a:rPr lang="en-US" sz="1600"/>
                        <a:t>C</a:t>
                      </a:r>
                      <a:endParaRPr/>
                    </a:p>
                  </a:txBody>
                  <a:tcPr marT="0" marB="0" marR="68525" marL="68525"/>
                </a:tc>
                <a:tc>
                  <a:txBody>
                    <a:bodyPr/>
                    <a:lstStyle/>
                    <a:p>
                      <a:pPr indent="0" lvl="0" marL="0" marR="0" rtl="0" algn="ctr">
                        <a:spcBef>
                          <a:spcPts val="0"/>
                        </a:spcBef>
                        <a:spcAft>
                          <a:spcPts val="0"/>
                        </a:spcAft>
                        <a:buNone/>
                      </a:pPr>
                      <a:r>
                        <a:rPr lang="en-US" sz="1600"/>
                        <a:t>D</a:t>
                      </a:r>
                      <a:endParaRPr/>
                    </a:p>
                  </a:txBody>
                  <a:tcPr marT="0" marB="0" marR="68525" marL="68525"/>
                </a:tc>
              </a:tr>
              <a:tr h="274100">
                <a:tc>
                  <a:txBody>
                    <a:bodyPr/>
                    <a:lstStyle/>
                    <a:p>
                      <a:pPr indent="0" lvl="0" marL="0" marR="0" rtl="0" algn="ctr">
                        <a:spcBef>
                          <a:spcPts val="0"/>
                        </a:spcBef>
                        <a:spcAft>
                          <a:spcPts val="0"/>
                        </a:spcAft>
                        <a:buNone/>
                      </a:pPr>
                      <a:r>
                        <a:rPr lang="en-US" sz="1600"/>
                        <a:t>P0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r>
              <a:tr h="548200">
                <a:tc>
                  <a:txBody>
                    <a:bodyPr/>
                    <a:lstStyle/>
                    <a:p>
                      <a:pPr indent="0" lvl="0" marL="0" marR="0" rtl="0" algn="ctr">
                        <a:spcBef>
                          <a:spcPts val="0"/>
                        </a:spcBef>
                        <a:spcAft>
                          <a:spcPts val="0"/>
                        </a:spcAft>
                        <a:buNone/>
                      </a:pPr>
                      <a:r>
                        <a:rPr lang="en-US" sz="1600"/>
                        <a:t>P1</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7</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r>
              <a:tr h="548200">
                <a:tc>
                  <a:txBody>
                    <a:bodyPr/>
                    <a:lstStyle/>
                    <a:p>
                      <a:pPr indent="0" lvl="0" marL="0" marR="0" rtl="0" algn="ctr">
                        <a:spcBef>
                          <a:spcPts val="0"/>
                        </a:spcBef>
                        <a:spcAft>
                          <a:spcPts val="0"/>
                        </a:spcAft>
                        <a:buNone/>
                      </a:pPr>
                      <a:r>
                        <a:rPr lang="en-US" sz="1600"/>
                        <a:t>P2</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3</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4</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r>
                        <a:rPr lang="en-US" sz="1600"/>
                        <a:t>3</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6</a:t>
                      </a:r>
                      <a:endParaRPr/>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r>
              <a:tr h="548200">
                <a:tc>
                  <a:txBody>
                    <a:bodyPr/>
                    <a:lstStyle/>
                    <a:p>
                      <a:pPr indent="0" lvl="0" marL="0" marR="0" rtl="0" algn="ctr">
                        <a:spcBef>
                          <a:spcPts val="0"/>
                        </a:spcBef>
                        <a:spcAft>
                          <a:spcPts val="0"/>
                        </a:spcAft>
                        <a:buNone/>
                      </a:pPr>
                      <a:r>
                        <a:rPr lang="en-US" sz="1600"/>
                        <a:t>P3</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6</a:t>
                      </a:r>
                      <a:endParaRPr/>
                    </a:p>
                  </a:txBody>
                  <a:tcPr marT="0" marB="0" marR="68525" marL="68525"/>
                </a:tc>
                <a:tc>
                  <a:txBody>
                    <a:bodyPr/>
                    <a:lstStyle/>
                    <a:p>
                      <a:pPr indent="0" lvl="0" marL="0" marR="0" rtl="0" algn="ctr">
                        <a:spcBef>
                          <a:spcPts val="0"/>
                        </a:spcBef>
                        <a:spcAft>
                          <a:spcPts val="0"/>
                        </a:spcAft>
                        <a:buNone/>
                      </a:pPr>
                      <a:r>
                        <a:rPr lang="en-US" sz="1600"/>
                        <a:t>3</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6</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r>
              <a:tr h="548200">
                <a:tc>
                  <a:txBody>
                    <a:bodyPr/>
                    <a:lstStyle/>
                    <a:p>
                      <a:pPr indent="0" lvl="0" marL="0" marR="0" rtl="0" algn="ctr">
                        <a:spcBef>
                          <a:spcPts val="0"/>
                        </a:spcBef>
                        <a:spcAft>
                          <a:spcPts val="0"/>
                        </a:spcAft>
                        <a:buNone/>
                      </a:pPr>
                      <a:r>
                        <a:rPr lang="en-US" sz="1600"/>
                        <a:t>P4</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4</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6</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6</a:t>
                      </a:r>
                      <a:endParaRPr/>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r>
                        <a:t/>
                      </a:r>
                      <a:endParaRPr sz="1600"/>
                    </a:p>
                  </a:txBody>
                  <a:tcPr marT="0" marB="0" marR="68525" marL="68525"/>
                </a:tc>
                <a:tc>
                  <a:txBody>
                    <a:bodyPr/>
                    <a:lstStyle/>
                    <a:p>
                      <a:pPr indent="0" lvl="0" marL="0" marR="0" rtl="0" algn="l">
                        <a:spcBef>
                          <a:spcPts val="0"/>
                        </a:spcBef>
                        <a:spcAft>
                          <a:spcPts val="0"/>
                        </a:spcAft>
                        <a:buNone/>
                      </a:pPr>
                      <a:r>
                        <a:t/>
                      </a:r>
                      <a:endParaRPr sz="1600"/>
                    </a:p>
                  </a:txBody>
                  <a:tcPr marT="45675" marB="45675" marR="91375" marL="91375"/>
                </a:tc>
              </a:tr>
            </a:tbl>
          </a:graphicData>
        </a:graphic>
      </p:graphicFrame>
      <p:sp>
        <p:nvSpPr>
          <p:cNvPr id="1039" name="Google Shape;1039;p8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040" name="Google Shape;1040;p8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041" name="Google Shape;1041;p8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42" name="Google Shape;1042;p87"/>
          <p:cNvSpPr/>
          <p:nvPr/>
        </p:nvSpPr>
        <p:spPr>
          <a:xfrm>
            <a:off x="457200" y="2446338"/>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Times New Roman"/>
              <a:buNone/>
            </a:pPr>
            <a:br>
              <a:rPr b="0" i="0" lang="en-US" sz="1200" u="none" cap="none" strike="noStrike">
                <a:solidFill>
                  <a:schemeClr val="dk1"/>
                </a:solidFill>
                <a:latin typeface="Times New Roman"/>
                <a:ea typeface="Times New Roman"/>
                <a:cs typeface="Times New Roman"/>
                <a:sym typeface="Times New Roman"/>
              </a:rPr>
            </a:br>
            <a:endParaRPr b="0" i="0" sz="1800" u="none" cap="none" strike="noStrike">
              <a:solidFill>
                <a:schemeClr val="dk1"/>
              </a:solidFill>
              <a:latin typeface="Arial"/>
              <a:ea typeface="Arial"/>
              <a:cs typeface="Arial"/>
              <a:sym typeface="Arial"/>
            </a:endParaRPr>
          </a:p>
        </p:txBody>
      </p:sp>
      <p:sp>
        <p:nvSpPr>
          <p:cNvPr id="1043" name="Google Shape;1043;p87"/>
          <p:cNvSpPr txBox="1"/>
          <p:nvPr/>
        </p:nvSpPr>
        <p:spPr>
          <a:xfrm>
            <a:off x="2895600" y="43190"/>
            <a:ext cx="164737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Calibri"/>
                <a:ea typeface="Calibri"/>
                <a:cs typeface="Calibri"/>
                <a:sym typeface="Calibri"/>
              </a:rPr>
              <a:t>Exercise 1</a:t>
            </a:r>
            <a:endParaRPr b="1" sz="2800">
              <a:solidFill>
                <a:schemeClr val="dk1"/>
              </a:solidFill>
              <a:latin typeface="Calibri"/>
              <a:ea typeface="Calibri"/>
              <a:cs typeface="Calibri"/>
              <a:sym typeface="Calibri"/>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88"/>
          <p:cNvSpPr txBox="1"/>
          <p:nvPr>
            <p:ph type="title"/>
          </p:nvPr>
        </p:nvSpPr>
        <p:spPr>
          <a:xfrm>
            <a:off x="228600" y="3505200"/>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2000"/>
              <a:buFont typeface="Calibri"/>
              <a:buNone/>
            </a:pPr>
            <a:br>
              <a:rPr lang="en-US" sz="2000"/>
            </a:br>
            <a:r>
              <a:rPr lang="en-US" sz="2000"/>
              <a:t>Content of the matrix need </a:t>
            </a:r>
            <a:br>
              <a:rPr lang="en-US" sz="2000"/>
            </a:br>
            <a:r>
              <a:rPr lang="en-US" sz="2000"/>
              <a:t>Step 1: in row of process P0, use formula</a:t>
            </a:r>
            <a:br>
              <a:rPr lang="en-US" sz="2000"/>
            </a:br>
            <a:r>
              <a:rPr lang="en-US" sz="2000"/>
              <a:t>Need=Max – Allocation</a:t>
            </a:r>
            <a:br>
              <a:rPr lang="en-US" sz="2000"/>
            </a:br>
            <a:r>
              <a:rPr lang="en-US" sz="2000"/>
              <a:t>Step 2: Follow step 1 above for all other processes i.e. P1, P2, P3, P4, P5.</a:t>
            </a:r>
            <a:br>
              <a:rPr lang="en-US" sz="2000"/>
            </a:br>
            <a:r>
              <a:rPr lang="en-US" sz="2000"/>
              <a:t>Result given above.</a:t>
            </a:r>
            <a:endParaRPr sz="2000"/>
          </a:p>
        </p:txBody>
      </p:sp>
      <p:graphicFrame>
        <p:nvGraphicFramePr>
          <p:cNvPr id="1049" name="Google Shape;1049;p88"/>
          <p:cNvGraphicFramePr/>
          <p:nvPr/>
        </p:nvGraphicFramePr>
        <p:xfrm>
          <a:off x="609600" y="304800"/>
          <a:ext cx="3000000" cy="3000000"/>
        </p:xfrm>
        <a:graphic>
          <a:graphicData uri="http://schemas.openxmlformats.org/drawingml/2006/table">
            <a:tbl>
              <a:tblPr bandRow="1" firstCol="1" firstRow="1">
                <a:noFill/>
                <a:tableStyleId>{81577878-F0BF-430C-8C56-D3E61FE2EFA2}</a:tableStyleId>
              </a:tblPr>
              <a:tblGrid>
                <a:gridCol w="1081775"/>
                <a:gridCol w="439325"/>
                <a:gridCol w="439325"/>
                <a:gridCol w="439325"/>
                <a:gridCol w="439325"/>
                <a:gridCol w="439325"/>
                <a:gridCol w="439325"/>
                <a:gridCol w="439325"/>
                <a:gridCol w="439325"/>
                <a:gridCol w="439325"/>
                <a:gridCol w="439325"/>
                <a:gridCol w="439325"/>
                <a:gridCol w="439325"/>
                <a:gridCol w="329475"/>
                <a:gridCol w="439325"/>
                <a:gridCol w="439325"/>
                <a:gridCol w="439325"/>
              </a:tblGrid>
              <a:tr h="182725">
                <a:tc rowSpan="2">
                  <a:txBody>
                    <a:bodyPr/>
                    <a:lstStyle/>
                    <a:p>
                      <a:pPr indent="0" lvl="0" marL="0" marR="0" rtl="0" algn="ctr">
                        <a:spcBef>
                          <a:spcPts val="0"/>
                        </a:spcBef>
                        <a:spcAft>
                          <a:spcPts val="0"/>
                        </a:spcAft>
                        <a:buNone/>
                      </a:pPr>
                      <a:r>
                        <a:rPr lang="en-US" sz="1600"/>
                        <a:t>Process</a:t>
                      </a:r>
                      <a:endParaRPr/>
                    </a:p>
                  </a:txBody>
                  <a:tcPr marT="0" marB="0" marR="68525" marL="68525"/>
                </a:tc>
                <a:tc gridSpan="4">
                  <a:txBody>
                    <a:bodyPr/>
                    <a:lstStyle/>
                    <a:p>
                      <a:pPr indent="0" lvl="0" marL="0" marR="0" rtl="0" algn="ctr">
                        <a:spcBef>
                          <a:spcPts val="0"/>
                        </a:spcBef>
                        <a:spcAft>
                          <a:spcPts val="0"/>
                        </a:spcAft>
                        <a:buNone/>
                      </a:pPr>
                      <a:r>
                        <a:rPr lang="en-US" sz="1600"/>
                        <a:t>Allocation</a:t>
                      </a:r>
                      <a:endParaRPr/>
                    </a:p>
                  </a:txBody>
                  <a:tcPr marT="0" marB="0" marR="68525" marL="68525"/>
                </a:tc>
                <a:tc hMerge="1"/>
                <a:tc hMerge="1"/>
                <a:tc hMerge="1"/>
                <a:tc gridSpan="4">
                  <a:txBody>
                    <a:bodyPr/>
                    <a:lstStyle/>
                    <a:p>
                      <a:pPr indent="0" lvl="0" marL="0" marR="0" rtl="0" algn="ctr">
                        <a:spcBef>
                          <a:spcPts val="0"/>
                        </a:spcBef>
                        <a:spcAft>
                          <a:spcPts val="0"/>
                        </a:spcAft>
                        <a:buNone/>
                      </a:pPr>
                      <a:r>
                        <a:rPr lang="en-US" sz="1600"/>
                        <a:t>Max</a:t>
                      </a:r>
                      <a:endParaRPr/>
                    </a:p>
                  </a:txBody>
                  <a:tcPr marT="0" marB="0" marR="68525" marL="68525"/>
                </a:tc>
                <a:tc hMerge="1"/>
                <a:tc hMerge="1"/>
                <a:tc hMerge="1"/>
                <a:tc gridSpan="4">
                  <a:txBody>
                    <a:bodyPr/>
                    <a:lstStyle/>
                    <a:p>
                      <a:pPr indent="0" lvl="0" marL="0" marR="0" rtl="0" algn="ctr">
                        <a:spcBef>
                          <a:spcPts val="0"/>
                        </a:spcBef>
                        <a:spcAft>
                          <a:spcPts val="0"/>
                        </a:spcAft>
                        <a:buNone/>
                      </a:pPr>
                      <a:r>
                        <a:rPr lang="en-US" sz="1600"/>
                        <a:t>Available</a:t>
                      </a:r>
                      <a:endParaRPr/>
                    </a:p>
                  </a:txBody>
                  <a:tcPr marT="0" marB="0" marR="68525" marL="68525"/>
                </a:tc>
                <a:tc hMerge="1"/>
                <a:tc hMerge="1"/>
                <a:tc hMerge="1"/>
                <a:tc gridSpan="4">
                  <a:txBody>
                    <a:bodyPr/>
                    <a:lstStyle/>
                    <a:p>
                      <a:pPr indent="0" lvl="0" marL="0" marR="0" rtl="0" algn="ctr">
                        <a:spcBef>
                          <a:spcPts val="0"/>
                        </a:spcBef>
                        <a:spcAft>
                          <a:spcPts val="0"/>
                        </a:spcAft>
                        <a:buNone/>
                      </a:pPr>
                      <a:r>
                        <a:rPr lang="en-US" sz="1600"/>
                        <a:t>Need</a:t>
                      </a:r>
                      <a:endParaRPr sz="1600"/>
                    </a:p>
                  </a:txBody>
                  <a:tcPr marT="0" marB="0" marR="68525" marL="68525"/>
                </a:tc>
                <a:tc hMerge="1"/>
                <a:tc hMerge="1"/>
                <a:tc hMerge="1"/>
              </a:tr>
              <a:tr h="182725">
                <a:tc vMerge="1"/>
                <a:tc>
                  <a:txBody>
                    <a:bodyPr/>
                    <a:lstStyle/>
                    <a:p>
                      <a:pPr indent="0" lvl="0" marL="0" marR="0" rtl="0" algn="ctr">
                        <a:spcBef>
                          <a:spcPts val="0"/>
                        </a:spcBef>
                        <a:spcAft>
                          <a:spcPts val="0"/>
                        </a:spcAft>
                        <a:buNone/>
                      </a:pPr>
                      <a:r>
                        <a:rPr lang="en-US" sz="1600"/>
                        <a:t>A</a:t>
                      </a:r>
                      <a:endParaRPr/>
                    </a:p>
                  </a:txBody>
                  <a:tcPr marT="0" marB="0" marR="68525" marL="68525"/>
                </a:tc>
                <a:tc>
                  <a:txBody>
                    <a:bodyPr/>
                    <a:lstStyle/>
                    <a:p>
                      <a:pPr indent="0" lvl="0" marL="0" marR="0" rtl="0" algn="ctr">
                        <a:spcBef>
                          <a:spcPts val="0"/>
                        </a:spcBef>
                        <a:spcAft>
                          <a:spcPts val="0"/>
                        </a:spcAft>
                        <a:buNone/>
                      </a:pPr>
                      <a:r>
                        <a:rPr lang="en-US" sz="1600"/>
                        <a:t>B</a:t>
                      </a:r>
                      <a:endParaRPr/>
                    </a:p>
                  </a:txBody>
                  <a:tcPr marT="0" marB="0" marR="68525" marL="68525"/>
                </a:tc>
                <a:tc>
                  <a:txBody>
                    <a:bodyPr/>
                    <a:lstStyle/>
                    <a:p>
                      <a:pPr indent="0" lvl="0" marL="0" marR="0" rtl="0" algn="ctr">
                        <a:spcBef>
                          <a:spcPts val="0"/>
                        </a:spcBef>
                        <a:spcAft>
                          <a:spcPts val="0"/>
                        </a:spcAft>
                        <a:buNone/>
                      </a:pPr>
                      <a:r>
                        <a:rPr lang="en-US" sz="1600"/>
                        <a:t>C</a:t>
                      </a:r>
                      <a:endParaRPr/>
                    </a:p>
                  </a:txBody>
                  <a:tcPr marT="0" marB="0" marR="68525" marL="68525"/>
                </a:tc>
                <a:tc>
                  <a:txBody>
                    <a:bodyPr/>
                    <a:lstStyle/>
                    <a:p>
                      <a:pPr indent="0" lvl="0" marL="0" marR="0" rtl="0" algn="ctr">
                        <a:spcBef>
                          <a:spcPts val="0"/>
                        </a:spcBef>
                        <a:spcAft>
                          <a:spcPts val="0"/>
                        </a:spcAft>
                        <a:buNone/>
                      </a:pPr>
                      <a:r>
                        <a:rPr lang="en-US" sz="1600"/>
                        <a:t>D</a:t>
                      </a:r>
                      <a:endParaRPr/>
                    </a:p>
                  </a:txBody>
                  <a:tcPr marT="0" marB="0" marR="68525" marL="68525"/>
                </a:tc>
                <a:tc>
                  <a:txBody>
                    <a:bodyPr/>
                    <a:lstStyle/>
                    <a:p>
                      <a:pPr indent="0" lvl="0" marL="0" marR="0" rtl="0" algn="ctr">
                        <a:spcBef>
                          <a:spcPts val="0"/>
                        </a:spcBef>
                        <a:spcAft>
                          <a:spcPts val="0"/>
                        </a:spcAft>
                        <a:buNone/>
                      </a:pPr>
                      <a:r>
                        <a:rPr lang="en-US" sz="1600"/>
                        <a:t>A</a:t>
                      </a:r>
                      <a:endParaRPr/>
                    </a:p>
                  </a:txBody>
                  <a:tcPr marT="0" marB="0" marR="68525" marL="68525"/>
                </a:tc>
                <a:tc>
                  <a:txBody>
                    <a:bodyPr/>
                    <a:lstStyle/>
                    <a:p>
                      <a:pPr indent="0" lvl="0" marL="0" marR="0" rtl="0" algn="ctr">
                        <a:spcBef>
                          <a:spcPts val="0"/>
                        </a:spcBef>
                        <a:spcAft>
                          <a:spcPts val="0"/>
                        </a:spcAft>
                        <a:buNone/>
                      </a:pPr>
                      <a:r>
                        <a:rPr lang="en-US" sz="1600"/>
                        <a:t>B</a:t>
                      </a:r>
                      <a:endParaRPr/>
                    </a:p>
                  </a:txBody>
                  <a:tcPr marT="0" marB="0" marR="68525" marL="68525"/>
                </a:tc>
                <a:tc>
                  <a:txBody>
                    <a:bodyPr/>
                    <a:lstStyle/>
                    <a:p>
                      <a:pPr indent="0" lvl="0" marL="0" marR="0" rtl="0" algn="ctr">
                        <a:spcBef>
                          <a:spcPts val="0"/>
                        </a:spcBef>
                        <a:spcAft>
                          <a:spcPts val="0"/>
                        </a:spcAft>
                        <a:buNone/>
                      </a:pPr>
                      <a:r>
                        <a:rPr lang="en-US" sz="1600"/>
                        <a:t>C</a:t>
                      </a:r>
                      <a:endParaRPr/>
                    </a:p>
                  </a:txBody>
                  <a:tcPr marT="0" marB="0" marR="68525" marL="68525"/>
                </a:tc>
                <a:tc>
                  <a:txBody>
                    <a:bodyPr/>
                    <a:lstStyle/>
                    <a:p>
                      <a:pPr indent="0" lvl="0" marL="0" marR="0" rtl="0" algn="ctr">
                        <a:spcBef>
                          <a:spcPts val="0"/>
                        </a:spcBef>
                        <a:spcAft>
                          <a:spcPts val="0"/>
                        </a:spcAft>
                        <a:buNone/>
                      </a:pPr>
                      <a:r>
                        <a:rPr lang="en-US" sz="1600"/>
                        <a:t>D</a:t>
                      </a:r>
                      <a:endParaRPr/>
                    </a:p>
                  </a:txBody>
                  <a:tcPr marT="0" marB="0" marR="68525" marL="68525"/>
                </a:tc>
                <a:tc>
                  <a:txBody>
                    <a:bodyPr/>
                    <a:lstStyle/>
                    <a:p>
                      <a:pPr indent="0" lvl="0" marL="0" marR="0" rtl="0" algn="ctr">
                        <a:spcBef>
                          <a:spcPts val="0"/>
                        </a:spcBef>
                        <a:spcAft>
                          <a:spcPts val="0"/>
                        </a:spcAft>
                        <a:buNone/>
                      </a:pPr>
                      <a:r>
                        <a:rPr lang="en-US" sz="1600"/>
                        <a:t>A</a:t>
                      </a:r>
                      <a:endParaRPr/>
                    </a:p>
                  </a:txBody>
                  <a:tcPr marT="0" marB="0" marR="68525" marL="68525"/>
                </a:tc>
                <a:tc>
                  <a:txBody>
                    <a:bodyPr/>
                    <a:lstStyle/>
                    <a:p>
                      <a:pPr indent="0" lvl="0" marL="0" marR="0" rtl="0" algn="ctr">
                        <a:spcBef>
                          <a:spcPts val="0"/>
                        </a:spcBef>
                        <a:spcAft>
                          <a:spcPts val="0"/>
                        </a:spcAft>
                        <a:buNone/>
                      </a:pPr>
                      <a:r>
                        <a:rPr lang="en-US" sz="1600"/>
                        <a:t>B</a:t>
                      </a:r>
                      <a:endParaRPr/>
                    </a:p>
                  </a:txBody>
                  <a:tcPr marT="0" marB="0" marR="68525" marL="68525"/>
                </a:tc>
                <a:tc>
                  <a:txBody>
                    <a:bodyPr/>
                    <a:lstStyle/>
                    <a:p>
                      <a:pPr indent="0" lvl="0" marL="0" marR="0" rtl="0" algn="ctr">
                        <a:spcBef>
                          <a:spcPts val="0"/>
                        </a:spcBef>
                        <a:spcAft>
                          <a:spcPts val="0"/>
                        </a:spcAft>
                        <a:buNone/>
                      </a:pPr>
                      <a:r>
                        <a:rPr lang="en-US" sz="1600"/>
                        <a:t>C</a:t>
                      </a:r>
                      <a:endParaRPr/>
                    </a:p>
                  </a:txBody>
                  <a:tcPr marT="0" marB="0" marR="68525" marL="68525"/>
                </a:tc>
                <a:tc>
                  <a:txBody>
                    <a:bodyPr/>
                    <a:lstStyle/>
                    <a:p>
                      <a:pPr indent="0" lvl="0" marL="0" marR="0" rtl="0" algn="ctr">
                        <a:spcBef>
                          <a:spcPts val="0"/>
                        </a:spcBef>
                        <a:spcAft>
                          <a:spcPts val="0"/>
                        </a:spcAft>
                        <a:buNone/>
                      </a:pPr>
                      <a:r>
                        <a:rPr lang="en-US" sz="1600"/>
                        <a:t>D</a:t>
                      </a:r>
                      <a:endParaRPr/>
                    </a:p>
                  </a:txBody>
                  <a:tcPr marT="0" marB="0" marR="68525" marL="68525"/>
                </a:tc>
                <a:tc>
                  <a:txBody>
                    <a:bodyPr/>
                    <a:lstStyle/>
                    <a:p>
                      <a:pPr indent="0" lvl="0" marL="0" marR="0" rtl="0" algn="ctr">
                        <a:spcBef>
                          <a:spcPts val="0"/>
                        </a:spcBef>
                        <a:spcAft>
                          <a:spcPts val="0"/>
                        </a:spcAft>
                        <a:buNone/>
                      </a:pPr>
                      <a:r>
                        <a:rPr lang="en-US" sz="1600"/>
                        <a:t>A</a:t>
                      </a:r>
                      <a:endParaRPr sz="1600"/>
                    </a:p>
                  </a:txBody>
                  <a:tcPr marT="0" marB="0" marR="68525" marL="68525"/>
                </a:tc>
                <a:tc>
                  <a:txBody>
                    <a:bodyPr/>
                    <a:lstStyle/>
                    <a:p>
                      <a:pPr indent="0" lvl="0" marL="0" marR="0" rtl="0" algn="ctr">
                        <a:spcBef>
                          <a:spcPts val="0"/>
                        </a:spcBef>
                        <a:spcAft>
                          <a:spcPts val="0"/>
                        </a:spcAft>
                        <a:buNone/>
                      </a:pPr>
                      <a:r>
                        <a:rPr lang="en-US" sz="1600"/>
                        <a:t>B</a:t>
                      </a:r>
                      <a:endParaRPr sz="1600"/>
                    </a:p>
                  </a:txBody>
                  <a:tcPr marT="0" marB="0" marR="68525" marL="68525"/>
                </a:tc>
                <a:tc>
                  <a:txBody>
                    <a:bodyPr/>
                    <a:lstStyle/>
                    <a:p>
                      <a:pPr indent="0" lvl="0" marL="0" marR="0" rtl="0" algn="ctr">
                        <a:spcBef>
                          <a:spcPts val="0"/>
                        </a:spcBef>
                        <a:spcAft>
                          <a:spcPts val="0"/>
                        </a:spcAft>
                        <a:buNone/>
                      </a:pPr>
                      <a:r>
                        <a:rPr lang="en-US" sz="1600"/>
                        <a:t>C</a:t>
                      </a:r>
                      <a:endParaRPr sz="1600"/>
                    </a:p>
                  </a:txBody>
                  <a:tcPr marT="0" marB="0" marR="68525" marL="68525"/>
                </a:tc>
                <a:tc>
                  <a:txBody>
                    <a:bodyPr/>
                    <a:lstStyle/>
                    <a:p>
                      <a:pPr indent="0" lvl="0" marL="0" marR="0" rtl="0" algn="ctr">
                        <a:spcBef>
                          <a:spcPts val="0"/>
                        </a:spcBef>
                        <a:spcAft>
                          <a:spcPts val="0"/>
                        </a:spcAft>
                        <a:buNone/>
                      </a:pPr>
                      <a:r>
                        <a:rPr lang="en-US" sz="1600"/>
                        <a:t>D</a:t>
                      </a:r>
                      <a:endParaRPr sz="1600"/>
                    </a:p>
                  </a:txBody>
                  <a:tcPr marT="0" marB="0" marR="68525" marL="68525"/>
                </a:tc>
              </a:tr>
              <a:tr h="274100">
                <a:tc>
                  <a:txBody>
                    <a:bodyPr/>
                    <a:lstStyle/>
                    <a:p>
                      <a:pPr indent="0" lvl="0" marL="0" marR="0" rtl="0" algn="ctr">
                        <a:spcBef>
                          <a:spcPts val="0"/>
                        </a:spcBef>
                        <a:spcAft>
                          <a:spcPts val="0"/>
                        </a:spcAft>
                        <a:buNone/>
                      </a:pPr>
                      <a:r>
                        <a:rPr lang="en-US" sz="1600"/>
                        <a:t>P0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r>
              <a:tr h="548200">
                <a:tc>
                  <a:txBody>
                    <a:bodyPr/>
                    <a:lstStyle/>
                    <a:p>
                      <a:pPr indent="0" lvl="0" marL="0" marR="0" rtl="0" algn="ctr">
                        <a:spcBef>
                          <a:spcPts val="0"/>
                        </a:spcBef>
                        <a:spcAft>
                          <a:spcPts val="0"/>
                        </a:spcAft>
                        <a:buNone/>
                      </a:pPr>
                      <a:r>
                        <a:rPr lang="en-US" sz="1600"/>
                        <a:t>P1</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7</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7</a:t>
                      </a:r>
                      <a:endParaRPr sz="1600"/>
                    </a:p>
                  </a:txBody>
                  <a:tcPr marT="0" marB="0" marR="68525" marL="68525"/>
                </a:tc>
                <a:tc>
                  <a:txBody>
                    <a:bodyPr/>
                    <a:lstStyle/>
                    <a:p>
                      <a:pPr indent="0" lvl="0" marL="0" marR="0" rtl="0" algn="ctr">
                        <a:spcBef>
                          <a:spcPts val="0"/>
                        </a:spcBef>
                        <a:spcAft>
                          <a:spcPts val="0"/>
                        </a:spcAft>
                        <a:buNone/>
                      </a:pPr>
                      <a:r>
                        <a:rPr lang="en-US" sz="1600"/>
                        <a:t>5</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r>
              <a:tr h="548200">
                <a:tc>
                  <a:txBody>
                    <a:bodyPr/>
                    <a:lstStyle/>
                    <a:p>
                      <a:pPr indent="0" lvl="0" marL="0" marR="0" rtl="0" algn="ctr">
                        <a:spcBef>
                          <a:spcPts val="0"/>
                        </a:spcBef>
                        <a:spcAft>
                          <a:spcPts val="0"/>
                        </a:spcAft>
                        <a:buNone/>
                      </a:pPr>
                      <a:r>
                        <a:rPr lang="en-US" sz="1600"/>
                        <a:t>P2</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3</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4</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r>
                        <a:rPr lang="en-US" sz="1600"/>
                        <a:t>3</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6</a:t>
                      </a:r>
                      <a:endParaRPr/>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r>
                        <a:rPr lang="en-US" sz="1600"/>
                        <a:t>1</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2</a:t>
                      </a:r>
                      <a:endParaRPr sz="1600"/>
                    </a:p>
                  </a:txBody>
                  <a:tcPr marT="0" marB="0" marR="68525" marL="68525"/>
                </a:tc>
              </a:tr>
              <a:tr h="548200">
                <a:tc>
                  <a:txBody>
                    <a:bodyPr/>
                    <a:lstStyle/>
                    <a:p>
                      <a:pPr indent="0" lvl="0" marL="0" marR="0" rtl="0" algn="ctr">
                        <a:spcBef>
                          <a:spcPts val="0"/>
                        </a:spcBef>
                        <a:spcAft>
                          <a:spcPts val="0"/>
                        </a:spcAft>
                        <a:buNone/>
                      </a:pPr>
                      <a:r>
                        <a:rPr lang="en-US" sz="1600"/>
                        <a:t>P3</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6</a:t>
                      </a:r>
                      <a:endParaRPr/>
                    </a:p>
                  </a:txBody>
                  <a:tcPr marT="0" marB="0" marR="68525" marL="68525"/>
                </a:tc>
                <a:tc>
                  <a:txBody>
                    <a:bodyPr/>
                    <a:lstStyle/>
                    <a:p>
                      <a:pPr indent="0" lvl="0" marL="0" marR="0" rtl="0" algn="ctr">
                        <a:spcBef>
                          <a:spcPts val="0"/>
                        </a:spcBef>
                        <a:spcAft>
                          <a:spcPts val="0"/>
                        </a:spcAft>
                        <a:buNone/>
                      </a:pPr>
                      <a:r>
                        <a:rPr lang="en-US" sz="1600"/>
                        <a:t>3</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6</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2</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r>
              <a:tr h="548200">
                <a:tc>
                  <a:txBody>
                    <a:bodyPr/>
                    <a:lstStyle/>
                    <a:p>
                      <a:pPr indent="0" lvl="0" marL="0" marR="0" rtl="0" algn="ctr">
                        <a:spcBef>
                          <a:spcPts val="0"/>
                        </a:spcBef>
                        <a:spcAft>
                          <a:spcPts val="0"/>
                        </a:spcAft>
                        <a:buNone/>
                      </a:pPr>
                      <a:r>
                        <a:rPr lang="en-US" sz="1600"/>
                        <a:t>P4</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4</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6</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6</a:t>
                      </a:r>
                      <a:endParaRPr/>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r>
                        <a:t/>
                      </a:r>
                      <a:endParaRPr sz="1600"/>
                    </a:p>
                  </a:txBody>
                  <a:tcPr marT="0" marB="0" marR="68525" marL="68525"/>
                </a:tc>
                <a:tc>
                  <a:txBody>
                    <a:bodyPr/>
                    <a:lstStyle/>
                    <a:p>
                      <a:pPr indent="0" lvl="0" marL="0" marR="0" rtl="0" algn="l">
                        <a:spcBef>
                          <a:spcPts val="0"/>
                        </a:spcBef>
                        <a:spcAft>
                          <a:spcPts val="0"/>
                        </a:spcAft>
                        <a:buNone/>
                      </a:pPr>
                      <a:r>
                        <a:t/>
                      </a:r>
                      <a:endParaRPr sz="1600"/>
                    </a:p>
                  </a:txBody>
                  <a:tcPr marT="45675" marB="45675" marR="91375" marL="91375"/>
                </a:tc>
                <a:tc>
                  <a:txBody>
                    <a:bodyPr/>
                    <a:lstStyle/>
                    <a:p>
                      <a:pPr indent="0" lvl="0" marL="0" marR="0" rtl="0" algn="l">
                        <a:spcBef>
                          <a:spcPts val="0"/>
                        </a:spcBef>
                        <a:spcAft>
                          <a:spcPts val="0"/>
                        </a:spcAft>
                        <a:buNone/>
                      </a:pPr>
                      <a:r>
                        <a:rPr lang="en-US" sz="1600"/>
                        <a:t>0</a:t>
                      </a:r>
                      <a:endParaRPr sz="1600"/>
                    </a:p>
                  </a:txBody>
                  <a:tcPr marT="45675" marB="45675" marR="91375" marL="91375"/>
                </a:tc>
                <a:tc>
                  <a:txBody>
                    <a:bodyPr/>
                    <a:lstStyle/>
                    <a:p>
                      <a:pPr indent="0" lvl="0" marL="0" marR="0" rtl="0" algn="l">
                        <a:spcBef>
                          <a:spcPts val="0"/>
                        </a:spcBef>
                        <a:spcAft>
                          <a:spcPts val="0"/>
                        </a:spcAft>
                        <a:buNone/>
                      </a:pPr>
                      <a:r>
                        <a:rPr lang="en-US" sz="1600"/>
                        <a:t>6</a:t>
                      </a:r>
                      <a:endParaRPr sz="1600"/>
                    </a:p>
                  </a:txBody>
                  <a:tcPr marT="45675" marB="45675" marR="91375" marL="91375"/>
                </a:tc>
                <a:tc>
                  <a:txBody>
                    <a:bodyPr/>
                    <a:lstStyle/>
                    <a:p>
                      <a:pPr indent="0" lvl="0" marL="0" marR="0" rtl="0" algn="l">
                        <a:spcBef>
                          <a:spcPts val="0"/>
                        </a:spcBef>
                        <a:spcAft>
                          <a:spcPts val="0"/>
                        </a:spcAft>
                        <a:buNone/>
                      </a:pPr>
                      <a:r>
                        <a:rPr lang="en-US" sz="1600"/>
                        <a:t>4</a:t>
                      </a:r>
                      <a:endParaRPr sz="1600"/>
                    </a:p>
                  </a:txBody>
                  <a:tcPr marT="45675" marB="45675" marR="91375" marL="91375"/>
                </a:tc>
                <a:tc>
                  <a:txBody>
                    <a:bodyPr/>
                    <a:lstStyle/>
                    <a:p>
                      <a:pPr indent="0" lvl="0" marL="0" marR="0" rtl="0" algn="l">
                        <a:spcBef>
                          <a:spcPts val="0"/>
                        </a:spcBef>
                        <a:spcAft>
                          <a:spcPts val="0"/>
                        </a:spcAft>
                        <a:buNone/>
                      </a:pPr>
                      <a:r>
                        <a:rPr lang="en-US" sz="1600"/>
                        <a:t>2</a:t>
                      </a:r>
                      <a:endParaRPr sz="1600"/>
                    </a:p>
                  </a:txBody>
                  <a:tcPr marT="45675" marB="45675" marR="91375" marL="91375"/>
                </a:tc>
              </a:tr>
            </a:tbl>
          </a:graphicData>
        </a:graphic>
      </p:graphicFrame>
      <p:sp>
        <p:nvSpPr>
          <p:cNvPr id="1050" name="Google Shape;1050;p8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051" name="Google Shape;1051;p8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052" name="Google Shape;1052;p8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53" name="Google Shape;1053;p88"/>
          <p:cNvSpPr/>
          <p:nvPr/>
        </p:nvSpPr>
        <p:spPr>
          <a:xfrm>
            <a:off x="457200" y="2446338"/>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Times New Roman"/>
              <a:buNone/>
            </a:pPr>
            <a:br>
              <a:rPr b="0" i="0" lang="en-US" sz="1200" u="none" cap="none" strike="noStrike">
                <a:solidFill>
                  <a:schemeClr val="dk1"/>
                </a:solidFill>
                <a:latin typeface="Times New Roman"/>
                <a:ea typeface="Times New Roman"/>
                <a:cs typeface="Times New Roman"/>
                <a:sym typeface="Times New Roman"/>
              </a:rPr>
            </a:b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89"/>
          <p:cNvSpPr txBox="1"/>
          <p:nvPr>
            <p:ph type="title"/>
          </p:nvPr>
        </p:nvSpPr>
        <p:spPr>
          <a:xfrm>
            <a:off x="152400" y="4191000"/>
            <a:ext cx="38862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2000"/>
              <a:buFont typeface="Calibri"/>
              <a:buNone/>
            </a:pPr>
            <a:br>
              <a:rPr lang="en-US" sz="2000"/>
            </a:br>
            <a:r>
              <a:rPr lang="en-US" sz="2000"/>
              <a:t>Work=[1,5,2,0]</a:t>
            </a:r>
            <a:br>
              <a:rPr lang="en-US" sz="2000"/>
            </a:br>
            <a:r>
              <a:rPr lang="en-US" sz="2000"/>
              <a:t>For P) Need ≤  Work, so Safe Sequence=&lt;P0&gt;</a:t>
            </a:r>
            <a:br>
              <a:rPr lang="en-US" sz="2000"/>
            </a:br>
            <a:r>
              <a:rPr lang="en-US" sz="2000"/>
              <a:t>Work=[1,5,2,0]+[0,0,1,2]</a:t>
            </a:r>
            <a:br>
              <a:rPr lang="en-US" sz="2000"/>
            </a:br>
            <a:r>
              <a:rPr lang="en-US" sz="2000"/>
              <a:t>Work=[1,5,3,2]</a:t>
            </a:r>
            <a:br>
              <a:rPr lang="en-US" sz="2000"/>
            </a:br>
            <a:r>
              <a:rPr lang="en-US" sz="2000"/>
              <a:t>For P1, Need is not ≤  Work</a:t>
            </a:r>
            <a:br>
              <a:rPr lang="en-US" sz="2000"/>
            </a:br>
            <a:r>
              <a:rPr lang="en-US" sz="2000"/>
              <a:t>P1 must wait</a:t>
            </a:r>
            <a:br>
              <a:rPr lang="en-US" sz="2000"/>
            </a:br>
            <a:r>
              <a:rPr lang="en-US" sz="2000"/>
              <a:t>For P2, Need ≤  Work i.e. [1,0,0,2]&lt;[1,5,3,2]</a:t>
            </a:r>
            <a:br>
              <a:rPr lang="en-US" sz="2000"/>
            </a:br>
            <a:r>
              <a:rPr lang="en-US" sz="2000"/>
              <a:t>So Safe Sequence=&lt;P0,P2&gt;</a:t>
            </a:r>
            <a:br>
              <a:rPr lang="en-US" sz="2000"/>
            </a:br>
            <a:r>
              <a:rPr lang="en-US" sz="2000"/>
              <a:t>Work=[1,5,3,2]+[1,3,5,4]</a:t>
            </a:r>
            <a:br>
              <a:rPr lang="en-US" sz="2000"/>
            </a:br>
            <a:r>
              <a:rPr lang="en-US" sz="2000"/>
              <a:t>=[2,8,8,6]</a:t>
            </a:r>
            <a:br>
              <a:rPr lang="en-US" sz="2000"/>
            </a:br>
            <a:endParaRPr sz="2000"/>
          </a:p>
        </p:txBody>
      </p:sp>
      <p:graphicFrame>
        <p:nvGraphicFramePr>
          <p:cNvPr id="1059" name="Google Shape;1059;p89"/>
          <p:cNvGraphicFramePr/>
          <p:nvPr/>
        </p:nvGraphicFramePr>
        <p:xfrm>
          <a:off x="533400" y="13855"/>
          <a:ext cx="3000000" cy="3000000"/>
        </p:xfrm>
        <a:graphic>
          <a:graphicData uri="http://schemas.openxmlformats.org/drawingml/2006/table">
            <a:tbl>
              <a:tblPr bandRow="1" firstCol="1" firstRow="1">
                <a:noFill/>
                <a:tableStyleId>{81577878-F0BF-430C-8C56-D3E61FE2EFA2}</a:tableStyleId>
              </a:tblPr>
              <a:tblGrid>
                <a:gridCol w="1081775"/>
                <a:gridCol w="439325"/>
                <a:gridCol w="439325"/>
                <a:gridCol w="439325"/>
                <a:gridCol w="439325"/>
                <a:gridCol w="439325"/>
                <a:gridCol w="439325"/>
                <a:gridCol w="439325"/>
                <a:gridCol w="439325"/>
                <a:gridCol w="439325"/>
                <a:gridCol w="439325"/>
                <a:gridCol w="439325"/>
                <a:gridCol w="439325"/>
                <a:gridCol w="329475"/>
                <a:gridCol w="439325"/>
                <a:gridCol w="439325"/>
                <a:gridCol w="439325"/>
              </a:tblGrid>
              <a:tr h="214750">
                <a:tc rowSpan="2">
                  <a:txBody>
                    <a:bodyPr/>
                    <a:lstStyle/>
                    <a:p>
                      <a:pPr indent="0" lvl="0" marL="0" marR="0" rtl="0" algn="ctr">
                        <a:spcBef>
                          <a:spcPts val="0"/>
                        </a:spcBef>
                        <a:spcAft>
                          <a:spcPts val="0"/>
                        </a:spcAft>
                        <a:buNone/>
                      </a:pPr>
                      <a:r>
                        <a:rPr lang="en-US" sz="1600"/>
                        <a:t>Process</a:t>
                      </a:r>
                      <a:endParaRPr/>
                    </a:p>
                  </a:txBody>
                  <a:tcPr marT="0" marB="0" marR="68525" marL="68525"/>
                </a:tc>
                <a:tc gridSpan="4">
                  <a:txBody>
                    <a:bodyPr/>
                    <a:lstStyle/>
                    <a:p>
                      <a:pPr indent="0" lvl="0" marL="0" marR="0" rtl="0" algn="ctr">
                        <a:spcBef>
                          <a:spcPts val="0"/>
                        </a:spcBef>
                        <a:spcAft>
                          <a:spcPts val="0"/>
                        </a:spcAft>
                        <a:buNone/>
                      </a:pPr>
                      <a:r>
                        <a:rPr lang="en-US" sz="1600"/>
                        <a:t>Allocation</a:t>
                      </a:r>
                      <a:endParaRPr/>
                    </a:p>
                  </a:txBody>
                  <a:tcPr marT="0" marB="0" marR="68525" marL="68525"/>
                </a:tc>
                <a:tc hMerge="1"/>
                <a:tc hMerge="1"/>
                <a:tc hMerge="1"/>
                <a:tc gridSpan="4">
                  <a:txBody>
                    <a:bodyPr/>
                    <a:lstStyle/>
                    <a:p>
                      <a:pPr indent="0" lvl="0" marL="0" marR="0" rtl="0" algn="ctr">
                        <a:spcBef>
                          <a:spcPts val="0"/>
                        </a:spcBef>
                        <a:spcAft>
                          <a:spcPts val="0"/>
                        </a:spcAft>
                        <a:buNone/>
                      </a:pPr>
                      <a:r>
                        <a:rPr lang="en-US" sz="1600"/>
                        <a:t>Max</a:t>
                      </a:r>
                      <a:endParaRPr/>
                    </a:p>
                  </a:txBody>
                  <a:tcPr marT="0" marB="0" marR="68525" marL="68525"/>
                </a:tc>
                <a:tc hMerge="1"/>
                <a:tc hMerge="1"/>
                <a:tc hMerge="1"/>
                <a:tc gridSpan="4">
                  <a:txBody>
                    <a:bodyPr/>
                    <a:lstStyle/>
                    <a:p>
                      <a:pPr indent="0" lvl="0" marL="0" marR="0" rtl="0" algn="ctr">
                        <a:spcBef>
                          <a:spcPts val="0"/>
                        </a:spcBef>
                        <a:spcAft>
                          <a:spcPts val="0"/>
                        </a:spcAft>
                        <a:buNone/>
                      </a:pPr>
                      <a:r>
                        <a:rPr lang="en-US" sz="1600"/>
                        <a:t>Available</a:t>
                      </a:r>
                      <a:endParaRPr/>
                    </a:p>
                  </a:txBody>
                  <a:tcPr marT="0" marB="0" marR="68525" marL="68525"/>
                </a:tc>
                <a:tc hMerge="1"/>
                <a:tc hMerge="1"/>
                <a:tc hMerge="1"/>
                <a:tc gridSpan="4">
                  <a:txBody>
                    <a:bodyPr/>
                    <a:lstStyle/>
                    <a:p>
                      <a:pPr indent="0" lvl="0" marL="0" marR="0" rtl="0" algn="ctr">
                        <a:spcBef>
                          <a:spcPts val="0"/>
                        </a:spcBef>
                        <a:spcAft>
                          <a:spcPts val="0"/>
                        </a:spcAft>
                        <a:buNone/>
                      </a:pPr>
                      <a:r>
                        <a:rPr lang="en-US" sz="1600"/>
                        <a:t>Need</a:t>
                      </a:r>
                      <a:endParaRPr sz="1600"/>
                    </a:p>
                  </a:txBody>
                  <a:tcPr marT="0" marB="0" marR="68525" marL="68525"/>
                </a:tc>
                <a:tc hMerge="1"/>
                <a:tc hMerge="1"/>
                <a:tc hMerge="1"/>
              </a:tr>
              <a:tr h="214750">
                <a:tc vMerge="1"/>
                <a:tc>
                  <a:txBody>
                    <a:bodyPr/>
                    <a:lstStyle/>
                    <a:p>
                      <a:pPr indent="0" lvl="0" marL="0" marR="0" rtl="0" algn="ctr">
                        <a:spcBef>
                          <a:spcPts val="0"/>
                        </a:spcBef>
                        <a:spcAft>
                          <a:spcPts val="0"/>
                        </a:spcAft>
                        <a:buNone/>
                      </a:pPr>
                      <a:r>
                        <a:rPr lang="en-US" sz="1600"/>
                        <a:t>A</a:t>
                      </a:r>
                      <a:endParaRPr/>
                    </a:p>
                  </a:txBody>
                  <a:tcPr marT="0" marB="0" marR="68525" marL="68525"/>
                </a:tc>
                <a:tc>
                  <a:txBody>
                    <a:bodyPr/>
                    <a:lstStyle/>
                    <a:p>
                      <a:pPr indent="0" lvl="0" marL="0" marR="0" rtl="0" algn="ctr">
                        <a:spcBef>
                          <a:spcPts val="0"/>
                        </a:spcBef>
                        <a:spcAft>
                          <a:spcPts val="0"/>
                        </a:spcAft>
                        <a:buNone/>
                      </a:pPr>
                      <a:r>
                        <a:rPr lang="en-US" sz="1600"/>
                        <a:t>B</a:t>
                      </a:r>
                      <a:endParaRPr/>
                    </a:p>
                  </a:txBody>
                  <a:tcPr marT="0" marB="0" marR="68525" marL="68525"/>
                </a:tc>
                <a:tc>
                  <a:txBody>
                    <a:bodyPr/>
                    <a:lstStyle/>
                    <a:p>
                      <a:pPr indent="0" lvl="0" marL="0" marR="0" rtl="0" algn="ctr">
                        <a:spcBef>
                          <a:spcPts val="0"/>
                        </a:spcBef>
                        <a:spcAft>
                          <a:spcPts val="0"/>
                        </a:spcAft>
                        <a:buNone/>
                      </a:pPr>
                      <a:r>
                        <a:rPr lang="en-US" sz="1600"/>
                        <a:t>C</a:t>
                      </a:r>
                      <a:endParaRPr/>
                    </a:p>
                  </a:txBody>
                  <a:tcPr marT="0" marB="0" marR="68525" marL="68525"/>
                </a:tc>
                <a:tc>
                  <a:txBody>
                    <a:bodyPr/>
                    <a:lstStyle/>
                    <a:p>
                      <a:pPr indent="0" lvl="0" marL="0" marR="0" rtl="0" algn="ctr">
                        <a:spcBef>
                          <a:spcPts val="0"/>
                        </a:spcBef>
                        <a:spcAft>
                          <a:spcPts val="0"/>
                        </a:spcAft>
                        <a:buNone/>
                      </a:pPr>
                      <a:r>
                        <a:rPr lang="en-US" sz="1600"/>
                        <a:t>D</a:t>
                      </a:r>
                      <a:endParaRPr/>
                    </a:p>
                  </a:txBody>
                  <a:tcPr marT="0" marB="0" marR="68525" marL="68525"/>
                </a:tc>
                <a:tc>
                  <a:txBody>
                    <a:bodyPr/>
                    <a:lstStyle/>
                    <a:p>
                      <a:pPr indent="0" lvl="0" marL="0" marR="0" rtl="0" algn="ctr">
                        <a:spcBef>
                          <a:spcPts val="0"/>
                        </a:spcBef>
                        <a:spcAft>
                          <a:spcPts val="0"/>
                        </a:spcAft>
                        <a:buNone/>
                      </a:pPr>
                      <a:r>
                        <a:rPr lang="en-US" sz="1600"/>
                        <a:t>A</a:t>
                      </a:r>
                      <a:endParaRPr/>
                    </a:p>
                  </a:txBody>
                  <a:tcPr marT="0" marB="0" marR="68525" marL="68525"/>
                </a:tc>
                <a:tc>
                  <a:txBody>
                    <a:bodyPr/>
                    <a:lstStyle/>
                    <a:p>
                      <a:pPr indent="0" lvl="0" marL="0" marR="0" rtl="0" algn="ctr">
                        <a:spcBef>
                          <a:spcPts val="0"/>
                        </a:spcBef>
                        <a:spcAft>
                          <a:spcPts val="0"/>
                        </a:spcAft>
                        <a:buNone/>
                      </a:pPr>
                      <a:r>
                        <a:rPr lang="en-US" sz="1600"/>
                        <a:t>B</a:t>
                      </a:r>
                      <a:endParaRPr/>
                    </a:p>
                  </a:txBody>
                  <a:tcPr marT="0" marB="0" marR="68525" marL="68525"/>
                </a:tc>
                <a:tc>
                  <a:txBody>
                    <a:bodyPr/>
                    <a:lstStyle/>
                    <a:p>
                      <a:pPr indent="0" lvl="0" marL="0" marR="0" rtl="0" algn="ctr">
                        <a:spcBef>
                          <a:spcPts val="0"/>
                        </a:spcBef>
                        <a:spcAft>
                          <a:spcPts val="0"/>
                        </a:spcAft>
                        <a:buNone/>
                      </a:pPr>
                      <a:r>
                        <a:rPr lang="en-US" sz="1600"/>
                        <a:t>C</a:t>
                      </a:r>
                      <a:endParaRPr/>
                    </a:p>
                  </a:txBody>
                  <a:tcPr marT="0" marB="0" marR="68525" marL="68525"/>
                </a:tc>
                <a:tc>
                  <a:txBody>
                    <a:bodyPr/>
                    <a:lstStyle/>
                    <a:p>
                      <a:pPr indent="0" lvl="0" marL="0" marR="0" rtl="0" algn="ctr">
                        <a:spcBef>
                          <a:spcPts val="0"/>
                        </a:spcBef>
                        <a:spcAft>
                          <a:spcPts val="0"/>
                        </a:spcAft>
                        <a:buNone/>
                      </a:pPr>
                      <a:r>
                        <a:rPr lang="en-US" sz="1600"/>
                        <a:t>D</a:t>
                      </a:r>
                      <a:endParaRPr/>
                    </a:p>
                  </a:txBody>
                  <a:tcPr marT="0" marB="0" marR="68525" marL="68525"/>
                </a:tc>
                <a:tc>
                  <a:txBody>
                    <a:bodyPr/>
                    <a:lstStyle/>
                    <a:p>
                      <a:pPr indent="0" lvl="0" marL="0" marR="0" rtl="0" algn="ctr">
                        <a:spcBef>
                          <a:spcPts val="0"/>
                        </a:spcBef>
                        <a:spcAft>
                          <a:spcPts val="0"/>
                        </a:spcAft>
                        <a:buNone/>
                      </a:pPr>
                      <a:r>
                        <a:rPr lang="en-US" sz="1600"/>
                        <a:t>A</a:t>
                      </a:r>
                      <a:endParaRPr/>
                    </a:p>
                  </a:txBody>
                  <a:tcPr marT="0" marB="0" marR="68525" marL="68525"/>
                </a:tc>
                <a:tc>
                  <a:txBody>
                    <a:bodyPr/>
                    <a:lstStyle/>
                    <a:p>
                      <a:pPr indent="0" lvl="0" marL="0" marR="0" rtl="0" algn="ctr">
                        <a:spcBef>
                          <a:spcPts val="0"/>
                        </a:spcBef>
                        <a:spcAft>
                          <a:spcPts val="0"/>
                        </a:spcAft>
                        <a:buNone/>
                      </a:pPr>
                      <a:r>
                        <a:rPr lang="en-US" sz="1600"/>
                        <a:t>B</a:t>
                      </a:r>
                      <a:endParaRPr/>
                    </a:p>
                  </a:txBody>
                  <a:tcPr marT="0" marB="0" marR="68525" marL="68525"/>
                </a:tc>
                <a:tc>
                  <a:txBody>
                    <a:bodyPr/>
                    <a:lstStyle/>
                    <a:p>
                      <a:pPr indent="0" lvl="0" marL="0" marR="0" rtl="0" algn="ctr">
                        <a:spcBef>
                          <a:spcPts val="0"/>
                        </a:spcBef>
                        <a:spcAft>
                          <a:spcPts val="0"/>
                        </a:spcAft>
                        <a:buNone/>
                      </a:pPr>
                      <a:r>
                        <a:rPr lang="en-US" sz="1600"/>
                        <a:t>C</a:t>
                      </a:r>
                      <a:endParaRPr/>
                    </a:p>
                  </a:txBody>
                  <a:tcPr marT="0" marB="0" marR="68525" marL="68525"/>
                </a:tc>
                <a:tc>
                  <a:txBody>
                    <a:bodyPr/>
                    <a:lstStyle/>
                    <a:p>
                      <a:pPr indent="0" lvl="0" marL="0" marR="0" rtl="0" algn="ctr">
                        <a:spcBef>
                          <a:spcPts val="0"/>
                        </a:spcBef>
                        <a:spcAft>
                          <a:spcPts val="0"/>
                        </a:spcAft>
                        <a:buNone/>
                      </a:pPr>
                      <a:r>
                        <a:rPr lang="en-US" sz="1600"/>
                        <a:t>D</a:t>
                      </a:r>
                      <a:endParaRPr/>
                    </a:p>
                  </a:txBody>
                  <a:tcPr marT="0" marB="0" marR="68525" marL="68525"/>
                </a:tc>
                <a:tc>
                  <a:txBody>
                    <a:bodyPr/>
                    <a:lstStyle/>
                    <a:p>
                      <a:pPr indent="0" lvl="0" marL="0" marR="0" rtl="0" algn="ctr">
                        <a:spcBef>
                          <a:spcPts val="0"/>
                        </a:spcBef>
                        <a:spcAft>
                          <a:spcPts val="0"/>
                        </a:spcAft>
                        <a:buNone/>
                      </a:pPr>
                      <a:r>
                        <a:rPr lang="en-US" sz="1600"/>
                        <a:t>A</a:t>
                      </a:r>
                      <a:endParaRPr sz="1600"/>
                    </a:p>
                  </a:txBody>
                  <a:tcPr marT="0" marB="0" marR="68525" marL="68525"/>
                </a:tc>
                <a:tc>
                  <a:txBody>
                    <a:bodyPr/>
                    <a:lstStyle/>
                    <a:p>
                      <a:pPr indent="0" lvl="0" marL="0" marR="0" rtl="0" algn="ctr">
                        <a:spcBef>
                          <a:spcPts val="0"/>
                        </a:spcBef>
                        <a:spcAft>
                          <a:spcPts val="0"/>
                        </a:spcAft>
                        <a:buNone/>
                      </a:pPr>
                      <a:r>
                        <a:rPr lang="en-US" sz="1600"/>
                        <a:t>B</a:t>
                      </a:r>
                      <a:endParaRPr sz="1600"/>
                    </a:p>
                  </a:txBody>
                  <a:tcPr marT="0" marB="0" marR="68525" marL="68525"/>
                </a:tc>
                <a:tc>
                  <a:txBody>
                    <a:bodyPr/>
                    <a:lstStyle/>
                    <a:p>
                      <a:pPr indent="0" lvl="0" marL="0" marR="0" rtl="0" algn="ctr">
                        <a:spcBef>
                          <a:spcPts val="0"/>
                        </a:spcBef>
                        <a:spcAft>
                          <a:spcPts val="0"/>
                        </a:spcAft>
                        <a:buNone/>
                      </a:pPr>
                      <a:r>
                        <a:rPr lang="en-US" sz="1600"/>
                        <a:t>C</a:t>
                      </a:r>
                      <a:endParaRPr sz="1600"/>
                    </a:p>
                  </a:txBody>
                  <a:tcPr marT="0" marB="0" marR="68525" marL="68525"/>
                </a:tc>
                <a:tc>
                  <a:txBody>
                    <a:bodyPr/>
                    <a:lstStyle/>
                    <a:p>
                      <a:pPr indent="0" lvl="0" marL="0" marR="0" rtl="0" algn="ctr">
                        <a:spcBef>
                          <a:spcPts val="0"/>
                        </a:spcBef>
                        <a:spcAft>
                          <a:spcPts val="0"/>
                        </a:spcAft>
                        <a:buNone/>
                      </a:pPr>
                      <a:r>
                        <a:rPr lang="en-US" sz="1600"/>
                        <a:t>D</a:t>
                      </a:r>
                      <a:endParaRPr sz="1600"/>
                    </a:p>
                  </a:txBody>
                  <a:tcPr marT="0" marB="0" marR="68525" marL="68525"/>
                </a:tc>
              </a:tr>
              <a:tr h="214750">
                <a:tc>
                  <a:txBody>
                    <a:bodyPr/>
                    <a:lstStyle/>
                    <a:p>
                      <a:pPr indent="0" lvl="0" marL="0" marR="0" rtl="0" algn="ctr">
                        <a:spcBef>
                          <a:spcPts val="0"/>
                        </a:spcBef>
                        <a:spcAft>
                          <a:spcPts val="0"/>
                        </a:spcAft>
                        <a:buNone/>
                      </a:pPr>
                      <a:r>
                        <a:rPr lang="en-US" sz="1600"/>
                        <a:t>P0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r>
              <a:tr h="429500">
                <a:tc>
                  <a:txBody>
                    <a:bodyPr/>
                    <a:lstStyle/>
                    <a:p>
                      <a:pPr indent="0" lvl="0" marL="0" marR="0" rtl="0" algn="ctr">
                        <a:spcBef>
                          <a:spcPts val="0"/>
                        </a:spcBef>
                        <a:spcAft>
                          <a:spcPts val="0"/>
                        </a:spcAft>
                        <a:buNone/>
                      </a:pPr>
                      <a:r>
                        <a:rPr lang="en-US" sz="1600"/>
                        <a:t>P1</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7</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7</a:t>
                      </a:r>
                      <a:endParaRPr sz="1600"/>
                    </a:p>
                  </a:txBody>
                  <a:tcPr marT="0" marB="0" marR="68525" marL="68525"/>
                </a:tc>
                <a:tc>
                  <a:txBody>
                    <a:bodyPr/>
                    <a:lstStyle/>
                    <a:p>
                      <a:pPr indent="0" lvl="0" marL="0" marR="0" rtl="0" algn="ctr">
                        <a:spcBef>
                          <a:spcPts val="0"/>
                        </a:spcBef>
                        <a:spcAft>
                          <a:spcPts val="0"/>
                        </a:spcAft>
                        <a:buNone/>
                      </a:pPr>
                      <a:r>
                        <a:rPr lang="en-US" sz="1600"/>
                        <a:t>5</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r>
              <a:tr h="429500">
                <a:tc>
                  <a:txBody>
                    <a:bodyPr/>
                    <a:lstStyle/>
                    <a:p>
                      <a:pPr indent="0" lvl="0" marL="0" marR="0" rtl="0" algn="ctr">
                        <a:spcBef>
                          <a:spcPts val="0"/>
                        </a:spcBef>
                        <a:spcAft>
                          <a:spcPts val="0"/>
                        </a:spcAft>
                        <a:buNone/>
                      </a:pPr>
                      <a:r>
                        <a:rPr lang="en-US" sz="1600"/>
                        <a:t>P2</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3</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4</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r>
                        <a:rPr lang="en-US" sz="1600"/>
                        <a:t>3</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6</a:t>
                      </a:r>
                      <a:endParaRPr/>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r>
                        <a:rPr lang="en-US" sz="1600"/>
                        <a:t>1</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2</a:t>
                      </a:r>
                      <a:endParaRPr sz="1600"/>
                    </a:p>
                  </a:txBody>
                  <a:tcPr marT="0" marB="0" marR="68525" marL="68525"/>
                </a:tc>
              </a:tr>
              <a:tr h="429500">
                <a:tc>
                  <a:txBody>
                    <a:bodyPr/>
                    <a:lstStyle/>
                    <a:p>
                      <a:pPr indent="0" lvl="0" marL="0" marR="0" rtl="0" algn="ctr">
                        <a:spcBef>
                          <a:spcPts val="0"/>
                        </a:spcBef>
                        <a:spcAft>
                          <a:spcPts val="0"/>
                        </a:spcAft>
                        <a:buNone/>
                      </a:pPr>
                      <a:r>
                        <a:rPr lang="en-US" sz="1600"/>
                        <a:t>P3</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6</a:t>
                      </a:r>
                      <a:endParaRPr/>
                    </a:p>
                  </a:txBody>
                  <a:tcPr marT="0" marB="0" marR="68525" marL="68525"/>
                </a:tc>
                <a:tc>
                  <a:txBody>
                    <a:bodyPr/>
                    <a:lstStyle/>
                    <a:p>
                      <a:pPr indent="0" lvl="0" marL="0" marR="0" rtl="0" algn="ctr">
                        <a:spcBef>
                          <a:spcPts val="0"/>
                        </a:spcBef>
                        <a:spcAft>
                          <a:spcPts val="0"/>
                        </a:spcAft>
                        <a:buNone/>
                      </a:pPr>
                      <a:r>
                        <a:rPr lang="en-US" sz="1600"/>
                        <a:t>3</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6</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2</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r>
              <a:tr h="429500">
                <a:tc>
                  <a:txBody>
                    <a:bodyPr/>
                    <a:lstStyle/>
                    <a:p>
                      <a:pPr indent="0" lvl="0" marL="0" marR="0" rtl="0" algn="ctr">
                        <a:spcBef>
                          <a:spcPts val="0"/>
                        </a:spcBef>
                        <a:spcAft>
                          <a:spcPts val="0"/>
                        </a:spcAft>
                        <a:buNone/>
                      </a:pPr>
                      <a:r>
                        <a:rPr lang="en-US" sz="1600"/>
                        <a:t>P4</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4</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6</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6</a:t>
                      </a:r>
                      <a:endParaRPr/>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r>
                        <a:t/>
                      </a:r>
                      <a:endParaRPr sz="1600"/>
                    </a:p>
                  </a:txBody>
                  <a:tcPr marT="0" marB="0" marR="68525" marL="68525"/>
                </a:tc>
                <a:tc>
                  <a:txBody>
                    <a:bodyPr/>
                    <a:lstStyle/>
                    <a:p>
                      <a:pPr indent="0" lvl="0" marL="0" marR="0" rtl="0" algn="l">
                        <a:spcBef>
                          <a:spcPts val="0"/>
                        </a:spcBef>
                        <a:spcAft>
                          <a:spcPts val="0"/>
                        </a:spcAft>
                        <a:buNone/>
                      </a:pPr>
                      <a:r>
                        <a:t/>
                      </a:r>
                      <a:endParaRPr sz="1600"/>
                    </a:p>
                  </a:txBody>
                  <a:tcPr marT="45675" marB="45675" marR="91375" marL="91375"/>
                </a:tc>
                <a:tc>
                  <a:txBody>
                    <a:bodyPr/>
                    <a:lstStyle/>
                    <a:p>
                      <a:pPr indent="0" lvl="0" marL="0" marR="0" rtl="0" algn="l">
                        <a:spcBef>
                          <a:spcPts val="0"/>
                        </a:spcBef>
                        <a:spcAft>
                          <a:spcPts val="0"/>
                        </a:spcAft>
                        <a:buNone/>
                      </a:pPr>
                      <a:r>
                        <a:rPr lang="en-US" sz="1600"/>
                        <a:t>0</a:t>
                      </a:r>
                      <a:endParaRPr sz="1600"/>
                    </a:p>
                  </a:txBody>
                  <a:tcPr marT="45675" marB="45675" marR="91375" marL="91375"/>
                </a:tc>
                <a:tc>
                  <a:txBody>
                    <a:bodyPr/>
                    <a:lstStyle/>
                    <a:p>
                      <a:pPr indent="0" lvl="0" marL="0" marR="0" rtl="0" algn="l">
                        <a:spcBef>
                          <a:spcPts val="0"/>
                        </a:spcBef>
                        <a:spcAft>
                          <a:spcPts val="0"/>
                        </a:spcAft>
                        <a:buNone/>
                      </a:pPr>
                      <a:r>
                        <a:rPr lang="en-US" sz="1600"/>
                        <a:t>6</a:t>
                      </a:r>
                      <a:endParaRPr sz="1600"/>
                    </a:p>
                  </a:txBody>
                  <a:tcPr marT="45675" marB="45675" marR="91375" marL="91375"/>
                </a:tc>
                <a:tc>
                  <a:txBody>
                    <a:bodyPr/>
                    <a:lstStyle/>
                    <a:p>
                      <a:pPr indent="0" lvl="0" marL="0" marR="0" rtl="0" algn="l">
                        <a:spcBef>
                          <a:spcPts val="0"/>
                        </a:spcBef>
                        <a:spcAft>
                          <a:spcPts val="0"/>
                        </a:spcAft>
                        <a:buNone/>
                      </a:pPr>
                      <a:r>
                        <a:rPr lang="en-US" sz="1600"/>
                        <a:t>4</a:t>
                      </a:r>
                      <a:endParaRPr sz="1600"/>
                    </a:p>
                  </a:txBody>
                  <a:tcPr marT="45675" marB="45675" marR="91375" marL="91375"/>
                </a:tc>
                <a:tc>
                  <a:txBody>
                    <a:bodyPr/>
                    <a:lstStyle/>
                    <a:p>
                      <a:pPr indent="0" lvl="0" marL="0" marR="0" rtl="0" algn="l">
                        <a:spcBef>
                          <a:spcPts val="0"/>
                        </a:spcBef>
                        <a:spcAft>
                          <a:spcPts val="0"/>
                        </a:spcAft>
                        <a:buNone/>
                      </a:pPr>
                      <a:r>
                        <a:rPr lang="en-US" sz="1600"/>
                        <a:t>2</a:t>
                      </a:r>
                      <a:endParaRPr sz="1600"/>
                    </a:p>
                  </a:txBody>
                  <a:tcPr marT="45675" marB="45675" marR="91375" marL="91375"/>
                </a:tc>
              </a:tr>
            </a:tbl>
          </a:graphicData>
        </a:graphic>
      </p:graphicFrame>
      <p:sp>
        <p:nvSpPr>
          <p:cNvPr id="1060" name="Google Shape;1060;p8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061" name="Google Shape;1061;p8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062" name="Google Shape;1062;p8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63" name="Google Shape;1063;p89"/>
          <p:cNvSpPr/>
          <p:nvPr/>
        </p:nvSpPr>
        <p:spPr>
          <a:xfrm>
            <a:off x="457200" y="2446338"/>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Times New Roman"/>
              <a:buNone/>
            </a:pPr>
            <a:br>
              <a:rPr b="0" i="0" lang="en-US" sz="1200" u="none" cap="none" strike="noStrike">
                <a:solidFill>
                  <a:schemeClr val="dk1"/>
                </a:solidFill>
                <a:latin typeface="Times New Roman"/>
                <a:ea typeface="Times New Roman"/>
                <a:cs typeface="Times New Roman"/>
                <a:sym typeface="Times New Roman"/>
              </a:rPr>
            </a:br>
            <a:endParaRPr b="0" i="0" sz="1800" u="none" cap="none" strike="noStrike">
              <a:solidFill>
                <a:schemeClr val="dk1"/>
              </a:solidFill>
              <a:latin typeface="Arial"/>
              <a:ea typeface="Arial"/>
              <a:cs typeface="Arial"/>
              <a:sym typeface="Arial"/>
            </a:endParaRPr>
          </a:p>
        </p:txBody>
      </p:sp>
      <p:sp>
        <p:nvSpPr>
          <p:cNvPr id="1064" name="Google Shape;1064;p89"/>
          <p:cNvSpPr txBox="1"/>
          <p:nvPr/>
        </p:nvSpPr>
        <p:spPr>
          <a:xfrm>
            <a:off x="4227946" y="3124200"/>
            <a:ext cx="4775200" cy="2809875"/>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marR="0" rtl="0" algn="l">
              <a:lnSpc>
                <a:spcPct val="90000"/>
              </a:lnSpc>
              <a:spcBef>
                <a:spcPts val="0"/>
              </a:spcBef>
              <a:spcAft>
                <a:spcPts val="0"/>
              </a:spcAft>
              <a:buClr>
                <a:schemeClr val="dk1"/>
              </a:buClr>
              <a:buSzPct val="100000"/>
              <a:buFont typeface="Arial"/>
              <a:buNone/>
            </a:pPr>
            <a:r>
              <a:rPr lang="en-US" sz="2800">
                <a:solidFill>
                  <a:schemeClr val="dk1"/>
                </a:solidFill>
                <a:latin typeface="Calibri"/>
                <a:ea typeface="Calibri"/>
                <a:cs typeface="Calibri"/>
                <a:sym typeface="Calibri"/>
              </a:rPr>
              <a:t>1.	</a:t>
            </a:r>
            <a:r>
              <a:rPr lang="en-US" sz="1800">
                <a:solidFill>
                  <a:schemeClr val="dk1"/>
                </a:solidFill>
                <a:latin typeface="Calibri"/>
                <a:ea typeface="Calibri"/>
                <a:cs typeface="Calibri"/>
                <a:sym typeface="Calibri"/>
              </a:rPr>
              <a:t>Let </a:t>
            </a:r>
            <a:r>
              <a:rPr b="1" i="1" lang="en-US" sz="1800">
                <a:solidFill>
                  <a:srgbClr val="000000"/>
                </a:solidFill>
                <a:latin typeface="Calibri"/>
                <a:ea typeface="Calibri"/>
                <a:cs typeface="Calibri"/>
                <a:sym typeface="Calibri"/>
              </a:rPr>
              <a:t>Work</a:t>
            </a:r>
            <a:r>
              <a:rPr i="1" lang="en-US" sz="1800">
                <a:solidFill>
                  <a:srgbClr val="000000"/>
                </a:solidFill>
                <a:latin typeface="Calibri"/>
                <a:ea typeface="Calibri"/>
                <a:cs typeface="Calibri"/>
                <a:sym typeface="Calibri"/>
              </a:rPr>
              <a:t> </a:t>
            </a:r>
            <a:r>
              <a:rPr lang="en-US" sz="1800">
                <a:solidFill>
                  <a:schemeClr val="dk1"/>
                </a:solidFill>
                <a:latin typeface="Calibri"/>
                <a:ea typeface="Calibri"/>
                <a:cs typeface="Calibri"/>
                <a:sym typeface="Calibri"/>
              </a:rPr>
              <a:t>and </a:t>
            </a:r>
            <a:r>
              <a:rPr b="1" i="1" lang="en-US" sz="1800">
                <a:solidFill>
                  <a:srgbClr val="000000"/>
                </a:solidFill>
                <a:latin typeface="Calibri"/>
                <a:ea typeface="Calibri"/>
                <a:cs typeface="Calibri"/>
                <a:sym typeface="Calibri"/>
              </a:rPr>
              <a:t>Finish</a:t>
            </a:r>
            <a:r>
              <a:rPr lang="en-US" sz="1800">
                <a:solidFill>
                  <a:srgbClr val="000000"/>
                </a:solidFill>
                <a:latin typeface="Calibri"/>
                <a:ea typeface="Calibri"/>
                <a:cs typeface="Calibri"/>
                <a:sym typeface="Calibri"/>
              </a:rPr>
              <a:t> </a:t>
            </a:r>
            <a:r>
              <a:rPr lang="en-US" sz="1800">
                <a:solidFill>
                  <a:schemeClr val="dk1"/>
                </a:solidFill>
                <a:latin typeface="Calibri"/>
                <a:ea typeface="Calibri"/>
                <a:cs typeface="Calibri"/>
                <a:sym typeface="Calibri"/>
              </a:rPr>
              <a:t>be vectors of length</a:t>
            </a:r>
            <a:r>
              <a:rPr i="1" lang="en-US" sz="1800">
                <a:solidFill>
                  <a:schemeClr val="dk1"/>
                </a:solidFill>
                <a:latin typeface="Calibri"/>
                <a:ea typeface="Calibri"/>
                <a:cs typeface="Calibri"/>
                <a:sym typeface="Calibri"/>
              </a:rPr>
              <a:t> m</a:t>
            </a:r>
            <a:r>
              <a:rPr lang="en-US" sz="1800">
                <a:solidFill>
                  <a:schemeClr val="dk1"/>
                </a:solidFill>
                <a:latin typeface="Calibri"/>
                <a:ea typeface="Calibri"/>
                <a:cs typeface="Calibri"/>
                <a:sym typeface="Calibri"/>
              </a:rPr>
              <a:t> and</a:t>
            </a:r>
            <a:r>
              <a:rPr i="1" lang="en-US" sz="1800">
                <a:solidFill>
                  <a:schemeClr val="dk1"/>
                </a:solidFill>
                <a:latin typeface="Calibri"/>
                <a:ea typeface="Calibri"/>
                <a:cs typeface="Calibri"/>
                <a:sym typeface="Calibri"/>
              </a:rPr>
              <a:t> n</a:t>
            </a:r>
            <a:r>
              <a:rPr lang="en-US" sz="1800">
                <a:solidFill>
                  <a:schemeClr val="dk1"/>
                </a:solidFill>
                <a:latin typeface="Calibri"/>
                <a:ea typeface="Calibri"/>
                <a:cs typeface="Calibri"/>
                <a:sym typeface="Calibri"/>
              </a:rPr>
              <a:t>, respectively.  Initialize:</a:t>
            </a:r>
            <a:endParaRPr/>
          </a:p>
          <a:p>
            <a:pPr indent="-342900" lvl="3" marL="1543050" marR="0" rtl="0" algn="l">
              <a:lnSpc>
                <a:spcPct val="90000"/>
              </a:lnSpc>
              <a:spcBef>
                <a:spcPts val="203"/>
              </a:spcBef>
              <a:spcAft>
                <a:spcPts val="0"/>
              </a:spcAft>
              <a:buClr>
                <a:schemeClr val="dk1"/>
              </a:buClr>
              <a:buSzPct val="100000"/>
              <a:buFont typeface="Arial"/>
              <a:buNone/>
            </a:pPr>
            <a:r>
              <a:rPr b="1" i="1" lang="en-US" sz="1100" u="none" cap="none" strike="noStrike">
                <a:solidFill>
                  <a:schemeClr val="dk1"/>
                </a:solidFill>
                <a:latin typeface="Calibri"/>
                <a:ea typeface="Calibri"/>
                <a:cs typeface="Calibri"/>
                <a:sym typeface="Calibri"/>
              </a:rPr>
              <a:t>Work </a:t>
            </a:r>
            <a:r>
              <a:rPr b="1" i="0" lang="en-US" sz="1100" u="none" cap="none" strike="noStrike">
                <a:solidFill>
                  <a:schemeClr val="dk1"/>
                </a:solidFill>
                <a:latin typeface="Calibri"/>
                <a:ea typeface="Calibri"/>
                <a:cs typeface="Calibri"/>
                <a:sym typeface="Calibri"/>
              </a:rPr>
              <a:t>= </a:t>
            </a:r>
            <a:r>
              <a:rPr b="1" i="1" lang="en-US" sz="1100" u="none" cap="none" strike="noStrike">
                <a:solidFill>
                  <a:schemeClr val="dk1"/>
                </a:solidFill>
                <a:latin typeface="Calibri"/>
                <a:ea typeface="Calibri"/>
                <a:cs typeface="Calibri"/>
                <a:sym typeface="Calibri"/>
              </a:rPr>
              <a:t>Available</a:t>
            </a:r>
            <a:endParaRPr/>
          </a:p>
          <a:p>
            <a:pPr indent="-342900" lvl="3" marL="1543050" marR="0" rtl="0" algn="l">
              <a:lnSpc>
                <a:spcPct val="90000"/>
              </a:lnSpc>
              <a:spcBef>
                <a:spcPts val="203"/>
              </a:spcBef>
              <a:spcAft>
                <a:spcPts val="0"/>
              </a:spcAft>
              <a:buClr>
                <a:schemeClr val="dk1"/>
              </a:buClr>
              <a:buSzPct val="100000"/>
              <a:buFont typeface="Arial"/>
              <a:buNone/>
            </a:pPr>
            <a:r>
              <a:rPr b="1" i="1" lang="en-US" sz="1100" u="none" cap="none" strike="noStrike">
                <a:solidFill>
                  <a:schemeClr val="dk1"/>
                </a:solidFill>
                <a:latin typeface="Calibri"/>
                <a:ea typeface="Calibri"/>
                <a:cs typeface="Calibri"/>
                <a:sym typeface="Calibri"/>
              </a:rPr>
              <a:t>Finish </a:t>
            </a:r>
            <a:r>
              <a:rPr b="1" i="0" lang="en-US" sz="1100" u="none" cap="none" strike="noStrike">
                <a:solidFill>
                  <a:schemeClr val="dk1"/>
                </a:solidFill>
                <a:latin typeface="Calibri"/>
                <a:ea typeface="Calibri"/>
                <a:cs typeface="Calibri"/>
                <a:sym typeface="Calibri"/>
              </a:rPr>
              <a:t>[</a:t>
            </a:r>
            <a:r>
              <a:rPr b="1" i="1" lang="en-US" sz="1100" u="none" cap="none" strike="noStrike">
                <a:solidFill>
                  <a:schemeClr val="dk1"/>
                </a:solidFill>
                <a:latin typeface="Calibri"/>
                <a:ea typeface="Calibri"/>
                <a:cs typeface="Calibri"/>
                <a:sym typeface="Calibri"/>
              </a:rPr>
              <a:t>i</a:t>
            </a:r>
            <a:r>
              <a:rPr b="1" i="0" lang="en-US" sz="1100" u="none" cap="none" strike="noStrike">
                <a:solidFill>
                  <a:schemeClr val="dk1"/>
                </a:solidFill>
                <a:latin typeface="Calibri"/>
                <a:ea typeface="Calibri"/>
                <a:cs typeface="Calibri"/>
                <a:sym typeface="Calibri"/>
              </a:rPr>
              <a:t>] =</a:t>
            </a:r>
            <a:r>
              <a:rPr b="1" i="1" lang="en-US" sz="1100" u="none" cap="none" strike="noStrike">
                <a:solidFill>
                  <a:schemeClr val="dk1"/>
                </a:solidFill>
                <a:latin typeface="Calibri"/>
                <a:ea typeface="Calibri"/>
                <a:cs typeface="Calibri"/>
                <a:sym typeface="Calibri"/>
              </a:rPr>
              <a:t> false </a:t>
            </a:r>
            <a:r>
              <a:rPr b="1" i="0" lang="en-US" sz="1100" u="none" cap="none" strike="noStrike">
                <a:solidFill>
                  <a:schemeClr val="dk1"/>
                </a:solidFill>
                <a:latin typeface="Calibri"/>
                <a:ea typeface="Calibri"/>
                <a:cs typeface="Calibri"/>
                <a:sym typeface="Calibri"/>
              </a:rPr>
              <a:t>for</a:t>
            </a:r>
            <a:r>
              <a:rPr b="1" i="1" lang="en-US" sz="1100" u="none" cap="none" strike="noStrike">
                <a:solidFill>
                  <a:schemeClr val="dk1"/>
                </a:solidFill>
                <a:latin typeface="Calibri"/>
                <a:ea typeface="Calibri"/>
                <a:cs typeface="Calibri"/>
                <a:sym typeface="Calibri"/>
              </a:rPr>
              <a:t> i</a:t>
            </a:r>
            <a:r>
              <a:rPr b="1" i="0" lang="en-US" sz="1100" u="none" cap="none" strike="noStrike">
                <a:solidFill>
                  <a:schemeClr val="dk1"/>
                </a:solidFill>
                <a:latin typeface="Calibri"/>
                <a:ea typeface="Calibri"/>
                <a:cs typeface="Calibri"/>
                <a:sym typeface="Calibri"/>
              </a:rPr>
              <a:t> = 0, 1, …, </a:t>
            </a:r>
            <a:r>
              <a:rPr b="1" i="1" lang="en-US" sz="1100" u="none" cap="none" strike="noStrike">
                <a:solidFill>
                  <a:schemeClr val="dk1"/>
                </a:solidFill>
                <a:latin typeface="Calibri"/>
                <a:ea typeface="Calibri"/>
                <a:cs typeface="Calibri"/>
                <a:sym typeface="Calibri"/>
              </a:rPr>
              <a:t>n- </a:t>
            </a:r>
            <a:r>
              <a:rPr b="1" i="0" lang="en-US" sz="1100" u="none" cap="none" strike="noStrike">
                <a:solidFill>
                  <a:schemeClr val="dk1"/>
                </a:solidFill>
                <a:latin typeface="Calibri"/>
                <a:ea typeface="Calibri"/>
                <a:cs typeface="Calibri"/>
                <a:sym typeface="Calibri"/>
              </a:rPr>
              <a:t>1</a:t>
            </a:r>
            <a:endParaRPr/>
          </a:p>
          <a:p>
            <a:pPr indent="-342900" lvl="3" marL="1543050" marR="0" rtl="0" algn="l">
              <a:lnSpc>
                <a:spcPct val="90000"/>
              </a:lnSpc>
              <a:spcBef>
                <a:spcPts val="18"/>
              </a:spcBef>
              <a:spcAft>
                <a:spcPts val="0"/>
              </a:spcAft>
              <a:buClr>
                <a:schemeClr val="dk1"/>
              </a:buClr>
              <a:buSzPct val="100000"/>
              <a:buFont typeface="Arial"/>
              <a:buNone/>
            </a:pPr>
            <a:r>
              <a:t/>
            </a:r>
            <a:endParaRPr b="0" i="0" sz="100" u="none" cap="none" strike="noStrike">
              <a:solidFill>
                <a:schemeClr val="dk1"/>
              </a:solidFill>
              <a:latin typeface="Calibri"/>
              <a:ea typeface="Calibri"/>
              <a:cs typeface="Calibri"/>
              <a:sym typeface="Calibri"/>
            </a:endParaRPr>
          </a:p>
          <a:p>
            <a:pPr indent="-342900" lvl="0" marL="342900" marR="0" rtl="0" algn="l">
              <a:lnSpc>
                <a:spcPct val="90000"/>
              </a:lnSpc>
              <a:spcBef>
                <a:spcPts val="333"/>
              </a:spcBef>
              <a:spcAft>
                <a:spcPts val="0"/>
              </a:spcAft>
              <a:buClr>
                <a:schemeClr val="dk1"/>
              </a:buClr>
              <a:buSzPct val="100000"/>
              <a:buFont typeface="Arial"/>
              <a:buNone/>
            </a:pPr>
            <a:r>
              <a:rPr lang="en-US" sz="1800">
                <a:solidFill>
                  <a:schemeClr val="dk1"/>
                </a:solidFill>
                <a:latin typeface="Calibri"/>
                <a:ea typeface="Calibri"/>
                <a:cs typeface="Calibri"/>
                <a:sym typeface="Calibri"/>
              </a:rPr>
              <a:t>2.	Find an </a:t>
            </a:r>
            <a:r>
              <a:rPr b="1" i="1" lang="en-US" sz="1800">
                <a:solidFill>
                  <a:schemeClr val="dk1"/>
                </a:solidFill>
                <a:latin typeface="Calibri"/>
                <a:ea typeface="Calibri"/>
                <a:cs typeface="Calibri"/>
                <a:sym typeface="Calibri"/>
              </a:rPr>
              <a:t>i</a:t>
            </a:r>
            <a:r>
              <a:rPr i="1" lang="en-US" sz="18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such that both: </a:t>
            </a:r>
            <a:endParaRPr/>
          </a:p>
          <a:p>
            <a:pPr indent="-342900" lvl="1" marL="800100" marR="0" rtl="0" algn="l">
              <a:lnSpc>
                <a:spcPct val="90000"/>
              </a:lnSpc>
              <a:spcBef>
                <a:spcPts val="296"/>
              </a:spcBef>
              <a:spcAft>
                <a:spcPts val="0"/>
              </a:spcAft>
              <a:buClr>
                <a:schemeClr val="dk1"/>
              </a:buClr>
              <a:buSzPct val="100000"/>
              <a:buFont typeface="Arial"/>
              <a:buNone/>
            </a:pPr>
            <a:r>
              <a:rPr b="0" i="0" lang="en-US" sz="1600" u="none" cap="none" strike="noStrike">
                <a:solidFill>
                  <a:schemeClr val="dk1"/>
                </a:solidFill>
                <a:latin typeface="Calibri"/>
                <a:ea typeface="Calibri"/>
                <a:cs typeface="Calibri"/>
                <a:sym typeface="Calibri"/>
              </a:rPr>
              <a:t>(a) </a:t>
            </a:r>
            <a:r>
              <a:rPr b="1" i="1" lang="en-US" sz="1600" u="none" cap="none" strike="noStrike">
                <a:solidFill>
                  <a:schemeClr val="dk1"/>
                </a:solidFill>
                <a:latin typeface="Calibri"/>
                <a:ea typeface="Calibri"/>
                <a:cs typeface="Calibri"/>
                <a:sym typeface="Calibri"/>
              </a:rPr>
              <a:t>Finish</a:t>
            </a:r>
            <a:r>
              <a:rPr b="1" i="0" lang="en-US" sz="1600" u="none" cap="none" strike="noStrike">
                <a:solidFill>
                  <a:schemeClr val="dk1"/>
                </a:solidFill>
                <a:latin typeface="Calibri"/>
                <a:ea typeface="Calibri"/>
                <a:cs typeface="Calibri"/>
                <a:sym typeface="Calibri"/>
              </a:rPr>
              <a:t> [</a:t>
            </a:r>
            <a:r>
              <a:rPr b="1" i="1" lang="en-US" sz="1600" u="none" cap="none" strike="noStrike">
                <a:solidFill>
                  <a:schemeClr val="dk1"/>
                </a:solidFill>
                <a:latin typeface="Calibri"/>
                <a:ea typeface="Calibri"/>
                <a:cs typeface="Calibri"/>
                <a:sym typeface="Calibri"/>
              </a:rPr>
              <a:t>i</a:t>
            </a:r>
            <a:r>
              <a:rPr b="1" i="0" lang="en-US" sz="1600" u="none" cap="none" strike="noStrike">
                <a:solidFill>
                  <a:schemeClr val="dk1"/>
                </a:solidFill>
                <a:latin typeface="Calibri"/>
                <a:ea typeface="Calibri"/>
                <a:cs typeface="Calibri"/>
                <a:sym typeface="Calibri"/>
              </a:rPr>
              <a:t>] = </a:t>
            </a:r>
            <a:r>
              <a:rPr b="1" i="1" lang="en-US" sz="1600" u="none" cap="none" strike="noStrike">
                <a:solidFill>
                  <a:schemeClr val="dk1"/>
                </a:solidFill>
                <a:latin typeface="Calibri"/>
                <a:ea typeface="Calibri"/>
                <a:cs typeface="Calibri"/>
                <a:sym typeface="Calibri"/>
              </a:rPr>
              <a:t>false</a:t>
            </a:r>
            <a:endParaRPr b="1" i="0" sz="1600" u="none" cap="none" strike="noStrike">
              <a:solidFill>
                <a:schemeClr val="dk1"/>
              </a:solidFill>
              <a:latin typeface="Calibri"/>
              <a:ea typeface="Calibri"/>
              <a:cs typeface="Calibri"/>
              <a:sym typeface="Calibri"/>
            </a:endParaRPr>
          </a:p>
          <a:p>
            <a:pPr indent="-342900" lvl="1" marL="800100" marR="0" rtl="0" algn="l">
              <a:lnSpc>
                <a:spcPct val="90000"/>
              </a:lnSpc>
              <a:spcBef>
                <a:spcPts val="296"/>
              </a:spcBef>
              <a:spcAft>
                <a:spcPts val="0"/>
              </a:spcAft>
              <a:buClr>
                <a:schemeClr val="dk1"/>
              </a:buClr>
              <a:buSzPct val="100000"/>
              <a:buFont typeface="Arial"/>
              <a:buNone/>
            </a:pPr>
            <a:r>
              <a:rPr b="0" i="0" lang="en-US" sz="1600" u="none" cap="none" strike="noStrike">
                <a:solidFill>
                  <a:schemeClr val="dk1"/>
                </a:solidFill>
                <a:latin typeface="Calibri"/>
                <a:ea typeface="Calibri"/>
                <a:cs typeface="Calibri"/>
                <a:sym typeface="Calibri"/>
              </a:rPr>
              <a:t>(b) </a:t>
            </a:r>
            <a:r>
              <a:rPr b="1" i="1" lang="en-US" sz="1600" u="none" cap="none" strike="noStrike">
                <a:solidFill>
                  <a:srgbClr val="0070C0"/>
                </a:solidFill>
                <a:latin typeface="Calibri"/>
                <a:ea typeface="Calibri"/>
                <a:cs typeface="Calibri"/>
                <a:sym typeface="Calibri"/>
              </a:rPr>
              <a:t>Need</a:t>
            </a:r>
            <a:r>
              <a:rPr b="1" baseline="-25000" i="1" lang="en-US" sz="1600" u="none" cap="none" strike="noStrike">
                <a:solidFill>
                  <a:srgbClr val="0070C0"/>
                </a:solidFill>
                <a:latin typeface="Calibri"/>
                <a:ea typeface="Calibri"/>
                <a:cs typeface="Calibri"/>
                <a:sym typeface="Calibri"/>
              </a:rPr>
              <a:t>i</a:t>
            </a:r>
            <a:r>
              <a:rPr b="1" i="0" lang="en-US" sz="1600" u="none" cap="none" strike="noStrike">
                <a:solidFill>
                  <a:srgbClr val="0070C0"/>
                </a:solidFill>
                <a:latin typeface="Calibri"/>
                <a:ea typeface="Calibri"/>
                <a:cs typeface="Calibri"/>
                <a:sym typeface="Calibri"/>
              </a:rPr>
              <a:t> ≤ </a:t>
            </a:r>
            <a:r>
              <a:rPr b="1" i="1" lang="en-US" sz="1600" u="none" cap="none" strike="noStrike">
                <a:solidFill>
                  <a:srgbClr val="0070C0"/>
                </a:solidFill>
                <a:latin typeface="Calibri"/>
                <a:ea typeface="Calibri"/>
                <a:cs typeface="Calibri"/>
                <a:sym typeface="Calibri"/>
              </a:rPr>
              <a:t>Work</a:t>
            </a:r>
            <a:endParaRPr/>
          </a:p>
          <a:p>
            <a:pPr indent="-342900" lvl="1" marL="800100" marR="0" rtl="0" algn="l">
              <a:lnSpc>
                <a:spcPct val="90000"/>
              </a:lnSpc>
              <a:spcBef>
                <a:spcPts val="296"/>
              </a:spcBef>
              <a:spcAft>
                <a:spcPts val="0"/>
              </a:spcAft>
              <a:buClr>
                <a:schemeClr val="dk1"/>
              </a:buClr>
              <a:buSzPct val="100000"/>
              <a:buFont typeface="Arial"/>
              <a:buNone/>
            </a:pPr>
            <a:r>
              <a:rPr b="0" i="0" lang="en-US" sz="1600" u="none" cap="none" strike="noStrike">
                <a:solidFill>
                  <a:schemeClr val="dk1"/>
                </a:solidFill>
                <a:latin typeface="Calibri"/>
                <a:ea typeface="Calibri"/>
                <a:cs typeface="Calibri"/>
                <a:sym typeface="Calibri"/>
              </a:rPr>
              <a:t>If no such</a:t>
            </a:r>
            <a:r>
              <a:rPr b="1" i="0" lang="en-US" sz="1600" u="none" cap="none" strike="noStrike">
                <a:solidFill>
                  <a:schemeClr val="dk1"/>
                </a:solidFill>
                <a:latin typeface="Calibri"/>
                <a:ea typeface="Calibri"/>
                <a:cs typeface="Calibri"/>
                <a:sym typeface="Calibri"/>
              </a:rPr>
              <a:t> </a:t>
            </a:r>
            <a:r>
              <a:rPr b="1" i="1" lang="en-US" sz="1600" u="none" cap="none" strike="noStrike">
                <a:solidFill>
                  <a:schemeClr val="dk1"/>
                </a:solidFill>
                <a:latin typeface="Calibri"/>
                <a:ea typeface="Calibri"/>
                <a:cs typeface="Calibri"/>
                <a:sym typeface="Calibri"/>
              </a:rPr>
              <a:t>i </a:t>
            </a:r>
            <a:r>
              <a:rPr b="0" i="0" lang="en-US" sz="1600" u="none" cap="none" strike="noStrike">
                <a:solidFill>
                  <a:schemeClr val="dk1"/>
                </a:solidFill>
                <a:latin typeface="Calibri"/>
                <a:ea typeface="Calibri"/>
                <a:cs typeface="Calibri"/>
                <a:sym typeface="Calibri"/>
              </a:rPr>
              <a:t>exists, go to step 4</a:t>
            </a:r>
            <a:endParaRPr/>
          </a:p>
          <a:p>
            <a:pPr indent="-342900" lvl="1" marL="800100" marR="0" rtl="0" algn="l">
              <a:lnSpc>
                <a:spcPct val="90000"/>
              </a:lnSpc>
              <a:spcBef>
                <a:spcPts val="18"/>
              </a:spcBef>
              <a:spcAft>
                <a:spcPts val="0"/>
              </a:spcAft>
              <a:buClr>
                <a:schemeClr val="dk1"/>
              </a:buClr>
              <a:buSzPct val="100000"/>
              <a:buFont typeface="Arial"/>
              <a:buNone/>
            </a:pPr>
            <a:r>
              <a:t/>
            </a:r>
            <a:endParaRPr b="0" i="0" sz="100" u="none" cap="none" strike="noStrike">
              <a:solidFill>
                <a:schemeClr val="dk1"/>
              </a:solidFill>
              <a:latin typeface="Calibri"/>
              <a:ea typeface="Calibri"/>
              <a:cs typeface="Calibri"/>
              <a:sym typeface="Calibri"/>
            </a:endParaRPr>
          </a:p>
          <a:p>
            <a:pPr indent="-342900" lvl="0" marL="342900" marR="0" rtl="0" algn="l">
              <a:lnSpc>
                <a:spcPct val="90000"/>
              </a:lnSpc>
              <a:spcBef>
                <a:spcPts val="333"/>
              </a:spcBef>
              <a:spcAft>
                <a:spcPts val="0"/>
              </a:spcAft>
              <a:buClr>
                <a:schemeClr val="dk1"/>
              </a:buClr>
              <a:buSzPct val="100000"/>
              <a:buFont typeface="Arial"/>
              <a:buNone/>
            </a:pPr>
            <a:r>
              <a:rPr i="1" lang="en-US" sz="1800">
                <a:solidFill>
                  <a:schemeClr val="dk1"/>
                </a:solidFill>
                <a:latin typeface="Calibri"/>
                <a:ea typeface="Calibri"/>
                <a:cs typeface="Calibri"/>
                <a:sym typeface="Calibri"/>
              </a:rPr>
              <a:t>3.  </a:t>
            </a:r>
            <a:r>
              <a:rPr b="1" i="1" lang="en-US" sz="1800">
                <a:solidFill>
                  <a:schemeClr val="dk1"/>
                </a:solidFill>
                <a:latin typeface="Calibri"/>
                <a:ea typeface="Calibri"/>
                <a:cs typeface="Calibri"/>
                <a:sym typeface="Calibri"/>
              </a:rPr>
              <a:t>Work</a:t>
            </a:r>
            <a:r>
              <a:rPr b="1" lang="en-US" sz="1800">
                <a:solidFill>
                  <a:schemeClr val="dk1"/>
                </a:solidFill>
                <a:latin typeface="Calibri"/>
                <a:ea typeface="Calibri"/>
                <a:cs typeface="Calibri"/>
                <a:sym typeface="Calibri"/>
              </a:rPr>
              <a:t> = </a:t>
            </a:r>
            <a:r>
              <a:rPr b="1" i="1" lang="en-US" sz="1800">
                <a:solidFill>
                  <a:schemeClr val="dk1"/>
                </a:solidFill>
                <a:latin typeface="Calibri"/>
                <a:ea typeface="Calibri"/>
                <a:cs typeface="Calibri"/>
                <a:sym typeface="Calibri"/>
              </a:rPr>
              <a:t>Work </a:t>
            </a:r>
            <a:r>
              <a:rPr b="1" lang="en-US" sz="1800">
                <a:solidFill>
                  <a:schemeClr val="dk1"/>
                </a:solidFill>
                <a:latin typeface="Calibri"/>
                <a:ea typeface="Calibri"/>
                <a:cs typeface="Calibri"/>
                <a:sym typeface="Calibri"/>
              </a:rPr>
              <a:t>+ </a:t>
            </a:r>
            <a:r>
              <a:rPr b="1" i="1" lang="en-US" sz="1800">
                <a:solidFill>
                  <a:schemeClr val="dk1"/>
                </a:solidFill>
                <a:latin typeface="Calibri"/>
                <a:ea typeface="Calibri"/>
                <a:cs typeface="Calibri"/>
                <a:sym typeface="Calibri"/>
              </a:rPr>
              <a:t>Allocation</a:t>
            </a:r>
            <a:r>
              <a:rPr b="1" baseline="-25000" i="1" lang="en-US" sz="1800">
                <a:solidFill>
                  <a:schemeClr val="dk1"/>
                </a:solidFill>
                <a:latin typeface="Calibri"/>
                <a:ea typeface="Calibri"/>
                <a:cs typeface="Calibri"/>
                <a:sym typeface="Calibri"/>
              </a:rPr>
              <a:t>i</a:t>
            </a:r>
            <a:br>
              <a:rPr b="1" lang="en-US" sz="1800">
                <a:solidFill>
                  <a:schemeClr val="dk1"/>
                </a:solidFill>
                <a:latin typeface="Calibri"/>
                <a:ea typeface="Calibri"/>
                <a:cs typeface="Calibri"/>
                <a:sym typeface="Calibri"/>
              </a:rPr>
            </a:br>
            <a:r>
              <a:rPr b="1" i="1" lang="en-US" sz="1800">
                <a:solidFill>
                  <a:schemeClr val="dk1"/>
                </a:solidFill>
                <a:latin typeface="Calibri"/>
                <a:ea typeface="Calibri"/>
                <a:cs typeface="Calibri"/>
                <a:sym typeface="Calibri"/>
              </a:rPr>
              <a:t>Finish</a:t>
            </a:r>
            <a:r>
              <a:rPr b="1" lang="en-US" sz="1800">
                <a:solidFill>
                  <a:schemeClr val="dk1"/>
                </a:solidFill>
                <a:latin typeface="Calibri"/>
                <a:ea typeface="Calibri"/>
                <a:cs typeface="Calibri"/>
                <a:sym typeface="Calibri"/>
              </a:rPr>
              <a:t>[</a:t>
            </a:r>
            <a:r>
              <a:rPr b="1" i="1" lang="en-US" sz="1800">
                <a:solidFill>
                  <a:schemeClr val="dk1"/>
                </a:solidFill>
                <a:latin typeface="Calibri"/>
                <a:ea typeface="Calibri"/>
                <a:cs typeface="Calibri"/>
                <a:sym typeface="Calibri"/>
              </a:rPr>
              <a:t>i</a:t>
            </a:r>
            <a:r>
              <a:rPr b="1" lang="en-US" sz="1800">
                <a:solidFill>
                  <a:schemeClr val="dk1"/>
                </a:solidFill>
                <a:latin typeface="Calibri"/>
                <a:ea typeface="Calibri"/>
                <a:cs typeface="Calibri"/>
                <a:sym typeface="Calibri"/>
              </a:rPr>
              <a:t>] =</a:t>
            </a:r>
            <a:r>
              <a:rPr b="1" i="1" lang="en-US" sz="1800">
                <a:solidFill>
                  <a:schemeClr val="dk1"/>
                </a:solidFill>
                <a:latin typeface="Calibri"/>
                <a:ea typeface="Calibri"/>
                <a:cs typeface="Calibri"/>
                <a:sym typeface="Calibri"/>
              </a:rPr>
              <a:t> true</a:t>
            </a:r>
            <a:br>
              <a:rPr b="1"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go to step 2</a:t>
            </a:r>
            <a:endParaRPr/>
          </a:p>
          <a:p>
            <a:pPr indent="-337058" lvl="0" marL="342900" marR="0" rtl="0" algn="l">
              <a:lnSpc>
                <a:spcPct val="90000"/>
              </a:lnSpc>
              <a:spcBef>
                <a:spcPts val="18"/>
              </a:spcBef>
              <a:spcAft>
                <a:spcPts val="0"/>
              </a:spcAft>
              <a:buClr>
                <a:schemeClr val="dk1"/>
              </a:buClr>
              <a:buSzPct val="100000"/>
              <a:buFont typeface="Arial"/>
              <a:buNone/>
            </a:pPr>
            <a:r>
              <a:t/>
            </a:r>
            <a:endParaRPr sz="100">
              <a:solidFill>
                <a:schemeClr val="dk1"/>
              </a:solidFill>
              <a:latin typeface="Calibri"/>
              <a:ea typeface="Calibri"/>
              <a:cs typeface="Calibri"/>
              <a:sym typeface="Calibri"/>
            </a:endParaRPr>
          </a:p>
          <a:p>
            <a:pPr indent="-342900" lvl="0" marL="342900" marR="0" rtl="0" algn="l">
              <a:lnSpc>
                <a:spcPct val="90000"/>
              </a:lnSpc>
              <a:spcBef>
                <a:spcPts val="333"/>
              </a:spcBef>
              <a:spcAft>
                <a:spcPts val="0"/>
              </a:spcAft>
              <a:buClr>
                <a:schemeClr val="dk1"/>
              </a:buClr>
              <a:buSzPct val="100000"/>
              <a:buFont typeface="Arial"/>
              <a:buNone/>
            </a:pPr>
            <a:r>
              <a:rPr lang="en-US" sz="1800">
                <a:solidFill>
                  <a:schemeClr val="dk1"/>
                </a:solidFill>
                <a:latin typeface="Calibri"/>
                <a:ea typeface="Calibri"/>
                <a:cs typeface="Calibri"/>
                <a:sym typeface="Calibri"/>
              </a:rPr>
              <a:t>4.	If </a:t>
            </a:r>
            <a:r>
              <a:rPr b="1" i="1" lang="en-US" sz="1800">
                <a:solidFill>
                  <a:schemeClr val="dk1"/>
                </a:solidFill>
                <a:latin typeface="Calibri"/>
                <a:ea typeface="Calibri"/>
                <a:cs typeface="Calibri"/>
                <a:sym typeface="Calibri"/>
              </a:rPr>
              <a:t>Finish</a:t>
            </a:r>
            <a:r>
              <a:rPr b="1" lang="en-US" sz="1800">
                <a:solidFill>
                  <a:schemeClr val="dk1"/>
                </a:solidFill>
                <a:latin typeface="Calibri"/>
                <a:ea typeface="Calibri"/>
                <a:cs typeface="Calibri"/>
                <a:sym typeface="Calibri"/>
              </a:rPr>
              <a:t> [</a:t>
            </a:r>
            <a:r>
              <a:rPr b="1" i="1" lang="en-US" sz="1800">
                <a:solidFill>
                  <a:schemeClr val="dk1"/>
                </a:solidFill>
                <a:latin typeface="Calibri"/>
                <a:ea typeface="Calibri"/>
                <a:cs typeface="Calibri"/>
                <a:sym typeface="Calibri"/>
              </a:rPr>
              <a:t>i</a:t>
            </a:r>
            <a:r>
              <a:rPr b="1" lang="en-US" sz="1800">
                <a:solidFill>
                  <a:schemeClr val="dk1"/>
                </a:solidFill>
                <a:latin typeface="Calibri"/>
                <a:ea typeface="Calibri"/>
                <a:cs typeface="Calibri"/>
                <a:sym typeface="Calibri"/>
              </a:rPr>
              <a:t>] == </a:t>
            </a:r>
            <a:r>
              <a:rPr b="1" i="1" lang="en-US" sz="1800">
                <a:solidFill>
                  <a:schemeClr val="dk1"/>
                </a:solidFill>
                <a:latin typeface="Calibri"/>
                <a:ea typeface="Calibri"/>
                <a:cs typeface="Calibri"/>
                <a:sym typeface="Calibri"/>
              </a:rPr>
              <a:t>true</a:t>
            </a:r>
            <a:r>
              <a:rPr b="1" lang="en-US" sz="18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for all </a:t>
            </a:r>
            <a:r>
              <a:rPr b="1" i="1" lang="en-US" sz="1800">
                <a:solidFill>
                  <a:schemeClr val="dk1"/>
                </a:solidFill>
                <a:latin typeface="Calibri"/>
                <a:ea typeface="Calibri"/>
                <a:cs typeface="Calibri"/>
                <a:sym typeface="Calibri"/>
              </a:rPr>
              <a:t>i</a:t>
            </a:r>
            <a:r>
              <a:rPr lang="en-US" sz="1800">
                <a:solidFill>
                  <a:schemeClr val="dk1"/>
                </a:solidFill>
                <a:latin typeface="Calibri"/>
                <a:ea typeface="Calibri"/>
                <a:cs typeface="Calibri"/>
                <a:sym typeface="Calibri"/>
              </a:rPr>
              <a:t>, then the system is in a safe state</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90"/>
          <p:cNvSpPr txBox="1"/>
          <p:nvPr>
            <p:ph type="title"/>
          </p:nvPr>
        </p:nvSpPr>
        <p:spPr>
          <a:xfrm>
            <a:off x="152400" y="4191000"/>
            <a:ext cx="38862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2000"/>
              <a:buFont typeface="Calibri"/>
              <a:buNone/>
            </a:pPr>
            <a:br>
              <a:rPr lang="en-US" sz="2000"/>
            </a:br>
            <a:r>
              <a:rPr lang="en-US" sz="2000"/>
              <a:t>Work=[2,8,8,6]</a:t>
            </a:r>
            <a:br>
              <a:rPr lang="en-US" sz="2000"/>
            </a:br>
            <a:r>
              <a:rPr lang="en-US" sz="2000"/>
              <a:t>For P3, Need ≤Work</a:t>
            </a:r>
            <a:br>
              <a:rPr lang="en-US" sz="2000"/>
            </a:br>
            <a:r>
              <a:rPr lang="en-US" sz="2000"/>
              <a:t>[0,0,2,0]&lt;Work</a:t>
            </a:r>
            <a:br>
              <a:rPr lang="en-US" sz="2000"/>
            </a:br>
            <a:r>
              <a:rPr lang="en-US" sz="2000"/>
              <a:t>Safe Sequence=&lt;P0,P2,P3&gt;</a:t>
            </a:r>
            <a:br>
              <a:rPr lang="en-US" sz="2000"/>
            </a:br>
            <a:r>
              <a:rPr lang="en-US" sz="2000"/>
              <a:t>Work=[2,8,8,6]+[0,6,3,2]</a:t>
            </a:r>
            <a:br>
              <a:rPr lang="en-US" sz="2000"/>
            </a:br>
            <a:r>
              <a:rPr lang="en-US" sz="2000"/>
              <a:t>=[2,14,11,8]</a:t>
            </a:r>
            <a:br>
              <a:rPr lang="en-US" sz="2000"/>
            </a:br>
            <a:r>
              <a:rPr lang="en-US" sz="2000"/>
              <a:t>For P4, Need ≤ Work</a:t>
            </a:r>
            <a:br>
              <a:rPr lang="en-US" sz="2000"/>
            </a:br>
            <a:r>
              <a:rPr lang="en-US" sz="2000"/>
              <a:t>[0,6,4,2]&lt;Work</a:t>
            </a:r>
            <a:br>
              <a:rPr lang="en-US" sz="2000"/>
            </a:br>
            <a:r>
              <a:rPr lang="en-US" sz="2000"/>
              <a:t>Safe Sequence=&lt;P0,P2,P3,P4&gt;</a:t>
            </a:r>
            <a:br>
              <a:rPr lang="en-US" sz="2000"/>
            </a:br>
            <a:r>
              <a:rPr lang="en-US" sz="2000"/>
              <a:t>Work=[2,14,11,8]+[0,0,1,4]</a:t>
            </a:r>
            <a:br>
              <a:rPr lang="en-US" sz="2000"/>
            </a:br>
            <a:r>
              <a:rPr lang="en-US" sz="2000"/>
              <a:t>=[2,14,12,12]</a:t>
            </a:r>
            <a:br>
              <a:rPr lang="en-US" sz="2000"/>
            </a:br>
            <a:br>
              <a:rPr lang="en-US" sz="2000"/>
            </a:br>
            <a:br>
              <a:rPr lang="en-US" sz="2000"/>
            </a:br>
            <a:endParaRPr sz="2000"/>
          </a:p>
        </p:txBody>
      </p:sp>
      <p:graphicFrame>
        <p:nvGraphicFramePr>
          <p:cNvPr id="1070" name="Google Shape;1070;p90"/>
          <p:cNvGraphicFramePr/>
          <p:nvPr/>
        </p:nvGraphicFramePr>
        <p:xfrm>
          <a:off x="533400" y="13855"/>
          <a:ext cx="3000000" cy="3000000"/>
        </p:xfrm>
        <a:graphic>
          <a:graphicData uri="http://schemas.openxmlformats.org/drawingml/2006/table">
            <a:tbl>
              <a:tblPr bandRow="1" firstCol="1" firstRow="1">
                <a:noFill/>
                <a:tableStyleId>{81577878-F0BF-430C-8C56-D3E61FE2EFA2}</a:tableStyleId>
              </a:tblPr>
              <a:tblGrid>
                <a:gridCol w="1081775"/>
                <a:gridCol w="439325"/>
                <a:gridCol w="439325"/>
                <a:gridCol w="439325"/>
                <a:gridCol w="439325"/>
                <a:gridCol w="439325"/>
                <a:gridCol w="439325"/>
                <a:gridCol w="439325"/>
                <a:gridCol w="439325"/>
                <a:gridCol w="439325"/>
                <a:gridCol w="439325"/>
                <a:gridCol w="439325"/>
                <a:gridCol w="439325"/>
                <a:gridCol w="329475"/>
                <a:gridCol w="439325"/>
                <a:gridCol w="439325"/>
                <a:gridCol w="439325"/>
              </a:tblGrid>
              <a:tr h="214750">
                <a:tc rowSpan="2">
                  <a:txBody>
                    <a:bodyPr/>
                    <a:lstStyle/>
                    <a:p>
                      <a:pPr indent="0" lvl="0" marL="0" marR="0" rtl="0" algn="ctr">
                        <a:spcBef>
                          <a:spcPts val="0"/>
                        </a:spcBef>
                        <a:spcAft>
                          <a:spcPts val="0"/>
                        </a:spcAft>
                        <a:buNone/>
                      </a:pPr>
                      <a:r>
                        <a:rPr lang="en-US" sz="1600"/>
                        <a:t>Process</a:t>
                      </a:r>
                      <a:endParaRPr/>
                    </a:p>
                  </a:txBody>
                  <a:tcPr marT="0" marB="0" marR="68525" marL="68525"/>
                </a:tc>
                <a:tc gridSpan="4">
                  <a:txBody>
                    <a:bodyPr/>
                    <a:lstStyle/>
                    <a:p>
                      <a:pPr indent="0" lvl="0" marL="0" marR="0" rtl="0" algn="ctr">
                        <a:spcBef>
                          <a:spcPts val="0"/>
                        </a:spcBef>
                        <a:spcAft>
                          <a:spcPts val="0"/>
                        </a:spcAft>
                        <a:buNone/>
                      </a:pPr>
                      <a:r>
                        <a:rPr lang="en-US" sz="1600"/>
                        <a:t>Allocation</a:t>
                      </a:r>
                      <a:endParaRPr/>
                    </a:p>
                  </a:txBody>
                  <a:tcPr marT="0" marB="0" marR="68525" marL="68525"/>
                </a:tc>
                <a:tc hMerge="1"/>
                <a:tc hMerge="1"/>
                <a:tc hMerge="1"/>
                <a:tc gridSpan="4">
                  <a:txBody>
                    <a:bodyPr/>
                    <a:lstStyle/>
                    <a:p>
                      <a:pPr indent="0" lvl="0" marL="0" marR="0" rtl="0" algn="ctr">
                        <a:spcBef>
                          <a:spcPts val="0"/>
                        </a:spcBef>
                        <a:spcAft>
                          <a:spcPts val="0"/>
                        </a:spcAft>
                        <a:buNone/>
                      </a:pPr>
                      <a:r>
                        <a:rPr lang="en-US" sz="1600"/>
                        <a:t>Max</a:t>
                      </a:r>
                      <a:endParaRPr/>
                    </a:p>
                  </a:txBody>
                  <a:tcPr marT="0" marB="0" marR="68525" marL="68525"/>
                </a:tc>
                <a:tc hMerge="1"/>
                <a:tc hMerge="1"/>
                <a:tc hMerge="1"/>
                <a:tc gridSpan="4">
                  <a:txBody>
                    <a:bodyPr/>
                    <a:lstStyle/>
                    <a:p>
                      <a:pPr indent="0" lvl="0" marL="0" marR="0" rtl="0" algn="ctr">
                        <a:spcBef>
                          <a:spcPts val="0"/>
                        </a:spcBef>
                        <a:spcAft>
                          <a:spcPts val="0"/>
                        </a:spcAft>
                        <a:buNone/>
                      </a:pPr>
                      <a:r>
                        <a:rPr lang="en-US" sz="1600"/>
                        <a:t>Available</a:t>
                      </a:r>
                      <a:endParaRPr/>
                    </a:p>
                  </a:txBody>
                  <a:tcPr marT="0" marB="0" marR="68525" marL="68525"/>
                </a:tc>
                <a:tc hMerge="1"/>
                <a:tc hMerge="1"/>
                <a:tc hMerge="1"/>
                <a:tc gridSpan="4">
                  <a:txBody>
                    <a:bodyPr/>
                    <a:lstStyle/>
                    <a:p>
                      <a:pPr indent="0" lvl="0" marL="0" marR="0" rtl="0" algn="ctr">
                        <a:spcBef>
                          <a:spcPts val="0"/>
                        </a:spcBef>
                        <a:spcAft>
                          <a:spcPts val="0"/>
                        </a:spcAft>
                        <a:buNone/>
                      </a:pPr>
                      <a:r>
                        <a:rPr lang="en-US" sz="1600"/>
                        <a:t>Need</a:t>
                      </a:r>
                      <a:endParaRPr sz="1600"/>
                    </a:p>
                  </a:txBody>
                  <a:tcPr marT="0" marB="0" marR="68525" marL="68525"/>
                </a:tc>
                <a:tc hMerge="1"/>
                <a:tc hMerge="1"/>
                <a:tc hMerge="1"/>
              </a:tr>
              <a:tr h="214750">
                <a:tc vMerge="1"/>
                <a:tc>
                  <a:txBody>
                    <a:bodyPr/>
                    <a:lstStyle/>
                    <a:p>
                      <a:pPr indent="0" lvl="0" marL="0" marR="0" rtl="0" algn="ctr">
                        <a:spcBef>
                          <a:spcPts val="0"/>
                        </a:spcBef>
                        <a:spcAft>
                          <a:spcPts val="0"/>
                        </a:spcAft>
                        <a:buNone/>
                      </a:pPr>
                      <a:r>
                        <a:rPr lang="en-US" sz="1600"/>
                        <a:t>A</a:t>
                      </a:r>
                      <a:endParaRPr/>
                    </a:p>
                  </a:txBody>
                  <a:tcPr marT="0" marB="0" marR="68525" marL="68525"/>
                </a:tc>
                <a:tc>
                  <a:txBody>
                    <a:bodyPr/>
                    <a:lstStyle/>
                    <a:p>
                      <a:pPr indent="0" lvl="0" marL="0" marR="0" rtl="0" algn="ctr">
                        <a:spcBef>
                          <a:spcPts val="0"/>
                        </a:spcBef>
                        <a:spcAft>
                          <a:spcPts val="0"/>
                        </a:spcAft>
                        <a:buNone/>
                      </a:pPr>
                      <a:r>
                        <a:rPr lang="en-US" sz="1600"/>
                        <a:t>B</a:t>
                      </a:r>
                      <a:endParaRPr/>
                    </a:p>
                  </a:txBody>
                  <a:tcPr marT="0" marB="0" marR="68525" marL="68525"/>
                </a:tc>
                <a:tc>
                  <a:txBody>
                    <a:bodyPr/>
                    <a:lstStyle/>
                    <a:p>
                      <a:pPr indent="0" lvl="0" marL="0" marR="0" rtl="0" algn="ctr">
                        <a:spcBef>
                          <a:spcPts val="0"/>
                        </a:spcBef>
                        <a:spcAft>
                          <a:spcPts val="0"/>
                        </a:spcAft>
                        <a:buNone/>
                      </a:pPr>
                      <a:r>
                        <a:rPr lang="en-US" sz="1600"/>
                        <a:t>C</a:t>
                      </a:r>
                      <a:endParaRPr/>
                    </a:p>
                  </a:txBody>
                  <a:tcPr marT="0" marB="0" marR="68525" marL="68525"/>
                </a:tc>
                <a:tc>
                  <a:txBody>
                    <a:bodyPr/>
                    <a:lstStyle/>
                    <a:p>
                      <a:pPr indent="0" lvl="0" marL="0" marR="0" rtl="0" algn="ctr">
                        <a:spcBef>
                          <a:spcPts val="0"/>
                        </a:spcBef>
                        <a:spcAft>
                          <a:spcPts val="0"/>
                        </a:spcAft>
                        <a:buNone/>
                      </a:pPr>
                      <a:r>
                        <a:rPr lang="en-US" sz="1600"/>
                        <a:t>D</a:t>
                      </a:r>
                      <a:endParaRPr/>
                    </a:p>
                  </a:txBody>
                  <a:tcPr marT="0" marB="0" marR="68525" marL="68525"/>
                </a:tc>
                <a:tc>
                  <a:txBody>
                    <a:bodyPr/>
                    <a:lstStyle/>
                    <a:p>
                      <a:pPr indent="0" lvl="0" marL="0" marR="0" rtl="0" algn="ctr">
                        <a:spcBef>
                          <a:spcPts val="0"/>
                        </a:spcBef>
                        <a:spcAft>
                          <a:spcPts val="0"/>
                        </a:spcAft>
                        <a:buNone/>
                      </a:pPr>
                      <a:r>
                        <a:rPr lang="en-US" sz="1600"/>
                        <a:t>A</a:t>
                      </a:r>
                      <a:endParaRPr/>
                    </a:p>
                  </a:txBody>
                  <a:tcPr marT="0" marB="0" marR="68525" marL="68525"/>
                </a:tc>
                <a:tc>
                  <a:txBody>
                    <a:bodyPr/>
                    <a:lstStyle/>
                    <a:p>
                      <a:pPr indent="0" lvl="0" marL="0" marR="0" rtl="0" algn="ctr">
                        <a:spcBef>
                          <a:spcPts val="0"/>
                        </a:spcBef>
                        <a:spcAft>
                          <a:spcPts val="0"/>
                        </a:spcAft>
                        <a:buNone/>
                      </a:pPr>
                      <a:r>
                        <a:rPr lang="en-US" sz="1600"/>
                        <a:t>B</a:t>
                      </a:r>
                      <a:endParaRPr/>
                    </a:p>
                  </a:txBody>
                  <a:tcPr marT="0" marB="0" marR="68525" marL="68525"/>
                </a:tc>
                <a:tc>
                  <a:txBody>
                    <a:bodyPr/>
                    <a:lstStyle/>
                    <a:p>
                      <a:pPr indent="0" lvl="0" marL="0" marR="0" rtl="0" algn="ctr">
                        <a:spcBef>
                          <a:spcPts val="0"/>
                        </a:spcBef>
                        <a:spcAft>
                          <a:spcPts val="0"/>
                        </a:spcAft>
                        <a:buNone/>
                      </a:pPr>
                      <a:r>
                        <a:rPr lang="en-US" sz="1600"/>
                        <a:t>C</a:t>
                      </a:r>
                      <a:endParaRPr/>
                    </a:p>
                  </a:txBody>
                  <a:tcPr marT="0" marB="0" marR="68525" marL="68525"/>
                </a:tc>
                <a:tc>
                  <a:txBody>
                    <a:bodyPr/>
                    <a:lstStyle/>
                    <a:p>
                      <a:pPr indent="0" lvl="0" marL="0" marR="0" rtl="0" algn="ctr">
                        <a:spcBef>
                          <a:spcPts val="0"/>
                        </a:spcBef>
                        <a:spcAft>
                          <a:spcPts val="0"/>
                        </a:spcAft>
                        <a:buNone/>
                      </a:pPr>
                      <a:r>
                        <a:rPr lang="en-US" sz="1600"/>
                        <a:t>D</a:t>
                      </a:r>
                      <a:endParaRPr/>
                    </a:p>
                  </a:txBody>
                  <a:tcPr marT="0" marB="0" marR="68525" marL="68525"/>
                </a:tc>
                <a:tc>
                  <a:txBody>
                    <a:bodyPr/>
                    <a:lstStyle/>
                    <a:p>
                      <a:pPr indent="0" lvl="0" marL="0" marR="0" rtl="0" algn="ctr">
                        <a:spcBef>
                          <a:spcPts val="0"/>
                        </a:spcBef>
                        <a:spcAft>
                          <a:spcPts val="0"/>
                        </a:spcAft>
                        <a:buNone/>
                      </a:pPr>
                      <a:r>
                        <a:rPr lang="en-US" sz="1600"/>
                        <a:t>A</a:t>
                      </a:r>
                      <a:endParaRPr/>
                    </a:p>
                  </a:txBody>
                  <a:tcPr marT="0" marB="0" marR="68525" marL="68525"/>
                </a:tc>
                <a:tc>
                  <a:txBody>
                    <a:bodyPr/>
                    <a:lstStyle/>
                    <a:p>
                      <a:pPr indent="0" lvl="0" marL="0" marR="0" rtl="0" algn="ctr">
                        <a:spcBef>
                          <a:spcPts val="0"/>
                        </a:spcBef>
                        <a:spcAft>
                          <a:spcPts val="0"/>
                        </a:spcAft>
                        <a:buNone/>
                      </a:pPr>
                      <a:r>
                        <a:rPr lang="en-US" sz="1600"/>
                        <a:t>B</a:t>
                      </a:r>
                      <a:endParaRPr/>
                    </a:p>
                  </a:txBody>
                  <a:tcPr marT="0" marB="0" marR="68525" marL="68525"/>
                </a:tc>
                <a:tc>
                  <a:txBody>
                    <a:bodyPr/>
                    <a:lstStyle/>
                    <a:p>
                      <a:pPr indent="0" lvl="0" marL="0" marR="0" rtl="0" algn="ctr">
                        <a:spcBef>
                          <a:spcPts val="0"/>
                        </a:spcBef>
                        <a:spcAft>
                          <a:spcPts val="0"/>
                        </a:spcAft>
                        <a:buNone/>
                      </a:pPr>
                      <a:r>
                        <a:rPr lang="en-US" sz="1600"/>
                        <a:t>C</a:t>
                      </a:r>
                      <a:endParaRPr/>
                    </a:p>
                  </a:txBody>
                  <a:tcPr marT="0" marB="0" marR="68525" marL="68525"/>
                </a:tc>
                <a:tc>
                  <a:txBody>
                    <a:bodyPr/>
                    <a:lstStyle/>
                    <a:p>
                      <a:pPr indent="0" lvl="0" marL="0" marR="0" rtl="0" algn="ctr">
                        <a:spcBef>
                          <a:spcPts val="0"/>
                        </a:spcBef>
                        <a:spcAft>
                          <a:spcPts val="0"/>
                        </a:spcAft>
                        <a:buNone/>
                      </a:pPr>
                      <a:r>
                        <a:rPr lang="en-US" sz="1600"/>
                        <a:t>D</a:t>
                      </a:r>
                      <a:endParaRPr/>
                    </a:p>
                  </a:txBody>
                  <a:tcPr marT="0" marB="0" marR="68525" marL="68525"/>
                </a:tc>
                <a:tc>
                  <a:txBody>
                    <a:bodyPr/>
                    <a:lstStyle/>
                    <a:p>
                      <a:pPr indent="0" lvl="0" marL="0" marR="0" rtl="0" algn="ctr">
                        <a:spcBef>
                          <a:spcPts val="0"/>
                        </a:spcBef>
                        <a:spcAft>
                          <a:spcPts val="0"/>
                        </a:spcAft>
                        <a:buNone/>
                      </a:pPr>
                      <a:r>
                        <a:rPr lang="en-US" sz="1600"/>
                        <a:t>A</a:t>
                      </a:r>
                      <a:endParaRPr sz="1600"/>
                    </a:p>
                  </a:txBody>
                  <a:tcPr marT="0" marB="0" marR="68525" marL="68525"/>
                </a:tc>
                <a:tc>
                  <a:txBody>
                    <a:bodyPr/>
                    <a:lstStyle/>
                    <a:p>
                      <a:pPr indent="0" lvl="0" marL="0" marR="0" rtl="0" algn="ctr">
                        <a:spcBef>
                          <a:spcPts val="0"/>
                        </a:spcBef>
                        <a:spcAft>
                          <a:spcPts val="0"/>
                        </a:spcAft>
                        <a:buNone/>
                      </a:pPr>
                      <a:r>
                        <a:rPr lang="en-US" sz="1600"/>
                        <a:t>B</a:t>
                      </a:r>
                      <a:endParaRPr sz="1600"/>
                    </a:p>
                  </a:txBody>
                  <a:tcPr marT="0" marB="0" marR="68525" marL="68525"/>
                </a:tc>
                <a:tc>
                  <a:txBody>
                    <a:bodyPr/>
                    <a:lstStyle/>
                    <a:p>
                      <a:pPr indent="0" lvl="0" marL="0" marR="0" rtl="0" algn="ctr">
                        <a:spcBef>
                          <a:spcPts val="0"/>
                        </a:spcBef>
                        <a:spcAft>
                          <a:spcPts val="0"/>
                        </a:spcAft>
                        <a:buNone/>
                      </a:pPr>
                      <a:r>
                        <a:rPr lang="en-US" sz="1600"/>
                        <a:t>C</a:t>
                      </a:r>
                      <a:endParaRPr sz="1600"/>
                    </a:p>
                  </a:txBody>
                  <a:tcPr marT="0" marB="0" marR="68525" marL="68525"/>
                </a:tc>
                <a:tc>
                  <a:txBody>
                    <a:bodyPr/>
                    <a:lstStyle/>
                    <a:p>
                      <a:pPr indent="0" lvl="0" marL="0" marR="0" rtl="0" algn="ctr">
                        <a:spcBef>
                          <a:spcPts val="0"/>
                        </a:spcBef>
                        <a:spcAft>
                          <a:spcPts val="0"/>
                        </a:spcAft>
                        <a:buNone/>
                      </a:pPr>
                      <a:r>
                        <a:rPr lang="en-US" sz="1600"/>
                        <a:t>D</a:t>
                      </a:r>
                      <a:endParaRPr sz="1600"/>
                    </a:p>
                  </a:txBody>
                  <a:tcPr marT="0" marB="0" marR="68525" marL="68525"/>
                </a:tc>
              </a:tr>
              <a:tr h="214750">
                <a:tc>
                  <a:txBody>
                    <a:bodyPr/>
                    <a:lstStyle/>
                    <a:p>
                      <a:pPr indent="0" lvl="0" marL="0" marR="0" rtl="0" algn="ctr">
                        <a:spcBef>
                          <a:spcPts val="0"/>
                        </a:spcBef>
                        <a:spcAft>
                          <a:spcPts val="0"/>
                        </a:spcAft>
                        <a:buNone/>
                      </a:pPr>
                      <a:r>
                        <a:rPr lang="en-US" sz="1600"/>
                        <a:t>P0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r>
              <a:tr h="429500">
                <a:tc>
                  <a:txBody>
                    <a:bodyPr/>
                    <a:lstStyle/>
                    <a:p>
                      <a:pPr indent="0" lvl="0" marL="0" marR="0" rtl="0" algn="ctr">
                        <a:spcBef>
                          <a:spcPts val="0"/>
                        </a:spcBef>
                        <a:spcAft>
                          <a:spcPts val="0"/>
                        </a:spcAft>
                        <a:buNone/>
                      </a:pPr>
                      <a:r>
                        <a:rPr lang="en-US" sz="1600"/>
                        <a:t>P1</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7</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7</a:t>
                      </a:r>
                      <a:endParaRPr sz="1600"/>
                    </a:p>
                  </a:txBody>
                  <a:tcPr marT="0" marB="0" marR="68525" marL="68525"/>
                </a:tc>
                <a:tc>
                  <a:txBody>
                    <a:bodyPr/>
                    <a:lstStyle/>
                    <a:p>
                      <a:pPr indent="0" lvl="0" marL="0" marR="0" rtl="0" algn="ctr">
                        <a:spcBef>
                          <a:spcPts val="0"/>
                        </a:spcBef>
                        <a:spcAft>
                          <a:spcPts val="0"/>
                        </a:spcAft>
                        <a:buNone/>
                      </a:pPr>
                      <a:r>
                        <a:rPr lang="en-US" sz="1600"/>
                        <a:t>5</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r>
              <a:tr h="429500">
                <a:tc>
                  <a:txBody>
                    <a:bodyPr/>
                    <a:lstStyle/>
                    <a:p>
                      <a:pPr indent="0" lvl="0" marL="0" marR="0" rtl="0" algn="ctr">
                        <a:spcBef>
                          <a:spcPts val="0"/>
                        </a:spcBef>
                        <a:spcAft>
                          <a:spcPts val="0"/>
                        </a:spcAft>
                        <a:buNone/>
                      </a:pPr>
                      <a:r>
                        <a:rPr lang="en-US" sz="1600"/>
                        <a:t>P2</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3</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4</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r>
                        <a:rPr lang="en-US" sz="1600"/>
                        <a:t>3</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6</a:t>
                      </a:r>
                      <a:endParaRPr/>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r>
                        <a:rPr lang="en-US" sz="1600"/>
                        <a:t>1</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2</a:t>
                      </a:r>
                      <a:endParaRPr sz="1600"/>
                    </a:p>
                  </a:txBody>
                  <a:tcPr marT="0" marB="0" marR="68525" marL="68525"/>
                </a:tc>
              </a:tr>
              <a:tr h="429500">
                <a:tc>
                  <a:txBody>
                    <a:bodyPr/>
                    <a:lstStyle/>
                    <a:p>
                      <a:pPr indent="0" lvl="0" marL="0" marR="0" rtl="0" algn="ctr">
                        <a:spcBef>
                          <a:spcPts val="0"/>
                        </a:spcBef>
                        <a:spcAft>
                          <a:spcPts val="0"/>
                        </a:spcAft>
                        <a:buNone/>
                      </a:pPr>
                      <a:r>
                        <a:rPr lang="en-US" sz="1600"/>
                        <a:t>P3</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6</a:t>
                      </a:r>
                      <a:endParaRPr/>
                    </a:p>
                  </a:txBody>
                  <a:tcPr marT="0" marB="0" marR="68525" marL="68525"/>
                </a:tc>
                <a:tc>
                  <a:txBody>
                    <a:bodyPr/>
                    <a:lstStyle/>
                    <a:p>
                      <a:pPr indent="0" lvl="0" marL="0" marR="0" rtl="0" algn="ctr">
                        <a:spcBef>
                          <a:spcPts val="0"/>
                        </a:spcBef>
                        <a:spcAft>
                          <a:spcPts val="0"/>
                        </a:spcAft>
                        <a:buNone/>
                      </a:pPr>
                      <a:r>
                        <a:rPr lang="en-US" sz="1600"/>
                        <a:t>3</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6</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2</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r>
              <a:tr h="429500">
                <a:tc>
                  <a:txBody>
                    <a:bodyPr/>
                    <a:lstStyle/>
                    <a:p>
                      <a:pPr indent="0" lvl="0" marL="0" marR="0" rtl="0" algn="ctr">
                        <a:spcBef>
                          <a:spcPts val="0"/>
                        </a:spcBef>
                        <a:spcAft>
                          <a:spcPts val="0"/>
                        </a:spcAft>
                        <a:buNone/>
                      </a:pPr>
                      <a:r>
                        <a:rPr lang="en-US" sz="1600"/>
                        <a:t>P4</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4</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6</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6</a:t>
                      </a:r>
                      <a:endParaRPr/>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r>
                        <a:t/>
                      </a:r>
                      <a:endParaRPr sz="1600"/>
                    </a:p>
                  </a:txBody>
                  <a:tcPr marT="0" marB="0" marR="68525" marL="68525"/>
                </a:tc>
                <a:tc>
                  <a:txBody>
                    <a:bodyPr/>
                    <a:lstStyle/>
                    <a:p>
                      <a:pPr indent="0" lvl="0" marL="0" marR="0" rtl="0" algn="l">
                        <a:spcBef>
                          <a:spcPts val="0"/>
                        </a:spcBef>
                        <a:spcAft>
                          <a:spcPts val="0"/>
                        </a:spcAft>
                        <a:buNone/>
                      </a:pPr>
                      <a:r>
                        <a:t/>
                      </a:r>
                      <a:endParaRPr sz="1600"/>
                    </a:p>
                  </a:txBody>
                  <a:tcPr marT="45675" marB="45675" marR="91375" marL="91375"/>
                </a:tc>
                <a:tc>
                  <a:txBody>
                    <a:bodyPr/>
                    <a:lstStyle/>
                    <a:p>
                      <a:pPr indent="0" lvl="0" marL="0" marR="0" rtl="0" algn="l">
                        <a:spcBef>
                          <a:spcPts val="0"/>
                        </a:spcBef>
                        <a:spcAft>
                          <a:spcPts val="0"/>
                        </a:spcAft>
                        <a:buNone/>
                      </a:pPr>
                      <a:r>
                        <a:rPr lang="en-US" sz="1600"/>
                        <a:t>0</a:t>
                      </a:r>
                      <a:endParaRPr sz="1600"/>
                    </a:p>
                  </a:txBody>
                  <a:tcPr marT="45675" marB="45675" marR="91375" marL="91375"/>
                </a:tc>
                <a:tc>
                  <a:txBody>
                    <a:bodyPr/>
                    <a:lstStyle/>
                    <a:p>
                      <a:pPr indent="0" lvl="0" marL="0" marR="0" rtl="0" algn="l">
                        <a:spcBef>
                          <a:spcPts val="0"/>
                        </a:spcBef>
                        <a:spcAft>
                          <a:spcPts val="0"/>
                        </a:spcAft>
                        <a:buNone/>
                      </a:pPr>
                      <a:r>
                        <a:rPr lang="en-US" sz="1600"/>
                        <a:t>6</a:t>
                      </a:r>
                      <a:endParaRPr sz="1600"/>
                    </a:p>
                  </a:txBody>
                  <a:tcPr marT="45675" marB="45675" marR="91375" marL="91375"/>
                </a:tc>
                <a:tc>
                  <a:txBody>
                    <a:bodyPr/>
                    <a:lstStyle/>
                    <a:p>
                      <a:pPr indent="0" lvl="0" marL="0" marR="0" rtl="0" algn="l">
                        <a:spcBef>
                          <a:spcPts val="0"/>
                        </a:spcBef>
                        <a:spcAft>
                          <a:spcPts val="0"/>
                        </a:spcAft>
                        <a:buNone/>
                      </a:pPr>
                      <a:r>
                        <a:rPr lang="en-US" sz="1600"/>
                        <a:t>4</a:t>
                      </a:r>
                      <a:endParaRPr sz="1600"/>
                    </a:p>
                  </a:txBody>
                  <a:tcPr marT="45675" marB="45675" marR="91375" marL="91375"/>
                </a:tc>
                <a:tc>
                  <a:txBody>
                    <a:bodyPr/>
                    <a:lstStyle/>
                    <a:p>
                      <a:pPr indent="0" lvl="0" marL="0" marR="0" rtl="0" algn="l">
                        <a:spcBef>
                          <a:spcPts val="0"/>
                        </a:spcBef>
                        <a:spcAft>
                          <a:spcPts val="0"/>
                        </a:spcAft>
                        <a:buNone/>
                      </a:pPr>
                      <a:r>
                        <a:rPr lang="en-US" sz="1600"/>
                        <a:t>2</a:t>
                      </a:r>
                      <a:endParaRPr sz="1600"/>
                    </a:p>
                  </a:txBody>
                  <a:tcPr marT="45675" marB="45675" marR="91375" marL="91375"/>
                </a:tc>
              </a:tr>
            </a:tbl>
          </a:graphicData>
        </a:graphic>
      </p:graphicFrame>
      <p:sp>
        <p:nvSpPr>
          <p:cNvPr id="1071" name="Google Shape;1071;p9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072" name="Google Shape;1072;p9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073" name="Google Shape;1073;p9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74" name="Google Shape;1074;p90"/>
          <p:cNvSpPr/>
          <p:nvPr/>
        </p:nvSpPr>
        <p:spPr>
          <a:xfrm>
            <a:off x="457200" y="2446338"/>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Times New Roman"/>
              <a:buNone/>
            </a:pPr>
            <a:br>
              <a:rPr b="0" i="0" lang="en-US" sz="1200" u="none" cap="none" strike="noStrike">
                <a:solidFill>
                  <a:schemeClr val="dk1"/>
                </a:solidFill>
                <a:latin typeface="Times New Roman"/>
                <a:ea typeface="Times New Roman"/>
                <a:cs typeface="Times New Roman"/>
                <a:sym typeface="Times New Roman"/>
              </a:rPr>
            </a:br>
            <a:endParaRPr b="0" i="0" sz="1800" u="none" cap="none" strike="noStrike">
              <a:solidFill>
                <a:schemeClr val="dk1"/>
              </a:solidFill>
              <a:latin typeface="Arial"/>
              <a:ea typeface="Arial"/>
              <a:cs typeface="Arial"/>
              <a:sym typeface="Arial"/>
            </a:endParaRPr>
          </a:p>
        </p:txBody>
      </p:sp>
      <p:sp>
        <p:nvSpPr>
          <p:cNvPr id="1075" name="Google Shape;1075;p90"/>
          <p:cNvSpPr txBox="1"/>
          <p:nvPr/>
        </p:nvSpPr>
        <p:spPr>
          <a:xfrm>
            <a:off x="4227946" y="3124200"/>
            <a:ext cx="4775200" cy="2809875"/>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marR="0" rtl="0" algn="l">
              <a:lnSpc>
                <a:spcPct val="90000"/>
              </a:lnSpc>
              <a:spcBef>
                <a:spcPts val="0"/>
              </a:spcBef>
              <a:spcAft>
                <a:spcPts val="0"/>
              </a:spcAft>
              <a:buClr>
                <a:schemeClr val="dk1"/>
              </a:buClr>
              <a:buSzPct val="100000"/>
              <a:buFont typeface="Arial"/>
              <a:buNone/>
            </a:pPr>
            <a:r>
              <a:rPr lang="en-US" sz="2800">
                <a:solidFill>
                  <a:schemeClr val="dk1"/>
                </a:solidFill>
                <a:latin typeface="Calibri"/>
                <a:ea typeface="Calibri"/>
                <a:cs typeface="Calibri"/>
                <a:sym typeface="Calibri"/>
              </a:rPr>
              <a:t>1.	</a:t>
            </a:r>
            <a:r>
              <a:rPr lang="en-US" sz="1800">
                <a:solidFill>
                  <a:schemeClr val="dk1"/>
                </a:solidFill>
                <a:latin typeface="Calibri"/>
                <a:ea typeface="Calibri"/>
                <a:cs typeface="Calibri"/>
                <a:sym typeface="Calibri"/>
              </a:rPr>
              <a:t>Let </a:t>
            </a:r>
            <a:r>
              <a:rPr b="1" i="1" lang="en-US" sz="1800">
                <a:solidFill>
                  <a:srgbClr val="000000"/>
                </a:solidFill>
                <a:latin typeface="Calibri"/>
                <a:ea typeface="Calibri"/>
                <a:cs typeface="Calibri"/>
                <a:sym typeface="Calibri"/>
              </a:rPr>
              <a:t>Work</a:t>
            </a:r>
            <a:r>
              <a:rPr i="1" lang="en-US" sz="1800">
                <a:solidFill>
                  <a:srgbClr val="000000"/>
                </a:solidFill>
                <a:latin typeface="Calibri"/>
                <a:ea typeface="Calibri"/>
                <a:cs typeface="Calibri"/>
                <a:sym typeface="Calibri"/>
              </a:rPr>
              <a:t> </a:t>
            </a:r>
            <a:r>
              <a:rPr lang="en-US" sz="1800">
                <a:solidFill>
                  <a:schemeClr val="dk1"/>
                </a:solidFill>
                <a:latin typeface="Calibri"/>
                <a:ea typeface="Calibri"/>
                <a:cs typeface="Calibri"/>
                <a:sym typeface="Calibri"/>
              </a:rPr>
              <a:t>and </a:t>
            </a:r>
            <a:r>
              <a:rPr b="1" i="1" lang="en-US" sz="1800">
                <a:solidFill>
                  <a:srgbClr val="000000"/>
                </a:solidFill>
                <a:latin typeface="Calibri"/>
                <a:ea typeface="Calibri"/>
                <a:cs typeface="Calibri"/>
                <a:sym typeface="Calibri"/>
              </a:rPr>
              <a:t>Finish</a:t>
            </a:r>
            <a:r>
              <a:rPr lang="en-US" sz="1800">
                <a:solidFill>
                  <a:srgbClr val="000000"/>
                </a:solidFill>
                <a:latin typeface="Calibri"/>
                <a:ea typeface="Calibri"/>
                <a:cs typeface="Calibri"/>
                <a:sym typeface="Calibri"/>
              </a:rPr>
              <a:t> </a:t>
            </a:r>
            <a:r>
              <a:rPr lang="en-US" sz="1800">
                <a:solidFill>
                  <a:schemeClr val="dk1"/>
                </a:solidFill>
                <a:latin typeface="Calibri"/>
                <a:ea typeface="Calibri"/>
                <a:cs typeface="Calibri"/>
                <a:sym typeface="Calibri"/>
              </a:rPr>
              <a:t>be vectors of length</a:t>
            </a:r>
            <a:r>
              <a:rPr i="1" lang="en-US" sz="1800">
                <a:solidFill>
                  <a:schemeClr val="dk1"/>
                </a:solidFill>
                <a:latin typeface="Calibri"/>
                <a:ea typeface="Calibri"/>
                <a:cs typeface="Calibri"/>
                <a:sym typeface="Calibri"/>
              </a:rPr>
              <a:t> m</a:t>
            </a:r>
            <a:r>
              <a:rPr lang="en-US" sz="1800">
                <a:solidFill>
                  <a:schemeClr val="dk1"/>
                </a:solidFill>
                <a:latin typeface="Calibri"/>
                <a:ea typeface="Calibri"/>
                <a:cs typeface="Calibri"/>
                <a:sym typeface="Calibri"/>
              </a:rPr>
              <a:t> and</a:t>
            </a:r>
            <a:r>
              <a:rPr i="1" lang="en-US" sz="1800">
                <a:solidFill>
                  <a:schemeClr val="dk1"/>
                </a:solidFill>
                <a:latin typeface="Calibri"/>
                <a:ea typeface="Calibri"/>
                <a:cs typeface="Calibri"/>
                <a:sym typeface="Calibri"/>
              </a:rPr>
              <a:t> n</a:t>
            </a:r>
            <a:r>
              <a:rPr lang="en-US" sz="1800">
                <a:solidFill>
                  <a:schemeClr val="dk1"/>
                </a:solidFill>
                <a:latin typeface="Calibri"/>
                <a:ea typeface="Calibri"/>
                <a:cs typeface="Calibri"/>
                <a:sym typeface="Calibri"/>
              </a:rPr>
              <a:t>, respectively.  Initialize:</a:t>
            </a:r>
            <a:endParaRPr/>
          </a:p>
          <a:p>
            <a:pPr indent="-342900" lvl="3" marL="1543050" marR="0" rtl="0" algn="l">
              <a:lnSpc>
                <a:spcPct val="90000"/>
              </a:lnSpc>
              <a:spcBef>
                <a:spcPts val="203"/>
              </a:spcBef>
              <a:spcAft>
                <a:spcPts val="0"/>
              </a:spcAft>
              <a:buClr>
                <a:schemeClr val="dk1"/>
              </a:buClr>
              <a:buSzPct val="100000"/>
              <a:buFont typeface="Arial"/>
              <a:buNone/>
            </a:pPr>
            <a:r>
              <a:rPr b="1" i="1" lang="en-US" sz="1100" u="none" cap="none" strike="noStrike">
                <a:solidFill>
                  <a:schemeClr val="dk1"/>
                </a:solidFill>
                <a:latin typeface="Calibri"/>
                <a:ea typeface="Calibri"/>
                <a:cs typeface="Calibri"/>
                <a:sym typeface="Calibri"/>
              </a:rPr>
              <a:t>Work </a:t>
            </a:r>
            <a:r>
              <a:rPr b="1" i="0" lang="en-US" sz="1100" u="none" cap="none" strike="noStrike">
                <a:solidFill>
                  <a:schemeClr val="dk1"/>
                </a:solidFill>
                <a:latin typeface="Calibri"/>
                <a:ea typeface="Calibri"/>
                <a:cs typeface="Calibri"/>
                <a:sym typeface="Calibri"/>
              </a:rPr>
              <a:t>= </a:t>
            </a:r>
            <a:r>
              <a:rPr b="1" i="1" lang="en-US" sz="1100" u="none" cap="none" strike="noStrike">
                <a:solidFill>
                  <a:schemeClr val="dk1"/>
                </a:solidFill>
                <a:latin typeface="Calibri"/>
                <a:ea typeface="Calibri"/>
                <a:cs typeface="Calibri"/>
                <a:sym typeface="Calibri"/>
              </a:rPr>
              <a:t>Available</a:t>
            </a:r>
            <a:endParaRPr/>
          </a:p>
          <a:p>
            <a:pPr indent="-342900" lvl="3" marL="1543050" marR="0" rtl="0" algn="l">
              <a:lnSpc>
                <a:spcPct val="90000"/>
              </a:lnSpc>
              <a:spcBef>
                <a:spcPts val="203"/>
              </a:spcBef>
              <a:spcAft>
                <a:spcPts val="0"/>
              </a:spcAft>
              <a:buClr>
                <a:schemeClr val="dk1"/>
              </a:buClr>
              <a:buSzPct val="100000"/>
              <a:buFont typeface="Arial"/>
              <a:buNone/>
            </a:pPr>
            <a:r>
              <a:rPr b="1" i="1" lang="en-US" sz="1100" u="none" cap="none" strike="noStrike">
                <a:solidFill>
                  <a:schemeClr val="dk1"/>
                </a:solidFill>
                <a:latin typeface="Calibri"/>
                <a:ea typeface="Calibri"/>
                <a:cs typeface="Calibri"/>
                <a:sym typeface="Calibri"/>
              </a:rPr>
              <a:t>Finish </a:t>
            </a:r>
            <a:r>
              <a:rPr b="1" i="0" lang="en-US" sz="1100" u="none" cap="none" strike="noStrike">
                <a:solidFill>
                  <a:schemeClr val="dk1"/>
                </a:solidFill>
                <a:latin typeface="Calibri"/>
                <a:ea typeface="Calibri"/>
                <a:cs typeface="Calibri"/>
                <a:sym typeface="Calibri"/>
              </a:rPr>
              <a:t>[</a:t>
            </a:r>
            <a:r>
              <a:rPr b="1" i="1" lang="en-US" sz="1100" u="none" cap="none" strike="noStrike">
                <a:solidFill>
                  <a:schemeClr val="dk1"/>
                </a:solidFill>
                <a:latin typeface="Calibri"/>
                <a:ea typeface="Calibri"/>
                <a:cs typeface="Calibri"/>
                <a:sym typeface="Calibri"/>
              </a:rPr>
              <a:t>i</a:t>
            </a:r>
            <a:r>
              <a:rPr b="1" i="0" lang="en-US" sz="1100" u="none" cap="none" strike="noStrike">
                <a:solidFill>
                  <a:schemeClr val="dk1"/>
                </a:solidFill>
                <a:latin typeface="Calibri"/>
                <a:ea typeface="Calibri"/>
                <a:cs typeface="Calibri"/>
                <a:sym typeface="Calibri"/>
              </a:rPr>
              <a:t>] =</a:t>
            </a:r>
            <a:r>
              <a:rPr b="1" i="1" lang="en-US" sz="1100" u="none" cap="none" strike="noStrike">
                <a:solidFill>
                  <a:schemeClr val="dk1"/>
                </a:solidFill>
                <a:latin typeface="Calibri"/>
                <a:ea typeface="Calibri"/>
                <a:cs typeface="Calibri"/>
                <a:sym typeface="Calibri"/>
              </a:rPr>
              <a:t> false </a:t>
            </a:r>
            <a:r>
              <a:rPr b="1" i="0" lang="en-US" sz="1100" u="none" cap="none" strike="noStrike">
                <a:solidFill>
                  <a:schemeClr val="dk1"/>
                </a:solidFill>
                <a:latin typeface="Calibri"/>
                <a:ea typeface="Calibri"/>
                <a:cs typeface="Calibri"/>
                <a:sym typeface="Calibri"/>
              </a:rPr>
              <a:t>for</a:t>
            </a:r>
            <a:r>
              <a:rPr b="1" i="1" lang="en-US" sz="1100" u="none" cap="none" strike="noStrike">
                <a:solidFill>
                  <a:schemeClr val="dk1"/>
                </a:solidFill>
                <a:latin typeface="Calibri"/>
                <a:ea typeface="Calibri"/>
                <a:cs typeface="Calibri"/>
                <a:sym typeface="Calibri"/>
              </a:rPr>
              <a:t> i</a:t>
            </a:r>
            <a:r>
              <a:rPr b="1" i="0" lang="en-US" sz="1100" u="none" cap="none" strike="noStrike">
                <a:solidFill>
                  <a:schemeClr val="dk1"/>
                </a:solidFill>
                <a:latin typeface="Calibri"/>
                <a:ea typeface="Calibri"/>
                <a:cs typeface="Calibri"/>
                <a:sym typeface="Calibri"/>
              </a:rPr>
              <a:t> = 0, 1, …, </a:t>
            </a:r>
            <a:r>
              <a:rPr b="1" i="1" lang="en-US" sz="1100" u="none" cap="none" strike="noStrike">
                <a:solidFill>
                  <a:schemeClr val="dk1"/>
                </a:solidFill>
                <a:latin typeface="Calibri"/>
                <a:ea typeface="Calibri"/>
                <a:cs typeface="Calibri"/>
                <a:sym typeface="Calibri"/>
              </a:rPr>
              <a:t>n- </a:t>
            </a:r>
            <a:r>
              <a:rPr b="1" i="0" lang="en-US" sz="1100" u="none" cap="none" strike="noStrike">
                <a:solidFill>
                  <a:schemeClr val="dk1"/>
                </a:solidFill>
                <a:latin typeface="Calibri"/>
                <a:ea typeface="Calibri"/>
                <a:cs typeface="Calibri"/>
                <a:sym typeface="Calibri"/>
              </a:rPr>
              <a:t>1</a:t>
            </a:r>
            <a:endParaRPr/>
          </a:p>
          <a:p>
            <a:pPr indent="-342900" lvl="3" marL="1543050" marR="0" rtl="0" algn="l">
              <a:lnSpc>
                <a:spcPct val="90000"/>
              </a:lnSpc>
              <a:spcBef>
                <a:spcPts val="18"/>
              </a:spcBef>
              <a:spcAft>
                <a:spcPts val="0"/>
              </a:spcAft>
              <a:buClr>
                <a:schemeClr val="dk1"/>
              </a:buClr>
              <a:buSzPct val="100000"/>
              <a:buFont typeface="Arial"/>
              <a:buNone/>
            </a:pPr>
            <a:r>
              <a:t/>
            </a:r>
            <a:endParaRPr b="0" i="0" sz="100" u="none" cap="none" strike="noStrike">
              <a:solidFill>
                <a:schemeClr val="dk1"/>
              </a:solidFill>
              <a:latin typeface="Calibri"/>
              <a:ea typeface="Calibri"/>
              <a:cs typeface="Calibri"/>
              <a:sym typeface="Calibri"/>
            </a:endParaRPr>
          </a:p>
          <a:p>
            <a:pPr indent="-342900" lvl="0" marL="342900" marR="0" rtl="0" algn="l">
              <a:lnSpc>
                <a:spcPct val="90000"/>
              </a:lnSpc>
              <a:spcBef>
                <a:spcPts val="333"/>
              </a:spcBef>
              <a:spcAft>
                <a:spcPts val="0"/>
              </a:spcAft>
              <a:buClr>
                <a:schemeClr val="dk1"/>
              </a:buClr>
              <a:buSzPct val="100000"/>
              <a:buFont typeface="Arial"/>
              <a:buNone/>
            </a:pPr>
            <a:r>
              <a:rPr lang="en-US" sz="1800">
                <a:solidFill>
                  <a:schemeClr val="dk1"/>
                </a:solidFill>
                <a:latin typeface="Calibri"/>
                <a:ea typeface="Calibri"/>
                <a:cs typeface="Calibri"/>
                <a:sym typeface="Calibri"/>
              </a:rPr>
              <a:t>2.	Find an </a:t>
            </a:r>
            <a:r>
              <a:rPr b="1" i="1" lang="en-US" sz="1800">
                <a:solidFill>
                  <a:schemeClr val="dk1"/>
                </a:solidFill>
                <a:latin typeface="Calibri"/>
                <a:ea typeface="Calibri"/>
                <a:cs typeface="Calibri"/>
                <a:sym typeface="Calibri"/>
              </a:rPr>
              <a:t>i</a:t>
            </a:r>
            <a:r>
              <a:rPr i="1" lang="en-US" sz="18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such that both: </a:t>
            </a:r>
            <a:endParaRPr/>
          </a:p>
          <a:p>
            <a:pPr indent="-342900" lvl="1" marL="800100" marR="0" rtl="0" algn="l">
              <a:lnSpc>
                <a:spcPct val="90000"/>
              </a:lnSpc>
              <a:spcBef>
                <a:spcPts val="296"/>
              </a:spcBef>
              <a:spcAft>
                <a:spcPts val="0"/>
              </a:spcAft>
              <a:buClr>
                <a:schemeClr val="dk1"/>
              </a:buClr>
              <a:buSzPct val="100000"/>
              <a:buFont typeface="Arial"/>
              <a:buNone/>
            </a:pPr>
            <a:r>
              <a:rPr b="0" i="0" lang="en-US" sz="1600" u="none" cap="none" strike="noStrike">
                <a:solidFill>
                  <a:schemeClr val="dk1"/>
                </a:solidFill>
                <a:latin typeface="Calibri"/>
                <a:ea typeface="Calibri"/>
                <a:cs typeface="Calibri"/>
                <a:sym typeface="Calibri"/>
              </a:rPr>
              <a:t>(a) </a:t>
            </a:r>
            <a:r>
              <a:rPr b="1" i="1" lang="en-US" sz="1600" u="none" cap="none" strike="noStrike">
                <a:solidFill>
                  <a:schemeClr val="dk1"/>
                </a:solidFill>
                <a:latin typeface="Calibri"/>
                <a:ea typeface="Calibri"/>
                <a:cs typeface="Calibri"/>
                <a:sym typeface="Calibri"/>
              </a:rPr>
              <a:t>Finish</a:t>
            </a:r>
            <a:r>
              <a:rPr b="1" i="0" lang="en-US" sz="1600" u="none" cap="none" strike="noStrike">
                <a:solidFill>
                  <a:schemeClr val="dk1"/>
                </a:solidFill>
                <a:latin typeface="Calibri"/>
                <a:ea typeface="Calibri"/>
                <a:cs typeface="Calibri"/>
                <a:sym typeface="Calibri"/>
              </a:rPr>
              <a:t> [</a:t>
            </a:r>
            <a:r>
              <a:rPr b="1" i="1" lang="en-US" sz="1600" u="none" cap="none" strike="noStrike">
                <a:solidFill>
                  <a:schemeClr val="dk1"/>
                </a:solidFill>
                <a:latin typeface="Calibri"/>
                <a:ea typeface="Calibri"/>
                <a:cs typeface="Calibri"/>
                <a:sym typeface="Calibri"/>
              </a:rPr>
              <a:t>i</a:t>
            </a:r>
            <a:r>
              <a:rPr b="1" i="0" lang="en-US" sz="1600" u="none" cap="none" strike="noStrike">
                <a:solidFill>
                  <a:schemeClr val="dk1"/>
                </a:solidFill>
                <a:latin typeface="Calibri"/>
                <a:ea typeface="Calibri"/>
                <a:cs typeface="Calibri"/>
                <a:sym typeface="Calibri"/>
              </a:rPr>
              <a:t>] = </a:t>
            </a:r>
            <a:r>
              <a:rPr b="1" i="1" lang="en-US" sz="1600" u="none" cap="none" strike="noStrike">
                <a:solidFill>
                  <a:schemeClr val="dk1"/>
                </a:solidFill>
                <a:latin typeface="Calibri"/>
                <a:ea typeface="Calibri"/>
                <a:cs typeface="Calibri"/>
                <a:sym typeface="Calibri"/>
              </a:rPr>
              <a:t>false</a:t>
            </a:r>
            <a:endParaRPr b="1" i="0" sz="1600" u="none" cap="none" strike="noStrike">
              <a:solidFill>
                <a:schemeClr val="dk1"/>
              </a:solidFill>
              <a:latin typeface="Calibri"/>
              <a:ea typeface="Calibri"/>
              <a:cs typeface="Calibri"/>
              <a:sym typeface="Calibri"/>
            </a:endParaRPr>
          </a:p>
          <a:p>
            <a:pPr indent="-342900" lvl="1" marL="800100" marR="0" rtl="0" algn="l">
              <a:lnSpc>
                <a:spcPct val="90000"/>
              </a:lnSpc>
              <a:spcBef>
                <a:spcPts val="296"/>
              </a:spcBef>
              <a:spcAft>
                <a:spcPts val="0"/>
              </a:spcAft>
              <a:buClr>
                <a:schemeClr val="dk1"/>
              </a:buClr>
              <a:buSzPct val="100000"/>
              <a:buFont typeface="Arial"/>
              <a:buNone/>
            </a:pPr>
            <a:r>
              <a:rPr b="0" i="0" lang="en-US" sz="1600" u="none" cap="none" strike="noStrike">
                <a:solidFill>
                  <a:schemeClr val="dk1"/>
                </a:solidFill>
                <a:latin typeface="Calibri"/>
                <a:ea typeface="Calibri"/>
                <a:cs typeface="Calibri"/>
                <a:sym typeface="Calibri"/>
              </a:rPr>
              <a:t>(b) </a:t>
            </a:r>
            <a:r>
              <a:rPr b="1" i="1" lang="en-US" sz="1600" u="none" cap="none" strike="noStrike">
                <a:solidFill>
                  <a:srgbClr val="0070C0"/>
                </a:solidFill>
                <a:latin typeface="Calibri"/>
                <a:ea typeface="Calibri"/>
                <a:cs typeface="Calibri"/>
                <a:sym typeface="Calibri"/>
              </a:rPr>
              <a:t>Need</a:t>
            </a:r>
            <a:r>
              <a:rPr b="1" baseline="-25000" i="1" lang="en-US" sz="1600" u="none" cap="none" strike="noStrike">
                <a:solidFill>
                  <a:srgbClr val="0070C0"/>
                </a:solidFill>
                <a:latin typeface="Calibri"/>
                <a:ea typeface="Calibri"/>
                <a:cs typeface="Calibri"/>
                <a:sym typeface="Calibri"/>
              </a:rPr>
              <a:t>i</a:t>
            </a:r>
            <a:r>
              <a:rPr b="1" i="0" lang="en-US" sz="1600" u="none" cap="none" strike="noStrike">
                <a:solidFill>
                  <a:srgbClr val="0070C0"/>
                </a:solidFill>
                <a:latin typeface="Calibri"/>
                <a:ea typeface="Calibri"/>
                <a:cs typeface="Calibri"/>
                <a:sym typeface="Calibri"/>
              </a:rPr>
              <a:t> ≤ </a:t>
            </a:r>
            <a:r>
              <a:rPr b="1" i="1" lang="en-US" sz="1600" u="none" cap="none" strike="noStrike">
                <a:solidFill>
                  <a:srgbClr val="0070C0"/>
                </a:solidFill>
                <a:latin typeface="Calibri"/>
                <a:ea typeface="Calibri"/>
                <a:cs typeface="Calibri"/>
                <a:sym typeface="Calibri"/>
              </a:rPr>
              <a:t>Work</a:t>
            </a:r>
            <a:endParaRPr/>
          </a:p>
          <a:p>
            <a:pPr indent="-342900" lvl="1" marL="800100" marR="0" rtl="0" algn="l">
              <a:lnSpc>
                <a:spcPct val="90000"/>
              </a:lnSpc>
              <a:spcBef>
                <a:spcPts val="296"/>
              </a:spcBef>
              <a:spcAft>
                <a:spcPts val="0"/>
              </a:spcAft>
              <a:buClr>
                <a:schemeClr val="dk1"/>
              </a:buClr>
              <a:buSzPct val="100000"/>
              <a:buFont typeface="Arial"/>
              <a:buNone/>
            </a:pPr>
            <a:r>
              <a:rPr b="0" i="0" lang="en-US" sz="1600" u="none" cap="none" strike="noStrike">
                <a:solidFill>
                  <a:schemeClr val="dk1"/>
                </a:solidFill>
                <a:latin typeface="Calibri"/>
                <a:ea typeface="Calibri"/>
                <a:cs typeface="Calibri"/>
                <a:sym typeface="Calibri"/>
              </a:rPr>
              <a:t>If no such</a:t>
            </a:r>
            <a:r>
              <a:rPr b="1" i="0" lang="en-US" sz="1600" u="none" cap="none" strike="noStrike">
                <a:solidFill>
                  <a:schemeClr val="dk1"/>
                </a:solidFill>
                <a:latin typeface="Calibri"/>
                <a:ea typeface="Calibri"/>
                <a:cs typeface="Calibri"/>
                <a:sym typeface="Calibri"/>
              </a:rPr>
              <a:t> </a:t>
            </a:r>
            <a:r>
              <a:rPr b="1" i="1" lang="en-US" sz="1600" u="none" cap="none" strike="noStrike">
                <a:solidFill>
                  <a:schemeClr val="dk1"/>
                </a:solidFill>
                <a:latin typeface="Calibri"/>
                <a:ea typeface="Calibri"/>
                <a:cs typeface="Calibri"/>
                <a:sym typeface="Calibri"/>
              </a:rPr>
              <a:t>i </a:t>
            </a:r>
            <a:r>
              <a:rPr b="0" i="0" lang="en-US" sz="1600" u="none" cap="none" strike="noStrike">
                <a:solidFill>
                  <a:schemeClr val="dk1"/>
                </a:solidFill>
                <a:latin typeface="Calibri"/>
                <a:ea typeface="Calibri"/>
                <a:cs typeface="Calibri"/>
                <a:sym typeface="Calibri"/>
              </a:rPr>
              <a:t>exists, go to step 4</a:t>
            </a:r>
            <a:endParaRPr/>
          </a:p>
          <a:p>
            <a:pPr indent="-342900" lvl="1" marL="800100" marR="0" rtl="0" algn="l">
              <a:lnSpc>
                <a:spcPct val="90000"/>
              </a:lnSpc>
              <a:spcBef>
                <a:spcPts val="18"/>
              </a:spcBef>
              <a:spcAft>
                <a:spcPts val="0"/>
              </a:spcAft>
              <a:buClr>
                <a:schemeClr val="dk1"/>
              </a:buClr>
              <a:buSzPct val="100000"/>
              <a:buFont typeface="Arial"/>
              <a:buNone/>
            </a:pPr>
            <a:r>
              <a:t/>
            </a:r>
            <a:endParaRPr b="0" i="0" sz="100" u="none" cap="none" strike="noStrike">
              <a:solidFill>
                <a:schemeClr val="dk1"/>
              </a:solidFill>
              <a:latin typeface="Calibri"/>
              <a:ea typeface="Calibri"/>
              <a:cs typeface="Calibri"/>
              <a:sym typeface="Calibri"/>
            </a:endParaRPr>
          </a:p>
          <a:p>
            <a:pPr indent="-342900" lvl="0" marL="342900" marR="0" rtl="0" algn="l">
              <a:lnSpc>
                <a:spcPct val="90000"/>
              </a:lnSpc>
              <a:spcBef>
                <a:spcPts val="333"/>
              </a:spcBef>
              <a:spcAft>
                <a:spcPts val="0"/>
              </a:spcAft>
              <a:buClr>
                <a:schemeClr val="dk1"/>
              </a:buClr>
              <a:buSzPct val="100000"/>
              <a:buFont typeface="Arial"/>
              <a:buNone/>
            </a:pPr>
            <a:r>
              <a:rPr i="1" lang="en-US" sz="1800">
                <a:solidFill>
                  <a:schemeClr val="dk1"/>
                </a:solidFill>
                <a:latin typeface="Calibri"/>
                <a:ea typeface="Calibri"/>
                <a:cs typeface="Calibri"/>
                <a:sym typeface="Calibri"/>
              </a:rPr>
              <a:t>3.  </a:t>
            </a:r>
            <a:r>
              <a:rPr b="1" i="1" lang="en-US" sz="1800">
                <a:solidFill>
                  <a:schemeClr val="dk1"/>
                </a:solidFill>
                <a:latin typeface="Calibri"/>
                <a:ea typeface="Calibri"/>
                <a:cs typeface="Calibri"/>
                <a:sym typeface="Calibri"/>
              </a:rPr>
              <a:t>Work</a:t>
            </a:r>
            <a:r>
              <a:rPr b="1" lang="en-US" sz="1800">
                <a:solidFill>
                  <a:schemeClr val="dk1"/>
                </a:solidFill>
                <a:latin typeface="Calibri"/>
                <a:ea typeface="Calibri"/>
                <a:cs typeface="Calibri"/>
                <a:sym typeface="Calibri"/>
              </a:rPr>
              <a:t> = </a:t>
            </a:r>
            <a:r>
              <a:rPr b="1" i="1" lang="en-US" sz="1800">
                <a:solidFill>
                  <a:schemeClr val="dk1"/>
                </a:solidFill>
                <a:latin typeface="Calibri"/>
                <a:ea typeface="Calibri"/>
                <a:cs typeface="Calibri"/>
                <a:sym typeface="Calibri"/>
              </a:rPr>
              <a:t>Work </a:t>
            </a:r>
            <a:r>
              <a:rPr b="1" lang="en-US" sz="1800">
                <a:solidFill>
                  <a:schemeClr val="dk1"/>
                </a:solidFill>
                <a:latin typeface="Calibri"/>
                <a:ea typeface="Calibri"/>
                <a:cs typeface="Calibri"/>
                <a:sym typeface="Calibri"/>
              </a:rPr>
              <a:t>+ </a:t>
            </a:r>
            <a:r>
              <a:rPr b="1" i="1" lang="en-US" sz="1800">
                <a:solidFill>
                  <a:schemeClr val="dk1"/>
                </a:solidFill>
                <a:latin typeface="Calibri"/>
                <a:ea typeface="Calibri"/>
                <a:cs typeface="Calibri"/>
                <a:sym typeface="Calibri"/>
              </a:rPr>
              <a:t>Allocation</a:t>
            </a:r>
            <a:r>
              <a:rPr b="1" baseline="-25000" i="1" lang="en-US" sz="1800">
                <a:solidFill>
                  <a:schemeClr val="dk1"/>
                </a:solidFill>
                <a:latin typeface="Calibri"/>
                <a:ea typeface="Calibri"/>
                <a:cs typeface="Calibri"/>
                <a:sym typeface="Calibri"/>
              </a:rPr>
              <a:t>i</a:t>
            </a:r>
            <a:br>
              <a:rPr b="1" lang="en-US" sz="1800">
                <a:solidFill>
                  <a:schemeClr val="dk1"/>
                </a:solidFill>
                <a:latin typeface="Calibri"/>
                <a:ea typeface="Calibri"/>
                <a:cs typeface="Calibri"/>
                <a:sym typeface="Calibri"/>
              </a:rPr>
            </a:br>
            <a:r>
              <a:rPr b="1" i="1" lang="en-US" sz="1800">
                <a:solidFill>
                  <a:schemeClr val="dk1"/>
                </a:solidFill>
                <a:latin typeface="Calibri"/>
                <a:ea typeface="Calibri"/>
                <a:cs typeface="Calibri"/>
                <a:sym typeface="Calibri"/>
              </a:rPr>
              <a:t>Finish</a:t>
            </a:r>
            <a:r>
              <a:rPr b="1" lang="en-US" sz="1800">
                <a:solidFill>
                  <a:schemeClr val="dk1"/>
                </a:solidFill>
                <a:latin typeface="Calibri"/>
                <a:ea typeface="Calibri"/>
                <a:cs typeface="Calibri"/>
                <a:sym typeface="Calibri"/>
              </a:rPr>
              <a:t>[</a:t>
            </a:r>
            <a:r>
              <a:rPr b="1" i="1" lang="en-US" sz="1800">
                <a:solidFill>
                  <a:schemeClr val="dk1"/>
                </a:solidFill>
                <a:latin typeface="Calibri"/>
                <a:ea typeface="Calibri"/>
                <a:cs typeface="Calibri"/>
                <a:sym typeface="Calibri"/>
              </a:rPr>
              <a:t>i</a:t>
            </a:r>
            <a:r>
              <a:rPr b="1" lang="en-US" sz="1800">
                <a:solidFill>
                  <a:schemeClr val="dk1"/>
                </a:solidFill>
                <a:latin typeface="Calibri"/>
                <a:ea typeface="Calibri"/>
                <a:cs typeface="Calibri"/>
                <a:sym typeface="Calibri"/>
              </a:rPr>
              <a:t>] =</a:t>
            </a:r>
            <a:r>
              <a:rPr b="1" i="1" lang="en-US" sz="1800">
                <a:solidFill>
                  <a:schemeClr val="dk1"/>
                </a:solidFill>
                <a:latin typeface="Calibri"/>
                <a:ea typeface="Calibri"/>
                <a:cs typeface="Calibri"/>
                <a:sym typeface="Calibri"/>
              </a:rPr>
              <a:t> true</a:t>
            </a:r>
            <a:br>
              <a:rPr b="1"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go to step 2</a:t>
            </a:r>
            <a:endParaRPr/>
          </a:p>
          <a:p>
            <a:pPr indent="-337058" lvl="0" marL="342900" marR="0" rtl="0" algn="l">
              <a:lnSpc>
                <a:spcPct val="90000"/>
              </a:lnSpc>
              <a:spcBef>
                <a:spcPts val="18"/>
              </a:spcBef>
              <a:spcAft>
                <a:spcPts val="0"/>
              </a:spcAft>
              <a:buClr>
                <a:schemeClr val="dk1"/>
              </a:buClr>
              <a:buSzPct val="100000"/>
              <a:buFont typeface="Arial"/>
              <a:buNone/>
            </a:pPr>
            <a:r>
              <a:t/>
            </a:r>
            <a:endParaRPr sz="100">
              <a:solidFill>
                <a:schemeClr val="dk1"/>
              </a:solidFill>
              <a:latin typeface="Calibri"/>
              <a:ea typeface="Calibri"/>
              <a:cs typeface="Calibri"/>
              <a:sym typeface="Calibri"/>
            </a:endParaRPr>
          </a:p>
          <a:p>
            <a:pPr indent="-342900" lvl="0" marL="342900" marR="0" rtl="0" algn="l">
              <a:lnSpc>
                <a:spcPct val="90000"/>
              </a:lnSpc>
              <a:spcBef>
                <a:spcPts val="333"/>
              </a:spcBef>
              <a:spcAft>
                <a:spcPts val="0"/>
              </a:spcAft>
              <a:buClr>
                <a:schemeClr val="dk1"/>
              </a:buClr>
              <a:buSzPct val="100000"/>
              <a:buFont typeface="Arial"/>
              <a:buNone/>
            </a:pPr>
            <a:r>
              <a:rPr lang="en-US" sz="1800">
                <a:solidFill>
                  <a:schemeClr val="dk1"/>
                </a:solidFill>
                <a:latin typeface="Calibri"/>
                <a:ea typeface="Calibri"/>
                <a:cs typeface="Calibri"/>
                <a:sym typeface="Calibri"/>
              </a:rPr>
              <a:t>4.	If </a:t>
            </a:r>
            <a:r>
              <a:rPr b="1" i="1" lang="en-US" sz="1800">
                <a:solidFill>
                  <a:schemeClr val="dk1"/>
                </a:solidFill>
                <a:latin typeface="Calibri"/>
                <a:ea typeface="Calibri"/>
                <a:cs typeface="Calibri"/>
                <a:sym typeface="Calibri"/>
              </a:rPr>
              <a:t>Finish</a:t>
            </a:r>
            <a:r>
              <a:rPr b="1" lang="en-US" sz="1800">
                <a:solidFill>
                  <a:schemeClr val="dk1"/>
                </a:solidFill>
                <a:latin typeface="Calibri"/>
                <a:ea typeface="Calibri"/>
                <a:cs typeface="Calibri"/>
                <a:sym typeface="Calibri"/>
              </a:rPr>
              <a:t> [</a:t>
            </a:r>
            <a:r>
              <a:rPr b="1" i="1" lang="en-US" sz="1800">
                <a:solidFill>
                  <a:schemeClr val="dk1"/>
                </a:solidFill>
                <a:latin typeface="Calibri"/>
                <a:ea typeface="Calibri"/>
                <a:cs typeface="Calibri"/>
                <a:sym typeface="Calibri"/>
              </a:rPr>
              <a:t>i</a:t>
            </a:r>
            <a:r>
              <a:rPr b="1" lang="en-US" sz="1800">
                <a:solidFill>
                  <a:schemeClr val="dk1"/>
                </a:solidFill>
                <a:latin typeface="Calibri"/>
                <a:ea typeface="Calibri"/>
                <a:cs typeface="Calibri"/>
                <a:sym typeface="Calibri"/>
              </a:rPr>
              <a:t>] == </a:t>
            </a:r>
            <a:r>
              <a:rPr b="1" i="1" lang="en-US" sz="1800">
                <a:solidFill>
                  <a:schemeClr val="dk1"/>
                </a:solidFill>
                <a:latin typeface="Calibri"/>
                <a:ea typeface="Calibri"/>
                <a:cs typeface="Calibri"/>
                <a:sym typeface="Calibri"/>
              </a:rPr>
              <a:t>true</a:t>
            </a:r>
            <a:r>
              <a:rPr b="1" lang="en-US" sz="18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for all </a:t>
            </a:r>
            <a:r>
              <a:rPr b="1" i="1" lang="en-US" sz="1800">
                <a:solidFill>
                  <a:schemeClr val="dk1"/>
                </a:solidFill>
                <a:latin typeface="Calibri"/>
                <a:ea typeface="Calibri"/>
                <a:cs typeface="Calibri"/>
                <a:sym typeface="Calibri"/>
              </a:rPr>
              <a:t>i</a:t>
            </a:r>
            <a:r>
              <a:rPr lang="en-US" sz="1800">
                <a:solidFill>
                  <a:schemeClr val="dk1"/>
                </a:solidFill>
                <a:latin typeface="Calibri"/>
                <a:ea typeface="Calibri"/>
                <a:cs typeface="Calibri"/>
                <a:sym typeface="Calibri"/>
              </a:rPr>
              <a:t>, then the system is in a safe state</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91"/>
          <p:cNvSpPr txBox="1"/>
          <p:nvPr>
            <p:ph type="title"/>
          </p:nvPr>
        </p:nvSpPr>
        <p:spPr>
          <a:xfrm>
            <a:off x="152400" y="4191000"/>
            <a:ext cx="38862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2000"/>
              <a:buFont typeface="Calibri"/>
              <a:buNone/>
            </a:pPr>
            <a:br>
              <a:rPr lang="en-US" sz="2000"/>
            </a:br>
            <a:r>
              <a:rPr lang="en-US" sz="2000"/>
              <a:t>Work=[2,14,12,12]</a:t>
            </a:r>
            <a:br>
              <a:rPr lang="en-US" sz="2000"/>
            </a:br>
            <a:r>
              <a:rPr lang="en-US" sz="2000"/>
              <a:t>Now for P1,</a:t>
            </a:r>
            <a:br>
              <a:rPr lang="en-US" sz="2000"/>
            </a:br>
            <a:r>
              <a:rPr lang="en-US" sz="2000"/>
              <a:t>Need ≤  Work</a:t>
            </a:r>
            <a:br>
              <a:rPr lang="en-US" sz="2000"/>
            </a:br>
            <a:r>
              <a:rPr lang="en-US" sz="2000"/>
              <a:t>[0,7,5,0]&lt;Work</a:t>
            </a:r>
            <a:br>
              <a:rPr lang="en-US" sz="2000"/>
            </a:br>
            <a:r>
              <a:rPr lang="en-US" sz="2000"/>
              <a:t>Safe Sequence=&lt;P0,P2,P3,P4,P1&gt;</a:t>
            </a:r>
            <a:br>
              <a:rPr lang="en-US" sz="2000"/>
            </a:br>
            <a:r>
              <a:rPr lang="en-US" sz="2000"/>
              <a:t>Work=[2,14,12,12]+[1,0,0,0]</a:t>
            </a:r>
            <a:br>
              <a:rPr lang="en-US" sz="2000"/>
            </a:br>
            <a:r>
              <a:rPr lang="en-US" sz="2000"/>
              <a:t>=[3,14,12,12]</a:t>
            </a:r>
            <a:br>
              <a:rPr lang="en-US" sz="2000"/>
            </a:br>
            <a:r>
              <a:rPr lang="en-US" sz="2000"/>
              <a:t>Thus, System is in a safe state</a:t>
            </a:r>
            <a:br>
              <a:rPr lang="en-US" sz="2000"/>
            </a:br>
            <a:br>
              <a:rPr b="1" lang="en-US" sz="2000">
                <a:solidFill>
                  <a:srgbClr val="0070C0"/>
                </a:solidFill>
              </a:rPr>
            </a:br>
            <a:br>
              <a:rPr lang="en-US" sz="2000"/>
            </a:br>
            <a:br>
              <a:rPr lang="en-US" sz="2000"/>
            </a:br>
            <a:endParaRPr sz="2000"/>
          </a:p>
        </p:txBody>
      </p:sp>
      <p:graphicFrame>
        <p:nvGraphicFramePr>
          <p:cNvPr id="1081" name="Google Shape;1081;p91"/>
          <p:cNvGraphicFramePr/>
          <p:nvPr/>
        </p:nvGraphicFramePr>
        <p:xfrm>
          <a:off x="533400" y="13855"/>
          <a:ext cx="3000000" cy="3000000"/>
        </p:xfrm>
        <a:graphic>
          <a:graphicData uri="http://schemas.openxmlformats.org/drawingml/2006/table">
            <a:tbl>
              <a:tblPr bandRow="1" firstCol="1" firstRow="1">
                <a:noFill/>
                <a:tableStyleId>{81577878-F0BF-430C-8C56-D3E61FE2EFA2}</a:tableStyleId>
              </a:tblPr>
              <a:tblGrid>
                <a:gridCol w="1081775"/>
                <a:gridCol w="439325"/>
                <a:gridCol w="439325"/>
                <a:gridCol w="439325"/>
                <a:gridCol w="439325"/>
                <a:gridCol w="439325"/>
                <a:gridCol w="439325"/>
                <a:gridCol w="439325"/>
                <a:gridCol w="439325"/>
                <a:gridCol w="439325"/>
                <a:gridCol w="439325"/>
                <a:gridCol w="439325"/>
                <a:gridCol w="439325"/>
                <a:gridCol w="329475"/>
                <a:gridCol w="439325"/>
                <a:gridCol w="439325"/>
                <a:gridCol w="439325"/>
              </a:tblGrid>
              <a:tr h="214750">
                <a:tc rowSpan="2">
                  <a:txBody>
                    <a:bodyPr/>
                    <a:lstStyle/>
                    <a:p>
                      <a:pPr indent="0" lvl="0" marL="0" marR="0" rtl="0" algn="ctr">
                        <a:spcBef>
                          <a:spcPts val="0"/>
                        </a:spcBef>
                        <a:spcAft>
                          <a:spcPts val="0"/>
                        </a:spcAft>
                        <a:buNone/>
                      </a:pPr>
                      <a:r>
                        <a:rPr lang="en-US" sz="1600"/>
                        <a:t>Process</a:t>
                      </a:r>
                      <a:endParaRPr/>
                    </a:p>
                  </a:txBody>
                  <a:tcPr marT="0" marB="0" marR="68525" marL="68525"/>
                </a:tc>
                <a:tc gridSpan="4">
                  <a:txBody>
                    <a:bodyPr/>
                    <a:lstStyle/>
                    <a:p>
                      <a:pPr indent="0" lvl="0" marL="0" marR="0" rtl="0" algn="ctr">
                        <a:spcBef>
                          <a:spcPts val="0"/>
                        </a:spcBef>
                        <a:spcAft>
                          <a:spcPts val="0"/>
                        </a:spcAft>
                        <a:buNone/>
                      </a:pPr>
                      <a:r>
                        <a:rPr lang="en-US" sz="1600"/>
                        <a:t>Allocation</a:t>
                      </a:r>
                      <a:endParaRPr/>
                    </a:p>
                  </a:txBody>
                  <a:tcPr marT="0" marB="0" marR="68525" marL="68525"/>
                </a:tc>
                <a:tc hMerge="1"/>
                <a:tc hMerge="1"/>
                <a:tc hMerge="1"/>
                <a:tc gridSpan="4">
                  <a:txBody>
                    <a:bodyPr/>
                    <a:lstStyle/>
                    <a:p>
                      <a:pPr indent="0" lvl="0" marL="0" marR="0" rtl="0" algn="ctr">
                        <a:spcBef>
                          <a:spcPts val="0"/>
                        </a:spcBef>
                        <a:spcAft>
                          <a:spcPts val="0"/>
                        </a:spcAft>
                        <a:buNone/>
                      </a:pPr>
                      <a:r>
                        <a:rPr lang="en-US" sz="1600"/>
                        <a:t>Max</a:t>
                      </a:r>
                      <a:endParaRPr/>
                    </a:p>
                  </a:txBody>
                  <a:tcPr marT="0" marB="0" marR="68525" marL="68525"/>
                </a:tc>
                <a:tc hMerge="1"/>
                <a:tc hMerge="1"/>
                <a:tc hMerge="1"/>
                <a:tc gridSpan="4">
                  <a:txBody>
                    <a:bodyPr/>
                    <a:lstStyle/>
                    <a:p>
                      <a:pPr indent="0" lvl="0" marL="0" marR="0" rtl="0" algn="ctr">
                        <a:spcBef>
                          <a:spcPts val="0"/>
                        </a:spcBef>
                        <a:spcAft>
                          <a:spcPts val="0"/>
                        </a:spcAft>
                        <a:buNone/>
                      </a:pPr>
                      <a:r>
                        <a:rPr lang="en-US" sz="1600"/>
                        <a:t>Available</a:t>
                      </a:r>
                      <a:endParaRPr/>
                    </a:p>
                  </a:txBody>
                  <a:tcPr marT="0" marB="0" marR="68525" marL="68525"/>
                </a:tc>
                <a:tc hMerge="1"/>
                <a:tc hMerge="1"/>
                <a:tc hMerge="1"/>
                <a:tc gridSpan="4">
                  <a:txBody>
                    <a:bodyPr/>
                    <a:lstStyle/>
                    <a:p>
                      <a:pPr indent="0" lvl="0" marL="0" marR="0" rtl="0" algn="ctr">
                        <a:spcBef>
                          <a:spcPts val="0"/>
                        </a:spcBef>
                        <a:spcAft>
                          <a:spcPts val="0"/>
                        </a:spcAft>
                        <a:buNone/>
                      </a:pPr>
                      <a:r>
                        <a:rPr lang="en-US" sz="1600"/>
                        <a:t>Need</a:t>
                      </a:r>
                      <a:endParaRPr sz="1600"/>
                    </a:p>
                  </a:txBody>
                  <a:tcPr marT="0" marB="0" marR="68525" marL="68525"/>
                </a:tc>
                <a:tc hMerge="1"/>
                <a:tc hMerge="1"/>
                <a:tc hMerge="1"/>
              </a:tr>
              <a:tr h="214750">
                <a:tc vMerge="1"/>
                <a:tc>
                  <a:txBody>
                    <a:bodyPr/>
                    <a:lstStyle/>
                    <a:p>
                      <a:pPr indent="0" lvl="0" marL="0" marR="0" rtl="0" algn="ctr">
                        <a:spcBef>
                          <a:spcPts val="0"/>
                        </a:spcBef>
                        <a:spcAft>
                          <a:spcPts val="0"/>
                        </a:spcAft>
                        <a:buNone/>
                      </a:pPr>
                      <a:r>
                        <a:rPr lang="en-US" sz="1600"/>
                        <a:t>A</a:t>
                      </a:r>
                      <a:endParaRPr/>
                    </a:p>
                  </a:txBody>
                  <a:tcPr marT="0" marB="0" marR="68525" marL="68525"/>
                </a:tc>
                <a:tc>
                  <a:txBody>
                    <a:bodyPr/>
                    <a:lstStyle/>
                    <a:p>
                      <a:pPr indent="0" lvl="0" marL="0" marR="0" rtl="0" algn="ctr">
                        <a:spcBef>
                          <a:spcPts val="0"/>
                        </a:spcBef>
                        <a:spcAft>
                          <a:spcPts val="0"/>
                        </a:spcAft>
                        <a:buNone/>
                      </a:pPr>
                      <a:r>
                        <a:rPr lang="en-US" sz="1600"/>
                        <a:t>B</a:t>
                      </a:r>
                      <a:endParaRPr/>
                    </a:p>
                  </a:txBody>
                  <a:tcPr marT="0" marB="0" marR="68525" marL="68525"/>
                </a:tc>
                <a:tc>
                  <a:txBody>
                    <a:bodyPr/>
                    <a:lstStyle/>
                    <a:p>
                      <a:pPr indent="0" lvl="0" marL="0" marR="0" rtl="0" algn="ctr">
                        <a:spcBef>
                          <a:spcPts val="0"/>
                        </a:spcBef>
                        <a:spcAft>
                          <a:spcPts val="0"/>
                        </a:spcAft>
                        <a:buNone/>
                      </a:pPr>
                      <a:r>
                        <a:rPr lang="en-US" sz="1600"/>
                        <a:t>C</a:t>
                      </a:r>
                      <a:endParaRPr/>
                    </a:p>
                  </a:txBody>
                  <a:tcPr marT="0" marB="0" marR="68525" marL="68525"/>
                </a:tc>
                <a:tc>
                  <a:txBody>
                    <a:bodyPr/>
                    <a:lstStyle/>
                    <a:p>
                      <a:pPr indent="0" lvl="0" marL="0" marR="0" rtl="0" algn="ctr">
                        <a:spcBef>
                          <a:spcPts val="0"/>
                        </a:spcBef>
                        <a:spcAft>
                          <a:spcPts val="0"/>
                        </a:spcAft>
                        <a:buNone/>
                      </a:pPr>
                      <a:r>
                        <a:rPr lang="en-US" sz="1600"/>
                        <a:t>D</a:t>
                      </a:r>
                      <a:endParaRPr/>
                    </a:p>
                  </a:txBody>
                  <a:tcPr marT="0" marB="0" marR="68525" marL="68525"/>
                </a:tc>
                <a:tc>
                  <a:txBody>
                    <a:bodyPr/>
                    <a:lstStyle/>
                    <a:p>
                      <a:pPr indent="0" lvl="0" marL="0" marR="0" rtl="0" algn="ctr">
                        <a:spcBef>
                          <a:spcPts val="0"/>
                        </a:spcBef>
                        <a:spcAft>
                          <a:spcPts val="0"/>
                        </a:spcAft>
                        <a:buNone/>
                      </a:pPr>
                      <a:r>
                        <a:rPr lang="en-US" sz="1600"/>
                        <a:t>A</a:t>
                      </a:r>
                      <a:endParaRPr/>
                    </a:p>
                  </a:txBody>
                  <a:tcPr marT="0" marB="0" marR="68525" marL="68525"/>
                </a:tc>
                <a:tc>
                  <a:txBody>
                    <a:bodyPr/>
                    <a:lstStyle/>
                    <a:p>
                      <a:pPr indent="0" lvl="0" marL="0" marR="0" rtl="0" algn="ctr">
                        <a:spcBef>
                          <a:spcPts val="0"/>
                        </a:spcBef>
                        <a:spcAft>
                          <a:spcPts val="0"/>
                        </a:spcAft>
                        <a:buNone/>
                      </a:pPr>
                      <a:r>
                        <a:rPr lang="en-US" sz="1600"/>
                        <a:t>B</a:t>
                      </a:r>
                      <a:endParaRPr/>
                    </a:p>
                  </a:txBody>
                  <a:tcPr marT="0" marB="0" marR="68525" marL="68525"/>
                </a:tc>
                <a:tc>
                  <a:txBody>
                    <a:bodyPr/>
                    <a:lstStyle/>
                    <a:p>
                      <a:pPr indent="0" lvl="0" marL="0" marR="0" rtl="0" algn="ctr">
                        <a:spcBef>
                          <a:spcPts val="0"/>
                        </a:spcBef>
                        <a:spcAft>
                          <a:spcPts val="0"/>
                        </a:spcAft>
                        <a:buNone/>
                      </a:pPr>
                      <a:r>
                        <a:rPr lang="en-US" sz="1600"/>
                        <a:t>C</a:t>
                      </a:r>
                      <a:endParaRPr/>
                    </a:p>
                  </a:txBody>
                  <a:tcPr marT="0" marB="0" marR="68525" marL="68525"/>
                </a:tc>
                <a:tc>
                  <a:txBody>
                    <a:bodyPr/>
                    <a:lstStyle/>
                    <a:p>
                      <a:pPr indent="0" lvl="0" marL="0" marR="0" rtl="0" algn="ctr">
                        <a:spcBef>
                          <a:spcPts val="0"/>
                        </a:spcBef>
                        <a:spcAft>
                          <a:spcPts val="0"/>
                        </a:spcAft>
                        <a:buNone/>
                      </a:pPr>
                      <a:r>
                        <a:rPr lang="en-US" sz="1600"/>
                        <a:t>D</a:t>
                      </a:r>
                      <a:endParaRPr/>
                    </a:p>
                  </a:txBody>
                  <a:tcPr marT="0" marB="0" marR="68525" marL="68525"/>
                </a:tc>
                <a:tc>
                  <a:txBody>
                    <a:bodyPr/>
                    <a:lstStyle/>
                    <a:p>
                      <a:pPr indent="0" lvl="0" marL="0" marR="0" rtl="0" algn="ctr">
                        <a:spcBef>
                          <a:spcPts val="0"/>
                        </a:spcBef>
                        <a:spcAft>
                          <a:spcPts val="0"/>
                        </a:spcAft>
                        <a:buNone/>
                      </a:pPr>
                      <a:r>
                        <a:rPr lang="en-US" sz="1600"/>
                        <a:t>A</a:t>
                      </a:r>
                      <a:endParaRPr/>
                    </a:p>
                  </a:txBody>
                  <a:tcPr marT="0" marB="0" marR="68525" marL="68525"/>
                </a:tc>
                <a:tc>
                  <a:txBody>
                    <a:bodyPr/>
                    <a:lstStyle/>
                    <a:p>
                      <a:pPr indent="0" lvl="0" marL="0" marR="0" rtl="0" algn="ctr">
                        <a:spcBef>
                          <a:spcPts val="0"/>
                        </a:spcBef>
                        <a:spcAft>
                          <a:spcPts val="0"/>
                        </a:spcAft>
                        <a:buNone/>
                      </a:pPr>
                      <a:r>
                        <a:rPr lang="en-US" sz="1600"/>
                        <a:t>B</a:t>
                      </a:r>
                      <a:endParaRPr/>
                    </a:p>
                  </a:txBody>
                  <a:tcPr marT="0" marB="0" marR="68525" marL="68525"/>
                </a:tc>
                <a:tc>
                  <a:txBody>
                    <a:bodyPr/>
                    <a:lstStyle/>
                    <a:p>
                      <a:pPr indent="0" lvl="0" marL="0" marR="0" rtl="0" algn="ctr">
                        <a:spcBef>
                          <a:spcPts val="0"/>
                        </a:spcBef>
                        <a:spcAft>
                          <a:spcPts val="0"/>
                        </a:spcAft>
                        <a:buNone/>
                      </a:pPr>
                      <a:r>
                        <a:rPr lang="en-US" sz="1600"/>
                        <a:t>C</a:t>
                      </a:r>
                      <a:endParaRPr/>
                    </a:p>
                  </a:txBody>
                  <a:tcPr marT="0" marB="0" marR="68525" marL="68525"/>
                </a:tc>
                <a:tc>
                  <a:txBody>
                    <a:bodyPr/>
                    <a:lstStyle/>
                    <a:p>
                      <a:pPr indent="0" lvl="0" marL="0" marR="0" rtl="0" algn="ctr">
                        <a:spcBef>
                          <a:spcPts val="0"/>
                        </a:spcBef>
                        <a:spcAft>
                          <a:spcPts val="0"/>
                        </a:spcAft>
                        <a:buNone/>
                      </a:pPr>
                      <a:r>
                        <a:rPr lang="en-US" sz="1600"/>
                        <a:t>D</a:t>
                      </a:r>
                      <a:endParaRPr/>
                    </a:p>
                  </a:txBody>
                  <a:tcPr marT="0" marB="0" marR="68525" marL="68525"/>
                </a:tc>
                <a:tc>
                  <a:txBody>
                    <a:bodyPr/>
                    <a:lstStyle/>
                    <a:p>
                      <a:pPr indent="0" lvl="0" marL="0" marR="0" rtl="0" algn="ctr">
                        <a:spcBef>
                          <a:spcPts val="0"/>
                        </a:spcBef>
                        <a:spcAft>
                          <a:spcPts val="0"/>
                        </a:spcAft>
                        <a:buNone/>
                      </a:pPr>
                      <a:r>
                        <a:rPr lang="en-US" sz="1600"/>
                        <a:t>A</a:t>
                      </a:r>
                      <a:endParaRPr sz="1600"/>
                    </a:p>
                  </a:txBody>
                  <a:tcPr marT="0" marB="0" marR="68525" marL="68525"/>
                </a:tc>
                <a:tc>
                  <a:txBody>
                    <a:bodyPr/>
                    <a:lstStyle/>
                    <a:p>
                      <a:pPr indent="0" lvl="0" marL="0" marR="0" rtl="0" algn="ctr">
                        <a:spcBef>
                          <a:spcPts val="0"/>
                        </a:spcBef>
                        <a:spcAft>
                          <a:spcPts val="0"/>
                        </a:spcAft>
                        <a:buNone/>
                      </a:pPr>
                      <a:r>
                        <a:rPr lang="en-US" sz="1600"/>
                        <a:t>B</a:t>
                      </a:r>
                      <a:endParaRPr sz="1600"/>
                    </a:p>
                  </a:txBody>
                  <a:tcPr marT="0" marB="0" marR="68525" marL="68525"/>
                </a:tc>
                <a:tc>
                  <a:txBody>
                    <a:bodyPr/>
                    <a:lstStyle/>
                    <a:p>
                      <a:pPr indent="0" lvl="0" marL="0" marR="0" rtl="0" algn="ctr">
                        <a:spcBef>
                          <a:spcPts val="0"/>
                        </a:spcBef>
                        <a:spcAft>
                          <a:spcPts val="0"/>
                        </a:spcAft>
                        <a:buNone/>
                      </a:pPr>
                      <a:r>
                        <a:rPr lang="en-US" sz="1600"/>
                        <a:t>C</a:t>
                      </a:r>
                      <a:endParaRPr sz="1600"/>
                    </a:p>
                  </a:txBody>
                  <a:tcPr marT="0" marB="0" marR="68525" marL="68525"/>
                </a:tc>
                <a:tc>
                  <a:txBody>
                    <a:bodyPr/>
                    <a:lstStyle/>
                    <a:p>
                      <a:pPr indent="0" lvl="0" marL="0" marR="0" rtl="0" algn="ctr">
                        <a:spcBef>
                          <a:spcPts val="0"/>
                        </a:spcBef>
                        <a:spcAft>
                          <a:spcPts val="0"/>
                        </a:spcAft>
                        <a:buNone/>
                      </a:pPr>
                      <a:r>
                        <a:rPr lang="en-US" sz="1600"/>
                        <a:t>D</a:t>
                      </a:r>
                      <a:endParaRPr sz="1600"/>
                    </a:p>
                  </a:txBody>
                  <a:tcPr marT="0" marB="0" marR="68525" marL="68525"/>
                </a:tc>
              </a:tr>
              <a:tr h="214750">
                <a:tc>
                  <a:txBody>
                    <a:bodyPr/>
                    <a:lstStyle/>
                    <a:p>
                      <a:pPr indent="0" lvl="0" marL="0" marR="0" rtl="0" algn="ctr">
                        <a:spcBef>
                          <a:spcPts val="0"/>
                        </a:spcBef>
                        <a:spcAft>
                          <a:spcPts val="0"/>
                        </a:spcAft>
                        <a:buNone/>
                      </a:pPr>
                      <a:r>
                        <a:rPr lang="en-US" sz="1600"/>
                        <a:t>P0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r>
              <a:tr h="429500">
                <a:tc>
                  <a:txBody>
                    <a:bodyPr/>
                    <a:lstStyle/>
                    <a:p>
                      <a:pPr indent="0" lvl="0" marL="0" marR="0" rtl="0" algn="ctr">
                        <a:spcBef>
                          <a:spcPts val="0"/>
                        </a:spcBef>
                        <a:spcAft>
                          <a:spcPts val="0"/>
                        </a:spcAft>
                        <a:buNone/>
                      </a:pPr>
                      <a:r>
                        <a:rPr lang="en-US" sz="1600"/>
                        <a:t>P1</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7</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7</a:t>
                      </a:r>
                      <a:endParaRPr sz="1600"/>
                    </a:p>
                  </a:txBody>
                  <a:tcPr marT="0" marB="0" marR="68525" marL="68525"/>
                </a:tc>
                <a:tc>
                  <a:txBody>
                    <a:bodyPr/>
                    <a:lstStyle/>
                    <a:p>
                      <a:pPr indent="0" lvl="0" marL="0" marR="0" rtl="0" algn="ctr">
                        <a:spcBef>
                          <a:spcPts val="0"/>
                        </a:spcBef>
                        <a:spcAft>
                          <a:spcPts val="0"/>
                        </a:spcAft>
                        <a:buNone/>
                      </a:pPr>
                      <a:r>
                        <a:rPr lang="en-US" sz="1600"/>
                        <a:t>5</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r>
              <a:tr h="429500">
                <a:tc>
                  <a:txBody>
                    <a:bodyPr/>
                    <a:lstStyle/>
                    <a:p>
                      <a:pPr indent="0" lvl="0" marL="0" marR="0" rtl="0" algn="ctr">
                        <a:spcBef>
                          <a:spcPts val="0"/>
                        </a:spcBef>
                        <a:spcAft>
                          <a:spcPts val="0"/>
                        </a:spcAft>
                        <a:buNone/>
                      </a:pPr>
                      <a:r>
                        <a:rPr lang="en-US" sz="1600"/>
                        <a:t>P2</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3</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4</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r>
                        <a:rPr lang="en-US" sz="1600"/>
                        <a:t>3</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6</a:t>
                      </a:r>
                      <a:endParaRPr/>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r>
                        <a:rPr lang="en-US" sz="1600"/>
                        <a:t>1</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2</a:t>
                      </a:r>
                      <a:endParaRPr sz="1600"/>
                    </a:p>
                  </a:txBody>
                  <a:tcPr marT="0" marB="0" marR="68525" marL="68525"/>
                </a:tc>
              </a:tr>
              <a:tr h="429500">
                <a:tc>
                  <a:txBody>
                    <a:bodyPr/>
                    <a:lstStyle/>
                    <a:p>
                      <a:pPr indent="0" lvl="0" marL="0" marR="0" rtl="0" algn="ctr">
                        <a:spcBef>
                          <a:spcPts val="0"/>
                        </a:spcBef>
                        <a:spcAft>
                          <a:spcPts val="0"/>
                        </a:spcAft>
                        <a:buNone/>
                      </a:pPr>
                      <a:r>
                        <a:rPr lang="en-US" sz="1600"/>
                        <a:t>P3</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6</a:t>
                      </a:r>
                      <a:endParaRPr/>
                    </a:p>
                  </a:txBody>
                  <a:tcPr marT="0" marB="0" marR="68525" marL="68525"/>
                </a:tc>
                <a:tc>
                  <a:txBody>
                    <a:bodyPr/>
                    <a:lstStyle/>
                    <a:p>
                      <a:pPr indent="0" lvl="0" marL="0" marR="0" rtl="0" algn="ctr">
                        <a:spcBef>
                          <a:spcPts val="0"/>
                        </a:spcBef>
                        <a:spcAft>
                          <a:spcPts val="0"/>
                        </a:spcAft>
                        <a:buNone/>
                      </a:pPr>
                      <a:r>
                        <a:rPr lang="en-US" sz="1600"/>
                        <a:t>3</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6</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2</a:t>
                      </a:r>
                      <a:endParaRPr/>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c>
                  <a:txBody>
                    <a:bodyPr/>
                    <a:lstStyle/>
                    <a:p>
                      <a:pPr indent="0" lvl="0" marL="0" marR="0" rtl="0" algn="ctr">
                        <a:spcBef>
                          <a:spcPts val="0"/>
                        </a:spcBef>
                        <a:spcAft>
                          <a:spcPts val="0"/>
                        </a:spcAft>
                        <a:buNone/>
                      </a:pPr>
                      <a:r>
                        <a:rPr lang="en-US" sz="1600"/>
                        <a:t>2</a:t>
                      </a:r>
                      <a:endParaRPr sz="1600"/>
                    </a:p>
                  </a:txBody>
                  <a:tcPr marT="0" marB="0" marR="68525" marL="68525"/>
                </a:tc>
                <a:tc>
                  <a:txBody>
                    <a:bodyPr/>
                    <a:lstStyle/>
                    <a:p>
                      <a:pPr indent="0" lvl="0" marL="0" marR="0" rtl="0" algn="ctr">
                        <a:spcBef>
                          <a:spcPts val="0"/>
                        </a:spcBef>
                        <a:spcAft>
                          <a:spcPts val="0"/>
                        </a:spcAft>
                        <a:buNone/>
                      </a:pPr>
                      <a:r>
                        <a:rPr lang="en-US" sz="1600"/>
                        <a:t>0</a:t>
                      </a:r>
                      <a:endParaRPr sz="1600"/>
                    </a:p>
                  </a:txBody>
                  <a:tcPr marT="0" marB="0" marR="68525" marL="68525"/>
                </a:tc>
              </a:tr>
              <a:tr h="429500">
                <a:tc>
                  <a:txBody>
                    <a:bodyPr/>
                    <a:lstStyle/>
                    <a:p>
                      <a:pPr indent="0" lvl="0" marL="0" marR="0" rtl="0" algn="ctr">
                        <a:spcBef>
                          <a:spcPts val="0"/>
                        </a:spcBef>
                        <a:spcAft>
                          <a:spcPts val="0"/>
                        </a:spcAft>
                        <a:buNone/>
                      </a:pPr>
                      <a:r>
                        <a:rPr lang="en-US" sz="1600"/>
                        <a:t>P4</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1</a:t>
                      </a:r>
                      <a:endParaRPr/>
                    </a:p>
                  </a:txBody>
                  <a:tcPr marT="0" marB="0" marR="68525" marL="68525"/>
                </a:tc>
                <a:tc>
                  <a:txBody>
                    <a:bodyPr/>
                    <a:lstStyle/>
                    <a:p>
                      <a:pPr indent="0" lvl="0" marL="0" marR="0" rtl="0" algn="ctr">
                        <a:spcBef>
                          <a:spcPts val="0"/>
                        </a:spcBef>
                        <a:spcAft>
                          <a:spcPts val="0"/>
                        </a:spcAft>
                        <a:buNone/>
                      </a:pPr>
                      <a:r>
                        <a:rPr lang="en-US" sz="1600"/>
                        <a:t>4</a:t>
                      </a:r>
                      <a:endParaRPr/>
                    </a:p>
                  </a:txBody>
                  <a:tcPr marT="0" marB="0" marR="68525" marL="68525"/>
                </a:tc>
                <a:tc>
                  <a:txBody>
                    <a:bodyPr/>
                    <a:lstStyle/>
                    <a:p>
                      <a:pPr indent="0" lvl="0" marL="0" marR="0" rtl="0" algn="ctr">
                        <a:spcBef>
                          <a:spcPts val="0"/>
                        </a:spcBef>
                        <a:spcAft>
                          <a:spcPts val="0"/>
                        </a:spcAft>
                        <a:buNone/>
                      </a:pPr>
                      <a:r>
                        <a:rPr lang="en-US" sz="1600"/>
                        <a:t>0</a:t>
                      </a:r>
                      <a:endParaRPr/>
                    </a:p>
                  </a:txBody>
                  <a:tcPr marT="0" marB="0" marR="68525" marL="68525"/>
                </a:tc>
                <a:tc>
                  <a:txBody>
                    <a:bodyPr/>
                    <a:lstStyle/>
                    <a:p>
                      <a:pPr indent="0" lvl="0" marL="0" marR="0" rtl="0" algn="ctr">
                        <a:spcBef>
                          <a:spcPts val="0"/>
                        </a:spcBef>
                        <a:spcAft>
                          <a:spcPts val="0"/>
                        </a:spcAft>
                        <a:buNone/>
                      </a:pPr>
                      <a:r>
                        <a:rPr lang="en-US" sz="1600"/>
                        <a:t>6</a:t>
                      </a:r>
                      <a:endParaRPr/>
                    </a:p>
                  </a:txBody>
                  <a:tcPr marT="0" marB="0" marR="68525" marL="68525"/>
                </a:tc>
                <a:tc>
                  <a:txBody>
                    <a:bodyPr/>
                    <a:lstStyle/>
                    <a:p>
                      <a:pPr indent="0" lvl="0" marL="0" marR="0" rtl="0" algn="ctr">
                        <a:spcBef>
                          <a:spcPts val="0"/>
                        </a:spcBef>
                        <a:spcAft>
                          <a:spcPts val="0"/>
                        </a:spcAft>
                        <a:buNone/>
                      </a:pPr>
                      <a:r>
                        <a:rPr lang="en-US" sz="1600"/>
                        <a:t>5</a:t>
                      </a:r>
                      <a:endParaRPr/>
                    </a:p>
                  </a:txBody>
                  <a:tcPr marT="0" marB="0" marR="68525" marL="68525"/>
                </a:tc>
                <a:tc>
                  <a:txBody>
                    <a:bodyPr/>
                    <a:lstStyle/>
                    <a:p>
                      <a:pPr indent="0" lvl="0" marL="0" marR="0" rtl="0" algn="ctr">
                        <a:spcBef>
                          <a:spcPts val="0"/>
                        </a:spcBef>
                        <a:spcAft>
                          <a:spcPts val="0"/>
                        </a:spcAft>
                        <a:buNone/>
                      </a:pPr>
                      <a:r>
                        <a:rPr lang="en-US" sz="1600"/>
                        <a:t>6</a:t>
                      </a:r>
                      <a:endParaRPr/>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br>
                        <a:rPr lang="en-US" sz="1600"/>
                      </a:br>
                      <a:endParaRPr sz="1600"/>
                    </a:p>
                  </a:txBody>
                  <a:tcPr marT="0" marB="0" marR="68525" marL="68525"/>
                </a:tc>
                <a:tc>
                  <a:txBody>
                    <a:bodyPr/>
                    <a:lstStyle/>
                    <a:p>
                      <a:pPr indent="0" lvl="0" marL="0" marR="0" rtl="0" algn="ctr">
                        <a:spcBef>
                          <a:spcPts val="0"/>
                        </a:spcBef>
                        <a:spcAft>
                          <a:spcPts val="0"/>
                        </a:spcAft>
                        <a:buNone/>
                      </a:pPr>
                      <a:r>
                        <a:t/>
                      </a:r>
                      <a:endParaRPr sz="1600"/>
                    </a:p>
                  </a:txBody>
                  <a:tcPr marT="0" marB="0" marR="68525" marL="68525"/>
                </a:tc>
                <a:tc>
                  <a:txBody>
                    <a:bodyPr/>
                    <a:lstStyle/>
                    <a:p>
                      <a:pPr indent="0" lvl="0" marL="0" marR="0" rtl="0" algn="l">
                        <a:spcBef>
                          <a:spcPts val="0"/>
                        </a:spcBef>
                        <a:spcAft>
                          <a:spcPts val="0"/>
                        </a:spcAft>
                        <a:buNone/>
                      </a:pPr>
                      <a:r>
                        <a:t/>
                      </a:r>
                      <a:endParaRPr sz="1600"/>
                    </a:p>
                  </a:txBody>
                  <a:tcPr marT="45675" marB="45675" marR="91375" marL="91375"/>
                </a:tc>
                <a:tc>
                  <a:txBody>
                    <a:bodyPr/>
                    <a:lstStyle/>
                    <a:p>
                      <a:pPr indent="0" lvl="0" marL="0" marR="0" rtl="0" algn="l">
                        <a:spcBef>
                          <a:spcPts val="0"/>
                        </a:spcBef>
                        <a:spcAft>
                          <a:spcPts val="0"/>
                        </a:spcAft>
                        <a:buNone/>
                      </a:pPr>
                      <a:r>
                        <a:rPr lang="en-US" sz="1600"/>
                        <a:t>0</a:t>
                      </a:r>
                      <a:endParaRPr sz="1600"/>
                    </a:p>
                  </a:txBody>
                  <a:tcPr marT="45675" marB="45675" marR="91375" marL="91375"/>
                </a:tc>
                <a:tc>
                  <a:txBody>
                    <a:bodyPr/>
                    <a:lstStyle/>
                    <a:p>
                      <a:pPr indent="0" lvl="0" marL="0" marR="0" rtl="0" algn="l">
                        <a:spcBef>
                          <a:spcPts val="0"/>
                        </a:spcBef>
                        <a:spcAft>
                          <a:spcPts val="0"/>
                        </a:spcAft>
                        <a:buNone/>
                      </a:pPr>
                      <a:r>
                        <a:rPr lang="en-US" sz="1600"/>
                        <a:t>6</a:t>
                      </a:r>
                      <a:endParaRPr sz="1600"/>
                    </a:p>
                  </a:txBody>
                  <a:tcPr marT="45675" marB="45675" marR="91375" marL="91375"/>
                </a:tc>
                <a:tc>
                  <a:txBody>
                    <a:bodyPr/>
                    <a:lstStyle/>
                    <a:p>
                      <a:pPr indent="0" lvl="0" marL="0" marR="0" rtl="0" algn="l">
                        <a:spcBef>
                          <a:spcPts val="0"/>
                        </a:spcBef>
                        <a:spcAft>
                          <a:spcPts val="0"/>
                        </a:spcAft>
                        <a:buNone/>
                      </a:pPr>
                      <a:r>
                        <a:rPr lang="en-US" sz="1600"/>
                        <a:t>4</a:t>
                      </a:r>
                      <a:endParaRPr sz="1600"/>
                    </a:p>
                  </a:txBody>
                  <a:tcPr marT="45675" marB="45675" marR="91375" marL="91375"/>
                </a:tc>
                <a:tc>
                  <a:txBody>
                    <a:bodyPr/>
                    <a:lstStyle/>
                    <a:p>
                      <a:pPr indent="0" lvl="0" marL="0" marR="0" rtl="0" algn="l">
                        <a:spcBef>
                          <a:spcPts val="0"/>
                        </a:spcBef>
                        <a:spcAft>
                          <a:spcPts val="0"/>
                        </a:spcAft>
                        <a:buNone/>
                      </a:pPr>
                      <a:r>
                        <a:rPr lang="en-US" sz="1600"/>
                        <a:t>2</a:t>
                      </a:r>
                      <a:endParaRPr sz="1600"/>
                    </a:p>
                  </a:txBody>
                  <a:tcPr marT="45675" marB="45675" marR="91375" marL="91375"/>
                </a:tc>
              </a:tr>
            </a:tbl>
          </a:graphicData>
        </a:graphic>
      </p:graphicFrame>
      <p:sp>
        <p:nvSpPr>
          <p:cNvPr id="1082" name="Google Shape;1082;p9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083" name="Google Shape;1083;p9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084" name="Google Shape;1084;p9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85" name="Google Shape;1085;p91"/>
          <p:cNvSpPr/>
          <p:nvPr/>
        </p:nvSpPr>
        <p:spPr>
          <a:xfrm>
            <a:off x="457200" y="2446338"/>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Times New Roman"/>
              <a:buNone/>
            </a:pPr>
            <a:br>
              <a:rPr b="0" i="0" lang="en-US" sz="1200" u="none" cap="none" strike="noStrike">
                <a:solidFill>
                  <a:schemeClr val="dk1"/>
                </a:solidFill>
                <a:latin typeface="Times New Roman"/>
                <a:ea typeface="Times New Roman"/>
                <a:cs typeface="Times New Roman"/>
                <a:sym typeface="Times New Roman"/>
              </a:rPr>
            </a:br>
            <a:endParaRPr b="0" i="0" sz="1800" u="none" cap="none" strike="noStrike">
              <a:solidFill>
                <a:schemeClr val="dk1"/>
              </a:solidFill>
              <a:latin typeface="Arial"/>
              <a:ea typeface="Arial"/>
              <a:cs typeface="Arial"/>
              <a:sym typeface="Arial"/>
            </a:endParaRPr>
          </a:p>
        </p:txBody>
      </p:sp>
      <p:sp>
        <p:nvSpPr>
          <p:cNvPr id="1086" name="Google Shape;1086;p91"/>
          <p:cNvSpPr txBox="1"/>
          <p:nvPr/>
        </p:nvSpPr>
        <p:spPr>
          <a:xfrm>
            <a:off x="4227946" y="3124200"/>
            <a:ext cx="4775200" cy="2809875"/>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marR="0" rtl="0" algn="l">
              <a:lnSpc>
                <a:spcPct val="90000"/>
              </a:lnSpc>
              <a:spcBef>
                <a:spcPts val="0"/>
              </a:spcBef>
              <a:spcAft>
                <a:spcPts val="0"/>
              </a:spcAft>
              <a:buClr>
                <a:schemeClr val="dk1"/>
              </a:buClr>
              <a:buSzPct val="100000"/>
              <a:buFont typeface="Arial"/>
              <a:buNone/>
            </a:pPr>
            <a:r>
              <a:rPr lang="en-US" sz="2800">
                <a:solidFill>
                  <a:schemeClr val="dk1"/>
                </a:solidFill>
                <a:latin typeface="Calibri"/>
                <a:ea typeface="Calibri"/>
                <a:cs typeface="Calibri"/>
                <a:sym typeface="Calibri"/>
              </a:rPr>
              <a:t>1.	</a:t>
            </a:r>
            <a:r>
              <a:rPr lang="en-US" sz="1800">
                <a:solidFill>
                  <a:schemeClr val="dk1"/>
                </a:solidFill>
                <a:latin typeface="Calibri"/>
                <a:ea typeface="Calibri"/>
                <a:cs typeface="Calibri"/>
                <a:sym typeface="Calibri"/>
              </a:rPr>
              <a:t>Let </a:t>
            </a:r>
            <a:r>
              <a:rPr b="1" i="1" lang="en-US" sz="1800">
                <a:solidFill>
                  <a:srgbClr val="000000"/>
                </a:solidFill>
                <a:latin typeface="Calibri"/>
                <a:ea typeface="Calibri"/>
                <a:cs typeface="Calibri"/>
                <a:sym typeface="Calibri"/>
              </a:rPr>
              <a:t>Work</a:t>
            </a:r>
            <a:r>
              <a:rPr i="1" lang="en-US" sz="1800">
                <a:solidFill>
                  <a:srgbClr val="000000"/>
                </a:solidFill>
                <a:latin typeface="Calibri"/>
                <a:ea typeface="Calibri"/>
                <a:cs typeface="Calibri"/>
                <a:sym typeface="Calibri"/>
              </a:rPr>
              <a:t> </a:t>
            </a:r>
            <a:r>
              <a:rPr lang="en-US" sz="1800">
                <a:solidFill>
                  <a:schemeClr val="dk1"/>
                </a:solidFill>
                <a:latin typeface="Calibri"/>
                <a:ea typeface="Calibri"/>
                <a:cs typeface="Calibri"/>
                <a:sym typeface="Calibri"/>
              </a:rPr>
              <a:t>and </a:t>
            </a:r>
            <a:r>
              <a:rPr b="1" i="1" lang="en-US" sz="1800">
                <a:solidFill>
                  <a:srgbClr val="000000"/>
                </a:solidFill>
                <a:latin typeface="Calibri"/>
                <a:ea typeface="Calibri"/>
                <a:cs typeface="Calibri"/>
                <a:sym typeface="Calibri"/>
              </a:rPr>
              <a:t>Finish</a:t>
            </a:r>
            <a:r>
              <a:rPr lang="en-US" sz="1800">
                <a:solidFill>
                  <a:srgbClr val="000000"/>
                </a:solidFill>
                <a:latin typeface="Calibri"/>
                <a:ea typeface="Calibri"/>
                <a:cs typeface="Calibri"/>
                <a:sym typeface="Calibri"/>
              </a:rPr>
              <a:t> </a:t>
            </a:r>
            <a:r>
              <a:rPr lang="en-US" sz="1800">
                <a:solidFill>
                  <a:schemeClr val="dk1"/>
                </a:solidFill>
                <a:latin typeface="Calibri"/>
                <a:ea typeface="Calibri"/>
                <a:cs typeface="Calibri"/>
                <a:sym typeface="Calibri"/>
              </a:rPr>
              <a:t>be vectors of length</a:t>
            </a:r>
            <a:r>
              <a:rPr i="1" lang="en-US" sz="1800">
                <a:solidFill>
                  <a:schemeClr val="dk1"/>
                </a:solidFill>
                <a:latin typeface="Calibri"/>
                <a:ea typeface="Calibri"/>
                <a:cs typeface="Calibri"/>
                <a:sym typeface="Calibri"/>
              </a:rPr>
              <a:t> m</a:t>
            </a:r>
            <a:r>
              <a:rPr lang="en-US" sz="1800">
                <a:solidFill>
                  <a:schemeClr val="dk1"/>
                </a:solidFill>
                <a:latin typeface="Calibri"/>
                <a:ea typeface="Calibri"/>
                <a:cs typeface="Calibri"/>
                <a:sym typeface="Calibri"/>
              </a:rPr>
              <a:t> and</a:t>
            </a:r>
            <a:r>
              <a:rPr i="1" lang="en-US" sz="1800">
                <a:solidFill>
                  <a:schemeClr val="dk1"/>
                </a:solidFill>
                <a:latin typeface="Calibri"/>
                <a:ea typeface="Calibri"/>
                <a:cs typeface="Calibri"/>
                <a:sym typeface="Calibri"/>
              </a:rPr>
              <a:t> n</a:t>
            </a:r>
            <a:r>
              <a:rPr lang="en-US" sz="1800">
                <a:solidFill>
                  <a:schemeClr val="dk1"/>
                </a:solidFill>
                <a:latin typeface="Calibri"/>
                <a:ea typeface="Calibri"/>
                <a:cs typeface="Calibri"/>
                <a:sym typeface="Calibri"/>
              </a:rPr>
              <a:t>, respectively.  Initialize:</a:t>
            </a:r>
            <a:endParaRPr/>
          </a:p>
          <a:p>
            <a:pPr indent="-342900" lvl="3" marL="1543050" marR="0" rtl="0" algn="l">
              <a:lnSpc>
                <a:spcPct val="90000"/>
              </a:lnSpc>
              <a:spcBef>
                <a:spcPts val="203"/>
              </a:spcBef>
              <a:spcAft>
                <a:spcPts val="0"/>
              </a:spcAft>
              <a:buClr>
                <a:schemeClr val="dk1"/>
              </a:buClr>
              <a:buSzPct val="100000"/>
              <a:buFont typeface="Arial"/>
              <a:buNone/>
            </a:pPr>
            <a:r>
              <a:rPr b="1" i="1" lang="en-US" sz="1100" u="none" cap="none" strike="noStrike">
                <a:solidFill>
                  <a:schemeClr val="dk1"/>
                </a:solidFill>
                <a:latin typeface="Calibri"/>
                <a:ea typeface="Calibri"/>
                <a:cs typeface="Calibri"/>
                <a:sym typeface="Calibri"/>
              </a:rPr>
              <a:t>Work </a:t>
            </a:r>
            <a:r>
              <a:rPr b="1" i="0" lang="en-US" sz="1100" u="none" cap="none" strike="noStrike">
                <a:solidFill>
                  <a:schemeClr val="dk1"/>
                </a:solidFill>
                <a:latin typeface="Calibri"/>
                <a:ea typeface="Calibri"/>
                <a:cs typeface="Calibri"/>
                <a:sym typeface="Calibri"/>
              </a:rPr>
              <a:t>= </a:t>
            </a:r>
            <a:r>
              <a:rPr b="1" i="1" lang="en-US" sz="1100" u="none" cap="none" strike="noStrike">
                <a:solidFill>
                  <a:schemeClr val="dk1"/>
                </a:solidFill>
                <a:latin typeface="Calibri"/>
                <a:ea typeface="Calibri"/>
                <a:cs typeface="Calibri"/>
                <a:sym typeface="Calibri"/>
              </a:rPr>
              <a:t>Available</a:t>
            </a:r>
            <a:endParaRPr/>
          </a:p>
          <a:p>
            <a:pPr indent="-342900" lvl="3" marL="1543050" marR="0" rtl="0" algn="l">
              <a:lnSpc>
                <a:spcPct val="90000"/>
              </a:lnSpc>
              <a:spcBef>
                <a:spcPts val="203"/>
              </a:spcBef>
              <a:spcAft>
                <a:spcPts val="0"/>
              </a:spcAft>
              <a:buClr>
                <a:schemeClr val="dk1"/>
              </a:buClr>
              <a:buSzPct val="100000"/>
              <a:buFont typeface="Arial"/>
              <a:buNone/>
            </a:pPr>
            <a:r>
              <a:rPr b="1" i="1" lang="en-US" sz="1100" u="none" cap="none" strike="noStrike">
                <a:solidFill>
                  <a:schemeClr val="dk1"/>
                </a:solidFill>
                <a:latin typeface="Calibri"/>
                <a:ea typeface="Calibri"/>
                <a:cs typeface="Calibri"/>
                <a:sym typeface="Calibri"/>
              </a:rPr>
              <a:t>Finish </a:t>
            </a:r>
            <a:r>
              <a:rPr b="1" i="0" lang="en-US" sz="1100" u="none" cap="none" strike="noStrike">
                <a:solidFill>
                  <a:schemeClr val="dk1"/>
                </a:solidFill>
                <a:latin typeface="Calibri"/>
                <a:ea typeface="Calibri"/>
                <a:cs typeface="Calibri"/>
                <a:sym typeface="Calibri"/>
              </a:rPr>
              <a:t>[</a:t>
            </a:r>
            <a:r>
              <a:rPr b="1" i="1" lang="en-US" sz="1100" u="none" cap="none" strike="noStrike">
                <a:solidFill>
                  <a:schemeClr val="dk1"/>
                </a:solidFill>
                <a:latin typeface="Calibri"/>
                <a:ea typeface="Calibri"/>
                <a:cs typeface="Calibri"/>
                <a:sym typeface="Calibri"/>
              </a:rPr>
              <a:t>i</a:t>
            </a:r>
            <a:r>
              <a:rPr b="1" i="0" lang="en-US" sz="1100" u="none" cap="none" strike="noStrike">
                <a:solidFill>
                  <a:schemeClr val="dk1"/>
                </a:solidFill>
                <a:latin typeface="Calibri"/>
                <a:ea typeface="Calibri"/>
                <a:cs typeface="Calibri"/>
                <a:sym typeface="Calibri"/>
              </a:rPr>
              <a:t>] =</a:t>
            </a:r>
            <a:r>
              <a:rPr b="1" i="1" lang="en-US" sz="1100" u="none" cap="none" strike="noStrike">
                <a:solidFill>
                  <a:schemeClr val="dk1"/>
                </a:solidFill>
                <a:latin typeface="Calibri"/>
                <a:ea typeface="Calibri"/>
                <a:cs typeface="Calibri"/>
                <a:sym typeface="Calibri"/>
              </a:rPr>
              <a:t> false </a:t>
            </a:r>
            <a:r>
              <a:rPr b="1" i="0" lang="en-US" sz="1100" u="none" cap="none" strike="noStrike">
                <a:solidFill>
                  <a:schemeClr val="dk1"/>
                </a:solidFill>
                <a:latin typeface="Calibri"/>
                <a:ea typeface="Calibri"/>
                <a:cs typeface="Calibri"/>
                <a:sym typeface="Calibri"/>
              </a:rPr>
              <a:t>for</a:t>
            </a:r>
            <a:r>
              <a:rPr b="1" i="1" lang="en-US" sz="1100" u="none" cap="none" strike="noStrike">
                <a:solidFill>
                  <a:schemeClr val="dk1"/>
                </a:solidFill>
                <a:latin typeface="Calibri"/>
                <a:ea typeface="Calibri"/>
                <a:cs typeface="Calibri"/>
                <a:sym typeface="Calibri"/>
              </a:rPr>
              <a:t> i</a:t>
            </a:r>
            <a:r>
              <a:rPr b="1" i="0" lang="en-US" sz="1100" u="none" cap="none" strike="noStrike">
                <a:solidFill>
                  <a:schemeClr val="dk1"/>
                </a:solidFill>
                <a:latin typeface="Calibri"/>
                <a:ea typeface="Calibri"/>
                <a:cs typeface="Calibri"/>
                <a:sym typeface="Calibri"/>
              </a:rPr>
              <a:t> = 0, 1, …, </a:t>
            </a:r>
            <a:r>
              <a:rPr b="1" i="1" lang="en-US" sz="1100" u="none" cap="none" strike="noStrike">
                <a:solidFill>
                  <a:schemeClr val="dk1"/>
                </a:solidFill>
                <a:latin typeface="Calibri"/>
                <a:ea typeface="Calibri"/>
                <a:cs typeface="Calibri"/>
                <a:sym typeface="Calibri"/>
              </a:rPr>
              <a:t>n- </a:t>
            </a:r>
            <a:r>
              <a:rPr b="1" i="0" lang="en-US" sz="1100" u="none" cap="none" strike="noStrike">
                <a:solidFill>
                  <a:schemeClr val="dk1"/>
                </a:solidFill>
                <a:latin typeface="Calibri"/>
                <a:ea typeface="Calibri"/>
                <a:cs typeface="Calibri"/>
                <a:sym typeface="Calibri"/>
              </a:rPr>
              <a:t>1</a:t>
            </a:r>
            <a:endParaRPr/>
          </a:p>
          <a:p>
            <a:pPr indent="-342900" lvl="3" marL="1543050" marR="0" rtl="0" algn="l">
              <a:lnSpc>
                <a:spcPct val="90000"/>
              </a:lnSpc>
              <a:spcBef>
                <a:spcPts val="18"/>
              </a:spcBef>
              <a:spcAft>
                <a:spcPts val="0"/>
              </a:spcAft>
              <a:buClr>
                <a:schemeClr val="dk1"/>
              </a:buClr>
              <a:buSzPct val="100000"/>
              <a:buFont typeface="Arial"/>
              <a:buNone/>
            </a:pPr>
            <a:r>
              <a:t/>
            </a:r>
            <a:endParaRPr b="0" i="0" sz="100" u="none" cap="none" strike="noStrike">
              <a:solidFill>
                <a:schemeClr val="dk1"/>
              </a:solidFill>
              <a:latin typeface="Calibri"/>
              <a:ea typeface="Calibri"/>
              <a:cs typeface="Calibri"/>
              <a:sym typeface="Calibri"/>
            </a:endParaRPr>
          </a:p>
          <a:p>
            <a:pPr indent="-342900" lvl="0" marL="342900" marR="0" rtl="0" algn="l">
              <a:lnSpc>
                <a:spcPct val="90000"/>
              </a:lnSpc>
              <a:spcBef>
                <a:spcPts val="333"/>
              </a:spcBef>
              <a:spcAft>
                <a:spcPts val="0"/>
              </a:spcAft>
              <a:buClr>
                <a:schemeClr val="dk1"/>
              </a:buClr>
              <a:buSzPct val="100000"/>
              <a:buFont typeface="Arial"/>
              <a:buNone/>
            </a:pPr>
            <a:r>
              <a:rPr lang="en-US" sz="1800">
                <a:solidFill>
                  <a:schemeClr val="dk1"/>
                </a:solidFill>
                <a:latin typeface="Calibri"/>
                <a:ea typeface="Calibri"/>
                <a:cs typeface="Calibri"/>
                <a:sym typeface="Calibri"/>
              </a:rPr>
              <a:t>2.	Find an </a:t>
            </a:r>
            <a:r>
              <a:rPr b="1" i="1" lang="en-US" sz="1800">
                <a:solidFill>
                  <a:schemeClr val="dk1"/>
                </a:solidFill>
                <a:latin typeface="Calibri"/>
                <a:ea typeface="Calibri"/>
                <a:cs typeface="Calibri"/>
                <a:sym typeface="Calibri"/>
              </a:rPr>
              <a:t>i</a:t>
            </a:r>
            <a:r>
              <a:rPr i="1" lang="en-US" sz="18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such that both: </a:t>
            </a:r>
            <a:endParaRPr/>
          </a:p>
          <a:p>
            <a:pPr indent="-342900" lvl="1" marL="800100" marR="0" rtl="0" algn="l">
              <a:lnSpc>
                <a:spcPct val="90000"/>
              </a:lnSpc>
              <a:spcBef>
                <a:spcPts val="296"/>
              </a:spcBef>
              <a:spcAft>
                <a:spcPts val="0"/>
              </a:spcAft>
              <a:buClr>
                <a:schemeClr val="dk1"/>
              </a:buClr>
              <a:buSzPct val="100000"/>
              <a:buFont typeface="Arial"/>
              <a:buNone/>
            </a:pPr>
            <a:r>
              <a:rPr b="0" i="0" lang="en-US" sz="1600" u="none" cap="none" strike="noStrike">
                <a:solidFill>
                  <a:schemeClr val="dk1"/>
                </a:solidFill>
                <a:latin typeface="Calibri"/>
                <a:ea typeface="Calibri"/>
                <a:cs typeface="Calibri"/>
                <a:sym typeface="Calibri"/>
              </a:rPr>
              <a:t>(a) </a:t>
            </a:r>
            <a:r>
              <a:rPr b="1" i="1" lang="en-US" sz="1600" u="none" cap="none" strike="noStrike">
                <a:solidFill>
                  <a:schemeClr val="dk1"/>
                </a:solidFill>
                <a:latin typeface="Calibri"/>
                <a:ea typeface="Calibri"/>
                <a:cs typeface="Calibri"/>
                <a:sym typeface="Calibri"/>
              </a:rPr>
              <a:t>Finish</a:t>
            </a:r>
            <a:r>
              <a:rPr b="1" i="0" lang="en-US" sz="1600" u="none" cap="none" strike="noStrike">
                <a:solidFill>
                  <a:schemeClr val="dk1"/>
                </a:solidFill>
                <a:latin typeface="Calibri"/>
                <a:ea typeface="Calibri"/>
                <a:cs typeface="Calibri"/>
                <a:sym typeface="Calibri"/>
              </a:rPr>
              <a:t> [</a:t>
            </a:r>
            <a:r>
              <a:rPr b="1" i="1" lang="en-US" sz="1600" u="none" cap="none" strike="noStrike">
                <a:solidFill>
                  <a:schemeClr val="dk1"/>
                </a:solidFill>
                <a:latin typeface="Calibri"/>
                <a:ea typeface="Calibri"/>
                <a:cs typeface="Calibri"/>
                <a:sym typeface="Calibri"/>
              </a:rPr>
              <a:t>i</a:t>
            </a:r>
            <a:r>
              <a:rPr b="1" i="0" lang="en-US" sz="1600" u="none" cap="none" strike="noStrike">
                <a:solidFill>
                  <a:schemeClr val="dk1"/>
                </a:solidFill>
                <a:latin typeface="Calibri"/>
                <a:ea typeface="Calibri"/>
                <a:cs typeface="Calibri"/>
                <a:sym typeface="Calibri"/>
              </a:rPr>
              <a:t>] = </a:t>
            </a:r>
            <a:r>
              <a:rPr b="1" i="1" lang="en-US" sz="1600" u="none" cap="none" strike="noStrike">
                <a:solidFill>
                  <a:schemeClr val="dk1"/>
                </a:solidFill>
                <a:latin typeface="Calibri"/>
                <a:ea typeface="Calibri"/>
                <a:cs typeface="Calibri"/>
                <a:sym typeface="Calibri"/>
              </a:rPr>
              <a:t>false</a:t>
            </a:r>
            <a:endParaRPr b="1" i="0" sz="1600" u="none" cap="none" strike="noStrike">
              <a:solidFill>
                <a:schemeClr val="dk1"/>
              </a:solidFill>
              <a:latin typeface="Calibri"/>
              <a:ea typeface="Calibri"/>
              <a:cs typeface="Calibri"/>
              <a:sym typeface="Calibri"/>
            </a:endParaRPr>
          </a:p>
          <a:p>
            <a:pPr indent="-342900" lvl="1" marL="800100" marR="0" rtl="0" algn="l">
              <a:lnSpc>
                <a:spcPct val="90000"/>
              </a:lnSpc>
              <a:spcBef>
                <a:spcPts val="296"/>
              </a:spcBef>
              <a:spcAft>
                <a:spcPts val="0"/>
              </a:spcAft>
              <a:buClr>
                <a:schemeClr val="dk1"/>
              </a:buClr>
              <a:buSzPct val="100000"/>
              <a:buFont typeface="Arial"/>
              <a:buNone/>
            </a:pPr>
            <a:r>
              <a:rPr b="0" i="0" lang="en-US" sz="1600" u="none" cap="none" strike="noStrike">
                <a:solidFill>
                  <a:schemeClr val="dk1"/>
                </a:solidFill>
                <a:latin typeface="Calibri"/>
                <a:ea typeface="Calibri"/>
                <a:cs typeface="Calibri"/>
                <a:sym typeface="Calibri"/>
              </a:rPr>
              <a:t>(b) </a:t>
            </a:r>
            <a:r>
              <a:rPr b="1" i="1" lang="en-US" sz="1600" u="none" cap="none" strike="noStrike">
                <a:solidFill>
                  <a:srgbClr val="0070C0"/>
                </a:solidFill>
                <a:latin typeface="Calibri"/>
                <a:ea typeface="Calibri"/>
                <a:cs typeface="Calibri"/>
                <a:sym typeface="Calibri"/>
              </a:rPr>
              <a:t>Need</a:t>
            </a:r>
            <a:r>
              <a:rPr b="1" baseline="-25000" i="1" lang="en-US" sz="1600" u="none" cap="none" strike="noStrike">
                <a:solidFill>
                  <a:srgbClr val="0070C0"/>
                </a:solidFill>
                <a:latin typeface="Calibri"/>
                <a:ea typeface="Calibri"/>
                <a:cs typeface="Calibri"/>
                <a:sym typeface="Calibri"/>
              </a:rPr>
              <a:t>i</a:t>
            </a:r>
            <a:r>
              <a:rPr b="1" i="0" lang="en-US" sz="1600" u="none" cap="none" strike="noStrike">
                <a:solidFill>
                  <a:srgbClr val="0070C0"/>
                </a:solidFill>
                <a:latin typeface="Calibri"/>
                <a:ea typeface="Calibri"/>
                <a:cs typeface="Calibri"/>
                <a:sym typeface="Calibri"/>
              </a:rPr>
              <a:t> ≤ </a:t>
            </a:r>
            <a:r>
              <a:rPr b="1" i="1" lang="en-US" sz="1600" u="none" cap="none" strike="noStrike">
                <a:solidFill>
                  <a:srgbClr val="0070C0"/>
                </a:solidFill>
                <a:latin typeface="Calibri"/>
                <a:ea typeface="Calibri"/>
                <a:cs typeface="Calibri"/>
                <a:sym typeface="Calibri"/>
              </a:rPr>
              <a:t>Work</a:t>
            </a:r>
            <a:endParaRPr/>
          </a:p>
          <a:p>
            <a:pPr indent="-342900" lvl="1" marL="800100" marR="0" rtl="0" algn="l">
              <a:lnSpc>
                <a:spcPct val="90000"/>
              </a:lnSpc>
              <a:spcBef>
                <a:spcPts val="296"/>
              </a:spcBef>
              <a:spcAft>
                <a:spcPts val="0"/>
              </a:spcAft>
              <a:buClr>
                <a:schemeClr val="dk1"/>
              </a:buClr>
              <a:buSzPct val="100000"/>
              <a:buFont typeface="Arial"/>
              <a:buNone/>
            </a:pPr>
            <a:r>
              <a:rPr b="0" i="0" lang="en-US" sz="1600" u="none" cap="none" strike="noStrike">
                <a:solidFill>
                  <a:schemeClr val="dk1"/>
                </a:solidFill>
                <a:latin typeface="Calibri"/>
                <a:ea typeface="Calibri"/>
                <a:cs typeface="Calibri"/>
                <a:sym typeface="Calibri"/>
              </a:rPr>
              <a:t>If no such</a:t>
            </a:r>
            <a:r>
              <a:rPr b="1" i="0" lang="en-US" sz="1600" u="none" cap="none" strike="noStrike">
                <a:solidFill>
                  <a:schemeClr val="dk1"/>
                </a:solidFill>
                <a:latin typeface="Calibri"/>
                <a:ea typeface="Calibri"/>
                <a:cs typeface="Calibri"/>
                <a:sym typeface="Calibri"/>
              </a:rPr>
              <a:t> </a:t>
            </a:r>
            <a:r>
              <a:rPr b="1" i="1" lang="en-US" sz="1600" u="none" cap="none" strike="noStrike">
                <a:solidFill>
                  <a:schemeClr val="dk1"/>
                </a:solidFill>
                <a:latin typeface="Calibri"/>
                <a:ea typeface="Calibri"/>
                <a:cs typeface="Calibri"/>
                <a:sym typeface="Calibri"/>
              </a:rPr>
              <a:t>i </a:t>
            </a:r>
            <a:r>
              <a:rPr b="0" i="0" lang="en-US" sz="1600" u="none" cap="none" strike="noStrike">
                <a:solidFill>
                  <a:schemeClr val="dk1"/>
                </a:solidFill>
                <a:latin typeface="Calibri"/>
                <a:ea typeface="Calibri"/>
                <a:cs typeface="Calibri"/>
                <a:sym typeface="Calibri"/>
              </a:rPr>
              <a:t>exists, go to step 4</a:t>
            </a:r>
            <a:endParaRPr/>
          </a:p>
          <a:p>
            <a:pPr indent="-342900" lvl="1" marL="800100" marR="0" rtl="0" algn="l">
              <a:lnSpc>
                <a:spcPct val="90000"/>
              </a:lnSpc>
              <a:spcBef>
                <a:spcPts val="18"/>
              </a:spcBef>
              <a:spcAft>
                <a:spcPts val="0"/>
              </a:spcAft>
              <a:buClr>
                <a:schemeClr val="dk1"/>
              </a:buClr>
              <a:buSzPct val="100000"/>
              <a:buFont typeface="Arial"/>
              <a:buNone/>
            </a:pPr>
            <a:r>
              <a:t/>
            </a:r>
            <a:endParaRPr b="0" i="0" sz="100" u="none" cap="none" strike="noStrike">
              <a:solidFill>
                <a:schemeClr val="dk1"/>
              </a:solidFill>
              <a:latin typeface="Calibri"/>
              <a:ea typeface="Calibri"/>
              <a:cs typeface="Calibri"/>
              <a:sym typeface="Calibri"/>
            </a:endParaRPr>
          </a:p>
          <a:p>
            <a:pPr indent="-342900" lvl="0" marL="342900" marR="0" rtl="0" algn="l">
              <a:lnSpc>
                <a:spcPct val="90000"/>
              </a:lnSpc>
              <a:spcBef>
                <a:spcPts val="333"/>
              </a:spcBef>
              <a:spcAft>
                <a:spcPts val="0"/>
              </a:spcAft>
              <a:buClr>
                <a:schemeClr val="dk1"/>
              </a:buClr>
              <a:buSzPct val="100000"/>
              <a:buFont typeface="Arial"/>
              <a:buNone/>
            </a:pPr>
            <a:r>
              <a:rPr i="1" lang="en-US" sz="1800">
                <a:solidFill>
                  <a:schemeClr val="dk1"/>
                </a:solidFill>
                <a:latin typeface="Calibri"/>
                <a:ea typeface="Calibri"/>
                <a:cs typeface="Calibri"/>
                <a:sym typeface="Calibri"/>
              </a:rPr>
              <a:t>3.  </a:t>
            </a:r>
            <a:r>
              <a:rPr b="1" i="1" lang="en-US" sz="1800">
                <a:solidFill>
                  <a:schemeClr val="dk1"/>
                </a:solidFill>
                <a:latin typeface="Calibri"/>
                <a:ea typeface="Calibri"/>
                <a:cs typeface="Calibri"/>
                <a:sym typeface="Calibri"/>
              </a:rPr>
              <a:t>Work</a:t>
            </a:r>
            <a:r>
              <a:rPr b="1" lang="en-US" sz="1800">
                <a:solidFill>
                  <a:schemeClr val="dk1"/>
                </a:solidFill>
                <a:latin typeface="Calibri"/>
                <a:ea typeface="Calibri"/>
                <a:cs typeface="Calibri"/>
                <a:sym typeface="Calibri"/>
              </a:rPr>
              <a:t> = </a:t>
            </a:r>
            <a:r>
              <a:rPr b="1" i="1" lang="en-US" sz="1800">
                <a:solidFill>
                  <a:schemeClr val="dk1"/>
                </a:solidFill>
                <a:latin typeface="Calibri"/>
                <a:ea typeface="Calibri"/>
                <a:cs typeface="Calibri"/>
                <a:sym typeface="Calibri"/>
              </a:rPr>
              <a:t>Work </a:t>
            </a:r>
            <a:r>
              <a:rPr b="1" lang="en-US" sz="1800">
                <a:solidFill>
                  <a:schemeClr val="dk1"/>
                </a:solidFill>
                <a:latin typeface="Calibri"/>
                <a:ea typeface="Calibri"/>
                <a:cs typeface="Calibri"/>
                <a:sym typeface="Calibri"/>
              </a:rPr>
              <a:t>+ </a:t>
            </a:r>
            <a:r>
              <a:rPr b="1" i="1" lang="en-US" sz="1800">
                <a:solidFill>
                  <a:schemeClr val="dk1"/>
                </a:solidFill>
                <a:latin typeface="Calibri"/>
                <a:ea typeface="Calibri"/>
                <a:cs typeface="Calibri"/>
                <a:sym typeface="Calibri"/>
              </a:rPr>
              <a:t>Allocation</a:t>
            </a:r>
            <a:r>
              <a:rPr b="1" baseline="-25000" i="1" lang="en-US" sz="1800">
                <a:solidFill>
                  <a:schemeClr val="dk1"/>
                </a:solidFill>
                <a:latin typeface="Calibri"/>
                <a:ea typeface="Calibri"/>
                <a:cs typeface="Calibri"/>
                <a:sym typeface="Calibri"/>
              </a:rPr>
              <a:t>i</a:t>
            </a:r>
            <a:br>
              <a:rPr b="1" lang="en-US" sz="1800">
                <a:solidFill>
                  <a:schemeClr val="dk1"/>
                </a:solidFill>
                <a:latin typeface="Calibri"/>
                <a:ea typeface="Calibri"/>
                <a:cs typeface="Calibri"/>
                <a:sym typeface="Calibri"/>
              </a:rPr>
            </a:br>
            <a:r>
              <a:rPr b="1" i="1" lang="en-US" sz="1800">
                <a:solidFill>
                  <a:schemeClr val="dk1"/>
                </a:solidFill>
                <a:latin typeface="Calibri"/>
                <a:ea typeface="Calibri"/>
                <a:cs typeface="Calibri"/>
                <a:sym typeface="Calibri"/>
              </a:rPr>
              <a:t>Finish</a:t>
            </a:r>
            <a:r>
              <a:rPr b="1" lang="en-US" sz="1800">
                <a:solidFill>
                  <a:schemeClr val="dk1"/>
                </a:solidFill>
                <a:latin typeface="Calibri"/>
                <a:ea typeface="Calibri"/>
                <a:cs typeface="Calibri"/>
                <a:sym typeface="Calibri"/>
              </a:rPr>
              <a:t>[</a:t>
            </a:r>
            <a:r>
              <a:rPr b="1" i="1" lang="en-US" sz="1800">
                <a:solidFill>
                  <a:schemeClr val="dk1"/>
                </a:solidFill>
                <a:latin typeface="Calibri"/>
                <a:ea typeface="Calibri"/>
                <a:cs typeface="Calibri"/>
                <a:sym typeface="Calibri"/>
              </a:rPr>
              <a:t>i</a:t>
            </a:r>
            <a:r>
              <a:rPr b="1" lang="en-US" sz="1800">
                <a:solidFill>
                  <a:schemeClr val="dk1"/>
                </a:solidFill>
                <a:latin typeface="Calibri"/>
                <a:ea typeface="Calibri"/>
                <a:cs typeface="Calibri"/>
                <a:sym typeface="Calibri"/>
              </a:rPr>
              <a:t>] =</a:t>
            </a:r>
            <a:r>
              <a:rPr b="1" i="1" lang="en-US" sz="1800">
                <a:solidFill>
                  <a:schemeClr val="dk1"/>
                </a:solidFill>
                <a:latin typeface="Calibri"/>
                <a:ea typeface="Calibri"/>
                <a:cs typeface="Calibri"/>
                <a:sym typeface="Calibri"/>
              </a:rPr>
              <a:t> true</a:t>
            </a:r>
            <a:br>
              <a:rPr b="1"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go to step 2</a:t>
            </a:r>
            <a:endParaRPr/>
          </a:p>
          <a:p>
            <a:pPr indent="-337058" lvl="0" marL="342900" marR="0" rtl="0" algn="l">
              <a:lnSpc>
                <a:spcPct val="90000"/>
              </a:lnSpc>
              <a:spcBef>
                <a:spcPts val="18"/>
              </a:spcBef>
              <a:spcAft>
                <a:spcPts val="0"/>
              </a:spcAft>
              <a:buClr>
                <a:schemeClr val="dk1"/>
              </a:buClr>
              <a:buSzPct val="100000"/>
              <a:buFont typeface="Arial"/>
              <a:buNone/>
            </a:pPr>
            <a:r>
              <a:t/>
            </a:r>
            <a:endParaRPr sz="100">
              <a:solidFill>
                <a:schemeClr val="dk1"/>
              </a:solidFill>
              <a:latin typeface="Calibri"/>
              <a:ea typeface="Calibri"/>
              <a:cs typeface="Calibri"/>
              <a:sym typeface="Calibri"/>
            </a:endParaRPr>
          </a:p>
          <a:p>
            <a:pPr indent="-342900" lvl="0" marL="342900" marR="0" rtl="0" algn="l">
              <a:lnSpc>
                <a:spcPct val="90000"/>
              </a:lnSpc>
              <a:spcBef>
                <a:spcPts val="333"/>
              </a:spcBef>
              <a:spcAft>
                <a:spcPts val="0"/>
              </a:spcAft>
              <a:buClr>
                <a:schemeClr val="dk1"/>
              </a:buClr>
              <a:buSzPct val="100000"/>
              <a:buFont typeface="Arial"/>
              <a:buNone/>
            </a:pPr>
            <a:r>
              <a:rPr lang="en-US" sz="1800">
                <a:solidFill>
                  <a:schemeClr val="dk1"/>
                </a:solidFill>
                <a:latin typeface="Calibri"/>
                <a:ea typeface="Calibri"/>
                <a:cs typeface="Calibri"/>
                <a:sym typeface="Calibri"/>
              </a:rPr>
              <a:t>4.	If </a:t>
            </a:r>
            <a:r>
              <a:rPr b="1" i="1" lang="en-US" sz="1800">
                <a:solidFill>
                  <a:schemeClr val="dk1"/>
                </a:solidFill>
                <a:latin typeface="Calibri"/>
                <a:ea typeface="Calibri"/>
                <a:cs typeface="Calibri"/>
                <a:sym typeface="Calibri"/>
              </a:rPr>
              <a:t>Finish</a:t>
            </a:r>
            <a:r>
              <a:rPr b="1" lang="en-US" sz="1800">
                <a:solidFill>
                  <a:schemeClr val="dk1"/>
                </a:solidFill>
                <a:latin typeface="Calibri"/>
                <a:ea typeface="Calibri"/>
                <a:cs typeface="Calibri"/>
                <a:sym typeface="Calibri"/>
              </a:rPr>
              <a:t> [</a:t>
            </a:r>
            <a:r>
              <a:rPr b="1" i="1" lang="en-US" sz="1800">
                <a:solidFill>
                  <a:schemeClr val="dk1"/>
                </a:solidFill>
                <a:latin typeface="Calibri"/>
                <a:ea typeface="Calibri"/>
                <a:cs typeface="Calibri"/>
                <a:sym typeface="Calibri"/>
              </a:rPr>
              <a:t>i</a:t>
            </a:r>
            <a:r>
              <a:rPr b="1" lang="en-US" sz="1800">
                <a:solidFill>
                  <a:schemeClr val="dk1"/>
                </a:solidFill>
                <a:latin typeface="Calibri"/>
                <a:ea typeface="Calibri"/>
                <a:cs typeface="Calibri"/>
                <a:sym typeface="Calibri"/>
              </a:rPr>
              <a:t>] == </a:t>
            </a:r>
            <a:r>
              <a:rPr b="1" i="1" lang="en-US" sz="1800">
                <a:solidFill>
                  <a:schemeClr val="dk1"/>
                </a:solidFill>
                <a:latin typeface="Calibri"/>
                <a:ea typeface="Calibri"/>
                <a:cs typeface="Calibri"/>
                <a:sym typeface="Calibri"/>
              </a:rPr>
              <a:t>true</a:t>
            </a:r>
            <a:r>
              <a:rPr b="1" lang="en-US" sz="18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for all </a:t>
            </a:r>
            <a:r>
              <a:rPr b="1" i="1" lang="en-US" sz="1800">
                <a:solidFill>
                  <a:schemeClr val="dk1"/>
                </a:solidFill>
                <a:latin typeface="Calibri"/>
                <a:ea typeface="Calibri"/>
                <a:cs typeface="Calibri"/>
                <a:sym typeface="Calibri"/>
              </a:rPr>
              <a:t>i</a:t>
            </a:r>
            <a:r>
              <a:rPr lang="en-US" sz="1800">
                <a:solidFill>
                  <a:schemeClr val="dk1"/>
                </a:solidFill>
                <a:latin typeface="Calibri"/>
                <a:ea typeface="Calibri"/>
                <a:cs typeface="Calibri"/>
                <a:sym typeface="Calibri"/>
              </a:rPr>
              <a:t>, then the system is in a safe state</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92"/>
          <p:cNvSpPr txBox="1"/>
          <p:nvPr>
            <p:ph type="title"/>
          </p:nvPr>
        </p:nvSpPr>
        <p:spPr>
          <a:xfrm>
            <a:off x="990600" y="3048000"/>
            <a:ext cx="7421562"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Detection</a:t>
            </a:r>
            <a:endParaRPr/>
          </a:p>
        </p:txBody>
      </p:sp>
      <p:sp>
        <p:nvSpPr>
          <p:cNvPr id="1093" name="Google Shape;1093;p9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094" name="Google Shape;1094;p9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095" name="Google Shape;1095;p9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93"/>
          <p:cNvSpPr txBox="1"/>
          <p:nvPr>
            <p:ph type="title"/>
          </p:nvPr>
        </p:nvSpPr>
        <p:spPr>
          <a:xfrm>
            <a:off x="1141413" y="198438"/>
            <a:ext cx="7421562"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Deadlock Detection</a:t>
            </a:r>
            <a:endParaRPr/>
          </a:p>
        </p:txBody>
      </p:sp>
      <p:sp>
        <p:nvSpPr>
          <p:cNvPr id="1102" name="Google Shape;1102;p93"/>
          <p:cNvSpPr txBox="1"/>
          <p:nvPr>
            <p:ph idx="1" type="body"/>
          </p:nvPr>
        </p:nvSpPr>
        <p:spPr>
          <a:xfrm>
            <a:off x="901700" y="1233488"/>
            <a:ext cx="7391400"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lang="en-US" sz="2800"/>
              <a:t>Allow system to enter deadlock state </a:t>
            </a:r>
            <a:br>
              <a:rPr lang="en-US" sz="2800"/>
            </a:br>
            <a:endParaRPr sz="2800"/>
          </a:p>
          <a:p>
            <a:pPr indent="-342900" lvl="0" marL="342900" rtl="0" algn="l">
              <a:spcBef>
                <a:spcPts val="560"/>
              </a:spcBef>
              <a:spcAft>
                <a:spcPts val="0"/>
              </a:spcAft>
              <a:buClr>
                <a:schemeClr val="dk1"/>
              </a:buClr>
              <a:buSzPts val="2800"/>
              <a:buChar char="•"/>
            </a:pPr>
            <a:r>
              <a:rPr lang="en-US" sz="2800"/>
              <a:t>Detection algorithm</a:t>
            </a:r>
            <a:endParaRPr/>
          </a:p>
          <a:p>
            <a:pPr indent="-285750" lvl="1" marL="742950" rtl="0" algn="l">
              <a:spcBef>
                <a:spcPts val="480"/>
              </a:spcBef>
              <a:spcAft>
                <a:spcPts val="0"/>
              </a:spcAft>
              <a:buClr>
                <a:schemeClr val="dk1"/>
              </a:buClr>
              <a:buSzPts val="2400"/>
              <a:buChar char="–"/>
            </a:pPr>
            <a:r>
              <a:rPr lang="en-US" sz="2400"/>
              <a:t>examines the state of the system to determine whether a deadlock has occurred</a:t>
            </a:r>
            <a:br>
              <a:rPr lang="en-US" sz="2400"/>
            </a:br>
            <a:endParaRPr sz="2400"/>
          </a:p>
          <a:p>
            <a:pPr indent="-342900" lvl="0" marL="342900" rtl="0" algn="l">
              <a:spcBef>
                <a:spcPts val="560"/>
              </a:spcBef>
              <a:spcAft>
                <a:spcPts val="0"/>
              </a:spcAft>
              <a:buClr>
                <a:schemeClr val="dk1"/>
              </a:buClr>
              <a:buSzPts val="2800"/>
              <a:buChar char="•"/>
            </a:pPr>
            <a:r>
              <a:rPr lang="en-US" sz="2800"/>
              <a:t>Recovery scheme</a:t>
            </a:r>
            <a:endParaRPr/>
          </a:p>
        </p:txBody>
      </p:sp>
      <p:sp>
        <p:nvSpPr>
          <p:cNvPr id="1103" name="Google Shape;1103;p9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104" name="Google Shape;1104;p9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105" name="Google Shape;1105;p9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p94"/>
          <p:cNvSpPr txBox="1"/>
          <p:nvPr>
            <p:ph type="title"/>
          </p:nvPr>
        </p:nvSpPr>
        <p:spPr>
          <a:xfrm>
            <a:off x="1143000" y="-141288"/>
            <a:ext cx="7772400" cy="84455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Detection Algorithm</a:t>
            </a:r>
            <a:endParaRPr/>
          </a:p>
        </p:txBody>
      </p:sp>
      <p:sp>
        <p:nvSpPr>
          <p:cNvPr id="1112" name="Google Shape;1112;p94"/>
          <p:cNvSpPr txBox="1"/>
          <p:nvPr>
            <p:ph idx="1" type="body"/>
          </p:nvPr>
        </p:nvSpPr>
        <p:spPr>
          <a:xfrm>
            <a:off x="827088" y="1173163"/>
            <a:ext cx="7585075" cy="4511675"/>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US" sz="2400">
                <a:solidFill>
                  <a:schemeClr val="dk1"/>
                </a:solidFill>
                <a:latin typeface="Calibri"/>
                <a:ea typeface="Calibri"/>
                <a:cs typeface="Calibri"/>
                <a:sym typeface="Calibri"/>
              </a:rPr>
              <a:t>Detection Algorithm</a:t>
            </a:r>
            <a:endParaRPr/>
          </a:p>
          <a:p>
            <a:pPr indent="-342900" lvl="0" marL="342900" rtl="0" algn="l">
              <a:spcBef>
                <a:spcPts val="480"/>
              </a:spcBef>
              <a:spcAft>
                <a:spcPts val="0"/>
              </a:spcAft>
              <a:buClr>
                <a:schemeClr val="dk1"/>
              </a:buClr>
              <a:buSzPts val="2400"/>
              <a:buChar char="•"/>
            </a:pPr>
            <a:r>
              <a:rPr lang="en-US" sz="2400">
                <a:solidFill>
                  <a:schemeClr val="dk1"/>
                </a:solidFill>
                <a:latin typeface="Calibri"/>
                <a:ea typeface="Calibri"/>
                <a:cs typeface="Calibri"/>
                <a:sym typeface="Calibri"/>
              </a:rPr>
              <a:t>Single Instance of all Resources Types</a:t>
            </a:r>
            <a:endParaRPr/>
          </a:p>
          <a:p>
            <a:pPr indent="-342900" lvl="0" marL="342900" rtl="0" algn="l">
              <a:spcBef>
                <a:spcPts val="480"/>
              </a:spcBef>
              <a:spcAft>
                <a:spcPts val="0"/>
              </a:spcAft>
              <a:buClr>
                <a:schemeClr val="dk1"/>
              </a:buClr>
              <a:buSzPts val="2400"/>
              <a:buChar char="•"/>
            </a:pPr>
            <a:r>
              <a:rPr lang="en-US" sz="2400">
                <a:solidFill>
                  <a:schemeClr val="dk1"/>
                </a:solidFill>
                <a:latin typeface="Calibri"/>
                <a:ea typeface="Calibri"/>
                <a:cs typeface="Calibri"/>
                <a:sym typeface="Calibri"/>
              </a:rPr>
              <a:t>Several Instances of Resource Types </a:t>
            </a:r>
            <a:endParaRPr/>
          </a:p>
        </p:txBody>
      </p:sp>
      <p:sp>
        <p:nvSpPr>
          <p:cNvPr id="1113" name="Google Shape;1113;p9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114" name="Google Shape;1114;p9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115" name="Google Shape;1115;p9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95"/>
          <p:cNvSpPr txBox="1"/>
          <p:nvPr>
            <p:ph type="title"/>
          </p:nvPr>
        </p:nvSpPr>
        <p:spPr>
          <a:xfrm>
            <a:off x="1143000" y="-141288"/>
            <a:ext cx="7772400" cy="84455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Single Instance of Each Resource Type</a:t>
            </a:r>
            <a:endParaRPr/>
          </a:p>
        </p:txBody>
      </p:sp>
      <p:sp>
        <p:nvSpPr>
          <p:cNvPr id="1122" name="Google Shape;1122;p95"/>
          <p:cNvSpPr txBox="1"/>
          <p:nvPr>
            <p:ph idx="1" type="body"/>
          </p:nvPr>
        </p:nvSpPr>
        <p:spPr>
          <a:xfrm>
            <a:off x="827088" y="1173163"/>
            <a:ext cx="7585075" cy="451167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US" sz="2400"/>
              <a:t>Detection Algorithm</a:t>
            </a:r>
            <a:endParaRPr/>
          </a:p>
          <a:p>
            <a:pPr indent="-342900" lvl="0" marL="342900" rtl="0" algn="l">
              <a:spcBef>
                <a:spcPts val="480"/>
              </a:spcBef>
              <a:spcAft>
                <a:spcPts val="0"/>
              </a:spcAft>
              <a:buClr>
                <a:schemeClr val="dk1"/>
              </a:buClr>
              <a:buSzPts val="2400"/>
              <a:buChar char="•"/>
            </a:pPr>
            <a:r>
              <a:rPr lang="en-US" sz="2400"/>
              <a:t>If only a single instance of all resources are there, </a:t>
            </a:r>
            <a:endParaRPr/>
          </a:p>
          <a:p>
            <a:pPr indent="-285750" lvl="1" marL="742950" rtl="0" algn="l">
              <a:spcBef>
                <a:spcPts val="480"/>
              </a:spcBef>
              <a:spcAft>
                <a:spcPts val="0"/>
              </a:spcAft>
              <a:buClr>
                <a:schemeClr val="dk1"/>
              </a:buClr>
              <a:buSzPts val="2400"/>
              <a:buChar char="–"/>
            </a:pPr>
            <a:r>
              <a:rPr lang="en-US" sz="2400"/>
              <a:t>Use a variant of the resource-allocation graph, called </a:t>
            </a:r>
            <a:r>
              <a:rPr b="1" lang="en-US" sz="2400">
                <a:solidFill>
                  <a:srgbClr val="0070C0"/>
                </a:solidFill>
              </a:rPr>
              <a:t>a </a:t>
            </a:r>
            <a:r>
              <a:rPr b="1" i="1" lang="en-US" sz="2400">
                <a:solidFill>
                  <a:srgbClr val="0070C0"/>
                </a:solidFill>
              </a:rPr>
              <a:t>wait-for </a:t>
            </a:r>
            <a:r>
              <a:rPr b="1" lang="en-US" sz="2400">
                <a:solidFill>
                  <a:srgbClr val="0070C0"/>
                </a:solidFill>
              </a:rPr>
              <a:t>graph.</a:t>
            </a:r>
            <a:endParaRPr/>
          </a:p>
          <a:p>
            <a:pPr indent="-133350" lvl="1" marL="742950" rtl="0" algn="l">
              <a:spcBef>
                <a:spcPts val="480"/>
              </a:spcBef>
              <a:spcAft>
                <a:spcPts val="0"/>
              </a:spcAft>
              <a:buClr>
                <a:schemeClr val="dk1"/>
              </a:buClr>
              <a:buSzPts val="2400"/>
              <a:buNone/>
            </a:pPr>
            <a:r>
              <a:t/>
            </a:r>
            <a:endParaRPr sz="2400"/>
          </a:p>
          <a:p>
            <a:pPr indent="-285750" lvl="1" marL="742950" rtl="0" algn="l">
              <a:spcBef>
                <a:spcPts val="480"/>
              </a:spcBef>
              <a:spcAft>
                <a:spcPts val="0"/>
              </a:spcAft>
              <a:buClr>
                <a:srgbClr val="FF0000"/>
              </a:buClr>
              <a:buSzPts val="2400"/>
              <a:buChar char="–"/>
            </a:pPr>
            <a:r>
              <a:rPr b="1" lang="en-US" sz="2400" u="sng">
                <a:solidFill>
                  <a:srgbClr val="FF0000"/>
                </a:solidFill>
              </a:rPr>
              <a:t>Obtain this graph from the resource-allocation graph by removing the resource nodes and collapsing the appropriate edges</a:t>
            </a:r>
            <a:endParaRPr b="1" sz="2400" u="sng">
              <a:solidFill>
                <a:srgbClr val="FF0000"/>
              </a:solidFill>
            </a:endParaRPr>
          </a:p>
        </p:txBody>
      </p:sp>
      <p:sp>
        <p:nvSpPr>
          <p:cNvPr id="1123" name="Google Shape;1123;p9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124" name="Google Shape;1124;p9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125" name="Google Shape;1125;p9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96"/>
          <p:cNvSpPr txBox="1"/>
          <p:nvPr>
            <p:ph type="title"/>
          </p:nvPr>
        </p:nvSpPr>
        <p:spPr>
          <a:xfrm>
            <a:off x="1143000" y="-141288"/>
            <a:ext cx="7772400" cy="84455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Single Instance of Each Resource Type</a:t>
            </a:r>
            <a:endParaRPr/>
          </a:p>
        </p:txBody>
      </p:sp>
      <p:sp>
        <p:nvSpPr>
          <p:cNvPr id="1132" name="Google Shape;1132;p96"/>
          <p:cNvSpPr txBox="1"/>
          <p:nvPr>
            <p:ph idx="1" type="body"/>
          </p:nvPr>
        </p:nvSpPr>
        <p:spPr>
          <a:xfrm>
            <a:off x="827088" y="1173163"/>
            <a:ext cx="7585075" cy="4511675"/>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chemeClr val="dk1"/>
              </a:buClr>
              <a:buSzPct val="100000"/>
              <a:buChar char="•"/>
            </a:pPr>
            <a:r>
              <a:rPr lang="en-US">
                <a:solidFill>
                  <a:schemeClr val="dk1"/>
                </a:solidFill>
                <a:latin typeface="Calibri"/>
                <a:ea typeface="Calibri"/>
                <a:cs typeface="Calibri"/>
                <a:sym typeface="Calibri"/>
              </a:rPr>
              <a:t>Maintain </a:t>
            </a:r>
            <a:r>
              <a:rPr b="1" lang="en-US">
                <a:solidFill>
                  <a:srgbClr val="3366FF"/>
                </a:solidFill>
                <a:latin typeface="Calibri"/>
                <a:ea typeface="Calibri"/>
                <a:cs typeface="Calibri"/>
                <a:sym typeface="Calibri"/>
              </a:rPr>
              <a:t>wait-for </a:t>
            </a:r>
            <a:r>
              <a:rPr lang="en-US">
                <a:solidFill>
                  <a:schemeClr val="dk1"/>
                </a:solidFill>
                <a:latin typeface="Calibri"/>
                <a:ea typeface="Calibri"/>
                <a:cs typeface="Calibri"/>
                <a:sym typeface="Calibri"/>
              </a:rPr>
              <a:t>graph</a:t>
            </a:r>
            <a:endParaRPr/>
          </a:p>
          <a:p>
            <a:pPr indent="-285750" lvl="1" marL="742950" rtl="0" algn="l">
              <a:spcBef>
                <a:spcPts val="476"/>
              </a:spcBef>
              <a:spcAft>
                <a:spcPts val="0"/>
              </a:spcAft>
              <a:buClr>
                <a:schemeClr val="dk1"/>
              </a:buClr>
              <a:buSzPct val="100000"/>
              <a:buChar char="–"/>
            </a:pPr>
            <a:r>
              <a:rPr lang="en-US">
                <a:solidFill>
                  <a:schemeClr val="dk1"/>
                </a:solidFill>
                <a:latin typeface="Calibri"/>
                <a:ea typeface="Calibri"/>
                <a:cs typeface="Calibri"/>
                <a:sym typeface="Calibri"/>
              </a:rPr>
              <a:t>Nodes are processes</a:t>
            </a:r>
            <a:endParaRPr/>
          </a:p>
          <a:p>
            <a:pPr indent="-285750" lvl="1" marL="742950" rtl="0" algn="l">
              <a:spcBef>
                <a:spcPts val="476"/>
              </a:spcBef>
              <a:spcAft>
                <a:spcPts val="0"/>
              </a:spcAft>
              <a:buClr>
                <a:schemeClr val="dk1"/>
              </a:buClr>
              <a:buSzPct val="100000"/>
              <a:buChar char="–"/>
            </a:pPr>
            <a:r>
              <a:rPr b="1" i="1" lang="en-US">
                <a:solidFill>
                  <a:schemeClr val="dk1"/>
                </a:solidFill>
                <a:latin typeface="Calibri"/>
                <a:ea typeface="Calibri"/>
                <a:cs typeface="Calibri"/>
                <a:sym typeface="Calibri"/>
              </a:rPr>
              <a:t>P</a:t>
            </a:r>
            <a:r>
              <a:rPr b="1" baseline="-25000" i="1" lang="en-US">
                <a:solidFill>
                  <a:schemeClr val="dk1"/>
                </a:solidFill>
                <a:latin typeface="Calibri"/>
                <a:ea typeface="Calibri"/>
                <a:cs typeface="Calibri"/>
                <a:sym typeface="Calibri"/>
              </a:rPr>
              <a:t>i</a:t>
            </a:r>
            <a:r>
              <a:rPr b="1" lang="en-US">
                <a:solidFill>
                  <a:schemeClr val="dk1"/>
                </a:solidFill>
                <a:latin typeface="Calibri"/>
                <a:ea typeface="Calibri"/>
                <a:cs typeface="Calibri"/>
                <a:sym typeface="Calibri"/>
              </a:rPr>
              <a:t> → </a:t>
            </a:r>
            <a:r>
              <a:rPr b="1" i="1" lang="en-US">
                <a:solidFill>
                  <a:schemeClr val="dk1"/>
                </a:solidFill>
                <a:latin typeface="Calibri"/>
                <a:ea typeface="Calibri"/>
                <a:cs typeface="Calibri"/>
                <a:sym typeface="Calibri"/>
              </a:rPr>
              <a:t>P</a:t>
            </a:r>
            <a:r>
              <a:rPr b="1" baseline="-25000" i="1" lang="en-US">
                <a:solidFill>
                  <a:schemeClr val="dk1"/>
                </a:solidFill>
                <a:latin typeface="Calibri"/>
                <a:ea typeface="Calibri"/>
                <a:cs typeface="Calibri"/>
                <a:sym typeface="Calibri"/>
              </a:rPr>
              <a:t>j   </a:t>
            </a:r>
            <a:r>
              <a:rPr lang="en-US">
                <a:solidFill>
                  <a:schemeClr val="dk1"/>
                </a:solidFill>
                <a:latin typeface="Calibri"/>
                <a:ea typeface="Calibri"/>
                <a:cs typeface="Calibri"/>
                <a:sym typeface="Calibri"/>
              </a:rPr>
              <a:t>if </a:t>
            </a:r>
            <a:r>
              <a:rPr b="1" i="1" lang="en-US">
                <a:solidFill>
                  <a:schemeClr val="dk1"/>
                </a:solidFill>
                <a:latin typeface="Calibri"/>
                <a:ea typeface="Calibri"/>
                <a:cs typeface="Calibri"/>
                <a:sym typeface="Calibri"/>
              </a:rPr>
              <a:t>P</a:t>
            </a:r>
            <a:r>
              <a:rPr b="1" baseline="-25000" i="1" lang="en-US">
                <a:solidFill>
                  <a:schemeClr val="dk1"/>
                </a:solidFill>
                <a:latin typeface="Calibri"/>
                <a:ea typeface="Calibri"/>
                <a:cs typeface="Calibri"/>
                <a:sym typeface="Calibri"/>
              </a:rPr>
              <a:t>i</a:t>
            </a:r>
            <a:r>
              <a:rPr i="1" lang="en-US">
                <a:solidFill>
                  <a:schemeClr val="dk1"/>
                </a:solidFill>
                <a:latin typeface="Calibri"/>
                <a:ea typeface="Calibri"/>
                <a:cs typeface="Calibri"/>
                <a:sym typeface="Calibri"/>
              </a:rPr>
              <a:t> </a:t>
            </a:r>
            <a:r>
              <a:rPr lang="en-US">
                <a:solidFill>
                  <a:schemeClr val="dk1"/>
                </a:solidFill>
                <a:latin typeface="Calibri"/>
                <a:ea typeface="Calibri"/>
                <a:cs typeface="Calibri"/>
                <a:sym typeface="Calibri"/>
              </a:rPr>
              <a:t>is waiting for</a:t>
            </a:r>
            <a:r>
              <a:rPr i="1" lang="en-US">
                <a:solidFill>
                  <a:schemeClr val="dk1"/>
                </a:solidFill>
                <a:latin typeface="Calibri"/>
                <a:ea typeface="Calibri"/>
                <a:cs typeface="Calibri"/>
                <a:sym typeface="Calibri"/>
              </a:rPr>
              <a:t> </a:t>
            </a:r>
            <a:r>
              <a:rPr b="1" i="1" lang="en-US">
                <a:solidFill>
                  <a:schemeClr val="dk1"/>
                </a:solidFill>
                <a:latin typeface="Calibri"/>
                <a:ea typeface="Calibri"/>
                <a:cs typeface="Calibri"/>
                <a:sym typeface="Calibri"/>
              </a:rPr>
              <a:t>P</a:t>
            </a:r>
            <a:r>
              <a:rPr b="1" baseline="-25000" i="1" lang="en-US">
                <a:solidFill>
                  <a:schemeClr val="dk1"/>
                </a:solidFill>
                <a:latin typeface="Calibri"/>
                <a:ea typeface="Calibri"/>
                <a:cs typeface="Calibri"/>
                <a:sym typeface="Calibri"/>
              </a:rPr>
              <a:t>j</a:t>
            </a:r>
            <a:br>
              <a:rPr b="1" i="1" lang="en-US">
                <a:solidFill>
                  <a:schemeClr val="dk1"/>
                </a:solidFill>
                <a:latin typeface="Calibri"/>
                <a:ea typeface="Calibri"/>
                <a:cs typeface="Calibri"/>
                <a:sym typeface="Calibri"/>
              </a:rPr>
            </a:br>
            <a:endParaRPr b="1" i="1"/>
          </a:p>
          <a:p>
            <a:pPr indent="-342900" lvl="0" marL="342900" rtl="0" algn="l">
              <a:spcBef>
                <a:spcPts val="544"/>
              </a:spcBef>
              <a:spcAft>
                <a:spcPts val="0"/>
              </a:spcAft>
              <a:buClr>
                <a:schemeClr val="dk1"/>
              </a:buClr>
              <a:buSzPct val="100000"/>
              <a:buChar char="•"/>
            </a:pPr>
            <a:r>
              <a:rPr lang="en-US" u="sng">
                <a:solidFill>
                  <a:schemeClr val="dk1"/>
                </a:solidFill>
                <a:latin typeface="Calibri"/>
                <a:ea typeface="Calibri"/>
                <a:cs typeface="Calibri"/>
                <a:sym typeface="Calibri"/>
              </a:rPr>
              <a:t>Periodically invoke an algorithm that searches for a cycle in the graph. </a:t>
            </a:r>
            <a:endParaRPr/>
          </a:p>
          <a:p>
            <a:pPr indent="-170180" lvl="0" marL="342900" rtl="0" algn="l">
              <a:spcBef>
                <a:spcPts val="544"/>
              </a:spcBef>
              <a:spcAft>
                <a:spcPts val="0"/>
              </a:spcAft>
              <a:buClr>
                <a:schemeClr val="dk1"/>
              </a:buClr>
              <a:buSzPct val="100000"/>
              <a:buNone/>
            </a:pPr>
            <a:r>
              <a:t/>
            </a:r>
            <a:endParaRPr/>
          </a:p>
          <a:p>
            <a:pPr indent="-342900" lvl="0" marL="342900" rtl="0" algn="l">
              <a:spcBef>
                <a:spcPts val="544"/>
              </a:spcBef>
              <a:spcAft>
                <a:spcPts val="0"/>
              </a:spcAft>
              <a:buClr>
                <a:schemeClr val="dk1"/>
              </a:buClr>
              <a:buSzPct val="100000"/>
              <a:buChar char="•"/>
            </a:pPr>
            <a:r>
              <a:rPr lang="en-US">
                <a:solidFill>
                  <a:schemeClr val="dk1"/>
                </a:solidFill>
                <a:latin typeface="Calibri"/>
                <a:ea typeface="Calibri"/>
                <a:cs typeface="Calibri"/>
                <a:sym typeface="Calibri"/>
              </a:rPr>
              <a:t>If there is a cycle, there exists a deadlock</a:t>
            </a:r>
            <a:endParaRPr/>
          </a:p>
          <a:p>
            <a:pPr indent="-342900" lvl="0" marL="342900" rtl="0" algn="l">
              <a:spcBef>
                <a:spcPts val="544"/>
              </a:spcBef>
              <a:spcAft>
                <a:spcPts val="0"/>
              </a:spcAft>
              <a:buClr>
                <a:schemeClr val="dk1"/>
              </a:buClr>
              <a:buSzPct val="100000"/>
              <a:buFont typeface="Arial"/>
              <a:buNone/>
            </a:pPr>
            <a:r>
              <a:t/>
            </a:r>
            <a:endParaRPr/>
          </a:p>
          <a:p>
            <a:pPr indent="-342900" lvl="0" marL="342900" rtl="0" algn="l">
              <a:spcBef>
                <a:spcPts val="544"/>
              </a:spcBef>
              <a:spcAft>
                <a:spcPts val="0"/>
              </a:spcAft>
              <a:buClr>
                <a:schemeClr val="dk1"/>
              </a:buClr>
              <a:buSzPct val="100000"/>
              <a:buChar char="•"/>
            </a:pPr>
            <a:r>
              <a:rPr lang="en-US">
                <a:solidFill>
                  <a:schemeClr val="dk1"/>
                </a:solidFill>
                <a:latin typeface="Calibri"/>
                <a:ea typeface="Calibri"/>
                <a:cs typeface="Calibri"/>
                <a:sym typeface="Calibri"/>
              </a:rPr>
              <a:t>An algorithm to detect a cycle in a graph requires an order of</a:t>
            </a:r>
            <a:r>
              <a:rPr i="1" lang="en-US">
                <a:solidFill>
                  <a:schemeClr val="dk1"/>
                </a:solidFill>
                <a:latin typeface="Calibri"/>
                <a:ea typeface="Calibri"/>
                <a:cs typeface="Calibri"/>
                <a:sym typeface="Calibri"/>
              </a:rPr>
              <a:t> </a:t>
            </a:r>
            <a:r>
              <a:rPr b="1" i="1" lang="en-US">
                <a:solidFill>
                  <a:schemeClr val="dk1"/>
                </a:solidFill>
                <a:latin typeface="Calibri"/>
                <a:ea typeface="Calibri"/>
                <a:cs typeface="Calibri"/>
                <a:sym typeface="Calibri"/>
              </a:rPr>
              <a:t>n</a:t>
            </a:r>
            <a:r>
              <a:rPr b="1" baseline="30000" lang="en-US">
                <a:solidFill>
                  <a:schemeClr val="dk1"/>
                </a:solidFill>
                <a:latin typeface="Calibri"/>
                <a:ea typeface="Calibri"/>
                <a:cs typeface="Calibri"/>
                <a:sym typeface="Calibri"/>
              </a:rPr>
              <a:t>2</a:t>
            </a:r>
            <a:r>
              <a:rPr b="1" lang="en-US">
                <a:solidFill>
                  <a:schemeClr val="dk1"/>
                </a:solidFill>
                <a:latin typeface="Calibri"/>
                <a:ea typeface="Calibri"/>
                <a:cs typeface="Calibri"/>
                <a:sym typeface="Calibri"/>
              </a:rPr>
              <a:t> </a:t>
            </a:r>
            <a:r>
              <a:rPr lang="en-US">
                <a:solidFill>
                  <a:schemeClr val="dk1"/>
                </a:solidFill>
                <a:latin typeface="Calibri"/>
                <a:ea typeface="Calibri"/>
                <a:cs typeface="Calibri"/>
                <a:sym typeface="Calibri"/>
              </a:rPr>
              <a:t>operations, where </a:t>
            </a:r>
            <a:r>
              <a:rPr b="1" i="1" lang="en-US">
                <a:solidFill>
                  <a:schemeClr val="dk1"/>
                </a:solidFill>
                <a:latin typeface="Calibri"/>
                <a:ea typeface="Calibri"/>
                <a:cs typeface="Calibri"/>
                <a:sym typeface="Calibri"/>
              </a:rPr>
              <a:t>n</a:t>
            </a:r>
            <a:r>
              <a:rPr lang="en-US">
                <a:solidFill>
                  <a:schemeClr val="dk1"/>
                </a:solidFill>
                <a:latin typeface="Calibri"/>
                <a:ea typeface="Calibri"/>
                <a:cs typeface="Calibri"/>
                <a:sym typeface="Calibri"/>
              </a:rPr>
              <a:t> is the number of vertices in the graph</a:t>
            </a:r>
            <a:endParaRPr/>
          </a:p>
        </p:txBody>
      </p:sp>
      <p:sp>
        <p:nvSpPr>
          <p:cNvPr id="1133" name="Google Shape;1133;p9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134" name="Google Shape;1134;p9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135" name="Google Shape;1135;p9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p97"/>
          <p:cNvSpPr txBox="1"/>
          <p:nvPr>
            <p:ph type="title"/>
          </p:nvPr>
        </p:nvSpPr>
        <p:spPr>
          <a:xfrm>
            <a:off x="1236663" y="266700"/>
            <a:ext cx="7751762" cy="457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Calibri"/>
              <a:buNone/>
            </a:pPr>
            <a:r>
              <a:rPr lang="en-US" sz="2400"/>
              <a:t>Resource-Allocation Graph and  Wait-for Graph</a:t>
            </a:r>
            <a:endParaRPr/>
          </a:p>
        </p:txBody>
      </p:sp>
      <p:sp>
        <p:nvSpPr>
          <p:cNvPr id="1142" name="Google Shape;1142;p97"/>
          <p:cNvSpPr txBox="1"/>
          <p:nvPr/>
        </p:nvSpPr>
        <p:spPr>
          <a:xfrm>
            <a:off x="1647825" y="5294313"/>
            <a:ext cx="2927350" cy="36671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Helvetica Neue"/>
                <a:ea typeface="Helvetica Neue"/>
                <a:cs typeface="Helvetica Neue"/>
                <a:sym typeface="Helvetica Neue"/>
              </a:rPr>
              <a:t>Resource-Allocation Graph</a:t>
            </a:r>
            <a:endParaRPr/>
          </a:p>
        </p:txBody>
      </p:sp>
      <p:sp>
        <p:nvSpPr>
          <p:cNvPr id="1143" name="Google Shape;1143;p97"/>
          <p:cNvSpPr txBox="1"/>
          <p:nvPr/>
        </p:nvSpPr>
        <p:spPr>
          <a:xfrm>
            <a:off x="4810125" y="5294313"/>
            <a:ext cx="3143250" cy="36671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Helvetica Neue"/>
                <a:ea typeface="Helvetica Neue"/>
                <a:cs typeface="Helvetica Neue"/>
                <a:sym typeface="Helvetica Neue"/>
              </a:rPr>
              <a:t>Corresponding wait-for graph</a:t>
            </a:r>
            <a:endParaRPr/>
          </a:p>
        </p:txBody>
      </p:sp>
      <p:pic>
        <p:nvPicPr>
          <p:cNvPr descr="7" id="1144" name="Google Shape;1144;p97"/>
          <p:cNvPicPr preferRelativeResize="0"/>
          <p:nvPr/>
        </p:nvPicPr>
        <p:blipFill rotWithShape="1">
          <a:blip r:embed="rId3">
            <a:alphaModFix/>
          </a:blip>
          <a:srcRect b="0" l="0" r="0" t="0"/>
          <a:stretch/>
        </p:blipFill>
        <p:spPr>
          <a:xfrm>
            <a:off x="1876425" y="1257300"/>
            <a:ext cx="5937250" cy="3830638"/>
          </a:xfrm>
          <a:prstGeom prst="rect">
            <a:avLst/>
          </a:prstGeom>
          <a:noFill/>
          <a:ln>
            <a:noFill/>
          </a:ln>
        </p:spPr>
      </p:pic>
      <p:sp>
        <p:nvSpPr>
          <p:cNvPr id="1145" name="Google Shape;1145;p9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146" name="Google Shape;1146;p9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147" name="Google Shape;1147;p9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p98"/>
          <p:cNvSpPr txBox="1"/>
          <p:nvPr>
            <p:ph type="title"/>
          </p:nvPr>
        </p:nvSpPr>
        <p:spPr>
          <a:xfrm>
            <a:off x="1428750" y="161925"/>
            <a:ext cx="7772400" cy="6286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r>
              <a:rPr lang="en-US" sz="3600"/>
              <a:t>Several Instances of a Resource Type</a:t>
            </a:r>
            <a:endParaRPr/>
          </a:p>
        </p:txBody>
      </p:sp>
      <p:sp>
        <p:nvSpPr>
          <p:cNvPr id="1154" name="Google Shape;1154;p98"/>
          <p:cNvSpPr txBox="1"/>
          <p:nvPr>
            <p:ph idx="1" type="body"/>
          </p:nvPr>
        </p:nvSpPr>
        <p:spPr>
          <a:xfrm>
            <a:off x="882650" y="1187450"/>
            <a:ext cx="7015163" cy="4984750"/>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Clr>
                <a:srgbClr val="00B0F0"/>
              </a:buClr>
              <a:buSzPct val="100000"/>
              <a:buFont typeface="Arial"/>
              <a:buNone/>
            </a:pPr>
            <a:r>
              <a:rPr b="1" lang="en-US" sz="2400">
                <a:solidFill>
                  <a:srgbClr val="00B0F0"/>
                </a:solidFill>
              </a:rPr>
              <a:t>m=no of resources</a:t>
            </a:r>
            <a:endParaRPr/>
          </a:p>
          <a:p>
            <a:pPr indent="-342900" lvl="0" marL="342900" rtl="0" algn="l">
              <a:spcBef>
                <a:spcPts val="444"/>
              </a:spcBef>
              <a:spcAft>
                <a:spcPts val="0"/>
              </a:spcAft>
              <a:buClr>
                <a:srgbClr val="00B0F0"/>
              </a:buClr>
              <a:buSzPct val="100000"/>
              <a:buFont typeface="Arial"/>
              <a:buNone/>
            </a:pPr>
            <a:r>
              <a:rPr b="1" lang="en-US" sz="2400">
                <a:solidFill>
                  <a:srgbClr val="00B0F0"/>
                </a:solidFill>
              </a:rPr>
              <a:t>n=no of processes</a:t>
            </a:r>
            <a:endParaRPr/>
          </a:p>
          <a:p>
            <a:pPr indent="0" lvl="0" marL="0" rtl="0" algn="l">
              <a:spcBef>
                <a:spcPts val="444"/>
              </a:spcBef>
              <a:spcAft>
                <a:spcPts val="0"/>
              </a:spcAft>
              <a:buClr>
                <a:schemeClr val="dk1"/>
              </a:buClr>
              <a:buSzPct val="100000"/>
              <a:buNone/>
            </a:pPr>
            <a:r>
              <a:t/>
            </a:r>
            <a:endParaRPr b="1" sz="2400">
              <a:solidFill>
                <a:srgbClr val="000000"/>
              </a:solidFill>
            </a:endParaRPr>
          </a:p>
          <a:p>
            <a:pPr indent="-342900" lvl="0" marL="342900" rtl="0" algn="l">
              <a:spcBef>
                <a:spcPts val="444"/>
              </a:spcBef>
              <a:spcAft>
                <a:spcPts val="0"/>
              </a:spcAft>
              <a:buClr>
                <a:srgbClr val="000000"/>
              </a:buClr>
              <a:buSzPct val="100000"/>
              <a:buChar char="•"/>
            </a:pPr>
            <a:r>
              <a:rPr b="1" lang="en-US" sz="2400">
                <a:solidFill>
                  <a:srgbClr val="000000"/>
                </a:solidFill>
              </a:rPr>
              <a:t>Available</a:t>
            </a:r>
            <a:r>
              <a:rPr i="1" lang="en-US" sz="2400"/>
              <a:t>:</a:t>
            </a:r>
            <a:r>
              <a:rPr lang="en-US" sz="2400"/>
              <a:t>  A vector of length </a:t>
            </a:r>
            <a:r>
              <a:rPr b="1" i="1" lang="en-US" sz="2400"/>
              <a:t>m</a:t>
            </a:r>
            <a:r>
              <a:rPr lang="en-US" sz="2400"/>
              <a:t> indicates the number of available resources of each type</a:t>
            </a:r>
            <a:endParaRPr/>
          </a:p>
          <a:p>
            <a:pPr indent="-201930" lvl="0" marL="342900" rtl="0" algn="l">
              <a:spcBef>
                <a:spcPts val="444"/>
              </a:spcBef>
              <a:spcAft>
                <a:spcPts val="0"/>
              </a:spcAft>
              <a:buClr>
                <a:schemeClr val="dk1"/>
              </a:buClr>
              <a:buSzPct val="100000"/>
              <a:buNone/>
            </a:pPr>
            <a:r>
              <a:t/>
            </a:r>
            <a:endParaRPr sz="2400"/>
          </a:p>
          <a:p>
            <a:pPr indent="-342900" lvl="0" marL="342900" rtl="0" algn="l">
              <a:spcBef>
                <a:spcPts val="444"/>
              </a:spcBef>
              <a:spcAft>
                <a:spcPts val="0"/>
              </a:spcAft>
              <a:buClr>
                <a:srgbClr val="000000"/>
              </a:buClr>
              <a:buSzPct val="100000"/>
              <a:buChar char="•"/>
            </a:pPr>
            <a:r>
              <a:rPr b="1" lang="en-US" sz="2400">
                <a:solidFill>
                  <a:srgbClr val="000000"/>
                </a:solidFill>
              </a:rPr>
              <a:t>Allocation</a:t>
            </a:r>
            <a:r>
              <a:rPr i="1" lang="en-US" sz="2400"/>
              <a:t>:</a:t>
            </a:r>
            <a:r>
              <a:rPr lang="en-US" sz="2400"/>
              <a:t>  An </a:t>
            </a:r>
            <a:r>
              <a:rPr b="1" i="1" lang="en-US" sz="2400"/>
              <a:t>n </a:t>
            </a:r>
            <a:r>
              <a:rPr b="1" lang="en-US" sz="2400"/>
              <a:t>x</a:t>
            </a:r>
            <a:r>
              <a:rPr b="1" i="1" lang="en-US" sz="2400"/>
              <a:t> m</a:t>
            </a:r>
            <a:r>
              <a:rPr b="1" lang="en-US" sz="2400"/>
              <a:t> </a:t>
            </a:r>
            <a:r>
              <a:rPr lang="en-US" sz="2400"/>
              <a:t>matrix defines the number of resources of each type currently allocated to each process</a:t>
            </a:r>
            <a:endParaRPr/>
          </a:p>
          <a:p>
            <a:pPr indent="-201930" lvl="0" marL="342900" rtl="0" algn="l">
              <a:spcBef>
                <a:spcPts val="444"/>
              </a:spcBef>
              <a:spcAft>
                <a:spcPts val="0"/>
              </a:spcAft>
              <a:buClr>
                <a:schemeClr val="dk1"/>
              </a:buClr>
              <a:buSzPct val="100000"/>
              <a:buNone/>
            </a:pPr>
            <a:r>
              <a:t/>
            </a:r>
            <a:endParaRPr sz="2400"/>
          </a:p>
          <a:p>
            <a:pPr indent="-342900" lvl="0" marL="342900" rtl="0" algn="l">
              <a:spcBef>
                <a:spcPts val="444"/>
              </a:spcBef>
              <a:spcAft>
                <a:spcPts val="0"/>
              </a:spcAft>
              <a:buClr>
                <a:srgbClr val="000000"/>
              </a:buClr>
              <a:buSzPct val="100000"/>
              <a:buChar char="•"/>
            </a:pPr>
            <a:r>
              <a:rPr b="1" lang="en-US" sz="2400">
                <a:solidFill>
                  <a:srgbClr val="000000"/>
                </a:solidFill>
              </a:rPr>
              <a:t>Request</a:t>
            </a:r>
            <a:r>
              <a:rPr i="1" lang="en-US" sz="2400"/>
              <a:t>:</a:t>
            </a:r>
            <a:r>
              <a:rPr lang="en-US" sz="2400"/>
              <a:t>  An </a:t>
            </a:r>
            <a:r>
              <a:rPr b="1" i="1" lang="en-US" sz="2400"/>
              <a:t>n </a:t>
            </a:r>
            <a:r>
              <a:rPr b="1" lang="en-US" sz="2400"/>
              <a:t>x</a:t>
            </a:r>
            <a:r>
              <a:rPr b="1" i="1" lang="en-US" sz="2400"/>
              <a:t> m</a:t>
            </a:r>
            <a:r>
              <a:rPr b="1" lang="en-US" sz="2400"/>
              <a:t> </a:t>
            </a:r>
            <a:r>
              <a:rPr lang="en-US" sz="2400"/>
              <a:t>matrix indicates the current request  of each process.  If </a:t>
            </a:r>
            <a:r>
              <a:rPr b="1" i="1" lang="en-US" sz="2400"/>
              <a:t>Request </a:t>
            </a:r>
            <a:r>
              <a:rPr b="1" lang="en-US" sz="2400"/>
              <a:t>[</a:t>
            </a:r>
            <a:r>
              <a:rPr b="1" i="1" lang="en-US" sz="2400"/>
              <a:t>i</a:t>
            </a:r>
            <a:r>
              <a:rPr b="1" lang="en-US" sz="2400"/>
              <a:t>][</a:t>
            </a:r>
            <a:r>
              <a:rPr b="1" i="1" lang="en-US" sz="2400"/>
              <a:t>j</a:t>
            </a:r>
            <a:r>
              <a:rPr b="1" lang="en-US" sz="2400"/>
              <a:t>] = </a:t>
            </a:r>
            <a:r>
              <a:rPr b="1" i="1" lang="en-US" sz="2400"/>
              <a:t>k</a:t>
            </a:r>
            <a:r>
              <a:rPr lang="en-US" sz="2400"/>
              <a:t>, then process</a:t>
            </a:r>
            <a:r>
              <a:rPr i="1" lang="en-US" sz="2400"/>
              <a:t> </a:t>
            </a:r>
            <a:r>
              <a:rPr b="1" i="1" lang="en-US" sz="2400"/>
              <a:t>P</a:t>
            </a:r>
            <a:r>
              <a:rPr b="1" baseline="-25000" i="1" lang="en-US" sz="2400"/>
              <a:t>i</a:t>
            </a:r>
            <a:r>
              <a:rPr lang="en-US" sz="2400"/>
              <a:t> is requesting</a:t>
            </a:r>
            <a:r>
              <a:rPr i="1" lang="en-US" sz="2400"/>
              <a:t> </a:t>
            </a:r>
            <a:r>
              <a:rPr b="1" i="1" lang="en-US" sz="2400"/>
              <a:t>k</a:t>
            </a:r>
            <a:r>
              <a:rPr lang="en-US" sz="2400"/>
              <a:t> more instances of resource type </a:t>
            </a:r>
            <a:r>
              <a:rPr b="1" i="1" lang="en-US" sz="2400"/>
              <a:t>R</a:t>
            </a:r>
            <a:r>
              <a:rPr b="1" baseline="-25000" i="1" lang="en-US" sz="2400"/>
              <a:t>j</a:t>
            </a:r>
            <a:r>
              <a:rPr lang="en-US" sz="2400"/>
              <a:t>.</a:t>
            </a:r>
            <a:endParaRPr/>
          </a:p>
          <a:p>
            <a:pPr indent="-201930" lvl="0" marL="342900" rtl="0" algn="l">
              <a:spcBef>
                <a:spcPts val="444"/>
              </a:spcBef>
              <a:spcAft>
                <a:spcPts val="0"/>
              </a:spcAft>
              <a:buClr>
                <a:schemeClr val="dk1"/>
              </a:buClr>
              <a:buSzPct val="100000"/>
              <a:buNone/>
            </a:pPr>
            <a:r>
              <a:t/>
            </a:r>
            <a:endParaRPr sz="2400"/>
          </a:p>
        </p:txBody>
      </p:sp>
      <p:sp>
        <p:nvSpPr>
          <p:cNvPr id="1155" name="Google Shape;1155;p9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156" name="Google Shape;1156;p9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157" name="Google Shape;1157;p9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99"/>
          <p:cNvSpPr txBox="1"/>
          <p:nvPr>
            <p:ph type="title"/>
          </p:nvPr>
        </p:nvSpPr>
        <p:spPr>
          <a:xfrm>
            <a:off x="1428750" y="161925"/>
            <a:ext cx="7772400" cy="6286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r>
              <a:rPr lang="en-US" sz="3600"/>
              <a:t>Several Instances of a Resource Type</a:t>
            </a:r>
            <a:endParaRPr/>
          </a:p>
        </p:txBody>
      </p:sp>
      <p:sp>
        <p:nvSpPr>
          <p:cNvPr id="1164" name="Google Shape;1164;p99"/>
          <p:cNvSpPr txBox="1"/>
          <p:nvPr>
            <p:ph idx="1" type="body"/>
          </p:nvPr>
        </p:nvSpPr>
        <p:spPr>
          <a:xfrm>
            <a:off x="533400" y="1101725"/>
            <a:ext cx="4984750" cy="498475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B0F0"/>
              </a:buClr>
              <a:buSzPts val="2400"/>
              <a:buFont typeface="Arial"/>
              <a:buNone/>
            </a:pPr>
            <a:r>
              <a:rPr b="1" lang="en-US" sz="2400">
                <a:solidFill>
                  <a:srgbClr val="00B0F0"/>
                </a:solidFill>
              </a:rPr>
              <a:t>m=no of resources</a:t>
            </a:r>
            <a:endParaRPr/>
          </a:p>
          <a:p>
            <a:pPr indent="-342900" lvl="0" marL="342900" rtl="0" algn="l">
              <a:spcBef>
                <a:spcPts val="480"/>
              </a:spcBef>
              <a:spcAft>
                <a:spcPts val="0"/>
              </a:spcAft>
              <a:buClr>
                <a:srgbClr val="00B0F0"/>
              </a:buClr>
              <a:buSzPts val="2400"/>
              <a:buFont typeface="Arial"/>
              <a:buNone/>
            </a:pPr>
            <a:r>
              <a:rPr b="1" lang="en-US" sz="2400">
                <a:solidFill>
                  <a:srgbClr val="00B0F0"/>
                </a:solidFill>
              </a:rPr>
              <a:t>n=no of processes</a:t>
            </a:r>
            <a:endParaRPr/>
          </a:p>
          <a:p>
            <a:pPr indent="0" lvl="0" marL="0" rtl="0" algn="l">
              <a:spcBef>
                <a:spcPts val="480"/>
              </a:spcBef>
              <a:spcAft>
                <a:spcPts val="0"/>
              </a:spcAft>
              <a:buClr>
                <a:schemeClr val="dk1"/>
              </a:buClr>
              <a:buSzPts val="2400"/>
              <a:buNone/>
            </a:pPr>
            <a:r>
              <a:t/>
            </a:r>
            <a:endParaRPr b="1" sz="2400">
              <a:solidFill>
                <a:srgbClr val="000000"/>
              </a:solidFill>
            </a:endParaRPr>
          </a:p>
          <a:p>
            <a:pPr indent="-342900" lvl="0" marL="342900" rtl="0" algn="l">
              <a:spcBef>
                <a:spcPts val="480"/>
              </a:spcBef>
              <a:spcAft>
                <a:spcPts val="0"/>
              </a:spcAft>
              <a:buClr>
                <a:srgbClr val="000000"/>
              </a:buClr>
              <a:buSzPts val="2400"/>
              <a:buChar char="•"/>
            </a:pPr>
            <a:r>
              <a:rPr b="1" lang="en-US" sz="2400">
                <a:solidFill>
                  <a:srgbClr val="000000"/>
                </a:solidFill>
              </a:rPr>
              <a:t>Available</a:t>
            </a:r>
            <a:endParaRPr/>
          </a:p>
          <a:p>
            <a:pPr indent="-342900" lvl="0" marL="342900" rtl="0" algn="l">
              <a:spcBef>
                <a:spcPts val="480"/>
              </a:spcBef>
              <a:spcAft>
                <a:spcPts val="0"/>
              </a:spcAft>
              <a:buClr>
                <a:srgbClr val="000000"/>
              </a:buClr>
              <a:buSzPts val="2400"/>
              <a:buChar char="•"/>
            </a:pPr>
            <a:r>
              <a:rPr b="1" lang="en-US" sz="2400">
                <a:solidFill>
                  <a:srgbClr val="000000"/>
                </a:solidFill>
              </a:rPr>
              <a:t>Allocation</a:t>
            </a:r>
            <a:endParaRPr/>
          </a:p>
          <a:p>
            <a:pPr indent="-342900" lvl="0" marL="342900" rtl="0" algn="l">
              <a:spcBef>
                <a:spcPts val="480"/>
              </a:spcBef>
              <a:spcAft>
                <a:spcPts val="0"/>
              </a:spcAft>
              <a:buClr>
                <a:srgbClr val="000000"/>
              </a:buClr>
              <a:buSzPts val="2400"/>
              <a:buChar char="•"/>
            </a:pPr>
            <a:r>
              <a:rPr b="1" lang="en-US" sz="2400">
                <a:solidFill>
                  <a:srgbClr val="000000"/>
                </a:solidFill>
              </a:rPr>
              <a:t>Request</a:t>
            </a:r>
            <a:endParaRPr sz="2400"/>
          </a:p>
        </p:txBody>
      </p:sp>
      <p:pic>
        <p:nvPicPr>
          <p:cNvPr id="1165" name="Google Shape;1165;p99"/>
          <p:cNvPicPr preferRelativeResize="0"/>
          <p:nvPr/>
        </p:nvPicPr>
        <p:blipFill rotWithShape="1">
          <a:blip r:embed="rId3">
            <a:alphaModFix/>
          </a:blip>
          <a:srcRect b="50000" l="30454" r="38311" t="22222"/>
          <a:stretch/>
        </p:blipFill>
        <p:spPr>
          <a:xfrm>
            <a:off x="6248400" y="1701800"/>
            <a:ext cx="2616200" cy="2489200"/>
          </a:xfrm>
          <a:prstGeom prst="rect">
            <a:avLst/>
          </a:prstGeom>
          <a:noFill/>
          <a:ln>
            <a:noFill/>
          </a:ln>
        </p:spPr>
      </p:pic>
      <p:cxnSp>
        <p:nvCxnSpPr>
          <p:cNvPr id="1166" name="Google Shape;1166;p99"/>
          <p:cNvCxnSpPr/>
          <p:nvPr/>
        </p:nvCxnSpPr>
        <p:spPr>
          <a:xfrm>
            <a:off x="6096000" y="1701800"/>
            <a:ext cx="0" cy="2565400"/>
          </a:xfrm>
          <a:prstGeom prst="straightConnector1">
            <a:avLst/>
          </a:prstGeom>
          <a:noFill/>
          <a:ln cap="flat" cmpd="sng" w="9525">
            <a:solidFill>
              <a:srgbClr val="4A7DBA"/>
            </a:solidFill>
            <a:prstDash val="solid"/>
            <a:round/>
            <a:headEnd len="sm" w="sm" type="none"/>
            <a:tailEnd len="med" w="med" type="stealth"/>
          </a:ln>
        </p:spPr>
      </p:cxnSp>
      <p:cxnSp>
        <p:nvCxnSpPr>
          <p:cNvPr id="1167" name="Google Shape;1167;p99"/>
          <p:cNvCxnSpPr/>
          <p:nvPr/>
        </p:nvCxnSpPr>
        <p:spPr>
          <a:xfrm>
            <a:off x="6248400" y="1524000"/>
            <a:ext cx="2438400" cy="0"/>
          </a:xfrm>
          <a:prstGeom prst="straightConnector1">
            <a:avLst/>
          </a:prstGeom>
          <a:noFill/>
          <a:ln cap="flat" cmpd="sng" w="9525">
            <a:solidFill>
              <a:srgbClr val="4A7DBA"/>
            </a:solidFill>
            <a:prstDash val="solid"/>
            <a:round/>
            <a:headEnd len="sm" w="sm" type="none"/>
            <a:tailEnd len="med" w="med" type="stealth"/>
          </a:ln>
        </p:spPr>
      </p:cxnSp>
      <p:sp>
        <p:nvSpPr>
          <p:cNvPr id="1168" name="Google Shape;1168;p99"/>
          <p:cNvSpPr txBox="1"/>
          <p:nvPr/>
        </p:nvSpPr>
        <p:spPr>
          <a:xfrm>
            <a:off x="5638800" y="2743200"/>
            <a:ext cx="228600" cy="38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a:t>
            </a:r>
            <a:endParaRPr sz="1800">
              <a:solidFill>
                <a:schemeClr val="dk1"/>
              </a:solidFill>
              <a:latin typeface="Calibri"/>
              <a:ea typeface="Calibri"/>
              <a:cs typeface="Calibri"/>
              <a:sym typeface="Calibri"/>
            </a:endParaRPr>
          </a:p>
        </p:txBody>
      </p:sp>
      <p:sp>
        <p:nvSpPr>
          <p:cNvPr id="1169" name="Google Shape;1169;p99"/>
          <p:cNvSpPr txBox="1"/>
          <p:nvPr/>
        </p:nvSpPr>
        <p:spPr>
          <a:xfrm>
            <a:off x="7010400" y="1122218"/>
            <a:ext cx="228600" cy="38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m</a:t>
            </a:r>
            <a:endParaRPr sz="1800">
              <a:solidFill>
                <a:schemeClr val="dk1"/>
              </a:solidFill>
              <a:latin typeface="Calibri"/>
              <a:ea typeface="Calibri"/>
              <a:cs typeface="Calibri"/>
              <a:sym typeface="Calibri"/>
            </a:endParaRPr>
          </a:p>
        </p:txBody>
      </p:sp>
      <p:sp>
        <p:nvSpPr>
          <p:cNvPr id="1170" name="Google Shape;1170;p99"/>
          <p:cNvSpPr/>
          <p:nvPr/>
        </p:nvSpPr>
        <p:spPr>
          <a:xfrm>
            <a:off x="6705600" y="2133600"/>
            <a:ext cx="609600" cy="2133600"/>
          </a:xfrm>
          <a:prstGeom prst="rect">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1" name="Google Shape;1171;p99"/>
          <p:cNvSpPr/>
          <p:nvPr/>
        </p:nvSpPr>
        <p:spPr>
          <a:xfrm>
            <a:off x="7467600" y="2133600"/>
            <a:ext cx="609600" cy="2133600"/>
          </a:xfrm>
          <a:prstGeom prst="rect">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2" name="Google Shape;1172;p99"/>
          <p:cNvSpPr txBox="1"/>
          <p:nvPr/>
        </p:nvSpPr>
        <p:spPr>
          <a:xfrm>
            <a:off x="7010400" y="4502543"/>
            <a:ext cx="8382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 x m</a:t>
            </a:r>
            <a:endParaRPr sz="1800">
              <a:solidFill>
                <a:schemeClr val="dk1"/>
              </a:solidFill>
              <a:latin typeface="Calibri"/>
              <a:ea typeface="Calibri"/>
              <a:cs typeface="Calibri"/>
              <a:sym typeface="Calibri"/>
            </a:endParaRPr>
          </a:p>
        </p:txBody>
      </p:sp>
      <p:sp>
        <p:nvSpPr>
          <p:cNvPr id="1173" name="Google Shape;1173;p9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174" name="Google Shape;1174;p9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175" name="Google Shape;1175;p9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sp>
        <p:nvSpPr>
          <p:cNvPr id="1181" name="Google Shape;1181;p100"/>
          <p:cNvSpPr txBox="1"/>
          <p:nvPr>
            <p:ph type="title"/>
          </p:nvPr>
        </p:nvSpPr>
        <p:spPr>
          <a:xfrm>
            <a:off x="787400" y="152400"/>
            <a:ext cx="7899400"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Detection Algorithm</a:t>
            </a:r>
            <a:endParaRPr/>
          </a:p>
        </p:txBody>
      </p:sp>
      <p:sp>
        <p:nvSpPr>
          <p:cNvPr id="1182" name="Google Shape;1182;p100"/>
          <p:cNvSpPr txBox="1"/>
          <p:nvPr>
            <p:ph idx="1" type="body"/>
          </p:nvPr>
        </p:nvSpPr>
        <p:spPr>
          <a:xfrm>
            <a:off x="995363" y="1233488"/>
            <a:ext cx="7753350" cy="4530725"/>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rgbClr val="00B0F0"/>
              </a:buClr>
              <a:buSzPct val="100000"/>
              <a:buFont typeface="Arial"/>
              <a:buNone/>
            </a:pPr>
            <a:r>
              <a:rPr b="1" lang="en-US">
                <a:solidFill>
                  <a:srgbClr val="00B0F0"/>
                </a:solidFill>
              </a:rPr>
              <a:t>m=no of resources</a:t>
            </a:r>
            <a:endParaRPr/>
          </a:p>
          <a:p>
            <a:pPr indent="-342900" lvl="0" marL="342900" rtl="0" algn="l">
              <a:spcBef>
                <a:spcPts val="448"/>
              </a:spcBef>
              <a:spcAft>
                <a:spcPts val="0"/>
              </a:spcAft>
              <a:buClr>
                <a:srgbClr val="00B0F0"/>
              </a:buClr>
              <a:buSzPct val="100000"/>
              <a:buFont typeface="Arial"/>
              <a:buNone/>
            </a:pPr>
            <a:r>
              <a:rPr b="1" lang="en-US">
                <a:solidFill>
                  <a:srgbClr val="00B0F0"/>
                </a:solidFill>
              </a:rPr>
              <a:t>n=no of processes</a:t>
            </a:r>
            <a:endParaRPr/>
          </a:p>
          <a:p>
            <a:pPr indent="-342900" lvl="0" marL="342900" rtl="0" algn="l">
              <a:spcBef>
                <a:spcPts val="448"/>
              </a:spcBef>
              <a:spcAft>
                <a:spcPts val="0"/>
              </a:spcAft>
              <a:buClr>
                <a:schemeClr val="dk1"/>
              </a:buClr>
              <a:buSzPct val="100000"/>
              <a:buFont typeface="Arial"/>
              <a:buNone/>
            </a:pPr>
            <a:r>
              <a:rPr lang="en-US"/>
              <a:t>1.	Let </a:t>
            </a:r>
            <a:r>
              <a:rPr b="1" i="1" lang="en-US"/>
              <a:t>Work</a:t>
            </a:r>
            <a:r>
              <a:rPr lang="en-US"/>
              <a:t> and </a:t>
            </a:r>
            <a:r>
              <a:rPr b="1" i="1" lang="en-US"/>
              <a:t>Finish</a:t>
            </a:r>
            <a:r>
              <a:rPr lang="en-US"/>
              <a:t> be vectors of length </a:t>
            </a:r>
            <a:r>
              <a:rPr b="1" i="1" lang="en-US"/>
              <a:t>m</a:t>
            </a:r>
            <a:r>
              <a:rPr lang="en-US"/>
              <a:t> and </a:t>
            </a:r>
            <a:r>
              <a:rPr b="1" i="1" lang="en-US"/>
              <a:t>n</a:t>
            </a:r>
            <a:r>
              <a:rPr lang="en-US"/>
              <a:t>, respectively Initialize:</a:t>
            </a:r>
            <a:endParaRPr/>
          </a:p>
          <a:p>
            <a:pPr indent="-393700" lvl="1" marL="850900" rtl="0" algn="l">
              <a:spcBef>
                <a:spcPts val="392"/>
              </a:spcBef>
              <a:spcAft>
                <a:spcPts val="0"/>
              </a:spcAft>
              <a:buClr>
                <a:schemeClr val="dk1"/>
              </a:buClr>
              <a:buSzPct val="100000"/>
              <a:buFont typeface="Arial"/>
              <a:buNone/>
            </a:pPr>
            <a:r>
              <a:rPr lang="en-US"/>
              <a:t>(a) </a:t>
            </a:r>
            <a:r>
              <a:rPr b="1" i="1" lang="en-US"/>
              <a:t>Work</a:t>
            </a:r>
            <a:r>
              <a:rPr b="1" lang="en-US"/>
              <a:t> = </a:t>
            </a:r>
            <a:r>
              <a:rPr b="1" i="1" lang="en-US"/>
              <a:t>Available</a:t>
            </a:r>
            <a:endParaRPr b="1"/>
          </a:p>
          <a:p>
            <a:pPr indent="-393700" lvl="1" marL="850900" rtl="0" algn="l">
              <a:spcBef>
                <a:spcPts val="392"/>
              </a:spcBef>
              <a:spcAft>
                <a:spcPts val="0"/>
              </a:spcAft>
              <a:buClr>
                <a:schemeClr val="dk1"/>
              </a:buClr>
              <a:buSzPct val="100000"/>
              <a:buFont typeface="Arial"/>
              <a:buNone/>
            </a:pPr>
            <a:r>
              <a:rPr lang="en-US"/>
              <a:t>(b)	For </a:t>
            </a:r>
            <a:r>
              <a:rPr b="1" i="1" lang="en-US"/>
              <a:t>i</a:t>
            </a:r>
            <a:r>
              <a:rPr b="1" lang="en-US"/>
              <a:t> = 0,1,2, …,</a:t>
            </a:r>
            <a:r>
              <a:rPr b="1" i="1" lang="en-US"/>
              <a:t> n-1</a:t>
            </a:r>
            <a:r>
              <a:rPr lang="en-US"/>
              <a:t>, if </a:t>
            </a:r>
            <a:r>
              <a:rPr b="1" i="1" lang="en-US"/>
              <a:t>Allocation</a:t>
            </a:r>
            <a:r>
              <a:rPr b="1" baseline="-25000" i="1" lang="en-US"/>
              <a:t>i</a:t>
            </a:r>
            <a:r>
              <a:rPr b="1" lang="en-US"/>
              <a:t> ≠ 0</a:t>
            </a:r>
            <a:r>
              <a:rPr lang="en-US"/>
              <a:t>, then </a:t>
            </a:r>
            <a:br>
              <a:rPr lang="en-US"/>
            </a:br>
            <a:r>
              <a:rPr b="1" i="1" lang="en-US"/>
              <a:t>Finish</a:t>
            </a:r>
            <a:r>
              <a:rPr b="1" lang="en-US"/>
              <a:t>[i] </a:t>
            </a:r>
            <a:r>
              <a:rPr b="1" i="1" lang="en-US"/>
              <a:t>= false</a:t>
            </a:r>
            <a:r>
              <a:rPr lang="en-US"/>
              <a:t>; otherwise, </a:t>
            </a:r>
            <a:r>
              <a:rPr b="1" i="1" lang="en-US"/>
              <a:t>Finish</a:t>
            </a:r>
            <a:r>
              <a:rPr b="1" lang="en-US"/>
              <a:t>[i] = </a:t>
            </a:r>
            <a:r>
              <a:rPr b="1" i="1" lang="en-US"/>
              <a:t>true</a:t>
            </a:r>
            <a:endParaRPr/>
          </a:p>
          <a:p>
            <a:pPr indent="-393700" lvl="1" marL="850900" rtl="0" algn="l">
              <a:spcBef>
                <a:spcPts val="392"/>
              </a:spcBef>
              <a:spcAft>
                <a:spcPts val="0"/>
              </a:spcAft>
              <a:buClr>
                <a:schemeClr val="dk1"/>
              </a:buClr>
              <a:buSzPct val="100000"/>
              <a:buFont typeface="Arial"/>
              <a:buNone/>
            </a:pPr>
            <a:r>
              <a:t/>
            </a:r>
            <a:endParaRPr/>
          </a:p>
          <a:p>
            <a:pPr indent="-393700" lvl="1" marL="850900" rtl="0" algn="l">
              <a:spcBef>
                <a:spcPts val="392"/>
              </a:spcBef>
              <a:spcAft>
                <a:spcPts val="0"/>
              </a:spcAft>
              <a:buClr>
                <a:srgbClr val="00B0F0"/>
              </a:buClr>
              <a:buSzPct val="100000"/>
              <a:buFont typeface="Arial"/>
              <a:buNone/>
            </a:pPr>
            <a:r>
              <a:rPr b="1" lang="en-US">
                <a:solidFill>
                  <a:srgbClr val="00B0F0"/>
                </a:solidFill>
              </a:rPr>
              <a:t>Initialize Work to Available and Finish to False</a:t>
            </a:r>
            <a:endParaRPr/>
          </a:p>
          <a:p>
            <a:pPr indent="-342900" lvl="0" marL="342900" rtl="0" algn="l">
              <a:spcBef>
                <a:spcPts val="448"/>
              </a:spcBef>
              <a:spcAft>
                <a:spcPts val="0"/>
              </a:spcAft>
              <a:buClr>
                <a:schemeClr val="dk1"/>
              </a:buClr>
              <a:buSzPct val="100000"/>
              <a:buFont typeface="Arial"/>
              <a:buNone/>
            </a:pPr>
            <a:r>
              <a:rPr lang="en-US"/>
              <a:t>2.	Find an index </a:t>
            </a:r>
            <a:r>
              <a:rPr b="1" i="1" lang="en-US"/>
              <a:t>i</a:t>
            </a:r>
            <a:r>
              <a:rPr i="1" lang="en-US"/>
              <a:t> </a:t>
            </a:r>
            <a:r>
              <a:rPr lang="en-US"/>
              <a:t>such that both:</a:t>
            </a:r>
            <a:endParaRPr/>
          </a:p>
          <a:p>
            <a:pPr indent="-393700" lvl="1" marL="850900" rtl="0" algn="l">
              <a:spcBef>
                <a:spcPts val="392"/>
              </a:spcBef>
              <a:spcAft>
                <a:spcPts val="0"/>
              </a:spcAft>
              <a:buClr>
                <a:schemeClr val="dk1"/>
              </a:buClr>
              <a:buSzPct val="100000"/>
              <a:buFont typeface="Arial"/>
              <a:buNone/>
            </a:pPr>
            <a:r>
              <a:rPr lang="en-US"/>
              <a:t>(a)	</a:t>
            </a:r>
            <a:r>
              <a:rPr b="1" i="1" lang="en-US"/>
              <a:t>Finish</a:t>
            </a:r>
            <a:r>
              <a:rPr b="1" lang="en-US"/>
              <a:t>[</a:t>
            </a:r>
            <a:r>
              <a:rPr b="1" i="1" lang="en-US"/>
              <a:t>i</a:t>
            </a:r>
            <a:r>
              <a:rPr b="1" lang="en-US"/>
              <a:t>] == </a:t>
            </a:r>
            <a:r>
              <a:rPr b="1" i="1" lang="en-US"/>
              <a:t>false</a:t>
            </a:r>
            <a:endParaRPr b="1"/>
          </a:p>
          <a:p>
            <a:pPr indent="-393700" lvl="1" marL="850900" rtl="0" algn="l">
              <a:spcBef>
                <a:spcPts val="392"/>
              </a:spcBef>
              <a:spcAft>
                <a:spcPts val="0"/>
              </a:spcAft>
              <a:buClr>
                <a:schemeClr val="dk1"/>
              </a:buClr>
              <a:buSzPct val="100000"/>
              <a:buFont typeface="Arial"/>
              <a:buNone/>
            </a:pPr>
            <a:r>
              <a:rPr lang="en-US"/>
              <a:t>(b)	</a:t>
            </a:r>
            <a:r>
              <a:rPr b="1" i="1" lang="en-US">
                <a:solidFill>
                  <a:srgbClr val="0070C0"/>
                </a:solidFill>
              </a:rPr>
              <a:t>Request</a:t>
            </a:r>
            <a:r>
              <a:rPr b="1" baseline="-25000" i="1" lang="en-US">
                <a:solidFill>
                  <a:srgbClr val="0070C0"/>
                </a:solidFill>
              </a:rPr>
              <a:t>i</a:t>
            </a:r>
            <a:r>
              <a:rPr b="1" lang="en-US">
                <a:solidFill>
                  <a:srgbClr val="0070C0"/>
                </a:solidFill>
              </a:rPr>
              <a:t> ≤ </a:t>
            </a:r>
            <a:r>
              <a:rPr b="1" i="1" lang="en-US">
                <a:solidFill>
                  <a:srgbClr val="0070C0"/>
                </a:solidFill>
              </a:rPr>
              <a:t>Work</a:t>
            </a:r>
            <a:br>
              <a:rPr b="1" i="1" lang="en-US"/>
            </a:br>
            <a:endParaRPr b="1"/>
          </a:p>
          <a:p>
            <a:pPr indent="-393700" lvl="1" marL="850900" rtl="0" algn="l">
              <a:spcBef>
                <a:spcPts val="392"/>
              </a:spcBef>
              <a:spcAft>
                <a:spcPts val="0"/>
              </a:spcAft>
              <a:buClr>
                <a:schemeClr val="dk1"/>
              </a:buClr>
              <a:buSzPct val="100000"/>
              <a:buFont typeface="Arial"/>
              <a:buNone/>
            </a:pPr>
            <a:r>
              <a:rPr lang="en-US"/>
              <a:t>If no such </a:t>
            </a:r>
            <a:r>
              <a:rPr b="1" i="1" lang="en-US"/>
              <a:t>i</a:t>
            </a:r>
            <a:r>
              <a:rPr b="1" lang="en-US"/>
              <a:t> </a:t>
            </a:r>
            <a:r>
              <a:rPr lang="en-US"/>
              <a:t>exists, go to step 4</a:t>
            </a:r>
            <a:endParaRPr/>
          </a:p>
        </p:txBody>
      </p:sp>
      <p:sp>
        <p:nvSpPr>
          <p:cNvPr id="1183" name="Google Shape;1183;p100"/>
          <p:cNvSpPr/>
          <p:nvPr/>
        </p:nvSpPr>
        <p:spPr>
          <a:xfrm>
            <a:off x="3962400" y="4724400"/>
            <a:ext cx="4953000" cy="152400"/>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84" name="Google Shape;1184;p10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185" name="Google Shape;1185;p10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186" name="Google Shape;1186;p10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p101"/>
          <p:cNvSpPr txBox="1"/>
          <p:nvPr>
            <p:ph type="title"/>
          </p:nvPr>
        </p:nvSpPr>
        <p:spPr>
          <a:xfrm>
            <a:off x="1128713" y="214313"/>
            <a:ext cx="7558087"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Detection Algorithm (Cont.)</a:t>
            </a:r>
            <a:endParaRPr/>
          </a:p>
        </p:txBody>
      </p:sp>
      <p:sp>
        <p:nvSpPr>
          <p:cNvPr id="1193" name="Google Shape;1193;p101"/>
          <p:cNvSpPr txBox="1"/>
          <p:nvPr>
            <p:ph idx="1" type="body"/>
          </p:nvPr>
        </p:nvSpPr>
        <p:spPr>
          <a:xfrm>
            <a:off x="947738" y="1171575"/>
            <a:ext cx="7218362" cy="229711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lnSpc>
                <a:spcPct val="90000"/>
              </a:lnSpc>
              <a:spcBef>
                <a:spcPts val="0"/>
              </a:spcBef>
              <a:spcAft>
                <a:spcPts val="0"/>
              </a:spcAft>
              <a:buClr>
                <a:schemeClr val="dk1"/>
              </a:buClr>
              <a:buSzPct val="100000"/>
              <a:buFont typeface="Arial"/>
              <a:buNone/>
            </a:pPr>
            <a:r>
              <a:rPr lang="en-US"/>
              <a:t>3.	</a:t>
            </a:r>
            <a:r>
              <a:rPr b="1" i="1" lang="en-US"/>
              <a:t>Work</a:t>
            </a:r>
            <a:r>
              <a:rPr b="1" lang="en-US"/>
              <a:t> = </a:t>
            </a:r>
            <a:r>
              <a:rPr b="1" i="1" lang="en-US"/>
              <a:t>Work</a:t>
            </a:r>
            <a:r>
              <a:rPr b="1" lang="en-US"/>
              <a:t> + </a:t>
            </a:r>
            <a:r>
              <a:rPr b="1" i="1" lang="en-US"/>
              <a:t>Allocation</a:t>
            </a:r>
            <a:r>
              <a:rPr b="1" baseline="-25000" i="1" lang="en-US"/>
              <a:t>i</a:t>
            </a:r>
            <a:br>
              <a:rPr b="1" lang="en-US"/>
            </a:br>
            <a:r>
              <a:rPr b="1" i="1" lang="en-US"/>
              <a:t>Finish</a:t>
            </a:r>
            <a:r>
              <a:rPr b="1" lang="en-US"/>
              <a:t>[</a:t>
            </a:r>
            <a:r>
              <a:rPr b="1" i="1" lang="en-US"/>
              <a:t>i</a:t>
            </a:r>
            <a:r>
              <a:rPr b="1" lang="en-US"/>
              <a:t>] = </a:t>
            </a:r>
            <a:r>
              <a:rPr b="1" i="1" lang="en-US"/>
              <a:t>true</a:t>
            </a:r>
            <a:br>
              <a:rPr b="1" lang="en-US"/>
            </a:br>
            <a:r>
              <a:rPr lang="en-US"/>
              <a:t>go to step 2</a:t>
            </a:r>
            <a:br>
              <a:rPr lang="en-US"/>
            </a:br>
            <a:endParaRPr/>
          </a:p>
          <a:p>
            <a:pPr indent="-342900" lvl="0" marL="342900" rtl="0" algn="l">
              <a:lnSpc>
                <a:spcPct val="90000"/>
              </a:lnSpc>
              <a:spcBef>
                <a:spcPts val="448"/>
              </a:spcBef>
              <a:spcAft>
                <a:spcPts val="0"/>
              </a:spcAft>
              <a:buClr>
                <a:schemeClr val="dk1"/>
              </a:buClr>
              <a:buSzPct val="100000"/>
              <a:buFont typeface="Arial"/>
              <a:buNone/>
            </a:pPr>
            <a:r>
              <a:rPr lang="en-US"/>
              <a:t>4.	If </a:t>
            </a:r>
            <a:r>
              <a:rPr b="1" i="1" lang="en-US"/>
              <a:t>Finish[i] == false</a:t>
            </a:r>
            <a:r>
              <a:rPr lang="en-US"/>
              <a:t>, for some </a:t>
            </a:r>
            <a:r>
              <a:rPr b="1" i="1" lang="en-US"/>
              <a:t>i</a:t>
            </a:r>
            <a:r>
              <a:rPr lang="en-US"/>
              <a:t>, 1 ≤ </a:t>
            </a:r>
            <a:r>
              <a:rPr b="1" i="1" lang="en-US"/>
              <a:t>i</a:t>
            </a:r>
            <a:r>
              <a:rPr lang="en-US"/>
              <a:t> ≤  </a:t>
            </a:r>
            <a:r>
              <a:rPr b="1" i="1" lang="en-US"/>
              <a:t>n</a:t>
            </a:r>
            <a:r>
              <a:rPr lang="en-US"/>
              <a:t>, then the system is in deadlock state. Moreover, if </a:t>
            </a:r>
            <a:r>
              <a:rPr b="1" i="1" lang="en-US"/>
              <a:t>Finish</a:t>
            </a:r>
            <a:r>
              <a:rPr b="1" lang="en-US"/>
              <a:t>[</a:t>
            </a:r>
            <a:r>
              <a:rPr b="1" i="1" lang="en-US"/>
              <a:t>i</a:t>
            </a:r>
            <a:r>
              <a:rPr b="1" lang="en-US"/>
              <a:t>] == </a:t>
            </a:r>
            <a:r>
              <a:rPr b="1" i="1" lang="en-US"/>
              <a:t>false</a:t>
            </a:r>
            <a:r>
              <a:rPr lang="en-US"/>
              <a:t>, then </a:t>
            </a:r>
            <a:r>
              <a:rPr b="1" i="1" lang="en-US"/>
              <a:t>P</a:t>
            </a:r>
            <a:r>
              <a:rPr b="1" baseline="-25000" i="1" lang="en-US"/>
              <a:t>i</a:t>
            </a:r>
            <a:r>
              <a:rPr lang="en-US"/>
              <a:t> is deadlocked</a:t>
            </a:r>
            <a:endParaRPr/>
          </a:p>
          <a:p>
            <a:pPr indent="-342900" lvl="0" marL="342900" rtl="0" algn="l">
              <a:lnSpc>
                <a:spcPct val="90000"/>
              </a:lnSpc>
              <a:spcBef>
                <a:spcPts val="448"/>
              </a:spcBef>
              <a:spcAft>
                <a:spcPts val="0"/>
              </a:spcAft>
              <a:buClr>
                <a:schemeClr val="dk1"/>
              </a:buClr>
              <a:buSzPct val="100000"/>
              <a:buFont typeface="Arial"/>
              <a:buNone/>
            </a:pPr>
            <a:r>
              <a:rPr lang="en-US"/>
              <a:t>	</a:t>
            </a:r>
            <a:endParaRPr/>
          </a:p>
        </p:txBody>
      </p:sp>
      <p:sp>
        <p:nvSpPr>
          <p:cNvPr id="1194" name="Google Shape;1194;p10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195" name="Google Shape;1195;p10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196" name="Google Shape;1196;p10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p102"/>
          <p:cNvSpPr txBox="1"/>
          <p:nvPr>
            <p:ph idx="1" type="body"/>
          </p:nvPr>
        </p:nvSpPr>
        <p:spPr>
          <a:xfrm>
            <a:off x="457200" y="228600"/>
            <a:ext cx="4038600" cy="5897563"/>
          </a:xfrm>
          <a:prstGeom prst="rect">
            <a:avLst/>
          </a:prstGeom>
          <a:solidFill>
            <a:schemeClr val="lt1"/>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600"/>
              <a:buFont typeface="Arial"/>
              <a:buNone/>
            </a:pPr>
            <a:r>
              <a:rPr b="1" lang="en-US" sz="1600">
                <a:solidFill>
                  <a:schemeClr val="dk1"/>
                </a:solidFill>
                <a:latin typeface="Calibri"/>
                <a:ea typeface="Calibri"/>
                <a:cs typeface="Calibri"/>
                <a:sym typeface="Calibri"/>
              </a:rPr>
              <a:t>Deadlock Detection</a:t>
            </a:r>
            <a:endParaRPr/>
          </a:p>
          <a:p>
            <a:pPr indent="-342900" lvl="0" marL="342900" rtl="0" algn="l">
              <a:spcBef>
                <a:spcPts val="320"/>
              </a:spcBef>
              <a:spcAft>
                <a:spcPts val="0"/>
              </a:spcAft>
              <a:buClr>
                <a:srgbClr val="00B0F0"/>
              </a:buClr>
              <a:buSzPts val="1600"/>
              <a:buFont typeface="Arial"/>
              <a:buNone/>
            </a:pPr>
            <a:r>
              <a:rPr b="1" lang="en-US" sz="1600">
                <a:solidFill>
                  <a:srgbClr val="00B0F0"/>
                </a:solidFill>
                <a:latin typeface="Calibri"/>
                <a:ea typeface="Calibri"/>
                <a:cs typeface="Calibri"/>
                <a:sym typeface="Calibri"/>
              </a:rPr>
              <a:t>m=no of resources</a:t>
            </a:r>
            <a:endParaRPr/>
          </a:p>
          <a:p>
            <a:pPr indent="-342900" lvl="0" marL="342900" rtl="0" algn="l">
              <a:spcBef>
                <a:spcPts val="320"/>
              </a:spcBef>
              <a:spcAft>
                <a:spcPts val="0"/>
              </a:spcAft>
              <a:buClr>
                <a:srgbClr val="00B0F0"/>
              </a:buClr>
              <a:buSzPts val="1600"/>
              <a:buFont typeface="Arial"/>
              <a:buNone/>
            </a:pPr>
            <a:r>
              <a:rPr b="1" lang="en-US" sz="1600">
                <a:solidFill>
                  <a:srgbClr val="00B0F0"/>
                </a:solidFill>
                <a:latin typeface="Calibri"/>
                <a:ea typeface="Calibri"/>
                <a:cs typeface="Calibri"/>
                <a:sym typeface="Calibri"/>
              </a:rPr>
              <a:t>n=no of processes</a:t>
            </a:r>
            <a:endParaRPr/>
          </a:p>
          <a:p>
            <a:pPr indent="-342900" lvl="0" marL="342900" rtl="0" algn="l">
              <a:spcBef>
                <a:spcPts val="320"/>
              </a:spcBef>
              <a:spcAft>
                <a:spcPts val="0"/>
              </a:spcAft>
              <a:buClr>
                <a:schemeClr val="dk1"/>
              </a:buClr>
              <a:buSzPts val="1600"/>
              <a:buFont typeface="Arial"/>
              <a:buNone/>
            </a:pPr>
            <a:r>
              <a:rPr lang="en-US" sz="1600">
                <a:solidFill>
                  <a:schemeClr val="dk1"/>
                </a:solidFill>
                <a:latin typeface="Calibri"/>
                <a:ea typeface="Calibri"/>
                <a:cs typeface="Calibri"/>
                <a:sym typeface="Calibri"/>
              </a:rPr>
              <a:t>1.	Let </a:t>
            </a:r>
            <a:r>
              <a:rPr b="1" i="1" lang="en-US" sz="1600">
                <a:solidFill>
                  <a:schemeClr val="dk1"/>
                </a:solidFill>
                <a:latin typeface="Calibri"/>
                <a:ea typeface="Calibri"/>
                <a:cs typeface="Calibri"/>
                <a:sym typeface="Calibri"/>
              </a:rPr>
              <a:t>Work</a:t>
            </a:r>
            <a:r>
              <a:rPr lang="en-US" sz="1600">
                <a:solidFill>
                  <a:schemeClr val="dk1"/>
                </a:solidFill>
                <a:latin typeface="Calibri"/>
                <a:ea typeface="Calibri"/>
                <a:cs typeface="Calibri"/>
                <a:sym typeface="Calibri"/>
              </a:rPr>
              <a:t> and </a:t>
            </a:r>
            <a:r>
              <a:rPr b="1" i="1" lang="en-US" sz="1600">
                <a:solidFill>
                  <a:schemeClr val="dk1"/>
                </a:solidFill>
                <a:latin typeface="Calibri"/>
                <a:ea typeface="Calibri"/>
                <a:cs typeface="Calibri"/>
                <a:sym typeface="Calibri"/>
              </a:rPr>
              <a:t>Finish</a:t>
            </a:r>
            <a:r>
              <a:rPr lang="en-US" sz="1600">
                <a:solidFill>
                  <a:schemeClr val="dk1"/>
                </a:solidFill>
                <a:latin typeface="Calibri"/>
                <a:ea typeface="Calibri"/>
                <a:cs typeface="Calibri"/>
                <a:sym typeface="Calibri"/>
              </a:rPr>
              <a:t> be vectors of length </a:t>
            </a:r>
            <a:r>
              <a:rPr b="1" i="1" lang="en-US" sz="1600">
                <a:solidFill>
                  <a:schemeClr val="dk1"/>
                </a:solidFill>
                <a:latin typeface="Calibri"/>
                <a:ea typeface="Calibri"/>
                <a:cs typeface="Calibri"/>
                <a:sym typeface="Calibri"/>
              </a:rPr>
              <a:t>m</a:t>
            </a:r>
            <a:r>
              <a:rPr lang="en-US" sz="1600">
                <a:solidFill>
                  <a:schemeClr val="dk1"/>
                </a:solidFill>
                <a:latin typeface="Calibri"/>
                <a:ea typeface="Calibri"/>
                <a:cs typeface="Calibri"/>
                <a:sym typeface="Calibri"/>
              </a:rPr>
              <a:t> and </a:t>
            </a:r>
            <a:r>
              <a:rPr b="1" i="1" lang="en-US" sz="1600">
                <a:solidFill>
                  <a:schemeClr val="dk1"/>
                </a:solidFill>
                <a:latin typeface="Calibri"/>
                <a:ea typeface="Calibri"/>
                <a:cs typeface="Calibri"/>
                <a:sym typeface="Calibri"/>
              </a:rPr>
              <a:t>n</a:t>
            </a:r>
            <a:r>
              <a:rPr lang="en-US" sz="1600">
                <a:solidFill>
                  <a:schemeClr val="dk1"/>
                </a:solidFill>
                <a:latin typeface="Calibri"/>
                <a:ea typeface="Calibri"/>
                <a:cs typeface="Calibri"/>
                <a:sym typeface="Calibri"/>
              </a:rPr>
              <a:t>, respectively Initialize:</a:t>
            </a:r>
            <a:endParaRPr/>
          </a:p>
          <a:p>
            <a:pPr indent="-393700" lvl="1" marL="850900" rtl="0" algn="l">
              <a:spcBef>
                <a:spcPts val="280"/>
              </a:spcBef>
              <a:spcAft>
                <a:spcPts val="0"/>
              </a:spcAft>
              <a:buClr>
                <a:schemeClr val="dk1"/>
              </a:buClr>
              <a:buSzPts val="1400"/>
              <a:buFont typeface="Arial"/>
              <a:buNone/>
            </a:pPr>
            <a:r>
              <a:rPr lang="en-US" sz="1400">
                <a:solidFill>
                  <a:schemeClr val="dk1"/>
                </a:solidFill>
                <a:latin typeface="Calibri"/>
                <a:ea typeface="Calibri"/>
                <a:cs typeface="Calibri"/>
                <a:sym typeface="Calibri"/>
              </a:rPr>
              <a:t>(a) </a:t>
            </a:r>
            <a:r>
              <a:rPr b="1" i="1" lang="en-US" sz="1400">
                <a:solidFill>
                  <a:schemeClr val="dk1"/>
                </a:solidFill>
                <a:latin typeface="Calibri"/>
                <a:ea typeface="Calibri"/>
                <a:cs typeface="Calibri"/>
                <a:sym typeface="Calibri"/>
              </a:rPr>
              <a:t>Work</a:t>
            </a:r>
            <a:r>
              <a:rPr b="1" lang="en-US" sz="1400">
                <a:solidFill>
                  <a:schemeClr val="dk1"/>
                </a:solidFill>
                <a:latin typeface="Calibri"/>
                <a:ea typeface="Calibri"/>
                <a:cs typeface="Calibri"/>
                <a:sym typeface="Calibri"/>
              </a:rPr>
              <a:t> = </a:t>
            </a:r>
            <a:r>
              <a:rPr b="1" i="1" lang="en-US" sz="1400">
                <a:solidFill>
                  <a:schemeClr val="dk1"/>
                </a:solidFill>
                <a:latin typeface="Calibri"/>
                <a:ea typeface="Calibri"/>
                <a:cs typeface="Calibri"/>
                <a:sym typeface="Calibri"/>
              </a:rPr>
              <a:t>Available</a:t>
            </a:r>
            <a:endParaRPr b="1" sz="1400"/>
          </a:p>
          <a:p>
            <a:pPr indent="-393700" lvl="1" marL="850900" rtl="0" algn="l">
              <a:spcBef>
                <a:spcPts val="280"/>
              </a:spcBef>
              <a:spcAft>
                <a:spcPts val="0"/>
              </a:spcAft>
              <a:buClr>
                <a:schemeClr val="dk1"/>
              </a:buClr>
              <a:buSzPts val="1400"/>
              <a:buFont typeface="Arial"/>
              <a:buNone/>
            </a:pPr>
            <a:r>
              <a:rPr lang="en-US" sz="1400">
                <a:solidFill>
                  <a:schemeClr val="dk1"/>
                </a:solidFill>
                <a:latin typeface="Calibri"/>
                <a:ea typeface="Calibri"/>
                <a:cs typeface="Calibri"/>
                <a:sym typeface="Calibri"/>
              </a:rPr>
              <a:t>(b)	For </a:t>
            </a:r>
            <a:r>
              <a:rPr b="1" i="1" lang="en-US" sz="1400">
                <a:solidFill>
                  <a:schemeClr val="dk1"/>
                </a:solidFill>
                <a:latin typeface="Calibri"/>
                <a:ea typeface="Calibri"/>
                <a:cs typeface="Calibri"/>
                <a:sym typeface="Calibri"/>
              </a:rPr>
              <a:t>i</a:t>
            </a:r>
            <a:r>
              <a:rPr b="1" lang="en-US" sz="1400">
                <a:solidFill>
                  <a:schemeClr val="dk1"/>
                </a:solidFill>
                <a:latin typeface="Calibri"/>
                <a:ea typeface="Calibri"/>
                <a:cs typeface="Calibri"/>
                <a:sym typeface="Calibri"/>
              </a:rPr>
              <a:t> = 0,1,2, …,</a:t>
            </a:r>
            <a:r>
              <a:rPr b="1" i="1" lang="en-US" sz="1400">
                <a:solidFill>
                  <a:schemeClr val="dk1"/>
                </a:solidFill>
                <a:latin typeface="Calibri"/>
                <a:ea typeface="Calibri"/>
                <a:cs typeface="Calibri"/>
                <a:sym typeface="Calibri"/>
              </a:rPr>
              <a:t> n-1</a:t>
            </a:r>
            <a:r>
              <a:rPr lang="en-US" sz="1400">
                <a:solidFill>
                  <a:schemeClr val="dk1"/>
                </a:solidFill>
                <a:latin typeface="Calibri"/>
                <a:ea typeface="Calibri"/>
                <a:cs typeface="Calibri"/>
                <a:sym typeface="Calibri"/>
              </a:rPr>
              <a:t>, if </a:t>
            </a:r>
            <a:r>
              <a:rPr b="1" i="1" lang="en-US" sz="1400">
                <a:solidFill>
                  <a:schemeClr val="dk1"/>
                </a:solidFill>
                <a:latin typeface="Calibri"/>
                <a:ea typeface="Calibri"/>
                <a:cs typeface="Calibri"/>
                <a:sym typeface="Calibri"/>
              </a:rPr>
              <a:t>Allocation</a:t>
            </a:r>
            <a:r>
              <a:rPr b="1" baseline="-25000" i="1" lang="en-US" sz="1400">
                <a:solidFill>
                  <a:schemeClr val="dk1"/>
                </a:solidFill>
                <a:latin typeface="Calibri"/>
                <a:ea typeface="Calibri"/>
                <a:cs typeface="Calibri"/>
                <a:sym typeface="Calibri"/>
              </a:rPr>
              <a:t>i</a:t>
            </a:r>
            <a:r>
              <a:rPr b="1" lang="en-US" sz="1400">
                <a:solidFill>
                  <a:schemeClr val="dk1"/>
                </a:solidFill>
                <a:latin typeface="Calibri"/>
                <a:ea typeface="Calibri"/>
                <a:cs typeface="Calibri"/>
                <a:sym typeface="Calibri"/>
              </a:rPr>
              <a:t> ≠ 0</a:t>
            </a:r>
            <a:r>
              <a:rPr lang="en-US" sz="1400">
                <a:solidFill>
                  <a:schemeClr val="dk1"/>
                </a:solidFill>
                <a:latin typeface="Calibri"/>
                <a:ea typeface="Calibri"/>
                <a:cs typeface="Calibri"/>
                <a:sym typeface="Calibri"/>
              </a:rPr>
              <a:t>, then </a:t>
            </a:r>
            <a:br>
              <a:rPr lang="en-US" sz="1400">
                <a:solidFill>
                  <a:schemeClr val="dk1"/>
                </a:solidFill>
                <a:latin typeface="Calibri"/>
                <a:ea typeface="Calibri"/>
                <a:cs typeface="Calibri"/>
                <a:sym typeface="Calibri"/>
              </a:rPr>
            </a:br>
            <a:r>
              <a:rPr b="1" i="1" lang="en-US" sz="1400">
                <a:solidFill>
                  <a:schemeClr val="dk1"/>
                </a:solidFill>
                <a:latin typeface="Calibri"/>
                <a:ea typeface="Calibri"/>
                <a:cs typeface="Calibri"/>
                <a:sym typeface="Calibri"/>
              </a:rPr>
              <a:t>Finish</a:t>
            </a:r>
            <a:r>
              <a:rPr b="1" lang="en-US" sz="1400">
                <a:solidFill>
                  <a:schemeClr val="dk1"/>
                </a:solidFill>
                <a:latin typeface="Calibri"/>
                <a:ea typeface="Calibri"/>
                <a:cs typeface="Calibri"/>
                <a:sym typeface="Calibri"/>
              </a:rPr>
              <a:t>[i] </a:t>
            </a:r>
            <a:r>
              <a:rPr b="1" i="1" lang="en-US" sz="1400">
                <a:solidFill>
                  <a:schemeClr val="dk1"/>
                </a:solidFill>
                <a:latin typeface="Calibri"/>
                <a:ea typeface="Calibri"/>
                <a:cs typeface="Calibri"/>
                <a:sym typeface="Calibri"/>
              </a:rPr>
              <a:t>= false</a:t>
            </a:r>
            <a:r>
              <a:rPr lang="en-US" sz="1400">
                <a:solidFill>
                  <a:schemeClr val="dk1"/>
                </a:solidFill>
                <a:latin typeface="Calibri"/>
                <a:ea typeface="Calibri"/>
                <a:cs typeface="Calibri"/>
                <a:sym typeface="Calibri"/>
              </a:rPr>
              <a:t>; otherwise, </a:t>
            </a:r>
            <a:r>
              <a:rPr b="1" i="1" lang="en-US" sz="1400">
                <a:solidFill>
                  <a:schemeClr val="dk1"/>
                </a:solidFill>
                <a:latin typeface="Calibri"/>
                <a:ea typeface="Calibri"/>
                <a:cs typeface="Calibri"/>
                <a:sym typeface="Calibri"/>
              </a:rPr>
              <a:t>Finish</a:t>
            </a:r>
            <a:r>
              <a:rPr b="1" lang="en-US" sz="1400">
                <a:solidFill>
                  <a:schemeClr val="dk1"/>
                </a:solidFill>
                <a:latin typeface="Calibri"/>
                <a:ea typeface="Calibri"/>
                <a:cs typeface="Calibri"/>
                <a:sym typeface="Calibri"/>
              </a:rPr>
              <a:t>[i] = </a:t>
            </a:r>
            <a:r>
              <a:rPr b="1" i="1" lang="en-US" sz="1400">
                <a:solidFill>
                  <a:schemeClr val="dk1"/>
                </a:solidFill>
                <a:latin typeface="Calibri"/>
                <a:ea typeface="Calibri"/>
                <a:cs typeface="Calibri"/>
                <a:sym typeface="Calibri"/>
              </a:rPr>
              <a:t>true</a:t>
            </a:r>
            <a:endParaRPr/>
          </a:p>
          <a:p>
            <a:pPr indent="-393700" lvl="1" marL="850900" rtl="0" algn="l">
              <a:spcBef>
                <a:spcPts val="280"/>
              </a:spcBef>
              <a:spcAft>
                <a:spcPts val="0"/>
              </a:spcAft>
              <a:buClr>
                <a:srgbClr val="00B0F0"/>
              </a:buClr>
              <a:buSzPts val="1400"/>
              <a:buFont typeface="Arial"/>
              <a:buNone/>
            </a:pPr>
            <a:r>
              <a:rPr b="1" lang="en-US" sz="1400">
                <a:solidFill>
                  <a:srgbClr val="00B0F0"/>
                </a:solidFill>
                <a:latin typeface="Calibri"/>
                <a:ea typeface="Calibri"/>
                <a:cs typeface="Calibri"/>
                <a:sym typeface="Calibri"/>
              </a:rPr>
              <a:t>Initialize Work to Available and Finish to False</a:t>
            </a:r>
            <a:endParaRPr/>
          </a:p>
          <a:p>
            <a:pPr indent="-342900" lvl="0" marL="342900" rtl="0" algn="l">
              <a:spcBef>
                <a:spcPts val="320"/>
              </a:spcBef>
              <a:spcAft>
                <a:spcPts val="0"/>
              </a:spcAft>
              <a:buClr>
                <a:schemeClr val="dk1"/>
              </a:buClr>
              <a:buSzPts val="1600"/>
              <a:buFont typeface="Arial"/>
              <a:buNone/>
            </a:pPr>
            <a:r>
              <a:rPr lang="en-US" sz="1600">
                <a:solidFill>
                  <a:schemeClr val="dk1"/>
                </a:solidFill>
                <a:latin typeface="Calibri"/>
                <a:ea typeface="Calibri"/>
                <a:cs typeface="Calibri"/>
                <a:sym typeface="Calibri"/>
              </a:rPr>
              <a:t>2.	Find an index </a:t>
            </a:r>
            <a:r>
              <a:rPr b="1" i="1" lang="en-US" sz="1600">
                <a:solidFill>
                  <a:schemeClr val="dk1"/>
                </a:solidFill>
                <a:latin typeface="Calibri"/>
                <a:ea typeface="Calibri"/>
                <a:cs typeface="Calibri"/>
                <a:sym typeface="Calibri"/>
              </a:rPr>
              <a:t>i</a:t>
            </a:r>
            <a:r>
              <a:rPr i="1" lang="en-US" sz="1600">
                <a:solidFill>
                  <a:schemeClr val="dk1"/>
                </a:solidFill>
                <a:latin typeface="Calibri"/>
                <a:ea typeface="Calibri"/>
                <a:cs typeface="Calibri"/>
                <a:sym typeface="Calibri"/>
              </a:rPr>
              <a:t> </a:t>
            </a:r>
            <a:r>
              <a:rPr lang="en-US" sz="1600">
                <a:solidFill>
                  <a:schemeClr val="dk1"/>
                </a:solidFill>
                <a:latin typeface="Calibri"/>
                <a:ea typeface="Calibri"/>
                <a:cs typeface="Calibri"/>
                <a:sym typeface="Calibri"/>
              </a:rPr>
              <a:t>such that both:</a:t>
            </a:r>
            <a:endParaRPr/>
          </a:p>
          <a:p>
            <a:pPr indent="-393700" lvl="1" marL="850900" rtl="0" algn="l">
              <a:spcBef>
                <a:spcPts val="280"/>
              </a:spcBef>
              <a:spcAft>
                <a:spcPts val="0"/>
              </a:spcAft>
              <a:buClr>
                <a:schemeClr val="dk1"/>
              </a:buClr>
              <a:buSzPts val="1400"/>
              <a:buFont typeface="Arial"/>
              <a:buNone/>
            </a:pPr>
            <a:r>
              <a:rPr lang="en-US" sz="1400">
                <a:solidFill>
                  <a:schemeClr val="dk1"/>
                </a:solidFill>
                <a:latin typeface="Calibri"/>
                <a:ea typeface="Calibri"/>
                <a:cs typeface="Calibri"/>
                <a:sym typeface="Calibri"/>
              </a:rPr>
              <a:t>(a)	</a:t>
            </a:r>
            <a:r>
              <a:rPr b="1" i="1" lang="en-US" sz="1400">
                <a:solidFill>
                  <a:schemeClr val="dk1"/>
                </a:solidFill>
                <a:latin typeface="Calibri"/>
                <a:ea typeface="Calibri"/>
                <a:cs typeface="Calibri"/>
                <a:sym typeface="Calibri"/>
              </a:rPr>
              <a:t>Finish</a:t>
            </a:r>
            <a:r>
              <a:rPr b="1" lang="en-US" sz="1400">
                <a:solidFill>
                  <a:schemeClr val="dk1"/>
                </a:solidFill>
                <a:latin typeface="Calibri"/>
                <a:ea typeface="Calibri"/>
                <a:cs typeface="Calibri"/>
                <a:sym typeface="Calibri"/>
              </a:rPr>
              <a:t>[</a:t>
            </a:r>
            <a:r>
              <a:rPr b="1" i="1" lang="en-US" sz="1400">
                <a:solidFill>
                  <a:schemeClr val="dk1"/>
                </a:solidFill>
                <a:latin typeface="Calibri"/>
                <a:ea typeface="Calibri"/>
                <a:cs typeface="Calibri"/>
                <a:sym typeface="Calibri"/>
              </a:rPr>
              <a:t>i</a:t>
            </a:r>
            <a:r>
              <a:rPr b="1" lang="en-US" sz="1400">
                <a:solidFill>
                  <a:schemeClr val="dk1"/>
                </a:solidFill>
                <a:latin typeface="Calibri"/>
                <a:ea typeface="Calibri"/>
                <a:cs typeface="Calibri"/>
                <a:sym typeface="Calibri"/>
              </a:rPr>
              <a:t>] == </a:t>
            </a:r>
            <a:r>
              <a:rPr b="1" i="1" lang="en-US" sz="1400">
                <a:solidFill>
                  <a:schemeClr val="dk1"/>
                </a:solidFill>
                <a:latin typeface="Calibri"/>
                <a:ea typeface="Calibri"/>
                <a:cs typeface="Calibri"/>
                <a:sym typeface="Calibri"/>
              </a:rPr>
              <a:t>false</a:t>
            </a:r>
            <a:endParaRPr b="1" sz="1400"/>
          </a:p>
          <a:p>
            <a:pPr indent="-393700" lvl="1" marL="850900" rtl="0" algn="l">
              <a:spcBef>
                <a:spcPts val="280"/>
              </a:spcBef>
              <a:spcAft>
                <a:spcPts val="0"/>
              </a:spcAft>
              <a:buClr>
                <a:schemeClr val="dk1"/>
              </a:buClr>
              <a:buSzPts val="1400"/>
              <a:buFont typeface="Arial"/>
              <a:buNone/>
            </a:pPr>
            <a:r>
              <a:rPr lang="en-US" sz="1400">
                <a:solidFill>
                  <a:schemeClr val="dk1"/>
                </a:solidFill>
                <a:latin typeface="Calibri"/>
                <a:ea typeface="Calibri"/>
                <a:cs typeface="Calibri"/>
                <a:sym typeface="Calibri"/>
              </a:rPr>
              <a:t>(b)	</a:t>
            </a:r>
            <a:r>
              <a:rPr b="1" i="1" lang="en-US" sz="1400">
                <a:solidFill>
                  <a:srgbClr val="0070C0"/>
                </a:solidFill>
                <a:latin typeface="Calibri"/>
                <a:ea typeface="Calibri"/>
                <a:cs typeface="Calibri"/>
                <a:sym typeface="Calibri"/>
              </a:rPr>
              <a:t>Request</a:t>
            </a:r>
            <a:r>
              <a:rPr b="1" baseline="-25000" i="1" lang="en-US" sz="1400">
                <a:solidFill>
                  <a:srgbClr val="0070C0"/>
                </a:solidFill>
                <a:latin typeface="Calibri"/>
                <a:ea typeface="Calibri"/>
                <a:cs typeface="Calibri"/>
                <a:sym typeface="Calibri"/>
              </a:rPr>
              <a:t>i</a:t>
            </a:r>
            <a:r>
              <a:rPr b="1" lang="en-US" sz="1400">
                <a:solidFill>
                  <a:srgbClr val="0070C0"/>
                </a:solidFill>
                <a:latin typeface="Calibri"/>
                <a:ea typeface="Calibri"/>
                <a:cs typeface="Calibri"/>
                <a:sym typeface="Calibri"/>
              </a:rPr>
              <a:t> ≤ </a:t>
            </a:r>
            <a:r>
              <a:rPr b="1" i="1" lang="en-US" sz="1400">
                <a:solidFill>
                  <a:srgbClr val="0070C0"/>
                </a:solidFill>
                <a:latin typeface="Calibri"/>
                <a:ea typeface="Calibri"/>
                <a:cs typeface="Calibri"/>
                <a:sym typeface="Calibri"/>
              </a:rPr>
              <a:t>Work</a:t>
            </a:r>
            <a:br>
              <a:rPr b="1" i="1" lang="en-US" sz="1400">
                <a:solidFill>
                  <a:schemeClr val="dk1"/>
                </a:solidFill>
                <a:latin typeface="Calibri"/>
                <a:ea typeface="Calibri"/>
                <a:cs typeface="Calibri"/>
                <a:sym typeface="Calibri"/>
              </a:rPr>
            </a:br>
            <a:endParaRPr b="1" sz="1400"/>
          </a:p>
          <a:p>
            <a:pPr indent="-393700" lvl="1" marL="850900" rtl="0" algn="l">
              <a:spcBef>
                <a:spcPts val="280"/>
              </a:spcBef>
              <a:spcAft>
                <a:spcPts val="0"/>
              </a:spcAft>
              <a:buClr>
                <a:schemeClr val="dk1"/>
              </a:buClr>
              <a:buSzPts val="1400"/>
              <a:buFont typeface="Arial"/>
              <a:buNone/>
            </a:pPr>
            <a:r>
              <a:rPr lang="en-US" sz="1400">
                <a:solidFill>
                  <a:schemeClr val="dk1"/>
                </a:solidFill>
                <a:latin typeface="Calibri"/>
                <a:ea typeface="Calibri"/>
                <a:cs typeface="Calibri"/>
                <a:sym typeface="Calibri"/>
              </a:rPr>
              <a:t>If no such </a:t>
            </a:r>
            <a:r>
              <a:rPr b="1" i="1" lang="en-US" sz="1400">
                <a:solidFill>
                  <a:schemeClr val="dk1"/>
                </a:solidFill>
                <a:latin typeface="Calibri"/>
                <a:ea typeface="Calibri"/>
                <a:cs typeface="Calibri"/>
                <a:sym typeface="Calibri"/>
              </a:rPr>
              <a:t>i</a:t>
            </a:r>
            <a:r>
              <a:rPr b="1" lang="en-US" sz="1400">
                <a:solidFill>
                  <a:schemeClr val="dk1"/>
                </a:solidFill>
                <a:latin typeface="Calibri"/>
                <a:ea typeface="Calibri"/>
                <a:cs typeface="Calibri"/>
                <a:sym typeface="Calibri"/>
              </a:rPr>
              <a:t> </a:t>
            </a:r>
            <a:r>
              <a:rPr lang="en-US" sz="1400">
                <a:solidFill>
                  <a:schemeClr val="dk1"/>
                </a:solidFill>
                <a:latin typeface="Calibri"/>
                <a:ea typeface="Calibri"/>
                <a:cs typeface="Calibri"/>
                <a:sym typeface="Calibri"/>
              </a:rPr>
              <a:t>exists, go to step 4</a:t>
            </a:r>
            <a:endParaRPr/>
          </a:p>
          <a:p>
            <a:pPr indent="-342900" lvl="0" marL="342900" rtl="0" algn="l">
              <a:lnSpc>
                <a:spcPct val="90000"/>
              </a:lnSpc>
              <a:spcBef>
                <a:spcPts val="320"/>
              </a:spcBef>
              <a:spcAft>
                <a:spcPts val="0"/>
              </a:spcAft>
              <a:buClr>
                <a:schemeClr val="dk1"/>
              </a:buClr>
              <a:buSzPts val="1600"/>
              <a:buFont typeface="Arial"/>
              <a:buNone/>
            </a:pPr>
            <a:r>
              <a:rPr lang="en-US" sz="1600">
                <a:solidFill>
                  <a:schemeClr val="dk1"/>
                </a:solidFill>
                <a:latin typeface="Calibri"/>
                <a:ea typeface="Calibri"/>
                <a:cs typeface="Calibri"/>
                <a:sym typeface="Calibri"/>
              </a:rPr>
              <a:t>3.	</a:t>
            </a:r>
            <a:r>
              <a:rPr b="1" i="1" lang="en-US" sz="1600">
                <a:solidFill>
                  <a:schemeClr val="dk1"/>
                </a:solidFill>
                <a:latin typeface="Calibri"/>
                <a:ea typeface="Calibri"/>
                <a:cs typeface="Calibri"/>
                <a:sym typeface="Calibri"/>
              </a:rPr>
              <a:t>Work</a:t>
            </a:r>
            <a:r>
              <a:rPr b="1" lang="en-US" sz="1600">
                <a:solidFill>
                  <a:schemeClr val="dk1"/>
                </a:solidFill>
                <a:latin typeface="Calibri"/>
                <a:ea typeface="Calibri"/>
                <a:cs typeface="Calibri"/>
                <a:sym typeface="Calibri"/>
              </a:rPr>
              <a:t> = </a:t>
            </a:r>
            <a:r>
              <a:rPr b="1" i="1" lang="en-US" sz="1600">
                <a:solidFill>
                  <a:schemeClr val="dk1"/>
                </a:solidFill>
                <a:latin typeface="Calibri"/>
                <a:ea typeface="Calibri"/>
                <a:cs typeface="Calibri"/>
                <a:sym typeface="Calibri"/>
              </a:rPr>
              <a:t>Work</a:t>
            </a:r>
            <a:r>
              <a:rPr b="1" lang="en-US" sz="1600">
                <a:solidFill>
                  <a:schemeClr val="dk1"/>
                </a:solidFill>
                <a:latin typeface="Calibri"/>
                <a:ea typeface="Calibri"/>
                <a:cs typeface="Calibri"/>
                <a:sym typeface="Calibri"/>
              </a:rPr>
              <a:t> + </a:t>
            </a:r>
            <a:r>
              <a:rPr b="1" i="1" lang="en-US" sz="1600">
                <a:solidFill>
                  <a:schemeClr val="dk1"/>
                </a:solidFill>
                <a:latin typeface="Calibri"/>
                <a:ea typeface="Calibri"/>
                <a:cs typeface="Calibri"/>
                <a:sym typeface="Calibri"/>
              </a:rPr>
              <a:t>Allocation</a:t>
            </a:r>
            <a:r>
              <a:rPr b="1" baseline="-25000" i="1" lang="en-US" sz="1600">
                <a:solidFill>
                  <a:schemeClr val="dk1"/>
                </a:solidFill>
                <a:latin typeface="Calibri"/>
                <a:ea typeface="Calibri"/>
                <a:cs typeface="Calibri"/>
                <a:sym typeface="Calibri"/>
              </a:rPr>
              <a:t>i</a:t>
            </a:r>
            <a:br>
              <a:rPr b="1" lang="en-US" sz="1600">
                <a:solidFill>
                  <a:schemeClr val="dk1"/>
                </a:solidFill>
                <a:latin typeface="Calibri"/>
                <a:ea typeface="Calibri"/>
                <a:cs typeface="Calibri"/>
                <a:sym typeface="Calibri"/>
              </a:rPr>
            </a:br>
            <a:r>
              <a:rPr b="1" i="1" lang="en-US" sz="1600">
                <a:solidFill>
                  <a:schemeClr val="dk1"/>
                </a:solidFill>
                <a:latin typeface="Calibri"/>
                <a:ea typeface="Calibri"/>
                <a:cs typeface="Calibri"/>
                <a:sym typeface="Calibri"/>
              </a:rPr>
              <a:t>Finish</a:t>
            </a:r>
            <a:r>
              <a:rPr b="1" lang="en-US" sz="1600">
                <a:solidFill>
                  <a:schemeClr val="dk1"/>
                </a:solidFill>
                <a:latin typeface="Calibri"/>
                <a:ea typeface="Calibri"/>
                <a:cs typeface="Calibri"/>
                <a:sym typeface="Calibri"/>
              </a:rPr>
              <a:t>[</a:t>
            </a:r>
            <a:r>
              <a:rPr b="1" i="1" lang="en-US" sz="1600">
                <a:solidFill>
                  <a:schemeClr val="dk1"/>
                </a:solidFill>
                <a:latin typeface="Calibri"/>
                <a:ea typeface="Calibri"/>
                <a:cs typeface="Calibri"/>
                <a:sym typeface="Calibri"/>
              </a:rPr>
              <a:t>i</a:t>
            </a:r>
            <a:r>
              <a:rPr b="1" lang="en-US" sz="1600">
                <a:solidFill>
                  <a:schemeClr val="dk1"/>
                </a:solidFill>
                <a:latin typeface="Calibri"/>
                <a:ea typeface="Calibri"/>
                <a:cs typeface="Calibri"/>
                <a:sym typeface="Calibri"/>
              </a:rPr>
              <a:t>] = </a:t>
            </a:r>
            <a:r>
              <a:rPr b="1" i="1" lang="en-US" sz="1600">
                <a:solidFill>
                  <a:schemeClr val="dk1"/>
                </a:solidFill>
                <a:latin typeface="Calibri"/>
                <a:ea typeface="Calibri"/>
                <a:cs typeface="Calibri"/>
                <a:sym typeface="Calibri"/>
              </a:rPr>
              <a:t>true</a:t>
            </a:r>
            <a:br>
              <a:rPr b="1"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go to step 2</a:t>
            </a:r>
            <a:br>
              <a:rPr lang="en-US" sz="1600">
                <a:solidFill>
                  <a:schemeClr val="dk1"/>
                </a:solidFill>
                <a:latin typeface="Calibri"/>
                <a:ea typeface="Calibri"/>
                <a:cs typeface="Calibri"/>
                <a:sym typeface="Calibri"/>
              </a:rPr>
            </a:br>
            <a:endParaRPr sz="1600"/>
          </a:p>
          <a:p>
            <a:pPr indent="-342900" lvl="0" marL="342900" rtl="0" algn="l">
              <a:lnSpc>
                <a:spcPct val="90000"/>
              </a:lnSpc>
              <a:spcBef>
                <a:spcPts val="320"/>
              </a:spcBef>
              <a:spcAft>
                <a:spcPts val="0"/>
              </a:spcAft>
              <a:buClr>
                <a:schemeClr val="dk1"/>
              </a:buClr>
              <a:buSzPts val="1600"/>
              <a:buFont typeface="Arial"/>
              <a:buNone/>
            </a:pPr>
            <a:r>
              <a:rPr lang="en-US" sz="1600">
                <a:solidFill>
                  <a:schemeClr val="dk1"/>
                </a:solidFill>
                <a:latin typeface="Calibri"/>
                <a:ea typeface="Calibri"/>
                <a:cs typeface="Calibri"/>
                <a:sym typeface="Calibri"/>
              </a:rPr>
              <a:t>4.	If </a:t>
            </a:r>
            <a:r>
              <a:rPr b="1" i="1" lang="en-US" sz="1600">
                <a:solidFill>
                  <a:schemeClr val="dk1"/>
                </a:solidFill>
                <a:latin typeface="Calibri"/>
                <a:ea typeface="Calibri"/>
                <a:cs typeface="Calibri"/>
                <a:sym typeface="Calibri"/>
              </a:rPr>
              <a:t>Finish[i] == false</a:t>
            </a:r>
            <a:r>
              <a:rPr lang="en-US" sz="1600">
                <a:solidFill>
                  <a:schemeClr val="dk1"/>
                </a:solidFill>
                <a:latin typeface="Calibri"/>
                <a:ea typeface="Calibri"/>
                <a:cs typeface="Calibri"/>
                <a:sym typeface="Calibri"/>
              </a:rPr>
              <a:t>, for some </a:t>
            </a:r>
            <a:r>
              <a:rPr b="1" i="1" lang="en-US" sz="1600">
                <a:solidFill>
                  <a:schemeClr val="dk1"/>
                </a:solidFill>
                <a:latin typeface="Calibri"/>
                <a:ea typeface="Calibri"/>
                <a:cs typeface="Calibri"/>
                <a:sym typeface="Calibri"/>
              </a:rPr>
              <a:t>i</a:t>
            </a:r>
            <a:r>
              <a:rPr lang="en-US" sz="1600">
                <a:solidFill>
                  <a:schemeClr val="dk1"/>
                </a:solidFill>
                <a:latin typeface="Calibri"/>
                <a:ea typeface="Calibri"/>
                <a:cs typeface="Calibri"/>
                <a:sym typeface="Calibri"/>
              </a:rPr>
              <a:t>, 1 ≤ </a:t>
            </a:r>
            <a:r>
              <a:rPr b="1" i="1" lang="en-US" sz="1600">
                <a:solidFill>
                  <a:schemeClr val="dk1"/>
                </a:solidFill>
                <a:latin typeface="Calibri"/>
                <a:ea typeface="Calibri"/>
                <a:cs typeface="Calibri"/>
                <a:sym typeface="Calibri"/>
              </a:rPr>
              <a:t>i</a:t>
            </a:r>
            <a:r>
              <a:rPr lang="en-US" sz="1600">
                <a:solidFill>
                  <a:schemeClr val="dk1"/>
                </a:solidFill>
                <a:latin typeface="Calibri"/>
                <a:ea typeface="Calibri"/>
                <a:cs typeface="Calibri"/>
                <a:sym typeface="Calibri"/>
              </a:rPr>
              <a:t> ≤  </a:t>
            </a:r>
            <a:r>
              <a:rPr b="1" i="1" lang="en-US" sz="1600">
                <a:solidFill>
                  <a:schemeClr val="dk1"/>
                </a:solidFill>
                <a:latin typeface="Calibri"/>
                <a:ea typeface="Calibri"/>
                <a:cs typeface="Calibri"/>
                <a:sym typeface="Calibri"/>
              </a:rPr>
              <a:t>n</a:t>
            </a:r>
            <a:r>
              <a:rPr lang="en-US" sz="1600">
                <a:solidFill>
                  <a:schemeClr val="dk1"/>
                </a:solidFill>
                <a:latin typeface="Calibri"/>
                <a:ea typeface="Calibri"/>
                <a:cs typeface="Calibri"/>
                <a:sym typeface="Calibri"/>
              </a:rPr>
              <a:t>, then the system is in deadlock state. Moreover, if </a:t>
            </a:r>
            <a:r>
              <a:rPr b="1" i="1" lang="en-US" sz="1600">
                <a:solidFill>
                  <a:schemeClr val="dk1"/>
                </a:solidFill>
                <a:latin typeface="Calibri"/>
                <a:ea typeface="Calibri"/>
                <a:cs typeface="Calibri"/>
                <a:sym typeface="Calibri"/>
              </a:rPr>
              <a:t>Finish</a:t>
            </a:r>
            <a:r>
              <a:rPr b="1" lang="en-US" sz="1600">
                <a:solidFill>
                  <a:schemeClr val="dk1"/>
                </a:solidFill>
                <a:latin typeface="Calibri"/>
                <a:ea typeface="Calibri"/>
                <a:cs typeface="Calibri"/>
                <a:sym typeface="Calibri"/>
              </a:rPr>
              <a:t>[</a:t>
            </a:r>
            <a:r>
              <a:rPr b="1" i="1" lang="en-US" sz="1600">
                <a:solidFill>
                  <a:schemeClr val="dk1"/>
                </a:solidFill>
                <a:latin typeface="Calibri"/>
                <a:ea typeface="Calibri"/>
                <a:cs typeface="Calibri"/>
                <a:sym typeface="Calibri"/>
              </a:rPr>
              <a:t>i</a:t>
            </a:r>
            <a:r>
              <a:rPr b="1" lang="en-US" sz="1600">
                <a:solidFill>
                  <a:schemeClr val="dk1"/>
                </a:solidFill>
                <a:latin typeface="Calibri"/>
                <a:ea typeface="Calibri"/>
                <a:cs typeface="Calibri"/>
                <a:sym typeface="Calibri"/>
              </a:rPr>
              <a:t>] == </a:t>
            </a:r>
            <a:r>
              <a:rPr b="1" i="1" lang="en-US" sz="1600">
                <a:solidFill>
                  <a:schemeClr val="dk1"/>
                </a:solidFill>
                <a:latin typeface="Calibri"/>
                <a:ea typeface="Calibri"/>
                <a:cs typeface="Calibri"/>
                <a:sym typeface="Calibri"/>
              </a:rPr>
              <a:t>false</a:t>
            </a:r>
            <a:r>
              <a:rPr lang="en-US" sz="1600">
                <a:solidFill>
                  <a:schemeClr val="dk1"/>
                </a:solidFill>
                <a:latin typeface="Calibri"/>
                <a:ea typeface="Calibri"/>
                <a:cs typeface="Calibri"/>
                <a:sym typeface="Calibri"/>
              </a:rPr>
              <a:t>, then </a:t>
            </a:r>
            <a:r>
              <a:rPr b="1" i="1" lang="en-US" sz="1600">
                <a:solidFill>
                  <a:schemeClr val="dk1"/>
                </a:solidFill>
                <a:latin typeface="Calibri"/>
                <a:ea typeface="Calibri"/>
                <a:cs typeface="Calibri"/>
                <a:sym typeface="Calibri"/>
              </a:rPr>
              <a:t>P</a:t>
            </a:r>
            <a:r>
              <a:rPr b="1" baseline="-25000" i="1" lang="en-US" sz="1600">
                <a:solidFill>
                  <a:schemeClr val="dk1"/>
                </a:solidFill>
                <a:latin typeface="Calibri"/>
                <a:ea typeface="Calibri"/>
                <a:cs typeface="Calibri"/>
                <a:sym typeface="Calibri"/>
              </a:rPr>
              <a:t>i</a:t>
            </a:r>
            <a:r>
              <a:rPr lang="en-US" sz="1600">
                <a:solidFill>
                  <a:schemeClr val="dk1"/>
                </a:solidFill>
                <a:latin typeface="Calibri"/>
                <a:ea typeface="Calibri"/>
                <a:cs typeface="Calibri"/>
                <a:sym typeface="Calibri"/>
              </a:rPr>
              <a:t> is deadlocked</a:t>
            </a:r>
            <a:endParaRPr sz="1600"/>
          </a:p>
        </p:txBody>
      </p:sp>
      <p:sp>
        <p:nvSpPr>
          <p:cNvPr id="1202" name="Google Shape;1202;p10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203" name="Google Shape;1203;p10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204" name="Google Shape;1204;p10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05" name="Google Shape;1205;p102"/>
          <p:cNvSpPr txBox="1"/>
          <p:nvPr>
            <p:ph idx="2" type="body"/>
          </p:nvPr>
        </p:nvSpPr>
        <p:spPr>
          <a:xfrm>
            <a:off x="4648200" y="304800"/>
            <a:ext cx="4038600" cy="5821363"/>
          </a:xfrm>
          <a:prstGeom prst="rect">
            <a:avLst/>
          </a:prstGeom>
          <a:solidFill>
            <a:schemeClr val="lt1"/>
          </a:solidFill>
          <a:ln cap="flat" cmpd="sng" w="25400">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1600"/>
              <a:buFont typeface="Arial"/>
              <a:buNone/>
            </a:pPr>
            <a:r>
              <a:rPr b="1" i="0" lang="en-US" sz="1600" u="none" cap="none" strike="noStrike">
                <a:solidFill>
                  <a:schemeClr val="dk1"/>
                </a:solidFill>
                <a:latin typeface="Calibri"/>
                <a:ea typeface="Calibri"/>
                <a:cs typeface="Calibri"/>
                <a:sym typeface="Calibri"/>
              </a:rPr>
              <a:t>Safety Algorithm</a:t>
            </a:r>
            <a:endParaRPr/>
          </a:p>
          <a:p>
            <a:pPr indent="-342900" lvl="0" marL="342900" marR="0" rtl="0" algn="l">
              <a:lnSpc>
                <a:spcPct val="90000"/>
              </a:lnSpc>
              <a:spcBef>
                <a:spcPts val="320"/>
              </a:spcBef>
              <a:spcAft>
                <a:spcPts val="0"/>
              </a:spcAft>
              <a:buClr>
                <a:schemeClr val="dk1"/>
              </a:buClr>
              <a:buSzPts val="1600"/>
              <a:buFont typeface="Arial"/>
              <a:buNone/>
            </a:pPr>
            <a:r>
              <a:t/>
            </a:r>
            <a:endParaRPr b="0" i="0" sz="1600" u="none" cap="none" strike="noStrike">
              <a:solidFill>
                <a:schemeClr val="dk1"/>
              </a:solidFill>
              <a:latin typeface="Calibri"/>
              <a:ea typeface="Calibri"/>
              <a:cs typeface="Calibri"/>
              <a:sym typeface="Calibri"/>
            </a:endParaRPr>
          </a:p>
          <a:p>
            <a:pPr indent="-342900" lvl="0" marL="342900" marR="0" rtl="0" algn="l">
              <a:lnSpc>
                <a:spcPct val="90000"/>
              </a:lnSpc>
              <a:spcBef>
                <a:spcPts val="400"/>
              </a:spcBef>
              <a:spcAft>
                <a:spcPts val="0"/>
              </a:spcAft>
              <a:buClr>
                <a:schemeClr val="dk1"/>
              </a:buClr>
              <a:buSzPts val="1600"/>
              <a:buFont typeface="Arial"/>
              <a:buNone/>
            </a:pPr>
            <a:r>
              <a:rPr b="0" i="0" lang="en-US" sz="1600" u="none" cap="none" strike="noStrike">
                <a:solidFill>
                  <a:schemeClr val="dk1"/>
                </a:solidFill>
                <a:latin typeface="Calibri"/>
                <a:ea typeface="Calibri"/>
                <a:cs typeface="Calibri"/>
                <a:sym typeface="Calibri"/>
              </a:rPr>
              <a:t>1.	</a:t>
            </a:r>
            <a:r>
              <a:rPr b="0" i="0" lang="en-US" sz="2000" u="none" cap="none" strike="noStrike">
                <a:solidFill>
                  <a:schemeClr val="dk1"/>
                </a:solidFill>
                <a:latin typeface="Calibri"/>
                <a:ea typeface="Calibri"/>
                <a:cs typeface="Calibri"/>
                <a:sym typeface="Calibri"/>
              </a:rPr>
              <a:t>Let </a:t>
            </a:r>
            <a:r>
              <a:rPr b="1" i="1" lang="en-US" sz="2000" u="none" cap="none" strike="noStrike">
                <a:solidFill>
                  <a:srgbClr val="000000"/>
                </a:solidFill>
                <a:latin typeface="Calibri"/>
                <a:ea typeface="Calibri"/>
                <a:cs typeface="Calibri"/>
                <a:sym typeface="Calibri"/>
              </a:rPr>
              <a:t>Work</a:t>
            </a:r>
            <a:r>
              <a:rPr b="0" i="1" lang="en-US" sz="2000" u="none" cap="none" strike="noStrike">
                <a:solidFill>
                  <a:srgbClr val="000000"/>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and </a:t>
            </a:r>
            <a:r>
              <a:rPr b="1" i="1" lang="en-US" sz="2000" u="none" cap="none" strike="noStrike">
                <a:solidFill>
                  <a:srgbClr val="000000"/>
                </a:solidFill>
                <a:latin typeface="Calibri"/>
                <a:ea typeface="Calibri"/>
                <a:cs typeface="Calibri"/>
                <a:sym typeface="Calibri"/>
              </a:rPr>
              <a:t>Finish</a:t>
            </a:r>
            <a:r>
              <a:rPr b="0" i="0" lang="en-US" sz="2000" u="none" cap="none" strike="noStrike">
                <a:solidFill>
                  <a:srgbClr val="000000"/>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be vectors of length</a:t>
            </a:r>
            <a:r>
              <a:rPr b="0" i="1" lang="en-US" sz="2000" u="none" cap="none" strike="noStrike">
                <a:solidFill>
                  <a:schemeClr val="dk1"/>
                </a:solidFill>
                <a:latin typeface="Calibri"/>
                <a:ea typeface="Calibri"/>
                <a:cs typeface="Calibri"/>
                <a:sym typeface="Calibri"/>
              </a:rPr>
              <a:t> m</a:t>
            </a:r>
            <a:r>
              <a:rPr b="0" i="0" lang="en-US" sz="2000" u="none" cap="none" strike="noStrike">
                <a:solidFill>
                  <a:schemeClr val="dk1"/>
                </a:solidFill>
                <a:latin typeface="Calibri"/>
                <a:ea typeface="Calibri"/>
                <a:cs typeface="Calibri"/>
                <a:sym typeface="Calibri"/>
              </a:rPr>
              <a:t> and</a:t>
            </a:r>
            <a:r>
              <a:rPr b="0" i="1" lang="en-US" sz="2000" u="none" cap="none" strike="noStrike">
                <a:solidFill>
                  <a:schemeClr val="dk1"/>
                </a:solidFill>
                <a:latin typeface="Calibri"/>
                <a:ea typeface="Calibri"/>
                <a:cs typeface="Calibri"/>
                <a:sym typeface="Calibri"/>
              </a:rPr>
              <a:t> n</a:t>
            </a:r>
            <a:r>
              <a:rPr b="0" i="0" lang="en-US" sz="2000" u="none" cap="none" strike="noStrike">
                <a:solidFill>
                  <a:schemeClr val="dk1"/>
                </a:solidFill>
                <a:latin typeface="Calibri"/>
                <a:ea typeface="Calibri"/>
                <a:cs typeface="Calibri"/>
                <a:sym typeface="Calibri"/>
              </a:rPr>
              <a:t>, respectively.  Initialize:</a:t>
            </a:r>
            <a:endParaRPr/>
          </a:p>
          <a:p>
            <a:pPr indent="-342900" lvl="3" marL="1543050" marR="0" rtl="0" algn="l">
              <a:lnSpc>
                <a:spcPct val="90000"/>
              </a:lnSpc>
              <a:spcBef>
                <a:spcPts val="220"/>
              </a:spcBef>
              <a:spcAft>
                <a:spcPts val="0"/>
              </a:spcAft>
              <a:buClr>
                <a:schemeClr val="dk1"/>
              </a:buClr>
              <a:buSzPts val="1100"/>
              <a:buFont typeface="Arial"/>
              <a:buNone/>
            </a:pPr>
            <a:r>
              <a:rPr b="1" i="1" lang="en-US" sz="1100" u="none" cap="none" strike="noStrike">
                <a:solidFill>
                  <a:schemeClr val="dk1"/>
                </a:solidFill>
                <a:latin typeface="Calibri"/>
                <a:ea typeface="Calibri"/>
                <a:cs typeface="Calibri"/>
                <a:sym typeface="Calibri"/>
              </a:rPr>
              <a:t>Work </a:t>
            </a:r>
            <a:r>
              <a:rPr b="1" i="0" lang="en-US" sz="1100" u="none" cap="none" strike="noStrike">
                <a:solidFill>
                  <a:schemeClr val="dk1"/>
                </a:solidFill>
                <a:latin typeface="Calibri"/>
                <a:ea typeface="Calibri"/>
                <a:cs typeface="Calibri"/>
                <a:sym typeface="Calibri"/>
              </a:rPr>
              <a:t>= </a:t>
            </a:r>
            <a:r>
              <a:rPr b="1" i="1" lang="en-US" sz="1100" u="none" cap="none" strike="noStrike">
                <a:solidFill>
                  <a:schemeClr val="dk1"/>
                </a:solidFill>
                <a:latin typeface="Calibri"/>
                <a:ea typeface="Calibri"/>
                <a:cs typeface="Calibri"/>
                <a:sym typeface="Calibri"/>
              </a:rPr>
              <a:t>Available</a:t>
            </a:r>
            <a:endParaRPr/>
          </a:p>
          <a:p>
            <a:pPr indent="-342900" lvl="3" marL="1543050" marR="0" rtl="0" algn="l">
              <a:lnSpc>
                <a:spcPct val="90000"/>
              </a:lnSpc>
              <a:spcBef>
                <a:spcPts val="220"/>
              </a:spcBef>
              <a:spcAft>
                <a:spcPts val="0"/>
              </a:spcAft>
              <a:buClr>
                <a:schemeClr val="dk1"/>
              </a:buClr>
              <a:buSzPts val="1100"/>
              <a:buFont typeface="Arial"/>
              <a:buNone/>
            </a:pPr>
            <a:r>
              <a:rPr b="1" i="1" lang="en-US" sz="1100" u="none" cap="none" strike="noStrike">
                <a:solidFill>
                  <a:schemeClr val="dk1"/>
                </a:solidFill>
                <a:latin typeface="Calibri"/>
                <a:ea typeface="Calibri"/>
                <a:cs typeface="Calibri"/>
                <a:sym typeface="Calibri"/>
              </a:rPr>
              <a:t>Finish </a:t>
            </a:r>
            <a:r>
              <a:rPr b="1" i="0" lang="en-US" sz="1100" u="none" cap="none" strike="noStrike">
                <a:solidFill>
                  <a:schemeClr val="dk1"/>
                </a:solidFill>
                <a:latin typeface="Calibri"/>
                <a:ea typeface="Calibri"/>
                <a:cs typeface="Calibri"/>
                <a:sym typeface="Calibri"/>
              </a:rPr>
              <a:t>[</a:t>
            </a:r>
            <a:r>
              <a:rPr b="1" i="1" lang="en-US" sz="1100" u="none" cap="none" strike="noStrike">
                <a:solidFill>
                  <a:schemeClr val="dk1"/>
                </a:solidFill>
                <a:latin typeface="Calibri"/>
                <a:ea typeface="Calibri"/>
                <a:cs typeface="Calibri"/>
                <a:sym typeface="Calibri"/>
              </a:rPr>
              <a:t>i</a:t>
            </a:r>
            <a:r>
              <a:rPr b="1" i="0" lang="en-US" sz="1100" u="none" cap="none" strike="noStrike">
                <a:solidFill>
                  <a:schemeClr val="dk1"/>
                </a:solidFill>
                <a:latin typeface="Calibri"/>
                <a:ea typeface="Calibri"/>
                <a:cs typeface="Calibri"/>
                <a:sym typeface="Calibri"/>
              </a:rPr>
              <a:t>] =</a:t>
            </a:r>
            <a:r>
              <a:rPr b="1" i="1" lang="en-US" sz="1100" u="none" cap="none" strike="noStrike">
                <a:solidFill>
                  <a:schemeClr val="dk1"/>
                </a:solidFill>
                <a:latin typeface="Calibri"/>
                <a:ea typeface="Calibri"/>
                <a:cs typeface="Calibri"/>
                <a:sym typeface="Calibri"/>
              </a:rPr>
              <a:t> false </a:t>
            </a:r>
            <a:r>
              <a:rPr b="1" i="0" lang="en-US" sz="1100" u="none" cap="none" strike="noStrike">
                <a:solidFill>
                  <a:schemeClr val="dk1"/>
                </a:solidFill>
                <a:latin typeface="Calibri"/>
                <a:ea typeface="Calibri"/>
                <a:cs typeface="Calibri"/>
                <a:sym typeface="Calibri"/>
              </a:rPr>
              <a:t>for</a:t>
            </a:r>
            <a:r>
              <a:rPr b="1" i="1" lang="en-US" sz="1100" u="none" cap="none" strike="noStrike">
                <a:solidFill>
                  <a:schemeClr val="dk1"/>
                </a:solidFill>
                <a:latin typeface="Calibri"/>
                <a:ea typeface="Calibri"/>
                <a:cs typeface="Calibri"/>
                <a:sym typeface="Calibri"/>
              </a:rPr>
              <a:t> i</a:t>
            </a:r>
            <a:r>
              <a:rPr b="1" i="0" lang="en-US" sz="1100" u="none" cap="none" strike="noStrike">
                <a:solidFill>
                  <a:schemeClr val="dk1"/>
                </a:solidFill>
                <a:latin typeface="Calibri"/>
                <a:ea typeface="Calibri"/>
                <a:cs typeface="Calibri"/>
                <a:sym typeface="Calibri"/>
              </a:rPr>
              <a:t> = 0, 1, …, </a:t>
            </a:r>
            <a:r>
              <a:rPr b="1" i="1" lang="en-US" sz="1100" u="none" cap="none" strike="noStrike">
                <a:solidFill>
                  <a:schemeClr val="dk1"/>
                </a:solidFill>
                <a:latin typeface="Calibri"/>
                <a:ea typeface="Calibri"/>
                <a:cs typeface="Calibri"/>
                <a:sym typeface="Calibri"/>
              </a:rPr>
              <a:t>n- </a:t>
            </a:r>
            <a:r>
              <a:rPr b="1" i="0" lang="en-US" sz="1100" u="none" cap="none" strike="noStrike">
                <a:solidFill>
                  <a:schemeClr val="dk1"/>
                </a:solidFill>
                <a:latin typeface="Calibri"/>
                <a:ea typeface="Calibri"/>
                <a:cs typeface="Calibri"/>
                <a:sym typeface="Calibri"/>
              </a:rPr>
              <a:t>1</a:t>
            </a:r>
            <a:endParaRPr/>
          </a:p>
          <a:p>
            <a:pPr indent="-342900" lvl="3" marL="1543050" marR="0" rtl="0" algn="l">
              <a:lnSpc>
                <a:spcPct val="90000"/>
              </a:lnSpc>
              <a:spcBef>
                <a:spcPts val="140"/>
              </a:spcBef>
              <a:spcAft>
                <a:spcPts val="0"/>
              </a:spcAft>
              <a:buClr>
                <a:schemeClr val="dk1"/>
              </a:buClr>
              <a:buSzPts val="700"/>
              <a:buFont typeface="Arial"/>
              <a:buNone/>
            </a:pPr>
            <a:r>
              <a:t/>
            </a:r>
            <a:endParaRPr b="0" i="0" sz="700" u="none" cap="none" strike="noStrike">
              <a:solidFill>
                <a:schemeClr val="dk1"/>
              </a:solidFill>
              <a:latin typeface="Calibri"/>
              <a:ea typeface="Calibri"/>
              <a:cs typeface="Calibri"/>
              <a:sym typeface="Calibri"/>
            </a:endParaRPr>
          </a:p>
          <a:p>
            <a:pPr indent="-342900" lvl="0" marL="342900" marR="0" rtl="0" algn="l">
              <a:lnSpc>
                <a:spcPct val="90000"/>
              </a:lnSpc>
              <a:spcBef>
                <a:spcPts val="400"/>
              </a:spcBef>
              <a:spcAft>
                <a:spcPts val="0"/>
              </a:spcAft>
              <a:buClr>
                <a:schemeClr val="dk1"/>
              </a:buClr>
              <a:buSzPts val="2000"/>
              <a:buFont typeface="Arial"/>
              <a:buNone/>
            </a:pPr>
            <a:r>
              <a:rPr b="0" i="0" lang="en-US" sz="2000" u="none" cap="none" strike="noStrike">
                <a:solidFill>
                  <a:schemeClr val="dk1"/>
                </a:solidFill>
                <a:latin typeface="Calibri"/>
                <a:ea typeface="Calibri"/>
                <a:cs typeface="Calibri"/>
                <a:sym typeface="Calibri"/>
              </a:rPr>
              <a:t>2.	Find an </a:t>
            </a:r>
            <a:r>
              <a:rPr b="1" i="1" lang="en-US" sz="2000" u="none" cap="none" strike="noStrike">
                <a:solidFill>
                  <a:schemeClr val="dk1"/>
                </a:solidFill>
                <a:latin typeface="Calibri"/>
                <a:ea typeface="Calibri"/>
                <a:cs typeface="Calibri"/>
                <a:sym typeface="Calibri"/>
              </a:rPr>
              <a:t>i</a:t>
            </a:r>
            <a:r>
              <a:rPr b="0" i="1" lang="en-US" sz="2000" u="none" cap="none" strike="noStrike">
                <a:solidFill>
                  <a:schemeClr val="dk1"/>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such that both: </a:t>
            </a:r>
            <a:endParaRPr/>
          </a:p>
          <a:p>
            <a:pPr indent="-342900" lvl="1" marL="80010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(a) </a:t>
            </a:r>
            <a:r>
              <a:rPr b="1" i="1" lang="en-US" sz="1800" u="none" cap="none" strike="noStrike">
                <a:solidFill>
                  <a:schemeClr val="dk1"/>
                </a:solidFill>
                <a:latin typeface="Calibri"/>
                <a:ea typeface="Calibri"/>
                <a:cs typeface="Calibri"/>
                <a:sym typeface="Calibri"/>
              </a:rPr>
              <a:t>Finish</a:t>
            </a:r>
            <a:r>
              <a:rPr b="1" i="0" lang="en-US" sz="1800" u="none" cap="none" strike="noStrike">
                <a:solidFill>
                  <a:schemeClr val="dk1"/>
                </a:solidFill>
                <a:latin typeface="Calibri"/>
                <a:ea typeface="Calibri"/>
                <a:cs typeface="Calibri"/>
                <a:sym typeface="Calibri"/>
              </a:rPr>
              <a:t> [</a:t>
            </a:r>
            <a:r>
              <a:rPr b="1" i="1" lang="en-US" sz="1800" u="none" cap="none" strike="noStrike">
                <a:solidFill>
                  <a:schemeClr val="dk1"/>
                </a:solidFill>
                <a:latin typeface="Calibri"/>
                <a:ea typeface="Calibri"/>
                <a:cs typeface="Calibri"/>
                <a:sym typeface="Calibri"/>
              </a:rPr>
              <a:t>i</a:t>
            </a:r>
            <a:r>
              <a:rPr b="1" i="0" lang="en-US" sz="1800" u="none" cap="none" strike="noStrike">
                <a:solidFill>
                  <a:schemeClr val="dk1"/>
                </a:solidFill>
                <a:latin typeface="Calibri"/>
                <a:ea typeface="Calibri"/>
                <a:cs typeface="Calibri"/>
                <a:sym typeface="Calibri"/>
              </a:rPr>
              <a:t>] = </a:t>
            </a:r>
            <a:r>
              <a:rPr b="1" i="1" lang="en-US" sz="1800" u="none" cap="none" strike="noStrike">
                <a:solidFill>
                  <a:schemeClr val="dk1"/>
                </a:solidFill>
                <a:latin typeface="Calibri"/>
                <a:ea typeface="Calibri"/>
                <a:cs typeface="Calibri"/>
                <a:sym typeface="Calibri"/>
              </a:rPr>
              <a:t>false</a:t>
            </a:r>
            <a:endParaRPr b="1" i="0" sz="1800" u="none" cap="none" strike="noStrike">
              <a:solidFill>
                <a:schemeClr val="dk1"/>
              </a:solidFill>
              <a:latin typeface="Calibri"/>
              <a:ea typeface="Calibri"/>
              <a:cs typeface="Calibri"/>
              <a:sym typeface="Calibri"/>
            </a:endParaRPr>
          </a:p>
          <a:p>
            <a:pPr indent="-342900" lvl="1" marL="80010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(b) </a:t>
            </a:r>
            <a:r>
              <a:rPr b="1" i="1" lang="en-US" sz="1800" u="none" cap="none" strike="noStrike">
                <a:solidFill>
                  <a:schemeClr val="dk1"/>
                </a:solidFill>
                <a:latin typeface="Calibri"/>
                <a:ea typeface="Calibri"/>
                <a:cs typeface="Calibri"/>
                <a:sym typeface="Calibri"/>
              </a:rPr>
              <a:t>Need</a:t>
            </a:r>
            <a:r>
              <a:rPr b="1" baseline="-25000" i="1" lang="en-US" sz="1800" u="none" cap="none" strike="noStrike">
                <a:solidFill>
                  <a:schemeClr val="dk1"/>
                </a:solidFill>
                <a:latin typeface="Calibri"/>
                <a:ea typeface="Calibri"/>
                <a:cs typeface="Calibri"/>
                <a:sym typeface="Calibri"/>
              </a:rPr>
              <a:t>i</a:t>
            </a:r>
            <a:r>
              <a:rPr b="1" i="0" lang="en-US" sz="1800" u="none" cap="none" strike="noStrike">
                <a:solidFill>
                  <a:schemeClr val="dk1"/>
                </a:solidFill>
                <a:latin typeface="Calibri"/>
                <a:ea typeface="Calibri"/>
                <a:cs typeface="Calibri"/>
                <a:sym typeface="Calibri"/>
              </a:rPr>
              <a:t> ≤ </a:t>
            </a:r>
            <a:r>
              <a:rPr b="1" i="1" lang="en-US" sz="1800" u="none" cap="none" strike="noStrike">
                <a:solidFill>
                  <a:schemeClr val="dk1"/>
                </a:solidFill>
                <a:latin typeface="Calibri"/>
                <a:ea typeface="Calibri"/>
                <a:cs typeface="Calibri"/>
                <a:sym typeface="Calibri"/>
              </a:rPr>
              <a:t>Work</a:t>
            </a:r>
            <a:endParaRPr/>
          </a:p>
          <a:p>
            <a:pPr indent="-342900" lvl="1" marL="80010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If no such</a:t>
            </a:r>
            <a:r>
              <a:rPr b="1" i="0" lang="en-US" sz="1800" u="none" cap="none" strike="noStrike">
                <a:solidFill>
                  <a:schemeClr val="dk1"/>
                </a:solidFill>
                <a:latin typeface="Calibri"/>
                <a:ea typeface="Calibri"/>
                <a:cs typeface="Calibri"/>
                <a:sym typeface="Calibri"/>
              </a:rPr>
              <a:t> </a:t>
            </a:r>
            <a:r>
              <a:rPr b="1" i="1" lang="en-US" sz="1800" u="none" cap="none" strike="noStrike">
                <a:solidFill>
                  <a:schemeClr val="dk1"/>
                </a:solidFill>
                <a:latin typeface="Calibri"/>
                <a:ea typeface="Calibri"/>
                <a:cs typeface="Calibri"/>
                <a:sym typeface="Calibri"/>
              </a:rPr>
              <a:t>i </a:t>
            </a:r>
            <a:r>
              <a:rPr b="0" i="0" lang="en-US" sz="1800" u="none" cap="none" strike="noStrike">
                <a:solidFill>
                  <a:schemeClr val="dk1"/>
                </a:solidFill>
                <a:latin typeface="Calibri"/>
                <a:ea typeface="Calibri"/>
                <a:cs typeface="Calibri"/>
                <a:sym typeface="Calibri"/>
              </a:rPr>
              <a:t>exists, go to step 4</a:t>
            </a:r>
            <a:endParaRPr/>
          </a:p>
          <a:p>
            <a:pPr indent="-342900" lvl="1" marL="800100" marR="0" rtl="0" algn="l">
              <a:lnSpc>
                <a:spcPct val="90000"/>
              </a:lnSpc>
              <a:spcBef>
                <a:spcPts val="140"/>
              </a:spcBef>
              <a:spcAft>
                <a:spcPts val="0"/>
              </a:spcAft>
              <a:buClr>
                <a:schemeClr val="dk1"/>
              </a:buClr>
              <a:buSzPts val="700"/>
              <a:buFont typeface="Arial"/>
              <a:buNone/>
            </a:pPr>
            <a:r>
              <a:t/>
            </a:r>
            <a:endParaRPr b="0" i="0" sz="700" u="none" cap="none" strike="noStrike">
              <a:solidFill>
                <a:schemeClr val="dk1"/>
              </a:solidFill>
              <a:latin typeface="Calibri"/>
              <a:ea typeface="Calibri"/>
              <a:cs typeface="Calibri"/>
              <a:sym typeface="Calibri"/>
            </a:endParaRPr>
          </a:p>
          <a:p>
            <a:pPr indent="-342900" lvl="0" marL="342900" marR="0" rtl="0" algn="l">
              <a:lnSpc>
                <a:spcPct val="90000"/>
              </a:lnSpc>
              <a:spcBef>
                <a:spcPts val="400"/>
              </a:spcBef>
              <a:spcAft>
                <a:spcPts val="0"/>
              </a:spcAft>
              <a:buClr>
                <a:schemeClr val="dk1"/>
              </a:buClr>
              <a:buSzPts val="2000"/>
              <a:buFont typeface="Arial"/>
              <a:buNone/>
            </a:pPr>
            <a:r>
              <a:rPr b="0" i="1" lang="en-US" sz="2000" u="none" cap="none" strike="noStrike">
                <a:solidFill>
                  <a:schemeClr val="dk1"/>
                </a:solidFill>
                <a:latin typeface="Calibri"/>
                <a:ea typeface="Calibri"/>
                <a:cs typeface="Calibri"/>
                <a:sym typeface="Calibri"/>
              </a:rPr>
              <a:t>3.  </a:t>
            </a:r>
            <a:r>
              <a:rPr b="1" i="1" lang="en-US" sz="2000" u="none" cap="none" strike="noStrike">
                <a:solidFill>
                  <a:schemeClr val="dk1"/>
                </a:solidFill>
                <a:latin typeface="Calibri"/>
                <a:ea typeface="Calibri"/>
                <a:cs typeface="Calibri"/>
                <a:sym typeface="Calibri"/>
              </a:rPr>
              <a:t>Work</a:t>
            </a:r>
            <a:r>
              <a:rPr b="1" i="0" lang="en-US" sz="2000" u="none" cap="none" strike="noStrike">
                <a:solidFill>
                  <a:schemeClr val="dk1"/>
                </a:solidFill>
                <a:latin typeface="Calibri"/>
                <a:ea typeface="Calibri"/>
                <a:cs typeface="Calibri"/>
                <a:sym typeface="Calibri"/>
              </a:rPr>
              <a:t> = </a:t>
            </a:r>
            <a:r>
              <a:rPr b="1" i="1" lang="en-US" sz="2000" u="none" cap="none" strike="noStrike">
                <a:solidFill>
                  <a:schemeClr val="dk1"/>
                </a:solidFill>
                <a:latin typeface="Calibri"/>
                <a:ea typeface="Calibri"/>
                <a:cs typeface="Calibri"/>
                <a:sym typeface="Calibri"/>
              </a:rPr>
              <a:t>Work </a:t>
            </a:r>
            <a:r>
              <a:rPr b="1" i="0" lang="en-US" sz="2000" u="none" cap="none" strike="noStrike">
                <a:solidFill>
                  <a:schemeClr val="dk1"/>
                </a:solidFill>
                <a:latin typeface="Calibri"/>
                <a:ea typeface="Calibri"/>
                <a:cs typeface="Calibri"/>
                <a:sym typeface="Calibri"/>
              </a:rPr>
              <a:t>+ </a:t>
            </a:r>
            <a:r>
              <a:rPr b="1" i="1" lang="en-US" sz="2000" u="none" cap="none" strike="noStrike">
                <a:solidFill>
                  <a:schemeClr val="dk1"/>
                </a:solidFill>
                <a:latin typeface="Calibri"/>
                <a:ea typeface="Calibri"/>
                <a:cs typeface="Calibri"/>
                <a:sym typeface="Calibri"/>
              </a:rPr>
              <a:t>Allocation</a:t>
            </a:r>
            <a:r>
              <a:rPr b="1" baseline="-25000" i="1" lang="en-US" sz="2000" u="none" cap="none" strike="noStrike">
                <a:solidFill>
                  <a:schemeClr val="dk1"/>
                </a:solidFill>
                <a:latin typeface="Calibri"/>
                <a:ea typeface="Calibri"/>
                <a:cs typeface="Calibri"/>
                <a:sym typeface="Calibri"/>
              </a:rPr>
              <a:t>i</a:t>
            </a:r>
            <a:br>
              <a:rPr b="1" i="0" lang="en-US" sz="2000" u="none" cap="none" strike="noStrike">
                <a:solidFill>
                  <a:schemeClr val="dk1"/>
                </a:solidFill>
                <a:latin typeface="Calibri"/>
                <a:ea typeface="Calibri"/>
                <a:cs typeface="Calibri"/>
                <a:sym typeface="Calibri"/>
              </a:rPr>
            </a:br>
            <a:r>
              <a:rPr b="1" i="1" lang="en-US" sz="2000" u="none" cap="none" strike="noStrike">
                <a:solidFill>
                  <a:schemeClr val="dk1"/>
                </a:solidFill>
                <a:latin typeface="Calibri"/>
                <a:ea typeface="Calibri"/>
                <a:cs typeface="Calibri"/>
                <a:sym typeface="Calibri"/>
              </a:rPr>
              <a:t>Finish</a:t>
            </a:r>
            <a:r>
              <a:rPr b="1" i="0" lang="en-US" sz="2000" u="none" cap="none" strike="noStrike">
                <a:solidFill>
                  <a:schemeClr val="dk1"/>
                </a:solidFill>
                <a:latin typeface="Calibri"/>
                <a:ea typeface="Calibri"/>
                <a:cs typeface="Calibri"/>
                <a:sym typeface="Calibri"/>
              </a:rPr>
              <a:t>[</a:t>
            </a:r>
            <a:r>
              <a:rPr b="1" i="1" lang="en-US" sz="2000" u="none" cap="none" strike="noStrike">
                <a:solidFill>
                  <a:schemeClr val="dk1"/>
                </a:solidFill>
                <a:latin typeface="Calibri"/>
                <a:ea typeface="Calibri"/>
                <a:cs typeface="Calibri"/>
                <a:sym typeface="Calibri"/>
              </a:rPr>
              <a:t>i</a:t>
            </a:r>
            <a:r>
              <a:rPr b="1" i="0" lang="en-US" sz="2000" u="none" cap="none" strike="noStrike">
                <a:solidFill>
                  <a:schemeClr val="dk1"/>
                </a:solidFill>
                <a:latin typeface="Calibri"/>
                <a:ea typeface="Calibri"/>
                <a:cs typeface="Calibri"/>
                <a:sym typeface="Calibri"/>
              </a:rPr>
              <a:t>] =</a:t>
            </a:r>
            <a:r>
              <a:rPr b="1" i="1" lang="en-US" sz="2000" u="none" cap="none" strike="noStrike">
                <a:solidFill>
                  <a:schemeClr val="dk1"/>
                </a:solidFill>
                <a:latin typeface="Calibri"/>
                <a:ea typeface="Calibri"/>
                <a:cs typeface="Calibri"/>
                <a:sym typeface="Calibri"/>
              </a:rPr>
              <a:t> true</a:t>
            </a:r>
            <a:br>
              <a:rPr b="1" i="0" lang="en-US" sz="2000" u="none" cap="none" strike="noStrike">
                <a:solidFill>
                  <a:schemeClr val="dk1"/>
                </a:solidFill>
                <a:latin typeface="Calibri"/>
                <a:ea typeface="Calibri"/>
                <a:cs typeface="Calibri"/>
                <a:sym typeface="Calibri"/>
              </a:rPr>
            </a:br>
            <a:r>
              <a:rPr b="0" i="0" lang="en-US" sz="2000" u="none" cap="none" strike="noStrike">
                <a:solidFill>
                  <a:schemeClr val="dk1"/>
                </a:solidFill>
                <a:latin typeface="Calibri"/>
                <a:ea typeface="Calibri"/>
                <a:cs typeface="Calibri"/>
                <a:sym typeface="Calibri"/>
              </a:rPr>
              <a:t>go to step 2</a:t>
            </a:r>
            <a:endParaRPr/>
          </a:p>
          <a:p>
            <a:pPr indent="-298450" lvl="0" marL="342900" marR="0" rtl="0" algn="l">
              <a:lnSpc>
                <a:spcPct val="90000"/>
              </a:lnSpc>
              <a:spcBef>
                <a:spcPts val="140"/>
              </a:spcBef>
              <a:spcAft>
                <a:spcPts val="0"/>
              </a:spcAft>
              <a:buClr>
                <a:schemeClr val="dk1"/>
              </a:buClr>
              <a:buSzPts val="700"/>
              <a:buFont typeface="Arial"/>
              <a:buNone/>
            </a:pPr>
            <a:r>
              <a:t/>
            </a:r>
            <a:endParaRPr b="0" i="0" sz="700" u="none" cap="none" strike="noStrike">
              <a:solidFill>
                <a:schemeClr val="dk1"/>
              </a:solidFill>
              <a:latin typeface="Calibri"/>
              <a:ea typeface="Calibri"/>
              <a:cs typeface="Calibri"/>
              <a:sym typeface="Calibri"/>
            </a:endParaRPr>
          </a:p>
          <a:p>
            <a:pPr indent="-342900" lvl="0" marL="342900" marR="0" rtl="0" algn="l">
              <a:lnSpc>
                <a:spcPct val="90000"/>
              </a:lnSpc>
              <a:spcBef>
                <a:spcPts val="400"/>
              </a:spcBef>
              <a:spcAft>
                <a:spcPts val="0"/>
              </a:spcAft>
              <a:buClr>
                <a:schemeClr val="dk1"/>
              </a:buClr>
              <a:buSzPts val="2000"/>
              <a:buFont typeface="Arial"/>
              <a:buNone/>
            </a:pPr>
            <a:r>
              <a:rPr b="0" i="0" lang="en-US" sz="2000" u="none" cap="none" strike="noStrike">
                <a:solidFill>
                  <a:schemeClr val="dk1"/>
                </a:solidFill>
                <a:latin typeface="Calibri"/>
                <a:ea typeface="Calibri"/>
                <a:cs typeface="Calibri"/>
                <a:sym typeface="Calibri"/>
              </a:rPr>
              <a:t>4.	If </a:t>
            </a:r>
            <a:r>
              <a:rPr b="1" i="1" lang="en-US" sz="2000" u="none" cap="none" strike="noStrike">
                <a:solidFill>
                  <a:schemeClr val="dk1"/>
                </a:solidFill>
                <a:latin typeface="Calibri"/>
                <a:ea typeface="Calibri"/>
                <a:cs typeface="Calibri"/>
                <a:sym typeface="Calibri"/>
              </a:rPr>
              <a:t>Finish</a:t>
            </a:r>
            <a:r>
              <a:rPr b="1" i="0" lang="en-US" sz="2000" u="none" cap="none" strike="noStrike">
                <a:solidFill>
                  <a:schemeClr val="dk1"/>
                </a:solidFill>
                <a:latin typeface="Calibri"/>
                <a:ea typeface="Calibri"/>
                <a:cs typeface="Calibri"/>
                <a:sym typeface="Calibri"/>
              </a:rPr>
              <a:t> [</a:t>
            </a:r>
            <a:r>
              <a:rPr b="1" i="1" lang="en-US" sz="2000" u="none" cap="none" strike="noStrike">
                <a:solidFill>
                  <a:schemeClr val="dk1"/>
                </a:solidFill>
                <a:latin typeface="Calibri"/>
                <a:ea typeface="Calibri"/>
                <a:cs typeface="Calibri"/>
                <a:sym typeface="Calibri"/>
              </a:rPr>
              <a:t>i</a:t>
            </a:r>
            <a:r>
              <a:rPr b="1" i="0" lang="en-US" sz="2000" u="none" cap="none" strike="noStrike">
                <a:solidFill>
                  <a:schemeClr val="dk1"/>
                </a:solidFill>
                <a:latin typeface="Calibri"/>
                <a:ea typeface="Calibri"/>
                <a:cs typeface="Calibri"/>
                <a:sym typeface="Calibri"/>
              </a:rPr>
              <a:t>] == </a:t>
            </a:r>
            <a:r>
              <a:rPr b="1" i="1" lang="en-US" sz="2000" u="none" cap="none" strike="noStrike">
                <a:solidFill>
                  <a:schemeClr val="dk1"/>
                </a:solidFill>
                <a:latin typeface="Calibri"/>
                <a:ea typeface="Calibri"/>
                <a:cs typeface="Calibri"/>
                <a:sym typeface="Calibri"/>
              </a:rPr>
              <a:t>true</a:t>
            </a:r>
            <a:r>
              <a:rPr b="1" i="0" lang="en-US" sz="2000" u="none" cap="none" strike="noStrike">
                <a:solidFill>
                  <a:schemeClr val="dk1"/>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for all </a:t>
            </a:r>
            <a:r>
              <a:rPr b="1" i="1" lang="en-US" sz="2000" u="none" cap="none" strike="noStrike">
                <a:solidFill>
                  <a:schemeClr val="dk1"/>
                </a:solidFill>
                <a:latin typeface="Calibri"/>
                <a:ea typeface="Calibri"/>
                <a:cs typeface="Calibri"/>
                <a:sym typeface="Calibri"/>
              </a:rPr>
              <a:t>i</a:t>
            </a:r>
            <a:r>
              <a:rPr b="0" i="0" lang="en-US" sz="2000" u="none" cap="none" strike="noStrike">
                <a:solidFill>
                  <a:schemeClr val="dk1"/>
                </a:solidFill>
                <a:latin typeface="Calibri"/>
                <a:ea typeface="Calibri"/>
                <a:cs typeface="Calibri"/>
                <a:sym typeface="Calibri"/>
              </a:rPr>
              <a:t>, then the </a:t>
            </a:r>
            <a:r>
              <a:rPr b="0" i="0" lang="en-US" sz="1800" u="none" cap="none" strike="noStrike">
                <a:solidFill>
                  <a:schemeClr val="dk1"/>
                </a:solidFill>
                <a:latin typeface="Calibri"/>
                <a:ea typeface="Calibri"/>
                <a:cs typeface="Calibri"/>
                <a:sym typeface="Calibri"/>
              </a:rPr>
              <a:t>system is in a safe state</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103"/>
          <p:cNvSpPr txBox="1"/>
          <p:nvPr>
            <p:ph type="title"/>
          </p:nvPr>
        </p:nvSpPr>
        <p:spPr>
          <a:xfrm>
            <a:off x="1022350" y="214313"/>
            <a:ext cx="766445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Example of Detection Algorithm</a:t>
            </a:r>
            <a:endParaRPr/>
          </a:p>
        </p:txBody>
      </p:sp>
      <p:sp>
        <p:nvSpPr>
          <p:cNvPr id="1212" name="Google Shape;1212;p103"/>
          <p:cNvSpPr txBox="1"/>
          <p:nvPr>
            <p:ph idx="1" type="body"/>
          </p:nvPr>
        </p:nvSpPr>
        <p:spPr>
          <a:xfrm>
            <a:off x="901700" y="1108075"/>
            <a:ext cx="8037513" cy="5121275"/>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Char char="•"/>
            </a:pPr>
            <a:r>
              <a:rPr lang="en-US"/>
              <a:t>Five processes </a:t>
            </a:r>
            <a:r>
              <a:rPr b="1" i="1" lang="en-US"/>
              <a:t>P</a:t>
            </a:r>
            <a:r>
              <a:rPr b="1" baseline="-25000" lang="en-US"/>
              <a:t>0</a:t>
            </a:r>
            <a:r>
              <a:rPr lang="en-US"/>
              <a:t> through </a:t>
            </a:r>
            <a:r>
              <a:rPr b="1" i="1" lang="en-US"/>
              <a:t>P</a:t>
            </a:r>
            <a:r>
              <a:rPr b="1" baseline="-25000" lang="en-US"/>
              <a:t>4</a:t>
            </a:r>
            <a:r>
              <a:rPr lang="en-US"/>
              <a:t>;</a:t>
            </a:r>
            <a:r>
              <a:rPr baseline="-25000" lang="en-US"/>
              <a:t> </a:t>
            </a:r>
            <a:r>
              <a:rPr lang="en-US"/>
              <a:t>three resource types </a:t>
            </a:r>
            <a:br>
              <a:rPr lang="en-US"/>
            </a:br>
            <a:r>
              <a:rPr lang="en-US"/>
              <a:t>A (7 instances), </a:t>
            </a:r>
            <a:r>
              <a:rPr i="1" lang="en-US"/>
              <a:t>B </a:t>
            </a:r>
            <a:r>
              <a:rPr lang="en-US"/>
              <a:t>(2 instances), and </a:t>
            </a:r>
            <a:r>
              <a:rPr i="1" lang="en-US"/>
              <a:t>C</a:t>
            </a:r>
            <a:r>
              <a:rPr lang="en-US"/>
              <a:t> (6 instances)</a:t>
            </a:r>
            <a:endParaRPr/>
          </a:p>
          <a:p>
            <a:pPr indent="-342900" lvl="0" marL="342900" rtl="0" algn="l">
              <a:spcBef>
                <a:spcPts val="448"/>
              </a:spcBef>
              <a:spcAft>
                <a:spcPts val="0"/>
              </a:spcAft>
              <a:buClr>
                <a:schemeClr val="dk1"/>
              </a:buClr>
              <a:buSzPct val="100000"/>
              <a:buFont typeface="Arial"/>
              <a:buNone/>
            </a:pPr>
            <a:r>
              <a:t/>
            </a:r>
            <a:endParaRPr/>
          </a:p>
          <a:p>
            <a:pPr indent="-342900" lvl="0" marL="342900" rtl="0" algn="l">
              <a:spcBef>
                <a:spcPts val="448"/>
              </a:spcBef>
              <a:spcAft>
                <a:spcPts val="0"/>
              </a:spcAft>
              <a:buClr>
                <a:schemeClr val="dk1"/>
              </a:buClr>
              <a:buSzPct val="100000"/>
              <a:buChar char="•"/>
            </a:pPr>
            <a:r>
              <a:rPr lang="en-US"/>
              <a:t>Snapshot at time </a:t>
            </a:r>
            <a:r>
              <a:rPr b="1" i="1" lang="en-US"/>
              <a:t>T</a:t>
            </a:r>
            <a:r>
              <a:rPr b="1" baseline="-25000" lang="en-US"/>
              <a:t>0</a:t>
            </a:r>
            <a:r>
              <a:rPr lang="en-US"/>
              <a:t>:</a:t>
            </a:r>
            <a:endParaRPr/>
          </a:p>
          <a:p>
            <a:pPr indent="-342900" lvl="0" marL="342900" rtl="0" algn="l">
              <a:spcBef>
                <a:spcPts val="448"/>
              </a:spcBef>
              <a:spcAft>
                <a:spcPts val="0"/>
              </a:spcAft>
              <a:buClr>
                <a:schemeClr val="dk1"/>
              </a:buClr>
              <a:buSzPct val="100000"/>
              <a:buFont typeface="Arial"/>
              <a:buNone/>
            </a:pPr>
            <a:r>
              <a:rPr lang="en-US"/>
              <a:t>			 </a:t>
            </a:r>
            <a:r>
              <a:rPr i="1" lang="en-US" u="sng"/>
              <a:t>Allocation</a:t>
            </a:r>
            <a:r>
              <a:rPr i="1" lang="en-US"/>
              <a:t>	</a:t>
            </a:r>
            <a:r>
              <a:rPr i="1" lang="en-US" u="sng"/>
              <a:t>Request</a:t>
            </a:r>
            <a:r>
              <a:rPr i="1" lang="en-US"/>
              <a:t>	</a:t>
            </a:r>
            <a:r>
              <a:rPr i="1" lang="en-US" u="sng"/>
              <a:t>Available</a:t>
            </a:r>
            <a:endParaRPr/>
          </a:p>
          <a:p>
            <a:pPr indent="-342900" lvl="0" marL="342900" rtl="0" algn="l">
              <a:spcBef>
                <a:spcPts val="448"/>
              </a:spcBef>
              <a:spcAft>
                <a:spcPts val="0"/>
              </a:spcAft>
              <a:buClr>
                <a:schemeClr val="dk1"/>
              </a:buClr>
              <a:buSzPct val="100000"/>
              <a:buFont typeface="Arial"/>
              <a:buNone/>
            </a:pPr>
            <a:r>
              <a:rPr lang="en-US"/>
              <a:t>			</a:t>
            </a:r>
            <a:r>
              <a:rPr i="1" lang="en-US"/>
              <a:t>A B C 	  A B C 	A B C</a:t>
            </a:r>
            <a:endParaRPr/>
          </a:p>
          <a:p>
            <a:pPr indent="-342900" lvl="0" marL="342900" rtl="0" algn="l">
              <a:spcBef>
                <a:spcPts val="448"/>
              </a:spcBef>
              <a:spcAft>
                <a:spcPts val="0"/>
              </a:spcAft>
              <a:buClr>
                <a:schemeClr val="dk1"/>
              </a:buClr>
              <a:buSzPct val="100000"/>
              <a:buFont typeface="Arial"/>
              <a:buNone/>
            </a:pPr>
            <a:r>
              <a:rPr lang="en-US"/>
              <a:t>	        </a:t>
            </a:r>
            <a:r>
              <a:rPr i="1" lang="en-US"/>
              <a:t>P</a:t>
            </a:r>
            <a:r>
              <a:rPr baseline="-25000" lang="en-US"/>
              <a:t>0</a:t>
            </a:r>
            <a:r>
              <a:rPr lang="en-US"/>
              <a:t>	          0 1 0             0 0 0 	0 0 0</a:t>
            </a:r>
            <a:endParaRPr/>
          </a:p>
          <a:p>
            <a:pPr indent="-342900" lvl="0" marL="342900" rtl="0" algn="l">
              <a:spcBef>
                <a:spcPts val="448"/>
              </a:spcBef>
              <a:spcAft>
                <a:spcPts val="0"/>
              </a:spcAft>
              <a:buClr>
                <a:schemeClr val="dk1"/>
              </a:buClr>
              <a:buSzPct val="100000"/>
              <a:buFont typeface="Arial"/>
              <a:buNone/>
            </a:pPr>
            <a:r>
              <a:rPr i="1" lang="en-US"/>
              <a:t>             P</a:t>
            </a:r>
            <a:r>
              <a:rPr baseline="-25000" lang="en-US"/>
              <a:t>1</a:t>
            </a:r>
            <a:r>
              <a:rPr lang="en-US"/>
              <a:t>	          	2 0 0 	  2 0 2</a:t>
            </a:r>
            <a:endParaRPr/>
          </a:p>
          <a:p>
            <a:pPr indent="-342900" lvl="0" marL="342900" rtl="0" algn="l">
              <a:spcBef>
                <a:spcPts val="448"/>
              </a:spcBef>
              <a:spcAft>
                <a:spcPts val="0"/>
              </a:spcAft>
              <a:buClr>
                <a:schemeClr val="dk1"/>
              </a:buClr>
              <a:buSzPct val="100000"/>
              <a:buFont typeface="Arial"/>
              <a:buNone/>
            </a:pPr>
            <a:r>
              <a:rPr i="1" lang="en-US"/>
              <a:t>             P</a:t>
            </a:r>
            <a:r>
              <a:rPr baseline="-25000" lang="en-US"/>
              <a:t>2</a:t>
            </a:r>
            <a:r>
              <a:rPr lang="en-US"/>
              <a:t>		          3 0 3             0 0 0 </a:t>
            </a:r>
            <a:endParaRPr/>
          </a:p>
          <a:p>
            <a:pPr indent="-342900" lvl="0" marL="342900" rtl="0" algn="l">
              <a:spcBef>
                <a:spcPts val="448"/>
              </a:spcBef>
              <a:spcAft>
                <a:spcPts val="0"/>
              </a:spcAft>
              <a:buClr>
                <a:schemeClr val="dk1"/>
              </a:buClr>
              <a:buSzPct val="100000"/>
              <a:buFont typeface="Arial"/>
              <a:buNone/>
            </a:pPr>
            <a:r>
              <a:rPr i="1" lang="en-US"/>
              <a:t>             P</a:t>
            </a:r>
            <a:r>
              <a:rPr baseline="-25000" lang="en-US"/>
              <a:t>3</a:t>
            </a:r>
            <a:r>
              <a:rPr lang="en-US"/>
              <a:t>		2 1 1 	   1 0 0 </a:t>
            </a:r>
            <a:endParaRPr/>
          </a:p>
          <a:p>
            <a:pPr indent="-342900" lvl="0" marL="342900" rtl="0" algn="l">
              <a:spcBef>
                <a:spcPts val="448"/>
              </a:spcBef>
              <a:spcAft>
                <a:spcPts val="0"/>
              </a:spcAft>
              <a:buClr>
                <a:schemeClr val="dk1"/>
              </a:buClr>
              <a:buSzPct val="100000"/>
              <a:buFont typeface="Arial"/>
              <a:buNone/>
            </a:pPr>
            <a:r>
              <a:rPr lang="en-US"/>
              <a:t>	       </a:t>
            </a:r>
            <a:r>
              <a:rPr i="1" lang="en-US"/>
              <a:t>P</a:t>
            </a:r>
            <a:r>
              <a:rPr baseline="-25000" lang="en-US"/>
              <a:t>4	</a:t>
            </a:r>
            <a:r>
              <a:rPr lang="en-US"/>
              <a:t>	0 0 2 	   0 0 2</a:t>
            </a:r>
            <a:endParaRPr/>
          </a:p>
          <a:p>
            <a:pPr indent="-342900" lvl="0" marL="342900" rtl="0" algn="l">
              <a:spcBef>
                <a:spcPts val="448"/>
              </a:spcBef>
              <a:spcAft>
                <a:spcPts val="0"/>
              </a:spcAft>
              <a:buClr>
                <a:schemeClr val="dk1"/>
              </a:buClr>
              <a:buSzPct val="100000"/>
              <a:buFont typeface="Arial"/>
              <a:buNone/>
            </a:pPr>
            <a:r>
              <a:t/>
            </a:r>
            <a:endParaRPr/>
          </a:p>
          <a:p>
            <a:pPr indent="-342900" lvl="0" marL="342900" rtl="0" algn="l">
              <a:spcBef>
                <a:spcPts val="448"/>
              </a:spcBef>
              <a:spcAft>
                <a:spcPts val="0"/>
              </a:spcAft>
              <a:buClr>
                <a:schemeClr val="dk1"/>
              </a:buClr>
              <a:buSzPct val="100000"/>
              <a:buChar char="•"/>
            </a:pPr>
            <a:r>
              <a:rPr lang="en-US"/>
              <a:t>Sequence &lt;</a:t>
            </a:r>
            <a:r>
              <a:rPr b="1" i="1" lang="en-US"/>
              <a:t>P</a:t>
            </a:r>
            <a:r>
              <a:rPr b="1" baseline="-25000" i="1" lang="en-US"/>
              <a:t>0</a:t>
            </a:r>
            <a:r>
              <a:rPr b="1" i="1" lang="en-US"/>
              <a:t>, P</a:t>
            </a:r>
            <a:r>
              <a:rPr b="1" baseline="-25000" i="1" lang="en-US"/>
              <a:t>2</a:t>
            </a:r>
            <a:r>
              <a:rPr b="1" i="1" lang="en-US"/>
              <a:t>, P</a:t>
            </a:r>
            <a:r>
              <a:rPr b="1" baseline="-25000" i="1" lang="en-US"/>
              <a:t>3</a:t>
            </a:r>
            <a:r>
              <a:rPr b="1" i="1" lang="en-US"/>
              <a:t>, P</a:t>
            </a:r>
            <a:r>
              <a:rPr b="1" baseline="-25000" i="1" lang="en-US"/>
              <a:t>1</a:t>
            </a:r>
            <a:r>
              <a:rPr b="1" i="1" lang="en-US"/>
              <a:t>, P</a:t>
            </a:r>
            <a:r>
              <a:rPr b="1" baseline="-25000" i="1" lang="en-US"/>
              <a:t>4</a:t>
            </a:r>
            <a:r>
              <a:rPr lang="en-US"/>
              <a:t>&gt; will result in </a:t>
            </a:r>
            <a:r>
              <a:rPr b="1" i="1" lang="en-US"/>
              <a:t>Finish[i] = true </a:t>
            </a:r>
            <a:r>
              <a:rPr lang="en-US"/>
              <a:t>for all </a:t>
            </a:r>
            <a:r>
              <a:rPr b="1" i="1" lang="en-US"/>
              <a:t>i</a:t>
            </a:r>
            <a:endParaRPr b="1"/>
          </a:p>
          <a:p>
            <a:pPr indent="-342900" lvl="0" marL="342900" rtl="0" algn="l">
              <a:spcBef>
                <a:spcPts val="448"/>
              </a:spcBef>
              <a:spcAft>
                <a:spcPts val="0"/>
              </a:spcAft>
              <a:buClr>
                <a:schemeClr val="dk1"/>
              </a:buClr>
              <a:buSzPct val="100000"/>
              <a:buFont typeface="Arial"/>
              <a:buNone/>
            </a:pPr>
            <a:r>
              <a:t/>
            </a:r>
            <a:endParaRPr/>
          </a:p>
        </p:txBody>
      </p:sp>
      <p:sp>
        <p:nvSpPr>
          <p:cNvPr id="1213" name="Google Shape;1213;p10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214" name="Google Shape;1214;p10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215" name="Google Shape;1215;p10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p104"/>
          <p:cNvSpPr txBox="1"/>
          <p:nvPr>
            <p:ph type="title"/>
          </p:nvPr>
        </p:nvSpPr>
        <p:spPr>
          <a:xfrm>
            <a:off x="1022350" y="214313"/>
            <a:ext cx="766445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Example of Detection Algorithm</a:t>
            </a:r>
            <a:endParaRPr/>
          </a:p>
        </p:txBody>
      </p:sp>
      <p:sp>
        <p:nvSpPr>
          <p:cNvPr id="1222" name="Google Shape;1222;p104"/>
          <p:cNvSpPr txBox="1"/>
          <p:nvPr>
            <p:ph idx="1" type="body"/>
          </p:nvPr>
        </p:nvSpPr>
        <p:spPr>
          <a:xfrm>
            <a:off x="304800" y="838201"/>
            <a:ext cx="6019801" cy="579120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2000"/>
              <a:buNone/>
            </a:pPr>
            <a:r>
              <a:rPr lang="en-US" sz="2000"/>
              <a:t>Initially</a:t>
            </a:r>
            <a:endParaRPr/>
          </a:p>
          <a:p>
            <a:pPr indent="-457200" lvl="0" marL="457200" rtl="0" algn="l">
              <a:spcBef>
                <a:spcPts val="400"/>
              </a:spcBef>
              <a:spcAft>
                <a:spcPts val="0"/>
              </a:spcAft>
              <a:buClr>
                <a:schemeClr val="dk1"/>
              </a:buClr>
              <a:buSzPts val="2000"/>
              <a:buFont typeface="Calibri"/>
              <a:buAutoNum type="arabicPeriod"/>
            </a:pPr>
            <a:r>
              <a:rPr lang="en-US" sz="2000"/>
              <a:t>Work = [0, 0, 0] &amp; </a:t>
            </a:r>
            <a:endParaRPr/>
          </a:p>
          <a:p>
            <a:pPr indent="-457200" lvl="0" marL="457200" rtl="0" algn="l">
              <a:spcBef>
                <a:spcPts val="400"/>
              </a:spcBef>
              <a:spcAft>
                <a:spcPts val="0"/>
              </a:spcAft>
              <a:buClr>
                <a:schemeClr val="dk1"/>
              </a:buClr>
              <a:buSzPts val="2000"/>
              <a:buFont typeface="Calibri"/>
              <a:buAutoNum type="arabicPeriod"/>
            </a:pPr>
            <a:r>
              <a:rPr lang="en-US" sz="2000"/>
              <a:t>Finish = [false, false, false, false, false]</a:t>
            </a:r>
            <a:endParaRPr/>
          </a:p>
          <a:p>
            <a:pPr indent="-330200" lvl="0" marL="457200" rtl="0" algn="l">
              <a:spcBef>
                <a:spcPts val="400"/>
              </a:spcBef>
              <a:spcAft>
                <a:spcPts val="0"/>
              </a:spcAft>
              <a:buClr>
                <a:schemeClr val="dk1"/>
              </a:buClr>
              <a:buSzPts val="2000"/>
              <a:buFont typeface="Calibri"/>
              <a:buNone/>
            </a:pPr>
            <a:r>
              <a:t/>
            </a:r>
            <a:endParaRPr sz="2000"/>
          </a:p>
          <a:p>
            <a:pPr indent="-457200" lvl="0" marL="457200" rtl="0" algn="l">
              <a:spcBef>
                <a:spcPts val="400"/>
              </a:spcBef>
              <a:spcAft>
                <a:spcPts val="0"/>
              </a:spcAft>
              <a:buClr>
                <a:schemeClr val="dk1"/>
              </a:buClr>
              <a:buSzPts val="2000"/>
              <a:buFont typeface="Calibri"/>
              <a:buAutoNum type="arabicPeriod"/>
            </a:pPr>
            <a:r>
              <a:rPr lang="en-US" sz="2000"/>
              <a:t>i=0 is selected as both </a:t>
            </a:r>
            <a:endParaRPr/>
          </a:p>
          <a:p>
            <a:pPr indent="-457200" lvl="0" marL="457200" rtl="0" algn="l">
              <a:spcBef>
                <a:spcPts val="400"/>
              </a:spcBef>
              <a:spcAft>
                <a:spcPts val="0"/>
              </a:spcAft>
              <a:buClr>
                <a:schemeClr val="dk1"/>
              </a:buClr>
              <a:buSzPts val="2000"/>
              <a:buFont typeface="Calibri"/>
              <a:buAutoNum type="arabicPeriod"/>
            </a:pPr>
            <a:r>
              <a:rPr lang="en-US" sz="2000"/>
              <a:t>Finish[0] = false and [0, 0, 0]&lt;=[0, 0, 0]</a:t>
            </a:r>
            <a:endParaRPr sz="2000"/>
          </a:p>
          <a:p>
            <a:pPr indent="-457200" lvl="0" marL="457200" rtl="0" algn="l">
              <a:spcBef>
                <a:spcPts val="400"/>
              </a:spcBef>
              <a:spcAft>
                <a:spcPts val="0"/>
              </a:spcAft>
              <a:buClr>
                <a:schemeClr val="dk1"/>
              </a:buClr>
              <a:buSzPts val="2000"/>
              <a:buFont typeface="Calibri"/>
              <a:buAutoNum type="arabicPeriod"/>
            </a:pPr>
            <a:r>
              <a:rPr lang="en-US" sz="2000"/>
              <a:t>Work =[0, 0, 0]+[0, 1, 0] =&gt;[0, 1, 0] &amp;              </a:t>
            </a:r>
            <a:endParaRPr/>
          </a:p>
          <a:p>
            <a:pPr indent="-457200" lvl="0" marL="457200" rtl="0" algn="l">
              <a:spcBef>
                <a:spcPts val="400"/>
              </a:spcBef>
              <a:spcAft>
                <a:spcPts val="0"/>
              </a:spcAft>
              <a:buClr>
                <a:schemeClr val="dk1"/>
              </a:buClr>
              <a:buSzPts val="2000"/>
              <a:buFont typeface="Calibri"/>
              <a:buAutoNum type="arabicPeriod"/>
            </a:pPr>
            <a:r>
              <a:rPr lang="en-US" sz="2000"/>
              <a:t>Finish = [true, false, false, false, false]</a:t>
            </a:r>
            <a:endParaRPr/>
          </a:p>
          <a:p>
            <a:pPr indent="-330200" lvl="0" marL="457200" rtl="0" algn="l">
              <a:spcBef>
                <a:spcPts val="400"/>
              </a:spcBef>
              <a:spcAft>
                <a:spcPts val="0"/>
              </a:spcAft>
              <a:buClr>
                <a:schemeClr val="dk1"/>
              </a:buClr>
              <a:buSzPts val="2000"/>
              <a:buFont typeface="Calibri"/>
              <a:buNone/>
            </a:pPr>
            <a:r>
              <a:t/>
            </a:r>
            <a:endParaRPr sz="2000"/>
          </a:p>
          <a:p>
            <a:pPr indent="-457200" lvl="0" marL="457200" rtl="0" algn="l">
              <a:spcBef>
                <a:spcPts val="400"/>
              </a:spcBef>
              <a:spcAft>
                <a:spcPts val="0"/>
              </a:spcAft>
              <a:buClr>
                <a:schemeClr val="dk1"/>
              </a:buClr>
              <a:buSzPts val="2000"/>
              <a:buFont typeface="Calibri"/>
              <a:buAutoNum type="arabicPeriod"/>
            </a:pPr>
            <a:r>
              <a:rPr lang="en-US" sz="2000"/>
              <a:t>i=1 , </a:t>
            </a:r>
            <a:endParaRPr/>
          </a:p>
          <a:p>
            <a:pPr indent="-457200" lvl="0" marL="457200" rtl="0" algn="l">
              <a:spcBef>
                <a:spcPts val="400"/>
              </a:spcBef>
              <a:spcAft>
                <a:spcPts val="0"/>
              </a:spcAft>
              <a:buClr>
                <a:schemeClr val="dk1"/>
              </a:buClr>
              <a:buSzPts val="2000"/>
              <a:buFont typeface="Calibri"/>
              <a:buAutoNum type="arabicPeriod"/>
            </a:pPr>
            <a:r>
              <a:rPr lang="en-US" sz="2000"/>
              <a:t>Finish[1]=false and [2,0,2]!&lt;=[0,1,0]</a:t>
            </a:r>
            <a:endParaRPr/>
          </a:p>
          <a:p>
            <a:pPr indent="-457200" lvl="0" marL="457200" rtl="0" algn="l">
              <a:spcBef>
                <a:spcPts val="400"/>
              </a:spcBef>
              <a:spcAft>
                <a:spcPts val="0"/>
              </a:spcAft>
              <a:buClr>
                <a:schemeClr val="dk1"/>
              </a:buClr>
              <a:buSzPts val="2000"/>
              <a:buFont typeface="Calibri"/>
              <a:buAutoNum type="arabicPeriod"/>
            </a:pPr>
            <a:r>
              <a:rPr lang="en-US" sz="2000"/>
              <a:t>P1 should wait</a:t>
            </a:r>
            <a:endParaRPr/>
          </a:p>
          <a:p>
            <a:pPr indent="-330200" lvl="0" marL="457200" rtl="0" algn="l">
              <a:spcBef>
                <a:spcPts val="400"/>
              </a:spcBef>
              <a:spcAft>
                <a:spcPts val="0"/>
              </a:spcAft>
              <a:buClr>
                <a:schemeClr val="dk1"/>
              </a:buClr>
              <a:buSzPts val="2000"/>
              <a:buFont typeface="Calibri"/>
              <a:buNone/>
            </a:pPr>
            <a:r>
              <a:t/>
            </a:r>
            <a:endParaRPr i="1" sz="2000"/>
          </a:p>
          <a:p>
            <a:pPr indent="-457200" lvl="0" marL="457200" rtl="0" algn="l">
              <a:spcBef>
                <a:spcPts val="400"/>
              </a:spcBef>
              <a:spcAft>
                <a:spcPts val="0"/>
              </a:spcAft>
              <a:buClr>
                <a:schemeClr val="dk1"/>
              </a:buClr>
              <a:buSzPts val="2000"/>
              <a:buFont typeface="Calibri"/>
              <a:buAutoNum type="arabicPeriod"/>
            </a:pPr>
            <a:r>
              <a:rPr i="1" lang="en-US" sz="2000"/>
              <a:t>i=2</a:t>
            </a:r>
            <a:r>
              <a:rPr lang="en-US" sz="2000"/>
              <a:t> is selected as both </a:t>
            </a:r>
            <a:endParaRPr sz="2000"/>
          </a:p>
          <a:p>
            <a:pPr indent="-457200" lvl="0" marL="457200" rtl="0" algn="l">
              <a:spcBef>
                <a:spcPts val="400"/>
              </a:spcBef>
              <a:spcAft>
                <a:spcPts val="0"/>
              </a:spcAft>
              <a:buClr>
                <a:schemeClr val="dk1"/>
              </a:buClr>
              <a:buSzPts val="2000"/>
              <a:buFont typeface="Calibri"/>
              <a:buAutoNum type="arabicPeriod"/>
            </a:pPr>
            <a:r>
              <a:rPr lang="en-US" sz="2000"/>
              <a:t>Finish[2] = false and [0, 0, 0]&lt;=[0, 1, 0]</a:t>
            </a:r>
            <a:endParaRPr/>
          </a:p>
          <a:p>
            <a:pPr indent="-514350" lvl="0" marL="514350" rtl="0" algn="l">
              <a:spcBef>
                <a:spcPts val="400"/>
              </a:spcBef>
              <a:spcAft>
                <a:spcPts val="0"/>
              </a:spcAft>
              <a:buClr>
                <a:schemeClr val="dk1"/>
              </a:buClr>
              <a:buSzPts val="2000"/>
              <a:buFont typeface="Calibri"/>
              <a:buAutoNum type="arabicPeriod"/>
            </a:pPr>
            <a:r>
              <a:rPr lang="en-US" sz="2000"/>
              <a:t>      Work =[0, 1, 0]+[3, 0, 3] =&gt;[3, 1, 3] </a:t>
            </a:r>
            <a:endParaRPr/>
          </a:p>
          <a:p>
            <a:pPr indent="-514350" lvl="0" marL="514350" rtl="0" algn="l">
              <a:spcBef>
                <a:spcPts val="400"/>
              </a:spcBef>
              <a:spcAft>
                <a:spcPts val="0"/>
              </a:spcAft>
              <a:buClr>
                <a:schemeClr val="dk1"/>
              </a:buClr>
              <a:buSzPts val="2000"/>
              <a:buFont typeface="Calibri"/>
              <a:buAutoNum type="arabicPeriod"/>
            </a:pPr>
            <a:r>
              <a:rPr lang="en-US" sz="2000"/>
              <a:t>Finish = [true, false, true, false, false]</a:t>
            </a:r>
            <a:endParaRPr/>
          </a:p>
          <a:p>
            <a:pPr indent="-330200" lvl="0" marL="457200" rtl="0" algn="l">
              <a:spcBef>
                <a:spcPts val="400"/>
              </a:spcBef>
              <a:spcAft>
                <a:spcPts val="0"/>
              </a:spcAft>
              <a:buClr>
                <a:schemeClr val="dk1"/>
              </a:buClr>
              <a:buSzPts val="2000"/>
              <a:buFont typeface="Calibri"/>
              <a:buNone/>
            </a:pPr>
            <a:r>
              <a:t/>
            </a:r>
            <a:endParaRPr sz="2000"/>
          </a:p>
          <a:p>
            <a:pPr indent="0" lvl="0" marL="0" rtl="0" algn="l">
              <a:spcBef>
                <a:spcPts val="400"/>
              </a:spcBef>
              <a:spcAft>
                <a:spcPts val="0"/>
              </a:spcAft>
              <a:buClr>
                <a:schemeClr val="dk1"/>
              </a:buClr>
              <a:buSzPts val="2000"/>
              <a:buNone/>
            </a:pPr>
            <a:r>
              <a:t/>
            </a:r>
            <a:endParaRPr sz="2000"/>
          </a:p>
        </p:txBody>
      </p:sp>
      <p:sp>
        <p:nvSpPr>
          <p:cNvPr id="1223" name="Google Shape;1223;p104"/>
          <p:cNvSpPr/>
          <p:nvPr/>
        </p:nvSpPr>
        <p:spPr>
          <a:xfrm>
            <a:off x="6477000" y="1295400"/>
            <a:ext cx="2667000" cy="1384995"/>
          </a:xfrm>
          <a:prstGeom prst="rect">
            <a:avLst/>
          </a:prstGeom>
          <a:noFill/>
          <a:ln>
            <a:noFill/>
          </a:ln>
        </p:spPr>
        <p:txBody>
          <a:bodyPr anchorCtr="0" anchor="t" bIns="45700" lIns="91425" spcFirstLastPara="1" rIns="91425" wrap="square" tIns="45700">
            <a:spAutoFit/>
          </a:bodyPr>
          <a:lstStyle/>
          <a:p>
            <a:pPr indent="-393700" lvl="0" marL="393700" marR="0" rtl="0" algn="l">
              <a:spcBef>
                <a:spcPts val="0"/>
              </a:spcBef>
              <a:spcAft>
                <a:spcPts val="0"/>
              </a:spcAft>
              <a:buClr>
                <a:schemeClr val="dk1"/>
              </a:buClr>
              <a:buSzPts val="1400"/>
              <a:buFont typeface="Arial"/>
              <a:buNone/>
            </a:pPr>
            <a:r>
              <a:rPr lang="en-US" sz="1400">
                <a:solidFill>
                  <a:schemeClr val="dk1"/>
                </a:solidFill>
                <a:latin typeface="Calibri"/>
                <a:ea typeface="Calibri"/>
                <a:cs typeface="Calibri"/>
                <a:sym typeface="Calibri"/>
              </a:rPr>
              <a:t>Check If</a:t>
            </a:r>
            <a:endParaRPr/>
          </a:p>
          <a:p>
            <a:pPr indent="-393700" lvl="0" marL="393700" marR="0" rtl="0" algn="l">
              <a:spcBef>
                <a:spcPts val="0"/>
              </a:spcBef>
              <a:spcAft>
                <a:spcPts val="0"/>
              </a:spcAft>
              <a:buClr>
                <a:schemeClr val="dk1"/>
              </a:buClr>
              <a:buSzPts val="1400"/>
              <a:buFont typeface="Arial"/>
              <a:buNone/>
            </a:pPr>
            <a:r>
              <a:rPr lang="en-US" sz="1400">
                <a:solidFill>
                  <a:schemeClr val="dk1"/>
                </a:solidFill>
                <a:latin typeface="Calibri"/>
                <a:ea typeface="Calibri"/>
                <a:cs typeface="Calibri"/>
                <a:sym typeface="Calibri"/>
              </a:rPr>
              <a:t>(a)	</a:t>
            </a:r>
            <a:r>
              <a:rPr b="1" i="1" lang="en-US" sz="1400">
                <a:solidFill>
                  <a:schemeClr val="dk1"/>
                </a:solidFill>
                <a:latin typeface="Calibri"/>
                <a:ea typeface="Calibri"/>
                <a:cs typeface="Calibri"/>
                <a:sym typeface="Calibri"/>
              </a:rPr>
              <a:t>Finish</a:t>
            </a:r>
            <a:r>
              <a:rPr b="1" lang="en-US" sz="1400">
                <a:solidFill>
                  <a:schemeClr val="dk1"/>
                </a:solidFill>
                <a:latin typeface="Calibri"/>
                <a:ea typeface="Calibri"/>
                <a:cs typeface="Calibri"/>
                <a:sym typeface="Calibri"/>
              </a:rPr>
              <a:t>[</a:t>
            </a:r>
            <a:r>
              <a:rPr b="1" i="1" lang="en-US" sz="1400">
                <a:solidFill>
                  <a:schemeClr val="dk1"/>
                </a:solidFill>
                <a:latin typeface="Calibri"/>
                <a:ea typeface="Calibri"/>
                <a:cs typeface="Calibri"/>
                <a:sym typeface="Calibri"/>
              </a:rPr>
              <a:t>i</a:t>
            </a:r>
            <a:r>
              <a:rPr b="1" lang="en-US" sz="1400">
                <a:solidFill>
                  <a:schemeClr val="dk1"/>
                </a:solidFill>
                <a:latin typeface="Calibri"/>
                <a:ea typeface="Calibri"/>
                <a:cs typeface="Calibri"/>
                <a:sym typeface="Calibri"/>
              </a:rPr>
              <a:t>] == </a:t>
            </a:r>
            <a:r>
              <a:rPr b="1" i="1" lang="en-US" sz="1400">
                <a:solidFill>
                  <a:schemeClr val="dk1"/>
                </a:solidFill>
                <a:latin typeface="Calibri"/>
                <a:ea typeface="Calibri"/>
                <a:cs typeface="Calibri"/>
                <a:sym typeface="Calibri"/>
              </a:rPr>
              <a:t>false</a:t>
            </a:r>
            <a:endParaRPr b="1" sz="1400">
              <a:solidFill>
                <a:schemeClr val="dk1"/>
              </a:solidFill>
              <a:latin typeface="Calibri"/>
              <a:ea typeface="Calibri"/>
              <a:cs typeface="Calibri"/>
              <a:sym typeface="Calibri"/>
            </a:endParaRPr>
          </a:p>
          <a:p>
            <a:pPr indent="-393700" lvl="0" marL="393700" marR="0" rtl="0" algn="l">
              <a:spcBef>
                <a:spcPts val="0"/>
              </a:spcBef>
              <a:spcAft>
                <a:spcPts val="0"/>
              </a:spcAft>
              <a:buClr>
                <a:schemeClr val="dk1"/>
              </a:buClr>
              <a:buSzPts val="1400"/>
              <a:buFont typeface="Arial"/>
              <a:buAutoNum type="alphaLcParenBoth" startAt="2"/>
            </a:pPr>
            <a:r>
              <a:rPr b="1" i="1" lang="en-US" sz="1400">
                <a:solidFill>
                  <a:schemeClr val="dk1"/>
                </a:solidFill>
                <a:latin typeface="Calibri"/>
                <a:ea typeface="Calibri"/>
                <a:cs typeface="Calibri"/>
                <a:sym typeface="Calibri"/>
              </a:rPr>
              <a:t>Request</a:t>
            </a:r>
            <a:r>
              <a:rPr b="1" baseline="-25000" i="1" lang="en-US" sz="1400">
                <a:solidFill>
                  <a:schemeClr val="dk1"/>
                </a:solidFill>
                <a:latin typeface="Calibri"/>
                <a:ea typeface="Calibri"/>
                <a:cs typeface="Calibri"/>
                <a:sym typeface="Calibri"/>
              </a:rPr>
              <a:t>i</a:t>
            </a:r>
            <a:r>
              <a:rPr b="1" lang="en-US" sz="1400">
                <a:solidFill>
                  <a:schemeClr val="dk1"/>
                </a:solidFill>
                <a:latin typeface="Calibri"/>
                <a:ea typeface="Calibri"/>
                <a:cs typeface="Calibri"/>
                <a:sym typeface="Calibri"/>
              </a:rPr>
              <a:t> ≤ </a:t>
            </a:r>
            <a:r>
              <a:rPr b="1" i="1" lang="en-US" sz="1400">
                <a:solidFill>
                  <a:schemeClr val="dk1"/>
                </a:solidFill>
                <a:latin typeface="Calibri"/>
                <a:ea typeface="Calibri"/>
                <a:cs typeface="Calibri"/>
                <a:sym typeface="Calibri"/>
              </a:rPr>
              <a:t>Work</a:t>
            </a:r>
            <a:endParaRPr/>
          </a:p>
          <a:p>
            <a:pPr indent="0" lvl="0" marL="0" marR="0" rtl="0" algn="l">
              <a:spcBef>
                <a:spcPts val="0"/>
              </a:spcBef>
              <a:spcAft>
                <a:spcPts val="0"/>
              </a:spcAft>
              <a:buNone/>
            </a:pPr>
            <a:r>
              <a:rPr b="1" i="1" lang="en-US" sz="1400">
                <a:solidFill>
                  <a:schemeClr val="dk1"/>
                </a:solidFill>
                <a:latin typeface="Calibri"/>
                <a:ea typeface="Calibri"/>
                <a:cs typeface="Calibri"/>
                <a:sym typeface="Calibri"/>
              </a:rPr>
              <a:t>Then</a:t>
            </a:r>
            <a:endParaRPr/>
          </a:p>
          <a:p>
            <a:pPr indent="0" lvl="0" marL="0" marR="0" rtl="0" algn="l">
              <a:spcBef>
                <a:spcPts val="0"/>
              </a:spcBef>
              <a:spcAft>
                <a:spcPts val="0"/>
              </a:spcAft>
              <a:buNone/>
            </a:pPr>
            <a:r>
              <a:rPr b="1" i="1" lang="en-US" sz="1400">
                <a:solidFill>
                  <a:schemeClr val="dk1"/>
                </a:solidFill>
                <a:latin typeface="Calibri"/>
                <a:ea typeface="Calibri"/>
                <a:cs typeface="Calibri"/>
                <a:sym typeface="Calibri"/>
              </a:rPr>
              <a:t>Work</a:t>
            </a:r>
            <a:r>
              <a:rPr b="1" lang="en-US" sz="1400">
                <a:solidFill>
                  <a:schemeClr val="dk1"/>
                </a:solidFill>
                <a:latin typeface="Calibri"/>
                <a:ea typeface="Calibri"/>
                <a:cs typeface="Calibri"/>
                <a:sym typeface="Calibri"/>
              </a:rPr>
              <a:t> = </a:t>
            </a:r>
            <a:r>
              <a:rPr b="1" i="1" lang="en-US" sz="1400">
                <a:solidFill>
                  <a:schemeClr val="dk1"/>
                </a:solidFill>
                <a:latin typeface="Calibri"/>
                <a:ea typeface="Calibri"/>
                <a:cs typeface="Calibri"/>
                <a:sym typeface="Calibri"/>
              </a:rPr>
              <a:t>Work</a:t>
            </a:r>
            <a:r>
              <a:rPr b="1" lang="en-US" sz="1400">
                <a:solidFill>
                  <a:schemeClr val="dk1"/>
                </a:solidFill>
                <a:latin typeface="Calibri"/>
                <a:ea typeface="Calibri"/>
                <a:cs typeface="Calibri"/>
                <a:sym typeface="Calibri"/>
              </a:rPr>
              <a:t> + </a:t>
            </a:r>
            <a:r>
              <a:rPr b="1" i="1" lang="en-US" sz="1400">
                <a:solidFill>
                  <a:schemeClr val="dk1"/>
                </a:solidFill>
                <a:latin typeface="Calibri"/>
                <a:ea typeface="Calibri"/>
                <a:cs typeface="Calibri"/>
                <a:sym typeface="Calibri"/>
              </a:rPr>
              <a:t>Allocation</a:t>
            </a:r>
            <a:r>
              <a:rPr b="1" baseline="-25000" i="1" lang="en-US" sz="1400">
                <a:solidFill>
                  <a:schemeClr val="dk1"/>
                </a:solidFill>
                <a:latin typeface="Calibri"/>
                <a:ea typeface="Calibri"/>
                <a:cs typeface="Calibri"/>
                <a:sym typeface="Calibri"/>
              </a:rPr>
              <a:t>i</a:t>
            </a:r>
            <a:br>
              <a:rPr b="1" lang="en-US" sz="1400">
                <a:solidFill>
                  <a:schemeClr val="dk1"/>
                </a:solidFill>
                <a:latin typeface="Calibri"/>
                <a:ea typeface="Calibri"/>
                <a:cs typeface="Calibri"/>
                <a:sym typeface="Calibri"/>
              </a:rPr>
            </a:br>
            <a:r>
              <a:rPr b="1" i="1" lang="en-US" sz="1400">
                <a:solidFill>
                  <a:schemeClr val="dk1"/>
                </a:solidFill>
                <a:latin typeface="Calibri"/>
                <a:ea typeface="Calibri"/>
                <a:cs typeface="Calibri"/>
                <a:sym typeface="Calibri"/>
              </a:rPr>
              <a:t>Finish</a:t>
            </a:r>
            <a:r>
              <a:rPr b="1" lang="en-US" sz="1400">
                <a:solidFill>
                  <a:schemeClr val="dk1"/>
                </a:solidFill>
                <a:latin typeface="Calibri"/>
                <a:ea typeface="Calibri"/>
                <a:cs typeface="Calibri"/>
                <a:sym typeface="Calibri"/>
              </a:rPr>
              <a:t>[</a:t>
            </a:r>
            <a:r>
              <a:rPr b="1" i="1" lang="en-US" sz="1400">
                <a:solidFill>
                  <a:schemeClr val="dk1"/>
                </a:solidFill>
                <a:latin typeface="Calibri"/>
                <a:ea typeface="Calibri"/>
                <a:cs typeface="Calibri"/>
                <a:sym typeface="Calibri"/>
              </a:rPr>
              <a:t>i</a:t>
            </a:r>
            <a:r>
              <a:rPr b="1" lang="en-US" sz="1400">
                <a:solidFill>
                  <a:schemeClr val="dk1"/>
                </a:solidFill>
                <a:latin typeface="Calibri"/>
                <a:ea typeface="Calibri"/>
                <a:cs typeface="Calibri"/>
                <a:sym typeface="Calibri"/>
              </a:rPr>
              <a:t>] = </a:t>
            </a:r>
            <a:r>
              <a:rPr b="1" i="1" lang="en-US" sz="1400">
                <a:solidFill>
                  <a:schemeClr val="dk1"/>
                </a:solidFill>
                <a:latin typeface="Calibri"/>
                <a:ea typeface="Calibri"/>
                <a:cs typeface="Calibri"/>
                <a:sym typeface="Calibri"/>
              </a:rPr>
              <a:t>true</a:t>
            </a:r>
            <a:endParaRPr b="1" sz="1400">
              <a:solidFill>
                <a:schemeClr val="dk1"/>
              </a:solidFill>
              <a:latin typeface="Calibri"/>
              <a:ea typeface="Calibri"/>
              <a:cs typeface="Calibri"/>
              <a:sym typeface="Calibri"/>
            </a:endParaRPr>
          </a:p>
        </p:txBody>
      </p:sp>
      <p:pic>
        <p:nvPicPr>
          <p:cNvPr id="1224" name="Google Shape;1224;p104"/>
          <p:cNvPicPr preferRelativeResize="0"/>
          <p:nvPr/>
        </p:nvPicPr>
        <p:blipFill rotWithShape="1">
          <a:blip r:embed="rId3">
            <a:alphaModFix/>
          </a:blip>
          <a:srcRect b="50000" l="30454" r="38311" t="22222"/>
          <a:stretch/>
        </p:blipFill>
        <p:spPr>
          <a:xfrm>
            <a:off x="5638800" y="3733800"/>
            <a:ext cx="2387600" cy="2032000"/>
          </a:xfrm>
          <a:prstGeom prst="rect">
            <a:avLst/>
          </a:prstGeom>
          <a:noFill/>
          <a:ln>
            <a:noFill/>
          </a:ln>
        </p:spPr>
      </p:pic>
      <p:sp>
        <p:nvSpPr>
          <p:cNvPr id="1225" name="Google Shape;1225;p104"/>
          <p:cNvSpPr/>
          <p:nvPr/>
        </p:nvSpPr>
        <p:spPr>
          <a:xfrm>
            <a:off x="6470073" y="5924913"/>
            <a:ext cx="206332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rgbClr val="00B0F0"/>
                </a:solidFill>
                <a:latin typeface="Calibri"/>
                <a:ea typeface="Calibri"/>
                <a:cs typeface="Calibri"/>
                <a:sym typeface="Calibri"/>
              </a:rPr>
              <a:t>No Finish[i] == false</a:t>
            </a:r>
            <a:endParaRPr/>
          </a:p>
          <a:p>
            <a:pPr indent="0" lvl="0" marL="0" marR="0" rtl="0" algn="l">
              <a:spcBef>
                <a:spcPts val="0"/>
              </a:spcBef>
              <a:spcAft>
                <a:spcPts val="0"/>
              </a:spcAft>
              <a:buNone/>
            </a:pPr>
            <a:r>
              <a:rPr b="1" i="1" lang="en-US" sz="1800">
                <a:solidFill>
                  <a:srgbClr val="00B0F0"/>
                </a:solidFill>
                <a:latin typeface="Calibri"/>
                <a:ea typeface="Calibri"/>
                <a:cs typeface="Calibri"/>
                <a:sym typeface="Calibri"/>
              </a:rPr>
              <a:t>No deadlock</a:t>
            </a:r>
            <a:endParaRPr sz="1800">
              <a:solidFill>
                <a:srgbClr val="00B0F0"/>
              </a:solidFill>
              <a:latin typeface="Calibri"/>
              <a:ea typeface="Calibri"/>
              <a:cs typeface="Calibri"/>
              <a:sym typeface="Calibri"/>
            </a:endParaRPr>
          </a:p>
        </p:txBody>
      </p:sp>
      <p:sp>
        <p:nvSpPr>
          <p:cNvPr id="1226" name="Google Shape;1226;p10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227" name="Google Shape;1227;p10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228" name="Google Shape;1228;p10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3" name="Shape 1233"/>
        <p:cNvGrpSpPr/>
        <p:nvPr/>
      </p:nvGrpSpPr>
      <p:grpSpPr>
        <a:xfrm>
          <a:off x="0" y="0"/>
          <a:ext cx="0" cy="0"/>
          <a:chOff x="0" y="0"/>
          <a:chExt cx="0" cy="0"/>
        </a:xfrm>
      </p:grpSpPr>
      <p:sp>
        <p:nvSpPr>
          <p:cNvPr id="1234" name="Google Shape;1234;p105"/>
          <p:cNvSpPr txBox="1"/>
          <p:nvPr>
            <p:ph type="title"/>
          </p:nvPr>
        </p:nvSpPr>
        <p:spPr>
          <a:xfrm>
            <a:off x="1022350" y="214313"/>
            <a:ext cx="766445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Example of Detection Algorithm</a:t>
            </a:r>
            <a:endParaRPr/>
          </a:p>
        </p:txBody>
      </p:sp>
      <p:sp>
        <p:nvSpPr>
          <p:cNvPr id="1235" name="Google Shape;1235;p105"/>
          <p:cNvSpPr txBox="1"/>
          <p:nvPr>
            <p:ph idx="1" type="body"/>
          </p:nvPr>
        </p:nvSpPr>
        <p:spPr>
          <a:xfrm>
            <a:off x="304800" y="1108075"/>
            <a:ext cx="6019801" cy="5521325"/>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Clr>
                <a:schemeClr val="dk1"/>
              </a:buClr>
              <a:buSzPts val="1900"/>
              <a:buFont typeface="Calibri"/>
              <a:buAutoNum type="arabicPeriod"/>
            </a:pPr>
            <a:r>
              <a:rPr lang="en-US" sz="1900"/>
              <a:t>i=3 is selected as both </a:t>
            </a:r>
            <a:endParaRPr sz="1900"/>
          </a:p>
          <a:p>
            <a:pPr indent="-514350" lvl="0" marL="514350" rtl="0" algn="l">
              <a:spcBef>
                <a:spcPts val="380"/>
              </a:spcBef>
              <a:spcAft>
                <a:spcPts val="0"/>
              </a:spcAft>
              <a:buClr>
                <a:schemeClr val="dk1"/>
              </a:buClr>
              <a:buSzPts val="1900"/>
              <a:buFont typeface="Calibri"/>
              <a:buAutoNum type="arabicPeriod"/>
            </a:pPr>
            <a:r>
              <a:rPr lang="en-US" sz="1900"/>
              <a:t>Finish[3] = false and [1, 0, 0]&lt;=[3, 1, 3]</a:t>
            </a:r>
            <a:endParaRPr sz="1900"/>
          </a:p>
          <a:p>
            <a:pPr indent="-514350" lvl="0" marL="514350" rtl="0" algn="l">
              <a:spcBef>
                <a:spcPts val="380"/>
              </a:spcBef>
              <a:spcAft>
                <a:spcPts val="0"/>
              </a:spcAft>
              <a:buClr>
                <a:schemeClr val="dk1"/>
              </a:buClr>
              <a:buSzPts val="1900"/>
              <a:buFont typeface="Calibri"/>
              <a:buAutoNum type="arabicPeriod"/>
            </a:pPr>
            <a:r>
              <a:rPr lang="en-US" sz="1900"/>
              <a:t>      Work =[3, 1, 3]+[2, 1, 1] =&gt;[5, 2, 4] &amp;</a:t>
            </a:r>
            <a:endParaRPr/>
          </a:p>
          <a:p>
            <a:pPr indent="-514350" lvl="0" marL="514350" rtl="0" algn="l">
              <a:spcBef>
                <a:spcPts val="380"/>
              </a:spcBef>
              <a:spcAft>
                <a:spcPts val="0"/>
              </a:spcAft>
              <a:buClr>
                <a:schemeClr val="dk1"/>
              </a:buClr>
              <a:buSzPts val="1900"/>
              <a:buFont typeface="Calibri"/>
              <a:buAutoNum type="arabicPeriod"/>
            </a:pPr>
            <a:r>
              <a:rPr lang="en-US" sz="1900"/>
              <a:t>      Finish = [true, false, true, true, false]</a:t>
            </a:r>
            <a:endParaRPr/>
          </a:p>
          <a:p>
            <a:pPr indent="-393700" lvl="0" marL="514350" rtl="0" algn="l">
              <a:spcBef>
                <a:spcPts val="380"/>
              </a:spcBef>
              <a:spcAft>
                <a:spcPts val="0"/>
              </a:spcAft>
              <a:buClr>
                <a:schemeClr val="dk1"/>
              </a:buClr>
              <a:buSzPts val="1900"/>
              <a:buFont typeface="Calibri"/>
              <a:buNone/>
            </a:pPr>
            <a:r>
              <a:t/>
            </a:r>
            <a:endParaRPr i="1" sz="1900"/>
          </a:p>
          <a:p>
            <a:pPr indent="-514350" lvl="0" marL="514350" rtl="0" algn="l">
              <a:spcBef>
                <a:spcPts val="380"/>
              </a:spcBef>
              <a:spcAft>
                <a:spcPts val="0"/>
              </a:spcAft>
              <a:buClr>
                <a:schemeClr val="dk1"/>
              </a:buClr>
              <a:buSzPts val="1900"/>
              <a:buFont typeface="Calibri"/>
              <a:buAutoNum type="arabicPeriod"/>
            </a:pPr>
            <a:r>
              <a:rPr i="1" lang="en-US" sz="1900"/>
              <a:t>i=4, is selected as both </a:t>
            </a:r>
            <a:endParaRPr/>
          </a:p>
          <a:p>
            <a:pPr indent="-514350" lvl="0" marL="514350" rtl="0" algn="l">
              <a:spcBef>
                <a:spcPts val="380"/>
              </a:spcBef>
              <a:spcAft>
                <a:spcPts val="0"/>
              </a:spcAft>
              <a:buClr>
                <a:schemeClr val="dk1"/>
              </a:buClr>
              <a:buSzPts val="1900"/>
              <a:buFont typeface="Calibri"/>
              <a:buAutoNum type="arabicPeriod"/>
            </a:pPr>
            <a:r>
              <a:rPr i="1" lang="en-US" sz="1900"/>
              <a:t>F</a:t>
            </a:r>
            <a:r>
              <a:rPr lang="en-US" sz="1900"/>
              <a:t>inish[4]=[false] and [0,0,2]&lt;=[5,2,4]</a:t>
            </a:r>
            <a:endParaRPr/>
          </a:p>
          <a:p>
            <a:pPr indent="-514350" lvl="0" marL="514350" rtl="0" algn="l">
              <a:spcBef>
                <a:spcPts val="380"/>
              </a:spcBef>
              <a:spcAft>
                <a:spcPts val="0"/>
              </a:spcAft>
              <a:buClr>
                <a:schemeClr val="dk1"/>
              </a:buClr>
              <a:buSzPts val="1900"/>
              <a:buFont typeface="Calibri"/>
              <a:buAutoNum type="arabicPeriod"/>
            </a:pPr>
            <a:r>
              <a:rPr i="1" lang="en-US" sz="1900"/>
              <a:t>Work=[5,2,4]+[0,0,2]=[5,2,6]</a:t>
            </a:r>
            <a:endParaRPr/>
          </a:p>
          <a:p>
            <a:pPr indent="-514350" lvl="0" marL="514350" rtl="0" algn="l">
              <a:spcBef>
                <a:spcPts val="380"/>
              </a:spcBef>
              <a:spcAft>
                <a:spcPts val="0"/>
              </a:spcAft>
              <a:buClr>
                <a:schemeClr val="dk1"/>
              </a:buClr>
              <a:buSzPts val="1900"/>
              <a:buFont typeface="Calibri"/>
              <a:buAutoNum type="arabicPeriod"/>
            </a:pPr>
            <a:r>
              <a:rPr lang="en-US" sz="1900"/>
              <a:t>Finish = [true, false, true, true, true]</a:t>
            </a:r>
            <a:endParaRPr sz="1900"/>
          </a:p>
          <a:p>
            <a:pPr indent="-393700" lvl="0" marL="514350" rtl="0" algn="l">
              <a:spcBef>
                <a:spcPts val="380"/>
              </a:spcBef>
              <a:spcAft>
                <a:spcPts val="0"/>
              </a:spcAft>
              <a:buClr>
                <a:schemeClr val="dk1"/>
              </a:buClr>
              <a:buSzPts val="1900"/>
              <a:buFont typeface="Calibri"/>
              <a:buNone/>
            </a:pPr>
            <a:r>
              <a:t/>
            </a:r>
            <a:endParaRPr i="1" sz="1900"/>
          </a:p>
          <a:p>
            <a:pPr indent="-514350" lvl="0" marL="514350" rtl="0" algn="l">
              <a:spcBef>
                <a:spcPts val="380"/>
              </a:spcBef>
              <a:spcAft>
                <a:spcPts val="0"/>
              </a:spcAft>
              <a:buClr>
                <a:schemeClr val="dk1"/>
              </a:buClr>
              <a:buSzPts val="1900"/>
              <a:buFont typeface="Calibri"/>
              <a:buAutoNum type="arabicPeriod"/>
            </a:pPr>
            <a:r>
              <a:rPr i="1" lang="en-US" sz="1900"/>
              <a:t>i=1</a:t>
            </a:r>
            <a:r>
              <a:rPr lang="en-US" sz="1900"/>
              <a:t> is selected as both </a:t>
            </a:r>
            <a:endParaRPr sz="1900"/>
          </a:p>
          <a:p>
            <a:pPr indent="-514350" lvl="0" marL="514350" rtl="0" algn="l">
              <a:spcBef>
                <a:spcPts val="380"/>
              </a:spcBef>
              <a:spcAft>
                <a:spcPts val="0"/>
              </a:spcAft>
              <a:buClr>
                <a:schemeClr val="dk1"/>
              </a:buClr>
              <a:buSzPts val="1900"/>
              <a:buFont typeface="Calibri"/>
              <a:buAutoNum type="arabicPeriod"/>
            </a:pPr>
            <a:r>
              <a:rPr lang="en-US" sz="1900"/>
              <a:t>Finish[1] = false and [2, 0, 2]&lt;=[5, 2, 6]</a:t>
            </a:r>
            <a:endParaRPr sz="1900"/>
          </a:p>
          <a:p>
            <a:pPr indent="-514350" lvl="0" marL="514350" rtl="0" algn="l">
              <a:spcBef>
                <a:spcPts val="380"/>
              </a:spcBef>
              <a:spcAft>
                <a:spcPts val="0"/>
              </a:spcAft>
              <a:buClr>
                <a:schemeClr val="dk1"/>
              </a:buClr>
              <a:buSzPts val="1900"/>
              <a:buFont typeface="Calibri"/>
              <a:buAutoNum type="arabicPeriod"/>
            </a:pPr>
            <a:r>
              <a:rPr lang="en-US" sz="1900"/>
              <a:t>      Work =[5, 2, 6]+[2, 0, 0] =&gt;[7, 2, 6] </a:t>
            </a:r>
            <a:endParaRPr/>
          </a:p>
          <a:p>
            <a:pPr indent="-514350" lvl="0" marL="514350" rtl="0" algn="l">
              <a:spcBef>
                <a:spcPts val="380"/>
              </a:spcBef>
              <a:spcAft>
                <a:spcPts val="0"/>
              </a:spcAft>
              <a:buClr>
                <a:schemeClr val="dk1"/>
              </a:buClr>
              <a:buSzPts val="1900"/>
              <a:buFont typeface="Calibri"/>
              <a:buAutoNum type="arabicPeriod"/>
            </a:pPr>
            <a:r>
              <a:rPr lang="en-US" sz="1900"/>
              <a:t>Finish = [true, true, true, true, true].</a:t>
            </a:r>
            <a:endParaRPr/>
          </a:p>
          <a:p>
            <a:pPr indent="-336550" lvl="0" marL="457200" rtl="0" algn="l">
              <a:spcBef>
                <a:spcPts val="380"/>
              </a:spcBef>
              <a:spcAft>
                <a:spcPts val="0"/>
              </a:spcAft>
              <a:buClr>
                <a:schemeClr val="dk1"/>
              </a:buClr>
              <a:buSzPts val="1900"/>
              <a:buFont typeface="Calibri"/>
              <a:buNone/>
            </a:pPr>
            <a:r>
              <a:t/>
            </a:r>
            <a:endParaRPr sz="1900"/>
          </a:p>
          <a:p>
            <a:pPr indent="0" lvl="0" marL="0" rtl="0" algn="l">
              <a:spcBef>
                <a:spcPts val="520"/>
              </a:spcBef>
              <a:spcAft>
                <a:spcPts val="0"/>
              </a:spcAft>
              <a:buClr>
                <a:schemeClr val="dk1"/>
              </a:buClr>
              <a:buSzPts val="2600"/>
              <a:buNone/>
            </a:pPr>
            <a:r>
              <a:t/>
            </a:r>
            <a:endParaRPr sz="2600"/>
          </a:p>
          <a:p>
            <a:pPr indent="-330200" lvl="0" marL="457200" rtl="0" algn="l">
              <a:spcBef>
                <a:spcPts val="400"/>
              </a:spcBef>
              <a:spcAft>
                <a:spcPts val="0"/>
              </a:spcAft>
              <a:buClr>
                <a:schemeClr val="dk1"/>
              </a:buClr>
              <a:buSzPts val="2000"/>
              <a:buFont typeface="Calibri"/>
              <a:buNone/>
            </a:pPr>
            <a:r>
              <a:t/>
            </a:r>
            <a:endParaRPr sz="2000"/>
          </a:p>
          <a:p>
            <a:pPr indent="0" lvl="0" marL="0" rtl="0" algn="l">
              <a:spcBef>
                <a:spcPts val="400"/>
              </a:spcBef>
              <a:spcAft>
                <a:spcPts val="0"/>
              </a:spcAft>
              <a:buClr>
                <a:schemeClr val="dk1"/>
              </a:buClr>
              <a:buSzPts val="2000"/>
              <a:buNone/>
            </a:pPr>
            <a:r>
              <a:t/>
            </a:r>
            <a:endParaRPr sz="2000"/>
          </a:p>
        </p:txBody>
      </p:sp>
      <p:sp>
        <p:nvSpPr>
          <p:cNvPr id="1236" name="Google Shape;1236;p105"/>
          <p:cNvSpPr/>
          <p:nvPr/>
        </p:nvSpPr>
        <p:spPr>
          <a:xfrm>
            <a:off x="6477000" y="1295400"/>
            <a:ext cx="2667000" cy="2397579"/>
          </a:xfrm>
          <a:prstGeom prst="rect">
            <a:avLst/>
          </a:prstGeom>
          <a:noFill/>
          <a:ln>
            <a:noFill/>
          </a:ln>
        </p:spPr>
        <p:txBody>
          <a:bodyPr anchorCtr="0" anchor="t" bIns="45700" lIns="91425" spcFirstLastPara="1" rIns="91425" wrap="square" tIns="45700">
            <a:spAutoFit/>
          </a:bodyPr>
          <a:lstStyle/>
          <a:p>
            <a:pPr indent="-393700" lvl="0" marL="393700" marR="0" rtl="0" algn="l">
              <a:spcBef>
                <a:spcPts val="0"/>
              </a:spcBef>
              <a:spcAft>
                <a:spcPts val="0"/>
              </a:spcAft>
              <a:buClr>
                <a:schemeClr val="dk1"/>
              </a:buClr>
              <a:buSzPts val="1400"/>
              <a:buFont typeface="Arial"/>
              <a:buNone/>
            </a:pPr>
            <a:r>
              <a:rPr lang="en-US" sz="1400">
                <a:solidFill>
                  <a:schemeClr val="dk1"/>
                </a:solidFill>
                <a:latin typeface="Calibri"/>
                <a:ea typeface="Calibri"/>
                <a:cs typeface="Calibri"/>
                <a:sym typeface="Calibri"/>
              </a:rPr>
              <a:t>Check If</a:t>
            </a:r>
            <a:endParaRPr/>
          </a:p>
          <a:p>
            <a:pPr indent="-393700" lvl="0" marL="393700" marR="0" rtl="0" algn="l">
              <a:spcBef>
                <a:spcPts val="0"/>
              </a:spcBef>
              <a:spcAft>
                <a:spcPts val="0"/>
              </a:spcAft>
              <a:buClr>
                <a:schemeClr val="dk1"/>
              </a:buClr>
              <a:buSzPts val="1400"/>
              <a:buFont typeface="Arial"/>
              <a:buNone/>
            </a:pPr>
            <a:r>
              <a:rPr lang="en-US" sz="1400">
                <a:solidFill>
                  <a:schemeClr val="dk1"/>
                </a:solidFill>
                <a:latin typeface="Calibri"/>
                <a:ea typeface="Calibri"/>
                <a:cs typeface="Calibri"/>
                <a:sym typeface="Calibri"/>
              </a:rPr>
              <a:t>(a)	</a:t>
            </a:r>
            <a:r>
              <a:rPr b="1" i="1" lang="en-US" sz="1400">
                <a:solidFill>
                  <a:schemeClr val="dk1"/>
                </a:solidFill>
                <a:latin typeface="Calibri"/>
                <a:ea typeface="Calibri"/>
                <a:cs typeface="Calibri"/>
                <a:sym typeface="Calibri"/>
              </a:rPr>
              <a:t>Finish</a:t>
            </a:r>
            <a:r>
              <a:rPr b="1" lang="en-US" sz="1400">
                <a:solidFill>
                  <a:schemeClr val="dk1"/>
                </a:solidFill>
                <a:latin typeface="Calibri"/>
                <a:ea typeface="Calibri"/>
                <a:cs typeface="Calibri"/>
                <a:sym typeface="Calibri"/>
              </a:rPr>
              <a:t>[</a:t>
            </a:r>
            <a:r>
              <a:rPr b="1" i="1" lang="en-US" sz="1400">
                <a:solidFill>
                  <a:schemeClr val="dk1"/>
                </a:solidFill>
                <a:latin typeface="Calibri"/>
                <a:ea typeface="Calibri"/>
                <a:cs typeface="Calibri"/>
                <a:sym typeface="Calibri"/>
              </a:rPr>
              <a:t>i</a:t>
            </a:r>
            <a:r>
              <a:rPr b="1" lang="en-US" sz="1400">
                <a:solidFill>
                  <a:schemeClr val="dk1"/>
                </a:solidFill>
                <a:latin typeface="Calibri"/>
                <a:ea typeface="Calibri"/>
                <a:cs typeface="Calibri"/>
                <a:sym typeface="Calibri"/>
              </a:rPr>
              <a:t>] == </a:t>
            </a:r>
            <a:r>
              <a:rPr b="1" i="1" lang="en-US" sz="1400">
                <a:solidFill>
                  <a:schemeClr val="dk1"/>
                </a:solidFill>
                <a:latin typeface="Calibri"/>
                <a:ea typeface="Calibri"/>
                <a:cs typeface="Calibri"/>
                <a:sym typeface="Calibri"/>
              </a:rPr>
              <a:t>false</a:t>
            </a:r>
            <a:endParaRPr b="1" sz="1400">
              <a:solidFill>
                <a:schemeClr val="dk1"/>
              </a:solidFill>
              <a:latin typeface="Calibri"/>
              <a:ea typeface="Calibri"/>
              <a:cs typeface="Calibri"/>
              <a:sym typeface="Calibri"/>
            </a:endParaRPr>
          </a:p>
          <a:p>
            <a:pPr indent="-393700" lvl="0" marL="393700" marR="0" rtl="0" algn="l">
              <a:spcBef>
                <a:spcPts val="0"/>
              </a:spcBef>
              <a:spcAft>
                <a:spcPts val="0"/>
              </a:spcAft>
              <a:buClr>
                <a:schemeClr val="dk1"/>
              </a:buClr>
              <a:buSzPts val="1400"/>
              <a:buFont typeface="Arial"/>
              <a:buAutoNum type="alphaLcParenBoth" startAt="2"/>
            </a:pPr>
            <a:r>
              <a:rPr b="1" i="1" lang="en-US" sz="1400">
                <a:solidFill>
                  <a:schemeClr val="dk1"/>
                </a:solidFill>
                <a:latin typeface="Calibri"/>
                <a:ea typeface="Calibri"/>
                <a:cs typeface="Calibri"/>
                <a:sym typeface="Calibri"/>
              </a:rPr>
              <a:t>Request</a:t>
            </a:r>
            <a:r>
              <a:rPr b="1" baseline="-25000" i="1" lang="en-US" sz="1400">
                <a:solidFill>
                  <a:schemeClr val="dk1"/>
                </a:solidFill>
                <a:latin typeface="Calibri"/>
                <a:ea typeface="Calibri"/>
                <a:cs typeface="Calibri"/>
                <a:sym typeface="Calibri"/>
              </a:rPr>
              <a:t>i</a:t>
            </a:r>
            <a:r>
              <a:rPr b="1" lang="en-US" sz="1400">
                <a:solidFill>
                  <a:schemeClr val="dk1"/>
                </a:solidFill>
                <a:latin typeface="Calibri"/>
                <a:ea typeface="Calibri"/>
                <a:cs typeface="Calibri"/>
                <a:sym typeface="Calibri"/>
              </a:rPr>
              <a:t> ≤ </a:t>
            </a:r>
            <a:r>
              <a:rPr b="1" i="1" lang="en-US" sz="1400">
                <a:solidFill>
                  <a:schemeClr val="dk1"/>
                </a:solidFill>
                <a:latin typeface="Calibri"/>
                <a:ea typeface="Calibri"/>
                <a:cs typeface="Calibri"/>
                <a:sym typeface="Calibri"/>
              </a:rPr>
              <a:t>Work</a:t>
            </a:r>
            <a:endParaRPr/>
          </a:p>
          <a:p>
            <a:pPr indent="0" lvl="0" marL="0" marR="0" rtl="0" algn="l">
              <a:spcBef>
                <a:spcPts val="0"/>
              </a:spcBef>
              <a:spcAft>
                <a:spcPts val="0"/>
              </a:spcAft>
              <a:buNone/>
            </a:pPr>
            <a:r>
              <a:rPr b="1" i="1" lang="en-US" sz="1400">
                <a:solidFill>
                  <a:schemeClr val="dk1"/>
                </a:solidFill>
                <a:latin typeface="Calibri"/>
                <a:ea typeface="Calibri"/>
                <a:cs typeface="Calibri"/>
                <a:sym typeface="Calibri"/>
              </a:rPr>
              <a:t>Then</a:t>
            </a:r>
            <a:endParaRPr/>
          </a:p>
          <a:p>
            <a:pPr indent="0" lvl="0" marL="0" marR="0" rtl="0" algn="l">
              <a:spcBef>
                <a:spcPts val="0"/>
              </a:spcBef>
              <a:spcAft>
                <a:spcPts val="0"/>
              </a:spcAft>
              <a:buNone/>
            </a:pPr>
            <a:r>
              <a:rPr b="1" i="1" lang="en-US" sz="1400">
                <a:solidFill>
                  <a:schemeClr val="dk1"/>
                </a:solidFill>
                <a:latin typeface="Calibri"/>
                <a:ea typeface="Calibri"/>
                <a:cs typeface="Calibri"/>
                <a:sym typeface="Calibri"/>
              </a:rPr>
              <a:t>Work</a:t>
            </a:r>
            <a:r>
              <a:rPr b="1" lang="en-US" sz="1400">
                <a:solidFill>
                  <a:schemeClr val="dk1"/>
                </a:solidFill>
                <a:latin typeface="Calibri"/>
                <a:ea typeface="Calibri"/>
                <a:cs typeface="Calibri"/>
                <a:sym typeface="Calibri"/>
              </a:rPr>
              <a:t> = </a:t>
            </a:r>
            <a:r>
              <a:rPr b="1" i="1" lang="en-US" sz="1400">
                <a:solidFill>
                  <a:schemeClr val="dk1"/>
                </a:solidFill>
                <a:latin typeface="Calibri"/>
                <a:ea typeface="Calibri"/>
                <a:cs typeface="Calibri"/>
                <a:sym typeface="Calibri"/>
              </a:rPr>
              <a:t>Work</a:t>
            </a:r>
            <a:r>
              <a:rPr b="1" lang="en-US" sz="1400">
                <a:solidFill>
                  <a:schemeClr val="dk1"/>
                </a:solidFill>
                <a:latin typeface="Calibri"/>
                <a:ea typeface="Calibri"/>
                <a:cs typeface="Calibri"/>
                <a:sym typeface="Calibri"/>
              </a:rPr>
              <a:t> + </a:t>
            </a:r>
            <a:r>
              <a:rPr b="1" i="1" lang="en-US" sz="1400">
                <a:solidFill>
                  <a:schemeClr val="dk1"/>
                </a:solidFill>
                <a:latin typeface="Calibri"/>
                <a:ea typeface="Calibri"/>
                <a:cs typeface="Calibri"/>
                <a:sym typeface="Calibri"/>
              </a:rPr>
              <a:t>Allocation</a:t>
            </a:r>
            <a:r>
              <a:rPr b="1" baseline="-25000" i="1" lang="en-US" sz="1400">
                <a:solidFill>
                  <a:schemeClr val="dk1"/>
                </a:solidFill>
                <a:latin typeface="Calibri"/>
                <a:ea typeface="Calibri"/>
                <a:cs typeface="Calibri"/>
                <a:sym typeface="Calibri"/>
              </a:rPr>
              <a:t>i</a:t>
            </a:r>
            <a:br>
              <a:rPr b="1" lang="en-US" sz="1400">
                <a:solidFill>
                  <a:schemeClr val="dk1"/>
                </a:solidFill>
                <a:latin typeface="Calibri"/>
                <a:ea typeface="Calibri"/>
                <a:cs typeface="Calibri"/>
                <a:sym typeface="Calibri"/>
              </a:rPr>
            </a:br>
            <a:r>
              <a:rPr b="1" i="1" lang="en-US" sz="1400">
                <a:solidFill>
                  <a:schemeClr val="dk1"/>
                </a:solidFill>
                <a:latin typeface="Calibri"/>
                <a:ea typeface="Calibri"/>
                <a:cs typeface="Calibri"/>
                <a:sym typeface="Calibri"/>
              </a:rPr>
              <a:t>Finish</a:t>
            </a:r>
            <a:r>
              <a:rPr b="1" lang="en-US" sz="1400">
                <a:solidFill>
                  <a:schemeClr val="dk1"/>
                </a:solidFill>
                <a:latin typeface="Calibri"/>
                <a:ea typeface="Calibri"/>
                <a:cs typeface="Calibri"/>
                <a:sym typeface="Calibri"/>
              </a:rPr>
              <a:t>[</a:t>
            </a:r>
            <a:r>
              <a:rPr b="1" i="1" lang="en-US" sz="1400">
                <a:solidFill>
                  <a:schemeClr val="dk1"/>
                </a:solidFill>
                <a:latin typeface="Calibri"/>
                <a:ea typeface="Calibri"/>
                <a:cs typeface="Calibri"/>
                <a:sym typeface="Calibri"/>
              </a:rPr>
              <a:t>i</a:t>
            </a:r>
            <a:r>
              <a:rPr b="1" lang="en-US" sz="1400">
                <a:solidFill>
                  <a:schemeClr val="dk1"/>
                </a:solidFill>
                <a:latin typeface="Calibri"/>
                <a:ea typeface="Calibri"/>
                <a:cs typeface="Calibri"/>
                <a:sym typeface="Calibri"/>
              </a:rPr>
              <a:t>] = </a:t>
            </a:r>
            <a:r>
              <a:rPr b="1" i="1" lang="en-US" sz="1400">
                <a:solidFill>
                  <a:schemeClr val="dk1"/>
                </a:solidFill>
                <a:latin typeface="Calibri"/>
                <a:ea typeface="Calibri"/>
                <a:cs typeface="Calibri"/>
                <a:sym typeface="Calibri"/>
              </a:rPr>
              <a:t>true</a:t>
            </a:r>
            <a:endParaRPr/>
          </a:p>
          <a:p>
            <a:pPr indent="0" lvl="0" marL="0" marR="0" rtl="0" algn="l">
              <a:spcBef>
                <a:spcPts val="0"/>
              </a:spcBef>
              <a:spcAft>
                <a:spcPts val="0"/>
              </a:spcAft>
              <a:buNone/>
            </a:pPr>
            <a:r>
              <a:t/>
            </a:r>
            <a:endParaRPr b="1" i="1" sz="1400">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400"/>
              <a:buFont typeface="Arial"/>
              <a:buNone/>
            </a:pPr>
            <a:r>
              <a:rPr lang="en-US" sz="1400">
                <a:solidFill>
                  <a:schemeClr val="dk1"/>
                </a:solidFill>
                <a:latin typeface="Calibri"/>
                <a:ea typeface="Calibri"/>
                <a:cs typeface="Calibri"/>
                <a:sym typeface="Calibri"/>
              </a:rPr>
              <a:t>If </a:t>
            </a:r>
            <a:r>
              <a:rPr b="1" i="1" lang="en-US" sz="1400">
                <a:solidFill>
                  <a:schemeClr val="dk1"/>
                </a:solidFill>
                <a:latin typeface="Calibri"/>
                <a:ea typeface="Calibri"/>
                <a:cs typeface="Calibri"/>
                <a:sym typeface="Calibri"/>
              </a:rPr>
              <a:t>Finish[i] == false</a:t>
            </a:r>
            <a:r>
              <a:rPr lang="en-US" sz="1400">
                <a:solidFill>
                  <a:schemeClr val="dk1"/>
                </a:solidFill>
                <a:latin typeface="Calibri"/>
                <a:ea typeface="Calibri"/>
                <a:cs typeface="Calibri"/>
                <a:sym typeface="Calibri"/>
              </a:rPr>
              <a:t>, for some </a:t>
            </a:r>
            <a:r>
              <a:rPr b="1" i="1" lang="en-US" sz="1400">
                <a:solidFill>
                  <a:schemeClr val="dk1"/>
                </a:solidFill>
                <a:latin typeface="Calibri"/>
                <a:ea typeface="Calibri"/>
                <a:cs typeface="Calibri"/>
                <a:sym typeface="Calibri"/>
              </a:rPr>
              <a:t>i</a:t>
            </a:r>
            <a:r>
              <a:rPr lang="en-US" sz="1400">
                <a:solidFill>
                  <a:schemeClr val="dk1"/>
                </a:solidFill>
                <a:latin typeface="Calibri"/>
                <a:ea typeface="Calibri"/>
                <a:cs typeface="Calibri"/>
                <a:sym typeface="Calibri"/>
              </a:rPr>
              <a:t>, 1 ≤ </a:t>
            </a:r>
            <a:r>
              <a:rPr b="1" i="1" lang="en-US" sz="1400">
                <a:solidFill>
                  <a:schemeClr val="dk1"/>
                </a:solidFill>
                <a:latin typeface="Calibri"/>
                <a:ea typeface="Calibri"/>
                <a:cs typeface="Calibri"/>
                <a:sym typeface="Calibri"/>
              </a:rPr>
              <a:t>i</a:t>
            </a:r>
            <a:r>
              <a:rPr lang="en-US" sz="1400">
                <a:solidFill>
                  <a:schemeClr val="dk1"/>
                </a:solidFill>
                <a:latin typeface="Calibri"/>
                <a:ea typeface="Calibri"/>
                <a:cs typeface="Calibri"/>
                <a:sym typeface="Calibri"/>
              </a:rPr>
              <a:t> ≤  </a:t>
            </a:r>
            <a:r>
              <a:rPr b="1" i="1" lang="en-US" sz="1400">
                <a:solidFill>
                  <a:schemeClr val="dk1"/>
                </a:solidFill>
                <a:latin typeface="Calibri"/>
                <a:ea typeface="Calibri"/>
                <a:cs typeface="Calibri"/>
                <a:sym typeface="Calibri"/>
              </a:rPr>
              <a:t>n</a:t>
            </a:r>
            <a:r>
              <a:rPr lang="en-US" sz="1400">
                <a:solidFill>
                  <a:schemeClr val="dk1"/>
                </a:solidFill>
                <a:latin typeface="Calibri"/>
                <a:ea typeface="Calibri"/>
                <a:cs typeface="Calibri"/>
                <a:sym typeface="Calibri"/>
              </a:rPr>
              <a:t>, then the system is in deadlock state.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400">
              <a:solidFill>
                <a:schemeClr val="dk1"/>
              </a:solidFill>
              <a:latin typeface="Calibri"/>
              <a:ea typeface="Calibri"/>
              <a:cs typeface="Calibri"/>
              <a:sym typeface="Calibri"/>
            </a:endParaRPr>
          </a:p>
        </p:txBody>
      </p:sp>
      <p:pic>
        <p:nvPicPr>
          <p:cNvPr id="1237" name="Google Shape;1237;p105"/>
          <p:cNvPicPr preferRelativeResize="0"/>
          <p:nvPr/>
        </p:nvPicPr>
        <p:blipFill rotWithShape="1">
          <a:blip r:embed="rId3">
            <a:alphaModFix/>
          </a:blip>
          <a:srcRect b="50000" l="30454" r="38311" t="22222"/>
          <a:stretch/>
        </p:blipFill>
        <p:spPr>
          <a:xfrm>
            <a:off x="6616700" y="3733800"/>
            <a:ext cx="2387600" cy="2032000"/>
          </a:xfrm>
          <a:prstGeom prst="rect">
            <a:avLst/>
          </a:prstGeom>
          <a:noFill/>
          <a:ln>
            <a:noFill/>
          </a:ln>
        </p:spPr>
      </p:pic>
      <p:sp>
        <p:nvSpPr>
          <p:cNvPr id="1238" name="Google Shape;1238;p105"/>
          <p:cNvSpPr/>
          <p:nvPr/>
        </p:nvSpPr>
        <p:spPr>
          <a:xfrm>
            <a:off x="1066800" y="5943600"/>
            <a:ext cx="206332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rgbClr val="00B0F0"/>
                </a:solidFill>
                <a:latin typeface="Calibri"/>
                <a:ea typeface="Calibri"/>
                <a:cs typeface="Calibri"/>
                <a:sym typeface="Calibri"/>
              </a:rPr>
              <a:t>No Finish[i] == false</a:t>
            </a:r>
            <a:endParaRPr/>
          </a:p>
          <a:p>
            <a:pPr indent="0" lvl="0" marL="0" marR="0" rtl="0" algn="l">
              <a:spcBef>
                <a:spcPts val="0"/>
              </a:spcBef>
              <a:spcAft>
                <a:spcPts val="0"/>
              </a:spcAft>
              <a:buNone/>
            </a:pPr>
            <a:r>
              <a:rPr b="1" i="1" lang="en-US" sz="1800">
                <a:solidFill>
                  <a:srgbClr val="00B0F0"/>
                </a:solidFill>
                <a:latin typeface="Calibri"/>
                <a:ea typeface="Calibri"/>
                <a:cs typeface="Calibri"/>
                <a:sym typeface="Calibri"/>
              </a:rPr>
              <a:t>No deadlock</a:t>
            </a:r>
            <a:endParaRPr sz="1800">
              <a:solidFill>
                <a:srgbClr val="00B0F0"/>
              </a:solidFill>
              <a:latin typeface="Calibri"/>
              <a:ea typeface="Calibri"/>
              <a:cs typeface="Calibri"/>
              <a:sym typeface="Calibri"/>
            </a:endParaRPr>
          </a:p>
        </p:txBody>
      </p:sp>
      <p:sp>
        <p:nvSpPr>
          <p:cNvPr id="1239" name="Google Shape;1239;p10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240" name="Google Shape;1240;p10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241" name="Google Shape;1241;p10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sp>
        <p:nvSpPr>
          <p:cNvPr id="1247" name="Google Shape;1247;p106"/>
          <p:cNvSpPr txBox="1"/>
          <p:nvPr>
            <p:ph type="title"/>
          </p:nvPr>
        </p:nvSpPr>
        <p:spPr>
          <a:xfrm>
            <a:off x="457200" y="214313"/>
            <a:ext cx="8229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Example (Cont.)</a:t>
            </a:r>
            <a:endParaRPr/>
          </a:p>
        </p:txBody>
      </p:sp>
      <p:sp>
        <p:nvSpPr>
          <p:cNvPr id="1248" name="Google Shape;1248;p106"/>
          <p:cNvSpPr txBox="1"/>
          <p:nvPr>
            <p:ph idx="1" type="body"/>
          </p:nvPr>
        </p:nvSpPr>
        <p:spPr>
          <a:xfrm>
            <a:off x="806450" y="1233488"/>
            <a:ext cx="7781925" cy="5037137"/>
          </a:xfrm>
          <a:prstGeom prst="rect">
            <a:avLst/>
          </a:prstGeom>
          <a:noFill/>
          <a:ln>
            <a:noFill/>
          </a:ln>
        </p:spPr>
        <p:txBody>
          <a:bodyPr anchorCtr="0" anchor="t" bIns="45700" lIns="91425" spcFirstLastPara="1" rIns="91425" wrap="square" tIns="45700">
            <a:normAutofit fontScale="55000" lnSpcReduction="20000"/>
          </a:bodyPr>
          <a:lstStyle/>
          <a:p>
            <a:pPr indent="-342900" lvl="0" marL="342900" rtl="0" algn="l">
              <a:spcBef>
                <a:spcPts val="0"/>
              </a:spcBef>
              <a:spcAft>
                <a:spcPts val="0"/>
              </a:spcAft>
              <a:buClr>
                <a:schemeClr val="dk1"/>
              </a:buClr>
              <a:buSzPct val="100000"/>
              <a:buChar char="•"/>
            </a:pPr>
            <a:r>
              <a:rPr b="1" i="1" lang="en-US"/>
              <a:t>P</a:t>
            </a:r>
            <a:r>
              <a:rPr b="1" baseline="-25000" lang="en-US"/>
              <a:t>2</a:t>
            </a:r>
            <a:r>
              <a:rPr lang="en-US"/>
              <a:t> requests an additional instance of type</a:t>
            </a:r>
            <a:r>
              <a:rPr i="1" lang="en-US"/>
              <a:t> </a:t>
            </a:r>
            <a:r>
              <a:rPr b="1" i="1" lang="en-US"/>
              <a:t>C</a:t>
            </a:r>
            <a:endParaRPr b="1"/>
          </a:p>
          <a:p>
            <a:pPr indent="-342900" lvl="0" marL="342900" rtl="0" algn="l">
              <a:spcBef>
                <a:spcPts val="352"/>
              </a:spcBef>
              <a:spcAft>
                <a:spcPts val="0"/>
              </a:spcAft>
              <a:buClr>
                <a:schemeClr val="dk1"/>
              </a:buClr>
              <a:buSzPct val="100000"/>
              <a:buFont typeface="Arial"/>
              <a:buNone/>
            </a:pPr>
            <a:r>
              <a:rPr lang="en-US"/>
              <a:t>			</a:t>
            </a:r>
            <a:r>
              <a:rPr i="1" lang="en-US" u="sng"/>
              <a:t>Request</a:t>
            </a:r>
            <a:endParaRPr i="1"/>
          </a:p>
          <a:p>
            <a:pPr indent="-342900" lvl="0" marL="342900" rtl="0" algn="l">
              <a:spcBef>
                <a:spcPts val="352"/>
              </a:spcBef>
              <a:spcAft>
                <a:spcPts val="0"/>
              </a:spcAft>
              <a:buClr>
                <a:schemeClr val="dk1"/>
              </a:buClr>
              <a:buSzPct val="100000"/>
              <a:buFont typeface="Arial"/>
              <a:buNone/>
            </a:pPr>
            <a:r>
              <a:rPr i="1" lang="en-US"/>
              <a:t>			A B C</a:t>
            </a:r>
            <a:endParaRPr/>
          </a:p>
          <a:p>
            <a:pPr indent="-342900" lvl="0" marL="342900" rtl="0" algn="l">
              <a:spcBef>
                <a:spcPts val="352"/>
              </a:spcBef>
              <a:spcAft>
                <a:spcPts val="0"/>
              </a:spcAft>
              <a:buClr>
                <a:schemeClr val="dk1"/>
              </a:buClr>
              <a:buSzPct val="100000"/>
              <a:buFont typeface="Arial"/>
              <a:buNone/>
            </a:pPr>
            <a:r>
              <a:rPr lang="en-US"/>
              <a:t>		 </a:t>
            </a:r>
            <a:r>
              <a:rPr i="1" lang="en-US"/>
              <a:t>P</a:t>
            </a:r>
            <a:r>
              <a:rPr baseline="-25000" lang="en-US"/>
              <a:t>0</a:t>
            </a:r>
            <a:r>
              <a:rPr lang="en-US"/>
              <a:t>	0 0 0</a:t>
            </a:r>
            <a:endParaRPr/>
          </a:p>
          <a:p>
            <a:pPr indent="-342900" lvl="0" marL="342900" rtl="0" algn="l">
              <a:spcBef>
                <a:spcPts val="352"/>
              </a:spcBef>
              <a:spcAft>
                <a:spcPts val="0"/>
              </a:spcAft>
              <a:buClr>
                <a:schemeClr val="dk1"/>
              </a:buClr>
              <a:buSzPct val="100000"/>
              <a:buFont typeface="Arial"/>
              <a:buNone/>
            </a:pPr>
            <a:r>
              <a:rPr lang="en-US"/>
              <a:t>		 </a:t>
            </a:r>
            <a:r>
              <a:rPr i="1" lang="en-US"/>
              <a:t>P</a:t>
            </a:r>
            <a:r>
              <a:rPr baseline="-25000" lang="en-US"/>
              <a:t>1</a:t>
            </a:r>
            <a:r>
              <a:rPr lang="en-US"/>
              <a:t>	2 0 2</a:t>
            </a:r>
            <a:endParaRPr/>
          </a:p>
          <a:p>
            <a:pPr indent="-342900" lvl="0" marL="342900" rtl="0" algn="l">
              <a:spcBef>
                <a:spcPts val="352"/>
              </a:spcBef>
              <a:spcAft>
                <a:spcPts val="0"/>
              </a:spcAft>
              <a:buClr>
                <a:schemeClr val="dk1"/>
              </a:buClr>
              <a:buSzPct val="100000"/>
              <a:buFont typeface="Arial"/>
              <a:buNone/>
            </a:pPr>
            <a:r>
              <a:rPr lang="en-US"/>
              <a:t>		 </a:t>
            </a:r>
            <a:r>
              <a:rPr i="1" lang="en-US"/>
              <a:t>P</a:t>
            </a:r>
            <a:r>
              <a:rPr baseline="-25000" lang="en-US"/>
              <a:t>2</a:t>
            </a:r>
            <a:r>
              <a:rPr lang="en-US"/>
              <a:t>	0 0 1</a:t>
            </a:r>
            <a:endParaRPr/>
          </a:p>
          <a:p>
            <a:pPr indent="-342900" lvl="0" marL="342900" rtl="0" algn="l">
              <a:spcBef>
                <a:spcPts val="352"/>
              </a:spcBef>
              <a:spcAft>
                <a:spcPts val="0"/>
              </a:spcAft>
              <a:buClr>
                <a:schemeClr val="dk1"/>
              </a:buClr>
              <a:buSzPct val="100000"/>
              <a:buFont typeface="Arial"/>
              <a:buNone/>
            </a:pPr>
            <a:r>
              <a:rPr lang="en-US"/>
              <a:t>		 </a:t>
            </a:r>
            <a:r>
              <a:rPr i="1" lang="en-US"/>
              <a:t>P</a:t>
            </a:r>
            <a:r>
              <a:rPr baseline="-25000" lang="en-US"/>
              <a:t>3</a:t>
            </a:r>
            <a:r>
              <a:rPr lang="en-US"/>
              <a:t>	1 0 0 </a:t>
            </a:r>
            <a:endParaRPr/>
          </a:p>
          <a:p>
            <a:pPr indent="-342900" lvl="0" marL="342900" rtl="0" algn="l">
              <a:spcBef>
                <a:spcPts val="352"/>
              </a:spcBef>
              <a:spcAft>
                <a:spcPts val="0"/>
              </a:spcAft>
              <a:buClr>
                <a:schemeClr val="dk1"/>
              </a:buClr>
              <a:buSzPct val="100000"/>
              <a:buFont typeface="Arial"/>
              <a:buNone/>
            </a:pPr>
            <a:r>
              <a:rPr lang="en-US"/>
              <a:t>		 </a:t>
            </a:r>
            <a:r>
              <a:rPr i="1" lang="en-US"/>
              <a:t>P</a:t>
            </a:r>
            <a:r>
              <a:rPr baseline="-25000" lang="en-US"/>
              <a:t>4</a:t>
            </a:r>
            <a:r>
              <a:rPr lang="en-US"/>
              <a:t>	0 0 2</a:t>
            </a:r>
            <a:endParaRPr/>
          </a:p>
          <a:p>
            <a:pPr indent="-342900" lvl="0" marL="342900" rtl="0" algn="l">
              <a:spcBef>
                <a:spcPts val="352"/>
              </a:spcBef>
              <a:spcAft>
                <a:spcPts val="0"/>
              </a:spcAft>
              <a:buClr>
                <a:schemeClr val="dk1"/>
              </a:buClr>
              <a:buSzPct val="100000"/>
              <a:buFont typeface="Arial"/>
              <a:buNone/>
            </a:pPr>
            <a:r>
              <a:rPr lang="en-US"/>
              <a:t>Snapshot at time T0:</a:t>
            </a:r>
            <a:endParaRPr/>
          </a:p>
          <a:p>
            <a:pPr indent="-342900" lvl="0" marL="342900" rtl="0" algn="l">
              <a:spcBef>
                <a:spcPts val="352"/>
              </a:spcBef>
              <a:spcAft>
                <a:spcPts val="0"/>
              </a:spcAft>
              <a:buClr>
                <a:schemeClr val="dk1"/>
              </a:buClr>
              <a:buSzPct val="100000"/>
              <a:buFont typeface="Arial"/>
              <a:buNone/>
            </a:pPr>
            <a:r>
              <a:rPr lang="en-US"/>
              <a:t>			 Allocation	Request	Available</a:t>
            </a:r>
            <a:endParaRPr/>
          </a:p>
          <a:p>
            <a:pPr indent="-342900" lvl="0" marL="342900" rtl="0" algn="l">
              <a:spcBef>
                <a:spcPts val="352"/>
              </a:spcBef>
              <a:spcAft>
                <a:spcPts val="0"/>
              </a:spcAft>
              <a:buClr>
                <a:schemeClr val="dk1"/>
              </a:buClr>
              <a:buSzPct val="100000"/>
              <a:buFont typeface="Arial"/>
              <a:buNone/>
            </a:pPr>
            <a:r>
              <a:rPr lang="en-US"/>
              <a:t>			A B C 	  A B C 	A B C</a:t>
            </a:r>
            <a:endParaRPr/>
          </a:p>
          <a:p>
            <a:pPr indent="-342900" lvl="0" marL="342900" rtl="0" algn="l">
              <a:spcBef>
                <a:spcPts val="352"/>
              </a:spcBef>
              <a:spcAft>
                <a:spcPts val="0"/>
              </a:spcAft>
              <a:buClr>
                <a:schemeClr val="dk1"/>
              </a:buClr>
              <a:buSzPct val="100000"/>
              <a:buFont typeface="Arial"/>
              <a:buNone/>
            </a:pPr>
            <a:r>
              <a:rPr lang="en-US"/>
              <a:t>	      P0	          0 1 0                 0 0 0 	0 0 0</a:t>
            </a:r>
            <a:endParaRPr/>
          </a:p>
          <a:p>
            <a:pPr indent="-342900" lvl="0" marL="342900" rtl="0" algn="l">
              <a:spcBef>
                <a:spcPts val="352"/>
              </a:spcBef>
              <a:spcAft>
                <a:spcPts val="0"/>
              </a:spcAft>
              <a:buClr>
                <a:schemeClr val="dk1"/>
              </a:buClr>
              <a:buSzPct val="100000"/>
              <a:buFont typeface="Arial"/>
              <a:buNone/>
            </a:pPr>
            <a:r>
              <a:rPr lang="en-US"/>
              <a:t>             P1	          2 0 0 	  2 0 2</a:t>
            </a:r>
            <a:endParaRPr/>
          </a:p>
          <a:p>
            <a:pPr indent="-342900" lvl="0" marL="342900" rtl="0" algn="l">
              <a:spcBef>
                <a:spcPts val="352"/>
              </a:spcBef>
              <a:spcAft>
                <a:spcPts val="0"/>
              </a:spcAft>
              <a:buClr>
                <a:schemeClr val="dk1"/>
              </a:buClr>
              <a:buSzPct val="100000"/>
              <a:buFont typeface="Arial"/>
              <a:buNone/>
            </a:pPr>
            <a:r>
              <a:rPr lang="en-US"/>
              <a:t>             P2		          3 0 3                 0 0 1</a:t>
            </a:r>
            <a:endParaRPr/>
          </a:p>
          <a:p>
            <a:pPr indent="-342900" lvl="0" marL="342900" rtl="0" algn="l">
              <a:spcBef>
                <a:spcPts val="352"/>
              </a:spcBef>
              <a:spcAft>
                <a:spcPts val="0"/>
              </a:spcAft>
              <a:buClr>
                <a:schemeClr val="dk1"/>
              </a:buClr>
              <a:buSzPct val="100000"/>
              <a:buFont typeface="Arial"/>
              <a:buNone/>
            </a:pPr>
            <a:r>
              <a:rPr lang="en-US"/>
              <a:t>             P3	          2 1 1 	  1 0 0 </a:t>
            </a:r>
            <a:endParaRPr/>
          </a:p>
          <a:p>
            <a:pPr indent="-342900" lvl="0" marL="342900" rtl="0" algn="l">
              <a:spcBef>
                <a:spcPts val="352"/>
              </a:spcBef>
              <a:spcAft>
                <a:spcPts val="0"/>
              </a:spcAft>
              <a:buClr>
                <a:schemeClr val="dk1"/>
              </a:buClr>
              <a:buSzPct val="100000"/>
              <a:buFont typeface="Arial"/>
              <a:buNone/>
            </a:pPr>
            <a:r>
              <a:rPr lang="en-US"/>
              <a:t>	       P4	          0 0 2 	  0 0 2</a:t>
            </a:r>
            <a:endParaRPr/>
          </a:p>
          <a:p>
            <a:pPr indent="-342900" lvl="0" marL="342900" rtl="0" algn="l">
              <a:spcBef>
                <a:spcPts val="352"/>
              </a:spcBef>
              <a:spcAft>
                <a:spcPts val="0"/>
              </a:spcAft>
              <a:buClr>
                <a:schemeClr val="dk1"/>
              </a:buClr>
              <a:buSzPct val="100000"/>
              <a:buFont typeface="Arial"/>
              <a:buNone/>
            </a:pPr>
            <a:r>
              <a:t/>
            </a:r>
            <a:endParaRPr/>
          </a:p>
          <a:p>
            <a:pPr indent="-342900" lvl="0" marL="342900" rtl="0" algn="l">
              <a:spcBef>
                <a:spcPts val="88"/>
              </a:spcBef>
              <a:spcAft>
                <a:spcPts val="0"/>
              </a:spcAft>
              <a:buClr>
                <a:schemeClr val="dk1"/>
              </a:buClr>
              <a:buSzPct val="100000"/>
              <a:buFont typeface="Arial"/>
              <a:buNone/>
            </a:pPr>
            <a:r>
              <a:t/>
            </a:r>
            <a:endParaRPr sz="800"/>
          </a:p>
          <a:p>
            <a:pPr indent="-342900" lvl="0" marL="342900" rtl="0" algn="l">
              <a:spcBef>
                <a:spcPts val="352"/>
              </a:spcBef>
              <a:spcAft>
                <a:spcPts val="0"/>
              </a:spcAft>
              <a:buClr>
                <a:schemeClr val="dk1"/>
              </a:buClr>
              <a:buSzPct val="100000"/>
              <a:buChar char="•"/>
            </a:pPr>
            <a:r>
              <a:rPr lang="en-US"/>
              <a:t>State of system?</a:t>
            </a:r>
            <a:endParaRPr/>
          </a:p>
        </p:txBody>
      </p:sp>
      <p:sp>
        <p:nvSpPr>
          <p:cNvPr id="1249" name="Google Shape;1249;p10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250" name="Google Shape;1250;p10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251" name="Google Shape;1251;p10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6" name="Shape 1256"/>
        <p:cNvGrpSpPr/>
        <p:nvPr/>
      </p:nvGrpSpPr>
      <p:grpSpPr>
        <a:xfrm>
          <a:off x="0" y="0"/>
          <a:ext cx="0" cy="0"/>
          <a:chOff x="0" y="0"/>
          <a:chExt cx="0" cy="0"/>
        </a:xfrm>
      </p:grpSpPr>
      <p:sp>
        <p:nvSpPr>
          <p:cNvPr id="1257" name="Google Shape;1257;p107"/>
          <p:cNvSpPr txBox="1"/>
          <p:nvPr>
            <p:ph type="title"/>
          </p:nvPr>
        </p:nvSpPr>
        <p:spPr>
          <a:xfrm>
            <a:off x="1022350" y="214313"/>
            <a:ext cx="766445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Example of Detection Algorithm</a:t>
            </a:r>
            <a:endParaRPr/>
          </a:p>
        </p:txBody>
      </p:sp>
      <p:sp>
        <p:nvSpPr>
          <p:cNvPr id="1258" name="Google Shape;1258;p107"/>
          <p:cNvSpPr txBox="1"/>
          <p:nvPr>
            <p:ph idx="1" type="body"/>
          </p:nvPr>
        </p:nvSpPr>
        <p:spPr>
          <a:xfrm>
            <a:off x="304800" y="1108075"/>
            <a:ext cx="6019801" cy="5521325"/>
          </a:xfrm>
          <a:prstGeom prst="rect">
            <a:avLst/>
          </a:prstGeom>
          <a:noFill/>
          <a:ln>
            <a:noFill/>
          </a:ln>
        </p:spPr>
        <p:txBody>
          <a:bodyPr anchorCtr="0" anchor="t" bIns="45700" lIns="91425" spcFirstLastPara="1" rIns="91425" wrap="square" tIns="45700">
            <a:normAutofit fontScale="92500" lnSpcReduction="20000"/>
          </a:bodyPr>
          <a:lstStyle/>
          <a:p>
            <a:pPr indent="-457200" lvl="0" marL="457200" rtl="0" algn="l">
              <a:spcBef>
                <a:spcPts val="0"/>
              </a:spcBef>
              <a:spcAft>
                <a:spcPts val="0"/>
              </a:spcAft>
              <a:buClr>
                <a:schemeClr val="dk1"/>
              </a:buClr>
              <a:buSzPct val="100000"/>
              <a:buFont typeface="Calibri"/>
              <a:buAutoNum type="arabicPeriod"/>
            </a:pPr>
            <a:r>
              <a:rPr lang="en-US" sz="2000"/>
              <a:t>Initially</a:t>
            </a:r>
            <a:endParaRPr/>
          </a:p>
          <a:p>
            <a:pPr indent="-457200" lvl="0" marL="457200" rtl="0" algn="l">
              <a:spcBef>
                <a:spcPts val="370"/>
              </a:spcBef>
              <a:spcAft>
                <a:spcPts val="0"/>
              </a:spcAft>
              <a:buClr>
                <a:schemeClr val="dk1"/>
              </a:buClr>
              <a:buSzPct val="100000"/>
              <a:buFont typeface="Calibri"/>
              <a:buAutoNum type="arabicPeriod"/>
            </a:pPr>
            <a:r>
              <a:rPr lang="en-US" sz="2000"/>
              <a:t>Work = [0, 0, 0] </a:t>
            </a:r>
            <a:endParaRPr sz="2000"/>
          </a:p>
          <a:p>
            <a:pPr indent="-457200" lvl="0" marL="457200" rtl="0" algn="l">
              <a:spcBef>
                <a:spcPts val="370"/>
              </a:spcBef>
              <a:spcAft>
                <a:spcPts val="0"/>
              </a:spcAft>
              <a:buClr>
                <a:schemeClr val="dk1"/>
              </a:buClr>
              <a:buSzPct val="100000"/>
              <a:buFont typeface="Calibri"/>
              <a:buAutoNum type="arabicPeriod"/>
            </a:pPr>
            <a:r>
              <a:rPr lang="en-US" sz="2000"/>
              <a:t>Finish = [false, false, false, false, false]</a:t>
            </a:r>
            <a:endParaRPr/>
          </a:p>
          <a:p>
            <a:pPr indent="-339725" lvl="0" marL="457200" rtl="0" algn="l">
              <a:spcBef>
                <a:spcPts val="370"/>
              </a:spcBef>
              <a:spcAft>
                <a:spcPts val="0"/>
              </a:spcAft>
              <a:buClr>
                <a:schemeClr val="dk1"/>
              </a:buClr>
              <a:buSzPct val="100000"/>
              <a:buFont typeface="Calibri"/>
              <a:buNone/>
            </a:pPr>
            <a:r>
              <a:t/>
            </a:r>
            <a:endParaRPr sz="2000"/>
          </a:p>
          <a:p>
            <a:pPr indent="-457200" lvl="0" marL="457200" rtl="0" algn="l">
              <a:spcBef>
                <a:spcPts val="370"/>
              </a:spcBef>
              <a:spcAft>
                <a:spcPts val="0"/>
              </a:spcAft>
              <a:buClr>
                <a:schemeClr val="dk1"/>
              </a:buClr>
              <a:buSzPct val="100000"/>
              <a:buFont typeface="Calibri"/>
              <a:buAutoNum type="arabicPeriod"/>
            </a:pPr>
            <a:r>
              <a:rPr lang="en-US" sz="2000"/>
              <a:t>i=0 is selected as both </a:t>
            </a:r>
            <a:endParaRPr/>
          </a:p>
          <a:p>
            <a:pPr indent="-457200" lvl="0" marL="457200" rtl="0" algn="l">
              <a:spcBef>
                <a:spcPts val="370"/>
              </a:spcBef>
              <a:spcAft>
                <a:spcPts val="0"/>
              </a:spcAft>
              <a:buClr>
                <a:schemeClr val="dk1"/>
              </a:buClr>
              <a:buSzPct val="100000"/>
              <a:buFont typeface="Calibri"/>
              <a:buAutoNum type="arabicPeriod"/>
            </a:pPr>
            <a:r>
              <a:rPr lang="en-US" sz="2000"/>
              <a:t>Finish[0] = false and [0, 0, 0]&lt;=[0, 0, 0]</a:t>
            </a:r>
            <a:endParaRPr sz="2000"/>
          </a:p>
          <a:p>
            <a:pPr indent="-457200" lvl="0" marL="457200" rtl="0" algn="l">
              <a:spcBef>
                <a:spcPts val="370"/>
              </a:spcBef>
              <a:spcAft>
                <a:spcPts val="0"/>
              </a:spcAft>
              <a:buClr>
                <a:schemeClr val="dk1"/>
              </a:buClr>
              <a:buSzPct val="100000"/>
              <a:buFont typeface="Calibri"/>
              <a:buAutoNum type="arabicPeriod"/>
            </a:pPr>
            <a:r>
              <a:rPr lang="en-US" sz="2000"/>
              <a:t>Work =[0, 0, 0]+[0, 1, 0] =&gt;[0, 1, 0] &amp;              </a:t>
            </a:r>
            <a:endParaRPr/>
          </a:p>
          <a:p>
            <a:pPr indent="-457200" lvl="0" marL="457200" rtl="0" algn="l">
              <a:spcBef>
                <a:spcPts val="370"/>
              </a:spcBef>
              <a:spcAft>
                <a:spcPts val="0"/>
              </a:spcAft>
              <a:buClr>
                <a:schemeClr val="dk1"/>
              </a:buClr>
              <a:buSzPct val="100000"/>
              <a:buFont typeface="Calibri"/>
              <a:buAutoNum type="arabicPeriod"/>
            </a:pPr>
            <a:r>
              <a:rPr lang="en-US" sz="2000"/>
              <a:t>Finish = [true, false, false, false, false]</a:t>
            </a:r>
            <a:endParaRPr/>
          </a:p>
          <a:p>
            <a:pPr indent="-339725" lvl="0" marL="457200" rtl="0" algn="l">
              <a:spcBef>
                <a:spcPts val="370"/>
              </a:spcBef>
              <a:spcAft>
                <a:spcPts val="0"/>
              </a:spcAft>
              <a:buClr>
                <a:schemeClr val="dk1"/>
              </a:buClr>
              <a:buSzPct val="100000"/>
              <a:buFont typeface="Calibri"/>
              <a:buNone/>
            </a:pPr>
            <a:r>
              <a:t/>
            </a:r>
            <a:endParaRPr sz="2000"/>
          </a:p>
          <a:p>
            <a:pPr indent="-457200" lvl="0" marL="457200" rtl="0" algn="l">
              <a:spcBef>
                <a:spcPts val="370"/>
              </a:spcBef>
              <a:spcAft>
                <a:spcPts val="0"/>
              </a:spcAft>
              <a:buClr>
                <a:schemeClr val="dk1"/>
              </a:buClr>
              <a:buSzPct val="100000"/>
              <a:buFont typeface="Calibri"/>
              <a:buAutoNum type="arabicPeriod"/>
            </a:pPr>
            <a:r>
              <a:rPr lang="en-US" sz="2000"/>
              <a:t>i=1 , </a:t>
            </a:r>
            <a:endParaRPr/>
          </a:p>
          <a:p>
            <a:pPr indent="-457200" lvl="0" marL="457200" rtl="0" algn="l">
              <a:spcBef>
                <a:spcPts val="370"/>
              </a:spcBef>
              <a:spcAft>
                <a:spcPts val="0"/>
              </a:spcAft>
              <a:buClr>
                <a:schemeClr val="dk1"/>
              </a:buClr>
              <a:buSzPct val="100000"/>
              <a:buFont typeface="Calibri"/>
              <a:buAutoNum type="arabicPeriod"/>
            </a:pPr>
            <a:r>
              <a:rPr lang="en-US" sz="2000"/>
              <a:t>Finish[1]=false and [2,0,2]!&lt;=[0,1,0]</a:t>
            </a:r>
            <a:endParaRPr/>
          </a:p>
          <a:p>
            <a:pPr indent="-457200" lvl="0" marL="457200" rtl="0" algn="l">
              <a:spcBef>
                <a:spcPts val="370"/>
              </a:spcBef>
              <a:spcAft>
                <a:spcPts val="0"/>
              </a:spcAft>
              <a:buClr>
                <a:schemeClr val="dk1"/>
              </a:buClr>
              <a:buSzPct val="100000"/>
              <a:buFont typeface="Calibri"/>
              <a:buAutoNum type="arabicPeriod"/>
            </a:pPr>
            <a:r>
              <a:rPr lang="en-US" sz="2000"/>
              <a:t>P1 should wait</a:t>
            </a:r>
            <a:endParaRPr/>
          </a:p>
          <a:p>
            <a:pPr indent="-457200" lvl="0" marL="457200" rtl="0" algn="l">
              <a:spcBef>
                <a:spcPts val="370"/>
              </a:spcBef>
              <a:spcAft>
                <a:spcPts val="0"/>
              </a:spcAft>
              <a:buClr>
                <a:schemeClr val="dk1"/>
              </a:buClr>
              <a:buSzPct val="100000"/>
              <a:buFont typeface="Calibri"/>
              <a:buAutoNum type="arabicPeriod"/>
            </a:pPr>
            <a:r>
              <a:rPr lang="en-US" sz="2000"/>
              <a:t>Finish = [true, false, false, false, false]</a:t>
            </a:r>
            <a:endParaRPr/>
          </a:p>
          <a:p>
            <a:pPr indent="-339725" lvl="0" marL="457200" rtl="0" algn="l">
              <a:spcBef>
                <a:spcPts val="370"/>
              </a:spcBef>
              <a:spcAft>
                <a:spcPts val="0"/>
              </a:spcAft>
              <a:buClr>
                <a:schemeClr val="dk1"/>
              </a:buClr>
              <a:buSzPct val="100000"/>
              <a:buFont typeface="Calibri"/>
              <a:buNone/>
            </a:pPr>
            <a:r>
              <a:t/>
            </a:r>
            <a:endParaRPr i="1" sz="2000"/>
          </a:p>
          <a:p>
            <a:pPr indent="-457200" lvl="0" marL="457200" rtl="0" algn="l">
              <a:spcBef>
                <a:spcPts val="370"/>
              </a:spcBef>
              <a:spcAft>
                <a:spcPts val="0"/>
              </a:spcAft>
              <a:buClr>
                <a:schemeClr val="dk1"/>
              </a:buClr>
              <a:buSzPct val="100000"/>
              <a:buFont typeface="Calibri"/>
              <a:buAutoNum type="arabicPeriod"/>
            </a:pPr>
            <a:r>
              <a:rPr i="1" lang="en-US" sz="2000"/>
              <a:t>i=2</a:t>
            </a:r>
            <a:r>
              <a:rPr lang="en-US" sz="2000"/>
              <a:t> is selected as both </a:t>
            </a:r>
            <a:endParaRPr sz="2000"/>
          </a:p>
          <a:p>
            <a:pPr indent="-457200" lvl="0" marL="457200" rtl="0" algn="l">
              <a:spcBef>
                <a:spcPts val="370"/>
              </a:spcBef>
              <a:spcAft>
                <a:spcPts val="0"/>
              </a:spcAft>
              <a:buClr>
                <a:schemeClr val="dk1"/>
              </a:buClr>
              <a:buSzPct val="100000"/>
              <a:buFont typeface="Calibri"/>
              <a:buAutoNum type="arabicPeriod"/>
            </a:pPr>
            <a:r>
              <a:rPr lang="en-US" sz="2000"/>
              <a:t>Finish[2] = false and [0, 0, 1]!&lt;=[0, 1, 0]</a:t>
            </a:r>
            <a:endParaRPr/>
          </a:p>
          <a:p>
            <a:pPr indent="-514350" lvl="0" marL="514350" rtl="0" algn="l">
              <a:spcBef>
                <a:spcPts val="370"/>
              </a:spcBef>
              <a:spcAft>
                <a:spcPts val="0"/>
              </a:spcAft>
              <a:buClr>
                <a:schemeClr val="dk1"/>
              </a:buClr>
              <a:buSzPct val="100000"/>
              <a:buFont typeface="Calibri"/>
              <a:buAutoNum type="arabicPeriod"/>
            </a:pPr>
            <a:r>
              <a:rPr lang="en-US" sz="2000"/>
              <a:t>P2 should wait</a:t>
            </a:r>
            <a:endParaRPr/>
          </a:p>
          <a:p>
            <a:pPr indent="-514350" lvl="0" marL="514350" rtl="0" algn="l">
              <a:spcBef>
                <a:spcPts val="370"/>
              </a:spcBef>
              <a:spcAft>
                <a:spcPts val="0"/>
              </a:spcAft>
              <a:buClr>
                <a:schemeClr val="dk1"/>
              </a:buClr>
              <a:buSzPct val="100000"/>
              <a:buFont typeface="Calibri"/>
              <a:buAutoNum type="arabicPeriod"/>
            </a:pPr>
            <a:r>
              <a:rPr lang="en-US" sz="2000"/>
              <a:t>Finish = [true, false, false, false, false]</a:t>
            </a:r>
            <a:endParaRPr/>
          </a:p>
          <a:p>
            <a:pPr indent="-396875" lvl="0" marL="514350" rtl="0" algn="l">
              <a:spcBef>
                <a:spcPts val="370"/>
              </a:spcBef>
              <a:spcAft>
                <a:spcPts val="0"/>
              </a:spcAft>
              <a:buClr>
                <a:schemeClr val="dk1"/>
              </a:buClr>
              <a:buSzPct val="100000"/>
              <a:buFont typeface="Calibri"/>
              <a:buNone/>
            </a:pPr>
            <a:r>
              <a:t/>
            </a:r>
            <a:endParaRPr sz="2000"/>
          </a:p>
          <a:p>
            <a:pPr indent="-339725" lvl="0" marL="457200" rtl="0" algn="l">
              <a:spcBef>
                <a:spcPts val="370"/>
              </a:spcBef>
              <a:spcAft>
                <a:spcPts val="0"/>
              </a:spcAft>
              <a:buClr>
                <a:schemeClr val="dk1"/>
              </a:buClr>
              <a:buSzPct val="100000"/>
              <a:buFont typeface="Calibri"/>
              <a:buNone/>
            </a:pPr>
            <a:r>
              <a:t/>
            </a:r>
            <a:endParaRPr sz="2000"/>
          </a:p>
          <a:p>
            <a:pPr indent="0" lvl="0" marL="0" rtl="0" algn="l">
              <a:spcBef>
                <a:spcPts val="370"/>
              </a:spcBef>
              <a:spcAft>
                <a:spcPts val="0"/>
              </a:spcAft>
              <a:buClr>
                <a:schemeClr val="dk1"/>
              </a:buClr>
              <a:buSzPct val="100000"/>
              <a:buNone/>
            </a:pPr>
            <a:r>
              <a:t/>
            </a:r>
            <a:endParaRPr sz="2000"/>
          </a:p>
        </p:txBody>
      </p:sp>
      <p:sp>
        <p:nvSpPr>
          <p:cNvPr id="1259" name="Google Shape;1259;p107"/>
          <p:cNvSpPr/>
          <p:nvPr/>
        </p:nvSpPr>
        <p:spPr>
          <a:xfrm>
            <a:off x="6477000" y="1295400"/>
            <a:ext cx="2667000" cy="1384995"/>
          </a:xfrm>
          <a:prstGeom prst="rect">
            <a:avLst/>
          </a:prstGeom>
          <a:noFill/>
          <a:ln>
            <a:noFill/>
          </a:ln>
        </p:spPr>
        <p:txBody>
          <a:bodyPr anchorCtr="0" anchor="t" bIns="45700" lIns="91425" spcFirstLastPara="1" rIns="91425" wrap="square" tIns="45700">
            <a:spAutoFit/>
          </a:bodyPr>
          <a:lstStyle/>
          <a:p>
            <a:pPr indent="-393700" lvl="0" marL="393700" marR="0" rtl="0" algn="l">
              <a:spcBef>
                <a:spcPts val="0"/>
              </a:spcBef>
              <a:spcAft>
                <a:spcPts val="0"/>
              </a:spcAft>
              <a:buClr>
                <a:schemeClr val="dk1"/>
              </a:buClr>
              <a:buSzPts val="1400"/>
              <a:buFont typeface="Arial"/>
              <a:buNone/>
            </a:pPr>
            <a:r>
              <a:rPr lang="en-US" sz="1400">
                <a:solidFill>
                  <a:schemeClr val="dk1"/>
                </a:solidFill>
                <a:latin typeface="Calibri"/>
                <a:ea typeface="Calibri"/>
                <a:cs typeface="Calibri"/>
                <a:sym typeface="Calibri"/>
              </a:rPr>
              <a:t>Check If</a:t>
            </a:r>
            <a:endParaRPr/>
          </a:p>
          <a:p>
            <a:pPr indent="-393700" lvl="0" marL="393700" marR="0" rtl="0" algn="l">
              <a:spcBef>
                <a:spcPts val="0"/>
              </a:spcBef>
              <a:spcAft>
                <a:spcPts val="0"/>
              </a:spcAft>
              <a:buClr>
                <a:schemeClr val="dk1"/>
              </a:buClr>
              <a:buSzPts val="1400"/>
              <a:buFont typeface="Arial"/>
              <a:buNone/>
            </a:pPr>
            <a:r>
              <a:rPr lang="en-US" sz="1400">
                <a:solidFill>
                  <a:schemeClr val="dk1"/>
                </a:solidFill>
                <a:latin typeface="Calibri"/>
                <a:ea typeface="Calibri"/>
                <a:cs typeface="Calibri"/>
                <a:sym typeface="Calibri"/>
              </a:rPr>
              <a:t>(a)	</a:t>
            </a:r>
            <a:r>
              <a:rPr b="1" i="1" lang="en-US" sz="1400">
                <a:solidFill>
                  <a:schemeClr val="dk1"/>
                </a:solidFill>
                <a:latin typeface="Calibri"/>
                <a:ea typeface="Calibri"/>
                <a:cs typeface="Calibri"/>
                <a:sym typeface="Calibri"/>
              </a:rPr>
              <a:t>Finish</a:t>
            </a:r>
            <a:r>
              <a:rPr b="1" lang="en-US" sz="1400">
                <a:solidFill>
                  <a:schemeClr val="dk1"/>
                </a:solidFill>
                <a:latin typeface="Calibri"/>
                <a:ea typeface="Calibri"/>
                <a:cs typeface="Calibri"/>
                <a:sym typeface="Calibri"/>
              </a:rPr>
              <a:t>[</a:t>
            </a:r>
            <a:r>
              <a:rPr b="1" i="1" lang="en-US" sz="1400">
                <a:solidFill>
                  <a:schemeClr val="dk1"/>
                </a:solidFill>
                <a:latin typeface="Calibri"/>
                <a:ea typeface="Calibri"/>
                <a:cs typeface="Calibri"/>
                <a:sym typeface="Calibri"/>
              </a:rPr>
              <a:t>i</a:t>
            </a:r>
            <a:r>
              <a:rPr b="1" lang="en-US" sz="1400">
                <a:solidFill>
                  <a:schemeClr val="dk1"/>
                </a:solidFill>
                <a:latin typeface="Calibri"/>
                <a:ea typeface="Calibri"/>
                <a:cs typeface="Calibri"/>
                <a:sym typeface="Calibri"/>
              </a:rPr>
              <a:t>] == </a:t>
            </a:r>
            <a:r>
              <a:rPr b="1" i="1" lang="en-US" sz="1400">
                <a:solidFill>
                  <a:schemeClr val="dk1"/>
                </a:solidFill>
                <a:latin typeface="Calibri"/>
                <a:ea typeface="Calibri"/>
                <a:cs typeface="Calibri"/>
                <a:sym typeface="Calibri"/>
              </a:rPr>
              <a:t>false</a:t>
            </a:r>
            <a:endParaRPr b="1" sz="1400">
              <a:solidFill>
                <a:schemeClr val="dk1"/>
              </a:solidFill>
              <a:latin typeface="Calibri"/>
              <a:ea typeface="Calibri"/>
              <a:cs typeface="Calibri"/>
              <a:sym typeface="Calibri"/>
            </a:endParaRPr>
          </a:p>
          <a:p>
            <a:pPr indent="-393700" lvl="0" marL="393700" marR="0" rtl="0" algn="l">
              <a:spcBef>
                <a:spcPts val="0"/>
              </a:spcBef>
              <a:spcAft>
                <a:spcPts val="0"/>
              </a:spcAft>
              <a:buClr>
                <a:schemeClr val="dk1"/>
              </a:buClr>
              <a:buSzPts val="1400"/>
              <a:buFont typeface="Arial"/>
              <a:buAutoNum type="alphaLcParenBoth" startAt="2"/>
            </a:pPr>
            <a:r>
              <a:rPr b="1" i="1" lang="en-US" sz="1400">
                <a:solidFill>
                  <a:schemeClr val="dk1"/>
                </a:solidFill>
                <a:latin typeface="Calibri"/>
                <a:ea typeface="Calibri"/>
                <a:cs typeface="Calibri"/>
                <a:sym typeface="Calibri"/>
              </a:rPr>
              <a:t>Request</a:t>
            </a:r>
            <a:r>
              <a:rPr b="1" baseline="-25000" i="1" lang="en-US" sz="1400">
                <a:solidFill>
                  <a:schemeClr val="dk1"/>
                </a:solidFill>
                <a:latin typeface="Calibri"/>
                <a:ea typeface="Calibri"/>
                <a:cs typeface="Calibri"/>
                <a:sym typeface="Calibri"/>
              </a:rPr>
              <a:t>i</a:t>
            </a:r>
            <a:r>
              <a:rPr b="1" lang="en-US" sz="1400">
                <a:solidFill>
                  <a:schemeClr val="dk1"/>
                </a:solidFill>
                <a:latin typeface="Calibri"/>
                <a:ea typeface="Calibri"/>
                <a:cs typeface="Calibri"/>
                <a:sym typeface="Calibri"/>
              </a:rPr>
              <a:t> ≤ </a:t>
            </a:r>
            <a:r>
              <a:rPr b="1" i="1" lang="en-US" sz="1400">
                <a:solidFill>
                  <a:schemeClr val="dk1"/>
                </a:solidFill>
                <a:latin typeface="Calibri"/>
                <a:ea typeface="Calibri"/>
                <a:cs typeface="Calibri"/>
                <a:sym typeface="Calibri"/>
              </a:rPr>
              <a:t>Work</a:t>
            </a:r>
            <a:endParaRPr/>
          </a:p>
          <a:p>
            <a:pPr indent="0" lvl="0" marL="0" marR="0" rtl="0" algn="l">
              <a:spcBef>
                <a:spcPts val="0"/>
              </a:spcBef>
              <a:spcAft>
                <a:spcPts val="0"/>
              </a:spcAft>
              <a:buNone/>
            </a:pPr>
            <a:r>
              <a:rPr b="1" i="1" lang="en-US" sz="1400">
                <a:solidFill>
                  <a:schemeClr val="dk1"/>
                </a:solidFill>
                <a:latin typeface="Calibri"/>
                <a:ea typeface="Calibri"/>
                <a:cs typeface="Calibri"/>
                <a:sym typeface="Calibri"/>
              </a:rPr>
              <a:t>Then</a:t>
            </a:r>
            <a:endParaRPr/>
          </a:p>
          <a:p>
            <a:pPr indent="0" lvl="0" marL="0" marR="0" rtl="0" algn="l">
              <a:spcBef>
                <a:spcPts val="0"/>
              </a:spcBef>
              <a:spcAft>
                <a:spcPts val="0"/>
              </a:spcAft>
              <a:buNone/>
            </a:pPr>
            <a:r>
              <a:rPr b="1" i="1" lang="en-US" sz="1400">
                <a:solidFill>
                  <a:schemeClr val="dk1"/>
                </a:solidFill>
                <a:latin typeface="Calibri"/>
                <a:ea typeface="Calibri"/>
                <a:cs typeface="Calibri"/>
                <a:sym typeface="Calibri"/>
              </a:rPr>
              <a:t>Work</a:t>
            </a:r>
            <a:r>
              <a:rPr b="1" lang="en-US" sz="1400">
                <a:solidFill>
                  <a:schemeClr val="dk1"/>
                </a:solidFill>
                <a:latin typeface="Calibri"/>
                <a:ea typeface="Calibri"/>
                <a:cs typeface="Calibri"/>
                <a:sym typeface="Calibri"/>
              </a:rPr>
              <a:t> = </a:t>
            </a:r>
            <a:r>
              <a:rPr b="1" i="1" lang="en-US" sz="1400">
                <a:solidFill>
                  <a:schemeClr val="dk1"/>
                </a:solidFill>
                <a:latin typeface="Calibri"/>
                <a:ea typeface="Calibri"/>
                <a:cs typeface="Calibri"/>
                <a:sym typeface="Calibri"/>
              </a:rPr>
              <a:t>Work</a:t>
            </a:r>
            <a:r>
              <a:rPr b="1" lang="en-US" sz="1400">
                <a:solidFill>
                  <a:schemeClr val="dk1"/>
                </a:solidFill>
                <a:latin typeface="Calibri"/>
                <a:ea typeface="Calibri"/>
                <a:cs typeface="Calibri"/>
                <a:sym typeface="Calibri"/>
              </a:rPr>
              <a:t> + </a:t>
            </a:r>
            <a:r>
              <a:rPr b="1" i="1" lang="en-US" sz="1400">
                <a:solidFill>
                  <a:schemeClr val="dk1"/>
                </a:solidFill>
                <a:latin typeface="Calibri"/>
                <a:ea typeface="Calibri"/>
                <a:cs typeface="Calibri"/>
                <a:sym typeface="Calibri"/>
              </a:rPr>
              <a:t>Allocation</a:t>
            </a:r>
            <a:r>
              <a:rPr b="1" baseline="-25000" i="1" lang="en-US" sz="1400">
                <a:solidFill>
                  <a:schemeClr val="dk1"/>
                </a:solidFill>
                <a:latin typeface="Calibri"/>
                <a:ea typeface="Calibri"/>
                <a:cs typeface="Calibri"/>
                <a:sym typeface="Calibri"/>
              </a:rPr>
              <a:t>i</a:t>
            </a:r>
            <a:br>
              <a:rPr b="1" lang="en-US" sz="1400">
                <a:solidFill>
                  <a:schemeClr val="dk1"/>
                </a:solidFill>
                <a:latin typeface="Calibri"/>
                <a:ea typeface="Calibri"/>
                <a:cs typeface="Calibri"/>
                <a:sym typeface="Calibri"/>
              </a:rPr>
            </a:br>
            <a:r>
              <a:rPr b="1" i="1" lang="en-US" sz="1400">
                <a:solidFill>
                  <a:schemeClr val="dk1"/>
                </a:solidFill>
                <a:latin typeface="Calibri"/>
                <a:ea typeface="Calibri"/>
                <a:cs typeface="Calibri"/>
                <a:sym typeface="Calibri"/>
              </a:rPr>
              <a:t>Finish</a:t>
            </a:r>
            <a:r>
              <a:rPr b="1" lang="en-US" sz="1400">
                <a:solidFill>
                  <a:schemeClr val="dk1"/>
                </a:solidFill>
                <a:latin typeface="Calibri"/>
                <a:ea typeface="Calibri"/>
                <a:cs typeface="Calibri"/>
                <a:sym typeface="Calibri"/>
              </a:rPr>
              <a:t>[</a:t>
            </a:r>
            <a:r>
              <a:rPr b="1" i="1" lang="en-US" sz="1400">
                <a:solidFill>
                  <a:schemeClr val="dk1"/>
                </a:solidFill>
                <a:latin typeface="Calibri"/>
                <a:ea typeface="Calibri"/>
                <a:cs typeface="Calibri"/>
                <a:sym typeface="Calibri"/>
              </a:rPr>
              <a:t>i</a:t>
            </a:r>
            <a:r>
              <a:rPr b="1" lang="en-US" sz="1400">
                <a:solidFill>
                  <a:schemeClr val="dk1"/>
                </a:solidFill>
                <a:latin typeface="Calibri"/>
                <a:ea typeface="Calibri"/>
                <a:cs typeface="Calibri"/>
                <a:sym typeface="Calibri"/>
              </a:rPr>
              <a:t>] = </a:t>
            </a:r>
            <a:r>
              <a:rPr b="1" i="1" lang="en-US" sz="1400">
                <a:solidFill>
                  <a:schemeClr val="dk1"/>
                </a:solidFill>
                <a:latin typeface="Calibri"/>
                <a:ea typeface="Calibri"/>
                <a:cs typeface="Calibri"/>
                <a:sym typeface="Calibri"/>
              </a:rPr>
              <a:t>true</a:t>
            </a:r>
            <a:endParaRPr b="1" sz="1400">
              <a:solidFill>
                <a:schemeClr val="dk1"/>
              </a:solidFill>
              <a:latin typeface="Calibri"/>
              <a:ea typeface="Calibri"/>
              <a:cs typeface="Calibri"/>
              <a:sym typeface="Calibri"/>
            </a:endParaRPr>
          </a:p>
        </p:txBody>
      </p:sp>
      <p:pic>
        <p:nvPicPr>
          <p:cNvPr id="1260" name="Google Shape;1260;p107"/>
          <p:cNvPicPr preferRelativeResize="0"/>
          <p:nvPr/>
        </p:nvPicPr>
        <p:blipFill rotWithShape="1">
          <a:blip r:embed="rId3">
            <a:alphaModFix/>
          </a:blip>
          <a:srcRect b="50000" l="30454" r="38311" t="22222"/>
          <a:stretch/>
        </p:blipFill>
        <p:spPr>
          <a:xfrm>
            <a:off x="6616700" y="3733800"/>
            <a:ext cx="2387600" cy="2032000"/>
          </a:xfrm>
          <a:prstGeom prst="rect">
            <a:avLst/>
          </a:prstGeom>
          <a:noFill/>
          <a:ln>
            <a:noFill/>
          </a:ln>
        </p:spPr>
      </p:pic>
      <p:sp>
        <p:nvSpPr>
          <p:cNvPr id="1261" name="Google Shape;1261;p10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262" name="Google Shape;1262;p10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263" name="Google Shape;1263;p10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64" name="Google Shape;1264;p107"/>
          <p:cNvSpPr txBox="1"/>
          <p:nvPr/>
        </p:nvSpPr>
        <p:spPr>
          <a:xfrm>
            <a:off x="8077200" y="4888468"/>
            <a:ext cx="2286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1</a:t>
            </a:r>
            <a:endParaRPr b="1" sz="1800">
              <a:solidFill>
                <a:schemeClr val="dk1"/>
              </a:solidFill>
              <a:latin typeface="Calibri"/>
              <a:ea typeface="Calibri"/>
              <a:cs typeface="Calibri"/>
              <a:sym typeface="Calibri"/>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sp>
        <p:nvSpPr>
          <p:cNvPr id="1270" name="Google Shape;1270;p108"/>
          <p:cNvSpPr txBox="1"/>
          <p:nvPr>
            <p:ph type="title"/>
          </p:nvPr>
        </p:nvSpPr>
        <p:spPr>
          <a:xfrm>
            <a:off x="1022350" y="214313"/>
            <a:ext cx="766445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Example of Detection Algorithm</a:t>
            </a:r>
            <a:endParaRPr/>
          </a:p>
        </p:txBody>
      </p:sp>
      <p:sp>
        <p:nvSpPr>
          <p:cNvPr id="1271" name="Google Shape;1271;p108"/>
          <p:cNvSpPr txBox="1"/>
          <p:nvPr>
            <p:ph idx="1" type="body"/>
          </p:nvPr>
        </p:nvSpPr>
        <p:spPr>
          <a:xfrm>
            <a:off x="304800" y="1108075"/>
            <a:ext cx="6019801" cy="5521325"/>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Clr>
                <a:schemeClr val="dk1"/>
              </a:buClr>
              <a:buSzPts val="1900"/>
              <a:buFont typeface="Calibri"/>
              <a:buAutoNum type="arabicPeriod"/>
            </a:pPr>
            <a:r>
              <a:rPr lang="en-US" sz="1900"/>
              <a:t>i=3 </a:t>
            </a:r>
            <a:endParaRPr/>
          </a:p>
          <a:p>
            <a:pPr indent="-514350" lvl="0" marL="514350" rtl="0" algn="l">
              <a:spcBef>
                <a:spcPts val="380"/>
              </a:spcBef>
              <a:spcAft>
                <a:spcPts val="0"/>
              </a:spcAft>
              <a:buClr>
                <a:schemeClr val="dk1"/>
              </a:buClr>
              <a:buSzPts val="1900"/>
              <a:buFont typeface="Calibri"/>
              <a:buAutoNum type="arabicPeriod"/>
            </a:pPr>
            <a:r>
              <a:rPr lang="en-US" sz="1900"/>
              <a:t>Finish[3] = false and [1, 0, 0]!&lt;=[0, 1, 0]</a:t>
            </a:r>
            <a:endParaRPr sz="1900"/>
          </a:p>
          <a:p>
            <a:pPr indent="-514350" lvl="0" marL="514350" rtl="0" algn="l">
              <a:spcBef>
                <a:spcPts val="380"/>
              </a:spcBef>
              <a:spcAft>
                <a:spcPts val="0"/>
              </a:spcAft>
              <a:buClr>
                <a:schemeClr val="dk1"/>
              </a:buClr>
              <a:buSzPts val="1900"/>
              <a:buFont typeface="Calibri"/>
              <a:buAutoNum type="arabicPeriod"/>
            </a:pPr>
            <a:r>
              <a:rPr lang="en-US" sz="1900"/>
              <a:t>P3 should wait</a:t>
            </a:r>
            <a:endParaRPr sz="1900"/>
          </a:p>
          <a:p>
            <a:pPr indent="-457200" lvl="0" marL="457200" rtl="0" algn="l">
              <a:spcBef>
                <a:spcPts val="380"/>
              </a:spcBef>
              <a:spcAft>
                <a:spcPts val="0"/>
              </a:spcAft>
              <a:buClr>
                <a:schemeClr val="dk1"/>
              </a:buClr>
              <a:buSzPts val="1900"/>
              <a:buFont typeface="Calibri"/>
              <a:buAutoNum type="arabicPeriod"/>
            </a:pPr>
            <a:r>
              <a:rPr lang="en-US" sz="1900"/>
              <a:t> </a:t>
            </a:r>
            <a:r>
              <a:rPr lang="en-US" sz="1800"/>
              <a:t>Finish = [true, false, false, false, false]</a:t>
            </a:r>
            <a:endParaRPr/>
          </a:p>
          <a:p>
            <a:pPr indent="-393700" lvl="0" marL="514350" rtl="0" algn="l">
              <a:spcBef>
                <a:spcPts val="380"/>
              </a:spcBef>
              <a:spcAft>
                <a:spcPts val="0"/>
              </a:spcAft>
              <a:buClr>
                <a:schemeClr val="dk1"/>
              </a:buClr>
              <a:buSzPts val="1900"/>
              <a:buFont typeface="Calibri"/>
              <a:buNone/>
            </a:pPr>
            <a:r>
              <a:t/>
            </a:r>
            <a:endParaRPr i="1" sz="1900"/>
          </a:p>
          <a:p>
            <a:pPr indent="-514350" lvl="0" marL="514350" rtl="0" algn="l">
              <a:spcBef>
                <a:spcPts val="380"/>
              </a:spcBef>
              <a:spcAft>
                <a:spcPts val="0"/>
              </a:spcAft>
              <a:buClr>
                <a:schemeClr val="dk1"/>
              </a:buClr>
              <a:buSzPts val="1900"/>
              <a:buFont typeface="Calibri"/>
              <a:buAutoNum type="arabicPeriod"/>
            </a:pPr>
            <a:r>
              <a:rPr i="1" lang="en-US" sz="1900"/>
              <a:t>i=4, </a:t>
            </a:r>
            <a:endParaRPr/>
          </a:p>
          <a:p>
            <a:pPr indent="-514350" lvl="0" marL="514350" rtl="0" algn="l">
              <a:spcBef>
                <a:spcPts val="380"/>
              </a:spcBef>
              <a:spcAft>
                <a:spcPts val="0"/>
              </a:spcAft>
              <a:buClr>
                <a:schemeClr val="dk1"/>
              </a:buClr>
              <a:buSzPts val="1900"/>
              <a:buFont typeface="Calibri"/>
              <a:buAutoNum type="arabicPeriod"/>
            </a:pPr>
            <a:r>
              <a:rPr i="1" lang="en-US" sz="1900"/>
              <a:t>F</a:t>
            </a:r>
            <a:r>
              <a:rPr lang="en-US" sz="1900"/>
              <a:t>inish[4]=[false] and [0,0,2]&lt;=[0,1,0]</a:t>
            </a:r>
            <a:endParaRPr/>
          </a:p>
          <a:p>
            <a:pPr indent="-514350" lvl="0" marL="514350" rtl="0" algn="l">
              <a:spcBef>
                <a:spcPts val="380"/>
              </a:spcBef>
              <a:spcAft>
                <a:spcPts val="0"/>
              </a:spcAft>
              <a:buClr>
                <a:schemeClr val="dk1"/>
              </a:buClr>
              <a:buSzPts val="1900"/>
              <a:buFont typeface="Calibri"/>
              <a:buAutoNum type="arabicPeriod"/>
            </a:pPr>
            <a:r>
              <a:rPr lang="en-US" sz="1900"/>
              <a:t>P4 should wait</a:t>
            </a:r>
            <a:endParaRPr/>
          </a:p>
          <a:p>
            <a:pPr indent="-457200" lvl="0" marL="457200" rtl="0" algn="l">
              <a:spcBef>
                <a:spcPts val="360"/>
              </a:spcBef>
              <a:spcAft>
                <a:spcPts val="0"/>
              </a:spcAft>
              <a:buClr>
                <a:schemeClr val="dk1"/>
              </a:buClr>
              <a:buSzPts val="1800"/>
              <a:buFont typeface="Calibri"/>
              <a:buAutoNum type="arabicPeriod"/>
            </a:pPr>
            <a:r>
              <a:rPr lang="en-US" sz="1800"/>
              <a:t>Finish = [true, false, false, false, false]</a:t>
            </a:r>
            <a:endParaRPr/>
          </a:p>
          <a:p>
            <a:pPr indent="-228600" lvl="0" marL="342900" rtl="0" algn="l">
              <a:spcBef>
                <a:spcPts val="360"/>
              </a:spcBef>
              <a:spcAft>
                <a:spcPts val="0"/>
              </a:spcAft>
              <a:buClr>
                <a:schemeClr val="dk1"/>
              </a:buClr>
              <a:buSzPts val="1800"/>
              <a:buNone/>
            </a:pPr>
            <a:r>
              <a:t/>
            </a:r>
            <a:endParaRPr b="1" i="1" sz="1800">
              <a:solidFill>
                <a:srgbClr val="00B0F0"/>
              </a:solidFill>
            </a:endParaRPr>
          </a:p>
          <a:p>
            <a:pPr indent="-342900" lvl="0" marL="342900" rtl="0" algn="l">
              <a:spcBef>
                <a:spcPts val="360"/>
              </a:spcBef>
              <a:spcAft>
                <a:spcPts val="0"/>
              </a:spcAft>
              <a:buClr>
                <a:srgbClr val="00B0F0"/>
              </a:buClr>
              <a:buSzPts val="1800"/>
              <a:buChar char="•"/>
            </a:pPr>
            <a:r>
              <a:rPr b="1" i="1" lang="en-US" sz="1800">
                <a:solidFill>
                  <a:srgbClr val="00B0F0"/>
                </a:solidFill>
              </a:rPr>
              <a:t>Finish[i] of P1,P2,P3,P4 = false</a:t>
            </a:r>
            <a:endParaRPr/>
          </a:p>
          <a:p>
            <a:pPr indent="-342900" lvl="0" marL="342900" rtl="0" algn="l">
              <a:spcBef>
                <a:spcPts val="360"/>
              </a:spcBef>
              <a:spcAft>
                <a:spcPts val="0"/>
              </a:spcAft>
              <a:buClr>
                <a:srgbClr val="00B0F0"/>
              </a:buClr>
              <a:buSzPts val="1800"/>
              <a:buChar char="•"/>
            </a:pPr>
            <a:r>
              <a:rPr b="1" i="1" lang="en-US" sz="1800">
                <a:solidFill>
                  <a:srgbClr val="00B0F0"/>
                </a:solidFill>
              </a:rPr>
              <a:t>So deadlock</a:t>
            </a:r>
            <a:endParaRPr sz="1800">
              <a:solidFill>
                <a:srgbClr val="00B0F0"/>
              </a:solidFill>
            </a:endParaRPr>
          </a:p>
          <a:p>
            <a:pPr indent="-342900" lvl="0" marL="457200" rtl="0" algn="l">
              <a:spcBef>
                <a:spcPts val="360"/>
              </a:spcBef>
              <a:spcAft>
                <a:spcPts val="0"/>
              </a:spcAft>
              <a:buClr>
                <a:schemeClr val="dk1"/>
              </a:buClr>
              <a:buSzPts val="1800"/>
              <a:buFont typeface="Calibri"/>
              <a:buNone/>
            </a:pPr>
            <a:r>
              <a:t/>
            </a:r>
            <a:endParaRPr sz="1800"/>
          </a:p>
        </p:txBody>
      </p:sp>
      <p:sp>
        <p:nvSpPr>
          <p:cNvPr id="1272" name="Google Shape;1272;p108"/>
          <p:cNvSpPr/>
          <p:nvPr/>
        </p:nvSpPr>
        <p:spPr>
          <a:xfrm>
            <a:off x="6477000" y="1295400"/>
            <a:ext cx="2667000" cy="2397579"/>
          </a:xfrm>
          <a:prstGeom prst="rect">
            <a:avLst/>
          </a:prstGeom>
          <a:noFill/>
          <a:ln>
            <a:noFill/>
          </a:ln>
        </p:spPr>
        <p:txBody>
          <a:bodyPr anchorCtr="0" anchor="t" bIns="45700" lIns="91425" spcFirstLastPara="1" rIns="91425" wrap="square" tIns="45700">
            <a:spAutoFit/>
          </a:bodyPr>
          <a:lstStyle/>
          <a:p>
            <a:pPr indent="-393700" lvl="0" marL="393700" marR="0" rtl="0" algn="l">
              <a:spcBef>
                <a:spcPts val="0"/>
              </a:spcBef>
              <a:spcAft>
                <a:spcPts val="0"/>
              </a:spcAft>
              <a:buClr>
                <a:schemeClr val="dk1"/>
              </a:buClr>
              <a:buSzPts val="1400"/>
              <a:buFont typeface="Arial"/>
              <a:buNone/>
            </a:pPr>
            <a:r>
              <a:rPr lang="en-US" sz="1400">
                <a:solidFill>
                  <a:schemeClr val="dk1"/>
                </a:solidFill>
                <a:latin typeface="Calibri"/>
                <a:ea typeface="Calibri"/>
                <a:cs typeface="Calibri"/>
                <a:sym typeface="Calibri"/>
              </a:rPr>
              <a:t>Check If</a:t>
            </a:r>
            <a:endParaRPr/>
          </a:p>
          <a:p>
            <a:pPr indent="-393700" lvl="0" marL="393700" marR="0" rtl="0" algn="l">
              <a:spcBef>
                <a:spcPts val="0"/>
              </a:spcBef>
              <a:spcAft>
                <a:spcPts val="0"/>
              </a:spcAft>
              <a:buClr>
                <a:schemeClr val="dk1"/>
              </a:buClr>
              <a:buSzPts val="1400"/>
              <a:buFont typeface="Arial"/>
              <a:buNone/>
            </a:pPr>
            <a:r>
              <a:rPr lang="en-US" sz="1400">
                <a:solidFill>
                  <a:schemeClr val="dk1"/>
                </a:solidFill>
                <a:latin typeface="Calibri"/>
                <a:ea typeface="Calibri"/>
                <a:cs typeface="Calibri"/>
                <a:sym typeface="Calibri"/>
              </a:rPr>
              <a:t>(a)	</a:t>
            </a:r>
            <a:r>
              <a:rPr b="1" i="1" lang="en-US" sz="1400">
                <a:solidFill>
                  <a:schemeClr val="dk1"/>
                </a:solidFill>
                <a:latin typeface="Calibri"/>
                <a:ea typeface="Calibri"/>
                <a:cs typeface="Calibri"/>
                <a:sym typeface="Calibri"/>
              </a:rPr>
              <a:t>Finish</a:t>
            </a:r>
            <a:r>
              <a:rPr b="1" lang="en-US" sz="1400">
                <a:solidFill>
                  <a:schemeClr val="dk1"/>
                </a:solidFill>
                <a:latin typeface="Calibri"/>
                <a:ea typeface="Calibri"/>
                <a:cs typeface="Calibri"/>
                <a:sym typeface="Calibri"/>
              </a:rPr>
              <a:t>[</a:t>
            </a:r>
            <a:r>
              <a:rPr b="1" i="1" lang="en-US" sz="1400">
                <a:solidFill>
                  <a:schemeClr val="dk1"/>
                </a:solidFill>
                <a:latin typeface="Calibri"/>
                <a:ea typeface="Calibri"/>
                <a:cs typeface="Calibri"/>
                <a:sym typeface="Calibri"/>
              </a:rPr>
              <a:t>i</a:t>
            </a:r>
            <a:r>
              <a:rPr b="1" lang="en-US" sz="1400">
                <a:solidFill>
                  <a:schemeClr val="dk1"/>
                </a:solidFill>
                <a:latin typeface="Calibri"/>
                <a:ea typeface="Calibri"/>
                <a:cs typeface="Calibri"/>
                <a:sym typeface="Calibri"/>
              </a:rPr>
              <a:t>] == </a:t>
            </a:r>
            <a:r>
              <a:rPr b="1" i="1" lang="en-US" sz="1400">
                <a:solidFill>
                  <a:schemeClr val="dk1"/>
                </a:solidFill>
                <a:latin typeface="Calibri"/>
                <a:ea typeface="Calibri"/>
                <a:cs typeface="Calibri"/>
                <a:sym typeface="Calibri"/>
              </a:rPr>
              <a:t>false</a:t>
            </a:r>
            <a:endParaRPr b="1" sz="1400">
              <a:solidFill>
                <a:schemeClr val="dk1"/>
              </a:solidFill>
              <a:latin typeface="Calibri"/>
              <a:ea typeface="Calibri"/>
              <a:cs typeface="Calibri"/>
              <a:sym typeface="Calibri"/>
            </a:endParaRPr>
          </a:p>
          <a:p>
            <a:pPr indent="-393700" lvl="0" marL="393700" marR="0" rtl="0" algn="l">
              <a:spcBef>
                <a:spcPts val="0"/>
              </a:spcBef>
              <a:spcAft>
                <a:spcPts val="0"/>
              </a:spcAft>
              <a:buClr>
                <a:schemeClr val="dk1"/>
              </a:buClr>
              <a:buSzPts val="1400"/>
              <a:buFont typeface="Arial"/>
              <a:buAutoNum type="alphaLcParenBoth" startAt="2"/>
            </a:pPr>
            <a:r>
              <a:rPr b="1" i="1" lang="en-US" sz="1400">
                <a:solidFill>
                  <a:schemeClr val="dk1"/>
                </a:solidFill>
                <a:latin typeface="Calibri"/>
                <a:ea typeface="Calibri"/>
                <a:cs typeface="Calibri"/>
                <a:sym typeface="Calibri"/>
              </a:rPr>
              <a:t>Request</a:t>
            </a:r>
            <a:r>
              <a:rPr b="1" baseline="-25000" i="1" lang="en-US" sz="1400">
                <a:solidFill>
                  <a:schemeClr val="dk1"/>
                </a:solidFill>
                <a:latin typeface="Calibri"/>
                <a:ea typeface="Calibri"/>
                <a:cs typeface="Calibri"/>
                <a:sym typeface="Calibri"/>
              </a:rPr>
              <a:t>i</a:t>
            </a:r>
            <a:r>
              <a:rPr b="1" lang="en-US" sz="1400">
                <a:solidFill>
                  <a:schemeClr val="dk1"/>
                </a:solidFill>
                <a:latin typeface="Calibri"/>
                <a:ea typeface="Calibri"/>
                <a:cs typeface="Calibri"/>
                <a:sym typeface="Calibri"/>
              </a:rPr>
              <a:t> ≤ </a:t>
            </a:r>
            <a:r>
              <a:rPr b="1" i="1" lang="en-US" sz="1400">
                <a:solidFill>
                  <a:schemeClr val="dk1"/>
                </a:solidFill>
                <a:latin typeface="Calibri"/>
                <a:ea typeface="Calibri"/>
                <a:cs typeface="Calibri"/>
                <a:sym typeface="Calibri"/>
              </a:rPr>
              <a:t>Work</a:t>
            </a:r>
            <a:endParaRPr/>
          </a:p>
          <a:p>
            <a:pPr indent="0" lvl="0" marL="0" marR="0" rtl="0" algn="l">
              <a:spcBef>
                <a:spcPts val="0"/>
              </a:spcBef>
              <a:spcAft>
                <a:spcPts val="0"/>
              </a:spcAft>
              <a:buNone/>
            </a:pPr>
            <a:r>
              <a:rPr b="1" i="1" lang="en-US" sz="1400">
                <a:solidFill>
                  <a:schemeClr val="dk1"/>
                </a:solidFill>
                <a:latin typeface="Calibri"/>
                <a:ea typeface="Calibri"/>
                <a:cs typeface="Calibri"/>
                <a:sym typeface="Calibri"/>
              </a:rPr>
              <a:t>Then</a:t>
            </a:r>
            <a:endParaRPr/>
          </a:p>
          <a:p>
            <a:pPr indent="0" lvl="0" marL="0" marR="0" rtl="0" algn="l">
              <a:spcBef>
                <a:spcPts val="0"/>
              </a:spcBef>
              <a:spcAft>
                <a:spcPts val="0"/>
              </a:spcAft>
              <a:buNone/>
            </a:pPr>
            <a:r>
              <a:rPr b="1" i="1" lang="en-US" sz="1400">
                <a:solidFill>
                  <a:schemeClr val="dk1"/>
                </a:solidFill>
                <a:latin typeface="Calibri"/>
                <a:ea typeface="Calibri"/>
                <a:cs typeface="Calibri"/>
                <a:sym typeface="Calibri"/>
              </a:rPr>
              <a:t>Work</a:t>
            </a:r>
            <a:r>
              <a:rPr b="1" lang="en-US" sz="1400">
                <a:solidFill>
                  <a:schemeClr val="dk1"/>
                </a:solidFill>
                <a:latin typeface="Calibri"/>
                <a:ea typeface="Calibri"/>
                <a:cs typeface="Calibri"/>
                <a:sym typeface="Calibri"/>
              </a:rPr>
              <a:t> = </a:t>
            </a:r>
            <a:r>
              <a:rPr b="1" i="1" lang="en-US" sz="1400">
                <a:solidFill>
                  <a:schemeClr val="dk1"/>
                </a:solidFill>
                <a:latin typeface="Calibri"/>
                <a:ea typeface="Calibri"/>
                <a:cs typeface="Calibri"/>
                <a:sym typeface="Calibri"/>
              </a:rPr>
              <a:t>Work</a:t>
            </a:r>
            <a:r>
              <a:rPr b="1" lang="en-US" sz="1400">
                <a:solidFill>
                  <a:schemeClr val="dk1"/>
                </a:solidFill>
                <a:latin typeface="Calibri"/>
                <a:ea typeface="Calibri"/>
                <a:cs typeface="Calibri"/>
                <a:sym typeface="Calibri"/>
              </a:rPr>
              <a:t> + </a:t>
            </a:r>
            <a:r>
              <a:rPr b="1" i="1" lang="en-US" sz="1400">
                <a:solidFill>
                  <a:schemeClr val="dk1"/>
                </a:solidFill>
                <a:latin typeface="Calibri"/>
                <a:ea typeface="Calibri"/>
                <a:cs typeface="Calibri"/>
                <a:sym typeface="Calibri"/>
              </a:rPr>
              <a:t>Allocation</a:t>
            </a:r>
            <a:r>
              <a:rPr b="1" baseline="-25000" i="1" lang="en-US" sz="1400">
                <a:solidFill>
                  <a:schemeClr val="dk1"/>
                </a:solidFill>
                <a:latin typeface="Calibri"/>
                <a:ea typeface="Calibri"/>
                <a:cs typeface="Calibri"/>
                <a:sym typeface="Calibri"/>
              </a:rPr>
              <a:t>i</a:t>
            </a:r>
            <a:br>
              <a:rPr b="1" lang="en-US" sz="1400">
                <a:solidFill>
                  <a:schemeClr val="dk1"/>
                </a:solidFill>
                <a:latin typeface="Calibri"/>
                <a:ea typeface="Calibri"/>
                <a:cs typeface="Calibri"/>
                <a:sym typeface="Calibri"/>
              </a:rPr>
            </a:br>
            <a:r>
              <a:rPr b="1" i="1" lang="en-US" sz="1400">
                <a:solidFill>
                  <a:schemeClr val="dk1"/>
                </a:solidFill>
                <a:latin typeface="Calibri"/>
                <a:ea typeface="Calibri"/>
                <a:cs typeface="Calibri"/>
                <a:sym typeface="Calibri"/>
              </a:rPr>
              <a:t>Finish</a:t>
            </a:r>
            <a:r>
              <a:rPr b="1" lang="en-US" sz="1400">
                <a:solidFill>
                  <a:schemeClr val="dk1"/>
                </a:solidFill>
                <a:latin typeface="Calibri"/>
                <a:ea typeface="Calibri"/>
                <a:cs typeface="Calibri"/>
                <a:sym typeface="Calibri"/>
              </a:rPr>
              <a:t>[</a:t>
            </a:r>
            <a:r>
              <a:rPr b="1" i="1" lang="en-US" sz="1400">
                <a:solidFill>
                  <a:schemeClr val="dk1"/>
                </a:solidFill>
                <a:latin typeface="Calibri"/>
                <a:ea typeface="Calibri"/>
                <a:cs typeface="Calibri"/>
                <a:sym typeface="Calibri"/>
              </a:rPr>
              <a:t>i</a:t>
            </a:r>
            <a:r>
              <a:rPr b="1" lang="en-US" sz="1400">
                <a:solidFill>
                  <a:schemeClr val="dk1"/>
                </a:solidFill>
                <a:latin typeface="Calibri"/>
                <a:ea typeface="Calibri"/>
                <a:cs typeface="Calibri"/>
                <a:sym typeface="Calibri"/>
              </a:rPr>
              <a:t>] = </a:t>
            </a:r>
            <a:r>
              <a:rPr b="1" i="1" lang="en-US" sz="1400">
                <a:solidFill>
                  <a:schemeClr val="dk1"/>
                </a:solidFill>
                <a:latin typeface="Calibri"/>
                <a:ea typeface="Calibri"/>
                <a:cs typeface="Calibri"/>
                <a:sym typeface="Calibri"/>
              </a:rPr>
              <a:t>true</a:t>
            </a:r>
            <a:endParaRPr/>
          </a:p>
          <a:p>
            <a:pPr indent="0" lvl="0" marL="0" marR="0" rtl="0" algn="l">
              <a:spcBef>
                <a:spcPts val="0"/>
              </a:spcBef>
              <a:spcAft>
                <a:spcPts val="0"/>
              </a:spcAft>
              <a:buNone/>
            </a:pPr>
            <a:r>
              <a:t/>
            </a:r>
            <a:endParaRPr b="1" i="1" sz="1400">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400"/>
              <a:buFont typeface="Arial"/>
              <a:buNone/>
            </a:pPr>
            <a:r>
              <a:rPr lang="en-US" sz="1400">
                <a:solidFill>
                  <a:schemeClr val="dk1"/>
                </a:solidFill>
                <a:latin typeface="Calibri"/>
                <a:ea typeface="Calibri"/>
                <a:cs typeface="Calibri"/>
                <a:sym typeface="Calibri"/>
              </a:rPr>
              <a:t>If </a:t>
            </a:r>
            <a:r>
              <a:rPr b="1" i="1" lang="en-US" sz="1400">
                <a:solidFill>
                  <a:schemeClr val="dk1"/>
                </a:solidFill>
                <a:latin typeface="Calibri"/>
                <a:ea typeface="Calibri"/>
                <a:cs typeface="Calibri"/>
                <a:sym typeface="Calibri"/>
              </a:rPr>
              <a:t>Finish[i] == false</a:t>
            </a:r>
            <a:r>
              <a:rPr lang="en-US" sz="1400">
                <a:solidFill>
                  <a:schemeClr val="dk1"/>
                </a:solidFill>
                <a:latin typeface="Calibri"/>
                <a:ea typeface="Calibri"/>
                <a:cs typeface="Calibri"/>
                <a:sym typeface="Calibri"/>
              </a:rPr>
              <a:t>, for some </a:t>
            </a:r>
            <a:r>
              <a:rPr b="1" i="1" lang="en-US" sz="1400">
                <a:solidFill>
                  <a:schemeClr val="dk1"/>
                </a:solidFill>
                <a:latin typeface="Calibri"/>
                <a:ea typeface="Calibri"/>
                <a:cs typeface="Calibri"/>
                <a:sym typeface="Calibri"/>
              </a:rPr>
              <a:t>i</a:t>
            </a:r>
            <a:r>
              <a:rPr lang="en-US" sz="1400">
                <a:solidFill>
                  <a:schemeClr val="dk1"/>
                </a:solidFill>
                <a:latin typeface="Calibri"/>
                <a:ea typeface="Calibri"/>
                <a:cs typeface="Calibri"/>
                <a:sym typeface="Calibri"/>
              </a:rPr>
              <a:t>, 1 ≤ </a:t>
            </a:r>
            <a:r>
              <a:rPr b="1" i="1" lang="en-US" sz="1400">
                <a:solidFill>
                  <a:schemeClr val="dk1"/>
                </a:solidFill>
                <a:latin typeface="Calibri"/>
                <a:ea typeface="Calibri"/>
                <a:cs typeface="Calibri"/>
                <a:sym typeface="Calibri"/>
              </a:rPr>
              <a:t>i</a:t>
            </a:r>
            <a:r>
              <a:rPr lang="en-US" sz="1400">
                <a:solidFill>
                  <a:schemeClr val="dk1"/>
                </a:solidFill>
                <a:latin typeface="Calibri"/>
                <a:ea typeface="Calibri"/>
                <a:cs typeface="Calibri"/>
                <a:sym typeface="Calibri"/>
              </a:rPr>
              <a:t> ≤  </a:t>
            </a:r>
            <a:r>
              <a:rPr b="1" i="1" lang="en-US" sz="1400">
                <a:solidFill>
                  <a:schemeClr val="dk1"/>
                </a:solidFill>
                <a:latin typeface="Calibri"/>
                <a:ea typeface="Calibri"/>
                <a:cs typeface="Calibri"/>
                <a:sym typeface="Calibri"/>
              </a:rPr>
              <a:t>n</a:t>
            </a:r>
            <a:r>
              <a:rPr lang="en-US" sz="1400">
                <a:solidFill>
                  <a:schemeClr val="dk1"/>
                </a:solidFill>
                <a:latin typeface="Calibri"/>
                <a:ea typeface="Calibri"/>
                <a:cs typeface="Calibri"/>
                <a:sym typeface="Calibri"/>
              </a:rPr>
              <a:t>, then the system is in deadlock state.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400">
              <a:solidFill>
                <a:schemeClr val="dk1"/>
              </a:solidFill>
              <a:latin typeface="Calibri"/>
              <a:ea typeface="Calibri"/>
              <a:cs typeface="Calibri"/>
              <a:sym typeface="Calibri"/>
            </a:endParaRPr>
          </a:p>
        </p:txBody>
      </p:sp>
      <p:pic>
        <p:nvPicPr>
          <p:cNvPr id="1273" name="Google Shape;1273;p108"/>
          <p:cNvPicPr preferRelativeResize="0"/>
          <p:nvPr/>
        </p:nvPicPr>
        <p:blipFill rotWithShape="1">
          <a:blip r:embed="rId3">
            <a:alphaModFix/>
          </a:blip>
          <a:srcRect b="50000" l="30454" r="38311" t="22222"/>
          <a:stretch/>
        </p:blipFill>
        <p:spPr>
          <a:xfrm>
            <a:off x="6616700" y="3733800"/>
            <a:ext cx="2387600" cy="2032000"/>
          </a:xfrm>
          <a:prstGeom prst="rect">
            <a:avLst/>
          </a:prstGeom>
          <a:noFill/>
          <a:ln>
            <a:noFill/>
          </a:ln>
        </p:spPr>
      </p:pic>
      <p:sp>
        <p:nvSpPr>
          <p:cNvPr id="1274" name="Google Shape;1274;p10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275" name="Google Shape;1275;p10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276" name="Google Shape;1276;p10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77" name="Google Shape;1277;p108"/>
          <p:cNvSpPr txBox="1"/>
          <p:nvPr/>
        </p:nvSpPr>
        <p:spPr>
          <a:xfrm>
            <a:off x="8077200" y="4888468"/>
            <a:ext cx="2286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1</a:t>
            </a:r>
            <a:endParaRPr b="1" sz="1800">
              <a:solidFill>
                <a:schemeClr val="dk1"/>
              </a:solidFill>
              <a:latin typeface="Calibri"/>
              <a:ea typeface="Calibri"/>
              <a:cs typeface="Calibri"/>
              <a:sym typeface="Calibri"/>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2" name="Shape 1282"/>
        <p:cNvGrpSpPr/>
        <p:nvPr/>
      </p:nvGrpSpPr>
      <p:grpSpPr>
        <a:xfrm>
          <a:off x="0" y="0"/>
          <a:ext cx="0" cy="0"/>
          <a:chOff x="0" y="0"/>
          <a:chExt cx="0" cy="0"/>
        </a:xfrm>
      </p:grpSpPr>
      <p:sp>
        <p:nvSpPr>
          <p:cNvPr id="1283" name="Google Shape;1283;p109"/>
          <p:cNvSpPr txBox="1"/>
          <p:nvPr>
            <p:ph type="title"/>
          </p:nvPr>
        </p:nvSpPr>
        <p:spPr>
          <a:xfrm>
            <a:off x="457200" y="214313"/>
            <a:ext cx="8229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Example (Cont.)</a:t>
            </a:r>
            <a:endParaRPr/>
          </a:p>
        </p:txBody>
      </p:sp>
      <p:sp>
        <p:nvSpPr>
          <p:cNvPr id="1284" name="Google Shape;1284;p109"/>
          <p:cNvSpPr txBox="1"/>
          <p:nvPr>
            <p:ph idx="1" type="body"/>
          </p:nvPr>
        </p:nvSpPr>
        <p:spPr>
          <a:xfrm>
            <a:off x="806450" y="1233488"/>
            <a:ext cx="7781925" cy="503713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State of system?</a:t>
            </a:r>
            <a:endParaRPr/>
          </a:p>
          <a:p>
            <a:pPr indent="-285750" lvl="1" marL="742950" rtl="0" algn="l">
              <a:spcBef>
                <a:spcPts val="480"/>
              </a:spcBef>
              <a:spcAft>
                <a:spcPts val="0"/>
              </a:spcAft>
              <a:buClr>
                <a:srgbClr val="0070C0"/>
              </a:buClr>
              <a:buSzPts val="2400"/>
              <a:buChar char="–"/>
            </a:pPr>
            <a:r>
              <a:rPr b="1" lang="en-US" sz="2400">
                <a:solidFill>
                  <a:srgbClr val="0070C0"/>
                </a:solidFill>
              </a:rPr>
              <a:t>Can reclaim resources held by process </a:t>
            </a:r>
            <a:r>
              <a:rPr b="1" i="1" lang="en-US" sz="2400">
                <a:solidFill>
                  <a:srgbClr val="0070C0"/>
                </a:solidFill>
              </a:rPr>
              <a:t>P</a:t>
            </a:r>
            <a:r>
              <a:rPr b="1" baseline="-25000" lang="en-US" sz="2400">
                <a:solidFill>
                  <a:srgbClr val="0070C0"/>
                </a:solidFill>
              </a:rPr>
              <a:t>0</a:t>
            </a:r>
            <a:r>
              <a:rPr lang="en-US" sz="2400"/>
              <a:t>, but insufficient resources to fulfill other processes; requests</a:t>
            </a:r>
            <a:endParaRPr/>
          </a:p>
          <a:p>
            <a:pPr indent="-285750" lvl="1" marL="742950" rtl="0" algn="l">
              <a:spcBef>
                <a:spcPts val="480"/>
              </a:spcBef>
              <a:spcAft>
                <a:spcPts val="0"/>
              </a:spcAft>
              <a:buClr>
                <a:srgbClr val="0070C0"/>
              </a:buClr>
              <a:buSzPts val="2400"/>
              <a:buChar char="–"/>
            </a:pPr>
            <a:r>
              <a:rPr b="1" lang="en-US" sz="2400">
                <a:solidFill>
                  <a:srgbClr val="0070C0"/>
                </a:solidFill>
              </a:rPr>
              <a:t>Deadlock exists</a:t>
            </a:r>
            <a:r>
              <a:rPr lang="en-US" sz="2400"/>
              <a:t>, consisting of processes </a:t>
            </a:r>
            <a:r>
              <a:rPr b="1" i="1" lang="en-US" sz="2400">
                <a:solidFill>
                  <a:srgbClr val="0070C0"/>
                </a:solidFill>
              </a:rPr>
              <a:t>P</a:t>
            </a:r>
            <a:r>
              <a:rPr b="1" baseline="-25000" lang="en-US" sz="2400">
                <a:solidFill>
                  <a:srgbClr val="0070C0"/>
                </a:solidFill>
              </a:rPr>
              <a:t>1</a:t>
            </a:r>
            <a:r>
              <a:rPr b="1" lang="en-US" sz="2400">
                <a:solidFill>
                  <a:srgbClr val="0070C0"/>
                </a:solidFill>
              </a:rPr>
              <a:t>, </a:t>
            </a:r>
            <a:r>
              <a:rPr b="1" baseline="-25000" lang="en-US" sz="2400">
                <a:solidFill>
                  <a:srgbClr val="0070C0"/>
                </a:solidFill>
              </a:rPr>
              <a:t> </a:t>
            </a:r>
            <a:r>
              <a:rPr b="1" i="1" lang="en-US" sz="2400">
                <a:solidFill>
                  <a:srgbClr val="0070C0"/>
                </a:solidFill>
              </a:rPr>
              <a:t>P</a:t>
            </a:r>
            <a:r>
              <a:rPr b="1" baseline="-25000" lang="en-US" sz="2400">
                <a:solidFill>
                  <a:srgbClr val="0070C0"/>
                </a:solidFill>
              </a:rPr>
              <a:t>2</a:t>
            </a:r>
            <a:r>
              <a:rPr b="1" lang="en-US" sz="2400">
                <a:solidFill>
                  <a:srgbClr val="0070C0"/>
                </a:solidFill>
              </a:rPr>
              <a:t>, </a:t>
            </a:r>
            <a:r>
              <a:rPr b="1" i="1" lang="en-US" sz="2400">
                <a:solidFill>
                  <a:srgbClr val="0070C0"/>
                </a:solidFill>
              </a:rPr>
              <a:t>P</a:t>
            </a:r>
            <a:r>
              <a:rPr b="1" baseline="-25000" lang="en-US" sz="2400">
                <a:solidFill>
                  <a:srgbClr val="0070C0"/>
                </a:solidFill>
              </a:rPr>
              <a:t>3</a:t>
            </a:r>
            <a:r>
              <a:rPr b="1" lang="en-US" sz="2400">
                <a:solidFill>
                  <a:srgbClr val="0070C0"/>
                </a:solidFill>
              </a:rPr>
              <a:t>, and </a:t>
            </a:r>
            <a:r>
              <a:rPr b="1" i="1" lang="en-US" sz="2400">
                <a:solidFill>
                  <a:srgbClr val="0070C0"/>
                </a:solidFill>
              </a:rPr>
              <a:t>P</a:t>
            </a:r>
            <a:r>
              <a:rPr b="1" baseline="-25000" lang="en-US" sz="2400">
                <a:solidFill>
                  <a:srgbClr val="0070C0"/>
                </a:solidFill>
              </a:rPr>
              <a:t>4</a:t>
            </a:r>
            <a:endParaRPr b="1" sz="2400">
              <a:solidFill>
                <a:srgbClr val="0070C0"/>
              </a:solidFill>
            </a:endParaRPr>
          </a:p>
        </p:txBody>
      </p:sp>
      <p:sp>
        <p:nvSpPr>
          <p:cNvPr id="1285" name="Google Shape;1285;p10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286" name="Google Shape;1286;p10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287" name="Google Shape;1287;p10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110"/>
          <p:cNvSpPr txBox="1"/>
          <p:nvPr>
            <p:ph type="title"/>
          </p:nvPr>
        </p:nvSpPr>
        <p:spPr>
          <a:xfrm>
            <a:off x="1100138" y="230188"/>
            <a:ext cx="7586662"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Detection-Algorithm Usage</a:t>
            </a:r>
            <a:endParaRPr/>
          </a:p>
        </p:txBody>
      </p:sp>
      <p:sp>
        <p:nvSpPr>
          <p:cNvPr id="1294" name="Google Shape;1294;p110"/>
          <p:cNvSpPr txBox="1"/>
          <p:nvPr>
            <p:ph idx="1" type="body"/>
          </p:nvPr>
        </p:nvSpPr>
        <p:spPr>
          <a:xfrm>
            <a:off x="869950" y="1122363"/>
            <a:ext cx="7107238"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70C0"/>
              </a:buClr>
              <a:buSzPts val="2400"/>
              <a:buChar char="•"/>
            </a:pPr>
            <a:r>
              <a:rPr lang="en-US" sz="2400">
                <a:solidFill>
                  <a:srgbClr val="0070C0"/>
                </a:solidFill>
              </a:rPr>
              <a:t>When should we invoke </a:t>
            </a:r>
            <a:r>
              <a:rPr lang="en-US" sz="2400"/>
              <a:t>the detection algorithm?</a:t>
            </a:r>
            <a:endParaRPr sz="2400"/>
          </a:p>
          <a:p>
            <a:pPr indent="-342900" lvl="0" marL="342900" rtl="0" algn="l">
              <a:spcBef>
                <a:spcPts val="480"/>
              </a:spcBef>
              <a:spcAft>
                <a:spcPts val="0"/>
              </a:spcAft>
              <a:buClr>
                <a:schemeClr val="dk1"/>
              </a:buClr>
              <a:buSzPts val="2400"/>
              <a:buChar char="•"/>
            </a:pPr>
            <a:r>
              <a:rPr lang="en-US" sz="2400"/>
              <a:t>Depends on:</a:t>
            </a:r>
            <a:endParaRPr/>
          </a:p>
          <a:p>
            <a:pPr indent="-285750" lvl="1" marL="742950" rtl="0" algn="l">
              <a:spcBef>
                <a:spcPts val="480"/>
              </a:spcBef>
              <a:spcAft>
                <a:spcPts val="0"/>
              </a:spcAft>
              <a:buClr>
                <a:srgbClr val="0070C0"/>
              </a:buClr>
              <a:buSzPts val="2400"/>
              <a:buChar char="–"/>
            </a:pPr>
            <a:r>
              <a:rPr lang="en-US" sz="2400">
                <a:solidFill>
                  <a:srgbClr val="0070C0"/>
                </a:solidFill>
              </a:rPr>
              <a:t>How often a deadlock is likely to occur?</a:t>
            </a:r>
            <a:endParaRPr/>
          </a:p>
          <a:p>
            <a:pPr indent="-285750" lvl="1" marL="742950" rtl="0" algn="l">
              <a:spcBef>
                <a:spcPts val="480"/>
              </a:spcBef>
              <a:spcAft>
                <a:spcPts val="0"/>
              </a:spcAft>
              <a:buClr>
                <a:schemeClr val="dk1"/>
              </a:buClr>
              <a:buSzPts val="2400"/>
              <a:buChar char="–"/>
            </a:pPr>
            <a:r>
              <a:rPr lang="en-US" sz="2400"/>
              <a:t>How many processes will need to be rolled back?</a:t>
            </a:r>
            <a:endParaRPr/>
          </a:p>
          <a:p>
            <a:pPr indent="-228600" lvl="2" marL="1143000" rtl="0" algn="l">
              <a:spcBef>
                <a:spcPts val="480"/>
              </a:spcBef>
              <a:spcAft>
                <a:spcPts val="0"/>
              </a:spcAft>
              <a:buClr>
                <a:schemeClr val="dk1"/>
              </a:buClr>
              <a:buSzPts val="2400"/>
              <a:buChar char="•"/>
            </a:pPr>
            <a:r>
              <a:rPr lang="en-US"/>
              <a:t>one for each disjoint cycle</a:t>
            </a:r>
            <a:br>
              <a:rPr lang="en-US"/>
            </a:br>
            <a:endParaRPr/>
          </a:p>
        </p:txBody>
      </p:sp>
      <p:sp>
        <p:nvSpPr>
          <p:cNvPr id="1295" name="Google Shape;1295;p1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296" name="Google Shape;1296;p1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297" name="Google Shape;1297;p1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p111"/>
          <p:cNvSpPr txBox="1"/>
          <p:nvPr>
            <p:ph type="title"/>
          </p:nvPr>
        </p:nvSpPr>
        <p:spPr>
          <a:xfrm>
            <a:off x="1100138" y="230188"/>
            <a:ext cx="7586662"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Detection-Algorithm Usage</a:t>
            </a:r>
            <a:endParaRPr/>
          </a:p>
        </p:txBody>
      </p:sp>
      <p:sp>
        <p:nvSpPr>
          <p:cNvPr id="1304" name="Google Shape;1304;p111"/>
          <p:cNvSpPr txBox="1"/>
          <p:nvPr>
            <p:ph idx="1" type="body"/>
          </p:nvPr>
        </p:nvSpPr>
        <p:spPr>
          <a:xfrm>
            <a:off x="869950" y="1122363"/>
            <a:ext cx="7107238"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lang="en-US" sz="2800"/>
              <a:t>If deadlocks occur frequently, </a:t>
            </a:r>
            <a:endParaRPr sz="2800"/>
          </a:p>
          <a:p>
            <a:pPr indent="-285750" lvl="1" marL="742950" rtl="0" algn="l">
              <a:spcBef>
                <a:spcPts val="480"/>
              </a:spcBef>
              <a:spcAft>
                <a:spcPts val="0"/>
              </a:spcAft>
              <a:buClr>
                <a:schemeClr val="dk1"/>
              </a:buClr>
              <a:buSzPts val="2400"/>
              <a:buChar char="–"/>
            </a:pPr>
            <a:r>
              <a:rPr lang="en-US" sz="2400"/>
              <a:t>then the detection algorithm </a:t>
            </a:r>
            <a:r>
              <a:rPr lang="en-US" sz="2400">
                <a:solidFill>
                  <a:srgbClr val="0070C0"/>
                </a:solidFill>
              </a:rPr>
              <a:t>should be invoked frequently. </a:t>
            </a:r>
            <a:endParaRPr sz="2400">
              <a:solidFill>
                <a:srgbClr val="0070C0"/>
              </a:solidFill>
            </a:endParaRPr>
          </a:p>
          <a:p>
            <a:pPr indent="-285750" lvl="1" marL="742950" rtl="0" algn="l">
              <a:spcBef>
                <a:spcPts val="480"/>
              </a:spcBef>
              <a:spcAft>
                <a:spcPts val="0"/>
              </a:spcAft>
              <a:buClr>
                <a:schemeClr val="dk1"/>
              </a:buClr>
              <a:buSzPts val="2400"/>
              <a:buChar char="–"/>
            </a:pPr>
            <a:r>
              <a:rPr lang="en-US" sz="2400"/>
              <a:t>Resources allocated to deadlocked processes will be idle until the deadlock can be broken. </a:t>
            </a:r>
            <a:endParaRPr sz="2400"/>
          </a:p>
          <a:p>
            <a:pPr indent="-285750" lvl="1" marL="742950" rtl="0" algn="l">
              <a:spcBef>
                <a:spcPts val="480"/>
              </a:spcBef>
              <a:spcAft>
                <a:spcPts val="0"/>
              </a:spcAft>
              <a:buClr>
                <a:schemeClr val="dk1"/>
              </a:buClr>
              <a:buSzPts val="2400"/>
              <a:buChar char="–"/>
            </a:pPr>
            <a:r>
              <a:rPr lang="en-US" sz="2400"/>
              <a:t>In addition, the number of processes involved in the deadlock cycle may grow.</a:t>
            </a:r>
            <a:endParaRPr/>
          </a:p>
        </p:txBody>
      </p:sp>
      <p:sp>
        <p:nvSpPr>
          <p:cNvPr id="1305" name="Google Shape;1305;p1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306" name="Google Shape;1306;p1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307" name="Google Shape;1307;p1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2" name="Shape 1312"/>
        <p:cNvGrpSpPr/>
        <p:nvPr/>
      </p:nvGrpSpPr>
      <p:grpSpPr>
        <a:xfrm>
          <a:off x="0" y="0"/>
          <a:ext cx="0" cy="0"/>
          <a:chOff x="0" y="0"/>
          <a:chExt cx="0" cy="0"/>
        </a:xfrm>
      </p:grpSpPr>
      <p:sp>
        <p:nvSpPr>
          <p:cNvPr id="1313" name="Google Shape;1313;p112"/>
          <p:cNvSpPr txBox="1"/>
          <p:nvPr>
            <p:ph type="title"/>
          </p:nvPr>
        </p:nvSpPr>
        <p:spPr>
          <a:xfrm>
            <a:off x="1100138" y="230188"/>
            <a:ext cx="7586662"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Detection-Algorithm Usage</a:t>
            </a:r>
            <a:endParaRPr/>
          </a:p>
        </p:txBody>
      </p:sp>
      <p:sp>
        <p:nvSpPr>
          <p:cNvPr id="1314" name="Google Shape;1314;p112"/>
          <p:cNvSpPr txBox="1"/>
          <p:nvPr>
            <p:ph idx="1" type="body"/>
          </p:nvPr>
        </p:nvSpPr>
        <p:spPr>
          <a:xfrm>
            <a:off x="869950" y="1122363"/>
            <a:ext cx="7107238"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If detection algorithm is </a:t>
            </a:r>
            <a:r>
              <a:rPr b="1" lang="en-US" sz="2400">
                <a:solidFill>
                  <a:srgbClr val="0070C0"/>
                </a:solidFill>
              </a:rPr>
              <a:t>invoked arbitrarily, </a:t>
            </a:r>
            <a:endParaRPr b="1" sz="2400">
              <a:solidFill>
                <a:srgbClr val="0070C0"/>
              </a:solidFill>
            </a:endParaRPr>
          </a:p>
          <a:p>
            <a:pPr indent="-285750" lvl="1" marL="742950" rtl="0" algn="l">
              <a:spcBef>
                <a:spcPts val="480"/>
              </a:spcBef>
              <a:spcAft>
                <a:spcPts val="0"/>
              </a:spcAft>
              <a:buClr>
                <a:schemeClr val="dk1"/>
              </a:buClr>
              <a:buSzPts val="2400"/>
              <a:buChar char="–"/>
            </a:pPr>
            <a:r>
              <a:rPr lang="en-US" sz="2400"/>
              <a:t>there may be many cycles in the resource graph and so we would </a:t>
            </a:r>
            <a:r>
              <a:rPr b="1" lang="en-US" sz="2400">
                <a:solidFill>
                  <a:srgbClr val="0070C0"/>
                </a:solidFill>
              </a:rPr>
              <a:t>not be able to tell which of the many deadlocked processes “caused” the deadlock.</a:t>
            </a:r>
            <a:endParaRPr/>
          </a:p>
        </p:txBody>
      </p:sp>
      <p:sp>
        <p:nvSpPr>
          <p:cNvPr id="1315" name="Google Shape;1315;p1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316" name="Google Shape;1316;p1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317" name="Google Shape;1317;p1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p113"/>
          <p:cNvSpPr txBox="1"/>
          <p:nvPr>
            <p:ph type="title"/>
          </p:nvPr>
        </p:nvSpPr>
        <p:spPr>
          <a:xfrm>
            <a:off x="1100138" y="230188"/>
            <a:ext cx="7586662"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Detection-Algorithm Usage</a:t>
            </a:r>
            <a:endParaRPr/>
          </a:p>
        </p:txBody>
      </p:sp>
      <p:sp>
        <p:nvSpPr>
          <p:cNvPr id="1324" name="Google Shape;1324;p113"/>
          <p:cNvSpPr txBox="1"/>
          <p:nvPr>
            <p:ph idx="1" type="body"/>
          </p:nvPr>
        </p:nvSpPr>
        <p:spPr>
          <a:xfrm>
            <a:off x="869950" y="1122363"/>
            <a:ext cx="7107238"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Invoking the deadlock-detection algorithm </a:t>
            </a:r>
            <a:r>
              <a:rPr b="1" lang="en-US" sz="2400">
                <a:solidFill>
                  <a:srgbClr val="0070C0"/>
                </a:solidFill>
              </a:rPr>
              <a:t>for every resource request </a:t>
            </a:r>
            <a:endParaRPr/>
          </a:p>
          <a:p>
            <a:pPr indent="-285750" lvl="1" marL="742950" rtl="0" algn="l">
              <a:spcBef>
                <a:spcPts val="480"/>
              </a:spcBef>
              <a:spcAft>
                <a:spcPts val="0"/>
              </a:spcAft>
              <a:buClr>
                <a:schemeClr val="dk1"/>
              </a:buClr>
              <a:buSzPts val="2400"/>
              <a:buChar char="–"/>
            </a:pPr>
            <a:r>
              <a:rPr lang="en-US" sz="2400"/>
              <a:t>will incur </a:t>
            </a:r>
            <a:r>
              <a:rPr b="1" lang="en-US" sz="2400">
                <a:solidFill>
                  <a:srgbClr val="0070C0"/>
                </a:solidFill>
              </a:rPr>
              <a:t>considerable overhead</a:t>
            </a:r>
            <a:r>
              <a:rPr lang="en-US" sz="2400"/>
              <a:t> in computation time. </a:t>
            </a:r>
            <a:endParaRPr/>
          </a:p>
          <a:p>
            <a:pPr indent="-133350" lvl="1" marL="742950" rtl="0" algn="l">
              <a:spcBef>
                <a:spcPts val="480"/>
              </a:spcBef>
              <a:spcAft>
                <a:spcPts val="0"/>
              </a:spcAft>
              <a:buClr>
                <a:schemeClr val="dk1"/>
              </a:buClr>
              <a:buSzPts val="2400"/>
              <a:buNone/>
            </a:pPr>
            <a:r>
              <a:t/>
            </a:r>
            <a:endParaRPr sz="2400"/>
          </a:p>
        </p:txBody>
      </p:sp>
      <p:sp>
        <p:nvSpPr>
          <p:cNvPr id="1325" name="Google Shape;1325;p1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326" name="Google Shape;1326;p1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327" name="Google Shape;1327;p1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2" name="Shape 1332"/>
        <p:cNvGrpSpPr/>
        <p:nvPr/>
      </p:nvGrpSpPr>
      <p:grpSpPr>
        <a:xfrm>
          <a:off x="0" y="0"/>
          <a:ext cx="0" cy="0"/>
          <a:chOff x="0" y="0"/>
          <a:chExt cx="0" cy="0"/>
        </a:xfrm>
      </p:grpSpPr>
      <p:sp>
        <p:nvSpPr>
          <p:cNvPr id="1333" name="Google Shape;1333;p114"/>
          <p:cNvSpPr txBox="1"/>
          <p:nvPr>
            <p:ph type="title"/>
          </p:nvPr>
        </p:nvSpPr>
        <p:spPr>
          <a:xfrm>
            <a:off x="1100138" y="230188"/>
            <a:ext cx="7586662"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Detection-Algorithm Usage</a:t>
            </a:r>
            <a:endParaRPr/>
          </a:p>
        </p:txBody>
      </p:sp>
      <p:sp>
        <p:nvSpPr>
          <p:cNvPr id="1334" name="Google Shape;1334;p114"/>
          <p:cNvSpPr txBox="1"/>
          <p:nvPr>
            <p:ph idx="1" type="body"/>
          </p:nvPr>
        </p:nvSpPr>
        <p:spPr>
          <a:xfrm>
            <a:off x="869950" y="1122363"/>
            <a:ext cx="7107238"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A less expensive alternative is simply to </a:t>
            </a:r>
            <a:endParaRPr sz="2400"/>
          </a:p>
          <a:p>
            <a:pPr indent="-285750" lvl="1" marL="742950" rtl="0" algn="l">
              <a:spcBef>
                <a:spcPts val="480"/>
              </a:spcBef>
              <a:spcAft>
                <a:spcPts val="0"/>
              </a:spcAft>
              <a:buClr>
                <a:srgbClr val="0070C0"/>
              </a:buClr>
              <a:buSzPts val="2400"/>
              <a:buChar char="–"/>
            </a:pPr>
            <a:r>
              <a:rPr b="1" lang="en-US" sz="2400" u="sng">
                <a:solidFill>
                  <a:srgbClr val="0070C0"/>
                </a:solidFill>
              </a:rPr>
              <a:t>invoke the algorithm at defined intervals-</a:t>
            </a:r>
            <a:endParaRPr/>
          </a:p>
          <a:p>
            <a:pPr indent="-285750" lvl="1" marL="742950" rtl="0" algn="l">
              <a:spcBef>
                <a:spcPts val="480"/>
              </a:spcBef>
              <a:spcAft>
                <a:spcPts val="0"/>
              </a:spcAft>
              <a:buClr>
                <a:srgbClr val="0070C0"/>
              </a:buClr>
              <a:buSzPts val="2400"/>
              <a:buChar char="–"/>
            </a:pPr>
            <a:r>
              <a:rPr b="1" lang="en-US" sz="2400" u="sng">
                <a:solidFill>
                  <a:srgbClr val="0070C0"/>
                </a:solidFill>
              </a:rPr>
              <a:t>for example, once per hour or whenever CPU utilization drops below 40 percent.</a:t>
            </a:r>
            <a:endParaRPr b="1" sz="2400" u="sng">
              <a:solidFill>
                <a:srgbClr val="0070C0"/>
              </a:solidFill>
            </a:endParaRPr>
          </a:p>
        </p:txBody>
      </p:sp>
      <p:sp>
        <p:nvSpPr>
          <p:cNvPr id="1335" name="Google Shape;1335;p1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336" name="Google Shape;1336;p1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337" name="Google Shape;1337;p1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2" name="Shape 1342"/>
        <p:cNvGrpSpPr/>
        <p:nvPr/>
      </p:nvGrpSpPr>
      <p:grpSpPr>
        <a:xfrm>
          <a:off x="0" y="0"/>
          <a:ext cx="0" cy="0"/>
          <a:chOff x="0" y="0"/>
          <a:chExt cx="0" cy="0"/>
        </a:xfrm>
      </p:grpSpPr>
      <p:sp>
        <p:nvSpPr>
          <p:cNvPr id="1343" name="Google Shape;1343;p115"/>
          <p:cNvSpPr txBox="1"/>
          <p:nvPr>
            <p:ph type="title"/>
          </p:nvPr>
        </p:nvSpPr>
        <p:spPr>
          <a:xfrm>
            <a:off x="381000" y="228600"/>
            <a:ext cx="8588375" cy="457200"/>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Calibri"/>
              <a:buNone/>
            </a:pPr>
            <a:r>
              <a:rPr lang="en-US" sz="2400">
                <a:solidFill>
                  <a:schemeClr val="dk1"/>
                </a:solidFill>
                <a:latin typeface="Calibri"/>
                <a:ea typeface="Calibri"/>
                <a:cs typeface="Calibri"/>
                <a:sym typeface="Calibri"/>
              </a:rPr>
              <a:t>Recovery from Deadlock</a:t>
            </a:r>
            <a:endParaRPr/>
          </a:p>
        </p:txBody>
      </p:sp>
      <p:sp>
        <p:nvSpPr>
          <p:cNvPr id="1344" name="Google Shape;1344;p115"/>
          <p:cNvSpPr txBox="1"/>
          <p:nvPr>
            <p:ph idx="1" type="body"/>
          </p:nvPr>
        </p:nvSpPr>
        <p:spPr>
          <a:xfrm>
            <a:off x="963613" y="1108075"/>
            <a:ext cx="7694612"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Char char="•"/>
            </a:pPr>
            <a:r>
              <a:rPr lang="en-US" sz="2400"/>
              <a:t>When a detection algorithm determines that </a:t>
            </a:r>
            <a:endParaRPr sz="2400"/>
          </a:p>
          <a:p>
            <a:pPr indent="-285750" lvl="1" marL="742950" rtl="0" algn="l">
              <a:spcBef>
                <a:spcPts val="480"/>
              </a:spcBef>
              <a:spcAft>
                <a:spcPts val="0"/>
              </a:spcAft>
              <a:buClr>
                <a:schemeClr val="dk1"/>
              </a:buClr>
              <a:buSzPts val="2400"/>
              <a:buChar char="–"/>
            </a:pPr>
            <a:r>
              <a:rPr lang="en-US" sz="2400"/>
              <a:t>a deadlock exists,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Several alternatives are available-</a:t>
            </a:r>
            <a:endParaRPr sz="2400"/>
          </a:p>
          <a:p>
            <a:pPr indent="-285750" lvl="1" marL="742950" rtl="0" algn="l">
              <a:spcBef>
                <a:spcPts val="480"/>
              </a:spcBef>
              <a:spcAft>
                <a:spcPts val="0"/>
              </a:spcAft>
              <a:buClr>
                <a:schemeClr val="dk1"/>
              </a:buClr>
              <a:buSzPts val="2400"/>
              <a:buChar char="–"/>
            </a:pPr>
            <a:r>
              <a:rPr lang="en-US" sz="2400"/>
              <a:t>Let the operator deal with the </a:t>
            </a:r>
            <a:r>
              <a:rPr lang="en-US" sz="2400">
                <a:solidFill>
                  <a:srgbClr val="0070C0"/>
                </a:solidFill>
              </a:rPr>
              <a:t>deadlock manually. </a:t>
            </a:r>
            <a:endParaRPr sz="2400">
              <a:solidFill>
                <a:srgbClr val="0070C0"/>
              </a:solidFill>
            </a:endParaRPr>
          </a:p>
          <a:p>
            <a:pPr indent="-285750" lvl="1" marL="742950" rtl="0" algn="l">
              <a:spcBef>
                <a:spcPts val="480"/>
              </a:spcBef>
              <a:spcAft>
                <a:spcPts val="0"/>
              </a:spcAft>
              <a:buClr>
                <a:schemeClr val="dk1"/>
              </a:buClr>
              <a:buSzPts val="2400"/>
              <a:buChar char="–"/>
            </a:pPr>
            <a:r>
              <a:rPr lang="en-US" sz="2400"/>
              <a:t>Let the system </a:t>
            </a:r>
            <a:r>
              <a:rPr i="1" lang="en-US" sz="2400"/>
              <a:t>recover </a:t>
            </a:r>
            <a:r>
              <a:rPr lang="en-US" sz="2400"/>
              <a:t>from the </a:t>
            </a:r>
            <a:r>
              <a:rPr lang="en-US" sz="2400">
                <a:solidFill>
                  <a:srgbClr val="0070C0"/>
                </a:solidFill>
              </a:rPr>
              <a:t>deadlock automatically. </a:t>
            </a:r>
            <a:endParaRPr sz="2400">
              <a:solidFill>
                <a:srgbClr val="0070C0"/>
              </a:solidFill>
            </a:endParaRPr>
          </a:p>
        </p:txBody>
      </p:sp>
      <p:sp>
        <p:nvSpPr>
          <p:cNvPr id="1345" name="Google Shape;1345;p1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346" name="Google Shape;1346;p1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347" name="Google Shape;1347;p1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2" name="Shape 1352"/>
        <p:cNvGrpSpPr/>
        <p:nvPr/>
      </p:nvGrpSpPr>
      <p:grpSpPr>
        <a:xfrm>
          <a:off x="0" y="0"/>
          <a:ext cx="0" cy="0"/>
          <a:chOff x="0" y="0"/>
          <a:chExt cx="0" cy="0"/>
        </a:xfrm>
      </p:grpSpPr>
      <p:sp>
        <p:nvSpPr>
          <p:cNvPr id="1353" name="Google Shape;1353;p116"/>
          <p:cNvSpPr txBox="1"/>
          <p:nvPr>
            <p:ph type="title"/>
          </p:nvPr>
        </p:nvSpPr>
        <p:spPr>
          <a:xfrm>
            <a:off x="823913" y="228600"/>
            <a:ext cx="8588375" cy="457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Calibri"/>
              <a:buNone/>
            </a:pPr>
            <a:r>
              <a:rPr lang="en-US" sz="2400"/>
              <a:t>Recovery from Deadlock</a:t>
            </a:r>
            <a:endParaRPr/>
          </a:p>
        </p:txBody>
      </p:sp>
      <p:sp>
        <p:nvSpPr>
          <p:cNvPr id="1354" name="Google Shape;1354;p116"/>
          <p:cNvSpPr txBox="1"/>
          <p:nvPr>
            <p:ph idx="1" type="body"/>
          </p:nvPr>
        </p:nvSpPr>
        <p:spPr>
          <a:xfrm>
            <a:off x="963613" y="1108075"/>
            <a:ext cx="7694612" cy="4530725"/>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Char char="•"/>
            </a:pPr>
            <a:r>
              <a:rPr lang="en-US" sz="2400">
                <a:solidFill>
                  <a:schemeClr val="dk1"/>
                </a:solidFill>
                <a:latin typeface="Calibri"/>
                <a:ea typeface="Calibri"/>
                <a:cs typeface="Calibri"/>
                <a:sym typeface="Calibri"/>
              </a:rPr>
              <a:t>There are two options for breaking a deadlock </a:t>
            </a:r>
            <a:endParaRPr sz="2400"/>
          </a:p>
          <a:p>
            <a:pPr indent="-228600" lvl="2" marL="1143000" rtl="0" algn="l">
              <a:spcBef>
                <a:spcPts val="480"/>
              </a:spcBef>
              <a:spcAft>
                <a:spcPts val="0"/>
              </a:spcAft>
              <a:buClr>
                <a:schemeClr val="dk1"/>
              </a:buClr>
              <a:buSzPts val="2400"/>
              <a:buChar char="•"/>
            </a:pPr>
            <a:r>
              <a:rPr lang="en-US">
                <a:solidFill>
                  <a:schemeClr val="dk1"/>
                </a:solidFill>
                <a:latin typeface="Calibri"/>
                <a:ea typeface="Calibri"/>
                <a:cs typeface="Calibri"/>
                <a:sym typeface="Calibri"/>
              </a:rPr>
              <a:t>Process Termination</a:t>
            </a:r>
            <a:endParaRPr/>
          </a:p>
          <a:p>
            <a:pPr indent="-228600" lvl="3" marL="1600200" rtl="0" algn="l">
              <a:spcBef>
                <a:spcPts val="400"/>
              </a:spcBef>
              <a:spcAft>
                <a:spcPts val="0"/>
              </a:spcAft>
              <a:buClr>
                <a:schemeClr val="dk1"/>
              </a:buClr>
              <a:buSzPts val="2000"/>
              <a:buChar char="–"/>
            </a:pPr>
            <a:r>
              <a:rPr lang="en-US">
                <a:solidFill>
                  <a:schemeClr val="dk1"/>
                </a:solidFill>
                <a:latin typeface="Calibri"/>
                <a:ea typeface="Calibri"/>
                <a:cs typeface="Calibri"/>
                <a:sym typeface="Calibri"/>
              </a:rPr>
              <a:t>Abort one or more processes to break the circular wait. </a:t>
            </a:r>
            <a:endParaRPr/>
          </a:p>
          <a:p>
            <a:pPr indent="-228600" lvl="2" marL="1143000" rtl="0" algn="l">
              <a:spcBef>
                <a:spcPts val="480"/>
              </a:spcBef>
              <a:spcAft>
                <a:spcPts val="0"/>
              </a:spcAft>
              <a:buClr>
                <a:schemeClr val="dk1"/>
              </a:buClr>
              <a:buSzPts val="2400"/>
              <a:buChar char="•"/>
            </a:pPr>
            <a:r>
              <a:rPr lang="en-US">
                <a:solidFill>
                  <a:schemeClr val="dk1"/>
                </a:solidFill>
                <a:latin typeface="Calibri"/>
                <a:ea typeface="Calibri"/>
                <a:cs typeface="Calibri"/>
                <a:sym typeface="Calibri"/>
              </a:rPr>
              <a:t>Resource Preemption</a:t>
            </a:r>
            <a:endParaRPr/>
          </a:p>
          <a:p>
            <a:pPr indent="-228600" lvl="3" marL="1600200" rtl="0" algn="l">
              <a:spcBef>
                <a:spcPts val="400"/>
              </a:spcBef>
              <a:spcAft>
                <a:spcPts val="0"/>
              </a:spcAft>
              <a:buClr>
                <a:schemeClr val="dk1"/>
              </a:buClr>
              <a:buSzPts val="2000"/>
              <a:buChar char="–"/>
            </a:pPr>
            <a:r>
              <a:rPr lang="en-US">
                <a:solidFill>
                  <a:schemeClr val="dk1"/>
                </a:solidFill>
                <a:latin typeface="Calibri"/>
                <a:ea typeface="Calibri"/>
                <a:cs typeface="Calibri"/>
                <a:sym typeface="Calibri"/>
              </a:rPr>
              <a:t>Preempt some resources from one or more of the deadlocked processes</a:t>
            </a:r>
            <a:endParaRPr/>
          </a:p>
        </p:txBody>
      </p:sp>
      <p:sp>
        <p:nvSpPr>
          <p:cNvPr id="1355" name="Google Shape;1355;p1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356" name="Google Shape;1356;p1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357" name="Google Shape;1357;p1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2" name="Shape 1362"/>
        <p:cNvGrpSpPr/>
        <p:nvPr/>
      </p:nvGrpSpPr>
      <p:grpSpPr>
        <a:xfrm>
          <a:off x="0" y="0"/>
          <a:ext cx="0" cy="0"/>
          <a:chOff x="0" y="0"/>
          <a:chExt cx="0" cy="0"/>
        </a:xfrm>
      </p:grpSpPr>
      <p:sp>
        <p:nvSpPr>
          <p:cNvPr id="1363" name="Google Shape;1363;p117"/>
          <p:cNvSpPr txBox="1"/>
          <p:nvPr>
            <p:ph type="title"/>
          </p:nvPr>
        </p:nvSpPr>
        <p:spPr>
          <a:xfrm>
            <a:off x="304800" y="304800"/>
            <a:ext cx="8588375" cy="457200"/>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Calibri"/>
              <a:buNone/>
            </a:pPr>
            <a:r>
              <a:rPr lang="en-US" sz="2400">
                <a:solidFill>
                  <a:schemeClr val="dk1"/>
                </a:solidFill>
                <a:latin typeface="Calibri"/>
                <a:ea typeface="Calibri"/>
                <a:cs typeface="Calibri"/>
                <a:sym typeface="Calibri"/>
              </a:rPr>
              <a:t>Recovery from Deadlock:  Process Termination</a:t>
            </a:r>
            <a:endParaRPr/>
          </a:p>
        </p:txBody>
      </p:sp>
      <p:sp>
        <p:nvSpPr>
          <p:cNvPr id="1364" name="Google Shape;1364;p117"/>
          <p:cNvSpPr txBox="1"/>
          <p:nvPr>
            <p:ph idx="1" type="body"/>
          </p:nvPr>
        </p:nvSpPr>
        <p:spPr>
          <a:xfrm>
            <a:off x="963613" y="1108075"/>
            <a:ext cx="7694612"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Char char="•"/>
            </a:pPr>
            <a:r>
              <a:rPr lang="en-US" sz="2400"/>
              <a:t>Eliminate deadlocks by aborting processes</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The system reclaims all resources allocated to the terminated processes.</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2 Methods-</a:t>
            </a:r>
            <a:endParaRPr/>
          </a:p>
          <a:p>
            <a:pPr indent="-285750" lvl="1" marL="742950" rtl="0" algn="l">
              <a:spcBef>
                <a:spcPts val="480"/>
              </a:spcBef>
              <a:spcAft>
                <a:spcPts val="0"/>
              </a:spcAft>
              <a:buClr>
                <a:srgbClr val="00B0F0"/>
              </a:buClr>
              <a:buSzPts val="2400"/>
              <a:buChar char="–"/>
            </a:pPr>
            <a:r>
              <a:rPr lang="en-US" sz="2400">
                <a:solidFill>
                  <a:srgbClr val="00B0F0"/>
                </a:solidFill>
              </a:rPr>
              <a:t>Abort all deadlocked processes</a:t>
            </a:r>
            <a:br>
              <a:rPr lang="en-US" sz="2400">
                <a:solidFill>
                  <a:srgbClr val="00B0F0"/>
                </a:solidFill>
              </a:rPr>
            </a:br>
            <a:r>
              <a:rPr lang="en-US" sz="2400">
                <a:solidFill>
                  <a:srgbClr val="00B0F0"/>
                </a:solidFill>
              </a:rPr>
              <a:t>	</a:t>
            </a:r>
            <a:endParaRPr/>
          </a:p>
          <a:p>
            <a:pPr indent="-285750" lvl="1" marL="742950" rtl="0" algn="l">
              <a:spcBef>
                <a:spcPts val="480"/>
              </a:spcBef>
              <a:spcAft>
                <a:spcPts val="0"/>
              </a:spcAft>
              <a:buClr>
                <a:srgbClr val="00B0F0"/>
              </a:buClr>
              <a:buSzPts val="2400"/>
              <a:buChar char="–"/>
            </a:pPr>
            <a:r>
              <a:rPr lang="en-US" sz="2400">
                <a:solidFill>
                  <a:srgbClr val="00B0F0"/>
                </a:solidFill>
              </a:rPr>
              <a:t>Abort one process at a time until the deadlock cycle is eliminated</a:t>
            </a:r>
            <a:br>
              <a:rPr lang="en-US" sz="2400">
                <a:solidFill>
                  <a:srgbClr val="00B0F0"/>
                </a:solidFill>
              </a:rPr>
            </a:br>
            <a:endParaRPr sz="2400">
              <a:solidFill>
                <a:srgbClr val="00B0F0"/>
              </a:solidFill>
            </a:endParaRPr>
          </a:p>
        </p:txBody>
      </p:sp>
      <p:sp>
        <p:nvSpPr>
          <p:cNvPr id="1365" name="Google Shape;1365;p1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366" name="Google Shape;1366;p1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367" name="Google Shape;1367;p1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2" name="Shape 1372"/>
        <p:cNvGrpSpPr/>
        <p:nvPr/>
      </p:nvGrpSpPr>
      <p:grpSpPr>
        <a:xfrm>
          <a:off x="0" y="0"/>
          <a:ext cx="0" cy="0"/>
          <a:chOff x="0" y="0"/>
          <a:chExt cx="0" cy="0"/>
        </a:xfrm>
      </p:grpSpPr>
      <p:sp>
        <p:nvSpPr>
          <p:cNvPr id="1373" name="Google Shape;1373;p118"/>
          <p:cNvSpPr txBox="1"/>
          <p:nvPr>
            <p:ph type="title"/>
          </p:nvPr>
        </p:nvSpPr>
        <p:spPr>
          <a:xfrm>
            <a:off x="823913" y="228600"/>
            <a:ext cx="8588375" cy="457200"/>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Calibri"/>
              <a:buNone/>
            </a:pPr>
            <a:r>
              <a:rPr lang="en-US" sz="2400">
                <a:solidFill>
                  <a:schemeClr val="dk1"/>
                </a:solidFill>
                <a:latin typeface="Calibri"/>
                <a:ea typeface="Calibri"/>
                <a:cs typeface="Calibri"/>
                <a:sym typeface="Calibri"/>
              </a:rPr>
              <a:t>Recovery from Deadlock:  Process Termination</a:t>
            </a:r>
            <a:endParaRPr/>
          </a:p>
        </p:txBody>
      </p:sp>
      <p:sp>
        <p:nvSpPr>
          <p:cNvPr id="1374" name="Google Shape;1374;p118"/>
          <p:cNvSpPr txBox="1"/>
          <p:nvPr>
            <p:ph idx="1" type="body"/>
          </p:nvPr>
        </p:nvSpPr>
        <p:spPr>
          <a:xfrm>
            <a:off x="963613" y="1108075"/>
            <a:ext cx="7694612"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Char char="•"/>
            </a:pPr>
            <a:r>
              <a:rPr lang="en-US" sz="2400"/>
              <a:t>Abort all deadlocked processes</a:t>
            </a:r>
            <a:endParaRPr/>
          </a:p>
          <a:p>
            <a:pPr indent="-285750" lvl="1" marL="742950" rtl="0" algn="l">
              <a:spcBef>
                <a:spcPts val="480"/>
              </a:spcBef>
              <a:spcAft>
                <a:spcPts val="0"/>
              </a:spcAft>
              <a:buClr>
                <a:schemeClr val="dk1"/>
              </a:buClr>
              <a:buSzPts val="2400"/>
              <a:buChar char="–"/>
            </a:pPr>
            <a:r>
              <a:rPr lang="en-US" sz="2400"/>
              <a:t>Breaks the deadlock cycle, but </a:t>
            </a:r>
            <a:r>
              <a:rPr b="1" lang="en-US" sz="2400">
                <a:solidFill>
                  <a:srgbClr val="0070C0"/>
                </a:solidFill>
              </a:rPr>
              <a:t>at great expense; </a:t>
            </a:r>
            <a:endParaRPr b="1" sz="2400">
              <a:solidFill>
                <a:srgbClr val="0070C0"/>
              </a:solidFill>
            </a:endParaRPr>
          </a:p>
          <a:p>
            <a:pPr indent="-285750" lvl="1" marL="742950" rtl="0" algn="l">
              <a:spcBef>
                <a:spcPts val="480"/>
              </a:spcBef>
              <a:spcAft>
                <a:spcPts val="0"/>
              </a:spcAft>
              <a:buClr>
                <a:schemeClr val="dk1"/>
              </a:buClr>
              <a:buSzPts val="2400"/>
              <a:buChar char="–"/>
            </a:pPr>
            <a:r>
              <a:rPr lang="en-US" sz="2400"/>
              <a:t>The deadlocked processes </a:t>
            </a:r>
            <a:r>
              <a:rPr b="1" lang="en-US" sz="2400">
                <a:solidFill>
                  <a:srgbClr val="0070C0"/>
                </a:solidFill>
              </a:rPr>
              <a:t>may have computed for a long time, </a:t>
            </a:r>
            <a:endParaRPr b="1" sz="2400">
              <a:solidFill>
                <a:srgbClr val="0070C0"/>
              </a:solidFill>
            </a:endParaRPr>
          </a:p>
          <a:p>
            <a:pPr indent="-285750" lvl="1" marL="742950" rtl="0" algn="l">
              <a:spcBef>
                <a:spcPts val="480"/>
              </a:spcBef>
              <a:spcAft>
                <a:spcPts val="0"/>
              </a:spcAft>
              <a:buClr>
                <a:schemeClr val="dk1"/>
              </a:buClr>
              <a:buSzPts val="2400"/>
              <a:buChar char="–"/>
            </a:pPr>
            <a:r>
              <a:rPr lang="en-US" sz="2400"/>
              <a:t>The results of these partial computations must be discarded and probably will have </a:t>
            </a:r>
            <a:r>
              <a:rPr b="1" lang="en-US" sz="2400">
                <a:solidFill>
                  <a:srgbClr val="0070C0"/>
                </a:solidFill>
              </a:rPr>
              <a:t>to be recomputed later. </a:t>
            </a:r>
            <a:endParaRPr/>
          </a:p>
        </p:txBody>
      </p:sp>
      <p:sp>
        <p:nvSpPr>
          <p:cNvPr id="1375" name="Google Shape;1375;p1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376" name="Google Shape;1376;p1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377" name="Google Shape;1377;p1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2" name="Shape 1382"/>
        <p:cNvGrpSpPr/>
        <p:nvPr/>
      </p:nvGrpSpPr>
      <p:grpSpPr>
        <a:xfrm>
          <a:off x="0" y="0"/>
          <a:ext cx="0" cy="0"/>
          <a:chOff x="0" y="0"/>
          <a:chExt cx="0" cy="0"/>
        </a:xfrm>
      </p:grpSpPr>
      <p:sp>
        <p:nvSpPr>
          <p:cNvPr id="1383" name="Google Shape;1383;p119"/>
          <p:cNvSpPr txBox="1"/>
          <p:nvPr>
            <p:ph type="title"/>
          </p:nvPr>
        </p:nvSpPr>
        <p:spPr>
          <a:xfrm>
            <a:off x="823913" y="228600"/>
            <a:ext cx="8588375" cy="457200"/>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Calibri"/>
              <a:buNone/>
            </a:pPr>
            <a:r>
              <a:rPr lang="en-US" sz="2400">
                <a:solidFill>
                  <a:schemeClr val="dk1"/>
                </a:solidFill>
                <a:latin typeface="Calibri"/>
                <a:ea typeface="Calibri"/>
                <a:cs typeface="Calibri"/>
                <a:sym typeface="Calibri"/>
              </a:rPr>
              <a:t>Recovery from Deadlock:  Process Termination</a:t>
            </a:r>
            <a:endParaRPr/>
          </a:p>
        </p:txBody>
      </p:sp>
      <p:sp>
        <p:nvSpPr>
          <p:cNvPr id="1384" name="Google Shape;1384;p119"/>
          <p:cNvSpPr txBox="1"/>
          <p:nvPr>
            <p:ph idx="1" type="body"/>
          </p:nvPr>
        </p:nvSpPr>
        <p:spPr>
          <a:xfrm>
            <a:off x="963613" y="1108075"/>
            <a:ext cx="7694612"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Char char="•"/>
            </a:pPr>
            <a:r>
              <a:rPr lang="en-US" sz="2400"/>
              <a:t>Abort one process at a time until the deadlock cycle is eliminated. </a:t>
            </a:r>
            <a:endParaRPr/>
          </a:p>
          <a:p>
            <a:pPr indent="-285750" lvl="1" marL="742950" rtl="0" algn="l">
              <a:spcBef>
                <a:spcPts val="480"/>
              </a:spcBef>
              <a:spcAft>
                <a:spcPts val="0"/>
              </a:spcAft>
              <a:buClr>
                <a:schemeClr val="dk1"/>
              </a:buClr>
              <a:buSzPts val="2400"/>
              <a:buChar char="–"/>
            </a:pPr>
            <a:r>
              <a:rPr lang="en-US" sz="2400"/>
              <a:t>Incurs </a:t>
            </a:r>
            <a:r>
              <a:rPr b="1" lang="en-US" sz="2400">
                <a:solidFill>
                  <a:srgbClr val="0070C0"/>
                </a:solidFill>
              </a:rPr>
              <a:t>considerable overhead</a:t>
            </a:r>
            <a:r>
              <a:rPr lang="en-US" sz="2400"/>
              <a:t>, since </a:t>
            </a:r>
            <a:r>
              <a:rPr b="1" lang="en-US" sz="2400">
                <a:solidFill>
                  <a:srgbClr val="0070C0"/>
                </a:solidFill>
              </a:rPr>
              <a:t>after each process is aborted, </a:t>
            </a:r>
            <a:endParaRPr/>
          </a:p>
          <a:p>
            <a:pPr indent="-285750" lvl="1" marL="742950" rtl="0" algn="l">
              <a:spcBef>
                <a:spcPts val="480"/>
              </a:spcBef>
              <a:spcAft>
                <a:spcPts val="0"/>
              </a:spcAft>
              <a:buClr>
                <a:srgbClr val="0070C0"/>
              </a:buClr>
              <a:buSzPts val="2400"/>
              <a:buChar char="–"/>
            </a:pPr>
            <a:r>
              <a:rPr b="1" lang="en-US" sz="2400">
                <a:solidFill>
                  <a:srgbClr val="0070C0"/>
                </a:solidFill>
              </a:rPr>
              <a:t>Deadlock-detection algorithm must be invoked </a:t>
            </a:r>
            <a:r>
              <a:rPr lang="en-US" sz="2400"/>
              <a:t>to determine whether any processes are still deadlocked.</a:t>
            </a:r>
            <a:endParaRPr sz="2400"/>
          </a:p>
        </p:txBody>
      </p:sp>
      <p:sp>
        <p:nvSpPr>
          <p:cNvPr id="1385" name="Google Shape;1385;p1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386" name="Google Shape;1386;p1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387" name="Google Shape;1387;p1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2" name="Shape 1392"/>
        <p:cNvGrpSpPr/>
        <p:nvPr/>
      </p:nvGrpSpPr>
      <p:grpSpPr>
        <a:xfrm>
          <a:off x="0" y="0"/>
          <a:ext cx="0" cy="0"/>
          <a:chOff x="0" y="0"/>
          <a:chExt cx="0" cy="0"/>
        </a:xfrm>
      </p:grpSpPr>
      <p:sp>
        <p:nvSpPr>
          <p:cNvPr id="1393" name="Google Shape;1393;p120"/>
          <p:cNvSpPr txBox="1"/>
          <p:nvPr>
            <p:ph type="title"/>
          </p:nvPr>
        </p:nvSpPr>
        <p:spPr>
          <a:xfrm>
            <a:off x="823913" y="228600"/>
            <a:ext cx="8588375" cy="457200"/>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Calibri"/>
              <a:buNone/>
            </a:pPr>
            <a:r>
              <a:rPr lang="en-US" sz="2400">
                <a:solidFill>
                  <a:schemeClr val="dk1"/>
                </a:solidFill>
                <a:latin typeface="Calibri"/>
                <a:ea typeface="Calibri"/>
                <a:cs typeface="Calibri"/>
                <a:sym typeface="Calibri"/>
              </a:rPr>
              <a:t>Recovery from Deadlock:  Process Termination</a:t>
            </a:r>
            <a:endParaRPr/>
          </a:p>
        </p:txBody>
      </p:sp>
      <p:sp>
        <p:nvSpPr>
          <p:cNvPr id="1394" name="Google Shape;1394;p120"/>
          <p:cNvSpPr txBox="1"/>
          <p:nvPr>
            <p:ph idx="1" type="body"/>
          </p:nvPr>
        </p:nvSpPr>
        <p:spPr>
          <a:xfrm>
            <a:off x="963613" y="1108075"/>
            <a:ext cx="7694612" cy="45307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400"/>
              <a:buNone/>
            </a:pPr>
            <a:r>
              <a:rPr lang="en-US" sz="2400"/>
              <a:t>Examples-</a:t>
            </a:r>
            <a:endParaRPr/>
          </a:p>
          <a:p>
            <a:pPr indent="-342900" lvl="0" marL="342900" rtl="0" algn="l">
              <a:spcBef>
                <a:spcPts val="480"/>
              </a:spcBef>
              <a:spcAft>
                <a:spcPts val="0"/>
              </a:spcAft>
              <a:buClr>
                <a:schemeClr val="dk1"/>
              </a:buClr>
              <a:buSzPts val="2400"/>
              <a:buChar char="•"/>
            </a:pPr>
            <a:r>
              <a:rPr lang="en-US" sz="2400"/>
              <a:t>Aborting a process may not be easy. </a:t>
            </a:r>
            <a:endParaRPr sz="2400"/>
          </a:p>
          <a:p>
            <a:pPr indent="-457200" lvl="0" marL="457200" rtl="0" algn="l">
              <a:spcBef>
                <a:spcPts val="480"/>
              </a:spcBef>
              <a:spcAft>
                <a:spcPts val="0"/>
              </a:spcAft>
              <a:buClr>
                <a:schemeClr val="dk1"/>
              </a:buClr>
              <a:buSzPts val="2400"/>
              <a:buFont typeface="Calibri"/>
              <a:buAutoNum type="arabicPeriod"/>
            </a:pPr>
            <a:r>
              <a:rPr lang="en-US" sz="2400"/>
              <a:t>If the process was in the midst of updating a file, terminating it </a:t>
            </a:r>
            <a:endParaRPr sz="2400"/>
          </a:p>
          <a:p>
            <a:pPr indent="-285750" lvl="1" marL="742950" rtl="0" algn="l">
              <a:spcBef>
                <a:spcPts val="480"/>
              </a:spcBef>
              <a:spcAft>
                <a:spcPts val="0"/>
              </a:spcAft>
              <a:buClr>
                <a:schemeClr val="dk1"/>
              </a:buClr>
              <a:buSzPts val="2400"/>
              <a:buChar char="–"/>
            </a:pPr>
            <a:r>
              <a:rPr lang="en-US" sz="2400"/>
              <a:t>will leave that </a:t>
            </a:r>
            <a:r>
              <a:rPr b="1" lang="en-US" sz="2400">
                <a:solidFill>
                  <a:srgbClr val="0070C0"/>
                </a:solidFill>
              </a:rPr>
              <a:t>file in an incorrect state</a:t>
            </a:r>
            <a:r>
              <a:rPr lang="en-US" sz="2400"/>
              <a:t>. </a:t>
            </a:r>
            <a:endParaRPr sz="2400"/>
          </a:p>
          <a:p>
            <a:pPr indent="-457200" lvl="0" marL="457200" rtl="0" algn="l">
              <a:spcBef>
                <a:spcPts val="480"/>
              </a:spcBef>
              <a:spcAft>
                <a:spcPts val="0"/>
              </a:spcAft>
              <a:buClr>
                <a:schemeClr val="dk1"/>
              </a:buClr>
              <a:buSzPts val="2400"/>
              <a:buFont typeface="Calibri"/>
              <a:buAutoNum type="arabicPeriod"/>
            </a:pPr>
            <a:r>
              <a:rPr lang="en-US" sz="2400"/>
              <a:t>If the process was in the midst of printing data on a printer, </a:t>
            </a:r>
            <a:endParaRPr sz="2400"/>
          </a:p>
          <a:p>
            <a:pPr indent="-285750" lvl="1" marL="742950" rtl="0" algn="l">
              <a:spcBef>
                <a:spcPts val="480"/>
              </a:spcBef>
              <a:spcAft>
                <a:spcPts val="0"/>
              </a:spcAft>
              <a:buClr>
                <a:schemeClr val="dk1"/>
              </a:buClr>
              <a:buSzPts val="2400"/>
              <a:buChar char="–"/>
            </a:pPr>
            <a:r>
              <a:rPr lang="en-US" sz="2400"/>
              <a:t>the </a:t>
            </a:r>
            <a:r>
              <a:rPr b="1" lang="en-US" sz="2400">
                <a:solidFill>
                  <a:srgbClr val="0070C0"/>
                </a:solidFill>
              </a:rPr>
              <a:t>system must reset the printer </a:t>
            </a:r>
            <a:r>
              <a:rPr lang="en-US" sz="2400"/>
              <a:t>to a correct state before printing the next job.</a:t>
            </a:r>
            <a:endParaRPr sz="2400"/>
          </a:p>
        </p:txBody>
      </p:sp>
      <p:sp>
        <p:nvSpPr>
          <p:cNvPr id="1395" name="Google Shape;1395;p1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396" name="Google Shape;1396;p1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397" name="Google Shape;1397;p1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sp>
        <p:nvSpPr>
          <p:cNvPr id="1403" name="Google Shape;1403;p121"/>
          <p:cNvSpPr txBox="1"/>
          <p:nvPr>
            <p:ph type="title"/>
          </p:nvPr>
        </p:nvSpPr>
        <p:spPr>
          <a:xfrm>
            <a:off x="823913" y="228600"/>
            <a:ext cx="8588375" cy="457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Calibri"/>
              <a:buNone/>
            </a:pPr>
            <a:r>
              <a:rPr lang="en-US" sz="2400"/>
              <a:t>Recovery from Deadlock:  Process Termination</a:t>
            </a:r>
            <a:endParaRPr/>
          </a:p>
        </p:txBody>
      </p:sp>
      <p:sp>
        <p:nvSpPr>
          <p:cNvPr id="1404" name="Google Shape;1404;p121"/>
          <p:cNvSpPr txBox="1"/>
          <p:nvPr>
            <p:ph idx="1" type="body"/>
          </p:nvPr>
        </p:nvSpPr>
        <p:spPr>
          <a:xfrm>
            <a:off x="963613" y="1108075"/>
            <a:ext cx="7694612"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Abort those processes whose termination will </a:t>
            </a:r>
            <a:r>
              <a:rPr b="1" lang="en-US" sz="2400">
                <a:solidFill>
                  <a:srgbClr val="0070C0"/>
                </a:solidFill>
              </a:rPr>
              <a:t>incur the minimum cost.</a:t>
            </a:r>
            <a:endParaRPr/>
          </a:p>
          <a:p>
            <a:pPr indent="-190500" lvl="0" marL="342900" rtl="0" algn="l">
              <a:spcBef>
                <a:spcPts val="480"/>
              </a:spcBef>
              <a:spcAft>
                <a:spcPts val="0"/>
              </a:spcAft>
              <a:buClr>
                <a:schemeClr val="dk1"/>
              </a:buClr>
              <a:buSzPts val="2400"/>
              <a:buNone/>
            </a:pPr>
            <a:r>
              <a:t/>
            </a:r>
            <a:endParaRPr b="1" sz="2400">
              <a:solidFill>
                <a:srgbClr val="0070C0"/>
              </a:solidFill>
            </a:endParaRPr>
          </a:p>
          <a:p>
            <a:pPr indent="-342900" lvl="0" marL="342900" rtl="0" algn="l">
              <a:spcBef>
                <a:spcPts val="480"/>
              </a:spcBef>
              <a:spcAft>
                <a:spcPts val="0"/>
              </a:spcAft>
              <a:buClr>
                <a:schemeClr val="dk1"/>
              </a:buClr>
              <a:buSzPts val="2400"/>
              <a:buChar char="•"/>
            </a:pPr>
            <a:r>
              <a:rPr lang="en-US" sz="2400"/>
              <a:t>In </a:t>
            </a:r>
            <a:r>
              <a:rPr b="1" lang="en-US" sz="2400">
                <a:solidFill>
                  <a:srgbClr val="0070C0"/>
                </a:solidFill>
              </a:rPr>
              <a:t>which order </a:t>
            </a:r>
            <a:r>
              <a:rPr lang="en-US" sz="2400"/>
              <a:t>should we choose to abort?</a:t>
            </a:r>
            <a:endParaRPr/>
          </a:p>
        </p:txBody>
      </p:sp>
      <p:sp>
        <p:nvSpPr>
          <p:cNvPr id="1405" name="Google Shape;1405;p1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406" name="Google Shape;1406;p1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407" name="Google Shape;1407;p1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2" name="Shape 1412"/>
        <p:cNvGrpSpPr/>
        <p:nvPr/>
      </p:nvGrpSpPr>
      <p:grpSpPr>
        <a:xfrm>
          <a:off x="0" y="0"/>
          <a:ext cx="0" cy="0"/>
          <a:chOff x="0" y="0"/>
          <a:chExt cx="0" cy="0"/>
        </a:xfrm>
      </p:grpSpPr>
      <p:sp>
        <p:nvSpPr>
          <p:cNvPr id="1413" name="Google Shape;1413;p122"/>
          <p:cNvSpPr txBox="1"/>
          <p:nvPr>
            <p:ph type="title"/>
          </p:nvPr>
        </p:nvSpPr>
        <p:spPr>
          <a:xfrm>
            <a:off x="823913" y="228600"/>
            <a:ext cx="8588375" cy="457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Calibri"/>
              <a:buNone/>
            </a:pPr>
            <a:r>
              <a:rPr lang="en-US" sz="2400"/>
              <a:t>Recovery from Deadlock:  Process Termination</a:t>
            </a:r>
            <a:endParaRPr/>
          </a:p>
        </p:txBody>
      </p:sp>
      <p:sp>
        <p:nvSpPr>
          <p:cNvPr id="1414" name="Google Shape;1414;p122"/>
          <p:cNvSpPr txBox="1"/>
          <p:nvPr>
            <p:ph idx="1" type="body"/>
          </p:nvPr>
        </p:nvSpPr>
        <p:spPr>
          <a:xfrm>
            <a:off x="963613" y="1108075"/>
            <a:ext cx="7694612"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Many factors may affect -</a:t>
            </a:r>
            <a:endParaRPr sz="2400"/>
          </a:p>
          <a:p>
            <a:pPr indent="-342900" lvl="1" marL="800100" rtl="0" algn="l">
              <a:spcBef>
                <a:spcPts val="400"/>
              </a:spcBef>
              <a:spcAft>
                <a:spcPts val="0"/>
              </a:spcAft>
              <a:buClr>
                <a:srgbClr val="0070C0"/>
              </a:buClr>
              <a:buSzPts val="2000"/>
              <a:buFont typeface="Arial"/>
              <a:buAutoNum type="arabicPeriod"/>
            </a:pPr>
            <a:r>
              <a:rPr b="1" lang="en-US" sz="2000">
                <a:solidFill>
                  <a:srgbClr val="0070C0"/>
                </a:solidFill>
              </a:rPr>
              <a:t>Priority </a:t>
            </a:r>
            <a:r>
              <a:rPr lang="en-US" sz="2000"/>
              <a:t>of the process</a:t>
            </a:r>
            <a:endParaRPr/>
          </a:p>
          <a:p>
            <a:pPr indent="-342900" lvl="1" marL="800100" rtl="0" algn="l">
              <a:spcBef>
                <a:spcPts val="400"/>
              </a:spcBef>
              <a:spcAft>
                <a:spcPts val="0"/>
              </a:spcAft>
              <a:buClr>
                <a:schemeClr val="dk1"/>
              </a:buClr>
              <a:buSzPts val="2000"/>
              <a:buFont typeface="Arial"/>
              <a:buAutoNum type="arabicPeriod"/>
            </a:pPr>
            <a:r>
              <a:rPr lang="en-US" sz="2000"/>
              <a:t>How long process has computed, and </a:t>
            </a:r>
            <a:r>
              <a:rPr b="1" lang="en-US" sz="2000">
                <a:solidFill>
                  <a:srgbClr val="0070C0"/>
                </a:solidFill>
              </a:rPr>
              <a:t>how much longer to completion</a:t>
            </a:r>
            <a:endParaRPr/>
          </a:p>
          <a:p>
            <a:pPr indent="-342900" lvl="1" marL="800100" rtl="0" algn="l">
              <a:spcBef>
                <a:spcPts val="400"/>
              </a:spcBef>
              <a:spcAft>
                <a:spcPts val="0"/>
              </a:spcAft>
              <a:buClr>
                <a:schemeClr val="dk1"/>
              </a:buClr>
              <a:buSzPts val="2000"/>
              <a:buFont typeface="Arial"/>
              <a:buAutoNum type="arabicPeriod"/>
            </a:pPr>
            <a:r>
              <a:rPr lang="en-US" sz="2000"/>
              <a:t>Resources the process has used</a:t>
            </a:r>
            <a:endParaRPr/>
          </a:p>
          <a:p>
            <a:pPr indent="-342900" lvl="1" marL="800100" rtl="0" algn="l">
              <a:spcBef>
                <a:spcPts val="400"/>
              </a:spcBef>
              <a:spcAft>
                <a:spcPts val="0"/>
              </a:spcAft>
              <a:buClr>
                <a:srgbClr val="0070C0"/>
              </a:buClr>
              <a:buSzPts val="2000"/>
              <a:buFont typeface="Arial"/>
              <a:buAutoNum type="arabicPeriod"/>
            </a:pPr>
            <a:r>
              <a:rPr b="1" lang="en-US" sz="2000">
                <a:solidFill>
                  <a:srgbClr val="0070C0"/>
                </a:solidFill>
              </a:rPr>
              <a:t>Resources process needs to complete</a:t>
            </a:r>
            <a:endParaRPr/>
          </a:p>
          <a:p>
            <a:pPr indent="-342900" lvl="1" marL="800100" rtl="0" algn="l">
              <a:spcBef>
                <a:spcPts val="400"/>
              </a:spcBef>
              <a:spcAft>
                <a:spcPts val="0"/>
              </a:spcAft>
              <a:buClr>
                <a:srgbClr val="0070C0"/>
              </a:buClr>
              <a:buSzPts val="2000"/>
              <a:buFont typeface="Arial"/>
              <a:buAutoNum type="arabicPeriod"/>
            </a:pPr>
            <a:r>
              <a:rPr b="1" lang="en-US" sz="2000">
                <a:solidFill>
                  <a:srgbClr val="0070C0"/>
                </a:solidFill>
              </a:rPr>
              <a:t>How many processes will need to be terminated</a:t>
            </a:r>
            <a:endParaRPr/>
          </a:p>
          <a:p>
            <a:pPr indent="-342900" lvl="1" marL="800100" rtl="0" algn="l">
              <a:spcBef>
                <a:spcPts val="400"/>
              </a:spcBef>
              <a:spcAft>
                <a:spcPts val="0"/>
              </a:spcAft>
              <a:buClr>
                <a:schemeClr val="dk1"/>
              </a:buClr>
              <a:buSzPts val="2000"/>
              <a:buFont typeface="Arial"/>
              <a:buAutoNum type="arabicPeriod"/>
            </a:pPr>
            <a:r>
              <a:rPr lang="en-US" sz="2000"/>
              <a:t>Is process interactive or batch?</a:t>
            </a:r>
            <a:endParaRPr/>
          </a:p>
        </p:txBody>
      </p:sp>
      <p:sp>
        <p:nvSpPr>
          <p:cNvPr id="1415" name="Google Shape;1415;p1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416" name="Google Shape;1416;p1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417" name="Google Shape;1417;p1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2" name="Shape 1422"/>
        <p:cNvGrpSpPr/>
        <p:nvPr/>
      </p:nvGrpSpPr>
      <p:grpSpPr>
        <a:xfrm>
          <a:off x="0" y="0"/>
          <a:ext cx="0" cy="0"/>
          <a:chOff x="0" y="0"/>
          <a:chExt cx="0" cy="0"/>
        </a:xfrm>
      </p:grpSpPr>
      <p:sp>
        <p:nvSpPr>
          <p:cNvPr id="1423" name="Google Shape;1423;p123"/>
          <p:cNvSpPr txBox="1"/>
          <p:nvPr>
            <p:ph type="title"/>
          </p:nvPr>
        </p:nvSpPr>
        <p:spPr>
          <a:xfrm>
            <a:off x="914400" y="304800"/>
            <a:ext cx="8020050" cy="457200"/>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Calibri"/>
              <a:buNone/>
            </a:pPr>
            <a:r>
              <a:rPr lang="en-US" sz="2400">
                <a:solidFill>
                  <a:schemeClr val="dk1"/>
                </a:solidFill>
                <a:latin typeface="Calibri"/>
                <a:ea typeface="Calibri"/>
                <a:cs typeface="Calibri"/>
                <a:sym typeface="Calibri"/>
              </a:rPr>
              <a:t>Recovery from Deadlock:  Resource Preemption</a:t>
            </a:r>
            <a:endParaRPr/>
          </a:p>
        </p:txBody>
      </p:sp>
      <p:sp>
        <p:nvSpPr>
          <p:cNvPr id="1424" name="Google Shape;1424;p123"/>
          <p:cNvSpPr txBox="1"/>
          <p:nvPr>
            <p:ph idx="1" type="body"/>
          </p:nvPr>
        </p:nvSpPr>
        <p:spPr>
          <a:xfrm>
            <a:off x="858838" y="1150938"/>
            <a:ext cx="7827962" cy="4483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Successively preempt some resources from processes </a:t>
            </a:r>
            <a:endParaRPr sz="2400"/>
          </a:p>
          <a:p>
            <a:pPr indent="-342900" lvl="0" marL="342900" rtl="0" algn="l">
              <a:spcBef>
                <a:spcPts val="480"/>
              </a:spcBef>
              <a:spcAft>
                <a:spcPts val="0"/>
              </a:spcAft>
              <a:buClr>
                <a:schemeClr val="dk1"/>
              </a:buClr>
              <a:buSzPts val="2400"/>
              <a:buChar char="•"/>
            </a:pPr>
            <a:r>
              <a:rPr lang="en-US" sz="2400"/>
              <a:t>Give these resources to other processes until the deadlock cycle is broken.</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If preemption is used, 3 issues need to be addressed:</a:t>
            </a:r>
            <a:endParaRPr/>
          </a:p>
          <a:p>
            <a:pPr indent="-285750" lvl="1" marL="742950" rtl="0" algn="l">
              <a:spcBef>
                <a:spcPts val="480"/>
              </a:spcBef>
              <a:spcAft>
                <a:spcPts val="0"/>
              </a:spcAft>
              <a:buClr>
                <a:schemeClr val="dk1"/>
              </a:buClr>
              <a:buSzPts val="2400"/>
              <a:buChar char="–"/>
            </a:pPr>
            <a:r>
              <a:rPr b="1" lang="en-US" sz="2400"/>
              <a:t>Selecting a victim</a:t>
            </a:r>
            <a:endParaRPr sz="2400"/>
          </a:p>
          <a:p>
            <a:pPr indent="-285750" lvl="1" marL="742950" rtl="0" algn="l">
              <a:spcBef>
                <a:spcPts val="480"/>
              </a:spcBef>
              <a:spcAft>
                <a:spcPts val="0"/>
              </a:spcAft>
              <a:buClr>
                <a:schemeClr val="dk1"/>
              </a:buClr>
              <a:buSzPts val="2400"/>
              <a:buChar char="–"/>
            </a:pPr>
            <a:r>
              <a:rPr b="1" lang="en-US" sz="2400"/>
              <a:t>Rollback</a:t>
            </a:r>
            <a:r>
              <a:rPr lang="en-US" sz="2400"/>
              <a:t> </a:t>
            </a:r>
            <a:endParaRPr/>
          </a:p>
          <a:p>
            <a:pPr indent="-285750" lvl="1" marL="742950" rtl="0" algn="l">
              <a:spcBef>
                <a:spcPts val="480"/>
              </a:spcBef>
              <a:spcAft>
                <a:spcPts val="0"/>
              </a:spcAft>
              <a:buClr>
                <a:schemeClr val="dk1"/>
              </a:buClr>
              <a:buSzPts val="2400"/>
              <a:buChar char="–"/>
            </a:pPr>
            <a:r>
              <a:rPr b="1" lang="en-US" sz="2400"/>
              <a:t>Starvation</a:t>
            </a:r>
            <a:endParaRPr sz="2400"/>
          </a:p>
        </p:txBody>
      </p:sp>
      <p:sp>
        <p:nvSpPr>
          <p:cNvPr id="1425" name="Google Shape;1425;p1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426" name="Google Shape;1426;p1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427" name="Google Shape;1427;p1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sp>
        <p:nvSpPr>
          <p:cNvPr id="1433" name="Google Shape;1433;p124"/>
          <p:cNvSpPr txBox="1"/>
          <p:nvPr>
            <p:ph type="title"/>
          </p:nvPr>
        </p:nvSpPr>
        <p:spPr>
          <a:xfrm>
            <a:off x="914400" y="304800"/>
            <a:ext cx="8020050" cy="457200"/>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Calibri"/>
              <a:buNone/>
            </a:pPr>
            <a:r>
              <a:rPr lang="en-US" sz="2400">
                <a:solidFill>
                  <a:schemeClr val="dk1"/>
                </a:solidFill>
                <a:latin typeface="Calibri"/>
                <a:ea typeface="Calibri"/>
                <a:cs typeface="Calibri"/>
                <a:sym typeface="Calibri"/>
              </a:rPr>
              <a:t>Recovery from Deadlock:  Resource Preemption</a:t>
            </a:r>
            <a:endParaRPr/>
          </a:p>
        </p:txBody>
      </p:sp>
      <p:sp>
        <p:nvSpPr>
          <p:cNvPr id="1434" name="Google Shape;1434;p124"/>
          <p:cNvSpPr txBox="1"/>
          <p:nvPr>
            <p:ph idx="1" type="body"/>
          </p:nvPr>
        </p:nvSpPr>
        <p:spPr>
          <a:xfrm>
            <a:off x="858838" y="1150938"/>
            <a:ext cx="7675562" cy="4483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Char char="•"/>
            </a:pPr>
            <a:r>
              <a:rPr b="1" lang="en-US" sz="2400"/>
              <a:t>Selecting a victim </a:t>
            </a:r>
            <a:r>
              <a:rPr lang="en-US" sz="2400"/>
              <a:t>– </a:t>
            </a:r>
            <a:endParaRPr/>
          </a:p>
          <a:p>
            <a:pPr indent="-285750" lvl="1" marL="742950" rtl="0" algn="l">
              <a:spcBef>
                <a:spcPts val="480"/>
              </a:spcBef>
              <a:spcAft>
                <a:spcPts val="0"/>
              </a:spcAft>
              <a:buClr>
                <a:schemeClr val="dk1"/>
              </a:buClr>
              <a:buSzPts val="2400"/>
              <a:buChar char="–"/>
            </a:pPr>
            <a:r>
              <a:rPr lang="en-US" sz="2400"/>
              <a:t>Which resources and Which Processes are to be pre-empted</a:t>
            </a:r>
            <a:endParaRPr/>
          </a:p>
          <a:p>
            <a:pPr indent="-285750" lvl="1" marL="742950" rtl="0" algn="l">
              <a:spcBef>
                <a:spcPts val="480"/>
              </a:spcBef>
              <a:spcAft>
                <a:spcPts val="0"/>
              </a:spcAft>
              <a:buClr>
                <a:schemeClr val="dk1"/>
              </a:buClr>
              <a:buSzPts val="2400"/>
              <a:buChar char="–"/>
            </a:pPr>
            <a:r>
              <a:rPr lang="en-US" sz="2400"/>
              <a:t>determine the order of preemption to minimize cost.</a:t>
            </a:r>
            <a:endParaRPr/>
          </a:p>
          <a:p>
            <a:pPr indent="-285750" lvl="1" marL="742950" rtl="0" algn="l">
              <a:spcBef>
                <a:spcPts val="480"/>
              </a:spcBef>
              <a:spcAft>
                <a:spcPts val="0"/>
              </a:spcAft>
              <a:buClr>
                <a:schemeClr val="dk1"/>
              </a:buClr>
              <a:buSzPts val="2400"/>
              <a:buChar char="–"/>
            </a:pPr>
            <a:r>
              <a:rPr lang="en-US" sz="2400"/>
              <a:t>Cost factors </a:t>
            </a:r>
            <a:endParaRPr sz="2400"/>
          </a:p>
          <a:p>
            <a:pPr indent="-228600" lvl="2" marL="1143000" rtl="0" algn="l">
              <a:spcBef>
                <a:spcPts val="480"/>
              </a:spcBef>
              <a:spcAft>
                <a:spcPts val="0"/>
              </a:spcAft>
              <a:buClr>
                <a:schemeClr val="dk1"/>
              </a:buClr>
              <a:buSzPts val="2400"/>
              <a:buChar char="•"/>
            </a:pPr>
            <a:r>
              <a:rPr lang="en-US"/>
              <a:t>as the number of resources a deadlocked process is holding </a:t>
            </a:r>
            <a:endParaRPr/>
          </a:p>
          <a:p>
            <a:pPr indent="-228600" lvl="2" marL="1143000" rtl="0" algn="l">
              <a:spcBef>
                <a:spcPts val="480"/>
              </a:spcBef>
              <a:spcAft>
                <a:spcPts val="0"/>
              </a:spcAft>
              <a:buClr>
                <a:schemeClr val="dk1"/>
              </a:buClr>
              <a:buSzPts val="2400"/>
              <a:buChar char="•"/>
            </a:pPr>
            <a:r>
              <a:rPr lang="en-US"/>
              <a:t>Amount of time the process has so far consumed during its execution</a:t>
            </a:r>
            <a:endParaRPr/>
          </a:p>
        </p:txBody>
      </p:sp>
      <p:sp>
        <p:nvSpPr>
          <p:cNvPr id="1435" name="Google Shape;1435;p1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436" name="Google Shape;1436;p1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437" name="Google Shape;1437;p1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2" name="Shape 1442"/>
        <p:cNvGrpSpPr/>
        <p:nvPr/>
      </p:nvGrpSpPr>
      <p:grpSpPr>
        <a:xfrm>
          <a:off x="0" y="0"/>
          <a:ext cx="0" cy="0"/>
          <a:chOff x="0" y="0"/>
          <a:chExt cx="0" cy="0"/>
        </a:xfrm>
      </p:grpSpPr>
      <p:sp>
        <p:nvSpPr>
          <p:cNvPr id="1443" name="Google Shape;1443;p125"/>
          <p:cNvSpPr txBox="1"/>
          <p:nvPr>
            <p:ph type="title"/>
          </p:nvPr>
        </p:nvSpPr>
        <p:spPr>
          <a:xfrm>
            <a:off x="914400" y="304800"/>
            <a:ext cx="8020050" cy="457200"/>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Calibri"/>
              <a:buNone/>
            </a:pPr>
            <a:r>
              <a:rPr lang="en-US" sz="2400">
                <a:solidFill>
                  <a:schemeClr val="dk1"/>
                </a:solidFill>
                <a:latin typeface="Calibri"/>
                <a:ea typeface="Calibri"/>
                <a:cs typeface="Calibri"/>
                <a:sym typeface="Calibri"/>
              </a:rPr>
              <a:t>Recovery from Deadlock:  Resource Preemption</a:t>
            </a:r>
            <a:endParaRPr/>
          </a:p>
        </p:txBody>
      </p:sp>
      <p:sp>
        <p:nvSpPr>
          <p:cNvPr id="1444" name="Google Shape;1444;p125"/>
          <p:cNvSpPr txBox="1"/>
          <p:nvPr>
            <p:ph idx="1" type="body"/>
          </p:nvPr>
        </p:nvSpPr>
        <p:spPr>
          <a:xfrm>
            <a:off x="858838" y="1150938"/>
            <a:ext cx="7675562" cy="4483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Char char="•"/>
            </a:pPr>
            <a:r>
              <a:rPr b="1" lang="en-US" sz="2400"/>
              <a:t>Rollback</a:t>
            </a:r>
            <a:r>
              <a:rPr lang="en-US" sz="2400"/>
              <a:t> – return to some safe state, restart process for that state</a:t>
            </a:r>
            <a:br>
              <a:rPr lang="en-US" sz="2400"/>
            </a:br>
            <a:endParaRPr sz="2400"/>
          </a:p>
        </p:txBody>
      </p:sp>
      <p:sp>
        <p:nvSpPr>
          <p:cNvPr id="1445" name="Google Shape;1445;p1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446" name="Google Shape;1446;p1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447" name="Google Shape;1447;p1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2" name="Shape 1452"/>
        <p:cNvGrpSpPr/>
        <p:nvPr/>
      </p:nvGrpSpPr>
      <p:grpSpPr>
        <a:xfrm>
          <a:off x="0" y="0"/>
          <a:ext cx="0" cy="0"/>
          <a:chOff x="0" y="0"/>
          <a:chExt cx="0" cy="0"/>
        </a:xfrm>
      </p:grpSpPr>
      <p:sp>
        <p:nvSpPr>
          <p:cNvPr id="1453" name="Google Shape;1453;p126"/>
          <p:cNvSpPr txBox="1"/>
          <p:nvPr>
            <p:ph type="title"/>
          </p:nvPr>
        </p:nvSpPr>
        <p:spPr>
          <a:xfrm>
            <a:off x="914400" y="304800"/>
            <a:ext cx="8020050" cy="457200"/>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Calibri"/>
              <a:buNone/>
            </a:pPr>
            <a:r>
              <a:rPr lang="en-US" sz="2400">
                <a:solidFill>
                  <a:schemeClr val="dk1"/>
                </a:solidFill>
                <a:latin typeface="Calibri"/>
                <a:ea typeface="Calibri"/>
                <a:cs typeface="Calibri"/>
                <a:sym typeface="Calibri"/>
              </a:rPr>
              <a:t>Recovery from Deadlock:  Resource Preemption</a:t>
            </a:r>
            <a:endParaRPr/>
          </a:p>
        </p:txBody>
      </p:sp>
      <p:sp>
        <p:nvSpPr>
          <p:cNvPr id="1454" name="Google Shape;1454;p126"/>
          <p:cNvSpPr txBox="1"/>
          <p:nvPr>
            <p:ph idx="1" type="body"/>
          </p:nvPr>
        </p:nvSpPr>
        <p:spPr>
          <a:xfrm>
            <a:off x="858838" y="1150938"/>
            <a:ext cx="7675562" cy="4483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400"/>
              <a:buNone/>
            </a:pPr>
            <a:r>
              <a:rPr b="1" lang="en-US" sz="2400"/>
              <a:t>Rollback</a:t>
            </a:r>
            <a:r>
              <a:rPr lang="en-US" sz="2400"/>
              <a:t> – </a:t>
            </a:r>
            <a:endParaRPr/>
          </a:p>
          <a:p>
            <a:pPr indent="-342900" lvl="0" marL="342900" rtl="0" algn="l">
              <a:spcBef>
                <a:spcPts val="480"/>
              </a:spcBef>
              <a:spcAft>
                <a:spcPts val="0"/>
              </a:spcAft>
              <a:buClr>
                <a:schemeClr val="dk1"/>
              </a:buClr>
              <a:buSzPts val="2400"/>
              <a:buChar char="•"/>
            </a:pPr>
            <a:r>
              <a:rPr lang="en-US" sz="2400"/>
              <a:t>If we pre-empt a resource from a process</a:t>
            </a:r>
            <a:endParaRPr/>
          </a:p>
          <a:p>
            <a:pPr indent="-342900" lvl="0" marL="342900" rtl="0" algn="l">
              <a:spcBef>
                <a:spcPts val="480"/>
              </a:spcBef>
              <a:spcAft>
                <a:spcPts val="0"/>
              </a:spcAft>
              <a:buClr>
                <a:schemeClr val="dk1"/>
              </a:buClr>
              <a:buSzPts val="2400"/>
              <a:buChar char="•"/>
            </a:pPr>
            <a:r>
              <a:rPr lang="en-US" sz="2400"/>
              <a:t>Clearly, it cannot continue with its normal execution; </a:t>
            </a:r>
            <a:endParaRPr sz="2400"/>
          </a:p>
          <a:p>
            <a:pPr indent="-342900" lvl="0" marL="342900" rtl="0" algn="l">
              <a:spcBef>
                <a:spcPts val="480"/>
              </a:spcBef>
              <a:spcAft>
                <a:spcPts val="0"/>
              </a:spcAft>
              <a:buClr>
                <a:schemeClr val="dk1"/>
              </a:buClr>
              <a:buSzPts val="2400"/>
              <a:buChar char="•"/>
            </a:pPr>
            <a:r>
              <a:rPr lang="en-US" sz="2400"/>
              <a:t>It is missing some needed resource. </a:t>
            </a:r>
            <a:endParaRPr sz="2400"/>
          </a:p>
          <a:p>
            <a:pPr indent="0" lvl="0" marL="0" rtl="0" algn="l">
              <a:spcBef>
                <a:spcPts val="480"/>
              </a:spcBef>
              <a:spcAft>
                <a:spcPts val="0"/>
              </a:spcAft>
              <a:buClr>
                <a:schemeClr val="dk1"/>
              </a:buClr>
              <a:buSzPts val="2400"/>
              <a:buNone/>
            </a:pPr>
            <a:r>
              <a:t/>
            </a:r>
            <a:endParaRPr b="1" sz="2400"/>
          </a:p>
          <a:p>
            <a:pPr indent="0" lvl="0" marL="0" rtl="0" algn="l">
              <a:spcBef>
                <a:spcPts val="480"/>
              </a:spcBef>
              <a:spcAft>
                <a:spcPts val="0"/>
              </a:spcAft>
              <a:buClr>
                <a:schemeClr val="dk1"/>
              </a:buClr>
              <a:buSzPts val="2400"/>
              <a:buNone/>
            </a:pPr>
            <a:r>
              <a:rPr b="1" lang="en-US" sz="2400"/>
              <a:t>What should be done with that process? </a:t>
            </a:r>
            <a:endParaRPr/>
          </a:p>
          <a:p>
            <a:pPr indent="-342900" lvl="0" marL="342900" rtl="0" algn="l">
              <a:spcBef>
                <a:spcPts val="480"/>
              </a:spcBef>
              <a:spcAft>
                <a:spcPts val="0"/>
              </a:spcAft>
              <a:buClr>
                <a:schemeClr val="dk1"/>
              </a:buClr>
              <a:buSzPts val="2400"/>
              <a:buChar char="•"/>
            </a:pPr>
            <a:r>
              <a:rPr lang="en-US" sz="2400"/>
              <a:t>We must roll back the process to some safe state and restart it from that state.</a:t>
            </a:r>
            <a:endParaRPr/>
          </a:p>
        </p:txBody>
      </p:sp>
      <p:sp>
        <p:nvSpPr>
          <p:cNvPr id="1455" name="Google Shape;1455;p1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456" name="Google Shape;1456;p1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457" name="Google Shape;1457;p1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2" name="Shape 1462"/>
        <p:cNvGrpSpPr/>
        <p:nvPr/>
      </p:nvGrpSpPr>
      <p:grpSpPr>
        <a:xfrm>
          <a:off x="0" y="0"/>
          <a:ext cx="0" cy="0"/>
          <a:chOff x="0" y="0"/>
          <a:chExt cx="0" cy="0"/>
        </a:xfrm>
      </p:grpSpPr>
      <p:sp>
        <p:nvSpPr>
          <p:cNvPr id="1463" name="Google Shape;1463;p127"/>
          <p:cNvSpPr txBox="1"/>
          <p:nvPr>
            <p:ph type="title"/>
          </p:nvPr>
        </p:nvSpPr>
        <p:spPr>
          <a:xfrm>
            <a:off x="914400" y="304800"/>
            <a:ext cx="8020050" cy="457200"/>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Calibri"/>
              <a:buNone/>
            </a:pPr>
            <a:r>
              <a:rPr lang="en-US" sz="2400">
                <a:solidFill>
                  <a:schemeClr val="dk1"/>
                </a:solidFill>
                <a:latin typeface="Calibri"/>
                <a:ea typeface="Calibri"/>
                <a:cs typeface="Calibri"/>
                <a:sym typeface="Calibri"/>
              </a:rPr>
              <a:t>Recovery from Deadlock:  Resource Preemption</a:t>
            </a:r>
            <a:endParaRPr/>
          </a:p>
        </p:txBody>
      </p:sp>
      <p:sp>
        <p:nvSpPr>
          <p:cNvPr id="1464" name="Google Shape;1464;p127"/>
          <p:cNvSpPr txBox="1"/>
          <p:nvPr>
            <p:ph idx="1" type="body"/>
          </p:nvPr>
        </p:nvSpPr>
        <p:spPr>
          <a:xfrm>
            <a:off x="858838" y="1150938"/>
            <a:ext cx="7675562" cy="4483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400"/>
              <a:buNone/>
            </a:pPr>
            <a:r>
              <a:rPr b="1" lang="en-US" sz="2400"/>
              <a:t>Safe State-</a:t>
            </a:r>
            <a:endParaRPr sz="2400"/>
          </a:p>
          <a:p>
            <a:pPr indent="-342900" lvl="0" marL="342900" rtl="0" algn="l">
              <a:spcBef>
                <a:spcPts val="480"/>
              </a:spcBef>
              <a:spcAft>
                <a:spcPts val="0"/>
              </a:spcAft>
              <a:buClr>
                <a:schemeClr val="dk1"/>
              </a:buClr>
              <a:buSzPts val="2400"/>
              <a:buChar char="•"/>
            </a:pPr>
            <a:r>
              <a:rPr lang="en-US" sz="2400"/>
              <a:t>It is difficult to determine what a safe state is, </a:t>
            </a:r>
            <a:endParaRPr sz="2400"/>
          </a:p>
          <a:p>
            <a:pPr indent="-342900" lvl="0" marL="342900" rtl="0" algn="l">
              <a:spcBef>
                <a:spcPts val="480"/>
              </a:spcBef>
              <a:spcAft>
                <a:spcPts val="0"/>
              </a:spcAft>
              <a:buClr>
                <a:schemeClr val="dk1"/>
              </a:buClr>
              <a:buSzPts val="2400"/>
              <a:buChar char="•"/>
            </a:pPr>
            <a:r>
              <a:rPr lang="en-US" sz="2400"/>
              <a:t>The simplest solution is a total rollback: abort the process and then restart it.</a:t>
            </a:r>
            <a:endParaRPr/>
          </a:p>
          <a:p>
            <a:pPr indent="-342900" lvl="0" marL="342900" rtl="0" algn="l">
              <a:spcBef>
                <a:spcPts val="480"/>
              </a:spcBef>
              <a:spcAft>
                <a:spcPts val="0"/>
              </a:spcAft>
              <a:buClr>
                <a:schemeClr val="dk1"/>
              </a:buClr>
              <a:buSzPts val="2400"/>
              <a:buChar char="•"/>
            </a:pPr>
            <a:r>
              <a:rPr lang="en-US" sz="2400"/>
              <a:t>Although it is more effective to roll back the process only as far as necessary to break the deadlock, this method requires the system to keep more information about the state of all running processes.</a:t>
            </a:r>
            <a:br>
              <a:rPr lang="en-US" sz="2400"/>
            </a:br>
            <a:endParaRPr sz="2400"/>
          </a:p>
        </p:txBody>
      </p:sp>
      <p:sp>
        <p:nvSpPr>
          <p:cNvPr id="1465" name="Google Shape;1465;p1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466" name="Google Shape;1466;p1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467" name="Google Shape;1467;p1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2" name="Shape 1472"/>
        <p:cNvGrpSpPr/>
        <p:nvPr/>
      </p:nvGrpSpPr>
      <p:grpSpPr>
        <a:xfrm>
          <a:off x="0" y="0"/>
          <a:ext cx="0" cy="0"/>
          <a:chOff x="0" y="0"/>
          <a:chExt cx="0" cy="0"/>
        </a:xfrm>
      </p:grpSpPr>
      <p:sp>
        <p:nvSpPr>
          <p:cNvPr id="1473" name="Google Shape;1473;p128"/>
          <p:cNvSpPr txBox="1"/>
          <p:nvPr>
            <p:ph type="title"/>
          </p:nvPr>
        </p:nvSpPr>
        <p:spPr>
          <a:xfrm>
            <a:off x="914400" y="304800"/>
            <a:ext cx="8020050" cy="457200"/>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Calibri"/>
              <a:buNone/>
            </a:pPr>
            <a:r>
              <a:rPr lang="en-US" sz="2400">
                <a:solidFill>
                  <a:schemeClr val="dk1"/>
                </a:solidFill>
                <a:latin typeface="Calibri"/>
                <a:ea typeface="Calibri"/>
                <a:cs typeface="Calibri"/>
                <a:sym typeface="Calibri"/>
              </a:rPr>
              <a:t>Recovery from Deadlock:  Resource Preemption</a:t>
            </a:r>
            <a:endParaRPr/>
          </a:p>
        </p:txBody>
      </p:sp>
      <p:sp>
        <p:nvSpPr>
          <p:cNvPr id="1474" name="Google Shape;1474;p128"/>
          <p:cNvSpPr txBox="1"/>
          <p:nvPr>
            <p:ph idx="1" type="body"/>
          </p:nvPr>
        </p:nvSpPr>
        <p:spPr>
          <a:xfrm>
            <a:off x="858838" y="1150938"/>
            <a:ext cx="7675562" cy="4483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400"/>
              <a:buNone/>
            </a:pPr>
            <a:r>
              <a:rPr b="1" lang="en-US" sz="2400"/>
              <a:t>Starvation</a:t>
            </a:r>
            <a:r>
              <a:rPr lang="en-US" sz="2400"/>
              <a:t> –  </a:t>
            </a:r>
            <a:endParaRPr/>
          </a:p>
          <a:p>
            <a:pPr indent="-342900" lvl="0" marL="342900" rtl="0" algn="l">
              <a:spcBef>
                <a:spcPts val="480"/>
              </a:spcBef>
              <a:spcAft>
                <a:spcPts val="0"/>
              </a:spcAft>
              <a:buClr>
                <a:srgbClr val="0070C0"/>
              </a:buClr>
              <a:buSzPts val="2400"/>
              <a:buChar char="•"/>
            </a:pPr>
            <a:r>
              <a:rPr b="1" lang="en-US" sz="2400">
                <a:solidFill>
                  <a:srgbClr val="0070C0"/>
                </a:solidFill>
              </a:rPr>
              <a:t>Same process may always be picked as victim,</a:t>
            </a:r>
            <a:endParaRPr/>
          </a:p>
          <a:p>
            <a:pPr indent="-342900" lvl="0" marL="342900" rtl="0" algn="l">
              <a:spcBef>
                <a:spcPts val="480"/>
              </a:spcBef>
              <a:spcAft>
                <a:spcPts val="0"/>
              </a:spcAft>
              <a:buClr>
                <a:schemeClr val="dk1"/>
              </a:buClr>
              <a:buSzPts val="2400"/>
              <a:buChar char="•"/>
            </a:pPr>
            <a:r>
              <a:rPr lang="en-US" sz="2400"/>
              <a:t>How can we guarantee that resources will not always be pre-empted from the same process? </a:t>
            </a:r>
            <a:endParaRPr/>
          </a:p>
          <a:p>
            <a:pPr indent="-342900" lvl="0" marL="342900" rtl="0" algn="l">
              <a:spcBef>
                <a:spcPts val="480"/>
              </a:spcBef>
              <a:spcAft>
                <a:spcPts val="0"/>
              </a:spcAft>
              <a:buClr>
                <a:schemeClr val="dk1"/>
              </a:buClr>
              <a:buSzPts val="2400"/>
              <a:buChar char="•"/>
            </a:pPr>
            <a:r>
              <a:rPr lang="en-US" sz="2400"/>
              <a:t>Ensure that a process can be picked as a victim" only a (small) finite number of times</a:t>
            </a:r>
            <a:endParaRPr/>
          </a:p>
          <a:p>
            <a:pPr indent="-342900" lvl="0" marL="342900" rtl="0" algn="l">
              <a:spcBef>
                <a:spcPts val="480"/>
              </a:spcBef>
              <a:spcAft>
                <a:spcPts val="0"/>
              </a:spcAft>
              <a:buClr>
                <a:srgbClr val="0070C0"/>
              </a:buClr>
              <a:buSzPts val="2400"/>
              <a:buChar char="•"/>
            </a:pPr>
            <a:r>
              <a:rPr b="1" lang="en-US" sz="2400">
                <a:solidFill>
                  <a:srgbClr val="0070C0"/>
                </a:solidFill>
              </a:rPr>
              <a:t>Include number of rollback in cost factor</a:t>
            </a:r>
            <a:endParaRPr/>
          </a:p>
        </p:txBody>
      </p:sp>
      <p:sp>
        <p:nvSpPr>
          <p:cNvPr id="1475" name="Google Shape;1475;p1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10/10/2023</a:t>
            </a:r>
            <a:endParaRPr/>
          </a:p>
        </p:txBody>
      </p:sp>
      <p:sp>
        <p:nvSpPr>
          <p:cNvPr id="1476" name="Google Shape;1476;p1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477" name="Google Shape;1477;p1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2020-10-08T11:41:11Z</dcterms:created>
  <dc:creator>Admin</dc:creator>
</cp:coreProperties>
</file>
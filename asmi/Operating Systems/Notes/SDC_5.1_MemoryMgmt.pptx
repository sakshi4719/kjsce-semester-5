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Lst>
  <p:sldSz cy="6858000" cx="9144000"/>
  <p:notesSz cx="7010400" cy="9296400"/>
  <p:embeddedFontLst>
    <p:embeddedFont>
      <p:font typeface="Marcellus"/>
      <p:regular r:id="rId181"/>
    </p:embeddedFont>
    <p:embeddedFont>
      <p:font typeface="Fira Sans"/>
      <p:regular r:id="rId182"/>
      <p:bold r:id="rId183"/>
      <p:italic r:id="rId184"/>
      <p:boldItalic r:id="rId185"/>
    </p:embeddedFont>
    <p:embeddedFont>
      <p:font typeface="Helvetica Neue"/>
      <p:regular r:id="rId186"/>
      <p:bold r:id="rId187"/>
      <p:italic r:id="rId188"/>
      <p:boldItalic r:id="rId18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A4A3A4"/>
          </p15:clr>
        </p15:guide>
        <p15:guide id="2" pos="440">
          <p15:clr>
            <a:srgbClr val="A4A3A4"/>
          </p15:clr>
        </p15:guide>
      </p15:sldGuideLst>
    </p:ext>
    <p:ext uri="GoogleSlidesCustomDataVersion2">
      <go:slidesCustomData xmlns:go="http://customooxmlschemas.google.com/" r:id="rId190" roundtripDataSignature="AMtx7mi7kovDPbcmq+YhVb6oZ8jfp/KZl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Sakshi Raut"/>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57DD2B-4571-4294-903F-E05933FE1BEA}">
  <a:tblStyle styleId="{0C57DD2B-4571-4294-903F-E05933FE1BEA}" styleName="Table_0">
    <a:wholeTbl>
      <a:tcTxStyle b="off" i="off">
        <a:font>
          <a:latin typeface="Helvetica"/>
          <a:ea typeface="Helvetica"/>
          <a:cs typeface="Helvetica"/>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190" Type="http://customschemas.google.com/relationships/presentationmetadata" Target="metadata"/><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187" Type="http://schemas.openxmlformats.org/officeDocument/2006/relationships/font" Target="fonts/HelveticaNeue-bold.fntdata"/><Relationship Id="rId47" Type="http://schemas.openxmlformats.org/officeDocument/2006/relationships/slide" Target="slides/slide40.xml"/><Relationship Id="rId186" Type="http://schemas.openxmlformats.org/officeDocument/2006/relationships/font" Target="fonts/HelveticaNeue-regular.fntdata"/><Relationship Id="rId185" Type="http://schemas.openxmlformats.org/officeDocument/2006/relationships/font" Target="fonts/FiraSans-boldItalic.fntdata"/><Relationship Id="rId49" Type="http://schemas.openxmlformats.org/officeDocument/2006/relationships/slide" Target="slides/slide42.xml"/><Relationship Id="rId184" Type="http://schemas.openxmlformats.org/officeDocument/2006/relationships/font" Target="fonts/FiraSans-italic.fntdata"/><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89" Type="http://schemas.openxmlformats.org/officeDocument/2006/relationships/font" Target="fonts/HelveticaNeue-boldItalic.fntdata"/><Relationship Id="rId100" Type="http://schemas.openxmlformats.org/officeDocument/2006/relationships/slide" Target="slides/slide93.xml"/><Relationship Id="rId188" Type="http://schemas.openxmlformats.org/officeDocument/2006/relationships/font" Target="fonts/HelveticaNeue-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183" Type="http://schemas.openxmlformats.org/officeDocument/2006/relationships/font" Target="fonts/FiraSans-bold.fntdata"/><Relationship Id="rId32" Type="http://schemas.openxmlformats.org/officeDocument/2006/relationships/slide" Target="slides/slide25.xml"/><Relationship Id="rId182" Type="http://schemas.openxmlformats.org/officeDocument/2006/relationships/font" Target="fonts/FiraSans-regular.fntdata"/><Relationship Id="rId35" Type="http://schemas.openxmlformats.org/officeDocument/2006/relationships/slide" Target="slides/slide28.xml"/><Relationship Id="rId181" Type="http://schemas.openxmlformats.org/officeDocument/2006/relationships/font" Target="fonts/Marcellus-regular.fntdata"/><Relationship Id="rId34" Type="http://schemas.openxmlformats.org/officeDocument/2006/relationships/slide" Target="slides/slide27.xml"/><Relationship Id="rId180" Type="http://schemas.openxmlformats.org/officeDocument/2006/relationships/slide" Target="slides/slide173.xml"/><Relationship Id="rId37" Type="http://schemas.openxmlformats.org/officeDocument/2006/relationships/slide" Target="slides/slide30.xml"/><Relationship Id="rId176" Type="http://schemas.openxmlformats.org/officeDocument/2006/relationships/slide" Target="slides/slide169.xml"/><Relationship Id="rId36" Type="http://schemas.openxmlformats.org/officeDocument/2006/relationships/slide" Target="slides/slide29.xml"/><Relationship Id="rId175" Type="http://schemas.openxmlformats.org/officeDocument/2006/relationships/slide" Target="slides/slide168.xml"/><Relationship Id="rId39" Type="http://schemas.openxmlformats.org/officeDocument/2006/relationships/slide" Target="slides/slide32.xml"/><Relationship Id="rId174" Type="http://schemas.openxmlformats.org/officeDocument/2006/relationships/slide" Target="slides/slide167.xml"/><Relationship Id="rId38" Type="http://schemas.openxmlformats.org/officeDocument/2006/relationships/slide" Target="slides/slide31.xml"/><Relationship Id="rId173" Type="http://schemas.openxmlformats.org/officeDocument/2006/relationships/slide" Target="slides/slide166.xml"/><Relationship Id="rId179" Type="http://schemas.openxmlformats.org/officeDocument/2006/relationships/slide" Target="slides/slide172.xml"/><Relationship Id="rId178" Type="http://schemas.openxmlformats.org/officeDocument/2006/relationships/slide" Target="slides/slide171.xml"/><Relationship Id="rId177" Type="http://schemas.openxmlformats.org/officeDocument/2006/relationships/slide" Target="slides/slide170.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26" Type="http://schemas.openxmlformats.org/officeDocument/2006/relationships/slide" Target="slides/slide19.xml"/><Relationship Id="rId121" Type="http://schemas.openxmlformats.org/officeDocument/2006/relationships/slide" Target="slides/slide114.xml"/><Relationship Id="rId25" Type="http://schemas.openxmlformats.org/officeDocument/2006/relationships/slide" Target="slides/slide18.xml"/><Relationship Id="rId120" Type="http://schemas.openxmlformats.org/officeDocument/2006/relationships/slide" Target="slides/slide113.xml"/><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slide" Target="slides/slide118.xml"/><Relationship Id="rId29" Type="http://schemas.openxmlformats.org/officeDocument/2006/relationships/slide" Target="slides/slide22.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150" Type="http://schemas.openxmlformats.org/officeDocument/2006/relationships/slide" Target="slides/slide143.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2.xml"/><Relationship Id="rId4" Type="http://schemas.openxmlformats.org/officeDocument/2006/relationships/tableStyles" Target="tableStyles.xml"/><Relationship Id="rId148" Type="http://schemas.openxmlformats.org/officeDocument/2006/relationships/slide" Target="slides/slide141.xml"/><Relationship Id="rId9" Type="http://schemas.openxmlformats.org/officeDocument/2006/relationships/slide" Target="slides/slide2.xml"/><Relationship Id="rId143" Type="http://schemas.openxmlformats.org/officeDocument/2006/relationships/slide" Target="slides/slide136.xml"/><Relationship Id="rId142" Type="http://schemas.openxmlformats.org/officeDocument/2006/relationships/slide" Target="slides/slide135.xml"/><Relationship Id="rId141" Type="http://schemas.openxmlformats.org/officeDocument/2006/relationships/slide" Target="slides/slide134.xml"/><Relationship Id="rId140" Type="http://schemas.openxmlformats.org/officeDocument/2006/relationships/slide" Target="slides/slide133.xml"/><Relationship Id="rId5" Type="http://schemas.openxmlformats.org/officeDocument/2006/relationships/commentAuthors" Target="commentAuthors.xml"/><Relationship Id="rId147" Type="http://schemas.openxmlformats.org/officeDocument/2006/relationships/slide" Target="slides/slide140.xml"/><Relationship Id="rId6" Type="http://schemas.openxmlformats.org/officeDocument/2006/relationships/slideMaster" Target="slideMasters/slideMaster1.xml"/><Relationship Id="rId146" Type="http://schemas.openxmlformats.org/officeDocument/2006/relationships/slide" Target="slides/slide139.xml"/><Relationship Id="rId7" Type="http://schemas.openxmlformats.org/officeDocument/2006/relationships/notesMaster" Target="notesMasters/notesMaster1.xml"/><Relationship Id="rId145" Type="http://schemas.openxmlformats.org/officeDocument/2006/relationships/slide" Target="slides/slide138.xml"/><Relationship Id="rId8" Type="http://schemas.openxmlformats.org/officeDocument/2006/relationships/slide" Target="slides/slide1.xml"/><Relationship Id="rId144" Type="http://schemas.openxmlformats.org/officeDocument/2006/relationships/slide" Target="slides/slide137.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172" Type="http://schemas.openxmlformats.org/officeDocument/2006/relationships/slide" Target="slides/slide165.xml"/><Relationship Id="rId65" Type="http://schemas.openxmlformats.org/officeDocument/2006/relationships/slide" Target="slides/slide58.xml"/><Relationship Id="rId171" Type="http://schemas.openxmlformats.org/officeDocument/2006/relationships/slide" Target="slides/slide164.xml"/><Relationship Id="rId68" Type="http://schemas.openxmlformats.org/officeDocument/2006/relationships/slide" Target="slides/slide61.xml"/><Relationship Id="rId170" Type="http://schemas.openxmlformats.org/officeDocument/2006/relationships/slide" Target="slides/slide163.xml"/><Relationship Id="rId67" Type="http://schemas.openxmlformats.org/officeDocument/2006/relationships/slide" Target="slides/slide60.xml"/><Relationship Id="rId60" Type="http://schemas.openxmlformats.org/officeDocument/2006/relationships/slide" Target="slides/slide53.xml"/><Relationship Id="rId165" Type="http://schemas.openxmlformats.org/officeDocument/2006/relationships/slide" Target="slides/slide158.xml"/><Relationship Id="rId69" Type="http://schemas.openxmlformats.org/officeDocument/2006/relationships/slide" Target="slides/slide62.xml"/><Relationship Id="rId164" Type="http://schemas.openxmlformats.org/officeDocument/2006/relationships/slide" Target="slides/slide157.xml"/><Relationship Id="rId163" Type="http://schemas.openxmlformats.org/officeDocument/2006/relationships/slide" Target="slides/slide156.xml"/><Relationship Id="rId162" Type="http://schemas.openxmlformats.org/officeDocument/2006/relationships/slide" Target="slides/slide155.xml"/><Relationship Id="rId169" Type="http://schemas.openxmlformats.org/officeDocument/2006/relationships/slide" Target="slides/slide162.xml"/><Relationship Id="rId168" Type="http://schemas.openxmlformats.org/officeDocument/2006/relationships/slide" Target="slides/slide161.xml"/><Relationship Id="rId167" Type="http://schemas.openxmlformats.org/officeDocument/2006/relationships/slide" Target="slides/slide160.xml"/><Relationship Id="rId166" Type="http://schemas.openxmlformats.org/officeDocument/2006/relationships/slide" Target="slides/slide159.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161" Type="http://schemas.openxmlformats.org/officeDocument/2006/relationships/slide" Target="slides/slide154.xml"/><Relationship Id="rId54" Type="http://schemas.openxmlformats.org/officeDocument/2006/relationships/slide" Target="slides/slide47.xml"/><Relationship Id="rId160" Type="http://schemas.openxmlformats.org/officeDocument/2006/relationships/slide" Target="slides/slide153.xml"/><Relationship Id="rId57" Type="http://schemas.openxmlformats.org/officeDocument/2006/relationships/slide" Target="slides/slide50.xml"/><Relationship Id="rId56" Type="http://schemas.openxmlformats.org/officeDocument/2006/relationships/slide" Target="slides/slide49.xml"/><Relationship Id="rId159" Type="http://schemas.openxmlformats.org/officeDocument/2006/relationships/slide" Target="slides/slide152.xml"/><Relationship Id="rId59" Type="http://schemas.openxmlformats.org/officeDocument/2006/relationships/slide" Target="slides/slide52.xml"/><Relationship Id="rId154" Type="http://schemas.openxmlformats.org/officeDocument/2006/relationships/slide" Target="slides/slide147.xml"/><Relationship Id="rId58" Type="http://schemas.openxmlformats.org/officeDocument/2006/relationships/slide" Target="slides/slide51.xml"/><Relationship Id="rId153" Type="http://schemas.openxmlformats.org/officeDocument/2006/relationships/slide" Target="slides/slide146.xml"/><Relationship Id="rId152" Type="http://schemas.openxmlformats.org/officeDocument/2006/relationships/slide" Target="slides/slide145.xml"/><Relationship Id="rId151" Type="http://schemas.openxmlformats.org/officeDocument/2006/relationships/slide" Target="slides/slide144.xml"/><Relationship Id="rId158" Type="http://schemas.openxmlformats.org/officeDocument/2006/relationships/slide" Target="slides/slide151.xml"/><Relationship Id="rId157" Type="http://schemas.openxmlformats.org/officeDocument/2006/relationships/slide" Target="slides/slide150.xml"/><Relationship Id="rId156" Type="http://schemas.openxmlformats.org/officeDocument/2006/relationships/slide" Target="slides/slide149.xml"/><Relationship Id="rId155" Type="http://schemas.openxmlformats.org/officeDocument/2006/relationships/slide" Target="slides/slide148.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11-25T06:51:21.753">
    <p:pos x="440" y="834"/>
    <p:text>Low memory refers to the memory addresses starting from 0 upwards.</p:text>
    <p:extLst>
      <p:ext uri="{C676402C-5697-4E1C-873F-D02D1690AC5C}">
        <p15:threadingInfo timeZoneBias="0"/>
      </p:ext>
      <p:ext uri="http://customooxmlschemas.google.com/">
        <go:slidesCustomData xmlns:go="http://customooxmlschemas.google.com/" commentPostId="AAABZZJLNJ8"/>
      </p:ext>
    </p:extLst>
  </p:cm>
  <p:cm authorId="0" idx="2" dt="2024-11-25T06:51:43.137">
    <p:pos x="440" y="934"/>
    <p:text>High memory refers to addresses at the upper end of the addressable space.</p:text>
    <p:extLst>
      <p:ext uri="{C676402C-5697-4E1C-873F-D02D1690AC5C}">
        <p15:threadingInfo timeZoneBias="0"/>
      </p:ext>
      <p:ext uri="http://customooxmlschemas.google.com/">
        <go:slidesCustomData xmlns:go="http://customooxmlschemas.google.com/" commentPostId="AAABZZJLNKA"/>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4-11-25T07:26:18.256">
    <p:pos x="563" y="711"/>
    <p:text>physical memory- frame
logical memory- page
logical to physical- page table</p:text>
    <p:extLst>
      <p:ext uri="{C676402C-5697-4E1C-873F-D02D1690AC5C}">
        <p15:threadingInfo timeZoneBias="0"/>
      </p:ext>
      <p:ext uri="http://customooxmlschemas.google.com/">
        <go:slidesCustomData xmlns:go="http://customooxmlschemas.google.com/" commentPostId="AAABZZJLNKI"/>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6888" cy="463550"/>
          </a:xfrm>
          <a:prstGeom prst="rect">
            <a:avLst/>
          </a:prstGeom>
          <a:noFill/>
          <a:ln>
            <a:noFill/>
          </a:ln>
        </p:spPr>
        <p:txBody>
          <a:bodyPr anchorCtr="0" anchor="ctr" bIns="46575" lIns="93150" spcFirstLastPara="1" rIns="93150" wrap="square" tIns="46575">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3973513" y="0"/>
            <a:ext cx="3036887" cy="463550"/>
          </a:xfrm>
          <a:prstGeom prst="rect">
            <a:avLst/>
          </a:prstGeom>
          <a:noFill/>
          <a:ln>
            <a:noFill/>
          </a:ln>
        </p:spPr>
        <p:txBody>
          <a:bodyPr anchorCtr="0" anchor="ctr" bIns="46575" lIns="93150" spcFirstLastPara="1" rIns="93150" wrap="square" tIns="46575">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32850"/>
            <a:ext cx="3036888" cy="463550"/>
          </a:xfrm>
          <a:prstGeom prst="rect">
            <a:avLst/>
          </a:prstGeom>
          <a:noFill/>
          <a:ln>
            <a:noFill/>
          </a:ln>
        </p:spPr>
        <p:txBody>
          <a:bodyPr anchorCtr="0" anchor="b" bIns="46575" lIns="93150" spcFirstLastPara="1" rIns="93150" wrap="square" tIns="46575">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72" name="Google Shape;72;p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78" name="Google Shape;78;p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84" name="Google Shape;84;p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90" name="Google Shape;90;p4:notes"/>
          <p:cNvSpPr/>
          <p:nvPr>
            <p:ph idx="2" type="sldImg"/>
          </p:nvPr>
        </p:nvSpPr>
        <p:spPr>
          <a:xfrm>
            <a:off x="1168400" y="697230"/>
            <a:ext cx="4673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96" name="Google Shape;96;p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03" name="Google Shape;103;p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110" name="Google Shape;110;p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16" name="Google Shape;116;p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24" name="Google Shape;124;p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0: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132" name="Google Shape;132;p10:notes"/>
          <p:cNvSpPr/>
          <p:nvPr>
            <p:ph idx="2" type="sldImg"/>
          </p:nvPr>
        </p:nvSpPr>
        <p:spPr>
          <a:xfrm>
            <a:off x="1168400" y="697230"/>
            <a:ext cx="4673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38" name="Google Shape;138;p1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1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2: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146" name="Google Shape;146;p12:notes"/>
          <p:cNvSpPr/>
          <p:nvPr>
            <p:ph idx="2" type="sldImg"/>
          </p:nvPr>
        </p:nvSpPr>
        <p:spPr>
          <a:xfrm>
            <a:off x="1168400" y="697230"/>
            <a:ext cx="4673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3: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52" name="Google Shape;152;p1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1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4: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160" name="Google Shape;160;p14:notes"/>
          <p:cNvSpPr/>
          <p:nvPr>
            <p:ph idx="2" type="sldImg"/>
          </p:nvPr>
        </p:nvSpPr>
        <p:spPr>
          <a:xfrm>
            <a:off x="1168400" y="697230"/>
            <a:ext cx="4673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68" name="Google Shape;168;p1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1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75" name="Google Shape;175;p1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1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7: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82" name="Google Shape;182;p1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17: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90" name="Google Shape;190;p1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9: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97" name="Google Shape;197;p1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1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205" name="Google Shape;205;p2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2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1: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212" name="Google Shape;212;p2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2: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218" name="Google Shape;218;p2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3: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224" name="Google Shape;224;p23:notes"/>
          <p:cNvSpPr/>
          <p:nvPr>
            <p:ph idx="2" type="sldImg"/>
          </p:nvPr>
        </p:nvSpPr>
        <p:spPr>
          <a:xfrm>
            <a:off x="1168400" y="697230"/>
            <a:ext cx="4673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4: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230" name="Google Shape;230;p24:notes"/>
          <p:cNvSpPr/>
          <p:nvPr>
            <p:ph idx="2" type="sldImg"/>
          </p:nvPr>
        </p:nvSpPr>
        <p:spPr>
          <a:xfrm>
            <a:off x="1168400" y="697230"/>
            <a:ext cx="4673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5: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236" name="Google Shape;236;p2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242" name="Google Shape;242;p2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7: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249" name="Google Shape;249;p27:notes"/>
          <p:cNvSpPr/>
          <p:nvPr>
            <p:ph idx="2" type="sldImg"/>
          </p:nvPr>
        </p:nvSpPr>
        <p:spPr>
          <a:xfrm>
            <a:off x="1168400" y="697230"/>
            <a:ext cx="4673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255" name="Google Shape;255;p2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2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9: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262" name="Google Shape;262;p2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2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269" name="Google Shape;269;p3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3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276" name="Google Shape;276;p3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3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2: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283" name="Google Shape;283;p32:notes"/>
          <p:cNvSpPr/>
          <p:nvPr>
            <p:ph idx="2" type="sldImg"/>
          </p:nvPr>
        </p:nvSpPr>
        <p:spPr>
          <a:xfrm>
            <a:off x="1168400" y="697230"/>
            <a:ext cx="4673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3: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289" name="Google Shape;289;p3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3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4: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296" name="Google Shape;296;p3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34: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190ac6a8e6_0_0: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190ac6a8e6_0_0:notes"/>
          <p:cNvSpPr txBox="1"/>
          <p:nvPr>
            <p:ph idx="1" type="body"/>
          </p:nvPr>
        </p:nvSpPr>
        <p:spPr>
          <a:xfrm>
            <a:off x="935038" y="4416425"/>
            <a:ext cx="5140200" cy="4181400"/>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304" name="Google Shape;304;g3190ac6a8e6_0_0:notes"/>
          <p:cNvSpPr txBox="1"/>
          <p:nvPr>
            <p:ph idx="12" type="sldNum"/>
          </p:nvPr>
        </p:nvSpPr>
        <p:spPr>
          <a:xfrm>
            <a:off x="3973513" y="8832850"/>
            <a:ext cx="3036900" cy="463500"/>
          </a:xfrm>
          <a:prstGeom prst="rect">
            <a:avLst/>
          </a:prstGeom>
        </p:spPr>
        <p:txBody>
          <a:bodyPr anchorCtr="0" anchor="b" bIns="46575" lIns="93150" spcFirstLastPara="1" rIns="93150" wrap="square" tIns="465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5: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311" name="Google Shape;311;p3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3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6: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318" name="Google Shape;318;p3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7: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325" name="Google Shape;325;p3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37: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333" name="Google Shape;333;p3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3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9: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341" name="Google Shape;341;p39:notes"/>
          <p:cNvSpPr/>
          <p:nvPr>
            <p:ph idx="2" type="sldImg"/>
          </p:nvPr>
        </p:nvSpPr>
        <p:spPr>
          <a:xfrm>
            <a:off x="1168400" y="697230"/>
            <a:ext cx="4673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347" name="Google Shape;347;p4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p4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4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354" name="Google Shape;354;p4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4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42: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361" name="Google Shape;361;p4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42: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3: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368" name="Google Shape;368;p4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p4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4: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375" name="Google Shape;375;p4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44: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5: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383" name="Google Shape;383;p4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4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4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390" name="Google Shape;390;p4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4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7: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397" name="Google Shape;397;p4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47: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404" name="Google Shape;404;p4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p4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9: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411" name="Google Shape;411;p49:notes"/>
          <p:cNvSpPr/>
          <p:nvPr>
            <p:ph idx="2" type="sldImg"/>
          </p:nvPr>
        </p:nvSpPr>
        <p:spPr>
          <a:xfrm>
            <a:off x="1168400" y="697230"/>
            <a:ext cx="4673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5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418" name="Google Shape;418;p5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5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5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426" name="Google Shape;426;p5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5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52: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433" name="Google Shape;433;p5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4" name="Google Shape;434;p52: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53: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441" name="Google Shape;441;p5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5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54: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448" name="Google Shape;448;p5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54: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55: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455" name="Google Shape;455;p5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5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56: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462" name="Google Shape;462;p5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57: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468" name="Google Shape;468;p5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58: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474" name="Google Shape;474;p5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59: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481" name="Google Shape;481;p5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5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6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488" name="Google Shape;488;p6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p6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6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495" name="Google Shape;495;p6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6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62:notes"/>
          <p:cNvSpPr txBox="1"/>
          <p:nvPr>
            <p:ph idx="1" type="body"/>
          </p:nvPr>
        </p:nvSpPr>
        <p:spPr>
          <a:xfrm>
            <a:off x="701040" y="4415790"/>
            <a:ext cx="5608320" cy="4183380"/>
          </a:xfrm>
          <a:prstGeom prst="rect">
            <a:avLst/>
          </a:prstGeom>
          <a:noFill/>
          <a:ln>
            <a:noFill/>
          </a:ln>
        </p:spPr>
        <p:txBody>
          <a:bodyPr anchorCtr="0" anchor="t" bIns="46550" lIns="93150" spcFirstLastPara="1" rIns="93150" wrap="square" tIns="46550">
            <a:noAutofit/>
          </a:bodyPr>
          <a:lstStyle/>
          <a:p>
            <a:pPr indent="0" lvl="0" marL="0" rtl="0" algn="l">
              <a:spcBef>
                <a:spcPts val="0"/>
              </a:spcBef>
              <a:spcAft>
                <a:spcPts val="0"/>
              </a:spcAft>
              <a:buNone/>
            </a:pPr>
            <a:r>
              <a:t/>
            </a:r>
            <a:endParaRPr/>
          </a:p>
        </p:txBody>
      </p:sp>
      <p:sp>
        <p:nvSpPr>
          <p:cNvPr id="502" name="Google Shape;502;p6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63: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508" name="Google Shape;508;p6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6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64: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515" name="Google Shape;515;p6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64: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65: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522" name="Google Shape;522;p6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6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6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530" name="Google Shape;530;p6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p6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67: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537" name="Google Shape;537;p6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68: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543" name="Google Shape;543;p6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69: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549" name="Google Shape;549;p6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70: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555" name="Google Shape;555;p7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71: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562" name="Google Shape;562;p7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72: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568" name="Google Shape;568;p7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73: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574" name="Google Shape;574;p7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74: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580" name="Google Shape;580;p7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75: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586" name="Google Shape;586;p7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7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592" name="Google Shape;592;p7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 name="Google Shape;593;p7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77: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599" name="Google Shape;599;p7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0" name="Google Shape;600;p77: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7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06" name="Google Shape;606;p7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p7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79: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13" name="Google Shape;613;p7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4" name="Google Shape;614;p7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8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20" name="Google Shape;620;p8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1" name="Google Shape;621;p8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8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27" name="Google Shape;627;p8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8" name="Google Shape;628;p8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82: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35" name="Google Shape;635;p8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82: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83: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43" name="Google Shape;643;p8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4" name="Google Shape;644;p8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84: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51" name="Google Shape;651;p8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2" name="Google Shape;652;p84: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85: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59" name="Google Shape;659;p8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0" name="Google Shape;660;p8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8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67" name="Google Shape;667;p8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8" name="Google Shape;668;p8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87: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74" name="Google Shape;674;p8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5" name="Google Shape;675;p87: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8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83" name="Google Shape;683;p8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4" name="Google Shape;684;p8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89: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90" name="Google Shape;690;p8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1" name="Google Shape;691;p8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9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97" name="Google Shape;697;p9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8" name="Google Shape;698;p9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9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704" name="Google Shape;704;p9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5" name="Google Shape;705;p9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rPr lang="en-US"/>
              <a:t>hole within a memory partition</a:t>
            </a:r>
            <a:endParaRPr>
              <a:latin typeface="Times New Roman"/>
              <a:ea typeface="Times New Roman"/>
              <a:cs typeface="Times New Roman"/>
              <a:sym typeface="Times New Roman"/>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92: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711" name="Google Shape;711;p9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2" name="Google Shape;712;p92: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93: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718" name="Google Shape;718;p9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9" name="Google Shape;719;p9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94: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725" name="Google Shape;725;p9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95: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731" name="Google Shape;731;p9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96: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737" name="Google Shape;737;p9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97: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743" name="Google Shape;743;p9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9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749" name="Google Shape;749;p9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0" name="Google Shape;750;p9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99: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756" name="Google Shape;756;p9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p9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10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763" name="Google Shape;763;p10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4" name="Google Shape;764;p10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0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770" name="Google Shape;770;p10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1" name="Google Shape;771;p10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102: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777" name="Google Shape;777;p10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8" name="Google Shape;778;p102: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103: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784" name="Google Shape;784;p10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04: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790" name="Google Shape;790;p10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105: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798" name="Google Shape;798;p10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0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805" name="Google Shape;805;p10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6" name="Google Shape;806;p10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107: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816" name="Google Shape;816;p10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7" name="Google Shape;817;p107: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108: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827" name="Google Shape;827;p10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109: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833" name="Google Shape;833;p10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110: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839" name="Google Shape;839;p11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1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845" name="Google Shape;845;p11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6" name="Google Shape;846;p11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112: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854" name="Google Shape;854;p11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112: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113: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864" name="Google Shape;864;p11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5" name="Google Shape;865;p11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114: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874" name="Google Shape;874;p11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5" name="Google Shape;875;p114: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115: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881" name="Google Shape;881;p11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2" name="Google Shape;882;p11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11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888" name="Google Shape;888;p11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9" name="Google Shape;889;p11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117: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896" name="Google Shape;896;p11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7" name="Google Shape;897;p117: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11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03" name="Google Shape;903;p11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4" name="Google Shape;904;p11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19: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10" name="Google Shape;910;p11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11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12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17" name="Google Shape;917;p12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8" name="Google Shape;918;p12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12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24" name="Google Shape;924;p12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5" name="Google Shape;925;p12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122: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32" name="Google Shape;932;p12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3" name="Google Shape;933;p122: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23: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40" name="Google Shape;940;p12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1" name="Google Shape;941;p12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24: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48" name="Google Shape;948;p12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9" name="Google Shape;949;p124: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125: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56" name="Google Shape;956;p12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7" name="Google Shape;957;p12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2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63" name="Google Shape;963;p12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4" name="Google Shape;964;p12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27: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70" name="Google Shape;970;p12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1" name="Google Shape;971;p127: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12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77" name="Google Shape;977;p12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8" name="Google Shape;978;p12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129: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84" name="Google Shape;984;p12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5" name="Google Shape;985;p12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13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91" name="Google Shape;991;p13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2" name="Google Shape;992;p13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13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98" name="Google Shape;998;p13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9" name="Google Shape;999;p13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132: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05" name="Google Shape;1005;p13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6" name="Google Shape;1006;p132: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133: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12" name="Google Shape;1012;p13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3" name="Google Shape;1013;p13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134: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19" name="Google Shape;1019;p13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0" name="Google Shape;1020;p134: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135: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26" name="Google Shape;1026;p13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7" name="Google Shape;1027;p13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13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34" name="Google Shape;1034;p13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5" name="Google Shape;1035;p13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137: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41" name="Google Shape;1041;p13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2" name="Google Shape;1042;p137: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13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48" name="Google Shape;1048;p13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9" name="Google Shape;1049;p13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139: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56" name="Google Shape;1056;p13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7" name="Google Shape;1057;p13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14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64" name="Google Shape;1064;p14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5" name="Google Shape;1065;p14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14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72" name="Google Shape;1072;p14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3" name="Google Shape;1073;p14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142: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1079" name="Google Shape;1079;p14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143: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86" name="Google Shape;1086;p14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7" name="Google Shape;1087;p14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144: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95" name="Google Shape;1095;p14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6" name="Google Shape;1096;p144: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145: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103" name="Google Shape;1103;p14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4" name="Google Shape;1104;p14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p14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111" name="Google Shape;1111;p14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2" name="Google Shape;1112;p14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147: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118" name="Google Shape;1118;p14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9" name="Google Shape;1119;p147: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p14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125" name="Google Shape;1125;p14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6" name="Google Shape;1126;p14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149: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133" name="Google Shape;1133;p14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4" name="Google Shape;1134;p14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p15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141" name="Google Shape;1141;p15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2" name="Google Shape;1142;p15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15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148" name="Google Shape;1148;p15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9" name="Google Shape;1149;p15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p152: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156" name="Google Shape;1156;p15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7" name="Google Shape;1157;p152: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p153: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183" name="Google Shape;1183;p15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4" name="Google Shape;1184;p15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154: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190" name="Google Shape;1190;p15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1" name="Google Shape;1191;p154: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155: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197" name="Google Shape;1197;p15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8" name="Google Shape;1198;p15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15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04" name="Google Shape;1204;p15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5" name="Google Shape;1205;p15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157: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12" name="Google Shape;1212;p15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3" name="Google Shape;1213;p157: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p15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20" name="Google Shape;1220;p15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1" name="Google Shape;1221;p15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p159: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28" name="Google Shape;1228;p15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9" name="Google Shape;1229;p15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16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36" name="Google Shape;1236;p16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7" name="Google Shape;1237;p16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p16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44" name="Google Shape;1244;p16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5" name="Google Shape;1245;p16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p162: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52" name="Google Shape;1252;p16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3" name="Google Shape;1253;p162: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p163: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60" name="Google Shape;1260;p16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1" name="Google Shape;1261;p16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164: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67" name="Google Shape;1267;p16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8" name="Google Shape;1268;p164: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165: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74" name="Google Shape;1274;p16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5" name="Google Shape;1275;p16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p166: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83" name="Google Shape;1283;p16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4" name="Google Shape;1284;p16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167: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91" name="Google Shape;1291;p16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2" name="Google Shape;1292;p167: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168: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98" name="Google Shape;1298;p16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9" name="Google Shape;1299;p16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p169: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305" name="Google Shape;1305;p16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6" name="Google Shape;1306;p16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p170: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313" name="Google Shape;1313;p17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4" name="Google Shape;1314;p17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p17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321" name="Google Shape;1321;p17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2" name="Google Shape;1322;p17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p172: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328" name="Google Shape;1328;p17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9" name="Google Shape;1329;p172: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174"/>
          <p:cNvGrpSpPr/>
          <p:nvPr/>
        </p:nvGrpSpPr>
        <p:grpSpPr>
          <a:xfrm>
            <a:off x="198438" y="2960688"/>
            <a:ext cx="8610600" cy="201612"/>
            <a:chOff x="125" y="1865"/>
            <a:chExt cx="5424" cy="127"/>
          </a:xfrm>
        </p:grpSpPr>
        <p:sp>
          <p:nvSpPr>
            <p:cNvPr id="23" name="Google Shape;23;p174"/>
            <p:cNvSpPr/>
            <p:nvPr/>
          </p:nvSpPr>
          <p:spPr>
            <a:xfrm>
              <a:off x="125"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4" name="Google Shape;24;p174"/>
            <p:cNvSpPr/>
            <p:nvPr/>
          </p:nvSpPr>
          <p:spPr>
            <a:xfrm>
              <a:off x="1933" y="1865"/>
              <a:ext cx="1808" cy="127"/>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 name="Google Shape;25;p174"/>
            <p:cNvSpPr/>
            <p:nvPr/>
          </p:nvSpPr>
          <p:spPr>
            <a:xfrm>
              <a:off x="3741"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sp>
        <p:nvSpPr>
          <p:cNvPr id="26" name="Google Shape;26;p174"/>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Silberschatz, Galvin and Gagne ©2013</a:t>
            </a:r>
            <a:endParaRPr/>
          </a:p>
        </p:txBody>
      </p:sp>
      <p:sp>
        <p:nvSpPr>
          <p:cNvPr id="27" name="Google Shape;27;p174"/>
          <p:cNvSpPr txBox="1"/>
          <p:nvPr/>
        </p:nvSpPr>
        <p:spPr>
          <a:xfrm>
            <a:off x="26988" y="6613525"/>
            <a:ext cx="2695575" cy="2460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Operating System Concepts – 9</a:t>
            </a:r>
            <a:r>
              <a:rPr b="1" baseline="30000" i="0" lang="en-US" sz="1000" u="none" cap="none" strike="noStrike">
                <a:solidFill>
                  <a:srgbClr val="336699"/>
                </a:solidFill>
                <a:latin typeface="Helvetica Neue"/>
                <a:ea typeface="Helvetica Neue"/>
                <a:cs typeface="Helvetica Neue"/>
                <a:sym typeface="Helvetica Neue"/>
              </a:rPr>
              <a:t>th</a:t>
            </a:r>
            <a:r>
              <a:rPr b="1" i="0" lang="en-US" sz="1000" u="none" cap="none" strike="noStrike">
                <a:solidFill>
                  <a:srgbClr val="336699"/>
                </a:solidFill>
                <a:latin typeface="Helvetica Neue"/>
                <a:ea typeface="Helvetica Neue"/>
                <a:cs typeface="Helvetica Neue"/>
                <a:sym typeface="Helvetica Neue"/>
              </a:rPr>
              <a:t> Edition</a:t>
            </a:r>
            <a:endParaRPr/>
          </a:p>
        </p:txBody>
      </p:sp>
      <p:pic>
        <p:nvPicPr>
          <p:cNvPr descr="dino_4" id="28" name="Google Shape;28;p174"/>
          <p:cNvPicPr preferRelativeResize="0"/>
          <p:nvPr/>
        </p:nvPicPr>
        <p:blipFill rotWithShape="1">
          <a:blip r:embed="rId2">
            <a:alphaModFix/>
          </a:blip>
          <a:srcRect b="0" l="0" r="0" t="0"/>
          <a:stretch/>
        </p:blipFill>
        <p:spPr>
          <a:xfrm>
            <a:off x="3360738" y="4157663"/>
            <a:ext cx="2062162" cy="1593850"/>
          </a:xfrm>
          <a:prstGeom prst="rect">
            <a:avLst/>
          </a:prstGeom>
          <a:noFill/>
          <a:ln cap="flat" cmpd="sng" w="76200">
            <a:solidFill>
              <a:srgbClr val="336699"/>
            </a:solidFill>
            <a:prstDash val="solid"/>
            <a:miter lim="800000"/>
            <a:headEnd len="sm" w="sm" type="none"/>
            <a:tailEnd len="sm" w="sm" type="none"/>
          </a:ln>
        </p:spPr>
      </p:pic>
      <p:sp>
        <p:nvSpPr>
          <p:cNvPr id="29" name="Google Shape;29;p174"/>
          <p:cNvSpPr/>
          <p:nvPr/>
        </p:nvSpPr>
        <p:spPr>
          <a:xfrm>
            <a:off x="3224213" y="4006850"/>
            <a:ext cx="2336800" cy="1887538"/>
          </a:xfrm>
          <a:prstGeom prst="rect">
            <a:avLst/>
          </a:prstGeom>
          <a:noFill/>
          <a:ln cap="flat" cmpd="thinThick" w="57150">
            <a:solidFill>
              <a:srgbClr val="66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 name="Google Shape;30;p174"/>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43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175"/>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175"/>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20040" lvl="1" marL="914400" algn="l">
              <a:spcBef>
                <a:spcPts val="630"/>
              </a:spcBef>
              <a:spcAft>
                <a:spcPts val="0"/>
              </a:spcAft>
              <a:buSzPts val="144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34" name="Shape 34"/>
        <p:cNvGrpSpPr/>
        <p:nvPr/>
      </p:nvGrpSpPr>
      <p:grpSpPr>
        <a:xfrm>
          <a:off x="0" y="0"/>
          <a:ext cx="0" cy="0"/>
          <a:chOff x="0" y="0"/>
          <a:chExt cx="0" cy="0"/>
        </a:xfrm>
      </p:grpSpPr>
      <p:sp>
        <p:nvSpPr>
          <p:cNvPr id="35" name="Google Shape;35;p176"/>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36" name="Google Shape;36;p176"/>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37" name="Google Shape;37;p176"/>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Clr>
                <a:srgbClr val="000000"/>
              </a:buClr>
              <a:buSzPts val="1800"/>
              <a:buFont typeface="Calibri"/>
              <a:buNone/>
              <a:defRPr b="0" i="0" sz="1800" u="none" cap="none" strike="noStrike">
                <a:solidFill>
                  <a:srgbClr val="000000"/>
                </a:solidFill>
                <a:latin typeface="Calibri"/>
                <a:ea typeface="Calibri"/>
                <a:cs typeface="Calibri"/>
                <a:sym typeface="Calibri"/>
              </a:defRPr>
            </a:lvl1pPr>
            <a:lvl2pPr indent="0" lvl="1" marL="0" marR="0" rtl="0" algn="l">
              <a:spcBef>
                <a:spcPts val="0"/>
              </a:spcBef>
              <a:spcAft>
                <a:spcPts val="0"/>
              </a:spcAft>
              <a:buClr>
                <a:srgbClr val="000000"/>
              </a:buClr>
              <a:buSzPts val="1800"/>
              <a:buFont typeface="Calibri"/>
              <a:buNone/>
              <a:defRPr b="0" i="0" sz="1800" u="none" cap="none" strike="noStrike">
                <a:solidFill>
                  <a:srgbClr val="000000"/>
                </a:solidFill>
                <a:latin typeface="Calibri"/>
                <a:ea typeface="Calibri"/>
                <a:cs typeface="Calibri"/>
                <a:sym typeface="Calibri"/>
              </a:defRPr>
            </a:lvl2pPr>
            <a:lvl3pPr indent="0" lvl="2" marL="0" marR="0" rtl="0" algn="l">
              <a:spcBef>
                <a:spcPts val="0"/>
              </a:spcBef>
              <a:spcAft>
                <a:spcPts val="0"/>
              </a:spcAft>
              <a:buClr>
                <a:srgbClr val="000000"/>
              </a:buClr>
              <a:buSzPts val="1800"/>
              <a:buFont typeface="Calibri"/>
              <a:buNone/>
              <a:defRPr b="0" i="0" sz="1800" u="none" cap="none" strike="noStrike">
                <a:solidFill>
                  <a:srgbClr val="000000"/>
                </a:solidFill>
                <a:latin typeface="Calibri"/>
                <a:ea typeface="Calibri"/>
                <a:cs typeface="Calibri"/>
                <a:sym typeface="Calibri"/>
              </a:defRPr>
            </a:lvl3pPr>
            <a:lvl4pPr indent="0" lvl="3" marL="0" marR="0" rtl="0" algn="l">
              <a:spcBef>
                <a:spcPts val="0"/>
              </a:spcBef>
              <a:spcAft>
                <a:spcPts val="0"/>
              </a:spcAft>
              <a:buClr>
                <a:srgbClr val="000000"/>
              </a:buClr>
              <a:buSzPts val="1800"/>
              <a:buFont typeface="Calibri"/>
              <a:buNone/>
              <a:defRPr b="0" i="0" sz="1800" u="none" cap="none" strike="noStrike">
                <a:solidFill>
                  <a:srgbClr val="000000"/>
                </a:solidFill>
                <a:latin typeface="Calibri"/>
                <a:ea typeface="Calibri"/>
                <a:cs typeface="Calibri"/>
                <a:sym typeface="Calibri"/>
              </a:defRPr>
            </a:lvl4pPr>
            <a:lvl5pPr indent="0" lvl="4" marL="0" marR="0" rtl="0" algn="l">
              <a:spcBef>
                <a:spcPts val="0"/>
              </a:spcBef>
              <a:spcAft>
                <a:spcPts val="0"/>
              </a:spcAft>
              <a:buClr>
                <a:srgbClr val="000000"/>
              </a:buClr>
              <a:buSzPts val="1800"/>
              <a:buFont typeface="Calibri"/>
              <a:buNone/>
              <a:defRPr b="0" i="0" sz="1800" u="none" cap="none" strike="noStrike">
                <a:solidFill>
                  <a:srgbClr val="000000"/>
                </a:solidFill>
                <a:latin typeface="Calibri"/>
                <a:ea typeface="Calibri"/>
                <a:cs typeface="Calibri"/>
                <a:sym typeface="Calibri"/>
              </a:defRPr>
            </a:lvl5pPr>
            <a:lvl6pPr indent="0" lvl="5" marL="0" marR="0" rtl="0" algn="l">
              <a:spcBef>
                <a:spcPts val="0"/>
              </a:spcBef>
              <a:spcAft>
                <a:spcPts val="0"/>
              </a:spcAft>
              <a:buClr>
                <a:srgbClr val="000000"/>
              </a:buClr>
              <a:buSzPts val="1800"/>
              <a:buFont typeface="Calibri"/>
              <a:buNone/>
              <a:defRPr b="0" i="0" sz="1800" u="none" cap="none" strike="noStrike">
                <a:solidFill>
                  <a:srgbClr val="000000"/>
                </a:solidFill>
                <a:latin typeface="Calibri"/>
                <a:ea typeface="Calibri"/>
                <a:cs typeface="Calibri"/>
                <a:sym typeface="Calibri"/>
              </a:defRPr>
            </a:lvl6pPr>
            <a:lvl7pPr indent="0" lvl="6" marL="0" marR="0" rtl="0" algn="l">
              <a:spcBef>
                <a:spcPts val="0"/>
              </a:spcBef>
              <a:spcAft>
                <a:spcPts val="0"/>
              </a:spcAft>
              <a:buClr>
                <a:srgbClr val="000000"/>
              </a:buClr>
              <a:buSzPts val="1800"/>
              <a:buFont typeface="Calibri"/>
              <a:buNone/>
              <a:defRPr b="0" i="0" sz="1800" u="none" cap="none" strike="noStrike">
                <a:solidFill>
                  <a:srgbClr val="000000"/>
                </a:solidFill>
                <a:latin typeface="Calibri"/>
                <a:ea typeface="Calibri"/>
                <a:cs typeface="Calibri"/>
                <a:sym typeface="Calibri"/>
              </a:defRPr>
            </a:lvl7pPr>
            <a:lvl8pPr indent="0" lvl="7" marL="0" marR="0" rtl="0" algn="l">
              <a:spcBef>
                <a:spcPts val="0"/>
              </a:spcBef>
              <a:spcAft>
                <a:spcPts val="0"/>
              </a:spcAft>
              <a:buClr>
                <a:srgbClr val="000000"/>
              </a:buClr>
              <a:buSzPts val="1800"/>
              <a:buFont typeface="Calibri"/>
              <a:buNone/>
              <a:defRPr b="0" i="0" sz="1800" u="none" cap="none" strike="noStrike">
                <a:solidFill>
                  <a:srgbClr val="000000"/>
                </a:solidFill>
                <a:latin typeface="Calibri"/>
                <a:ea typeface="Calibri"/>
                <a:cs typeface="Calibri"/>
                <a:sym typeface="Calibri"/>
              </a:defRPr>
            </a:lvl8pPr>
            <a:lvl9pPr indent="0" lvl="8" marL="0" marR="0" rtl="0" algn="l">
              <a:spcBef>
                <a:spcPts val="0"/>
              </a:spcBef>
              <a:spcAft>
                <a:spcPts val="0"/>
              </a:spcAft>
              <a:buClr>
                <a:srgbClr val="000000"/>
              </a:buClr>
              <a:buSzPts val="1800"/>
              <a:buFont typeface="Calibri"/>
              <a:buNone/>
              <a:defRPr b="0" i="0" sz="18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38" name="Google Shape;38;p17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0"/>
              </a:spcBef>
              <a:spcAft>
                <a:spcPts val="0"/>
              </a:spcAft>
              <a:buClr>
                <a:srgbClr val="930B0B"/>
              </a:buClr>
              <a:buSzPts val="3600"/>
              <a:buFont typeface="Times New Roman"/>
              <a:buNone/>
              <a:defRPr b="0" i="0" sz="3600" u="none" cap="none" strike="noStrike">
                <a:solidFill>
                  <a:srgbClr val="930B0B"/>
                </a:solidFill>
                <a:latin typeface="Times New Roman"/>
                <a:ea typeface="Times New Roman"/>
                <a:cs typeface="Times New Roman"/>
                <a:sym typeface="Times New Roman"/>
              </a:defRPr>
            </a:lvl1pPr>
            <a:lvl2pPr lvl="1" algn="ctr">
              <a:spcBef>
                <a:spcPts val="0"/>
              </a:spcBef>
              <a:spcAft>
                <a:spcPts val="0"/>
              </a:spcAft>
              <a:buClr>
                <a:srgbClr val="006699"/>
              </a:buClr>
              <a:buSzPts val="1400"/>
              <a:buFont typeface="Arial"/>
              <a:buNone/>
              <a:defRPr sz="1800"/>
            </a:lvl2pPr>
            <a:lvl3pPr lvl="2" algn="ctr">
              <a:spcBef>
                <a:spcPts val="0"/>
              </a:spcBef>
              <a:spcAft>
                <a:spcPts val="0"/>
              </a:spcAft>
              <a:buClr>
                <a:srgbClr val="006699"/>
              </a:buClr>
              <a:buSzPts val="1400"/>
              <a:buFont typeface="Arial"/>
              <a:buNone/>
              <a:defRPr sz="1800"/>
            </a:lvl3pPr>
            <a:lvl4pPr lvl="3" algn="ctr">
              <a:spcBef>
                <a:spcPts val="0"/>
              </a:spcBef>
              <a:spcAft>
                <a:spcPts val="0"/>
              </a:spcAft>
              <a:buClr>
                <a:srgbClr val="006699"/>
              </a:buClr>
              <a:buSzPts val="1400"/>
              <a:buFont typeface="Arial"/>
              <a:buNone/>
              <a:defRPr sz="1800"/>
            </a:lvl4pPr>
            <a:lvl5pPr lvl="4" algn="ctr">
              <a:spcBef>
                <a:spcPts val="0"/>
              </a:spcBef>
              <a:spcAft>
                <a:spcPts val="0"/>
              </a:spcAft>
              <a:buClr>
                <a:srgbClr val="006699"/>
              </a:buClr>
              <a:buSzPts val="1400"/>
              <a:buFont typeface="Arial"/>
              <a:buNone/>
              <a:defRPr sz="1800"/>
            </a:lvl5pPr>
            <a:lvl6pPr lvl="5" algn="ctr">
              <a:spcBef>
                <a:spcPts val="0"/>
              </a:spcBef>
              <a:spcAft>
                <a:spcPts val="0"/>
              </a:spcAft>
              <a:buClr>
                <a:srgbClr val="006699"/>
              </a:buClr>
              <a:buSzPts val="1400"/>
              <a:buFont typeface="Arial"/>
              <a:buNone/>
              <a:defRPr sz="1800"/>
            </a:lvl6pPr>
            <a:lvl7pPr lvl="6" algn="ctr">
              <a:spcBef>
                <a:spcPts val="0"/>
              </a:spcBef>
              <a:spcAft>
                <a:spcPts val="0"/>
              </a:spcAft>
              <a:buClr>
                <a:srgbClr val="006699"/>
              </a:buClr>
              <a:buSzPts val="1400"/>
              <a:buFont typeface="Arial"/>
              <a:buNone/>
              <a:defRPr sz="1800"/>
            </a:lvl7pPr>
            <a:lvl8pPr lvl="7" algn="ctr">
              <a:spcBef>
                <a:spcPts val="0"/>
              </a:spcBef>
              <a:spcAft>
                <a:spcPts val="0"/>
              </a:spcAft>
              <a:buClr>
                <a:srgbClr val="006699"/>
              </a:buClr>
              <a:buSzPts val="1400"/>
              <a:buFont typeface="Arial"/>
              <a:buNone/>
              <a:defRPr sz="1800"/>
            </a:lvl8pPr>
            <a:lvl9pPr lvl="8" algn="ctr">
              <a:spcBef>
                <a:spcPts val="0"/>
              </a:spcBef>
              <a:spcAft>
                <a:spcPts val="0"/>
              </a:spcAft>
              <a:buClr>
                <a:srgbClr val="006699"/>
              </a:buClr>
              <a:buSzPts val="1400"/>
              <a:buFont typeface="Arial"/>
              <a:buNone/>
              <a:defRPr sz="1800"/>
            </a:lvl9pPr>
          </a:lstStyle>
          <a:p/>
        </p:txBody>
      </p:sp>
      <p:sp>
        <p:nvSpPr>
          <p:cNvPr id="39" name="Google Shape;39;p176"/>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algn="l">
              <a:lnSpc>
                <a:spcPct val="90000"/>
              </a:lnSpc>
              <a:spcBef>
                <a:spcPts val="500"/>
              </a:spcBef>
              <a:spcAft>
                <a:spcPts val="0"/>
              </a:spcAft>
              <a:buClr>
                <a:schemeClr val="dk1"/>
              </a:buClr>
              <a:buSzPts val="240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55600" lvl="2" marL="1371600" marR="0" algn="l">
              <a:lnSpc>
                <a:spcPct val="90000"/>
              </a:lnSpc>
              <a:spcBef>
                <a:spcPts val="500"/>
              </a:spcBef>
              <a:spcAft>
                <a:spcPts val="0"/>
              </a:spcAft>
              <a:buClr>
                <a:schemeClr val="dk1"/>
              </a:buClr>
              <a:buSzPts val="2000"/>
              <a:buFont typeface="Calibri"/>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17500" lvl="4" marL="2286000"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177"/>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sp>
        <p:nvSpPr>
          <p:cNvPr id="43" name="Google Shape;43;p17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17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700"/>
              </a:spcBef>
              <a:spcAft>
                <a:spcPts val="0"/>
              </a:spcAft>
              <a:buSzPts val="1800"/>
              <a:buNone/>
              <a:defRPr sz="2000"/>
            </a:lvl1pPr>
            <a:lvl2pPr indent="-228600" lvl="1" marL="914400" algn="l">
              <a:spcBef>
                <a:spcPts val="630"/>
              </a:spcBef>
              <a:spcAft>
                <a:spcPts val="0"/>
              </a:spcAft>
              <a:buSzPts val="1440"/>
              <a:buNone/>
              <a:defRPr sz="1800"/>
            </a:lvl2pPr>
            <a:lvl3pPr indent="-228600" lvl="2" marL="1371600" algn="l">
              <a:spcBef>
                <a:spcPts val="560"/>
              </a:spcBef>
              <a:spcAft>
                <a:spcPts val="0"/>
              </a:spcAft>
              <a:buSzPts val="1200"/>
              <a:buNone/>
              <a:defRPr sz="1600"/>
            </a:lvl3pPr>
            <a:lvl4pPr indent="-228600" lvl="3" marL="1828800" algn="l">
              <a:spcBef>
                <a:spcPts val="490"/>
              </a:spcBef>
              <a:spcAft>
                <a:spcPts val="0"/>
              </a:spcAft>
              <a:buSzPts val="1050"/>
              <a:buFont typeface="Helvetica Neue"/>
              <a:buNone/>
              <a:defRPr sz="1400"/>
            </a:lvl4pPr>
            <a:lvl5pPr indent="-228600" lvl="4" marL="2286000" algn="l">
              <a:spcBef>
                <a:spcPts val="490"/>
              </a:spcBef>
              <a:spcAft>
                <a:spcPts val="0"/>
              </a:spcAft>
              <a:buSzPts val="1050"/>
              <a:buFont typeface="Helvetica Neue"/>
              <a:buNone/>
              <a:defRPr sz="1400"/>
            </a:lvl5pPr>
            <a:lvl6pPr indent="-228600" lvl="5" marL="2743200" algn="l">
              <a:spcBef>
                <a:spcPts val="490"/>
              </a:spcBef>
              <a:spcAft>
                <a:spcPts val="0"/>
              </a:spcAft>
              <a:buSzPts val="1050"/>
              <a:buFont typeface="Helvetica Neue"/>
              <a:buNone/>
              <a:defRPr sz="1400"/>
            </a:lvl6pPr>
            <a:lvl7pPr indent="-228600" lvl="6" marL="3200400" algn="l">
              <a:spcBef>
                <a:spcPts val="490"/>
              </a:spcBef>
              <a:spcAft>
                <a:spcPts val="0"/>
              </a:spcAft>
              <a:buSzPts val="1050"/>
              <a:buFont typeface="Helvetica Neue"/>
              <a:buNone/>
              <a:defRPr sz="1400"/>
            </a:lvl7pPr>
            <a:lvl8pPr indent="-228600" lvl="7" marL="3657600" algn="l">
              <a:spcBef>
                <a:spcPts val="490"/>
              </a:spcBef>
              <a:spcAft>
                <a:spcPts val="0"/>
              </a:spcAft>
              <a:buSzPts val="1050"/>
              <a:buFont typeface="Helvetica Neue"/>
              <a:buNone/>
              <a:defRPr sz="1400"/>
            </a:lvl8pPr>
            <a:lvl9pPr indent="-228600" lvl="8" marL="4114800" algn="l">
              <a:spcBef>
                <a:spcPts val="490"/>
              </a:spcBef>
              <a:spcAft>
                <a:spcPts val="0"/>
              </a:spcAft>
              <a:buSzPts val="1050"/>
              <a:buFont typeface="Helvetica Neue"/>
              <a:buNone/>
              <a:defRPr sz="14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179"/>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 name="Google Shape;47;p179"/>
          <p:cNvSpPr txBox="1"/>
          <p:nvPr>
            <p:ph idx="1" type="body"/>
          </p:nvPr>
        </p:nvSpPr>
        <p:spPr>
          <a:xfrm>
            <a:off x="806450" y="1233488"/>
            <a:ext cx="4038600" cy="4530725"/>
          </a:xfrm>
          <a:prstGeom prst="rect">
            <a:avLst/>
          </a:prstGeom>
          <a:noFill/>
          <a:ln>
            <a:noFill/>
          </a:ln>
        </p:spPr>
        <p:txBody>
          <a:bodyPr anchorCtr="0" anchor="t" bIns="45700" lIns="91425" spcFirstLastPara="1" rIns="91425" wrap="square" tIns="45700">
            <a:noAutofit/>
          </a:bodyPr>
          <a:lstStyle>
            <a:lvl1pPr indent="-388620" lvl="0" marL="457200" algn="l">
              <a:spcBef>
                <a:spcPts val="980"/>
              </a:spcBef>
              <a:spcAft>
                <a:spcPts val="0"/>
              </a:spcAft>
              <a:buSzPts val="2520"/>
              <a:buChar char="●"/>
              <a:defRPr sz="2800"/>
            </a:lvl1pPr>
            <a:lvl2pPr indent="-350519" lvl="1" marL="914400" algn="l">
              <a:spcBef>
                <a:spcPts val="840"/>
              </a:spcBef>
              <a:spcAft>
                <a:spcPts val="0"/>
              </a:spcAft>
              <a:buSzPts val="192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
        <p:nvSpPr>
          <p:cNvPr id="48" name="Google Shape;48;p179"/>
          <p:cNvSpPr txBox="1"/>
          <p:nvPr>
            <p:ph idx="2" type="body"/>
          </p:nvPr>
        </p:nvSpPr>
        <p:spPr>
          <a:xfrm>
            <a:off x="4997450" y="1233488"/>
            <a:ext cx="4038600" cy="4530725"/>
          </a:xfrm>
          <a:prstGeom prst="rect">
            <a:avLst/>
          </a:prstGeom>
          <a:noFill/>
          <a:ln>
            <a:noFill/>
          </a:ln>
        </p:spPr>
        <p:txBody>
          <a:bodyPr anchorCtr="0" anchor="t" bIns="45700" lIns="91425" spcFirstLastPara="1" rIns="91425" wrap="square" tIns="45700">
            <a:noAutofit/>
          </a:bodyPr>
          <a:lstStyle>
            <a:lvl1pPr indent="-388620" lvl="0" marL="457200" algn="l">
              <a:spcBef>
                <a:spcPts val="980"/>
              </a:spcBef>
              <a:spcAft>
                <a:spcPts val="0"/>
              </a:spcAft>
              <a:buSzPts val="2520"/>
              <a:buChar char="●"/>
              <a:defRPr sz="2800"/>
            </a:lvl1pPr>
            <a:lvl2pPr indent="-350519" lvl="1" marL="914400" algn="l">
              <a:spcBef>
                <a:spcPts val="840"/>
              </a:spcBef>
              <a:spcAft>
                <a:spcPts val="0"/>
              </a:spcAft>
              <a:buSzPts val="192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180"/>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18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160"/>
              <a:buNone/>
              <a:defRPr b="1" sz="2400"/>
            </a:lvl1pPr>
            <a:lvl2pPr indent="-228600" lvl="1" marL="914400" algn="l">
              <a:spcBef>
                <a:spcPts val="700"/>
              </a:spcBef>
              <a:spcAft>
                <a:spcPts val="0"/>
              </a:spcAft>
              <a:buSzPts val="16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52" name="Google Shape;52;p18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65760" lvl="0" marL="457200" algn="l">
              <a:spcBef>
                <a:spcPts val="840"/>
              </a:spcBef>
              <a:spcAft>
                <a:spcPts val="0"/>
              </a:spcAft>
              <a:buSzPts val="2160"/>
              <a:buChar char="●"/>
              <a:defRPr sz="2400"/>
            </a:lvl1pPr>
            <a:lvl2pPr indent="-330200" lvl="1" marL="914400" algn="l">
              <a:spcBef>
                <a:spcPts val="700"/>
              </a:spcBef>
              <a:spcAft>
                <a:spcPts val="0"/>
              </a:spcAft>
              <a:buSzPts val="16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
        <p:nvSpPr>
          <p:cNvPr id="53" name="Google Shape;53;p18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160"/>
              <a:buNone/>
              <a:defRPr b="1" sz="2400"/>
            </a:lvl1pPr>
            <a:lvl2pPr indent="-228600" lvl="1" marL="914400" algn="l">
              <a:spcBef>
                <a:spcPts val="700"/>
              </a:spcBef>
              <a:spcAft>
                <a:spcPts val="0"/>
              </a:spcAft>
              <a:buSzPts val="16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54" name="Google Shape;54;p18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65760" lvl="0" marL="457200" algn="l">
              <a:spcBef>
                <a:spcPts val="840"/>
              </a:spcBef>
              <a:spcAft>
                <a:spcPts val="0"/>
              </a:spcAft>
              <a:buSzPts val="2160"/>
              <a:buChar char="●"/>
              <a:defRPr sz="2400"/>
            </a:lvl1pPr>
            <a:lvl2pPr indent="-330200" lvl="1" marL="914400" algn="l">
              <a:spcBef>
                <a:spcPts val="700"/>
              </a:spcBef>
              <a:spcAft>
                <a:spcPts val="0"/>
              </a:spcAft>
              <a:buSzPts val="16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18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18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11480" lvl="0" marL="457200" algn="l">
              <a:spcBef>
                <a:spcPts val="1120"/>
              </a:spcBef>
              <a:spcAft>
                <a:spcPts val="0"/>
              </a:spcAft>
              <a:buSzPts val="2880"/>
              <a:buChar char="●"/>
              <a:defRPr sz="3200"/>
            </a:lvl1pPr>
            <a:lvl2pPr indent="-370840" lvl="1" marL="914400" algn="l">
              <a:spcBef>
                <a:spcPts val="980"/>
              </a:spcBef>
              <a:spcAft>
                <a:spcPts val="0"/>
              </a:spcAft>
              <a:buSzPts val="2240"/>
              <a:buChar char="●"/>
              <a:defRPr sz="2800"/>
            </a:lvl2pPr>
            <a:lvl3pPr indent="-342900" lvl="2" marL="1371600" algn="l">
              <a:spcBef>
                <a:spcPts val="840"/>
              </a:spcBef>
              <a:spcAft>
                <a:spcPts val="0"/>
              </a:spcAft>
              <a:buSzPts val="1800"/>
              <a:buChar char="4"/>
              <a:defRPr sz="2400"/>
            </a:lvl3pPr>
            <a:lvl4pPr indent="-323850" lvl="3" marL="1828800" algn="l">
              <a:spcBef>
                <a:spcPts val="700"/>
              </a:spcBef>
              <a:spcAft>
                <a:spcPts val="0"/>
              </a:spcAft>
              <a:buSzPts val="1500"/>
              <a:buFont typeface="Helvetica Neue"/>
              <a:buChar char="–"/>
              <a:defRPr sz="2000"/>
            </a:lvl4pPr>
            <a:lvl5pPr indent="-323850" lvl="4" marL="2286000" algn="l">
              <a:spcBef>
                <a:spcPts val="700"/>
              </a:spcBef>
              <a:spcAft>
                <a:spcPts val="0"/>
              </a:spcAft>
              <a:buSzPts val="1500"/>
              <a:buFont typeface="Helvetica Neue"/>
              <a:buChar char="»"/>
              <a:defRPr sz="2000"/>
            </a:lvl5pPr>
            <a:lvl6pPr indent="-323850" lvl="5" marL="2743200" algn="l">
              <a:spcBef>
                <a:spcPts val="700"/>
              </a:spcBef>
              <a:spcAft>
                <a:spcPts val="0"/>
              </a:spcAft>
              <a:buSzPts val="1500"/>
              <a:buFont typeface="Helvetica Neue"/>
              <a:buChar char="»"/>
              <a:defRPr sz="2000"/>
            </a:lvl6pPr>
            <a:lvl7pPr indent="-323850" lvl="6" marL="3200400" algn="l">
              <a:spcBef>
                <a:spcPts val="700"/>
              </a:spcBef>
              <a:spcAft>
                <a:spcPts val="0"/>
              </a:spcAft>
              <a:buSzPts val="1500"/>
              <a:buFont typeface="Helvetica Neue"/>
              <a:buChar char="»"/>
              <a:defRPr sz="2000"/>
            </a:lvl7pPr>
            <a:lvl8pPr indent="-323850" lvl="7" marL="3657600" algn="l">
              <a:spcBef>
                <a:spcPts val="700"/>
              </a:spcBef>
              <a:spcAft>
                <a:spcPts val="0"/>
              </a:spcAft>
              <a:buSzPts val="1500"/>
              <a:buFont typeface="Helvetica Neue"/>
              <a:buChar char="»"/>
              <a:defRPr sz="2000"/>
            </a:lvl8pPr>
            <a:lvl9pPr indent="-323850" lvl="8" marL="4114800" algn="l">
              <a:spcBef>
                <a:spcPts val="700"/>
              </a:spcBef>
              <a:spcAft>
                <a:spcPts val="0"/>
              </a:spcAft>
              <a:buSzPts val="1500"/>
              <a:buFont typeface="Helvetica Neue"/>
              <a:buChar char="»"/>
              <a:defRPr sz="2000"/>
            </a:lvl9pPr>
          </a:lstStyle>
          <a:p/>
        </p:txBody>
      </p:sp>
      <p:sp>
        <p:nvSpPr>
          <p:cNvPr id="59" name="Google Shape;59;p18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260"/>
              <a:buNone/>
              <a:defRPr sz="1400"/>
            </a:lvl1pPr>
            <a:lvl2pPr indent="-228600" lvl="1" marL="914400" algn="l">
              <a:spcBef>
                <a:spcPts val="420"/>
              </a:spcBef>
              <a:spcAft>
                <a:spcPts val="0"/>
              </a:spcAft>
              <a:buSzPts val="96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0" name="Shape 60"/>
        <p:cNvGrpSpPr/>
        <p:nvPr/>
      </p:nvGrpSpPr>
      <p:grpSpPr>
        <a:xfrm>
          <a:off x="0" y="0"/>
          <a:ext cx="0" cy="0"/>
          <a:chOff x="0" y="0"/>
          <a:chExt cx="0" cy="0"/>
        </a:xfrm>
      </p:grpSpPr>
      <p:sp>
        <p:nvSpPr>
          <p:cNvPr id="61" name="Google Shape;61;p18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2" name="Google Shape;62;p183"/>
          <p:cNvSpPr/>
          <p:nvPr>
            <p:ph idx="2" type="pic"/>
          </p:nvPr>
        </p:nvSpPr>
        <p:spPr>
          <a:xfrm>
            <a:off x="1792288" y="612775"/>
            <a:ext cx="5486400" cy="4114800"/>
          </a:xfrm>
          <a:prstGeom prst="rect">
            <a:avLst/>
          </a:prstGeom>
          <a:noFill/>
          <a:ln>
            <a:noFill/>
          </a:ln>
        </p:spPr>
      </p:sp>
      <p:sp>
        <p:nvSpPr>
          <p:cNvPr id="63" name="Google Shape;63;p18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260"/>
              <a:buNone/>
              <a:defRPr sz="1400"/>
            </a:lvl1pPr>
            <a:lvl2pPr indent="-228600" lvl="1" marL="914400" algn="l">
              <a:spcBef>
                <a:spcPts val="420"/>
              </a:spcBef>
              <a:spcAft>
                <a:spcPts val="0"/>
              </a:spcAft>
              <a:buSzPts val="96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84"/>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184"/>
          <p:cNvSpPr txBox="1"/>
          <p:nvPr>
            <p:ph idx="1" type="body"/>
          </p:nvPr>
        </p:nvSpPr>
        <p:spPr>
          <a:xfrm rot="5400000">
            <a:off x="2655888" y="-615950"/>
            <a:ext cx="4530725" cy="8229600"/>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20040" lvl="1" marL="914400" algn="l">
              <a:spcBef>
                <a:spcPts val="630"/>
              </a:spcBef>
              <a:spcAft>
                <a:spcPts val="0"/>
              </a:spcAft>
              <a:buSzPts val="144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7" name="Shape 67"/>
        <p:cNvGrpSpPr/>
        <p:nvPr/>
      </p:nvGrpSpPr>
      <p:grpSpPr>
        <a:xfrm>
          <a:off x="0" y="0"/>
          <a:ext cx="0" cy="0"/>
          <a:chOff x="0" y="0"/>
          <a:chExt cx="0" cy="0"/>
        </a:xfrm>
      </p:grpSpPr>
      <p:sp>
        <p:nvSpPr>
          <p:cNvPr id="68" name="Google Shape;68;p185"/>
          <p:cNvSpPr txBox="1"/>
          <p:nvPr>
            <p:ph type="title"/>
          </p:nvPr>
        </p:nvSpPr>
        <p:spPr>
          <a:xfrm rot="5400000">
            <a:off x="5220494" y="1948657"/>
            <a:ext cx="5486400" cy="214471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9" name="Google Shape;69;p185"/>
          <p:cNvSpPr txBox="1"/>
          <p:nvPr>
            <p:ph idx="1" type="body"/>
          </p:nvPr>
        </p:nvSpPr>
        <p:spPr>
          <a:xfrm rot="5400000">
            <a:off x="854869" y="-119856"/>
            <a:ext cx="5486400" cy="6281738"/>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20040" lvl="1" marL="914400" algn="l">
              <a:spcBef>
                <a:spcPts val="630"/>
              </a:spcBef>
              <a:spcAft>
                <a:spcPts val="0"/>
              </a:spcAft>
              <a:buSzPts val="144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36.jpg"/><Relationship Id="rId2" Type="http://schemas.openxmlformats.org/officeDocument/2006/relationships/image" Target="../media/image26.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dino_3" id="10" name="Google Shape;10;p173"/>
          <p:cNvPicPr preferRelativeResize="0"/>
          <p:nvPr/>
        </p:nvPicPr>
        <p:blipFill rotWithShape="1">
          <a:blip r:embed="rId1">
            <a:alphaModFix/>
          </a:blip>
          <a:srcRect b="0" l="0" r="0" t="0"/>
          <a:stretch/>
        </p:blipFill>
        <p:spPr>
          <a:xfrm>
            <a:off x="285750" y="0"/>
            <a:ext cx="1195388" cy="908050"/>
          </a:xfrm>
          <a:prstGeom prst="rect">
            <a:avLst/>
          </a:prstGeom>
          <a:noFill/>
          <a:ln>
            <a:noFill/>
          </a:ln>
        </p:spPr>
      </p:pic>
      <p:sp>
        <p:nvSpPr>
          <p:cNvPr id="11" name="Google Shape;11;p173"/>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1pPr>
            <a:lvl2pPr lvl="1"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2pPr>
            <a:lvl3pPr lvl="2"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3pPr>
            <a:lvl4pPr lvl="3"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4pPr>
            <a:lvl5pPr lvl="4"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5pPr>
            <a:lvl6pPr lvl="5"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12" name="Google Shape;12;p173"/>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lvl1pPr indent="-331470" lvl="0" marL="457200" marR="0" rtl="0" algn="l">
              <a:spcBef>
                <a:spcPts val="630"/>
              </a:spcBef>
              <a:spcAft>
                <a:spcPts val="0"/>
              </a:spcAft>
              <a:buClr>
                <a:srgbClr val="993300"/>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rtl="0" algn="l">
              <a:spcBef>
                <a:spcPts val="630"/>
              </a:spcBef>
              <a:spcAft>
                <a:spcPts val="0"/>
              </a:spcAft>
              <a:buClr>
                <a:srgbClr val="CC6600"/>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spcBef>
                <a:spcPts val="630"/>
              </a:spcBef>
              <a:spcAft>
                <a:spcPts val="0"/>
              </a:spcAft>
              <a:buClr>
                <a:srgbClr val="009900"/>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14325" lvl="3" marL="1828800" marR="0" rtl="0" algn="l">
              <a:spcBef>
                <a:spcPts val="630"/>
              </a:spcBef>
              <a:spcAft>
                <a:spcPts val="0"/>
              </a:spcAft>
              <a:buClr>
                <a:schemeClr val="hlink"/>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3" name="Google Shape;13;p173"/>
          <p:cNvSpPr/>
          <p:nvPr/>
        </p:nvSpPr>
        <p:spPr>
          <a:xfrm>
            <a:off x="0" y="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4" name="Google Shape;14;p173"/>
          <p:cNvCxnSpPr/>
          <p:nvPr/>
        </p:nvCxnSpPr>
        <p:spPr>
          <a:xfrm>
            <a:off x="457200" y="860425"/>
            <a:ext cx="8077200" cy="0"/>
          </a:xfrm>
          <a:prstGeom prst="straightConnector1">
            <a:avLst/>
          </a:prstGeom>
          <a:noFill/>
          <a:ln cap="flat" cmpd="sng" w="19050">
            <a:solidFill>
              <a:srgbClr val="336699"/>
            </a:solidFill>
            <a:prstDash val="solid"/>
            <a:round/>
            <a:headEnd len="med" w="med" type="none"/>
            <a:tailEnd len="med" w="med" type="none"/>
          </a:ln>
        </p:spPr>
      </p:cxnSp>
      <p:sp>
        <p:nvSpPr>
          <p:cNvPr id="15" name="Google Shape;15;p173"/>
          <p:cNvSpPr/>
          <p:nvPr/>
        </p:nvSpPr>
        <p:spPr>
          <a:xfrm>
            <a:off x="0" y="2286000"/>
            <a:ext cx="228600" cy="2286000"/>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 name="Google Shape;16;p173"/>
          <p:cNvSpPr/>
          <p:nvPr/>
        </p:nvSpPr>
        <p:spPr>
          <a:xfrm>
            <a:off x="0" y="457200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7" name="Google Shape;17;p173"/>
          <p:cNvSpPr txBox="1"/>
          <p:nvPr/>
        </p:nvSpPr>
        <p:spPr>
          <a:xfrm>
            <a:off x="4256088" y="6613525"/>
            <a:ext cx="447675" cy="2460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8.</a:t>
            </a:r>
            <a:fld id="{00000000-1234-1234-1234-123412341234}" type="slidenum">
              <a:rPr b="1" i="0" lang="en-US" sz="1000" u="none" cap="none" strike="noStrike">
                <a:solidFill>
                  <a:srgbClr val="006699"/>
                </a:solidFill>
                <a:latin typeface="Helvetica Neue"/>
                <a:ea typeface="Helvetica Neue"/>
                <a:cs typeface="Helvetica Neue"/>
                <a:sym typeface="Helvetica Neue"/>
              </a:rPr>
              <a:t>‹#›</a:t>
            </a:fld>
            <a:endParaRPr b="1" i="0" sz="1000" u="none" cap="none" strike="noStrike">
              <a:solidFill>
                <a:srgbClr val="006699"/>
              </a:solidFill>
              <a:latin typeface="Helvetica Neue"/>
              <a:ea typeface="Helvetica Neue"/>
              <a:cs typeface="Helvetica Neue"/>
              <a:sym typeface="Helvetica Neue"/>
            </a:endParaRPr>
          </a:p>
        </p:txBody>
      </p:sp>
      <p:sp>
        <p:nvSpPr>
          <p:cNvPr id="18" name="Google Shape;18;p173"/>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Silberschatz, Galvin and Gagne ©2013</a:t>
            </a:r>
            <a:endParaRPr/>
          </a:p>
        </p:txBody>
      </p:sp>
      <p:sp>
        <p:nvSpPr>
          <p:cNvPr id="19" name="Google Shape;19;p173"/>
          <p:cNvSpPr txBox="1"/>
          <p:nvPr/>
        </p:nvSpPr>
        <p:spPr>
          <a:xfrm>
            <a:off x="185738" y="6621463"/>
            <a:ext cx="2638425" cy="244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Operating System Concepts – 9</a:t>
            </a:r>
            <a:r>
              <a:rPr b="1" baseline="30000" i="0" lang="en-US" sz="1000" u="none" cap="none" strike="noStrike">
                <a:solidFill>
                  <a:srgbClr val="006699"/>
                </a:solidFill>
                <a:latin typeface="Helvetica Neue"/>
                <a:ea typeface="Helvetica Neue"/>
                <a:cs typeface="Helvetica Neue"/>
                <a:sym typeface="Helvetica Neue"/>
              </a:rPr>
              <a:t>th</a:t>
            </a:r>
            <a:r>
              <a:rPr b="1" i="0" lang="en-US" sz="1000" u="none" cap="none" strike="noStrike">
                <a:solidFill>
                  <a:srgbClr val="006699"/>
                </a:solidFill>
                <a:latin typeface="Helvetica Neue"/>
                <a:ea typeface="Helvetica Neue"/>
                <a:cs typeface="Helvetica Neue"/>
                <a:sym typeface="Helvetica Neue"/>
              </a:rPr>
              <a:t> Edition</a:t>
            </a:r>
            <a:endParaRPr/>
          </a:p>
        </p:txBody>
      </p:sp>
      <p:pic>
        <p:nvPicPr>
          <p:cNvPr descr="dino_6" id="20" name="Google Shape;20;p173"/>
          <p:cNvPicPr preferRelativeResize="0"/>
          <p:nvPr/>
        </p:nvPicPr>
        <p:blipFill rotWithShape="1">
          <a:blip r:embed="rId2">
            <a:alphaModFix/>
          </a:blip>
          <a:srcRect b="0" l="0" r="0" t="0"/>
          <a:stretch/>
        </p:blipFill>
        <p:spPr>
          <a:xfrm>
            <a:off x="7773988" y="5849938"/>
            <a:ext cx="1284287" cy="7921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7.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17.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comments" Target="../comments/commen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0.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0.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2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1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2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comments" Target="../comments/commen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2.xml"/><Relationship Id="rId3" Type="http://schemas.openxmlformats.org/officeDocument/2006/relationships/image" Target="../media/image19.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 Id="rId3" Type="http://schemas.openxmlformats.org/officeDocument/2006/relationships/image" Target="../media/image2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20.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2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7.xml"/><Relationship Id="rId3" Type="http://schemas.openxmlformats.org/officeDocument/2006/relationships/image" Target="../media/image16.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8.xml"/><Relationship Id="rId3" Type="http://schemas.openxmlformats.org/officeDocument/2006/relationships/image" Target="../media/image16.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2.xml"/><Relationship Id="rId3" Type="http://schemas.openxmlformats.org/officeDocument/2006/relationships/image" Target="../media/image3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3.xml"/><Relationship Id="rId3" Type="http://schemas.openxmlformats.org/officeDocument/2006/relationships/image" Target="../media/image3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4.xml"/><Relationship Id="rId3" Type="http://schemas.openxmlformats.org/officeDocument/2006/relationships/image" Target="../media/image3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2.xml"/><Relationship Id="rId3" Type="http://schemas.openxmlformats.org/officeDocument/2006/relationships/image" Target="../media/image2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3.xml"/><Relationship Id="rId3" Type="http://schemas.openxmlformats.org/officeDocument/2006/relationships/image" Target="../media/image2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4.xml"/><Relationship Id="rId3" Type="http://schemas.openxmlformats.org/officeDocument/2006/relationships/image" Target="../media/image2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27.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6.xml"/><Relationship Id="rId3" Type="http://schemas.openxmlformats.org/officeDocument/2006/relationships/image" Target="../media/image23.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5.xml"/><Relationship Id="rId3" Type="http://schemas.openxmlformats.org/officeDocument/2006/relationships/image" Target="../media/image3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image" Target="../media/image46.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9.xml"/><Relationship Id="rId3" Type="http://schemas.openxmlformats.org/officeDocument/2006/relationships/image" Target="../media/image29.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image" Target="../media/image34.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 Id="rId3" Type="http://schemas.openxmlformats.org/officeDocument/2006/relationships/image" Target="../media/image34.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 Id="rId3" Type="http://schemas.openxmlformats.org/officeDocument/2006/relationships/image" Target="../media/image39.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 Id="rId3" Type="http://schemas.openxmlformats.org/officeDocument/2006/relationships/image" Target="../media/image40.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 Id="rId3" Type="http://schemas.openxmlformats.org/officeDocument/2006/relationships/image" Target="../media/image42.png"/><Relationship Id="rId4" Type="http://schemas.openxmlformats.org/officeDocument/2006/relationships/image" Target="../media/image49.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 Id="rId3" Type="http://schemas.openxmlformats.org/officeDocument/2006/relationships/image" Target="../media/image33.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 Id="rId3" Type="http://schemas.openxmlformats.org/officeDocument/2006/relationships/image" Target="../media/image33.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7.xml"/><Relationship Id="rId3" Type="http://schemas.openxmlformats.org/officeDocument/2006/relationships/image" Target="../media/image33.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9.xml"/><Relationship Id="rId3" Type="http://schemas.openxmlformats.org/officeDocument/2006/relationships/image" Target="../media/image53.png"/><Relationship Id="rId4" Type="http://schemas.openxmlformats.org/officeDocument/2006/relationships/image" Target="../media/image44.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0.xml"/><Relationship Id="rId3" Type="http://schemas.openxmlformats.org/officeDocument/2006/relationships/image" Target="../media/image53.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2.xml"/><Relationship Id="rId3" Type="http://schemas.openxmlformats.org/officeDocument/2006/relationships/image" Target="../media/image38.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6.xml"/><Relationship Id="rId3" Type="http://schemas.openxmlformats.org/officeDocument/2006/relationships/image" Target="../media/image41.jp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 Id="rId3" Type="http://schemas.openxmlformats.org/officeDocument/2006/relationships/image" Target="../media/image41.jp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 Id="rId3" Type="http://schemas.openxmlformats.org/officeDocument/2006/relationships/image" Target="../media/image41.jp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 Id="rId3" Type="http://schemas.openxmlformats.org/officeDocument/2006/relationships/image" Target="../media/image41.jp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 Id="rId3" Type="http://schemas.openxmlformats.org/officeDocument/2006/relationships/image" Target="../media/image41.jp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 Id="rId3" Type="http://schemas.openxmlformats.org/officeDocument/2006/relationships/image" Target="../media/image47.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 Id="rId3" Type="http://schemas.openxmlformats.org/officeDocument/2006/relationships/image" Target="../media/image47.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 Id="rId3" Type="http://schemas.openxmlformats.org/officeDocument/2006/relationships/image" Target="../media/image47.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6.xml"/><Relationship Id="rId3" Type="http://schemas.openxmlformats.org/officeDocument/2006/relationships/image" Target="../media/image52.png"/><Relationship Id="rId4" Type="http://schemas.openxmlformats.org/officeDocument/2006/relationships/image" Target="../media/image54.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 Id="rId3" Type="http://schemas.openxmlformats.org/officeDocument/2006/relationships/image" Target="../media/image50.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8.xml"/><Relationship Id="rId3" Type="http://schemas.openxmlformats.org/officeDocument/2006/relationships/image" Target="../media/image48.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9.xml"/><Relationship Id="rId3" Type="http://schemas.openxmlformats.org/officeDocument/2006/relationships/image" Target="../media/image55.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0.xml"/><Relationship Id="rId3" Type="http://schemas.openxmlformats.org/officeDocument/2006/relationships/image" Target="../media/image56.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1.xml"/><Relationship Id="rId3" Type="http://schemas.openxmlformats.org/officeDocument/2006/relationships/image" Target="../media/image59.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3.xml"/><Relationship Id="rId3" Type="http://schemas.openxmlformats.org/officeDocument/2006/relationships/image" Target="../media/image5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
          <p:cNvSpPr txBox="1"/>
          <p:nvPr>
            <p:ph type="ctrTitle"/>
          </p:nvPr>
        </p:nvSpPr>
        <p:spPr>
          <a:xfrm>
            <a:off x="685800" y="793750"/>
            <a:ext cx="7772400" cy="212883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Storage Management</a:t>
            </a:r>
            <a:br>
              <a:rPr lang="en-US"/>
            </a:br>
            <a:r>
              <a:rPr lang="en-US"/>
              <a:t>Module 5.1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2"/>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pic>
        <p:nvPicPr>
          <p:cNvPr id="81" name="Google Shape;81;p2"/>
          <p:cNvPicPr preferRelativeResize="0"/>
          <p:nvPr>
            <p:ph idx="1" type="body"/>
          </p:nvPr>
        </p:nvPicPr>
        <p:blipFill rotWithShape="1">
          <a:blip r:embed="rId3">
            <a:alphaModFix/>
          </a:blip>
          <a:srcRect b="44387" l="14505" r="30284" t="29405"/>
          <a:stretch/>
        </p:blipFill>
        <p:spPr>
          <a:xfrm>
            <a:off x="300250" y="2047164"/>
            <a:ext cx="8843749" cy="236014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3"/>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Marcellus"/>
              <a:buNone/>
            </a:pPr>
            <a:r>
              <a:rPr lang="en-US">
                <a:latin typeface="Marcellus"/>
                <a:ea typeface="Marcellus"/>
                <a:cs typeface="Marcellus"/>
                <a:sym typeface="Marcellus"/>
              </a:rPr>
              <a:t>How do you differentiate?</a:t>
            </a:r>
            <a:endParaRPr>
              <a:latin typeface="Marcellus"/>
              <a:ea typeface="Marcellus"/>
              <a:cs typeface="Marcellus"/>
              <a:sym typeface="Marcellus"/>
            </a:endParaRPr>
          </a:p>
        </p:txBody>
      </p:sp>
      <p:sp>
        <p:nvSpPr>
          <p:cNvPr id="87" name="Google Shape;87;p3"/>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latin typeface="Fira Sans"/>
                <a:ea typeface="Fira Sans"/>
                <a:cs typeface="Fira Sans"/>
                <a:sym typeface="Fira Sans"/>
              </a:rPr>
              <a:t>Memory </a:t>
            </a:r>
            <a:endParaRPr/>
          </a:p>
          <a:p>
            <a:pPr indent="-285750" lvl="0" marL="285750" rtl="0" algn="l">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Main memory</a:t>
            </a:r>
            <a:endParaRPr/>
          </a:p>
          <a:p>
            <a:pPr indent="-285750" lvl="0" marL="285750" rtl="0" algn="l">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Physical Memory</a:t>
            </a:r>
            <a:endParaRPr/>
          </a:p>
          <a:p>
            <a:pPr indent="-285750" lvl="0" marL="285750" rtl="0" algn="l">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RAM</a:t>
            </a:r>
            <a:endParaRPr/>
          </a:p>
          <a:p>
            <a:pPr indent="-285750" lvl="0" marL="285750" rtl="0" algn="l">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Primary memory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4"/>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Marcellus"/>
              <a:buNone/>
            </a:pPr>
            <a:r>
              <a:rPr lang="en-US">
                <a:latin typeface="Marcellus"/>
                <a:ea typeface="Marcellus"/>
                <a:cs typeface="Marcellus"/>
                <a:sym typeface="Marcellus"/>
              </a:rPr>
              <a:t>Basics </a:t>
            </a:r>
            <a:endParaRPr>
              <a:latin typeface="Marcellus"/>
              <a:ea typeface="Marcellus"/>
              <a:cs typeface="Marcellus"/>
              <a:sym typeface="Marcellus"/>
            </a:endParaRPr>
          </a:p>
        </p:txBody>
      </p:sp>
      <p:sp>
        <p:nvSpPr>
          <p:cNvPr id="93" name="Google Shape;93;p4"/>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800"/>
              <a:buFont typeface="Arial"/>
              <a:buChar char="•"/>
            </a:pPr>
            <a:r>
              <a:rPr lang="en-US">
                <a:latin typeface="Fira Sans"/>
                <a:ea typeface="Fira Sans"/>
                <a:cs typeface="Fira Sans"/>
                <a:sym typeface="Fira Sans"/>
              </a:rPr>
              <a:t>Memory is central to operation of computing systems</a:t>
            </a:r>
            <a:endParaRPr/>
          </a:p>
          <a:p>
            <a:pPr indent="-285750" lvl="0" marL="285750" rtl="0" algn="l">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Memory = a large array of words/bytes</a:t>
            </a:r>
            <a:endParaRPr/>
          </a:p>
          <a:p>
            <a:pPr indent="-285750" lvl="0" marL="285750" rtl="0" algn="l">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Each byte or word has own address</a:t>
            </a:r>
            <a:endParaRPr/>
          </a:p>
          <a:p>
            <a:pPr indent="-285750" lvl="0" marL="285750" rtl="0" algn="l">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Memory contains the program to be executed and data, both</a:t>
            </a:r>
            <a:endParaRPr/>
          </a:p>
          <a:p>
            <a:pPr indent="-285750" lvl="0" marL="285750" rtl="0" algn="l">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Program is executed line by line with Instruction Fetch, Instruction Decode, Operand Fetch, Execute cycles </a:t>
            </a:r>
            <a:endParaRPr/>
          </a:p>
          <a:p>
            <a:pPr indent="-285750" lvl="0" marL="285750" rtl="0" algn="l">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Program counter contains address of memory location to be executed next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5"/>
          <p:cNvSpPr txBox="1"/>
          <p:nvPr>
            <p:ph type="title"/>
          </p:nvPr>
        </p:nvSpPr>
        <p:spPr>
          <a:xfrm>
            <a:off x="1060450" y="163513"/>
            <a:ext cx="67643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Background</a:t>
            </a:r>
            <a:endParaRPr/>
          </a:p>
        </p:txBody>
      </p:sp>
      <p:sp>
        <p:nvSpPr>
          <p:cNvPr id="100" name="Google Shape;100;p5"/>
          <p:cNvSpPr txBox="1"/>
          <p:nvPr>
            <p:ph idx="1" type="body"/>
          </p:nvPr>
        </p:nvSpPr>
        <p:spPr>
          <a:xfrm>
            <a:off x="863600" y="1250950"/>
            <a:ext cx="6578600"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Memory consists of a large array of words or bytes, each with its own address. </a:t>
            </a:r>
            <a:endParaRPr/>
          </a:p>
          <a:p>
            <a:pPr indent="-342900" lvl="0" marL="342900" rtl="0" algn="l">
              <a:spcBef>
                <a:spcPts val="630"/>
              </a:spcBef>
              <a:spcAft>
                <a:spcPts val="0"/>
              </a:spcAft>
              <a:buSzPts val="1620"/>
              <a:buChar char="●"/>
            </a:pPr>
            <a:r>
              <a:rPr lang="en-US"/>
              <a:t>The CPU fetches instructions from memory according to the value of the program counter. These instructions may cause additional loading from and storing to specific memory addresses.</a:t>
            </a:r>
            <a:endParaRPr/>
          </a:p>
          <a:p>
            <a:pPr indent="-240030" lvl="0" marL="342900" rtl="0" algn="l">
              <a:spcBef>
                <a:spcPts val="630"/>
              </a:spcBef>
              <a:spcAft>
                <a:spcPts val="0"/>
              </a:spcAft>
              <a:buSzPts val="162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6"/>
          <p:cNvSpPr txBox="1"/>
          <p:nvPr>
            <p:ph type="title"/>
          </p:nvPr>
        </p:nvSpPr>
        <p:spPr>
          <a:xfrm>
            <a:off x="1060450" y="163513"/>
            <a:ext cx="67643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Background</a:t>
            </a:r>
            <a:endParaRPr/>
          </a:p>
        </p:txBody>
      </p:sp>
      <p:sp>
        <p:nvSpPr>
          <p:cNvPr id="107" name="Google Shape;107;p6"/>
          <p:cNvSpPr txBox="1"/>
          <p:nvPr>
            <p:ph idx="1" type="body"/>
          </p:nvPr>
        </p:nvSpPr>
        <p:spPr>
          <a:xfrm>
            <a:off x="863600" y="1250950"/>
            <a:ext cx="6578600"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A typical instruction-execution cycle, for example, </a:t>
            </a:r>
            <a:endParaRPr/>
          </a:p>
          <a:p>
            <a:pPr indent="-342900" lvl="0" marL="342900" rtl="0" algn="l">
              <a:spcBef>
                <a:spcPts val="630"/>
              </a:spcBef>
              <a:spcAft>
                <a:spcPts val="0"/>
              </a:spcAft>
              <a:buSzPts val="1620"/>
              <a:buFont typeface="Arial"/>
              <a:buAutoNum type="arabicParenR"/>
            </a:pPr>
            <a:r>
              <a:rPr lang="en-US"/>
              <a:t>first fetches an instruction from memory. </a:t>
            </a:r>
            <a:endParaRPr/>
          </a:p>
          <a:p>
            <a:pPr indent="-342900" lvl="0" marL="342900" rtl="0" algn="l">
              <a:spcBef>
                <a:spcPts val="630"/>
              </a:spcBef>
              <a:spcAft>
                <a:spcPts val="0"/>
              </a:spcAft>
              <a:buSzPts val="1620"/>
              <a:buFont typeface="Arial"/>
              <a:buAutoNum type="arabicParenR"/>
            </a:pPr>
            <a:r>
              <a:rPr lang="en-US"/>
              <a:t>The instruction is then decoded and may cause operands to be fetched from memory. </a:t>
            </a:r>
            <a:endParaRPr/>
          </a:p>
          <a:p>
            <a:pPr indent="-342900" lvl="0" marL="342900" rtl="0" algn="l">
              <a:spcBef>
                <a:spcPts val="630"/>
              </a:spcBef>
              <a:spcAft>
                <a:spcPts val="0"/>
              </a:spcAft>
              <a:buSzPts val="1620"/>
              <a:buFont typeface="Arial"/>
              <a:buAutoNum type="arabicParenR"/>
            </a:pPr>
            <a:r>
              <a:rPr lang="en-US"/>
              <a:t>After the instruction has been executed on the operands, results may be stored back in memory.</a:t>
            </a:r>
            <a:endParaRPr/>
          </a:p>
          <a:p>
            <a:pPr indent="-240030" lvl="0" marL="342900" rtl="0" algn="l">
              <a:spcBef>
                <a:spcPts val="630"/>
              </a:spcBef>
              <a:spcAft>
                <a:spcPts val="0"/>
              </a:spcAft>
              <a:buSzPts val="1620"/>
              <a:buFont typeface="Arial"/>
              <a:buNone/>
            </a:pPr>
            <a:r>
              <a:t/>
            </a:r>
            <a:endParaRPr b="1"/>
          </a:p>
          <a:p>
            <a:pPr indent="-240030" lvl="0" marL="342900" rtl="0" algn="l">
              <a:spcBef>
                <a:spcPts val="630"/>
              </a:spcBef>
              <a:spcAft>
                <a:spcPts val="0"/>
              </a:spcAft>
              <a:buSzPts val="1620"/>
              <a:buFont typeface="Arial"/>
              <a:buNone/>
            </a:pPr>
            <a:r>
              <a:t/>
            </a:r>
            <a:endParaRPr b="1"/>
          </a:p>
          <a:p>
            <a:pPr indent="-240030" lvl="0" marL="342900" rtl="0" algn="l">
              <a:spcBef>
                <a:spcPts val="630"/>
              </a:spcBef>
              <a:spcAft>
                <a:spcPts val="0"/>
              </a:spcAft>
              <a:buSzPts val="1620"/>
              <a:buFont typeface="Arial"/>
              <a:buNone/>
            </a:pPr>
            <a:r>
              <a:t/>
            </a:r>
            <a:endParaRPr b="1"/>
          </a:p>
          <a:p>
            <a:pPr indent="0" lvl="0" marL="0" rtl="0" algn="l">
              <a:spcBef>
                <a:spcPts val="630"/>
              </a:spcBef>
              <a:spcAft>
                <a:spcPts val="0"/>
              </a:spcAft>
              <a:buSzPts val="1620"/>
              <a:buFont typeface="Arial"/>
              <a:buNone/>
            </a:pPr>
            <a:r>
              <a:rPr lang="en-US"/>
              <a:t>Memory unit only sees a stream of addresses + read requests, or address + data and write requests</a:t>
            </a:r>
            <a:endParaRPr sz="800"/>
          </a:p>
          <a:p>
            <a:pPr indent="-240030" lvl="0" marL="342900" rtl="0" algn="l">
              <a:spcBef>
                <a:spcPts val="630"/>
              </a:spcBef>
              <a:spcAft>
                <a:spcPts val="0"/>
              </a:spcAft>
              <a:buSzPts val="1620"/>
              <a:buFont typeface="Arial"/>
              <a:buNone/>
            </a:pPr>
            <a:r>
              <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Memory : hardware</a:t>
            </a:r>
            <a:endParaRPr/>
          </a:p>
        </p:txBody>
      </p:sp>
      <p:sp>
        <p:nvSpPr>
          <p:cNvPr id="113" name="Google Shape;113;p7"/>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fontScale="92500"/>
          </a:bodyPr>
          <a:lstStyle/>
          <a:p>
            <a:pPr indent="-285750" lvl="0" marL="285750" rtl="0" algn="l">
              <a:lnSpc>
                <a:spcPct val="90000"/>
              </a:lnSpc>
              <a:spcBef>
                <a:spcPts val="0"/>
              </a:spcBef>
              <a:spcAft>
                <a:spcPts val="0"/>
              </a:spcAft>
              <a:buClr>
                <a:schemeClr val="dk1"/>
              </a:buClr>
              <a:buSzPct val="108108"/>
              <a:buFont typeface="Arial"/>
              <a:buChar char="•"/>
            </a:pPr>
            <a:r>
              <a:rPr lang="en-US"/>
              <a:t>CPU can directly access only main memory and processor registers</a:t>
            </a:r>
            <a:endParaRPr/>
          </a:p>
          <a:p>
            <a:pPr indent="-285750" lvl="0" marL="285750" rtl="0" algn="l">
              <a:lnSpc>
                <a:spcPct val="90000"/>
              </a:lnSpc>
              <a:spcBef>
                <a:spcPts val="1000"/>
              </a:spcBef>
              <a:spcAft>
                <a:spcPts val="0"/>
              </a:spcAft>
              <a:buClr>
                <a:schemeClr val="dk1"/>
              </a:buClr>
              <a:buSzPct val="108108"/>
              <a:buFont typeface="Arial"/>
              <a:buChar char="•"/>
            </a:pPr>
            <a:r>
              <a:rPr lang="en-US"/>
              <a:t>The instructions take main memory addresses as program arguments and not disk addresses</a:t>
            </a:r>
            <a:endParaRPr/>
          </a:p>
          <a:p>
            <a:pPr indent="-285750" lvl="0" marL="285750" rtl="0" algn="l">
              <a:lnSpc>
                <a:spcPct val="90000"/>
              </a:lnSpc>
              <a:spcBef>
                <a:spcPts val="1000"/>
              </a:spcBef>
              <a:spcAft>
                <a:spcPts val="0"/>
              </a:spcAft>
              <a:buClr>
                <a:schemeClr val="dk1"/>
              </a:buClr>
              <a:buSzPct val="108108"/>
              <a:buFont typeface="Arial"/>
              <a:buChar char="•"/>
            </a:pPr>
            <a:r>
              <a:rPr b="1" lang="en-US"/>
              <a:t>Hence- Data and instructions executing them, have to be in MM</a:t>
            </a:r>
            <a:endParaRPr b="1"/>
          </a:p>
          <a:p>
            <a:pPr indent="-285750" lvl="0" marL="285750" rtl="0" algn="l">
              <a:lnSpc>
                <a:spcPct val="90000"/>
              </a:lnSpc>
              <a:spcBef>
                <a:spcPts val="1000"/>
              </a:spcBef>
              <a:spcAft>
                <a:spcPts val="0"/>
              </a:spcAft>
              <a:buClr>
                <a:schemeClr val="dk1"/>
              </a:buClr>
              <a:buSzPct val="108108"/>
              <a:buFont typeface="Arial"/>
              <a:buChar char="•"/>
            </a:pPr>
            <a:r>
              <a:rPr b="1" lang="en-US"/>
              <a:t>Issues and concerns?</a:t>
            </a:r>
            <a:endParaRPr b="1"/>
          </a:p>
          <a:p>
            <a:pPr indent="-285750" lvl="1" marL="742950" rtl="0" algn="l">
              <a:lnSpc>
                <a:spcPct val="90000"/>
              </a:lnSpc>
              <a:spcBef>
                <a:spcPts val="500"/>
              </a:spcBef>
              <a:spcAft>
                <a:spcPts val="0"/>
              </a:spcAft>
              <a:buClr>
                <a:schemeClr val="dk1"/>
              </a:buClr>
              <a:buSzPct val="108108"/>
              <a:buChar char="o"/>
            </a:pPr>
            <a:r>
              <a:rPr b="1" lang="en-US"/>
              <a:t>Speed of access : solution 🡺 cache memory</a:t>
            </a:r>
            <a:endParaRPr b="1"/>
          </a:p>
          <a:p>
            <a:pPr indent="-285750" lvl="1" marL="742950" rtl="0" algn="l">
              <a:lnSpc>
                <a:spcPct val="90000"/>
              </a:lnSpc>
              <a:spcBef>
                <a:spcPts val="500"/>
              </a:spcBef>
              <a:spcAft>
                <a:spcPts val="0"/>
              </a:spcAft>
              <a:buClr>
                <a:schemeClr val="dk1"/>
              </a:buClr>
              <a:buSzPct val="108108"/>
              <a:buChar char="o"/>
            </a:pPr>
            <a:r>
              <a:rPr b="1" lang="en-US"/>
              <a:t>Protect program data : solution 🡺 base and limit registers</a:t>
            </a:r>
            <a:endParaRPr b="1"/>
          </a:p>
          <a:p>
            <a:pPr indent="-285750" lvl="1" marL="742950" rtl="0" algn="l">
              <a:lnSpc>
                <a:spcPct val="90000"/>
              </a:lnSpc>
              <a:spcBef>
                <a:spcPts val="500"/>
              </a:spcBef>
              <a:spcAft>
                <a:spcPts val="0"/>
              </a:spcAft>
              <a:buClr>
                <a:schemeClr val="dk1"/>
              </a:buClr>
              <a:buSzPct val="108108"/>
              <a:buChar char="o"/>
            </a:pPr>
            <a:r>
              <a:rPr b="1" lang="en-US"/>
              <a:t>Size of memory : solution 🡺 swapping, virtual memory</a:t>
            </a:r>
            <a:endParaRPr b="1"/>
          </a:p>
          <a:p>
            <a:pPr indent="-285750" lvl="1" marL="742950" rtl="0" algn="l">
              <a:lnSpc>
                <a:spcPct val="90000"/>
              </a:lnSpc>
              <a:spcBef>
                <a:spcPts val="500"/>
              </a:spcBef>
              <a:spcAft>
                <a:spcPts val="0"/>
              </a:spcAft>
              <a:buClr>
                <a:schemeClr val="dk1"/>
              </a:buClr>
              <a:buSzPct val="108108"/>
              <a:buChar char="o"/>
            </a:pPr>
            <a:r>
              <a:rPr b="1" lang="en-US"/>
              <a:t>Many more ones….</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8"/>
          <p:cNvSpPr txBox="1"/>
          <p:nvPr>
            <p:ph type="title"/>
          </p:nvPr>
        </p:nvSpPr>
        <p:spPr>
          <a:xfrm>
            <a:off x="1060450" y="163513"/>
            <a:ext cx="67643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Basic Hardware</a:t>
            </a:r>
            <a:endParaRPr/>
          </a:p>
        </p:txBody>
      </p:sp>
      <p:sp>
        <p:nvSpPr>
          <p:cNvPr id="120" name="Google Shape;120;p8"/>
          <p:cNvSpPr txBox="1"/>
          <p:nvPr>
            <p:ph idx="1" type="body"/>
          </p:nvPr>
        </p:nvSpPr>
        <p:spPr>
          <a:xfrm>
            <a:off x="863600" y="1250950"/>
            <a:ext cx="6578600"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t>Register access in one CPU clock (or less)</a:t>
            </a:r>
            <a:endParaRPr b="1" sz="800"/>
          </a:p>
          <a:p>
            <a:pPr indent="-342900" lvl="0" marL="342900" rtl="0" algn="l">
              <a:spcBef>
                <a:spcPts val="630"/>
              </a:spcBef>
              <a:spcAft>
                <a:spcPts val="0"/>
              </a:spcAft>
              <a:buSzPts val="1620"/>
              <a:buChar char="●"/>
            </a:pPr>
            <a:r>
              <a:rPr lang="en-US"/>
              <a:t>Main memory access can take many cycles, causing a </a:t>
            </a:r>
            <a:r>
              <a:rPr b="1" lang="en-US">
                <a:solidFill>
                  <a:srgbClr val="3366FF"/>
                </a:solidFill>
              </a:rPr>
              <a:t>stall</a:t>
            </a:r>
            <a:endParaRPr sz="800"/>
          </a:p>
          <a:p>
            <a:pPr indent="-342900" lvl="0" marL="342900" rtl="0" algn="l">
              <a:spcBef>
                <a:spcPts val="630"/>
              </a:spcBef>
              <a:spcAft>
                <a:spcPts val="0"/>
              </a:spcAft>
              <a:buSzPts val="1620"/>
              <a:buChar char="●"/>
            </a:pPr>
            <a:r>
              <a:rPr b="1" lang="en-US">
                <a:solidFill>
                  <a:srgbClr val="3366FF"/>
                </a:solidFill>
              </a:rPr>
              <a:t>Cache</a:t>
            </a:r>
            <a:r>
              <a:rPr lang="en-US">
                <a:solidFill>
                  <a:srgbClr val="3366FF"/>
                </a:solidFill>
              </a:rPr>
              <a:t> </a:t>
            </a:r>
            <a:r>
              <a:rPr lang="en-US"/>
              <a:t>sits between main memory and CPU registers</a:t>
            </a:r>
            <a:endParaRPr sz="800"/>
          </a:p>
          <a:p>
            <a:pPr indent="-342900" lvl="0" marL="342900" rtl="0" algn="l">
              <a:spcBef>
                <a:spcPts val="630"/>
              </a:spcBef>
              <a:spcAft>
                <a:spcPts val="0"/>
              </a:spcAft>
              <a:buSzPts val="1620"/>
              <a:buChar char="●"/>
            </a:pPr>
            <a:r>
              <a:rPr lang="en-US"/>
              <a:t>Protection of memory required to ensure correct operation</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Char char="●"/>
            </a:pPr>
            <a:r>
              <a:rPr lang="en-US"/>
              <a:t>Registers that are built into the CPU are generally accessible within one cycle of the CPU clock. </a:t>
            </a:r>
            <a:endParaRPr/>
          </a:p>
        </p:txBody>
      </p:sp>
      <p:sp>
        <p:nvSpPr>
          <p:cNvPr id="121" name="Google Shape;121;p8"/>
          <p:cNvSpPr/>
          <p:nvPr/>
        </p:nvSpPr>
        <p:spPr>
          <a:xfrm>
            <a:off x="7127875" y="1227138"/>
            <a:ext cx="1690688" cy="3595687"/>
          </a:xfrm>
          <a:prstGeom prst="curvedLeftArrow">
            <a:avLst>
              <a:gd fmla="val 25000" name="adj1"/>
              <a:gd fmla="val 50000" name="adj2"/>
              <a:gd fmla="val 25000" name="adj3"/>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9"/>
          <p:cNvSpPr txBox="1"/>
          <p:nvPr>
            <p:ph type="title"/>
          </p:nvPr>
        </p:nvSpPr>
        <p:spPr>
          <a:xfrm>
            <a:off x="1060450" y="163513"/>
            <a:ext cx="67643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Basic Hardware</a:t>
            </a:r>
            <a:endParaRPr/>
          </a:p>
        </p:txBody>
      </p:sp>
      <p:sp>
        <p:nvSpPr>
          <p:cNvPr id="128" name="Google Shape;128;p9"/>
          <p:cNvSpPr txBox="1"/>
          <p:nvPr>
            <p:ph idx="1" type="body"/>
          </p:nvPr>
        </p:nvSpPr>
        <p:spPr>
          <a:xfrm>
            <a:off x="863600" y="1250950"/>
            <a:ext cx="6578600"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Register access in one CPU clock (or less)</a:t>
            </a:r>
            <a:endParaRPr sz="800"/>
          </a:p>
          <a:p>
            <a:pPr indent="-342900" lvl="0" marL="342900" rtl="0" algn="l">
              <a:spcBef>
                <a:spcPts val="630"/>
              </a:spcBef>
              <a:spcAft>
                <a:spcPts val="0"/>
              </a:spcAft>
              <a:buSzPts val="1620"/>
              <a:buChar char="●"/>
            </a:pPr>
            <a:r>
              <a:rPr b="1" lang="en-US"/>
              <a:t>Main memory access can take many cycles, causing a </a:t>
            </a:r>
            <a:r>
              <a:rPr b="1" lang="en-US">
                <a:solidFill>
                  <a:srgbClr val="3366FF"/>
                </a:solidFill>
              </a:rPr>
              <a:t>stall</a:t>
            </a:r>
            <a:endParaRPr b="1" sz="800"/>
          </a:p>
          <a:p>
            <a:pPr indent="-342900" lvl="0" marL="342900" rtl="0" algn="l">
              <a:spcBef>
                <a:spcPts val="630"/>
              </a:spcBef>
              <a:spcAft>
                <a:spcPts val="0"/>
              </a:spcAft>
              <a:buSzPts val="1620"/>
              <a:buChar char="●"/>
            </a:pPr>
            <a:r>
              <a:rPr b="1" lang="en-US">
                <a:solidFill>
                  <a:srgbClr val="3366FF"/>
                </a:solidFill>
              </a:rPr>
              <a:t>Cache</a:t>
            </a:r>
            <a:r>
              <a:rPr lang="en-US">
                <a:solidFill>
                  <a:srgbClr val="3366FF"/>
                </a:solidFill>
              </a:rPr>
              <a:t> </a:t>
            </a:r>
            <a:r>
              <a:rPr lang="en-US"/>
              <a:t>sits between main memory and CPU registers</a:t>
            </a:r>
            <a:endParaRPr sz="800"/>
          </a:p>
          <a:p>
            <a:pPr indent="-342900" lvl="0" marL="342900" rtl="0" algn="l">
              <a:spcBef>
                <a:spcPts val="630"/>
              </a:spcBef>
              <a:spcAft>
                <a:spcPts val="0"/>
              </a:spcAft>
              <a:buSzPts val="1620"/>
              <a:buChar char="●"/>
            </a:pPr>
            <a:r>
              <a:rPr lang="en-US"/>
              <a:t>Protection of memory required to ensure correct operation</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Char char="●"/>
            </a:pPr>
            <a:r>
              <a:rPr lang="en-US"/>
              <a:t>Main memory is accessed via a transaction on the memory bus. </a:t>
            </a:r>
            <a:endParaRPr/>
          </a:p>
          <a:p>
            <a:pPr indent="-342900" lvl="0" marL="342900" rtl="0" algn="l">
              <a:spcBef>
                <a:spcPts val="630"/>
              </a:spcBef>
              <a:spcAft>
                <a:spcPts val="0"/>
              </a:spcAft>
              <a:buSzPts val="1620"/>
              <a:buChar char="●"/>
            </a:pPr>
            <a:r>
              <a:rPr lang="en-US"/>
              <a:t>Completing a memory access may take many cycles of the CPU clock. </a:t>
            </a:r>
            <a:endParaRPr/>
          </a:p>
          <a:p>
            <a:pPr indent="-342900" lvl="0" marL="342900" rtl="0" algn="l">
              <a:spcBef>
                <a:spcPts val="630"/>
              </a:spcBef>
              <a:spcAft>
                <a:spcPts val="0"/>
              </a:spcAft>
              <a:buSzPts val="1620"/>
              <a:buChar char="●"/>
            </a:pPr>
            <a:r>
              <a:rPr lang="en-US"/>
              <a:t>In such cases, the processor normally needs to stall, since it does not have the data required to complete the instruction that it is executing</a:t>
            </a:r>
            <a:endParaRPr/>
          </a:p>
        </p:txBody>
      </p:sp>
      <p:sp>
        <p:nvSpPr>
          <p:cNvPr id="129" name="Google Shape;129;p9"/>
          <p:cNvSpPr/>
          <p:nvPr/>
        </p:nvSpPr>
        <p:spPr>
          <a:xfrm>
            <a:off x="7253288" y="1665288"/>
            <a:ext cx="1690687" cy="3595687"/>
          </a:xfrm>
          <a:prstGeom prst="curvedLeftArrow">
            <a:avLst>
              <a:gd fmla="val 25000" name="adj1"/>
              <a:gd fmla="val 50000" name="adj2"/>
              <a:gd fmla="val 25000" name="adj3"/>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0"/>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Speed of access</a:t>
            </a:r>
            <a:endParaRPr/>
          </a:p>
        </p:txBody>
      </p:sp>
      <p:sp>
        <p:nvSpPr>
          <p:cNvPr id="135" name="Google Shape;135;p10"/>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One of the Speed judgement parameters: number of CPU clock cycles needed to perform memory operation</a:t>
            </a:r>
            <a:endParaRPr/>
          </a:p>
          <a:p>
            <a:pPr indent="-285750" lvl="0" marL="285750" rtl="0" algn="l">
              <a:lnSpc>
                <a:spcPct val="90000"/>
              </a:lnSpc>
              <a:spcBef>
                <a:spcPts val="1000"/>
              </a:spcBef>
              <a:spcAft>
                <a:spcPts val="0"/>
              </a:spcAft>
              <a:buClr>
                <a:schemeClr val="dk1"/>
              </a:buClr>
              <a:buSzPts val="2800"/>
              <a:buFont typeface="Arial"/>
              <a:buChar char="•"/>
            </a:pPr>
            <a:r>
              <a:rPr lang="en-US"/>
              <a:t>CPU is a faster than memory</a:t>
            </a:r>
            <a:endParaRPr/>
          </a:p>
          <a:p>
            <a:pPr indent="-285750" lvl="0" marL="285750" rtl="0" algn="l">
              <a:lnSpc>
                <a:spcPct val="90000"/>
              </a:lnSpc>
              <a:spcBef>
                <a:spcPts val="1000"/>
              </a:spcBef>
              <a:spcAft>
                <a:spcPts val="0"/>
              </a:spcAft>
              <a:buClr>
                <a:schemeClr val="dk1"/>
              </a:buClr>
              <a:buSzPts val="2800"/>
              <a:buFont typeface="Arial"/>
              <a:buChar char="•"/>
            </a:pPr>
            <a:r>
              <a:rPr lang="en-US"/>
              <a:t>CPU registers are accessible in one CPU clock cycle</a:t>
            </a:r>
            <a:endParaRPr/>
          </a:p>
          <a:p>
            <a:pPr indent="-285750" lvl="0" marL="285750" rtl="0" algn="l">
              <a:lnSpc>
                <a:spcPct val="90000"/>
              </a:lnSpc>
              <a:spcBef>
                <a:spcPts val="1000"/>
              </a:spcBef>
              <a:spcAft>
                <a:spcPts val="0"/>
              </a:spcAft>
              <a:buClr>
                <a:schemeClr val="dk1"/>
              </a:buClr>
              <a:buSzPts val="2800"/>
              <a:buFont typeface="Arial"/>
              <a:buChar char="•"/>
            </a:pPr>
            <a:r>
              <a:rPr lang="en-US"/>
              <a:t>But MM is accessed via a transaction on memory bus</a:t>
            </a:r>
            <a:endParaRPr/>
          </a:p>
          <a:p>
            <a:pPr indent="-285750" lvl="0" marL="285750" rtl="0" algn="l">
              <a:lnSpc>
                <a:spcPct val="90000"/>
              </a:lnSpc>
              <a:spcBef>
                <a:spcPts val="1000"/>
              </a:spcBef>
              <a:spcAft>
                <a:spcPts val="0"/>
              </a:spcAft>
              <a:buClr>
                <a:schemeClr val="dk1"/>
              </a:buClr>
              <a:buSzPts val="2800"/>
              <a:buFont typeface="Arial"/>
              <a:buChar char="•"/>
            </a:pPr>
            <a:r>
              <a:rPr lang="en-US"/>
              <a:t>This access takes many CPU clocks to complete</a:t>
            </a:r>
            <a:endParaRPr/>
          </a:p>
          <a:p>
            <a:pPr indent="-285750" lvl="0" marL="285750" rtl="0" algn="l">
              <a:lnSpc>
                <a:spcPct val="90000"/>
              </a:lnSpc>
              <a:spcBef>
                <a:spcPts val="1000"/>
              </a:spcBef>
              <a:spcAft>
                <a:spcPts val="0"/>
              </a:spcAft>
              <a:buClr>
                <a:schemeClr val="dk1"/>
              </a:buClr>
              <a:buSzPts val="2800"/>
              <a:buFont typeface="Arial"/>
              <a:buChar char="•"/>
            </a:pPr>
            <a:r>
              <a:rPr lang="en-US"/>
              <a:t>Result? : CPU has program but not the data to complete instruction execution i.e. </a:t>
            </a:r>
            <a:r>
              <a:rPr b="1" lang="en-US">
                <a:solidFill>
                  <a:srgbClr val="C00000"/>
                </a:solidFill>
              </a:rPr>
              <a:t>CPU stalling</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1"/>
          <p:cNvSpPr txBox="1"/>
          <p:nvPr>
            <p:ph type="title"/>
          </p:nvPr>
        </p:nvSpPr>
        <p:spPr>
          <a:xfrm>
            <a:off x="1060450" y="163513"/>
            <a:ext cx="67643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Basic Hardware</a:t>
            </a:r>
            <a:endParaRPr/>
          </a:p>
        </p:txBody>
      </p:sp>
      <p:sp>
        <p:nvSpPr>
          <p:cNvPr id="142" name="Google Shape;142;p11"/>
          <p:cNvSpPr txBox="1"/>
          <p:nvPr>
            <p:ph idx="1" type="body"/>
          </p:nvPr>
        </p:nvSpPr>
        <p:spPr>
          <a:xfrm>
            <a:off x="863600" y="1250950"/>
            <a:ext cx="6578600"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Register access in one CPU clock (or less)</a:t>
            </a:r>
            <a:endParaRPr sz="800"/>
          </a:p>
          <a:p>
            <a:pPr indent="-342900" lvl="0" marL="342900" rtl="0" algn="l">
              <a:spcBef>
                <a:spcPts val="630"/>
              </a:spcBef>
              <a:spcAft>
                <a:spcPts val="0"/>
              </a:spcAft>
              <a:buSzPts val="1620"/>
              <a:buChar char="●"/>
            </a:pPr>
            <a:r>
              <a:rPr lang="en-US"/>
              <a:t>Main memory access can take many cycles, causing a </a:t>
            </a:r>
            <a:r>
              <a:rPr lang="en-US">
                <a:solidFill>
                  <a:srgbClr val="3366FF"/>
                </a:solidFill>
              </a:rPr>
              <a:t>stall</a:t>
            </a:r>
            <a:endParaRPr sz="800"/>
          </a:p>
          <a:p>
            <a:pPr indent="-342900" lvl="0" marL="342900" rtl="0" algn="l">
              <a:spcBef>
                <a:spcPts val="630"/>
              </a:spcBef>
              <a:spcAft>
                <a:spcPts val="0"/>
              </a:spcAft>
              <a:buSzPts val="1620"/>
              <a:buChar char="●"/>
            </a:pPr>
            <a:r>
              <a:rPr b="1" lang="en-US">
                <a:solidFill>
                  <a:srgbClr val="3366FF"/>
                </a:solidFill>
              </a:rPr>
              <a:t>Cache </a:t>
            </a:r>
            <a:r>
              <a:rPr b="1" lang="en-US"/>
              <a:t>sits between main memory and CPU registers</a:t>
            </a:r>
            <a:endParaRPr b="1" sz="800"/>
          </a:p>
          <a:p>
            <a:pPr indent="-342900" lvl="0" marL="342900" rtl="0" algn="l">
              <a:spcBef>
                <a:spcPts val="630"/>
              </a:spcBef>
              <a:spcAft>
                <a:spcPts val="0"/>
              </a:spcAft>
              <a:buSzPts val="1620"/>
              <a:buChar char="●"/>
            </a:pPr>
            <a:r>
              <a:rPr lang="en-US"/>
              <a:t>Protection of memory required to ensure correct operation</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Char char="●"/>
            </a:pPr>
            <a:r>
              <a:rPr lang="en-US"/>
              <a:t>The remedy is to add fast memory between the CPU and main memory called cache.</a:t>
            </a:r>
            <a:endParaRPr b="1"/>
          </a:p>
        </p:txBody>
      </p:sp>
      <p:sp>
        <p:nvSpPr>
          <p:cNvPr id="143" name="Google Shape;143;p11"/>
          <p:cNvSpPr/>
          <p:nvPr/>
        </p:nvSpPr>
        <p:spPr>
          <a:xfrm>
            <a:off x="7253288" y="1992313"/>
            <a:ext cx="1690687" cy="3594100"/>
          </a:xfrm>
          <a:prstGeom prst="curvedLeftArrow">
            <a:avLst>
              <a:gd fmla="val 25000" name="adj1"/>
              <a:gd fmla="val 50000" name="adj2"/>
              <a:gd fmla="val 25000" name="adj3"/>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Speed of access</a:t>
            </a:r>
            <a:endParaRPr/>
          </a:p>
        </p:txBody>
      </p:sp>
      <p:sp>
        <p:nvSpPr>
          <p:cNvPr id="149" name="Google Shape;149;p12"/>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As the data are needed always for instruction execution, frequent memory stalls are bottleneck</a:t>
            </a:r>
            <a:endParaRPr/>
          </a:p>
          <a:p>
            <a:pPr indent="-285750" lvl="0" marL="285750" rtl="0" algn="l">
              <a:lnSpc>
                <a:spcPct val="90000"/>
              </a:lnSpc>
              <a:spcBef>
                <a:spcPts val="1000"/>
              </a:spcBef>
              <a:spcAft>
                <a:spcPts val="0"/>
              </a:spcAft>
              <a:buClr>
                <a:schemeClr val="dk1"/>
              </a:buClr>
              <a:buSzPts val="2800"/>
              <a:buFont typeface="Arial"/>
              <a:buChar char="•"/>
            </a:pPr>
            <a:r>
              <a:rPr lang="en-US"/>
              <a:t>Solution : add a faster memory between CPU and main memory i.e. </a:t>
            </a:r>
            <a:r>
              <a:rPr b="1" lang="en-US">
                <a:solidFill>
                  <a:srgbClr val="C00000"/>
                </a:solidFill>
              </a:rPr>
              <a:t>cache memory</a:t>
            </a:r>
            <a:endParaRPr/>
          </a:p>
          <a:p>
            <a:pPr indent="-285750" lvl="0" marL="285750" rtl="0" algn="l">
              <a:lnSpc>
                <a:spcPct val="90000"/>
              </a:lnSpc>
              <a:spcBef>
                <a:spcPts val="1000"/>
              </a:spcBef>
              <a:spcAft>
                <a:spcPts val="0"/>
              </a:spcAft>
              <a:buClr>
                <a:schemeClr val="dk1"/>
              </a:buClr>
              <a:buSzPts val="2800"/>
              <a:buFont typeface="Arial"/>
              <a:buChar char="•"/>
            </a:pPr>
            <a:r>
              <a:rPr lang="en-US"/>
              <a:t>Cache memory: a buffer to accommodate the speed difference</a:t>
            </a:r>
            <a:endParaRPr/>
          </a:p>
          <a:p>
            <a:pPr indent="-107950" lvl="0" marL="285750" rtl="0" algn="l">
              <a:lnSpc>
                <a:spcPct val="90000"/>
              </a:lnSpc>
              <a:spcBef>
                <a:spcPts val="1000"/>
              </a:spcBef>
              <a:spcAft>
                <a:spcPts val="0"/>
              </a:spcAft>
              <a:buClr>
                <a:schemeClr val="dk1"/>
              </a:buClr>
              <a:buSzPts val="2800"/>
              <a:buFont typeface="Arial"/>
              <a:buNone/>
            </a:pPr>
            <a:r>
              <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3"/>
          <p:cNvSpPr txBox="1"/>
          <p:nvPr>
            <p:ph type="title"/>
          </p:nvPr>
        </p:nvSpPr>
        <p:spPr>
          <a:xfrm>
            <a:off x="1060450" y="163513"/>
            <a:ext cx="67643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Basic Hardware</a:t>
            </a:r>
            <a:endParaRPr/>
          </a:p>
        </p:txBody>
      </p:sp>
      <p:sp>
        <p:nvSpPr>
          <p:cNvPr id="156" name="Google Shape;156;p13"/>
          <p:cNvSpPr txBox="1"/>
          <p:nvPr>
            <p:ph idx="1" type="body"/>
          </p:nvPr>
        </p:nvSpPr>
        <p:spPr>
          <a:xfrm>
            <a:off x="863600" y="1250950"/>
            <a:ext cx="6578600"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Register access in one CPU clock (or less)</a:t>
            </a:r>
            <a:endParaRPr sz="800"/>
          </a:p>
          <a:p>
            <a:pPr indent="-342900" lvl="0" marL="342900" rtl="0" algn="l">
              <a:spcBef>
                <a:spcPts val="630"/>
              </a:spcBef>
              <a:spcAft>
                <a:spcPts val="0"/>
              </a:spcAft>
              <a:buSzPts val="1620"/>
              <a:buChar char="●"/>
            </a:pPr>
            <a:r>
              <a:rPr lang="en-US"/>
              <a:t>Main memory access can take many cycles, causing a </a:t>
            </a:r>
            <a:r>
              <a:rPr lang="en-US">
                <a:solidFill>
                  <a:srgbClr val="3366FF"/>
                </a:solidFill>
              </a:rPr>
              <a:t>stall</a:t>
            </a:r>
            <a:endParaRPr sz="800"/>
          </a:p>
          <a:p>
            <a:pPr indent="-342900" lvl="0" marL="342900" rtl="0" algn="l">
              <a:spcBef>
                <a:spcPts val="630"/>
              </a:spcBef>
              <a:spcAft>
                <a:spcPts val="0"/>
              </a:spcAft>
              <a:buSzPts val="1620"/>
              <a:buChar char="●"/>
            </a:pPr>
            <a:r>
              <a:rPr b="1" lang="en-US">
                <a:solidFill>
                  <a:srgbClr val="3366FF"/>
                </a:solidFill>
              </a:rPr>
              <a:t>Cache </a:t>
            </a:r>
            <a:r>
              <a:rPr b="1" lang="en-US"/>
              <a:t>sits between main memory and CPU registers</a:t>
            </a:r>
            <a:endParaRPr b="1" sz="800"/>
          </a:p>
          <a:p>
            <a:pPr indent="-342900" lvl="0" marL="342900" rtl="0" algn="l">
              <a:spcBef>
                <a:spcPts val="630"/>
              </a:spcBef>
              <a:spcAft>
                <a:spcPts val="0"/>
              </a:spcAft>
              <a:buSzPts val="1620"/>
              <a:buChar char="●"/>
            </a:pPr>
            <a:r>
              <a:rPr lang="en-US"/>
              <a:t>Protection of memory required to ensure correct operation</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Char char="●"/>
            </a:pPr>
            <a:r>
              <a:rPr lang="en-US"/>
              <a:t>Apart from relative speed of accessing physical memory, we also must ensure correct operation.</a:t>
            </a:r>
            <a:endParaRPr/>
          </a:p>
          <a:p>
            <a:pPr indent="-342900" lvl="0" marL="342900" rtl="0" algn="l">
              <a:spcBef>
                <a:spcPts val="630"/>
              </a:spcBef>
              <a:spcAft>
                <a:spcPts val="0"/>
              </a:spcAft>
              <a:buSzPts val="1620"/>
              <a:buChar char="●"/>
            </a:pPr>
            <a:r>
              <a:rPr lang="en-US"/>
              <a:t>To protect the operating system from access by user processes</a:t>
            </a:r>
            <a:endParaRPr/>
          </a:p>
          <a:p>
            <a:pPr indent="-342900" lvl="0" marL="342900" rtl="0" algn="l">
              <a:spcBef>
                <a:spcPts val="630"/>
              </a:spcBef>
              <a:spcAft>
                <a:spcPts val="0"/>
              </a:spcAft>
              <a:buSzPts val="1620"/>
              <a:buChar char="●"/>
            </a:pPr>
            <a:r>
              <a:rPr lang="en-US"/>
              <a:t>To protect user processes from one another. This protection must be provided by the hardware.</a:t>
            </a:r>
            <a:endParaRPr b="1"/>
          </a:p>
        </p:txBody>
      </p:sp>
      <p:sp>
        <p:nvSpPr>
          <p:cNvPr id="157" name="Google Shape;157;p13"/>
          <p:cNvSpPr/>
          <p:nvPr/>
        </p:nvSpPr>
        <p:spPr>
          <a:xfrm>
            <a:off x="7253288" y="1992313"/>
            <a:ext cx="1690687" cy="3594100"/>
          </a:xfrm>
          <a:prstGeom prst="curvedLeftArrow">
            <a:avLst>
              <a:gd fmla="val 25000" name="adj1"/>
              <a:gd fmla="val 50000" name="adj2"/>
              <a:gd fmla="val 25000" name="adj3"/>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14"/>
          <p:cNvPicPr preferRelativeResize="0"/>
          <p:nvPr/>
        </p:nvPicPr>
        <p:blipFill rotWithShape="1">
          <a:blip r:embed="rId3">
            <a:alphaModFix/>
          </a:blip>
          <a:srcRect b="0" l="0" r="0" t="0"/>
          <a:stretch/>
        </p:blipFill>
        <p:spPr>
          <a:xfrm>
            <a:off x="4889748" y="1340768"/>
            <a:ext cx="4278164" cy="3740150"/>
          </a:xfrm>
          <a:prstGeom prst="rect">
            <a:avLst/>
          </a:prstGeom>
          <a:noFill/>
          <a:ln>
            <a:noFill/>
          </a:ln>
        </p:spPr>
      </p:pic>
      <p:sp>
        <p:nvSpPr>
          <p:cNvPr id="163" name="Google Shape;163;p14"/>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Access Protect </a:t>
            </a:r>
            <a:endParaRPr/>
          </a:p>
        </p:txBody>
      </p:sp>
      <p:sp>
        <p:nvSpPr>
          <p:cNvPr id="164" name="Google Shape;164;p14"/>
          <p:cNvSpPr txBox="1"/>
          <p:nvPr>
            <p:ph idx="1" type="body"/>
          </p:nvPr>
        </p:nvSpPr>
        <p:spPr>
          <a:xfrm>
            <a:off x="700004" y="1324629"/>
            <a:ext cx="4282886" cy="4525963"/>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800"/>
              <a:buFont typeface="Arial"/>
              <a:buChar char="•"/>
            </a:pPr>
            <a:r>
              <a:rPr lang="en-US"/>
              <a:t>OS must be protected from unauthorized access by user process</a:t>
            </a:r>
            <a:endParaRPr/>
          </a:p>
          <a:p>
            <a:pPr indent="-285750" lvl="0" marL="285750" rtl="0" algn="l">
              <a:lnSpc>
                <a:spcPct val="90000"/>
              </a:lnSpc>
              <a:spcBef>
                <a:spcPts val="1000"/>
              </a:spcBef>
              <a:spcAft>
                <a:spcPts val="0"/>
              </a:spcAft>
              <a:buClr>
                <a:schemeClr val="dk1"/>
              </a:buClr>
              <a:buSzPts val="2800"/>
              <a:buFont typeface="Arial"/>
              <a:buChar char="•"/>
            </a:pPr>
            <a:r>
              <a:rPr lang="en-US"/>
              <a:t>User processes must be protected from each other</a:t>
            </a:r>
            <a:endParaRPr/>
          </a:p>
          <a:p>
            <a:pPr indent="-285750" lvl="0" marL="285750" rtl="0" algn="l">
              <a:lnSpc>
                <a:spcPct val="90000"/>
              </a:lnSpc>
              <a:spcBef>
                <a:spcPts val="1000"/>
              </a:spcBef>
              <a:spcAft>
                <a:spcPts val="0"/>
              </a:spcAft>
              <a:buClr>
                <a:schemeClr val="dk1"/>
              </a:buClr>
              <a:buSzPts val="2800"/>
              <a:buFont typeface="Arial"/>
              <a:buChar char="•"/>
            </a:pPr>
            <a:r>
              <a:rPr lang="en-US"/>
              <a:t>Each process has range of legal addresses to access</a:t>
            </a:r>
            <a:endParaRPr/>
          </a:p>
          <a:p>
            <a:pPr indent="-285750" lvl="0" marL="285750" rtl="0" algn="l">
              <a:lnSpc>
                <a:spcPct val="90000"/>
              </a:lnSpc>
              <a:spcBef>
                <a:spcPts val="1000"/>
              </a:spcBef>
              <a:spcAft>
                <a:spcPts val="0"/>
              </a:spcAft>
              <a:buClr>
                <a:schemeClr val="dk1"/>
              </a:buClr>
              <a:buSzPts val="2800"/>
              <a:buFont typeface="Arial"/>
              <a:buChar char="•"/>
            </a:pPr>
            <a:r>
              <a:rPr lang="en-US"/>
              <a:t>Base register and limit register ensure process can access only addresses within the legal range</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
        <p:nvSpPr>
          <p:cNvPr id="165" name="Google Shape;165;p14"/>
          <p:cNvSpPr txBox="1"/>
          <p:nvPr/>
        </p:nvSpPr>
        <p:spPr>
          <a:xfrm>
            <a:off x="1331640" y="5877272"/>
            <a:ext cx="23157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Image courtesy: Galvin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5"/>
          <p:cNvSpPr txBox="1"/>
          <p:nvPr>
            <p:ph type="title"/>
          </p:nvPr>
        </p:nvSpPr>
        <p:spPr>
          <a:xfrm>
            <a:off x="1060450" y="163513"/>
            <a:ext cx="67643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Basic Hardware</a:t>
            </a:r>
            <a:endParaRPr/>
          </a:p>
        </p:txBody>
      </p:sp>
      <p:sp>
        <p:nvSpPr>
          <p:cNvPr id="172" name="Google Shape;172;p15"/>
          <p:cNvSpPr txBox="1"/>
          <p:nvPr>
            <p:ph idx="1" type="body"/>
          </p:nvPr>
        </p:nvSpPr>
        <p:spPr>
          <a:xfrm>
            <a:off x="863600" y="1250950"/>
            <a:ext cx="6578600"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We first need to make sure that each process has a separate memory space. </a:t>
            </a:r>
            <a:endParaRPr/>
          </a:p>
          <a:p>
            <a:pPr indent="-342900" lvl="0" marL="342900" rtl="0" algn="l">
              <a:spcBef>
                <a:spcPts val="630"/>
              </a:spcBef>
              <a:spcAft>
                <a:spcPts val="0"/>
              </a:spcAft>
              <a:buSzPts val="1620"/>
              <a:buChar char="●"/>
            </a:pPr>
            <a:r>
              <a:rPr b="1" lang="en-US"/>
              <a:t>Determine the range of legal addresses that the process may access </a:t>
            </a:r>
            <a:endParaRPr/>
          </a:p>
          <a:p>
            <a:pPr indent="-342900" lvl="0" marL="342900" rtl="0" algn="l">
              <a:spcBef>
                <a:spcPts val="630"/>
              </a:spcBef>
              <a:spcAft>
                <a:spcPts val="0"/>
              </a:spcAft>
              <a:buSzPts val="1620"/>
              <a:buChar char="●"/>
            </a:pPr>
            <a:r>
              <a:rPr b="1" lang="en-US"/>
              <a:t>To ensure that the process can access only these legal addresses. </a:t>
            </a:r>
            <a:endParaRPr/>
          </a:p>
          <a:p>
            <a:pPr indent="-342900" lvl="0" marL="342900" rtl="0" algn="l">
              <a:spcBef>
                <a:spcPts val="630"/>
              </a:spcBef>
              <a:spcAft>
                <a:spcPts val="0"/>
              </a:spcAft>
              <a:buSzPts val="1620"/>
              <a:buChar char="●"/>
            </a:pPr>
            <a:r>
              <a:rPr b="1" lang="en-US"/>
              <a:t>We can provide this protection by using two registers, usually a base and a limit.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6"/>
          <p:cNvSpPr txBox="1"/>
          <p:nvPr>
            <p:ph type="title"/>
          </p:nvPr>
        </p:nvSpPr>
        <p:spPr>
          <a:xfrm>
            <a:off x="1060450" y="163513"/>
            <a:ext cx="67643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Base and Limit Registers</a:t>
            </a:r>
            <a:endParaRPr/>
          </a:p>
        </p:txBody>
      </p:sp>
      <p:sp>
        <p:nvSpPr>
          <p:cNvPr id="179" name="Google Shape;179;p16"/>
          <p:cNvSpPr txBox="1"/>
          <p:nvPr>
            <p:ph idx="1" type="body"/>
          </p:nvPr>
        </p:nvSpPr>
        <p:spPr>
          <a:xfrm>
            <a:off x="863600" y="1250950"/>
            <a:ext cx="7591425"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Base Register-Holds the smallest legal physical memory address</a:t>
            </a:r>
            <a:endParaRPr/>
          </a:p>
          <a:p>
            <a:pPr indent="-342900" lvl="0" marL="342900" rtl="0" algn="l">
              <a:spcBef>
                <a:spcPts val="630"/>
              </a:spcBef>
              <a:spcAft>
                <a:spcPts val="0"/>
              </a:spcAft>
              <a:buSzPts val="1620"/>
              <a:buChar char="●"/>
            </a:pPr>
            <a:r>
              <a:rPr lang="en-US"/>
              <a:t>Limit Register- specifies the size of the range. </a:t>
            </a:r>
            <a:endParaRPr/>
          </a:p>
          <a:p>
            <a:pPr indent="-240030" lvl="0" marL="342900" rtl="0" algn="l">
              <a:spcBef>
                <a:spcPts val="630"/>
              </a:spcBef>
              <a:spcAft>
                <a:spcPts val="0"/>
              </a:spcAft>
              <a:buSzPts val="162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7"/>
          <p:cNvSpPr txBox="1"/>
          <p:nvPr>
            <p:ph type="title"/>
          </p:nvPr>
        </p:nvSpPr>
        <p:spPr>
          <a:xfrm>
            <a:off x="1060450" y="163513"/>
            <a:ext cx="67643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Base and Limit Registers</a:t>
            </a:r>
            <a:endParaRPr/>
          </a:p>
        </p:txBody>
      </p:sp>
      <p:sp>
        <p:nvSpPr>
          <p:cNvPr id="186" name="Google Shape;186;p17"/>
          <p:cNvSpPr txBox="1"/>
          <p:nvPr>
            <p:ph idx="1" type="body"/>
          </p:nvPr>
        </p:nvSpPr>
        <p:spPr>
          <a:xfrm>
            <a:off x="725488" y="1001713"/>
            <a:ext cx="7642225"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For example, </a:t>
            </a:r>
            <a:endParaRPr/>
          </a:p>
          <a:p>
            <a:pPr indent="-342900" lvl="0" marL="342900" rtl="0" algn="l">
              <a:spcBef>
                <a:spcPts val="630"/>
              </a:spcBef>
              <a:spcAft>
                <a:spcPts val="0"/>
              </a:spcAft>
              <a:buSzPts val="1620"/>
              <a:buChar char="●"/>
            </a:pPr>
            <a:r>
              <a:rPr lang="en-US"/>
              <a:t>if the base register holds 300040 </a:t>
            </a:r>
            <a:endParaRPr/>
          </a:p>
          <a:p>
            <a:pPr indent="-342900" lvl="0" marL="342900" rtl="0" algn="l">
              <a:spcBef>
                <a:spcPts val="630"/>
              </a:spcBef>
              <a:spcAft>
                <a:spcPts val="0"/>
              </a:spcAft>
              <a:buSzPts val="1620"/>
              <a:buChar char="●"/>
            </a:pPr>
            <a:r>
              <a:rPr lang="en-US"/>
              <a:t>and the limit register is 120900, </a:t>
            </a:r>
            <a:endParaRPr/>
          </a:p>
          <a:p>
            <a:pPr indent="-342900" lvl="0" marL="342900" rtl="0" algn="l">
              <a:spcBef>
                <a:spcPts val="630"/>
              </a:spcBef>
              <a:spcAft>
                <a:spcPts val="0"/>
              </a:spcAft>
              <a:buSzPts val="1620"/>
              <a:buChar char="●"/>
            </a:pPr>
            <a:r>
              <a:rPr lang="en-US"/>
              <a:t>then the program can legally access all addresses from 30 0040 through 420939 (inclusive).</a:t>
            </a:r>
            <a:endParaRPr/>
          </a:p>
        </p:txBody>
      </p:sp>
      <p:pic>
        <p:nvPicPr>
          <p:cNvPr id="187" name="Google Shape;187;p17"/>
          <p:cNvPicPr preferRelativeResize="0"/>
          <p:nvPr/>
        </p:nvPicPr>
        <p:blipFill rotWithShape="1">
          <a:blip r:embed="rId3">
            <a:alphaModFix/>
          </a:blip>
          <a:srcRect b="0" l="0" r="0" t="0"/>
          <a:stretch/>
        </p:blipFill>
        <p:spPr>
          <a:xfrm>
            <a:off x="2492375" y="3050397"/>
            <a:ext cx="4159250" cy="3124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8"/>
          <p:cNvSpPr txBox="1"/>
          <p:nvPr>
            <p:ph type="title"/>
          </p:nvPr>
        </p:nvSpPr>
        <p:spPr>
          <a:xfrm>
            <a:off x="1060450" y="163513"/>
            <a:ext cx="67643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Base and Limit Registers</a:t>
            </a:r>
            <a:endParaRPr/>
          </a:p>
        </p:txBody>
      </p:sp>
      <p:sp>
        <p:nvSpPr>
          <p:cNvPr id="194" name="Google Shape;194;p18"/>
          <p:cNvSpPr txBox="1"/>
          <p:nvPr>
            <p:ph idx="1" type="body"/>
          </p:nvPr>
        </p:nvSpPr>
        <p:spPr>
          <a:xfrm>
            <a:off x="863600" y="1250950"/>
            <a:ext cx="7591425"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Protection of memory space is accomplished by having the CPU hardware compare </a:t>
            </a:r>
            <a:r>
              <a:rPr i="1" lang="en-US"/>
              <a:t>every </a:t>
            </a:r>
            <a:r>
              <a:rPr lang="en-US"/>
              <a:t>address generated in user mode with the registers. </a:t>
            </a:r>
            <a:endParaRPr/>
          </a:p>
          <a:p>
            <a:pPr indent="-342900" lvl="0" marL="342900" rtl="0" algn="l">
              <a:spcBef>
                <a:spcPts val="630"/>
              </a:spcBef>
              <a:spcAft>
                <a:spcPts val="0"/>
              </a:spcAft>
              <a:buSzPts val="1620"/>
              <a:buChar char="●"/>
            </a:pPr>
            <a:r>
              <a:rPr lang="en-US"/>
              <a:t>Any attempt by a program executing in user mode to access operating-system memory or other users' memory </a:t>
            </a:r>
            <a:endParaRPr/>
          </a:p>
          <a:p>
            <a:pPr indent="-342900" lvl="0" marL="342900" rtl="0" algn="l">
              <a:spcBef>
                <a:spcPts val="630"/>
              </a:spcBef>
              <a:spcAft>
                <a:spcPts val="0"/>
              </a:spcAft>
              <a:buSzPts val="1620"/>
              <a:buChar char="●"/>
            </a:pPr>
            <a:r>
              <a:rPr lang="en-US"/>
              <a:t>Results in a trap to the operating system, which treats the attempt as a fatal error</a:t>
            </a:r>
            <a:endParaRPr/>
          </a:p>
          <a:p>
            <a:pPr indent="-342900" lvl="0" marL="342900" rtl="0" algn="l">
              <a:spcBef>
                <a:spcPts val="630"/>
              </a:spcBef>
              <a:spcAft>
                <a:spcPts val="0"/>
              </a:spcAft>
              <a:buSzPts val="1620"/>
              <a:buChar char="●"/>
            </a:pPr>
            <a:r>
              <a:rPr b="1" lang="en-US"/>
              <a:t>This scheme prevents a user program from (accidentally or deliberately) modifying the code or data structures of either the operating system or other users.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9"/>
          <p:cNvSpPr txBox="1"/>
          <p:nvPr>
            <p:ph type="title"/>
          </p:nvPr>
        </p:nvSpPr>
        <p:spPr>
          <a:xfrm>
            <a:off x="1265238" y="112713"/>
            <a:ext cx="65595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Base and Limit Registers</a:t>
            </a:r>
            <a:endParaRPr/>
          </a:p>
        </p:txBody>
      </p:sp>
      <p:sp>
        <p:nvSpPr>
          <p:cNvPr id="201" name="Google Shape;201;p19"/>
          <p:cNvSpPr txBox="1"/>
          <p:nvPr>
            <p:ph idx="1" type="body"/>
          </p:nvPr>
        </p:nvSpPr>
        <p:spPr>
          <a:xfrm>
            <a:off x="950913" y="995363"/>
            <a:ext cx="7351712"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CPU must check every memory access generated in user mode to be sure it is between base and limit for that user</a:t>
            </a:r>
            <a:endParaRPr/>
          </a:p>
        </p:txBody>
      </p:sp>
      <p:pic>
        <p:nvPicPr>
          <p:cNvPr descr="8.02.pdf" id="202" name="Google Shape;202;p19"/>
          <p:cNvPicPr preferRelativeResize="0"/>
          <p:nvPr/>
        </p:nvPicPr>
        <p:blipFill rotWithShape="1">
          <a:blip r:embed="rId3">
            <a:alphaModFix/>
          </a:blip>
          <a:srcRect b="-12790" l="0" r="0" t="-12790"/>
          <a:stretch/>
        </p:blipFill>
        <p:spPr>
          <a:xfrm>
            <a:off x="1514475" y="2178050"/>
            <a:ext cx="6324600" cy="3482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0"/>
          <p:cNvSpPr txBox="1"/>
          <p:nvPr>
            <p:ph type="title"/>
          </p:nvPr>
        </p:nvSpPr>
        <p:spPr>
          <a:xfrm>
            <a:off x="1060450" y="163513"/>
            <a:ext cx="67643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Hardware Address Protection</a:t>
            </a:r>
            <a:endParaRPr/>
          </a:p>
        </p:txBody>
      </p:sp>
      <p:sp>
        <p:nvSpPr>
          <p:cNvPr id="209" name="Google Shape;209;p20"/>
          <p:cNvSpPr txBox="1"/>
          <p:nvPr>
            <p:ph idx="1" type="body"/>
          </p:nvPr>
        </p:nvSpPr>
        <p:spPr>
          <a:xfrm>
            <a:off x="863600" y="1250950"/>
            <a:ext cx="7591425"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t>The base and limit registers can be loaded only by the operating system</a:t>
            </a:r>
            <a:r>
              <a:rPr lang="en-US"/>
              <a:t>, which uses a special privileged instruction. </a:t>
            </a:r>
            <a:endParaRPr/>
          </a:p>
          <a:p>
            <a:pPr indent="-342900" lvl="0" marL="342900" rtl="0" algn="l">
              <a:spcBef>
                <a:spcPts val="630"/>
              </a:spcBef>
              <a:spcAft>
                <a:spcPts val="0"/>
              </a:spcAft>
              <a:buSzPts val="1620"/>
              <a:buChar char="●"/>
            </a:pPr>
            <a:r>
              <a:rPr lang="en-US"/>
              <a:t>Since privileged instructions can be executed only in kernel mode, </a:t>
            </a:r>
            <a:endParaRPr/>
          </a:p>
          <a:p>
            <a:pPr indent="-342900" lvl="0" marL="342900" rtl="0" algn="l">
              <a:spcBef>
                <a:spcPts val="630"/>
              </a:spcBef>
              <a:spcAft>
                <a:spcPts val="0"/>
              </a:spcAft>
              <a:buSzPts val="1620"/>
              <a:buChar char="●"/>
            </a:pPr>
            <a:r>
              <a:rPr lang="en-US"/>
              <a:t>since only the operating system executes in kernel mode, </a:t>
            </a:r>
            <a:endParaRPr/>
          </a:p>
          <a:p>
            <a:pPr indent="-342900" lvl="0" marL="342900" rtl="0" algn="l">
              <a:spcBef>
                <a:spcPts val="630"/>
              </a:spcBef>
              <a:spcAft>
                <a:spcPts val="0"/>
              </a:spcAft>
              <a:buSzPts val="1620"/>
              <a:buChar char="●"/>
            </a:pPr>
            <a:r>
              <a:rPr lang="en-US"/>
              <a:t>only the operating system can load the base and limit registers.</a:t>
            </a:r>
            <a:endParaRPr/>
          </a:p>
          <a:p>
            <a:pPr indent="-342900" lvl="0" marL="342900" rtl="0" algn="l">
              <a:spcBef>
                <a:spcPts val="630"/>
              </a:spcBef>
              <a:spcAft>
                <a:spcPts val="0"/>
              </a:spcAft>
              <a:buSzPts val="1620"/>
              <a:buChar char="●"/>
            </a:pPr>
            <a:r>
              <a:rPr b="1" lang="en-US"/>
              <a:t>This scheme allows the operating system to change the value of the registers but prevents user programs from changing the registers' contents.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1"/>
          <p:cNvSpPr txBox="1"/>
          <p:nvPr>
            <p:ph type="title"/>
          </p:nvPr>
        </p:nvSpPr>
        <p:spPr>
          <a:xfrm>
            <a:off x="941388" y="153988"/>
            <a:ext cx="774541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Hardware Address Protection</a:t>
            </a:r>
            <a:endParaRPr/>
          </a:p>
        </p:txBody>
      </p:sp>
      <p:sp>
        <p:nvSpPr>
          <p:cNvPr id="215" name="Google Shape;215;p21"/>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The operating system, executing in kernel mode, is given unrestricted access to both operating system memory and users' memory. </a:t>
            </a:r>
            <a:endParaRPr/>
          </a:p>
          <a:p>
            <a:pPr indent="-342900" lvl="0" marL="342900" rtl="0" algn="l">
              <a:spcBef>
                <a:spcPts val="630"/>
              </a:spcBef>
              <a:spcAft>
                <a:spcPts val="0"/>
              </a:spcAft>
              <a:buSzPts val="1620"/>
              <a:buChar char="●"/>
            </a:pPr>
            <a:r>
              <a:rPr lang="en-US"/>
              <a:t>This provision allows the operating system </a:t>
            </a:r>
            <a:endParaRPr/>
          </a:p>
          <a:p>
            <a:pPr indent="-342900" lvl="0" marL="342900" rtl="0" algn="l">
              <a:spcBef>
                <a:spcPts val="630"/>
              </a:spcBef>
              <a:spcAft>
                <a:spcPts val="0"/>
              </a:spcAft>
              <a:buSzPts val="1620"/>
              <a:buChar char="●"/>
            </a:pPr>
            <a:r>
              <a:rPr lang="en-US"/>
              <a:t>to load users' programs into users' memory, </a:t>
            </a:r>
            <a:endParaRPr/>
          </a:p>
          <a:p>
            <a:pPr indent="-342900" lvl="0" marL="342900" rtl="0" algn="l">
              <a:spcBef>
                <a:spcPts val="630"/>
              </a:spcBef>
              <a:spcAft>
                <a:spcPts val="0"/>
              </a:spcAft>
              <a:buSzPts val="1620"/>
              <a:buChar char="●"/>
            </a:pPr>
            <a:r>
              <a:rPr lang="en-US"/>
              <a:t>to dump out those programs in case of errors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2"/>
          <p:cNvSpPr txBox="1"/>
          <p:nvPr>
            <p:ph type="title"/>
          </p:nvPr>
        </p:nvSpPr>
        <p:spPr>
          <a:xfrm>
            <a:off x="457200" y="1889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Address Binding</a:t>
            </a:r>
            <a:endParaRPr/>
          </a:p>
        </p:txBody>
      </p:sp>
      <p:sp>
        <p:nvSpPr>
          <p:cNvPr id="221" name="Google Shape;221;p22"/>
          <p:cNvSpPr txBox="1"/>
          <p:nvPr>
            <p:ph idx="1" type="body"/>
          </p:nvPr>
        </p:nvSpPr>
        <p:spPr>
          <a:xfrm>
            <a:off x="819150" y="1144588"/>
            <a:ext cx="7448550" cy="49260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440"/>
              <a:buChar char="●"/>
            </a:pPr>
            <a:r>
              <a:rPr lang="en-US" sz="1600"/>
              <a:t>Usually, a program resides on a disk as a binary executable file. </a:t>
            </a:r>
            <a:endParaRPr/>
          </a:p>
          <a:p>
            <a:pPr indent="-342900" lvl="0" marL="342900" rtl="0" algn="l">
              <a:spcBef>
                <a:spcPts val="560"/>
              </a:spcBef>
              <a:spcAft>
                <a:spcPts val="0"/>
              </a:spcAft>
              <a:buSzPts val="1440"/>
              <a:buChar char="●"/>
            </a:pPr>
            <a:r>
              <a:rPr lang="en-US" sz="1600"/>
              <a:t>To be executed, the program must be brought into memory and placed within a process.</a:t>
            </a:r>
            <a:endParaRPr/>
          </a:p>
          <a:p>
            <a:pPr indent="-342900" lvl="0" marL="342900" rtl="0" algn="l">
              <a:spcBef>
                <a:spcPts val="560"/>
              </a:spcBef>
              <a:spcAft>
                <a:spcPts val="0"/>
              </a:spcAft>
              <a:buSzPts val="1440"/>
              <a:buChar char="●"/>
            </a:pPr>
            <a:r>
              <a:rPr lang="en-US" sz="1600"/>
              <a:t>Programs on disk, ready to be brought into memory to execute form an </a:t>
            </a:r>
            <a:r>
              <a:rPr b="1" lang="en-US" sz="1600">
                <a:solidFill>
                  <a:srgbClr val="0000FF"/>
                </a:solidFill>
              </a:rPr>
              <a:t>input queue</a:t>
            </a:r>
            <a:endParaRPr/>
          </a:p>
          <a:p>
            <a:pPr indent="-342900" lvl="0" marL="342900" rtl="0" algn="l">
              <a:spcBef>
                <a:spcPts val="560"/>
              </a:spcBef>
              <a:spcAft>
                <a:spcPts val="0"/>
              </a:spcAft>
              <a:buSzPts val="1440"/>
              <a:buChar char="●"/>
            </a:pPr>
            <a:r>
              <a:rPr lang="en-US" sz="1600"/>
              <a:t>The normal procedure is to select one of the processes in the input queue and to load that process into memory. </a:t>
            </a:r>
            <a:endParaRPr/>
          </a:p>
          <a:p>
            <a:pPr indent="-342900" lvl="0" marL="342900" rtl="0" algn="l">
              <a:spcBef>
                <a:spcPts val="560"/>
              </a:spcBef>
              <a:spcAft>
                <a:spcPts val="0"/>
              </a:spcAft>
              <a:buSzPts val="1440"/>
              <a:buChar char="●"/>
            </a:pPr>
            <a:r>
              <a:rPr lang="en-US" sz="1600"/>
              <a:t>As the process is executed, it accesses instructions and data from memory. </a:t>
            </a:r>
            <a:endParaRPr/>
          </a:p>
          <a:p>
            <a:pPr indent="-342900" lvl="0" marL="342900" rtl="0" algn="l">
              <a:spcBef>
                <a:spcPts val="560"/>
              </a:spcBef>
              <a:spcAft>
                <a:spcPts val="0"/>
              </a:spcAft>
              <a:buSzPts val="1440"/>
              <a:buChar char="●"/>
            </a:pPr>
            <a:r>
              <a:rPr lang="en-US" sz="1600"/>
              <a:t>Eventually, the process terminates, and its memory space is declared available.</a:t>
            </a:r>
            <a:endParaRPr b="1" sz="1600">
              <a:solidFill>
                <a:srgbClr val="0000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3"/>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Address binding</a:t>
            </a:r>
            <a:endParaRPr/>
          </a:p>
        </p:txBody>
      </p:sp>
      <p:sp>
        <p:nvSpPr>
          <p:cNvPr id="227" name="Google Shape;227;p23"/>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User processes reside in any part of main memory</a:t>
            </a:r>
            <a:endParaRPr/>
          </a:p>
          <a:p>
            <a:pPr indent="-285750" lvl="0" marL="285750" rtl="0" algn="l">
              <a:lnSpc>
                <a:spcPct val="90000"/>
              </a:lnSpc>
              <a:spcBef>
                <a:spcPts val="1000"/>
              </a:spcBef>
              <a:spcAft>
                <a:spcPts val="0"/>
              </a:spcAft>
              <a:buClr>
                <a:schemeClr val="dk1"/>
              </a:buClr>
              <a:buSzPts val="2800"/>
              <a:buFont typeface="Arial"/>
              <a:buChar char="•"/>
            </a:pPr>
            <a:r>
              <a:rPr lang="en-US"/>
              <a:t>Computer address space starts at 00000</a:t>
            </a:r>
            <a:endParaRPr/>
          </a:p>
          <a:p>
            <a:pPr indent="-285750" lvl="0" marL="285750" rtl="0" algn="l">
              <a:lnSpc>
                <a:spcPct val="90000"/>
              </a:lnSpc>
              <a:spcBef>
                <a:spcPts val="1000"/>
              </a:spcBef>
              <a:spcAft>
                <a:spcPts val="0"/>
              </a:spcAft>
              <a:buClr>
                <a:schemeClr val="dk1"/>
              </a:buClr>
              <a:buSzPts val="2800"/>
              <a:buFont typeface="Arial"/>
              <a:buChar char="•"/>
            </a:pPr>
            <a:r>
              <a:rPr lang="en-US"/>
              <a:t>But user process need not be loaded at 00000</a:t>
            </a:r>
            <a:endParaRPr/>
          </a:p>
          <a:p>
            <a:pPr indent="-285750" lvl="0" marL="285750" rtl="0" algn="l">
              <a:lnSpc>
                <a:spcPct val="90000"/>
              </a:lnSpc>
              <a:spcBef>
                <a:spcPts val="1000"/>
              </a:spcBef>
              <a:spcAft>
                <a:spcPts val="0"/>
              </a:spcAft>
              <a:buClr>
                <a:schemeClr val="dk1"/>
              </a:buClr>
              <a:buSzPts val="2800"/>
              <a:buFont typeface="Arial"/>
              <a:buChar char="•"/>
            </a:pPr>
            <a:r>
              <a:rPr lang="en-US"/>
              <a:t>The program is processed by various system softwares before being executed such as macro processor, compiler, linker, loader etc..</a:t>
            </a:r>
            <a:endParaRPr/>
          </a:p>
          <a:p>
            <a:pPr indent="-285750" lvl="0" marL="285750" rtl="0" algn="l">
              <a:lnSpc>
                <a:spcPct val="90000"/>
              </a:lnSpc>
              <a:spcBef>
                <a:spcPts val="1000"/>
              </a:spcBef>
              <a:spcAft>
                <a:spcPts val="0"/>
              </a:spcAft>
              <a:buClr>
                <a:schemeClr val="dk1"/>
              </a:buClr>
              <a:buSzPts val="2800"/>
              <a:buFont typeface="Arial"/>
              <a:buChar char="•"/>
            </a:pPr>
            <a:r>
              <a:rPr lang="en-US"/>
              <a:t>User program addresses may be represented in various ways during these executions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4"/>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Address binding.. contd</a:t>
            </a:r>
            <a:endParaRPr/>
          </a:p>
        </p:txBody>
      </p:sp>
      <p:sp>
        <p:nvSpPr>
          <p:cNvPr id="233" name="Google Shape;233;p24"/>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Addresses in source program are symbolic</a:t>
            </a:r>
            <a:endParaRPr/>
          </a:p>
          <a:p>
            <a:pPr indent="-285750" lvl="0" marL="285750" rtl="0" algn="l">
              <a:lnSpc>
                <a:spcPct val="90000"/>
              </a:lnSpc>
              <a:spcBef>
                <a:spcPts val="1000"/>
              </a:spcBef>
              <a:spcAft>
                <a:spcPts val="0"/>
              </a:spcAft>
              <a:buClr>
                <a:schemeClr val="dk1"/>
              </a:buClr>
              <a:buSzPts val="2800"/>
              <a:buFont typeface="Arial"/>
              <a:buChar char="•"/>
            </a:pPr>
            <a:r>
              <a:rPr lang="en-US"/>
              <a:t>Compiler binds symbolic addresses to relocatable addresses</a:t>
            </a:r>
            <a:endParaRPr/>
          </a:p>
          <a:p>
            <a:pPr indent="-285750" lvl="1" marL="742950" rtl="0" algn="l">
              <a:lnSpc>
                <a:spcPct val="90000"/>
              </a:lnSpc>
              <a:spcBef>
                <a:spcPts val="500"/>
              </a:spcBef>
              <a:spcAft>
                <a:spcPts val="0"/>
              </a:spcAft>
              <a:buClr>
                <a:schemeClr val="dk1"/>
              </a:buClr>
              <a:buSzPts val="2400"/>
              <a:buChar char="o"/>
            </a:pPr>
            <a:r>
              <a:rPr lang="en-US"/>
              <a:t>E,g. 14 bytes from beginning of this module</a:t>
            </a:r>
            <a:endParaRPr/>
          </a:p>
          <a:p>
            <a:pPr indent="-285750" lvl="0" marL="285750" rtl="0" algn="l">
              <a:lnSpc>
                <a:spcPct val="90000"/>
              </a:lnSpc>
              <a:spcBef>
                <a:spcPts val="1000"/>
              </a:spcBef>
              <a:spcAft>
                <a:spcPts val="0"/>
              </a:spcAft>
              <a:buClr>
                <a:schemeClr val="dk1"/>
              </a:buClr>
              <a:buSzPts val="2800"/>
              <a:buFont typeface="Arial"/>
              <a:buChar char="•"/>
            </a:pPr>
            <a:r>
              <a:rPr lang="en-US"/>
              <a:t>The linker or loaders turn relocatable addresses to absolute addresses</a:t>
            </a:r>
            <a:endParaRPr/>
          </a:p>
          <a:p>
            <a:pPr indent="-285750" lvl="0" marL="285750" rtl="0" algn="l">
              <a:lnSpc>
                <a:spcPct val="90000"/>
              </a:lnSpc>
              <a:spcBef>
                <a:spcPts val="1000"/>
              </a:spcBef>
              <a:spcAft>
                <a:spcPts val="0"/>
              </a:spcAft>
              <a:buClr>
                <a:schemeClr val="dk1"/>
              </a:buClr>
              <a:buSzPts val="2800"/>
              <a:buFont typeface="Arial"/>
              <a:buChar char="•"/>
            </a:pPr>
            <a:r>
              <a:rPr lang="en-US"/>
              <a:t>Each such binding is mapping from one address space to another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5"/>
          <p:cNvSpPr txBox="1"/>
          <p:nvPr>
            <p:ph type="title"/>
          </p:nvPr>
        </p:nvSpPr>
        <p:spPr>
          <a:xfrm>
            <a:off x="457200" y="1889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Address Binding</a:t>
            </a:r>
            <a:endParaRPr/>
          </a:p>
        </p:txBody>
      </p:sp>
      <p:sp>
        <p:nvSpPr>
          <p:cNvPr id="239" name="Google Shape;239;p25"/>
          <p:cNvSpPr txBox="1"/>
          <p:nvPr>
            <p:ph idx="1" type="body"/>
          </p:nvPr>
        </p:nvSpPr>
        <p:spPr>
          <a:xfrm>
            <a:off x="819150" y="1144588"/>
            <a:ext cx="7448550" cy="4926012"/>
          </a:xfrm>
          <a:prstGeom prst="rect">
            <a:avLst/>
          </a:prstGeom>
          <a:noFill/>
          <a:ln>
            <a:noFill/>
          </a:ln>
        </p:spPr>
        <p:txBody>
          <a:bodyPr anchorCtr="0" anchor="t" bIns="45700" lIns="91425" spcFirstLastPara="1" rIns="91425" wrap="square" tIns="45700">
            <a:noAutofit/>
          </a:bodyPr>
          <a:lstStyle/>
          <a:p>
            <a:pPr indent="-251459" lvl="0" marL="342900" rtl="0" algn="l">
              <a:spcBef>
                <a:spcPts val="0"/>
              </a:spcBef>
              <a:spcAft>
                <a:spcPts val="0"/>
              </a:spcAft>
              <a:buSzPts val="1440"/>
              <a:buNone/>
            </a:pPr>
            <a:r>
              <a:t/>
            </a:r>
            <a:endParaRPr b="1" sz="1600">
              <a:solidFill>
                <a:srgbClr val="0000FF"/>
              </a:solidFill>
            </a:endParaRPr>
          </a:p>
          <a:p>
            <a:pPr indent="-342900" lvl="0" marL="342900" rtl="0" algn="l">
              <a:spcBef>
                <a:spcPts val="560"/>
              </a:spcBef>
              <a:spcAft>
                <a:spcPts val="0"/>
              </a:spcAft>
              <a:buSzPts val="1440"/>
              <a:buChar char="●"/>
            </a:pPr>
            <a:r>
              <a:rPr lang="en-US" sz="1600"/>
              <a:t>Further, addresses represented in different ways at different stages of a program’s life</a:t>
            </a:r>
            <a:endParaRPr/>
          </a:p>
          <a:p>
            <a:pPr indent="-285750" lvl="1" marL="742950" rtl="0" algn="l">
              <a:spcBef>
                <a:spcPts val="560"/>
              </a:spcBef>
              <a:spcAft>
                <a:spcPts val="0"/>
              </a:spcAft>
              <a:buSzPts val="1280"/>
              <a:buChar char="●"/>
            </a:pPr>
            <a:r>
              <a:rPr lang="en-US" sz="1600"/>
              <a:t>Source code addresses are usually symbolic (Eg-count)</a:t>
            </a:r>
            <a:endParaRPr/>
          </a:p>
          <a:p>
            <a:pPr indent="-285750" lvl="1" marL="742950" rtl="0" algn="l">
              <a:spcBef>
                <a:spcPts val="560"/>
              </a:spcBef>
              <a:spcAft>
                <a:spcPts val="0"/>
              </a:spcAft>
              <a:buSzPts val="1280"/>
              <a:buChar char="●"/>
            </a:pPr>
            <a:r>
              <a:rPr lang="en-US" sz="1600"/>
              <a:t>A compiler will typically bind these symbolic addresses to relocatable addresses </a:t>
            </a:r>
            <a:endParaRPr/>
          </a:p>
          <a:p>
            <a:pPr indent="-228600" lvl="2" marL="1085850" rtl="0" algn="l">
              <a:spcBef>
                <a:spcPts val="560"/>
              </a:spcBef>
              <a:spcAft>
                <a:spcPts val="0"/>
              </a:spcAft>
              <a:buSzPts val="1200"/>
              <a:buChar char="4"/>
            </a:pPr>
            <a:r>
              <a:rPr b="1" lang="en-US" sz="1600"/>
              <a:t>i.e. “14 bytes from beginning of this module”</a:t>
            </a:r>
            <a:endParaRPr b="1" sz="1600"/>
          </a:p>
          <a:p>
            <a:pPr indent="-285750" lvl="1" marL="742950" rtl="0" algn="l">
              <a:spcBef>
                <a:spcPts val="560"/>
              </a:spcBef>
              <a:spcAft>
                <a:spcPts val="0"/>
              </a:spcAft>
              <a:buSzPts val="1280"/>
              <a:buChar char="●"/>
            </a:pPr>
            <a:r>
              <a:rPr lang="en-US" sz="1600"/>
              <a:t>Linker or loader will bind relocatable addresses to absolute addresses</a:t>
            </a:r>
            <a:endParaRPr/>
          </a:p>
          <a:p>
            <a:pPr indent="-228600" lvl="2" marL="1085850" rtl="0" algn="l">
              <a:spcBef>
                <a:spcPts val="560"/>
              </a:spcBef>
              <a:spcAft>
                <a:spcPts val="0"/>
              </a:spcAft>
              <a:buSzPts val="1200"/>
              <a:buChar char="4"/>
            </a:pPr>
            <a:r>
              <a:rPr lang="en-US" sz="1600"/>
              <a:t>i.e. 74014</a:t>
            </a:r>
            <a:endParaRPr/>
          </a:p>
          <a:p>
            <a:pPr indent="-285750" lvl="1" marL="742950" rtl="0" algn="l">
              <a:spcBef>
                <a:spcPts val="560"/>
              </a:spcBef>
              <a:spcAft>
                <a:spcPts val="0"/>
              </a:spcAft>
              <a:buSzPts val="1280"/>
              <a:buChar char="●"/>
            </a:pPr>
            <a:r>
              <a:rPr lang="en-US" sz="1600"/>
              <a:t>Each binding maps from one address space to another</a:t>
            </a:r>
            <a:endParaRPr/>
          </a:p>
          <a:p>
            <a:pPr indent="-342900" lvl="0" marL="342900" rtl="0" algn="l">
              <a:spcBef>
                <a:spcPts val="630"/>
              </a:spcBef>
              <a:spcAft>
                <a:spcPts val="0"/>
              </a:spcAft>
              <a:buSzPts val="1620"/>
              <a:buFont typeface="Arial"/>
              <a:buNone/>
            </a:pPr>
            <a:r>
              <a:t/>
            </a:r>
            <a:endParaRPr/>
          </a:p>
          <a:p>
            <a:pPr indent="-194309" lvl="1" marL="742950" rtl="0" algn="l">
              <a:spcBef>
                <a:spcPts val="630"/>
              </a:spcBef>
              <a:spcAft>
                <a:spcPts val="0"/>
              </a:spcAft>
              <a:buSzPts val="144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6"/>
          <p:cNvSpPr txBox="1"/>
          <p:nvPr>
            <p:ph type="title"/>
          </p:nvPr>
        </p:nvSpPr>
        <p:spPr>
          <a:xfrm>
            <a:off x="1123950" y="290513"/>
            <a:ext cx="813435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Binding of Instructions and Data to Memory</a:t>
            </a:r>
            <a:endParaRPr/>
          </a:p>
        </p:txBody>
      </p:sp>
      <p:sp>
        <p:nvSpPr>
          <p:cNvPr id="246" name="Google Shape;246;p26"/>
          <p:cNvSpPr txBox="1"/>
          <p:nvPr>
            <p:ph idx="1" type="body"/>
          </p:nvPr>
        </p:nvSpPr>
        <p:spPr>
          <a:xfrm>
            <a:off x="971550" y="962025"/>
            <a:ext cx="7131000"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Font typeface="Arial"/>
              <a:buNone/>
            </a:pPr>
            <a:r>
              <a:t/>
            </a:r>
            <a:endParaRPr/>
          </a:p>
          <a:p>
            <a:pPr indent="-342900" lvl="0" marL="342900" rtl="0" algn="l">
              <a:spcBef>
                <a:spcPts val="630"/>
              </a:spcBef>
              <a:spcAft>
                <a:spcPts val="0"/>
              </a:spcAft>
              <a:buSzPts val="1620"/>
              <a:buChar char="●"/>
            </a:pPr>
            <a:r>
              <a:rPr lang="en-US"/>
              <a:t>The binding of instructions and data to memory addresses i.e. </a:t>
            </a:r>
            <a:endParaRPr/>
          </a:p>
          <a:p>
            <a:pPr indent="-342900" lvl="0" marL="342900" rtl="0" algn="l">
              <a:spcBef>
                <a:spcPts val="630"/>
              </a:spcBef>
              <a:spcAft>
                <a:spcPts val="0"/>
              </a:spcAft>
              <a:buSzPts val="1620"/>
              <a:buChar char="●"/>
            </a:pPr>
            <a:r>
              <a:rPr lang="en-US"/>
              <a:t>Address binding of instructions and data to memory addresses can happen at three different stages</a:t>
            </a:r>
            <a:endParaRPr/>
          </a:p>
          <a:p>
            <a:pPr indent="-285750" lvl="1" marL="742950" rtl="0" algn="l">
              <a:spcBef>
                <a:spcPts val="630"/>
              </a:spcBef>
              <a:spcAft>
                <a:spcPts val="0"/>
              </a:spcAft>
              <a:buSzPts val="1440"/>
              <a:buChar char="●"/>
            </a:pPr>
            <a:r>
              <a:rPr b="1" lang="en-US"/>
              <a:t>Compile time</a:t>
            </a:r>
            <a:endParaRPr/>
          </a:p>
          <a:p>
            <a:pPr indent="-285750" lvl="1" marL="742950" rtl="0" algn="l">
              <a:spcBef>
                <a:spcPts val="630"/>
              </a:spcBef>
              <a:spcAft>
                <a:spcPts val="0"/>
              </a:spcAft>
              <a:buSzPts val="1440"/>
              <a:buChar char="●"/>
            </a:pPr>
            <a:r>
              <a:rPr b="1" lang="en-US"/>
              <a:t>Load time</a:t>
            </a:r>
            <a:endParaRPr/>
          </a:p>
          <a:p>
            <a:pPr indent="-285750" lvl="1" marL="742950" rtl="0" algn="l">
              <a:spcBef>
                <a:spcPts val="630"/>
              </a:spcBef>
              <a:spcAft>
                <a:spcPts val="0"/>
              </a:spcAft>
              <a:buSzPts val="1440"/>
              <a:buChar char="●"/>
            </a:pPr>
            <a:r>
              <a:rPr b="1" lang="en-US"/>
              <a:t>Execution time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7"/>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Binding instructions &amp; data to memory</a:t>
            </a:r>
            <a:endParaRPr/>
          </a:p>
        </p:txBody>
      </p:sp>
      <p:sp>
        <p:nvSpPr>
          <p:cNvPr id="252" name="Google Shape;252;p27"/>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285750" lvl="0" marL="285750" rtl="0" algn="l">
              <a:lnSpc>
                <a:spcPct val="90000"/>
              </a:lnSpc>
              <a:spcBef>
                <a:spcPts val="0"/>
              </a:spcBef>
              <a:spcAft>
                <a:spcPts val="0"/>
              </a:spcAft>
              <a:buClr>
                <a:schemeClr val="dk1"/>
              </a:buClr>
              <a:buSzPct val="100000"/>
              <a:buFont typeface="Arial"/>
              <a:buChar char="•"/>
            </a:pPr>
            <a:r>
              <a:rPr lang="en-US"/>
              <a:t>Can be done at any step during execution based on available info</a:t>
            </a:r>
            <a:endParaRPr/>
          </a:p>
          <a:p>
            <a:pPr indent="-285750" lvl="0" marL="285750" rtl="0" algn="l">
              <a:lnSpc>
                <a:spcPct val="90000"/>
              </a:lnSpc>
              <a:spcBef>
                <a:spcPts val="1000"/>
              </a:spcBef>
              <a:spcAft>
                <a:spcPts val="0"/>
              </a:spcAft>
              <a:buClr>
                <a:schemeClr val="dk1"/>
              </a:buClr>
              <a:buSzPct val="100000"/>
              <a:buFont typeface="Arial"/>
              <a:buChar char="•"/>
            </a:pPr>
            <a:r>
              <a:rPr lang="en-US"/>
              <a:t>If known at Compile time: </a:t>
            </a:r>
            <a:endParaRPr/>
          </a:p>
          <a:p>
            <a:pPr indent="-285750" lvl="1" marL="742950" rtl="0" algn="l">
              <a:lnSpc>
                <a:spcPct val="90000"/>
              </a:lnSpc>
              <a:spcBef>
                <a:spcPts val="500"/>
              </a:spcBef>
              <a:spcAft>
                <a:spcPts val="0"/>
              </a:spcAft>
              <a:buClr>
                <a:schemeClr val="dk1"/>
              </a:buClr>
              <a:buSzPct val="100000"/>
              <a:buChar char="o"/>
            </a:pPr>
            <a:r>
              <a:rPr lang="en-US"/>
              <a:t>generates </a:t>
            </a:r>
            <a:r>
              <a:rPr b="1" lang="en-US">
                <a:solidFill>
                  <a:srgbClr val="C00000"/>
                </a:solidFill>
              </a:rPr>
              <a:t>absolute code </a:t>
            </a:r>
            <a:r>
              <a:rPr lang="en-US"/>
              <a:t>that resides at given memory.</a:t>
            </a:r>
            <a:endParaRPr/>
          </a:p>
          <a:p>
            <a:pPr indent="-285750" lvl="1" marL="742950" rtl="0" algn="l">
              <a:lnSpc>
                <a:spcPct val="90000"/>
              </a:lnSpc>
              <a:spcBef>
                <a:spcPts val="500"/>
              </a:spcBef>
              <a:spcAft>
                <a:spcPts val="0"/>
              </a:spcAft>
              <a:buClr>
                <a:schemeClr val="dk1"/>
              </a:buClr>
              <a:buSzPct val="100000"/>
              <a:buChar char="o"/>
            </a:pPr>
            <a:r>
              <a:rPr lang="en-US"/>
              <a:t> Re-compile if the starting location changes</a:t>
            </a:r>
            <a:endParaRPr/>
          </a:p>
          <a:p>
            <a:pPr indent="-285750" lvl="0" marL="285750" rtl="0" algn="l">
              <a:lnSpc>
                <a:spcPct val="90000"/>
              </a:lnSpc>
              <a:spcBef>
                <a:spcPts val="1000"/>
              </a:spcBef>
              <a:spcAft>
                <a:spcPts val="0"/>
              </a:spcAft>
              <a:buClr>
                <a:schemeClr val="dk1"/>
              </a:buClr>
              <a:buSzPct val="100000"/>
              <a:buFont typeface="Arial"/>
              <a:buChar char="•"/>
            </a:pPr>
            <a:r>
              <a:rPr lang="en-US"/>
              <a:t>If known at Load time but not at compile time:</a:t>
            </a:r>
            <a:endParaRPr/>
          </a:p>
          <a:p>
            <a:pPr indent="-285750" lvl="1" marL="742950" rtl="0" algn="l">
              <a:lnSpc>
                <a:spcPct val="90000"/>
              </a:lnSpc>
              <a:spcBef>
                <a:spcPts val="500"/>
              </a:spcBef>
              <a:spcAft>
                <a:spcPts val="0"/>
              </a:spcAft>
              <a:buClr>
                <a:schemeClr val="dk1"/>
              </a:buClr>
              <a:buSzPct val="100000"/>
              <a:buChar char="o"/>
            </a:pPr>
            <a:r>
              <a:rPr lang="en-US"/>
              <a:t>Generates relocatable code</a:t>
            </a:r>
            <a:endParaRPr/>
          </a:p>
          <a:p>
            <a:pPr indent="-285750" lvl="1" marL="742950" rtl="0" algn="l">
              <a:lnSpc>
                <a:spcPct val="90000"/>
              </a:lnSpc>
              <a:spcBef>
                <a:spcPts val="500"/>
              </a:spcBef>
              <a:spcAft>
                <a:spcPts val="0"/>
              </a:spcAft>
              <a:buClr>
                <a:schemeClr val="dk1"/>
              </a:buClr>
              <a:buSzPct val="100000"/>
              <a:buChar char="o"/>
            </a:pPr>
            <a:r>
              <a:rPr lang="en-US"/>
              <a:t>Final binding is delayed until load time</a:t>
            </a:r>
            <a:endParaRPr/>
          </a:p>
          <a:p>
            <a:pPr indent="-285750" lvl="1" marL="742950" rtl="0" algn="l">
              <a:lnSpc>
                <a:spcPct val="90000"/>
              </a:lnSpc>
              <a:spcBef>
                <a:spcPts val="500"/>
              </a:spcBef>
              <a:spcAft>
                <a:spcPts val="0"/>
              </a:spcAft>
              <a:buClr>
                <a:schemeClr val="dk1"/>
              </a:buClr>
              <a:buSzPct val="100000"/>
              <a:buChar char="o"/>
            </a:pPr>
            <a:r>
              <a:rPr lang="en-US"/>
              <a:t>If starting address changes, only reload the user code to incorporate the changed value</a:t>
            </a:r>
            <a:endParaRPr/>
          </a:p>
          <a:p>
            <a:pPr indent="-285750" lvl="0" marL="285750" rtl="0" algn="l">
              <a:lnSpc>
                <a:spcPct val="90000"/>
              </a:lnSpc>
              <a:spcBef>
                <a:spcPts val="1000"/>
              </a:spcBef>
              <a:spcAft>
                <a:spcPts val="0"/>
              </a:spcAft>
              <a:buClr>
                <a:schemeClr val="dk1"/>
              </a:buClr>
              <a:buSzPct val="100000"/>
              <a:buFont typeface="Arial"/>
              <a:buChar char="•"/>
            </a:pPr>
            <a:r>
              <a:rPr lang="en-US"/>
              <a:t>If known at Execution time</a:t>
            </a:r>
            <a:endParaRPr/>
          </a:p>
          <a:p>
            <a:pPr indent="-285750" lvl="1" marL="742950" rtl="0" algn="l">
              <a:lnSpc>
                <a:spcPct val="90000"/>
              </a:lnSpc>
              <a:spcBef>
                <a:spcPts val="500"/>
              </a:spcBef>
              <a:spcAft>
                <a:spcPts val="0"/>
              </a:spcAft>
              <a:buClr>
                <a:schemeClr val="dk1"/>
              </a:buClr>
              <a:buSzPct val="100000"/>
              <a:buChar char="o"/>
            </a:pPr>
            <a:r>
              <a:rPr lang="en-US"/>
              <a:t>If process can be moved from one memory segment to another during execution</a:t>
            </a:r>
            <a:endParaRPr/>
          </a:p>
          <a:p>
            <a:pPr indent="-285750" lvl="1" marL="742950" rtl="0" algn="l">
              <a:lnSpc>
                <a:spcPct val="90000"/>
              </a:lnSpc>
              <a:spcBef>
                <a:spcPts val="500"/>
              </a:spcBef>
              <a:spcAft>
                <a:spcPts val="0"/>
              </a:spcAft>
              <a:buClr>
                <a:schemeClr val="dk1"/>
              </a:buClr>
              <a:buSzPct val="100000"/>
              <a:buChar char="o"/>
            </a:pPr>
            <a:r>
              <a:rPr lang="en-US"/>
              <a:t>Binding is delayed until run time</a:t>
            </a:r>
            <a:endParaRPr/>
          </a:p>
          <a:p>
            <a:pPr indent="-285750" lvl="1" marL="742950" rtl="0" algn="l">
              <a:lnSpc>
                <a:spcPct val="90000"/>
              </a:lnSpc>
              <a:spcBef>
                <a:spcPts val="500"/>
              </a:spcBef>
              <a:spcAft>
                <a:spcPts val="0"/>
              </a:spcAft>
              <a:buClr>
                <a:schemeClr val="dk1"/>
              </a:buClr>
              <a:buSzPct val="100000"/>
              <a:buChar char="o"/>
            </a:pPr>
            <a:r>
              <a:rPr lang="en-US"/>
              <a:t>Needs special hardware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8"/>
          <p:cNvSpPr txBox="1"/>
          <p:nvPr>
            <p:ph type="title"/>
          </p:nvPr>
        </p:nvSpPr>
        <p:spPr>
          <a:xfrm>
            <a:off x="1123950" y="290513"/>
            <a:ext cx="813435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Binding of Instructions and Data to Memory</a:t>
            </a:r>
            <a:endParaRPr/>
          </a:p>
        </p:txBody>
      </p:sp>
      <p:sp>
        <p:nvSpPr>
          <p:cNvPr id="259" name="Google Shape;259;p28"/>
          <p:cNvSpPr txBox="1"/>
          <p:nvPr>
            <p:ph idx="1" type="body"/>
          </p:nvPr>
        </p:nvSpPr>
        <p:spPr>
          <a:xfrm>
            <a:off x="971550" y="809625"/>
            <a:ext cx="7131050"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Font typeface="Arial"/>
              <a:buNone/>
            </a:pPr>
            <a:r>
              <a:t/>
            </a:r>
            <a:endParaRPr/>
          </a:p>
          <a:p>
            <a:pPr indent="-342900" lvl="0" marL="342900" rtl="0" algn="l">
              <a:spcBef>
                <a:spcPts val="630"/>
              </a:spcBef>
              <a:spcAft>
                <a:spcPts val="0"/>
              </a:spcAft>
              <a:buSzPts val="1620"/>
              <a:buChar char="●"/>
            </a:pPr>
            <a:r>
              <a:rPr b="1" lang="en-US"/>
              <a:t>Compile time</a:t>
            </a:r>
            <a:r>
              <a:rPr lang="en-US"/>
              <a:t>:  </a:t>
            </a:r>
            <a:endParaRPr/>
          </a:p>
          <a:p>
            <a:pPr indent="-285750" lvl="1" marL="742950" rtl="0" algn="l">
              <a:spcBef>
                <a:spcPts val="630"/>
              </a:spcBef>
              <a:spcAft>
                <a:spcPts val="0"/>
              </a:spcAft>
              <a:buSzPts val="1440"/>
              <a:buChar char="●"/>
            </a:pPr>
            <a:r>
              <a:rPr b="1" lang="en-US"/>
              <a:t>If you know at compile time where the process will reside in memory, then </a:t>
            </a:r>
            <a:r>
              <a:rPr b="1" lang="en-US">
                <a:solidFill>
                  <a:srgbClr val="0070C0"/>
                </a:solidFill>
              </a:rPr>
              <a:t>absolute code</a:t>
            </a:r>
            <a:r>
              <a:rPr b="1" lang="en-US"/>
              <a:t> can be generated.</a:t>
            </a:r>
            <a:endParaRPr b="1"/>
          </a:p>
          <a:p>
            <a:pPr indent="-285750" lvl="1" marL="742950" rtl="0" algn="l">
              <a:spcBef>
                <a:spcPts val="630"/>
              </a:spcBef>
              <a:spcAft>
                <a:spcPts val="0"/>
              </a:spcAft>
              <a:buSzPts val="1440"/>
              <a:buChar char="●"/>
            </a:pPr>
            <a:r>
              <a:rPr b="1" lang="en-US"/>
              <a:t>If memory location known a priori, </a:t>
            </a:r>
            <a:endParaRPr/>
          </a:p>
          <a:p>
            <a:pPr indent="-285750" lvl="1" marL="742950" rtl="0" algn="l">
              <a:spcBef>
                <a:spcPts val="630"/>
              </a:spcBef>
              <a:spcAft>
                <a:spcPts val="0"/>
              </a:spcAft>
              <a:buSzPts val="1440"/>
              <a:buChar char="●"/>
            </a:pPr>
            <a:r>
              <a:rPr lang="en-US"/>
              <a:t>For example, if you know that a user process will reside starting at location </a:t>
            </a:r>
            <a:r>
              <a:rPr i="1" lang="en-US"/>
              <a:t>R, </a:t>
            </a:r>
            <a:r>
              <a:rPr lang="en-US"/>
              <a:t>then the generated compiler code will start at that location and extend up from there.</a:t>
            </a:r>
            <a:endParaRPr/>
          </a:p>
          <a:p>
            <a:pPr indent="-342900" lvl="0" marL="342900" rtl="0" algn="l">
              <a:spcBef>
                <a:spcPts val="630"/>
              </a:spcBef>
              <a:spcAft>
                <a:spcPts val="0"/>
              </a:spcAft>
              <a:buSzPts val="1620"/>
              <a:buChar char="●"/>
            </a:pPr>
            <a:r>
              <a:rPr lang="en-US"/>
              <a:t>Must recompile code if starting location changes-</a:t>
            </a:r>
            <a:endParaRPr/>
          </a:p>
          <a:p>
            <a:pPr indent="-285750" lvl="1" marL="742950" rtl="0" algn="l">
              <a:spcBef>
                <a:spcPts val="630"/>
              </a:spcBef>
              <a:spcAft>
                <a:spcPts val="0"/>
              </a:spcAft>
              <a:buSzPts val="1440"/>
              <a:buChar char="●"/>
            </a:pPr>
            <a:r>
              <a:rPr b="1" lang="en-US"/>
              <a:t>If, at some later time, the starting location changes, then it will be necessary to recompile this code.</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9"/>
          <p:cNvSpPr txBox="1"/>
          <p:nvPr>
            <p:ph type="title"/>
          </p:nvPr>
        </p:nvSpPr>
        <p:spPr>
          <a:xfrm>
            <a:off x="1123950" y="290513"/>
            <a:ext cx="813435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Binding of Instructions and Data to Memory</a:t>
            </a:r>
            <a:endParaRPr/>
          </a:p>
        </p:txBody>
      </p:sp>
      <p:sp>
        <p:nvSpPr>
          <p:cNvPr id="266" name="Google Shape;266;p29"/>
          <p:cNvSpPr txBox="1"/>
          <p:nvPr>
            <p:ph idx="1" type="body"/>
          </p:nvPr>
        </p:nvSpPr>
        <p:spPr>
          <a:xfrm>
            <a:off x="971550" y="809625"/>
            <a:ext cx="7131050"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Font typeface="Arial"/>
              <a:buNone/>
            </a:pPr>
            <a:r>
              <a:t/>
            </a:r>
            <a:endParaRPr/>
          </a:p>
          <a:p>
            <a:pPr indent="-342900" lvl="0" marL="342900" rtl="0" algn="l">
              <a:spcBef>
                <a:spcPts val="630"/>
              </a:spcBef>
              <a:spcAft>
                <a:spcPts val="0"/>
              </a:spcAft>
              <a:buSzPts val="1620"/>
              <a:buChar char="●"/>
            </a:pPr>
            <a:r>
              <a:rPr b="1" lang="en-US"/>
              <a:t>Load time</a:t>
            </a:r>
            <a:r>
              <a:rPr lang="en-US"/>
              <a:t>:  </a:t>
            </a:r>
            <a:endParaRPr/>
          </a:p>
          <a:p>
            <a:pPr indent="-342900" lvl="0" marL="342900" rtl="0" algn="l">
              <a:spcBef>
                <a:spcPts val="630"/>
              </a:spcBef>
              <a:spcAft>
                <a:spcPts val="0"/>
              </a:spcAft>
              <a:buSzPts val="1620"/>
              <a:buChar char="●"/>
            </a:pPr>
            <a:r>
              <a:rPr lang="en-US"/>
              <a:t>Must generate </a:t>
            </a:r>
            <a:r>
              <a:rPr b="1" lang="en-US">
                <a:solidFill>
                  <a:srgbClr val="3366FF"/>
                </a:solidFill>
              </a:rPr>
              <a:t>relocatable code</a:t>
            </a:r>
            <a:r>
              <a:rPr lang="en-US"/>
              <a:t> if memory location is not known at compile time</a:t>
            </a:r>
            <a:endParaRPr/>
          </a:p>
          <a:p>
            <a:pPr indent="-342900" lvl="0" marL="342900" rtl="0" algn="l">
              <a:spcBef>
                <a:spcPts val="630"/>
              </a:spcBef>
              <a:spcAft>
                <a:spcPts val="0"/>
              </a:spcAft>
              <a:buSzPts val="1620"/>
              <a:buChar char="●"/>
            </a:pPr>
            <a:r>
              <a:rPr b="1" lang="en-US"/>
              <a:t>If it is not known at compile time where the process will reside in memory, then the compiler must generate </a:t>
            </a:r>
            <a:r>
              <a:rPr b="1" lang="en-US">
                <a:solidFill>
                  <a:srgbClr val="3366FF"/>
                </a:solidFill>
              </a:rPr>
              <a:t>relocatable code</a:t>
            </a:r>
            <a:r>
              <a:rPr b="1" lang="en-US"/>
              <a:t> </a:t>
            </a:r>
            <a:endParaRPr/>
          </a:p>
          <a:p>
            <a:pPr indent="-342900" lvl="0" marL="342900" rtl="0" algn="l">
              <a:spcBef>
                <a:spcPts val="630"/>
              </a:spcBef>
              <a:spcAft>
                <a:spcPts val="0"/>
              </a:spcAft>
              <a:buSzPts val="1620"/>
              <a:buChar char="●"/>
            </a:pPr>
            <a:r>
              <a:rPr b="1" lang="en-US"/>
              <a:t>In this case, final binding is delayed until load time. </a:t>
            </a:r>
            <a:endParaRPr/>
          </a:p>
          <a:p>
            <a:pPr indent="-342900" lvl="0" marL="342900" rtl="0" algn="l">
              <a:spcBef>
                <a:spcPts val="630"/>
              </a:spcBef>
              <a:spcAft>
                <a:spcPts val="0"/>
              </a:spcAft>
              <a:buSzPts val="1620"/>
              <a:buChar char="●"/>
            </a:pPr>
            <a:r>
              <a:rPr lang="en-US"/>
              <a:t>If the starting address changes, we need </a:t>
            </a:r>
            <a:r>
              <a:rPr b="1" lang="en-US"/>
              <a:t>only reload the user code to incorporate this changed value.</a:t>
            </a:r>
            <a:endParaRPr b="1"/>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0"/>
          <p:cNvSpPr txBox="1"/>
          <p:nvPr>
            <p:ph type="title"/>
          </p:nvPr>
        </p:nvSpPr>
        <p:spPr>
          <a:xfrm>
            <a:off x="1123950" y="290513"/>
            <a:ext cx="813435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Binding of Instructions and Data to Memory</a:t>
            </a:r>
            <a:endParaRPr/>
          </a:p>
        </p:txBody>
      </p:sp>
      <p:sp>
        <p:nvSpPr>
          <p:cNvPr id="273" name="Google Shape;273;p30"/>
          <p:cNvSpPr txBox="1"/>
          <p:nvPr>
            <p:ph idx="1" type="body"/>
          </p:nvPr>
        </p:nvSpPr>
        <p:spPr>
          <a:xfrm>
            <a:off x="971550" y="809625"/>
            <a:ext cx="7131050"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Font typeface="Arial"/>
              <a:buNone/>
            </a:pPr>
            <a:r>
              <a:t/>
            </a:r>
            <a:endParaRPr/>
          </a:p>
          <a:p>
            <a:pPr indent="-342900" lvl="0" marL="342900" rtl="0" algn="l">
              <a:spcBef>
                <a:spcPts val="630"/>
              </a:spcBef>
              <a:spcAft>
                <a:spcPts val="0"/>
              </a:spcAft>
              <a:buSzPts val="1620"/>
              <a:buChar char="●"/>
            </a:pPr>
            <a:r>
              <a:rPr b="1" lang="en-US"/>
              <a:t>Execution time</a:t>
            </a:r>
            <a:r>
              <a:rPr lang="en-US"/>
              <a:t>:  </a:t>
            </a:r>
            <a:endParaRPr/>
          </a:p>
          <a:p>
            <a:pPr indent="-342900" lvl="0" marL="342900" rtl="0" algn="l">
              <a:spcBef>
                <a:spcPts val="630"/>
              </a:spcBef>
              <a:spcAft>
                <a:spcPts val="0"/>
              </a:spcAft>
              <a:buSzPts val="1620"/>
              <a:buChar char="●"/>
            </a:pPr>
            <a:r>
              <a:rPr lang="en-US"/>
              <a:t>If the process can be moved during its execution from one memory segment to another, then binding must be delayed until run time. </a:t>
            </a:r>
            <a:endParaRPr/>
          </a:p>
          <a:p>
            <a:pPr indent="-342900" lvl="0" marL="342900" rtl="0" algn="l">
              <a:spcBef>
                <a:spcPts val="630"/>
              </a:spcBef>
              <a:spcAft>
                <a:spcPts val="0"/>
              </a:spcAft>
              <a:buSzPts val="1620"/>
              <a:buChar char="●"/>
            </a:pPr>
            <a:r>
              <a:rPr lang="en-US"/>
              <a:t>Need hardware support for address maps (e.g., base and limit</a:t>
            </a:r>
            <a:r>
              <a:rPr i="1" lang="en-US"/>
              <a:t> </a:t>
            </a:r>
            <a:r>
              <a:rPr lang="en-US"/>
              <a:t>registers)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1"/>
          <p:cNvSpPr txBox="1"/>
          <p:nvPr>
            <p:ph type="title"/>
          </p:nvPr>
        </p:nvSpPr>
        <p:spPr>
          <a:xfrm>
            <a:off x="1092200" y="100013"/>
            <a:ext cx="79565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Multistep Processing of a User Program </a:t>
            </a:r>
            <a:endParaRPr/>
          </a:p>
        </p:txBody>
      </p:sp>
      <p:pic>
        <p:nvPicPr>
          <p:cNvPr descr="8" id="280" name="Google Shape;280;p31"/>
          <p:cNvPicPr preferRelativeResize="0"/>
          <p:nvPr/>
        </p:nvPicPr>
        <p:blipFill rotWithShape="1">
          <a:blip r:embed="rId3">
            <a:alphaModFix/>
          </a:blip>
          <a:srcRect b="0" l="0" r="0" t="0"/>
          <a:stretch/>
        </p:blipFill>
        <p:spPr>
          <a:xfrm>
            <a:off x="3360738" y="1231900"/>
            <a:ext cx="2554287" cy="47402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Logical Vs physical address space</a:t>
            </a:r>
            <a:endParaRPr/>
          </a:p>
        </p:txBody>
      </p:sp>
      <p:sp>
        <p:nvSpPr>
          <p:cNvPr id="286" name="Google Shape;286;p32"/>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800"/>
              <a:buFont typeface="Arial"/>
              <a:buChar char="•"/>
            </a:pPr>
            <a:r>
              <a:rPr lang="en-US"/>
              <a:t>Logical address: An address generated by CPU</a:t>
            </a:r>
            <a:endParaRPr/>
          </a:p>
          <a:p>
            <a:pPr indent="-285750" lvl="0" marL="285750" rtl="0" algn="l">
              <a:lnSpc>
                <a:spcPct val="90000"/>
              </a:lnSpc>
              <a:spcBef>
                <a:spcPts val="1000"/>
              </a:spcBef>
              <a:spcAft>
                <a:spcPts val="0"/>
              </a:spcAft>
              <a:buClr>
                <a:schemeClr val="dk1"/>
              </a:buClr>
              <a:buSzPts val="2800"/>
              <a:buFont typeface="Arial"/>
              <a:buChar char="•"/>
            </a:pPr>
            <a:r>
              <a:rPr lang="en-US"/>
              <a:t>Physical address : an address loaded into memory address register of memory</a:t>
            </a:r>
            <a:endParaRPr/>
          </a:p>
          <a:p>
            <a:pPr indent="-285750" lvl="0" marL="285750" rtl="0" algn="l">
              <a:lnSpc>
                <a:spcPct val="90000"/>
              </a:lnSpc>
              <a:spcBef>
                <a:spcPts val="1000"/>
              </a:spcBef>
              <a:spcAft>
                <a:spcPts val="0"/>
              </a:spcAft>
              <a:buClr>
                <a:schemeClr val="dk1"/>
              </a:buClr>
              <a:buSzPts val="2800"/>
              <a:buFont typeface="Arial"/>
              <a:buChar char="•"/>
            </a:pPr>
            <a:r>
              <a:rPr lang="en-US"/>
              <a:t>The compile time and load time address-binding methods generate identical logical and physical address</a:t>
            </a:r>
            <a:endParaRPr/>
          </a:p>
          <a:p>
            <a:pPr indent="-285750" lvl="0" marL="285750" rtl="0" algn="l">
              <a:lnSpc>
                <a:spcPct val="90000"/>
              </a:lnSpc>
              <a:spcBef>
                <a:spcPts val="1000"/>
              </a:spcBef>
              <a:spcAft>
                <a:spcPts val="0"/>
              </a:spcAft>
              <a:buClr>
                <a:schemeClr val="dk1"/>
              </a:buClr>
              <a:buSzPts val="2800"/>
              <a:buFont typeface="Arial"/>
              <a:buChar char="•"/>
            </a:pPr>
            <a:r>
              <a:rPr lang="en-US"/>
              <a:t>But, execution time binding results in different logical and physical address space</a:t>
            </a:r>
            <a:endParaRPr/>
          </a:p>
          <a:p>
            <a:pPr indent="-285750" lvl="1" marL="742950" rtl="0" algn="l">
              <a:lnSpc>
                <a:spcPct val="90000"/>
              </a:lnSpc>
              <a:spcBef>
                <a:spcPts val="500"/>
              </a:spcBef>
              <a:spcAft>
                <a:spcPts val="0"/>
              </a:spcAft>
              <a:buClr>
                <a:schemeClr val="dk1"/>
              </a:buClr>
              <a:buSzPts val="2400"/>
              <a:buChar char="o"/>
            </a:pPr>
            <a:r>
              <a:rPr lang="en-US"/>
              <a:t>Logical address space: set of all addresses generated by a program</a:t>
            </a:r>
            <a:endParaRPr/>
          </a:p>
          <a:p>
            <a:pPr indent="-285750" lvl="1" marL="742950" rtl="0" algn="l">
              <a:lnSpc>
                <a:spcPct val="90000"/>
              </a:lnSpc>
              <a:spcBef>
                <a:spcPts val="500"/>
              </a:spcBef>
              <a:spcAft>
                <a:spcPts val="0"/>
              </a:spcAft>
              <a:buClr>
                <a:schemeClr val="dk1"/>
              </a:buClr>
              <a:buSzPts val="2400"/>
              <a:buChar char="o"/>
            </a:pPr>
            <a:r>
              <a:rPr lang="en-US"/>
              <a:t>Physical address space: set of all physical addresses corresponding to all logical addresses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3"/>
          <p:cNvSpPr txBox="1"/>
          <p:nvPr>
            <p:ph type="title"/>
          </p:nvPr>
        </p:nvSpPr>
        <p:spPr>
          <a:xfrm>
            <a:off x="1376363" y="198438"/>
            <a:ext cx="75485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Logical vs. Physical Address Space</a:t>
            </a:r>
            <a:endParaRPr/>
          </a:p>
        </p:txBody>
      </p:sp>
      <p:sp>
        <p:nvSpPr>
          <p:cNvPr id="293" name="Google Shape;293;p33"/>
          <p:cNvSpPr txBox="1"/>
          <p:nvPr>
            <p:ph idx="1" type="body"/>
          </p:nvPr>
        </p:nvSpPr>
        <p:spPr>
          <a:xfrm>
            <a:off x="873125" y="1236663"/>
            <a:ext cx="7127875" cy="44688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3366FF"/>
                </a:solidFill>
              </a:rPr>
              <a:t>Logical address</a:t>
            </a:r>
            <a:r>
              <a:rPr lang="en-US">
                <a:solidFill>
                  <a:srgbClr val="3366FF"/>
                </a:solidFill>
              </a:rPr>
              <a:t> </a:t>
            </a:r>
            <a:r>
              <a:rPr lang="en-US"/>
              <a:t>– </a:t>
            </a:r>
            <a:endParaRPr/>
          </a:p>
          <a:p>
            <a:pPr indent="-285750" lvl="1" marL="742950" rtl="0" algn="l">
              <a:spcBef>
                <a:spcPts val="630"/>
              </a:spcBef>
              <a:spcAft>
                <a:spcPts val="0"/>
              </a:spcAft>
              <a:buSzPts val="1440"/>
              <a:buChar char="●"/>
            </a:pPr>
            <a:r>
              <a:rPr lang="en-US"/>
              <a:t>An address generated by the CPU</a:t>
            </a:r>
            <a:endParaRPr/>
          </a:p>
          <a:p>
            <a:pPr indent="-285750" lvl="1" marL="742950" rtl="0" algn="l">
              <a:spcBef>
                <a:spcPts val="630"/>
              </a:spcBef>
              <a:spcAft>
                <a:spcPts val="0"/>
              </a:spcAft>
              <a:buSzPts val="1440"/>
              <a:buChar char="●"/>
            </a:pPr>
            <a:r>
              <a:rPr lang="en-US"/>
              <a:t>also referred to as </a:t>
            </a:r>
            <a:r>
              <a:rPr b="1" lang="en-US">
                <a:solidFill>
                  <a:srgbClr val="3366FF"/>
                </a:solidFill>
              </a:rPr>
              <a:t>virtual address</a:t>
            </a:r>
            <a:endParaRPr/>
          </a:p>
          <a:p>
            <a:pPr indent="-342900" lvl="0" marL="342900" rtl="0" algn="l">
              <a:spcBef>
                <a:spcPts val="630"/>
              </a:spcBef>
              <a:spcAft>
                <a:spcPts val="0"/>
              </a:spcAft>
              <a:buSzPts val="1620"/>
              <a:buChar char="●"/>
            </a:pPr>
            <a:r>
              <a:rPr b="1" lang="en-US">
                <a:solidFill>
                  <a:srgbClr val="3366FF"/>
                </a:solidFill>
              </a:rPr>
              <a:t>Physical address</a:t>
            </a:r>
            <a:r>
              <a:rPr lang="en-US">
                <a:solidFill>
                  <a:srgbClr val="3366FF"/>
                </a:solidFill>
              </a:rPr>
              <a:t> </a:t>
            </a:r>
            <a:r>
              <a:rPr lang="en-US"/>
              <a:t>– </a:t>
            </a:r>
            <a:endParaRPr/>
          </a:p>
          <a:p>
            <a:pPr indent="-285750" lvl="1" marL="742950" rtl="0" algn="l">
              <a:spcBef>
                <a:spcPts val="630"/>
              </a:spcBef>
              <a:spcAft>
                <a:spcPts val="0"/>
              </a:spcAft>
              <a:buSzPts val="1440"/>
              <a:buChar char="●"/>
            </a:pPr>
            <a:r>
              <a:rPr lang="en-US"/>
              <a:t>Address seen by the memory unit</a:t>
            </a:r>
            <a:endParaRPr/>
          </a:p>
          <a:p>
            <a:pPr indent="-285750" lvl="1" marL="742950" rtl="0" algn="l">
              <a:spcBef>
                <a:spcPts val="630"/>
              </a:spcBef>
              <a:spcAft>
                <a:spcPts val="0"/>
              </a:spcAft>
              <a:buSzPts val="1440"/>
              <a:buChar char="●"/>
            </a:pPr>
            <a:r>
              <a:rPr lang="en-US"/>
              <a:t>that is, the one loaded into memory address register of the memory</a:t>
            </a:r>
            <a:endParaRPr/>
          </a:p>
          <a:p>
            <a:pPr indent="-342900" lvl="0" marL="342900" rtl="0" algn="l">
              <a:spcBef>
                <a:spcPts val="630"/>
              </a:spcBef>
              <a:spcAft>
                <a:spcPts val="0"/>
              </a:spcAft>
              <a:buSzPts val="1620"/>
              <a:buChar char="●"/>
            </a:pPr>
            <a:r>
              <a:rPr b="1" lang="en-US">
                <a:solidFill>
                  <a:srgbClr val="3366FF"/>
                </a:solidFill>
              </a:rPr>
              <a:t>Logical address space- </a:t>
            </a:r>
            <a:r>
              <a:rPr lang="en-US"/>
              <a:t>the set of all logical addresses generated by a program</a:t>
            </a:r>
            <a:endParaRPr/>
          </a:p>
          <a:p>
            <a:pPr indent="-342900" lvl="0" marL="342900" rtl="0" algn="l">
              <a:spcBef>
                <a:spcPts val="630"/>
              </a:spcBef>
              <a:spcAft>
                <a:spcPts val="0"/>
              </a:spcAft>
              <a:buSzPts val="1620"/>
              <a:buChar char="●"/>
            </a:pPr>
            <a:r>
              <a:rPr b="1" lang="en-US">
                <a:solidFill>
                  <a:srgbClr val="3366FF"/>
                </a:solidFill>
              </a:rPr>
              <a:t>Physical address space- </a:t>
            </a:r>
            <a:r>
              <a:rPr lang="en-US"/>
              <a:t>the set of all physical addresses corresponding to these logical addresses</a:t>
            </a:r>
            <a:endParaRPr/>
          </a:p>
          <a:p>
            <a:pPr indent="-240030" lvl="0" marL="342900" rtl="0" algn="l">
              <a:spcBef>
                <a:spcPts val="630"/>
              </a:spcBef>
              <a:spcAft>
                <a:spcPts val="0"/>
              </a:spcAft>
              <a:buSzPts val="162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4"/>
          <p:cNvSpPr txBox="1"/>
          <p:nvPr>
            <p:ph type="title"/>
          </p:nvPr>
        </p:nvSpPr>
        <p:spPr>
          <a:xfrm>
            <a:off x="1376363" y="198438"/>
            <a:ext cx="75485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Logical vs. Physical Address Space</a:t>
            </a:r>
            <a:endParaRPr/>
          </a:p>
        </p:txBody>
      </p:sp>
      <p:sp>
        <p:nvSpPr>
          <p:cNvPr id="300" name="Google Shape;300;p34"/>
          <p:cNvSpPr txBox="1"/>
          <p:nvPr>
            <p:ph idx="1" type="body"/>
          </p:nvPr>
        </p:nvSpPr>
        <p:spPr>
          <a:xfrm>
            <a:off x="873125" y="1236663"/>
            <a:ext cx="7128000" cy="4468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FF0000"/>
                </a:solidFill>
              </a:rPr>
              <a:t>Logical and physical addresses are the same in compile-time and load-time address-binding schemes; </a:t>
            </a:r>
            <a:endParaRPr/>
          </a:p>
          <a:p>
            <a:pPr indent="-342900" lvl="0" marL="342900" rtl="0" algn="l">
              <a:spcBef>
                <a:spcPts val="630"/>
              </a:spcBef>
              <a:spcAft>
                <a:spcPts val="0"/>
              </a:spcAft>
              <a:buSzPts val="1620"/>
              <a:buChar char="●"/>
            </a:pPr>
            <a:r>
              <a:rPr b="1" lang="en-US">
                <a:solidFill>
                  <a:srgbClr val="FF0000"/>
                </a:solidFill>
              </a:rPr>
              <a:t>Logical (virtual) and physical addresses differ in execution-time address-binding scheme</a:t>
            </a:r>
            <a:endParaRPr/>
          </a:p>
          <a:p>
            <a:pPr indent="-342900" lvl="0" marL="342900" rtl="0" algn="l">
              <a:spcBef>
                <a:spcPts val="630"/>
              </a:spcBef>
              <a:spcAft>
                <a:spcPts val="0"/>
              </a:spcAft>
              <a:buSzPts val="1620"/>
              <a:buChar char="●"/>
            </a:pPr>
            <a:r>
              <a:rPr lang="en-US"/>
              <a:t>Thus, in the execution-time address-binding scheme, the logical and physical address spaces differ.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190ac6a8e6_0_0"/>
          <p:cNvSpPr txBox="1"/>
          <p:nvPr>
            <p:ph type="title"/>
          </p:nvPr>
        </p:nvSpPr>
        <p:spPr>
          <a:xfrm>
            <a:off x="457200" y="277813"/>
            <a:ext cx="8229600" cy="5763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sp>
        <p:nvSpPr>
          <p:cNvPr id="307" name="Google Shape;307;g3190ac6a8e6_0_0"/>
          <p:cNvSpPr txBox="1"/>
          <p:nvPr>
            <p:ph idx="1" type="body"/>
          </p:nvPr>
        </p:nvSpPr>
        <p:spPr>
          <a:xfrm>
            <a:off x="806450" y="1233488"/>
            <a:ext cx="8229600" cy="4530600"/>
          </a:xfrm>
          <a:prstGeom prst="rect">
            <a:avLst/>
          </a:prstGeom>
        </p:spPr>
        <p:txBody>
          <a:bodyPr anchorCtr="0" anchor="t" bIns="45700" lIns="91425" spcFirstLastPara="1" rIns="91425" wrap="square" tIns="45700">
            <a:noAutofit/>
          </a:bodyPr>
          <a:lstStyle/>
          <a:p>
            <a:pPr indent="0" lvl="0" marL="0" rtl="0" algn="l">
              <a:spcBef>
                <a:spcPts val="630"/>
              </a:spcBef>
              <a:spcAft>
                <a:spcPts val="0"/>
              </a:spcAft>
              <a:buNone/>
            </a:pPr>
            <a:r>
              <a:t/>
            </a:r>
            <a:endParaRPr/>
          </a:p>
        </p:txBody>
      </p:sp>
      <p:pic>
        <p:nvPicPr>
          <p:cNvPr id="308" name="Google Shape;308;g3190ac6a8e6_0_0"/>
          <p:cNvPicPr preferRelativeResize="0"/>
          <p:nvPr/>
        </p:nvPicPr>
        <p:blipFill rotWithShape="1">
          <a:blip r:embed="rId3">
            <a:alphaModFix/>
          </a:blip>
          <a:srcRect b="27647" l="31554" r="7659" t="19770"/>
          <a:stretch/>
        </p:blipFill>
        <p:spPr>
          <a:xfrm>
            <a:off x="0" y="1356938"/>
            <a:ext cx="9144000" cy="444892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5"/>
          <p:cNvSpPr txBox="1"/>
          <p:nvPr>
            <p:ph type="title"/>
          </p:nvPr>
        </p:nvSpPr>
        <p:spPr>
          <a:xfrm>
            <a:off x="879475" y="141288"/>
            <a:ext cx="78390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Memory-Management Unit (</a:t>
            </a:r>
            <a:r>
              <a:rPr lang="en-US" sz="2800"/>
              <a:t>MMU</a:t>
            </a:r>
            <a:r>
              <a:rPr lang="en-US"/>
              <a:t>)</a:t>
            </a:r>
            <a:endParaRPr/>
          </a:p>
        </p:txBody>
      </p:sp>
      <p:sp>
        <p:nvSpPr>
          <p:cNvPr id="315" name="Google Shape;315;p35"/>
          <p:cNvSpPr txBox="1"/>
          <p:nvPr>
            <p:ph idx="1" type="body"/>
          </p:nvPr>
        </p:nvSpPr>
        <p:spPr>
          <a:xfrm>
            <a:off x="857250" y="1063625"/>
            <a:ext cx="7080250" cy="4484688"/>
          </a:xfrm>
          <a:prstGeom prst="rect">
            <a:avLst/>
          </a:prstGeom>
          <a:noFill/>
          <a:ln>
            <a:noFill/>
          </a:ln>
        </p:spPr>
        <p:txBody>
          <a:bodyPr anchorCtr="0" anchor="t" bIns="45700" lIns="91425" spcFirstLastPara="1" rIns="91425" wrap="square" tIns="45700">
            <a:noAutofit/>
          </a:bodyPr>
          <a:lstStyle/>
          <a:p>
            <a:pPr indent="-240030" lvl="0" marL="342900" rtl="0" algn="l">
              <a:spcBef>
                <a:spcPts val="0"/>
              </a:spcBef>
              <a:spcAft>
                <a:spcPts val="0"/>
              </a:spcAft>
              <a:buSzPts val="1620"/>
              <a:buNone/>
            </a:pPr>
            <a:r>
              <a:t/>
            </a:r>
            <a:endParaRPr/>
          </a:p>
          <a:p>
            <a:pPr indent="-342900" lvl="0" marL="342900" rtl="0" algn="l">
              <a:spcBef>
                <a:spcPts val="630"/>
              </a:spcBef>
              <a:spcAft>
                <a:spcPts val="0"/>
              </a:spcAft>
              <a:buSzPts val="1620"/>
              <a:buChar char="●"/>
            </a:pPr>
            <a:r>
              <a:rPr lang="en-US">
                <a:highlight>
                  <a:srgbClr val="FFFF00"/>
                </a:highlight>
              </a:rPr>
              <a:t>The run-time mapping from virtual to physical addresses is done by a hardware device called the MMU</a:t>
            </a:r>
            <a:endParaRPr sz="800">
              <a:highlight>
                <a:srgbClr val="FFFF00"/>
              </a:highlight>
            </a:endParaRPr>
          </a:p>
          <a:p>
            <a:pPr indent="-342900" lvl="0" marL="342900" rtl="0" algn="l">
              <a:spcBef>
                <a:spcPts val="630"/>
              </a:spcBef>
              <a:spcAft>
                <a:spcPts val="0"/>
              </a:spcAft>
              <a:buSzPts val="1620"/>
              <a:buChar char="●"/>
            </a:pPr>
            <a:r>
              <a:rPr lang="en-US"/>
              <a:t>Many methods possible for this mapping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p36"/>
          <p:cNvPicPr preferRelativeResize="0"/>
          <p:nvPr/>
        </p:nvPicPr>
        <p:blipFill rotWithShape="1">
          <a:blip r:embed="rId3">
            <a:alphaModFix/>
          </a:blip>
          <a:srcRect b="0" l="0" r="0" t="0"/>
          <a:stretch/>
        </p:blipFill>
        <p:spPr>
          <a:xfrm>
            <a:off x="4459992" y="1220748"/>
            <a:ext cx="4551837" cy="4898772"/>
          </a:xfrm>
          <a:prstGeom prst="rect">
            <a:avLst/>
          </a:prstGeom>
          <a:noFill/>
          <a:ln>
            <a:noFill/>
          </a:ln>
        </p:spPr>
      </p:pic>
      <p:sp>
        <p:nvSpPr>
          <p:cNvPr id="321" name="Google Shape;321;p3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MMU</a:t>
            </a:r>
            <a:endParaRPr/>
          </a:p>
        </p:txBody>
      </p:sp>
      <p:sp>
        <p:nvSpPr>
          <p:cNvPr id="322" name="Google Shape;322;p36"/>
          <p:cNvSpPr txBox="1"/>
          <p:nvPr>
            <p:ph idx="1" type="body"/>
          </p:nvPr>
        </p:nvSpPr>
        <p:spPr>
          <a:xfrm>
            <a:off x="700004" y="1324629"/>
            <a:ext cx="4160028" cy="4525963"/>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lnSpc>
                <a:spcPct val="90000"/>
              </a:lnSpc>
              <a:spcBef>
                <a:spcPts val="0"/>
              </a:spcBef>
              <a:spcAft>
                <a:spcPts val="0"/>
              </a:spcAft>
              <a:buClr>
                <a:schemeClr val="dk1"/>
              </a:buClr>
              <a:buSzPct val="100000"/>
              <a:buFont typeface="Arial"/>
              <a:buChar char="•"/>
            </a:pPr>
            <a:r>
              <a:rPr lang="en-US"/>
              <a:t>MMU (memory management unit) maps virtual addresses to physical addresses</a:t>
            </a:r>
            <a:endParaRPr/>
          </a:p>
          <a:p>
            <a:pPr indent="-285750" lvl="0" marL="285750" rtl="0" algn="l">
              <a:lnSpc>
                <a:spcPct val="90000"/>
              </a:lnSpc>
              <a:spcBef>
                <a:spcPts val="1000"/>
              </a:spcBef>
              <a:spcAft>
                <a:spcPts val="0"/>
              </a:spcAft>
              <a:buClr>
                <a:schemeClr val="dk1"/>
              </a:buClr>
              <a:buSzPct val="100000"/>
              <a:buFont typeface="Arial"/>
              <a:buChar char="•"/>
            </a:pPr>
            <a:r>
              <a:rPr lang="en-US"/>
              <a:t>Simple MMU scheme: generalization of base-register scheme </a:t>
            </a:r>
            <a:endParaRPr/>
          </a:p>
          <a:p>
            <a:pPr indent="-285750" lvl="0" marL="285750" rtl="0" algn="l">
              <a:lnSpc>
                <a:spcPct val="90000"/>
              </a:lnSpc>
              <a:spcBef>
                <a:spcPts val="1000"/>
              </a:spcBef>
              <a:spcAft>
                <a:spcPts val="0"/>
              </a:spcAft>
              <a:buClr>
                <a:schemeClr val="dk1"/>
              </a:buClr>
              <a:buSzPct val="100000"/>
              <a:buFont typeface="Arial"/>
              <a:buChar char="•"/>
            </a:pPr>
            <a:r>
              <a:rPr lang="en-US"/>
              <a:t>Base register is called relocation register</a:t>
            </a:r>
            <a:endParaRPr/>
          </a:p>
          <a:p>
            <a:pPr indent="-285750" lvl="0" marL="285750" rtl="0" algn="l">
              <a:lnSpc>
                <a:spcPct val="90000"/>
              </a:lnSpc>
              <a:spcBef>
                <a:spcPts val="1000"/>
              </a:spcBef>
              <a:spcAft>
                <a:spcPts val="0"/>
              </a:spcAft>
              <a:buClr>
                <a:schemeClr val="dk1"/>
              </a:buClr>
              <a:buSzPct val="100000"/>
              <a:buFont typeface="Arial"/>
              <a:buChar char="•"/>
            </a:pPr>
            <a:r>
              <a:rPr lang="en-US"/>
              <a:t>While sending to memory, relocation register value is added to every address generated by user process</a:t>
            </a:r>
            <a:endParaRPr/>
          </a:p>
          <a:p>
            <a:pPr indent="-121285" lvl="0" marL="285750" rtl="0" algn="l">
              <a:lnSpc>
                <a:spcPct val="90000"/>
              </a:lnSpc>
              <a:spcBef>
                <a:spcPts val="1000"/>
              </a:spcBef>
              <a:spcAft>
                <a:spcPts val="0"/>
              </a:spcAft>
              <a:buClr>
                <a:schemeClr val="dk1"/>
              </a:buClr>
              <a:buSzPct val="100000"/>
              <a:buFont typeface="Arial"/>
              <a:buNone/>
            </a:pPr>
            <a:r>
              <a:t/>
            </a:r>
            <a:endParaRPr/>
          </a:p>
          <a:p>
            <a:pPr indent="-121285" lvl="0" marL="285750" rtl="0" algn="l">
              <a:lnSpc>
                <a:spcPct val="90000"/>
              </a:lnSpc>
              <a:spcBef>
                <a:spcPts val="1000"/>
              </a:spcBef>
              <a:spcAft>
                <a:spcPts val="0"/>
              </a:spcAft>
              <a:buClr>
                <a:schemeClr val="dk1"/>
              </a:buClr>
              <a:buSzPct val="100000"/>
              <a:buFont typeface="Arial"/>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txBox="1"/>
          <p:nvPr>
            <p:ph type="title"/>
          </p:nvPr>
        </p:nvSpPr>
        <p:spPr>
          <a:xfrm>
            <a:off x="879475" y="141288"/>
            <a:ext cx="78390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Memory-Management Unit (</a:t>
            </a:r>
            <a:r>
              <a:rPr lang="en-US" sz="2800"/>
              <a:t>MMU</a:t>
            </a:r>
            <a:r>
              <a:rPr lang="en-US"/>
              <a:t>)</a:t>
            </a:r>
            <a:endParaRPr/>
          </a:p>
        </p:txBody>
      </p:sp>
      <p:sp>
        <p:nvSpPr>
          <p:cNvPr id="329" name="Google Shape;329;p37"/>
          <p:cNvSpPr txBox="1"/>
          <p:nvPr>
            <p:ph idx="1" type="body"/>
          </p:nvPr>
        </p:nvSpPr>
        <p:spPr>
          <a:xfrm>
            <a:off x="857250" y="1063625"/>
            <a:ext cx="7080250" cy="448468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To start, consider simple scheme –</a:t>
            </a:r>
            <a:endParaRPr/>
          </a:p>
          <a:p>
            <a:pPr indent="-342900" lvl="1" marL="342900" rtl="0" algn="l">
              <a:spcBef>
                <a:spcPts val="630"/>
              </a:spcBef>
              <a:spcAft>
                <a:spcPts val="0"/>
              </a:spcAft>
              <a:buClr>
                <a:srgbClr val="993300"/>
              </a:buClr>
              <a:buSzPts val="1620"/>
              <a:buFont typeface="Arial"/>
              <a:buChar char="●"/>
            </a:pPr>
            <a:r>
              <a:rPr lang="en-US"/>
              <a:t>Base register now called </a:t>
            </a:r>
            <a:r>
              <a:rPr b="1" lang="en-US">
                <a:solidFill>
                  <a:srgbClr val="0000FF"/>
                </a:solidFill>
              </a:rPr>
              <a:t>relocation register</a:t>
            </a:r>
            <a:endParaRPr/>
          </a:p>
          <a:p>
            <a:pPr indent="-342900" lvl="0" marL="342900" rtl="0" algn="l">
              <a:spcBef>
                <a:spcPts val="630"/>
              </a:spcBef>
              <a:spcAft>
                <a:spcPts val="0"/>
              </a:spcAft>
              <a:buSzPts val="1620"/>
              <a:buChar char="●"/>
            </a:pPr>
            <a:r>
              <a:rPr lang="en-US"/>
              <a:t>The value in the relocation register is added to every address generated by a user process at the time it is sent to memory</a:t>
            </a:r>
            <a:endParaRPr/>
          </a:p>
        </p:txBody>
      </p:sp>
      <p:pic>
        <p:nvPicPr>
          <p:cNvPr id="330" name="Google Shape;330;p37"/>
          <p:cNvPicPr preferRelativeResize="0"/>
          <p:nvPr/>
        </p:nvPicPr>
        <p:blipFill rotWithShape="1">
          <a:blip r:embed="rId3">
            <a:alphaModFix/>
          </a:blip>
          <a:srcRect b="0" l="0" r="0" t="0"/>
          <a:stretch/>
        </p:blipFill>
        <p:spPr>
          <a:xfrm>
            <a:off x="2087563" y="2908300"/>
            <a:ext cx="3714750" cy="26892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8"/>
          <p:cNvSpPr txBox="1"/>
          <p:nvPr>
            <p:ph type="title"/>
          </p:nvPr>
        </p:nvSpPr>
        <p:spPr>
          <a:xfrm>
            <a:off x="879475" y="141288"/>
            <a:ext cx="78390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Memory-Management Unit (</a:t>
            </a:r>
            <a:r>
              <a:rPr lang="en-US" sz="2800"/>
              <a:t>MMU</a:t>
            </a:r>
            <a:r>
              <a:rPr lang="en-US"/>
              <a:t>)</a:t>
            </a:r>
            <a:endParaRPr/>
          </a:p>
        </p:txBody>
      </p:sp>
      <p:sp>
        <p:nvSpPr>
          <p:cNvPr id="337" name="Google Shape;337;p38"/>
          <p:cNvSpPr txBox="1"/>
          <p:nvPr>
            <p:ph idx="1" type="body"/>
          </p:nvPr>
        </p:nvSpPr>
        <p:spPr>
          <a:xfrm>
            <a:off x="857250" y="1063625"/>
            <a:ext cx="7080250" cy="448468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For example,</a:t>
            </a:r>
            <a:endParaRPr/>
          </a:p>
          <a:p>
            <a:pPr indent="-342900" lvl="0" marL="342900" rtl="0" algn="l">
              <a:spcBef>
                <a:spcPts val="630"/>
              </a:spcBef>
              <a:spcAft>
                <a:spcPts val="0"/>
              </a:spcAft>
              <a:buSzPts val="1620"/>
              <a:buChar char="●"/>
            </a:pPr>
            <a:r>
              <a:rPr lang="en-US"/>
              <a:t>if the base is at 14000, </a:t>
            </a:r>
            <a:endParaRPr/>
          </a:p>
          <a:p>
            <a:pPr indent="-342900" lvl="0" marL="342900" rtl="0" algn="l">
              <a:spcBef>
                <a:spcPts val="630"/>
              </a:spcBef>
              <a:spcAft>
                <a:spcPts val="0"/>
              </a:spcAft>
              <a:buSzPts val="1620"/>
              <a:buChar char="●"/>
            </a:pPr>
            <a:r>
              <a:rPr lang="en-US"/>
              <a:t>then an attempt by the user to address location 0 is dynamically relocated to location 14000; </a:t>
            </a:r>
            <a:endParaRPr/>
          </a:p>
          <a:p>
            <a:pPr indent="-342900" lvl="0" marL="342900" rtl="0" algn="l">
              <a:spcBef>
                <a:spcPts val="630"/>
              </a:spcBef>
              <a:spcAft>
                <a:spcPts val="0"/>
              </a:spcAft>
              <a:buSzPts val="1620"/>
              <a:buChar char="●"/>
            </a:pPr>
            <a:r>
              <a:rPr lang="en-US"/>
              <a:t>an access to location 346 is mapped to location 14346.</a:t>
            </a:r>
            <a:endParaRPr/>
          </a:p>
        </p:txBody>
      </p:sp>
      <p:pic>
        <p:nvPicPr>
          <p:cNvPr id="338" name="Google Shape;338;p38"/>
          <p:cNvPicPr preferRelativeResize="0"/>
          <p:nvPr/>
        </p:nvPicPr>
        <p:blipFill rotWithShape="1">
          <a:blip r:embed="rId3">
            <a:alphaModFix/>
          </a:blip>
          <a:srcRect b="0" l="0" r="0" t="0"/>
          <a:stretch/>
        </p:blipFill>
        <p:spPr>
          <a:xfrm>
            <a:off x="2087563" y="2970213"/>
            <a:ext cx="3714750" cy="26892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9"/>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344" name="Google Shape;344;p39"/>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The user program never sees the ‘real’ physical address.</a:t>
            </a:r>
            <a:endParaRPr/>
          </a:p>
          <a:p>
            <a:pPr indent="-285750" lvl="0" marL="285750" rtl="0" algn="l">
              <a:lnSpc>
                <a:spcPct val="90000"/>
              </a:lnSpc>
              <a:spcBef>
                <a:spcPts val="1000"/>
              </a:spcBef>
              <a:spcAft>
                <a:spcPts val="0"/>
              </a:spcAft>
              <a:buClr>
                <a:schemeClr val="dk1"/>
              </a:buClr>
              <a:buSzPts val="2800"/>
              <a:buFont typeface="Arial"/>
              <a:buChar char="•"/>
            </a:pPr>
            <a:r>
              <a:rPr lang="en-US"/>
              <a:t>User program deals with logical addresses</a:t>
            </a:r>
            <a:endParaRPr/>
          </a:p>
          <a:p>
            <a:pPr indent="-285750" lvl="0" marL="285750" rtl="0" algn="l">
              <a:lnSpc>
                <a:spcPct val="90000"/>
              </a:lnSpc>
              <a:spcBef>
                <a:spcPts val="1000"/>
              </a:spcBef>
              <a:spcAft>
                <a:spcPts val="0"/>
              </a:spcAft>
              <a:buClr>
                <a:schemeClr val="dk1"/>
              </a:buClr>
              <a:buSzPts val="2800"/>
              <a:buFont typeface="Arial"/>
              <a:buChar char="•"/>
            </a:pPr>
            <a:r>
              <a:rPr lang="en-US"/>
              <a:t>The memory mapping hardware converts logical addresses to physical addresses</a:t>
            </a:r>
            <a:endParaRPr/>
          </a:p>
          <a:p>
            <a:pPr indent="-285750" lvl="0" marL="285750" rtl="0" algn="l">
              <a:lnSpc>
                <a:spcPct val="90000"/>
              </a:lnSpc>
              <a:spcBef>
                <a:spcPts val="1000"/>
              </a:spcBef>
              <a:spcAft>
                <a:spcPts val="0"/>
              </a:spcAft>
              <a:buClr>
                <a:schemeClr val="dk1"/>
              </a:buClr>
              <a:buSzPts val="2800"/>
              <a:buFont typeface="Arial"/>
              <a:buChar char="•"/>
            </a:pPr>
            <a:r>
              <a:rPr lang="en-US"/>
              <a:t>Logical addresses: Range is 0 to max</a:t>
            </a:r>
            <a:endParaRPr/>
          </a:p>
          <a:p>
            <a:pPr indent="-285750" lvl="0" marL="285750" rtl="0" algn="l">
              <a:lnSpc>
                <a:spcPct val="90000"/>
              </a:lnSpc>
              <a:spcBef>
                <a:spcPts val="1000"/>
              </a:spcBef>
              <a:spcAft>
                <a:spcPts val="0"/>
              </a:spcAft>
              <a:buClr>
                <a:schemeClr val="dk1"/>
              </a:buClr>
              <a:buSzPts val="2800"/>
              <a:buFont typeface="Arial"/>
              <a:buChar char="•"/>
            </a:pPr>
            <a:r>
              <a:rPr lang="en-US"/>
              <a:t>Physical addresses: R+0 to R+max where R is base value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0"/>
          <p:cNvSpPr txBox="1"/>
          <p:nvPr>
            <p:ph type="title"/>
          </p:nvPr>
        </p:nvSpPr>
        <p:spPr>
          <a:xfrm>
            <a:off x="919163" y="79375"/>
            <a:ext cx="8224837" cy="5715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Dynamic Loading</a:t>
            </a:r>
            <a:endParaRPr/>
          </a:p>
        </p:txBody>
      </p:sp>
      <p:sp>
        <p:nvSpPr>
          <p:cNvPr id="351" name="Google Shape;351;p40"/>
          <p:cNvSpPr txBox="1"/>
          <p:nvPr/>
        </p:nvSpPr>
        <p:spPr>
          <a:xfrm>
            <a:off x="966788" y="1063625"/>
            <a:ext cx="7112000" cy="5211763"/>
          </a:xfrm>
          <a:prstGeom prst="rect">
            <a:avLst/>
          </a:prstGeom>
          <a:noFill/>
          <a:ln>
            <a:noFill/>
          </a:ln>
        </p:spPr>
        <p:txBody>
          <a:bodyPr anchorCtr="0" anchor="t" bIns="32000" lIns="64000" spcFirstLastPara="1" rIns="64000" wrap="square" tIns="32000">
            <a:noAutofit/>
          </a:bodyPr>
          <a:lstStyle/>
          <a:p>
            <a:pPr indent="-488950" lvl="0" marL="488950" marR="0" rtl="0" algn="l">
              <a:spcBef>
                <a:spcPts val="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So far:-</a:t>
            </a:r>
            <a:endParaRPr/>
          </a:p>
          <a:p>
            <a:pPr indent="-488950" lvl="0" marL="488950" marR="0" rtl="0" algn="l">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The entire program and all data of a process to be in physical memory for the process to execute. </a:t>
            </a:r>
            <a:endParaRPr/>
          </a:p>
          <a:p>
            <a:pPr indent="-488950" lvl="0" marL="488950" marR="0" rtl="0" algn="l">
              <a:spcBef>
                <a:spcPts val="630"/>
              </a:spcBef>
              <a:spcAft>
                <a:spcPts val="0"/>
              </a:spcAft>
              <a:buClr>
                <a:srgbClr val="993300"/>
              </a:buClr>
              <a:buSzPts val="1620"/>
              <a:buFont typeface="Arial"/>
              <a:buChar char="●"/>
            </a:pPr>
            <a:r>
              <a:rPr b="1" i="0" lang="en-US" sz="1800" u="none" cap="none" strike="noStrike">
                <a:solidFill>
                  <a:srgbClr val="0070C0"/>
                </a:solidFill>
                <a:latin typeface="Helvetica Neue"/>
                <a:ea typeface="Helvetica Neue"/>
                <a:cs typeface="Helvetica Neue"/>
                <a:sym typeface="Helvetica Neue"/>
              </a:rPr>
              <a:t>The size of a process has thus been limited to the size of physical memory.</a:t>
            </a:r>
            <a:endParaRPr b="1" i="0" sz="1400" u="none" cap="none" strike="noStrike">
              <a:solidFill>
                <a:srgbClr val="0070C0"/>
              </a:solidFill>
              <a:latin typeface="Helvetica Neue"/>
              <a:ea typeface="Helvetica Neue"/>
              <a:cs typeface="Helvetica Neue"/>
              <a:sym typeface="Helvetica Neue"/>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1"/>
          <p:cNvSpPr txBox="1"/>
          <p:nvPr>
            <p:ph type="title"/>
          </p:nvPr>
        </p:nvSpPr>
        <p:spPr>
          <a:xfrm>
            <a:off x="919163" y="79375"/>
            <a:ext cx="8224837" cy="5715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Dynamic Loading</a:t>
            </a:r>
            <a:endParaRPr/>
          </a:p>
        </p:txBody>
      </p:sp>
      <p:sp>
        <p:nvSpPr>
          <p:cNvPr id="358" name="Google Shape;358;p41"/>
          <p:cNvSpPr txBox="1"/>
          <p:nvPr/>
        </p:nvSpPr>
        <p:spPr>
          <a:xfrm>
            <a:off x="966788" y="1063625"/>
            <a:ext cx="6761162" cy="5211763"/>
          </a:xfrm>
          <a:prstGeom prst="rect">
            <a:avLst/>
          </a:prstGeom>
          <a:noFill/>
          <a:ln>
            <a:noFill/>
          </a:ln>
        </p:spPr>
        <p:txBody>
          <a:bodyPr anchorCtr="0" anchor="t" bIns="32000" lIns="64000" spcFirstLastPara="1" rIns="64000" wrap="square" tIns="32000">
            <a:noAutofit/>
          </a:bodyPr>
          <a:lstStyle/>
          <a:p>
            <a:pPr indent="-488950" lvl="0" marL="488950" marR="0" rtl="0" algn="l">
              <a:spcBef>
                <a:spcPts val="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To obtain better memory-space utilization, </a:t>
            </a:r>
            <a:endParaRPr/>
          </a:p>
          <a:p>
            <a:pPr indent="-488950" lvl="0" marL="488950" marR="0" rtl="0" algn="l">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we can use Dynamic Loading</a:t>
            </a:r>
            <a:endParaRPr b="1" i="0" sz="1400" u="none" cap="none" strike="noStrike">
              <a:solidFill>
                <a:srgbClr val="0070C0"/>
              </a:solidFill>
              <a:latin typeface="Helvetica Neue"/>
              <a:ea typeface="Helvetica Neue"/>
              <a:cs typeface="Helvetica Neue"/>
              <a:sym typeface="Helvetica Neue"/>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2"/>
          <p:cNvSpPr txBox="1"/>
          <p:nvPr>
            <p:ph type="title"/>
          </p:nvPr>
        </p:nvSpPr>
        <p:spPr>
          <a:xfrm>
            <a:off x="919163" y="79375"/>
            <a:ext cx="8224837" cy="5715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Dynamic Loading</a:t>
            </a:r>
            <a:endParaRPr/>
          </a:p>
        </p:txBody>
      </p:sp>
      <p:sp>
        <p:nvSpPr>
          <p:cNvPr id="365" name="Google Shape;365;p42"/>
          <p:cNvSpPr txBox="1"/>
          <p:nvPr/>
        </p:nvSpPr>
        <p:spPr>
          <a:xfrm>
            <a:off x="966788" y="1063625"/>
            <a:ext cx="6773862" cy="5211763"/>
          </a:xfrm>
          <a:prstGeom prst="rect">
            <a:avLst/>
          </a:prstGeom>
          <a:noFill/>
          <a:ln>
            <a:noFill/>
          </a:ln>
        </p:spPr>
        <p:txBody>
          <a:bodyPr anchorCtr="0" anchor="t" bIns="32000" lIns="64000" spcFirstLastPara="1" rIns="64000" wrap="square" tIns="32000">
            <a:noAutofit/>
          </a:bodyPr>
          <a:lstStyle/>
          <a:p>
            <a:pPr indent="-488950" lvl="0" marL="488950" marR="0" rtl="0" algn="l">
              <a:spcBef>
                <a:spcPts val="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Routine is not loaded until it is called</a:t>
            </a:r>
            <a:endParaRPr/>
          </a:p>
          <a:p>
            <a:pPr indent="-488950" lvl="0" marL="488950" marR="0" rtl="0" algn="l">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All routines kept on disk in relocatable load format</a:t>
            </a:r>
            <a:endParaRPr/>
          </a:p>
          <a:p>
            <a:pPr indent="0" lvl="0" marL="0" marR="0" rtl="0" algn="l">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488950" lvl="0" marL="488950" marR="0" rtl="0" algn="l">
              <a:spcBef>
                <a:spcPts val="630"/>
              </a:spcBef>
              <a:spcAft>
                <a:spcPts val="0"/>
              </a:spcAft>
              <a:buClr>
                <a:srgbClr val="993300"/>
              </a:buClr>
              <a:buSzPts val="1620"/>
              <a:buFont typeface="Arial"/>
              <a:buAutoNum type="arabicParenR"/>
            </a:pPr>
            <a:r>
              <a:rPr b="0" i="0" lang="en-US" sz="1800" u="none" cap="none" strike="noStrike">
                <a:solidFill>
                  <a:schemeClr val="dk1"/>
                </a:solidFill>
                <a:latin typeface="Helvetica Neue"/>
                <a:ea typeface="Helvetica Neue"/>
                <a:cs typeface="Helvetica Neue"/>
                <a:sym typeface="Helvetica Neue"/>
              </a:rPr>
              <a:t>The main program is loaded into memory and is executed. </a:t>
            </a:r>
            <a:endParaRPr/>
          </a:p>
          <a:p>
            <a:pPr indent="-488950" lvl="0" marL="488950" marR="0" rtl="0" algn="l">
              <a:spcBef>
                <a:spcPts val="630"/>
              </a:spcBef>
              <a:spcAft>
                <a:spcPts val="0"/>
              </a:spcAft>
              <a:buClr>
                <a:srgbClr val="993300"/>
              </a:buClr>
              <a:buSzPts val="1620"/>
              <a:buFont typeface="Arial"/>
              <a:buAutoNum type="arabicParenR"/>
            </a:pPr>
            <a:r>
              <a:rPr b="0" i="0" lang="en-US" sz="1800" u="none" cap="none" strike="noStrike">
                <a:solidFill>
                  <a:schemeClr val="dk1"/>
                </a:solidFill>
                <a:latin typeface="Helvetica Neue"/>
                <a:ea typeface="Helvetica Neue"/>
                <a:cs typeface="Helvetica Neue"/>
                <a:sym typeface="Helvetica Neue"/>
              </a:rPr>
              <a:t>When a routine needs to call another routine, the calling routine first checks to see whether the other routine has been loaded. </a:t>
            </a:r>
            <a:endParaRPr/>
          </a:p>
          <a:p>
            <a:pPr indent="-488950" lvl="0" marL="488950" marR="0" rtl="0" algn="l">
              <a:spcBef>
                <a:spcPts val="630"/>
              </a:spcBef>
              <a:spcAft>
                <a:spcPts val="0"/>
              </a:spcAft>
              <a:buClr>
                <a:srgbClr val="993300"/>
              </a:buClr>
              <a:buSzPts val="1620"/>
              <a:buFont typeface="Arial"/>
              <a:buAutoNum type="arabicParenR"/>
            </a:pPr>
            <a:r>
              <a:rPr b="0" i="0" lang="en-US" sz="1800" u="none" cap="none" strike="noStrike">
                <a:solidFill>
                  <a:schemeClr val="dk1"/>
                </a:solidFill>
                <a:latin typeface="Helvetica Neue"/>
                <a:ea typeface="Helvetica Neue"/>
                <a:cs typeface="Helvetica Neue"/>
                <a:sym typeface="Helvetica Neue"/>
              </a:rPr>
              <a:t>If it has not, the</a:t>
            </a:r>
            <a:r>
              <a:rPr b="0" i="0" lang="en-US" sz="1800" u="none" cap="none" strike="noStrike">
                <a:solidFill>
                  <a:schemeClr val="dk1"/>
                </a:solidFill>
                <a:highlight>
                  <a:srgbClr val="FFFF00"/>
                </a:highlight>
                <a:latin typeface="Helvetica Neue"/>
                <a:ea typeface="Helvetica Neue"/>
                <a:cs typeface="Helvetica Neue"/>
                <a:sym typeface="Helvetica Neue"/>
              </a:rPr>
              <a:t> relocatable linking loader </a:t>
            </a:r>
            <a:r>
              <a:rPr b="0" i="0" lang="en-US" sz="1800" u="none" cap="none" strike="noStrike">
                <a:solidFill>
                  <a:schemeClr val="dk1"/>
                </a:solidFill>
                <a:latin typeface="Helvetica Neue"/>
                <a:ea typeface="Helvetica Neue"/>
                <a:cs typeface="Helvetica Neue"/>
                <a:sym typeface="Helvetica Neue"/>
              </a:rPr>
              <a:t>is called to load the desired routine into memory and to update the program's address tables to reflect this change. </a:t>
            </a:r>
            <a:endParaRPr/>
          </a:p>
          <a:p>
            <a:pPr indent="-488950" lvl="0" marL="488950" marR="0" rtl="0" algn="l">
              <a:spcBef>
                <a:spcPts val="630"/>
              </a:spcBef>
              <a:spcAft>
                <a:spcPts val="0"/>
              </a:spcAft>
              <a:buClr>
                <a:srgbClr val="993300"/>
              </a:buClr>
              <a:buSzPts val="1620"/>
              <a:buFont typeface="Arial"/>
              <a:buAutoNum type="arabicParenR"/>
            </a:pPr>
            <a:r>
              <a:rPr b="0" i="0" lang="en-US" sz="1800" u="none" cap="none" strike="noStrike">
                <a:solidFill>
                  <a:schemeClr val="dk1"/>
                </a:solidFill>
                <a:latin typeface="Helvetica Neue"/>
                <a:ea typeface="Helvetica Neue"/>
                <a:cs typeface="Helvetica Neue"/>
                <a:sym typeface="Helvetica Neue"/>
              </a:rPr>
              <a:t>Then control is passed to the newly loaded routine.</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3"/>
          <p:cNvSpPr txBox="1"/>
          <p:nvPr>
            <p:ph type="title"/>
          </p:nvPr>
        </p:nvSpPr>
        <p:spPr>
          <a:xfrm>
            <a:off x="919163" y="79375"/>
            <a:ext cx="8224837" cy="5715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Dynamic Loading</a:t>
            </a:r>
            <a:endParaRPr/>
          </a:p>
        </p:txBody>
      </p:sp>
      <p:sp>
        <p:nvSpPr>
          <p:cNvPr id="372" name="Google Shape;372;p43"/>
          <p:cNvSpPr txBox="1"/>
          <p:nvPr/>
        </p:nvSpPr>
        <p:spPr>
          <a:xfrm>
            <a:off x="966788" y="1063625"/>
            <a:ext cx="6950075" cy="5211763"/>
          </a:xfrm>
          <a:prstGeom prst="rect">
            <a:avLst/>
          </a:prstGeom>
          <a:noFill/>
          <a:ln>
            <a:noFill/>
          </a:ln>
        </p:spPr>
        <p:txBody>
          <a:bodyPr anchorCtr="0" anchor="t" bIns="32000" lIns="64000" spcFirstLastPara="1" rIns="64000" wrap="square" tIns="32000">
            <a:noAutofit/>
          </a:bodyPr>
          <a:lstStyle/>
          <a:p>
            <a:pPr indent="0" lvl="0" marL="0" marR="0" rtl="0" algn="l">
              <a:spcBef>
                <a:spcPts val="0"/>
              </a:spcBef>
              <a:spcAft>
                <a:spcPts val="0"/>
              </a:spcAft>
              <a:buClr>
                <a:srgbClr val="993300"/>
              </a:buClr>
              <a:buSzPts val="1620"/>
              <a:buFont typeface="Arial"/>
              <a:buNone/>
            </a:pPr>
            <a:r>
              <a:rPr b="0" i="0" lang="en-US" sz="1800" u="none" cap="none" strike="noStrike">
                <a:solidFill>
                  <a:schemeClr val="dk1"/>
                </a:solidFill>
                <a:latin typeface="Helvetica Neue"/>
                <a:ea typeface="Helvetica Neue"/>
                <a:cs typeface="Helvetica Neue"/>
                <a:sym typeface="Helvetica Neue"/>
              </a:rPr>
              <a:t>Advantage –</a:t>
            </a:r>
            <a:endParaRPr/>
          </a:p>
          <a:p>
            <a:pPr indent="-488950" lvl="0" marL="488950" marR="0" rtl="0" algn="l">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Unused routine is never loaded.</a:t>
            </a:r>
            <a:endParaRPr/>
          </a:p>
          <a:p>
            <a:pPr indent="-488950" lvl="0" marL="488950" marR="0" rtl="0" algn="l">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Useful when large amounts of code are needed to handle infrequently occurring cases. Eg- Error Routines</a:t>
            </a:r>
            <a:endParaRPr/>
          </a:p>
          <a:p>
            <a:pPr indent="-488950" lvl="0" marL="488950" marR="0" rtl="0" algn="l">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No special support from the operating system is required</a:t>
            </a:r>
            <a:endParaRPr/>
          </a:p>
          <a:p>
            <a:pPr indent="-386080" lvl="0" marL="488950" marR="0" rtl="0" algn="l">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488950" lvl="0" marL="488950" marR="0" rtl="0" algn="l">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Implemented through program design-</a:t>
            </a:r>
            <a:endParaRPr/>
          </a:p>
          <a:p>
            <a:pPr indent="-407988" lvl="1" marL="1060450" marR="0" rtl="0" algn="l">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It is the responsibility of the users to design their programs to take advantage of such a method. </a:t>
            </a:r>
            <a:endParaRPr/>
          </a:p>
          <a:p>
            <a:pPr indent="-488950" lvl="0" marL="488950" marR="0" rtl="0" algn="l">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Operating systems may help the programmer, </a:t>
            </a:r>
            <a:endParaRPr/>
          </a:p>
          <a:p>
            <a:pPr indent="-407988" lvl="1" marL="1060450" marR="0" rtl="0" algn="l">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by providing library routines to implement dynamic loading.</a:t>
            </a:r>
            <a:endParaRPr b="0" i="0" sz="1800" u="none" cap="none" strike="noStrike">
              <a:solidFill>
                <a:schemeClr val="dk1"/>
              </a:solidFill>
              <a:latin typeface="Helvetica Neue"/>
              <a:ea typeface="Helvetica Neue"/>
              <a:cs typeface="Helvetica Neue"/>
              <a:sym typeface="Helvetica Neue"/>
            </a:endParaRPr>
          </a:p>
          <a:p>
            <a:pPr indent="-386080" lvl="0" marL="488950" marR="0" rtl="0" algn="l">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4"/>
          <p:cNvSpPr txBox="1"/>
          <p:nvPr>
            <p:ph type="title"/>
          </p:nvPr>
        </p:nvSpPr>
        <p:spPr>
          <a:xfrm>
            <a:off x="457200" y="1158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Dynamic Linking</a:t>
            </a:r>
            <a:endParaRPr/>
          </a:p>
        </p:txBody>
      </p:sp>
      <p:sp>
        <p:nvSpPr>
          <p:cNvPr id="379" name="Google Shape;379;p44"/>
          <p:cNvSpPr txBox="1"/>
          <p:nvPr>
            <p:ph idx="1" type="body"/>
          </p:nvPr>
        </p:nvSpPr>
        <p:spPr>
          <a:xfrm>
            <a:off x="935038" y="1062038"/>
            <a:ext cx="7116762" cy="46609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3366FF"/>
                </a:solidFill>
              </a:rPr>
              <a:t>Static linking </a:t>
            </a:r>
            <a:r>
              <a:rPr lang="en-US"/>
              <a:t>– </a:t>
            </a:r>
            <a:endParaRPr/>
          </a:p>
          <a:p>
            <a:pPr indent="-342900" lvl="0" marL="342900" rtl="0" algn="l">
              <a:spcBef>
                <a:spcPts val="630"/>
              </a:spcBef>
              <a:spcAft>
                <a:spcPts val="0"/>
              </a:spcAft>
              <a:buSzPts val="1620"/>
              <a:buChar char="●"/>
            </a:pPr>
            <a:r>
              <a:rPr lang="en-US"/>
              <a:t>System libraries and program code combined by the linker/loader into the binary program image</a:t>
            </a:r>
            <a:endParaRPr/>
          </a:p>
          <a:p>
            <a:pPr indent="-342900" lvl="0" marL="342900" rtl="0" algn="l">
              <a:spcBef>
                <a:spcPts val="630"/>
              </a:spcBef>
              <a:spcAft>
                <a:spcPts val="0"/>
              </a:spcAft>
              <a:buSzPts val="1620"/>
              <a:buChar char="●"/>
            </a:pPr>
            <a:r>
              <a:rPr lang="en-US"/>
              <a:t>Dynamic linking –linking postponed until execution time</a:t>
            </a:r>
            <a:endParaRPr sz="800"/>
          </a:p>
        </p:txBody>
      </p:sp>
      <p:pic>
        <p:nvPicPr>
          <p:cNvPr descr="8" id="380" name="Google Shape;380;p44"/>
          <p:cNvPicPr preferRelativeResize="0"/>
          <p:nvPr/>
        </p:nvPicPr>
        <p:blipFill rotWithShape="1">
          <a:blip r:embed="rId3">
            <a:alphaModFix/>
          </a:blip>
          <a:srcRect b="0" l="0" r="0" t="0"/>
          <a:stretch/>
        </p:blipFill>
        <p:spPr>
          <a:xfrm>
            <a:off x="3360738" y="2525917"/>
            <a:ext cx="2554287" cy="385364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5"/>
          <p:cNvSpPr txBox="1"/>
          <p:nvPr>
            <p:ph type="title"/>
          </p:nvPr>
        </p:nvSpPr>
        <p:spPr>
          <a:xfrm>
            <a:off x="457200" y="1158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Dynamic Linking</a:t>
            </a:r>
            <a:endParaRPr/>
          </a:p>
        </p:txBody>
      </p:sp>
      <p:sp>
        <p:nvSpPr>
          <p:cNvPr id="387" name="Google Shape;387;p45"/>
          <p:cNvSpPr txBox="1"/>
          <p:nvPr>
            <p:ph idx="1" type="body"/>
          </p:nvPr>
        </p:nvSpPr>
        <p:spPr>
          <a:xfrm>
            <a:off x="935038" y="1062038"/>
            <a:ext cx="7116762" cy="46609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Dynamic linking –</a:t>
            </a:r>
            <a:endParaRPr/>
          </a:p>
          <a:p>
            <a:pPr indent="-342900" lvl="0" marL="342900" rtl="0" algn="l">
              <a:spcBef>
                <a:spcPts val="630"/>
              </a:spcBef>
              <a:spcAft>
                <a:spcPts val="0"/>
              </a:spcAft>
              <a:buSzPts val="1620"/>
              <a:buChar char="●"/>
            </a:pPr>
            <a:r>
              <a:rPr lang="en-US"/>
              <a:t>This feature is usually used with system libraries, such as language subroutine libraries. </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Char char="●"/>
            </a:pPr>
            <a:r>
              <a:rPr lang="en-US"/>
              <a:t>Without this facility, each program on a system must include a copy of its language library (or at least the routines referenced by the program) in the executable image. </a:t>
            </a:r>
            <a:endParaRPr/>
          </a:p>
          <a:p>
            <a:pPr indent="-342900" lvl="0" marL="342900" rtl="0" algn="l">
              <a:spcBef>
                <a:spcPts val="630"/>
              </a:spcBef>
              <a:spcAft>
                <a:spcPts val="0"/>
              </a:spcAft>
              <a:buSzPts val="1620"/>
              <a:buChar char="●"/>
            </a:pPr>
            <a:r>
              <a:rPr lang="en-US"/>
              <a:t>This requirement wastes both disk space and main memory.</a:t>
            </a:r>
            <a:endParaRPr>
              <a:solidFill>
                <a:srgbClr val="0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6"/>
          <p:cNvSpPr txBox="1"/>
          <p:nvPr>
            <p:ph type="title"/>
          </p:nvPr>
        </p:nvSpPr>
        <p:spPr>
          <a:xfrm>
            <a:off x="457200" y="1158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Dynamic Linking</a:t>
            </a:r>
            <a:endParaRPr/>
          </a:p>
        </p:txBody>
      </p:sp>
      <p:sp>
        <p:nvSpPr>
          <p:cNvPr id="394" name="Google Shape;394;p46"/>
          <p:cNvSpPr txBox="1"/>
          <p:nvPr>
            <p:ph idx="1" type="body"/>
          </p:nvPr>
        </p:nvSpPr>
        <p:spPr>
          <a:xfrm>
            <a:off x="935038" y="1062038"/>
            <a:ext cx="7116762" cy="46609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A </a:t>
            </a:r>
            <a:r>
              <a:rPr i="1" lang="en-US"/>
              <a:t>stub </a:t>
            </a:r>
            <a:r>
              <a:rPr lang="en-US"/>
              <a:t>is included in the image for each library routine reference. </a:t>
            </a:r>
            <a:endParaRPr/>
          </a:p>
          <a:p>
            <a:pPr indent="-342900" lvl="0" marL="342900" rtl="0" algn="l">
              <a:spcBef>
                <a:spcPts val="630"/>
              </a:spcBef>
              <a:spcAft>
                <a:spcPts val="0"/>
              </a:spcAft>
              <a:buSzPts val="1620"/>
              <a:buChar char="●"/>
            </a:pPr>
            <a:r>
              <a:rPr lang="en-US"/>
              <a:t>The stub is a small piece of code that indicates how to locate the appropriate memory-resident library routine or how to load the library if the routine is not already present.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7"/>
          <p:cNvSpPr txBox="1"/>
          <p:nvPr>
            <p:ph type="title"/>
          </p:nvPr>
        </p:nvSpPr>
        <p:spPr>
          <a:xfrm>
            <a:off x="457200" y="1158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Dynamic Linking</a:t>
            </a:r>
            <a:endParaRPr/>
          </a:p>
        </p:txBody>
      </p:sp>
      <p:sp>
        <p:nvSpPr>
          <p:cNvPr id="401" name="Google Shape;401;p47"/>
          <p:cNvSpPr txBox="1"/>
          <p:nvPr>
            <p:ph idx="1" type="body"/>
          </p:nvPr>
        </p:nvSpPr>
        <p:spPr>
          <a:xfrm>
            <a:off x="935038" y="1062038"/>
            <a:ext cx="7116762" cy="46609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When the stub is executed,</a:t>
            </a:r>
            <a:endParaRPr/>
          </a:p>
          <a:p>
            <a:pPr indent="-342900" lvl="0" marL="342900" rtl="0" algn="l">
              <a:spcBef>
                <a:spcPts val="630"/>
              </a:spcBef>
              <a:spcAft>
                <a:spcPts val="0"/>
              </a:spcAft>
              <a:buSzPts val="1620"/>
              <a:buFont typeface="Arial"/>
              <a:buAutoNum type="arabicParenR"/>
            </a:pPr>
            <a:r>
              <a:rPr lang="en-US"/>
              <a:t>It checks to see whether the needed routine is already in memory. </a:t>
            </a:r>
            <a:endParaRPr/>
          </a:p>
          <a:p>
            <a:pPr indent="-342900" lvl="0" marL="342900" rtl="0" algn="l">
              <a:spcBef>
                <a:spcPts val="630"/>
              </a:spcBef>
              <a:spcAft>
                <a:spcPts val="0"/>
              </a:spcAft>
              <a:buSzPts val="1620"/>
              <a:buFont typeface="Arial"/>
              <a:buAutoNum type="arabicParenR"/>
            </a:pPr>
            <a:r>
              <a:rPr lang="en-US"/>
              <a:t>If it is not, the program loads the routine into memory. </a:t>
            </a:r>
            <a:endParaRPr/>
          </a:p>
          <a:p>
            <a:pPr indent="-342900" lvl="0" marL="342900" rtl="0" algn="l">
              <a:spcBef>
                <a:spcPts val="630"/>
              </a:spcBef>
              <a:spcAft>
                <a:spcPts val="0"/>
              </a:spcAft>
              <a:buSzPts val="1620"/>
              <a:buFont typeface="Arial"/>
              <a:buAutoNum type="arabicParenR"/>
            </a:pPr>
            <a:r>
              <a:rPr lang="en-US"/>
              <a:t>Either way, the stub replaces itself with the address of the routine and executes the routine. </a:t>
            </a:r>
            <a:endParaRPr/>
          </a:p>
          <a:p>
            <a:pPr indent="-342900" lvl="0" marL="342900" rtl="0" algn="l">
              <a:spcBef>
                <a:spcPts val="630"/>
              </a:spcBef>
              <a:spcAft>
                <a:spcPts val="0"/>
              </a:spcAft>
              <a:buSzPts val="1620"/>
              <a:buFont typeface="Arial"/>
              <a:buAutoNum type="arabicParenR"/>
            </a:pPr>
            <a:r>
              <a:rPr lang="en-US"/>
              <a:t>Thus, the next time that particular code segment is reached, the library routine is executed directly, incurring no cost for dynamic linking.</a:t>
            </a:r>
            <a:endParaRPr>
              <a:solidFill>
                <a:srgbClr val="0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8"/>
          <p:cNvSpPr txBox="1"/>
          <p:nvPr>
            <p:ph type="title"/>
          </p:nvPr>
        </p:nvSpPr>
        <p:spPr>
          <a:xfrm>
            <a:off x="457200" y="1158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Dynamic Linking</a:t>
            </a:r>
            <a:endParaRPr/>
          </a:p>
        </p:txBody>
      </p:sp>
      <p:sp>
        <p:nvSpPr>
          <p:cNvPr id="408" name="Google Shape;408;p48"/>
          <p:cNvSpPr txBox="1"/>
          <p:nvPr>
            <p:ph idx="1" type="body"/>
          </p:nvPr>
        </p:nvSpPr>
        <p:spPr>
          <a:xfrm>
            <a:off x="935038" y="1062038"/>
            <a:ext cx="7116762" cy="46609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This feature can be extended to library updates (such as bug fixes). </a:t>
            </a:r>
            <a:endParaRPr/>
          </a:p>
          <a:p>
            <a:pPr indent="-342900" lvl="0" marL="342900" rtl="0" algn="l">
              <a:spcBef>
                <a:spcPts val="630"/>
              </a:spcBef>
              <a:spcAft>
                <a:spcPts val="0"/>
              </a:spcAft>
              <a:buSzPts val="1620"/>
              <a:buChar char="●"/>
            </a:pPr>
            <a:r>
              <a:rPr lang="en-US"/>
              <a:t>A library may be replaced by a new version, </a:t>
            </a:r>
            <a:endParaRPr/>
          </a:p>
          <a:p>
            <a:pPr indent="-342900" lvl="0" marL="342900" rtl="0" algn="l">
              <a:spcBef>
                <a:spcPts val="630"/>
              </a:spcBef>
              <a:spcAft>
                <a:spcPts val="0"/>
              </a:spcAft>
              <a:buSzPts val="1620"/>
              <a:buChar char="●"/>
            </a:pPr>
            <a:r>
              <a:rPr lang="en-US"/>
              <a:t>All programs that reference the library will automatically use the new version. Without dynamic linking, all such programs would need to be relinked to gain access to the new library.</a:t>
            </a:r>
            <a:endParaRPr>
              <a:solidFill>
                <a:srgbClr val="0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9"/>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Swapping</a:t>
            </a:r>
            <a:endParaRPr/>
          </a:p>
        </p:txBody>
      </p:sp>
      <p:sp>
        <p:nvSpPr>
          <p:cNvPr id="414" name="Google Shape;414;p49"/>
          <p:cNvSpPr txBox="1"/>
          <p:nvPr>
            <p:ph idx="1" type="body"/>
          </p:nvPr>
        </p:nvSpPr>
        <p:spPr>
          <a:xfrm>
            <a:off x="700004" y="1324629"/>
            <a:ext cx="2863884"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Swapping is a process of swapping a process temporarily to a secondary memory from the main memory</a:t>
            </a:r>
            <a:endParaRPr/>
          </a:p>
        </p:txBody>
      </p:sp>
      <p:pic>
        <p:nvPicPr>
          <p:cNvPr id="415" name="Google Shape;415;p49"/>
          <p:cNvPicPr preferRelativeResize="0"/>
          <p:nvPr/>
        </p:nvPicPr>
        <p:blipFill rotWithShape="1">
          <a:blip r:embed="rId3">
            <a:alphaModFix/>
          </a:blip>
          <a:srcRect b="0" l="0" r="0" t="0"/>
          <a:stretch/>
        </p:blipFill>
        <p:spPr>
          <a:xfrm>
            <a:off x="3635896" y="1052736"/>
            <a:ext cx="5274279" cy="5112568"/>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0"/>
          <p:cNvSpPr txBox="1"/>
          <p:nvPr>
            <p:ph type="title"/>
          </p:nvPr>
        </p:nvSpPr>
        <p:spPr>
          <a:xfrm>
            <a:off x="488950" y="1190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Swapping</a:t>
            </a:r>
            <a:endParaRPr/>
          </a:p>
        </p:txBody>
      </p:sp>
      <p:sp>
        <p:nvSpPr>
          <p:cNvPr id="422" name="Google Shape;422;p50"/>
          <p:cNvSpPr txBox="1"/>
          <p:nvPr>
            <p:ph idx="1" type="body"/>
          </p:nvPr>
        </p:nvSpPr>
        <p:spPr>
          <a:xfrm>
            <a:off x="873125" y="1122363"/>
            <a:ext cx="7051675" cy="50673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20"/>
              <a:buChar char="●"/>
            </a:pPr>
            <a:r>
              <a:rPr lang="en-US"/>
              <a:t>A process can be </a:t>
            </a:r>
            <a:r>
              <a:rPr b="1" lang="en-US">
                <a:solidFill>
                  <a:srgbClr val="3366FF"/>
                </a:solidFill>
              </a:rPr>
              <a:t>swapped</a:t>
            </a:r>
            <a:r>
              <a:rPr lang="en-US"/>
              <a:t> temporarily out of memory to a backing store, and then brought back into memory for continued execution</a:t>
            </a:r>
            <a:endParaRPr/>
          </a:p>
        </p:txBody>
      </p:sp>
      <p:pic>
        <p:nvPicPr>
          <p:cNvPr descr="8" id="423" name="Google Shape;423;p50"/>
          <p:cNvPicPr preferRelativeResize="0"/>
          <p:nvPr/>
        </p:nvPicPr>
        <p:blipFill rotWithShape="1">
          <a:blip r:embed="rId3">
            <a:alphaModFix/>
          </a:blip>
          <a:srcRect b="0" l="0" r="0" t="0"/>
          <a:stretch/>
        </p:blipFill>
        <p:spPr>
          <a:xfrm>
            <a:off x="1730375" y="2540000"/>
            <a:ext cx="5099050" cy="3814763"/>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1"/>
          <p:cNvSpPr txBox="1"/>
          <p:nvPr>
            <p:ph type="title"/>
          </p:nvPr>
        </p:nvSpPr>
        <p:spPr>
          <a:xfrm>
            <a:off x="488950" y="1190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Swapping</a:t>
            </a:r>
            <a:endParaRPr/>
          </a:p>
        </p:txBody>
      </p:sp>
      <p:sp>
        <p:nvSpPr>
          <p:cNvPr id="430" name="Google Shape;430;p51"/>
          <p:cNvSpPr txBox="1"/>
          <p:nvPr>
            <p:ph idx="1" type="body"/>
          </p:nvPr>
        </p:nvSpPr>
        <p:spPr>
          <a:xfrm>
            <a:off x="873125" y="1122363"/>
            <a:ext cx="7051675" cy="50673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20"/>
              <a:buChar char="●"/>
            </a:pPr>
            <a:r>
              <a:rPr b="1" lang="en-US">
                <a:solidFill>
                  <a:srgbClr val="3366FF"/>
                </a:solidFill>
              </a:rPr>
              <a:t>Backing store</a:t>
            </a:r>
            <a:r>
              <a:rPr lang="en-US">
                <a:solidFill>
                  <a:srgbClr val="3366FF"/>
                </a:solidFill>
              </a:rPr>
              <a:t> </a:t>
            </a:r>
            <a:r>
              <a:rPr lang="en-US"/>
              <a:t>– </a:t>
            </a:r>
            <a:endParaRPr/>
          </a:p>
          <a:p>
            <a:pPr indent="-342900" lvl="0" marL="342900" rtl="0" algn="l">
              <a:lnSpc>
                <a:spcPct val="80000"/>
              </a:lnSpc>
              <a:spcBef>
                <a:spcPts val="630"/>
              </a:spcBef>
              <a:spcAft>
                <a:spcPts val="0"/>
              </a:spcAft>
              <a:buSzPts val="1620"/>
              <a:buChar char="●"/>
            </a:pPr>
            <a:r>
              <a:rPr lang="en-US"/>
              <a:t>fast disk large enough to accommodate copies of all memory images for all users; </a:t>
            </a:r>
            <a:endParaRPr/>
          </a:p>
          <a:p>
            <a:pPr indent="-342900" lvl="0" marL="342900" rtl="0" algn="l">
              <a:lnSpc>
                <a:spcPct val="80000"/>
              </a:lnSpc>
              <a:spcBef>
                <a:spcPts val="630"/>
              </a:spcBef>
              <a:spcAft>
                <a:spcPts val="0"/>
              </a:spcAft>
              <a:buSzPts val="1620"/>
              <a:buChar char="●"/>
            </a:pPr>
            <a:r>
              <a:rPr lang="en-US"/>
              <a:t>must provide direct access to these memory images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2"/>
          <p:cNvSpPr txBox="1"/>
          <p:nvPr>
            <p:ph type="title"/>
          </p:nvPr>
        </p:nvSpPr>
        <p:spPr>
          <a:xfrm>
            <a:off x="488950" y="1190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Swapping</a:t>
            </a:r>
            <a:endParaRPr/>
          </a:p>
        </p:txBody>
      </p:sp>
      <p:sp>
        <p:nvSpPr>
          <p:cNvPr id="437" name="Google Shape;437;p52"/>
          <p:cNvSpPr txBox="1"/>
          <p:nvPr>
            <p:ph idx="1" type="body"/>
          </p:nvPr>
        </p:nvSpPr>
        <p:spPr>
          <a:xfrm>
            <a:off x="873125" y="1122363"/>
            <a:ext cx="7051675" cy="5067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20"/>
              <a:buFont typeface="Arial"/>
              <a:buNone/>
            </a:pPr>
            <a:r>
              <a:rPr lang="en-US"/>
              <a:t>For example, </a:t>
            </a:r>
            <a:endParaRPr/>
          </a:p>
          <a:p>
            <a:pPr indent="-342900" lvl="0" marL="342900" rtl="0" algn="l">
              <a:spcBef>
                <a:spcPts val="630"/>
              </a:spcBef>
              <a:spcAft>
                <a:spcPts val="0"/>
              </a:spcAft>
              <a:buSzPts val="1620"/>
              <a:buChar char="●"/>
            </a:pPr>
            <a:r>
              <a:rPr lang="en-US"/>
              <a:t>Assume a multiprogramming environment with a round-robin CPU-scheduling algorithm. </a:t>
            </a:r>
            <a:endParaRPr/>
          </a:p>
          <a:p>
            <a:pPr indent="-342900" lvl="0" marL="342900" rtl="0" algn="l">
              <a:spcBef>
                <a:spcPts val="630"/>
              </a:spcBef>
              <a:spcAft>
                <a:spcPts val="0"/>
              </a:spcAft>
              <a:buSzPts val="1620"/>
              <a:buFont typeface="Arial"/>
              <a:buAutoNum type="arabicParenR"/>
            </a:pPr>
            <a:r>
              <a:rPr lang="en-US"/>
              <a:t>When a quantum expires, the memory manager will start to swap out the process that just finished and to swap another process into the memory space that has been freed </a:t>
            </a:r>
            <a:endParaRPr/>
          </a:p>
          <a:p>
            <a:pPr indent="-342900" lvl="0" marL="342900" rtl="0" algn="l">
              <a:spcBef>
                <a:spcPts val="630"/>
              </a:spcBef>
              <a:spcAft>
                <a:spcPts val="0"/>
              </a:spcAft>
              <a:buSzPts val="1620"/>
              <a:buFont typeface="Arial"/>
              <a:buAutoNum type="arabicParenR"/>
            </a:pPr>
            <a:r>
              <a:rPr lang="en-US"/>
              <a:t>In the meantime, the CPU scheduler will allocate a time slice to some other process in memory. </a:t>
            </a:r>
            <a:endParaRPr/>
          </a:p>
          <a:p>
            <a:pPr indent="-342900" lvl="0" marL="342900" rtl="0" algn="l">
              <a:spcBef>
                <a:spcPts val="630"/>
              </a:spcBef>
              <a:spcAft>
                <a:spcPts val="0"/>
              </a:spcAft>
              <a:buSzPts val="1620"/>
              <a:buFont typeface="Arial"/>
              <a:buAutoNum type="arabicParenR"/>
            </a:pPr>
            <a:r>
              <a:rPr lang="en-US"/>
              <a:t>When each process finishes its quantum, it will be swapped with another process. </a:t>
            </a:r>
            <a:endParaRPr/>
          </a:p>
          <a:p>
            <a:pPr indent="-342900" lvl="0" marL="342900" rtl="0" algn="l">
              <a:spcBef>
                <a:spcPts val="630"/>
              </a:spcBef>
              <a:spcAft>
                <a:spcPts val="0"/>
              </a:spcAft>
              <a:buSzPts val="1620"/>
              <a:buFont typeface="Arial"/>
              <a:buAutoNum type="arabicParenR"/>
            </a:pPr>
            <a:r>
              <a:rPr lang="en-US"/>
              <a:t>Ideally, the memory manager can swap processes fast enough that some processes will be in memory, ready to execute, when the CPU scheduler wants to reschedule the CPU.</a:t>
            </a:r>
            <a:endParaRPr/>
          </a:p>
        </p:txBody>
      </p:sp>
      <p:sp>
        <p:nvSpPr>
          <p:cNvPr id="438" name="Google Shape;438;p52"/>
          <p:cNvSpPr txBox="1"/>
          <p:nvPr/>
        </p:nvSpPr>
        <p:spPr>
          <a:xfrm>
            <a:off x="6880634" y="172016"/>
            <a:ext cx="216437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Verdana"/>
                <a:ea typeface="Verdana"/>
                <a:cs typeface="Verdana"/>
                <a:sym typeface="Verdana"/>
              </a:rPr>
              <a:t>Q</a:t>
            </a:r>
            <a:endParaRPr/>
          </a:p>
          <a:p>
            <a:pPr indent="0" lvl="0" marL="0" marR="0" rtl="0" algn="l">
              <a:spcBef>
                <a:spcPts val="0"/>
              </a:spcBef>
              <a:spcAft>
                <a:spcPts val="0"/>
              </a:spcAft>
              <a:buNone/>
            </a:pPr>
            <a:r>
              <a:rPr lang="en-US" sz="1800">
                <a:solidFill>
                  <a:schemeClr val="dk1"/>
                </a:solidFill>
                <a:latin typeface="Verdana"/>
                <a:ea typeface="Verdana"/>
                <a:cs typeface="Verdana"/>
                <a:sym typeface="Verdana"/>
              </a:rPr>
              <a:t>MMU /Dispatcher</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3"/>
          <p:cNvSpPr txBox="1"/>
          <p:nvPr>
            <p:ph type="title"/>
          </p:nvPr>
        </p:nvSpPr>
        <p:spPr>
          <a:xfrm>
            <a:off x="488950" y="1190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Swapping</a:t>
            </a:r>
            <a:endParaRPr/>
          </a:p>
        </p:txBody>
      </p:sp>
      <p:sp>
        <p:nvSpPr>
          <p:cNvPr id="445" name="Google Shape;445;p53"/>
          <p:cNvSpPr txBox="1"/>
          <p:nvPr>
            <p:ph idx="1" type="body"/>
          </p:nvPr>
        </p:nvSpPr>
        <p:spPr>
          <a:xfrm>
            <a:off x="873125" y="1122363"/>
            <a:ext cx="7051675" cy="50673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3366FF"/>
                </a:solidFill>
              </a:rPr>
              <a:t>Roll out, roll in</a:t>
            </a:r>
            <a:r>
              <a:rPr lang="en-US">
                <a:solidFill>
                  <a:srgbClr val="3366FF"/>
                </a:solidFill>
              </a:rPr>
              <a:t> </a:t>
            </a:r>
            <a:r>
              <a:rPr lang="en-US"/>
              <a:t>– </a:t>
            </a:r>
            <a:endParaRPr/>
          </a:p>
          <a:p>
            <a:pPr indent="-342900" lvl="0" marL="342900" rtl="0" algn="l">
              <a:spcBef>
                <a:spcPts val="630"/>
              </a:spcBef>
              <a:spcAft>
                <a:spcPts val="0"/>
              </a:spcAft>
              <a:buSzPts val="1620"/>
              <a:buChar char="●"/>
            </a:pPr>
            <a:r>
              <a:rPr lang="en-US"/>
              <a:t>A variant of this swapping policy is used for priority-based scheduling algorithms. </a:t>
            </a:r>
            <a:endParaRPr/>
          </a:p>
          <a:p>
            <a:pPr indent="-342900" lvl="0" marL="342900" rtl="0" algn="l">
              <a:spcBef>
                <a:spcPts val="630"/>
              </a:spcBef>
              <a:spcAft>
                <a:spcPts val="0"/>
              </a:spcAft>
              <a:buSzPts val="1620"/>
              <a:buFont typeface="Arial"/>
              <a:buAutoNum type="arabicParenR"/>
            </a:pPr>
            <a:r>
              <a:rPr lang="en-US"/>
              <a:t>If a higher-priority process arrives and wants service, </a:t>
            </a:r>
            <a:endParaRPr/>
          </a:p>
          <a:p>
            <a:pPr indent="-342900" lvl="0" marL="342900" rtl="0" algn="l">
              <a:spcBef>
                <a:spcPts val="630"/>
              </a:spcBef>
              <a:spcAft>
                <a:spcPts val="0"/>
              </a:spcAft>
              <a:buSzPts val="1620"/>
              <a:buFont typeface="Arial"/>
              <a:buAutoNum type="arabicParenR"/>
            </a:pPr>
            <a:r>
              <a:rPr lang="en-US"/>
              <a:t>The memory manager can swap out the lower-priority process and then load and execute the higher-priority process. </a:t>
            </a:r>
            <a:endParaRPr/>
          </a:p>
          <a:p>
            <a:pPr indent="-342900" lvl="0" marL="342900" rtl="0" algn="l">
              <a:spcBef>
                <a:spcPts val="630"/>
              </a:spcBef>
              <a:spcAft>
                <a:spcPts val="0"/>
              </a:spcAft>
              <a:buSzPts val="1620"/>
              <a:buFont typeface="Arial"/>
              <a:buAutoNum type="arabicParenR"/>
            </a:pPr>
            <a:r>
              <a:rPr lang="en-US"/>
              <a:t>When the higher-priority process finishes, the lower-priority process can be swapped back in and continued. </a:t>
            </a:r>
            <a:endParaRPr/>
          </a:p>
          <a:p>
            <a:pPr indent="-342900" lvl="0" marL="342900" rtl="0" algn="l">
              <a:spcBef>
                <a:spcPts val="630"/>
              </a:spcBef>
              <a:spcAft>
                <a:spcPts val="0"/>
              </a:spcAft>
              <a:buSzPts val="1620"/>
              <a:buChar char="●"/>
            </a:pPr>
            <a:r>
              <a:rPr lang="en-US"/>
              <a:t>This variant of swapping is sometimes called roll out, roll in.</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4"/>
          <p:cNvSpPr txBox="1"/>
          <p:nvPr>
            <p:ph type="title"/>
          </p:nvPr>
        </p:nvSpPr>
        <p:spPr>
          <a:xfrm>
            <a:off x="488950" y="1190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Swapping</a:t>
            </a:r>
            <a:endParaRPr/>
          </a:p>
        </p:txBody>
      </p:sp>
      <p:sp>
        <p:nvSpPr>
          <p:cNvPr id="452" name="Google Shape;452;p54"/>
          <p:cNvSpPr txBox="1"/>
          <p:nvPr>
            <p:ph idx="1" type="body"/>
          </p:nvPr>
        </p:nvSpPr>
        <p:spPr>
          <a:xfrm>
            <a:off x="873125" y="1122363"/>
            <a:ext cx="7051675" cy="50673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20"/>
              <a:buChar char="●"/>
            </a:pPr>
            <a:r>
              <a:rPr lang="en-US"/>
              <a:t>Major part of swap time is transfer time; </a:t>
            </a:r>
            <a:endParaRPr/>
          </a:p>
          <a:p>
            <a:pPr indent="-342900" lvl="0" marL="342900" rtl="0" algn="l">
              <a:lnSpc>
                <a:spcPct val="80000"/>
              </a:lnSpc>
              <a:spcBef>
                <a:spcPts val="630"/>
              </a:spcBef>
              <a:spcAft>
                <a:spcPts val="0"/>
              </a:spcAft>
              <a:buSzPts val="1620"/>
              <a:buChar char="●"/>
            </a:pPr>
            <a:r>
              <a:rPr lang="en-US"/>
              <a:t>total transfer time is directly proportional to the amount of memory swapped</a:t>
            </a:r>
            <a:endParaRPr/>
          </a:p>
          <a:p>
            <a:pPr indent="-342900" lvl="0" marL="342900" rtl="0" algn="l">
              <a:lnSpc>
                <a:spcPct val="80000"/>
              </a:lnSpc>
              <a:spcBef>
                <a:spcPts val="630"/>
              </a:spcBef>
              <a:spcAft>
                <a:spcPts val="0"/>
              </a:spcAft>
              <a:buSzPts val="1620"/>
              <a:buChar char="●"/>
            </a:pPr>
            <a:r>
              <a:rPr lang="en-US"/>
              <a:t>System maintains a </a:t>
            </a:r>
            <a:r>
              <a:rPr b="1" lang="en-US">
                <a:solidFill>
                  <a:srgbClr val="3366FF"/>
                </a:solidFill>
              </a:rPr>
              <a:t>ready queue</a:t>
            </a:r>
            <a:r>
              <a:rPr lang="en-US">
                <a:solidFill>
                  <a:srgbClr val="3366FF"/>
                </a:solidFill>
              </a:rPr>
              <a:t> </a:t>
            </a:r>
            <a:r>
              <a:rPr lang="en-US"/>
              <a:t>of ready-to-run processes which have memory images on disk</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5"/>
          <p:cNvSpPr txBox="1"/>
          <p:nvPr>
            <p:ph type="title"/>
          </p:nvPr>
        </p:nvSpPr>
        <p:spPr>
          <a:xfrm>
            <a:off x="48895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Swapping (Cont.)</a:t>
            </a:r>
            <a:endParaRPr/>
          </a:p>
        </p:txBody>
      </p:sp>
      <p:sp>
        <p:nvSpPr>
          <p:cNvPr id="459" name="Google Shape;459;p55"/>
          <p:cNvSpPr txBox="1"/>
          <p:nvPr>
            <p:ph idx="1" type="body"/>
          </p:nvPr>
        </p:nvSpPr>
        <p:spPr>
          <a:xfrm>
            <a:off x="887413" y="1058863"/>
            <a:ext cx="7169150" cy="50673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20"/>
              <a:buChar char="●"/>
            </a:pPr>
            <a:r>
              <a:rPr lang="en-US"/>
              <a:t>Does the swapped out process need to swap back in to same physical addresses?</a:t>
            </a:r>
            <a:endParaRPr/>
          </a:p>
          <a:p>
            <a:pPr indent="-240030" lvl="0" marL="342900" rtl="0" algn="l">
              <a:lnSpc>
                <a:spcPct val="80000"/>
              </a:lnSpc>
              <a:spcBef>
                <a:spcPts val="630"/>
              </a:spcBef>
              <a:spcAft>
                <a:spcPts val="0"/>
              </a:spcAft>
              <a:buSzPts val="1620"/>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Swapping</a:t>
            </a:r>
            <a:endParaRPr/>
          </a:p>
        </p:txBody>
      </p:sp>
      <p:sp>
        <p:nvSpPr>
          <p:cNvPr id="465" name="Google Shape;465;p56"/>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800"/>
              <a:buFont typeface="Arial"/>
              <a:buChar char="•"/>
            </a:pPr>
            <a:r>
              <a:rPr lang="en-US"/>
              <a:t>Normally, a process that is swapped out will be swapped back into the same memory space it occupied previously.</a:t>
            </a:r>
            <a:endParaRPr/>
          </a:p>
          <a:p>
            <a:pPr indent="-285750" lvl="0" marL="285750" rtl="0" algn="l">
              <a:lnSpc>
                <a:spcPct val="90000"/>
              </a:lnSpc>
              <a:spcBef>
                <a:spcPts val="1000"/>
              </a:spcBef>
              <a:spcAft>
                <a:spcPts val="0"/>
              </a:spcAft>
              <a:buClr>
                <a:schemeClr val="dk1"/>
              </a:buClr>
              <a:buSzPts val="2800"/>
              <a:buFont typeface="Arial"/>
              <a:buChar char="•"/>
            </a:pPr>
            <a:r>
              <a:rPr lang="en-US"/>
              <a:t>The restriction is dictated by the method of address binding.</a:t>
            </a:r>
            <a:endParaRPr/>
          </a:p>
          <a:p>
            <a:pPr indent="-285750" lvl="0" marL="285750" rtl="0" algn="l">
              <a:lnSpc>
                <a:spcPct val="90000"/>
              </a:lnSpc>
              <a:spcBef>
                <a:spcPts val="1000"/>
              </a:spcBef>
              <a:spcAft>
                <a:spcPts val="0"/>
              </a:spcAft>
              <a:buClr>
                <a:schemeClr val="dk1"/>
              </a:buClr>
              <a:buSzPts val="2800"/>
              <a:buFont typeface="Arial"/>
              <a:buChar char="•"/>
            </a:pPr>
            <a:r>
              <a:rPr lang="en-US"/>
              <a:t> If binding is done at assembly/Compile or load time, then the process cannot be easily moved to a different location.</a:t>
            </a:r>
            <a:endParaRPr/>
          </a:p>
          <a:p>
            <a:pPr indent="-285750" lvl="0" marL="285750" rtl="0" algn="l">
              <a:lnSpc>
                <a:spcPct val="90000"/>
              </a:lnSpc>
              <a:spcBef>
                <a:spcPts val="1000"/>
              </a:spcBef>
              <a:spcAft>
                <a:spcPts val="0"/>
              </a:spcAft>
              <a:buClr>
                <a:schemeClr val="dk1"/>
              </a:buClr>
              <a:buSzPts val="2800"/>
              <a:buFont typeface="Arial"/>
              <a:buChar char="•"/>
            </a:pPr>
            <a:r>
              <a:rPr lang="en-US"/>
              <a:t>if execution time binding is being used, then a process can be swapped into a different memory space as the physical addresses are computed at execution time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7"/>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Dispatcher and swapper</a:t>
            </a:r>
            <a:endParaRPr/>
          </a:p>
        </p:txBody>
      </p:sp>
      <p:sp>
        <p:nvSpPr>
          <p:cNvPr id="471" name="Google Shape;471;p57"/>
          <p:cNvSpPr txBox="1"/>
          <p:nvPr>
            <p:ph idx="1" type="body"/>
          </p:nvPr>
        </p:nvSpPr>
        <p:spPr>
          <a:xfrm>
            <a:off x="611560" y="908720"/>
            <a:ext cx="8229600" cy="5200715"/>
          </a:xfrm>
          <a:prstGeom prst="rect">
            <a:avLst/>
          </a:prstGeom>
          <a:noFill/>
          <a:ln>
            <a:noFill/>
          </a:ln>
        </p:spPr>
        <p:txBody>
          <a:bodyPr anchorCtr="0" anchor="t" bIns="45700" lIns="91425" spcFirstLastPara="1" rIns="91425" wrap="square" tIns="45700">
            <a:normAutofit fontScale="85000" lnSpcReduction="20000"/>
          </a:bodyPr>
          <a:lstStyle/>
          <a:p>
            <a:pPr indent="-285750" lvl="0" marL="285750" rtl="0" algn="l">
              <a:lnSpc>
                <a:spcPct val="90000"/>
              </a:lnSpc>
              <a:spcBef>
                <a:spcPts val="0"/>
              </a:spcBef>
              <a:spcAft>
                <a:spcPts val="0"/>
              </a:spcAft>
              <a:buClr>
                <a:schemeClr val="dk1"/>
              </a:buClr>
              <a:buSzPct val="100000"/>
              <a:buFont typeface="Arial"/>
              <a:buChar char="•"/>
            </a:pPr>
            <a:r>
              <a:rPr lang="en-US"/>
              <a:t>Swapping requires a backing store. </a:t>
            </a:r>
            <a:endParaRPr/>
          </a:p>
          <a:p>
            <a:pPr indent="-285750" lvl="0" marL="285750" rtl="0" algn="l">
              <a:lnSpc>
                <a:spcPct val="90000"/>
              </a:lnSpc>
              <a:spcBef>
                <a:spcPts val="1000"/>
              </a:spcBef>
              <a:spcAft>
                <a:spcPts val="0"/>
              </a:spcAft>
              <a:buClr>
                <a:schemeClr val="dk1"/>
              </a:buClr>
              <a:buSzPct val="100000"/>
              <a:buFont typeface="Arial"/>
              <a:buChar char="•"/>
            </a:pPr>
            <a:r>
              <a:rPr lang="en-US"/>
              <a:t>The backing store is commonly a fast disk, large enough to accommodate copies of all memory images for all users</a:t>
            </a:r>
            <a:endParaRPr/>
          </a:p>
          <a:p>
            <a:pPr indent="-285750" lvl="0" marL="285750" rtl="0" algn="l">
              <a:lnSpc>
                <a:spcPct val="90000"/>
              </a:lnSpc>
              <a:spcBef>
                <a:spcPts val="1000"/>
              </a:spcBef>
              <a:spcAft>
                <a:spcPts val="0"/>
              </a:spcAft>
              <a:buClr>
                <a:schemeClr val="dk1"/>
              </a:buClr>
              <a:buSzPct val="100000"/>
              <a:buFont typeface="Arial"/>
              <a:buChar char="•"/>
            </a:pPr>
            <a:r>
              <a:rPr lang="en-US"/>
              <a:t>Provides direct access to these memory images. </a:t>
            </a:r>
            <a:endParaRPr/>
          </a:p>
          <a:p>
            <a:pPr indent="-285750" lvl="0" marL="285750" rtl="0" algn="l">
              <a:lnSpc>
                <a:spcPct val="90000"/>
              </a:lnSpc>
              <a:spcBef>
                <a:spcPts val="1000"/>
              </a:spcBef>
              <a:spcAft>
                <a:spcPts val="0"/>
              </a:spcAft>
              <a:buClr>
                <a:schemeClr val="dk1"/>
              </a:buClr>
              <a:buSzPct val="100000"/>
              <a:buFont typeface="Arial"/>
              <a:buChar char="•"/>
            </a:pPr>
            <a:r>
              <a:rPr b="1" lang="en-US"/>
              <a:t>The system maintains a ready queue of all processes whose memory images are in memory and are ready to run. </a:t>
            </a:r>
            <a:endParaRPr b="1"/>
          </a:p>
          <a:p>
            <a:pPr indent="-285750" lvl="0" marL="285750" rtl="0" algn="l">
              <a:lnSpc>
                <a:spcPct val="90000"/>
              </a:lnSpc>
              <a:spcBef>
                <a:spcPts val="1000"/>
              </a:spcBef>
              <a:spcAft>
                <a:spcPts val="0"/>
              </a:spcAft>
              <a:buClr>
                <a:schemeClr val="dk1"/>
              </a:buClr>
              <a:buSzPct val="100000"/>
              <a:buFont typeface="Arial"/>
              <a:buChar char="•"/>
            </a:pPr>
            <a:r>
              <a:rPr lang="en-US"/>
              <a:t>Whenever the CPU scheduler decides to execute a process, it calls the dispatcher. </a:t>
            </a:r>
            <a:endParaRPr/>
          </a:p>
          <a:p>
            <a:pPr indent="-285750" lvl="0" marL="285750" rtl="0" algn="l">
              <a:lnSpc>
                <a:spcPct val="90000"/>
              </a:lnSpc>
              <a:spcBef>
                <a:spcPts val="1000"/>
              </a:spcBef>
              <a:spcAft>
                <a:spcPts val="0"/>
              </a:spcAft>
              <a:buClr>
                <a:schemeClr val="dk1"/>
              </a:buClr>
              <a:buSzPct val="100000"/>
              <a:buFont typeface="Arial"/>
              <a:buChar char="•"/>
            </a:pPr>
            <a:r>
              <a:rPr lang="en-US"/>
              <a:t>The dispatcher checks to see whether the next process in the queue is in memory. </a:t>
            </a:r>
            <a:endParaRPr/>
          </a:p>
          <a:p>
            <a:pPr indent="-285750" lvl="0" marL="285750" rtl="0" algn="l">
              <a:lnSpc>
                <a:spcPct val="90000"/>
              </a:lnSpc>
              <a:spcBef>
                <a:spcPts val="1000"/>
              </a:spcBef>
              <a:spcAft>
                <a:spcPts val="0"/>
              </a:spcAft>
              <a:buClr>
                <a:schemeClr val="dk1"/>
              </a:buClr>
              <a:buSzPct val="100000"/>
              <a:buFont typeface="Arial"/>
              <a:buChar char="•"/>
            </a:pPr>
            <a:r>
              <a:rPr lang="en-US"/>
              <a:t>If it is not, and if there is no free memory region, the swapper swaps out a process currently in memory and swaps in the desired process. </a:t>
            </a:r>
            <a:endParaRPr/>
          </a:p>
          <a:p>
            <a:pPr indent="-285750" lvl="0" marL="285750" rtl="0" algn="l">
              <a:lnSpc>
                <a:spcPct val="90000"/>
              </a:lnSpc>
              <a:spcBef>
                <a:spcPts val="1000"/>
              </a:spcBef>
              <a:spcAft>
                <a:spcPts val="0"/>
              </a:spcAft>
              <a:buClr>
                <a:schemeClr val="dk1"/>
              </a:buClr>
              <a:buSzPct val="100000"/>
              <a:buFont typeface="Arial"/>
              <a:buChar char="•"/>
            </a:pPr>
            <a:r>
              <a:rPr lang="en-US"/>
              <a:t>It then reloads registers and transfers control to the selected process.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8"/>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477" name="Google Shape;477;p58"/>
          <p:cNvSpPr txBox="1"/>
          <p:nvPr>
            <p:ph idx="1" type="body"/>
          </p:nvPr>
        </p:nvSpPr>
        <p:spPr>
          <a:xfrm>
            <a:off x="700004" y="1046714"/>
            <a:ext cx="8229600" cy="5272723"/>
          </a:xfrm>
          <a:prstGeom prst="rect">
            <a:avLst/>
          </a:prstGeom>
          <a:noFill/>
          <a:ln>
            <a:noFill/>
          </a:ln>
        </p:spPr>
        <p:txBody>
          <a:bodyPr anchorCtr="0" anchor="t" bIns="45700" lIns="91425" spcFirstLastPara="1" rIns="91425" wrap="square" tIns="45700">
            <a:normAutofit fontScale="85000" lnSpcReduction="20000"/>
          </a:bodyPr>
          <a:lstStyle/>
          <a:p>
            <a:pPr indent="-285750" lvl="0" marL="285750" rtl="0" algn="l">
              <a:lnSpc>
                <a:spcPct val="90000"/>
              </a:lnSpc>
              <a:spcBef>
                <a:spcPts val="0"/>
              </a:spcBef>
              <a:spcAft>
                <a:spcPts val="0"/>
              </a:spcAft>
              <a:buClr>
                <a:schemeClr val="dk1"/>
              </a:buClr>
              <a:buSzPct val="100000"/>
              <a:buFont typeface="Arial"/>
              <a:buChar char="•"/>
            </a:pPr>
            <a:r>
              <a:rPr lang="en-US"/>
              <a:t>The context-switch time in such a swapping system is fairly high. </a:t>
            </a:r>
            <a:endParaRPr/>
          </a:p>
          <a:p>
            <a:pPr indent="-285750" lvl="0" marL="285750" rtl="0" algn="l">
              <a:lnSpc>
                <a:spcPct val="90000"/>
              </a:lnSpc>
              <a:spcBef>
                <a:spcPts val="1000"/>
              </a:spcBef>
              <a:spcAft>
                <a:spcPts val="0"/>
              </a:spcAft>
              <a:buClr>
                <a:schemeClr val="dk1"/>
              </a:buClr>
              <a:buSzPct val="100000"/>
              <a:buFont typeface="Arial"/>
              <a:buChar char="•"/>
            </a:pPr>
            <a:r>
              <a:rPr lang="en-US"/>
              <a:t>Assume a user process of 10 MB  size and the backing store is a standard hard disk with a transfer rate of 40 MB per second. The actual transfer of the 10-MB process to or from main memory takes:</a:t>
            </a:r>
            <a:endParaRPr/>
          </a:p>
          <a:p>
            <a:pPr indent="-134620" lvl="0" marL="285750" rtl="0" algn="l">
              <a:lnSpc>
                <a:spcPct val="90000"/>
              </a:lnSpc>
              <a:spcBef>
                <a:spcPts val="1000"/>
              </a:spcBef>
              <a:spcAft>
                <a:spcPts val="0"/>
              </a:spcAft>
              <a:buClr>
                <a:schemeClr val="dk1"/>
              </a:buClr>
              <a:buSzPct val="100000"/>
              <a:buFont typeface="Arial"/>
              <a:buNone/>
            </a:pPr>
            <a:r>
              <a:t/>
            </a:r>
            <a:endParaRPr/>
          </a:p>
          <a:p>
            <a:pPr indent="-285750" lvl="0" marL="285750" rtl="0" algn="l">
              <a:lnSpc>
                <a:spcPct val="90000"/>
              </a:lnSpc>
              <a:spcBef>
                <a:spcPts val="1000"/>
              </a:spcBef>
              <a:spcAft>
                <a:spcPts val="0"/>
              </a:spcAft>
              <a:buClr>
                <a:schemeClr val="dk1"/>
              </a:buClr>
              <a:buSzPct val="100000"/>
              <a:buFont typeface="Arial"/>
              <a:buChar char="•"/>
            </a:pPr>
            <a:r>
              <a:rPr lang="en-US"/>
              <a:t>Assuming that no head seeks are necessary, and assuming an average latency of 8 milliseconds, the swap time is 258 milliseconds. </a:t>
            </a:r>
            <a:endParaRPr/>
          </a:p>
          <a:p>
            <a:pPr indent="-285750" lvl="0" marL="285750" rtl="0" algn="l">
              <a:lnSpc>
                <a:spcPct val="90000"/>
              </a:lnSpc>
              <a:spcBef>
                <a:spcPts val="1000"/>
              </a:spcBef>
              <a:spcAft>
                <a:spcPts val="0"/>
              </a:spcAft>
              <a:buClr>
                <a:schemeClr val="dk1"/>
              </a:buClr>
              <a:buSzPct val="100000"/>
              <a:buFont typeface="Arial"/>
              <a:buChar char="•"/>
            </a:pPr>
            <a:r>
              <a:rPr lang="en-US"/>
              <a:t>Considering both swap out and swap in, the total swap time = 516 milliseconds.</a:t>
            </a:r>
            <a:endParaRPr/>
          </a:p>
          <a:p>
            <a:pPr indent="-285750" lvl="0" marL="285750" rtl="0" algn="l">
              <a:lnSpc>
                <a:spcPct val="90000"/>
              </a:lnSpc>
              <a:spcBef>
                <a:spcPts val="1000"/>
              </a:spcBef>
              <a:spcAft>
                <a:spcPts val="0"/>
              </a:spcAft>
              <a:buClr>
                <a:schemeClr val="dk1"/>
              </a:buClr>
              <a:buSzPct val="100000"/>
              <a:buFont typeface="Arial"/>
              <a:buChar char="•"/>
            </a:pPr>
            <a:r>
              <a:rPr lang="en-US"/>
              <a:t>For efficient CPU utilization, the execution time for each process should be long relative to the swap time. </a:t>
            </a:r>
            <a:endParaRPr/>
          </a:p>
          <a:p>
            <a:pPr indent="-285750" lvl="0" marL="285750" rtl="0" algn="l">
              <a:lnSpc>
                <a:spcPct val="90000"/>
              </a:lnSpc>
              <a:spcBef>
                <a:spcPts val="1000"/>
              </a:spcBef>
              <a:spcAft>
                <a:spcPts val="0"/>
              </a:spcAft>
              <a:buClr>
                <a:schemeClr val="dk1"/>
              </a:buClr>
              <a:buSzPct val="100000"/>
              <a:buFont typeface="Arial"/>
              <a:buChar char="•"/>
            </a:pPr>
            <a:r>
              <a:rPr lang="en-US"/>
              <a:t>Thus, in a round-robin CPU-scheduling algorithm, for example, the time quantum should be substantially larger than 0.516 seconds.</a:t>
            </a:r>
            <a:endParaRPr/>
          </a:p>
          <a:p>
            <a:pPr indent="-134620" lvl="0" marL="285750" rtl="0" algn="l">
              <a:lnSpc>
                <a:spcPct val="90000"/>
              </a:lnSpc>
              <a:spcBef>
                <a:spcPts val="1000"/>
              </a:spcBef>
              <a:spcAft>
                <a:spcPts val="0"/>
              </a:spcAft>
              <a:buClr>
                <a:schemeClr val="dk1"/>
              </a:buClr>
              <a:buSzPct val="100000"/>
              <a:buFont typeface="Arial"/>
              <a:buNone/>
            </a:pPr>
            <a:r>
              <a:t/>
            </a:r>
            <a:endParaRPr/>
          </a:p>
        </p:txBody>
      </p:sp>
      <p:pic>
        <p:nvPicPr>
          <p:cNvPr id="478" name="Google Shape;478;p58"/>
          <p:cNvPicPr preferRelativeResize="0"/>
          <p:nvPr/>
        </p:nvPicPr>
        <p:blipFill rotWithShape="1">
          <a:blip r:embed="rId3">
            <a:alphaModFix/>
          </a:blip>
          <a:srcRect b="0" l="0" r="0" t="0"/>
          <a:stretch/>
        </p:blipFill>
        <p:spPr>
          <a:xfrm>
            <a:off x="4139952" y="2505470"/>
            <a:ext cx="5004048" cy="762287"/>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9"/>
          <p:cNvSpPr txBox="1"/>
          <p:nvPr>
            <p:ph type="title"/>
          </p:nvPr>
        </p:nvSpPr>
        <p:spPr>
          <a:xfrm>
            <a:off x="48895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Swapping (Cont.)</a:t>
            </a:r>
            <a:endParaRPr/>
          </a:p>
        </p:txBody>
      </p:sp>
      <p:sp>
        <p:nvSpPr>
          <p:cNvPr id="485" name="Google Shape;485;p59"/>
          <p:cNvSpPr txBox="1"/>
          <p:nvPr>
            <p:ph idx="1" type="body"/>
          </p:nvPr>
        </p:nvSpPr>
        <p:spPr>
          <a:xfrm>
            <a:off x="887413" y="1058863"/>
            <a:ext cx="7169150" cy="50673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20"/>
              <a:buChar char="●"/>
            </a:pPr>
            <a:r>
              <a:rPr lang="en-US"/>
              <a:t>Modified versions of swapping are found on many systems (i.e., UNIX, Linux, and Windows)</a:t>
            </a:r>
            <a:endParaRPr/>
          </a:p>
          <a:p>
            <a:pPr indent="-285750" lvl="1" marL="742950" rtl="0" algn="l">
              <a:spcBef>
                <a:spcPts val="630"/>
              </a:spcBef>
              <a:spcAft>
                <a:spcPts val="0"/>
              </a:spcAft>
              <a:buSzPts val="1440"/>
              <a:buChar char="●"/>
            </a:pPr>
            <a:r>
              <a:rPr lang="en-US"/>
              <a:t>Swapping normally disabled</a:t>
            </a:r>
            <a:endParaRPr/>
          </a:p>
          <a:p>
            <a:pPr indent="-285750" lvl="1" marL="742950" rtl="0" algn="l">
              <a:spcBef>
                <a:spcPts val="630"/>
              </a:spcBef>
              <a:spcAft>
                <a:spcPts val="0"/>
              </a:spcAft>
              <a:buSzPts val="1440"/>
              <a:buChar char="●"/>
            </a:pPr>
            <a:r>
              <a:rPr lang="en-US"/>
              <a:t>Started if more than threshold amount of memory allocated</a:t>
            </a:r>
            <a:endParaRPr/>
          </a:p>
          <a:p>
            <a:pPr indent="-285750" lvl="1" marL="742950" rtl="0" algn="l">
              <a:spcBef>
                <a:spcPts val="630"/>
              </a:spcBef>
              <a:spcAft>
                <a:spcPts val="0"/>
              </a:spcAft>
              <a:buSzPts val="1440"/>
              <a:buChar char="●"/>
            </a:pPr>
            <a:r>
              <a:rPr lang="en-US"/>
              <a:t>Disabled again once memory demand reduced below threshold</a:t>
            </a:r>
            <a:endParaRPr/>
          </a:p>
          <a:p>
            <a:pPr indent="-342900" lvl="0" marL="342900" rtl="0" algn="l">
              <a:lnSpc>
                <a:spcPct val="80000"/>
              </a:lnSpc>
              <a:spcBef>
                <a:spcPts val="490"/>
              </a:spcBef>
              <a:spcAft>
                <a:spcPts val="0"/>
              </a:spcAft>
              <a:buSzPts val="1260"/>
              <a:buFont typeface="Arial"/>
              <a:buNone/>
            </a:pPr>
            <a:r>
              <a:t/>
            </a:r>
            <a:endParaRPr sz="14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0"/>
          <p:cNvSpPr txBox="1"/>
          <p:nvPr>
            <p:ph type="title"/>
          </p:nvPr>
        </p:nvSpPr>
        <p:spPr>
          <a:xfrm>
            <a:off x="817563" y="182563"/>
            <a:ext cx="786923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Schematic View of Swapping</a:t>
            </a:r>
            <a:endParaRPr sz="2400"/>
          </a:p>
        </p:txBody>
      </p:sp>
      <p:pic>
        <p:nvPicPr>
          <p:cNvPr descr="8" id="492" name="Google Shape;492;p60"/>
          <p:cNvPicPr preferRelativeResize="0"/>
          <p:nvPr/>
        </p:nvPicPr>
        <p:blipFill rotWithShape="1">
          <a:blip r:embed="rId3">
            <a:alphaModFix/>
          </a:blip>
          <a:srcRect b="0" l="0" r="0" t="0"/>
          <a:stretch/>
        </p:blipFill>
        <p:spPr>
          <a:xfrm>
            <a:off x="2081213" y="1400175"/>
            <a:ext cx="5099050" cy="3814763"/>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1"/>
          <p:cNvSpPr txBox="1"/>
          <p:nvPr>
            <p:ph type="title"/>
          </p:nvPr>
        </p:nvSpPr>
        <p:spPr>
          <a:xfrm>
            <a:off x="866775" y="166688"/>
            <a:ext cx="78200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Contiguous Allocation</a:t>
            </a:r>
            <a:endParaRPr/>
          </a:p>
        </p:txBody>
      </p:sp>
      <p:sp>
        <p:nvSpPr>
          <p:cNvPr id="499" name="Google Shape;499;p61"/>
          <p:cNvSpPr txBox="1"/>
          <p:nvPr>
            <p:ph idx="1" type="body"/>
          </p:nvPr>
        </p:nvSpPr>
        <p:spPr>
          <a:xfrm>
            <a:off x="825500" y="1077913"/>
            <a:ext cx="7262813" cy="4991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Main memory must support both OS and user processes</a:t>
            </a:r>
            <a:endParaRPr/>
          </a:p>
          <a:p>
            <a:pPr indent="-342900" lvl="0" marL="342900" rtl="0" algn="l">
              <a:spcBef>
                <a:spcPts val="630"/>
              </a:spcBef>
              <a:spcAft>
                <a:spcPts val="0"/>
              </a:spcAft>
              <a:buSzPts val="1620"/>
              <a:buChar char="●"/>
            </a:pPr>
            <a:r>
              <a:rPr lang="en-US"/>
              <a:t>Limited resource, must allocate efficiently</a:t>
            </a:r>
            <a:endParaRPr/>
          </a:p>
          <a:p>
            <a:pPr indent="-342900" lvl="0" marL="342900" rtl="0" algn="l">
              <a:spcBef>
                <a:spcPts val="630"/>
              </a:spcBef>
              <a:spcAft>
                <a:spcPts val="0"/>
              </a:spcAft>
              <a:buSzPts val="1620"/>
              <a:buChar char="●"/>
            </a:pPr>
            <a:r>
              <a:rPr lang="en-US"/>
              <a:t>Contiguous allocation per process is one early method</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Memory allocation to OS and User programs</a:t>
            </a:r>
            <a:endParaRPr/>
          </a:p>
        </p:txBody>
      </p:sp>
      <p:sp>
        <p:nvSpPr>
          <p:cNvPr id="505" name="Google Shape;505;p62"/>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285750" lvl="0" marL="285750" rtl="0" algn="l">
              <a:lnSpc>
                <a:spcPct val="90000"/>
              </a:lnSpc>
              <a:spcBef>
                <a:spcPts val="0"/>
              </a:spcBef>
              <a:spcAft>
                <a:spcPts val="0"/>
              </a:spcAft>
              <a:buClr>
                <a:schemeClr val="dk1"/>
              </a:buClr>
              <a:buSzPct val="100000"/>
              <a:buFont typeface="Arial"/>
              <a:buChar char="•"/>
            </a:pPr>
            <a:r>
              <a:rPr lang="en-US"/>
              <a:t>The main memory must accommodate both the operating system and the various user processes. </a:t>
            </a:r>
            <a:endParaRPr/>
          </a:p>
          <a:p>
            <a:pPr indent="-285750" lvl="0" marL="285750" rtl="0" algn="l">
              <a:lnSpc>
                <a:spcPct val="90000"/>
              </a:lnSpc>
              <a:spcBef>
                <a:spcPts val="1000"/>
              </a:spcBef>
              <a:spcAft>
                <a:spcPts val="0"/>
              </a:spcAft>
              <a:buClr>
                <a:schemeClr val="dk1"/>
              </a:buClr>
              <a:buSzPct val="100000"/>
              <a:buFont typeface="Arial"/>
              <a:buChar char="•"/>
            </a:pPr>
            <a:r>
              <a:rPr lang="en-US"/>
              <a:t>Hence, OS needs to allocate the parts of the main memory in the most efficient way possible.</a:t>
            </a:r>
            <a:endParaRPr/>
          </a:p>
          <a:p>
            <a:pPr indent="-285750" lvl="0" marL="285750" rtl="0" algn="l">
              <a:lnSpc>
                <a:spcPct val="90000"/>
              </a:lnSpc>
              <a:spcBef>
                <a:spcPts val="1000"/>
              </a:spcBef>
              <a:spcAft>
                <a:spcPts val="0"/>
              </a:spcAft>
              <a:buClr>
                <a:schemeClr val="dk1"/>
              </a:buClr>
              <a:buSzPct val="100000"/>
              <a:buFont typeface="Arial"/>
              <a:buChar char="•"/>
            </a:pPr>
            <a:r>
              <a:rPr lang="en-US"/>
              <a:t>The memory is divided into two partitions: </a:t>
            </a:r>
            <a:endParaRPr/>
          </a:p>
          <a:p>
            <a:pPr indent="-285750" lvl="1" marL="742950" rtl="0" algn="l">
              <a:lnSpc>
                <a:spcPct val="90000"/>
              </a:lnSpc>
              <a:spcBef>
                <a:spcPts val="500"/>
              </a:spcBef>
              <a:spcAft>
                <a:spcPts val="0"/>
              </a:spcAft>
              <a:buClr>
                <a:schemeClr val="dk1"/>
              </a:buClr>
              <a:buSzPct val="100000"/>
              <a:buChar char="o"/>
            </a:pPr>
            <a:r>
              <a:rPr lang="en-US"/>
              <a:t>For the resident operating system and</a:t>
            </a:r>
            <a:endParaRPr/>
          </a:p>
          <a:p>
            <a:pPr indent="-285750" lvl="1" marL="742950" rtl="0" algn="l">
              <a:lnSpc>
                <a:spcPct val="90000"/>
              </a:lnSpc>
              <a:spcBef>
                <a:spcPts val="500"/>
              </a:spcBef>
              <a:spcAft>
                <a:spcPts val="0"/>
              </a:spcAft>
              <a:buClr>
                <a:schemeClr val="dk1"/>
              </a:buClr>
              <a:buSzPct val="100000"/>
              <a:buChar char="o"/>
            </a:pPr>
            <a:r>
              <a:rPr lang="en-US"/>
              <a:t>For the user processes. </a:t>
            </a:r>
            <a:endParaRPr/>
          </a:p>
          <a:p>
            <a:pPr indent="-285750" lvl="0" marL="285750" rtl="0" algn="l">
              <a:lnSpc>
                <a:spcPct val="90000"/>
              </a:lnSpc>
              <a:spcBef>
                <a:spcPts val="1000"/>
              </a:spcBef>
              <a:spcAft>
                <a:spcPts val="0"/>
              </a:spcAft>
              <a:buClr>
                <a:schemeClr val="dk1"/>
              </a:buClr>
              <a:buSzPct val="100000"/>
              <a:buFont typeface="Arial"/>
              <a:buChar char="•"/>
            </a:pPr>
            <a:r>
              <a:rPr lang="en-US">
                <a:extLst>
                  <a:ext uri="http://customooxmlschemas.google.com/">
                    <go:slidesCustomData xmlns:go="http://customooxmlschemas.google.com/" textRoundtripDataId="0"/>
                  </a:ext>
                </a:extLst>
              </a:rPr>
              <a:t>So the operating system in either low memory or high memory. </a:t>
            </a:r>
            <a:endParaRPr/>
          </a:p>
          <a:p>
            <a:pPr indent="-285750" lvl="0" marL="285750" rtl="0" algn="l">
              <a:lnSpc>
                <a:spcPct val="90000"/>
              </a:lnSpc>
              <a:spcBef>
                <a:spcPts val="1000"/>
              </a:spcBef>
              <a:spcAft>
                <a:spcPts val="0"/>
              </a:spcAft>
              <a:buClr>
                <a:schemeClr val="dk1"/>
              </a:buClr>
              <a:buSzPct val="100000"/>
              <a:buFont typeface="Arial"/>
              <a:buChar char="•"/>
            </a:pPr>
            <a:r>
              <a:rPr lang="en-US"/>
              <a:t>The major factor affecting this decision is the location of the interrupt vector. </a:t>
            </a:r>
            <a:endParaRPr/>
          </a:p>
          <a:p>
            <a:pPr indent="-285750" lvl="0" marL="285750" rtl="0" algn="l">
              <a:lnSpc>
                <a:spcPct val="90000"/>
              </a:lnSpc>
              <a:spcBef>
                <a:spcPts val="1000"/>
              </a:spcBef>
              <a:spcAft>
                <a:spcPts val="0"/>
              </a:spcAft>
              <a:buClr>
                <a:schemeClr val="dk1"/>
              </a:buClr>
              <a:buSzPct val="100000"/>
              <a:buFont typeface="Arial"/>
              <a:buChar char="•"/>
            </a:pPr>
            <a:r>
              <a:rPr lang="en-US"/>
              <a:t>Since the interrupt vector is often in low memory, programmers usually place the operating system in low memory as well. </a:t>
            </a:r>
            <a:endParaRPr/>
          </a:p>
          <a:p>
            <a:pPr indent="-285750" lvl="0" marL="285750" rtl="0" algn="l">
              <a:lnSpc>
                <a:spcPct val="90000"/>
              </a:lnSpc>
              <a:spcBef>
                <a:spcPts val="1000"/>
              </a:spcBef>
              <a:spcAft>
                <a:spcPts val="0"/>
              </a:spcAft>
              <a:buSzPct val="100000"/>
              <a:buChar char="•"/>
            </a:pPr>
            <a:r>
              <a:rPr lang="en-US">
                <a:extLst>
                  <a:ext uri="http://customooxmlschemas.google.com/">
                    <go:slidesCustomData xmlns:go="http://customooxmlschemas.google.com/" textRoundtripDataId="1"/>
                  </a:ext>
                </a:extLst>
              </a:rPr>
              <a:t>User processes then held in high memory</a:t>
            </a:r>
            <a:endParaRPr/>
          </a:p>
          <a:p>
            <a:pPr indent="-134620" lvl="0" marL="285750" rtl="0" algn="l">
              <a:lnSpc>
                <a:spcPct val="90000"/>
              </a:lnSpc>
              <a:spcBef>
                <a:spcPts val="1000"/>
              </a:spcBef>
              <a:spcAft>
                <a:spcPts val="0"/>
              </a:spcAft>
              <a:buClr>
                <a:schemeClr val="dk1"/>
              </a:buClr>
              <a:buSzPct val="100000"/>
              <a:buFont typeface="Arial"/>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3"/>
          <p:cNvSpPr txBox="1"/>
          <p:nvPr>
            <p:ph type="title"/>
          </p:nvPr>
        </p:nvSpPr>
        <p:spPr>
          <a:xfrm>
            <a:off x="866775" y="166688"/>
            <a:ext cx="78200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Contiguous Allocation</a:t>
            </a:r>
            <a:endParaRPr/>
          </a:p>
        </p:txBody>
      </p:sp>
      <p:sp>
        <p:nvSpPr>
          <p:cNvPr id="512" name="Google Shape;512;p63"/>
          <p:cNvSpPr txBox="1"/>
          <p:nvPr>
            <p:ph idx="1" type="body"/>
          </p:nvPr>
        </p:nvSpPr>
        <p:spPr>
          <a:xfrm>
            <a:off x="825500" y="1077913"/>
            <a:ext cx="7262813" cy="4991100"/>
          </a:xfrm>
          <a:prstGeom prst="rect">
            <a:avLst/>
          </a:prstGeom>
          <a:noFill/>
          <a:ln>
            <a:noFill/>
          </a:ln>
        </p:spPr>
        <p:txBody>
          <a:bodyPr anchorCtr="0" anchor="t" bIns="45700" lIns="91425" spcFirstLastPara="1" rIns="91425" wrap="square" tIns="45700">
            <a:noAutofit/>
          </a:bodyPr>
          <a:lstStyle/>
          <a:p>
            <a:pPr indent="-285750" lvl="1" marL="742950" rtl="0" algn="l">
              <a:spcBef>
                <a:spcPts val="0"/>
              </a:spcBef>
              <a:spcAft>
                <a:spcPts val="0"/>
              </a:spcAft>
              <a:buSzPts val="1440"/>
              <a:buChar char="●"/>
            </a:pPr>
            <a:r>
              <a:rPr b="1" lang="en-US">
                <a:solidFill>
                  <a:srgbClr val="0070C0"/>
                </a:solidFill>
              </a:rPr>
              <a:t>In contiguous memory allocation, each process is contained in a single contiguous section of memory.</a:t>
            </a:r>
            <a:endParaRPr b="1">
              <a:solidFill>
                <a:srgbClr val="0070C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4"/>
          <p:cNvSpPr txBox="1"/>
          <p:nvPr>
            <p:ph type="title"/>
          </p:nvPr>
        </p:nvSpPr>
        <p:spPr>
          <a:xfrm>
            <a:off x="866775" y="166688"/>
            <a:ext cx="78200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0" lang="en-US"/>
              <a:t>Memory Mapping and Protection</a:t>
            </a:r>
            <a:endParaRPr/>
          </a:p>
        </p:txBody>
      </p:sp>
      <p:sp>
        <p:nvSpPr>
          <p:cNvPr id="519" name="Google Shape;519;p64"/>
          <p:cNvSpPr txBox="1"/>
          <p:nvPr>
            <p:ph idx="1" type="body"/>
          </p:nvPr>
        </p:nvSpPr>
        <p:spPr>
          <a:xfrm>
            <a:off x="825500" y="1077913"/>
            <a:ext cx="7262813" cy="4991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To protect user processes from each other, and from changing operating-system code and data by using a relocation register together with a limit register. </a:t>
            </a:r>
            <a:endParaRPr/>
          </a:p>
          <a:p>
            <a:pPr indent="-342900" lvl="0" marL="342900" rtl="0" algn="l">
              <a:spcBef>
                <a:spcPts val="630"/>
              </a:spcBef>
              <a:spcAft>
                <a:spcPts val="0"/>
              </a:spcAft>
              <a:buSzPts val="1620"/>
              <a:buFont typeface="Arial"/>
              <a:buAutoNum type="arabicParenR"/>
            </a:pPr>
            <a:r>
              <a:rPr lang="en-US"/>
              <a:t>The relocation register contains the value of the smallest physical address</a:t>
            </a:r>
            <a:endParaRPr/>
          </a:p>
          <a:p>
            <a:pPr indent="-342900" lvl="0" marL="342900" rtl="0" algn="l">
              <a:spcBef>
                <a:spcPts val="630"/>
              </a:spcBef>
              <a:spcAft>
                <a:spcPts val="0"/>
              </a:spcAft>
              <a:buSzPts val="1620"/>
              <a:buFont typeface="Arial"/>
              <a:buAutoNum type="arabicParenR"/>
            </a:pPr>
            <a:r>
              <a:rPr lang="en-US"/>
              <a:t>The limit register contains the range of logical addresses – each logical address must be less than the limit register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5"/>
          <p:cNvSpPr txBox="1"/>
          <p:nvPr>
            <p:ph type="title"/>
          </p:nvPr>
        </p:nvSpPr>
        <p:spPr>
          <a:xfrm>
            <a:off x="866775" y="166688"/>
            <a:ext cx="78200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0" lang="en-US"/>
              <a:t>Memory Mapping and Protection</a:t>
            </a:r>
            <a:endParaRPr/>
          </a:p>
        </p:txBody>
      </p:sp>
      <p:sp>
        <p:nvSpPr>
          <p:cNvPr id="526" name="Google Shape;526;p65"/>
          <p:cNvSpPr txBox="1"/>
          <p:nvPr>
            <p:ph idx="1" type="body"/>
          </p:nvPr>
        </p:nvSpPr>
        <p:spPr>
          <a:xfrm>
            <a:off x="825500" y="1077913"/>
            <a:ext cx="7262813" cy="4991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Font typeface="Arial"/>
              <a:buAutoNum type="arabicParenR"/>
            </a:pPr>
            <a:r>
              <a:rPr b="1" lang="en-US">
                <a:solidFill>
                  <a:srgbClr val="0070C0"/>
                </a:solidFill>
              </a:rPr>
              <a:t>Each logical address must be less than the limit register; </a:t>
            </a:r>
            <a:endParaRPr/>
          </a:p>
          <a:p>
            <a:pPr indent="-342900" lvl="0" marL="342900" rtl="0" algn="l">
              <a:spcBef>
                <a:spcPts val="630"/>
              </a:spcBef>
              <a:spcAft>
                <a:spcPts val="0"/>
              </a:spcAft>
              <a:buSzPts val="1620"/>
              <a:buFont typeface="Arial"/>
              <a:buAutoNum type="arabicParenR"/>
            </a:pPr>
            <a:r>
              <a:rPr b="1" lang="en-US">
                <a:solidFill>
                  <a:srgbClr val="0070C0"/>
                </a:solidFill>
              </a:rPr>
              <a:t>The MMU maps the logical address </a:t>
            </a:r>
            <a:r>
              <a:rPr b="1" i="1" lang="en-US">
                <a:solidFill>
                  <a:srgbClr val="0070C0"/>
                </a:solidFill>
              </a:rPr>
              <a:t>dynamically </a:t>
            </a:r>
            <a:r>
              <a:rPr b="1" lang="en-US">
                <a:solidFill>
                  <a:srgbClr val="0070C0"/>
                </a:solidFill>
              </a:rPr>
              <a:t>by adding the value in the relocation register. </a:t>
            </a:r>
            <a:endParaRPr/>
          </a:p>
          <a:p>
            <a:pPr indent="-342900" lvl="0" marL="342900" rtl="0" algn="l">
              <a:spcBef>
                <a:spcPts val="630"/>
              </a:spcBef>
              <a:spcAft>
                <a:spcPts val="0"/>
              </a:spcAft>
              <a:buSzPts val="1620"/>
              <a:buFont typeface="Arial"/>
              <a:buAutoNum type="arabicParenR"/>
            </a:pPr>
            <a:r>
              <a:rPr b="1" lang="en-US">
                <a:solidFill>
                  <a:srgbClr val="0070C0"/>
                </a:solidFill>
              </a:rPr>
              <a:t>This mapped address is sent </a:t>
            </a:r>
            <a:r>
              <a:rPr b="1" i="1" lang="en-US">
                <a:solidFill>
                  <a:srgbClr val="0070C0"/>
                </a:solidFill>
              </a:rPr>
              <a:t>to </a:t>
            </a:r>
            <a:r>
              <a:rPr b="1" lang="en-US">
                <a:solidFill>
                  <a:srgbClr val="0070C0"/>
                </a:solidFill>
              </a:rPr>
              <a:t>memory</a:t>
            </a:r>
            <a:endParaRPr/>
          </a:p>
          <a:p>
            <a:pPr indent="0" lvl="0" marL="0" rtl="0" algn="l">
              <a:spcBef>
                <a:spcPts val="630"/>
              </a:spcBef>
              <a:spcAft>
                <a:spcPts val="0"/>
              </a:spcAft>
              <a:buSzPts val="1620"/>
              <a:buFont typeface="Arial"/>
              <a:buNone/>
            </a:pPr>
            <a:r>
              <a:rPr lang="en-US"/>
              <a:t>(for example, relocation= 100040 and limit= 74600).</a:t>
            </a:r>
            <a:endParaRPr/>
          </a:p>
          <a:p>
            <a:pPr indent="-240030" lvl="0" marL="342900" rtl="0" algn="l">
              <a:spcBef>
                <a:spcPts val="630"/>
              </a:spcBef>
              <a:spcAft>
                <a:spcPts val="0"/>
              </a:spcAft>
              <a:buSzPts val="1620"/>
              <a:buFont typeface="Arial"/>
              <a:buNone/>
            </a:pPr>
            <a:r>
              <a:t/>
            </a:r>
            <a:endParaRPr/>
          </a:p>
        </p:txBody>
      </p:sp>
      <p:pic>
        <p:nvPicPr>
          <p:cNvPr descr="8" id="527" name="Google Shape;527;p65"/>
          <p:cNvPicPr preferRelativeResize="0"/>
          <p:nvPr/>
        </p:nvPicPr>
        <p:blipFill rotWithShape="1">
          <a:blip r:embed="rId3">
            <a:alphaModFix/>
          </a:blip>
          <a:srcRect b="0" l="0" r="0" t="0"/>
          <a:stretch/>
        </p:blipFill>
        <p:spPr>
          <a:xfrm>
            <a:off x="1217613" y="3189288"/>
            <a:ext cx="5845175" cy="29019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6"/>
          <p:cNvSpPr txBox="1"/>
          <p:nvPr>
            <p:ph type="title"/>
          </p:nvPr>
        </p:nvSpPr>
        <p:spPr>
          <a:xfrm>
            <a:off x="1003300" y="166688"/>
            <a:ext cx="84423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Hardware Support for Relocation and Limit Registers</a:t>
            </a:r>
            <a:endParaRPr/>
          </a:p>
        </p:txBody>
      </p:sp>
      <p:pic>
        <p:nvPicPr>
          <p:cNvPr descr="8" id="534" name="Google Shape;534;p66"/>
          <p:cNvPicPr preferRelativeResize="0"/>
          <p:nvPr/>
        </p:nvPicPr>
        <p:blipFill rotWithShape="1">
          <a:blip r:embed="rId3">
            <a:alphaModFix/>
          </a:blip>
          <a:srcRect b="0" l="0" r="0" t="0"/>
          <a:stretch/>
        </p:blipFill>
        <p:spPr>
          <a:xfrm>
            <a:off x="1844675" y="1347788"/>
            <a:ext cx="5845175" cy="29019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7"/>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sp>
        <p:nvSpPr>
          <p:cNvPr id="540" name="Google Shape;540;p67"/>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20"/>
              <a:buNone/>
            </a:pPr>
            <a:r>
              <a:rPr b="1" lang="en-US"/>
              <a:t>Types of Memory Management Techniques</a:t>
            </a:r>
            <a:endParaRPr/>
          </a:p>
          <a:p>
            <a:pPr indent="-342900" lvl="0" marL="342900" rtl="0" algn="l">
              <a:spcBef>
                <a:spcPts val="630"/>
              </a:spcBef>
              <a:spcAft>
                <a:spcPts val="0"/>
              </a:spcAft>
              <a:buSzPts val="1620"/>
              <a:buChar char="●"/>
            </a:pPr>
            <a:r>
              <a:rPr lang="en-US"/>
              <a:t>Contiguous</a:t>
            </a:r>
            <a:endParaRPr/>
          </a:p>
          <a:p>
            <a:pPr indent="-342900" lvl="0" marL="342900" rtl="0" algn="l">
              <a:spcBef>
                <a:spcPts val="630"/>
              </a:spcBef>
              <a:spcAft>
                <a:spcPts val="0"/>
              </a:spcAft>
              <a:buSzPts val="1620"/>
              <a:buChar char="●"/>
            </a:pPr>
            <a:r>
              <a:rPr lang="en-US"/>
              <a:t>Non-Contiguous</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68"/>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sp>
        <p:nvSpPr>
          <p:cNvPr id="546" name="Google Shape;546;p68"/>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In Contiguous Technique, executing process must be loaded entirely in the main memory. </a:t>
            </a:r>
            <a:endParaRPr/>
          </a:p>
          <a:p>
            <a:pPr indent="-342900" lvl="0" marL="342900" rtl="0" algn="l">
              <a:spcBef>
                <a:spcPts val="630"/>
              </a:spcBef>
              <a:spcAft>
                <a:spcPts val="0"/>
              </a:spcAft>
              <a:buSzPts val="1620"/>
              <a:buChar char="●"/>
            </a:pPr>
            <a:r>
              <a:rPr lang="en-US"/>
              <a:t>The contiguous Technique can be divided into:</a:t>
            </a:r>
            <a:endParaRPr/>
          </a:p>
          <a:p>
            <a:pPr indent="-285750" lvl="1" marL="742950" rtl="0" algn="l">
              <a:spcBef>
                <a:spcPts val="630"/>
              </a:spcBef>
              <a:spcAft>
                <a:spcPts val="0"/>
              </a:spcAft>
              <a:buSzPts val="1440"/>
              <a:buChar char="●"/>
            </a:pPr>
            <a:r>
              <a:rPr lang="en-US"/>
              <a:t>Fixed (or static) partitioning</a:t>
            </a:r>
            <a:endParaRPr/>
          </a:p>
          <a:p>
            <a:pPr indent="-285750" lvl="1" marL="742950" rtl="0" algn="l">
              <a:spcBef>
                <a:spcPts val="630"/>
              </a:spcBef>
              <a:spcAft>
                <a:spcPts val="0"/>
              </a:spcAft>
              <a:buSzPts val="1440"/>
              <a:buChar char="●"/>
            </a:pPr>
            <a:r>
              <a:rPr lang="en-US"/>
              <a:t>Variable (or dynamic) partitioning</a:t>
            </a:r>
            <a:endParaRPr/>
          </a:p>
          <a:p>
            <a:pPr indent="-240030" lvl="0" marL="342900" rtl="0" algn="l">
              <a:spcBef>
                <a:spcPts val="630"/>
              </a:spcBef>
              <a:spcAft>
                <a:spcPts val="0"/>
              </a:spcAft>
              <a:buSzPts val="1620"/>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69"/>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Fixed partitioning</a:t>
            </a:r>
            <a:endParaRPr/>
          </a:p>
        </p:txBody>
      </p:sp>
      <p:sp>
        <p:nvSpPr>
          <p:cNvPr id="552" name="Google Shape;552;p69"/>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Also known as static partitioning, </a:t>
            </a:r>
            <a:endParaRPr/>
          </a:p>
          <a:p>
            <a:pPr indent="-342900" lvl="0" marL="342900" rtl="0" algn="l">
              <a:spcBef>
                <a:spcPts val="630"/>
              </a:spcBef>
              <a:spcAft>
                <a:spcPts val="0"/>
              </a:spcAft>
              <a:buSzPts val="1620"/>
              <a:buChar char="●"/>
            </a:pPr>
            <a:r>
              <a:rPr b="1" lang="en-US">
                <a:solidFill>
                  <a:srgbClr val="FF0000"/>
                </a:solidFill>
              </a:rPr>
              <a:t>No of Partitions are fixed</a:t>
            </a:r>
            <a:endParaRPr/>
          </a:p>
          <a:p>
            <a:pPr indent="-342900" lvl="0" marL="342900" rtl="0" algn="l">
              <a:spcBef>
                <a:spcPts val="630"/>
              </a:spcBef>
              <a:spcAft>
                <a:spcPts val="0"/>
              </a:spcAft>
              <a:buSzPts val="1620"/>
              <a:buChar char="●"/>
            </a:pPr>
            <a:r>
              <a:rPr b="1" lang="en-US"/>
              <a:t> </a:t>
            </a:r>
            <a:r>
              <a:rPr b="1" lang="en-US">
                <a:solidFill>
                  <a:srgbClr val="FF0000"/>
                </a:solidFill>
              </a:rPr>
              <a:t>In this partitioning, the number of partitions (non-overlapping) in RAM is fixed but the size of each partition may or may not be the same. </a:t>
            </a:r>
            <a:endParaRPr/>
          </a:p>
          <a:p>
            <a:pPr indent="-240030" lvl="0" marL="342900" rtl="0" algn="l">
              <a:spcBef>
                <a:spcPts val="630"/>
              </a:spcBef>
              <a:spcAft>
                <a:spcPts val="0"/>
              </a:spcAft>
              <a:buSzPts val="1620"/>
              <a:buNone/>
            </a:pPr>
            <a:r>
              <a:t/>
            </a:r>
            <a:endParaRPr>
              <a:solidFill>
                <a:srgbClr val="FF0000"/>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0"/>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Fixed partitioning</a:t>
            </a:r>
            <a:endParaRPr/>
          </a:p>
        </p:txBody>
      </p:sp>
      <p:sp>
        <p:nvSpPr>
          <p:cNvPr id="558" name="Google Shape;558;p70"/>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Is a memory allocation technique used in operating systems to divide the physical memory into fixed-size partitions or regions, each assigned to a specific process or user. </a:t>
            </a:r>
            <a:endParaRPr/>
          </a:p>
          <a:p>
            <a:pPr indent="-342900" lvl="0" marL="342900" rtl="0" algn="l">
              <a:spcBef>
                <a:spcPts val="630"/>
              </a:spcBef>
              <a:spcAft>
                <a:spcPts val="0"/>
              </a:spcAft>
              <a:buSzPts val="1620"/>
              <a:buChar char="●"/>
            </a:pPr>
            <a:r>
              <a:rPr b="1" lang="en-US">
                <a:solidFill>
                  <a:srgbClr val="FF0000"/>
                </a:solidFill>
              </a:rPr>
              <a:t>Partitions are made before execution or during system configure. </a:t>
            </a:r>
            <a:endParaRPr/>
          </a:p>
          <a:p>
            <a:pPr indent="-342900" lvl="0" marL="342900" rtl="0" algn="l">
              <a:spcBef>
                <a:spcPts val="630"/>
              </a:spcBef>
              <a:spcAft>
                <a:spcPts val="0"/>
              </a:spcAft>
              <a:buSzPts val="1620"/>
              <a:buChar char="●"/>
            </a:pPr>
            <a:r>
              <a:rPr lang="en-US"/>
              <a:t>Each partition remains dedicated to a specific process until it terminates or releases the partition.</a:t>
            </a:r>
            <a:endParaRPr/>
          </a:p>
        </p:txBody>
      </p:sp>
      <p:pic>
        <p:nvPicPr>
          <p:cNvPr descr="Fixed Partitioning" id="559" name="Google Shape;559;p70"/>
          <p:cNvPicPr preferRelativeResize="0"/>
          <p:nvPr/>
        </p:nvPicPr>
        <p:blipFill rotWithShape="1">
          <a:blip r:embed="rId3">
            <a:alphaModFix/>
          </a:blip>
          <a:srcRect b="0" l="0" r="0" t="0"/>
          <a:stretch/>
        </p:blipFill>
        <p:spPr>
          <a:xfrm>
            <a:off x="2255979" y="3301890"/>
            <a:ext cx="3848100" cy="3476626"/>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71"/>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Fixed partitioning</a:t>
            </a:r>
            <a:endParaRPr/>
          </a:p>
        </p:txBody>
      </p:sp>
      <p:sp>
        <p:nvSpPr>
          <p:cNvPr id="565" name="Google Shape;565;p71"/>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Disadvantages:</a:t>
            </a:r>
            <a:endParaRPr/>
          </a:p>
          <a:p>
            <a:pPr indent="-342900" lvl="0" marL="342900" rtl="0" algn="l">
              <a:spcBef>
                <a:spcPts val="630"/>
              </a:spcBef>
              <a:spcAft>
                <a:spcPts val="0"/>
              </a:spcAft>
              <a:buSzPts val="1620"/>
              <a:buChar char="●"/>
            </a:pPr>
            <a:r>
              <a:rPr lang="en-US"/>
              <a:t> </a:t>
            </a:r>
            <a:r>
              <a:rPr b="1" lang="en-US">
                <a:solidFill>
                  <a:srgbClr val="FF0000"/>
                </a:solidFill>
              </a:rPr>
              <a:t>It can lead to internal fragmentation, where memory in a partition remains unused.</a:t>
            </a:r>
            <a:r>
              <a:rPr lang="en-US"/>
              <a:t> This can happen when the process’s memory requirements are smaller than the partition size, leaving some memory unused</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72"/>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Variable (or Dynamic) Partitioning</a:t>
            </a:r>
            <a:endParaRPr/>
          </a:p>
        </p:txBody>
      </p:sp>
      <p:sp>
        <p:nvSpPr>
          <p:cNvPr id="571" name="Google Shape;571;p72"/>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In contrast with fixed partitioning, partitions are not made before the execution or during system configuration. </a:t>
            </a:r>
            <a:endParaRPr/>
          </a:p>
          <a:p>
            <a:pPr indent="-342900" lvl="0" marL="342900" rtl="0" algn="l">
              <a:spcBef>
                <a:spcPts val="630"/>
              </a:spcBef>
              <a:spcAft>
                <a:spcPts val="0"/>
              </a:spcAft>
              <a:buSzPts val="1620"/>
              <a:buChar char="●"/>
            </a:pPr>
            <a:r>
              <a:rPr b="1" lang="en-US">
                <a:solidFill>
                  <a:srgbClr val="FF0000"/>
                </a:solidFill>
              </a:rPr>
              <a:t>No of partitions are not fixed</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3"/>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Variable (or Dynamic) Partitioning</a:t>
            </a:r>
            <a:endParaRPr/>
          </a:p>
        </p:txBody>
      </p:sp>
      <p:sp>
        <p:nvSpPr>
          <p:cNvPr id="577" name="Google Shape;577;p73"/>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t>Features</a:t>
            </a:r>
            <a:r>
              <a:rPr lang="en-US"/>
              <a:t>:</a:t>
            </a:r>
            <a:endParaRPr/>
          </a:p>
          <a:p>
            <a:pPr indent="-342900" lvl="0" marL="342900" rtl="0" algn="l">
              <a:spcBef>
                <a:spcPts val="630"/>
              </a:spcBef>
              <a:spcAft>
                <a:spcPts val="0"/>
              </a:spcAft>
              <a:buSzPts val="1620"/>
              <a:buChar char="●"/>
            </a:pPr>
            <a:r>
              <a:rPr lang="en-US"/>
              <a:t>Initially,</a:t>
            </a:r>
            <a:r>
              <a:rPr lang="en-US" u="sng"/>
              <a:t> RAM</a:t>
            </a:r>
            <a:r>
              <a:rPr lang="en-US"/>
              <a:t> is empty and partitions are made during the </a:t>
            </a:r>
            <a:r>
              <a:rPr lang="en-US">
                <a:highlight>
                  <a:srgbClr val="FF0000"/>
                </a:highlight>
              </a:rPr>
              <a:t>run-time</a:t>
            </a:r>
            <a:r>
              <a:rPr lang="en-US"/>
              <a:t> according to the process’s need instead of partitioning during system configuration.</a:t>
            </a:r>
            <a:endParaRPr/>
          </a:p>
          <a:p>
            <a:pPr indent="-342900" lvl="0" marL="342900" rtl="0" algn="l">
              <a:spcBef>
                <a:spcPts val="630"/>
              </a:spcBef>
              <a:spcAft>
                <a:spcPts val="0"/>
              </a:spcAft>
              <a:buSzPts val="1620"/>
              <a:buChar char="●"/>
            </a:pPr>
            <a:r>
              <a:rPr lang="en-US"/>
              <a:t>The size of the partition will be equal to the incoming process.</a:t>
            </a:r>
            <a:endParaRPr/>
          </a:p>
          <a:p>
            <a:pPr indent="-342900" lvl="0" marL="342900" rtl="0" algn="l">
              <a:spcBef>
                <a:spcPts val="630"/>
              </a:spcBef>
              <a:spcAft>
                <a:spcPts val="0"/>
              </a:spcAft>
              <a:buSzPts val="1620"/>
              <a:buChar char="●"/>
            </a:pPr>
            <a:r>
              <a:rPr lang="en-US"/>
              <a:t>The partition size varies according to the need of the process so that internal fragmentation can be avoided to ensure efficient utilization of RAM.</a:t>
            </a:r>
            <a:endParaRPr/>
          </a:p>
          <a:p>
            <a:pPr indent="-342900" lvl="0" marL="342900" rtl="0" algn="l">
              <a:spcBef>
                <a:spcPts val="630"/>
              </a:spcBef>
              <a:spcAft>
                <a:spcPts val="0"/>
              </a:spcAft>
              <a:buSzPts val="1620"/>
              <a:buChar char="●"/>
            </a:pPr>
            <a:r>
              <a:rPr lang="en-US"/>
              <a:t>The number of partitions in RAM is not fixed and depends on the number of incoming processes and the Main Memory’s size.</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4"/>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Variable (or Dynamic) Partitioning</a:t>
            </a:r>
            <a:endParaRPr/>
          </a:p>
        </p:txBody>
      </p:sp>
      <p:pic>
        <p:nvPicPr>
          <p:cNvPr id="583" name="Google Shape;583;p74"/>
          <p:cNvPicPr preferRelativeResize="0"/>
          <p:nvPr>
            <p:ph idx="1" type="body"/>
          </p:nvPr>
        </p:nvPicPr>
        <p:blipFill rotWithShape="1">
          <a:blip r:embed="rId3">
            <a:alphaModFix/>
          </a:blip>
          <a:srcRect b="0" l="0" r="0" t="0"/>
          <a:stretch/>
        </p:blipFill>
        <p:spPr>
          <a:xfrm>
            <a:off x="2073243" y="1168305"/>
            <a:ext cx="3420481" cy="5059191"/>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75"/>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Non-Contiguous Memory Allocation</a:t>
            </a:r>
            <a:endParaRPr/>
          </a:p>
        </p:txBody>
      </p:sp>
      <p:sp>
        <p:nvSpPr>
          <p:cNvPr id="589" name="Google Shape;589;p75"/>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In this technique, each process is allocated a series of non-contiguous blocks of memory that can be located anywhere in the physical memory.</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Char char="●"/>
            </a:pPr>
            <a:r>
              <a:rPr lang="en-US"/>
              <a:t>Paging and Segmentation are the two ways that allow a process’s physical address space to be non-contiguous. It has the advantage of reducing memory wastage but it increases the overheads due to address translation. It slows the execution of the memory because time is consumed in address translation.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76"/>
          <p:cNvSpPr txBox="1"/>
          <p:nvPr>
            <p:ph type="title"/>
          </p:nvPr>
        </p:nvSpPr>
        <p:spPr>
          <a:xfrm>
            <a:off x="866775" y="166688"/>
            <a:ext cx="78200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Memory Allocation-Fixed Size Partitions</a:t>
            </a:r>
            <a:endParaRPr/>
          </a:p>
        </p:txBody>
      </p:sp>
      <p:sp>
        <p:nvSpPr>
          <p:cNvPr id="596" name="Google Shape;596;p76"/>
          <p:cNvSpPr txBox="1"/>
          <p:nvPr>
            <p:ph idx="1" type="body"/>
          </p:nvPr>
        </p:nvSpPr>
        <p:spPr>
          <a:xfrm>
            <a:off x="825500" y="1077913"/>
            <a:ext cx="7262813" cy="4991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One of the simplest methods for allocating memory is –</a:t>
            </a:r>
            <a:endParaRPr/>
          </a:p>
          <a:p>
            <a:pPr indent="-342900" lvl="0" marL="342900" rtl="0" algn="l">
              <a:spcBef>
                <a:spcPts val="630"/>
              </a:spcBef>
              <a:spcAft>
                <a:spcPts val="0"/>
              </a:spcAft>
              <a:buSzPts val="1620"/>
              <a:buChar char="●"/>
            </a:pPr>
            <a:r>
              <a:rPr lang="en-US"/>
              <a:t>To divide memory into several </a:t>
            </a:r>
            <a:r>
              <a:rPr b="1" lang="en-US">
                <a:solidFill>
                  <a:srgbClr val="0070C0"/>
                </a:solidFill>
              </a:rPr>
              <a:t>fixed-sized partitions.</a:t>
            </a:r>
            <a:endParaRPr/>
          </a:p>
          <a:p>
            <a:pPr indent="-342900" lvl="0" marL="342900" rtl="0" algn="l">
              <a:spcBef>
                <a:spcPts val="630"/>
              </a:spcBef>
              <a:spcAft>
                <a:spcPts val="0"/>
              </a:spcAft>
              <a:buSzPts val="1620"/>
              <a:buChar char="●"/>
            </a:pPr>
            <a:r>
              <a:rPr lang="en-US"/>
              <a:t>Each partition may contain exactly one process.</a:t>
            </a:r>
            <a:endParaRPr/>
          </a:p>
          <a:p>
            <a:pPr indent="-342900" lvl="0" marL="342900" rtl="0" algn="l">
              <a:spcBef>
                <a:spcPts val="630"/>
              </a:spcBef>
              <a:spcAft>
                <a:spcPts val="0"/>
              </a:spcAft>
              <a:buSzPts val="1620"/>
              <a:buChar char="●"/>
            </a:pPr>
            <a:r>
              <a:rPr lang="en-US"/>
              <a:t>Thus, the degree of multiprogramming is bound by the number of partitions. </a:t>
            </a:r>
            <a:endParaRPr/>
          </a:p>
          <a:p>
            <a:pPr indent="-342900" lvl="0" marL="342900" rtl="0" algn="l">
              <a:spcBef>
                <a:spcPts val="630"/>
              </a:spcBef>
              <a:spcAft>
                <a:spcPts val="0"/>
              </a:spcAft>
              <a:buSzPts val="1620"/>
              <a:buChar char="●"/>
            </a:pPr>
            <a:r>
              <a:rPr lang="en-US"/>
              <a:t>In this Multiple partition method, when a partition is free, a process is selected from the </a:t>
            </a:r>
            <a:r>
              <a:rPr b="1" lang="en-US"/>
              <a:t>input queue </a:t>
            </a:r>
            <a:r>
              <a:rPr lang="en-US"/>
              <a:t>and is loaded into the free partition. </a:t>
            </a:r>
            <a:endParaRPr/>
          </a:p>
          <a:p>
            <a:pPr indent="-342900" lvl="0" marL="342900" rtl="0" algn="l">
              <a:spcBef>
                <a:spcPts val="630"/>
              </a:spcBef>
              <a:spcAft>
                <a:spcPts val="0"/>
              </a:spcAft>
              <a:buSzPts val="1620"/>
              <a:buChar char="●"/>
            </a:pPr>
            <a:r>
              <a:rPr lang="en-US"/>
              <a:t>When the process terminates, the partition becomes available for another process.</a:t>
            </a:r>
            <a:endParaRPr/>
          </a:p>
          <a:p>
            <a:pPr indent="-342900" lvl="0" marL="342900" rtl="0" algn="l">
              <a:spcBef>
                <a:spcPts val="630"/>
              </a:spcBef>
              <a:spcAft>
                <a:spcPts val="0"/>
              </a:spcAft>
              <a:buSzPts val="1620"/>
              <a:buChar char="●"/>
            </a:pPr>
            <a:r>
              <a:rPr lang="en-US"/>
              <a:t>This method was originally used by the IBM OS/360 operating system (called MFT); it is no longer in use.</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77"/>
          <p:cNvSpPr txBox="1"/>
          <p:nvPr>
            <p:ph type="title"/>
          </p:nvPr>
        </p:nvSpPr>
        <p:spPr>
          <a:xfrm>
            <a:off x="866775" y="166688"/>
            <a:ext cx="78200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Memory Allocation</a:t>
            </a:r>
            <a:endParaRPr/>
          </a:p>
        </p:txBody>
      </p:sp>
      <p:sp>
        <p:nvSpPr>
          <p:cNvPr id="603" name="Google Shape;603;p77"/>
          <p:cNvSpPr txBox="1"/>
          <p:nvPr>
            <p:ph idx="1" type="body"/>
          </p:nvPr>
        </p:nvSpPr>
        <p:spPr>
          <a:xfrm>
            <a:off x="825500" y="1077913"/>
            <a:ext cx="7262813" cy="4991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0070C0"/>
                </a:solidFill>
              </a:rPr>
              <a:t>In the Variable Partition scheme, </a:t>
            </a:r>
            <a:endParaRPr/>
          </a:p>
          <a:p>
            <a:pPr indent="-342900" lvl="0" marL="342900" rtl="0" algn="l">
              <a:spcBef>
                <a:spcPts val="630"/>
              </a:spcBef>
              <a:spcAft>
                <a:spcPts val="0"/>
              </a:spcAft>
              <a:buSzPts val="1620"/>
              <a:buChar char="●"/>
            </a:pPr>
            <a:r>
              <a:rPr lang="en-US"/>
              <a:t>The operating system keeps a table indicating which parts of memory are available and which are occupied.</a:t>
            </a:r>
            <a:endParaRPr/>
          </a:p>
          <a:p>
            <a:pPr indent="-342900" lvl="0" marL="342900" rtl="0" algn="l">
              <a:spcBef>
                <a:spcPts val="630"/>
              </a:spcBef>
              <a:spcAft>
                <a:spcPts val="0"/>
              </a:spcAft>
              <a:buSzPts val="1620"/>
              <a:buChar char="●"/>
            </a:pPr>
            <a:r>
              <a:rPr lang="en-US"/>
              <a:t>Initially, all memory is available for user processes and is considered one large block of available memory-</a:t>
            </a:r>
            <a:r>
              <a:rPr b="1" lang="en-US">
                <a:solidFill>
                  <a:srgbClr val="0070C0"/>
                </a:solidFill>
              </a:rPr>
              <a:t>a Hole.</a:t>
            </a:r>
            <a:endParaRPr/>
          </a:p>
          <a:p>
            <a:pPr indent="-342900" lvl="0" marL="342900" rtl="0" algn="l">
              <a:spcBef>
                <a:spcPts val="630"/>
              </a:spcBef>
              <a:spcAft>
                <a:spcPts val="0"/>
              </a:spcAft>
              <a:buSzPts val="1620"/>
              <a:buChar char="●"/>
            </a:pPr>
            <a:r>
              <a:rPr lang="en-US"/>
              <a:t>Eventually as you will see, memory contains a set of holes of various sizes.</a:t>
            </a:r>
            <a:endParaRPr/>
          </a:p>
          <a:p>
            <a:pPr indent="-240030" lvl="0" marL="342900" rtl="0" algn="l">
              <a:spcBef>
                <a:spcPts val="630"/>
              </a:spcBef>
              <a:spcAft>
                <a:spcPts val="0"/>
              </a:spcAft>
              <a:buSzPts val="1620"/>
              <a:buNone/>
            </a:pPr>
            <a:r>
              <a:t/>
            </a:r>
            <a:endParaRPr b="1">
              <a:solidFill>
                <a:srgbClr val="0070C0"/>
              </a:solidFill>
            </a:endParaRPr>
          </a:p>
          <a:p>
            <a:pPr indent="0" lvl="1" marL="0" rtl="0" algn="l">
              <a:spcBef>
                <a:spcPts val="630"/>
              </a:spcBef>
              <a:spcAft>
                <a:spcPts val="0"/>
              </a:spcAft>
              <a:buClr>
                <a:srgbClr val="993300"/>
              </a:buClr>
              <a:buSzPts val="1620"/>
              <a:buFont typeface="Arial"/>
              <a:buNone/>
            </a:pPr>
            <a:r>
              <a:t/>
            </a:r>
            <a:endParaRPr b="1">
              <a:solidFill>
                <a:srgbClr val="0070C0"/>
              </a:solidFill>
            </a:endParaRPr>
          </a:p>
          <a:p>
            <a:pPr indent="0" lvl="1" marL="0" rtl="0" algn="l">
              <a:spcBef>
                <a:spcPts val="630"/>
              </a:spcBef>
              <a:spcAft>
                <a:spcPts val="0"/>
              </a:spcAft>
              <a:buClr>
                <a:srgbClr val="993300"/>
              </a:buClr>
              <a:buSzPts val="1620"/>
              <a:buFont typeface="Arial"/>
              <a:buNone/>
            </a:pPr>
            <a:r>
              <a:t/>
            </a:r>
            <a:endParaRPr b="1">
              <a:solidFill>
                <a:srgbClr val="0070C0"/>
              </a:solidFill>
            </a:endParaRPr>
          </a:p>
          <a:p>
            <a:pPr indent="0" lvl="1" marL="0" rtl="0" algn="l">
              <a:spcBef>
                <a:spcPts val="630"/>
              </a:spcBef>
              <a:spcAft>
                <a:spcPts val="0"/>
              </a:spcAft>
              <a:buClr>
                <a:srgbClr val="993300"/>
              </a:buClr>
              <a:buSzPts val="1620"/>
              <a:buFont typeface="Arial"/>
              <a:buNone/>
            </a:pPr>
            <a:r>
              <a:t/>
            </a:r>
            <a:endParaRPr b="1">
              <a:solidFill>
                <a:srgbClr val="0070C0"/>
              </a:solidFill>
            </a:endParaRPr>
          </a:p>
          <a:p>
            <a:pPr indent="0" lvl="1" marL="0" rtl="0" algn="l">
              <a:spcBef>
                <a:spcPts val="630"/>
              </a:spcBef>
              <a:spcAft>
                <a:spcPts val="0"/>
              </a:spcAft>
              <a:buClr>
                <a:srgbClr val="993300"/>
              </a:buClr>
              <a:buSzPts val="1620"/>
              <a:buFont typeface="Arial"/>
              <a:buNone/>
            </a:pPr>
            <a:r>
              <a:rPr b="1" lang="en-US">
                <a:solidFill>
                  <a:srgbClr val="0070C0"/>
                </a:solidFill>
              </a:rPr>
              <a:t>“Hole – block of available memory; holes of various size are scattered throughout memory”</a:t>
            </a:r>
            <a:endParaRPr/>
          </a:p>
          <a:p>
            <a:pPr indent="-240030" lvl="0" marL="342900" rtl="0" algn="l">
              <a:spcBef>
                <a:spcPts val="630"/>
              </a:spcBef>
              <a:spcAft>
                <a:spcPts val="0"/>
              </a:spcAft>
              <a:buSzPts val="1620"/>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78"/>
          <p:cNvSpPr txBox="1"/>
          <p:nvPr>
            <p:ph type="title"/>
          </p:nvPr>
        </p:nvSpPr>
        <p:spPr>
          <a:xfrm>
            <a:off x="866775" y="166688"/>
            <a:ext cx="78200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Memory Allocation-Fixed Size Partitions</a:t>
            </a:r>
            <a:endParaRPr/>
          </a:p>
        </p:txBody>
      </p:sp>
      <p:sp>
        <p:nvSpPr>
          <p:cNvPr id="610" name="Google Shape;610;p78"/>
          <p:cNvSpPr txBox="1"/>
          <p:nvPr>
            <p:ph idx="1" type="body"/>
          </p:nvPr>
        </p:nvSpPr>
        <p:spPr>
          <a:xfrm>
            <a:off x="825500" y="1077913"/>
            <a:ext cx="7262813" cy="4991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As processes enter the system, they are put into an input queue.</a:t>
            </a:r>
            <a:endParaRPr/>
          </a:p>
          <a:p>
            <a:pPr indent="-342900" lvl="0" marL="342900" rtl="0" algn="l">
              <a:spcBef>
                <a:spcPts val="630"/>
              </a:spcBef>
              <a:spcAft>
                <a:spcPts val="0"/>
              </a:spcAft>
              <a:buSzPts val="1620"/>
              <a:buChar char="●"/>
            </a:pPr>
            <a:r>
              <a:rPr lang="en-US"/>
              <a:t>At any given time, then, we have a list of available block sizes and an input queue. </a:t>
            </a:r>
            <a:endParaRPr/>
          </a:p>
          <a:p>
            <a:pPr indent="-342900" lvl="0" marL="342900" rtl="0" algn="l">
              <a:spcBef>
                <a:spcPts val="630"/>
              </a:spcBef>
              <a:spcAft>
                <a:spcPts val="0"/>
              </a:spcAft>
              <a:buSzPts val="1620"/>
              <a:buChar char="●"/>
            </a:pPr>
            <a:r>
              <a:rPr lang="en-US"/>
              <a:t>The operating system can order the input queue according to a scheduling algorithm. </a:t>
            </a:r>
            <a:endParaRPr/>
          </a:p>
          <a:p>
            <a:pPr indent="-285750" lvl="1" marL="742950" rtl="0" algn="l">
              <a:spcBef>
                <a:spcPts val="630"/>
              </a:spcBef>
              <a:spcAft>
                <a:spcPts val="0"/>
              </a:spcAft>
              <a:buSzPts val="1440"/>
              <a:buChar char="●"/>
            </a:pPr>
            <a:r>
              <a:rPr lang="en-US"/>
              <a:t>Process selected from input queue is allocated memory from a hole large enough to accommodate it</a:t>
            </a:r>
            <a:endParaRPr/>
          </a:p>
          <a:p>
            <a:pPr indent="-285750" lvl="1" marL="742950" rtl="0" algn="l">
              <a:spcBef>
                <a:spcPts val="630"/>
              </a:spcBef>
              <a:spcAft>
                <a:spcPts val="0"/>
              </a:spcAft>
              <a:buSzPts val="1440"/>
              <a:buChar char="●"/>
            </a:pPr>
            <a:r>
              <a:rPr lang="en-US"/>
              <a:t>The operating system can wait until a large enough block is available, </a:t>
            </a:r>
            <a:endParaRPr/>
          </a:p>
          <a:p>
            <a:pPr indent="-285750" lvl="1" marL="742950" rtl="0" algn="l">
              <a:spcBef>
                <a:spcPts val="630"/>
              </a:spcBef>
              <a:spcAft>
                <a:spcPts val="0"/>
              </a:spcAft>
              <a:buSzPts val="1440"/>
              <a:buChar char="●"/>
            </a:pPr>
            <a:r>
              <a:rPr lang="en-US"/>
              <a:t>or it can skip down the input queue to see whether the smaller memory requirements of some other process can be met.</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79"/>
          <p:cNvSpPr txBox="1"/>
          <p:nvPr>
            <p:ph type="title"/>
          </p:nvPr>
        </p:nvSpPr>
        <p:spPr>
          <a:xfrm>
            <a:off x="866775" y="166688"/>
            <a:ext cx="78200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Memory Allocation-Fixed Size Partitions</a:t>
            </a:r>
            <a:endParaRPr/>
          </a:p>
        </p:txBody>
      </p:sp>
      <p:sp>
        <p:nvSpPr>
          <p:cNvPr id="617" name="Google Shape;617;p79"/>
          <p:cNvSpPr txBox="1"/>
          <p:nvPr>
            <p:ph idx="1" type="body"/>
          </p:nvPr>
        </p:nvSpPr>
        <p:spPr>
          <a:xfrm>
            <a:off x="825500" y="1077913"/>
            <a:ext cx="7262813" cy="4991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The memory blocks available comprise a </a:t>
            </a:r>
            <a:r>
              <a:rPr i="1" lang="en-US"/>
              <a:t>set </a:t>
            </a:r>
            <a:r>
              <a:rPr lang="en-US"/>
              <a:t>of holes of various sizes scattered throughout memory. </a:t>
            </a:r>
            <a:endParaRPr/>
          </a:p>
          <a:p>
            <a:pPr indent="-342900" lvl="0" marL="342900" rtl="0" algn="l">
              <a:spcBef>
                <a:spcPts val="630"/>
              </a:spcBef>
              <a:spcAft>
                <a:spcPts val="0"/>
              </a:spcAft>
              <a:buSzPts val="1620"/>
              <a:buChar char="●"/>
            </a:pPr>
            <a:r>
              <a:rPr lang="en-US"/>
              <a:t>When a process arrives and needs memory, the system searches the set for a hole that is large enough for this process. </a:t>
            </a:r>
            <a:endParaRPr/>
          </a:p>
          <a:p>
            <a:pPr indent="-285750" lvl="1" marL="742950" rtl="0" algn="l">
              <a:spcBef>
                <a:spcPts val="630"/>
              </a:spcBef>
              <a:spcAft>
                <a:spcPts val="0"/>
              </a:spcAft>
              <a:buSzPts val="1440"/>
              <a:buChar char="●"/>
            </a:pPr>
            <a:r>
              <a:rPr lang="en-US"/>
              <a:t>If the hole is too large, it is split into two parts. </a:t>
            </a:r>
            <a:endParaRPr/>
          </a:p>
          <a:p>
            <a:pPr indent="-285750" lvl="1" marL="742950" rtl="0" algn="l">
              <a:spcBef>
                <a:spcPts val="630"/>
              </a:spcBef>
              <a:spcAft>
                <a:spcPts val="0"/>
              </a:spcAft>
              <a:buSzPts val="1440"/>
              <a:buChar char="●"/>
            </a:pPr>
            <a:r>
              <a:rPr b="1" lang="en-US"/>
              <a:t>One part is allocated to the arriving process; </a:t>
            </a:r>
            <a:endParaRPr/>
          </a:p>
          <a:p>
            <a:pPr indent="-285750" lvl="1" marL="742950" rtl="0" algn="l">
              <a:spcBef>
                <a:spcPts val="630"/>
              </a:spcBef>
              <a:spcAft>
                <a:spcPts val="0"/>
              </a:spcAft>
              <a:buSzPts val="1440"/>
              <a:buChar char="●"/>
            </a:pPr>
            <a:r>
              <a:rPr b="1" lang="en-US"/>
              <a:t>the other is returned to the set of holes.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80"/>
          <p:cNvSpPr txBox="1"/>
          <p:nvPr>
            <p:ph type="title"/>
          </p:nvPr>
        </p:nvSpPr>
        <p:spPr>
          <a:xfrm>
            <a:off x="866775" y="166688"/>
            <a:ext cx="78200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Memory Allocation-Fixed Size Partitions</a:t>
            </a:r>
            <a:endParaRPr/>
          </a:p>
        </p:txBody>
      </p:sp>
      <p:sp>
        <p:nvSpPr>
          <p:cNvPr id="624" name="Google Shape;624;p80"/>
          <p:cNvSpPr txBox="1"/>
          <p:nvPr>
            <p:ph idx="1" type="body"/>
          </p:nvPr>
        </p:nvSpPr>
        <p:spPr>
          <a:xfrm>
            <a:off x="825500" y="1077913"/>
            <a:ext cx="7262813" cy="4991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When a process terminates, it releases its block of memory, which is then placed back in the set of holes. </a:t>
            </a:r>
            <a:endParaRPr/>
          </a:p>
          <a:p>
            <a:pPr indent="-285750" lvl="1" marL="742950" rtl="0" algn="l">
              <a:spcBef>
                <a:spcPts val="630"/>
              </a:spcBef>
              <a:spcAft>
                <a:spcPts val="0"/>
              </a:spcAft>
              <a:buSzPts val="1440"/>
              <a:buChar char="●"/>
            </a:pPr>
            <a:r>
              <a:rPr b="1" lang="en-US"/>
              <a:t>If the new hole is adjacent to other holes, these adjacent holes are merged to form one larger hole. </a:t>
            </a:r>
            <a:endParaRPr/>
          </a:p>
          <a:p>
            <a:pPr indent="-285750" lvl="1" marL="742950" rtl="0" algn="l">
              <a:spcBef>
                <a:spcPts val="630"/>
              </a:spcBef>
              <a:spcAft>
                <a:spcPts val="0"/>
              </a:spcAft>
              <a:buSzPts val="1440"/>
              <a:buChar char="●"/>
            </a:pPr>
            <a:r>
              <a:rPr lang="en-US"/>
              <a:t>At this point, the system may need to check whether there are processes waiting for memory and whether this newly freed and recombined memory could satisfy the demands of any of these waiting processes.</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81"/>
          <p:cNvSpPr txBox="1"/>
          <p:nvPr>
            <p:ph type="title"/>
          </p:nvPr>
        </p:nvSpPr>
        <p:spPr>
          <a:xfrm>
            <a:off x="914400" y="598488"/>
            <a:ext cx="7740650" cy="6159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Multiple-partition allocation</a:t>
            </a:r>
            <a:br>
              <a:rPr lang="en-US"/>
            </a:br>
            <a:endParaRPr/>
          </a:p>
        </p:txBody>
      </p:sp>
      <p:sp>
        <p:nvSpPr>
          <p:cNvPr id="631" name="Google Shape;631;p81"/>
          <p:cNvSpPr txBox="1"/>
          <p:nvPr>
            <p:ph idx="1" type="body"/>
          </p:nvPr>
        </p:nvSpPr>
        <p:spPr>
          <a:xfrm>
            <a:off x="787400" y="1004888"/>
            <a:ext cx="7770813" cy="32623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440"/>
              <a:buChar char="●"/>
            </a:pPr>
            <a:r>
              <a:rPr b="1" lang="en-US" sz="1600">
                <a:solidFill>
                  <a:srgbClr val="0000FF"/>
                </a:solidFill>
              </a:rPr>
              <a:t>Variable-partition </a:t>
            </a:r>
            <a:r>
              <a:rPr lang="en-US" sz="1600"/>
              <a:t>sizes for efficiency (sized to a given process’ needs)</a:t>
            </a:r>
            <a:endParaRPr/>
          </a:p>
          <a:p>
            <a:pPr indent="-285750" lvl="1" marL="742950" rtl="0" algn="l">
              <a:spcBef>
                <a:spcPts val="560"/>
              </a:spcBef>
              <a:spcAft>
                <a:spcPts val="0"/>
              </a:spcAft>
              <a:buSzPts val="1280"/>
              <a:buChar char="●"/>
            </a:pPr>
            <a:r>
              <a:rPr b="1" lang="en-US" sz="1600">
                <a:solidFill>
                  <a:srgbClr val="0000FF"/>
                </a:solidFill>
                <a:highlight>
                  <a:srgbClr val="FF0000"/>
                </a:highlight>
              </a:rPr>
              <a:t>Hole</a:t>
            </a:r>
            <a:r>
              <a:rPr lang="en-US" sz="1600">
                <a:highlight>
                  <a:srgbClr val="FF0000"/>
                </a:highlight>
              </a:rPr>
              <a:t> – block of available memory</a:t>
            </a:r>
            <a:r>
              <a:rPr lang="en-US" sz="1600"/>
              <a:t>; holes of various size are scattered throughout memory</a:t>
            </a:r>
            <a:endParaRPr/>
          </a:p>
          <a:p>
            <a:pPr indent="-285750" lvl="1" marL="742950" rtl="0" algn="l">
              <a:spcBef>
                <a:spcPts val="560"/>
              </a:spcBef>
              <a:spcAft>
                <a:spcPts val="0"/>
              </a:spcAft>
              <a:buSzPts val="1280"/>
              <a:buChar char="●"/>
            </a:pPr>
            <a:r>
              <a:rPr lang="en-US" sz="1600"/>
              <a:t>When a process arrives, it is allocated memory from a hole large enough to accommodate it</a:t>
            </a:r>
            <a:endParaRPr/>
          </a:p>
          <a:p>
            <a:pPr indent="-285750" lvl="1" marL="742950" rtl="0" algn="l">
              <a:spcBef>
                <a:spcPts val="560"/>
              </a:spcBef>
              <a:spcAft>
                <a:spcPts val="0"/>
              </a:spcAft>
              <a:buSzPts val="1280"/>
              <a:buChar char="●"/>
            </a:pPr>
            <a:r>
              <a:rPr lang="en-US" sz="1600"/>
              <a:t>Process exiting frees its partition, adjacent free partitions combined</a:t>
            </a:r>
            <a:endParaRPr/>
          </a:p>
          <a:p>
            <a:pPr indent="-285750" lvl="1" marL="742950" rtl="0" algn="l">
              <a:spcBef>
                <a:spcPts val="560"/>
              </a:spcBef>
              <a:spcAft>
                <a:spcPts val="0"/>
              </a:spcAft>
              <a:buSzPts val="1280"/>
              <a:buChar char="●"/>
            </a:pPr>
            <a:r>
              <a:rPr lang="en-US" sz="1600"/>
              <a:t>Operating system maintains information about:</a:t>
            </a:r>
            <a:br>
              <a:rPr lang="en-US" sz="1600"/>
            </a:br>
            <a:r>
              <a:rPr lang="en-US" sz="1600"/>
              <a:t>a) allocated partitions    b) free partitions (hole)</a:t>
            </a:r>
            <a:endParaRPr/>
          </a:p>
        </p:txBody>
      </p:sp>
      <p:pic>
        <p:nvPicPr>
          <p:cNvPr id="632" name="Google Shape;632;p81"/>
          <p:cNvPicPr preferRelativeResize="0"/>
          <p:nvPr/>
        </p:nvPicPr>
        <p:blipFill rotWithShape="1">
          <a:blip r:embed="rId3">
            <a:alphaModFix/>
          </a:blip>
          <a:srcRect b="0" l="0" r="0" t="0"/>
          <a:stretch/>
        </p:blipFill>
        <p:spPr>
          <a:xfrm>
            <a:off x="1379538" y="4178300"/>
            <a:ext cx="6675437" cy="2176463"/>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82"/>
          <p:cNvSpPr txBox="1"/>
          <p:nvPr>
            <p:ph type="title"/>
          </p:nvPr>
        </p:nvSpPr>
        <p:spPr>
          <a:xfrm>
            <a:off x="1260475" y="198438"/>
            <a:ext cx="77724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Dynamic Storage-Allocation Problem</a:t>
            </a:r>
            <a:endParaRPr/>
          </a:p>
        </p:txBody>
      </p:sp>
      <p:sp>
        <p:nvSpPr>
          <p:cNvPr id="639" name="Google Shape;639;p82"/>
          <p:cNvSpPr txBox="1"/>
          <p:nvPr>
            <p:ph idx="1" type="body"/>
          </p:nvPr>
        </p:nvSpPr>
        <p:spPr>
          <a:xfrm>
            <a:off x="1179513" y="1709738"/>
            <a:ext cx="7062787" cy="24987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b="1" lang="en-US">
                <a:solidFill>
                  <a:srgbClr val="3366FF"/>
                </a:solidFill>
              </a:rPr>
              <a:t>First-fit</a:t>
            </a:r>
            <a:endParaRPr/>
          </a:p>
          <a:p>
            <a:pPr indent="-342900" lvl="0" marL="342900" rtl="0" algn="l">
              <a:lnSpc>
                <a:spcPct val="90000"/>
              </a:lnSpc>
              <a:spcBef>
                <a:spcPts val="630"/>
              </a:spcBef>
              <a:spcAft>
                <a:spcPts val="0"/>
              </a:spcAft>
              <a:buSzPts val="1620"/>
              <a:buChar char="●"/>
            </a:pPr>
            <a:r>
              <a:rPr b="1" lang="en-US">
                <a:solidFill>
                  <a:srgbClr val="3366FF"/>
                </a:solidFill>
              </a:rPr>
              <a:t>Best-fit</a:t>
            </a:r>
            <a:endParaRPr/>
          </a:p>
          <a:p>
            <a:pPr indent="-342900" lvl="0" marL="342900" rtl="0" algn="l">
              <a:lnSpc>
                <a:spcPct val="90000"/>
              </a:lnSpc>
              <a:spcBef>
                <a:spcPts val="630"/>
              </a:spcBef>
              <a:spcAft>
                <a:spcPts val="0"/>
              </a:spcAft>
              <a:buSzPts val="1620"/>
              <a:buChar char="●"/>
            </a:pPr>
            <a:r>
              <a:rPr b="1" lang="en-US">
                <a:solidFill>
                  <a:srgbClr val="3366FF"/>
                </a:solidFill>
              </a:rPr>
              <a:t>Worst-fit</a:t>
            </a:r>
            <a:endParaRPr/>
          </a:p>
        </p:txBody>
      </p:sp>
      <p:sp>
        <p:nvSpPr>
          <p:cNvPr id="640" name="Google Shape;640;p82"/>
          <p:cNvSpPr txBox="1"/>
          <p:nvPr/>
        </p:nvSpPr>
        <p:spPr>
          <a:xfrm>
            <a:off x="919163" y="1169988"/>
            <a:ext cx="6108700" cy="36988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How to satisfy a request of size </a:t>
            </a:r>
            <a:r>
              <a:rPr b="1" i="1" lang="en-US" sz="1800">
                <a:solidFill>
                  <a:schemeClr val="dk1"/>
                </a:solidFill>
                <a:latin typeface="Helvetica Neue"/>
                <a:ea typeface="Helvetica Neue"/>
                <a:cs typeface="Helvetica Neue"/>
                <a:sym typeface="Helvetica Neue"/>
              </a:rPr>
              <a:t>n</a:t>
            </a:r>
            <a:r>
              <a:rPr lang="en-US" sz="1800">
                <a:solidFill>
                  <a:schemeClr val="dk1"/>
                </a:solidFill>
                <a:latin typeface="Helvetica Neue"/>
                <a:ea typeface="Helvetica Neue"/>
                <a:cs typeface="Helvetica Neue"/>
                <a:sym typeface="Helvetica Neue"/>
              </a:rPr>
              <a:t> from a list of free holes?</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83"/>
          <p:cNvSpPr txBox="1"/>
          <p:nvPr>
            <p:ph type="title"/>
          </p:nvPr>
        </p:nvSpPr>
        <p:spPr>
          <a:xfrm>
            <a:off x="1260475" y="198438"/>
            <a:ext cx="77724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Dynamic Storage-Allocation Problem</a:t>
            </a:r>
            <a:endParaRPr/>
          </a:p>
        </p:txBody>
      </p:sp>
      <p:sp>
        <p:nvSpPr>
          <p:cNvPr id="647" name="Google Shape;647;p83"/>
          <p:cNvSpPr txBox="1"/>
          <p:nvPr>
            <p:ph idx="1" type="body"/>
          </p:nvPr>
        </p:nvSpPr>
        <p:spPr>
          <a:xfrm>
            <a:off x="1179513" y="1709738"/>
            <a:ext cx="7062787" cy="2624137"/>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b="1" lang="en-US">
                <a:solidFill>
                  <a:srgbClr val="3366FF"/>
                </a:solidFill>
              </a:rPr>
              <a:t>First-fit</a:t>
            </a:r>
            <a:r>
              <a:rPr lang="en-US"/>
              <a:t>:  </a:t>
            </a:r>
            <a:endParaRPr/>
          </a:p>
          <a:p>
            <a:pPr indent="-342900" lvl="0" marL="342900" rtl="0" algn="l">
              <a:lnSpc>
                <a:spcPct val="90000"/>
              </a:lnSpc>
              <a:spcBef>
                <a:spcPts val="630"/>
              </a:spcBef>
              <a:spcAft>
                <a:spcPts val="0"/>
              </a:spcAft>
              <a:buSzPts val="1620"/>
              <a:buChar char="●"/>
            </a:pPr>
            <a:r>
              <a:rPr lang="en-US"/>
              <a:t>Allocate the </a:t>
            </a:r>
            <a:r>
              <a:rPr b="1" i="1" lang="en-US"/>
              <a:t>first</a:t>
            </a:r>
            <a:r>
              <a:rPr lang="en-US"/>
              <a:t> hole that is big enough</a:t>
            </a:r>
            <a:endParaRPr/>
          </a:p>
          <a:p>
            <a:pPr indent="-342900" lvl="0" marL="342900" rtl="0" algn="l">
              <a:spcBef>
                <a:spcPts val="630"/>
              </a:spcBef>
              <a:spcAft>
                <a:spcPts val="0"/>
              </a:spcAft>
              <a:buSzPts val="1620"/>
              <a:buChar char="●"/>
            </a:pPr>
            <a:r>
              <a:rPr lang="en-US"/>
              <a:t>Searching can start either at the beginning of the set of holes or at the location where the previous first-fit search ended. </a:t>
            </a:r>
            <a:endParaRPr/>
          </a:p>
          <a:p>
            <a:pPr indent="-342900" lvl="0" marL="342900" rtl="0" algn="l">
              <a:spcBef>
                <a:spcPts val="630"/>
              </a:spcBef>
              <a:spcAft>
                <a:spcPts val="0"/>
              </a:spcAft>
              <a:buSzPts val="1620"/>
              <a:buChar char="●"/>
            </a:pPr>
            <a:r>
              <a:rPr lang="en-US"/>
              <a:t>We can stop searching as soon as we find a free hole that is large enough.</a:t>
            </a:r>
            <a:endParaRPr/>
          </a:p>
          <a:p>
            <a:pPr indent="-342900" lvl="0" marL="342900" rtl="0" algn="l">
              <a:lnSpc>
                <a:spcPct val="90000"/>
              </a:lnSpc>
              <a:spcBef>
                <a:spcPts val="630"/>
              </a:spcBef>
              <a:spcAft>
                <a:spcPts val="0"/>
              </a:spcAft>
              <a:buSzPts val="1620"/>
              <a:buFont typeface="Arial"/>
              <a:buNone/>
            </a:pPr>
            <a:r>
              <a:t/>
            </a:r>
            <a:endParaRPr/>
          </a:p>
          <a:p>
            <a:pPr indent="-240030" lvl="0" marL="342900" rtl="0" algn="l">
              <a:lnSpc>
                <a:spcPct val="90000"/>
              </a:lnSpc>
              <a:spcBef>
                <a:spcPts val="630"/>
              </a:spcBef>
              <a:spcAft>
                <a:spcPts val="0"/>
              </a:spcAft>
              <a:buSzPts val="1620"/>
              <a:buNone/>
            </a:pPr>
            <a:r>
              <a:t/>
            </a:r>
            <a:endParaRPr/>
          </a:p>
        </p:txBody>
      </p:sp>
      <p:sp>
        <p:nvSpPr>
          <p:cNvPr id="648" name="Google Shape;648;p83"/>
          <p:cNvSpPr txBox="1"/>
          <p:nvPr/>
        </p:nvSpPr>
        <p:spPr>
          <a:xfrm>
            <a:off x="919163" y="1169988"/>
            <a:ext cx="6108700" cy="36988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How to satisfy a request of size </a:t>
            </a:r>
            <a:r>
              <a:rPr b="1" i="1" lang="en-US" sz="1800">
                <a:solidFill>
                  <a:schemeClr val="dk1"/>
                </a:solidFill>
                <a:latin typeface="Helvetica Neue"/>
                <a:ea typeface="Helvetica Neue"/>
                <a:cs typeface="Helvetica Neue"/>
                <a:sym typeface="Helvetica Neue"/>
              </a:rPr>
              <a:t>n</a:t>
            </a:r>
            <a:r>
              <a:rPr lang="en-US" sz="1800">
                <a:solidFill>
                  <a:schemeClr val="dk1"/>
                </a:solidFill>
                <a:latin typeface="Helvetica Neue"/>
                <a:ea typeface="Helvetica Neue"/>
                <a:cs typeface="Helvetica Neue"/>
                <a:sym typeface="Helvetica Neue"/>
              </a:rPr>
              <a:t> from a list of free holes?</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84"/>
          <p:cNvSpPr txBox="1"/>
          <p:nvPr>
            <p:ph type="title"/>
          </p:nvPr>
        </p:nvSpPr>
        <p:spPr>
          <a:xfrm>
            <a:off x="1260475" y="198438"/>
            <a:ext cx="77724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Dynamic Storage-Allocation Problem</a:t>
            </a:r>
            <a:endParaRPr/>
          </a:p>
        </p:txBody>
      </p:sp>
      <p:sp>
        <p:nvSpPr>
          <p:cNvPr id="655" name="Google Shape;655;p84"/>
          <p:cNvSpPr txBox="1"/>
          <p:nvPr>
            <p:ph idx="1" type="body"/>
          </p:nvPr>
        </p:nvSpPr>
        <p:spPr>
          <a:xfrm>
            <a:off x="1179513" y="1709738"/>
            <a:ext cx="7062787" cy="2624137"/>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b="1" lang="en-US">
                <a:solidFill>
                  <a:srgbClr val="3366FF"/>
                </a:solidFill>
              </a:rPr>
              <a:t>Best-fit</a:t>
            </a:r>
            <a:r>
              <a:rPr lang="en-US"/>
              <a:t>:  </a:t>
            </a:r>
            <a:endParaRPr/>
          </a:p>
          <a:p>
            <a:pPr indent="-342900" lvl="0" marL="342900" rtl="0" algn="l">
              <a:lnSpc>
                <a:spcPct val="90000"/>
              </a:lnSpc>
              <a:spcBef>
                <a:spcPts val="630"/>
              </a:spcBef>
              <a:spcAft>
                <a:spcPts val="0"/>
              </a:spcAft>
              <a:buSzPts val="1620"/>
              <a:buChar char="●"/>
            </a:pPr>
            <a:r>
              <a:rPr lang="en-US"/>
              <a:t>Allocate the </a:t>
            </a:r>
            <a:r>
              <a:rPr b="1" i="1" lang="en-US"/>
              <a:t>smallest</a:t>
            </a:r>
            <a:r>
              <a:rPr lang="en-US"/>
              <a:t> hole that is big enough; </a:t>
            </a:r>
            <a:endParaRPr/>
          </a:p>
          <a:p>
            <a:pPr indent="-342900" lvl="0" marL="342900" rtl="0" algn="l">
              <a:lnSpc>
                <a:spcPct val="90000"/>
              </a:lnSpc>
              <a:spcBef>
                <a:spcPts val="630"/>
              </a:spcBef>
              <a:spcAft>
                <a:spcPts val="0"/>
              </a:spcAft>
              <a:buSzPts val="1620"/>
              <a:buChar char="●"/>
            </a:pPr>
            <a:r>
              <a:rPr lang="en-US"/>
              <a:t>We must search entire list, unless ordered by size  </a:t>
            </a:r>
            <a:endParaRPr/>
          </a:p>
          <a:p>
            <a:pPr indent="-342900" lvl="0" marL="342900" rtl="0" algn="l">
              <a:lnSpc>
                <a:spcPct val="90000"/>
              </a:lnSpc>
              <a:spcBef>
                <a:spcPts val="630"/>
              </a:spcBef>
              <a:spcAft>
                <a:spcPts val="0"/>
              </a:spcAft>
              <a:buSzPts val="1620"/>
              <a:buChar char="●"/>
            </a:pPr>
            <a:r>
              <a:rPr lang="en-US"/>
              <a:t>This strategy produces the smallest leftover hole</a:t>
            </a:r>
            <a:endParaRPr/>
          </a:p>
          <a:p>
            <a:pPr indent="-240030" lvl="0" marL="342900" rtl="0" algn="l">
              <a:lnSpc>
                <a:spcPct val="90000"/>
              </a:lnSpc>
              <a:spcBef>
                <a:spcPts val="630"/>
              </a:spcBef>
              <a:spcAft>
                <a:spcPts val="0"/>
              </a:spcAft>
              <a:buSzPts val="1620"/>
              <a:buNone/>
            </a:pPr>
            <a:r>
              <a:t/>
            </a:r>
            <a:endParaRPr/>
          </a:p>
        </p:txBody>
      </p:sp>
      <p:sp>
        <p:nvSpPr>
          <p:cNvPr id="656" name="Google Shape;656;p84"/>
          <p:cNvSpPr txBox="1"/>
          <p:nvPr/>
        </p:nvSpPr>
        <p:spPr>
          <a:xfrm>
            <a:off x="919163" y="1169988"/>
            <a:ext cx="6108700" cy="36988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How to satisfy a request of size </a:t>
            </a:r>
            <a:r>
              <a:rPr b="1" i="1" lang="en-US" sz="1800">
                <a:solidFill>
                  <a:schemeClr val="dk1"/>
                </a:solidFill>
                <a:latin typeface="Helvetica Neue"/>
                <a:ea typeface="Helvetica Neue"/>
                <a:cs typeface="Helvetica Neue"/>
                <a:sym typeface="Helvetica Neue"/>
              </a:rPr>
              <a:t>n</a:t>
            </a:r>
            <a:r>
              <a:rPr lang="en-US" sz="1800">
                <a:solidFill>
                  <a:schemeClr val="dk1"/>
                </a:solidFill>
                <a:latin typeface="Helvetica Neue"/>
                <a:ea typeface="Helvetica Neue"/>
                <a:cs typeface="Helvetica Neue"/>
                <a:sym typeface="Helvetica Neue"/>
              </a:rPr>
              <a:t> from a list of free holes?</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85"/>
          <p:cNvSpPr txBox="1"/>
          <p:nvPr>
            <p:ph type="title"/>
          </p:nvPr>
        </p:nvSpPr>
        <p:spPr>
          <a:xfrm>
            <a:off x="1260475" y="198438"/>
            <a:ext cx="77724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Dynamic Storage-Allocation Problem</a:t>
            </a:r>
            <a:endParaRPr/>
          </a:p>
        </p:txBody>
      </p:sp>
      <p:sp>
        <p:nvSpPr>
          <p:cNvPr id="663" name="Google Shape;663;p85"/>
          <p:cNvSpPr txBox="1"/>
          <p:nvPr>
            <p:ph idx="1" type="body"/>
          </p:nvPr>
        </p:nvSpPr>
        <p:spPr>
          <a:xfrm>
            <a:off x="1179513" y="1709738"/>
            <a:ext cx="7062787" cy="36242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b="1" lang="en-US">
                <a:solidFill>
                  <a:srgbClr val="3366FF"/>
                </a:solidFill>
              </a:rPr>
              <a:t>Worst-fit</a:t>
            </a:r>
            <a:r>
              <a:rPr lang="en-US"/>
              <a:t>:  </a:t>
            </a:r>
            <a:endParaRPr/>
          </a:p>
          <a:p>
            <a:pPr indent="-342900" lvl="0" marL="342900" rtl="0" algn="l">
              <a:lnSpc>
                <a:spcPct val="90000"/>
              </a:lnSpc>
              <a:spcBef>
                <a:spcPts val="630"/>
              </a:spcBef>
              <a:spcAft>
                <a:spcPts val="0"/>
              </a:spcAft>
              <a:buSzPts val="1620"/>
              <a:buChar char="●"/>
            </a:pPr>
            <a:r>
              <a:rPr lang="en-US"/>
              <a:t>Allocate the </a:t>
            </a:r>
            <a:r>
              <a:rPr b="1" i="1" lang="en-US"/>
              <a:t>largest</a:t>
            </a:r>
            <a:r>
              <a:rPr lang="en-US"/>
              <a:t> hole; </a:t>
            </a:r>
            <a:endParaRPr/>
          </a:p>
          <a:p>
            <a:pPr indent="-342900" lvl="0" marL="342900" rtl="0" algn="l">
              <a:lnSpc>
                <a:spcPct val="90000"/>
              </a:lnSpc>
              <a:spcBef>
                <a:spcPts val="630"/>
              </a:spcBef>
              <a:spcAft>
                <a:spcPts val="0"/>
              </a:spcAft>
              <a:buSzPts val="1620"/>
              <a:buChar char="●"/>
            </a:pPr>
            <a:r>
              <a:rPr lang="en-US"/>
              <a:t>We must also search entire list unless it is sorted by size. </a:t>
            </a:r>
            <a:endParaRPr/>
          </a:p>
          <a:p>
            <a:pPr indent="-342900" lvl="0" marL="342900" rtl="0" algn="l">
              <a:lnSpc>
                <a:spcPct val="90000"/>
              </a:lnSpc>
              <a:spcBef>
                <a:spcPts val="630"/>
              </a:spcBef>
              <a:spcAft>
                <a:spcPts val="0"/>
              </a:spcAft>
              <a:buSzPts val="1620"/>
              <a:buChar char="●"/>
            </a:pPr>
            <a:r>
              <a:rPr lang="en-US"/>
              <a:t>This strategy produces the largest leftover hole which may be more useful than the smaller leftover hole from a best-fit approach.</a:t>
            </a:r>
            <a:endParaRPr/>
          </a:p>
        </p:txBody>
      </p:sp>
      <p:sp>
        <p:nvSpPr>
          <p:cNvPr id="664" name="Google Shape;664;p85"/>
          <p:cNvSpPr txBox="1"/>
          <p:nvPr/>
        </p:nvSpPr>
        <p:spPr>
          <a:xfrm>
            <a:off x="919163" y="1169988"/>
            <a:ext cx="6108700" cy="36988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How to satisfy a request of size </a:t>
            </a:r>
            <a:r>
              <a:rPr b="1" i="1" lang="en-US" sz="1800">
                <a:solidFill>
                  <a:schemeClr val="dk1"/>
                </a:solidFill>
                <a:latin typeface="Helvetica Neue"/>
                <a:ea typeface="Helvetica Neue"/>
                <a:cs typeface="Helvetica Neue"/>
                <a:sym typeface="Helvetica Neue"/>
              </a:rPr>
              <a:t>n</a:t>
            </a:r>
            <a:r>
              <a:rPr lang="en-US" sz="1800">
                <a:solidFill>
                  <a:schemeClr val="dk1"/>
                </a:solidFill>
                <a:latin typeface="Helvetica Neue"/>
                <a:ea typeface="Helvetica Neue"/>
                <a:cs typeface="Helvetica Neue"/>
                <a:sym typeface="Helvetica Neue"/>
              </a:rPr>
              <a:t> from a list of free holes?</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86"/>
          <p:cNvSpPr txBox="1"/>
          <p:nvPr>
            <p:ph type="title"/>
          </p:nvPr>
        </p:nvSpPr>
        <p:spPr>
          <a:xfrm>
            <a:off x="1260475" y="198438"/>
            <a:ext cx="77724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Dynamic Storage-Allocation Problem</a:t>
            </a:r>
            <a:endParaRPr/>
          </a:p>
        </p:txBody>
      </p:sp>
      <p:sp>
        <p:nvSpPr>
          <p:cNvPr id="671" name="Google Shape;671;p86"/>
          <p:cNvSpPr txBox="1"/>
          <p:nvPr>
            <p:ph idx="1" type="body"/>
          </p:nvPr>
        </p:nvSpPr>
        <p:spPr>
          <a:xfrm>
            <a:off x="806450" y="1439863"/>
            <a:ext cx="8229600" cy="31813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Simulations have shown that </a:t>
            </a:r>
            <a:endParaRPr/>
          </a:p>
          <a:p>
            <a:pPr indent="-342900" lvl="0" marL="342900" rtl="0" algn="l">
              <a:spcBef>
                <a:spcPts val="630"/>
              </a:spcBef>
              <a:spcAft>
                <a:spcPts val="0"/>
              </a:spcAft>
              <a:buSzPts val="1620"/>
              <a:buFont typeface="Arial"/>
              <a:buAutoNum type="arabicParenR"/>
            </a:pPr>
            <a:r>
              <a:rPr lang="en-US"/>
              <a:t>Both first fit and best fit are better than worst fit in terms of decreasing time and storage utilization.</a:t>
            </a:r>
            <a:endParaRPr/>
          </a:p>
          <a:p>
            <a:pPr indent="-342900" lvl="0" marL="342900" rtl="0" algn="l">
              <a:spcBef>
                <a:spcPts val="630"/>
              </a:spcBef>
              <a:spcAft>
                <a:spcPts val="0"/>
              </a:spcAft>
              <a:buSzPts val="1620"/>
              <a:buFont typeface="Arial"/>
              <a:buAutoNum type="arabicParenR"/>
            </a:pPr>
            <a:r>
              <a:rPr lang="en-US"/>
              <a:t>Neither first fit nor best fit is clearly better than the other in terms of storage utilization, but first fit is generally faster.</a:t>
            </a:r>
            <a:endParaRPr/>
          </a:p>
          <a:p>
            <a:pPr indent="-240030" lvl="0" marL="342900" rtl="0" algn="l">
              <a:spcBef>
                <a:spcPts val="630"/>
              </a:spcBef>
              <a:spcAft>
                <a:spcPts val="0"/>
              </a:spcAft>
              <a:buSzPts val="1620"/>
              <a:buFont typeface="Arial"/>
              <a:buNone/>
            </a:pPr>
            <a:r>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87"/>
          <p:cNvSpPr txBox="1"/>
          <p:nvPr>
            <p:ph type="title"/>
          </p:nvPr>
        </p:nvSpPr>
        <p:spPr>
          <a:xfrm>
            <a:off x="1260475" y="198438"/>
            <a:ext cx="77724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Dynamic Storage-Allocation Problem</a:t>
            </a:r>
            <a:endParaRPr/>
          </a:p>
        </p:txBody>
      </p:sp>
      <p:sp>
        <p:nvSpPr>
          <p:cNvPr id="678" name="Google Shape;678;p87"/>
          <p:cNvSpPr txBox="1"/>
          <p:nvPr>
            <p:ph idx="1" type="body"/>
          </p:nvPr>
        </p:nvSpPr>
        <p:spPr>
          <a:xfrm>
            <a:off x="1179513" y="1709738"/>
            <a:ext cx="7062787" cy="36242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b="1" lang="en-US">
                <a:solidFill>
                  <a:srgbClr val="3366FF"/>
                </a:solidFill>
              </a:rPr>
              <a:t>First-fit</a:t>
            </a:r>
            <a:r>
              <a:rPr lang="en-US"/>
              <a:t>:  Allocate the </a:t>
            </a:r>
            <a:r>
              <a:rPr b="1" i="1" lang="en-US"/>
              <a:t>first</a:t>
            </a:r>
            <a:r>
              <a:rPr lang="en-US"/>
              <a:t> hole that is big enough</a:t>
            </a:r>
            <a:endParaRPr/>
          </a:p>
          <a:p>
            <a:pPr indent="-342900" lvl="0" marL="342900" rtl="0" algn="l">
              <a:lnSpc>
                <a:spcPct val="90000"/>
              </a:lnSpc>
              <a:spcBef>
                <a:spcPts val="630"/>
              </a:spcBef>
              <a:spcAft>
                <a:spcPts val="0"/>
              </a:spcAft>
              <a:buSzPts val="1620"/>
              <a:buFont typeface="Arial"/>
              <a:buNone/>
            </a:pPr>
            <a:r>
              <a:t/>
            </a:r>
            <a:endParaRPr/>
          </a:p>
          <a:p>
            <a:pPr indent="-342900" lvl="0" marL="342900" rtl="0" algn="l">
              <a:lnSpc>
                <a:spcPct val="90000"/>
              </a:lnSpc>
              <a:spcBef>
                <a:spcPts val="630"/>
              </a:spcBef>
              <a:spcAft>
                <a:spcPts val="0"/>
              </a:spcAft>
              <a:buSzPts val="1620"/>
              <a:buChar char="●"/>
            </a:pPr>
            <a:r>
              <a:rPr b="1" lang="en-US">
                <a:solidFill>
                  <a:srgbClr val="3366FF"/>
                </a:solidFill>
              </a:rPr>
              <a:t>Best-fit</a:t>
            </a:r>
            <a:r>
              <a:rPr lang="en-US"/>
              <a:t>:  Allocate the </a:t>
            </a:r>
            <a:r>
              <a:rPr b="1" i="1" lang="en-US"/>
              <a:t>smallest</a:t>
            </a:r>
            <a:r>
              <a:rPr lang="en-US"/>
              <a:t> hole that is big enough; must search entire list, unless ordered by size  </a:t>
            </a:r>
            <a:endParaRPr/>
          </a:p>
          <a:p>
            <a:pPr indent="-285750" lvl="1" marL="742950" rtl="0" algn="l">
              <a:lnSpc>
                <a:spcPct val="90000"/>
              </a:lnSpc>
              <a:spcBef>
                <a:spcPts val="630"/>
              </a:spcBef>
              <a:spcAft>
                <a:spcPts val="0"/>
              </a:spcAft>
              <a:buSzPts val="1440"/>
              <a:buChar char="●"/>
            </a:pPr>
            <a:r>
              <a:rPr lang="en-US"/>
              <a:t>Produces the smallest leftover hole</a:t>
            </a:r>
            <a:endParaRPr/>
          </a:p>
          <a:p>
            <a:pPr indent="-285750" lvl="1" marL="742950" rtl="0" algn="l">
              <a:lnSpc>
                <a:spcPct val="90000"/>
              </a:lnSpc>
              <a:spcBef>
                <a:spcPts val="630"/>
              </a:spcBef>
              <a:spcAft>
                <a:spcPts val="0"/>
              </a:spcAft>
              <a:buSzPts val="1440"/>
              <a:buFont typeface="Arial"/>
              <a:buNone/>
            </a:pPr>
            <a:r>
              <a:t/>
            </a:r>
            <a:endParaRPr/>
          </a:p>
          <a:p>
            <a:pPr indent="-342900" lvl="0" marL="342900" rtl="0" algn="l">
              <a:lnSpc>
                <a:spcPct val="90000"/>
              </a:lnSpc>
              <a:spcBef>
                <a:spcPts val="630"/>
              </a:spcBef>
              <a:spcAft>
                <a:spcPts val="0"/>
              </a:spcAft>
              <a:buSzPts val="1620"/>
              <a:buChar char="●"/>
            </a:pPr>
            <a:r>
              <a:rPr b="1" lang="en-US">
                <a:solidFill>
                  <a:srgbClr val="3366FF"/>
                </a:solidFill>
              </a:rPr>
              <a:t>Worst-fit</a:t>
            </a:r>
            <a:r>
              <a:rPr lang="en-US"/>
              <a:t>:  Allocate the </a:t>
            </a:r>
            <a:r>
              <a:rPr b="1" i="1" lang="en-US"/>
              <a:t>largest</a:t>
            </a:r>
            <a:r>
              <a:rPr lang="en-US"/>
              <a:t> hole; must also search entire list  </a:t>
            </a:r>
            <a:endParaRPr/>
          </a:p>
          <a:p>
            <a:pPr indent="-285750" lvl="1" marL="742950" rtl="0" algn="l">
              <a:lnSpc>
                <a:spcPct val="90000"/>
              </a:lnSpc>
              <a:spcBef>
                <a:spcPts val="630"/>
              </a:spcBef>
              <a:spcAft>
                <a:spcPts val="0"/>
              </a:spcAft>
              <a:buSzPts val="1440"/>
              <a:buChar char="●"/>
            </a:pPr>
            <a:r>
              <a:rPr lang="en-US"/>
              <a:t>Produces the largest leftover hole</a:t>
            </a:r>
            <a:endParaRPr/>
          </a:p>
        </p:txBody>
      </p:sp>
      <p:sp>
        <p:nvSpPr>
          <p:cNvPr id="679" name="Google Shape;679;p87"/>
          <p:cNvSpPr txBox="1"/>
          <p:nvPr/>
        </p:nvSpPr>
        <p:spPr>
          <a:xfrm>
            <a:off x="919163" y="1169988"/>
            <a:ext cx="6108700" cy="36988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How to satisfy a request of size </a:t>
            </a:r>
            <a:r>
              <a:rPr b="1" i="1" lang="en-US" sz="1800">
                <a:solidFill>
                  <a:schemeClr val="dk1"/>
                </a:solidFill>
                <a:latin typeface="Helvetica Neue"/>
                <a:ea typeface="Helvetica Neue"/>
                <a:cs typeface="Helvetica Neue"/>
                <a:sym typeface="Helvetica Neue"/>
              </a:rPr>
              <a:t>n</a:t>
            </a:r>
            <a:r>
              <a:rPr lang="en-US" sz="1800">
                <a:solidFill>
                  <a:schemeClr val="dk1"/>
                </a:solidFill>
                <a:latin typeface="Helvetica Neue"/>
                <a:ea typeface="Helvetica Neue"/>
                <a:cs typeface="Helvetica Neue"/>
                <a:sym typeface="Helvetica Neue"/>
              </a:rPr>
              <a:t> from a list of free holes?</a:t>
            </a:r>
            <a:endParaRPr/>
          </a:p>
        </p:txBody>
      </p:sp>
      <p:sp>
        <p:nvSpPr>
          <p:cNvPr id="680" name="Google Shape;680;p87"/>
          <p:cNvSpPr txBox="1"/>
          <p:nvPr/>
        </p:nvSpPr>
        <p:spPr>
          <a:xfrm>
            <a:off x="1046163" y="4621213"/>
            <a:ext cx="7600950" cy="64611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First-fit and best-fit better than worst-fit in terms of speed and storage utilization</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88"/>
          <p:cNvSpPr txBox="1"/>
          <p:nvPr>
            <p:ph type="title"/>
          </p:nvPr>
        </p:nvSpPr>
        <p:spPr>
          <a:xfrm>
            <a:off x="855663" y="152400"/>
            <a:ext cx="7831137"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Fragmentation</a:t>
            </a:r>
            <a:endParaRPr/>
          </a:p>
        </p:txBody>
      </p:sp>
      <p:sp>
        <p:nvSpPr>
          <p:cNvPr id="687" name="Google Shape;687;p88"/>
          <p:cNvSpPr txBox="1"/>
          <p:nvPr>
            <p:ph idx="1" type="body"/>
          </p:nvPr>
        </p:nvSpPr>
        <p:spPr>
          <a:xfrm>
            <a:off x="950913" y="1114425"/>
            <a:ext cx="6770687" cy="499903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As processes are loaded and removed from memory, the free memory space is broken into little pieces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89"/>
          <p:cNvSpPr txBox="1"/>
          <p:nvPr>
            <p:ph type="title"/>
          </p:nvPr>
        </p:nvSpPr>
        <p:spPr>
          <a:xfrm>
            <a:off x="855663" y="152400"/>
            <a:ext cx="7831137"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Fragmentation</a:t>
            </a:r>
            <a:endParaRPr/>
          </a:p>
        </p:txBody>
      </p:sp>
      <p:sp>
        <p:nvSpPr>
          <p:cNvPr id="694" name="Google Shape;694;p89"/>
          <p:cNvSpPr txBox="1"/>
          <p:nvPr>
            <p:ph idx="1" type="body"/>
          </p:nvPr>
        </p:nvSpPr>
        <p:spPr>
          <a:xfrm>
            <a:off x="950913" y="1114425"/>
            <a:ext cx="6770687" cy="49990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20"/>
              <a:buFont typeface="Arial"/>
              <a:buNone/>
            </a:pPr>
            <a:r>
              <a:rPr lang="en-US"/>
              <a:t>Memory fragmentation can be-</a:t>
            </a:r>
            <a:endParaRPr/>
          </a:p>
          <a:p>
            <a:pPr indent="-342900" lvl="0" marL="342900" rtl="0" algn="l">
              <a:spcBef>
                <a:spcPts val="630"/>
              </a:spcBef>
              <a:spcAft>
                <a:spcPts val="0"/>
              </a:spcAft>
              <a:buSzPts val="1620"/>
              <a:buChar char="●"/>
            </a:pPr>
            <a:r>
              <a:rPr b="1" lang="en-US">
                <a:solidFill>
                  <a:srgbClr val="3366FF"/>
                </a:solidFill>
              </a:rPr>
              <a:t>External Fragmentation</a:t>
            </a:r>
            <a:r>
              <a:rPr lang="en-US"/>
              <a:t> </a:t>
            </a:r>
            <a:endParaRPr/>
          </a:p>
          <a:p>
            <a:pPr indent="-342900" lvl="0" marL="342900" rtl="0" algn="l">
              <a:spcBef>
                <a:spcPts val="630"/>
              </a:spcBef>
              <a:spcAft>
                <a:spcPts val="0"/>
              </a:spcAft>
              <a:buSzPts val="1620"/>
              <a:buChar char="●"/>
            </a:pPr>
            <a:r>
              <a:rPr b="1" lang="en-US">
                <a:solidFill>
                  <a:srgbClr val="3366FF"/>
                </a:solidFill>
              </a:rPr>
              <a:t>Internal Fragmentation</a:t>
            </a:r>
            <a:r>
              <a:rPr lang="en-US">
                <a:solidFill>
                  <a:srgbClr val="3366FF"/>
                </a:solidFill>
              </a:rPr>
              <a:t> </a:t>
            </a:r>
            <a:endParaRPr b="1">
              <a:solidFill>
                <a:srgbClr val="3366FF"/>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90"/>
          <p:cNvSpPr txBox="1"/>
          <p:nvPr>
            <p:ph type="title"/>
          </p:nvPr>
        </p:nvSpPr>
        <p:spPr>
          <a:xfrm>
            <a:off x="855663" y="152400"/>
            <a:ext cx="7831137"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Fragmentation</a:t>
            </a:r>
            <a:endParaRPr/>
          </a:p>
        </p:txBody>
      </p:sp>
      <p:sp>
        <p:nvSpPr>
          <p:cNvPr id="701" name="Google Shape;701;p90"/>
          <p:cNvSpPr txBox="1"/>
          <p:nvPr>
            <p:ph idx="1" type="body"/>
          </p:nvPr>
        </p:nvSpPr>
        <p:spPr>
          <a:xfrm>
            <a:off x="950913" y="1114425"/>
            <a:ext cx="6770687" cy="499903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3366FF"/>
                </a:solidFill>
              </a:rPr>
              <a:t>External Fragmentation</a:t>
            </a:r>
            <a:r>
              <a:rPr lang="en-US">
                <a:solidFill>
                  <a:srgbClr val="3366FF"/>
                </a:solidFill>
              </a:rPr>
              <a:t> </a:t>
            </a:r>
            <a:r>
              <a:rPr lang="en-US"/>
              <a:t>– </a:t>
            </a:r>
            <a:endParaRPr/>
          </a:p>
          <a:p>
            <a:pPr indent="-342900" lvl="0" marL="342900" rtl="0" algn="l">
              <a:spcBef>
                <a:spcPts val="630"/>
              </a:spcBef>
              <a:spcAft>
                <a:spcPts val="0"/>
              </a:spcAft>
              <a:buSzPts val="1620"/>
              <a:buChar char="●"/>
            </a:pPr>
            <a:r>
              <a:rPr lang="en-US"/>
              <a:t>Total memory space exists to satisfy a request, but it is not contiguous</a:t>
            </a:r>
            <a:endParaRPr/>
          </a:p>
          <a:p>
            <a:pPr indent="-342900" lvl="0" marL="342900" rtl="0" algn="l">
              <a:spcBef>
                <a:spcPts val="630"/>
              </a:spcBef>
              <a:spcAft>
                <a:spcPts val="0"/>
              </a:spcAft>
              <a:buSzPts val="1620"/>
              <a:buChar char="●"/>
            </a:pPr>
            <a:r>
              <a:rPr lang="en-US"/>
              <a:t>Storage is fragmented into a large number of small holes. </a:t>
            </a:r>
            <a:endParaRPr/>
          </a:p>
          <a:p>
            <a:pPr indent="-342900" lvl="0" marL="342900" rtl="0" algn="l">
              <a:spcBef>
                <a:spcPts val="630"/>
              </a:spcBef>
              <a:spcAft>
                <a:spcPts val="0"/>
              </a:spcAft>
              <a:buSzPts val="1620"/>
              <a:buChar char="●"/>
            </a:pPr>
            <a:r>
              <a:rPr lang="en-US"/>
              <a:t>This fragmentation problem can be severe</a:t>
            </a:r>
            <a:endParaRPr/>
          </a:p>
          <a:p>
            <a:pPr indent="-342900" lvl="0" marL="342900" rtl="0" algn="l">
              <a:spcBef>
                <a:spcPts val="630"/>
              </a:spcBef>
              <a:spcAft>
                <a:spcPts val="0"/>
              </a:spcAft>
              <a:buSzPts val="1620"/>
              <a:buChar char="●"/>
            </a:pPr>
            <a:r>
              <a:rPr lang="en-US"/>
              <a:t>In the worst case, </a:t>
            </a:r>
            <a:endParaRPr/>
          </a:p>
          <a:p>
            <a:pPr indent="-285750" lvl="1" marL="742950" rtl="0" algn="l">
              <a:spcBef>
                <a:spcPts val="630"/>
              </a:spcBef>
              <a:spcAft>
                <a:spcPts val="0"/>
              </a:spcAft>
              <a:buSzPts val="1440"/>
              <a:buChar char="●"/>
            </a:pPr>
            <a:r>
              <a:rPr lang="en-US"/>
              <a:t>A block of free (or wasted) memory between every two processes. </a:t>
            </a:r>
            <a:endParaRPr/>
          </a:p>
          <a:p>
            <a:pPr indent="-285750" lvl="1" marL="742950" rtl="0" algn="l">
              <a:spcBef>
                <a:spcPts val="630"/>
              </a:spcBef>
              <a:spcAft>
                <a:spcPts val="0"/>
              </a:spcAft>
              <a:buSzPts val="1440"/>
              <a:buChar char="●"/>
            </a:pPr>
            <a:r>
              <a:rPr lang="en-US"/>
              <a:t>If all these small pieces of memory were in one big free block instead, we might be able to run several more processes.</a:t>
            </a:r>
            <a:endParaRPr b="1">
              <a:solidFill>
                <a:srgbClr val="3366FF"/>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91"/>
          <p:cNvSpPr txBox="1"/>
          <p:nvPr>
            <p:ph type="title"/>
          </p:nvPr>
        </p:nvSpPr>
        <p:spPr>
          <a:xfrm>
            <a:off x="855663" y="152400"/>
            <a:ext cx="7831137"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Fragmentation</a:t>
            </a:r>
            <a:endParaRPr/>
          </a:p>
        </p:txBody>
      </p:sp>
      <p:sp>
        <p:nvSpPr>
          <p:cNvPr id="708" name="Google Shape;708;p91"/>
          <p:cNvSpPr txBox="1"/>
          <p:nvPr>
            <p:ph idx="1" type="body"/>
          </p:nvPr>
        </p:nvSpPr>
        <p:spPr>
          <a:xfrm>
            <a:off x="950913" y="1114425"/>
            <a:ext cx="6770687" cy="499903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3366FF"/>
                </a:solidFill>
              </a:rPr>
              <a:t>Internal Fragmentation</a:t>
            </a:r>
            <a:r>
              <a:rPr lang="en-US">
                <a:solidFill>
                  <a:srgbClr val="3366FF"/>
                </a:solidFill>
              </a:rPr>
              <a:t> </a:t>
            </a:r>
            <a:r>
              <a:rPr lang="en-US"/>
              <a:t>– </a:t>
            </a:r>
            <a:endParaRPr/>
          </a:p>
          <a:p>
            <a:pPr indent="-342900" lvl="0" marL="342900" rtl="0" algn="l">
              <a:spcBef>
                <a:spcPts val="630"/>
              </a:spcBef>
              <a:spcAft>
                <a:spcPts val="0"/>
              </a:spcAft>
              <a:buSzPts val="1620"/>
              <a:buChar char="●"/>
            </a:pPr>
            <a:r>
              <a:rPr lang="en-US"/>
              <a:t>Allocated memory may be slightly larger than requested memory; </a:t>
            </a:r>
            <a:endParaRPr/>
          </a:p>
          <a:p>
            <a:pPr indent="-342900" lvl="0" marL="342900" rtl="0" algn="l">
              <a:spcBef>
                <a:spcPts val="630"/>
              </a:spcBef>
              <a:spcAft>
                <a:spcPts val="0"/>
              </a:spcAft>
              <a:buSzPts val="1620"/>
              <a:buChar char="●"/>
            </a:pPr>
            <a:r>
              <a:rPr lang="en-US"/>
              <a:t>This size difference is memory internal to a partition, but not being used</a:t>
            </a:r>
            <a:endParaRPr/>
          </a:p>
          <a:p>
            <a:pPr indent="-342900" lvl="0" marL="342900" rtl="0" algn="l">
              <a:spcBef>
                <a:spcPts val="630"/>
              </a:spcBef>
              <a:spcAft>
                <a:spcPts val="0"/>
              </a:spcAft>
              <a:buSzPts val="1620"/>
              <a:buChar char="●"/>
            </a:pPr>
            <a:r>
              <a:rPr lang="en-US"/>
              <a:t>Unused Memory Internal to a partition</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92"/>
          <p:cNvSpPr txBox="1"/>
          <p:nvPr>
            <p:ph type="title"/>
          </p:nvPr>
        </p:nvSpPr>
        <p:spPr>
          <a:xfrm>
            <a:off x="855663" y="152400"/>
            <a:ext cx="7831137"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Fragmentation</a:t>
            </a:r>
            <a:endParaRPr/>
          </a:p>
        </p:txBody>
      </p:sp>
      <p:sp>
        <p:nvSpPr>
          <p:cNvPr id="715" name="Google Shape;715;p92"/>
          <p:cNvSpPr txBox="1"/>
          <p:nvPr>
            <p:ph idx="1" type="body"/>
          </p:nvPr>
        </p:nvSpPr>
        <p:spPr>
          <a:xfrm>
            <a:off x="950913" y="1114425"/>
            <a:ext cx="6770700" cy="49989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3366FF"/>
                </a:solidFill>
              </a:rPr>
              <a:t>Internal Fragmentation</a:t>
            </a:r>
            <a:r>
              <a:rPr lang="en-US">
                <a:solidFill>
                  <a:srgbClr val="3366FF"/>
                </a:solidFill>
              </a:rPr>
              <a:t> </a:t>
            </a:r>
            <a:r>
              <a:rPr lang="en-US"/>
              <a:t>– </a:t>
            </a:r>
            <a:endParaRPr/>
          </a:p>
          <a:p>
            <a:pPr indent="-342900" lvl="0" marL="342900" rtl="0" algn="l">
              <a:spcBef>
                <a:spcPts val="630"/>
              </a:spcBef>
              <a:spcAft>
                <a:spcPts val="0"/>
              </a:spcAft>
              <a:buSzPts val="1620"/>
              <a:buChar char="●"/>
            </a:pPr>
            <a:r>
              <a:rPr lang="en-US"/>
              <a:t>Consider a multiple-partition allocation scheme with a hole of 18,464 bytes. </a:t>
            </a:r>
            <a:endParaRPr/>
          </a:p>
          <a:p>
            <a:pPr indent="-342900" lvl="0" marL="342900" rtl="0" algn="l">
              <a:spcBef>
                <a:spcPts val="630"/>
              </a:spcBef>
              <a:spcAft>
                <a:spcPts val="0"/>
              </a:spcAft>
              <a:buSzPts val="1620"/>
              <a:buChar char="●"/>
            </a:pPr>
            <a:r>
              <a:rPr lang="en-US"/>
              <a:t>Suppose that the next process requests 18,462 bytes. </a:t>
            </a:r>
            <a:endParaRPr/>
          </a:p>
          <a:p>
            <a:pPr indent="-342900" lvl="0" marL="342900" rtl="0" algn="l">
              <a:spcBef>
                <a:spcPts val="630"/>
              </a:spcBef>
              <a:spcAft>
                <a:spcPts val="0"/>
              </a:spcAft>
              <a:buSzPts val="1620"/>
              <a:buChar char="●"/>
            </a:pPr>
            <a:r>
              <a:rPr lang="en-US"/>
              <a:t>If we allocate exactly the requested block,</a:t>
            </a:r>
            <a:endParaRPr/>
          </a:p>
          <a:p>
            <a:pPr indent="-342900" lvl="0" marL="342900" rtl="0" algn="l">
              <a:spcBef>
                <a:spcPts val="630"/>
              </a:spcBef>
              <a:spcAft>
                <a:spcPts val="0"/>
              </a:spcAft>
              <a:buSzPts val="1620"/>
              <a:buChar char="●"/>
            </a:pPr>
            <a:r>
              <a:rPr lang="en-US"/>
              <a:t>We are left with a hole of 2 bytes.</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93"/>
          <p:cNvSpPr txBox="1"/>
          <p:nvPr>
            <p:ph type="title"/>
          </p:nvPr>
        </p:nvSpPr>
        <p:spPr>
          <a:xfrm>
            <a:off x="855663" y="152400"/>
            <a:ext cx="7831137"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Fragmentation</a:t>
            </a:r>
            <a:endParaRPr/>
          </a:p>
        </p:txBody>
      </p:sp>
      <p:sp>
        <p:nvSpPr>
          <p:cNvPr id="722" name="Google Shape;722;p93"/>
          <p:cNvSpPr txBox="1"/>
          <p:nvPr>
            <p:ph idx="1" type="body"/>
          </p:nvPr>
        </p:nvSpPr>
        <p:spPr>
          <a:xfrm>
            <a:off x="950913" y="1114425"/>
            <a:ext cx="6770687" cy="499903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First fit analysis reveals that given </a:t>
            </a:r>
            <a:r>
              <a:rPr i="1" lang="en-US"/>
              <a:t>N</a:t>
            </a:r>
            <a:r>
              <a:rPr lang="en-US"/>
              <a:t> blocks allocated, 0.5 </a:t>
            </a:r>
            <a:r>
              <a:rPr i="1" lang="en-US"/>
              <a:t>N</a:t>
            </a:r>
            <a:r>
              <a:rPr lang="en-US"/>
              <a:t> blocks lost to fragmentation</a:t>
            </a:r>
            <a:endParaRPr/>
          </a:p>
          <a:p>
            <a:pPr indent="-285750" lvl="1" marL="742950" rtl="0" algn="l">
              <a:spcBef>
                <a:spcPts val="630"/>
              </a:spcBef>
              <a:spcAft>
                <a:spcPts val="0"/>
              </a:spcAft>
              <a:buSzPts val="1440"/>
              <a:buChar char="●"/>
            </a:pPr>
            <a:r>
              <a:rPr lang="en-US"/>
              <a:t>1/3 may be unusable -&gt; </a:t>
            </a:r>
            <a:r>
              <a:rPr b="1" lang="en-US">
                <a:solidFill>
                  <a:srgbClr val="3366FF"/>
                </a:solidFill>
              </a:rPr>
              <a:t>50-percent rule</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94"/>
          <p:cNvSpPr txBox="1"/>
          <p:nvPr>
            <p:ph type="title"/>
          </p:nvPr>
        </p:nvSpPr>
        <p:spPr>
          <a:xfrm>
            <a:off x="457200" y="136525"/>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Fragmentation (Cont.)</a:t>
            </a:r>
            <a:endParaRPr/>
          </a:p>
        </p:txBody>
      </p:sp>
      <p:sp>
        <p:nvSpPr>
          <p:cNvPr id="728" name="Google Shape;728;p94"/>
          <p:cNvSpPr txBox="1"/>
          <p:nvPr>
            <p:ph idx="1" type="body"/>
          </p:nvPr>
        </p:nvSpPr>
        <p:spPr>
          <a:xfrm>
            <a:off x="901700" y="1154113"/>
            <a:ext cx="695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Reduce external fragmentation by </a:t>
            </a:r>
            <a:r>
              <a:rPr b="1" lang="en-US">
                <a:solidFill>
                  <a:srgbClr val="3366FF"/>
                </a:solidFill>
              </a:rPr>
              <a:t>compaction</a:t>
            </a:r>
            <a:endParaRPr/>
          </a:p>
          <a:p>
            <a:pPr indent="-285750" lvl="1" marL="742950" rtl="0" algn="l">
              <a:spcBef>
                <a:spcPts val="630"/>
              </a:spcBef>
              <a:spcAft>
                <a:spcPts val="0"/>
              </a:spcAft>
              <a:buSzPts val="1440"/>
              <a:buChar char="●"/>
            </a:pPr>
            <a:r>
              <a:rPr lang="en-US"/>
              <a:t>Shuffle memory contents to place all free memory together in one large block</a:t>
            </a:r>
            <a:endParaRPr/>
          </a:p>
          <a:p>
            <a:pPr indent="-285750" lvl="1" marL="742950" rtl="0" algn="l">
              <a:spcBef>
                <a:spcPts val="630"/>
              </a:spcBef>
              <a:spcAft>
                <a:spcPts val="0"/>
              </a:spcAft>
              <a:buSzPts val="1440"/>
              <a:buChar char="●"/>
            </a:pPr>
            <a:r>
              <a:rPr lang="en-US"/>
              <a:t>Compaction is possible </a:t>
            </a:r>
            <a:r>
              <a:rPr i="1" lang="en-US"/>
              <a:t>only</a:t>
            </a:r>
            <a:r>
              <a:rPr lang="en-US"/>
              <a:t> if relocation is dynamic, and is done at execution time</a:t>
            </a:r>
            <a:endParaRPr/>
          </a:p>
          <a:p>
            <a:pPr indent="-285750" lvl="1" marL="742950" rtl="0" algn="l">
              <a:spcBef>
                <a:spcPts val="630"/>
              </a:spcBef>
              <a:spcAft>
                <a:spcPts val="0"/>
              </a:spcAft>
              <a:buSzPts val="1440"/>
              <a:buChar char="●"/>
            </a:pPr>
            <a:r>
              <a:rPr lang="en-US"/>
              <a:t>If addresses are relocated dynamically, relocation requires only moving the program and data and then changing the base register to reflect the new base address.</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95"/>
          <p:cNvSpPr txBox="1"/>
          <p:nvPr>
            <p:ph type="title"/>
          </p:nvPr>
        </p:nvSpPr>
        <p:spPr>
          <a:xfrm>
            <a:off x="457200" y="136525"/>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Fragmentation (Cont.)</a:t>
            </a:r>
            <a:endParaRPr/>
          </a:p>
        </p:txBody>
      </p:sp>
      <p:sp>
        <p:nvSpPr>
          <p:cNvPr id="734" name="Google Shape;734;p95"/>
          <p:cNvSpPr txBox="1"/>
          <p:nvPr>
            <p:ph idx="1" type="body"/>
          </p:nvPr>
        </p:nvSpPr>
        <p:spPr>
          <a:xfrm>
            <a:off x="901700" y="1154113"/>
            <a:ext cx="695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The simplest compaction algorithm is</a:t>
            </a:r>
            <a:endParaRPr/>
          </a:p>
          <a:p>
            <a:pPr indent="-285750" lvl="1" marL="742950" rtl="0" algn="l">
              <a:spcBef>
                <a:spcPts val="630"/>
              </a:spcBef>
              <a:spcAft>
                <a:spcPts val="0"/>
              </a:spcAft>
              <a:buSzPts val="1440"/>
              <a:buChar char="●"/>
            </a:pPr>
            <a:r>
              <a:rPr lang="en-US"/>
              <a:t>To move all processes toward one end of memory; </a:t>
            </a:r>
            <a:endParaRPr/>
          </a:p>
          <a:p>
            <a:pPr indent="-285750" lvl="1" marL="742950" rtl="0" algn="l">
              <a:spcBef>
                <a:spcPts val="630"/>
              </a:spcBef>
              <a:spcAft>
                <a:spcPts val="0"/>
              </a:spcAft>
              <a:buSzPts val="1440"/>
              <a:buChar char="●"/>
            </a:pPr>
            <a:r>
              <a:rPr lang="en-US"/>
              <a:t>all holes move in the other direction, </a:t>
            </a:r>
            <a:endParaRPr/>
          </a:p>
          <a:p>
            <a:pPr indent="-285750" lvl="1" marL="742950" rtl="0" algn="l">
              <a:spcBef>
                <a:spcPts val="630"/>
              </a:spcBef>
              <a:spcAft>
                <a:spcPts val="0"/>
              </a:spcAft>
              <a:buSzPts val="1440"/>
              <a:buChar char="●"/>
            </a:pPr>
            <a:r>
              <a:rPr lang="en-US"/>
              <a:t>producing one large hole of available memory. </a:t>
            </a:r>
            <a:endParaRPr/>
          </a:p>
          <a:p>
            <a:pPr indent="-285750" lvl="1" marL="742950" rtl="0" algn="l">
              <a:spcBef>
                <a:spcPts val="630"/>
              </a:spcBef>
              <a:spcAft>
                <a:spcPts val="0"/>
              </a:spcAft>
              <a:buSzPts val="1440"/>
              <a:buChar char="●"/>
            </a:pPr>
            <a:r>
              <a:rPr lang="en-US"/>
              <a:t>This scheme can be expensive.</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96"/>
          <p:cNvSpPr txBox="1"/>
          <p:nvPr>
            <p:ph type="title"/>
          </p:nvPr>
        </p:nvSpPr>
        <p:spPr>
          <a:xfrm>
            <a:off x="457200" y="136525"/>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Fragmentation (Cont.)</a:t>
            </a:r>
            <a:endParaRPr/>
          </a:p>
        </p:txBody>
      </p:sp>
      <p:sp>
        <p:nvSpPr>
          <p:cNvPr id="740" name="Google Shape;740;p96"/>
          <p:cNvSpPr txBox="1"/>
          <p:nvPr>
            <p:ph idx="1" type="body"/>
          </p:nvPr>
        </p:nvSpPr>
        <p:spPr>
          <a:xfrm>
            <a:off x="901700" y="1154113"/>
            <a:ext cx="695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Another possible solution-</a:t>
            </a:r>
            <a:endParaRPr/>
          </a:p>
          <a:p>
            <a:pPr indent="-285750" lvl="1" marL="742950" rtl="0" algn="l">
              <a:spcBef>
                <a:spcPts val="630"/>
              </a:spcBef>
              <a:spcAft>
                <a:spcPts val="0"/>
              </a:spcAft>
              <a:buSzPts val="1440"/>
              <a:buChar char="●"/>
            </a:pPr>
            <a:r>
              <a:rPr lang="en-US"/>
              <a:t>To permit the logical address space of the processes to be non contiguous, </a:t>
            </a:r>
            <a:endParaRPr/>
          </a:p>
          <a:p>
            <a:pPr indent="-285750" lvl="1" marL="742950" rtl="0" algn="l">
              <a:spcBef>
                <a:spcPts val="630"/>
              </a:spcBef>
              <a:spcAft>
                <a:spcPts val="0"/>
              </a:spcAft>
              <a:buSzPts val="1440"/>
              <a:buChar char="●"/>
            </a:pPr>
            <a:r>
              <a:rPr lang="en-US"/>
              <a:t>thus allowing a process to be allocated physical memory wherever such memory is available.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97"/>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Non-Contiguous Memory Allocation</a:t>
            </a:r>
            <a:endParaRPr/>
          </a:p>
        </p:txBody>
      </p:sp>
      <p:sp>
        <p:nvSpPr>
          <p:cNvPr id="746" name="Google Shape;746;p97"/>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In this technique, each process is allocated a series of non-contiguous blocks of memory that can be located anywhere in the physical memory.</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Char char="●"/>
            </a:pPr>
            <a:r>
              <a:rPr lang="en-US"/>
              <a:t>Paging and Segmentation are the two ways that allow a process’s physical address space to be non-contiguous. It has the advantage of reducing memory wastage but it increases the overheads due to address translation. It slows the execution of the memory because time is consumed in address translation. </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98"/>
          <p:cNvSpPr txBox="1"/>
          <p:nvPr>
            <p:ph type="title"/>
          </p:nvPr>
        </p:nvSpPr>
        <p:spPr>
          <a:xfrm>
            <a:off x="457200" y="15240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a:t>
            </a:r>
            <a:endParaRPr/>
          </a:p>
        </p:txBody>
      </p:sp>
      <p:sp>
        <p:nvSpPr>
          <p:cNvPr id="753" name="Google Shape;753;p98"/>
          <p:cNvSpPr txBox="1"/>
          <p:nvPr>
            <p:ph idx="1" type="body"/>
          </p:nvPr>
        </p:nvSpPr>
        <p:spPr>
          <a:xfrm>
            <a:off x="893763" y="1128713"/>
            <a:ext cx="7183437" cy="476726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Paging is a memory-management scheme that permits the physical address space of a process to be non-contiguous</a:t>
            </a:r>
            <a:endParaRPr/>
          </a:p>
          <a:p>
            <a:pPr indent="-342900" lvl="0" marL="342900" rtl="0" algn="l">
              <a:spcBef>
                <a:spcPts val="630"/>
              </a:spcBef>
              <a:spcAft>
                <a:spcPts val="0"/>
              </a:spcAft>
              <a:buSzPts val="1620"/>
              <a:buChar char="●"/>
            </a:pPr>
            <a:r>
              <a:rPr lang="en-US"/>
              <a:t>Process is allocated physical memory whenever the latter is available</a:t>
            </a:r>
            <a:endParaRPr/>
          </a:p>
          <a:p>
            <a:pPr indent="-285750" lvl="1" marL="742950" rtl="0" algn="l">
              <a:spcBef>
                <a:spcPts val="630"/>
              </a:spcBef>
              <a:spcAft>
                <a:spcPts val="0"/>
              </a:spcAft>
              <a:buSzPts val="1440"/>
              <a:buChar char="●"/>
            </a:pPr>
            <a:r>
              <a:rPr lang="en-US"/>
              <a:t>Avoids external fragmentation and the need for compaction</a:t>
            </a:r>
            <a:endParaRPr/>
          </a:p>
          <a:p>
            <a:pPr indent="-285750" lvl="1" marL="742950" rtl="0" algn="l">
              <a:spcBef>
                <a:spcPts val="630"/>
              </a:spcBef>
              <a:spcAft>
                <a:spcPts val="0"/>
              </a:spcAft>
              <a:buSzPts val="1440"/>
              <a:buChar char="●"/>
            </a:pPr>
            <a:r>
              <a:rPr lang="en-US"/>
              <a:t>Avoids problem of varying sized memory chunks</a:t>
            </a:r>
            <a:endParaRPr sz="800"/>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99"/>
          <p:cNvSpPr txBox="1"/>
          <p:nvPr>
            <p:ph type="title"/>
          </p:nvPr>
        </p:nvSpPr>
        <p:spPr>
          <a:xfrm>
            <a:off x="457200" y="15240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a:t>
            </a:r>
            <a:endParaRPr/>
          </a:p>
        </p:txBody>
      </p:sp>
      <p:sp>
        <p:nvSpPr>
          <p:cNvPr id="760" name="Google Shape;760;p99"/>
          <p:cNvSpPr txBox="1"/>
          <p:nvPr>
            <p:ph idx="1" type="body"/>
          </p:nvPr>
        </p:nvSpPr>
        <p:spPr>
          <a:xfrm>
            <a:off x="893763" y="1128713"/>
            <a:ext cx="7183437" cy="476726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extLst>
                  <a:ext uri="http://customooxmlschemas.google.com/">
                    <go:slidesCustomData xmlns:go="http://customooxmlschemas.google.com/" textRoundtripDataId="2"/>
                  </a:ext>
                </a:extLst>
              </a:rPr>
              <a:t>Divide physical memory into fixed-sized blocks called </a:t>
            </a:r>
            <a:r>
              <a:rPr b="1" lang="en-US">
                <a:solidFill>
                  <a:srgbClr val="3366FF"/>
                </a:solidFill>
                <a:extLst>
                  <a:ext uri="http://customooxmlschemas.google.com/">
                    <go:slidesCustomData xmlns:go="http://customooxmlschemas.google.com/" textRoundtripDataId="3"/>
                  </a:ext>
                </a:extLst>
              </a:rPr>
              <a:t>frames</a:t>
            </a:r>
            <a:endParaRPr>
              <a:solidFill>
                <a:srgbClr val="3366FF"/>
              </a:solidFill>
              <a:extLst>
                <a:ext uri="http://customooxmlschemas.google.com/">
                  <go:slidesCustomData xmlns:go="http://customooxmlschemas.google.com/" textRoundtripDataId="4"/>
                </a:ext>
              </a:extLst>
            </a:endParaRPr>
          </a:p>
          <a:p>
            <a:pPr indent="-285750" lvl="1" marL="742950" rtl="0" algn="l">
              <a:spcBef>
                <a:spcPts val="630"/>
              </a:spcBef>
              <a:spcAft>
                <a:spcPts val="0"/>
              </a:spcAft>
              <a:buSzPts val="1440"/>
              <a:buChar char="●"/>
            </a:pPr>
            <a:r>
              <a:rPr lang="en-US">
                <a:solidFill>
                  <a:srgbClr val="000000"/>
                </a:solidFill>
                <a:extLst>
                  <a:ext uri="http://customooxmlschemas.google.com/">
                    <go:slidesCustomData xmlns:go="http://customooxmlschemas.google.com/" textRoundtripDataId="5"/>
                  </a:ext>
                </a:extLst>
              </a:rPr>
              <a:t>Size </a:t>
            </a:r>
            <a:r>
              <a:rPr lang="en-US">
                <a:extLst>
                  <a:ext uri="http://customooxmlschemas.google.com/">
                    <go:slidesCustomData xmlns:go="http://customooxmlschemas.google.com/" textRoundtripDataId="6"/>
                  </a:ext>
                </a:extLst>
              </a:rPr>
              <a:t>is power of 2, between 512 bytes and 16 Mbytes</a:t>
            </a:r>
            <a:endParaRPr sz="800">
              <a:extLst>
                <a:ext uri="http://customooxmlschemas.google.com/">
                  <go:slidesCustomData xmlns:go="http://customooxmlschemas.google.com/" textRoundtripDataId="7"/>
                </a:ext>
              </a:extLst>
            </a:endParaRPr>
          </a:p>
          <a:p>
            <a:pPr indent="-342900" lvl="0" marL="342900" rtl="0" algn="l">
              <a:spcBef>
                <a:spcPts val="630"/>
              </a:spcBef>
              <a:spcAft>
                <a:spcPts val="0"/>
              </a:spcAft>
              <a:buSzPts val="1620"/>
              <a:buChar char="●"/>
            </a:pPr>
            <a:r>
              <a:rPr lang="en-US">
                <a:extLst>
                  <a:ext uri="http://customooxmlschemas.google.com/">
                    <go:slidesCustomData xmlns:go="http://customooxmlschemas.google.com/" textRoundtripDataId="8"/>
                  </a:ext>
                </a:extLst>
              </a:rPr>
              <a:t>Divide logical memory into blocks of same size called </a:t>
            </a:r>
            <a:r>
              <a:rPr b="1" lang="en-US">
                <a:solidFill>
                  <a:srgbClr val="3366FF"/>
                </a:solidFill>
                <a:extLst>
                  <a:ext uri="http://customooxmlschemas.google.com/">
                    <go:slidesCustomData xmlns:go="http://customooxmlschemas.google.com/" textRoundtripDataId="9"/>
                  </a:ext>
                </a:extLst>
              </a:rPr>
              <a:t>pages</a:t>
            </a:r>
            <a:endParaRPr b="1" sz="800">
              <a:solidFill>
                <a:srgbClr val="3366FF"/>
              </a:solidFill>
            </a:endParaRPr>
          </a:p>
          <a:p>
            <a:pPr indent="-342900" lvl="0" marL="342900" rtl="0" algn="l">
              <a:spcBef>
                <a:spcPts val="630"/>
              </a:spcBef>
              <a:spcAft>
                <a:spcPts val="0"/>
              </a:spcAft>
              <a:buSzPts val="1620"/>
              <a:buChar char="●"/>
            </a:pPr>
            <a:r>
              <a:rPr lang="en-US"/>
              <a:t>Keep track of all free frames</a:t>
            </a:r>
            <a:endParaRPr sz="800"/>
          </a:p>
          <a:p>
            <a:pPr indent="-342900" lvl="0" marL="342900" rtl="0" algn="l">
              <a:spcBef>
                <a:spcPts val="630"/>
              </a:spcBef>
              <a:spcAft>
                <a:spcPts val="0"/>
              </a:spcAft>
              <a:buSzPts val="1620"/>
              <a:buChar char="●"/>
            </a:pPr>
            <a:r>
              <a:rPr lang="en-US"/>
              <a:t>To run a program of size </a:t>
            </a:r>
            <a:r>
              <a:rPr b="1" i="1" lang="en-US"/>
              <a:t>N</a:t>
            </a:r>
            <a:r>
              <a:rPr i="1" lang="en-US"/>
              <a:t> </a:t>
            </a:r>
            <a:r>
              <a:rPr lang="en-US"/>
              <a:t>pages, need to find </a:t>
            </a:r>
            <a:r>
              <a:rPr b="1" i="1" lang="en-US"/>
              <a:t>N</a:t>
            </a:r>
            <a:r>
              <a:rPr lang="en-US"/>
              <a:t> free frames and load program</a:t>
            </a:r>
            <a:endParaRPr sz="800"/>
          </a:p>
          <a:p>
            <a:pPr indent="-342900" lvl="0" marL="342900" rtl="0" algn="l">
              <a:spcBef>
                <a:spcPts val="630"/>
              </a:spcBef>
              <a:spcAft>
                <a:spcPts val="0"/>
              </a:spcAft>
              <a:buSzPts val="1620"/>
              <a:buChar char="●"/>
            </a:pPr>
            <a:r>
              <a:rPr lang="en-US"/>
              <a:t>Set up a </a:t>
            </a:r>
            <a:r>
              <a:rPr b="1" lang="en-US">
                <a:solidFill>
                  <a:srgbClr val="3366FF"/>
                </a:solidFill>
              </a:rPr>
              <a:t>page table</a:t>
            </a:r>
            <a:r>
              <a:rPr lang="en-US"/>
              <a:t> to translate logical to physical addresses</a:t>
            </a:r>
            <a:endParaRPr sz="800"/>
          </a:p>
          <a:p>
            <a:pPr indent="-342900" lvl="0" marL="342900" rtl="0" algn="l">
              <a:spcBef>
                <a:spcPts val="630"/>
              </a:spcBef>
              <a:spcAft>
                <a:spcPts val="0"/>
              </a:spcAft>
              <a:buSzPts val="1620"/>
              <a:buChar char="●"/>
            </a:pPr>
            <a:r>
              <a:rPr lang="en-US"/>
              <a:t>Backing store likewise split into pages</a:t>
            </a:r>
            <a:endParaRPr/>
          </a:p>
          <a:p>
            <a:pPr indent="-342900" lvl="0" marL="342900" rtl="0" algn="l">
              <a:spcBef>
                <a:spcPts val="630"/>
              </a:spcBef>
              <a:spcAft>
                <a:spcPts val="0"/>
              </a:spcAft>
              <a:buSzPts val="1620"/>
              <a:buChar char="●"/>
            </a:pPr>
            <a:r>
              <a:rPr lang="en-US"/>
              <a:t>Still have Internal fragmentation</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00"/>
          <p:cNvSpPr txBox="1"/>
          <p:nvPr>
            <p:ph type="title"/>
          </p:nvPr>
        </p:nvSpPr>
        <p:spPr>
          <a:xfrm>
            <a:off x="846138" y="152400"/>
            <a:ext cx="7840662"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Address Translation Scheme</a:t>
            </a:r>
            <a:endParaRPr/>
          </a:p>
        </p:txBody>
      </p:sp>
      <p:sp>
        <p:nvSpPr>
          <p:cNvPr id="767" name="Google Shape;767;p100"/>
          <p:cNvSpPr txBox="1"/>
          <p:nvPr>
            <p:ph idx="1" type="body"/>
          </p:nvPr>
        </p:nvSpPr>
        <p:spPr>
          <a:xfrm>
            <a:off x="922337" y="920821"/>
            <a:ext cx="7299325"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Address generated by CPU is divided into:</a:t>
            </a:r>
            <a:endParaRPr/>
          </a:p>
          <a:p>
            <a:pPr indent="-285750" lvl="1" marL="742950" rtl="0" algn="l">
              <a:spcBef>
                <a:spcPts val="630"/>
              </a:spcBef>
              <a:spcAft>
                <a:spcPts val="0"/>
              </a:spcAft>
              <a:buSzPts val="1440"/>
              <a:buChar char="●"/>
            </a:pPr>
            <a:r>
              <a:rPr b="1" lang="en-US">
                <a:solidFill>
                  <a:srgbClr val="3366FF"/>
                </a:solidFill>
              </a:rPr>
              <a:t>Page number </a:t>
            </a:r>
            <a:r>
              <a:rPr lang="en-US"/>
              <a:t>(</a:t>
            </a:r>
            <a:r>
              <a:rPr b="1" i="1" lang="en-US">
                <a:solidFill>
                  <a:srgbClr val="3366FF"/>
                </a:solidFill>
              </a:rPr>
              <a:t>p</a:t>
            </a:r>
            <a:r>
              <a:rPr lang="en-US"/>
              <a:t>)</a:t>
            </a:r>
            <a:r>
              <a:rPr lang="en-US">
                <a:solidFill>
                  <a:srgbClr val="3366FF"/>
                </a:solidFill>
              </a:rPr>
              <a:t> </a:t>
            </a:r>
            <a:r>
              <a:rPr lang="en-US"/>
              <a:t>– used as an index into a </a:t>
            </a:r>
            <a:r>
              <a:rPr b="1" lang="en-US">
                <a:solidFill>
                  <a:srgbClr val="3366FF"/>
                </a:solidFill>
              </a:rPr>
              <a:t>page table </a:t>
            </a:r>
            <a:endParaRPr/>
          </a:p>
          <a:p>
            <a:pPr indent="-285750" lvl="1" marL="742950" rtl="0" algn="l">
              <a:spcBef>
                <a:spcPts val="630"/>
              </a:spcBef>
              <a:spcAft>
                <a:spcPts val="0"/>
              </a:spcAft>
              <a:buSzPts val="1440"/>
              <a:buChar char="●"/>
            </a:pPr>
            <a:r>
              <a:rPr b="1" lang="en-US">
                <a:solidFill>
                  <a:srgbClr val="3366FF"/>
                </a:solidFill>
              </a:rPr>
              <a:t>The Page table </a:t>
            </a:r>
            <a:r>
              <a:rPr lang="en-US"/>
              <a:t>contains the base address of each page in physical memory</a:t>
            </a:r>
            <a:endParaRPr/>
          </a:p>
          <a:p>
            <a:pPr indent="-285750" lvl="1" marL="742950" rtl="0" algn="l">
              <a:spcBef>
                <a:spcPts val="630"/>
              </a:spcBef>
              <a:spcAft>
                <a:spcPts val="0"/>
              </a:spcAft>
              <a:buSzPts val="1440"/>
              <a:buChar char="●"/>
            </a:pPr>
            <a:r>
              <a:rPr b="1" lang="en-US">
                <a:solidFill>
                  <a:srgbClr val="3366FF"/>
                </a:solidFill>
              </a:rPr>
              <a:t>Page offset </a:t>
            </a:r>
            <a:r>
              <a:rPr lang="en-US"/>
              <a:t>(</a:t>
            </a:r>
            <a:r>
              <a:rPr b="1" i="1" lang="en-US">
                <a:solidFill>
                  <a:srgbClr val="3366FF"/>
                </a:solidFill>
              </a:rPr>
              <a:t>d</a:t>
            </a:r>
            <a:r>
              <a:rPr lang="en-US"/>
              <a:t>)</a:t>
            </a:r>
            <a:r>
              <a:rPr lang="en-US">
                <a:solidFill>
                  <a:srgbClr val="3366FF"/>
                </a:solidFill>
              </a:rPr>
              <a:t> </a:t>
            </a:r>
            <a:r>
              <a:rPr lang="en-US"/>
              <a:t>– combined with base address to define the physical memory address that is sent to the memory unit</a:t>
            </a:r>
            <a:endParaRPr/>
          </a:p>
          <a:p>
            <a:pPr indent="-194309" lvl="1" marL="742950" rtl="0" algn="l">
              <a:spcBef>
                <a:spcPts val="630"/>
              </a:spcBef>
              <a:spcAft>
                <a:spcPts val="0"/>
              </a:spcAft>
              <a:buSzPts val="1440"/>
              <a:buNone/>
            </a:pPr>
            <a:r>
              <a:t/>
            </a:r>
            <a:endParaRPr/>
          </a:p>
          <a:p>
            <a:pPr indent="-194309" lvl="1" marL="742950" rtl="0" algn="l">
              <a:spcBef>
                <a:spcPts val="630"/>
              </a:spcBef>
              <a:spcAft>
                <a:spcPts val="0"/>
              </a:spcAft>
              <a:buSzPts val="1440"/>
              <a:buNone/>
            </a:pPr>
            <a:r>
              <a:t/>
            </a:r>
            <a:endParaRPr/>
          </a:p>
          <a:p>
            <a:pPr indent="0" lvl="1" marL="457200" rtl="0" algn="l">
              <a:spcBef>
                <a:spcPts val="630"/>
              </a:spcBef>
              <a:spcAft>
                <a:spcPts val="0"/>
              </a:spcAft>
              <a:buSzPts val="1440"/>
              <a:buFont typeface="Arial"/>
              <a:buNone/>
            </a:pPr>
            <a:r>
              <a:t/>
            </a:r>
            <a:endParaRPr/>
          </a:p>
          <a:p>
            <a:pPr indent="-194309" lvl="1" marL="742950" rtl="0" algn="l">
              <a:spcBef>
                <a:spcPts val="630"/>
              </a:spcBef>
              <a:spcAft>
                <a:spcPts val="0"/>
              </a:spcAft>
              <a:buSzPts val="1440"/>
              <a:buNone/>
            </a:pPr>
            <a:r>
              <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01"/>
          <p:cNvSpPr txBox="1"/>
          <p:nvPr>
            <p:ph type="title"/>
          </p:nvPr>
        </p:nvSpPr>
        <p:spPr>
          <a:xfrm>
            <a:off x="749300" y="120650"/>
            <a:ext cx="79375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 Hardware</a:t>
            </a:r>
            <a:endParaRPr/>
          </a:p>
        </p:txBody>
      </p:sp>
      <p:pic>
        <p:nvPicPr>
          <p:cNvPr descr="8" id="774" name="Google Shape;774;p101"/>
          <p:cNvPicPr preferRelativeResize="0"/>
          <p:nvPr/>
        </p:nvPicPr>
        <p:blipFill rotWithShape="1">
          <a:blip r:embed="rId3">
            <a:alphaModFix/>
          </a:blip>
          <a:srcRect b="0" l="0" r="0" t="0"/>
          <a:stretch/>
        </p:blipFill>
        <p:spPr>
          <a:xfrm>
            <a:off x="1655763" y="1128713"/>
            <a:ext cx="6226175" cy="371475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02"/>
          <p:cNvSpPr txBox="1"/>
          <p:nvPr>
            <p:ph type="title"/>
          </p:nvPr>
        </p:nvSpPr>
        <p:spPr>
          <a:xfrm>
            <a:off x="946150" y="46038"/>
            <a:ext cx="8229600" cy="644525"/>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Paging Model of Logical and  Physical Memory</a:t>
            </a:r>
            <a:endParaRPr/>
          </a:p>
        </p:txBody>
      </p:sp>
      <p:pic>
        <p:nvPicPr>
          <p:cNvPr id="781" name="Google Shape;781;p102"/>
          <p:cNvPicPr preferRelativeResize="0"/>
          <p:nvPr/>
        </p:nvPicPr>
        <p:blipFill rotWithShape="1">
          <a:blip r:embed="rId3">
            <a:alphaModFix/>
          </a:blip>
          <a:srcRect b="0" l="0" r="0" t="0"/>
          <a:stretch/>
        </p:blipFill>
        <p:spPr>
          <a:xfrm>
            <a:off x="1928813" y="1203325"/>
            <a:ext cx="4938712" cy="4613275"/>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03"/>
          <p:cNvSpPr txBox="1"/>
          <p:nvPr>
            <p:ph type="title"/>
          </p:nvPr>
        </p:nvSpPr>
        <p:spPr>
          <a:xfrm>
            <a:off x="488950" y="12065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 (Cont.)</a:t>
            </a:r>
            <a:endParaRPr/>
          </a:p>
        </p:txBody>
      </p:sp>
      <p:sp>
        <p:nvSpPr>
          <p:cNvPr id="787" name="Google Shape;787;p103"/>
          <p:cNvSpPr txBox="1"/>
          <p:nvPr>
            <p:ph idx="1" type="body"/>
          </p:nvPr>
        </p:nvSpPr>
        <p:spPr>
          <a:xfrm>
            <a:off x="931863" y="1138238"/>
            <a:ext cx="8337550" cy="482123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The page size (like the frame size) is defined by the hardware. </a:t>
            </a:r>
            <a:endParaRPr/>
          </a:p>
          <a:p>
            <a:pPr indent="-342900" lvl="0" marL="342900" rtl="0" algn="l">
              <a:spcBef>
                <a:spcPts val="630"/>
              </a:spcBef>
              <a:spcAft>
                <a:spcPts val="0"/>
              </a:spcAft>
              <a:buSzPts val="1620"/>
              <a:buChar char="●"/>
            </a:pPr>
            <a:r>
              <a:rPr lang="en-US"/>
              <a:t>The size of a page is typically a power of 2, </a:t>
            </a:r>
            <a:endParaRPr/>
          </a:p>
          <a:p>
            <a:pPr indent="-342900" lvl="0" marL="342900" rtl="0" algn="l">
              <a:spcBef>
                <a:spcPts val="630"/>
              </a:spcBef>
              <a:spcAft>
                <a:spcPts val="0"/>
              </a:spcAft>
              <a:buSzPts val="1620"/>
              <a:buChar char="●"/>
            </a:pPr>
            <a:r>
              <a:rPr lang="en-US"/>
              <a:t>Varying between 512 bytes and 16 MB per page, depending on the computer architecture. </a:t>
            </a:r>
            <a:endParaRPr/>
          </a:p>
          <a:p>
            <a:pPr indent="-342900" lvl="0" marL="342900" rtl="0" algn="l">
              <a:spcBef>
                <a:spcPts val="630"/>
              </a:spcBef>
              <a:spcAft>
                <a:spcPts val="0"/>
              </a:spcAft>
              <a:buSzPts val="1620"/>
              <a:buChar char="●"/>
            </a:pPr>
            <a:r>
              <a:rPr lang="en-US"/>
              <a:t>The selection of a power of 2 as a page size makes the translation of a logical address into a page number and page offset particularly easy.</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04"/>
          <p:cNvSpPr txBox="1"/>
          <p:nvPr>
            <p:ph type="title"/>
          </p:nvPr>
        </p:nvSpPr>
        <p:spPr>
          <a:xfrm>
            <a:off x="488950" y="12065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 (Cont.)</a:t>
            </a:r>
            <a:endParaRPr/>
          </a:p>
        </p:txBody>
      </p:sp>
      <p:sp>
        <p:nvSpPr>
          <p:cNvPr id="793" name="Google Shape;793;p104"/>
          <p:cNvSpPr txBox="1"/>
          <p:nvPr>
            <p:ph idx="1" type="body"/>
          </p:nvPr>
        </p:nvSpPr>
        <p:spPr>
          <a:xfrm>
            <a:off x="931863" y="1138238"/>
            <a:ext cx="8337550" cy="482123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If the size of the logical address space = 2</a:t>
            </a:r>
            <a:r>
              <a:rPr baseline="30000" lang="en-US"/>
              <a:t>m</a:t>
            </a:r>
            <a:r>
              <a:rPr lang="en-US"/>
              <a:t>, and</a:t>
            </a:r>
            <a:endParaRPr/>
          </a:p>
          <a:p>
            <a:pPr indent="-342900" lvl="0" marL="342900" rtl="0" algn="l">
              <a:spcBef>
                <a:spcPts val="630"/>
              </a:spcBef>
              <a:spcAft>
                <a:spcPts val="0"/>
              </a:spcAft>
              <a:buSzPts val="1620"/>
              <a:buChar char="●"/>
            </a:pPr>
            <a:r>
              <a:rPr lang="en-US"/>
              <a:t>a page size = 2</a:t>
            </a:r>
            <a:r>
              <a:rPr baseline="30000" lang="en-US"/>
              <a:t>n</a:t>
            </a:r>
            <a:r>
              <a:rPr lang="en-US"/>
              <a:t> addressing units (bytes or words)</a:t>
            </a:r>
            <a:endParaRPr/>
          </a:p>
          <a:p>
            <a:pPr indent="-342900" lvl="0" marL="342900" rtl="0" algn="l">
              <a:spcBef>
                <a:spcPts val="630"/>
              </a:spcBef>
              <a:spcAft>
                <a:spcPts val="0"/>
              </a:spcAft>
              <a:buSzPts val="1620"/>
              <a:buChar char="●"/>
            </a:pPr>
            <a:r>
              <a:rPr lang="en-US"/>
              <a:t>then the high-order </a:t>
            </a:r>
            <a:r>
              <a:rPr i="1" lang="en-US"/>
              <a:t>m- n </a:t>
            </a:r>
            <a:r>
              <a:rPr lang="en-US"/>
              <a:t>bits of a logical address designate the page number, </a:t>
            </a:r>
            <a:endParaRPr/>
          </a:p>
          <a:p>
            <a:pPr indent="-342900" lvl="0" marL="342900" rtl="0" algn="l">
              <a:spcBef>
                <a:spcPts val="630"/>
              </a:spcBef>
              <a:spcAft>
                <a:spcPts val="0"/>
              </a:spcAft>
              <a:buSzPts val="1620"/>
              <a:buChar char="●"/>
            </a:pPr>
            <a:r>
              <a:rPr lang="en-US"/>
              <a:t>the </a:t>
            </a:r>
            <a:r>
              <a:rPr i="1" lang="en-US"/>
              <a:t>n </a:t>
            </a:r>
            <a:r>
              <a:rPr lang="en-US"/>
              <a:t>low-order bits designate the page offset.</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Char char="●"/>
            </a:pPr>
            <a:r>
              <a:rPr lang="en-US"/>
              <a:t>where </a:t>
            </a:r>
            <a:r>
              <a:rPr i="1" lang="en-US"/>
              <a:t>p </a:t>
            </a:r>
            <a:r>
              <a:rPr lang="en-US"/>
              <a:t>is an index into the page table and </a:t>
            </a:r>
            <a:endParaRPr/>
          </a:p>
          <a:p>
            <a:pPr indent="-342900" lvl="0" marL="342900" rtl="0" algn="l">
              <a:spcBef>
                <a:spcPts val="630"/>
              </a:spcBef>
              <a:spcAft>
                <a:spcPts val="0"/>
              </a:spcAft>
              <a:buSzPts val="1620"/>
              <a:buChar char="●"/>
            </a:pPr>
            <a:r>
              <a:rPr i="1" lang="en-US"/>
              <a:t>d </a:t>
            </a:r>
            <a:r>
              <a:rPr lang="en-US"/>
              <a:t>is the displacement within the page.</a:t>
            </a:r>
            <a:endParaRPr/>
          </a:p>
        </p:txBody>
      </p:sp>
      <p:pic>
        <p:nvPicPr>
          <p:cNvPr id="794" name="Google Shape;794;p104"/>
          <p:cNvPicPr preferRelativeResize="0"/>
          <p:nvPr/>
        </p:nvPicPr>
        <p:blipFill rotWithShape="1">
          <a:blip r:embed="rId3">
            <a:alphaModFix/>
          </a:blip>
          <a:srcRect b="0" l="0" r="0" t="0"/>
          <a:stretch/>
        </p:blipFill>
        <p:spPr>
          <a:xfrm>
            <a:off x="2900363" y="3879204"/>
            <a:ext cx="3343275" cy="1228725"/>
          </a:xfrm>
          <a:prstGeom prst="rect">
            <a:avLst/>
          </a:prstGeom>
          <a:noFill/>
          <a:ln>
            <a:noFill/>
          </a:ln>
        </p:spPr>
      </p:pic>
      <p:sp>
        <p:nvSpPr>
          <p:cNvPr id="795" name="Google Shape;795;p104"/>
          <p:cNvSpPr/>
          <p:nvPr/>
        </p:nvSpPr>
        <p:spPr>
          <a:xfrm>
            <a:off x="484495" y="5767149"/>
            <a:ext cx="7308377" cy="369332"/>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1" i="0" lang="en-US" sz="1800" u="none" cap="none" strike="noStrike">
                <a:solidFill>
                  <a:srgbClr val="0070C0"/>
                </a:solidFill>
                <a:latin typeface="Verdana"/>
                <a:ea typeface="Verdana"/>
                <a:cs typeface="Verdana"/>
                <a:sym typeface="Verdana"/>
              </a:rPr>
              <a:t>For given logical address space 2</a:t>
            </a:r>
            <a:r>
              <a:rPr b="1" baseline="30000" i="1" lang="en-US" sz="1800" u="none" cap="none" strike="noStrike">
                <a:solidFill>
                  <a:srgbClr val="0070C0"/>
                </a:solidFill>
                <a:latin typeface="Verdana"/>
                <a:ea typeface="Verdana"/>
                <a:cs typeface="Verdana"/>
                <a:sym typeface="Verdana"/>
              </a:rPr>
              <a:t>m </a:t>
            </a:r>
            <a:r>
              <a:rPr b="1" i="0" lang="en-US" sz="1800" u="none" cap="none" strike="noStrike">
                <a:solidFill>
                  <a:srgbClr val="0070C0"/>
                </a:solidFill>
                <a:latin typeface="Verdana"/>
                <a:ea typeface="Verdana"/>
                <a:cs typeface="Verdana"/>
                <a:sym typeface="Verdana"/>
              </a:rPr>
              <a:t>and page size</a:t>
            </a:r>
            <a:r>
              <a:rPr b="1" baseline="30000" i="0" lang="en-US" sz="1800" u="none" cap="none" strike="noStrike">
                <a:solidFill>
                  <a:srgbClr val="0070C0"/>
                </a:solidFill>
                <a:latin typeface="Verdana"/>
                <a:ea typeface="Verdana"/>
                <a:cs typeface="Verdana"/>
                <a:sym typeface="Verdana"/>
              </a:rPr>
              <a:t> </a:t>
            </a:r>
            <a:r>
              <a:rPr b="1" i="1" lang="en-US" sz="1800" u="none" cap="none" strike="noStrike">
                <a:solidFill>
                  <a:srgbClr val="0070C0"/>
                </a:solidFill>
                <a:latin typeface="Verdana"/>
                <a:ea typeface="Verdana"/>
                <a:cs typeface="Verdana"/>
                <a:sym typeface="Verdana"/>
              </a:rPr>
              <a:t>2</a:t>
            </a:r>
            <a:r>
              <a:rPr b="1" baseline="30000" i="0" lang="en-US" sz="1800" u="none" cap="none" strike="noStrike">
                <a:solidFill>
                  <a:srgbClr val="0070C0"/>
                </a:solidFill>
                <a:latin typeface="Verdana"/>
                <a:ea typeface="Verdana"/>
                <a:cs typeface="Verdana"/>
                <a:sym typeface="Verdana"/>
              </a:rPr>
              <a:t>n</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05"/>
          <p:cNvSpPr txBox="1"/>
          <p:nvPr>
            <p:ph type="title"/>
          </p:nvPr>
        </p:nvSpPr>
        <p:spPr>
          <a:xfrm>
            <a:off x="488950" y="12065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 (Cont.)</a:t>
            </a:r>
            <a:endParaRPr/>
          </a:p>
        </p:txBody>
      </p:sp>
      <p:sp>
        <p:nvSpPr>
          <p:cNvPr id="801" name="Google Shape;801;p105"/>
          <p:cNvSpPr txBox="1"/>
          <p:nvPr>
            <p:ph idx="1" type="body"/>
          </p:nvPr>
        </p:nvSpPr>
        <p:spPr>
          <a:xfrm>
            <a:off x="931863" y="1138238"/>
            <a:ext cx="8337550" cy="482123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In the logical address, </a:t>
            </a:r>
            <a:r>
              <a:rPr i="1" lang="en-US"/>
              <a:t>n= </a:t>
            </a:r>
            <a:r>
              <a:rPr lang="en-US"/>
              <a:t>2 and </a:t>
            </a:r>
            <a:r>
              <a:rPr i="1" lang="en-US"/>
              <a:t>m </a:t>
            </a:r>
            <a:r>
              <a:rPr lang="en-US"/>
              <a:t>= 4</a:t>
            </a:r>
            <a:endParaRPr/>
          </a:p>
          <a:p>
            <a:pPr indent="-342900" lvl="0" marL="342900" rtl="0" algn="l">
              <a:spcBef>
                <a:spcPts val="630"/>
              </a:spcBef>
              <a:spcAft>
                <a:spcPts val="0"/>
              </a:spcAft>
              <a:buSzPts val="1620"/>
              <a:buChar char="●"/>
            </a:pPr>
            <a:r>
              <a:rPr lang="en-US"/>
              <a:t>If the size of the logical address space = 2</a:t>
            </a:r>
            <a:r>
              <a:rPr baseline="30000" lang="en-US"/>
              <a:t>m</a:t>
            </a:r>
            <a:r>
              <a:rPr lang="en-US"/>
              <a:t>, = 2</a:t>
            </a:r>
            <a:r>
              <a:rPr baseline="30000" lang="en-US"/>
              <a:t>4 </a:t>
            </a:r>
            <a:r>
              <a:rPr lang="en-US"/>
              <a:t>and</a:t>
            </a:r>
            <a:endParaRPr/>
          </a:p>
          <a:p>
            <a:pPr indent="-342900" lvl="0" marL="342900" rtl="0" algn="l">
              <a:spcBef>
                <a:spcPts val="630"/>
              </a:spcBef>
              <a:spcAft>
                <a:spcPts val="0"/>
              </a:spcAft>
              <a:buSzPts val="1620"/>
              <a:buChar char="●"/>
            </a:pPr>
            <a:r>
              <a:rPr lang="en-US"/>
              <a:t>So, </a:t>
            </a:r>
            <a:r>
              <a:rPr b="1" lang="en-US"/>
              <a:t>a page size = 2</a:t>
            </a:r>
            <a:r>
              <a:rPr b="1" baseline="30000" lang="en-US"/>
              <a:t>n</a:t>
            </a:r>
            <a:r>
              <a:rPr b="1" lang="en-US"/>
              <a:t> addressing units (bytes or words) = 2</a:t>
            </a:r>
            <a:r>
              <a:rPr b="1" baseline="30000" lang="en-US"/>
              <a:t>2 </a:t>
            </a:r>
            <a:r>
              <a:rPr b="1" lang="en-US"/>
              <a:t>bytes</a:t>
            </a:r>
            <a:endParaRPr/>
          </a:p>
          <a:p>
            <a:pPr indent="-342900" lvl="0" marL="342900" rtl="0" algn="l">
              <a:spcBef>
                <a:spcPts val="630"/>
              </a:spcBef>
              <a:spcAft>
                <a:spcPts val="0"/>
              </a:spcAft>
              <a:buSzPts val="1620"/>
              <a:buChar char="●"/>
            </a:pPr>
            <a:r>
              <a:rPr lang="en-US"/>
              <a:t>Using a page size of 4 bytes and a physical memory of 32 bytes (8 pages), </a:t>
            </a:r>
            <a:endParaRPr/>
          </a:p>
          <a:p>
            <a:pPr indent="-342900" lvl="0" marL="342900" rtl="0" algn="l">
              <a:spcBef>
                <a:spcPts val="630"/>
              </a:spcBef>
              <a:spcAft>
                <a:spcPts val="0"/>
              </a:spcAft>
              <a:buSzPts val="1620"/>
              <a:buChar char="●"/>
            </a:pPr>
            <a:r>
              <a:rPr lang="en-US"/>
              <a:t>We show how the user's view of memory can be mapped into physical memory</a:t>
            </a:r>
            <a:endParaRPr/>
          </a:p>
        </p:txBody>
      </p:sp>
      <p:pic>
        <p:nvPicPr>
          <p:cNvPr id="802" name="Google Shape;802;p105"/>
          <p:cNvPicPr preferRelativeResize="0"/>
          <p:nvPr/>
        </p:nvPicPr>
        <p:blipFill rotWithShape="1">
          <a:blip r:embed="rId3">
            <a:alphaModFix/>
          </a:blip>
          <a:srcRect b="0" l="0" r="0" t="0"/>
          <a:stretch/>
        </p:blipFill>
        <p:spPr>
          <a:xfrm>
            <a:off x="2900363" y="3879204"/>
            <a:ext cx="3343275" cy="1228725"/>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106"/>
          <p:cNvSpPr txBox="1"/>
          <p:nvPr>
            <p:ph type="title"/>
          </p:nvPr>
        </p:nvSpPr>
        <p:spPr>
          <a:xfrm>
            <a:off x="485775" y="87313"/>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 Example</a:t>
            </a:r>
            <a:endParaRPr/>
          </a:p>
        </p:txBody>
      </p:sp>
      <p:sp>
        <p:nvSpPr>
          <p:cNvPr id="809" name="Google Shape;809;p106"/>
          <p:cNvSpPr txBox="1"/>
          <p:nvPr/>
        </p:nvSpPr>
        <p:spPr>
          <a:xfrm>
            <a:off x="1646237" y="6159619"/>
            <a:ext cx="6003925" cy="3381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Arial"/>
              <a:buNone/>
            </a:pPr>
            <a:r>
              <a:rPr i="1" lang="en-US" sz="1600">
                <a:solidFill>
                  <a:schemeClr val="dk1"/>
                </a:solidFill>
                <a:latin typeface="Helvetica Neue"/>
                <a:ea typeface="Helvetica Neue"/>
                <a:cs typeface="Helvetica Neue"/>
                <a:sym typeface="Helvetica Neue"/>
              </a:rPr>
              <a:t>n</a:t>
            </a:r>
            <a:r>
              <a:rPr lang="en-US" sz="1600">
                <a:solidFill>
                  <a:schemeClr val="dk1"/>
                </a:solidFill>
                <a:latin typeface="Helvetica Neue"/>
                <a:ea typeface="Helvetica Neue"/>
                <a:cs typeface="Helvetica Neue"/>
                <a:sym typeface="Helvetica Neue"/>
              </a:rPr>
              <a:t>=2 and </a:t>
            </a:r>
            <a:r>
              <a:rPr i="1" lang="en-US" sz="1600">
                <a:solidFill>
                  <a:schemeClr val="dk1"/>
                </a:solidFill>
                <a:latin typeface="Helvetica Neue"/>
                <a:ea typeface="Helvetica Neue"/>
                <a:cs typeface="Helvetica Neue"/>
                <a:sym typeface="Helvetica Neue"/>
              </a:rPr>
              <a:t>m</a:t>
            </a:r>
            <a:r>
              <a:rPr lang="en-US" sz="1600">
                <a:solidFill>
                  <a:schemeClr val="dk1"/>
                </a:solidFill>
                <a:latin typeface="Helvetica Neue"/>
                <a:ea typeface="Helvetica Neue"/>
                <a:cs typeface="Helvetica Neue"/>
                <a:sym typeface="Helvetica Neue"/>
              </a:rPr>
              <a:t>=4   32-byte memory and 4-byte pages</a:t>
            </a:r>
            <a:endParaRPr/>
          </a:p>
        </p:txBody>
      </p:sp>
      <p:pic>
        <p:nvPicPr>
          <p:cNvPr id="810" name="Google Shape;810;p106"/>
          <p:cNvPicPr preferRelativeResize="0"/>
          <p:nvPr/>
        </p:nvPicPr>
        <p:blipFill rotWithShape="1">
          <a:blip r:embed="rId3">
            <a:alphaModFix/>
          </a:blip>
          <a:srcRect b="0" l="0" r="0" t="0"/>
          <a:stretch/>
        </p:blipFill>
        <p:spPr>
          <a:xfrm>
            <a:off x="5759450" y="1120183"/>
            <a:ext cx="3384550" cy="4217987"/>
          </a:xfrm>
          <a:prstGeom prst="rect">
            <a:avLst/>
          </a:prstGeom>
          <a:noFill/>
          <a:ln>
            <a:noFill/>
          </a:ln>
        </p:spPr>
      </p:pic>
      <p:sp>
        <p:nvSpPr>
          <p:cNvPr id="811" name="Google Shape;811;p106"/>
          <p:cNvSpPr/>
          <p:nvPr/>
        </p:nvSpPr>
        <p:spPr>
          <a:xfrm>
            <a:off x="525438" y="999026"/>
            <a:ext cx="4865427" cy="2308324"/>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Arial"/>
              <a:buAutoNum type="arabicParenR"/>
            </a:pPr>
            <a:r>
              <a:rPr lang="en-US" sz="1800">
                <a:solidFill>
                  <a:schemeClr val="dk1"/>
                </a:solidFill>
                <a:latin typeface="Verdana"/>
                <a:ea typeface="Verdana"/>
                <a:cs typeface="Verdana"/>
                <a:sym typeface="Verdana"/>
              </a:rPr>
              <a:t>Logical address 0 is page 0, offset 0. Indexing into the page table, we find that page 0 is in frame 5. </a:t>
            </a:r>
            <a:endParaRPr/>
          </a:p>
          <a:p>
            <a:pPr indent="0" lvl="0" marL="0" marR="0" rtl="0" algn="l">
              <a:spcBef>
                <a:spcPts val="0"/>
              </a:spcBef>
              <a:spcAft>
                <a:spcPts val="0"/>
              </a:spcAft>
              <a:buNone/>
            </a:pPr>
            <a:r>
              <a:rPr lang="en-US" sz="1800">
                <a:solidFill>
                  <a:schemeClr val="dk1"/>
                </a:solidFill>
                <a:latin typeface="Verdana"/>
                <a:ea typeface="Verdana"/>
                <a:cs typeface="Verdana"/>
                <a:sym typeface="Verdana"/>
              </a:rPr>
              <a:t>    Thus, logical address 0 maps to    physical address 20 [= (5 x 4) + 0].</a:t>
            </a:r>
            <a:endParaRPr/>
          </a:p>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a:p>
            <a:pPr indent="0" lvl="0" marL="0" marR="0" rtl="0" algn="l">
              <a:spcBef>
                <a:spcPts val="0"/>
              </a:spcBef>
              <a:spcAft>
                <a:spcPts val="0"/>
              </a:spcAft>
              <a:buNone/>
            </a:pPr>
            <a:r>
              <a:rPr lang="en-US" sz="1800">
                <a:solidFill>
                  <a:schemeClr val="dk1"/>
                </a:solidFill>
                <a:latin typeface="Verdana"/>
                <a:ea typeface="Verdana"/>
                <a:cs typeface="Verdana"/>
                <a:sym typeface="Verdana"/>
              </a:rPr>
              <a:t>*Using a page size of 4 bytes </a:t>
            </a:r>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Verdana"/>
              <a:ea typeface="Verdana"/>
              <a:cs typeface="Verdana"/>
              <a:sym typeface="Verdana"/>
            </a:endParaRPr>
          </a:p>
        </p:txBody>
      </p:sp>
      <p:graphicFrame>
        <p:nvGraphicFramePr>
          <p:cNvPr id="812" name="Google Shape;812;p106"/>
          <p:cNvGraphicFramePr/>
          <p:nvPr/>
        </p:nvGraphicFramePr>
        <p:xfrm>
          <a:off x="7801971" y="1120181"/>
          <a:ext cx="3000000" cy="3000000"/>
        </p:xfrm>
        <a:graphic>
          <a:graphicData uri="http://schemas.openxmlformats.org/drawingml/2006/table">
            <a:tbl>
              <a:tblPr bandRow="1" firstRow="1">
                <a:noFill/>
                <a:tableStyleId>{0C57DD2B-4571-4294-903F-E05933FE1BEA}</a:tableStyleId>
              </a:tblPr>
              <a:tblGrid>
                <a:gridCol w="427625"/>
              </a:tblGrid>
              <a:tr h="503125">
                <a:tc>
                  <a:txBody>
                    <a:bodyPr/>
                    <a:lstStyle/>
                    <a:p>
                      <a:pPr indent="0" lvl="0" marL="0" marR="0" rtl="0" algn="l">
                        <a:spcBef>
                          <a:spcPts val="0"/>
                        </a:spcBef>
                        <a:spcAft>
                          <a:spcPts val="0"/>
                        </a:spcAft>
                        <a:buNone/>
                      </a:pPr>
                      <a:r>
                        <a:rPr lang="en-US" sz="1800" u="none" cap="none" strike="noStrike"/>
                        <a:t>0</a:t>
                      </a:r>
                      <a:endParaRPr/>
                    </a:p>
                  </a:txBody>
                  <a:tcPr marT="45725" marB="45725" marR="91450" marL="91450"/>
                </a:tc>
              </a:tr>
              <a:tr h="503125">
                <a:tc>
                  <a:txBody>
                    <a:bodyPr/>
                    <a:lstStyle/>
                    <a:p>
                      <a:pPr indent="0" lvl="0" marL="0" marR="0" rtl="0" algn="l">
                        <a:spcBef>
                          <a:spcPts val="0"/>
                        </a:spcBef>
                        <a:spcAft>
                          <a:spcPts val="0"/>
                        </a:spcAft>
                        <a:buNone/>
                      </a:pPr>
                      <a:r>
                        <a:rPr lang="en-US" sz="1800"/>
                        <a:t>1</a:t>
                      </a:r>
                      <a:endParaRPr/>
                    </a:p>
                  </a:txBody>
                  <a:tcPr marT="45725" marB="45725" marR="91450" marL="91450"/>
                </a:tc>
              </a:tr>
              <a:tr h="503125">
                <a:tc>
                  <a:txBody>
                    <a:bodyPr/>
                    <a:lstStyle/>
                    <a:p>
                      <a:pPr indent="0" lvl="0" marL="0" marR="0" rtl="0" algn="l">
                        <a:spcBef>
                          <a:spcPts val="0"/>
                        </a:spcBef>
                        <a:spcAft>
                          <a:spcPts val="0"/>
                        </a:spcAft>
                        <a:buNone/>
                      </a:pPr>
                      <a:r>
                        <a:rPr lang="en-US" sz="1800"/>
                        <a:t>2</a:t>
                      </a:r>
                      <a:endParaRPr/>
                    </a:p>
                  </a:txBody>
                  <a:tcPr marT="45725" marB="45725" marR="91450" marL="91450"/>
                </a:tc>
              </a:tr>
              <a:tr h="503125">
                <a:tc>
                  <a:txBody>
                    <a:bodyPr/>
                    <a:lstStyle/>
                    <a:p>
                      <a:pPr indent="0" lvl="0" marL="0" marR="0" rtl="0" algn="l">
                        <a:spcBef>
                          <a:spcPts val="0"/>
                        </a:spcBef>
                        <a:spcAft>
                          <a:spcPts val="0"/>
                        </a:spcAft>
                        <a:buNone/>
                      </a:pPr>
                      <a:r>
                        <a:rPr lang="en-US" sz="1800"/>
                        <a:t>3</a:t>
                      </a:r>
                      <a:endParaRPr/>
                    </a:p>
                  </a:txBody>
                  <a:tcPr marT="45725" marB="45725" marR="91450" marL="91450"/>
                </a:tc>
              </a:tr>
              <a:tr h="503125">
                <a:tc>
                  <a:txBody>
                    <a:bodyPr/>
                    <a:lstStyle/>
                    <a:p>
                      <a:pPr indent="0" lvl="0" marL="0" marR="0" rtl="0" algn="l">
                        <a:spcBef>
                          <a:spcPts val="0"/>
                        </a:spcBef>
                        <a:spcAft>
                          <a:spcPts val="0"/>
                        </a:spcAft>
                        <a:buNone/>
                      </a:pPr>
                      <a:r>
                        <a:rPr lang="en-US" sz="1800"/>
                        <a:t>4</a:t>
                      </a:r>
                      <a:endParaRPr/>
                    </a:p>
                  </a:txBody>
                  <a:tcPr marT="45725" marB="45725" marR="91450" marL="91450"/>
                </a:tc>
              </a:tr>
              <a:tr h="503125">
                <a:tc>
                  <a:txBody>
                    <a:bodyPr/>
                    <a:lstStyle/>
                    <a:p>
                      <a:pPr indent="0" lvl="0" marL="0" marR="0" rtl="0" algn="l">
                        <a:spcBef>
                          <a:spcPts val="0"/>
                        </a:spcBef>
                        <a:spcAft>
                          <a:spcPts val="0"/>
                        </a:spcAft>
                        <a:buNone/>
                      </a:pPr>
                      <a:r>
                        <a:rPr lang="en-US" sz="1800"/>
                        <a:t>5</a:t>
                      </a:r>
                      <a:endParaRPr/>
                    </a:p>
                  </a:txBody>
                  <a:tcPr marT="45725" marB="45725" marR="91450" marL="91450"/>
                </a:tc>
              </a:tr>
              <a:tr h="503125">
                <a:tc>
                  <a:txBody>
                    <a:bodyPr/>
                    <a:lstStyle/>
                    <a:p>
                      <a:pPr indent="0" lvl="0" marL="0" marR="0" rtl="0" algn="l">
                        <a:spcBef>
                          <a:spcPts val="0"/>
                        </a:spcBef>
                        <a:spcAft>
                          <a:spcPts val="0"/>
                        </a:spcAft>
                        <a:buNone/>
                      </a:pPr>
                      <a:r>
                        <a:rPr lang="en-US" sz="1800"/>
                        <a:t>6</a:t>
                      </a:r>
                      <a:endParaRPr/>
                    </a:p>
                  </a:txBody>
                  <a:tcPr marT="45725" marB="45725" marR="91450" marL="91450"/>
                </a:tc>
              </a:tr>
              <a:tr h="503125">
                <a:tc>
                  <a:txBody>
                    <a:bodyPr/>
                    <a:lstStyle/>
                    <a:p>
                      <a:pPr indent="0" lvl="0" marL="0" marR="0" rtl="0" algn="l">
                        <a:spcBef>
                          <a:spcPts val="0"/>
                        </a:spcBef>
                        <a:spcAft>
                          <a:spcPts val="0"/>
                        </a:spcAft>
                        <a:buNone/>
                      </a:pPr>
                      <a:r>
                        <a:rPr lang="en-US" sz="1800"/>
                        <a:t>7</a:t>
                      </a:r>
                      <a:endParaRPr/>
                    </a:p>
                  </a:txBody>
                  <a:tcPr marT="45725" marB="45725" marR="91450" marL="91450"/>
                </a:tc>
              </a:tr>
            </a:tbl>
          </a:graphicData>
        </a:graphic>
      </p:graphicFrame>
      <p:sp>
        <p:nvSpPr>
          <p:cNvPr id="813" name="Google Shape;813;p106"/>
          <p:cNvSpPr txBox="1"/>
          <p:nvPr/>
        </p:nvSpPr>
        <p:spPr>
          <a:xfrm>
            <a:off x="7527330" y="518612"/>
            <a:ext cx="12208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Verdana"/>
                <a:ea typeface="Verdana"/>
                <a:cs typeface="Verdana"/>
                <a:sym typeface="Verdana"/>
              </a:rPr>
              <a:t>Frames</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107"/>
          <p:cNvSpPr txBox="1"/>
          <p:nvPr>
            <p:ph type="title"/>
          </p:nvPr>
        </p:nvSpPr>
        <p:spPr>
          <a:xfrm>
            <a:off x="485775" y="87313"/>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 Example</a:t>
            </a:r>
            <a:endParaRPr/>
          </a:p>
        </p:txBody>
      </p:sp>
      <p:sp>
        <p:nvSpPr>
          <p:cNvPr id="820" name="Google Shape;820;p107"/>
          <p:cNvSpPr txBox="1"/>
          <p:nvPr/>
        </p:nvSpPr>
        <p:spPr>
          <a:xfrm>
            <a:off x="1646237" y="6159619"/>
            <a:ext cx="6003925" cy="3381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Arial"/>
              <a:buNone/>
            </a:pPr>
            <a:r>
              <a:rPr i="1" lang="en-US" sz="1600">
                <a:solidFill>
                  <a:schemeClr val="dk1"/>
                </a:solidFill>
                <a:latin typeface="Helvetica Neue"/>
                <a:ea typeface="Helvetica Neue"/>
                <a:cs typeface="Helvetica Neue"/>
                <a:sym typeface="Helvetica Neue"/>
              </a:rPr>
              <a:t>n</a:t>
            </a:r>
            <a:r>
              <a:rPr lang="en-US" sz="1600">
                <a:solidFill>
                  <a:schemeClr val="dk1"/>
                </a:solidFill>
                <a:latin typeface="Helvetica Neue"/>
                <a:ea typeface="Helvetica Neue"/>
                <a:cs typeface="Helvetica Neue"/>
                <a:sym typeface="Helvetica Neue"/>
              </a:rPr>
              <a:t>=2 and </a:t>
            </a:r>
            <a:r>
              <a:rPr i="1" lang="en-US" sz="1600">
                <a:solidFill>
                  <a:schemeClr val="dk1"/>
                </a:solidFill>
                <a:latin typeface="Helvetica Neue"/>
                <a:ea typeface="Helvetica Neue"/>
                <a:cs typeface="Helvetica Neue"/>
                <a:sym typeface="Helvetica Neue"/>
              </a:rPr>
              <a:t>m</a:t>
            </a:r>
            <a:r>
              <a:rPr lang="en-US" sz="1600">
                <a:solidFill>
                  <a:schemeClr val="dk1"/>
                </a:solidFill>
                <a:latin typeface="Helvetica Neue"/>
                <a:ea typeface="Helvetica Neue"/>
                <a:cs typeface="Helvetica Neue"/>
                <a:sym typeface="Helvetica Neue"/>
              </a:rPr>
              <a:t>=4   32-byte memory and 4-byte pages</a:t>
            </a:r>
            <a:endParaRPr/>
          </a:p>
        </p:txBody>
      </p:sp>
      <p:pic>
        <p:nvPicPr>
          <p:cNvPr id="821" name="Google Shape;821;p107"/>
          <p:cNvPicPr preferRelativeResize="0"/>
          <p:nvPr/>
        </p:nvPicPr>
        <p:blipFill rotWithShape="1">
          <a:blip r:embed="rId3">
            <a:alphaModFix/>
          </a:blip>
          <a:srcRect b="0" l="0" r="0" t="0"/>
          <a:stretch/>
        </p:blipFill>
        <p:spPr>
          <a:xfrm>
            <a:off x="5759450" y="1120183"/>
            <a:ext cx="3384550" cy="4217987"/>
          </a:xfrm>
          <a:prstGeom prst="rect">
            <a:avLst/>
          </a:prstGeom>
          <a:noFill/>
          <a:ln>
            <a:noFill/>
          </a:ln>
        </p:spPr>
      </p:pic>
      <p:sp>
        <p:nvSpPr>
          <p:cNvPr id="822" name="Google Shape;822;p107"/>
          <p:cNvSpPr/>
          <p:nvPr/>
        </p:nvSpPr>
        <p:spPr>
          <a:xfrm>
            <a:off x="525438" y="999026"/>
            <a:ext cx="4865427" cy="452431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Arial"/>
              <a:buAutoNum type="arabicParenR" startAt="2"/>
            </a:pPr>
            <a:r>
              <a:rPr lang="en-US" sz="1800">
                <a:solidFill>
                  <a:schemeClr val="dk1"/>
                </a:solidFill>
                <a:latin typeface="Verdana"/>
                <a:ea typeface="Verdana"/>
                <a:cs typeface="Verdana"/>
                <a:sym typeface="Verdana"/>
              </a:rPr>
              <a:t>Logical address 3 (page 0, offset 3), </a:t>
            </a:r>
            <a:endParaRPr/>
          </a:p>
          <a:p>
            <a:pPr indent="0" lvl="0" marL="0" marR="0" rtl="0" algn="l">
              <a:spcBef>
                <a:spcPts val="0"/>
              </a:spcBef>
              <a:spcAft>
                <a:spcPts val="0"/>
              </a:spcAft>
              <a:buNone/>
            </a:pPr>
            <a:r>
              <a:rPr lang="en-US" sz="1800">
                <a:solidFill>
                  <a:schemeClr val="dk1"/>
                </a:solidFill>
                <a:latin typeface="Verdana"/>
                <a:ea typeface="Verdana"/>
                <a:cs typeface="Verdana"/>
                <a:sym typeface="Verdana"/>
              </a:rPr>
              <a:t>we find that page 0 is in frame 5,  </a:t>
            </a:r>
            <a:endParaRPr/>
          </a:p>
          <a:p>
            <a:pPr indent="0" lvl="0" marL="0" marR="0" rtl="0" algn="l">
              <a:spcBef>
                <a:spcPts val="0"/>
              </a:spcBef>
              <a:spcAft>
                <a:spcPts val="0"/>
              </a:spcAft>
              <a:buNone/>
            </a:pPr>
            <a:r>
              <a:rPr lang="en-US" sz="1800">
                <a:solidFill>
                  <a:schemeClr val="dk1"/>
                </a:solidFill>
                <a:latin typeface="Verdana"/>
                <a:ea typeface="Verdana"/>
                <a:cs typeface="Verdana"/>
                <a:sym typeface="Verdana"/>
              </a:rPr>
              <a:t> maps to physical address 23 [ = (5 x 4) + 3]. </a:t>
            </a:r>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Verdana"/>
              <a:ea typeface="Verdana"/>
              <a:cs typeface="Verdana"/>
              <a:sym typeface="Verdana"/>
            </a:endParaRPr>
          </a:p>
          <a:p>
            <a:pPr indent="-342900" lvl="0" marL="342900" marR="0" rtl="0" algn="l">
              <a:spcBef>
                <a:spcPts val="0"/>
              </a:spcBef>
              <a:spcAft>
                <a:spcPts val="0"/>
              </a:spcAft>
              <a:buClr>
                <a:schemeClr val="dk1"/>
              </a:buClr>
              <a:buSzPts val="1800"/>
              <a:buFont typeface="Arial"/>
              <a:buAutoNum type="arabicParenR" startAt="3"/>
            </a:pPr>
            <a:r>
              <a:rPr lang="en-US" sz="1800">
                <a:solidFill>
                  <a:schemeClr val="dk1"/>
                </a:solidFill>
                <a:latin typeface="Verdana"/>
                <a:ea typeface="Verdana"/>
                <a:cs typeface="Verdana"/>
                <a:sym typeface="Verdana"/>
              </a:rPr>
              <a:t>Logical address 4 is page 1, offset 0; according to the page table, page 1 is mapped to frame 6. Thus, logical address 4 maps to physical address 24 [ = ( 6 x 4) + O].</a:t>
            </a:r>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Verdana"/>
              <a:ea typeface="Verdana"/>
              <a:cs typeface="Verdana"/>
              <a:sym typeface="Verdana"/>
            </a:endParaRPr>
          </a:p>
          <a:p>
            <a:pPr indent="-342900" lvl="0" marL="342900" marR="0" rtl="0" algn="l">
              <a:spcBef>
                <a:spcPts val="0"/>
              </a:spcBef>
              <a:spcAft>
                <a:spcPts val="0"/>
              </a:spcAft>
              <a:buClr>
                <a:schemeClr val="dk1"/>
              </a:buClr>
              <a:buSzPts val="1800"/>
              <a:buFont typeface="Arial"/>
              <a:buAutoNum type="arabicParenR" startAt="3"/>
            </a:pPr>
            <a:r>
              <a:rPr lang="en-US" sz="1800">
                <a:solidFill>
                  <a:schemeClr val="dk1"/>
                </a:solidFill>
                <a:latin typeface="Verdana"/>
                <a:ea typeface="Verdana"/>
                <a:cs typeface="Verdana"/>
                <a:sym typeface="Verdana"/>
              </a:rPr>
              <a:t>Logical address 13 ( page 3, offset 1) according to the page table, page 3 is mapped to frame 2. Thus, logical address 4 maps to physical address  9 [ = ( 2 x 4) + 1]. </a:t>
            </a:r>
            <a:endParaRPr/>
          </a:p>
        </p:txBody>
      </p:sp>
      <p:graphicFrame>
        <p:nvGraphicFramePr>
          <p:cNvPr id="823" name="Google Shape;823;p107"/>
          <p:cNvGraphicFramePr/>
          <p:nvPr/>
        </p:nvGraphicFramePr>
        <p:xfrm>
          <a:off x="7801971" y="1120181"/>
          <a:ext cx="3000000" cy="3000000"/>
        </p:xfrm>
        <a:graphic>
          <a:graphicData uri="http://schemas.openxmlformats.org/drawingml/2006/table">
            <a:tbl>
              <a:tblPr bandRow="1" firstRow="1">
                <a:noFill/>
                <a:tableStyleId>{0C57DD2B-4571-4294-903F-E05933FE1BEA}</a:tableStyleId>
              </a:tblPr>
              <a:tblGrid>
                <a:gridCol w="427625"/>
              </a:tblGrid>
              <a:tr h="503125">
                <a:tc>
                  <a:txBody>
                    <a:bodyPr/>
                    <a:lstStyle/>
                    <a:p>
                      <a:pPr indent="0" lvl="0" marL="0" marR="0" rtl="0" algn="l">
                        <a:spcBef>
                          <a:spcPts val="0"/>
                        </a:spcBef>
                        <a:spcAft>
                          <a:spcPts val="0"/>
                        </a:spcAft>
                        <a:buNone/>
                      </a:pPr>
                      <a:r>
                        <a:rPr lang="en-US" sz="1800"/>
                        <a:t>0</a:t>
                      </a:r>
                      <a:endParaRPr/>
                    </a:p>
                  </a:txBody>
                  <a:tcPr marT="45725" marB="45725" marR="91450" marL="91450"/>
                </a:tc>
              </a:tr>
              <a:tr h="503125">
                <a:tc>
                  <a:txBody>
                    <a:bodyPr/>
                    <a:lstStyle/>
                    <a:p>
                      <a:pPr indent="0" lvl="0" marL="0" marR="0" rtl="0" algn="l">
                        <a:spcBef>
                          <a:spcPts val="0"/>
                        </a:spcBef>
                        <a:spcAft>
                          <a:spcPts val="0"/>
                        </a:spcAft>
                        <a:buNone/>
                      </a:pPr>
                      <a:r>
                        <a:rPr lang="en-US" sz="1800"/>
                        <a:t>1</a:t>
                      </a:r>
                      <a:endParaRPr/>
                    </a:p>
                  </a:txBody>
                  <a:tcPr marT="45725" marB="45725" marR="91450" marL="91450"/>
                </a:tc>
              </a:tr>
              <a:tr h="503125">
                <a:tc>
                  <a:txBody>
                    <a:bodyPr/>
                    <a:lstStyle/>
                    <a:p>
                      <a:pPr indent="0" lvl="0" marL="0" marR="0" rtl="0" algn="l">
                        <a:spcBef>
                          <a:spcPts val="0"/>
                        </a:spcBef>
                        <a:spcAft>
                          <a:spcPts val="0"/>
                        </a:spcAft>
                        <a:buNone/>
                      </a:pPr>
                      <a:r>
                        <a:rPr lang="en-US" sz="1800"/>
                        <a:t>2</a:t>
                      </a:r>
                      <a:endParaRPr/>
                    </a:p>
                  </a:txBody>
                  <a:tcPr marT="45725" marB="45725" marR="91450" marL="91450"/>
                </a:tc>
              </a:tr>
              <a:tr h="503125">
                <a:tc>
                  <a:txBody>
                    <a:bodyPr/>
                    <a:lstStyle/>
                    <a:p>
                      <a:pPr indent="0" lvl="0" marL="0" marR="0" rtl="0" algn="l">
                        <a:spcBef>
                          <a:spcPts val="0"/>
                        </a:spcBef>
                        <a:spcAft>
                          <a:spcPts val="0"/>
                        </a:spcAft>
                        <a:buNone/>
                      </a:pPr>
                      <a:r>
                        <a:rPr lang="en-US" sz="1800"/>
                        <a:t>3</a:t>
                      </a:r>
                      <a:endParaRPr/>
                    </a:p>
                  </a:txBody>
                  <a:tcPr marT="45725" marB="45725" marR="91450" marL="91450"/>
                </a:tc>
              </a:tr>
              <a:tr h="503125">
                <a:tc>
                  <a:txBody>
                    <a:bodyPr/>
                    <a:lstStyle/>
                    <a:p>
                      <a:pPr indent="0" lvl="0" marL="0" marR="0" rtl="0" algn="l">
                        <a:spcBef>
                          <a:spcPts val="0"/>
                        </a:spcBef>
                        <a:spcAft>
                          <a:spcPts val="0"/>
                        </a:spcAft>
                        <a:buNone/>
                      </a:pPr>
                      <a:r>
                        <a:rPr lang="en-US" sz="1800"/>
                        <a:t>4</a:t>
                      </a:r>
                      <a:endParaRPr/>
                    </a:p>
                  </a:txBody>
                  <a:tcPr marT="45725" marB="45725" marR="91450" marL="91450"/>
                </a:tc>
              </a:tr>
              <a:tr h="503125">
                <a:tc>
                  <a:txBody>
                    <a:bodyPr/>
                    <a:lstStyle/>
                    <a:p>
                      <a:pPr indent="0" lvl="0" marL="0" marR="0" rtl="0" algn="l">
                        <a:spcBef>
                          <a:spcPts val="0"/>
                        </a:spcBef>
                        <a:spcAft>
                          <a:spcPts val="0"/>
                        </a:spcAft>
                        <a:buNone/>
                      </a:pPr>
                      <a:r>
                        <a:rPr lang="en-US" sz="1800"/>
                        <a:t>5</a:t>
                      </a:r>
                      <a:endParaRPr/>
                    </a:p>
                  </a:txBody>
                  <a:tcPr marT="45725" marB="45725" marR="91450" marL="91450"/>
                </a:tc>
              </a:tr>
              <a:tr h="503125">
                <a:tc>
                  <a:txBody>
                    <a:bodyPr/>
                    <a:lstStyle/>
                    <a:p>
                      <a:pPr indent="0" lvl="0" marL="0" marR="0" rtl="0" algn="l">
                        <a:spcBef>
                          <a:spcPts val="0"/>
                        </a:spcBef>
                        <a:spcAft>
                          <a:spcPts val="0"/>
                        </a:spcAft>
                        <a:buNone/>
                      </a:pPr>
                      <a:r>
                        <a:rPr lang="en-US" sz="1800"/>
                        <a:t>6</a:t>
                      </a:r>
                      <a:endParaRPr/>
                    </a:p>
                  </a:txBody>
                  <a:tcPr marT="45725" marB="45725" marR="91450" marL="91450"/>
                </a:tc>
              </a:tr>
              <a:tr h="503125">
                <a:tc>
                  <a:txBody>
                    <a:bodyPr/>
                    <a:lstStyle/>
                    <a:p>
                      <a:pPr indent="0" lvl="0" marL="0" marR="0" rtl="0" algn="l">
                        <a:spcBef>
                          <a:spcPts val="0"/>
                        </a:spcBef>
                        <a:spcAft>
                          <a:spcPts val="0"/>
                        </a:spcAft>
                        <a:buNone/>
                      </a:pPr>
                      <a:r>
                        <a:rPr lang="en-US" sz="1800"/>
                        <a:t>7</a:t>
                      </a:r>
                      <a:endParaRPr/>
                    </a:p>
                  </a:txBody>
                  <a:tcPr marT="45725" marB="45725" marR="91450" marL="91450"/>
                </a:tc>
              </a:tr>
            </a:tbl>
          </a:graphicData>
        </a:graphic>
      </p:graphicFrame>
      <p:sp>
        <p:nvSpPr>
          <p:cNvPr id="824" name="Google Shape;824;p107"/>
          <p:cNvSpPr txBox="1"/>
          <p:nvPr/>
        </p:nvSpPr>
        <p:spPr>
          <a:xfrm>
            <a:off x="7527330" y="518612"/>
            <a:ext cx="12208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Verdana"/>
                <a:ea typeface="Verdana"/>
                <a:cs typeface="Verdana"/>
                <a:sym typeface="Verdana"/>
              </a:rPr>
              <a:t>Frames</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108"/>
          <p:cNvSpPr txBox="1"/>
          <p:nvPr>
            <p:ph type="title"/>
          </p:nvPr>
        </p:nvSpPr>
        <p:spPr>
          <a:xfrm>
            <a:off x="488950" y="12065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 (Cont.)</a:t>
            </a:r>
            <a:endParaRPr/>
          </a:p>
        </p:txBody>
      </p:sp>
      <p:sp>
        <p:nvSpPr>
          <p:cNvPr id="830" name="Google Shape;830;p108"/>
          <p:cNvSpPr txBox="1"/>
          <p:nvPr>
            <p:ph idx="1" type="body"/>
          </p:nvPr>
        </p:nvSpPr>
        <p:spPr>
          <a:xfrm>
            <a:off x="931863" y="1138238"/>
            <a:ext cx="8337550" cy="482123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When we use a paging scheme, </a:t>
            </a:r>
            <a:endParaRPr/>
          </a:p>
          <a:p>
            <a:pPr indent="-342900" lvl="0" marL="342900" rtl="0" algn="l">
              <a:spcBef>
                <a:spcPts val="630"/>
              </a:spcBef>
              <a:spcAft>
                <a:spcPts val="0"/>
              </a:spcAft>
              <a:buSzPts val="1620"/>
              <a:buChar char="●"/>
            </a:pPr>
            <a:r>
              <a:rPr lang="en-US"/>
              <a:t>We have no external fragmentation: </a:t>
            </a:r>
            <a:r>
              <a:rPr i="1" lang="en-US"/>
              <a:t>any </a:t>
            </a:r>
            <a:r>
              <a:rPr lang="en-US"/>
              <a:t>free frame can be allocated to a process that needs it. </a:t>
            </a:r>
            <a:endParaRPr/>
          </a:p>
          <a:p>
            <a:pPr indent="-342900" lvl="0" marL="342900" rtl="0" algn="l">
              <a:spcBef>
                <a:spcPts val="630"/>
              </a:spcBef>
              <a:spcAft>
                <a:spcPts val="0"/>
              </a:spcAft>
              <a:buSzPts val="1620"/>
              <a:buChar char="●"/>
            </a:pPr>
            <a:r>
              <a:rPr lang="en-US"/>
              <a:t>We may have some internal fragmentation.</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09"/>
          <p:cNvSpPr txBox="1"/>
          <p:nvPr>
            <p:ph type="title"/>
          </p:nvPr>
        </p:nvSpPr>
        <p:spPr>
          <a:xfrm>
            <a:off x="488950" y="12065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 (Cont.)</a:t>
            </a:r>
            <a:endParaRPr/>
          </a:p>
        </p:txBody>
      </p:sp>
      <p:sp>
        <p:nvSpPr>
          <p:cNvPr id="836" name="Google Shape;836;p109"/>
          <p:cNvSpPr txBox="1"/>
          <p:nvPr>
            <p:ph idx="1" type="body"/>
          </p:nvPr>
        </p:nvSpPr>
        <p:spPr>
          <a:xfrm>
            <a:off x="931863" y="1138238"/>
            <a:ext cx="7952830" cy="482123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Calculating internal fragmentation</a:t>
            </a:r>
            <a:endParaRPr/>
          </a:p>
          <a:p>
            <a:pPr indent="-285750" lvl="1" marL="742950" rtl="0" algn="l">
              <a:spcBef>
                <a:spcPts val="630"/>
              </a:spcBef>
              <a:spcAft>
                <a:spcPts val="0"/>
              </a:spcAft>
              <a:buSzPts val="1440"/>
              <a:buChar char="●"/>
            </a:pPr>
            <a:r>
              <a:rPr lang="en-US"/>
              <a:t>Page size = 2,048 bytes</a:t>
            </a:r>
            <a:endParaRPr/>
          </a:p>
          <a:p>
            <a:pPr indent="-285750" lvl="1" marL="742950" rtl="0" algn="l">
              <a:spcBef>
                <a:spcPts val="630"/>
              </a:spcBef>
              <a:spcAft>
                <a:spcPts val="0"/>
              </a:spcAft>
              <a:buSzPts val="1440"/>
              <a:buChar char="●"/>
            </a:pPr>
            <a:r>
              <a:rPr lang="en-US"/>
              <a:t>Process size = 72,766 bytes</a:t>
            </a:r>
            <a:endParaRPr/>
          </a:p>
          <a:p>
            <a:pPr indent="-285750" lvl="1" marL="742950" rtl="0" algn="l">
              <a:spcBef>
                <a:spcPts val="630"/>
              </a:spcBef>
              <a:spcAft>
                <a:spcPts val="0"/>
              </a:spcAft>
              <a:buSzPts val="1440"/>
              <a:buChar char="●"/>
            </a:pPr>
            <a:r>
              <a:rPr lang="en-US"/>
              <a:t>35 pages + 1,086 bytes</a:t>
            </a:r>
            <a:endParaRPr/>
          </a:p>
          <a:p>
            <a:pPr indent="-285750" lvl="1" marL="742950" rtl="0" algn="l">
              <a:spcBef>
                <a:spcPts val="630"/>
              </a:spcBef>
              <a:spcAft>
                <a:spcPts val="0"/>
              </a:spcAft>
              <a:buSzPts val="1440"/>
              <a:buChar char="●"/>
            </a:pPr>
            <a:r>
              <a:rPr lang="en-US"/>
              <a:t>Internal fragmentation of 2,048 - 1,086 = 962 bytes</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Char char="●"/>
            </a:pPr>
            <a:r>
              <a:rPr lang="en-US"/>
              <a:t>Worst case fragmentation </a:t>
            </a:r>
            <a:endParaRPr/>
          </a:p>
          <a:p>
            <a:pPr indent="-285750" lvl="1" marL="742950" rtl="0" algn="l">
              <a:spcBef>
                <a:spcPts val="630"/>
              </a:spcBef>
              <a:spcAft>
                <a:spcPts val="0"/>
              </a:spcAft>
              <a:buSzPts val="1440"/>
              <a:buChar char="●"/>
            </a:pPr>
            <a:r>
              <a:rPr lang="en-US"/>
              <a:t>A process would needs n pages plus 1 byte. It</a:t>
            </a:r>
            <a:endParaRPr/>
          </a:p>
          <a:p>
            <a:pPr indent="-285750" lvl="1" marL="742950" rtl="0" algn="l">
              <a:spcBef>
                <a:spcPts val="630"/>
              </a:spcBef>
              <a:spcAft>
                <a:spcPts val="0"/>
              </a:spcAft>
              <a:buSzPts val="1440"/>
              <a:buChar char="●"/>
            </a:pPr>
            <a:r>
              <a:rPr lang="en-US"/>
              <a:t>would be allocated n+ 1 frames </a:t>
            </a:r>
            <a:endParaRPr/>
          </a:p>
          <a:p>
            <a:pPr indent="-285750" lvl="1" marL="742950" rtl="0" algn="l">
              <a:spcBef>
                <a:spcPts val="630"/>
              </a:spcBef>
              <a:spcAft>
                <a:spcPts val="0"/>
              </a:spcAft>
              <a:buSzPts val="1440"/>
              <a:buChar char="●"/>
            </a:pPr>
            <a:r>
              <a:rPr lang="en-US"/>
              <a:t>resulting in internal fragmentation of almost an entire frame.</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10"/>
          <p:cNvSpPr txBox="1"/>
          <p:nvPr>
            <p:ph type="title"/>
          </p:nvPr>
        </p:nvSpPr>
        <p:spPr>
          <a:xfrm>
            <a:off x="488950" y="12065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 (Cont.)</a:t>
            </a:r>
            <a:endParaRPr/>
          </a:p>
        </p:txBody>
      </p:sp>
      <p:sp>
        <p:nvSpPr>
          <p:cNvPr id="842" name="Google Shape;842;p110"/>
          <p:cNvSpPr txBox="1"/>
          <p:nvPr>
            <p:ph idx="1" type="body"/>
          </p:nvPr>
        </p:nvSpPr>
        <p:spPr>
          <a:xfrm>
            <a:off x="931863" y="1138238"/>
            <a:ext cx="8337550" cy="4821237"/>
          </a:xfrm>
          <a:prstGeom prst="rect">
            <a:avLst/>
          </a:prstGeom>
          <a:noFill/>
          <a:ln>
            <a:noFill/>
          </a:ln>
        </p:spPr>
        <p:txBody>
          <a:bodyPr anchorCtr="0" anchor="t" bIns="45700" lIns="91425" spcFirstLastPara="1" rIns="91425" wrap="square" tIns="45700">
            <a:noAutofit/>
          </a:bodyPr>
          <a:lstStyle/>
          <a:p>
            <a:pPr indent="-240030" lvl="0" marL="342900" rtl="0" algn="l">
              <a:spcBef>
                <a:spcPts val="0"/>
              </a:spcBef>
              <a:spcAft>
                <a:spcPts val="0"/>
              </a:spcAft>
              <a:buSzPts val="1620"/>
              <a:buNone/>
            </a:pPr>
            <a:r>
              <a:t/>
            </a:r>
            <a:endParaRPr/>
          </a:p>
          <a:p>
            <a:pPr indent="-342900" lvl="0" marL="342900" rtl="0" algn="l">
              <a:spcBef>
                <a:spcPts val="630"/>
              </a:spcBef>
              <a:spcAft>
                <a:spcPts val="0"/>
              </a:spcAft>
              <a:buSzPts val="1620"/>
              <a:buChar char="●"/>
            </a:pPr>
            <a:r>
              <a:rPr lang="en-US"/>
              <a:t>Process view and physical memory now very different</a:t>
            </a:r>
            <a:endParaRPr/>
          </a:p>
          <a:p>
            <a:pPr indent="-342900" lvl="0" marL="342900" rtl="0" algn="l">
              <a:spcBef>
                <a:spcPts val="630"/>
              </a:spcBef>
              <a:spcAft>
                <a:spcPts val="0"/>
              </a:spcAft>
              <a:buSzPts val="1620"/>
              <a:buChar char="●"/>
            </a:pPr>
            <a:r>
              <a:rPr lang="en-US"/>
              <a:t>By implementation process can only access its own memory</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11"/>
          <p:cNvSpPr txBox="1"/>
          <p:nvPr>
            <p:ph type="title"/>
          </p:nvPr>
        </p:nvSpPr>
        <p:spPr>
          <a:xfrm>
            <a:off x="457200" y="15240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Free Frames</a:t>
            </a:r>
            <a:endParaRPr/>
          </a:p>
        </p:txBody>
      </p:sp>
      <p:sp>
        <p:nvSpPr>
          <p:cNvPr id="849" name="Google Shape;849;p111"/>
          <p:cNvSpPr txBox="1"/>
          <p:nvPr/>
        </p:nvSpPr>
        <p:spPr>
          <a:xfrm>
            <a:off x="1928813" y="5721350"/>
            <a:ext cx="1901825" cy="369888"/>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Before allocation</a:t>
            </a:r>
            <a:endParaRPr/>
          </a:p>
        </p:txBody>
      </p:sp>
      <p:sp>
        <p:nvSpPr>
          <p:cNvPr id="850" name="Google Shape;850;p111"/>
          <p:cNvSpPr txBox="1"/>
          <p:nvPr/>
        </p:nvSpPr>
        <p:spPr>
          <a:xfrm>
            <a:off x="5343525" y="5734050"/>
            <a:ext cx="1711325" cy="369888"/>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After allocation</a:t>
            </a:r>
            <a:endParaRPr/>
          </a:p>
        </p:txBody>
      </p:sp>
      <p:pic>
        <p:nvPicPr>
          <p:cNvPr id="851" name="Google Shape;851;p111"/>
          <p:cNvPicPr preferRelativeResize="0"/>
          <p:nvPr/>
        </p:nvPicPr>
        <p:blipFill rotWithShape="1">
          <a:blip r:embed="rId3">
            <a:alphaModFix/>
          </a:blip>
          <a:srcRect b="0" l="0" r="0" t="0"/>
          <a:stretch/>
        </p:blipFill>
        <p:spPr>
          <a:xfrm>
            <a:off x="1825625" y="1244600"/>
            <a:ext cx="5903913" cy="423545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12"/>
          <p:cNvSpPr txBox="1"/>
          <p:nvPr>
            <p:ph type="title"/>
          </p:nvPr>
        </p:nvSpPr>
        <p:spPr>
          <a:xfrm>
            <a:off x="457200" y="15240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Free Frames</a:t>
            </a:r>
            <a:endParaRPr/>
          </a:p>
        </p:txBody>
      </p:sp>
      <p:sp>
        <p:nvSpPr>
          <p:cNvPr id="858" name="Google Shape;858;p112"/>
          <p:cNvSpPr txBox="1"/>
          <p:nvPr/>
        </p:nvSpPr>
        <p:spPr>
          <a:xfrm>
            <a:off x="5004346" y="6037807"/>
            <a:ext cx="1901825" cy="369888"/>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Before allocation</a:t>
            </a:r>
            <a:endParaRPr/>
          </a:p>
        </p:txBody>
      </p:sp>
      <p:sp>
        <p:nvSpPr>
          <p:cNvPr id="859" name="Google Shape;859;p112"/>
          <p:cNvSpPr txBox="1"/>
          <p:nvPr/>
        </p:nvSpPr>
        <p:spPr>
          <a:xfrm>
            <a:off x="7146071" y="5852863"/>
            <a:ext cx="1711325" cy="369888"/>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After allocation</a:t>
            </a:r>
            <a:endParaRPr/>
          </a:p>
        </p:txBody>
      </p:sp>
      <p:pic>
        <p:nvPicPr>
          <p:cNvPr id="860" name="Google Shape;860;p112"/>
          <p:cNvPicPr preferRelativeResize="0"/>
          <p:nvPr/>
        </p:nvPicPr>
        <p:blipFill rotWithShape="1">
          <a:blip r:embed="rId3">
            <a:alphaModFix/>
          </a:blip>
          <a:srcRect b="0" l="0" r="0" t="0"/>
          <a:stretch/>
        </p:blipFill>
        <p:spPr>
          <a:xfrm>
            <a:off x="5133636" y="1061683"/>
            <a:ext cx="4010364" cy="4791180"/>
          </a:xfrm>
          <a:prstGeom prst="rect">
            <a:avLst/>
          </a:prstGeom>
          <a:noFill/>
          <a:ln>
            <a:noFill/>
          </a:ln>
        </p:spPr>
      </p:pic>
      <p:sp>
        <p:nvSpPr>
          <p:cNvPr id="861" name="Google Shape;861;p112"/>
          <p:cNvSpPr/>
          <p:nvPr/>
        </p:nvSpPr>
        <p:spPr>
          <a:xfrm>
            <a:off x="566382" y="1053532"/>
            <a:ext cx="4572000" cy="286232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Verdana"/>
                <a:ea typeface="Verdana"/>
                <a:cs typeface="Verdana"/>
                <a:sym typeface="Verdana"/>
              </a:rPr>
              <a:t>When a process arrives in the system to be executed, its size, expressed in pages, is examined.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Verdana"/>
              <a:ea typeface="Verdana"/>
              <a:cs typeface="Verdana"/>
              <a:sym typeface="Verdana"/>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Verdana"/>
                <a:ea typeface="Verdana"/>
                <a:cs typeface="Verdana"/>
                <a:sym typeface="Verdana"/>
              </a:rPr>
              <a:t>Each page of the process needs one frame.</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Verdana"/>
              <a:ea typeface="Verdana"/>
              <a:cs typeface="Verdana"/>
              <a:sym typeface="Verdana"/>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Verdana"/>
                <a:ea typeface="Verdana"/>
                <a:cs typeface="Verdana"/>
                <a:sym typeface="Verdana"/>
              </a:rPr>
              <a:t>Thus, if the process requires </a:t>
            </a:r>
            <a:r>
              <a:rPr i="1" lang="en-US" sz="1800">
                <a:solidFill>
                  <a:schemeClr val="dk1"/>
                </a:solidFill>
                <a:latin typeface="Verdana"/>
                <a:ea typeface="Verdana"/>
                <a:cs typeface="Verdana"/>
                <a:sym typeface="Verdana"/>
              </a:rPr>
              <a:t>n </a:t>
            </a:r>
            <a:r>
              <a:rPr lang="en-US" sz="1800">
                <a:solidFill>
                  <a:schemeClr val="dk1"/>
                </a:solidFill>
                <a:latin typeface="Verdana"/>
                <a:ea typeface="Verdana"/>
                <a:cs typeface="Verdana"/>
                <a:sym typeface="Verdana"/>
              </a:rPr>
              <a:t>pages, at least </a:t>
            </a:r>
            <a:r>
              <a:rPr i="1" lang="en-US" sz="1800">
                <a:solidFill>
                  <a:schemeClr val="dk1"/>
                </a:solidFill>
                <a:latin typeface="Verdana"/>
                <a:ea typeface="Verdana"/>
                <a:cs typeface="Verdana"/>
                <a:sym typeface="Verdana"/>
              </a:rPr>
              <a:t>n </a:t>
            </a:r>
            <a:r>
              <a:rPr lang="en-US" sz="1800">
                <a:solidFill>
                  <a:schemeClr val="dk1"/>
                </a:solidFill>
                <a:latin typeface="Verdana"/>
                <a:ea typeface="Verdana"/>
                <a:cs typeface="Verdana"/>
                <a:sym typeface="Verdana"/>
              </a:rPr>
              <a:t>frames must be available in memory. </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13"/>
          <p:cNvSpPr txBox="1"/>
          <p:nvPr>
            <p:ph type="title"/>
          </p:nvPr>
        </p:nvSpPr>
        <p:spPr>
          <a:xfrm>
            <a:off x="457200" y="15240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Free Frames</a:t>
            </a:r>
            <a:endParaRPr/>
          </a:p>
        </p:txBody>
      </p:sp>
      <p:sp>
        <p:nvSpPr>
          <p:cNvPr id="868" name="Google Shape;868;p113"/>
          <p:cNvSpPr txBox="1"/>
          <p:nvPr/>
        </p:nvSpPr>
        <p:spPr>
          <a:xfrm>
            <a:off x="5004346" y="6037807"/>
            <a:ext cx="1901825" cy="369888"/>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Before allocation</a:t>
            </a:r>
            <a:endParaRPr/>
          </a:p>
        </p:txBody>
      </p:sp>
      <p:sp>
        <p:nvSpPr>
          <p:cNvPr id="869" name="Google Shape;869;p113"/>
          <p:cNvSpPr txBox="1"/>
          <p:nvPr/>
        </p:nvSpPr>
        <p:spPr>
          <a:xfrm>
            <a:off x="7146071" y="5852863"/>
            <a:ext cx="1711325" cy="369888"/>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After allocation</a:t>
            </a:r>
            <a:endParaRPr/>
          </a:p>
        </p:txBody>
      </p:sp>
      <p:pic>
        <p:nvPicPr>
          <p:cNvPr id="870" name="Google Shape;870;p113"/>
          <p:cNvPicPr preferRelativeResize="0"/>
          <p:nvPr/>
        </p:nvPicPr>
        <p:blipFill rotWithShape="1">
          <a:blip r:embed="rId3">
            <a:alphaModFix/>
          </a:blip>
          <a:srcRect b="0" l="50181" r="0" t="0"/>
          <a:stretch/>
        </p:blipFill>
        <p:spPr>
          <a:xfrm>
            <a:off x="5138382" y="1061683"/>
            <a:ext cx="4005617" cy="4791180"/>
          </a:xfrm>
          <a:prstGeom prst="rect">
            <a:avLst/>
          </a:prstGeom>
          <a:noFill/>
          <a:ln>
            <a:noFill/>
          </a:ln>
        </p:spPr>
      </p:pic>
      <p:sp>
        <p:nvSpPr>
          <p:cNvPr id="871" name="Google Shape;871;p113"/>
          <p:cNvSpPr/>
          <p:nvPr/>
        </p:nvSpPr>
        <p:spPr>
          <a:xfrm>
            <a:off x="566382" y="1053532"/>
            <a:ext cx="4572000" cy="369331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Verdana"/>
                <a:ea typeface="Verdana"/>
                <a:cs typeface="Verdana"/>
                <a:sym typeface="Verdana"/>
              </a:rPr>
              <a:t>If </a:t>
            </a:r>
            <a:r>
              <a:rPr i="1" lang="en-US" sz="1800">
                <a:solidFill>
                  <a:schemeClr val="dk1"/>
                </a:solidFill>
                <a:latin typeface="Verdana"/>
                <a:ea typeface="Verdana"/>
                <a:cs typeface="Verdana"/>
                <a:sym typeface="Verdana"/>
              </a:rPr>
              <a:t>n </a:t>
            </a:r>
            <a:r>
              <a:rPr lang="en-US" sz="1800">
                <a:solidFill>
                  <a:schemeClr val="dk1"/>
                </a:solidFill>
                <a:latin typeface="Verdana"/>
                <a:ea typeface="Verdana"/>
                <a:cs typeface="Verdana"/>
                <a:sym typeface="Verdana"/>
              </a:rPr>
              <a:t>frames are available, they are allocated to this arriving process.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Verdana"/>
              <a:ea typeface="Verdana"/>
              <a:cs typeface="Verdana"/>
              <a:sym typeface="Verdana"/>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Verdana"/>
                <a:ea typeface="Verdana"/>
                <a:cs typeface="Verdana"/>
                <a:sym typeface="Verdana"/>
              </a:rPr>
              <a:t>The first page of the process is loaded in one of the allocated frames,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Verdana"/>
              <a:ea typeface="Verdana"/>
              <a:cs typeface="Verdana"/>
              <a:sym typeface="Verdana"/>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Verdana"/>
                <a:ea typeface="Verdana"/>
                <a:cs typeface="Verdana"/>
                <a:sym typeface="Verdana"/>
              </a:rPr>
              <a:t>The frame number is put in the page table for this process.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Verdana"/>
              <a:ea typeface="Verdana"/>
              <a:cs typeface="Verdana"/>
              <a:sym typeface="Verdana"/>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Verdana"/>
                <a:ea typeface="Verdana"/>
                <a:cs typeface="Verdana"/>
                <a:sym typeface="Verdana"/>
              </a:rPr>
              <a:t>The next page is loaded into another frame, its frame number is put into the page table, and so on</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114"/>
          <p:cNvSpPr txBox="1"/>
          <p:nvPr>
            <p:ph type="title"/>
          </p:nvPr>
        </p:nvSpPr>
        <p:spPr>
          <a:xfrm>
            <a:off x="646113" y="19843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a:t>
            </a:r>
            <a:endParaRPr/>
          </a:p>
        </p:txBody>
      </p:sp>
      <p:sp>
        <p:nvSpPr>
          <p:cNvPr id="878" name="Google Shape;878;p114"/>
          <p:cNvSpPr txBox="1"/>
          <p:nvPr>
            <p:ph idx="1" type="body"/>
          </p:nvPr>
        </p:nvSpPr>
        <p:spPr>
          <a:xfrm>
            <a:off x="873125" y="1146175"/>
            <a:ext cx="6797675" cy="46863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An important aspect of paging </a:t>
            </a:r>
            <a:endParaRPr/>
          </a:p>
          <a:p>
            <a:pPr indent="-342900" lvl="0" marL="342900" rtl="0" algn="l">
              <a:spcBef>
                <a:spcPts val="630"/>
              </a:spcBef>
              <a:spcAft>
                <a:spcPts val="0"/>
              </a:spcAft>
              <a:buSzPts val="1620"/>
              <a:buChar char="●"/>
            </a:pPr>
            <a:r>
              <a:rPr lang="en-US"/>
              <a:t>Clear separation between the user's view of memory and the actual physical memory. </a:t>
            </a:r>
            <a:endParaRPr/>
          </a:p>
          <a:p>
            <a:pPr indent="-342900" lvl="0" marL="342900" rtl="0" algn="l">
              <a:spcBef>
                <a:spcPts val="630"/>
              </a:spcBef>
              <a:spcAft>
                <a:spcPts val="0"/>
              </a:spcAft>
              <a:buSzPts val="1620"/>
              <a:buChar char="●"/>
            </a:pPr>
            <a:r>
              <a:rPr lang="en-US"/>
              <a:t>The user program views memory as one single space, containing only this one program. </a:t>
            </a:r>
            <a:endParaRPr/>
          </a:p>
          <a:p>
            <a:pPr indent="-342900" lvl="0" marL="342900" rtl="0" algn="l">
              <a:spcBef>
                <a:spcPts val="630"/>
              </a:spcBef>
              <a:spcAft>
                <a:spcPts val="0"/>
              </a:spcAft>
              <a:buSzPts val="1620"/>
              <a:buChar char="●"/>
            </a:pPr>
            <a:r>
              <a:rPr lang="en-US"/>
              <a:t>In fact, the user program is scattered throughout physical memory, which also holds other programs. </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115"/>
          <p:cNvSpPr txBox="1"/>
          <p:nvPr>
            <p:ph type="title"/>
          </p:nvPr>
        </p:nvSpPr>
        <p:spPr>
          <a:xfrm>
            <a:off x="646113" y="19843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a:t>
            </a:r>
            <a:endParaRPr/>
          </a:p>
        </p:txBody>
      </p:sp>
      <p:sp>
        <p:nvSpPr>
          <p:cNvPr id="885" name="Google Shape;885;p115"/>
          <p:cNvSpPr txBox="1"/>
          <p:nvPr>
            <p:ph idx="1" type="body"/>
          </p:nvPr>
        </p:nvSpPr>
        <p:spPr>
          <a:xfrm>
            <a:off x="873125" y="1146175"/>
            <a:ext cx="6797675" cy="46863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The difference between the user's view of memory and the actual physical memory is reconciled by the address-translation hardware. </a:t>
            </a:r>
            <a:endParaRPr/>
          </a:p>
          <a:p>
            <a:pPr indent="-342900" lvl="0" marL="342900" rtl="0" algn="l">
              <a:spcBef>
                <a:spcPts val="630"/>
              </a:spcBef>
              <a:spcAft>
                <a:spcPts val="0"/>
              </a:spcAft>
              <a:buSzPts val="1620"/>
              <a:buChar char="●"/>
            </a:pPr>
            <a:r>
              <a:rPr lang="en-US"/>
              <a:t>The logical addresses are translated into physical addresses. </a:t>
            </a:r>
            <a:endParaRPr/>
          </a:p>
          <a:p>
            <a:pPr indent="-342900" lvl="0" marL="342900" rtl="0" algn="l">
              <a:spcBef>
                <a:spcPts val="630"/>
              </a:spcBef>
              <a:spcAft>
                <a:spcPts val="0"/>
              </a:spcAft>
              <a:buSzPts val="1620"/>
              <a:buChar char="●"/>
            </a:pPr>
            <a:r>
              <a:rPr lang="en-US"/>
              <a:t>This mapping is hidden from the user and is controlled by the operating system.</a:t>
            </a:r>
            <a:endParaRPr b="1">
              <a:solidFill>
                <a:srgbClr val="3366FF"/>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116"/>
          <p:cNvSpPr txBox="1"/>
          <p:nvPr>
            <p:ph type="title"/>
          </p:nvPr>
        </p:nvSpPr>
        <p:spPr>
          <a:xfrm>
            <a:off x="646113" y="19843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Hardware Support</a:t>
            </a:r>
            <a:endParaRPr/>
          </a:p>
        </p:txBody>
      </p:sp>
      <p:sp>
        <p:nvSpPr>
          <p:cNvPr id="892" name="Google Shape;892;p116"/>
          <p:cNvSpPr txBox="1"/>
          <p:nvPr>
            <p:ph idx="1" type="body"/>
          </p:nvPr>
        </p:nvSpPr>
        <p:spPr>
          <a:xfrm>
            <a:off x="873125" y="1146175"/>
            <a:ext cx="6797675" cy="46863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Each operating system has its own methods for storing page tables. </a:t>
            </a:r>
            <a:endParaRPr/>
          </a:p>
          <a:p>
            <a:pPr indent="-342900" lvl="0" marL="342900" rtl="0" algn="l">
              <a:spcBef>
                <a:spcPts val="630"/>
              </a:spcBef>
              <a:spcAft>
                <a:spcPts val="0"/>
              </a:spcAft>
              <a:buSzPts val="1620"/>
              <a:buChar char="●"/>
            </a:pPr>
            <a:r>
              <a:rPr lang="en-US"/>
              <a:t>Most allocate a page table for each process. </a:t>
            </a:r>
            <a:endParaRPr/>
          </a:p>
          <a:p>
            <a:pPr indent="-342900" lvl="0" marL="342900" rtl="0" algn="l">
              <a:spcBef>
                <a:spcPts val="630"/>
              </a:spcBef>
              <a:spcAft>
                <a:spcPts val="0"/>
              </a:spcAft>
              <a:buSzPts val="1620"/>
              <a:buChar char="●"/>
            </a:pPr>
            <a:r>
              <a:rPr lang="en-US"/>
              <a:t>A pointer to the page table is stored with the other register values (like the instruction counter) in the </a:t>
            </a:r>
            <a:r>
              <a:rPr b="1" lang="en-US">
                <a:solidFill>
                  <a:srgbClr val="0070C0"/>
                </a:solidFill>
              </a:rPr>
              <a:t>process control block. </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Char char="●"/>
            </a:pPr>
            <a:r>
              <a:rPr lang="en-US"/>
              <a:t>When the dispatcher is told to start a process, it must reload the user registers and define the correct hardware page-table values from the stored user page table.</a:t>
            </a:r>
            <a:endParaRPr b="1">
              <a:solidFill>
                <a:srgbClr val="3366FF"/>
              </a:solidFill>
            </a:endParaRPr>
          </a:p>
        </p:txBody>
      </p:sp>
      <p:sp>
        <p:nvSpPr>
          <p:cNvPr id="893" name="Google Shape;893;p116"/>
          <p:cNvSpPr/>
          <p:nvPr/>
        </p:nvSpPr>
        <p:spPr>
          <a:xfrm>
            <a:off x="5534809" y="2943577"/>
            <a:ext cx="2803973" cy="461665"/>
          </a:xfrm>
          <a:prstGeom prst="rect">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cap="none">
                <a:solidFill>
                  <a:schemeClr val="accent4"/>
                </a:solidFill>
                <a:latin typeface="Verdana"/>
                <a:ea typeface="Verdana"/>
                <a:cs typeface="Verdana"/>
                <a:sym typeface="Verdana"/>
              </a:rPr>
              <a:t>PCB-MODULE 2</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17"/>
          <p:cNvSpPr txBox="1"/>
          <p:nvPr>
            <p:ph type="title"/>
          </p:nvPr>
        </p:nvSpPr>
        <p:spPr>
          <a:xfrm>
            <a:off x="646113" y="19843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Implementation of Page Table</a:t>
            </a:r>
            <a:endParaRPr/>
          </a:p>
        </p:txBody>
      </p:sp>
      <p:sp>
        <p:nvSpPr>
          <p:cNvPr id="900" name="Google Shape;900;p117"/>
          <p:cNvSpPr txBox="1"/>
          <p:nvPr>
            <p:ph idx="1" type="body"/>
          </p:nvPr>
        </p:nvSpPr>
        <p:spPr>
          <a:xfrm>
            <a:off x="873125" y="1146175"/>
            <a:ext cx="6797675" cy="46863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The hardware implementation of the page table can be done in several ways.</a:t>
            </a:r>
            <a:endParaRPr/>
          </a:p>
          <a:p>
            <a:pPr indent="-342900" lvl="0" marL="342900" rtl="0" algn="l">
              <a:spcBef>
                <a:spcPts val="630"/>
              </a:spcBef>
              <a:spcAft>
                <a:spcPts val="0"/>
              </a:spcAft>
              <a:buSzPts val="1620"/>
              <a:buFont typeface="Arial"/>
              <a:buAutoNum type="arabicParenR"/>
            </a:pPr>
            <a:r>
              <a:rPr b="1" lang="en-US">
                <a:solidFill>
                  <a:srgbClr val="0070C0"/>
                </a:solidFill>
              </a:rPr>
              <a:t>In the simplest case, the page table is implemented as a set of dedicated registers.</a:t>
            </a:r>
            <a:endParaRPr/>
          </a:p>
          <a:p>
            <a:pPr indent="-342900" lvl="0" marL="342900" rtl="0" algn="l">
              <a:spcBef>
                <a:spcPts val="630"/>
              </a:spcBef>
              <a:spcAft>
                <a:spcPts val="0"/>
              </a:spcAft>
              <a:buSzPts val="1620"/>
              <a:buChar char="●"/>
            </a:pPr>
            <a:r>
              <a:rPr lang="en-US"/>
              <a:t>These registers should be built with very high-speed logic to make the paging-address translation efficient.</a:t>
            </a:r>
            <a:endParaRPr/>
          </a:p>
          <a:p>
            <a:pPr indent="-342900" lvl="0" marL="342900" rtl="0" algn="l">
              <a:spcBef>
                <a:spcPts val="630"/>
              </a:spcBef>
              <a:spcAft>
                <a:spcPts val="0"/>
              </a:spcAft>
              <a:buSzPts val="1620"/>
              <a:buChar char="●"/>
            </a:pPr>
            <a:r>
              <a:rPr lang="en-US"/>
              <a:t>The use of registers for the page table is satisfactory if the page table is reasonably small (for example, 256 entries).</a:t>
            </a:r>
            <a:endParaRPr/>
          </a:p>
          <a:p>
            <a:pPr indent="-342900" lvl="0" marL="342900" rtl="0" algn="l">
              <a:spcBef>
                <a:spcPts val="630"/>
              </a:spcBef>
              <a:spcAft>
                <a:spcPts val="0"/>
              </a:spcAft>
              <a:buSzPts val="1620"/>
              <a:buChar char="●"/>
            </a:pPr>
            <a:r>
              <a:rPr lang="en-US"/>
              <a:t>Most contemporary computers, however, allow the page table to be very large (for example, 1 million entries).</a:t>
            </a:r>
            <a:endParaRPr/>
          </a:p>
          <a:p>
            <a:pPr indent="-342900" lvl="0" marL="342900" rtl="0" algn="l">
              <a:spcBef>
                <a:spcPts val="630"/>
              </a:spcBef>
              <a:spcAft>
                <a:spcPts val="0"/>
              </a:spcAft>
              <a:buSzPts val="1620"/>
              <a:buChar char="●"/>
            </a:pPr>
            <a:r>
              <a:rPr b="1" lang="en-US">
                <a:solidFill>
                  <a:srgbClr val="0070C0"/>
                </a:solidFill>
              </a:rPr>
              <a:t>For these machines, the use of fast registers to implement the page table is not feasible.</a:t>
            </a:r>
            <a:endParaRPr b="1">
              <a:solidFill>
                <a:srgbClr val="0070C0"/>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18"/>
          <p:cNvSpPr txBox="1"/>
          <p:nvPr>
            <p:ph type="title"/>
          </p:nvPr>
        </p:nvSpPr>
        <p:spPr>
          <a:xfrm>
            <a:off x="646113" y="19843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Implementation of Page Table</a:t>
            </a:r>
            <a:endParaRPr/>
          </a:p>
        </p:txBody>
      </p:sp>
      <p:sp>
        <p:nvSpPr>
          <p:cNvPr id="907" name="Google Shape;907;p118"/>
          <p:cNvSpPr txBox="1"/>
          <p:nvPr>
            <p:ph idx="1" type="body"/>
          </p:nvPr>
        </p:nvSpPr>
        <p:spPr>
          <a:xfrm>
            <a:off x="873125" y="1146175"/>
            <a:ext cx="6797675" cy="46863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Font typeface="Arial"/>
              <a:buAutoNum type="arabicParenR" startAt="2"/>
            </a:pPr>
            <a:r>
              <a:rPr b="1" lang="en-US">
                <a:solidFill>
                  <a:srgbClr val="0070C0"/>
                </a:solidFill>
              </a:rPr>
              <a:t>Page table is kept in main memory</a:t>
            </a:r>
            <a:endParaRPr/>
          </a:p>
          <a:p>
            <a:pPr indent="-342900" lvl="0" marL="342900" rtl="0" algn="l">
              <a:spcBef>
                <a:spcPts val="630"/>
              </a:spcBef>
              <a:spcAft>
                <a:spcPts val="0"/>
              </a:spcAft>
              <a:buSzPts val="1620"/>
              <a:buChar char="●"/>
            </a:pPr>
            <a:r>
              <a:rPr b="1" lang="en-US">
                <a:solidFill>
                  <a:srgbClr val="3366FF"/>
                </a:solidFill>
              </a:rPr>
              <a:t>Page-table base register </a:t>
            </a:r>
            <a:r>
              <a:rPr lang="en-US"/>
              <a:t>(</a:t>
            </a:r>
            <a:r>
              <a:rPr b="1" lang="en-US">
                <a:solidFill>
                  <a:srgbClr val="3366FF"/>
                </a:solidFill>
              </a:rPr>
              <a:t>PTBR</a:t>
            </a:r>
            <a:r>
              <a:rPr lang="en-US"/>
              <a:t>)</a:t>
            </a:r>
            <a:r>
              <a:rPr lang="en-US">
                <a:solidFill>
                  <a:srgbClr val="3366FF"/>
                </a:solidFill>
              </a:rPr>
              <a:t> </a:t>
            </a:r>
            <a:r>
              <a:rPr lang="en-US"/>
              <a:t>points to the page table</a:t>
            </a:r>
            <a:endParaRPr/>
          </a:p>
          <a:p>
            <a:pPr indent="-342900" lvl="0" marL="342900" rtl="0" algn="l">
              <a:spcBef>
                <a:spcPts val="630"/>
              </a:spcBef>
              <a:spcAft>
                <a:spcPts val="0"/>
              </a:spcAft>
              <a:buSzPts val="1620"/>
              <a:buChar char="●"/>
            </a:pPr>
            <a:r>
              <a:rPr lang="en-US"/>
              <a:t>Changing page tables requires changing only this one register</a:t>
            </a:r>
            <a:endParaRPr/>
          </a:p>
          <a:p>
            <a:pPr indent="-342900" lvl="0" marL="342900" rtl="0" algn="l">
              <a:spcBef>
                <a:spcPts val="630"/>
              </a:spcBef>
              <a:spcAft>
                <a:spcPts val="0"/>
              </a:spcAft>
              <a:buSzPts val="1620"/>
              <a:buChar char="●"/>
            </a:pPr>
            <a:r>
              <a:rPr b="1" lang="en-US">
                <a:solidFill>
                  <a:srgbClr val="3366FF"/>
                </a:solidFill>
              </a:rPr>
              <a:t>Page-table length register </a:t>
            </a:r>
            <a:r>
              <a:rPr lang="en-US"/>
              <a:t>(</a:t>
            </a:r>
            <a:r>
              <a:rPr b="1" lang="en-US">
                <a:solidFill>
                  <a:srgbClr val="3366FF"/>
                </a:solidFill>
              </a:rPr>
              <a:t>PTLR</a:t>
            </a:r>
            <a:r>
              <a:rPr lang="en-US"/>
              <a:t>)</a:t>
            </a:r>
            <a:r>
              <a:rPr lang="en-US">
                <a:solidFill>
                  <a:srgbClr val="3366FF"/>
                </a:solidFill>
              </a:rPr>
              <a:t> </a:t>
            </a:r>
            <a:r>
              <a:rPr lang="en-US"/>
              <a:t>indicates size of the page table</a:t>
            </a:r>
            <a:endParaRPr/>
          </a:p>
          <a:p>
            <a:pPr indent="-342900" lvl="0" marL="342900" rtl="0" algn="l">
              <a:spcBef>
                <a:spcPts val="630"/>
              </a:spcBef>
              <a:spcAft>
                <a:spcPts val="0"/>
              </a:spcAft>
              <a:buSzPts val="1620"/>
              <a:buChar char="●"/>
            </a:pPr>
            <a:r>
              <a:rPr lang="en-US"/>
              <a:t>In this scheme every data/instruction access requires two memory accesses</a:t>
            </a:r>
            <a:endParaRPr/>
          </a:p>
          <a:p>
            <a:pPr indent="-285750" lvl="1" marL="742950" rtl="0" algn="l">
              <a:spcBef>
                <a:spcPts val="630"/>
              </a:spcBef>
              <a:spcAft>
                <a:spcPts val="0"/>
              </a:spcAft>
              <a:buSzPts val="1440"/>
              <a:buChar char="●"/>
            </a:pPr>
            <a:r>
              <a:rPr lang="en-US"/>
              <a:t>One for the page table and one for the data / instruction</a:t>
            </a:r>
            <a:endParaRPr/>
          </a:p>
          <a:p>
            <a:pPr indent="-342900" lvl="0" marL="342900" rtl="0" algn="l">
              <a:spcBef>
                <a:spcPts val="630"/>
              </a:spcBef>
              <a:spcAft>
                <a:spcPts val="0"/>
              </a:spcAft>
              <a:buSzPts val="1620"/>
              <a:buChar char="●"/>
            </a:pPr>
            <a:r>
              <a:rPr lang="en-US"/>
              <a:t>The two memory access problem can be solved by the use of a special fast-lookup hardware cache called </a:t>
            </a:r>
            <a:r>
              <a:rPr b="1" lang="en-US">
                <a:solidFill>
                  <a:srgbClr val="3366FF"/>
                </a:solidFill>
              </a:rPr>
              <a:t>associative memory </a:t>
            </a:r>
            <a:r>
              <a:rPr lang="en-US"/>
              <a:t>or </a:t>
            </a:r>
            <a:r>
              <a:rPr b="1" lang="en-US">
                <a:solidFill>
                  <a:srgbClr val="3366FF"/>
                </a:solidFill>
              </a:rPr>
              <a:t>translation look-aside buffers </a:t>
            </a:r>
            <a:r>
              <a:rPr lang="en-US"/>
              <a:t>(</a:t>
            </a:r>
            <a:r>
              <a:rPr b="1" lang="en-US">
                <a:solidFill>
                  <a:srgbClr val="3366FF"/>
                </a:solidFill>
              </a:rPr>
              <a:t>TLBs</a:t>
            </a:r>
            <a:r>
              <a:rPr lang="en-US"/>
              <a:t>)</a:t>
            </a:r>
            <a:endParaRPr b="1">
              <a:solidFill>
                <a:srgbClr val="3366FF"/>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19"/>
          <p:cNvSpPr txBox="1"/>
          <p:nvPr>
            <p:ph type="title"/>
          </p:nvPr>
        </p:nvSpPr>
        <p:spPr>
          <a:xfrm>
            <a:off x="646113" y="19843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What is TLB?</a:t>
            </a:r>
            <a:endParaRPr/>
          </a:p>
        </p:txBody>
      </p:sp>
      <p:sp>
        <p:nvSpPr>
          <p:cNvPr id="914" name="Google Shape;914;p119"/>
          <p:cNvSpPr txBox="1"/>
          <p:nvPr>
            <p:ph idx="1" type="body"/>
          </p:nvPr>
        </p:nvSpPr>
        <p:spPr>
          <a:xfrm>
            <a:off x="873125" y="1146175"/>
            <a:ext cx="6797675" cy="46863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Font typeface="Arial"/>
              <a:buAutoNum type="arabicParenR" startAt="3"/>
            </a:pPr>
            <a:r>
              <a:rPr lang="en-US"/>
              <a:t>Use of a special fast-lookup hardware cache called </a:t>
            </a:r>
            <a:r>
              <a:rPr b="1" lang="en-US">
                <a:solidFill>
                  <a:srgbClr val="3366FF"/>
                </a:solidFill>
              </a:rPr>
              <a:t>associative memory </a:t>
            </a:r>
            <a:r>
              <a:rPr lang="en-US"/>
              <a:t>or </a:t>
            </a:r>
            <a:r>
              <a:rPr b="1" lang="en-US">
                <a:solidFill>
                  <a:srgbClr val="3366FF"/>
                </a:solidFill>
              </a:rPr>
              <a:t>translation look-aside buffers </a:t>
            </a:r>
            <a:r>
              <a:rPr lang="en-US"/>
              <a:t>(</a:t>
            </a:r>
            <a:r>
              <a:rPr b="1" lang="en-US">
                <a:solidFill>
                  <a:srgbClr val="3366FF"/>
                </a:solidFill>
              </a:rPr>
              <a:t>TLBs</a:t>
            </a:r>
            <a:r>
              <a:rPr lang="en-US"/>
              <a:t>)</a:t>
            </a:r>
            <a:endParaRPr/>
          </a:p>
          <a:p>
            <a:pPr indent="-342900" lvl="0" marL="342900" rtl="0" algn="l">
              <a:spcBef>
                <a:spcPts val="630"/>
              </a:spcBef>
              <a:spcAft>
                <a:spcPts val="0"/>
              </a:spcAft>
              <a:buSzPts val="1620"/>
              <a:buChar char="●"/>
            </a:pPr>
            <a:r>
              <a:rPr b="1" lang="en-US">
                <a:solidFill>
                  <a:srgbClr val="0070C0"/>
                </a:solidFill>
              </a:rPr>
              <a:t>The TLB is associative, high-speed memory. </a:t>
            </a:r>
            <a:endParaRPr/>
          </a:p>
          <a:p>
            <a:pPr indent="-342900" lvl="0" marL="342900" rtl="0" algn="l">
              <a:spcBef>
                <a:spcPts val="630"/>
              </a:spcBef>
              <a:spcAft>
                <a:spcPts val="0"/>
              </a:spcAft>
              <a:buSzPts val="1620"/>
              <a:buChar char="●"/>
            </a:pPr>
            <a:r>
              <a:rPr lang="en-US"/>
              <a:t>Each entry in the TLB consists of two parts:</a:t>
            </a:r>
            <a:endParaRPr/>
          </a:p>
          <a:p>
            <a:pPr indent="-342900" lvl="0" marL="342900" rtl="0" algn="l">
              <a:spcBef>
                <a:spcPts val="630"/>
              </a:spcBef>
              <a:spcAft>
                <a:spcPts val="0"/>
              </a:spcAft>
              <a:buSzPts val="1620"/>
              <a:buChar char="●"/>
            </a:pPr>
            <a:r>
              <a:rPr lang="en-US"/>
              <a:t>A key (or tag) and a value. </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20"/>
          <p:cNvSpPr txBox="1"/>
          <p:nvPr>
            <p:ph type="title"/>
          </p:nvPr>
        </p:nvSpPr>
        <p:spPr>
          <a:xfrm>
            <a:off x="646113" y="19843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What is TLB?</a:t>
            </a:r>
            <a:endParaRPr/>
          </a:p>
        </p:txBody>
      </p:sp>
      <p:sp>
        <p:nvSpPr>
          <p:cNvPr id="921" name="Google Shape;921;p120"/>
          <p:cNvSpPr txBox="1"/>
          <p:nvPr>
            <p:ph idx="1" type="body"/>
          </p:nvPr>
        </p:nvSpPr>
        <p:spPr>
          <a:xfrm>
            <a:off x="873125" y="1146175"/>
            <a:ext cx="6797675" cy="46863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When the associative memory is presented with an item, </a:t>
            </a:r>
            <a:endParaRPr/>
          </a:p>
          <a:p>
            <a:pPr indent="-342900" lvl="0" marL="342900" rtl="0" algn="l">
              <a:spcBef>
                <a:spcPts val="630"/>
              </a:spcBef>
              <a:spcAft>
                <a:spcPts val="0"/>
              </a:spcAft>
              <a:buSzPts val="1620"/>
              <a:buChar char="●"/>
            </a:pPr>
            <a:r>
              <a:rPr lang="en-US"/>
              <a:t>The item is compared with all keys simultaneously. If the item is found, the corresponding value is returned. </a:t>
            </a:r>
            <a:endParaRPr/>
          </a:p>
          <a:p>
            <a:pPr indent="-342900" lvl="0" marL="342900" rtl="0" algn="l">
              <a:spcBef>
                <a:spcPts val="630"/>
              </a:spcBef>
              <a:spcAft>
                <a:spcPts val="0"/>
              </a:spcAft>
              <a:buSzPts val="1620"/>
              <a:buChar char="●"/>
            </a:pPr>
            <a:r>
              <a:rPr b="1" lang="en-US">
                <a:solidFill>
                  <a:srgbClr val="0070C0"/>
                </a:solidFill>
              </a:rPr>
              <a:t>The search is fast; the hardware, however, is expensive. </a:t>
            </a:r>
            <a:endParaRPr/>
          </a:p>
          <a:p>
            <a:pPr indent="-342900" lvl="0" marL="342900" rtl="0" algn="l">
              <a:spcBef>
                <a:spcPts val="630"/>
              </a:spcBef>
              <a:spcAft>
                <a:spcPts val="0"/>
              </a:spcAft>
              <a:buSzPts val="1620"/>
              <a:buChar char="●"/>
            </a:pPr>
            <a:r>
              <a:rPr lang="en-US"/>
              <a:t>Typically, the number of entries in a TLB is small, often numbering between 64 and 1,024. </a:t>
            </a:r>
            <a:endParaRPr b="1">
              <a:solidFill>
                <a:srgbClr val="3366FF"/>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21"/>
          <p:cNvSpPr txBox="1"/>
          <p:nvPr>
            <p:ph type="title"/>
          </p:nvPr>
        </p:nvSpPr>
        <p:spPr>
          <a:xfrm>
            <a:off x="48895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How does TLB work?</a:t>
            </a:r>
            <a:endParaRPr sz="2400"/>
          </a:p>
        </p:txBody>
      </p:sp>
      <p:pic>
        <p:nvPicPr>
          <p:cNvPr id="928" name="Google Shape;928;p121"/>
          <p:cNvPicPr preferRelativeResize="0"/>
          <p:nvPr/>
        </p:nvPicPr>
        <p:blipFill rotWithShape="1">
          <a:blip r:embed="rId3">
            <a:alphaModFix/>
          </a:blip>
          <a:srcRect b="0" l="0" r="0" t="0"/>
          <a:stretch/>
        </p:blipFill>
        <p:spPr>
          <a:xfrm>
            <a:off x="2154028" y="3034257"/>
            <a:ext cx="4779036" cy="3612202"/>
          </a:xfrm>
          <a:prstGeom prst="rect">
            <a:avLst/>
          </a:prstGeom>
          <a:noFill/>
          <a:ln>
            <a:noFill/>
          </a:ln>
        </p:spPr>
      </p:pic>
      <p:sp>
        <p:nvSpPr>
          <p:cNvPr id="929" name="Google Shape;929;p121"/>
          <p:cNvSpPr txBox="1"/>
          <p:nvPr/>
        </p:nvSpPr>
        <p:spPr>
          <a:xfrm>
            <a:off x="693054" y="913927"/>
            <a:ext cx="7945979" cy="4686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993300"/>
              </a:buClr>
              <a:buSzPts val="1620"/>
              <a:buFont typeface="Arial"/>
              <a:buChar char="●"/>
            </a:pPr>
            <a:r>
              <a:rPr lang="en-US" sz="1800">
                <a:solidFill>
                  <a:schemeClr val="dk1"/>
                </a:solidFill>
                <a:latin typeface="Helvetica Neue"/>
                <a:ea typeface="Helvetica Neue"/>
                <a:cs typeface="Helvetica Neue"/>
                <a:sym typeface="Helvetica Neue"/>
              </a:rPr>
              <a:t>The TLB contains only a few of the page-table entries. </a:t>
            </a:r>
            <a:endParaRPr/>
          </a:p>
          <a:p>
            <a:pPr indent="-342900" lvl="0" marL="342900" marR="0" rtl="0" algn="l">
              <a:spcBef>
                <a:spcPts val="630"/>
              </a:spcBef>
              <a:spcAft>
                <a:spcPts val="0"/>
              </a:spcAft>
              <a:buClr>
                <a:srgbClr val="993300"/>
              </a:buClr>
              <a:buSzPts val="1620"/>
              <a:buFont typeface="Arial"/>
              <a:buChar char="●"/>
            </a:pPr>
            <a:r>
              <a:rPr lang="en-US" sz="1800">
                <a:solidFill>
                  <a:schemeClr val="dk1"/>
                </a:solidFill>
                <a:latin typeface="Helvetica Neue"/>
                <a:ea typeface="Helvetica Neue"/>
                <a:cs typeface="Helvetica Neue"/>
                <a:sym typeface="Helvetica Neue"/>
              </a:rPr>
              <a:t>When a logical address is generated by the CPU, its page number is presented to the TLB. </a:t>
            </a:r>
            <a:endParaRPr/>
          </a:p>
          <a:p>
            <a:pPr indent="-342900" lvl="0" marL="342900" marR="0" rtl="0" algn="l">
              <a:spcBef>
                <a:spcPts val="630"/>
              </a:spcBef>
              <a:spcAft>
                <a:spcPts val="0"/>
              </a:spcAft>
              <a:buClr>
                <a:srgbClr val="993300"/>
              </a:buClr>
              <a:buSzPts val="1620"/>
              <a:buFont typeface="Arial"/>
              <a:buChar char="●"/>
            </a:pPr>
            <a:r>
              <a:rPr lang="en-US" sz="1800">
                <a:solidFill>
                  <a:schemeClr val="dk1"/>
                </a:solidFill>
                <a:latin typeface="Helvetica Neue"/>
                <a:ea typeface="Helvetica Neue"/>
                <a:cs typeface="Helvetica Neue"/>
                <a:sym typeface="Helvetica Neue"/>
              </a:rPr>
              <a:t>If the page number is found, </a:t>
            </a:r>
            <a:endParaRPr/>
          </a:p>
          <a:p>
            <a:pPr indent="-342900" lvl="0" marL="342900" marR="0" rtl="0" algn="l">
              <a:spcBef>
                <a:spcPts val="630"/>
              </a:spcBef>
              <a:spcAft>
                <a:spcPts val="0"/>
              </a:spcAft>
              <a:buClr>
                <a:srgbClr val="993300"/>
              </a:buClr>
              <a:buSzPts val="1620"/>
              <a:buFont typeface="Arial"/>
              <a:buChar char="●"/>
            </a:pPr>
            <a:r>
              <a:rPr b="1" lang="en-US" sz="1800">
                <a:solidFill>
                  <a:srgbClr val="0070C0"/>
                </a:solidFill>
                <a:latin typeface="Helvetica Neue"/>
                <a:ea typeface="Helvetica Neue"/>
                <a:cs typeface="Helvetica Neue"/>
                <a:sym typeface="Helvetica Neue"/>
              </a:rPr>
              <a:t>=TLB Hit, </a:t>
            </a:r>
            <a:r>
              <a:rPr lang="en-US" sz="1800">
                <a:solidFill>
                  <a:schemeClr val="dk1"/>
                </a:solidFill>
                <a:latin typeface="Helvetica Neue"/>
                <a:ea typeface="Helvetica Neue"/>
                <a:cs typeface="Helvetica Neue"/>
                <a:sym typeface="Helvetica Neue"/>
              </a:rPr>
              <a:t>Its frame number is immediately available and is used to access memory.</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22"/>
          <p:cNvSpPr txBox="1"/>
          <p:nvPr>
            <p:ph type="title"/>
          </p:nvPr>
        </p:nvSpPr>
        <p:spPr>
          <a:xfrm>
            <a:off x="48895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How does TLB work?</a:t>
            </a:r>
            <a:endParaRPr sz="2400"/>
          </a:p>
        </p:txBody>
      </p:sp>
      <p:pic>
        <p:nvPicPr>
          <p:cNvPr id="936" name="Google Shape;936;p122"/>
          <p:cNvPicPr preferRelativeResize="0"/>
          <p:nvPr/>
        </p:nvPicPr>
        <p:blipFill rotWithShape="1">
          <a:blip r:embed="rId3">
            <a:alphaModFix/>
          </a:blip>
          <a:srcRect b="0" l="0" r="0" t="0"/>
          <a:stretch/>
        </p:blipFill>
        <p:spPr>
          <a:xfrm>
            <a:off x="1908368" y="3361344"/>
            <a:ext cx="4274068" cy="3230526"/>
          </a:xfrm>
          <a:prstGeom prst="rect">
            <a:avLst/>
          </a:prstGeom>
          <a:noFill/>
          <a:ln>
            <a:noFill/>
          </a:ln>
        </p:spPr>
      </p:pic>
      <p:sp>
        <p:nvSpPr>
          <p:cNvPr id="937" name="Google Shape;937;p122"/>
          <p:cNvSpPr txBox="1"/>
          <p:nvPr/>
        </p:nvSpPr>
        <p:spPr>
          <a:xfrm>
            <a:off x="461042" y="859572"/>
            <a:ext cx="7973274" cy="4686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993300"/>
              </a:buClr>
              <a:buSzPts val="1620"/>
              <a:buFont typeface="Arial"/>
              <a:buChar char="●"/>
            </a:pPr>
            <a:r>
              <a:rPr lang="en-US" sz="1800">
                <a:solidFill>
                  <a:schemeClr val="dk1"/>
                </a:solidFill>
                <a:latin typeface="Helvetica Neue"/>
                <a:ea typeface="Helvetica Neue"/>
                <a:cs typeface="Helvetica Neue"/>
                <a:sym typeface="Helvetica Neue"/>
              </a:rPr>
              <a:t>If the page number is not in the TLB</a:t>
            </a:r>
            <a:endParaRPr/>
          </a:p>
          <a:p>
            <a:pPr indent="-342900" lvl="0" marL="342900" marR="0" rtl="0" algn="l">
              <a:spcBef>
                <a:spcPts val="630"/>
              </a:spcBef>
              <a:spcAft>
                <a:spcPts val="0"/>
              </a:spcAft>
              <a:buClr>
                <a:srgbClr val="993300"/>
              </a:buClr>
              <a:buSzPts val="1620"/>
              <a:buFont typeface="Arial"/>
              <a:buAutoNum type="arabicParenR"/>
            </a:pPr>
            <a:r>
              <a:rPr b="1" lang="en-US" sz="1800">
                <a:solidFill>
                  <a:srgbClr val="0070C0"/>
                </a:solidFill>
                <a:latin typeface="Helvetica Neue"/>
                <a:ea typeface="Helvetica Neue"/>
                <a:cs typeface="Helvetica Neue"/>
                <a:sym typeface="Helvetica Neue"/>
              </a:rPr>
              <a:t>=TLB miss</a:t>
            </a:r>
            <a:r>
              <a:rPr lang="en-US" sz="1800">
                <a:solidFill>
                  <a:schemeClr val="dk1"/>
                </a:solidFill>
                <a:latin typeface="Helvetica Neue"/>
                <a:ea typeface="Helvetica Neue"/>
                <a:cs typeface="Helvetica Neue"/>
                <a:sym typeface="Helvetica Neue"/>
              </a:rPr>
              <a:t>, </a:t>
            </a:r>
            <a:endParaRPr/>
          </a:p>
          <a:p>
            <a:pPr indent="-342900" lvl="0" marL="342900" marR="0" rtl="0" algn="l">
              <a:spcBef>
                <a:spcPts val="630"/>
              </a:spcBef>
              <a:spcAft>
                <a:spcPts val="0"/>
              </a:spcAft>
              <a:buClr>
                <a:srgbClr val="993300"/>
              </a:buClr>
              <a:buSzPts val="1620"/>
              <a:buFont typeface="Arial"/>
              <a:buAutoNum type="arabicParenR"/>
            </a:pPr>
            <a:r>
              <a:rPr lang="en-US" sz="1800">
                <a:solidFill>
                  <a:schemeClr val="dk1"/>
                </a:solidFill>
                <a:latin typeface="Helvetica Neue"/>
                <a:ea typeface="Helvetica Neue"/>
                <a:cs typeface="Helvetica Neue"/>
                <a:sym typeface="Helvetica Neue"/>
              </a:rPr>
              <a:t>Reference to the </a:t>
            </a:r>
            <a:r>
              <a:rPr b="1" lang="en-US" sz="1800">
                <a:solidFill>
                  <a:srgbClr val="0070C0"/>
                </a:solidFill>
                <a:latin typeface="Helvetica Neue"/>
                <a:ea typeface="Helvetica Neue"/>
                <a:cs typeface="Helvetica Neue"/>
                <a:sym typeface="Helvetica Neue"/>
              </a:rPr>
              <a:t>page table </a:t>
            </a:r>
            <a:r>
              <a:rPr lang="en-US" sz="1800">
                <a:solidFill>
                  <a:schemeClr val="dk1"/>
                </a:solidFill>
                <a:latin typeface="Helvetica Neue"/>
                <a:ea typeface="Helvetica Neue"/>
                <a:cs typeface="Helvetica Neue"/>
                <a:sym typeface="Helvetica Neue"/>
              </a:rPr>
              <a:t>must be made. </a:t>
            </a:r>
            <a:endParaRPr/>
          </a:p>
          <a:p>
            <a:pPr indent="-342900" lvl="0" marL="342900" marR="0" rtl="0" algn="l">
              <a:spcBef>
                <a:spcPts val="630"/>
              </a:spcBef>
              <a:spcAft>
                <a:spcPts val="0"/>
              </a:spcAft>
              <a:buClr>
                <a:srgbClr val="993300"/>
              </a:buClr>
              <a:buSzPts val="1620"/>
              <a:buFont typeface="Arial"/>
              <a:buAutoNum type="arabicParenR"/>
            </a:pPr>
            <a:r>
              <a:rPr lang="en-US" sz="1800">
                <a:solidFill>
                  <a:schemeClr val="dk1"/>
                </a:solidFill>
                <a:latin typeface="Helvetica Neue"/>
                <a:ea typeface="Helvetica Neue"/>
                <a:cs typeface="Helvetica Neue"/>
                <a:sym typeface="Helvetica Neue"/>
              </a:rPr>
              <a:t>When the frame number is obtained, we can use it to access memory .</a:t>
            </a:r>
            <a:endParaRPr/>
          </a:p>
          <a:p>
            <a:pPr indent="-342900" lvl="0" marL="342900" marR="0" rtl="0" algn="l">
              <a:spcBef>
                <a:spcPts val="630"/>
              </a:spcBef>
              <a:spcAft>
                <a:spcPts val="0"/>
              </a:spcAft>
              <a:buClr>
                <a:srgbClr val="993300"/>
              </a:buClr>
              <a:buSzPts val="1620"/>
              <a:buFont typeface="Arial"/>
              <a:buAutoNum type="arabicParenR"/>
            </a:pPr>
            <a:r>
              <a:rPr lang="en-US" sz="1800">
                <a:solidFill>
                  <a:schemeClr val="dk1"/>
                </a:solidFill>
                <a:latin typeface="Helvetica Neue"/>
                <a:ea typeface="Helvetica Neue"/>
                <a:cs typeface="Helvetica Neue"/>
                <a:sym typeface="Helvetica Neue"/>
              </a:rPr>
              <a:t>In addition, we add the page number and frame number to the TLB, so that they will be found quickly on the next reference. </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23"/>
          <p:cNvSpPr txBox="1"/>
          <p:nvPr>
            <p:ph type="title"/>
          </p:nvPr>
        </p:nvSpPr>
        <p:spPr>
          <a:xfrm>
            <a:off x="48895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How does TLB work?</a:t>
            </a:r>
            <a:endParaRPr sz="2400"/>
          </a:p>
        </p:txBody>
      </p:sp>
      <p:pic>
        <p:nvPicPr>
          <p:cNvPr id="944" name="Google Shape;944;p123"/>
          <p:cNvPicPr preferRelativeResize="0"/>
          <p:nvPr/>
        </p:nvPicPr>
        <p:blipFill rotWithShape="1">
          <a:blip r:embed="rId3">
            <a:alphaModFix/>
          </a:blip>
          <a:srcRect b="0" l="0" r="0" t="0"/>
          <a:stretch/>
        </p:blipFill>
        <p:spPr>
          <a:xfrm>
            <a:off x="5224774" y="1284288"/>
            <a:ext cx="3735811" cy="2823688"/>
          </a:xfrm>
          <a:prstGeom prst="rect">
            <a:avLst/>
          </a:prstGeom>
          <a:noFill/>
          <a:ln>
            <a:noFill/>
          </a:ln>
        </p:spPr>
      </p:pic>
      <p:sp>
        <p:nvSpPr>
          <p:cNvPr id="945" name="Google Shape;945;p123"/>
          <p:cNvSpPr txBox="1"/>
          <p:nvPr/>
        </p:nvSpPr>
        <p:spPr>
          <a:xfrm>
            <a:off x="351860" y="1146175"/>
            <a:ext cx="4940821" cy="4686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993300"/>
              </a:buClr>
              <a:buSzPts val="1620"/>
              <a:buFont typeface="Arial"/>
              <a:buChar char="●"/>
            </a:pPr>
            <a:r>
              <a:rPr lang="en-US" sz="1800">
                <a:solidFill>
                  <a:schemeClr val="dk1"/>
                </a:solidFill>
                <a:latin typeface="Helvetica Neue"/>
                <a:ea typeface="Helvetica Neue"/>
                <a:cs typeface="Helvetica Neue"/>
                <a:sym typeface="Helvetica Neue"/>
              </a:rPr>
              <a:t>If the TLB is already full of entries, the operating system must select one for replacement. </a:t>
            </a:r>
            <a:endParaRPr/>
          </a:p>
          <a:p>
            <a:pPr indent="-342900" lvl="0" marL="342900" marR="0" rtl="0" algn="l">
              <a:spcBef>
                <a:spcPts val="630"/>
              </a:spcBef>
              <a:spcAft>
                <a:spcPts val="0"/>
              </a:spcAft>
              <a:buClr>
                <a:srgbClr val="993300"/>
              </a:buClr>
              <a:buSzPts val="1620"/>
              <a:buFont typeface="Arial"/>
              <a:buChar char="●"/>
            </a:pPr>
            <a:r>
              <a:rPr lang="en-US" sz="1800">
                <a:solidFill>
                  <a:schemeClr val="dk1"/>
                </a:solidFill>
                <a:latin typeface="Helvetica Neue"/>
                <a:ea typeface="Helvetica Neue"/>
                <a:cs typeface="Helvetica Neue"/>
                <a:sym typeface="Helvetica Neue"/>
              </a:rPr>
              <a:t>Replacement policies range from least recently used (LRU) to random.</a:t>
            </a:r>
            <a:endParaRPr b="1" sz="1800">
              <a:solidFill>
                <a:srgbClr val="3366FF"/>
              </a:solidFill>
              <a:latin typeface="Helvetica Neue"/>
              <a:ea typeface="Helvetica Neue"/>
              <a:cs typeface="Helvetica Neue"/>
              <a:sym typeface="Helvetica Neue"/>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24"/>
          <p:cNvSpPr txBox="1"/>
          <p:nvPr>
            <p:ph type="title"/>
          </p:nvPr>
        </p:nvSpPr>
        <p:spPr>
          <a:xfrm>
            <a:off x="457200" y="1666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Associative Memory</a:t>
            </a:r>
            <a:endParaRPr/>
          </a:p>
        </p:txBody>
      </p:sp>
      <p:sp>
        <p:nvSpPr>
          <p:cNvPr id="952" name="Google Shape;952;p124"/>
          <p:cNvSpPr txBox="1"/>
          <p:nvPr>
            <p:ph idx="1" type="body"/>
          </p:nvPr>
        </p:nvSpPr>
        <p:spPr>
          <a:xfrm>
            <a:off x="903288" y="1211263"/>
            <a:ext cx="7351712"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Associative memory – parallel search </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Font typeface="Arial"/>
              <a:buNone/>
            </a:pPr>
            <a:r>
              <a:t/>
            </a:r>
            <a:endParaRPr/>
          </a:p>
          <a:p>
            <a:pPr indent="-342900" lvl="0" marL="342900" rtl="0" algn="l">
              <a:spcBef>
                <a:spcPts val="630"/>
              </a:spcBef>
              <a:spcAft>
                <a:spcPts val="0"/>
              </a:spcAft>
              <a:buSzPts val="1620"/>
              <a:buChar char="●"/>
            </a:pPr>
            <a:r>
              <a:rPr lang="en-US"/>
              <a:t>Address translation (p, d)</a:t>
            </a:r>
            <a:endParaRPr/>
          </a:p>
          <a:p>
            <a:pPr indent="-285750" lvl="1" marL="627063" rtl="0" algn="l">
              <a:spcBef>
                <a:spcPts val="630"/>
              </a:spcBef>
              <a:spcAft>
                <a:spcPts val="0"/>
              </a:spcAft>
              <a:buSzPts val="1440"/>
              <a:buChar char="●"/>
            </a:pPr>
            <a:r>
              <a:rPr lang="en-US"/>
              <a:t>If p is in associative register, get frame # out</a:t>
            </a:r>
            <a:endParaRPr/>
          </a:p>
          <a:p>
            <a:pPr indent="-285750" lvl="1" marL="627063" rtl="0" algn="l">
              <a:spcBef>
                <a:spcPts val="630"/>
              </a:spcBef>
              <a:spcAft>
                <a:spcPts val="0"/>
              </a:spcAft>
              <a:buSzPts val="1440"/>
              <a:buChar char="●"/>
            </a:pPr>
            <a:r>
              <a:rPr lang="en-US"/>
              <a:t>Otherwise get frame # from page table in memory</a:t>
            </a:r>
            <a:endParaRPr/>
          </a:p>
          <a:p>
            <a:pPr indent="-194309" lvl="1" marL="627063" rtl="0" algn="l">
              <a:spcBef>
                <a:spcPts val="630"/>
              </a:spcBef>
              <a:spcAft>
                <a:spcPts val="0"/>
              </a:spcAft>
              <a:buSzPts val="1440"/>
              <a:buNone/>
            </a:pPr>
            <a:r>
              <a:t/>
            </a:r>
            <a:endParaRPr/>
          </a:p>
        </p:txBody>
      </p:sp>
      <p:pic>
        <p:nvPicPr>
          <p:cNvPr id="953" name="Google Shape;953;p124"/>
          <p:cNvPicPr preferRelativeResize="0"/>
          <p:nvPr/>
        </p:nvPicPr>
        <p:blipFill rotWithShape="1">
          <a:blip r:embed="rId3">
            <a:alphaModFix/>
          </a:blip>
          <a:srcRect b="0" l="0" r="0" t="0"/>
          <a:stretch/>
        </p:blipFill>
        <p:spPr>
          <a:xfrm>
            <a:off x="1895475" y="1693863"/>
            <a:ext cx="2943225" cy="1590675"/>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125"/>
          <p:cNvSpPr txBox="1"/>
          <p:nvPr>
            <p:ph type="title"/>
          </p:nvPr>
        </p:nvSpPr>
        <p:spPr>
          <a:xfrm>
            <a:off x="48895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Paging Hardware With TLB</a:t>
            </a:r>
            <a:endParaRPr sz="2400"/>
          </a:p>
        </p:txBody>
      </p:sp>
      <p:pic>
        <p:nvPicPr>
          <p:cNvPr id="960" name="Google Shape;960;p125"/>
          <p:cNvPicPr preferRelativeResize="0"/>
          <p:nvPr/>
        </p:nvPicPr>
        <p:blipFill rotWithShape="1">
          <a:blip r:embed="rId3">
            <a:alphaModFix/>
          </a:blip>
          <a:srcRect b="0" l="0" r="0" t="0"/>
          <a:stretch/>
        </p:blipFill>
        <p:spPr>
          <a:xfrm>
            <a:off x="1781175" y="1284288"/>
            <a:ext cx="5637213" cy="426085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126"/>
          <p:cNvSpPr txBox="1"/>
          <p:nvPr>
            <p:ph type="title"/>
          </p:nvPr>
        </p:nvSpPr>
        <p:spPr>
          <a:xfrm>
            <a:off x="1055688" y="1666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Implementation of Page Table (Cont.)</a:t>
            </a:r>
            <a:endParaRPr/>
          </a:p>
        </p:txBody>
      </p:sp>
      <p:sp>
        <p:nvSpPr>
          <p:cNvPr id="967" name="Google Shape;967;p126"/>
          <p:cNvSpPr txBox="1"/>
          <p:nvPr>
            <p:ph idx="1" type="body"/>
          </p:nvPr>
        </p:nvSpPr>
        <p:spPr>
          <a:xfrm>
            <a:off x="873125" y="1146175"/>
            <a:ext cx="6924675" cy="46863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Some TLBs store</a:t>
            </a:r>
            <a:r>
              <a:rPr b="1" lang="en-US"/>
              <a:t> </a:t>
            </a:r>
            <a:r>
              <a:rPr b="1" lang="en-US">
                <a:solidFill>
                  <a:srgbClr val="3366FF"/>
                </a:solidFill>
              </a:rPr>
              <a:t>address-space identifiers </a:t>
            </a:r>
            <a:r>
              <a:rPr lang="en-US"/>
              <a:t>(</a:t>
            </a:r>
            <a:r>
              <a:rPr b="1" lang="en-US">
                <a:solidFill>
                  <a:srgbClr val="3366FF"/>
                </a:solidFill>
              </a:rPr>
              <a:t>ASIDs</a:t>
            </a:r>
            <a:r>
              <a:rPr lang="en-US"/>
              <a:t>)</a:t>
            </a:r>
            <a:r>
              <a:rPr b="1" lang="en-US">
                <a:solidFill>
                  <a:srgbClr val="3366FF"/>
                </a:solidFill>
              </a:rPr>
              <a:t> </a:t>
            </a:r>
            <a:r>
              <a:rPr lang="en-US"/>
              <a:t>in each TLB entry – </a:t>
            </a:r>
            <a:endParaRPr/>
          </a:p>
          <a:p>
            <a:pPr indent="-342900" lvl="0" marL="342900" rtl="0" algn="l">
              <a:spcBef>
                <a:spcPts val="630"/>
              </a:spcBef>
              <a:spcAft>
                <a:spcPts val="0"/>
              </a:spcAft>
              <a:buSzPts val="1620"/>
              <a:buChar char="●"/>
            </a:pPr>
            <a:r>
              <a:rPr lang="en-US"/>
              <a:t>An ASID Uniquely identifies each process and provides address-space protection for that process</a:t>
            </a:r>
            <a:endParaRPr/>
          </a:p>
          <a:p>
            <a:pPr indent="-342900" lvl="0" marL="342900" rtl="0" algn="l">
              <a:spcBef>
                <a:spcPts val="630"/>
              </a:spcBef>
              <a:spcAft>
                <a:spcPts val="0"/>
              </a:spcAft>
              <a:buSzPts val="1620"/>
              <a:buFont typeface="Arial"/>
              <a:buAutoNum type="arabicParenR"/>
            </a:pPr>
            <a:r>
              <a:rPr lang="en-US"/>
              <a:t>When the TLB attempts to resolve virtual page numbers, it ensures that the ASID for the currently running process matches the ASID associated with the virtual page. </a:t>
            </a:r>
            <a:endParaRPr/>
          </a:p>
          <a:p>
            <a:pPr indent="-342900" lvl="0" marL="342900" rtl="0" algn="l">
              <a:spcBef>
                <a:spcPts val="630"/>
              </a:spcBef>
              <a:spcAft>
                <a:spcPts val="0"/>
              </a:spcAft>
              <a:buSzPts val="1620"/>
              <a:buFont typeface="Arial"/>
              <a:buAutoNum type="arabicParenR"/>
            </a:pPr>
            <a:r>
              <a:rPr lang="en-US"/>
              <a:t>If the ASIDs do not match, the attempt is treated as a TLB miss.</a:t>
            </a:r>
            <a:endParaRPr/>
          </a:p>
          <a:p>
            <a:pPr indent="-342900" lvl="0" marL="342900" rtl="0" algn="l">
              <a:spcBef>
                <a:spcPts val="630"/>
              </a:spcBef>
              <a:spcAft>
                <a:spcPts val="0"/>
              </a:spcAft>
              <a:buSzPts val="1620"/>
              <a:buChar char="●"/>
            </a:pPr>
            <a:r>
              <a:rPr lang="en-US"/>
              <a:t>In addition to providing address-space protection, an ASID allows the TLB to contain entries for several different processes simultaneously.</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127"/>
          <p:cNvSpPr txBox="1"/>
          <p:nvPr>
            <p:ph type="title"/>
          </p:nvPr>
        </p:nvSpPr>
        <p:spPr>
          <a:xfrm>
            <a:off x="457200" y="15240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Effective Access Time</a:t>
            </a:r>
            <a:endParaRPr/>
          </a:p>
        </p:txBody>
      </p:sp>
      <p:sp>
        <p:nvSpPr>
          <p:cNvPr id="974" name="Google Shape;974;p127"/>
          <p:cNvSpPr txBox="1"/>
          <p:nvPr>
            <p:ph idx="1" type="body"/>
          </p:nvPr>
        </p:nvSpPr>
        <p:spPr>
          <a:xfrm>
            <a:off x="917575" y="1084263"/>
            <a:ext cx="7781925" cy="50482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Hit Ratio=The percentage of times that a particular page number is found in the TLB </a:t>
            </a:r>
            <a:endParaRPr/>
          </a:p>
          <a:p>
            <a:pPr indent="-342900" lvl="0" marL="342900" rtl="0" algn="l">
              <a:spcBef>
                <a:spcPts val="630"/>
              </a:spcBef>
              <a:spcAft>
                <a:spcPts val="0"/>
              </a:spcAft>
              <a:buSzPts val="1620"/>
              <a:buChar char="●"/>
            </a:pPr>
            <a:r>
              <a:rPr lang="en-US"/>
              <a:t>An 80-percent hit ratio, for example, means that we find the desired page number in the TLB 80 percent of the time. </a:t>
            </a:r>
            <a:endParaRPr/>
          </a:p>
          <a:p>
            <a:pPr indent="-342900" lvl="0" marL="342900" rtl="0" algn="l">
              <a:spcBef>
                <a:spcPts val="630"/>
              </a:spcBef>
              <a:spcAft>
                <a:spcPts val="0"/>
              </a:spcAft>
              <a:buSzPts val="1620"/>
              <a:buChar char="●"/>
            </a:pPr>
            <a:r>
              <a:rPr lang="en-US"/>
              <a:t>TLB Hit-</a:t>
            </a:r>
            <a:endParaRPr/>
          </a:p>
          <a:p>
            <a:pPr indent="-285750" lvl="1" marL="742950" rtl="0" algn="l">
              <a:spcBef>
                <a:spcPts val="630"/>
              </a:spcBef>
              <a:spcAft>
                <a:spcPts val="0"/>
              </a:spcAft>
              <a:buSzPts val="1440"/>
              <a:buChar char="●"/>
            </a:pPr>
            <a:r>
              <a:rPr lang="en-US"/>
              <a:t>If it takes 20 nanoseconds to search the TLB and 100 nanoseconds to access memory, then a mapped-memory access takes 120 nanoseconds</a:t>
            </a:r>
            <a:endParaRPr/>
          </a:p>
          <a:p>
            <a:pPr indent="-342900" lvl="0" marL="342900" rtl="0" algn="l">
              <a:spcBef>
                <a:spcPts val="630"/>
              </a:spcBef>
              <a:spcAft>
                <a:spcPts val="0"/>
              </a:spcAft>
              <a:buSzPts val="1620"/>
              <a:buChar char="●"/>
            </a:pPr>
            <a:r>
              <a:rPr lang="en-US"/>
              <a:t>TLB Miss-</a:t>
            </a:r>
            <a:endParaRPr/>
          </a:p>
          <a:p>
            <a:pPr indent="-285750" lvl="1" marL="742950" rtl="0" algn="l">
              <a:spcBef>
                <a:spcPts val="630"/>
              </a:spcBef>
              <a:spcAft>
                <a:spcPts val="0"/>
              </a:spcAft>
              <a:buSzPts val="1440"/>
              <a:buChar char="●"/>
            </a:pPr>
            <a:r>
              <a:rPr lang="en-US"/>
              <a:t>If we fail to find the page number in the TLB (20 nanoseconds), then we must first access memory for the page table and frame number (100 nanoseconds) and then access the desired byte in memory (100 nanoseconds), for a total of 220 nanoseconds.</a:t>
            </a:r>
            <a:endParaRPr/>
          </a:p>
          <a:p>
            <a:pPr indent="-342900" lvl="0" marL="342900" rtl="0" algn="l">
              <a:lnSpc>
                <a:spcPct val="90000"/>
              </a:lnSpc>
              <a:spcBef>
                <a:spcPts val="630"/>
              </a:spcBef>
              <a:spcAft>
                <a:spcPts val="0"/>
              </a:spcAft>
              <a:buSzPts val="1620"/>
              <a:buFont typeface="Arial"/>
              <a:buNone/>
            </a:pPr>
            <a:r>
              <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28"/>
          <p:cNvSpPr txBox="1"/>
          <p:nvPr>
            <p:ph type="title"/>
          </p:nvPr>
        </p:nvSpPr>
        <p:spPr>
          <a:xfrm>
            <a:off x="457200" y="15240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Effective Access Time</a:t>
            </a:r>
            <a:endParaRPr/>
          </a:p>
        </p:txBody>
      </p:sp>
      <p:sp>
        <p:nvSpPr>
          <p:cNvPr id="981" name="Google Shape;981;p128"/>
          <p:cNvSpPr txBox="1"/>
          <p:nvPr>
            <p:ph idx="1" type="body"/>
          </p:nvPr>
        </p:nvSpPr>
        <p:spPr>
          <a:xfrm>
            <a:off x="917575" y="1084263"/>
            <a:ext cx="7781925" cy="50482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To find the effective memory access time,</a:t>
            </a:r>
            <a:endParaRPr/>
          </a:p>
          <a:p>
            <a:pPr indent="-240030" lvl="0" marL="342900" rtl="0" algn="l">
              <a:spcBef>
                <a:spcPts val="630"/>
              </a:spcBef>
              <a:spcAft>
                <a:spcPts val="0"/>
              </a:spcAft>
              <a:buSzPts val="1620"/>
              <a:buNone/>
            </a:pPr>
            <a:r>
              <a:t/>
            </a:r>
            <a:endParaRPr b="1">
              <a:solidFill>
                <a:srgbClr val="0070C0"/>
              </a:solidFill>
            </a:endParaRPr>
          </a:p>
          <a:p>
            <a:pPr indent="0" lvl="0" marL="0" rtl="0" algn="l">
              <a:spcBef>
                <a:spcPts val="630"/>
              </a:spcBef>
              <a:spcAft>
                <a:spcPts val="0"/>
              </a:spcAft>
              <a:buSzPts val="1620"/>
              <a:buNone/>
            </a:pPr>
            <a:r>
              <a:rPr b="1" lang="en-US">
                <a:solidFill>
                  <a:srgbClr val="0070C0"/>
                </a:solidFill>
              </a:rPr>
              <a:t>Effective access time = 0.80 x 120 + 0.20 x 220</a:t>
            </a:r>
            <a:endParaRPr/>
          </a:p>
          <a:p>
            <a:pPr indent="0" lvl="6" marL="2457450" rtl="0" algn="l">
              <a:spcBef>
                <a:spcPts val="630"/>
              </a:spcBef>
              <a:spcAft>
                <a:spcPts val="0"/>
              </a:spcAft>
              <a:buSzPts val="1350"/>
              <a:buFont typeface="Helvetica Neue"/>
              <a:buNone/>
            </a:pPr>
            <a:r>
              <a:rPr b="1" lang="en-US">
                <a:solidFill>
                  <a:srgbClr val="0070C0"/>
                </a:solidFill>
              </a:rPr>
              <a:t>= 140 nanoseconds.</a:t>
            </a:r>
            <a:endParaRPr b="1">
              <a:solidFill>
                <a:srgbClr val="0070C0"/>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29"/>
          <p:cNvSpPr txBox="1"/>
          <p:nvPr>
            <p:ph type="title"/>
          </p:nvPr>
        </p:nvSpPr>
        <p:spPr>
          <a:xfrm>
            <a:off x="457200" y="15240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Effective Access Time</a:t>
            </a:r>
            <a:endParaRPr/>
          </a:p>
        </p:txBody>
      </p:sp>
      <p:sp>
        <p:nvSpPr>
          <p:cNvPr id="988" name="Google Shape;988;p129"/>
          <p:cNvSpPr txBox="1"/>
          <p:nvPr>
            <p:ph idx="1" type="body"/>
          </p:nvPr>
        </p:nvSpPr>
        <p:spPr>
          <a:xfrm>
            <a:off x="917575" y="1084263"/>
            <a:ext cx="7781925" cy="50482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To find the effective memory access time,</a:t>
            </a:r>
            <a:endParaRPr/>
          </a:p>
          <a:p>
            <a:pPr indent="-240030" lvl="0" marL="342900" rtl="0" algn="l">
              <a:spcBef>
                <a:spcPts val="630"/>
              </a:spcBef>
              <a:spcAft>
                <a:spcPts val="0"/>
              </a:spcAft>
              <a:buSzPts val="1620"/>
              <a:buNone/>
            </a:pPr>
            <a:r>
              <a:t/>
            </a:r>
            <a:endParaRPr b="1">
              <a:solidFill>
                <a:srgbClr val="0070C0"/>
              </a:solidFill>
            </a:endParaRPr>
          </a:p>
          <a:p>
            <a:pPr indent="-342900" lvl="0" marL="342900" rtl="0" algn="l">
              <a:spcBef>
                <a:spcPts val="630"/>
              </a:spcBef>
              <a:spcAft>
                <a:spcPts val="0"/>
              </a:spcAft>
              <a:buSzPts val="1620"/>
              <a:buChar char="●"/>
            </a:pPr>
            <a:r>
              <a:rPr lang="en-US"/>
              <a:t>For a 98-percent hit ratio, </a:t>
            </a:r>
            <a:endParaRPr/>
          </a:p>
          <a:p>
            <a:pPr indent="0" lvl="0" marL="0" rtl="0" algn="l">
              <a:spcBef>
                <a:spcPts val="630"/>
              </a:spcBef>
              <a:spcAft>
                <a:spcPts val="0"/>
              </a:spcAft>
              <a:buSzPts val="1620"/>
              <a:buNone/>
            </a:pPr>
            <a:r>
              <a:t/>
            </a:r>
            <a:endParaRPr/>
          </a:p>
          <a:p>
            <a:pPr indent="0" lvl="0" marL="0" rtl="0" algn="l">
              <a:spcBef>
                <a:spcPts val="630"/>
              </a:spcBef>
              <a:spcAft>
                <a:spcPts val="0"/>
              </a:spcAft>
              <a:buSzPts val="1620"/>
              <a:buNone/>
            </a:pPr>
            <a:r>
              <a:rPr b="1" lang="en-US">
                <a:solidFill>
                  <a:srgbClr val="0070C0"/>
                </a:solidFill>
              </a:rPr>
              <a:t>Effective access time = 0.98 x 120 + 0.02 x 220</a:t>
            </a:r>
            <a:endParaRPr/>
          </a:p>
          <a:p>
            <a:pPr indent="0" lvl="0" marL="0" rtl="0" algn="l">
              <a:spcBef>
                <a:spcPts val="630"/>
              </a:spcBef>
              <a:spcAft>
                <a:spcPts val="0"/>
              </a:spcAft>
              <a:buSzPts val="1620"/>
              <a:buNone/>
            </a:pPr>
            <a:r>
              <a:rPr b="1" lang="en-US">
                <a:solidFill>
                  <a:srgbClr val="0070C0"/>
                </a:solidFill>
              </a:rPr>
              <a:t>		= 122 nanoseconds.</a:t>
            </a:r>
            <a:endParaRPr b="1">
              <a:solidFill>
                <a:srgbClr val="0070C0"/>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130"/>
          <p:cNvSpPr txBox="1"/>
          <p:nvPr>
            <p:ph type="title"/>
          </p:nvPr>
        </p:nvSpPr>
        <p:spPr>
          <a:xfrm>
            <a:off x="457200" y="15240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Effective Access Time</a:t>
            </a:r>
            <a:endParaRPr/>
          </a:p>
        </p:txBody>
      </p:sp>
      <p:sp>
        <p:nvSpPr>
          <p:cNvPr id="995" name="Google Shape;995;p130"/>
          <p:cNvSpPr txBox="1"/>
          <p:nvPr>
            <p:ph idx="1" type="body"/>
          </p:nvPr>
        </p:nvSpPr>
        <p:spPr>
          <a:xfrm>
            <a:off x="917575" y="1084263"/>
            <a:ext cx="7781925" cy="504825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lang="en-US"/>
              <a:t>Associative Lookup = ε time unit</a:t>
            </a:r>
            <a:endParaRPr/>
          </a:p>
          <a:p>
            <a:pPr indent="-285750" lvl="1" marL="742950" rtl="0" algn="l">
              <a:lnSpc>
                <a:spcPct val="90000"/>
              </a:lnSpc>
              <a:spcBef>
                <a:spcPts val="630"/>
              </a:spcBef>
              <a:spcAft>
                <a:spcPts val="0"/>
              </a:spcAft>
              <a:buSzPts val="1440"/>
              <a:buChar char="●"/>
            </a:pPr>
            <a:r>
              <a:rPr lang="en-US"/>
              <a:t>Can be &lt; 10% of memory access time</a:t>
            </a:r>
            <a:endParaRPr/>
          </a:p>
          <a:p>
            <a:pPr indent="-342900" lvl="0" marL="342900" rtl="0" algn="l">
              <a:lnSpc>
                <a:spcPct val="90000"/>
              </a:lnSpc>
              <a:spcBef>
                <a:spcPts val="630"/>
              </a:spcBef>
              <a:spcAft>
                <a:spcPts val="0"/>
              </a:spcAft>
              <a:buSzPts val="1620"/>
              <a:buChar char="●"/>
            </a:pPr>
            <a:r>
              <a:rPr lang="en-US"/>
              <a:t>Hit ratio = α</a:t>
            </a:r>
            <a:endParaRPr/>
          </a:p>
          <a:p>
            <a:pPr indent="-285750" lvl="1" marL="742950" rtl="0" algn="l">
              <a:lnSpc>
                <a:spcPct val="90000"/>
              </a:lnSpc>
              <a:spcBef>
                <a:spcPts val="630"/>
              </a:spcBef>
              <a:spcAft>
                <a:spcPts val="0"/>
              </a:spcAft>
              <a:buSzPts val="1440"/>
              <a:buChar char="●"/>
            </a:pPr>
            <a:r>
              <a:rPr lang="en-US"/>
              <a:t>Hit ratio – percentage of times that a page number is found in the associative registers; ratio related to number of associative registers</a:t>
            </a:r>
            <a:endParaRPr/>
          </a:p>
          <a:p>
            <a:pPr indent="-342900" lvl="0" marL="342900" rtl="0" algn="l">
              <a:lnSpc>
                <a:spcPct val="90000"/>
              </a:lnSpc>
              <a:spcBef>
                <a:spcPts val="630"/>
              </a:spcBef>
              <a:spcAft>
                <a:spcPts val="0"/>
              </a:spcAft>
              <a:buSzPts val="1620"/>
              <a:buChar char="●"/>
            </a:pPr>
            <a:r>
              <a:rPr lang="en-US"/>
              <a:t>Consider α = 80%, ε = 20ns for TLB search, 100ns for memory access</a:t>
            </a:r>
            <a:endParaRPr/>
          </a:p>
          <a:p>
            <a:pPr indent="-342900" lvl="0" marL="342900" rtl="0" algn="l">
              <a:lnSpc>
                <a:spcPct val="90000"/>
              </a:lnSpc>
              <a:spcBef>
                <a:spcPts val="630"/>
              </a:spcBef>
              <a:spcAft>
                <a:spcPts val="0"/>
              </a:spcAft>
              <a:buSzPts val="1620"/>
              <a:buChar char="●"/>
            </a:pPr>
            <a:r>
              <a:rPr b="1" lang="en-US">
                <a:solidFill>
                  <a:srgbClr val="3366FF"/>
                </a:solidFill>
              </a:rPr>
              <a:t>Effective Access Time</a:t>
            </a:r>
            <a:r>
              <a:rPr lang="en-US">
                <a:solidFill>
                  <a:srgbClr val="3366FF"/>
                </a:solidFill>
              </a:rPr>
              <a:t> </a:t>
            </a:r>
            <a:r>
              <a:rPr lang="en-US"/>
              <a:t>(</a:t>
            </a:r>
            <a:r>
              <a:rPr b="1" lang="en-US">
                <a:solidFill>
                  <a:srgbClr val="3366FF"/>
                </a:solidFill>
              </a:rPr>
              <a:t>EAT</a:t>
            </a:r>
            <a:r>
              <a:rPr lang="en-US"/>
              <a:t>)</a:t>
            </a:r>
            <a:endParaRPr/>
          </a:p>
          <a:p>
            <a:pPr indent="-342900" lvl="0" marL="342900" rtl="0" algn="l">
              <a:lnSpc>
                <a:spcPct val="90000"/>
              </a:lnSpc>
              <a:spcBef>
                <a:spcPts val="630"/>
              </a:spcBef>
              <a:spcAft>
                <a:spcPts val="0"/>
              </a:spcAft>
              <a:buSzPts val="1620"/>
              <a:buFont typeface="Arial"/>
              <a:buNone/>
            </a:pPr>
            <a:r>
              <a:rPr lang="en-US"/>
              <a:t>		EAT = (1 + ε) α + (2 + ε)(1 – α)</a:t>
            </a:r>
            <a:endParaRPr/>
          </a:p>
          <a:p>
            <a:pPr indent="-342900" lvl="0" marL="342900" rtl="0" algn="l">
              <a:lnSpc>
                <a:spcPct val="90000"/>
              </a:lnSpc>
              <a:spcBef>
                <a:spcPts val="630"/>
              </a:spcBef>
              <a:spcAft>
                <a:spcPts val="0"/>
              </a:spcAft>
              <a:buSzPts val="1620"/>
              <a:buFont typeface="Arial"/>
              <a:buNone/>
            </a:pPr>
            <a:r>
              <a:rPr lang="en-US"/>
              <a:t>			= 2 + ε – α</a:t>
            </a:r>
            <a:endParaRPr/>
          </a:p>
          <a:p>
            <a:pPr indent="0" lvl="0" marL="0" rtl="0" algn="l">
              <a:lnSpc>
                <a:spcPct val="90000"/>
              </a:lnSpc>
              <a:spcBef>
                <a:spcPts val="630"/>
              </a:spcBef>
              <a:spcAft>
                <a:spcPts val="0"/>
              </a:spcAft>
              <a:buSzPts val="1620"/>
              <a:buNone/>
            </a:pPr>
            <a:r>
              <a:t/>
            </a:r>
            <a:endParaRPr/>
          </a:p>
          <a:p>
            <a:pPr indent="-342900" lvl="0" marL="342900" rtl="0" algn="l">
              <a:lnSpc>
                <a:spcPct val="90000"/>
              </a:lnSpc>
              <a:spcBef>
                <a:spcPts val="630"/>
              </a:spcBef>
              <a:spcAft>
                <a:spcPts val="0"/>
              </a:spcAft>
              <a:buSzPts val="1620"/>
              <a:buFont typeface="Arial"/>
              <a:buNone/>
            </a:pPr>
            <a:r>
              <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131"/>
          <p:cNvSpPr txBox="1"/>
          <p:nvPr>
            <p:ph type="title"/>
          </p:nvPr>
        </p:nvSpPr>
        <p:spPr>
          <a:xfrm>
            <a:off x="45720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Memory Protection</a:t>
            </a:r>
            <a:endParaRPr/>
          </a:p>
        </p:txBody>
      </p:sp>
      <p:sp>
        <p:nvSpPr>
          <p:cNvPr id="1002" name="Google Shape;1002;p131"/>
          <p:cNvSpPr txBox="1"/>
          <p:nvPr>
            <p:ph idx="1" type="body"/>
          </p:nvPr>
        </p:nvSpPr>
        <p:spPr>
          <a:xfrm>
            <a:off x="873125" y="1157288"/>
            <a:ext cx="6937375" cy="44688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Memory protection implemented by associating protection bit with each frame </a:t>
            </a:r>
            <a:endParaRPr/>
          </a:p>
          <a:p>
            <a:pPr indent="-342900" lvl="0" marL="342900" rtl="0" algn="l">
              <a:spcBef>
                <a:spcPts val="630"/>
              </a:spcBef>
              <a:spcAft>
                <a:spcPts val="0"/>
              </a:spcAft>
              <a:buSzPts val="1620"/>
              <a:buChar char="●"/>
            </a:pPr>
            <a:r>
              <a:rPr lang="en-US"/>
              <a:t>Normally, these bits are kept in the page table.</a:t>
            </a:r>
            <a:endParaRPr/>
          </a:p>
          <a:p>
            <a:pPr indent="-342900" lvl="0" marL="342900" rtl="0" algn="l">
              <a:spcBef>
                <a:spcPts val="630"/>
              </a:spcBef>
              <a:spcAft>
                <a:spcPts val="0"/>
              </a:spcAft>
              <a:buSzPts val="1620"/>
              <a:buChar char="●"/>
            </a:pPr>
            <a:r>
              <a:rPr b="1" lang="en-US">
                <a:solidFill>
                  <a:srgbClr val="0070C0"/>
                </a:solidFill>
              </a:rPr>
              <a:t>Protection bit can indicate if read-only or read-write access is allowed</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132"/>
          <p:cNvSpPr txBox="1"/>
          <p:nvPr>
            <p:ph type="title"/>
          </p:nvPr>
        </p:nvSpPr>
        <p:spPr>
          <a:xfrm>
            <a:off x="45720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Memory Protection</a:t>
            </a:r>
            <a:endParaRPr/>
          </a:p>
        </p:txBody>
      </p:sp>
      <p:sp>
        <p:nvSpPr>
          <p:cNvPr id="1009" name="Google Shape;1009;p132"/>
          <p:cNvSpPr txBox="1"/>
          <p:nvPr>
            <p:ph idx="1" type="body"/>
          </p:nvPr>
        </p:nvSpPr>
        <p:spPr>
          <a:xfrm>
            <a:off x="873125" y="1157288"/>
            <a:ext cx="6937375" cy="44688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Every reference to memory goes through the page table to find the correct frame number. </a:t>
            </a:r>
            <a:endParaRPr/>
          </a:p>
          <a:p>
            <a:pPr indent="-342900" lvl="0" marL="342900" rtl="0" algn="l">
              <a:spcBef>
                <a:spcPts val="630"/>
              </a:spcBef>
              <a:spcAft>
                <a:spcPts val="0"/>
              </a:spcAft>
              <a:buSzPts val="1620"/>
              <a:buChar char="●"/>
            </a:pPr>
            <a:r>
              <a:rPr lang="en-US"/>
              <a:t>At the same time that the physical address is being computed, the protection bits can be checked </a:t>
            </a:r>
            <a:r>
              <a:rPr b="1" lang="en-US">
                <a:solidFill>
                  <a:srgbClr val="0070C0"/>
                </a:solidFill>
              </a:rPr>
              <a:t>to verify that no writes are being made to a read-only page. </a:t>
            </a:r>
            <a:endParaRPr/>
          </a:p>
          <a:p>
            <a:pPr indent="-342900" lvl="0" marL="342900" rtl="0" algn="l">
              <a:spcBef>
                <a:spcPts val="630"/>
              </a:spcBef>
              <a:spcAft>
                <a:spcPts val="0"/>
              </a:spcAft>
              <a:buSzPts val="1620"/>
              <a:buChar char="●"/>
            </a:pPr>
            <a:r>
              <a:rPr lang="en-US"/>
              <a:t>An attempt to write to a read-only page causes a hardware trap to the operating system (or memory-protection violation).</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133"/>
          <p:cNvSpPr txBox="1"/>
          <p:nvPr>
            <p:ph type="title"/>
          </p:nvPr>
        </p:nvSpPr>
        <p:spPr>
          <a:xfrm>
            <a:off x="45720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Memory Protection</a:t>
            </a:r>
            <a:endParaRPr/>
          </a:p>
        </p:txBody>
      </p:sp>
      <p:sp>
        <p:nvSpPr>
          <p:cNvPr id="1016" name="Google Shape;1016;p133"/>
          <p:cNvSpPr txBox="1"/>
          <p:nvPr>
            <p:ph idx="1" type="body"/>
          </p:nvPr>
        </p:nvSpPr>
        <p:spPr>
          <a:xfrm>
            <a:off x="873125" y="1157288"/>
            <a:ext cx="6937375" cy="44688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Can also add more bits to indicate page execute-only, and so on</a:t>
            </a:r>
            <a:endParaRPr/>
          </a:p>
          <a:p>
            <a:pPr indent="-342900" lvl="0" marL="342900" rtl="0" algn="l">
              <a:spcBef>
                <a:spcPts val="630"/>
              </a:spcBef>
              <a:spcAft>
                <a:spcPts val="0"/>
              </a:spcAft>
              <a:buSzPts val="1620"/>
              <a:buChar char="●"/>
            </a:pPr>
            <a:r>
              <a:rPr b="1" lang="en-US">
                <a:solidFill>
                  <a:srgbClr val="3366FF"/>
                </a:solidFill>
              </a:rPr>
              <a:t>Valid-invalid</a:t>
            </a:r>
            <a:r>
              <a:rPr lang="en-US">
                <a:solidFill>
                  <a:srgbClr val="3366FF"/>
                </a:solidFill>
              </a:rPr>
              <a:t> </a:t>
            </a:r>
            <a:r>
              <a:rPr lang="en-US"/>
              <a:t>bit attached to each entry in the page table:</a:t>
            </a:r>
            <a:endParaRPr/>
          </a:p>
          <a:p>
            <a:pPr indent="-285750" lvl="1" marL="742950" rtl="0" algn="l">
              <a:spcBef>
                <a:spcPts val="630"/>
              </a:spcBef>
              <a:spcAft>
                <a:spcPts val="0"/>
              </a:spcAft>
              <a:buSzPts val="1440"/>
              <a:buChar char="●"/>
            </a:pPr>
            <a:r>
              <a:rPr lang="en-US"/>
              <a:t>“valid” indicates that the associated page is in the process’ logical address space, and is thus a legal page</a:t>
            </a:r>
            <a:endParaRPr/>
          </a:p>
          <a:p>
            <a:pPr indent="-285750" lvl="1" marL="742950" rtl="0" algn="l">
              <a:spcBef>
                <a:spcPts val="630"/>
              </a:spcBef>
              <a:spcAft>
                <a:spcPts val="0"/>
              </a:spcAft>
              <a:buSzPts val="1440"/>
              <a:buChar char="●"/>
            </a:pPr>
            <a:r>
              <a:rPr lang="en-US"/>
              <a:t>“invalid” indicates that the page is not in the process’ logical address space</a:t>
            </a:r>
            <a:endParaRPr/>
          </a:p>
          <a:p>
            <a:pPr indent="-285750" lvl="1" marL="742950" rtl="0" algn="l">
              <a:spcBef>
                <a:spcPts val="630"/>
              </a:spcBef>
              <a:spcAft>
                <a:spcPts val="0"/>
              </a:spcAft>
              <a:buSzPts val="1440"/>
              <a:buChar char="●"/>
            </a:pPr>
            <a:r>
              <a:rPr lang="en-US"/>
              <a:t>Or use </a:t>
            </a:r>
            <a:r>
              <a:rPr b="1" lang="en-US">
                <a:solidFill>
                  <a:srgbClr val="3366FF"/>
                </a:solidFill>
              </a:rPr>
              <a:t>page-table length register </a:t>
            </a:r>
            <a:r>
              <a:rPr lang="en-US"/>
              <a:t>(</a:t>
            </a:r>
            <a:r>
              <a:rPr b="1" lang="en-US">
                <a:solidFill>
                  <a:srgbClr val="3366FF"/>
                </a:solidFill>
              </a:rPr>
              <a:t>PTLR</a:t>
            </a:r>
            <a:r>
              <a:rPr lang="en-US"/>
              <a:t>)</a:t>
            </a:r>
            <a:endParaRPr/>
          </a:p>
          <a:p>
            <a:pPr indent="-342900" lvl="0" marL="342900" rtl="0" algn="l">
              <a:spcBef>
                <a:spcPts val="630"/>
              </a:spcBef>
              <a:spcAft>
                <a:spcPts val="0"/>
              </a:spcAft>
              <a:buSzPts val="1620"/>
              <a:buChar char="●"/>
            </a:pPr>
            <a:r>
              <a:rPr lang="en-US"/>
              <a:t>Any violations result in a trap to the kernel</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34"/>
          <p:cNvSpPr txBox="1"/>
          <p:nvPr>
            <p:ph type="title"/>
          </p:nvPr>
        </p:nvSpPr>
        <p:spPr>
          <a:xfrm>
            <a:off x="1709738" y="-188913"/>
            <a:ext cx="7112000" cy="9032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Valid (v) or Invalid (i) Bit In A Page Table</a:t>
            </a:r>
            <a:endParaRPr/>
          </a:p>
        </p:txBody>
      </p:sp>
      <p:pic>
        <p:nvPicPr>
          <p:cNvPr id="1023" name="Google Shape;1023;p134"/>
          <p:cNvPicPr preferRelativeResize="0"/>
          <p:nvPr/>
        </p:nvPicPr>
        <p:blipFill rotWithShape="1">
          <a:blip r:embed="rId3">
            <a:alphaModFix/>
          </a:blip>
          <a:srcRect b="0" l="0" r="0" t="0"/>
          <a:stretch/>
        </p:blipFill>
        <p:spPr>
          <a:xfrm>
            <a:off x="2222500" y="1252538"/>
            <a:ext cx="5099050" cy="442595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135"/>
          <p:cNvSpPr txBox="1"/>
          <p:nvPr>
            <p:ph type="title"/>
          </p:nvPr>
        </p:nvSpPr>
        <p:spPr>
          <a:xfrm>
            <a:off x="52070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Structure of the Page Table</a:t>
            </a:r>
            <a:endParaRPr/>
          </a:p>
        </p:txBody>
      </p:sp>
      <p:sp>
        <p:nvSpPr>
          <p:cNvPr id="1030" name="Google Shape;1030;p135"/>
          <p:cNvSpPr txBox="1"/>
          <p:nvPr>
            <p:ph idx="1" type="body"/>
          </p:nvPr>
        </p:nvSpPr>
        <p:spPr>
          <a:xfrm>
            <a:off x="857250" y="1141413"/>
            <a:ext cx="7119938"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Memory structures for paging can get huge using straight-forward methods</a:t>
            </a:r>
            <a:endParaRPr/>
          </a:p>
          <a:p>
            <a:pPr indent="-285750" lvl="1" marL="742950" rtl="0" algn="l">
              <a:spcBef>
                <a:spcPts val="630"/>
              </a:spcBef>
              <a:spcAft>
                <a:spcPts val="0"/>
              </a:spcAft>
              <a:buSzPts val="1440"/>
              <a:buChar char="●"/>
            </a:pPr>
            <a:r>
              <a:rPr b="1" lang="en-US"/>
              <a:t>Consider a 32-bit logical address as on modern computers=Logical Address Space=2</a:t>
            </a:r>
            <a:r>
              <a:rPr b="1" baseline="30000" lang="en-US"/>
              <a:t>32</a:t>
            </a:r>
            <a:endParaRPr/>
          </a:p>
          <a:p>
            <a:pPr indent="-285750" lvl="1" marL="742950" rtl="0" algn="l">
              <a:spcBef>
                <a:spcPts val="630"/>
              </a:spcBef>
              <a:spcAft>
                <a:spcPts val="0"/>
              </a:spcAft>
              <a:buSzPts val="1440"/>
              <a:buChar char="●"/>
            </a:pPr>
            <a:r>
              <a:rPr b="1" lang="en-US"/>
              <a:t>Page size of 4 KB (2</a:t>
            </a:r>
            <a:r>
              <a:rPr b="1" baseline="30000" lang="en-US"/>
              <a:t>12</a:t>
            </a:r>
            <a:r>
              <a:rPr b="1" lang="en-US"/>
              <a:t>)</a:t>
            </a:r>
            <a:endParaRPr/>
          </a:p>
          <a:p>
            <a:pPr indent="-285750" lvl="1" marL="742950" rtl="0" algn="l">
              <a:spcBef>
                <a:spcPts val="630"/>
              </a:spcBef>
              <a:spcAft>
                <a:spcPts val="0"/>
              </a:spcAft>
              <a:buSzPts val="1440"/>
              <a:buChar char="●"/>
            </a:pPr>
            <a:r>
              <a:rPr b="1" lang="en-US"/>
              <a:t>Page table would have 1 million entries =2</a:t>
            </a:r>
            <a:r>
              <a:rPr b="1" baseline="30000" lang="en-US"/>
              <a:t>32</a:t>
            </a:r>
            <a:r>
              <a:rPr b="1" lang="en-US"/>
              <a:t> / 2</a:t>
            </a:r>
            <a:r>
              <a:rPr b="1" baseline="30000" lang="en-US"/>
              <a:t>12 </a:t>
            </a:r>
            <a:endParaRPr b="1"/>
          </a:p>
          <a:p>
            <a:pPr indent="-285750" lvl="1" marL="742950" rtl="0" algn="l">
              <a:spcBef>
                <a:spcPts val="630"/>
              </a:spcBef>
              <a:spcAft>
                <a:spcPts val="0"/>
              </a:spcAft>
              <a:buSzPts val="1440"/>
              <a:buChar char="●"/>
            </a:pPr>
            <a:r>
              <a:rPr lang="en-US"/>
              <a:t>If each entry is 4 bytes -&gt; 4 MB of physical address space / memory for page table alone</a:t>
            </a:r>
            <a:endParaRPr/>
          </a:p>
          <a:p>
            <a:pPr indent="-228600" lvl="2" marL="1085850" rtl="0" algn="l">
              <a:spcBef>
                <a:spcPts val="630"/>
              </a:spcBef>
              <a:spcAft>
                <a:spcPts val="0"/>
              </a:spcAft>
              <a:buSzPts val="1350"/>
              <a:buChar char="4"/>
            </a:pPr>
            <a:r>
              <a:rPr lang="en-US"/>
              <a:t>That amount of memory used to cost a lot</a:t>
            </a:r>
            <a:endParaRPr/>
          </a:p>
          <a:p>
            <a:pPr indent="-228600" lvl="2" marL="1085850" rtl="0" algn="l">
              <a:spcBef>
                <a:spcPts val="630"/>
              </a:spcBef>
              <a:spcAft>
                <a:spcPts val="0"/>
              </a:spcAft>
              <a:buSzPts val="1350"/>
              <a:buChar char="4"/>
            </a:pPr>
            <a:r>
              <a:rPr lang="en-US"/>
              <a:t>We would not want to allocate the page table contiguously in main memory</a:t>
            </a:r>
            <a:endParaRPr/>
          </a:p>
        </p:txBody>
      </p:sp>
      <p:pic>
        <p:nvPicPr>
          <p:cNvPr descr="size" id="1031" name="Google Shape;1031;p135"/>
          <p:cNvPicPr preferRelativeResize="0"/>
          <p:nvPr/>
        </p:nvPicPr>
        <p:blipFill rotWithShape="1">
          <a:blip r:embed="rId3">
            <a:alphaModFix/>
          </a:blip>
          <a:srcRect b="87611" l="0" r="34182" t="0"/>
          <a:stretch/>
        </p:blipFill>
        <p:spPr>
          <a:xfrm>
            <a:off x="532263" y="5580773"/>
            <a:ext cx="8182562" cy="89425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36"/>
          <p:cNvSpPr txBox="1"/>
          <p:nvPr>
            <p:ph type="title"/>
          </p:nvPr>
        </p:nvSpPr>
        <p:spPr>
          <a:xfrm>
            <a:off x="52070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Structure of the Page Table</a:t>
            </a:r>
            <a:endParaRPr/>
          </a:p>
        </p:txBody>
      </p:sp>
      <p:sp>
        <p:nvSpPr>
          <p:cNvPr id="1038" name="Google Shape;1038;p136"/>
          <p:cNvSpPr txBox="1"/>
          <p:nvPr>
            <p:ph idx="1" type="body"/>
          </p:nvPr>
        </p:nvSpPr>
        <p:spPr>
          <a:xfrm>
            <a:off x="857250" y="1141413"/>
            <a:ext cx="7119938" cy="4483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20"/>
              <a:buNone/>
            </a:pPr>
            <a:r>
              <a:rPr b="1" lang="en-US">
                <a:solidFill>
                  <a:srgbClr val="0070C0"/>
                </a:solidFill>
              </a:rPr>
              <a:t>One simple solution </a:t>
            </a:r>
            <a:r>
              <a:rPr b="1" i="1" lang="en-US">
                <a:solidFill>
                  <a:srgbClr val="0070C0"/>
                </a:solidFill>
              </a:rPr>
              <a:t>to </a:t>
            </a:r>
            <a:r>
              <a:rPr b="1" lang="en-US">
                <a:solidFill>
                  <a:srgbClr val="0070C0"/>
                </a:solidFill>
              </a:rPr>
              <a:t>this problem is to divide the page table into smaller pieces.</a:t>
            </a:r>
            <a:endParaRPr b="1">
              <a:solidFill>
                <a:srgbClr val="0070C0"/>
              </a:solidFill>
            </a:endParaRPr>
          </a:p>
          <a:p>
            <a:pPr indent="-342900" lvl="0" marL="342900" rtl="0" algn="l">
              <a:spcBef>
                <a:spcPts val="630"/>
              </a:spcBef>
              <a:spcAft>
                <a:spcPts val="0"/>
              </a:spcAft>
              <a:buSzPts val="1620"/>
              <a:buFont typeface="Arial"/>
              <a:buAutoNum type="arabicParenR"/>
            </a:pPr>
            <a:r>
              <a:rPr b="1" lang="en-US"/>
              <a:t>Hierarchical Paging</a:t>
            </a:r>
            <a:endParaRPr/>
          </a:p>
          <a:p>
            <a:pPr indent="-342900" lvl="0" marL="342900" rtl="0" algn="l">
              <a:spcBef>
                <a:spcPts val="630"/>
              </a:spcBef>
              <a:spcAft>
                <a:spcPts val="0"/>
              </a:spcAft>
              <a:buSzPts val="1620"/>
              <a:buFont typeface="Arial"/>
              <a:buAutoNum type="arabicParenR"/>
            </a:pPr>
            <a:r>
              <a:rPr b="1" lang="en-US"/>
              <a:t>Hashed Page Tables</a:t>
            </a:r>
            <a:endParaRPr/>
          </a:p>
          <a:p>
            <a:pPr indent="-342900" lvl="0" marL="342900" rtl="0" algn="l">
              <a:spcBef>
                <a:spcPts val="630"/>
              </a:spcBef>
              <a:spcAft>
                <a:spcPts val="0"/>
              </a:spcAft>
              <a:buSzPts val="1620"/>
              <a:buFont typeface="Arial"/>
              <a:buAutoNum type="arabicParenR"/>
            </a:pPr>
            <a:r>
              <a:rPr b="1" lang="en-US"/>
              <a:t>Inverted Page Tables</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137"/>
          <p:cNvSpPr txBox="1"/>
          <p:nvPr>
            <p:ph type="title"/>
          </p:nvPr>
        </p:nvSpPr>
        <p:spPr>
          <a:xfrm>
            <a:off x="473075" y="1666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Hierarchical Page Tables</a:t>
            </a:r>
            <a:endParaRPr/>
          </a:p>
        </p:txBody>
      </p:sp>
      <p:sp>
        <p:nvSpPr>
          <p:cNvPr id="1045" name="Google Shape;1045;p137"/>
          <p:cNvSpPr txBox="1"/>
          <p:nvPr>
            <p:ph idx="1" type="body"/>
          </p:nvPr>
        </p:nvSpPr>
        <p:spPr>
          <a:xfrm>
            <a:off x="903288" y="1189038"/>
            <a:ext cx="5980112"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Break up the logical address space into multiple page tables</a:t>
            </a:r>
            <a:endParaRPr/>
          </a:p>
          <a:p>
            <a:pPr indent="-342900" lvl="0" marL="342900" rtl="0" algn="l">
              <a:spcBef>
                <a:spcPts val="630"/>
              </a:spcBef>
              <a:spcAft>
                <a:spcPts val="0"/>
              </a:spcAft>
              <a:buSzPts val="1620"/>
              <a:buChar char="●"/>
            </a:pPr>
            <a:r>
              <a:rPr lang="en-US"/>
              <a:t>A simple technique is a two-level page table</a:t>
            </a:r>
            <a:endParaRPr/>
          </a:p>
          <a:p>
            <a:pPr indent="-342900" lvl="0" marL="342900" rtl="0" algn="l">
              <a:spcBef>
                <a:spcPts val="630"/>
              </a:spcBef>
              <a:spcAft>
                <a:spcPts val="0"/>
              </a:spcAft>
              <a:buSzPts val="1620"/>
              <a:buChar char="●"/>
            </a:pPr>
            <a:r>
              <a:rPr lang="en-US"/>
              <a:t>We then page the page table</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138"/>
          <p:cNvSpPr txBox="1"/>
          <p:nvPr>
            <p:ph type="title"/>
          </p:nvPr>
        </p:nvSpPr>
        <p:spPr>
          <a:xfrm>
            <a:off x="568325" y="1666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Two-Level Page-Table Scheme</a:t>
            </a:r>
            <a:endParaRPr sz="2400"/>
          </a:p>
        </p:txBody>
      </p:sp>
      <p:pic>
        <p:nvPicPr>
          <p:cNvPr descr="8" id="1052" name="Google Shape;1052;p138"/>
          <p:cNvPicPr preferRelativeResize="0"/>
          <p:nvPr/>
        </p:nvPicPr>
        <p:blipFill rotWithShape="1">
          <a:blip r:embed="rId3">
            <a:alphaModFix/>
          </a:blip>
          <a:srcRect b="0" l="0" r="0" t="0"/>
          <a:stretch/>
        </p:blipFill>
        <p:spPr>
          <a:xfrm>
            <a:off x="2301875" y="1268413"/>
            <a:ext cx="4248150" cy="4492625"/>
          </a:xfrm>
          <a:prstGeom prst="rect">
            <a:avLst/>
          </a:prstGeom>
          <a:noFill/>
          <a:ln>
            <a:noFill/>
          </a:ln>
        </p:spPr>
      </p:pic>
      <p:sp>
        <p:nvSpPr>
          <p:cNvPr id="1053" name="Google Shape;1053;p138"/>
          <p:cNvSpPr txBox="1"/>
          <p:nvPr/>
        </p:nvSpPr>
        <p:spPr>
          <a:xfrm>
            <a:off x="253498" y="1176950"/>
            <a:ext cx="373002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Verdana"/>
                <a:ea typeface="Verdana"/>
                <a:cs typeface="Verdana"/>
                <a:sym typeface="Verdana"/>
              </a:rPr>
              <a:t>Admin=&gt;Dept=&gt;</a:t>
            </a:r>
            <a:endParaRPr/>
          </a:p>
          <a:p>
            <a:pPr indent="0" lvl="0" marL="0" marR="0" rtl="0" algn="l">
              <a:spcBef>
                <a:spcPts val="0"/>
              </a:spcBef>
              <a:spcAft>
                <a:spcPts val="0"/>
              </a:spcAft>
              <a:buNone/>
            </a:pPr>
            <a:r>
              <a:rPr lang="en-US" sz="1800">
                <a:solidFill>
                  <a:schemeClr val="dk1"/>
                </a:solidFill>
                <a:latin typeface="Verdana"/>
                <a:ea typeface="Verdana"/>
                <a:cs typeface="Verdana"/>
                <a:sym typeface="Verdana"/>
              </a:rPr>
              <a:t>ClassNo=&gt;Seat No in Class</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139"/>
          <p:cNvSpPr txBox="1"/>
          <p:nvPr>
            <p:ph type="title"/>
          </p:nvPr>
        </p:nvSpPr>
        <p:spPr>
          <a:xfrm>
            <a:off x="955675" y="152400"/>
            <a:ext cx="776287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Two-Level Paging Example</a:t>
            </a:r>
            <a:endParaRPr/>
          </a:p>
        </p:txBody>
      </p:sp>
      <p:sp>
        <p:nvSpPr>
          <p:cNvPr id="1060" name="Google Shape;1060;p139"/>
          <p:cNvSpPr txBox="1"/>
          <p:nvPr>
            <p:ph idx="1" type="body"/>
          </p:nvPr>
        </p:nvSpPr>
        <p:spPr>
          <a:xfrm>
            <a:off x="917575" y="1085850"/>
            <a:ext cx="7807325" cy="51466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lang="en-US"/>
              <a:t>A logical address (on 32-bit machine with 1K page size) is divided into:</a:t>
            </a:r>
            <a:endParaRPr/>
          </a:p>
          <a:p>
            <a:pPr indent="-285750" lvl="1" marL="627063" rtl="0" algn="l">
              <a:lnSpc>
                <a:spcPct val="90000"/>
              </a:lnSpc>
              <a:spcBef>
                <a:spcPts val="630"/>
              </a:spcBef>
              <a:spcAft>
                <a:spcPts val="0"/>
              </a:spcAft>
              <a:buSzPts val="1440"/>
              <a:buChar char="●"/>
            </a:pPr>
            <a:r>
              <a:rPr lang="en-US"/>
              <a:t>a page number consisting of 20 bits</a:t>
            </a:r>
            <a:endParaRPr/>
          </a:p>
          <a:p>
            <a:pPr indent="-285750" lvl="1" marL="627063" rtl="0" algn="l">
              <a:lnSpc>
                <a:spcPct val="90000"/>
              </a:lnSpc>
              <a:spcBef>
                <a:spcPts val="630"/>
              </a:spcBef>
              <a:spcAft>
                <a:spcPts val="0"/>
              </a:spcAft>
              <a:buSzPts val="1440"/>
              <a:buChar char="●"/>
            </a:pPr>
            <a:r>
              <a:rPr lang="en-US"/>
              <a:t>a page offset consisting of 12 bits</a:t>
            </a:r>
            <a:endParaRPr/>
          </a:p>
          <a:p>
            <a:pPr indent="-245109" lvl="1" marL="627063" rtl="0" algn="l">
              <a:lnSpc>
                <a:spcPct val="90000"/>
              </a:lnSpc>
              <a:spcBef>
                <a:spcPts val="280"/>
              </a:spcBef>
              <a:spcAft>
                <a:spcPts val="0"/>
              </a:spcAft>
              <a:buSzPts val="640"/>
              <a:buNone/>
            </a:pPr>
            <a:r>
              <a:t/>
            </a:r>
            <a:endParaRPr sz="800"/>
          </a:p>
          <a:p>
            <a:pPr indent="-342900" lvl="0" marL="342900" rtl="0" algn="l">
              <a:lnSpc>
                <a:spcPct val="90000"/>
              </a:lnSpc>
              <a:spcBef>
                <a:spcPts val="630"/>
              </a:spcBef>
              <a:spcAft>
                <a:spcPts val="0"/>
              </a:spcAft>
              <a:buSzPts val="1620"/>
              <a:buChar char="●"/>
            </a:pPr>
            <a:r>
              <a:rPr lang="en-US"/>
              <a:t>Since the page table is paged, the page number is further divided into:</a:t>
            </a:r>
            <a:endParaRPr/>
          </a:p>
          <a:p>
            <a:pPr indent="-285750" lvl="1" marL="627063" rtl="0" algn="l">
              <a:lnSpc>
                <a:spcPct val="90000"/>
              </a:lnSpc>
              <a:spcBef>
                <a:spcPts val="630"/>
              </a:spcBef>
              <a:spcAft>
                <a:spcPts val="0"/>
              </a:spcAft>
              <a:buSzPts val="1440"/>
              <a:buChar char="●"/>
            </a:pPr>
            <a:r>
              <a:rPr lang="en-US"/>
              <a:t>a 10-bit page number </a:t>
            </a:r>
            <a:endParaRPr/>
          </a:p>
          <a:p>
            <a:pPr indent="-285750" lvl="1" marL="627063" rtl="0" algn="l">
              <a:lnSpc>
                <a:spcPct val="90000"/>
              </a:lnSpc>
              <a:spcBef>
                <a:spcPts val="630"/>
              </a:spcBef>
              <a:spcAft>
                <a:spcPts val="0"/>
              </a:spcAft>
              <a:buSzPts val="1440"/>
              <a:buChar char="●"/>
            </a:pPr>
            <a:r>
              <a:rPr lang="en-US"/>
              <a:t>a 10-bit page offset</a:t>
            </a:r>
            <a:endParaRPr/>
          </a:p>
          <a:p>
            <a:pPr indent="-245109" lvl="1" marL="627063" rtl="0" algn="l">
              <a:lnSpc>
                <a:spcPct val="90000"/>
              </a:lnSpc>
              <a:spcBef>
                <a:spcPts val="280"/>
              </a:spcBef>
              <a:spcAft>
                <a:spcPts val="0"/>
              </a:spcAft>
              <a:buSzPts val="640"/>
              <a:buNone/>
            </a:pPr>
            <a:r>
              <a:t/>
            </a:r>
            <a:endParaRPr sz="800"/>
          </a:p>
          <a:p>
            <a:pPr indent="-342900" lvl="0" marL="342900" rtl="0" algn="l">
              <a:lnSpc>
                <a:spcPct val="90000"/>
              </a:lnSpc>
              <a:spcBef>
                <a:spcPts val="630"/>
              </a:spcBef>
              <a:spcAft>
                <a:spcPts val="0"/>
              </a:spcAft>
              <a:buSzPts val="1620"/>
              <a:buChar char="●"/>
            </a:pPr>
            <a:r>
              <a:rPr lang="en-US"/>
              <a:t>Thus, a logical address is as follows:</a:t>
            </a:r>
            <a:br>
              <a:rPr lang="en-US"/>
            </a:br>
            <a:br>
              <a:rPr lang="en-US" sz="1600"/>
            </a:br>
            <a:br>
              <a:rPr lang="en-US" sz="1600"/>
            </a:br>
            <a:br>
              <a:rPr lang="en-US" sz="1600"/>
            </a:br>
            <a:br>
              <a:rPr lang="en-US" sz="1600"/>
            </a:br>
            <a:br>
              <a:rPr lang="en-US" sz="1600"/>
            </a:br>
            <a:endParaRPr sz="1600"/>
          </a:p>
        </p:txBody>
      </p:sp>
      <p:pic>
        <p:nvPicPr>
          <p:cNvPr id="1061" name="Google Shape;1061;p139"/>
          <p:cNvPicPr preferRelativeResize="0"/>
          <p:nvPr/>
        </p:nvPicPr>
        <p:blipFill rotWithShape="1">
          <a:blip r:embed="rId3">
            <a:alphaModFix/>
          </a:blip>
          <a:srcRect b="0" l="0" r="0" t="0"/>
          <a:stretch/>
        </p:blipFill>
        <p:spPr>
          <a:xfrm>
            <a:off x="2265529" y="3800690"/>
            <a:ext cx="5396978" cy="1167805"/>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40"/>
          <p:cNvSpPr txBox="1"/>
          <p:nvPr>
            <p:ph type="title"/>
          </p:nvPr>
        </p:nvSpPr>
        <p:spPr>
          <a:xfrm>
            <a:off x="955675" y="152400"/>
            <a:ext cx="776287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Two-Level Paging Example</a:t>
            </a:r>
            <a:endParaRPr/>
          </a:p>
        </p:txBody>
      </p:sp>
      <p:sp>
        <p:nvSpPr>
          <p:cNvPr id="1068" name="Google Shape;1068;p140"/>
          <p:cNvSpPr txBox="1"/>
          <p:nvPr>
            <p:ph idx="1" type="body"/>
          </p:nvPr>
        </p:nvSpPr>
        <p:spPr>
          <a:xfrm>
            <a:off x="917575" y="1085850"/>
            <a:ext cx="7807325" cy="5146675"/>
          </a:xfrm>
          <a:prstGeom prst="rect">
            <a:avLst/>
          </a:prstGeom>
          <a:noFill/>
          <a:ln>
            <a:noFill/>
          </a:ln>
        </p:spPr>
        <p:txBody>
          <a:bodyPr anchorCtr="0" anchor="t" bIns="45700" lIns="91425" spcFirstLastPara="1" rIns="91425" wrap="square" tIns="45700">
            <a:noAutofit/>
          </a:bodyPr>
          <a:lstStyle/>
          <a:p>
            <a:pPr indent="-245109" lvl="1" marL="627063" rtl="0" algn="l">
              <a:lnSpc>
                <a:spcPct val="90000"/>
              </a:lnSpc>
              <a:spcBef>
                <a:spcPts val="0"/>
              </a:spcBef>
              <a:spcAft>
                <a:spcPts val="0"/>
              </a:spcAft>
              <a:buSzPts val="640"/>
              <a:buNone/>
            </a:pPr>
            <a:r>
              <a:t/>
            </a:r>
            <a:endParaRPr sz="800"/>
          </a:p>
          <a:p>
            <a:pPr indent="-342900" lvl="0" marL="342900" rtl="0" algn="l">
              <a:lnSpc>
                <a:spcPct val="90000"/>
              </a:lnSpc>
              <a:spcBef>
                <a:spcPts val="630"/>
              </a:spcBef>
              <a:spcAft>
                <a:spcPts val="0"/>
              </a:spcAft>
              <a:buSzPts val="1620"/>
              <a:buChar char="●"/>
            </a:pPr>
            <a:r>
              <a:rPr lang="en-US"/>
              <a:t>Thus, a logical address is as follows:</a:t>
            </a:r>
            <a:br>
              <a:rPr lang="en-US"/>
            </a:br>
            <a:br>
              <a:rPr lang="en-US" sz="1600"/>
            </a:br>
            <a:br>
              <a:rPr lang="en-US" sz="1600"/>
            </a:br>
            <a:br>
              <a:rPr lang="en-US" sz="1600"/>
            </a:br>
            <a:br>
              <a:rPr lang="en-US" sz="1600"/>
            </a:br>
            <a:br>
              <a:rPr lang="en-US" sz="1600"/>
            </a:br>
            <a:endParaRPr sz="1600"/>
          </a:p>
          <a:p>
            <a:pPr indent="-342900" lvl="0" marL="342900" rtl="0" algn="l">
              <a:lnSpc>
                <a:spcPct val="90000"/>
              </a:lnSpc>
              <a:spcBef>
                <a:spcPts val="630"/>
              </a:spcBef>
              <a:spcAft>
                <a:spcPts val="0"/>
              </a:spcAft>
              <a:buSzPts val="1620"/>
              <a:buChar char="●"/>
            </a:pPr>
            <a:r>
              <a:rPr lang="en-US"/>
              <a:t>where</a:t>
            </a:r>
            <a:r>
              <a:rPr i="1" lang="en-US"/>
              <a:t> </a:t>
            </a:r>
            <a:endParaRPr/>
          </a:p>
          <a:p>
            <a:pPr indent="-342900" lvl="0" marL="342900" rtl="0" algn="l">
              <a:lnSpc>
                <a:spcPct val="90000"/>
              </a:lnSpc>
              <a:spcBef>
                <a:spcPts val="630"/>
              </a:spcBef>
              <a:spcAft>
                <a:spcPts val="0"/>
              </a:spcAft>
              <a:buSzPts val="1620"/>
              <a:buChar char="●"/>
            </a:pPr>
            <a:r>
              <a:rPr i="1" lang="en-US"/>
              <a:t>p</a:t>
            </a:r>
            <a:r>
              <a:rPr baseline="-25000" i="1" lang="en-US"/>
              <a:t>1</a:t>
            </a:r>
            <a:r>
              <a:rPr lang="en-US"/>
              <a:t> is an index into the outer page table, </a:t>
            </a:r>
            <a:endParaRPr/>
          </a:p>
          <a:p>
            <a:pPr indent="-342900" lvl="0" marL="342900" rtl="0" algn="l">
              <a:lnSpc>
                <a:spcPct val="90000"/>
              </a:lnSpc>
              <a:spcBef>
                <a:spcPts val="630"/>
              </a:spcBef>
              <a:spcAft>
                <a:spcPts val="0"/>
              </a:spcAft>
              <a:buSzPts val="1620"/>
              <a:buChar char="●"/>
            </a:pPr>
            <a:r>
              <a:rPr i="1" lang="en-US"/>
              <a:t>p</a:t>
            </a:r>
            <a:r>
              <a:rPr baseline="-25000" i="1" lang="en-US"/>
              <a:t>2</a:t>
            </a:r>
            <a:r>
              <a:rPr lang="en-US"/>
              <a:t> is the displacement within the page of the outer page table</a:t>
            </a:r>
            <a:endParaRPr/>
          </a:p>
          <a:p>
            <a:pPr indent="-342900" lvl="0" marL="342900" rtl="0" algn="l">
              <a:lnSpc>
                <a:spcPct val="90000"/>
              </a:lnSpc>
              <a:spcBef>
                <a:spcPts val="630"/>
              </a:spcBef>
              <a:spcAft>
                <a:spcPts val="0"/>
              </a:spcAft>
              <a:buSzPts val="1620"/>
              <a:buChar char="●"/>
            </a:pPr>
            <a:r>
              <a:rPr lang="en-US"/>
              <a:t>Because address translation works from the outer page table inward, this scheme is also known as </a:t>
            </a:r>
            <a:r>
              <a:rPr b="1" lang="en-US">
                <a:solidFill>
                  <a:srgbClr val="3366FF"/>
                </a:solidFill>
              </a:rPr>
              <a:t>forward-mapped page table</a:t>
            </a:r>
            <a:endParaRPr/>
          </a:p>
        </p:txBody>
      </p:sp>
      <p:pic>
        <p:nvPicPr>
          <p:cNvPr id="1069" name="Google Shape;1069;p140"/>
          <p:cNvPicPr preferRelativeResize="0"/>
          <p:nvPr/>
        </p:nvPicPr>
        <p:blipFill rotWithShape="1">
          <a:blip r:embed="rId3">
            <a:alphaModFix/>
          </a:blip>
          <a:srcRect b="0" l="0" r="0" t="0"/>
          <a:stretch/>
        </p:blipFill>
        <p:spPr>
          <a:xfrm>
            <a:off x="2129051" y="1657992"/>
            <a:ext cx="5396978" cy="1167805"/>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141"/>
          <p:cNvSpPr txBox="1"/>
          <p:nvPr>
            <p:ph type="title"/>
          </p:nvPr>
        </p:nvSpPr>
        <p:spPr>
          <a:xfrm>
            <a:off x="1128713" y="152400"/>
            <a:ext cx="7558087"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Address-Translation Scheme</a:t>
            </a:r>
            <a:endParaRPr sz="2400"/>
          </a:p>
        </p:txBody>
      </p:sp>
      <p:pic>
        <p:nvPicPr>
          <p:cNvPr id="1076" name="Google Shape;1076;p141"/>
          <p:cNvPicPr preferRelativeResize="0"/>
          <p:nvPr/>
        </p:nvPicPr>
        <p:blipFill rotWithShape="1">
          <a:blip r:embed="rId3">
            <a:alphaModFix/>
          </a:blip>
          <a:srcRect b="0" l="0" r="0" t="0"/>
          <a:stretch/>
        </p:blipFill>
        <p:spPr>
          <a:xfrm>
            <a:off x="1497013" y="1258888"/>
            <a:ext cx="6389687" cy="2693987"/>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142"/>
          <p:cNvSpPr txBox="1"/>
          <p:nvPr>
            <p:ph type="title"/>
          </p:nvPr>
        </p:nvSpPr>
        <p:spPr>
          <a:xfrm>
            <a:off x="536575" y="1666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64-bit Logical Address Space</a:t>
            </a:r>
            <a:endParaRPr/>
          </a:p>
        </p:txBody>
      </p:sp>
      <p:sp>
        <p:nvSpPr>
          <p:cNvPr id="1082" name="Google Shape;1082;p142"/>
          <p:cNvSpPr txBox="1"/>
          <p:nvPr>
            <p:ph idx="1" type="body"/>
          </p:nvPr>
        </p:nvSpPr>
        <p:spPr>
          <a:xfrm>
            <a:off x="806450" y="1201738"/>
            <a:ext cx="8116888" cy="508793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Even two-level paging scheme not sufficient</a:t>
            </a:r>
            <a:endParaRPr/>
          </a:p>
          <a:p>
            <a:pPr indent="-342900" lvl="0" marL="342900" rtl="0" algn="l">
              <a:spcBef>
                <a:spcPts val="630"/>
              </a:spcBef>
              <a:spcAft>
                <a:spcPts val="0"/>
              </a:spcAft>
              <a:buSzPts val="1620"/>
              <a:buChar char="●"/>
            </a:pPr>
            <a:r>
              <a:rPr lang="en-US"/>
              <a:t>Logical Address Space= 2</a:t>
            </a:r>
            <a:r>
              <a:rPr baseline="30000" lang="en-US"/>
              <a:t>64</a:t>
            </a:r>
            <a:endParaRPr/>
          </a:p>
          <a:p>
            <a:pPr indent="-342900" lvl="0" marL="342900" rtl="0" algn="l">
              <a:spcBef>
                <a:spcPts val="630"/>
              </a:spcBef>
              <a:spcAft>
                <a:spcPts val="0"/>
              </a:spcAft>
              <a:buSzPts val="1620"/>
              <a:buChar char="●"/>
            </a:pPr>
            <a:r>
              <a:rPr lang="en-US"/>
              <a:t>If page size is 4 KB (2</a:t>
            </a:r>
            <a:r>
              <a:rPr baseline="30000" lang="en-US"/>
              <a:t>12</a:t>
            </a:r>
            <a:r>
              <a:rPr lang="en-US"/>
              <a:t>)</a:t>
            </a:r>
            <a:endParaRPr/>
          </a:p>
          <a:p>
            <a:pPr indent="-285750" lvl="1" marL="742950" rtl="0" algn="l">
              <a:spcBef>
                <a:spcPts val="630"/>
              </a:spcBef>
              <a:spcAft>
                <a:spcPts val="0"/>
              </a:spcAft>
              <a:buSzPts val="1440"/>
              <a:buChar char="●"/>
            </a:pPr>
            <a:r>
              <a:rPr lang="en-US"/>
              <a:t>No of pages=2</a:t>
            </a:r>
            <a:r>
              <a:rPr baseline="30000" lang="en-US"/>
              <a:t>64</a:t>
            </a:r>
            <a:r>
              <a:rPr lang="en-US"/>
              <a:t>/2</a:t>
            </a:r>
            <a:r>
              <a:rPr baseline="30000" lang="en-US"/>
              <a:t>12</a:t>
            </a:r>
            <a:r>
              <a:rPr lang="en-US"/>
              <a:t>= 2</a:t>
            </a:r>
            <a:r>
              <a:rPr baseline="30000" lang="en-US"/>
              <a:t>52</a:t>
            </a:r>
            <a:endParaRPr/>
          </a:p>
          <a:p>
            <a:pPr indent="-285750" lvl="1" marL="742950" rtl="0" algn="l">
              <a:spcBef>
                <a:spcPts val="630"/>
              </a:spcBef>
              <a:spcAft>
                <a:spcPts val="0"/>
              </a:spcAft>
              <a:buSzPts val="1440"/>
              <a:buChar char="●"/>
            </a:pPr>
            <a:r>
              <a:rPr lang="en-US"/>
              <a:t>Then page table has 2</a:t>
            </a:r>
            <a:r>
              <a:rPr baseline="30000" lang="en-US"/>
              <a:t>52</a:t>
            </a:r>
            <a:r>
              <a:rPr lang="en-US"/>
              <a:t> entries</a:t>
            </a:r>
            <a:endParaRPr/>
          </a:p>
          <a:p>
            <a:pPr indent="-285750" lvl="1" marL="742950" rtl="0" algn="l">
              <a:spcBef>
                <a:spcPts val="630"/>
              </a:spcBef>
              <a:spcAft>
                <a:spcPts val="0"/>
              </a:spcAft>
              <a:buSzPts val="1440"/>
              <a:buChar char="●"/>
            </a:pPr>
            <a:r>
              <a:rPr lang="en-US"/>
              <a:t>If two level scheme, Address would look like</a:t>
            </a:r>
            <a:endParaRPr/>
          </a:p>
          <a:p>
            <a:pPr indent="-194309" lvl="1" marL="742950" rtl="0" algn="l">
              <a:spcBef>
                <a:spcPts val="630"/>
              </a:spcBef>
              <a:spcAft>
                <a:spcPts val="0"/>
              </a:spcAft>
              <a:buSzPts val="1440"/>
              <a:buNone/>
            </a:pPr>
            <a:r>
              <a:t/>
            </a:r>
            <a:endParaRPr/>
          </a:p>
          <a:p>
            <a:pPr indent="-194309" lvl="1" marL="742950" rtl="0" algn="l">
              <a:spcBef>
                <a:spcPts val="630"/>
              </a:spcBef>
              <a:spcAft>
                <a:spcPts val="0"/>
              </a:spcAft>
              <a:buSzPts val="1440"/>
              <a:buNone/>
            </a:pPr>
            <a:r>
              <a:t/>
            </a:r>
            <a:endParaRPr/>
          </a:p>
          <a:p>
            <a:pPr indent="0" lvl="1" marL="457200" rtl="0" algn="l">
              <a:spcBef>
                <a:spcPts val="630"/>
              </a:spcBef>
              <a:spcAft>
                <a:spcPts val="0"/>
              </a:spcAft>
              <a:buSzPts val="1440"/>
              <a:buFont typeface="Arial"/>
              <a:buNone/>
            </a:pPr>
            <a:r>
              <a:t/>
            </a:r>
            <a:endParaRPr/>
          </a:p>
          <a:p>
            <a:pPr indent="-285750" lvl="1" marL="742950" rtl="0" algn="l">
              <a:spcBef>
                <a:spcPts val="630"/>
              </a:spcBef>
              <a:spcAft>
                <a:spcPts val="0"/>
              </a:spcAft>
              <a:buSzPts val="1440"/>
              <a:buChar char="●"/>
            </a:pPr>
            <a:r>
              <a:rPr lang="en-US"/>
              <a:t>Outer page table has 2</a:t>
            </a:r>
            <a:r>
              <a:rPr baseline="30000" lang="en-US"/>
              <a:t>42</a:t>
            </a:r>
            <a:r>
              <a:rPr lang="en-US"/>
              <a:t> entries or 2</a:t>
            </a:r>
            <a:r>
              <a:rPr baseline="30000" lang="en-US"/>
              <a:t>44</a:t>
            </a:r>
            <a:r>
              <a:rPr lang="en-US"/>
              <a:t> bytes</a:t>
            </a:r>
            <a:endParaRPr/>
          </a:p>
          <a:p>
            <a:pPr indent="-194309" lvl="1" marL="742950" rtl="0" algn="l">
              <a:spcBef>
                <a:spcPts val="630"/>
              </a:spcBef>
              <a:spcAft>
                <a:spcPts val="0"/>
              </a:spcAft>
              <a:buSzPts val="1440"/>
              <a:buNone/>
            </a:pPr>
            <a:r>
              <a:t/>
            </a:r>
            <a:endParaRPr/>
          </a:p>
        </p:txBody>
      </p:sp>
      <p:pic>
        <p:nvPicPr>
          <p:cNvPr id="1083" name="Google Shape;1083;p142"/>
          <p:cNvPicPr preferRelativeResize="0"/>
          <p:nvPr/>
        </p:nvPicPr>
        <p:blipFill rotWithShape="1">
          <a:blip r:embed="rId3">
            <a:alphaModFix/>
          </a:blip>
          <a:srcRect b="0" l="0" r="0" t="0"/>
          <a:stretch/>
        </p:blipFill>
        <p:spPr>
          <a:xfrm>
            <a:off x="1770249" y="3446343"/>
            <a:ext cx="4497416" cy="1043769"/>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43"/>
          <p:cNvSpPr txBox="1"/>
          <p:nvPr>
            <p:ph type="title"/>
          </p:nvPr>
        </p:nvSpPr>
        <p:spPr>
          <a:xfrm>
            <a:off x="865188" y="214313"/>
            <a:ext cx="782161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Three-level Paging Scheme</a:t>
            </a:r>
            <a:endParaRPr/>
          </a:p>
        </p:txBody>
      </p:sp>
      <p:pic>
        <p:nvPicPr>
          <p:cNvPr id="1090" name="Google Shape;1090;p143"/>
          <p:cNvPicPr preferRelativeResize="0"/>
          <p:nvPr/>
        </p:nvPicPr>
        <p:blipFill rotWithShape="1">
          <a:blip r:embed="rId3">
            <a:alphaModFix/>
          </a:blip>
          <a:srcRect b="0" l="0" r="0" t="0"/>
          <a:stretch/>
        </p:blipFill>
        <p:spPr>
          <a:xfrm>
            <a:off x="2324100" y="1293813"/>
            <a:ext cx="5241925" cy="1168400"/>
          </a:xfrm>
          <a:prstGeom prst="rect">
            <a:avLst/>
          </a:prstGeom>
          <a:noFill/>
          <a:ln>
            <a:noFill/>
          </a:ln>
        </p:spPr>
      </p:pic>
      <p:pic>
        <p:nvPicPr>
          <p:cNvPr id="1091" name="Google Shape;1091;p143"/>
          <p:cNvPicPr preferRelativeResize="0"/>
          <p:nvPr/>
        </p:nvPicPr>
        <p:blipFill rotWithShape="1">
          <a:blip r:embed="rId4">
            <a:alphaModFix/>
          </a:blip>
          <a:srcRect b="0" l="0" r="0" t="0"/>
          <a:stretch/>
        </p:blipFill>
        <p:spPr>
          <a:xfrm>
            <a:off x="2311400" y="3130550"/>
            <a:ext cx="5486400" cy="1062038"/>
          </a:xfrm>
          <a:prstGeom prst="rect">
            <a:avLst/>
          </a:prstGeom>
          <a:noFill/>
          <a:ln>
            <a:noFill/>
          </a:ln>
        </p:spPr>
      </p:pic>
      <p:sp>
        <p:nvSpPr>
          <p:cNvPr id="1092" name="Google Shape;1092;p143"/>
          <p:cNvSpPr/>
          <p:nvPr/>
        </p:nvSpPr>
        <p:spPr>
          <a:xfrm>
            <a:off x="907576" y="4511554"/>
            <a:ext cx="7267433" cy="147732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Verdana"/>
                <a:ea typeface="Verdana"/>
                <a:cs typeface="Verdana"/>
                <a:sym typeface="Verdana"/>
              </a:rPr>
              <a:t>One solution is to add a 2</a:t>
            </a:r>
            <a:r>
              <a:rPr baseline="30000" lang="en-US" sz="1800">
                <a:solidFill>
                  <a:schemeClr val="dk1"/>
                </a:solidFill>
                <a:latin typeface="Verdana"/>
                <a:ea typeface="Verdana"/>
                <a:cs typeface="Verdana"/>
                <a:sym typeface="Verdana"/>
              </a:rPr>
              <a:t>nd</a:t>
            </a:r>
            <a:r>
              <a:rPr lang="en-US" sz="1800">
                <a:solidFill>
                  <a:schemeClr val="dk1"/>
                </a:solidFill>
                <a:latin typeface="Verdana"/>
                <a:ea typeface="Verdana"/>
                <a:cs typeface="Verdana"/>
                <a:sym typeface="Verdana"/>
              </a:rPr>
              <a:t> outer page table</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Verdana"/>
                <a:ea typeface="Verdana"/>
                <a:cs typeface="Verdana"/>
                <a:sym typeface="Verdana"/>
              </a:rPr>
              <a:t>The outer page table is still 2</a:t>
            </a:r>
            <a:r>
              <a:rPr baseline="30000" lang="en-US" sz="1800">
                <a:solidFill>
                  <a:schemeClr val="dk1"/>
                </a:solidFill>
                <a:latin typeface="Verdana"/>
                <a:ea typeface="Verdana"/>
                <a:cs typeface="Verdana"/>
                <a:sym typeface="Verdana"/>
              </a:rPr>
              <a:t>32</a:t>
            </a:r>
            <a:r>
              <a:rPr lang="en-US" sz="1800">
                <a:solidFill>
                  <a:schemeClr val="dk1"/>
                </a:solidFill>
                <a:latin typeface="Verdana"/>
                <a:ea typeface="Verdana"/>
                <a:cs typeface="Verdana"/>
                <a:sym typeface="Verdana"/>
              </a:rPr>
              <a:t> bytes in size.</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Verdana"/>
                <a:ea typeface="Verdana"/>
                <a:cs typeface="Verdana"/>
                <a:sym typeface="Verdana"/>
              </a:rPr>
              <a:t>The next step would be a four-level paging scheme, where the second-level outer page table itself is also paged, and so forth.</a:t>
            </a:r>
            <a:endParaRPr sz="1800">
              <a:solidFill>
                <a:schemeClr val="dk1"/>
              </a:solidFill>
              <a:latin typeface="Verdana"/>
              <a:ea typeface="Verdana"/>
              <a:cs typeface="Verdana"/>
              <a:sym typeface="Verdana"/>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44"/>
          <p:cNvSpPr txBox="1"/>
          <p:nvPr>
            <p:ph type="title"/>
          </p:nvPr>
        </p:nvSpPr>
        <p:spPr>
          <a:xfrm>
            <a:off x="846138" y="166688"/>
            <a:ext cx="78406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Hashed Page Tables</a:t>
            </a:r>
            <a:endParaRPr/>
          </a:p>
        </p:txBody>
      </p:sp>
      <p:sp>
        <p:nvSpPr>
          <p:cNvPr id="1099" name="Google Shape;1099;p144"/>
          <p:cNvSpPr txBox="1"/>
          <p:nvPr>
            <p:ph idx="1" type="body"/>
          </p:nvPr>
        </p:nvSpPr>
        <p:spPr>
          <a:xfrm>
            <a:off x="821402" y="950345"/>
            <a:ext cx="7626350" cy="47228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Common in address spaces &gt; 32 bits</a:t>
            </a:r>
            <a:endParaRPr/>
          </a:p>
          <a:p>
            <a:pPr indent="-342900" lvl="0" marL="342900" rtl="0" algn="l">
              <a:spcBef>
                <a:spcPts val="630"/>
              </a:spcBef>
              <a:spcAft>
                <a:spcPts val="0"/>
              </a:spcAft>
              <a:buSzPts val="1620"/>
              <a:buChar char="●"/>
            </a:pPr>
            <a:r>
              <a:rPr lang="en-US"/>
              <a:t>The virtual page number is hashed into a page table</a:t>
            </a:r>
            <a:endParaRPr/>
          </a:p>
          <a:p>
            <a:pPr indent="-285750" lvl="1" marL="742950" rtl="0" algn="l">
              <a:spcBef>
                <a:spcPts val="630"/>
              </a:spcBef>
              <a:spcAft>
                <a:spcPts val="0"/>
              </a:spcAft>
              <a:buSzPts val="1440"/>
              <a:buChar char="●"/>
            </a:pPr>
            <a:r>
              <a:rPr lang="en-US"/>
              <a:t>Each entry in the hash table contains a linked list of elements that hash to the same location (to handle collisions).</a:t>
            </a:r>
            <a:endParaRPr/>
          </a:p>
          <a:p>
            <a:pPr indent="-285750" lvl="1" marL="742950" rtl="0" algn="l">
              <a:spcBef>
                <a:spcPts val="630"/>
              </a:spcBef>
              <a:spcAft>
                <a:spcPts val="0"/>
              </a:spcAft>
              <a:buSzPts val="1440"/>
              <a:buChar char="●"/>
            </a:pPr>
            <a:r>
              <a:rPr lang="en-US"/>
              <a:t> Each element consists of three fields: </a:t>
            </a:r>
            <a:endParaRPr/>
          </a:p>
          <a:p>
            <a:pPr indent="0" lvl="1" marL="457200" rtl="0" algn="l">
              <a:spcBef>
                <a:spcPts val="630"/>
              </a:spcBef>
              <a:spcAft>
                <a:spcPts val="0"/>
              </a:spcAft>
              <a:buSzPts val="1440"/>
              <a:buNone/>
            </a:pPr>
            <a:r>
              <a:rPr b="1" lang="en-US"/>
              <a:t>(1)</a:t>
            </a:r>
            <a:r>
              <a:rPr lang="en-US"/>
              <a:t> </a:t>
            </a:r>
            <a:r>
              <a:rPr b="1" lang="en-US"/>
              <a:t>the virtual page number, </a:t>
            </a:r>
            <a:endParaRPr/>
          </a:p>
          <a:p>
            <a:pPr indent="0" lvl="1" marL="457200" rtl="0" algn="l">
              <a:spcBef>
                <a:spcPts val="630"/>
              </a:spcBef>
              <a:spcAft>
                <a:spcPts val="0"/>
              </a:spcAft>
              <a:buSzPts val="1440"/>
              <a:buNone/>
            </a:pPr>
            <a:r>
              <a:rPr b="1" lang="en-US"/>
              <a:t>(2) the value of the mapped page frame, and </a:t>
            </a:r>
            <a:endParaRPr/>
          </a:p>
          <a:p>
            <a:pPr indent="0" lvl="1" marL="457200" rtl="0" algn="l">
              <a:spcBef>
                <a:spcPts val="630"/>
              </a:spcBef>
              <a:spcAft>
                <a:spcPts val="0"/>
              </a:spcAft>
              <a:buSzPts val="1440"/>
              <a:buNone/>
            </a:pPr>
            <a:r>
              <a:rPr b="1" lang="en-US"/>
              <a:t>(3) a pointer to the next element in the linked list.</a:t>
            </a:r>
            <a:endParaRPr b="1"/>
          </a:p>
          <a:p>
            <a:pPr indent="-240030" lvl="0" marL="342900" rtl="0" algn="l">
              <a:spcBef>
                <a:spcPts val="630"/>
              </a:spcBef>
              <a:spcAft>
                <a:spcPts val="0"/>
              </a:spcAft>
              <a:buSzPts val="1620"/>
              <a:buNone/>
            </a:pPr>
            <a:r>
              <a:t/>
            </a:r>
            <a:endParaRPr b="1"/>
          </a:p>
        </p:txBody>
      </p:sp>
      <p:pic>
        <p:nvPicPr>
          <p:cNvPr id="1100" name="Google Shape;1100;p144"/>
          <p:cNvPicPr preferRelativeResize="0"/>
          <p:nvPr/>
        </p:nvPicPr>
        <p:blipFill rotWithShape="1">
          <a:blip r:embed="rId3">
            <a:alphaModFix/>
          </a:blip>
          <a:srcRect b="0" l="24859" r="16618" t="26694"/>
          <a:stretch/>
        </p:blipFill>
        <p:spPr>
          <a:xfrm>
            <a:off x="2811439" y="3957850"/>
            <a:ext cx="3603009" cy="2605231"/>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145"/>
          <p:cNvSpPr txBox="1"/>
          <p:nvPr>
            <p:ph type="title"/>
          </p:nvPr>
        </p:nvSpPr>
        <p:spPr>
          <a:xfrm>
            <a:off x="846138" y="166688"/>
            <a:ext cx="78406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Hashed Page Tables</a:t>
            </a:r>
            <a:endParaRPr/>
          </a:p>
        </p:txBody>
      </p:sp>
      <p:sp>
        <p:nvSpPr>
          <p:cNvPr id="1107" name="Google Shape;1107;p145"/>
          <p:cNvSpPr txBox="1"/>
          <p:nvPr>
            <p:ph idx="1" type="body"/>
          </p:nvPr>
        </p:nvSpPr>
        <p:spPr>
          <a:xfrm>
            <a:off x="903288" y="1141413"/>
            <a:ext cx="7626350" cy="47228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The algorithm works as follows: </a:t>
            </a:r>
            <a:endParaRPr/>
          </a:p>
          <a:p>
            <a:pPr indent="-342900" lvl="0" marL="342900" rtl="0" algn="l">
              <a:spcBef>
                <a:spcPts val="630"/>
              </a:spcBef>
              <a:spcAft>
                <a:spcPts val="0"/>
              </a:spcAft>
              <a:buSzPts val="1620"/>
              <a:buFont typeface="Arial"/>
              <a:buAutoNum type="arabicParenR"/>
            </a:pPr>
            <a:r>
              <a:rPr lang="en-US"/>
              <a:t>The virtual page number in the virtual address is hashed into the hash table. </a:t>
            </a:r>
            <a:endParaRPr/>
          </a:p>
          <a:p>
            <a:pPr indent="-342900" lvl="0" marL="342900" rtl="0" algn="l">
              <a:spcBef>
                <a:spcPts val="630"/>
              </a:spcBef>
              <a:spcAft>
                <a:spcPts val="0"/>
              </a:spcAft>
              <a:buSzPts val="1620"/>
              <a:buFont typeface="Arial"/>
              <a:buAutoNum type="arabicParenR"/>
            </a:pPr>
            <a:r>
              <a:rPr lang="en-US"/>
              <a:t>The virtual page number is compared with field 1 in the first element in the linked list. </a:t>
            </a:r>
            <a:endParaRPr/>
          </a:p>
          <a:p>
            <a:pPr indent="-342900" lvl="0" marL="342900" rtl="0" algn="l">
              <a:spcBef>
                <a:spcPts val="630"/>
              </a:spcBef>
              <a:spcAft>
                <a:spcPts val="0"/>
              </a:spcAft>
              <a:buSzPts val="1620"/>
              <a:buFont typeface="Arial"/>
              <a:buAutoNum type="arabicParenR"/>
            </a:pPr>
            <a:r>
              <a:rPr lang="en-US"/>
              <a:t>If there is a match, the corresponding page frame (field 2) is used to form the desired physical address.</a:t>
            </a:r>
            <a:endParaRPr/>
          </a:p>
          <a:p>
            <a:pPr indent="-342900" lvl="0" marL="342900" rtl="0" algn="l">
              <a:spcBef>
                <a:spcPts val="630"/>
              </a:spcBef>
              <a:spcAft>
                <a:spcPts val="0"/>
              </a:spcAft>
              <a:buSzPts val="1620"/>
              <a:buFont typeface="Arial"/>
              <a:buAutoNum type="arabicParenR"/>
            </a:pPr>
            <a:r>
              <a:rPr lang="en-US"/>
              <a:t>If there is no match, subsequent entries in the linked list are searched for a matching virtual page number.</a:t>
            </a:r>
            <a:endParaRPr/>
          </a:p>
        </p:txBody>
      </p:sp>
      <p:pic>
        <p:nvPicPr>
          <p:cNvPr id="1108" name="Google Shape;1108;p145"/>
          <p:cNvPicPr preferRelativeResize="0"/>
          <p:nvPr/>
        </p:nvPicPr>
        <p:blipFill rotWithShape="1">
          <a:blip r:embed="rId3">
            <a:alphaModFix/>
          </a:blip>
          <a:srcRect b="0" l="0" r="0" t="0"/>
          <a:stretch/>
        </p:blipFill>
        <p:spPr>
          <a:xfrm>
            <a:off x="2688608" y="4209031"/>
            <a:ext cx="4294567" cy="2479061"/>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146"/>
          <p:cNvSpPr txBox="1"/>
          <p:nvPr>
            <p:ph type="title"/>
          </p:nvPr>
        </p:nvSpPr>
        <p:spPr>
          <a:xfrm>
            <a:off x="457200" y="15240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Hashed Page Table</a:t>
            </a:r>
            <a:endParaRPr sz="2400"/>
          </a:p>
        </p:txBody>
      </p:sp>
      <p:pic>
        <p:nvPicPr>
          <p:cNvPr id="1115" name="Google Shape;1115;p146"/>
          <p:cNvPicPr preferRelativeResize="0"/>
          <p:nvPr/>
        </p:nvPicPr>
        <p:blipFill rotWithShape="1">
          <a:blip r:embed="rId3">
            <a:alphaModFix/>
          </a:blip>
          <a:srcRect b="0" l="0" r="0" t="0"/>
          <a:stretch/>
        </p:blipFill>
        <p:spPr>
          <a:xfrm>
            <a:off x="1512888" y="1274763"/>
            <a:ext cx="6616700" cy="3819525"/>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147"/>
          <p:cNvSpPr txBox="1"/>
          <p:nvPr>
            <p:ph type="title"/>
          </p:nvPr>
        </p:nvSpPr>
        <p:spPr>
          <a:xfrm>
            <a:off x="730250" y="152400"/>
            <a:ext cx="795655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Inverted Page Table</a:t>
            </a:r>
            <a:endParaRPr/>
          </a:p>
        </p:txBody>
      </p:sp>
      <p:sp>
        <p:nvSpPr>
          <p:cNvPr id="1122" name="Google Shape;1122;p147"/>
          <p:cNvSpPr txBox="1"/>
          <p:nvPr>
            <p:ph idx="1" type="body"/>
          </p:nvPr>
        </p:nvSpPr>
        <p:spPr>
          <a:xfrm>
            <a:off x="939800" y="1152525"/>
            <a:ext cx="7073900" cy="47926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Rather than each process having a page table and keeping track of all possible logical pages, track all physical pages</a:t>
            </a:r>
            <a:endParaRPr/>
          </a:p>
          <a:p>
            <a:pPr indent="-342900" lvl="0" marL="342900" rtl="0" algn="l">
              <a:spcBef>
                <a:spcPts val="630"/>
              </a:spcBef>
              <a:spcAft>
                <a:spcPts val="0"/>
              </a:spcAft>
              <a:buSzPts val="1620"/>
              <a:buChar char="●"/>
            </a:pPr>
            <a:r>
              <a:rPr b="1" lang="en-US">
                <a:solidFill>
                  <a:srgbClr val="00B0F0"/>
                </a:solidFill>
              </a:rPr>
              <a:t>One entry for each real page(frame) of memory</a:t>
            </a:r>
            <a:endParaRPr/>
          </a:p>
          <a:p>
            <a:pPr indent="-342900" lvl="0" marL="342900" rtl="0" algn="l">
              <a:spcBef>
                <a:spcPts val="630"/>
              </a:spcBef>
              <a:spcAft>
                <a:spcPts val="0"/>
              </a:spcAft>
              <a:buSzPts val="1620"/>
              <a:buChar char="●"/>
            </a:pPr>
            <a:r>
              <a:rPr lang="en-US"/>
              <a:t>Entry consists of the virtual address of the page stored in that real memory location, with information about the process that owns that page</a:t>
            </a:r>
            <a:endParaRPr/>
          </a:p>
          <a:p>
            <a:pPr indent="-342900" lvl="0" marL="342900" rtl="0" algn="l">
              <a:spcBef>
                <a:spcPts val="630"/>
              </a:spcBef>
              <a:spcAft>
                <a:spcPts val="0"/>
              </a:spcAft>
              <a:buSzPts val="1620"/>
              <a:buChar char="●"/>
            </a:pPr>
            <a:r>
              <a:rPr b="1" lang="en-US">
                <a:solidFill>
                  <a:srgbClr val="00B0F0"/>
                </a:solidFill>
              </a:rPr>
              <a:t>Thus, only one page table is in the system, and it has only one entry for each page(frame) of physical memory.</a:t>
            </a:r>
            <a:endParaRPr b="1">
              <a:solidFill>
                <a:srgbClr val="00B0F0"/>
              </a:solidFill>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148"/>
          <p:cNvSpPr txBox="1"/>
          <p:nvPr>
            <p:ph type="title"/>
          </p:nvPr>
        </p:nvSpPr>
        <p:spPr>
          <a:xfrm>
            <a:off x="958850" y="182563"/>
            <a:ext cx="77914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Inverted Page Table Architecture</a:t>
            </a:r>
            <a:endParaRPr sz="2400"/>
          </a:p>
        </p:txBody>
      </p:sp>
      <p:pic>
        <p:nvPicPr>
          <p:cNvPr id="1129" name="Google Shape;1129;p148"/>
          <p:cNvPicPr preferRelativeResize="0"/>
          <p:nvPr/>
        </p:nvPicPr>
        <p:blipFill rotWithShape="1">
          <a:blip r:embed="rId3">
            <a:alphaModFix/>
          </a:blip>
          <a:srcRect b="0" l="0" r="0" t="0"/>
          <a:stretch/>
        </p:blipFill>
        <p:spPr>
          <a:xfrm>
            <a:off x="2232501" y="3764711"/>
            <a:ext cx="4206012" cy="2908717"/>
          </a:xfrm>
          <a:prstGeom prst="rect">
            <a:avLst/>
          </a:prstGeom>
          <a:noFill/>
          <a:ln>
            <a:noFill/>
          </a:ln>
        </p:spPr>
      </p:pic>
      <p:pic>
        <p:nvPicPr>
          <p:cNvPr id="1130" name="Google Shape;1130;p148"/>
          <p:cNvPicPr preferRelativeResize="0"/>
          <p:nvPr/>
        </p:nvPicPr>
        <p:blipFill rotWithShape="1">
          <a:blip r:embed="rId4">
            <a:alphaModFix/>
          </a:blip>
          <a:srcRect b="0" l="0" r="0" t="0"/>
          <a:stretch/>
        </p:blipFill>
        <p:spPr>
          <a:xfrm>
            <a:off x="2232501" y="1040680"/>
            <a:ext cx="4323489" cy="2724031"/>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149"/>
          <p:cNvSpPr txBox="1"/>
          <p:nvPr>
            <p:ph type="title"/>
          </p:nvPr>
        </p:nvSpPr>
        <p:spPr>
          <a:xfrm>
            <a:off x="958850" y="182563"/>
            <a:ext cx="77914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Inverted Page Table Architecture</a:t>
            </a:r>
            <a:endParaRPr sz="2400"/>
          </a:p>
        </p:txBody>
      </p:sp>
      <p:pic>
        <p:nvPicPr>
          <p:cNvPr id="1137" name="Google Shape;1137;p149"/>
          <p:cNvPicPr preferRelativeResize="0"/>
          <p:nvPr/>
        </p:nvPicPr>
        <p:blipFill rotWithShape="1">
          <a:blip r:embed="rId3">
            <a:alphaModFix/>
          </a:blip>
          <a:srcRect b="0" l="0" r="0" t="0"/>
          <a:stretch/>
        </p:blipFill>
        <p:spPr>
          <a:xfrm>
            <a:off x="3635788" y="3745171"/>
            <a:ext cx="4206012" cy="2908717"/>
          </a:xfrm>
          <a:prstGeom prst="rect">
            <a:avLst/>
          </a:prstGeom>
          <a:noFill/>
          <a:ln>
            <a:noFill/>
          </a:ln>
        </p:spPr>
      </p:pic>
      <p:sp>
        <p:nvSpPr>
          <p:cNvPr id="1138" name="Google Shape;1138;p149"/>
          <p:cNvSpPr txBox="1"/>
          <p:nvPr/>
        </p:nvSpPr>
        <p:spPr>
          <a:xfrm>
            <a:off x="939800" y="1052937"/>
            <a:ext cx="7073900" cy="479266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993300"/>
              </a:buClr>
              <a:buSzPts val="1620"/>
              <a:buFont typeface="Arial"/>
              <a:buChar char="●"/>
            </a:pPr>
            <a:r>
              <a:rPr lang="en-US" sz="1800">
                <a:solidFill>
                  <a:schemeClr val="dk1"/>
                </a:solidFill>
                <a:latin typeface="Helvetica Neue"/>
                <a:ea typeface="Helvetica Neue"/>
                <a:cs typeface="Helvetica Neue"/>
                <a:sym typeface="Helvetica Neue"/>
              </a:rPr>
              <a:t>Each virtual address in the system consists of a triple:</a:t>
            </a:r>
            <a:endParaRPr/>
          </a:p>
          <a:p>
            <a:pPr indent="0" lvl="0" marL="0" marR="0" rtl="0" algn="l">
              <a:spcBef>
                <a:spcPts val="630"/>
              </a:spcBef>
              <a:spcAft>
                <a:spcPts val="0"/>
              </a:spcAft>
              <a:buClr>
                <a:srgbClr val="993300"/>
              </a:buClr>
              <a:buSzPts val="1620"/>
              <a:buFont typeface="Arial"/>
              <a:buNone/>
            </a:pPr>
            <a:r>
              <a:rPr lang="en-US" sz="1800">
                <a:solidFill>
                  <a:schemeClr val="dk1"/>
                </a:solidFill>
                <a:latin typeface="Helvetica Neue"/>
                <a:ea typeface="Helvetica Neue"/>
                <a:cs typeface="Helvetica Neue"/>
                <a:sym typeface="Helvetica Neue"/>
              </a:rPr>
              <a:t>&lt;process-id, page-number, offset&gt;</a:t>
            </a:r>
            <a:endParaRPr/>
          </a:p>
          <a:p>
            <a:pPr indent="-342900" lvl="0" marL="342900" marR="0" rtl="0" algn="l">
              <a:spcBef>
                <a:spcPts val="630"/>
              </a:spcBef>
              <a:spcAft>
                <a:spcPts val="0"/>
              </a:spcAft>
              <a:buClr>
                <a:srgbClr val="993300"/>
              </a:buClr>
              <a:buSzPts val="1620"/>
              <a:buFont typeface="Arial"/>
              <a:buAutoNum type="arabicParenR"/>
            </a:pPr>
            <a:r>
              <a:rPr lang="en-US" sz="1800">
                <a:solidFill>
                  <a:schemeClr val="dk1"/>
                </a:solidFill>
                <a:latin typeface="Helvetica Neue"/>
                <a:ea typeface="Helvetica Neue"/>
                <a:cs typeface="Helvetica Neue"/>
                <a:sym typeface="Helvetica Neue"/>
              </a:rPr>
              <a:t>When a memory reference occurs, part of the virtual address, consisting of &lt;process-id, pagenumber&gt; is presented to the memory subsystem. </a:t>
            </a:r>
            <a:endParaRPr/>
          </a:p>
          <a:p>
            <a:pPr indent="-342900" lvl="0" marL="342900" marR="0" rtl="0" algn="l">
              <a:spcBef>
                <a:spcPts val="630"/>
              </a:spcBef>
              <a:spcAft>
                <a:spcPts val="0"/>
              </a:spcAft>
              <a:buClr>
                <a:srgbClr val="993300"/>
              </a:buClr>
              <a:buSzPts val="1620"/>
              <a:buFont typeface="Arial"/>
              <a:buAutoNum type="arabicParenR"/>
            </a:pPr>
            <a:r>
              <a:rPr lang="en-US" sz="1800">
                <a:solidFill>
                  <a:schemeClr val="dk1"/>
                </a:solidFill>
                <a:latin typeface="Helvetica Neue"/>
                <a:ea typeface="Helvetica Neue"/>
                <a:cs typeface="Helvetica Neue"/>
                <a:sym typeface="Helvetica Neue"/>
              </a:rPr>
              <a:t>The inverted page table is then searched for a match. </a:t>
            </a:r>
            <a:endParaRPr/>
          </a:p>
          <a:p>
            <a:pPr indent="-342900" lvl="0" marL="342900" marR="0" rtl="0" algn="l">
              <a:spcBef>
                <a:spcPts val="630"/>
              </a:spcBef>
              <a:spcAft>
                <a:spcPts val="0"/>
              </a:spcAft>
              <a:buClr>
                <a:srgbClr val="993300"/>
              </a:buClr>
              <a:buSzPts val="1620"/>
              <a:buFont typeface="Arial"/>
              <a:buAutoNum type="arabicParenR"/>
            </a:pPr>
            <a:r>
              <a:rPr lang="en-US" sz="1800">
                <a:solidFill>
                  <a:schemeClr val="dk1"/>
                </a:solidFill>
                <a:latin typeface="Helvetica Neue"/>
                <a:ea typeface="Helvetica Neue"/>
                <a:cs typeface="Helvetica Neue"/>
                <a:sym typeface="Helvetica Neue"/>
              </a:rPr>
              <a:t>If a match is found-say, at entry i-then the physical address </a:t>
            </a:r>
            <a:r>
              <a:rPr i="1" lang="en-US" sz="1800">
                <a:solidFill>
                  <a:schemeClr val="dk1"/>
                </a:solidFill>
                <a:latin typeface="Helvetica Neue"/>
                <a:ea typeface="Helvetica Neue"/>
                <a:cs typeface="Helvetica Neue"/>
                <a:sym typeface="Helvetica Neue"/>
              </a:rPr>
              <a:t>&lt;i, </a:t>
            </a:r>
            <a:r>
              <a:rPr lang="en-US" sz="1800">
                <a:solidFill>
                  <a:schemeClr val="dk1"/>
                </a:solidFill>
                <a:latin typeface="Helvetica Neue"/>
                <a:ea typeface="Helvetica Neue"/>
                <a:cs typeface="Helvetica Neue"/>
                <a:sym typeface="Helvetica Neue"/>
              </a:rPr>
              <a:t>offset&gt; is generated. </a:t>
            </a:r>
            <a:endParaRPr/>
          </a:p>
          <a:p>
            <a:pPr indent="-342900" lvl="0" marL="342900" marR="0" rtl="0" algn="l">
              <a:spcBef>
                <a:spcPts val="630"/>
              </a:spcBef>
              <a:spcAft>
                <a:spcPts val="0"/>
              </a:spcAft>
              <a:buClr>
                <a:srgbClr val="993300"/>
              </a:buClr>
              <a:buSzPts val="1620"/>
              <a:buFont typeface="Arial"/>
              <a:buAutoNum type="arabicParenR"/>
            </a:pPr>
            <a:r>
              <a:rPr lang="en-US" sz="1800">
                <a:solidFill>
                  <a:schemeClr val="dk1"/>
                </a:solidFill>
                <a:latin typeface="Helvetica Neue"/>
                <a:ea typeface="Helvetica Neue"/>
                <a:cs typeface="Helvetica Neue"/>
                <a:sym typeface="Helvetica Neue"/>
              </a:rPr>
              <a:t>If no match is found, then an illegal address access has been attempted.</a:t>
            </a:r>
            <a:endParaRPr b="1" sz="1800">
              <a:solidFill>
                <a:srgbClr val="00B0F0"/>
              </a:solidFill>
              <a:latin typeface="Helvetica Neue"/>
              <a:ea typeface="Helvetica Neue"/>
              <a:cs typeface="Helvetica Neue"/>
              <a:sym typeface="Helvetica Neue"/>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150"/>
          <p:cNvSpPr txBox="1"/>
          <p:nvPr>
            <p:ph type="title"/>
          </p:nvPr>
        </p:nvSpPr>
        <p:spPr>
          <a:xfrm>
            <a:off x="45720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Segmentation</a:t>
            </a:r>
            <a:endParaRPr/>
          </a:p>
        </p:txBody>
      </p:sp>
      <p:sp>
        <p:nvSpPr>
          <p:cNvPr id="1145" name="Google Shape;1145;p150"/>
          <p:cNvSpPr txBox="1"/>
          <p:nvPr>
            <p:ph idx="1" type="body"/>
          </p:nvPr>
        </p:nvSpPr>
        <p:spPr>
          <a:xfrm>
            <a:off x="873125" y="1157288"/>
            <a:ext cx="7702550" cy="49403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lang="en-US"/>
              <a:t>Memory-management scheme that supports user view of memory </a:t>
            </a:r>
            <a:endParaRPr sz="800"/>
          </a:p>
          <a:p>
            <a:pPr indent="-342900" lvl="0" marL="342900" rtl="0" algn="l">
              <a:lnSpc>
                <a:spcPct val="90000"/>
              </a:lnSpc>
              <a:spcBef>
                <a:spcPts val="630"/>
              </a:spcBef>
              <a:spcAft>
                <a:spcPts val="0"/>
              </a:spcAft>
              <a:buSzPts val="1620"/>
              <a:buChar char="●"/>
            </a:pPr>
            <a:r>
              <a:rPr lang="en-US"/>
              <a:t>A program is a collection of segments</a:t>
            </a:r>
            <a:endParaRPr/>
          </a:p>
          <a:p>
            <a:pPr indent="-285750" lvl="1" marL="742950" rtl="0" algn="l">
              <a:lnSpc>
                <a:spcPct val="90000"/>
              </a:lnSpc>
              <a:spcBef>
                <a:spcPts val="630"/>
              </a:spcBef>
              <a:spcAft>
                <a:spcPts val="0"/>
              </a:spcAft>
              <a:buSzPts val="1440"/>
              <a:buChar char="●"/>
            </a:pPr>
            <a:r>
              <a:rPr lang="en-US"/>
              <a:t>A segment is a logical unit such as:</a:t>
            </a:r>
            <a:endParaRPr/>
          </a:p>
          <a:p>
            <a:pPr indent="-342900" lvl="0" marL="342900" rtl="0" algn="l">
              <a:lnSpc>
                <a:spcPct val="90000"/>
              </a:lnSpc>
              <a:spcBef>
                <a:spcPts val="630"/>
              </a:spcBef>
              <a:spcAft>
                <a:spcPts val="0"/>
              </a:spcAft>
              <a:buSzPts val="1620"/>
              <a:buFont typeface="Arial"/>
              <a:buNone/>
            </a:pPr>
            <a:r>
              <a:rPr lang="en-US"/>
              <a:t>		main program</a:t>
            </a:r>
            <a:endParaRPr/>
          </a:p>
          <a:p>
            <a:pPr indent="-342900" lvl="0" marL="342900" rtl="0" algn="l">
              <a:lnSpc>
                <a:spcPct val="90000"/>
              </a:lnSpc>
              <a:spcBef>
                <a:spcPts val="630"/>
              </a:spcBef>
              <a:spcAft>
                <a:spcPts val="0"/>
              </a:spcAft>
              <a:buSzPts val="1620"/>
              <a:buFont typeface="Arial"/>
              <a:buNone/>
            </a:pPr>
            <a:r>
              <a:rPr lang="en-US"/>
              <a:t>		procedure </a:t>
            </a:r>
            <a:endParaRPr/>
          </a:p>
          <a:p>
            <a:pPr indent="-342900" lvl="0" marL="342900" rtl="0" algn="l">
              <a:lnSpc>
                <a:spcPct val="90000"/>
              </a:lnSpc>
              <a:spcBef>
                <a:spcPts val="630"/>
              </a:spcBef>
              <a:spcAft>
                <a:spcPts val="0"/>
              </a:spcAft>
              <a:buSzPts val="1620"/>
              <a:buFont typeface="Arial"/>
              <a:buNone/>
            </a:pPr>
            <a:r>
              <a:rPr lang="en-US"/>
              <a:t>		function</a:t>
            </a:r>
            <a:endParaRPr/>
          </a:p>
          <a:p>
            <a:pPr indent="-342900" lvl="0" marL="342900" rtl="0" algn="l">
              <a:lnSpc>
                <a:spcPct val="90000"/>
              </a:lnSpc>
              <a:spcBef>
                <a:spcPts val="630"/>
              </a:spcBef>
              <a:spcAft>
                <a:spcPts val="0"/>
              </a:spcAft>
              <a:buSzPts val="1620"/>
              <a:buFont typeface="Arial"/>
              <a:buNone/>
            </a:pPr>
            <a:r>
              <a:rPr lang="en-US"/>
              <a:t>		method</a:t>
            </a:r>
            <a:endParaRPr/>
          </a:p>
          <a:p>
            <a:pPr indent="-342900" lvl="0" marL="342900" rtl="0" algn="l">
              <a:lnSpc>
                <a:spcPct val="90000"/>
              </a:lnSpc>
              <a:spcBef>
                <a:spcPts val="630"/>
              </a:spcBef>
              <a:spcAft>
                <a:spcPts val="0"/>
              </a:spcAft>
              <a:buSzPts val="1620"/>
              <a:buFont typeface="Arial"/>
              <a:buNone/>
            </a:pPr>
            <a:r>
              <a:rPr lang="en-US"/>
              <a:t>		object</a:t>
            </a:r>
            <a:endParaRPr/>
          </a:p>
          <a:p>
            <a:pPr indent="-342900" lvl="0" marL="342900" rtl="0" algn="l">
              <a:lnSpc>
                <a:spcPct val="90000"/>
              </a:lnSpc>
              <a:spcBef>
                <a:spcPts val="630"/>
              </a:spcBef>
              <a:spcAft>
                <a:spcPts val="0"/>
              </a:spcAft>
              <a:buSzPts val="1620"/>
              <a:buFont typeface="Arial"/>
              <a:buNone/>
            </a:pPr>
            <a:r>
              <a:rPr lang="en-US"/>
              <a:t>		local variables, global variables</a:t>
            </a:r>
            <a:endParaRPr/>
          </a:p>
          <a:p>
            <a:pPr indent="-342900" lvl="0" marL="342900" rtl="0" algn="l">
              <a:lnSpc>
                <a:spcPct val="90000"/>
              </a:lnSpc>
              <a:spcBef>
                <a:spcPts val="630"/>
              </a:spcBef>
              <a:spcAft>
                <a:spcPts val="0"/>
              </a:spcAft>
              <a:buSzPts val="1620"/>
              <a:buFont typeface="Arial"/>
              <a:buNone/>
            </a:pPr>
            <a:r>
              <a:rPr lang="en-US"/>
              <a:t>		common block</a:t>
            </a:r>
            <a:endParaRPr/>
          </a:p>
          <a:p>
            <a:pPr indent="-342900" lvl="0" marL="342900" rtl="0" algn="l">
              <a:lnSpc>
                <a:spcPct val="90000"/>
              </a:lnSpc>
              <a:spcBef>
                <a:spcPts val="630"/>
              </a:spcBef>
              <a:spcAft>
                <a:spcPts val="0"/>
              </a:spcAft>
              <a:buSzPts val="1620"/>
              <a:buFont typeface="Arial"/>
              <a:buNone/>
            </a:pPr>
            <a:r>
              <a:rPr lang="en-US"/>
              <a:t>		stack</a:t>
            </a:r>
            <a:endParaRPr/>
          </a:p>
          <a:p>
            <a:pPr indent="-342900" lvl="0" marL="342900" rtl="0" algn="l">
              <a:lnSpc>
                <a:spcPct val="90000"/>
              </a:lnSpc>
              <a:spcBef>
                <a:spcPts val="630"/>
              </a:spcBef>
              <a:spcAft>
                <a:spcPts val="0"/>
              </a:spcAft>
              <a:buSzPts val="1620"/>
              <a:buFont typeface="Arial"/>
              <a:buNone/>
            </a:pPr>
            <a:r>
              <a:rPr lang="en-US"/>
              <a:t>		symbol table</a:t>
            </a:r>
            <a:endParaRPr/>
          </a:p>
          <a:p>
            <a:pPr indent="-342900" lvl="0" marL="342900" rtl="0" algn="l">
              <a:lnSpc>
                <a:spcPct val="90000"/>
              </a:lnSpc>
              <a:spcBef>
                <a:spcPts val="630"/>
              </a:spcBef>
              <a:spcAft>
                <a:spcPts val="0"/>
              </a:spcAft>
              <a:buSzPts val="1620"/>
              <a:buFont typeface="Arial"/>
              <a:buNone/>
            </a:pPr>
            <a:r>
              <a:rPr lang="en-US"/>
              <a:t>		arrays</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151"/>
          <p:cNvSpPr txBox="1"/>
          <p:nvPr>
            <p:ph type="title"/>
          </p:nvPr>
        </p:nvSpPr>
        <p:spPr>
          <a:xfrm>
            <a:off x="45720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User’s View of a Program</a:t>
            </a:r>
            <a:endParaRPr sz="2400"/>
          </a:p>
        </p:txBody>
      </p:sp>
      <p:pic>
        <p:nvPicPr>
          <p:cNvPr id="1152" name="Google Shape;1152;p151"/>
          <p:cNvPicPr preferRelativeResize="0"/>
          <p:nvPr/>
        </p:nvPicPr>
        <p:blipFill rotWithShape="1">
          <a:blip r:embed="rId3">
            <a:alphaModFix/>
          </a:blip>
          <a:srcRect b="0" l="0" r="0" t="0"/>
          <a:stretch/>
        </p:blipFill>
        <p:spPr>
          <a:xfrm>
            <a:off x="619125" y="1233488"/>
            <a:ext cx="3695700" cy="4838700"/>
          </a:xfrm>
          <a:prstGeom prst="rect">
            <a:avLst/>
          </a:prstGeom>
          <a:noFill/>
          <a:ln>
            <a:noFill/>
          </a:ln>
        </p:spPr>
      </p:pic>
      <p:sp>
        <p:nvSpPr>
          <p:cNvPr id="1153" name="Google Shape;1153;p151"/>
          <p:cNvSpPr/>
          <p:nvPr/>
        </p:nvSpPr>
        <p:spPr>
          <a:xfrm>
            <a:off x="4722125" y="1233488"/>
            <a:ext cx="4287530" cy="230832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Verdana"/>
                <a:ea typeface="Verdana"/>
                <a:cs typeface="Verdana"/>
                <a:sym typeface="Verdana"/>
              </a:rPr>
              <a:t>A logical address space is a collection of segments.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Verdana"/>
                <a:ea typeface="Verdana"/>
                <a:cs typeface="Verdana"/>
                <a:sym typeface="Verdana"/>
              </a:rPr>
              <a:t>Each segment has a name and a length.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Verdana"/>
                <a:ea typeface="Verdana"/>
                <a:cs typeface="Verdana"/>
                <a:sym typeface="Verdana"/>
              </a:rPr>
              <a:t>The addresses specify both the </a:t>
            </a:r>
            <a:endParaRPr/>
          </a:p>
          <a:p>
            <a:pPr indent="-342900" lvl="0" marL="342900" marR="0" rtl="0" algn="l">
              <a:spcBef>
                <a:spcPts val="0"/>
              </a:spcBef>
              <a:spcAft>
                <a:spcPts val="0"/>
              </a:spcAft>
              <a:buClr>
                <a:schemeClr val="dk1"/>
              </a:buClr>
              <a:buSzPts val="1800"/>
              <a:buFont typeface="Arial"/>
              <a:buAutoNum type="arabicParenR"/>
            </a:pPr>
            <a:r>
              <a:rPr b="1" lang="en-US" sz="1800">
                <a:solidFill>
                  <a:schemeClr val="dk1"/>
                </a:solidFill>
                <a:latin typeface="Verdana"/>
                <a:ea typeface="Verdana"/>
                <a:cs typeface="Verdana"/>
                <a:sym typeface="Verdana"/>
              </a:rPr>
              <a:t>segment name and </a:t>
            </a:r>
            <a:endParaRPr/>
          </a:p>
          <a:p>
            <a:pPr indent="-342900" lvl="0" marL="342900" marR="0" rtl="0" algn="l">
              <a:spcBef>
                <a:spcPts val="0"/>
              </a:spcBef>
              <a:spcAft>
                <a:spcPts val="0"/>
              </a:spcAft>
              <a:buClr>
                <a:schemeClr val="dk1"/>
              </a:buClr>
              <a:buSzPts val="1800"/>
              <a:buFont typeface="Arial"/>
              <a:buAutoNum type="arabicParenR"/>
            </a:pPr>
            <a:r>
              <a:rPr b="1" lang="en-US" sz="1800">
                <a:solidFill>
                  <a:schemeClr val="dk1"/>
                </a:solidFill>
                <a:latin typeface="Verdana"/>
                <a:ea typeface="Verdana"/>
                <a:cs typeface="Verdana"/>
                <a:sym typeface="Verdana"/>
              </a:rPr>
              <a:t>the offset within the segment. </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152"/>
          <p:cNvSpPr txBox="1"/>
          <p:nvPr>
            <p:ph type="title"/>
          </p:nvPr>
        </p:nvSpPr>
        <p:spPr>
          <a:xfrm>
            <a:off x="885825" y="136525"/>
            <a:ext cx="780097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Logical View of Segmentation</a:t>
            </a:r>
            <a:endParaRPr/>
          </a:p>
        </p:txBody>
      </p:sp>
      <p:sp>
        <p:nvSpPr>
          <p:cNvPr id="1160" name="Google Shape;1160;p152"/>
          <p:cNvSpPr/>
          <p:nvPr/>
        </p:nvSpPr>
        <p:spPr>
          <a:xfrm>
            <a:off x="1371600" y="1171575"/>
            <a:ext cx="2895600" cy="39624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Verdana"/>
              <a:ea typeface="Verdana"/>
              <a:cs typeface="Verdana"/>
              <a:sym typeface="Verdana"/>
            </a:endParaRPr>
          </a:p>
        </p:txBody>
      </p:sp>
      <p:sp>
        <p:nvSpPr>
          <p:cNvPr id="1161" name="Google Shape;1161;p152"/>
          <p:cNvSpPr/>
          <p:nvPr/>
        </p:nvSpPr>
        <p:spPr>
          <a:xfrm>
            <a:off x="1905000" y="1857375"/>
            <a:ext cx="990600" cy="5334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1</a:t>
            </a:r>
            <a:endParaRPr/>
          </a:p>
        </p:txBody>
      </p:sp>
      <p:sp>
        <p:nvSpPr>
          <p:cNvPr id="1162" name="Google Shape;1162;p152"/>
          <p:cNvSpPr/>
          <p:nvPr/>
        </p:nvSpPr>
        <p:spPr>
          <a:xfrm>
            <a:off x="1752600" y="3000375"/>
            <a:ext cx="914400" cy="9144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3</a:t>
            </a:r>
            <a:endParaRPr/>
          </a:p>
        </p:txBody>
      </p:sp>
      <p:sp>
        <p:nvSpPr>
          <p:cNvPr id="1163" name="Google Shape;1163;p152"/>
          <p:cNvSpPr/>
          <p:nvPr/>
        </p:nvSpPr>
        <p:spPr>
          <a:xfrm>
            <a:off x="3200400" y="2466975"/>
            <a:ext cx="914400" cy="3810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2</a:t>
            </a:r>
            <a:endParaRPr/>
          </a:p>
        </p:txBody>
      </p:sp>
      <p:sp>
        <p:nvSpPr>
          <p:cNvPr id="1164" name="Google Shape;1164;p152"/>
          <p:cNvSpPr/>
          <p:nvPr/>
        </p:nvSpPr>
        <p:spPr>
          <a:xfrm>
            <a:off x="3124200" y="3457575"/>
            <a:ext cx="914400" cy="5334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4</a:t>
            </a:r>
            <a:endParaRPr/>
          </a:p>
        </p:txBody>
      </p:sp>
      <p:grpSp>
        <p:nvGrpSpPr>
          <p:cNvPr id="1165" name="Google Shape;1165;p152"/>
          <p:cNvGrpSpPr/>
          <p:nvPr/>
        </p:nvGrpSpPr>
        <p:grpSpPr>
          <a:xfrm>
            <a:off x="5638800" y="1171575"/>
            <a:ext cx="1143000" cy="3962400"/>
            <a:chOff x="3888" y="1056"/>
            <a:chExt cx="720" cy="2496"/>
          </a:xfrm>
        </p:grpSpPr>
        <p:grpSp>
          <p:nvGrpSpPr>
            <p:cNvPr id="1166" name="Google Shape;1166;p152"/>
            <p:cNvGrpSpPr/>
            <p:nvPr/>
          </p:nvGrpSpPr>
          <p:grpSpPr>
            <a:xfrm>
              <a:off x="3888" y="1056"/>
              <a:ext cx="720" cy="672"/>
              <a:chOff x="3888" y="1056"/>
              <a:chExt cx="720" cy="672"/>
            </a:xfrm>
          </p:grpSpPr>
          <p:sp>
            <p:nvSpPr>
              <p:cNvPr id="1167" name="Google Shape;1167;p152"/>
              <p:cNvSpPr/>
              <p:nvPr/>
            </p:nvSpPr>
            <p:spPr>
              <a:xfrm>
                <a:off x="3888" y="1056"/>
                <a:ext cx="720" cy="67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Verdana"/>
                  <a:ea typeface="Verdana"/>
                  <a:cs typeface="Verdana"/>
                  <a:sym typeface="Verdana"/>
                </a:endParaRPr>
              </a:p>
            </p:txBody>
          </p:sp>
          <p:cxnSp>
            <p:nvCxnSpPr>
              <p:cNvPr id="1168" name="Google Shape;1168;p152"/>
              <p:cNvCxnSpPr/>
              <p:nvPr/>
            </p:nvCxnSpPr>
            <p:spPr>
              <a:xfrm>
                <a:off x="3888" y="1392"/>
                <a:ext cx="720" cy="0"/>
              </a:xfrm>
              <a:prstGeom prst="straightConnector1">
                <a:avLst/>
              </a:prstGeom>
              <a:noFill/>
              <a:ln cap="flat" cmpd="sng" w="9525">
                <a:solidFill>
                  <a:schemeClr val="dk1"/>
                </a:solidFill>
                <a:prstDash val="solid"/>
                <a:round/>
                <a:headEnd len="med" w="med" type="none"/>
                <a:tailEnd len="med" w="med" type="none"/>
              </a:ln>
            </p:spPr>
          </p:cxnSp>
        </p:grpSp>
        <p:grpSp>
          <p:nvGrpSpPr>
            <p:cNvPr id="1169" name="Google Shape;1169;p152"/>
            <p:cNvGrpSpPr/>
            <p:nvPr/>
          </p:nvGrpSpPr>
          <p:grpSpPr>
            <a:xfrm>
              <a:off x="3888" y="1728"/>
              <a:ext cx="720" cy="672"/>
              <a:chOff x="3888" y="1056"/>
              <a:chExt cx="720" cy="672"/>
            </a:xfrm>
          </p:grpSpPr>
          <p:sp>
            <p:nvSpPr>
              <p:cNvPr id="1170" name="Google Shape;1170;p152"/>
              <p:cNvSpPr/>
              <p:nvPr/>
            </p:nvSpPr>
            <p:spPr>
              <a:xfrm>
                <a:off x="3888" y="1056"/>
                <a:ext cx="720" cy="672"/>
              </a:xfrm>
              <a:prstGeom prst="rect">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Verdana"/>
                  <a:ea typeface="Verdana"/>
                  <a:cs typeface="Verdana"/>
                  <a:sym typeface="Verdana"/>
                </a:endParaRPr>
              </a:p>
            </p:txBody>
          </p:sp>
          <p:cxnSp>
            <p:nvCxnSpPr>
              <p:cNvPr id="1171" name="Google Shape;1171;p152"/>
              <p:cNvCxnSpPr/>
              <p:nvPr/>
            </p:nvCxnSpPr>
            <p:spPr>
              <a:xfrm>
                <a:off x="3888" y="1392"/>
                <a:ext cx="720" cy="0"/>
              </a:xfrm>
              <a:prstGeom prst="straightConnector1">
                <a:avLst/>
              </a:prstGeom>
              <a:noFill/>
              <a:ln cap="flat" cmpd="sng" w="9525">
                <a:solidFill>
                  <a:schemeClr val="dk1"/>
                </a:solidFill>
                <a:prstDash val="solid"/>
                <a:round/>
                <a:headEnd len="med" w="med" type="none"/>
                <a:tailEnd len="med" w="med" type="none"/>
              </a:ln>
            </p:spPr>
          </p:cxnSp>
        </p:grpSp>
        <p:sp>
          <p:nvSpPr>
            <p:cNvPr id="1172" name="Google Shape;1172;p152"/>
            <p:cNvSpPr txBox="1"/>
            <p:nvPr/>
          </p:nvSpPr>
          <p:spPr>
            <a:xfrm>
              <a:off x="4125" y="1132"/>
              <a:ext cx="197" cy="233"/>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1</a:t>
              </a:r>
              <a:endParaRPr/>
            </a:p>
          </p:txBody>
        </p:sp>
        <p:sp>
          <p:nvSpPr>
            <p:cNvPr id="1173" name="Google Shape;1173;p152"/>
            <p:cNvSpPr txBox="1"/>
            <p:nvPr/>
          </p:nvSpPr>
          <p:spPr>
            <a:xfrm>
              <a:off x="4127" y="1439"/>
              <a:ext cx="197" cy="233"/>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4</a:t>
              </a:r>
              <a:endParaRPr/>
            </a:p>
          </p:txBody>
        </p:sp>
        <p:sp>
          <p:nvSpPr>
            <p:cNvPr id="1174" name="Google Shape;1174;p152"/>
            <p:cNvSpPr/>
            <p:nvPr/>
          </p:nvSpPr>
          <p:spPr>
            <a:xfrm>
              <a:off x="3888" y="2400"/>
              <a:ext cx="720" cy="9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Verdana"/>
                <a:ea typeface="Verdana"/>
                <a:cs typeface="Verdana"/>
                <a:sym typeface="Verdana"/>
              </a:endParaRPr>
            </a:p>
          </p:txBody>
        </p:sp>
        <p:sp>
          <p:nvSpPr>
            <p:cNvPr id="1175" name="Google Shape;1175;p152"/>
            <p:cNvSpPr/>
            <p:nvPr/>
          </p:nvSpPr>
          <p:spPr>
            <a:xfrm>
              <a:off x="3888" y="3312"/>
              <a:ext cx="720" cy="240"/>
            </a:xfrm>
            <a:prstGeom prst="rect">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Verdana"/>
                <a:ea typeface="Verdana"/>
                <a:cs typeface="Verdana"/>
                <a:sym typeface="Verdana"/>
              </a:endParaRPr>
            </a:p>
          </p:txBody>
        </p:sp>
        <p:cxnSp>
          <p:nvCxnSpPr>
            <p:cNvPr id="1176" name="Google Shape;1176;p152"/>
            <p:cNvCxnSpPr/>
            <p:nvPr/>
          </p:nvCxnSpPr>
          <p:spPr>
            <a:xfrm>
              <a:off x="3888" y="2640"/>
              <a:ext cx="720" cy="0"/>
            </a:xfrm>
            <a:prstGeom prst="straightConnector1">
              <a:avLst/>
            </a:prstGeom>
            <a:noFill/>
            <a:ln cap="flat" cmpd="sng" w="9525">
              <a:solidFill>
                <a:schemeClr val="dk1"/>
              </a:solidFill>
              <a:prstDash val="solid"/>
              <a:round/>
              <a:headEnd len="med" w="med" type="none"/>
              <a:tailEnd len="med" w="med" type="none"/>
            </a:ln>
          </p:spPr>
        </p:cxnSp>
        <p:sp>
          <p:nvSpPr>
            <p:cNvPr id="1177" name="Google Shape;1177;p152"/>
            <p:cNvSpPr txBox="1"/>
            <p:nvPr/>
          </p:nvSpPr>
          <p:spPr>
            <a:xfrm>
              <a:off x="4127" y="2428"/>
              <a:ext cx="197" cy="233"/>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2</a:t>
              </a:r>
              <a:endParaRPr/>
            </a:p>
          </p:txBody>
        </p:sp>
        <p:sp>
          <p:nvSpPr>
            <p:cNvPr id="1178" name="Google Shape;1178;p152"/>
            <p:cNvSpPr txBox="1"/>
            <p:nvPr/>
          </p:nvSpPr>
          <p:spPr>
            <a:xfrm>
              <a:off x="4127" y="2888"/>
              <a:ext cx="197" cy="233"/>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3</a:t>
              </a:r>
              <a:endParaRPr/>
            </a:p>
          </p:txBody>
        </p:sp>
      </p:grpSp>
      <p:sp>
        <p:nvSpPr>
          <p:cNvPr id="1179" name="Google Shape;1179;p152"/>
          <p:cNvSpPr txBox="1"/>
          <p:nvPr/>
        </p:nvSpPr>
        <p:spPr>
          <a:xfrm>
            <a:off x="2016125" y="5254625"/>
            <a:ext cx="1377950" cy="369888"/>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user space </a:t>
            </a:r>
            <a:endParaRPr/>
          </a:p>
        </p:txBody>
      </p:sp>
      <p:sp>
        <p:nvSpPr>
          <p:cNvPr id="1180" name="Google Shape;1180;p152"/>
          <p:cNvSpPr txBox="1"/>
          <p:nvPr/>
        </p:nvSpPr>
        <p:spPr>
          <a:xfrm>
            <a:off x="4870450" y="5254625"/>
            <a:ext cx="2597150" cy="369888"/>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physical memory space</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153"/>
          <p:cNvSpPr txBox="1"/>
          <p:nvPr>
            <p:ph type="title"/>
          </p:nvPr>
        </p:nvSpPr>
        <p:spPr>
          <a:xfrm>
            <a:off x="777875" y="166688"/>
            <a:ext cx="79089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Segmentation Architecture </a:t>
            </a:r>
            <a:endParaRPr/>
          </a:p>
        </p:txBody>
      </p:sp>
      <p:sp>
        <p:nvSpPr>
          <p:cNvPr id="1187" name="Google Shape;1187;p153"/>
          <p:cNvSpPr txBox="1"/>
          <p:nvPr>
            <p:ph idx="1" type="body"/>
          </p:nvPr>
        </p:nvSpPr>
        <p:spPr>
          <a:xfrm>
            <a:off x="903288" y="1093788"/>
            <a:ext cx="7246937" cy="50530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Segments are numbered and are referred to by a segment number, rather than by a segment name. </a:t>
            </a:r>
            <a:endParaRPr/>
          </a:p>
          <a:p>
            <a:pPr indent="-342900" lvl="0" marL="342900" rtl="0" algn="l">
              <a:spcBef>
                <a:spcPts val="630"/>
              </a:spcBef>
              <a:spcAft>
                <a:spcPts val="0"/>
              </a:spcAft>
              <a:buSzPts val="1620"/>
              <a:buChar char="●"/>
            </a:pPr>
            <a:r>
              <a:rPr b="1" lang="en-US">
                <a:solidFill>
                  <a:srgbClr val="0070C0"/>
                </a:solidFill>
              </a:rPr>
              <a:t>Logical address consists of a two tuple:</a:t>
            </a:r>
            <a:endParaRPr/>
          </a:p>
          <a:p>
            <a:pPr indent="-342900" lvl="0" marL="342900" rtl="0" algn="l">
              <a:spcBef>
                <a:spcPts val="630"/>
              </a:spcBef>
              <a:spcAft>
                <a:spcPts val="0"/>
              </a:spcAft>
              <a:buSzPts val="1620"/>
              <a:buFont typeface="Arial"/>
              <a:buNone/>
            </a:pPr>
            <a:r>
              <a:rPr b="1" lang="en-US">
                <a:solidFill>
                  <a:srgbClr val="0070C0"/>
                </a:solidFill>
              </a:rPr>
              <a:t>		&lt;segment-number, offset&gt;,</a:t>
            </a:r>
            <a:endParaRPr/>
          </a:p>
          <a:p>
            <a:pPr indent="-342900" lvl="0" marL="342900" rtl="0" algn="l">
              <a:spcBef>
                <a:spcPts val="280"/>
              </a:spcBef>
              <a:spcAft>
                <a:spcPts val="0"/>
              </a:spcAft>
              <a:buSzPts val="720"/>
              <a:buFont typeface="Arial"/>
              <a:buNone/>
            </a:pPr>
            <a:r>
              <a:t/>
            </a:r>
            <a:endParaRPr sz="800"/>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154"/>
          <p:cNvSpPr txBox="1"/>
          <p:nvPr>
            <p:ph type="title"/>
          </p:nvPr>
        </p:nvSpPr>
        <p:spPr>
          <a:xfrm>
            <a:off x="777875" y="166688"/>
            <a:ext cx="79089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Segmentation Architecture </a:t>
            </a:r>
            <a:endParaRPr/>
          </a:p>
        </p:txBody>
      </p:sp>
      <p:sp>
        <p:nvSpPr>
          <p:cNvPr id="1194" name="Google Shape;1194;p154"/>
          <p:cNvSpPr txBox="1"/>
          <p:nvPr>
            <p:ph idx="1" type="body"/>
          </p:nvPr>
        </p:nvSpPr>
        <p:spPr>
          <a:xfrm>
            <a:off x="903288" y="1093788"/>
            <a:ext cx="7246937" cy="50530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Normally, the user program is compiled, and </a:t>
            </a:r>
            <a:endParaRPr/>
          </a:p>
          <a:p>
            <a:pPr indent="-342900" lvl="0" marL="342900" rtl="0" algn="l">
              <a:spcBef>
                <a:spcPts val="630"/>
              </a:spcBef>
              <a:spcAft>
                <a:spcPts val="0"/>
              </a:spcAft>
              <a:buSzPts val="1620"/>
              <a:buChar char="●"/>
            </a:pPr>
            <a:r>
              <a:rPr lang="en-US"/>
              <a:t>The compiler automatically constructs segments reflecting the input program.</a:t>
            </a:r>
            <a:endParaRPr/>
          </a:p>
          <a:p>
            <a:pPr indent="-342900" lvl="0" marL="342900" rtl="0" algn="l">
              <a:spcBef>
                <a:spcPts val="630"/>
              </a:spcBef>
              <a:spcAft>
                <a:spcPts val="0"/>
              </a:spcAft>
              <a:buSzPts val="1620"/>
              <a:buChar char="●"/>
            </a:pPr>
            <a:r>
              <a:rPr lang="en-US"/>
              <a:t>A C compiler might create separate segments for the following:</a:t>
            </a:r>
            <a:endParaRPr/>
          </a:p>
          <a:p>
            <a:pPr indent="-342900" lvl="0" marL="342900" rtl="0" algn="l">
              <a:spcBef>
                <a:spcPts val="630"/>
              </a:spcBef>
              <a:spcAft>
                <a:spcPts val="0"/>
              </a:spcAft>
              <a:buSzPts val="1620"/>
              <a:buFont typeface="Arial"/>
              <a:buAutoNum type="arabicParenR"/>
            </a:pPr>
            <a:r>
              <a:rPr b="1" lang="en-US"/>
              <a:t>The code </a:t>
            </a:r>
            <a:endParaRPr/>
          </a:p>
          <a:p>
            <a:pPr indent="-342900" lvl="0" marL="342900" rtl="0" algn="l">
              <a:spcBef>
                <a:spcPts val="630"/>
              </a:spcBef>
              <a:spcAft>
                <a:spcPts val="0"/>
              </a:spcAft>
              <a:buSzPts val="1620"/>
              <a:buFont typeface="Arial"/>
              <a:buAutoNum type="arabicParenR"/>
            </a:pPr>
            <a:r>
              <a:rPr b="1" lang="en-US"/>
              <a:t>Global variables</a:t>
            </a:r>
            <a:endParaRPr/>
          </a:p>
          <a:p>
            <a:pPr indent="-342900" lvl="0" marL="342900" rtl="0" algn="l">
              <a:spcBef>
                <a:spcPts val="630"/>
              </a:spcBef>
              <a:spcAft>
                <a:spcPts val="0"/>
              </a:spcAft>
              <a:buSzPts val="1620"/>
              <a:buFont typeface="Arial"/>
              <a:buAutoNum type="arabicParenR"/>
            </a:pPr>
            <a:r>
              <a:rPr b="1" lang="en-US"/>
              <a:t>The heap, from which memory is allocated</a:t>
            </a:r>
            <a:endParaRPr/>
          </a:p>
          <a:p>
            <a:pPr indent="-342900" lvl="0" marL="342900" rtl="0" algn="l">
              <a:spcBef>
                <a:spcPts val="630"/>
              </a:spcBef>
              <a:spcAft>
                <a:spcPts val="0"/>
              </a:spcAft>
              <a:buSzPts val="1620"/>
              <a:buFont typeface="Arial"/>
              <a:buAutoNum type="arabicParenR"/>
            </a:pPr>
            <a:r>
              <a:rPr b="1" lang="en-US"/>
              <a:t>The stacks used by each thread</a:t>
            </a:r>
            <a:endParaRPr/>
          </a:p>
          <a:p>
            <a:pPr indent="-342900" lvl="0" marL="342900" rtl="0" algn="l">
              <a:spcBef>
                <a:spcPts val="630"/>
              </a:spcBef>
              <a:spcAft>
                <a:spcPts val="0"/>
              </a:spcAft>
              <a:buSzPts val="1620"/>
              <a:buFont typeface="Arial"/>
              <a:buAutoNum type="arabicParenR"/>
            </a:pPr>
            <a:r>
              <a:rPr b="1" lang="en-US"/>
              <a:t>The standard C library</a:t>
            </a:r>
            <a:endParaRPr b="1" sz="800"/>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155"/>
          <p:cNvSpPr txBox="1"/>
          <p:nvPr>
            <p:ph type="title"/>
          </p:nvPr>
        </p:nvSpPr>
        <p:spPr>
          <a:xfrm>
            <a:off x="457200" y="1666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Segmentation Hardware</a:t>
            </a:r>
            <a:endParaRPr sz="2400"/>
          </a:p>
        </p:txBody>
      </p:sp>
      <p:pic>
        <p:nvPicPr>
          <p:cNvPr descr="8" id="1201" name="Google Shape;1201;p155"/>
          <p:cNvPicPr preferRelativeResize="0"/>
          <p:nvPr/>
        </p:nvPicPr>
        <p:blipFill rotWithShape="1">
          <a:blip r:embed="rId3">
            <a:alphaModFix/>
          </a:blip>
          <a:srcRect b="0" l="0" r="0" t="0"/>
          <a:stretch/>
        </p:blipFill>
        <p:spPr>
          <a:xfrm>
            <a:off x="2044700" y="1254125"/>
            <a:ext cx="5827713" cy="408940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156"/>
          <p:cNvSpPr txBox="1"/>
          <p:nvPr>
            <p:ph type="title"/>
          </p:nvPr>
        </p:nvSpPr>
        <p:spPr>
          <a:xfrm>
            <a:off x="777875" y="166688"/>
            <a:ext cx="79089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Segmentation Hardware</a:t>
            </a:r>
            <a:endParaRPr/>
          </a:p>
        </p:txBody>
      </p:sp>
      <p:sp>
        <p:nvSpPr>
          <p:cNvPr id="1208" name="Google Shape;1208;p156"/>
          <p:cNvSpPr txBox="1"/>
          <p:nvPr>
            <p:ph idx="1" type="body"/>
          </p:nvPr>
        </p:nvSpPr>
        <p:spPr>
          <a:xfrm>
            <a:off x="903288" y="1093788"/>
            <a:ext cx="7246937" cy="50530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3366FF"/>
                </a:solidFill>
              </a:rPr>
              <a:t>Segment table</a:t>
            </a:r>
            <a:r>
              <a:rPr lang="en-US">
                <a:solidFill>
                  <a:srgbClr val="3366FF"/>
                </a:solidFill>
              </a:rPr>
              <a:t> </a:t>
            </a:r>
            <a:r>
              <a:rPr lang="en-US"/>
              <a:t>– maps two-dimensional physical addresses; each table entry has:</a:t>
            </a:r>
            <a:endParaRPr/>
          </a:p>
          <a:p>
            <a:pPr indent="-285750" lvl="1" marL="742950" rtl="0" algn="l">
              <a:spcBef>
                <a:spcPts val="630"/>
              </a:spcBef>
              <a:spcAft>
                <a:spcPts val="0"/>
              </a:spcAft>
              <a:buSzPts val="1440"/>
              <a:buChar char="●"/>
            </a:pPr>
            <a:r>
              <a:rPr b="1" lang="en-US">
                <a:solidFill>
                  <a:srgbClr val="3366FF"/>
                </a:solidFill>
              </a:rPr>
              <a:t>base</a:t>
            </a:r>
            <a:r>
              <a:rPr lang="en-US">
                <a:solidFill>
                  <a:srgbClr val="3366FF"/>
                </a:solidFill>
              </a:rPr>
              <a:t> </a:t>
            </a:r>
            <a:r>
              <a:rPr lang="en-US"/>
              <a:t>– contains the starting physical address where the segments reside in memory</a:t>
            </a:r>
            <a:endParaRPr/>
          </a:p>
          <a:p>
            <a:pPr indent="-285750" lvl="1" marL="742950" rtl="0" algn="l">
              <a:spcBef>
                <a:spcPts val="630"/>
              </a:spcBef>
              <a:spcAft>
                <a:spcPts val="0"/>
              </a:spcAft>
              <a:buSzPts val="1440"/>
              <a:buChar char="●"/>
            </a:pPr>
            <a:r>
              <a:rPr b="1" lang="en-US">
                <a:solidFill>
                  <a:srgbClr val="3366FF"/>
                </a:solidFill>
              </a:rPr>
              <a:t>limit</a:t>
            </a:r>
            <a:r>
              <a:rPr lang="en-US">
                <a:solidFill>
                  <a:srgbClr val="3366FF"/>
                </a:solidFill>
              </a:rPr>
              <a:t> </a:t>
            </a:r>
            <a:r>
              <a:rPr lang="en-US"/>
              <a:t>– specifies the length of the segment</a:t>
            </a:r>
            <a:endParaRPr/>
          </a:p>
          <a:p>
            <a:pPr indent="-245109" lvl="1" marL="742950" rtl="0" algn="l">
              <a:spcBef>
                <a:spcPts val="280"/>
              </a:spcBef>
              <a:spcAft>
                <a:spcPts val="0"/>
              </a:spcAft>
              <a:buSzPts val="640"/>
              <a:buNone/>
            </a:pPr>
            <a:r>
              <a:t/>
            </a:r>
            <a:endParaRPr sz="800"/>
          </a:p>
        </p:txBody>
      </p:sp>
      <p:pic>
        <p:nvPicPr>
          <p:cNvPr descr="8" id="1209" name="Google Shape;1209;p156"/>
          <p:cNvPicPr preferRelativeResize="0"/>
          <p:nvPr/>
        </p:nvPicPr>
        <p:blipFill rotWithShape="1">
          <a:blip r:embed="rId3">
            <a:alphaModFix/>
          </a:blip>
          <a:srcRect b="0" l="0" r="0" t="0"/>
          <a:stretch/>
        </p:blipFill>
        <p:spPr>
          <a:xfrm>
            <a:off x="1139799" y="3286799"/>
            <a:ext cx="6462004" cy="2689450"/>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157"/>
          <p:cNvSpPr txBox="1"/>
          <p:nvPr>
            <p:ph type="title"/>
          </p:nvPr>
        </p:nvSpPr>
        <p:spPr>
          <a:xfrm>
            <a:off x="777875" y="166688"/>
            <a:ext cx="79089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Segmentation Hardware</a:t>
            </a:r>
            <a:endParaRPr/>
          </a:p>
        </p:txBody>
      </p:sp>
      <p:sp>
        <p:nvSpPr>
          <p:cNvPr id="1216" name="Google Shape;1216;p157"/>
          <p:cNvSpPr txBox="1"/>
          <p:nvPr>
            <p:ph idx="1" type="body"/>
          </p:nvPr>
        </p:nvSpPr>
        <p:spPr>
          <a:xfrm>
            <a:off x="928048" y="1093788"/>
            <a:ext cx="7372136" cy="50530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The segment number is used as an index to the segment table. </a:t>
            </a:r>
            <a:endParaRPr/>
          </a:p>
          <a:p>
            <a:pPr indent="-342900" lvl="0" marL="342900" rtl="0" algn="l">
              <a:spcBef>
                <a:spcPts val="630"/>
              </a:spcBef>
              <a:spcAft>
                <a:spcPts val="0"/>
              </a:spcAft>
              <a:buSzPts val="1620"/>
              <a:buChar char="●"/>
            </a:pPr>
            <a:r>
              <a:rPr lang="en-US"/>
              <a:t>The offset </a:t>
            </a:r>
            <a:r>
              <a:rPr i="1" lang="en-US"/>
              <a:t>d </a:t>
            </a:r>
            <a:r>
              <a:rPr lang="en-US"/>
              <a:t>of the logical address must be between 0 and the segment limit. </a:t>
            </a:r>
            <a:endParaRPr/>
          </a:p>
          <a:p>
            <a:pPr indent="-342900" lvl="0" marL="342900" rtl="0" algn="l">
              <a:spcBef>
                <a:spcPts val="630"/>
              </a:spcBef>
              <a:spcAft>
                <a:spcPts val="0"/>
              </a:spcAft>
              <a:buSzPts val="1620"/>
              <a:buChar char="●"/>
            </a:pPr>
            <a:r>
              <a:rPr lang="en-US"/>
              <a:t>If it is not, we trap to the operating system (logical addressing attempt beyond end of segment).</a:t>
            </a:r>
            <a:endParaRPr/>
          </a:p>
        </p:txBody>
      </p:sp>
      <p:pic>
        <p:nvPicPr>
          <p:cNvPr descr="8" id="1217" name="Google Shape;1217;p157"/>
          <p:cNvPicPr preferRelativeResize="0"/>
          <p:nvPr/>
        </p:nvPicPr>
        <p:blipFill rotWithShape="1">
          <a:blip r:embed="rId3">
            <a:alphaModFix/>
          </a:blip>
          <a:srcRect b="0" l="0" r="0" t="0"/>
          <a:stretch/>
        </p:blipFill>
        <p:spPr>
          <a:xfrm>
            <a:off x="1096510" y="3041139"/>
            <a:ext cx="7160386" cy="2689450"/>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58"/>
          <p:cNvSpPr txBox="1"/>
          <p:nvPr>
            <p:ph type="title"/>
          </p:nvPr>
        </p:nvSpPr>
        <p:spPr>
          <a:xfrm>
            <a:off x="777875" y="166688"/>
            <a:ext cx="79089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Segmentation Hardware</a:t>
            </a:r>
            <a:endParaRPr/>
          </a:p>
        </p:txBody>
      </p:sp>
      <p:sp>
        <p:nvSpPr>
          <p:cNvPr id="1224" name="Google Shape;1224;p158"/>
          <p:cNvSpPr txBox="1"/>
          <p:nvPr>
            <p:ph idx="1" type="body"/>
          </p:nvPr>
        </p:nvSpPr>
        <p:spPr>
          <a:xfrm>
            <a:off x="832512" y="1093788"/>
            <a:ext cx="7055893" cy="50530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When an offset is legal, it is added to the segment base to produce the address in physical memory of the desired byte. </a:t>
            </a:r>
            <a:endParaRPr/>
          </a:p>
          <a:p>
            <a:pPr indent="-342900" lvl="0" marL="342900" rtl="0" algn="l">
              <a:spcBef>
                <a:spcPts val="630"/>
              </a:spcBef>
              <a:spcAft>
                <a:spcPts val="0"/>
              </a:spcAft>
              <a:buSzPts val="1620"/>
              <a:buChar char="●"/>
            </a:pPr>
            <a:r>
              <a:rPr lang="en-US"/>
              <a:t>The segment table is thus essentially an array of base-limit register pairs.</a:t>
            </a:r>
            <a:endParaRPr/>
          </a:p>
        </p:txBody>
      </p:sp>
      <p:pic>
        <p:nvPicPr>
          <p:cNvPr descr="8" id="1225" name="Google Shape;1225;p158"/>
          <p:cNvPicPr preferRelativeResize="0"/>
          <p:nvPr/>
        </p:nvPicPr>
        <p:blipFill rotWithShape="1">
          <a:blip r:embed="rId3">
            <a:alphaModFix/>
          </a:blip>
          <a:srcRect b="0" l="0" r="0" t="0"/>
          <a:stretch/>
        </p:blipFill>
        <p:spPr>
          <a:xfrm>
            <a:off x="1139799" y="3286799"/>
            <a:ext cx="6462004" cy="268945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59"/>
          <p:cNvSpPr txBox="1"/>
          <p:nvPr>
            <p:ph type="title"/>
          </p:nvPr>
        </p:nvSpPr>
        <p:spPr>
          <a:xfrm>
            <a:off x="777875" y="166688"/>
            <a:ext cx="79089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Segmentation Hardware</a:t>
            </a:r>
            <a:endParaRPr/>
          </a:p>
        </p:txBody>
      </p:sp>
      <p:sp>
        <p:nvSpPr>
          <p:cNvPr id="1232" name="Google Shape;1232;p159"/>
          <p:cNvSpPr txBox="1"/>
          <p:nvPr>
            <p:ph idx="1" type="body"/>
          </p:nvPr>
        </p:nvSpPr>
        <p:spPr>
          <a:xfrm>
            <a:off x="903288" y="1093788"/>
            <a:ext cx="7246937" cy="50530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3366FF"/>
                </a:solidFill>
              </a:rPr>
              <a:t>Segment-table base register (STBR)</a:t>
            </a:r>
            <a:r>
              <a:rPr lang="en-US">
                <a:solidFill>
                  <a:srgbClr val="3366FF"/>
                </a:solidFill>
              </a:rPr>
              <a:t> </a:t>
            </a:r>
            <a:r>
              <a:rPr lang="en-US"/>
              <a:t>points to the segment table’s location in memory</a:t>
            </a:r>
            <a:endParaRPr/>
          </a:p>
          <a:p>
            <a:pPr indent="-297180" lvl="0" marL="342900" rtl="0" algn="l">
              <a:spcBef>
                <a:spcPts val="280"/>
              </a:spcBef>
              <a:spcAft>
                <a:spcPts val="0"/>
              </a:spcAft>
              <a:buSzPts val="720"/>
              <a:buNone/>
            </a:pPr>
            <a:r>
              <a:t/>
            </a:r>
            <a:endParaRPr sz="800"/>
          </a:p>
          <a:p>
            <a:pPr indent="-342900" lvl="0" marL="342900" rtl="0" algn="l">
              <a:spcBef>
                <a:spcPts val="630"/>
              </a:spcBef>
              <a:spcAft>
                <a:spcPts val="0"/>
              </a:spcAft>
              <a:buSzPts val="1620"/>
              <a:buChar char="●"/>
            </a:pPr>
            <a:r>
              <a:rPr b="1" lang="en-US">
                <a:solidFill>
                  <a:srgbClr val="3366FF"/>
                </a:solidFill>
              </a:rPr>
              <a:t>Segment-table length register (STLR)</a:t>
            </a:r>
            <a:r>
              <a:rPr lang="en-US">
                <a:solidFill>
                  <a:srgbClr val="3366FF"/>
                </a:solidFill>
              </a:rPr>
              <a:t> </a:t>
            </a:r>
            <a:r>
              <a:rPr lang="en-US"/>
              <a:t>indicates number of segments used by a program;</a:t>
            </a:r>
            <a:endParaRPr/>
          </a:p>
          <a:p>
            <a:pPr indent="-342900" lvl="0" marL="342900" rtl="0" algn="l">
              <a:spcBef>
                <a:spcPts val="630"/>
              </a:spcBef>
              <a:spcAft>
                <a:spcPts val="0"/>
              </a:spcAft>
              <a:buSzPts val="1620"/>
              <a:buFont typeface="Arial"/>
              <a:buNone/>
            </a:pPr>
            <a:r>
              <a:rPr lang="en-US"/>
              <a:t>	                  segment number </a:t>
            </a:r>
            <a:r>
              <a:rPr b="1" i="1" lang="en-US">
                <a:solidFill>
                  <a:srgbClr val="FF0000"/>
                </a:solidFill>
              </a:rPr>
              <a:t>s</a:t>
            </a:r>
            <a:r>
              <a:rPr lang="en-US"/>
              <a:t> is legal if </a:t>
            </a:r>
            <a:r>
              <a:rPr b="1" i="1" lang="en-US">
                <a:solidFill>
                  <a:srgbClr val="FF0000"/>
                </a:solidFill>
              </a:rPr>
              <a:t>s</a:t>
            </a:r>
            <a:r>
              <a:rPr lang="en-US"/>
              <a:t> &lt; </a:t>
            </a:r>
            <a:r>
              <a:rPr b="1" lang="en-US">
                <a:solidFill>
                  <a:srgbClr val="FF0000"/>
                </a:solidFill>
              </a:rPr>
              <a:t>STLR</a:t>
            </a:r>
            <a:endParaRPr/>
          </a:p>
        </p:txBody>
      </p:sp>
      <p:pic>
        <p:nvPicPr>
          <p:cNvPr descr="8" id="1233" name="Google Shape;1233;p159"/>
          <p:cNvPicPr preferRelativeResize="0"/>
          <p:nvPr/>
        </p:nvPicPr>
        <p:blipFill rotWithShape="1">
          <a:blip r:embed="rId3">
            <a:alphaModFix/>
          </a:blip>
          <a:srcRect b="0" l="0" r="0" t="0"/>
          <a:stretch/>
        </p:blipFill>
        <p:spPr>
          <a:xfrm>
            <a:off x="1139799" y="3286799"/>
            <a:ext cx="6462004" cy="268945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160"/>
          <p:cNvSpPr txBox="1"/>
          <p:nvPr>
            <p:ph type="title"/>
          </p:nvPr>
        </p:nvSpPr>
        <p:spPr>
          <a:xfrm>
            <a:off x="777875" y="166688"/>
            <a:ext cx="79089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Segmentation Example</a:t>
            </a:r>
            <a:endParaRPr/>
          </a:p>
        </p:txBody>
      </p:sp>
      <p:sp>
        <p:nvSpPr>
          <p:cNvPr id="1240" name="Google Shape;1240;p160"/>
          <p:cNvSpPr txBox="1"/>
          <p:nvPr>
            <p:ph idx="1" type="body"/>
          </p:nvPr>
        </p:nvSpPr>
        <p:spPr>
          <a:xfrm>
            <a:off x="984497" y="916367"/>
            <a:ext cx="7246937" cy="50530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We have five segments numbered from 0 through 4. </a:t>
            </a:r>
            <a:endParaRPr/>
          </a:p>
          <a:p>
            <a:pPr indent="-342900" lvl="0" marL="342900" rtl="0" algn="l">
              <a:spcBef>
                <a:spcPts val="630"/>
              </a:spcBef>
              <a:spcAft>
                <a:spcPts val="0"/>
              </a:spcAft>
              <a:buSzPts val="1620"/>
              <a:buChar char="●"/>
            </a:pPr>
            <a:r>
              <a:rPr lang="en-US"/>
              <a:t>The segments are stored in physical memory as shown. </a:t>
            </a:r>
            <a:endParaRPr/>
          </a:p>
          <a:p>
            <a:pPr indent="-342900" lvl="0" marL="342900" rtl="0" algn="l">
              <a:spcBef>
                <a:spcPts val="630"/>
              </a:spcBef>
              <a:spcAft>
                <a:spcPts val="0"/>
              </a:spcAft>
              <a:buSzPts val="1620"/>
              <a:buChar char="●"/>
            </a:pPr>
            <a:r>
              <a:rPr lang="en-US"/>
              <a:t>The segment table has a separate entry for each segment, giving the beginning address of the segment in physical memory  or base) and the length of that segment (or limit).</a:t>
            </a:r>
            <a:endParaRPr b="1" sz="800"/>
          </a:p>
        </p:txBody>
      </p:sp>
      <p:pic>
        <p:nvPicPr>
          <p:cNvPr id="1241" name="Google Shape;1241;p160"/>
          <p:cNvPicPr preferRelativeResize="0"/>
          <p:nvPr/>
        </p:nvPicPr>
        <p:blipFill rotWithShape="1">
          <a:blip r:embed="rId3">
            <a:alphaModFix/>
          </a:blip>
          <a:srcRect b="0" l="0" r="0" t="0"/>
          <a:stretch/>
        </p:blipFill>
        <p:spPr>
          <a:xfrm>
            <a:off x="2415653" y="2737780"/>
            <a:ext cx="4384627" cy="3922327"/>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161"/>
          <p:cNvSpPr txBox="1"/>
          <p:nvPr>
            <p:ph type="title"/>
          </p:nvPr>
        </p:nvSpPr>
        <p:spPr>
          <a:xfrm>
            <a:off x="777875" y="166688"/>
            <a:ext cx="79089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Segmentation Example</a:t>
            </a:r>
            <a:endParaRPr/>
          </a:p>
        </p:txBody>
      </p:sp>
      <p:sp>
        <p:nvSpPr>
          <p:cNvPr id="1248" name="Google Shape;1248;p161"/>
          <p:cNvSpPr txBox="1"/>
          <p:nvPr>
            <p:ph idx="1" type="body"/>
          </p:nvPr>
        </p:nvSpPr>
        <p:spPr>
          <a:xfrm>
            <a:off x="984497" y="916367"/>
            <a:ext cx="7246937" cy="50530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Segment 2 is 400 bytes long and begins at location 4300. Thus, a reference to byte 53 of segment 2 is mapped onto location 4300 +53= 4353. </a:t>
            </a:r>
            <a:endParaRPr/>
          </a:p>
        </p:txBody>
      </p:sp>
      <p:pic>
        <p:nvPicPr>
          <p:cNvPr id="1249" name="Google Shape;1249;p161"/>
          <p:cNvPicPr preferRelativeResize="0"/>
          <p:nvPr/>
        </p:nvPicPr>
        <p:blipFill rotWithShape="1">
          <a:blip r:embed="rId3">
            <a:alphaModFix/>
          </a:blip>
          <a:srcRect b="0" l="0" r="0" t="0"/>
          <a:stretch/>
        </p:blipFill>
        <p:spPr>
          <a:xfrm>
            <a:off x="982640" y="1877971"/>
            <a:ext cx="7342494" cy="4532765"/>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162"/>
          <p:cNvSpPr txBox="1"/>
          <p:nvPr>
            <p:ph type="title"/>
          </p:nvPr>
        </p:nvSpPr>
        <p:spPr>
          <a:xfrm>
            <a:off x="777875" y="166688"/>
            <a:ext cx="79089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Segmentation Example</a:t>
            </a:r>
            <a:endParaRPr/>
          </a:p>
        </p:txBody>
      </p:sp>
      <p:sp>
        <p:nvSpPr>
          <p:cNvPr id="1256" name="Google Shape;1256;p162"/>
          <p:cNvSpPr txBox="1"/>
          <p:nvPr>
            <p:ph idx="1" type="body"/>
          </p:nvPr>
        </p:nvSpPr>
        <p:spPr>
          <a:xfrm>
            <a:off x="984497" y="916367"/>
            <a:ext cx="7246937" cy="50530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A reference to segment 3, byte 852, is mapped to 3200 (the base of segment 3) + 852 = 4052. </a:t>
            </a:r>
            <a:endParaRPr/>
          </a:p>
          <a:p>
            <a:pPr indent="-342900" lvl="0" marL="342900" rtl="0" algn="l">
              <a:spcBef>
                <a:spcPts val="630"/>
              </a:spcBef>
              <a:spcAft>
                <a:spcPts val="0"/>
              </a:spcAft>
              <a:buSzPts val="1620"/>
              <a:buChar char="●"/>
            </a:pPr>
            <a:r>
              <a:rPr lang="en-US"/>
              <a:t>A reference to byte 1222 of segment 0 would result in a trap to the operating system, as this segment is only 1OOO bytes long.</a:t>
            </a:r>
            <a:endParaRPr b="1"/>
          </a:p>
        </p:txBody>
      </p:sp>
      <p:pic>
        <p:nvPicPr>
          <p:cNvPr id="1257" name="Google Shape;1257;p162"/>
          <p:cNvPicPr preferRelativeResize="0"/>
          <p:nvPr/>
        </p:nvPicPr>
        <p:blipFill rotWithShape="1">
          <a:blip r:embed="rId3">
            <a:alphaModFix/>
          </a:blip>
          <a:srcRect b="0" l="0" r="0" t="0"/>
          <a:stretch/>
        </p:blipFill>
        <p:spPr>
          <a:xfrm>
            <a:off x="696036" y="2314699"/>
            <a:ext cx="7847464" cy="3922327"/>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163"/>
          <p:cNvSpPr txBox="1"/>
          <p:nvPr>
            <p:ph type="title"/>
          </p:nvPr>
        </p:nvSpPr>
        <p:spPr>
          <a:xfrm>
            <a:off x="1127125" y="142875"/>
            <a:ext cx="76073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Example: The Intel 32 and 64-bit Architectures</a:t>
            </a:r>
            <a:endParaRPr/>
          </a:p>
        </p:txBody>
      </p:sp>
      <p:sp>
        <p:nvSpPr>
          <p:cNvPr id="1264" name="Google Shape;1264;p163"/>
          <p:cNvSpPr txBox="1"/>
          <p:nvPr>
            <p:ph idx="1" type="body"/>
          </p:nvPr>
        </p:nvSpPr>
        <p:spPr>
          <a:xfrm>
            <a:off x="885825" y="1233488"/>
            <a:ext cx="7743825"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Dominant industry chips</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Char char="●"/>
            </a:pPr>
            <a:r>
              <a:rPr lang="en-US"/>
              <a:t>Pentium CPUs are 32-bit and called IA-32 architecture</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Char char="●"/>
            </a:pPr>
            <a:r>
              <a:rPr lang="en-US"/>
              <a:t>Current Intel CPUs are 64-bit and called IA-64 architecture</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Char char="●"/>
            </a:pPr>
            <a:r>
              <a:rPr lang="en-US"/>
              <a:t>Many variations in the chips, cover the main ideas here</a:t>
            </a:r>
            <a:endParaRPr/>
          </a:p>
          <a:p>
            <a:pPr indent="-240030" lvl="0" marL="342900" rtl="0" algn="l">
              <a:spcBef>
                <a:spcPts val="630"/>
              </a:spcBef>
              <a:spcAft>
                <a:spcPts val="0"/>
              </a:spcAft>
              <a:buSzPts val="1620"/>
              <a:buNone/>
            </a:pPr>
            <a:r>
              <a:t/>
            </a:r>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164"/>
          <p:cNvSpPr txBox="1"/>
          <p:nvPr>
            <p:ph type="title"/>
          </p:nvPr>
        </p:nvSpPr>
        <p:spPr>
          <a:xfrm>
            <a:off x="1425575" y="166688"/>
            <a:ext cx="76073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Example: The Intel IA-32 Architecture-Segmentation with Paging</a:t>
            </a:r>
            <a:endParaRPr/>
          </a:p>
        </p:txBody>
      </p:sp>
      <p:sp>
        <p:nvSpPr>
          <p:cNvPr id="1271" name="Google Shape;1271;p164"/>
          <p:cNvSpPr txBox="1"/>
          <p:nvPr>
            <p:ph idx="1" type="body"/>
          </p:nvPr>
        </p:nvSpPr>
        <p:spPr>
          <a:xfrm>
            <a:off x="885825" y="1087438"/>
            <a:ext cx="7091363"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FF0000"/>
                </a:solidFill>
              </a:rPr>
              <a:t>Supports both segmentation and segmentation with paging</a:t>
            </a:r>
            <a:endParaRPr/>
          </a:p>
          <a:p>
            <a:pPr indent="-285750" lvl="1" marL="742950" rtl="0" algn="l">
              <a:spcBef>
                <a:spcPts val="630"/>
              </a:spcBef>
              <a:spcAft>
                <a:spcPts val="0"/>
              </a:spcAft>
              <a:buSzPts val="1440"/>
              <a:buChar char="●"/>
            </a:pPr>
            <a:r>
              <a:rPr lang="en-US"/>
              <a:t>Each segment can be 4 GB</a:t>
            </a:r>
            <a:endParaRPr/>
          </a:p>
          <a:p>
            <a:pPr indent="-285750" lvl="1" marL="742950" rtl="0" algn="l">
              <a:spcBef>
                <a:spcPts val="630"/>
              </a:spcBef>
              <a:spcAft>
                <a:spcPts val="0"/>
              </a:spcAft>
              <a:buSzPts val="1440"/>
              <a:buChar char="●"/>
            </a:pPr>
            <a:r>
              <a:rPr lang="en-US"/>
              <a:t>Up to 16 K segments per process</a:t>
            </a:r>
            <a:endParaRPr/>
          </a:p>
          <a:p>
            <a:pPr indent="-285750" lvl="1" marL="742950" rtl="0" algn="l">
              <a:spcBef>
                <a:spcPts val="630"/>
              </a:spcBef>
              <a:spcAft>
                <a:spcPts val="0"/>
              </a:spcAft>
              <a:buSzPts val="1440"/>
              <a:buChar char="●"/>
            </a:pPr>
            <a:r>
              <a:rPr lang="en-US"/>
              <a:t>Divided into two partitions</a:t>
            </a:r>
            <a:endParaRPr/>
          </a:p>
          <a:p>
            <a:pPr indent="-228600" lvl="2" marL="1085850" rtl="0" algn="l">
              <a:spcBef>
                <a:spcPts val="630"/>
              </a:spcBef>
              <a:spcAft>
                <a:spcPts val="0"/>
              </a:spcAft>
              <a:buSzPts val="1350"/>
              <a:buChar char="4"/>
            </a:pPr>
            <a:r>
              <a:rPr lang="en-US"/>
              <a:t>First partition of up to 8 K segments are private to process (kept in </a:t>
            </a:r>
            <a:r>
              <a:rPr b="1" lang="en-US">
                <a:solidFill>
                  <a:srgbClr val="3366FF"/>
                </a:solidFill>
              </a:rPr>
              <a:t>local descriptor table </a:t>
            </a:r>
            <a:r>
              <a:rPr lang="en-US"/>
              <a:t>(</a:t>
            </a:r>
            <a:r>
              <a:rPr b="1" lang="en-US">
                <a:solidFill>
                  <a:srgbClr val="3366FF"/>
                </a:solidFill>
              </a:rPr>
              <a:t>LDT</a:t>
            </a:r>
            <a:r>
              <a:rPr lang="en-US"/>
              <a:t>))</a:t>
            </a:r>
            <a:endParaRPr/>
          </a:p>
          <a:p>
            <a:pPr indent="-228600" lvl="2" marL="1085850" rtl="0" algn="l">
              <a:spcBef>
                <a:spcPts val="630"/>
              </a:spcBef>
              <a:spcAft>
                <a:spcPts val="0"/>
              </a:spcAft>
              <a:buSzPts val="1350"/>
              <a:buChar char="4"/>
            </a:pPr>
            <a:r>
              <a:rPr lang="en-US"/>
              <a:t>Second partition of up to 8K segments shared among all processes (kept in </a:t>
            </a:r>
            <a:r>
              <a:rPr b="1" lang="en-US">
                <a:solidFill>
                  <a:srgbClr val="3366FF"/>
                </a:solidFill>
              </a:rPr>
              <a:t>global descriptor table </a:t>
            </a:r>
            <a:r>
              <a:rPr lang="en-US"/>
              <a:t>(</a:t>
            </a:r>
            <a:r>
              <a:rPr b="1" lang="en-US">
                <a:solidFill>
                  <a:srgbClr val="3366FF"/>
                </a:solidFill>
              </a:rPr>
              <a:t>GDT</a:t>
            </a:r>
            <a:r>
              <a:rPr lang="en-US"/>
              <a:t>))</a:t>
            </a:r>
            <a:endParaRPr/>
          </a:p>
          <a:p>
            <a:pPr indent="-240030" lvl="0" marL="342900" rtl="0" algn="l">
              <a:spcBef>
                <a:spcPts val="630"/>
              </a:spcBef>
              <a:spcAft>
                <a:spcPts val="0"/>
              </a:spcAft>
              <a:buSzPts val="1620"/>
              <a:buNone/>
            </a:pPr>
            <a:r>
              <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165"/>
          <p:cNvSpPr txBox="1"/>
          <p:nvPr>
            <p:ph type="title"/>
          </p:nvPr>
        </p:nvSpPr>
        <p:spPr>
          <a:xfrm>
            <a:off x="1306513" y="20638"/>
            <a:ext cx="7670800" cy="619125"/>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Logical to Physical Address Translation in IA-32</a:t>
            </a:r>
            <a:endParaRPr/>
          </a:p>
        </p:txBody>
      </p:sp>
      <p:pic>
        <p:nvPicPr>
          <p:cNvPr id="1278" name="Google Shape;1278;p165"/>
          <p:cNvPicPr preferRelativeResize="0"/>
          <p:nvPr/>
        </p:nvPicPr>
        <p:blipFill rotWithShape="1">
          <a:blip r:embed="rId3">
            <a:alphaModFix/>
          </a:blip>
          <a:srcRect b="35571" l="638" r="660" t="35570"/>
          <a:stretch/>
        </p:blipFill>
        <p:spPr>
          <a:xfrm>
            <a:off x="2158645" y="2320238"/>
            <a:ext cx="4595812" cy="1008062"/>
          </a:xfrm>
          <a:prstGeom prst="rect">
            <a:avLst/>
          </a:prstGeom>
          <a:noFill/>
          <a:ln>
            <a:noFill/>
          </a:ln>
        </p:spPr>
      </p:pic>
      <p:pic>
        <p:nvPicPr>
          <p:cNvPr id="1279" name="Google Shape;1279;p165"/>
          <p:cNvPicPr preferRelativeResize="0"/>
          <p:nvPr/>
        </p:nvPicPr>
        <p:blipFill rotWithShape="1">
          <a:blip r:embed="rId4">
            <a:alphaModFix/>
          </a:blip>
          <a:srcRect b="0" l="0" r="0" t="0"/>
          <a:stretch/>
        </p:blipFill>
        <p:spPr>
          <a:xfrm>
            <a:off x="1910415" y="950794"/>
            <a:ext cx="6157912" cy="819150"/>
          </a:xfrm>
          <a:prstGeom prst="rect">
            <a:avLst/>
          </a:prstGeom>
          <a:noFill/>
          <a:ln>
            <a:noFill/>
          </a:ln>
        </p:spPr>
      </p:pic>
      <p:sp>
        <p:nvSpPr>
          <p:cNvPr id="1280" name="Google Shape;1280;p165"/>
          <p:cNvSpPr/>
          <p:nvPr/>
        </p:nvSpPr>
        <p:spPr>
          <a:xfrm>
            <a:off x="1176208" y="3618914"/>
            <a:ext cx="6892119" cy="2585323"/>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Arial"/>
              <a:buAutoNum type="arabicParenR"/>
            </a:pPr>
            <a:r>
              <a:rPr lang="en-US" sz="1800">
                <a:solidFill>
                  <a:schemeClr val="dk1"/>
                </a:solidFill>
                <a:latin typeface="Verdana"/>
                <a:ea typeface="Verdana"/>
                <a:cs typeface="Verdana"/>
                <a:sym typeface="Verdana"/>
              </a:rPr>
              <a:t>The CPU generates logical addresses, which are given to the segmentation unit. </a:t>
            </a:r>
            <a:endParaRPr/>
          </a:p>
          <a:p>
            <a:pPr indent="-342900" lvl="0" marL="342900" marR="0" rtl="0" algn="l">
              <a:spcBef>
                <a:spcPts val="0"/>
              </a:spcBef>
              <a:spcAft>
                <a:spcPts val="0"/>
              </a:spcAft>
              <a:buClr>
                <a:schemeClr val="dk1"/>
              </a:buClr>
              <a:buSzPts val="1800"/>
              <a:buFont typeface="Arial"/>
              <a:buAutoNum type="arabicParenR"/>
            </a:pPr>
            <a:r>
              <a:rPr lang="en-US" sz="1800">
                <a:solidFill>
                  <a:schemeClr val="dk1"/>
                </a:solidFill>
                <a:latin typeface="Verdana"/>
                <a:ea typeface="Verdana"/>
                <a:cs typeface="Verdana"/>
                <a:sym typeface="Verdana"/>
              </a:rPr>
              <a:t>The segmentation unit  produces a linear address for each logical address. </a:t>
            </a:r>
            <a:endParaRPr/>
          </a:p>
          <a:p>
            <a:pPr indent="-342900" lvl="0" marL="342900" marR="0" rtl="0" algn="l">
              <a:spcBef>
                <a:spcPts val="0"/>
              </a:spcBef>
              <a:spcAft>
                <a:spcPts val="0"/>
              </a:spcAft>
              <a:buClr>
                <a:schemeClr val="dk1"/>
              </a:buClr>
              <a:buSzPts val="1800"/>
              <a:buFont typeface="Arial"/>
              <a:buAutoNum type="arabicParenR"/>
            </a:pPr>
            <a:r>
              <a:rPr lang="en-US" sz="1800">
                <a:solidFill>
                  <a:schemeClr val="dk1"/>
                </a:solidFill>
                <a:latin typeface="Verdana"/>
                <a:ea typeface="Verdana"/>
                <a:cs typeface="Verdana"/>
                <a:sym typeface="Verdana"/>
              </a:rPr>
              <a:t>The linear address is then given to the paging unit, which in turn generates the physical address in main memory. </a:t>
            </a:r>
            <a:endParaRPr/>
          </a:p>
          <a:p>
            <a:pPr indent="-342900" lvl="0" marL="342900" marR="0" rtl="0" algn="l">
              <a:spcBef>
                <a:spcPts val="0"/>
              </a:spcBef>
              <a:spcAft>
                <a:spcPts val="0"/>
              </a:spcAft>
              <a:buClr>
                <a:schemeClr val="dk1"/>
              </a:buClr>
              <a:buSzPts val="1800"/>
              <a:buFont typeface="Arial"/>
              <a:buAutoNum type="arabicParenR"/>
            </a:pPr>
            <a:r>
              <a:rPr lang="en-US" sz="1800">
                <a:solidFill>
                  <a:schemeClr val="dk1"/>
                </a:solidFill>
                <a:latin typeface="Verdana"/>
                <a:ea typeface="Verdana"/>
                <a:cs typeface="Verdana"/>
                <a:sym typeface="Verdana"/>
              </a:rPr>
              <a:t>Thus, the segmentation and paging units form the equivalent of the memory-management unit (MMU).</a:t>
            </a:r>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166"/>
          <p:cNvSpPr txBox="1"/>
          <p:nvPr>
            <p:ph type="title"/>
          </p:nvPr>
        </p:nvSpPr>
        <p:spPr>
          <a:xfrm>
            <a:off x="1425575" y="73025"/>
            <a:ext cx="76073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Example: The Intel IA-32 Architecture (Cont.)</a:t>
            </a:r>
            <a:endParaRPr/>
          </a:p>
        </p:txBody>
      </p:sp>
      <p:sp>
        <p:nvSpPr>
          <p:cNvPr id="1287" name="Google Shape;1287;p166"/>
          <p:cNvSpPr txBox="1"/>
          <p:nvPr>
            <p:ph idx="1" type="body"/>
          </p:nvPr>
        </p:nvSpPr>
        <p:spPr>
          <a:xfrm>
            <a:off x="885825" y="1087438"/>
            <a:ext cx="7743825"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CPU generates logical address</a:t>
            </a:r>
            <a:endParaRPr/>
          </a:p>
          <a:p>
            <a:pPr indent="-285750" lvl="1" marL="742950" rtl="0" algn="l">
              <a:spcBef>
                <a:spcPts val="630"/>
              </a:spcBef>
              <a:spcAft>
                <a:spcPts val="0"/>
              </a:spcAft>
              <a:buSzPts val="1440"/>
              <a:buChar char="●"/>
            </a:pPr>
            <a:r>
              <a:rPr lang="en-US"/>
              <a:t>Selector given to segmentation unit</a:t>
            </a:r>
            <a:endParaRPr/>
          </a:p>
          <a:p>
            <a:pPr indent="-228600" lvl="2" marL="1085850" rtl="0" algn="l">
              <a:spcBef>
                <a:spcPts val="630"/>
              </a:spcBef>
              <a:spcAft>
                <a:spcPts val="0"/>
              </a:spcAft>
              <a:buSzPts val="1350"/>
              <a:buChar char="4"/>
            </a:pPr>
            <a:r>
              <a:rPr lang="en-US"/>
              <a:t>Which produces linear addresses </a:t>
            </a:r>
            <a:endParaRPr/>
          </a:p>
          <a:p>
            <a:pPr indent="0" lvl="2" marL="857250" rtl="0" algn="l">
              <a:spcBef>
                <a:spcPts val="630"/>
              </a:spcBef>
              <a:spcAft>
                <a:spcPts val="0"/>
              </a:spcAft>
              <a:buSzPts val="1350"/>
              <a:buFont typeface="Arimo"/>
              <a:buNone/>
            </a:pPr>
            <a:r>
              <a:t/>
            </a:r>
            <a:endParaRPr/>
          </a:p>
          <a:p>
            <a:pPr indent="-142875" lvl="2" marL="1085850" rtl="0" algn="l">
              <a:spcBef>
                <a:spcPts val="630"/>
              </a:spcBef>
              <a:spcAft>
                <a:spcPts val="0"/>
              </a:spcAft>
              <a:buSzPts val="1350"/>
              <a:buNone/>
            </a:pPr>
            <a:r>
              <a:t/>
            </a:r>
            <a:endParaRPr/>
          </a:p>
          <a:p>
            <a:pPr indent="-285750" lvl="1" marL="742950" rtl="0" algn="l">
              <a:spcBef>
                <a:spcPts val="630"/>
              </a:spcBef>
              <a:spcAft>
                <a:spcPts val="0"/>
              </a:spcAft>
              <a:buSzPts val="1440"/>
              <a:buChar char="●"/>
            </a:pPr>
            <a:r>
              <a:rPr lang="en-US"/>
              <a:t>Linear address given to paging unit</a:t>
            </a:r>
            <a:endParaRPr/>
          </a:p>
          <a:p>
            <a:pPr indent="-228600" lvl="2" marL="1085850" rtl="0" algn="l">
              <a:spcBef>
                <a:spcPts val="630"/>
              </a:spcBef>
              <a:spcAft>
                <a:spcPts val="0"/>
              </a:spcAft>
              <a:buSzPts val="1350"/>
              <a:buChar char="4"/>
            </a:pPr>
            <a:r>
              <a:rPr lang="en-US"/>
              <a:t>Which generates physical address in main memory</a:t>
            </a:r>
            <a:endParaRPr/>
          </a:p>
          <a:p>
            <a:pPr indent="-228600" lvl="2" marL="1085850" rtl="0" algn="l">
              <a:spcBef>
                <a:spcPts val="630"/>
              </a:spcBef>
              <a:spcAft>
                <a:spcPts val="0"/>
              </a:spcAft>
              <a:buSzPts val="1350"/>
              <a:buChar char="4"/>
            </a:pPr>
            <a:r>
              <a:rPr lang="en-US"/>
              <a:t>Paging units form equivalent of MMU</a:t>
            </a:r>
            <a:endParaRPr/>
          </a:p>
          <a:p>
            <a:pPr indent="-228600" lvl="2" marL="1085850" rtl="0" algn="l">
              <a:spcBef>
                <a:spcPts val="630"/>
              </a:spcBef>
              <a:spcAft>
                <a:spcPts val="0"/>
              </a:spcAft>
              <a:buSzPts val="1350"/>
              <a:buChar char="4"/>
            </a:pPr>
            <a:r>
              <a:rPr lang="en-US"/>
              <a:t>Pages sizes can be 4 KB or 4 MB</a:t>
            </a:r>
            <a:endParaRPr/>
          </a:p>
          <a:p>
            <a:pPr indent="-240030" lvl="0" marL="342900" rtl="0" algn="l">
              <a:spcBef>
                <a:spcPts val="630"/>
              </a:spcBef>
              <a:spcAft>
                <a:spcPts val="0"/>
              </a:spcAft>
              <a:buSzPts val="1620"/>
              <a:buNone/>
            </a:pPr>
            <a:r>
              <a:t/>
            </a:r>
            <a:endParaRPr/>
          </a:p>
        </p:txBody>
      </p:sp>
      <p:pic>
        <p:nvPicPr>
          <p:cNvPr descr="Screen Shot 2013-01-04 at 12.24.50 PM.png" id="1288" name="Google Shape;1288;p166"/>
          <p:cNvPicPr preferRelativeResize="0"/>
          <p:nvPr/>
        </p:nvPicPr>
        <p:blipFill rotWithShape="1">
          <a:blip r:embed="rId3">
            <a:alphaModFix/>
          </a:blip>
          <a:srcRect b="0" l="0" r="0" t="0"/>
          <a:stretch/>
        </p:blipFill>
        <p:spPr>
          <a:xfrm>
            <a:off x="2205038" y="2141538"/>
            <a:ext cx="2436812" cy="784225"/>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167"/>
          <p:cNvSpPr txBox="1"/>
          <p:nvPr>
            <p:ph type="title"/>
          </p:nvPr>
        </p:nvSpPr>
        <p:spPr>
          <a:xfrm>
            <a:off x="1195388" y="198438"/>
            <a:ext cx="749141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Intel IA-32 Segmentation</a:t>
            </a:r>
            <a:endParaRPr/>
          </a:p>
        </p:txBody>
      </p:sp>
      <p:pic>
        <p:nvPicPr>
          <p:cNvPr descr="8" id="1295" name="Google Shape;1295;p167"/>
          <p:cNvPicPr preferRelativeResize="0"/>
          <p:nvPr/>
        </p:nvPicPr>
        <p:blipFill rotWithShape="1">
          <a:blip r:embed="rId3">
            <a:alphaModFix/>
          </a:blip>
          <a:srcRect b="0" l="0" r="0" t="0"/>
          <a:stretch/>
        </p:blipFill>
        <p:spPr>
          <a:xfrm>
            <a:off x="1876425" y="1314450"/>
            <a:ext cx="6034088" cy="3703638"/>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168"/>
          <p:cNvSpPr txBox="1"/>
          <p:nvPr>
            <p:ph type="title"/>
          </p:nvPr>
        </p:nvSpPr>
        <p:spPr>
          <a:xfrm>
            <a:off x="817563" y="182563"/>
            <a:ext cx="786923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Intel IA-32 Paging Architecture</a:t>
            </a:r>
            <a:endParaRPr/>
          </a:p>
        </p:txBody>
      </p:sp>
      <p:pic>
        <p:nvPicPr>
          <p:cNvPr id="1302" name="Google Shape;1302;p168"/>
          <p:cNvPicPr preferRelativeResize="0"/>
          <p:nvPr/>
        </p:nvPicPr>
        <p:blipFill rotWithShape="1">
          <a:blip r:embed="rId3">
            <a:alphaModFix/>
          </a:blip>
          <a:srcRect b="0" l="0" r="0" t="0"/>
          <a:stretch/>
        </p:blipFill>
        <p:spPr>
          <a:xfrm>
            <a:off x="2349500" y="1220788"/>
            <a:ext cx="4503738" cy="4394200"/>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169"/>
          <p:cNvSpPr txBox="1"/>
          <p:nvPr>
            <p:ph type="title"/>
          </p:nvPr>
        </p:nvSpPr>
        <p:spPr>
          <a:xfrm>
            <a:off x="1227138" y="214313"/>
            <a:ext cx="786923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Intel IA-32 Page Address Extensions</a:t>
            </a:r>
            <a:endParaRPr/>
          </a:p>
        </p:txBody>
      </p:sp>
      <p:pic>
        <p:nvPicPr>
          <p:cNvPr descr="8_24.pdf" id="1309" name="Google Shape;1309;p169"/>
          <p:cNvPicPr preferRelativeResize="0"/>
          <p:nvPr/>
        </p:nvPicPr>
        <p:blipFill rotWithShape="1">
          <a:blip r:embed="rId3">
            <a:alphaModFix/>
          </a:blip>
          <a:srcRect b="0" l="0" r="0" t="0"/>
          <a:stretch/>
        </p:blipFill>
        <p:spPr>
          <a:xfrm>
            <a:off x="1230313" y="3502025"/>
            <a:ext cx="6157912" cy="2630488"/>
          </a:xfrm>
          <a:prstGeom prst="rect">
            <a:avLst/>
          </a:prstGeom>
          <a:noFill/>
          <a:ln>
            <a:noFill/>
          </a:ln>
        </p:spPr>
      </p:pic>
      <p:sp>
        <p:nvSpPr>
          <p:cNvPr id="1310" name="Google Shape;1310;p169"/>
          <p:cNvSpPr txBox="1"/>
          <p:nvPr/>
        </p:nvSpPr>
        <p:spPr>
          <a:xfrm>
            <a:off x="901700" y="1108075"/>
            <a:ext cx="7743825" cy="1905000"/>
          </a:xfrm>
          <a:prstGeom prst="rect">
            <a:avLst/>
          </a:prstGeom>
          <a:noFill/>
          <a:ln>
            <a:noFill/>
          </a:ln>
        </p:spPr>
        <p:txBody>
          <a:bodyPr anchorCtr="0" anchor="t" bIns="32000" lIns="64000" spcFirstLastPara="1" rIns="64000" wrap="square" tIns="32000">
            <a:noAutofit/>
          </a:bodyPr>
          <a:lstStyle/>
          <a:p>
            <a:pPr indent="-488950" lvl="0" marL="488950" marR="0" rtl="0" algn="l">
              <a:spcBef>
                <a:spcPts val="0"/>
              </a:spcBef>
              <a:spcAft>
                <a:spcPts val="0"/>
              </a:spcAft>
              <a:buClr>
                <a:srgbClr val="993300"/>
              </a:buClr>
              <a:buSzPts val="1440"/>
              <a:buFont typeface="Arial"/>
              <a:buChar char="●"/>
            </a:pPr>
            <a:r>
              <a:rPr lang="en-US" sz="1600">
                <a:solidFill>
                  <a:schemeClr val="dk1"/>
                </a:solidFill>
                <a:latin typeface="Helvetica Neue"/>
                <a:ea typeface="Helvetica Neue"/>
                <a:cs typeface="Helvetica Neue"/>
                <a:sym typeface="Helvetica Neue"/>
              </a:rPr>
              <a:t>32-bit address limits led Intel to create </a:t>
            </a:r>
            <a:r>
              <a:rPr b="1" lang="en-US" sz="1600">
                <a:solidFill>
                  <a:srgbClr val="3366FF"/>
                </a:solidFill>
                <a:latin typeface="Helvetica Neue"/>
                <a:ea typeface="Helvetica Neue"/>
                <a:cs typeface="Helvetica Neue"/>
                <a:sym typeface="Helvetica Neue"/>
              </a:rPr>
              <a:t>page address extension </a:t>
            </a:r>
            <a:r>
              <a:rPr lang="en-US" sz="1600">
                <a:solidFill>
                  <a:schemeClr val="dk1"/>
                </a:solidFill>
                <a:latin typeface="Helvetica Neue"/>
                <a:ea typeface="Helvetica Neue"/>
                <a:cs typeface="Helvetica Neue"/>
                <a:sym typeface="Helvetica Neue"/>
              </a:rPr>
              <a:t>(</a:t>
            </a:r>
            <a:r>
              <a:rPr b="1" lang="en-US" sz="1600">
                <a:solidFill>
                  <a:srgbClr val="3366FF"/>
                </a:solidFill>
                <a:latin typeface="Helvetica Neue"/>
                <a:ea typeface="Helvetica Neue"/>
                <a:cs typeface="Helvetica Neue"/>
                <a:sym typeface="Helvetica Neue"/>
              </a:rPr>
              <a:t>PAE</a:t>
            </a:r>
            <a:r>
              <a:rPr lang="en-US" sz="1600">
                <a:solidFill>
                  <a:schemeClr val="dk1"/>
                </a:solidFill>
                <a:latin typeface="Helvetica Neue"/>
                <a:ea typeface="Helvetica Neue"/>
                <a:cs typeface="Helvetica Neue"/>
                <a:sym typeface="Helvetica Neue"/>
              </a:rPr>
              <a:t>), allowing 32-bit apps access to more than 4GB of memory space</a:t>
            </a:r>
            <a:endParaRPr/>
          </a:p>
          <a:p>
            <a:pPr indent="-407988" lvl="1" marL="1060450" marR="0" rtl="0" algn="l">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Paging went to a 3-level scheme</a:t>
            </a:r>
            <a:endParaRPr/>
          </a:p>
          <a:p>
            <a:pPr indent="-407988" lvl="1" marL="1060450" marR="0" rtl="0" algn="l">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Top two bits refer to a </a:t>
            </a:r>
            <a:r>
              <a:rPr b="1" i="0" lang="en-US" sz="1600" u="none" cap="none" strike="noStrike">
                <a:solidFill>
                  <a:srgbClr val="3366FF"/>
                </a:solidFill>
                <a:latin typeface="Helvetica Neue"/>
                <a:ea typeface="Helvetica Neue"/>
                <a:cs typeface="Helvetica Neue"/>
                <a:sym typeface="Helvetica Neue"/>
              </a:rPr>
              <a:t>page directory pointer table</a:t>
            </a:r>
            <a:endParaRPr/>
          </a:p>
          <a:p>
            <a:pPr indent="-407988" lvl="1" marL="1060450" marR="0" rtl="0" algn="l">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Page-directory and page-table entries moved to 64-bits in size</a:t>
            </a:r>
            <a:endParaRPr/>
          </a:p>
          <a:p>
            <a:pPr indent="-407988" lvl="1" marL="1060450" marR="0" rtl="0" algn="l">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Net effect is increasing address space to 36 bits – 64GB of physical memory</a:t>
            </a:r>
            <a:endParaRPr/>
          </a:p>
          <a:p>
            <a:pPr indent="-316547" lvl="1" marL="1060450" marR="0" rtl="0" algn="l">
              <a:spcBef>
                <a:spcPts val="630"/>
              </a:spcBef>
              <a:spcAft>
                <a:spcPts val="0"/>
              </a:spcAft>
              <a:buClr>
                <a:srgbClr val="CC6600"/>
              </a:buClr>
              <a:buSzPts val="1440"/>
              <a:buFont typeface="Arial"/>
              <a:buNone/>
            </a:pPr>
            <a:r>
              <a:t/>
            </a:r>
            <a:endParaRPr b="1" i="0" sz="1800" u="none" cap="none" strike="noStrike">
              <a:solidFill>
                <a:srgbClr val="3366FF"/>
              </a:solidFill>
              <a:latin typeface="Helvetica Neue"/>
              <a:ea typeface="Helvetica Neue"/>
              <a:cs typeface="Helvetica Neue"/>
              <a:sym typeface="Helvetica Neue"/>
            </a:endParaRPr>
          </a:p>
          <a:p>
            <a:pPr indent="-386080" lvl="0" marL="488950" marR="0" rtl="0" algn="l">
              <a:spcBef>
                <a:spcPts val="630"/>
              </a:spcBef>
              <a:spcAft>
                <a:spcPts val="0"/>
              </a:spcAft>
              <a:buClr>
                <a:srgbClr val="993300"/>
              </a:buClr>
              <a:buSzPts val="1620"/>
              <a:buFont typeface="Arial"/>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170"/>
          <p:cNvSpPr txBox="1"/>
          <p:nvPr>
            <p:ph type="title"/>
          </p:nvPr>
        </p:nvSpPr>
        <p:spPr>
          <a:xfrm>
            <a:off x="817563" y="198438"/>
            <a:ext cx="786923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Intel x86-64</a:t>
            </a:r>
            <a:endParaRPr/>
          </a:p>
        </p:txBody>
      </p:sp>
      <p:sp>
        <p:nvSpPr>
          <p:cNvPr id="1317" name="Google Shape;1317;p170"/>
          <p:cNvSpPr txBox="1"/>
          <p:nvPr/>
        </p:nvSpPr>
        <p:spPr>
          <a:xfrm>
            <a:off x="917575" y="1122363"/>
            <a:ext cx="7564438" cy="2755900"/>
          </a:xfrm>
          <a:prstGeom prst="rect">
            <a:avLst/>
          </a:prstGeom>
          <a:noFill/>
          <a:ln>
            <a:noFill/>
          </a:ln>
        </p:spPr>
        <p:txBody>
          <a:bodyPr anchorCtr="0" anchor="t" bIns="32000" lIns="64000" spcFirstLastPara="1" rIns="64000" wrap="square" tIns="32000">
            <a:noAutofit/>
          </a:bodyPr>
          <a:lstStyle/>
          <a:p>
            <a:pPr indent="-488950" lvl="0" marL="488950" marR="0" rtl="0" algn="l">
              <a:spcBef>
                <a:spcPts val="0"/>
              </a:spcBef>
              <a:spcAft>
                <a:spcPts val="0"/>
              </a:spcAft>
              <a:buClr>
                <a:srgbClr val="993300"/>
              </a:buClr>
              <a:buSzPts val="1620"/>
              <a:buFont typeface="Arial"/>
              <a:buChar char="●"/>
            </a:pPr>
            <a:r>
              <a:rPr lang="en-US" sz="1800">
                <a:solidFill>
                  <a:schemeClr val="dk1"/>
                </a:solidFill>
                <a:latin typeface="Helvetica Neue"/>
                <a:ea typeface="Helvetica Neue"/>
                <a:cs typeface="Helvetica Neue"/>
                <a:sym typeface="Helvetica Neue"/>
              </a:rPr>
              <a:t>Current generation Intel x86 architecture</a:t>
            </a:r>
            <a:endParaRPr/>
          </a:p>
          <a:p>
            <a:pPr indent="-488950" lvl="0" marL="488950" marR="0" rtl="0" algn="l">
              <a:spcBef>
                <a:spcPts val="630"/>
              </a:spcBef>
              <a:spcAft>
                <a:spcPts val="0"/>
              </a:spcAft>
              <a:buClr>
                <a:srgbClr val="993300"/>
              </a:buClr>
              <a:buSzPts val="1620"/>
              <a:buFont typeface="Arial"/>
              <a:buChar char="●"/>
            </a:pPr>
            <a:r>
              <a:rPr lang="en-US" sz="1800">
                <a:solidFill>
                  <a:schemeClr val="dk1"/>
                </a:solidFill>
                <a:latin typeface="Helvetica Neue"/>
                <a:ea typeface="Helvetica Neue"/>
                <a:cs typeface="Helvetica Neue"/>
                <a:sym typeface="Helvetica Neue"/>
              </a:rPr>
              <a:t>64 bits is ginormous (&gt; 16 exabytes)</a:t>
            </a:r>
            <a:endParaRPr/>
          </a:p>
          <a:p>
            <a:pPr indent="-488950" lvl="0" marL="488950" marR="0" rtl="0" algn="l">
              <a:spcBef>
                <a:spcPts val="630"/>
              </a:spcBef>
              <a:spcAft>
                <a:spcPts val="0"/>
              </a:spcAft>
              <a:buClr>
                <a:srgbClr val="993300"/>
              </a:buClr>
              <a:buSzPts val="1620"/>
              <a:buFont typeface="Arial"/>
              <a:buChar char="●"/>
            </a:pPr>
            <a:r>
              <a:rPr lang="en-US" sz="1800">
                <a:solidFill>
                  <a:schemeClr val="dk1"/>
                </a:solidFill>
                <a:latin typeface="Helvetica Neue"/>
                <a:ea typeface="Helvetica Neue"/>
                <a:cs typeface="Helvetica Neue"/>
                <a:sym typeface="Helvetica Neue"/>
              </a:rPr>
              <a:t>In practice only implement 48 bit addressing</a:t>
            </a:r>
            <a:endParaRPr/>
          </a:p>
          <a:p>
            <a:pPr indent="-407988" lvl="1" marL="1060450" marR="0" rtl="0" algn="l">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Page sizes of 4 KB, 2 MB, 1 GB</a:t>
            </a:r>
            <a:endParaRPr/>
          </a:p>
          <a:p>
            <a:pPr indent="-407988" lvl="1" marL="1060450" marR="0" rtl="0" algn="l">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Four levels of paging hierarchy</a:t>
            </a:r>
            <a:endParaRPr/>
          </a:p>
          <a:p>
            <a:pPr indent="-488950" lvl="0" marL="488950" marR="0" rtl="0" algn="l">
              <a:spcBef>
                <a:spcPts val="630"/>
              </a:spcBef>
              <a:spcAft>
                <a:spcPts val="0"/>
              </a:spcAft>
              <a:buClr>
                <a:srgbClr val="993300"/>
              </a:buClr>
              <a:buSzPts val="1620"/>
              <a:buFont typeface="Arial"/>
              <a:buChar char="●"/>
            </a:pPr>
            <a:r>
              <a:rPr lang="en-US" sz="1800">
                <a:solidFill>
                  <a:schemeClr val="dk1"/>
                </a:solidFill>
                <a:latin typeface="Helvetica Neue"/>
                <a:ea typeface="Helvetica Neue"/>
                <a:cs typeface="Helvetica Neue"/>
                <a:sym typeface="Helvetica Neue"/>
              </a:rPr>
              <a:t>Can also use PAE so virtual addresses are 48 bits and physical addresses are 52 bits</a:t>
            </a:r>
            <a:endParaRPr/>
          </a:p>
        </p:txBody>
      </p:sp>
      <p:pic>
        <p:nvPicPr>
          <p:cNvPr descr="8_25.pdf" id="1318" name="Google Shape;1318;p170"/>
          <p:cNvPicPr preferRelativeResize="0"/>
          <p:nvPr/>
        </p:nvPicPr>
        <p:blipFill rotWithShape="1">
          <a:blip r:embed="rId3">
            <a:alphaModFix/>
          </a:blip>
          <a:srcRect b="0" l="0" r="0" t="0"/>
          <a:stretch/>
        </p:blipFill>
        <p:spPr>
          <a:xfrm>
            <a:off x="1150938" y="4108450"/>
            <a:ext cx="7283450" cy="7366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3" name="Shape 1323"/>
        <p:cNvGrpSpPr/>
        <p:nvPr/>
      </p:nvGrpSpPr>
      <p:grpSpPr>
        <a:xfrm>
          <a:off x="0" y="0"/>
          <a:ext cx="0" cy="0"/>
          <a:chOff x="0" y="0"/>
          <a:chExt cx="0" cy="0"/>
        </a:xfrm>
      </p:grpSpPr>
      <p:sp>
        <p:nvSpPr>
          <p:cNvPr id="1324" name="Google Shape;1324;p171"/>
          <p:cNvSpPr txBox="1"/>
          <p:nvPr>
            <p:ph type="title"/>
          </p:nvPr>
        </p:nvSpPr>
        <p:spPr>
          <a:xfrm>
            <a:off x="457200" y="1825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Shared Pages</a:t>
            </a:r>
            <a:endParaRPr/>
          </a:p>
        </p:txBody>
      </p:sp>
      <p:sp>
        <p:nvSpPr>
          <p:cNvPr id="1325" name="Google Shape;1325;p171"/>
          <p:cNvSpPr txBox="1"/>
          <p:nvPr>
            <p:ph idx="1" type="body"/>
          </p:nvPr>
        </p:nvSpPr>
        <p:spPr>
          <a:xfrm>
            <a:off x="873125" y="1141413"/>
            <a:ext cx="6950075"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3366FF"/>
                </a:solidFill>
              </a:rPr>
              <a:t>Shared code</a:t>
            </a:r>
            <a:endParaRPr/>
          </a:p>
          <a:p>
            <a:pPr indent="-285750" lvl="1" marL="742950" rtl="0" algn="l">
              <a:spcBef>
                <a:spcPts val="630"/>
              </a:spcBef>
              <a:spcAft>
                <a:spcPts val="0"/>
              </a:spcAft>
              <a:buSzPts val="1440"/>
              <a:buChar char="●"/>
            </a:pPr>
            <a:r>
              <a:rPr lang="en-US"/>
              <a:t>One copy of read-only (</a:t>
            </a:r>
            <a:r>
              <a:rPr b="1" lang="en-US">
                <a:solidFill>
                  <a:srgbClr val="3366FF"/>
                </a:solidFill>
              </a:rPr>
              <a:t>reentrant</a:t>
            </a:r>
            <a:r>
              <a:rPr lang="en-US"/>
              <a:t>) code shared among processes (i.e., text editors, compilers, window systems)</a:t>
            </a:r>
            <a:endParaRPr/>
          </a:p>
          <a:p>
            <a:pPr indent="-285750" lvl="1" marL="742950" rtl="0" algn="l">
              <a:spcBef>
                <a:spcPts val="630"/>
              </a:spcBef>
              <a:spcAft>
                <a:spcPts val="0"/>
              </a:spcAft>
              <a:buSzPts val="1440"/>
              <a:buChar char="●"/>
            </a:pPr>
            <a:r>
              <a:rPr lang="en-US"/>
              <a:t>Similar to multiple threads sharing the same process space</a:t>
            </a:r>
            <a:endParaRPr/>
          </a:p>
          <a:p>
            <a:pPr indent="-285750" lvl="1" marL="742950" rtl="0" algn="l">
              <a:spcBef>
                <a:spcPts val="630"/>
              </a:spcBef>
              <a:spcAft>
                <a:spcPts val="0"/>
              </a:spcAft>
              <a:buSzPts val="1440"/>
              <a:buChar char="●"/>
            </a:pPr>
            <a:r>
              <a:rPr lang="en-US"/>
              <a:t>Also useful for interprocess communication if sharing of read-write pages is allowed</a:t>
            </a:r>
            <a:endParaRPr/>
          </a:p>
          <a:p>
            <a:pPr indent="-342900" lvl="0" marL="342900" rtl="0" algn="l">
              <a:spcBef>
                <a:spcPts val="630"/>
              </a:spcBef>
              <a:spcAft>
                <a:spcPts val="0"/>
              </a:spcAft>
              <a:buSzPts val="1620"/>
              <a:buChar char="●"/>
            </a:pPr>
            <a:r>
              <a:rPr b="1" lang="en-US">
                <a:solidFill>
                  <a:srgbClr val="3366FF"/>
                </a:solidFill>
              </a:rPr>
              <a:t>Private code and data</a:t>
            </a:r>
            <a:r>
              <a:rPr lang="en-US">
                <a:solidFill>
                  <a:srgbClr val="3366FF"/>
                </a:solidFill>
              </a:rPr>
              <a:t> </a:t>
            </a:r>
            <a:endParaRPr/>
          </a:p>
          <a:p>
            <a:pPr indent="-285750" lvl="1" marL="742950" rtl="0" algn="l">
              <a:spcBef>
                <a:spcPts val="630"/>
              </a:spcBef>
              <a:spcAft>
                <a:spcPts val="0"/>
              </a:spcAft>
              <a:buSzPts val="1440"/>
              <a:buChar char="●"/>
            </a:pPr>
            <a:r>
              <a:rPr lang="en-US"/>
              <a:t>Each process keeps a separate copy of the code and data</a:t>
            </a:r>
            <a:endParaRPr/>
          </a:p>
          <a:p>
            <a:pPr indent="-285750" lvl="1" marL="742950" rtl="0" algn="l">
              <a:spcBef>
                <a:spcPts val="630"/>
              </a:spcBef>
              <a:spcAft>
                <a:spcPts val="0"/>
              </a:spcAft>
              <a:buSzPts val="1440"/>
              <a:buChar char="●"/>
            </a:pPr>
            <a:r>
              <a:rPr lang="en-US"/>
              <a:t>The pages for the private code and data can appear anywhere in the logical address space</a:t>
            </a:r>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172"/>
          <p:cNvSpPr txBox="1"/>
          <p:nvPr>
            <p:ph type="title"/>
          </p:nvPr>
        </p:nvSpPr>
        <p:spPr>
          <a:xfrm>
            <a:off x="982663" y="198438"/>
            <a:ext cx="770413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Shared Pages Example</a:t>
            </a:r>
            <a:endParaRPr sz="2400"/>
          </a:p>
        </p:txBody>
      </p:sp>
      <p:pic>
        <p:nvPicPr>
          <p:cNvPr descr="8" id="1332" name="Google Shape;1332;p172"/>
          <p:cNvPicPr preferRelativeResize="0"/>
          <p:nvPr/>
        </p:nvPicPr>
        <p:blipFill rotWithShape="1">
          <a:blip r:embed="rId3">
            <a:alphaModFix/>
          </a:blip>
          <a:srcRect b="0" l="0" r="0" t="0"/>
          <a:stretch/>
        </p:blipFill>
        <p:spPr>
          <a:xfrm>
            <a:off x="2112963" y="1104900"/>
            <a:ext cx="4860925" cy="489426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2011-01-13T23:43:38Z</dcterms:created>
  <dc:creator>Lucent End User</dc:creator>
</cp:coreProperties>
</file>

<file path=[Content_Types].xml><?xml version="1.0" encoding="utf-8"?>
<Types xmlns="http://schemas.openxmlformats.org/package/2006/content-types">
  <Default Extension="jpg" ContentType="image/jpeg"/>
  <Default Extension="fntdata" ContentType="application/x-fontdata"/>
  <Default Extension="xml" ContentType="application/xml"/>
  <Default Extension="png" ContentType="image/png"/>
  <Default Extension="rels" ContentType="application/vnd.openxmlformats-package.relationships+xml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88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PartName="/ppt/comments/comment2.xml" ContentType="application/vnd.openxmlformats-officedocument.presentationml.comments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embedTrueTypeFonts="1" strictFirstAndLastChars="0" autoCompressPictures="0" saveSubsetFonts="1">
  <p:sldMasterIdLst>
    <p:sldMasterId r:id="rId6" id="2147483648"/>
    <p:sldMasterId r:id="rId7" id="2147483660"/>
  </p:sldMasterIdLst>
  <p:notesMasterIdLst>
    <p:notesMasterId r:id="rId8"/>
  </p:notesMasterIdLst>
  <p:sldIdLst>
    <p:sldId r:id="rId9" id="256"/>
    <p:sldId r:id="rId10" id="257"/>
    <p:sldId r:id="rId11" id="258"/>
    <p:sldId r:id="rId12" id="259"/>
    <p:sldId r:id="rId13" id="260"/>
    <p:sldId r:id="rId14" id="261"/>
    <p:sldId r:id="rId15" id="262"/>
    <p:sldId r:id="rId16" id="263"/>
    <p:sldId r:id="rId17" id="264"/>
    <p:sldId r:id="rId18" id="265"/>
    <p:sldId r:id="rId19" id="266"/>
    <p:sldId r:id="rId20" id="267"/>
    <p:sldId r:id="rId21" id="268"/>
    <p:sldId r:id="rId22" id="269"/>
    <p:sldId r:id="rId23" id="270"/>
    <p:sldId r:id="rId24" id="271"/>
    <p:sldId r:id="rId25" id="272"/>
    <p:sldId r:id="rId26" id="273"/>
    <p:sldId r:id="rId27" id="274"/>
    <p:sldId r:id="rId28" id="275"/>
    <p:sldId r:id="rId29" id="276"/>
    <p:sldId r:id="rId30" id="277"/>
    <p:sldId r:id="rId31" id="278"/>
    <p:sldId r:id="rId32" id="279"/>
    <p:sldId r:id="rId33" id="280"/>
    <p:sldId r:id="rId34" id="281"/>
    <p:sldId r:id="rId35" id="282"/>
    <p:sldId r:id="rId36" id="283"/>
    <p:sldId r:id="rId37" id="284"/>
    <p:sldId r:id="rId38" id="285"/>
    <p:sldId r:id="rId39" id="286"/>
    <p:sldId r:id="rId40" id="287"/>
    <p:sldId r:id="rId41" id="288"/>
    <p:sldId r:id="rId42" id="289"/>
    <p:sldId r:id="rId43" id="290"/>
    <p:sldId r:id="rId44" id="291"/>
    <p:sldId r:id="rId45" id="292"/>
    <p:sldId r:id="rId46" id="293"/>
    <p:sldId r:id="rId47" id="294"/>
    <p:sldId r:id="rId48" id="295"/>
    <p:sldId r:id="rId49" id="296"/>
    <p:sldId r:id="rId50" id="297"/>
    <p:sldId r:id="rId51" id="298"/>
    <p:sldId r:id="rId52" id="299"/>
    <p:sldId r:id="rId53" id="300"/>
    <p:sldId r:id="rId54" id="301"/>
    <p:sldId r:id="rId55" id="302"/>
    <p:sldId r:id="rId56" id="303"/>
    <p:sldId r:id="rId57" id="304"/>
    <p:sldId r:id="rId58" id="305"/>
    <p:sldId r:id="rId59" id="306"/>
    <p:sldId r:id="rId60" id="307"/>
    <p:sldId r:id="rId61" id="308"/>
    <p:sldId r:id="rId62" id="309"/>
    <p:sldId r:id="rId63" id="310"/>
    <p:sldId r:id="rId64" id="311"/>
    <p:sldId r:id="rId65" id="312"/>
    <p:sldId r:id="rId66" id="313"/>
    <p:sldId r:id="rId67" id="314"/>
    <p:sldId r:id="rId68" id="315"/>
    <p:sldId r:id="rId69" id="316"/>
    <p:sldId r:id="rId70" id="317"/>
    <p:sldId r:id="rId71" id="318"/>
    <p:sldId r:id="rId72" id="319"/>
    <p:sldId r:id="rId73" id="320"/>
    <p:sldId r:id="rId74" id="321"/>
    <p:sldId r:id="rId75" id="322"/>
    <p:sldId r:id="rId76" id="323"/>
    <p:sldId r:id="rId77" id="324"/>
    <p:sldId r:id="rId78" id="325"/>
    <p:sldId r:id="rId79" id="326"/>
    <p:sldId r:id="rId80" id="327"/>
    <p:sldId r:id="rId81" id="328"/>
    <p:sldId r:id="rId82" id="329"/>
    <p:sldId r:id="rId83" id="330"/>
    <p:sldId r:id="rId84" id="331"/>
    <p:sldId r:id="rId85" id="332"/>
    <p:sldId r:id="rId86" id="333"/>
    <p:sldId r:id="rId87" id="334"/>
    <p:sldId r:id="rId88" id="335"/>
    <p:sldId r:id="rId89" id="336"/>
    <p:sldId r:id="rId90" id="337"/>
    <p:sldId r:id="rId91" id="338"/>
    <p:sldId r:id="rId92" id="339"/>
    <p:sldId r:id="rId93" id="340"/>
    <p:sldId r:id="rId94" id="341"/>
    <p:sldId r:id="rId95" id="342"/>
    <p:sldId r:id="rId96" id="343"/>
    <p:sldId r:id="rId97" id="344"/>
    <p:sldId r:id="rId98" id="345"/>
    <p:sldId r:id="rId99" id="346"/>
    <p:sldId r:id="rId100" id="347"/>
    <p:sldId r:id="rId101" id="348"/>
    <p:sldId r:id="rId102" id="349"/>
    <p:sldId r:id="rId103" id="350"/>
    <p:sldId r:id="rId104" id="351"/>
    <p:sldId r:id="rId105" id="352"/>
    <p:sldId r:id="rId106" id="353"/>
    <p:sldId r:id="rId107" id="354"/>
    <p:sldId r:id="rId108" id="355"/>
    <p:sldId r:id="rId109" id="356"/>
    <p:sldId r:id="rId110" id="357"/>
    <p:sldId r:id="rId111" id="358"/>
    <p:sldId r:id="rId112" id="359"/>
    <p:sldId r:id="rId113" id="360"/>
    <p:sldId r:id="rId114" id="361"/>
    <p:sldId r:id="rId115" id="362"/>
    <p:sldId r:id="rId116" id="363"/>
    <p:sldId r:id="rId117" id="364"/>
    <p:sldId r:id="rId118" id="365"/>
    <p:sldId r:id="rId119" id="366"/>
    <p:sldId r:id="rId120" id="367"/>
    <p:sldId r:id="rId121" id="368"/>
    <p:sldId r:id="rId122" id="369"/>
    <p:sldId r:id="rId123" id="370"/>
    <p:sldId r:id="rId124" id="371"/>
    <p:sldId r:id="rId125" id="372"/>
    <p:sldId r:id="rId126" id="373"/>
    <p:sldId r:id="rId127" id="374"/>
    <p:sldId r:id="rId128" id="375"/>
    <p:sldId r:id="rId129" id="376"/>
    <p:sldId r:id="rId130" id="377"/>
    <p:sldId r:id="rId131" id="378"/>
    <p:sldId r:id="rId132" id="379"/>
    <p:sldId r:id="rId133" id="380"/>
    <p:sldId r:id="rId134" id="381"/>
    <p:sldId r:id="rId135" id="382"/>
    <p:sldId r:id="rId136" id="383"/>
    <p:sldId r:id="rId137" id="384"/>
    <p:sldId r:id="rId138" id="385"/>
    <p:sldId r:id="rId139" id="386"/>
    <p:sldId r:id="rId140" id="387"/>
    <p:sldId r:id="rId141" id="388"/>
    <p:sldId r:id="rId142" id="389"/>
    <p:sldId r:id="rId143" id="390"/>
    <p:sldId r:id="rId144" id="391"/>
    <p:sldId r:id="rId145" id="392"/>
    <p:sldId r:id="rId146" id="393"/>
    <p:sldId r:id="rId147" id="394"/>
    <p:sldId r:id="rId148" id="395"/>
    <p:sldId r:id="rId149" id="396"/>
    <p:sldId r:id="rId150" id="397"/>
    <p:sldId r:id="rId151" id="398"/>
    <p:sldId r:id="rId152" id="399"/>
    <p:sldId r:id="rId153" id="400"/>
    <p:sldId r:id="rId154" id="401"/>
    <p:sldId r:id="rId155" id="402"/>
    <p:sldId r:id="rId156" id="403"/>
    <p:sldId r:id="rId157" id="404"/>
    <p:sldId r:id="rId158" id="405"/>
    <p:sldId r:id="rId159" id="406"/>
    <p:sldId r:id="rId160" id="407"/>
    <p:sldId r:id="rId161" id="408"/>
    <p:sldId r:id="rId162" id="409"/>
    <p:sldId r:id="rId163" id="410"/>
    <p:sldId r:id="rId164" id="411"/>
    <p:sldId r:id="rId165" id="412"/>
    <p:sldId r:id="rId166" id="413"/>
    <p:sldId r:id="rId167" id="414"/>
    <p:sldId r:id="rId168" id="415"/>
    <p:sldId r:id="rId169" id="416"/>
    <p:sldId r:id="rId170" id="417"/>
    <p:sldId r:id="rId171" id="418"/>
    <p:sldId r:id="rId172" id="419"/>
    <p:sldId r:id="rId173" id="420"/>
    <p:sldId r:id="rId174" id="421"/>
    <p:sldId r:id="rId175" id="422"/>
    <p:sldId r:id="rId176" id="423"/>
    <p:sldId r:id="rId177" id="424"/>
    <p:sldId r:id="rId178" id="425"/>
    <p:sldId r:id="rId179" id="426"/>
    <p:sldId r:id="rId180" id="427"/>
    <p:sldId r:id="rId181" id="428"/>
    <p:sldId r:id="rId182" id="429"/>
    <p:sldId r:id="rId183" id="430"/>
    <p:sldId r:id="rId184" id="431"/>
    <p:sldId r:id="rId185" id="432"/>
    <p:sldId r:id="rId186" id="433"/>
    <p:sldId r:id="rId187" id="434"/>
    <p:sldId r:id="rId188" id="435"/>
    <p:sldId r:id="rId189" id="436"/>
    <p:sldId r:id="rId190" id="437"/>
    <p:sldId r:id="rId191" id="438"/>
    <p:sldId r:id="rId192" id="439"/>
    <p:sldId r:id="rId193" id="440"/>
    <p:sldId r:id="rId194" id="441"/>
    <p:sldId r:id="rId195" id="442"/>
    <p:sldId r:id="rId196" id="443"/>
    <p:sldId r:id="rId197" id="444"/>
    <p:sldId r:id="rId198" id="445"/>
    <p:sldId r:id="rId199" id="446"/>
  </p:sldIdLst>
  <p:sldSz cx="9144000" cy="6858000"/>
  <p:notesSz cx="6858000" cy="9144000"/>
  <p:embeddedFontLst>
    <p:embeddedFont>
      <p:font typeface="Helvetica Neue"/>
      <p:regular r:id="rId200"/>
      <p:bold r:id="rId201"/>
      <p:italic r:id="rId202"/>
      <p:boldItalic r:id="rId203"/>
    </p:embeddedFont>
    <p:embeddedFont>
      <p:font typeface="Noto Sans Symbols"/>
      <p:regular r:id="rId204"/>
      <p:bold r:id="rId2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u="none" sz="1400" strike="noStrike" i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orient="horz" pos="2160" id="1">
          <p15:clr>
            <a:srgbClr val="000000"/>
          </p15:clr>
        </p15:guide>
        <p15:guide pos="2880" id="2">
          <p15:clr>
            <a:srgbClr val="000000"/>
          </p15:clr>
        </p15:guide>
      </p15:sldGuideLst>
    </p:ext>
    <p:ext uri="GoogleSlidesCustomDataVersion2">
      <go:slidesCustomData xmlns:go="http://customooxmlschemas.google.com/" roundtripDataSignature="AMtx7mi3WWdsd0CfhikzoseFO9sKwM7pYg==" r:id="rId206"/>
    </p:ext>
    <p:ext uri="GoogleSlidesCustomDataVersion2">
      <go:slidesCustomData xmlns:go="http://customooxmlschemas.google.com/" roundtripDataSignature="AMtx7mhENK2d3xT+KqEX/66nKr0GI8+J5w==" r:id="rId206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clrIdx="0" initials="" lastIdx="1" name="Sakshi Raut" id="0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B002A0-A32F-40A6-A267-3B4B6D3308BB}">
  <a:tblStyle styleId="{7FB002A0-A32F-40A6-A267-3B4B6D3308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190" Type="http://schemas.openxmlformats.org/officeDocument/2006/relationships/slide" Target="slides/slide18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194" Type="http://schemas.openxmlformats.org/officeDocument/2006/relationships/slide" Target="slides/slide186.xml"/><Relationship Id="rId43" Type="http://schemas.openxmlformats.org/officeDocument/2006/relationships/slide" Target="slides/slide35.xml"/><Relationship Id="rId193" Type="http://schemas.openxmlformats.org/officeDocument/2006/relationships/slide" Target="slides/slide185.xml"/><Relationship Id="rId46" Type="http://schemas.openxmlformats.org/officeDocument/2006/relationships/slide" Target="slides/slide38.xml"/><Relationship Id="rId192" Type="http://schemas.openxmlformats.org/officeDocument/2006/relationships/slide" Target="slides/slide184.xml"/><Relationship Id="rId45" Type="http://schemas.openxmlformats.org/officeDocument/2006/relationships/slide" Target="slides/slide37.xml"/><Relationship Id="rId191" Type="http://schemas.openxmlformats.org/officeDocument/2006/relationships/slide" Target="slides/slide183.xml"/><Relationship Id="rId48" Type="http://schemas.openxmlformats.org/officeDocument/2006/relationships/slide" Target="slides/slide40.xml"/><Relationship Id="rId187" Type="http://schemas.openxmlformats.org/officeDocument/2006/relationships/slide" Target="slides/slide179.xml"/><Relationship Id="rId47" Type="http://schemas.openxmlformats.org/officeDocument/2006/relationships/slide" Target="slides/slide39.xml"/><Relationship Id="rId186" Type="http://schemas.openxmlformats.org/officeDocument/2006/relationships/slide" Target="slides/slide178.xml"/><Relationship Id="rId185" Type="http://schemas.openxmlformats.org/officeDocument/2006/relationships/slide" Target="slides/slide177.xml"/><Relationship Id="rId49" Type="http://schemas.openxmlformats.org/officeDocument/2006/relationships/slide" Target="slides/slide41.xml"/><Relationship Id="rId184" Type="http://schemas.openxmlformats.org/officeDocument/2006/relationships/slide" Target="slides/slide176.xml"/><Relationship Id="rId189" Type="http://schemas.openxmlformats.org/officeDocument/2006/relationships/slide" Target="slides/slide181.xml"/><Relationship Id="rId188" Type="http://schemas.openxmlformats.org/officeDocument/2006/relationships/slide" Target="slides/slide180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183" Type="http://schemas.openxmlformats.org/officeDocument/2006/relationships/slide" Target="slides/slide175.xml"/><Relationship Id="rId32" Type="http://schemas.openxmlformats.org/officeDocument/2006/relationships/slide" Target="slides/slide24.xml"/><Relationship Id="rId182" Type="http://schemas.openxmlformats.org/officeDocument/2006/relationships/slide" Target="slides/slide174.xml"/><Relationship Id="rId35" Type="http://schemas.openxmlformats.org/officeDocument/2006/relationships/slide" Target="slides/slide27.xml"/><Relationship Id="rId181" Type="http://schemas.openxmlformats.org/officeDocument/2006/relationships/slide" Target="slides/slide173.xml"/><Relationship Id="rId34" Type="http://schemas.openxmlformats.org/officeDocument/2006/relationships/slide" Target="slides/slide26.xml"/><Relationship Id="rId180" Type="http://schemas.openxmlformats.org/officeDocument/2006/relationships/slide" Target="slides/slide172.xml"/><Relationship Id="rId37" Type="http://schemas.openxmlformats.org/officeDocument/2006/relationships/slide" Target="slides/slide29.xml"/><Relationship Id="rId176" Type="http://schemas.openxmlformats.org/officeDocument/2006/relationships/slide" Target="slides/slide168.xml"/><Relationship Id="rId36" Type="http://schemas.openxmlformats.org/officeDocument/2006/relationships/slide" Target="slides/slide28.xml"/><Relationship Id="rId175" Type="http://schemas.openxmlformats.org/officeDocument/2006/relationships/slide" Target="slides/slide167.xml"/><Relationship Id="rId39" Type="http://schemas.openxmlformats.org/officeDocument/2006/relationships/slide" Target="slides/slide31.xml"/><Relationship Id="rId174" Type="http://schemas.openxmlformats.org/officeDocument/2006/relationships/slide" Target="slides/slide166.xml"/><Relationship Id="rId38" Type="http://schemas.openxmlformats.org/officeDocument/2006/relationships/slide" Target="slides/slide30.xml"/><Relationship Id="rId173" Type="http://schemas.openxmlformats.org/officeDocument/2006/relationships/slide" Target="slides/slide165.xml"/><Relationship Id="rId179" Type="http://schemas.openxmlformats.org/officeDocument/2006/relationships/slide" Target="slides/slide171.xml"/><Relationship Id="rId178" Type="http://schemas.openxmlformats.org/officeDocument/2006/relationships/slide" Target="slides/slide170.xml"/><Relationship Id="rId177" Type="http://schemas.openxmlformats.org/officeDocument/2006/relationships/slide" Target="slides/slide169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98" Type="http://schemas.openxmlformats.org/officeDocument/2006/relationships/slide" Target="slides/slide190.xml"/><Relationship Id="rId14" Type="http://schemas.openxmlformats.org/officeDocument/2006/relationships/slide" Target="slides/slide6.xml"/><Relationship Id="rId197" Type="http://schemas.openxmlformats.org/officeDocument/2006/relationships/slide" Target="slides/slide189.xml"/><Relationship Id="rId17" Type="http://schemas.openxmlformats.org/officeDocument/2006/relationships/slide" Target="slides/slide9.xml"/><Relationship Id="rId196" Type="http://schemas.openxmlformats.org/officeDocument/2006/relationships/slide" Target="slides/slide188.xml"/><Relationship Id="rId16" Type="http://schemas.openxmlformats.org/officeDocument/2006/relationships/slide" Target="slides/slide8.xml"/><Relationship Id="rId195" Type="http://schemas.openxmlformats.org/officeDocument/2006/relationships/slide" Target="slides/slide187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99" Type="http://schemas.openxmlformats.org/officeDocument/2006/relationships/slide" Target="slides/slide191.xml"/><Relationship Id="rId84" Type="http://schemas.openxmlformats.org/officeDocument/2006/relationships/slide" Target="slides/slide76.xml"/><Relationship Id="rId83" Type="http://schemas.openxmlformats.org/officeDocument/2006/relationships/slide" Target="slides/slide75.xml"/><Relationship Id="rId86" Type="http://schemas.openxmlformats.org/officeDocument/2006/relationships/slide" Target="slides/slide78.xml"/><Relationship Id="rId85" Type="http://schemas.openxmlformats.org/officeDocument/2006/relationships/slide" Target="slides/slide77.xml"/><Relationship Id="rId88" Type="http://schemas.openxmlformats.org/officeDocument/2006/relationships/slide" Target="slides/slide80.xml"/><Relationship Id="rId150" Type="http://schemas.openxmlformats.org/officeDocument/2006/relationships/slide" Target="slides/slide142.xml"/><Relationship Id="rId87" Type="http://schemas.openxmlformats.org/officeDocument/2006/relationships/slide" Target="slides/slide79.xml"/><Relationship Id="rId89" Type="http://schemas.openxmlformats.org/officeDocument/2006/relationships/slide" Target="slides/slide81.xml"/><Relationship Id="rId80" Type="http://schemas.openxmlformats.org/officeDocument/2006/relationships/slide" Target="slides/slide72.xml"/><Relationship Id="rId82" Type="http://schemas.openxmlformats.org/officeDocument/2006/relationships/slide" Target="slides/slide74.xml"/><Relationship Id="rId81" Type="http://schemas.openxmlformats.org/officeDocument/2006/relationships/slide" Target="slides/slide73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1.xml"/><Relationship Id="rId4" Type="http://schemas.openxmlformats.org/officeDocument/2006/relationships/tableStyles" Target="tableStyles.xml"/><Relationship Id="rId148" Type="http://schemas.openxmlformats.org/officeDocument/2006/relationships/slide" Target="slides/slide140.xml"/><Relationship Id="rId9" Type="http://schemas.openxmlformats.org/officeDocument/2006/relationships/slide" Target="slides/slide1.xml"/><Relationship Id="rId143" Type="http://schemas.openxmlformats.org/officeDocument/2006/relationships/slide" Target="slides/slide135.xml"/><Relationship Id="rId142" Type="http://schemas.openxmlformats.org/officeDocument/2006/relationships/slide" Target="slides/slide134.xml"/><Relationship Id="rId141" Type="http://schemas.openxmlformats.org/officeDocument/2006/relationships/slide" Target="slides/slide133.xml"/><Relationship Id="rId140" Type="http://schemas.openxmlformats.org/officeDocument/2006/relationships/slide" Target="slides/slide132.xml"/><Relationship Id="rId5" Type="http://schemas.openxmlformats.org/officeDocument/2006/relationships/commentAuthors" Target="commentAuthors.xml"/><Relationship Id="rId147" Type="http://schemas.openxmlformats.org/officeDocument/2006/relationships/slide" Target="slides/slide139.xml"/><Relationship Id="rId6" Type="http://schemas.openxmlformats.org/officeDocument/2006/relationships/slideMaster" Target="slideMasters/slideMaster1.xml"/><Relationship Id="rId146" Type="http://schemas.openxmlformats.org/officeDocument/2006/relationships/slide" Target="slides/slide138.xml"/><Relationship Id="rId7" Type="http://schemas.openxmlformats.org/officeDocument/2006/relationships/slideMaster" Target="slideMasters/slideMaster2.xml"/><Relationship Id="rId145" Type="http://schemas.openxmlformats.org/officeDocument/2006/relationships/slide" Target="slides/slide137.xml"/><Relationship Id="rId8" Type="http://schemas.openxmlformats.org/officeDocument/2006/relationships/notesMaster" Target="notesMasters/notesMaster1.xml"/><Relationship Id="rId144" Type="http://schemas.openxmlformats.org/officeDocument/2006/relationships/slide" Target="slides/slide136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75" Type="http://schemas.openxmlformats.org/officeDocument/2006/relationships/slide" Target="slides/slide67.xml"/><Relationship Id="rId74" Type="http://schemas.openxmlformats.org/officeDocument/2006/relationships/slide" Target="slides/slide66.xml"/><Relationship Id="rId77" Type="http://schemas.openxmlformats.org/officeDocument/2006/relationships/slide" Target="slides/slide69.xml"/><Relationship Id="rId76" Type="http://schemas.openxmlformats.org/officeDocument/2006/relationships/slide" Target="slides/slide68.xml"/><Relationship Id="rId79" Type="http://schemas.openxmlformats.org/officeDocument/2006/relationships/slide" Target="slides/slide71.xml"/><Relationship Id="rId78" Type="http://schemas.openxmlformats.org/officeDocument/2006/relationships/slide" Target="slides/slide70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139" Type="http://schemas.openxmlformats.org/officeDocument/2006/relationships/slide" Target="slides/slide131.xml"/><Relationship Id="rId138" Type="http://schemas.openxmlformats.org/officeDocument/2006/relationships/slide" Target="slides/slide130.xml"/><Relationship Id="rId137" Type="http://schemas.openxmlformats.org/officeDocument/2006/relationships/slide" Target="slides/slide129.xml"/><Relationship Id="rId132" Type="http://schemas.openxmlformats.org/officeDocument/2006/relationships/slide" Target="slides/slide124.xml"/><Relationship Id="rId131" Type="http://schemas.openxmlformats.org/officeDocument/2006/relationships/slide" Target="slides/slide123.xml"/><Relationship Id="rId130" Type="http://schemas.openxmlformats.org/officeDocument/2006/relationships/slide" Target="slides/slide122.xml"/><Relationship Id="rId136" Type="http://schemas.openxmlformats.org/officeDocument/2006/relationships/slide" Target="slides/slide128.xml"/><Relationship Id="rId135" Type="http://schemas.openxmlformats.org/officeDocument/2006/relationships/slide" Target="slides/slide127.xml"/><Relationship Id="rId134" Type="http://schemas.openxmlformats.org/officeDocument/2006/relationships/slide" Target="slides/slide126.xml"/><Relationship Id="rId133" Type="http://schemas.openxmlformats.org/officeDocument/2006/relationships/slide" Target="slides/slide125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6" Type="http://schemas.openxmlformats.org/officeDocument/2006/relationships/slide" Target="slides/slide58.xml"/><Relationship Id="rId172" Type="http://schemas.openxmlformats.org/officeDocument/2006/relationships/slide" Target="slides/slide164.xml"/><Relationship Id="rId65" Type="http://schemas.openxmlformats.org/officeDocument/2006/relationships/slide" Target="slides/slide57.xml"/><Relationship Id="rId171" Type="http://schemas.openxmlformats.org/officeDocument/2006/relationships/slide" Target="slides/slide163.xml"/><Relationship Id="rId68" Type="http://schemas.openxmlformats.org/officeDocument/2006/relationships/slide" Target="slides/slide60.xml"/><Relationship Id="rId170" Type="http://schemas.openxmlformats.org/officeDocument/2006/relationships/slide" Target="slides/slide162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165" Type="http://schemas.openxmlformats.org/officeDocument/2006/relationships/slide" Target="slides/slide157.xml"/><Relationship Id="rId69" Type="http://schemas.openxmlformats.org/officeDocument/2006/relationships/slide" Target="slides/slide61.xml"/><Relationship Id="rId164" Type="http://schemas.openxmlformats.org/officeDocument/2006/relationships/slide" Target="slides/slide156.xml"/><Relationship Id="rId163" Type="http://schemas.openxmlformats.org/officeDocument/2006/relationships/slide" Target="slides/slide155.xml"/><Relationship Id="rId162" Type="http://schemas.openxmlformats.org/officeDocument/2006/relationships/slide" Target="slides/slide154.xml"/><Relationship Id="rId169" Type="http://schemas.openxmlformats.org/officeDocument/2006/relationships/slide" Target="slides/slide161.xml"/><Relationship Id="rId168" Type="http://schemas.openxmlformats.org/officeDocument/2006/relationships/slide" Target="slides/slide160.xml"/><Relationship Id="rId167" Type="http://schemas.openxmlformats.org/officeDocument/2006/relationships/slide" Target="slides/slide159.xml"/><Relationship Id="rId166" Type="http://schemas.openxmlformats.org/officeDocument/2006/relationships/slide" Target="slides/slide158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5" Type="http://schemas.openxmlformats.org/officeDocument/2006/relationships/slide" Target="slides/slide47.xml"/><Relationship Id="rId161" Type="http://schemas.openxmlformats.org/officeDocument/2006/relationships/slide" Target="slides/slide153.xml"/><Relationship Id="rId54" Type="http://schemas.openxmlformats.org/officeDocument/2006/relationships/slide" Target="slides/slide46.xml"/><Relationship Id="rId160" Type="http://schemas.openxmlformats.org/officeDocument/2006/relationships/slide" Target="slides/slide152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159" Type="http://schemas.openxmlformats.org/officeDocument/2006/relationships/slide" Target="slides/slide151.xml"/><Relationship Id="rId59" Type="http://schemas.openxmlformats.org/officeDocument/2006/relationships/slide" Target="slides/slide51.xml"/><Relationship Id="rId154" Type="http://schemas.openxmlformats.org/officeDocument/2006/relationships/slide" Target="slides/slide146.xml"/><Relationship Id="rId58" Type="http://schemas.openxmlformats.org/officeDocument/2006/relationships/slide" Target="slides/slide50.xml"/><Relationship Id="rId153" Type="http://schemas.openxmlformats.org/officeDocument/2006/relationships/slide" Target="slides/slide145.xml"/><Relationship Id="rId152" Type="http://schemas.openxmlformats.org/officeDocument/2006/relationships/slide" Target="slides/slide144.xml"/><Relationship Id="rId151" Type="http://schemas.openxmlformats.org/officeDocument/2006/relationships/slide" Target="slides/slide143.xml"/><Relationship Id="rId158" Type="http://schemas.openxmlformats.org/officeDocument/2006/relationships/slide" Target="slides/slide150.xml"/><Relationship Id="rId157" Type="http://schemas.openxmlformats.org/officeDocument/2006/relationships/slide" Target="slides/slide149.xml"/><Relationship Id="rId156" Type="http://schemas.openxmlformats.org/officeDocument/2006/relationships/slide" Target="slides/slide148.xml"/><Relationship Id="rId155" Type="http://schemas.openxmlformats.org/officeDocument/2006/relationships/slide" Target="slides/slide147.xml"/><Relationship Id="rId107" Type="http://schemas.openxmlformats.org/officeDocument/2006/relationships/slide" Target="slides/slide99.xml"/><Relationship Id="rId106" Type="http://schemas.openxmlformats.org/officeDocument/2006/relationships/slide" Target="slides/slide98.xml"/><Relationship Id="rId105" Type="http://schemas.openxmlformats.org/officeDocument/2006/relationships/slide" Target="slides/slide97.xml"/><Relationship Id="rId104" Type="http://schemas.openxmlformats.org/officeDocument/2006/relationships/slide" Target="slides/slide96.xml"/><Relationship Id="rId109" Type="http://schemas.openxmlformats.org/officeDocument/2006/relationships/slide" Target="slides/slide101.xml"/><Relationship Id="rId108" Type="http://schemas.openxmlformats.org/officeDocument/2006/relationships/slide" Target="slides/slide100.xml"/><Relationship Id="rId103" Type="http://schemas.openxmlformats.org/officeDocument/2006/relationships/slide" Target="slides/slide95.xml"/><Relationship Id="rId102" Type="http://schemas.openxmlformats.org/officeDocument/2006/relationships/slide" Target="slides/slide94.xml"/><Relationship Id="rId101" Type="http://schemas.openxmlformats.org/officeDocument/2006/relationships/slide" Target="slides/slide93.xml"/><Relationship Id="rId100" Type="http://schemas.openxmlformats.org/officeDocument/2006/relationships/slide" Target="slides/slide92.xml"/><Relationship Id="rId129" Type="http://schemas.openxmlformats.org/officeDocument/2006/relationships/slide" Target="slides/slide121.xml"/><Relationship Id="rId128" Type="http://schemas.openxmlformats.org/officeDocument/2006/relationships/slide" Target="slides/slide120.xml"/><Relationship Id="rId127" Type="http://schemas.openxmlformats.org/officeDocument/2006/relationships/slide" Target="slides/slide119.xml"/><Relationship Id="rId126" Type="http://schemas.openxmlformats.org/officeDocument/2006/relationships/slide" Target="slides/slide118.xml"/><Relationship Id="rId121" Type="http://schemas.openxmlformats.org/officeDocument/2006/relationships/slide" Target="slides/slide113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24" Type="http://schemas.openxmlformats.org/officeDocument/2006/relationships/slide" Target="slides/slide116.xml"/><Relationship Id="rId123" Type="http://schemas.openxmlformats.org/officeDocument/2006/relationships/slide" Target="slides/slide115.xml"/><Relationship Id="rId122" Type="http://schemas.openxmlformats.org/officeDocument/2006/relationships/slide" Target="slides/slide114.xml"/><Relationship Id="rId95" Type="http://schemas.openxmlformats.org/officeDocument/2006/relationships/slide" Target="slides/slide87.xml"/><Relationship Id="rId94" Type="http://schemas.openxmlformats.org/officeDocument/2006/relationships/slide" Target="slides/slide86.xml"/><Relationship Id="rId97" Type="http://schemas.openxmlformats.org/officeDocument/2006/relationships/slide" Target="slides/slide89.xml"/><Relationship Id="rId96" Type="http://schemas.openxmlformats.org/officeDocument/2006/relationships/slide" Target="slides/slide88.xml"/><Relationship Id="rId99" Type="http://schemas.openxmlformats.org/officeDocument/2006/relationships/slide" Target="slides/slide91.xml"/><Relationship Id="rId98" Type="http://schemas.openxmlformats.org/officeDocument/2006/relationships/slide" Target="slides/slide90.xml"/><Relationship Id="rId91" Type="http://schemas.openxmlformats.org/officeDocument/2006/relationships/slide" Target="slides/slide83.xml"/><Relationship Id="rId90" Type="http://schemas.openxmlformats.org/officeDocument/2006/relationships/slide" Target="slides/slide82.xml"/><Relationship Id="rId93" Type="http://schemas.openxmlformats.org/officeDocument/2006/relationships/slide" Target="slides/slide85.xml"/><Relationship Id="rId92" Type="http://schemas.openxmlformats.org/officeDocument/2006/relationships/slide" Target="slides/slide84.xml"/><Relationship Id="rId118" Type="http://schemas.openxmlformats.org/officeDocument/2006/relationships/slide" Target="slides/slide110.xml"/><Relationship Id="rId117" Type="http://schemas.openxmlformats.org/officeDocument/2006/relationships/slide" Target="slides/slide109.xml"/><Relationship Id="rId116" Type="http://schemas.openxmlformats.org/officeDocument/2006/relationships/slide" Target="slides/slide108.xml"/><Relationship Id="rId115" Type="http://schemas.openxmlformats.org/officeDocument/2006/relationships/slide" Target="slides/slide107.xml"/><Relationship Id="rId119" Type="http://schemas.openxmlformats.org/officeDocument/2006/relationships/slide" Target="slides/slide111.xml"/><Relationship Id="rId110" Type="http://schemas.openxmlformats.org/officeDocument/2006/relationships/slide" Target="slides/slide102.xml"/><Relationship Id="rId114" Type="http://schemas.openxmlformats.org/officeDocument/2006/relationships/slide" Target="slides/slide106.xml"/><Relationship Id="rId113" Type="http://schemas.openxmlformats.org/officeDocument/2006/relationships/slide" Target="slides/slide105.xml"/><Relationship Id="rId112" Type="http://schemas.openxmlformats.org/officeDocument/2006/relationships/slide" Target="slides/slide104.xml"/><Relationship Id="rId111" Type="http://schemas.openxmlformats.org/officeDocument/2006/relationships/slide" Target="slides/slide103.xml"/><Relationship Id="rId206" Type="http://customschemas.google.com/relationships/presentationmetadata" Target="metadata"/><Relationship Id="rId205" Type="http://schemas.openxmlformats.org/officeDocument/2006/relationships/font" Target="fonts/NotoSansSymbols-bold.fntdata"/><Relationship Id="rId204" Type="http://schemas.openxmlformats.org/officeDocument/2006/relationships/font" Target="fonts/NotoSansSymbols-regular.fntdata"/><Relationship Id="rId203" Type="http://schemas.openxmlformats.org/officeDocument/2006/relationships/font" Target="fonts/HelveticaNeue-boldItalic.fntdata"/><Relationship Id="rId202" Type="http://schemas.openxmlformats.org/officeDocument/2006/relationships/font" Target="fonts/HelveticaNeue-italic.fntdata"/><Relationship Id="rId201" Type="http://schemas.openxmlformats.org/officeDocument/2006/relationships/font" Target="fonts/HelveticaNeue-bold.fntdata"/><Relationship Id="rId200" Type="http://schemas.openxmlformats.org/officeDocument/2006/relationships/font" Target="fonts/HelveticaNeue-regular.fnt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/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>
  <p:cm dt="2024-09-19T04:44:12.234" authorId="0" idx="1">
    <p:pos x="4363" y="1750"/>
    <p:text>symmetric multi processor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E4yVt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6" name="Google Shape;64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8" name="Google Shape;69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9" name="Google Shape;70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0" name="Google Shape;74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1" name="Google Shape;74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1" name="Google Shape;75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3" name="Google Shape;913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4" name="Google Shape;91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9" name="Google Shape;97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0" name="Google Shape;99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0" name="Google Shape;100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0" name="Google Shape;101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0" name="Google Shape;102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8" name="Google Shape;102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8" name="Google Shape;103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5" name="Google Shape;104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6" name="Google Shape;1056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7" name="Google Shape;105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7" name="Google Shape;106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8" name="Google Shape;107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8" name="Google Shape;108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7" name="Google Shape;1097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8" name="Google Shape;109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7" name="Google Shape;1107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8" name="Google Shape;1108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0" name="Google Shape;1120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1" name="Google Shape;113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1" name="Google Shape;1141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1" name="Google Shape;115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1" name="Google Shape;1161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2" name="Google Shape;116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6" name="Google Shape;1176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2" name="Google Shape;1192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6" name="Google Shape;120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1" name="Google Shape;122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8" name="Google Shape;1238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6" name="Google Shape;1256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6" name="Google Shape;1276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7" name="Google Shape;127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0" name="Google Shape;1290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0" name="Google Shape;1300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0" name="Google Shape;1310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0" name="Google Shape;1320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1" name="Google Shape;1321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1" name="Google Shape;133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2" name="Google Shape;1342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2" name="Google Shape;1352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1" name="Google Shape;1361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2" name="Google Shape;136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3" name="Google Shape;1373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4" name="Google Shape;1384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3" name="Google Shape;1393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4" name="Google Shape;1394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4" name="Google Shape;1404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4" name="Google Shape;1414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4" name="Google Shape;1424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4" name="Google Shape;143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4" name="Google Shape;1444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5" name="Google Shape;1445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7" name="Google Shape;1457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8" name="Google Shape;1458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8" name="Google Shape;1468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9" name="Google Shape;1469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9" name="Google Shape;1479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0" name="Google Shape;1480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1" name="Google Shape;1491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7" name="Google Shape;1547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6" name="Google Shape;1556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6" name="Google Shape;1566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7" name="Google Shape;1567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6" name="Google Shape;1576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7" name="Google Shape;1577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7" name="Google Shape;1587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2" name="Google Shape;1602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3" name="Google Shape;1603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8" name="Google Shape;1618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9" name="Google Shape;1619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1" name="Google Shape;1631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2" name="Google Shape;1632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1" name="Google Shape;1641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2" name="Google Shape;1642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2" name="Google Shape;1652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3" name="Google Shape;1653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2" name="Google Shape;1662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3" name="Google Shape;1663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3" name="Google Shape;1673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4" name="Google Shape;1674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5" name="Google Shape;1685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5" name="Google Shape;1695;p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6" name="Google Shape;1696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6" name="Google Shape;1706;p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7" name="Google Shape;1707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1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7" name="Google Shape;1767;p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8" name="Google Shape;1768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7" name="Google Shape;1777;p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8" name="Google Shape;1778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7" name="Google Shape;1787;p1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8" name="Google Shape;1788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7" name="Google Shape;1797;p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8" name="Google Shape;1798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8" name="Google Shape;1808;p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9" name="Google Shape;1809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8" name="Google Shape;1818;p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9" name="Google Shape;1819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7" name="Google Shape;1837;p1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8" name="Google Shape;1838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1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7" name="Google Shape;1847;p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8" name="Google Shape;1848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9" name="Google Shape;1859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9" name="Google Shape;1869;p1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0" name="Google Shape;1870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0" name="Google Shape;1880;p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1" name="Google Shape;1881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1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0" name="Google Shape;1890;p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1" name="Google Shape;1891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0" name="Google Shape;1900;p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1" name="Google Shape;1901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0" name="Google Shape;1910;p1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1" name="Google Shape;1911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0" name="Google Shape;1920;p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1" name="Google Shape;1921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p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1" name="Google Shape;1931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0" name="Google Shape;1940;p1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1" name="Google Shape;1941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1" name="Google Shape;1951;p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1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0" name="Google Shape;1960;p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1" name="Google Shape;1961;p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0" name="Google Shape;1970;p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1" name="Google Shape;1971;p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1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0" name="Google Shape;1980;p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1" name="Google Shape;1981;p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1" name="Google Shape;1991;p1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2" name="Google Shape;1992;p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2" name="Google Shape;2002;p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3" name="Google Shape;2003;p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3" name="Google Shape;2013;p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4" name="Google Shape;2014;p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4" name="Google Shape;2024;p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5" name="Google Shape;2025;p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5" name="Google Shape;2035;p1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6" name="Google Shape;2036;p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6" name="Google Shape;2046;p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7" name="Google Shape;2047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1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7" name="Google Shape;2057;p1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8" name="Google Shape;2058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8" name="Google Shape;2068;p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9" name="Google Shape;2069;p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1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9" name="Google Shape;2079;p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0" name="Google Shape;2080;p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1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9" name="Google Shape;2089;p1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0" name="Google Shape;2090;p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0" name="Google Shape;2100;p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1" name="Google Shape;2101;p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1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1" name="Google Shape;2111;p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2" name="Google Shape;2112;p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2" name="Google Shape;2122;p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3" name="Google Shape;2123;p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1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3" name="Google Shape;2133;p1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4" name="Google Shape;2134;p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1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2" name="Google Shape;2152;p1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3" name="Google Shape;2153;p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2" name="Google Shape;2162;p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3" name="Google Shape;2163;p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1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1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4" name="Google Shape;2174;p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1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0" name="Google Shape;2190;p1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1" name="Google Shape;2191;p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1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1" name="Google Shape;2201;p1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2" name="Google Shape;2202;p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3" name="Google Shape;2213;p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4" name="Google Shape;2214;p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3" name="Google Shape;2223;p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4" name="Google Shape;2224;p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1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4" name="Google Shape;2234;p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5" name="Google Shape;2235;p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4" name="Google Shape;2244;p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5" name="Google Shape;2245;p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1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4" name="Google Shape;2254;p1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5" name="Google Shape;2255;p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p1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5" name="Google Shape;2265;p1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6" name="Google Shape;2266;p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6" name="Google Shape;2276;p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7" name="Google Shape;2277;p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1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6" name="Google Shape;2286;p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7" name="Google Shape;2287;p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6" name="Google Shape;2296;p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7" name="Google Shape;2297;p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1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1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1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1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20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0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0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0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2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20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comments" Target="../comments/comment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5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5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5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8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8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8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8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8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8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1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
<Relationships xmlns="http://schemas.openxmlformats.org/package/2006/relationships"><Relationship Type="http://schemas.openxmlformats.org/officeDocument/2006/relationships/slideLayout" Target="../slideLayouts/slideLayout2.xml" Id="rId1"></Relationship><Relationship Type="http://schemas.openxmlformats.org/officeDocument/2006/relationships/notesSlide" Target="../notesSlides/notesSlide114.xml" Id="rId2"></Relationship><Relationship Target="../comments/comment2.xml" Type="http://schemas.openxmlformats.org/officeDocument/2006/relationships/comments" Id="rId3"></Relationship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40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40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42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42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42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45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45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5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51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49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49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49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53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53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Relationship Id="rId3" Type="http://schemas.openxmlformats.org/officeDocument/2006/relationships/hyperlink" Target="http://www.qnx.com/developers/docs/qnxcar2/topic/com.qnx.doc.neutrino.lib_ref/topic/p/pthread_attr_init.html" TargetMode="Externa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Relationship Id="rId3" Type="http://schemas.openxmlformats.org/officeDocument/2006/relationships/hyperlink" Target="http://www.qnx.com/developers/docs/qnxcar2/topic/com.qnx.doc.neutrino.lib_ref/topic/p/pthread_join.html" TargetMode="Externa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54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Relationship Id="rId3" Type="http://schemas.openxmlformats.org/officeDocument/2006/relationships/hyperlink" Target="http://www.qnx.com/developers/docs/qnxcar2/topic/com.qnx.doc.neutrino.lib_ref/topic/p/pthread_exit.html" TargetMode="Externa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59.pn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Algorithms</a:t>
            </a:r>
            <a:endParaRPr/>
          </a:p>
        </p:txBody>
      </p:sp>
      <p:sp>
        <p:nvSpPr>
          <p:cNvPr id="164" name="Google Shape;164;p1"/>
          <p:cNvSpPr txBox="1"/>
          <p:nvPr>
            <p:ph idx="1" type="subTitle"/>
          </p:nvPr>
        </p:nvSpPr>
        <p:spPr>
          <a:xfrm>
            <a:off x="1371600" y="3886200"/>
            <a:ext cx="687280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</a:pPr>
            <a:r>
              <a:rPr lang="en-US" sz="2200"/>
              <a:t>Prof. Shweta Dhawan Chachra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</a:pPr>
            <a:r>
              <a:rPr lang="en-US" sz="2200"/>
              <a:t>Some material © Silberschatz, Galvin, and Gagne, 2002</a:t>
            </a:r>
            <a:endParaRPr sz="22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5" name="Google Shape;165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6" name="Google Shape;166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7" name="Google Shape;167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457200" y="2047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Algorithms</a:t>
            </a:r>
            <a:br>
              <a:rPr lang="en-US"/>
            </a:br>
            <a:r>
              <a:rPr lang="en-US"/>
              <a:t>Why??</a:t>
            </a:r>
            <a:endParaRPr/>
          </a:p>
        </p:txBody>
      </p:sp>
      <p:sp>
        <p:nvSpPr>
          <p:cNvPr id="174" name="Google Shape;174;p2"/>
          <p:cNvSpPr txBox="1"/>
          <p:nvPr>
            <p:ph idx="1" type="body"/>
          </p:nvPr>
        </p:nvSpPr>
        <p:spPr>
          <a:xfrm>
            <a:off x="841375" y="1274763"/>
            <a:ext cx="7259017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/>
              <a:t>Maximum CPU utilization obtained with multiprogramming:-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Switching CPU among processes to make the OS more productive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Several processes kept in memory at one time.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When one process has to wait, the OS takes CPU away from that process and gives it to another process.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Scheduling is fundamental OS function.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6" name="Google Shape;176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7" name="Google Shape;17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>
            <p:ph type="title"/>
          </p:nvPr>
        </p:nvSpPr>
        <p:spPr>
          <a:xfrm>
            <a:off x="457200" y="2047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CPU–I/O Burst Cycle –</a:t>
            </a:r>
            <a:endParaRPr/>
          </a:p>
        </p:txBody>
      </p:sp>
      <p:sp>
        <p:nvSpPr>
          <p:cNvPr id="184" name="Google Shape;184;p3"/>
          <p:cNvSpPr txBox="1"/>
          <p:nvPr>
            <p:ph idx="1" type="body"/>
          </p:nvPr>
        </p:nvSpPr>
        <p:spPr>
          <a:xfrm>
            <a:off x="841375" y="1274763"/>
            <a:ext cx="3978275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 execution consists of a </a:t>
            </a:r>
            <a:r>
              <a:rPr b="1" lang="en-US" sz="2000">
                <a:solidFill>
                  <a:srgbClr val="3366FF"/>
                </a:solidFill>
              </a:rPr>
              <a:t>cycle</a:t>
            </a:r>
            <a:r>
              <a:rPr lang="en-US" sz="2000"/>
              <a:t> of CPU execution and I/O wait.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Processes alternate between these 2 states.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Process execution begins with CPU burst,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then followed by </a:t>
            </a:r>
            <a:r>
              <a:rPr b="1" lang="en-US" sz="2000">
                <a:solidFill>
                  <a:srgbClr val="3366FF"/>
                </a:solidFill>
              </a:rPr>
              <a:t>I/O burst and so on.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Last CPU burst </a:t>
            </a:r>
            <a:r>
              <a:rPr lang="en-US" sz="2000"/>
              <a:t>will end with a system request to terminate execution.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 u="sng"/>
              <a:t>CPU burst distribution is of main concern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6_01.pdf" id="185" name="Google Shape;1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7" name="Google Shape;18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8" name="Google Shape;18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7742238" y="1844824"/>
            <a:ext cx="430162" cy="100811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7957319" y="2757956"/>
            <a:ext cx="430162" cy="792088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>
            <p:ph type="title"/>
          </p:nvPr>
        </p:nvSpPr>
        <p:spPr>
          <a:xfrm>
            <a:off x="1554163" y="138113"/>
            <a:ext cx="75136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Scheduling Algorithm Optimization Criteria</a:t>
            </a:r>
            <a:endParaRPr/>
          </a:p>
        </p:txBody>
      </p:sp>
      <p:sp>
        <p:nvSpPr>
          <p:cNvPr id="197" name="Google Shape;197;p4"/>
          <p:cNvSpPr txBox="1"/>
          <p:nvPr>
            <p:ph idx="1" type="body"/>
          </p:nvPr>
        </p:nvSpPr>
        <p:spPr>
          <a:xfrm>
            <a:off x="852488" y="1174750"/>
            <a:ext cx="61150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CPU utilization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Throughput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Turnaround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Waiting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Response time</a:t>
            </a:r>
            <a:endParaRPr/>
          </a:p>
        </p:txBody>
      </p:sp>
      <p:sp>
        <p:nvSpPr>
          <p:cNvPr id="198" name="Google Shape;19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9" name="Google Shape;19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CPU utilization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keep the CPU as busy as possible,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May vary from 0 to 100%.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 a real system, it should range from 40% (lightly loaded) to 90% (for a heavily used).</a:t>
            </a:r>
            <a:endParaRPr/>
          </a:p>
        </p:txBody>
      </p:sp>
      <p:sp>
        <p:nvSpPr>
          <p:cNvPr id="208" name="Google Shape;20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9" name="Google Shape;20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0" name="Google Shape;2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17" name="Google Shape;217;p6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Throughput</a:t>
            </a:r>
            <a:r>
              <a:rPr lang="en-US" sz="2400"/>
              <a:t> 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 of processes that complete their execution per time unit</a:t>
            </a:r>
            <a:endParaRPr/>
          </a:p>
        </p:txBody>
      </p:sp>
      <p:sp>
        <p:nvSpPr>
          <p:cNvPr id="218" name="Google Shape;2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9" name="Google Shape;2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27" name="Google Shape;227;p7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Turnaround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to execute a particular process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/>
              <a:t>The interval from the time of submission of a process to the time of completion</a:t>
            </a:r>
            <a:endParaRPr/>
          </a:p>
        </p:txBody>
      </p:sp>
      <p:sp>
        <p:nvSpPr>
          <p:cNvPr id="228" name="Google Shape;22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9" name="Google Shape;22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37" name="Google Shape;237;p8"/>
          <p:cNvSpPr txBox="1"/>
          <p:nvPr>
            <p:ph idx="1" type="body"/>
          </p:nvPr>
        </p:nvSpPr>
        <p:spPr>
          <a:xfrm>
            <a:off x="933450" y="1246188"/>
            <a:ext cx="7156500" cy="4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Waiting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a process has been waiting in the ready queue/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Sum of periods spent waiting in ready queue</a:t>
            </a:r>
            <a:endParaRPr/>
          </a:p>
        </p:txBody>
      </p:sp>
      <p:sp>
        <p:nvSpPr>
          <p:cNvPr id="238" name="Google Shape;23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39" name="Google Shape;23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0" name="Google Shape;24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47" name="Google Shape;247;p9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Response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it takes from when a request was submitted until the first response is produced, not output  (for time-sharing environment)</a:t>
            </a:r>
            <a:endParaRPr/>
          </a:p>
        </p:txBody>
      </p:sp>
      <p:sp>
        <p:nvSpPr>
          <p:cNvPr id="248" name="Google Shape;24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49" name="Google Shape;24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0" name="Google Shape;25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>
            <p:ph type="title"/>
          </p:nvPr>
        </p:nvSpPr>
        <p:spPr>
          <a:xfrm>
            <a:off x="1554163" y="138113"/>
            <a:ext cx="75136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Scheduling Algorithm Optimization Criteria</a:t>
            </a:r>
            <a:endParaRPr/>
          </a:p>
        </p:txBody>
      </p:sp>
      <p:sp>
        <p:nvSpPr>
          <p:cNvPr id="257" name="Google Shape;257;p11"/>
          <p:cNvSpPr txBox="1"/>
          <p:nvPr>
            <p:ph idx="1" type="body"/>
          </p:nvPr>
        </p:nvSpPr>
        <p:spPr>
          <a:xfrm>
            <a:off x="852488" y="1174750"/>
            <a:ext cx="61150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Max CPU utilization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Max throughput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turnaround time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waiting time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response time</a:t>
            </a:r>
            <a:endParaRPr/>
          </a:p>
        </p:txBody>
      </p:sp>
      <p:sp>
        <p:nvSpPr>
          <p:cNvPr id="258" name="Google Shape;2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59" name="Google Shape;2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0" name="Google Shape;2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148064" y="1340768"/>
            <a:ext cx="432048" cy="648072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148064" y="2276872"/>
            <a:ext cx="432048" cy="136815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69" name="Google Shape;269;p12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Short-term scheduler </a:t>
            </a:r>
            <a:r>
              <a:rPr lang="en-US" sz="2400"/>
              <a:t>selects from among the processes in ready queue, and allocates the CPU to one of them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Queue may be ordered in various ways</a:t>
            </a:r>
            <a:endParaRPr/>
          </a:p>
        </p:txBody>
      </p:sp>
      <p:sp>
        <p:nvSpPr>
          <p:cNvPr id="270" name="Google Shape;27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71" name="Google Shape;27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79" name="Google Shape;279;p13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CPU scheduling decisions may take place when a process: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running to waiting state</a:t>
            </a:r>
            <a:endParaRPr/>
          </a:p>
          <a:p>
            <a:pPr indent="0" lvl="2" marL="85713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Eg- I/O request, Invocation of wait for the termination of one of the child processes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running to ready state</a:t>
            </a:r>
            <a:endParaRPr/>
          </a:p>
          <a:p>
            <a:pPr indent="0" lvl="2" marL="85713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Eg- When an interrupt occurs or timer expires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waiting to ready</a:t>
            </a:r>
            <a:endParaRPr/>
          </a:p>
          <a:p>
            <a:pPr indent="0" lvl="1" marL="4570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Eg-Completion of I/O</a:t>
            </a:r>
            <a:endParaRPr sz="2400"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 startAt="4"/>
            </a:pPr>
            <a:r>
              <a:rPr b="1" lang="en-US" sz="2400"/>
              <a:t>Terminates</a:t>
            </a:r>
            <a:endParaRPr/>
          </a:p>
        </p:txBody>
      </p:sp>
      <p:sp>
        <p:nvSpPr>
          <p:cNvPr id="280" name="Google Shape;28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81" name="Google Shape;28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2" name="Google Shape;28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89" name="Google Shape;289;p14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Scheduling under 1 and 4 is </a:t>
            </a:r>
            <a:r>
              <a:rPr b="1" lang="en-US" sz="2400">
                <a:solidFill>
                  <a:srgbClr val="3366FF"/>
                </a:solidFill>
              </a:rPr>
              <a:t>nonpreemptive</a:t>
            </a:r>
            <a:endParaRPr b="1" sz="2400">
              <a:solidFill>
                <a:srgbClr val="3366FF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All other scheduling is </a:t>
            </a:r>
            <a:r>
              <a:rPr b="1" lang="en-US" sz="2400">
                <a:solidFill>
                  <a:srgbClr val="3366FF"/>
                </a:solidFill>
              </a:rPr>
              <a:t>preemptive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access to shared data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preemption while in kernel mode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interrupts occurring during crucial OS activities</a:t>
            </a:r>
            <a:endParaRPr sz="2400"/>
          </a:p>
        </p:txBody>
      </p:sp>
      <p:sp>
        <p:nvSpPr>
          <p:cNvPr id="290" name="Google Shape;29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91" name="Google Shape;29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2" name="Google Shape;29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Non-Preemptive Scheduling</a:t>
            </a:r>
            <a:endParaRPr/>
          </a:p>
        </p:txBody>
      </p:sp>
      <p:sp>
        <p:nvSpPr>
          <p:cNvPr id="299" name="Google Shape;299;p15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Under non-preemptive scheduling, 	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once the CPU has been allocated to a process,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process keeps the CPU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it releases the CPU either by terminating or by switching to the waiting state. </a:t>
            </a:r>
            <a:endParaRPr sz="22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scheduling method was used by Microsoft Windows 3.x; </a:t>
            </a:r>
            <a:endParaRPr sz="2000"/>
          </a:p>
        </p:txBody>
      </p:sp>
      <p:sp>
        <p:nvSpPr>
          <p:cNvPr id="300" name="Google Shape;30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01" name="Google Shape;30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2" name="Google Shape;30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Preemptive Scheduling</a:t>
            </a:r>
            <a:endParaRPr/>
          </a:p>
        </p:txBody>
      </p:sp>
      <p:sp>
        <p:nvSpPr>
          <p:cNvPr id="309" name="Google Shape;309;p16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Windows 95 introduced preemptive scheduling,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All subsequent versions of Windows operating systems have used preemptive scheduling.</a:t>
            </a:r>
            <a:endParaRPr sz="2200"/>
          </a:p>
        </p:txBody>
      </p:sp>
      <p:sp>
        <p:nvSpPr>
          <p:cNvPr id="310" name="Google Shape;31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11" name="Google Shape;31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2" name="Google Shape;31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>
            <p:ph type="title"/>
          </p:nvPr>
        </p:nvSpPr>
        <p:spPr>
          <a:xfrm>
            <a:off x="457200" y="13335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Dispatcher</a:t>
            </a:r>
            <a:endParaRPr/>
          </a:p>
        </p:txBody>
      </p:sp>
      <p:sp>
        <p:nvSpPr>
          <p:cNvPr id="319" name="Google Shape;319;p17"/>
          <p:cNvSpPr txBox="1"/>
          <p:nvPr>
            <p:ph idx="1" type="body"/>
          </p:nvPr>
        </p:nvSpPr>
        <p:spPr>
          <a:xfrm>
            <a:off x="827584" y="823913"/>
            <a:ext cx="67246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Dispatcher module gives control of the CPU to the process selected by the short-term scheduler; this involves: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switching context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switching to user mode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jumping to the proper location in the user program to restart that program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Dispatch latency </a:t>
            </a:r>
            <a:r>
              <a:rPr lang="en-US" sz="2400"/>
              <a:t>– time it takes for the dispatcher to stop one process and start another running</a:t>
            </a:r>
            <a:endParaRPr/>
          </a:p>
        </p:txBody>
      </p:sp>
      <p:sp>
        <p:nvSpPr>
          <p:cNvPr id="320" name="Google Shape;32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21" name="Google Shape;32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2" name="Google Shape;32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3" name="Google Shape;3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500" y="4325938"/>
            <a:ext cx="66357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 Pre-emptive Algorithms</a:t>
            </a:r>
            <a:endParaRPr/>
          </a:p>
        </p:txBody>
      </p:sp>
      <p:sp>
        <p:nvSpPr>
          <p:cNvPr id="329" name="Google Shape;32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30" name="Google Shape;33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1" name="Google Shape;33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/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First- Come, First-Served (FCFS) Scheduling</a:t>
            </a:r>
            <a:endParaRPr/>
          </a:p>
        </p:txBody>
      </p:sp>
      <p:sp>
        <p:nvSpPr>
          <p:cNvPr id="338" name="Google Shape;33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827584" y="1700808"/>
            <a:ext cx="7560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Simplest CPU scheduling Algorithm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that requests CPU first, is allocated CPU first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41" name="Google Shape;34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2" name="Google Shape;34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/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First- Come, First-Served (FCFS) Scheduling</a:t>
            </a:r>
            <a:endParaRPr/>
          </a:p>
        </p:txBody>
      </p:sp>
      <p:sp>
        <p:nvSpPr>
          <p:cNvPr id="349" name="Google Shape;34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827584" y="1700808"/>
            <a:ext cx="756084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using FIFO Queue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enters the ready queue, its PCB is linked onto the tail of the queue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CPU is free, it is allocated to the process at the head of the queue.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Waiting time for FCFS is often quite long.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52" name="Google Shape;3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3" name="Google Shape;3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539552" y="3789040"/>
            <a:ext cx="8136904" cy="79208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361" name="Google Shape;361;p21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</p:txBody>
      </p:sp>
      <p:sp>
        <p:nvSpPr>
          <p:cNvPr id="362" name="Google Shape;3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63" name="Google Shape;3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4" name="Google Shape;3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371" name="Google Shape;371;p22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200000"/>
              <a:buChar char="•"/>
            </a:pPr>
            <a:r>
              <a:rPr lang="en-US"/>
              <a:t>Suppose that the processes arrive in the order: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  </a:t>
            </a:r>
            <a:br>
              <a:rPr baseline="-25000" i="1" lang="en-US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372" name="Google Shape;3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4653136"/>
            <a:ext cx="6954838" cy="80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74" name="Google Shape;37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75" name="Google Shape;37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382" name="Google Shape;382;p23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200000"/>
              <a:buChar char="•"/>
            </a:pPr>
            <a:r>
              <a:rPr lang="en-US"/>
              <a:t>Suppose that the processes arrive in the order: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  </a:t>
            </a:r>
            <a:br>
              <a:rPr baseline="-25000" i="1" lang="en-US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2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 = 0;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 = 24; </a:t>
            </a:r>
            <a:r>
              <a:rPr i="1" lang="en-US"/>
              <a:t>P</a:t>
            </a:r>
            <a:r>
              <a:rPr baseline="-25000" i="1" lang="en-US"/>
              <a:t>3 </a:t>
            </a:r>
            <a:r>
              <a:rPr lang="en-US"/>
              <a:t>= 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time:  (0 + 24 + 27)/3 = 51/3=17</a:t>
            </a:r>
            <a:endParaRPr/>
          </a:p>
        </p:txBody>
      </p:sp>
      <p:pic>
        <p:nvPicPr>
          <p:cNvPr id="383" name="Google Shape;3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85" name="Google Shape;38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86" name="Google Shape;38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393" name="Google Shape;393;p24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FCFS is Non-preemptive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Once the CPU is allocated to a process, that process keeps the CPU until it releases the CPU either by terminating or by requesting I/o.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Not good for Time sharing system </a:t>
            </a:r>
            <a:endParaRPr/>
          </a:p>
        </p:txBody>
      </p:sp>
      <p:sp>
        <p:nvSpPr>
          <p:cNvPr id="394" name="Google Shape;39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395" name="Google Shape;39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96" name="Google Shape;39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611560" y="1124744"/>
            <a:ext cx="7056784" cy="64807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611560" y="3645024"/>
            <a:ext cx="7056784" cy="64807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7452320" y="1448780"/>
            <a:ext cx="792088" cy="262829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06" name="Google Shape;406;p25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u="sng"/>
              <a:t>Process</a:t>
            </a:r>
            <a:r>
              <a:rPr lang="en-US" sz="2800"/>
              <a:t>	</a:t>
            </a:r>
            <a:r>
              <a:rPr lang="en-US" sz="2800" u="sng"/>
              <a:t>Burst Time</a:t>
            </a:r>
            <a:endParaRPr sz="2800" u="sng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1</a:t>
            </a:r>
            <a:r>
              <a:rPr lang="en-US" sz="2800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2</a:t>
            </a:r>
            <a:r>
              <a:rPr lang="en-US" sz="2800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3	 </a:t>
            </a:r>
            <a:r>
              <a:rPr lang="en-US" sz="2800"/>
              <a:t>3</a:t>
            </a:r>
            <a:r>
              <a:rPr baseline="-25000" i="1" lang="en-US" sz="2800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2</a:t>
            </a:r>
            <a:r>
              <a:rPr lang="en-US" sz="2800"/>
              <a:t> , </a:t>
            </a:r>
            <a:r>
              <a:rPr i="1" lang="en-US" sz="2800"/>
              <a:t>P</a:t>
            </a:r>
            <a:r>
              <a:rPr baseline="-25000" i="1" lang="en-US" sz="2800"/>
              <a:t>3</a:t>
            </a:r>
            <a:r>
              <a:rPr lang="en-US" sz="2800"/>
              <a:t> , </a:t>
            </a:r>
            <a:r>
              <a:rPr i="1" lang="en-US" sz="2800"/>
              <a:t>P</a:t>
            </a:r>
            <a:r>
              <a:rPr baseline="-25000" i="1" lang="en-US" sz="2800"/>
              <a:t>1</a:t>
            </a:r>
            <a:r>
              <a:rPr lang="en-US" sz="2800"/>
              <a:t>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08" name="Google Shape;40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09" name="Google Shape;40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16" name="Google Shape;416;p26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 u="sng"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for the schedule is:</a:t>
            </a:r>
            <a:br>
              <a:rPr lang="en-US"/>
            </a:b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7" name="Google Shape;41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18" name="Google Shape;41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19" name="Google Shape;41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0" name="Google Shape;420;p26"/>
          <p:cNvPicPr preferRelativeResize="0"/>
          <p:nvPr/>
        </p:nvPicPr>
        <p:blipFill rotWithShape="1">
          <a:blip r:embed="rId3">
            <a:alphaModFix/>
          </a:blip>
          <a:srcRect b="44054" l="21187" r="32894" t="46983"/>
          <a:stretch/>
        </p:blipFill>
        <p:spPr>
          <a:xfrm>
            <a:off x="1187624" y="5339319"/>
            <a:ext cx="6840760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27" name="Google Shape;427;p27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 u="sng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for the schedule is:</a:t>
            </a:r>
            <a:br>
              <a:rPr lang="en-US"/>
            </a:b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</a:t>
            </a:r>
            <a:r>
              <a:rPr i="1" lang="en-US"/>
              <a:t>P</a:t>
            </a:r>
            <a:r>
              <a:rPr baseline="-25000" i="1" lang="en-US"/>
              <a:t>1 </a:t>
            </a:r>
            <a:r>
              <a:rPr i="1" lang="en-US"/>
              <a:t>=</a:t>
            </a:r>
            <a:r>
              <a:rPr lang="en-US"/>
              <a:t> 6</a:t>
            </a:r>
            <a:r>
              <a:rPr i="1" lang="en-US"/>
              <a:t>;</a:t>
            </a:r>
            <a:r>
              <a:rPr baseline="-25000" i="1" lang="en-US"/>
              <a:t>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= 0</a:t>
            </a:r>
            <a:r>
              <a:rPr baseline="-25000" i="1" lang="en-US"/>
              <a:t>; </a:t>
            </a:r>
            <a:r>
              <a:rPr i="1" lang="en-US"/>
              <a:t>P</a:t>
            </a:r>
            <a:r>
              <a:rPr baseline="-25000" i="1" lang="en-US"/>
              <a:t>3 </a:t>
            </a:r>
            <a:r>
              <a:rPr i="1" lang="en-US"/>
              <a:t>= </a:t>
            </a:r>
            <a:r>
              <a:rPr lang="en-US"/>
              <a:t>3</a:t>
            </a:r>
            <a:endParaRPr i="1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time:   (6 + 0 + 3)/3 = 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Much better than previous case</a:t>
            </a:r>
            <a:endParaRPr/>
          </a:p>
        </p:txBody>
      </p:sp>
      <p:sp>
        <p:nvSpPr>
          <p:cNvPr id="428" name="Google Shape;4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29" name="Google Shape;4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30" name="Google Shape;4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1" name="Google Shape;431;p27"/>
          <p:cNvPicPr preferRelativeResize="0"/>
          <p:nvPr/>
        </p:nvPicPr>
        <p:blipFill rotWithShape="1">
          <a:blip r:embed="rId3">
            <a:alphaModFix/>
          </a:blip>
          <a:srcRect b="44054" l="21187" r="32894" t="46983"/>
          <a:stretch/>
        </p:blipFill>
        <p:spPr>
          <a:xfrm>
            <a:off x="1043608" y="3501008"/>
            <a:ext cx="6840760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3366FF"/>
                </a:solidFill>
              </a:rPr>
              <a:t>Convoy effect</a:t>
            </a:r>
            <a:endParaRPr sz="3200"/>
          </a:p>
        </p:txBody>
      </p:sp>
      <p:sp>
        <p:nvSpPr>
          <p:cNvPr id="437" name="Google Shape;43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Convoy effect </a:t>
            </a:r>
            <a:r>
              <a:rPr lang="en-US" sz="2400"/>
              <a:t>- short process behind long process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Phenomenon associated with the First Come First Serve (FCFS) algorithm,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which the whole Operating System slows down due to few large processes.</a:t>
            </a:r>
            <a:endParaRPr/>
          </a:p>
        </p:txBody>
      </p:sp>
      <p:sp>
        <p:nvSpPr>
          <p:cNvPr id="438" name="Google Shape;43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39" name="Google Shape;43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40" name="Google Shape;44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1" name="Google Shape;4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3366FF"/>
                </a:solidFill>
              </a:rPr>
              <a:t>Convoy effect</a:t>
            </a:r>
            <a:endParaRPr sz="3200"/>
          </a:p>
        </p:txBody>
      </p:sp>
      <p:sp>
        <p:nvSpPr>
          <p:cNvPr id="447" name="Google Shape;44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Convoy Effect is a phenomenon where </a:t>
            </a:r>
            <a:r>
              <a:rPr b="1" lang="en-US" sz="2400"/>
              <a:t>a large or resource-intensive process ties up system resources and causes a backlog of other processes waiting to use those same resources.</a:t>
            </a:r>
            <a:endParaRPr b="1" sz="2400"/>
          </a:p>
        </p:txBody>
      </p:sp>
      <p:sp>
        <p:nvSpPr>
          <p:cNvPr id="448" name="Google Shape;44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49" name="Google Shape;44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50" name="Google Shape;45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Formulae-</a:t>
            </a:r>
            <a:endParaRPr sz="3200"/>
          </a:p>
        </p:txBody>
      </p:sp>
      <p:sp>
        <p:nvSpPr>
          <p:cNvPr id="457" name="Google Shape;45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Turn Around Time = Completion Time - Arrival Time   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Waiting Time = Turn Around Time - Burst Time –Arrival Time or Sum of times spent waiting in Ready queue-Arrival Time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Average waiting time = Total_waiting_time / no_of_processes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Average turnaround time = Total_turn_around_time / no_of_processes</a:t>
            </a:r>
            <a:endParaRPr b="1" sz="2400"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/>
          </a:p>
        </p:txBody>
      </p:sp>
      <p:sp>
        <p:nvSpPr>
          <p:cNvPr id="458" name="Google Shape;4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59" name="Google Shape;4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0" name="Google Shape;4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Gantt Chart</a:t>
            </a:r>
            <a:endParaRPr/>
          </a:p>
        </p:txBody>
      </p:sp>
      <p:sp>
        <p:nvSpPr>
          <p:cNvPr id="466" name="Google Shape;466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Generalized Activity Normalization Time Table (GANTT)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Horizontal bar chart developed by Henry L. Gantt (American engineer and social scientist) in 1917 as production control tool.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Series of horizontal lines are present that show the amount of work done or production completed in given period of time in relation to amount planned for those projects.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67" name="Google Shape;46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68" name="Google Shape;46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9" name="Google Shape;46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475" name="Google Shape;475;p32"/>
          <p:cNvSpPr txBox="1"/>
          <p:nvPr>
            <p:ph idx="1" type="body"/>
          </p:nvPr>
        </p:nvSpPr>
        <p:spPr>
          <a:xfrm>
            <a:off x="467544" y="476672"/>
            <a:ext cx="8229600" cy="4857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Consider 5 processes with process ID </a:t>
            </a:r>
            <a:r>
              <a:rPr b="1" lang="en-US" sz="2400"/>
              <a:t>P0, P1, P2, P3 and P4. </a:t>
            </a:r>
            <a:r>
              <a:rPr lang="en-US" sz="2400"/>
              <a:t>The processes and their respective Arrival and Burst time are given in the following table. Apply FCFS Scheduling algorithm and calculate the following: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Turnaround time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Waiting time for all processes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Average Waiting Time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76" name="Google Shape;47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77" name="Google Shape;47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78" name="Google Shape;47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9" name="Google Shape;4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794" y="1628800"/>
            <a:ext cx="4025039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3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485" name="Google Shape;485;p33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Waiting Time=Sum of time spent in Ready Queue-Arrival Time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Turnaround Time=Completion Time-Arrival Time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486" name="Google Shape;48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87" name="Google Shape;48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8" name="Google Shape;48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9" name="Google Shape;4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4227265"/>
            <a:ext cx="6192688" cy="1048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60" y="692696"/>
            <a:ext cx="755332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496" name="Google Shape;496;p34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498" name="Google Shape;49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9" name="Google Shape;49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4875337"/>
            <a:ext cx="6768753" cy="114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846" y="620688"/>
            <a:ext cx="3720799" cy="3527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4"/>
          <p:cNvSpPr txBox="1"/>
          <p:nvPr/>
        </p:nvSpPr>
        <p:spPr>
          <a:xfrm>
            <a:off x="5868144" y="980728"/>
            <a:ext cx="28083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WT(P0)=0-0=0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WT(P1)=2-1=1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WT(P2)=8-2=6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WT(P3)=12-3=9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WT(P4)=21-6=15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619944" y="6290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509" name="Google Shape;509;p35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Avg Waiting Time=31/5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Avg Turnaround Time=66/5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10" name="Google Shape;51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11" name="Google Shape;51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12" name="Google Shape;51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3" name="Google Shape;51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5" y="4041487"/>
            <a:ext cx="6768753" cy="114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548680"/>
            <a:ext cx="755332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21" name="Google Shape;521;p36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algorithm in which the process having the smallest execution time is chosen for the next execution.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Associate with each process the length of its next CPU burst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</a:t>
            </a:r>
            <a:r>
              <a:rPr b="1" lang="en-US" sz="2400" u="sng"/>
              <a:t>Use these lengths to schedule the process with the shortest time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522" name="Google Shape;52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23" name="Google Shape;52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4" name="Google Shape;52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7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31" name="Google Shape;531;p37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SJF is optimal –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gives minimum average waiting time for a given set of processes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532" name="Google Shape;53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33" name="Google Shape;53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4" name="Google Shape;53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5" name="Google Shape;535;p37"/>
          <p:cNvSpPr/>
          <p:nvPr/>
        </p:nvSpPr>
        <p:spPr>
          <a:xfrm>
            <a:off x="971600" y="1916832"/>
            <a:ext cx="7128792" cy="864096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8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42" name="Google Shape;542;p38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Two schemes: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Non-preemptive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preemptive –  Also known  as the </a:t>
            </a:r>
            <a:br>
              <a:rPr lang="en-US" sz="2400"/>
            </a:br>
            <a:r>
              <a:rPr lang="en-US" sz="2400"/>
              <a:t>Shortest-Remaining-Time-First (SRTF).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43" name="Google Shape;54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44" name="Google Shape;544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45" name="Google Shape;545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52" name="Google Shape;552;p39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>
                <a:solidFill>
                  <a:schemeClr val="accent1"/>
                </a:solidFill>
              </a:rPr>
              <a:t>Non-preemptive SJF is </a:t>
            </a:r>
            <a:r>
              <a:rPr b="1" i="1" lang="en-US" sz="2400">
                <a:solidFill>
                  <a:schemeClr val="accent1"/>
                </a:solidFill>
              </a:rPr>
              <a:t>optimal </a:t>
            </a:r>
            <a:endParaRPr b="1" i="1" sz="2400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>
                <a:solidFill>
                  <a:schemeClr val="accent1"/>
                </a:solidFill>
              </a:rPr>
              <a:t>if all the processes are ready simultaneously– gives minimum average waiting time for a given set of processes.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accent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>
                <a:solidFill>
                  <a:schemeClr val="accent1"/>
                </a:solidFill>
              </a:rPr>
              <a:t>SRTF is </a:t>
            </a:r>
            <a:r>
              <a:rPr b="1" i="1" lang="en-US" sz="2400">
                <a:solidFill>
                  <a:schemeClr val="accent1"/>
                </a:solidFill>
              </a:rPr>
              <a:t>optimal</a:t>
            </a:r>
            <a:r>
              <a:rPr b="1" lang="en-US" sz="2400">
                <a:solidFill>
                  <a:schemeClr val="accent1"/>
                </a:solidFill>
              </a:rPr>
              <a:t> </a:t>
            </a:r>
            <a:endParaRPr b="1" sz="2400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>
                <a:solidFill>
                  <a:schemeClr val="accent1"/>
                </a:solidFill>
              </a:rPr>
              <a:t>if the processes may arrive at different times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53" name="Google Shape;553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54" name="Google Shape;554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5" name="Google Shape;555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Non-preemptive SJF</a:t>
            </a:r>
            <a:endParaRPr/>
          </a:p>
        </p:txBody>
      </p:sp>
      <p:sp>
        <p:nvSpPr>
          <p:cNvPr id="562" name="Google Shape;562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     	                </a:t>
            </a:r>
            <a:r>
              <a:rPr lang="en-US" u="sng"/>
              <a:t>Process</a:t>
            </a:r>
            <a:r>
              <a:rPr lang="en-US" u="sng">
                <a:solidFill>
                  <a:schemeClr val="lt1"/>
                </a:solidFill>
              </a:rPr>
              <a:t>Arriva	l Time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0.0</a:t>
            </a:r>
            <a:r>
              <a:rPr lang="en-US"/>
              <a:t>	6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chemeClr val="lt1"/>
                </a:solidFill>
              </a:rPr>
              <a:t>2.0</a:t>
            </a:r>
            <a:r>
              <a:rPr lang="en-US"/>
              <a:t>	8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4.0</a:t>
            </a:r>
            <a:r>
              <a:rPr lang="en-US"/>
              <a:t>	7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5.0</a:t>
            </a:r>
            <a:r>
              <a:rPr lang="en-US"/>
              <a:t>	3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SJF scheduling chart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(3 + 16 + 9 + 0) / 4 = 28/4=7</a:t>
            </a:r>
            <a:endParaRPr baseline="-25000" i="1"/>
          </a:p>
        </p:txBody>
      </p:sp>
      <p:pic>
        <p:nvPicPr>
          <p:cNvPr id="563" name="Google Shape;5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63" y="4076700"/>
            <a:ext cx="6796087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65" name="Google Shape;56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66" name="Google Shape;56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Shweta Dhawan Chachra</a:t>
            </a:r>
            <a:endParaRPr b="0" sz="1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p41"/>
          <p:cNvSpPr/>
          <p:nvPr/>
        </p:nvSpPr>
        <p:spPr>
          <a:xfrm>
            <a:off x="1524000" y="3962400"/>
            <a:ext cx="2286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4" name="Google Shape;574;p41"/>
          <p:cNvSpPr txBox="1"/>
          <p:nvPr>
            <p:ph idx="1" type="body"/>
          </p:nvPr>
        </p:nvSpPr>
        <p:spPr>
          <a:xfrm>
            <a:off x="1023938" y="1295400"/>
            <a:ext cx="7029450" cy="5085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2000"/>
              <a:t>	</a:t>
            </a:r>
            <a:r>
              <a:rPr lang="en-US" sz="2000" u="sng"/>
              <a:t>Process </a:t>
            </a:r>
            <a:r>
              <a:rPr lang="en-US" sz="2000"/>
              <a:t>      </a:t>
            </a:r>
            <a:r>
              <a:rPr lang="en-US" sz="2000" u="sng"/>
              <a:t>Arrival Time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0.0	7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	</a:t>
            </a:r>
            <a:r>
              <a:rPr lang="en-US" sz="2000"/>
              <a:t>2.0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4.0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5.0	4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SJF (non-preemptive)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time 0, </a:t>
            </a:r>
            <a:r>
              <a:rPr i="1" lang="en-US" sz="2400"/>
              <a:t>P</a:t>
            </a:r>
            <a:r>
              <a:rPr baseline="-25000" i="1" lang="en-US" sz="2400"/>
              <a:t>1</a:t>
            </a:r>
            <a:r>
              <a:rPr lang="en-US" sz="2400"/>
              <a:t> is the only process, so it gets the CPU and runs to completion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 i="1"/>
          </a:p>
        </p:txBody>
      </p:sp>
      <p:sp>
        <p:nvSpPr>
          <p:cNvPr id="575" name="Google Shape;575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for Non-Preemptive SJF with different arrival times</a:t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 flipH="1">
            <a:off x="2203450" y="4024313"/>
            <a:ext cx="4460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7" name="Google Shape;577;p41"/>
          <p:cNvCxnSpPr/>
          <p:nvPr/>
        </p:nvCxnSpPr>
        <p:spPr>
          <a:xfrm>
            <a:off x="1524000" y="45720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1"/>
          <p:cNvCxnSpPr/>
          <p:nvPr/>
        </p:nvCxnSpPr>
        <p:spPr>
          <a:xfrm>
            <a:off x="3810000" y="3962400"/>
            <a:ext cx="0" cy="60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1"/>
          <p:cNvCxnSpPr/>
          <p:nvPr/>
        </p:nvCxnSpPr>
        <p:spPr>
          <a:xfrm>
            <a:off x="3810000" y="4495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1"/>
          <p:cNvCxnSpPr/>
          <p:nvPr/>
        </p:nvCxnSpPr>
        <p:spPr>
          <a:xfrm>
            <a:off x="2133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41"/>
          <p:cNvSpPr txBox="1"/>
          <p:nvPr/>
        </p:nvSpPr>
        <p:spPr>
          <a:xfrm flipH="1">
            <a:off x="365125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82" name="Google Shape;582;p41"/>
          <p:cNvSpPr txBox="1"/>
          <p:nvPr/>
        </p:nvSpPr>
        <p:spPr>
          <a:xfrm flipH="1">
            <a:off x="236220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583" name="Google Shape;583;p41"/>
          <p:cNvSpPr txBox="1"/>
          <p:nvPr/>
        </p:nvSpPr>
        <p:spPr>
          <a:xfrm flipH="1">
            <a:off x="136525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cxnSp>
        <p:nvCxnSpPr>
          <p:cNvPr id="584" name="Google Shape;584;p41"/>
          <p:cNvCxnSpPr/>
          <p:nvPr/>
        </p:nvCxnSpPr>
        <p:spPr>
          <a:xfrm>
            <a:off x="18288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1"/>
          <p:cNvCxnSpPr/>
          <p:nvPr/>
        </p:nvCxnSpPr>
        <p:spPr>
          <a:xfrm>
            <a:off x="2514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1"/>
          <p:cNvCxnSpPr/>
          <p:nvPr/>
        </p:nvCxnSpPr>
        <p:spPr>
          <a:xfrm>
            <a:off x="2895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1"/>
          <p:cNvCxnSpPr/>
          <p:nvPr/>
        </p:nvCxnSpPr>
        <p:spPr>
          <a:xfrm>
            <a:off x="32004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1"/>
          <p:cNvCxnSpPr/>
          <p:nvPr/>
        </p:nvCxnSpPr>
        <p:spPr>
          <a:xfrm>
            <a:off x="35052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590" name="Google Shape;59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2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Shweta Dhawan Chachra</a:t>
            </a:r>
            <a:endParaRPr b="0" sz="1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42"/>
          <p:cNvSpPr/>
          <p:nvPr/>
        </p:nvSpPr>
        <p:spPr>
          <a:xfrm>
            <a:off x="1524000" y="3581400"/>
            <a:ext cx="2286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p42"/>
          <p:cNvSpPr txBox="1"/>
          <p:nvPr>
            <p:ph idx="1" type="body"/>
          </p:nvPr>
        </p:nvSpPr>
        <p:spPr>
          <a:xfrm>
            <a:off x="1023938" y="914400"/>
            <a:ext cx="7029450" cy="5322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2000"/>
              <a:t>	</a:t>
            </a:r>
            <a:r>
              <a:rPr lang="en-US" sz="2000" u="sng"/>
              <a:t>Process </a:t>
            </a:r>
            <a:r>
              <a:rPr lang="en-US" sz="2000"/>
              <a:t>      </a:t>
            </a:r>
            <a:r>
              <a:rPr lang="en-US" sz="2000" u="sng"/>
              <a:t>Arrival Time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0.0	7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	</a:t>
            </a:r>
            <a:r>
              <a:rPr lang="en-US" sz="2000"/>
              <a:t>2.0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4.0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5.0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Once 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 has completed the queue now holds </a:t>
            </a:r>
            <a:r>
              <a:rPr i="1" lang="en-US" sz="2000"/>
              <a:t>P</a:t>
            </a:r>
            <a:r>
              <a:rPr baseline="-25000" i="1" lang="en-US" sz="2000"/>
              <a:t>2</a:t>
            </a:r>
            <a:r>
              <a:rPr lang="en-US" sz="2000"/>
              <a:t>,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 and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 gets the CPU first since it is the shortest. </a:t>
            </a:r>
            <a:r>
              <a:rPr i="1" lang="en-US" sz="2000"/>
              <a:t>P</a:t>
            </a:r>
            <a:r>
              <a:rPr baseline="-25000" i="1" lang="en-US" sz="2000"/>
              <a:t>2</a:t>
            </a:r>
            <a:r>
              <a:rPr lang="en-US" sz="2000"/>
              <a:t> then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 get the CPU in turn (based on arrival time)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 i="1"/>
          </a:p>
        </p:txBody>
      </p:sp>
      <p:sp>
        <p:nvSpPr>
          <p:cNvPr id="599" name="Google Shape;599;p42"/>
          <p:cNvSpPr txBox="1"/>
          <p:nvPr>
            <p:ph type="title"/>
          </p:nvPr>
        </p:nvSpPr>
        <p:spPr>
          <a:xfrm>
            <a:off x="838200" y="76200"/>
            <a:ext cx="7772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Non-Preemptive SJF</a:t>
            </a:r>
            <a:endParaRPr/>
          </a:p>
        </p:txBody>
      </p:sp>
      <p:sp>
        <p:nvSpPr>
          <p:cNvPr id="600" name="Google Shape;600;p42"/>
          <p:cNvSpPr txBox="1"/>
          <p:nvPr/>
        </p:nvSpPr>
        <p:spPr>
          <a:xfrm flipH="1">
            <a:off x="2203450" y="3643313"/>
            <a:ext cx="4460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1" name="Google Shape;601;p42"/>
          <p:cNvCxnSpPr/>
          <p:nvPr/>
        </p:nvCxnSpPr>
        <p:spPr>
          <a:xfrm>
            <a:off x="1524000" y="41910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2"/>
          <p:cNvCxnSpPr/>
          <p:nvPr/>
        </p:nvCxnSpPr>
        <p:spPr>
          <a:xfrm>
            <a:off x="3810000" y="3581400"/>
            <a:ext cx="0" cy="60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2"/>
          <p:cNvCxnSpPr/>
          <p:nvPr/>
        </p:nvCxnSpPr>
        <p:spPr>
          <a:xfrm>
            <a:off x="3810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2"/>
          <p:cNvCxnSpPr/>
          <p:nvPr/>
        </p:nvCxnSpPr>
        <p:spPr>
          <a:xfrm>
            <a:off x="2133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42"/>
          <p:cNvSpPr txBox="1"/>
          <p:nvPr/>
        </p:nvSpPr>
        <p:spPr>
          <a:xfrm flipH="1">
            <a:off x="365125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06" name="Google Shape;606;p42"/>
          <p:cNvSpPr txBox="1"/>
          <p:nvPr/>
        </p:nvSpPr>
        <p:spPr>
          <a:xfrm flipH="1">
            <a:off x="236220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07" name="Google Shape;607;p42"/>
          <p:cNvSpPr txBox="1"/>
          <p:nvPr/>
        </p:nvSpPr>
        <p:spPr>
          <a:xfrm flipH="1">
            <a:off x="136525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cxnSp>
        <p:nvCxnSpPr>
          <p:cNvPr id="608" name="Google Shape;608;p42"/>
          <p:cNvCxnSpPr/>
          <p:nvPr/>
        </p:nvCxnSpPr>
        <p:spPr>
          <a:xfrm>
            <a:off x="18288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2"/>
          <p:cNvCxnSpPr/>
          <p:nvPr/>
        </p:nvCxnSpPr>
        <p:spPr>
          <a:xfrm>
            <a:off x="2514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2"/>
          <p:cNvCxnSpPr/>
          <p:nvPr/>
        </p:nvCxnSpPr>
        <p:spPr>
          <a:xfrm>
            <a:off x="2895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2"/>
          <p:cNvCxnSpPr/>
          <p:nvPr/>
        </p:nvCxnSpPr>
        <p:spPr>
          <a:xfrm>
            <a:off x="32004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2"/>
          <p:cNvCxnSpPr/>
          <p:nvPr/>
        </p:nvCxnSpPr>
        <p:spPr>
          <a:xfrm>
            <a:off x="35052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42"/>
          <p:cNvSpPr/>
          <p:nvPr/>
        </p:nvSpPr>
        <p:spPr>
          <a:xfrm>
            <a:off x="4114800" y="3581400"/>
            <a:ext cx="13716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42"/>
          <p:cNvSpPr txBox="1"/>
          <p:nvPr/>
        </p:nvSpPr>
        <p:spPr>
          <a:xfrm flipH="1">
            <a:off x="44307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3810000" y="3581400"/>
            <a:ext cx="3048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42"/>
          <p:cNvSpPr txBox="1"/>
          <p:nvPr/>
        </p:nvSpPr>
        <p:spPr>
          <a:xfrm flipH="1">
            <a:off x="37449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17" name="Google Shape;617;p42"/>
          <p:cNvCxnSpPr/>
          <p:nvPr/>
        </p:nvCxnSpPr>
        <p:spPr>
          <a:xfrm>
            <a:off x="41148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2"/>
          <p:cNvCxnSpPr/>
          <p:nvPr/>
        </p:nvCxnSpPr>
        <p:spPr>
          <a:xfrm>
            <a:off x="54864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2"/>
          <p:cNvCxnSpPr/>
          <p:nvPr/>
        </p:nvCxnSpPr>
        <p:spPr>
          <a:xfrm>
            <a:off x="4800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42"/>
          <p:cNvCxnSpPr/>
          <p:nvPr/>
        </p:nvCxnSpPr>
        <p:spPr>
          <a:xfrm>
            <a:off x="4419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42"/>
          <p:cNvCxnSpPr/>
          <p:nvPr/>
        </p:nvCxnSpPr>
        <p:spPr>
          <a:xfrm>
            <a:off x="5181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42"/>
          <p:cNvSpPr txBox="1"/>
          <p:nvPr/>
        </p:nvSpPr>
        <p:spPr>
          <a:xfrm flipH="1">
            <a:off x="3941763" y="4343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23" name="Google Shape;623;p42"/>
          <p:cNvSpPr txBox="1"/>
          <p:nvPr/>
        </p:nvSpPr>
        <p:spPr>
          <a:xfrm flipH="1">
            <a:off x="5245100" y="43434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/>
          </a:p>
        </p:txBody>
      </p:sp>
      <p:sp>
        <p:nvSpPr>
          <p:cNvPr id="624" name="Google Shape;624;p42"/>
          <p:cNvSpPr/>
          <p:nvPr/>
        </p:nvSpPr>
        <p:spPr>
          <a:xfrm>
            <a:off x="5486400" y="3581400"/>
            <a:ext cx="13716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 flipH="1">
            <a:off x="60309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26" name="Google Shape;626;p42"/>
          <p:cNvCxnSpPr/>
          <p:nvPr/>
        </p:nvCxnSpPr>
        <p:spPr>
          <a:xfrm>
            <a:off x="6858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2"/>
          <p:cNvCxnSpPr/>
          <p:nvPr/>
        </p:nvCxnSpPr>
        <p:spPr>
          <a:xfrm>
            <a:off x="61722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42"/>
          <p:cNvCxnSpPr/>
          <p:nvPr/>
        </p:nvCxnSpPr>
        <p:spPr>
          <a:xfrm>
            <a:off x="58674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2"/>
          <p:cNvCxnSpPr/>
          <p:nvPr/>
        </p:nvCxnSpPr>
        <p:spPr>
          <a:xfrm>
            <a:off x="6477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2"/>
          <p:cNvSpPr txBox="1"/>
          <p:nvPr/>
        </p:nvSpPr>
        <p:spPr>
          <a:xfrm flipH="1">
            <a:off x="6543675" y="43434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631" name="Google Shape;63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32" name="Google Shape;63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3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39" name="Google Shape;639;p43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What 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Designed for time sharing systems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Similar to FCFS but preemption is added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Time Quantum/Time Slice-small unit of time is defined, usually 10-100 milliseconds</a:t>
            </a:r>
            <a:endParaRPr sz="2400"/>
          </a:p>
        </p:txBody>
      </p:sp>
      <p:sp>
        <p:nvSpPr>
          <p:cNvPr id="640" name="Google Shape;640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41" name="Google Shape;641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42" name="Google Shape;642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4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49" name="Google Shape;649;p44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What 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Ready queue is treated as Circular Queue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CPU scheduler goes around the ready queue, allocating CPU to each process for time interval of upto 1 time Quantum</a:t>
            </a:r>
            <a:endParaRPr/>
          </a:p>
        </p:txBody>
      </p:sp>
      <p:sp>
        <p:nvSpPr>
          <p:cNvPr id="650" name="Google Shape;65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51" name="Google Shape;65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52" name="Google Shape;65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44"/>
          <p:cNvSpPr/>
          <p:nvPr/>
        </p:nvSpPr>
        <p:spPr>
          <a:xfrm rot="5400000">
            <a:off x="6233113" y="3050958"/>
            <a:ext cx="2304256" cy="13321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5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60" name="Google Shape;660;p45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How?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Ready Queue uses FIFO order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New processes added to the tail of the ready queue.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CPU scheduler picks the first process from the ready queue, sets a timer to interrupt after 1 time quantum and dispatches the process.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61" name="Google Shape;66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62" name="Google Shape;66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63" name="Google Shape;66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6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70" name="Google Shape;670;p46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</a:rPr>
              <a:t>How?(contd.)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Two scenarios: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process may have CPU burst &lt; 1 TQ 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process will itself release the CPU voluntarily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CPU burst&gt;1 TQ,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timer will go off,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 u="sng"/>
              <a:t>causing an interrupt to the OS,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Context switch will be done, process will be put at the tail of the ready queue.</a:t>
            </a:r>
            <a:endParaRPr sz="2800"/>
          </a:p>
        </p:txBody>
      </p:sp>
      <p:sp>
        <p:nvSpPr>
          <p:cNvPr id="671" name="Google Shape;67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72" name="Google Shape;67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73" name="Google Shape;67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680" name="Google Shape;680;p47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</p:txBody>
      </p:sp>
      <p:sp>
        <p:nvSpPr>
          <p:cNvPr id="681" name="Google Shape;68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82" name="Google Shape;68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83" name="Google Shape;68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8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690" name="Google Shape;690;p48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91" name="Google Shape;69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692" name="Google Shape;69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93" name="Google Shape;69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4" name="Google Shape;69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4005064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9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01" name="Google Shape;701;p49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17018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Waiting Time –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P1=( 0 + (10-4) )=6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P2=4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P3=7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AWT=6+4+7/3=17/3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Gantt chart is:</a:t>
            </a:r>
            <a:br>
              <a:rPr lang="en-US"/>
            </a:br>
            <a:endParaRPr/>
          </a:p>
        </p:txBody>
      </p:sp>
      <p:sp>
        <p:nvSpPr>
          <p:cNvPr id="702" name="Google Shape;702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03" name="Google Shape;703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04" name="Google Shape;704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5" name="Google Shape;70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5229200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0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12" name="Google Shape;712;p50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Typically, higher average turnaround than SJF, but better </a:t>
            </a:r>
            <a:r>
              <a:rPr b="1" i="1" lang="en-US"/>
              <a:t>response</a:t>
            </a:r>
            <a:endParaRPr/>
          </a:p>
        </p:txBody>
      </p:sp>
      <p:sp>
        <p:nvSpPr>
          <p:cNvPr id="713" name="Google Shape;713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14" name="Google Shape;714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15" name="Google Shape;71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6" name="Google Shape;716;p50"/>
          <p:cNvSpPr/>
          <p:nvPr/>
        </p:nvSpPr>
        <p:spPr>
          <a:xfrm>
            <a:off x="611560" y="4653136"/>
            <a:ext cx="7920880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3429000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1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724" name="Google Shape;724;p51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 is preemptive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processes in the ready queue and the time quantum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each process gets 1/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CPU time in chunks of at most 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 units at once. 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process waits more than (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-1)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units.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725" name="Google Shape;72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26" name="Google Shape;72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27" name="Google Shape;72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2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734" name="Google Shape;734;p52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large ⇒ RR is same as FIFO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⇒ RR is called processor sharing, appears to user as if each of n processes has its own processor running at 1/n the speed of real processor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large with respect to context switch, otherwise overhead is too high</a:t>
            </a:r>
            <a:endParaRPr/>
          </a:p>
        </p:txBody>
      </p:sp>
      <p:sp>
        <p:nvSpPr>
          <p:cNvPr id="735" name="Google Shape;735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36" name="Google Shape;736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37" name="Google Shape;737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3"/>
          <p:cNvSpPr txBox="1"/>
          <p:nvPr>
            <p:ph type="title"/>
          </p:nvPr>
        </p:nvSpPr>
        <p:spPr>
          <a:xfrm>
            <a:off x="1063625" y="182563"/>
            <a:ext cx="7829550" cy="525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Time Quantum and Context Switch Time</a:t>
            </a:r>
            <a:endParaRPr/>
          </a:p>
        </p:txBody>
      </p:sp>
      <p:pic>
        <p:nvPicPr>
          <p:cNvPr id="744" name="Google Shape;7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46" name="Google Shape;74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47" name="Google Shape;74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4"/>
          <p:cNvSpPr txBox="1"/>
          <p:nvPr>
            <p:ph type="title"/>
          </p:nvPr>
        </p:nvSpPr>
        <p:spPr>
          <a:xfrm>
            <a:off x="1063625" y="182563"/>
            <a:ext cx="7829550" cy="525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Time Quantum and Context Switch Time</a:t>
            </a:r>
            <a:endParaRPr/>
          </a:p>
        </p:txBody>
      </p:sp>
      <p:pic>
        <p:nvPicPr>
          <p:cNvPr id="754" name="Google Shape;75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4"/>
          <p:cNvSpPr txBox="1"/>
          <p:nvPr/>
        </p:nvSpPr>
        <p:spPr>
          <a:xfrm>
            <a:off x="971600" y="4509120"/>
            <a:ext cx="708883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TQ should be large with respect to the context switch time.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 usually 10ms to 100ms, context switch &lt; 10 usec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much time will be wasted in Context switching.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57" name="Google Shape;757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58" name="Google Shape;758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5"/>
          <p:cNvSpPr txBox="1"/>
          <p:nvPr>
            <p:ph idx="1" type="body"/>
          </p:nvPr>
        </p:nvSpPr>
        <p:spPr>
          <a:xfrm>
            <a:off x="457200" y="1639341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Typically, higher average turnaround than SJF, but better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turnaround time of a set of processes does not necessarily improve as the time quantum increases.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 can be improved if most processes finish their next CPU burst in single TQ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Thumb Rule- “80% of CPU bursts should be shorter than Tq”</a:t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764" name="Google Shape;764;p55"/>
          <p:cNvSpPr txBox="1"/>
          <p:nvPr>
            <p:ph type="title"/>
          </p:nvPr>
        </p:nvSpPr>
        <p:spPr>
          <a:xfrm>
            <a:off x="830263" y="266700"/>
            <a:ext cx="85359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Turnaround Time Varies With The Time Quantum</a:t>
            </a:r>
            <a:endParaRPr/>
          </a:p>
        </p:txBody>
      </p:sp>
      <p:sp>
        <p:nvSpPr>
          <p:cNvPr id="765" name="Google Shape;7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66" name="Google Shape;7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67" name="Google Shape;7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8" name="Google Shape;768;p55"/>
          <p:cNvSpPr/>
          <p:nvPr/>
        </p:nvSpPr>
        <p:spPr>
          <a:xfrm>
            <a:off x="395536" y="1484784"/>
            <a:ext cx="8280920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5"/>
          <p:cNvSpPr/>
          <p:nvPr/>
        </p:nvSpPr>
        <p:spPr>
          <a:xfrm>
            <a:off x="323528" y="4581128"/>
            <a:ext cx="8352928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6"/>
          <p:cNvSpPr txBox="1"/>
          <p:nvPr>
            <p:ph type="title"/>
          </p:nvPr>
        </p:nvSpPr>
        <p:spPr>
          <a:xfrm>
            <a:off x="830263" y="266700"/>
            <a:ext cx="85359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Turnaround Time Varies With The Time Quantum</a:t>
            </a:r>
            <a:endParaRPr/>
          </a:p>
        </p:txBody>
      </p:sp>
      <p:pic>
        <p:nvPicPr>
          <p:cNvPr id="776" name="Google Shape;77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379538"/>
            <a:ext cx="7278638" cy="4122737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6"/>
          <p:cNvSpPr txBox="1"/>
          <p:nvPr/>
        </p:nvSpPr>
        <p:spPr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80% of CPU bursts should be shorter than q</a:t>
            </a:r>
            <a:endParaRPr/>
          </a:p>
        </p:txBody>
      </p:sp>
      <p:sp>
        <p:nvSpPr>
          <p:cNvPr id="778" name="Google Shape;778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79" name="Google Shape;779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80" name="Google Shape;780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1" name="Google Shape;781;p56"/>
          <p:cNvSpPr/>
          <p:nvPr/>
        </p:nvSpPr>
        <p:spPr>
          <a:xfrm>
            <a:off x="4283968" y="5033871"/>
            <a:ext cx="506971" cy="360040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6"/>
          <p:cNvSpPr/>
          <p:nvPr/>
        </p:nvSpPr>
        <p:spPr>
          <a:xfrm>
            <a:off x="4807436" y="5033871"/>
            <a:ext cx="506971" cy="360040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6"/>
          <p:cNvSpPr/>
          <p:nvPr/>
        </p:nvSpPr>
        <p:spPr>
          <a:xfrm>
            <a:off x="272691" y="5741421"/>
            <a:ext cx="8676456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 can be improved if most processes finish their next CPU burst in single TQ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Thumb Rule- “80% of CPU bursts should be shorter than Tq”</a:t>
            </a:r>
            <a:endParaRPr/>
          </a:p>
        </p:txBody>
      </p:sp>
      <p:sp>
        <p:nvSpPr>
          <p:cNvPr id="784" name="Google Shape;784;p56"/>
          <p:cNvSpPr/>
          <p:nvPr/>
        </p:nvSpPr>
        <p:spPr>
          <a:xfrm rot="-2714779">
            <a:off x="5105620" y="3487510"/>
            <a:ext cx="4740723" cy="1247684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6"/>
          <p:cNvSpPr/>
          <p:nvPr/>
        </p:nvSpPr>
        <p:spPr>
          <a:xfrm>
            <a:off x="3908793" y="2823540"/>
            <a:ext cx="2304256" cy="659979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 Remaining Time First (SRTF)</a:t>
            </a:r>
            <a:endParaRPr/>
          </a:p>
        </p:txBody>
      </p:sp>
      <p:sp>
        <p:nvSpPr>
          <p:cNvPr id="791" name="Google Shape;791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Shortest Remaining Time First (SRTF) scheduling algorithm, </a:t>
            </a:r>
            <a:endParaRPr sz="24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process with the smallest amount of time remaining until completion is selected to execute.</a:t>
            </a:r>
            <a:endParaRPr/>
          </a:p>
        </p:txBody>
      </p:sp>
      <p:sp>
        <p:nvSpPr>
          <p:cNvPr id="792" name="Google Shape;79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793" name="Google Shape;793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94" name="Google Shape;794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800" name="Google Shape;800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01" name="Google Shape;801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2" name="Google Shape;802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808" name="Google Shape;808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09" name="Google Shape;809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0" name="Google Shape;810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624" y="4149080"/>
            <a:ext cx="5904656" cy="792088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0"/>
          <p:cNvSpPr/>
          <p:nvPr/>
        </p:nvSpPr>
        <p:spPr>
          <a:xfrm>
            <a:off x="719572" y="5175643"/>
            <a:ext cx="68407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waiting time: 0 + (4-2-0) = 2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waiting time: (2-2)=0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waiting time(AWT): (0 + 2) / 2 = 1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2"/>
          <p:cNvSpPr txBox="1"/>
          <p:nvPr>
            <p:ph type="title"/>
          </p:nvPr>
        </p:nvSpPr>
        <p:spPr>
          <a:xfrm>
            <a:off x="457200" y="116632"/>
            <a:ext cx="82296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for Preemptive SJF (SRTF)</a:t>
            </a:r>
            <a:endParaRPr/>
          </a:p>
        </p:txBody>
      </p:sp>
      <p:sp>
        <p:nvSpPr>
          <p:cNvPr id="819" name="Google Shape;819;p62"/>
          <p:cNvSpPr txBox="1"/>
          <p:nvPr>
            <p:ph idx="1" type="body"/>
          </p:nvPr>
        </p:nvSpPr>
        <p:spPr>
          <a:xfrm>
            <a:off x="552040" y="404664"/>
            <a:ext cx="7992888" cy="531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1800" u="sng"/>
              <a:t>Process </a:t>
            </a:r>
            <a:r>
              <a:rPr lang="en-US" sz="1800"/>
              <a:t>     	</a:t>
            </a:r>
            <a:r>
              <a:rPr lang="en-US" sz="1800" u="sng"/>
              <a:t>Arrival Time</a:t>
            </a:r>
            <a:r>
              <a:rPr lang="en-US" sz="1800"/>
              <a:t>	</a:t>
            </a:r>
            <a:r>
              <a:rPr lang="en-US" sz="1800" u="sng"/>
              <a:t>Burst Time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</a:t>
            </a:r>
            <a:r>
              <a:rPr i="1" lang="en-US" sz="1800"/>
              <a:t>P</a:t>
            </a:r>
            <a:r>
              <a:rPr baseline="-25000" i="1" lang="en-US" sz="1800"/>
              <a:t>1</a:t>
            </a:r>
            <a:r>
              <a:rPr lang="en-US" sz="1800"/>
              <a:t>	0.0	7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2	</a:t>
            </a:r>
            <a:r>
              <a:rPr lang="en-US" sz="1800"/>
              <a:t>2.0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3</a:t>
            </a:r>
            <a:r>
              <a:rPr lang="en-US" sz="1800"/>
              <a:t>	4.0	1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4</a:t>
            </a:r>
            <a:r>
              <a:rPr lang="en-US" sz="1800"/>
              <a:t>	5.0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0 – P</a:t>
            </a:r>
            <a:r>
              <a:rPr baseline="-25000" lang="en-US" sz="2000"/>
              <a:t>1</a:t>
            </a:r>
            <a:r>
              <a:rPr lang="en-US" sz="2000"/>
              <a:t> gets the CPU      Ready = [(P</a:t>
            </a:r>
            <a:r>
              <a:rPr baseline="-25000" lang="en-US" sz="2000"/>
              <a:t>1</a:t>
            </a:r>
            <a:r>
              <a:rPr lang="en-US" sz="2000"/>
              <a:t>,7)}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2 – P</a:t>
            </a:r>
            <a:r>
              <a:rPr baseline="-25000" lang="en-US" sz="2000"/>
              <a:t>2</a:t>
            </a:r>
            <a:r>
              <a:rPr lang="en-US" sz="2000"/>
              <a:t> arrives –  CPU has </a:t>
            </a:r>
            <a:r>
              <a:rPr b="1" lang="en-US" sz="2000"/>
              <a:t>P</a:t>
            </a:r>
            <a:r>
              <a:rPr b="1" baseline="-25000" lang="en-US" sz="2000"/>
              <a:t>1</a:t>
            </a:r>
            <a:r>
              <a:rPr b="1" lang="en-US" sz="2000"/>
              <a:t> with rem. time=5</a:t>
            </a:r>
            <a:r>
              <a:rPr lang="en-US" sz="2000"/>
              <a:t>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2</a:t>
            </a:r>
            <a:r>
              <a:rPr lang="en-US" sz="2000"/>
              <a:t>,4)]    -P</a:t>
            </a:r>
            <a:r>
              <a:rPr baseline="-25000" lang="en-US" sz="2000"/>
              <a:t>2</a:t>
            </a:r>
            <a:r>
              <a:rPr lang="en-US" sz="2000"/>
              <a:t> gets the CPU, P1 is preempted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,5)]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4 – P</a:t>
            </a:r>
            <a:r>
              <a:rPr baseline="-25000" lang="en-US" sz="2000"/>
              <a:t>3</a:t>
            </a:r>
            <a:r>
              <a:rPr lang="en-US" sz="2000"/>
              <a:t> arrives – CPU has </a:t>
            </a:r>
            <a:r>
              <a:rPr b="1" lang="en-US" sz="2000"/>
              <a:t>P</a:t>
            </a:r>
            <a:r>
              <a:rPr b="1" baseline="-25000" lang="en-US" sz="2000"/>
              <a:t>2</a:t>
            </a:r>
            <a:r>
              <a:rPr b="1" lang="en-US" sz="2000"/>
              <a:t> with rem. time = 2</a:t>
            </a:r>
            <a:r>
              <a:rPr lang="en-US" sz="2000"/>
              <a:t>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3</a:t>
            </a:r>
            <a:r>
              <a:rPr lang="en-US" sz="2000"/>
              <a:t>,1)] – P</a:t>
            </a:r>
            <a:r>
              <a:rPr baseline="-25000" lang="en-US" sz="2000"/>
              <a:t>3</a:t>
            </a:r>
            <a:r>
              <a:rPr lang="en-US" sz="2000"/>
              <a:t> gets the CPU, P2 is preempted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,5),(P2,2)}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20" name="Google Shape;820;p62"/>
          <p:cNvSpPr/>
          <p:nvPr/>
        </p:nvSpPr>
        <p:spPr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1" name="Google Shape;821;p62"/>
          <p:cNvSpPr/>
          <p:nvPr/>
        </p:nvSpPr>
        <p:spPr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2" name="Google Shape;822;p62"/>
          <p:cNvSpPr/>
          <p:nvPr/>
        </p:nvSpPr>
        <p:spPr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3" name="Google Shape;823;p62"/>
          <p:cNvSpPr/>
          <p:nvPr/>
        </p:nvSpPr>
        <p:spPr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4" name="Google Shape;824;p62"/>
          <p:cNvSpPr/>
          <p:nvPr/>
        </p:nvSpPr>
        <p:spPr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25" name="Google Shape;825;p62"/>
          <p:cNvCxnSpPr/>
          <p:nvPr/>
        </p:nvCxnSpPr>
        <p:spPr>
          <a:xfrm>
            <a:off x="1447800" y="5410200"/>
            <a:ext cx="3581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62"/>
          <p:cNvCxnSpPr/>
          <p:nvPr/>
        </p:nvCxnSpPr>
        <p:spPr>
          <a:xfrm>
            <a:off x="1447800" y="6019800"/>
            <a:ext cx="3581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62"/>
          <p:cNvCxnSpPr/>
          <p:nvPr/>
        </p:nvCxnSpPr>
        <p:spPr>
          <a:xfrm>
            <a:off x="1447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62"/>
          <p:cNvCxnSpPr/>
          <p:nvPr/>
        </p:nvCxnSpPr>
        <p:spPr>
          <a:xfrm>
            <a:off x="2209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2"/>
          <p:cNvCxnSpPr/>
          <p:nvPr/>
        </p:nvCxnSpPr>
        <p:spPr>
          <a:xfrm>
            <a:off x="182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62"/>
          <p:cNvCxnSpPr/>
          <p:nvPr/>
        </p:nvCxnSpPr>
        <p:spPr>
          <a:xfrm>
            <a:off x="220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62"/>
          <p:cNvCxnSpPr/>
          <p:nvPr/>
        </p:nvCxnSpPr>
        <p:spPr>
          <a:xfrm>
            <a:off x="259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62"/>
          <p:cNvCxnSpPr/>
          <p:nvPr/>
        </p:nvCxnSpPr>
        <p:spPr>
          <a:xfrm>
            <a:off x="297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62"/>
          <p:cNvCxnSpPr/>
          <p:nvPr/>
        </p:nvCxnSpPr>
        <p:spPr>
          <a:xfrm>
            <a:off x="335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62"/>
          <p:cNvCxnSpPr/>
          <p:nvPr/>
        </p:nvCxnSpPr>
        <p:spPr>
          <a:xfrm>
            <a:off x="2971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" name="Google Shape;835;p62"/>
          <p:cNvSpPr txBox="1"/>
          <p:nvPr/>
        </p:nvSpPr>
        <p:spPr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36" name="Google Shape;836;p62"/>
          <p:cNvSpPr txBox="1"/>
          <p:nvPr/>
        </p:nvSpPr>
        <p:spPr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37" name="Google Shape;837;p62"/>
          <p:cNvSpPr txBox="1"/>
          <p:nvPr/>
        </p:nvSpPr>
        <p:spPr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838" name="Google Shape;838;p62"/>
          <p:cNvCxnSpPr/>
          <p:nvPr/>
        </p:nvCxnSpPr>
        <p:spPr>
          <a:xfrm>
            <a:off x="3352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62"/>
          <p:cNvSpPr txBox="1"/>
          <p:nvPr/>
        </p:nvSpPr>
        <p:spPr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840" name="Google Shape;840;p62"/>
          <p:cNvSpPr txBox="1"/>
          <p:nvPr/>
        </p:nvSpPr>
        <p:spPr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41" name="Google Shape;841;p62"/>
          <p:cNvSpPr txBox="1"/>
          <p:nvPr/>
        </p:nvSpPr>
        <p:spPr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42" name="Google Shape;842;p62"/>
          <p:cNvSpPr/>
          <p:nvPr/>
        </p:nvSpPr>
        <p:spPr>
          <a:xfrm>
            <a:off x="6300192" y="2924944"/>
            <a:ext cx="2232248" cy="4320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62"/>
          <p:cNvSpPr/>
          <p:nvPr/>
        </p:nvSpPr>
        <p:spPr>
          <a:xfrm>
            <a:off x="6444208" y="3717032"/>
            <a:ext cx="2232248" cy="4320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845" name="Google Shape;845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46" name="Google Shape;846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3"/>
          <p:cNvSpPr/>
          <p:nvPr/>
        </p:nvSpPr>
        <p:spPr>
          <a:xfrm>
            <a:off x="601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3" name="Google Shape;853;p63"/>
          <p:cNvSpPr/>
          <p:nvPr/>
        </p:nvSpPr>
        <p:spPr>
          <a:xfrm>
            <a:off x="563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4" name="Google Shape;854;p63"/>
          <p:cNvSpPr/>
          <p:nvPr/>
        </p:nvSpPr>
        <p:spPr>
          <a:xfrm>
            <a:off x="525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5" name="Google Shape;855;p63"/>
          <p:cNvSpPr/>
          <p:nvPr/>
        </p:nvSpPr>
        <p:spPr>
          <a:xfrm>
            <a:off x="4876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63"/>
          <p:cNvSpPr/>
          <p:nvPr/>
        </p:nvSpPr>
        <p:spPr>
          <a:xfrm>
            <a:off x="4495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7" name="Google Shape;857;p63"/>
          <p:cNvSpPr/>
          <p:nvPr/>
        </p:nvSpPr>
        <p:spPr>
          <a:xfrm>
            <a:off x="4114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8" name="Google Shape;858;p63"/>
          <p:cNvSpPr/>
          <p:nvPr/>
        </p:nvSpPr>
        <p:spPr>
          <a:xfrm>
            <a:off x="335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9" name="Google Shape;859;p63"/>
          <p:cNvSpPr/>
          <p:nvPr/>
        </p:nvSpPr>
        <p:spPr>
          <a:xfrm>
            <a:off x="3733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p63"/>
          <p:cNvSpPr txBox="1"/>
          <p:nvPr>
            <p:ph idx="1" type="body"/>
          </p:nvPr>
        </p:nvSpPr>
        <p:spPr>
          <a:xfrm>
            <a:off x="1066800" y="620687"/>
            <a:ext cx="7029450" cy="558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1800" u="sng"/>
              <a:t>Process </a:t>
            </a:r>
            <a:r>
              <a:rPr lang="en-US" sz="1800"/>
              <a:t>     	</a:t>
            </a:r>
            <a:r>
              <a:rPr lang="en-US" sz="1800" u="sng"/>
              <a:t>Arrival Time</a:t>
            </a:r>
            <a:r>
              <a:rPr lang="en-US" sz="1800"/>
              <a:t>	</a:t>
            </a:r>
            <a:r>
              <a:rPr lang="en-US" sz="1800" u="sng"/>
              <a:t>Burst Time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</a:t>
            </a:r>
            <a:r>
              <a:rPr i="1" lang="en-US" sz="1800"/>
              <a:t>P</a:t>
            </a:r>
            <a:r>
              <a:rPr baseline="-25000" i="1" lang="en-US" sz="1800"/>
              <a:t>1</a:t>
            </a:r>
            <a:r>
              <a:rPr lang="en-US" sz="1800"/>
              <a:t>	0.0	7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2	</a:t>
            </a:r>
            <a:r>
              <a:rPr lang="en-US" sz="1800"/>
              <a:t>2.0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3</a:t>
            </a:r>
            <a:r>
              <a:rPr lang="en-US" sz="1800"/>
              <a:t>	4.0	1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4</a:t>
            </a:r>
            <a:r>
              <a:rPr lang="en-US" sz="1800"/>
              <a:t>	5.0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,5),(P2,2)]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5 – P</a:t>
            </a:r>
            <a:r>
              <a:rPr baseline="-25000" lang="en-US" sz="2000"/>
              <a:t>3</a:t>
            </a:r>
            <a:r>
              <a:rPr lang="en-US" sz="2000"/>
              <a:t> completes and P</a:t>
            </a:r>
            <a:r>
              <a:rPr baseline="-25000" lang="en-US" sz="2000"/>
              <a:t>4</a:t>
            </a:r>
            <a:r>
              <a:rPr lang="en-US" sz="2000"/>
              <a:t> arrives –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2</a:t>
            </a:r>
            <a:r>
              <a:rPr lang="en-US" sz="2000"/>
              <a:t>,2),(P</a:t>
            </a:r>
            <a:r>
              <a:rPr baseline="-25000" lang="en-US" sz="2000"/>
              <a:t>4</a:t>
            </a:r>
            <a:r>
              <a:rPr lang="en-US" sz="2000"/>
              <a:t>,4)] – P</a:t>
            </a:r>
            <a:r>
              <a:rPr baseline="-25000" lang="en-US" sz="2000"/>
              <a:t>2</a:t>
            </a:r>
            <a:r>
              <a:rPr lang="en-US" sz="2000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7 – P</a:t>
            </a:r>
            <a:r>
              <a:rPr baseline="-25000" lang="en-US" sz="2000"/>
              <a:t>2</a:t>
            </a:r>
            <a:r>
              <a:rPr lang="en-US" sz="2000"/>
              <a:t> completes –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4</a:t>
            </a:r>
            <a:r>
              <a:rPr lang="en-US" sz="2000"/>
              <a:t>,4)] – P</a:t>
            </a:r>
            <a:r>
              <a:rPr baseline="-25000" lang="en-US" sz="2000"/>
              <a:t>4</a:t>
            </a:r>
            <a:r>
              <a:rPr lang="en-US" sz="2000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11 – P</a:t>
            </a:r>
            <a:r>
              <a:rPr baseline="-25000" lang="en-US" sz="2000"/>
              <a:t>4</a:t>
            </a:r>
            <a:r>
              <a:rPr lang="en-US" sz="2000"/>
              <a:t> completes, P</a:t>
            </a:r>
            <a:r>
              <a:rPr baseline="-25000" lang="en-US" sz="2000"/>
              <a:t>1</a:t>
            </a:r>
            <a:r>
              <a:rPr lang="en-US" sz="2000"/>
              <a:t> gets the CPU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61" name="Google Shape;861;p63"/>
          <p:cNvSpPr/>
          <p:nvPr/>
        </p:nvSpPr>
        <p:spPr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2" name="Google Shape;862;p63"/>
          <p:cNvSpPr/>
          <p:nvPr/>
        </p:nvSpPr>
        <p:spPr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p63"/>
          <p:cNvSpPr/>
          <p:nvPr/>
        </p:nvSpPr>
        <p:spPr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4" name="Google Shape;864;p63"/>
          <p:cNvSpPr/>
          <p:nvPr/>
        </p:nvSpPr>
        <p:spPr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5" name="Google Shape;865;p63"/>
          <p:cNvSpPr/>
          <p:nvPr/>
        </p:nvSpPr>
        <p:spPr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66" name="Google Shape;866;p63"/>
          <p:cNvCxnSpPr/>
          <p:nvPr/>
        </p:nvCxnSpPr>
        <p:spPr>
          <a:xfrm>
            <a:off x="1447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63"/>
          <p:cNvCxnSpPr/>
          <p:nvPr/>
        </p:nvCxnSpPr>
        <p:spPr>
          <a:xfrm>
            <a:off x="2209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63"/>
          <p:cNvCxnSpPr/>
          <p:nvPr/>
        </p:nvCxnSpPr>
        <p:spPr>
          <a:xfrm>
            <a:off x="182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3"/>
          <p:cNvCxnSpPr/>
          <p:nvPr/>
        </p:nvCxnSpPr>
        <p:spPr>
          <a:xfrm>
            <a:off x="220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63"/>
          <p:cNvCxnSpPr/>
          <p:nvPr/>
        </p:nvCxnSpPr>
        <p:spPr>
          <a:xfrm>
            <a:off x="259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63"/>
          <p:cNvCxnSpPr/>
          <p:nvPr/>
        </p:nvCxnSpPr>
        <p:spPr>
          <a:xfrm>
            <a:off x="297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63"/>
          <p:cNvCxnSpPr/>
          <p:nvPr/>
        </p:nvCxnSpPr>
        <p:spPr>
          <a:xfrm>
            <a:off x="335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63"/>
          <p:cNvCxnSpPr/>
          <p:nvPr/>
        </p:nvCxnSpPr>
        <p:spPr>
          <a:xfrm>
            <a:off x="3733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63"/>
          <p:cNvCxnSpPr/>
          <p:nvPr/>
        </p:nvCxnSpPr>
        <p:spPr>
          <a:xfrm>
            <a:off x="2971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63"/>
          <p:cNvSpPr txBox="1"/>
          <p:nvPr/>
        </p:nvSpPr>
        <p:spPr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76" name="Google Shape;876;p63"/>
          <p:cNvSpPr txBox="1"/>
          <p:nvPr/>
        </p:nvSpPr>
        <p:spPr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77" name="Google Shape;877;p63"/>
          <p:cNvSpPr txBox="1"/>
          <p:nvPr/>
        </p:nvSpPr>
        <p:spPr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878" name="Google Shape;878;p63"/>
          <p:cNvCxnSpPr/>
          <p:nvPr/>
        </p:nvCxnSpPr>
        <p:spPr>
          <a:xfrm>
            <a:off x="3352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63"/>
          <p:cNvCxnSpPr/>
          <p:nvPr/>
        </p:nvCxnSpPr>
        <p:spPr>
          <a:xfrm>
            <a:off x="4114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63"/>
          <p:cNvSpPr txBox="1"/>
          <p:nvPr/>
        </p:nvSpPr>
        <p:spPr>
          <a:xfrm>
            <a:off x="3541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881" name="Google Shape;881;p63"/>
          <p:cNvCxnSpPr/>
          <p:nvPr/>
        </p:nvCxnSpPr>
        <p:spPr>
          <a:xfrm>
            <a:off x="5638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63"/>
          <p:cNvCxnSpPr/>
          <p:nvPr/>
        </p:nvCxnSpPr>
        <p:spPr>
          <a:xfrm>
            <a:off x="4114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63"/>
          <p:cNvCxnSpPr/>
          <p:nvPr/>
        </p:nvCxnSpPr>
        <p:spPr>
          <a:xfrm>
            <a:off x="4495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63"/>
          <p:cNvCxnSpPr/>
          <p:nvPr/>
        </p:nvCxnSpPr>
        <p:spPr>
          <a:xfrm>
            <a:off x="4876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63"/>
          <p:cNvCxnSpPr/>
          <p:nvPr/>
        </p:nvCxnSpPr>
        <p:spPr>
          <a:xfrm>
            <a:off x="5257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63"/>
          <p:cNvCxnSpPr/>
          <p:nvPr/>
        </p:nvCxnSpPr>
        <p:spPr>
          <a:xfrm>
            <a:off x="563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63"/>
          <p:cNvSpPr txBox="1"/>
          <p:nvPr/>
        </p:nvSpPr>
        <p:spPr>
          <a:xfrm>
            <a:off x="4724400" y="5424488"/>
            <a:ext cx="42068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88" name="Google Shape;888;p63"/>
          <p:cNvSpPr txBox="1"/>
          <p:nvPr/>
        </p:nvSpPr>
        <p:spPr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889" name="Google Shape;889;p63"/>
          <p:cNvSpPr txBox="1"/>
          <p:nvPr/>
        </p:nvSpPr>
        <p:spPr>
          <a:xfrm>
            <a:off x="3956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890" name="Google Shape;890;p63"/>
          <p:cNvSpPr txBox="1"/>
          <p:nvPr/>
        </p:nvSpPr>
        <p:spPr>
          <a:xfrm>
            <a:off x="5416550" y="6172200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sp>
        <p:nvSpPr>
          <p:cNvPr id="891" name="Google Shape;891;p63"/>
          <p:cNvSpPr/>
          <p:nvPr/>
        </p:nvSpPr>
        <p:spPr>
          <a:xfrm>
            <a:off x="640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2" name="Google Shape;892;p63"/>
          <p:cNvSpPr/>
          <p:nvPr/>
        </p:nvSpPr>
        <p:spPr>
          <a:xfrm>
            <a:off x="6781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3" name="Google Shape;893;p63"/>
          <p:cNvSpPr/>
          <p:nvPr/>
        </p:nvSpPr>
        <p:spPr>
          <a:xfrm>
            <a:off x="716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94" name="Google Shape;894;p63"/>
          <p:cNvCxnSpPr/>
          <p:nvPr/>
        </p:nvCxnSpPr>
        <p:spPr>
          <a:xfrm>
            <a:off x="563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63"/>
          <p:cNvCxnSpPr/>
          <p:nvPr/>
        </p:nvCxnSpPr>
        <p:spPr>
          <a:xfrm>
            <a:off x="601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63"/>
          <p:cNvCxnSpPr/>
          <p:nvPr/>
        </p:nvCxnSpPr>
        <p:spPr>
          <a:xfrm>
            <a:off x="640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63"/>
          <p:cNvCxnSpPr/>
          <p:nvPr/>
        </p:nvCxnSpPr>
        <p:spPr>
          <a:xfrm>
            <a:off x="678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63"/>
          <p:cNvCxnSpPr/>
          <p:nvPr/>
        </p:nvCxnSpPr>
        <p:spPr>
          <a:xfrm>
            <a:off x="716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63"/>
          <p:cNvCxnSpPr/>
          <p:nvPr/>
        </p:nvCxnSpPr>
        <p:spPr>
          <a:xfrm>
            <a:off x="7543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63"/>
          <p:cNvCxnSpPr/>
          <p:nvPr/>
        </p:nvCxnSpPr>
        <p:spPr>
          <a:xfrm>
            <a:off x="1447800" y="5410200"/>
            <a:ext cx="6324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63"/>
          <p:cNvCxnSpPr/>
          <p:nvPr/>
        </p:nvCxnSpPr>
        <p:spPr>
          <a:xfrm>
            <a:off x="1447800" y="6019800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63"/>
          <p:cNvCxnSpPr/>
          <p:nvPr/>
        </p:nvCxnSpPr>
        <p:spPr>
          <a:xfrm>
            <a:off x="7543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63"/>
          <p:cNvSpPr txBox="1"/>
          <p:nvPr/>
        </p:nvSpPr>
        <p:spPr>
          <a:xfrm>
            <a:off x="64373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04" name="Google Shape;904;p63"/>
          <p:cNvSpPr txBox="1"/>
          <p:nvPr/>
        </p:nvSpPr>
        <p:spPr>
          <a:xfrm>
            <a:off x="7334250" y="6172200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905" name="Google Shape;90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906" name="Google Shape;90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07" name="Google Shape;90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8" name="Google Shape;908;p63"/>
          <p:cNvSpPr txBox="1"/>
          <p:nvPr/>
        </p:nvSpPr>
        <p:spPr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909" name="Google Shape;909;p63"/>
          <p:cNvSpPr txBox="1"/>
          <p:nvPr/>
        </p:nvSpPr>
        <p:spPr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910" name="Google Shape;910;p63"/>
          <p:cNvSpPr txBox="1"/>
          <p:nvPr/>
        </p:nvSpPr>
        <p:spPr>
          <a:xfrm>
            <a:off x="457200" y="116632"/>
            <a:ext cx="82296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for Preemptive SJF (SRTF)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4"/>
          <p:cNvSpPr txBox="1"/>
          <p:nvPr>
            <p:ph idx="1" type="body"/>
          </p:nvPr>
        </p:nvSpPr>
        <p:spPr>
          <a:xfrm>
            <a:off x="1066800" y="980728"/>
            <a:ext cx="702945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225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3100" u="sng"/>
              <a:t>Process </a:t>
            </a:r>
            <a:r>
              <a:rPr lang="en-US" sz="3100"/>
              <a:t>     	</a:t>
            </a:r>
            <a:r>
              <a:rPr lang="en-US" sz="3100" u="sng"/>
              <a:t>Arrival Time</a:t>
            </a:r>
            <a:r>
              <a:rPr lang="en-US" sz="3100"/>
              <a:t>	</a:t>
            </a:r>
            <a:r>
              <a:rPr lang="en-US" sz="3100" u="sng"/>
              <a:t>Burst Time</a:t>
            </a:r>
            <a:endParaRPr sz="3100"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</a:t>
            </a:r>
            <a:r>
              <a:rPr i="1" lang="en-US" sz="3100"/>
              <a:t>P</a:t>
            </a:r>
            <a:r>
              <a:rPr baseline="-25000" i="1" lang="en-US" sz="3100"/>
              <a:t>1</a:t>
            </a:r>
            <a:r>
              <a:rPr lang="en-US" sz="3100"/>
              <a:t>	0.0	7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2	</a:t>
            </a:r>
            <a:r>
              <a:rPr lang="en-US" sz="3100"/>
              <a:t>2.0	4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3</a:t>
            </a:r>
            <a:r>
              <a:rPr lang="en-US" sz="3100"/>
              <a:t>	4.0	1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4</a:t>
            </a:r>
            <a:r>
              <a:rPr lang="en-US" sz="3100"/>
              <a:t>	5.0	4</a:t>
            </a:r>
            <a:endParaRPr sz="1800"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SJF (preemptive)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Processes: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P1=(0+(11-2))=9,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P2=((2-2)+(5-4))=1,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P3=(4-4)=0,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P4=(7-5)=2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(9 + 1 + 0 +2)/4 = 3</a:t>
            </a:r>
            <a:endParaRPr baseline="-25000" i="1"/>
          </a:p>
        </p:txBody>
      </p:sp>
      <p:sp>
        <p:nvSpPr>
          <p:cNvPr id="917" name="Google Shape;917;p64"/>
          <p:cNvSpPr/>
          <p:nvPr/>
        </p:nvSpPr>
        <p:spPr>
          <a:xfrm>
            <a:off x="1219200" y="37338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8" name="Google Shape;918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Preemptive SJF (SRTF)</a:t>
            </a:r>
            <a:endParaRPr/>
          </a:p>
        </p:txBody>
      </p:sp>
      <p:sp>
        <p:nvSpPr>
          <p:cNvPr id="919" name="Google Shape;919;p64"/>
          <p:cNvSpPr/>
          <p:nvPr/>
        </p:nvSpPr>
        <p:spPr>
          <a:xfrm>
            <a:off x="579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0" name="Google Shape;920;p64"/>
          <p:cNvSpPr/>
          <p:nvPr/>
        </p:nvSpPr>
        <p:spPr>
          <a:xfrm>
            <a:off x="541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1" name="Google Shape;921;p64"/>
          <p:cNvSpPr/>
          <p:nvPr/>
        </p:nvSpPr>
        <p:spPr>
          <a:xfrm>
            <a:off x="5029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2" name="Google Shape;922;p64"/>
          <p:cNvSpPr/>
          <p:nvPr/>
        </p:nvSpPr>
        <p:spPr>
          <a:xfrm>
            <a:off x="4648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3" name="Google Shape;923;p64"/>
          <p:cNvSpPr/>
          <p:nvPr/>
        </p:nvSpPr>
        <p:spPr>
          <a:xfrm>
            <a:off x="4267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4" name="Google Shape;924;p64"/>
          <p:cNvSpPr/>
          <p:nvPr/>
        </p:nvSpPr>
        <p:spPr>
          <a:xfrm>
            <a:off x="3886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5" name="Google Shape;925;p64"/>
          <p:cNvSpPr/>
          <p:nvPr/>
        </p:nvSpPr>
        <p:spPr>
          <a:xfrm>
            <a:off x="312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6" name="Google Shape;926;p64"/>
          <p:cNvSpPr/>
          <p:nvPr/>
        </p:nvSpPr>
        <p:spPr>
          <a:xfrm>
            <a:off x="3505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7" name="Google Shape;927;p64"/>
          <p:cNvSpPr/>
          <p:nvPr/>
        </p:nvSpPr>
        <p:spPr>
          <a:xfrm>
            <a:off x="1317625" y="3868738"/>
            <a:ext cx="184150" cy="366712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8" name="Google Shape;928;p64"/>
          <p:cNvSpPr/>
          <p:nvPr/>
        </p:nvSpPr>
        <p:spPr>
          <a:xfrm>
            <a:off x="160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9" name="Google Shape;929;p64"/>
          <p:cNvSpPr/>
          <p:nvPr/>
        </p:nvSpPr>
        <p:spPr>
          <a:xfrm>
            <a:off x="198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0" name="Google Shape;930;p64"/>
          <p:cNvSpPr/>
          <p:nvPr/>
        </p:nvSpPr>
        <p:spPr>
          <a:xfrm>
            <a:off x="236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1" name="Google Shape;931;p64"/>
          <p:cNvSpPr/>
          <p:nvPr/>
        </p:nvSpPr>
        <p:spPr>
          <a:xfrm>
            <a:off x="2743200" y="3748088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32" name="Google Shape;932;p64"/>
          <p:cNvCxnSpPr/>
          <p:nvPr/>
        </p:nvCxnSpPr>
        <p:spPr>
          <a:xfrm>
            <a:off x="1219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64"/>
          <p:cNvCxnSpPr/>
          <p:nvPr/>
        </p:nvCxnSpPr>
        <p:spPr>
          <a:xfrm>
            <a:off x="1981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64"/>
          <p:cNvCxnSpPr/>
          <p:nvPr/>
        </p:nvCxnSpPr>
        <p:spPr>
          <a:xfrm>
            <a:off x="160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64"/>
          <p:cNvCxnSpPr/>
          <p:nvPr/>
        </p:nvCxnSpPr>
        <p:spPr>
          <a:xfrm>
            <a:off x="1981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64"/>
          <p:cNvCxnSpPr/>
          <p:nvPr/>
        </p:nvCxnSpPr>
        <p:spPr>
          <a:xfrm>
            <a:off x="2362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64"/>
          <p:cNvCxnSpPr/>
          <p:nvPr/>
        </p:nvCxnSpPr>
        <p:spPr>
          <a:xfrm>
            <a:off x="2743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64"/>
          <p:cNvCxnSpPr/>
          <p:nvPr/>
        </p:nvCxnSpPr>
        <p:spPr>
          <a:xfrm>
            <a:off x="3124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64"/>
          <p:cNvCxnSpPr/>
          <p:nvPr/>
        </p:nvCxnSpPr>
        <p:spPr>
          <a:xfrm>
            <a:off x="3505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64"/>
          <p:cNvCxnSpPr/>
          <p:nvPr/>
        </p:nvCxnSpPr>
        <p:spPr>
          <a:xfrm>
            <a:off x="2743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64"/>
          <p:cNvSpPr txBox="1"/>
          <p:nvPr/>
        </p:nvSpPr>
        <p:spPr>
          <a:xfrm>
            <a:off x="1408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42" name="Google Shape;942;p64"/>
          <p:cNvSpPr txBox="1"/>
          <p:nvPr/>
        </p:nvSpPr>
        <p:spPr>
          <a:xfrm>
            <a:off x="2170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43" name="Google Shape;943;p64"/>
          <p:cNvSpPr txBox="1"/>
          <p:nvPr/>
        </p:nvSpPr>
        <p:spPr>
          <a:xfrm>
            <a:off x="27035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944" name="Google Shape;944;p64"/>
          <p:cNvCxnSpPr/>
          <p:nvPr/>
        </p:nvCxnSpPr>
        <p:spPr>
          <a:xfrm>
            <a:off x="3124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64"/>
          <p:cNvCxnSpPr/>
          <p:nvPr/>
        </p:nvCxnSpPr>
        <p:spPr>
          <a:xfrm>
            <a:off x="3886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64"/>
          <p:cNvSpPr txBox="1"/>
          <p:nvPr/>
        </p:nvSpPr>
        <p:spPr>
          <a:xfrm>
            <a:off x="3313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947" name="Google Shape;947;p64"/>
          <p:cNvCxnSpPr/>
          <p:nvPr/>
        </p:nvCxnSpPr>
        <p:spPr>
          <a:xfrm>
            <a:off x="5410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64"/>
          <p:cNvCxnSpPr/>
          <p:nvPr/>
        </p:nvCxnSpPr>
        <p:spPr>
          <a:xfrm>
            <a:off x="3886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64"/>
          <p:cNvCxnSpPr/>
          <p:nvPr/>
        </p:nvCxnSpPr>
        <p:spPr>
          <a:xfrm>
            <a:off x="4267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64"/>
          <p:cNvCxnSpPr/>
          <p:nvPr/>
        </p:nvCxnSpPr>
        <p:spPr>
          <a:xfrm>
            <a:off x="4648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64"/>
          <p:cNvCxnSpPr/>
          <p:nvPr/>
        </p:nvCxnSpPr>
        <p:spPr>
          <a:xfrm>
            <a:off x="5029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64"/>
          <p:cNvCxnSpPr/>
          <p:nvPr/>
        </p:nvCxnSpPr>
        <p:spPr>
          <a:xfrm>
            <a:off x="541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64"/>
          <p:cNvSpPr txBox="1"/>
          <p:nvPr/>
        </p:nvSpPr>
        <p:spPr>
          <a:xfrm>
            <a:off x="4495800" y="3762375"/>
            <a:ext cx="42068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54" name="Google Shape;954;p64"/>
          <p:cNvSpPr txBox="1"/>
          <p:nvPr/>
        </p:nvSpPr>
        <p:spPr>
          <a:xfrm>
            <a:off x="2965450" y="45100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955" name="Google Shape;955;p64"/>
          <p:cNvSpPr txBox="1"/>
          <p:nvPr/>
        </p:nvSpPr>
        <p:spPr>
          <a:xfrm>
            <a:off x="3727450" y="45100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956" name="Google Shape;956;p64"/>
          <p:cNvSpPr txBox="1"/>
          <p:nvPr/>
        </p:nvSpPr>
        <p:spPr>
          <a:xfrm>
            <a:off x="5187950" y="4510088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sp>
        <p:nvSpPr>
          <p:cNvPr id="957" name="Google Shape;957;p64"/>
          <p:cNvSpPr/>
          <p:nvPr/>
        </p:nvSpPr>
        <p:spPr>
          <a:xfrm>
            <a:off x="617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8" name="Google Shape;958;p64"/>
          <p:cNvSpPr/>
          <p:nvPr/>
        </p:nvSpPr>
        <p:spPr>
          <a:xfrm>
            <a:off x="6553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693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60" name="Google Shape;960;p64"/>
          <p:cNvCxnSpPr/>
          <p:nvPr/>
        </p:nvCxnSpPr>
        <p:spPr>
          <a:xfrm>
            <a:off x="541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4"/>
          <p:cNvCxnSpPr/>
          <p:nvPr/>
        </p:nvCxnSpPr>
        <p:spPr>
          <a:xfrm>
            <a:off x="5791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64"/>
          <p:cNvCxnSpPr/>
          <p:nvPr/>
        </p:nvCxnSpPr>
        <p:spPr>
          <a:xfrm>
            <a:off x="6172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4"/>
          <p:cNvCxnSpPr/>
          <p:nvPr/>
        </p:nvCxnSpPr>
        <p:spPr>
          <a:xfrm>
            <a:off x="6553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64"/>
          <p:cNvCxnSpPr/>
          <p:nvPr/>
        </p:nvCxnSpPr>
        <p:spPr>
          <a:xfrm>
            <a:off x="6934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64"/>
          <p:cNvCxnSpPr/>
          <p:nvPr/>
        </p:nvCxnSpPr>
        <p:spPr>
          <a:xfrm>
            <a:off x="7315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64"/>
          <p:cNvCxnSpPr/>
          <p:nvPr/>
        </p:nvCxnSpPr>
        <p:spPr>
          <a:xfrm>
            <a:off x="1219200" y="3748088"/>
            <a:ext cx="6324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4"/>
          <p:cNvCxnSpPr/>
          <p:nvPr/>
        </p:nvCxnSpPr>
        <p:spPr>
          <a:xfrm>
            <a:off x="1219200" y="4357688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4"/>
          <p:cNvCxnSpPr/>
          <p:nvPr/>
        </p:nvCxnSpPr>
        <p:spPr>
          <a:xfrm>
            <a:off x="7315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4"/>
          <p:cNvSpPr txBox="1"/>
          <p:nvPr/>
        </p:nvSpPr>
        <p:spPr>
          <a:xfrm>
            <a:off x="62087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70" name="Google Shape;970;p64"/>
          <p:cNvSpPr txBox="1"/>
          <p:nvPr/>
        </p:nvSpPr>
        <p:spPr>
          <a:xfrm>
            <a:off x="7105650" y="4510088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971" name="Google Shape;971;p64"/>
          <p:cNvSpPr txBox="1"/>
          <p:nvPr/>
        </p:nvSpPr>
        <p:spPr>
          <a:xfrm>
            <a:off x="1828800" y="44958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972" name="Google Shape;972;p64"/>
          <p:cNvSpPr txBox="1"/>
          <p:nvPr/>
        </p:nvSpPr>
        <p:spPr>
          <a:xfrm>
            <a:off x="2514600" y="44958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973" name="Google Shape;973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974" name="Google Shape;974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75" name="Google Shape;975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6"/>
          <p:cNvSpPr txBox="1"/>
          <p:nvPr>
            <p:ph type="title"/>
          </p:nvPr>
        </p:nvSpPr>
        <p:spPr>
          <a:xfrm>
            <a:off x="971600" y="0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Example of Shortest-remaining-time-first</a:t>
            </a:r>
            <a:endParaRPr/>
          </a:p>
        </p:txBody>
      </p:sp>
      <p:sp>
        <p:nvSpPr>
          <p:cNvPr id="982" name="Google Shape;982;p66"/>
          <p:cNvSpPr txBox="1"/>
          <p:nvPr>
            <p:ph idx="1" type="body"/>
          </p:nvPr>
        </p:nvSpPr>
        <p:spPr>
          <a:xfrm>
            <a:off x="387263" y="620688"/>
            <a:ext cx="8424490" cy="5653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lt1"/>
                </a:solidFill>
              </a:rPr>
              <a:t>A	arri </a:t>
            </a:r>
            <a:r>
              <a:rPr i="1" lang="en-US" u="sng"/>
              <a:t>Arrival </a:t>
            </a:r>
            <a:r>
              <a:rPr lang="en-US" u="sng"/>
              <a:t>Time</a:t>
            </a:r>
            <a:r>
              <a:rPr lang="en-US" u="sng">
                <a:solidFill>
                  <a:schemeClr val="lt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9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3</a:t>
            </a:r>
            <a:r>
              <a:rPr lang="en-US"/>
              <a:t>	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0 – P</a:t>
            </a:r>
            <a:r>
              <a:rPr baseline="-25000" lang="en-US"/>
              <a:t>1</a:t>
            </a:r>
            <a:r>
              <a:rPr lang="en-US"/>
              <a:t> gets the CPU      Ready = [(P</a:t>
            </a:r>
            <a:r>
              <a:rPr baseline="-25000" lang="en-US"/>
              <a:t>1</a:t>
            </a:r>
            <a:r>
              <a:rPr lang="en-US"/>
              <a:t>,8)]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1 – P</a:t>
            </a:r>
            <a:r>
              <a:rPr baseline="-25000" lang="en-US"/>
              <a:t>2</a:t>
            </a:r>
            <a:r>
              <a:rPr lang="en-US"/>
              <a:t> arrives –  CPU has P</a:t>
            </a:r>
            <a:r>
              <a:rPr baseline="-25000" lang="en-US"/>
              <a:t>1</a:t>
            </a:r>
            <a:r>
              <a:rPr lang="en-US"/>
              <a:t> with rem. time=7, Ready = [(P</a:t>
            </a:r>
            <a:r>
              <a:rPr baseline="-25000" lang="en-US"/>
              <a:t>2</a:t>
            </a:r>
            <a:r>
              <a:rPr lang="en-US"/>
              <a:t>,4)] – P</a:t>
            </a:r>
            <a:r>
              <a:rPr baseline="-25000" lang="en-US"/>
              <a:t>2</a:t>
            </a:r>
            <a:r>
              <a:rPr lang="en-US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2 – P</a:t>
            </a:r>
            <a:r>
              <a:rPr baseline="-25000" lang="en-US"/>
              <a:t>3</a:t>
            </a:r>
            <a:r>
              <a:rPr lang="en-US"/>
              <a:t> arrives – CPU has P</a:t>
            </a:r>
            <a:r>
              <a:rPr baseline="-25000" lang="en-US"/>
              <a:t>2</a:t>
            </a:r>
            <a:r>
              <a:rPr lang="en-US"/>
              <a:t> with rem. time = 3, Ready = [(P</a:t>
            </a:r>
            <a:r>
              <a:rPr baseline="-25000" lang="en-US"/>
              <a:t>1</a:t>
            </a:r>
            <a:r>
              <a:rPr lang="en-US"/>
              <a:t>,7)(P</a:t>
            </a:r>
            <a:r>
              <a:rPr baseline="-25000" lang="en-US"/>
              <a:t>3</a:t>
            </a:r>
            <a:r>
              <a:rPr lang="en-US"/>
              <a:t>,9)]     – P2 continues with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3- P4 arrives- CPU has P2 with rem. time=2, Ready =[(P</a:t>
            </a:r>
            <a:r>
              <a:rPr baseline="-25000" lang="en-US"/>
              <a:t>1</a:t>
            </a:r>
            <a:r>
              <a:rPr lang="en-US"/>
              <a:t>,7)(P</a:t>
            </a:r>
            <a:r>
              <a:rPr baseline="-25000" lang="en-US"/>
              <a:t>3</a:t>
            </a:r>
            <a:r>
              <a:rPr lang="en-US"/>
              <a:t>,9)(P4,5)] – P2 continues with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P2 finishes, then  P4 executes , then P1 , finally P3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Preemptive </a:t>
            </a:r>
            <a:r>
              <a:rPr lang="en-US"/>
              <a:t>SJF Gantt Chart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[(10-1)+(1-1)+(17-2)+(5-3)]/4 = 26/4 = 6.5 msec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aseline="-25000" i="1"/>
          </a:p>
        </p:txBody>
      </p:sp>
      <p:sp>
        <p:nvSpPr>
          <p:cNvPr id="983" name="Google Shape;983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984" name="Google Shape;984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85" name="Google Shape;985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6" name="Google Shape;98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4797152"/>
            <a:ext cx="7164288" cy="880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7"/>
          <p:cNvSpPr txBox="1"/>
          <p:nvPr>
            <p:ph type="title"/>
          </p:nvPr>
        </p:nvSpPr>
        <p:spPr>
          <a:xfrm>
            <a:off x="685800" y="152400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Estimating the Length of Next CPU Burst</a:t>
            </a:r>
            <a:endParaRPr/>
          </a:p>
        </p:txBody>
      </p:sp>
      <p:sp>
        <p:nvSpPr>
          <p:cNvPr id="993" name="Google Shape;993;p67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Problem with SJF: It is very difficult to know exactly the length of the next CPU burst.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Idea:</a:t>
            </a:r>
            <a:r>
              <a:rPr lang="en-US" sz="2400"/>
              <a:t> Based on the observations in the recent past, we can try to </a:t>
            </a:r>
            <a:r>
              <a:rPr i="1" lang="en-US" sz="2400"/>
              <a:t>predict</a:t>
            </a:r>
            <a:r>
              <a:rPr lang="en-US" sz="2400"/>
              <a:t>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 sz="2400"/>
          </a:p>
        </p:txBody>
      </p:sp>
      <p:sp>
        <p:nvSpPr>
          <p:cNvPr id="994" name="Google Shape;994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995" name="Google Shape;995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96" name="Google Shape;996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8"/>
          <p:cNvSpPr txBox="1"/>
          <p:nvPr>
            <p:ph type="title"/>
          </p:nvPr>
        </p:nvSpPr>
        <p:spPr>
          <a:xfrm>
            <a:off x="685800" y="152400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Estimating the Length of Next CPU Burst</a:t>
            </a:r>
            <a:endParaRPr/>
          </a:p>
        </p:txBody>
      </p:sp>
      <p:sp>
        <p:nvSpPr>
          <p:cNvPr id="1003" name="Google Shape;1003;p68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/>
              <a:t>Exponential averaging: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 u="sng"/>
              <a:t>n</a:t>
            </a:r>
            <a:r>
              <a:rPr lang="en-US" sz="2400" u="sng"/>
              <a:t>th CPU burst = </a:t>
            </a:r>
            <a:r>
              <a:rPr i="1" lang="en-US" sz="2400" u="sng"/>
              <a:t>t</a:t>
            </a:r>
            <a:r>
              <a:rPr baseline="-25000" i="1" lang="en-US" sz="2400" u="sng"/>
              <a:t>n</a:t>
            </a:r>
            <a:endParaRPr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the average of all past bursts </a:t>
            </a:r>
            <a:r>
              <a:rPr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/>
              <a:t>n</a:t>
            </a:r>
            <a:r>
              <a:rPr lang="en-US" sz="2400"/>
              <a:t>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using a weighting factor 0&lt;=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/>
              <a:t>&lt;=1, </a:t>
            </a:r>
            <a:endParaRPr/>
          </a:p>
          <a:p>
            <a:pPr indent="-342900" lvl="0" marL="342900" rtl="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next CPU burst is: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n+1</a:t>
            </a:r>
            <a:r>
              <a:rPr lang="en-US" sz="2400">
                <a:solidFill>
                  <a:schemeClr val="folHlink"/>
                </a:solidFill>
              </a:rPr>
              <a:t> =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</a:rPr>
              <a:t> </a:t>
            </a:r>
            <a:r>
              <a:rPr i="1" lang="en-US" sz="2400">
                <a:solidFill>
                  <a:schemeClr val="folHlink"/>
                </a:solidFill>
              </a:rPr>
              <a:t>t</a:t>
            </a:r>
            <a:r>
              <a:rPr baseline="-25000" i="1" lang="en-US" sz="2400">
                <a:solidFill>
                  <a:schemeClr val="folHlink"/>
                </a:solidFill>
              </a:rPr>
              <a:t>n</a:t>
            </a:r>
            <a:r>
              <a:rPr lang="en-US" sz="2400">
                <a:solidFill>
                  <a:schemeClr val="folHlink"/>
                </a:solidFill>
              </a:rPr>
              <a:t> + (1-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</a:rPr>
              <a:t>) </a:t>
            </a:r>
            <a:r>
              <a:rPr i="1" lang="en-US" sz="33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3300">
                <a:solidFill>
                  <a:schemeClr val="folHlink"/>
                </a:solidFill>
              </a:rPr>
              <a:t>n</a:t>
            </a:r>
            <a:r>
              <a:rPr i="1" lang="en-US" sz="3300"/>
              <a:t>.</a:t>
            </a:r>
            <a:endParaRPr sz="33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004" name="Google Shape;1004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05" name="Google Shape;1005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06" name="Google Shape;1006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9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013" name="Google Shape;1013;p69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This formula defines an Exponential average of the measured lengths of previous CPU bursts.</a:t>
            </a:r>
            <a:endParaRPr i="1"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t</a:t>
            </a:r>
            <a:r>
              <a:rPr baseline="-25000" i="1" lang="en-US" sz="2200"/>
              <a:t>n</a:t>
            </a:r>
            <a:r>
              <a:rPr i="1" lang="en-US" sz="2200"/>
              <a:t>=</a:t>
            </a:r>
            <a:r>
              <a:rPr lang="en-US" sz="2200"/>
              <a:t> nth CPU burst , contains most recent information, 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200"/>
              <a:t>n </a:t>
            </a:r>
            <a:r>
              <a:rPr i="1" lang="en-US" sz="2200"/>
              <a:t>=</a:t>
            </a:r>
            <a:r>
              <a:rPr lang="en-US" sz="2200"/>
              <a:t>the average of all past bursts</a:t>
            </a:r>
            <a:r>
              <a:rPr baseline="-25000" i="1" lang="en-US" sz="2200"/>
              <a:t>, </a:t>
            </a:r>
            <a:r>
              <a:rPr lang="en-US" sz="2200"/>
              <a:t>contains past history, 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lang="en-US" sz="2200"/>
              <a:t>controls the relative weight of recent and past history in our prediction.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expect that the next CPU burst will be similar in length to the previous ones.</a:t>
            </a:r>
            <a:endParaRPr sz="22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600"/>
              <a:buChar char="•"/>
            </a:pP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n+1</a:t>
            </a:r>
            <a:r>
              <a:rPr lang="en-US" sz="2600">
                <a:solidFill>
                  <a:schemeClr val="folHlink"/>
                </a:solidFill>
              </a:rPr>
              <a:t> =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 </a:t>
            </a:r>
            <a:r>
              <a:rPr i="1" lang="en-US" sz="2600">
                <a:solidFill>
                  <a:schemeClr val="folHlink"/>
                </a:solidFill>
              </a:rPr>
              <a:t>t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lang="en-US" sz="2600">
                <a:solidFill>
                  <a:schemeClr val="folHlink"/>
                </a:solidFill>
              </a:rPr>
              <a:t> + (1-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) </a:t>
            </a: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i="1" lang="en-US" sz="2600"/>
              <a:t>.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014" name="Google Shape;1014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15" name="Google Shape;1015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16" name="Google Shape;1016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0"/>
          <p:cNvSpPr txBox="1"/>
          <p:nvPr>
            <p:ph type="title"/>
          </p:nvPr>
        </p:nvSpPr>
        <p:spPr>
          <a:xfrm>
            <a:off x="1362075" y="201613"/>
            <a:ext cx="7451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Examples of Exponential Averaging</a:t>
            </a:r>
            <a:endParaRPr/>
          </a:p>
        </p:txBody>
      </p:sp>
      <p:sp>
        <p:nvSpPr>
          <p:cNvPr id="1023" name="Google Shape;1023;p70"/>
          <p:cNvSpPr txBox="1"/>
          <p:nvPr>
            <p:ph idx="1" type="body"/>
          </p:nvPr>
        </p:nvSpPr>
        <p:spPr>
          <a:xfrm>
            <a:off x="908050" y="1233488"/>
            <a:ext cx="72453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α =0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τ</a:t>
            </a:r>
            <a:r>
              <a:rPr baseline="-25000" lang="en-US"/>
              <a:t>n+1</a:t>
            </a:r>
            <a:r>
              <a:rPr lang="en-US"/>
              <a:t> = τ</a:t>
            </a:r>
            <a:r>
              <a:rPr baseline="-25000" lang="en-US"/>
              <a:t>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Recent history does not matter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α =1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τ</a:t>
            </a:r>
            <a:r>
              <a:rPr baseline="-25000" lang="en-US"/>
              <a:t>n+1</a:t>
            </a:r>
            <a:r>
              <a:rPr lang="en-US"/>
              <a:t> =  </a:t>
            </a:r>
            <a:r>
              <a:rPr i="1" lang="en-US"/>
              <a:t>t</a:t>
            </a:r>
            <a:r>
              <a:rPr baseline="-25000" lang="en-US"/>
              <a:t>n</a:t>
            </a:r>
            <a:endParaRPr baseline="-25000"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Only the most recent CPU burst matters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history is assumed to be old and irrevelant.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24" name="Google Shape;1024;p70"/>
          <p:cNvSpPr/>
          <p:nvPr/>
        </p:nvSpPr>
        <p:spPr>
          <a:xfrm>
            <a:off x="1371122" y="4725144"/>
            <a:ext cx="4208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+ (1-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1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031" name="Google Shape;1031;p71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More commonly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α=1/2,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 recent history and past history is equally weighted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initial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0</a:t>
            </a:r>
            <a:r>
              <a:rPr i="1" lang="en-US" sz="2400">
                <a:solidFill>
                  <a:schemeClr val="folHlink"/>
                </a:solidFill>
              </a:rPr>
              <a:t> </a:t>
            </a:r>
            <a:r>
              <a:rPr lang="en-US" sz="2400"/>
              <a:t>can be defined as a constant or as an overall system average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600"/>
              <a:buChar char="•"/>
            </a:pP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n+1</a:t>
            </a:r>
            <a:r>
              <a:rPr lang="en-US" sz="2600">
                <a:solidFill>
                  <a:schemeClr val="folHlink"/>
                </a:solidFill>
              </a:rPr>
              <a:t> =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 </a:t>
            </a:r>
            <a:r>
              <a:rPr i="1" lang="en-US" sz="2600">
                <a:solidFill>
                  <a:schemeClr val="folHlink"/>
                </a:solidFill>
              </a:rPr>
              <a:t>t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lang="en-US" sz="2600">
                <a:solidFill>
                  <a:schemeClr val="folHlink"/>
                </a:solidFill>
              </a:rPr>
              <a:t> + (1-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) </a:t>
            </a: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i="1" lang="en-US" sz="2600"/>
              <a:t>.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032" name="Google Shape;1032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33" name="Google Shape;1033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34" name="Google Shape;1034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2"/>
          <p:cNvSpPr txBox="1"/>
          <p:nvPr>
            <p:ph type="title"/>
          </p:nvPr>
        </p:nvSpPr>
        <p:spPr>
          <a:xfrm>
            <a:off x="1362075" y="201613"/>
            <a:ext cx="7451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Examples of Exponential Averaging</a:t>
            </a:r>
            <a:endParaRPr/>
          </a:p>
        </p:txBody>
      </p:sp>
      <p:sp>
        <p:nvSpPr>
          <p:cNvPr id="1041" name="Google Shape;1041;p72"/>
          <p:cNvSpPr txBox="1"/>
          <p:nvPr>
            <p:ph idx="1" type="body"/>
          </p:nvPr>
        </p:nvSpPr>
        <p:spPr>
          <a:xfrm>
            <a:off x="908050" y="1233488"/>
            <a:ext cx="72453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Understand the behavior of the exponential average,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We can expand the formula for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n+1</a:t>
            </a:r>
            <a:r>
              <a:rPr lang="en-US" sz="2400"/>
              <a:t> by substituting for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</a:t>
            </a:r>
            <a:r>
              <a:rPr i="1" lang="en-US" sz="2400"/>
              <a:t> ,</a:t>
            </a:r>
            <a:r>
              <a:rPr lang="en-US" sz="2400"/>
              <a:t>If we expand the formula, we get: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τ</a:t>
            </a:r>
            <a:r>
              <a:rPr baseline="-25000" i="1" lang="en-US"/>
              <a:t>n</a:t>
            </a:r>
            <a:r>
              <a:rPr baseline="-25000" lang="en-US"/>
              <a:t>+1</a:t>
            </a:r>
            <a:r>
              <a:rPr lang="en-US"/>
              <a:t> = α t</a:t>
            </a:r>
            <a:r>
              <a:rPr baseline="-25000" i="1" lang="en-US"/>
              <a:t>n</a:t>
            </a:r>
            <a:r>
              <a:rPr lang="en-US"/>
              <a:t>+(1</a:t>
            </a:r>
            <a:r>
              <a:rPr i="1" lang="en-US"/>
              <a:t> - </a:t>
            </a:r>
            <a:r>
              <a:rPr lang="en-US"/>
              <a:t>α</a:t>
            </a:r>
            <a:r>
              <a:rPr i="1" lang="en-US"/>
              <a:t>)</a:t>
            </a:r>
            <a:r>
              <a:rPr lang="en-US"/>
              <a:t>α </a:t>
            </a:r>
            <a:r>
              <a:rPr i="1" lang="en-US"/>
              <a:t>t</a:t>
            </a:r>
            <a:r>
              <a:rPr baseline="-25000" i="1" lang="en-US"/>
              <a:t>n</a:t>
            </a:r>
            <a:r>
              <a:rPr i="1" lang="en-US"/>
              <a:t> </a:t>
            </a:r>
            <a:r>
              <a:rPr baseline="-25000" lang="en-US"/>
              <a:t>-1</a:t>
            </a:r>
            <a:r>
              <a:rPr baseline="-25000" i="1" lang="en-US"/>
              <a:t> </a:t>
            </a:r>
            <a:r>
              <a:rPr lang="en-US"/>
              <a:t>+ …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            </a:t>
            </a:r>
            <a:r>
              <a:rPr i="1" lang="en-US"/>
              <a:t>+(</a:t>
            </a:r>
            <a:r>
              <a:rPr lang="en-US"/>
              <a:t>1 - α </a:t>
            </a:r>
            <a:r>
              <a:rPr i="1" lang="en-US"/>
              <a:t>)</a:t>
            </a:r>
            <a:r>
              <a:rPr baseline="30000" i="1" lang="en-US"/>
              <a:t>j</a:t>
            </a:r>
            <a:r>
              <a:rPr baseline="30000" lang="en-US"/>
              <a:t> </a:t>
            </a:r>
            <a:r>
              <a:rPr lang="en-US"/>
              <a:t>α </a:t>
            </a:r>
            <a:r>
              <a:rPr i="1" lang="en-US"/>
              <a:t>t</a:t>
            </a:r>
            <a:r>
              <a:rPr baseline="-25000" i="1" lang="en-US"/>
              <a:t>n</a:t>
            </a:r>
            <a:r>
              <a:rPr lang="en-US"/>
              <a:t> </a:t>
            </a:r>
            <a:r>
              <a:rPr baseline="-25000" lang="en-US"/>
              <a:t>-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+ …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            </a:t>
            </a:r>
            <a:r>
              <a:rPr i="1" lang="en-US"/>
              <a:t>+(</a:t>
            </a:r>
            <a:r>
              <a:rPr lang="en-US"/>
              <a:t>1 - α </a:t>
            </a:r>
            <a:r>
              <a:rPr i="1" lang="en-US"/>
              <a:t>)</a:t>
            </a:r>
            <a:r>
              <a:rPr baseline="30000" i="1" lang="en-US"/>
              <a:t>n</a:t>
            </a:r>
            <a:r>
              <a:rPr baseline="30000" lang="en-US"/>
              <a:t> +1 </a:t>
            </a:r>
            <a:r>
              <a:rPr lang="en-US"/>
              <a:t>τ</a:t>
            </a:r>
            <a:r>
              <a:rPr baseline="-25000" lang="en-US"/>
              <a:t>0</a:t>
            </a:r>
            <a:br>
              <a:rPr baseline="-25000" lang="en-US"/>
            </a:br>
            <a:endParaRPr baseline="-250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Since both α and (1 - α) are less than or equal to 1, each successive term has less weight than its predecessor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3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048" name="Google Shape;1048;p73"/>
          <p:cNvSpPr txBox="1"/>
          <p:nvPr>
            <p:ph idx="1" type="body"/>
          </p:nvPr>
        </p:nvSpPr>
        <p:spPr>
          <a:xfrm>
            <a:off x="949263" y="836712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Figure shows exponential average with 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α=1/2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i="1" lang="en-US" sz="20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000">
                <a:solidFill>
                  <a:schemeClr val="folHlink"/>
                </a:solidFill>
              </a:rPr>
              <a:t>0</a:t>
            </a:r>
            <a:r>
              <a:rPr i="1" lang="en-US" sz="2000">
                <a:solidFill>
                  <a:schemeClr val="folHlink"/>
                </a:solidFill>
              </a:rPr>
              <a:t>=10</a:t>
            </a:r>
            <a:r>
              <a:rPr i="1" lang="en-US" sz="2200"/>
              <a:t> 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pic>
        <p:nvPicPr>
          <p:cNvPr id="1049" name="Google Shape;104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428" y="4005063"/>
            <a:ext cx="7031964" cy="14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51" name="Google Shape;1051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52" name="Google Shape;1052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3" name="Google Shape;1053;p73"/>
          <p:cNvPicPr preferRelativeResize="0"/>
          <p:nvPr/>
        </p:nvPicPr>
        <p:blipFill rotWithShape="1">
          <a:blip r:embed="rId4">
            <a:alphaModFix/>
          </a:blip>
          <a:srcRect b="18225" l="23914" r="39404" t="30224"/>
          <a:stretch/>
        </p:blipFill>
        <p:spPr>
          <a:xfrm>
            <a:off x="1309936" y="1268760"/>
            <a:ext cx="6768752" cy="2509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74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060" name="Google Shape;1060;p74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priority number (integer) is associated with each process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The CPU is allocated to the process with the highest priority</a:t>
            </a:r>
            <a:r>
              <a:rPr lang="en-US" sz="2400"/>
              <a:t> (smallest integer ≡ highest priority)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061" name="Google Shape;1061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62" name="Google Shape;1062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63" name="Google Shape;1063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5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070" name="Google Shape;1070;p75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SJF is a special case of priority scheduling: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process priority = the </a:t>
            </a:r>
            <a:r>
              <a:rPr i="1" lang="en-US" sz="2400"/>
              <a:t>inverse of remaining CPU time </a:t>
            </a:r>
            <a:endParaRPr i="1"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larger the CPU burst, the lower the priority and vice versa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Equal priority processes are scheduled in FCFS order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FCFS can be used to break ties.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071" name="Google Shape;1071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72" name="Google Shape;1072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73" name="Google Shape;1073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4" name="Google Shape;1074;p75"/>
          <p:cNvSpPr/>
          <p:nvPr/>
        </p:nvSpPr>
        <p:spPr>
          <a:xfrm>
            <a:off x="899592" y="3717032"/>
            <a:ext cx="7056784" cy="57606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6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081" name="Google Shape;1081;p76"/>
          <p:cNvSpPr txBox="1"/>
          <p:nvPr>
            <p:ph idx="1" type="body"/>
          </p:nvPr>
        </p:nvSpPr>
        <p:spPr>
          <a:xfrm>
            <a:off x="882650" y="1233488"/>
            <a:ext cx="7423150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We discuss in terms of High, low priority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Priority are fixed range of numbers such as 0 to 7 or 0 to 4,095.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 agreement on whether 0 is highest /lowest.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Some systems use lower numbers to represent low priority other use low numbers for high priority.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Here , we use low numbers for high priority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rgbClr val="3366FF"/>
              </a:solidFill>
            </a:endParaRPr>
          </a:p>
        </p:txBody>
      </p:sp>
      <p:sp>
        <p:nvSpPr>
          <p:cNvPr id="1082" name="Google Shape;1082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83" name="Google Shape;1083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84" name="Google Shape;1084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77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091" name="Google Shape;1091;p77"/>
          <p:cNvSpPr txBox="1"/>
          <p:nvPr>
            <p:ph idx="1" type="body"/>
          </p:nvPr>
        </p:nvSpPr>
        <p:spPr>
          <a:xfrm>
            <a:off x="882650" y="836712"/>
            <a:ext cx="742315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Priorities can be defined: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Internally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externally</a:t>
            </a:r>
            <a:endParaRPr/>
          </a:p>
          <a:p>
            <a:pPr indent="0" lvl="1" marL="74295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sz="8000"/>
          </a:p>
          <a:p>
            <a:pPr indent="0" lvl="0" marL="3429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b="1" sz="8000">
              <a:solidFill>
                <a:srgbClr val="3366FF"/>
              </a:solidFill>
            </a:endParaRPr>
          </a:p>
        </p:txBody>
      </p:sp>
      <p:sp>
        <p:nvSpPr>
          <p:cNvPr id="1092" name="Google Shape;109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093" name="Google Shape;1093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94" name="Google Shape;1094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8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01" name="Google Shape;1101;p78"/>
          <p:cNvSpPr txBox="1"/>
          <p:nvPr>
            <p:ph idx="1" type="body"/>
          </p:nvPr>
        </p:nvSpPr>
        <p:spPr>
          <a:xfrm>
            <a:off x="882650" y="836712"/>
            <a:ext cx="742315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2639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/>
              <a:t>Internally defined-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Use Some measurable quantities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Eg- </a:t>
            </a:r>
            <a:r>
              <a:rPr b="1" lang="en-US" sz="8000"/>
              <a:t>time limits, memory requirements, the number of open files, ratio of average I/O burst to average CPU burst have been used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/>
              <a:t>Externally defined-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Set by criteria that are external to the OS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Importance of the process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Type and amount of fund being paid for computer use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The Department sponsoring the work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Often political factors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8000">
              <a:solidFill>
                <a:srgbClr val="3366FF"/>
              </a:solidFill>
            </a:endParaRPr>
          </a:p>
        </p:txBody>
      </p:sp>
      <p:sp>
        <p:nvSpPr>
          <p:cNvPr id="1102" name="Google Shape;1102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03" name="Google Shape;1103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04" name="Google Shape;1104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9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11" name="Google Shape;1111;p79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112" name="Google Shape;1112;p79"/>
          <p:cNvSpPr txBox="1"/>
          <p:nvPr/>
        </p:nvSpPr>
        <p:spPr>
          <a:xfrm>
            <a:off x="683568" y="1340768"/>
            <a:ext cx="741682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can be 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pre-emptive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pre-emptive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arrives at the ready queue,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priority is compared with priority of the current running process.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14" name="Google Shape;1114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15" name="Google Shape;1115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6" name="Google Shape;1116;p79"/>
          <p:cNvSpPr/>
          <p:nvPr/>
        </p:nvSpPr>
        <p:spPr>
          <a:xfrm>
            <a:off x="251520" y="2636912"/>
            <a:ext cx="8748464" cy="16068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0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23" name="Google Shape;1123;p80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124" name="Google Shape;1124;p80"/>
          <p:cNvSpPr txBox="1"/>
          <p:nvPr/>
        </p:nvSpPr>
        <p:spPr>
          <a:xfrm>
            <a:off x="683568" y="1340768"/>
            <a:ext cx="7416824" cy="4401205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285750" lvl="1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priority of the newly arrived process is higher than the priority of the currently running process.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preemptive priority scheduling algorithm will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preempt the CPU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non-preemptive priority scheduling algorithm will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simply put the new process at the head of the ready queue , 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26" name="Google Shape;1126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27" name="Google Shape;1127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1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34" name="Google Shape;1134;p81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Problem ≡ </a:t>
            </a:r>
            <a:r>
              <a:rPr b="1" lang="en-US">
                <a:solidFill>
                  <a:srgbClr val="3366FF"/>
                </a:solidFill>
              </a:rPr>
              <a:t>Starvatio</a:t>
            </a:r>
            <a:r>
              <a:rPr b="1" lang="en-US">
                <a:solidFill>
                  <a:schemeClr val="accent1"/>
                </a:solidFill>
              </a:rPr>
              <a:t>n/Indefinite blocking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921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Solution ≡ </a:t>
            </a:r>
            <a:r>
              <a:rPr b="1" lang="en-US">
                <a:solidFill>
                  <a:srgbClr val="3366FF"/>
                </a:solidFill>
              </a:rPr>
              <a:t>Aging</a:t>
            </a:r>
            <a:r>
              <a:rPr b="1" lang="en-US"/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135" name="Google Shape;1135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36" name="Google Shape;1136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37" name="Google Shape;1137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2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44" name="Google Shape;1144;p82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Problem ≡ </a:t>
            </a:r>
            <a:r>
              <a:rPr b="1" lang="en-US" sz="2800">
                <a:solidFill>
                  <a:srgbClr val="3366FF"/>
                </a:solidFill>
              </a:rPr>
              <a:t>Starvatio</a:t>
            </a:r>
            <a:r>
              <a:rPr b="1" lang="en-US" sz="2800">
                <a:solidFill>
                  <a:schemeClr val="accent1"/>
                </a:solidFill>
              </a:rPr>
              <a:t>n/Indefinite blocking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Low priority processes may never execute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Leave some low priority processes waiting indefinitely for the CPU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98450" lvl="0" marL="342900" rtl="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3366FF"/>
              </a:solidFill>
            </a:endParaRPr>
          </a:p>
        </p:txBody>
      </p:sp>
      <p:sp>
        <p:nvSpPr>
          <p:cNvPr id="1145" name="Google Shape;1145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46" name="Google Shape;1146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47" name="Google Shape;1147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3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154" name="Google Shape;1154;p83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2921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Solution ≡ </a:t>
            </a:r>
            <a:r>
              <a:rPr b="1" lang="en-US" sz="2400">
                <a:solidFill>
                  <a:srgbClr val="3366FF"/>
                </a:solidFill>
              </a:rPr>
              <a:t>Aging</a:t>
            </a:r>
            <a:r>
              <a:rPr b="1" lang="en-US" sz="2400"/>
              <a:t> </a:t>
            </a:r>
            <a:r>
              <a:rPr lang="en-US" sz="2400"/>
              <a:t>– as time progresses increase the priority of the process that wait in the system for a long time.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eg- If priorities range from 127 (low) to 0 (high), decrement the priority of a waiting process by 1 every 15 minutes.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155" name="Google Shape;1155;p83"/>
          <p:cNvSpPr/>
          <p:nvPr/>
        </p:nvSpPr>
        <p:spPr>
          <a:xfrm>
            <a:off x="575048" y="1484784"/>
            <a:ext cx="8568952" cy="11521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57" name="Google Shape;1157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58" name="Google Shape;1158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5"/>
          <p:cNvSpPr txBox="1"/>
          <p:nvPr>
            <p:ph type="title"/>
          </p:nvPr>
        </p:nvSpPr>
        <p:spPr>
          <a:xfrm>
            <a:off x="467544" y="0"/>
            <a:ext cx="8147248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Example of Non Pre-emptive Priority Scheduling</a:t>
            </a:r>
            <a:endParaRPr sz="2400"/>
          </a:p>
        </p:txBody>
      </p:sp>
      <p:sp>
        <p:nvSpPr>
          <p:cNvPr id="1165" name="Google Shape;1165;p85"/>
          <p:cNvSpPr txBox="1"/>
          <p:nvPr>
            <p:ph idx="1" type="body"/>
          </p:nvPr>
        </p:nvSpPr>
        <p:spPr>
          <a:xfrm>
            <a:off x="806450" y="620688"/>
            <a:ext cx="833755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</a:t>
            </a:r>
            <a:r>
              <a:rPr lang="en-US" u="sng"/>
              <a:t>Process                  Burst Time</a:t>
            </a:r>
            <a:r>
              <a:rPr lang="en-US" u="sng">
                <a:solidFill>
                  <a:schemeClr val="lt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Priority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1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i="1" lang="en-US"/>
              <a:t>P</a:t>
            </a:r>
            <a:r>
              <a:rPr baseline="-25000" i="1" lang="en-US"/>
              <a:t>5	</a:t>
            </a:r>
            <a:r>
              <a:rPr lang="en-US"/>
              <a:t>5	2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Priority scheduling Gantt Chart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Waiting Time of Processes-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P1=6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P2=0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P3=16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P4=18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P5=1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=(6+0+16+18+1)/5=41/5=8.2 msec</a:t>
            </a:r>
            <a:endParaRPr baseline="-25000" i="1"/>
          </a:p>
        </p:txBody>
      </p:sp>
      <p:grpSp>
        <p:nvGrpSpPr>
          <p:cNvPr id="1166" name="Google Shape;1166;p85"/>
          <p:cNvGrpSpPr/>
          <p:nvPr/>
        </p:nvGrpSpPr>
        <p:grpSpPr>
          <a:xfrm>
            <a:off x="1153577" y="2780928"/>
            <a:ext cx="6134721" cy="986015"/>
            <a:chOff x="1187624" y="3212976"/>
            <a:chExt cx="6134721" cy="986015"/>
          </a:xfrm>
        </p:grpSpPr>
        <p:pic>
          <p:nvPicPr>
            <p:cNvPr id="1167" name="Google Shape;1167;p85"/>
            <p:cNvPicPr preferRelativeResize="0"/>
            <p:nvPr/>
          </p:nvPicPr>
          <p:blipFill rotWithShape="1">
            <a:blip r:embed="rId3">
              <a:alphaModFix/>
            </a:blip>
            <a:srcRect b="68076" l="0" r="52849" t="18445"/>
            <a:stretch/>
          </p:blipFill>
          <p:spPr>
            <a:xfrm>
              <a:off x="1187624" y="3212976"/>
              <a:ext cx="6134721" cy="986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85"/>
            <p:cNvSpPr txBox="1"/>
            <p:nvPr/>
          </p:nvSpPr>
          <p:spPr>
            <a:xfrm>
              <a:off x="1409115" y="3560274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9" name="Google Shape;1169;p85"/>
          <p:cNvSpPr txBox="1"/>
          <p:nvPr/>
        </p:nvSpPr>
        <p:spPr>
          <a:xfrm>
            <a:off x="2231740" y="312822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71" name="Google Shape;1171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72" name="Google Shape;1172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7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179" name="Google Shape;1179;p87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66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180" name="Google Shape;1180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81" name="Google Shape;1181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82" name="Google Shape;1182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3" name="Google Shape;1183;p87"/>
          <p:cNvSpPr/>
          <p:nvPr/>
        </p:nvSpPr>
        <p:spPr>
          <a:xfrm>
            <a:off x="3525285" y="548680"/>
            <a:ext cx="561662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time=0, P1 arrives with the burst time of 1 units and priority 2.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no other process is available hence this will be scheduled till next job arrives or its completion (whichever is lesser).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Queue={(P1,BT=1,PR=2)}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4" name="Google Shape;118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3102124"/>
            <a:ext cx="87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7"/>
          <p:cNvSpPr/>
          <p:nvPr/>
        </p:nvSpPr>
        <p:spPr>
          <a:xfrm>
            <a:off x="321726" y="4005064"/>
            <a:ext cx="835292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time=1, P2 arrives.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other process is available at this time hence the Operating system has to schedule P2 regardless of the priority assigned to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Queue={(P2,BT=7,PR=6)}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6" name="Google Shape;1186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58" y="5754282"/>
            <a:ext cx="17621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87"/>
          <p:cNvSpPr/>
          <p:nvPr/>
        </p:nvSpPr>
        <p:spPr>
          <a:xfrm>
            <a:off x="1927150" y="476672"/>
            <a:ext cx="700633" cy="1584176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7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88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195" name="Google Shape;1195;p88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1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196" name="Google Shape;1196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197" name="Google Shape;1197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98" name="Google Shape;1198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9" name="Google Shape;1199;p88"/>
          <p:cNvSpPr/>
          <p:nvPr/>
        </p:nvSpPr>
        <p:spPr>
          <a:xfrm>
            <a:off x="3851920" y="950530"/>
            <a:ext cx="504056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 arrives , the priority of P3 is higher to P2.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Queue={(P3,BT=3,PR=3)}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with Remaining Time=6,PR=6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is Pre-empted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 is selected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BT=6,PR=6)}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0" name="Google Shape;120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5680670"/>
            <a:ext cx="23431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88"/>
          <p:cNvSpPr/>
          <p:nvPr/>
        </p:nvSpPr>
        <p:spPr>
          <a:xfrm>
            <a:off x="107504" y="1746394"/>
            <a:ext cx="3134429" cy="818510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8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9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209" name="Google Shape;1209;p89"/>
          <p:cNvGraphicFramePr/>
          <p:nvPr/>
        </p:nvGraphicFramePr>
        <p:xfrm>
          <a:off x="323528" y="620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999850"/>
                <a:gridCol w="895725"/>
                <a:gridCol w="824150"/>
                <a:gridCol w="880675"/>
              </a:tblGrid>
              <a:tr h="60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210" name="Google Shape;1210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11" name="Google Shape;1211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12" name="Google Shape;1212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3" name="Google Shape;1213;p89"/>
          <p:cNvSpPr/>
          <p:nvPr/>
        </p:nvSpPr>
        <p:spPr>
          <a:xfrm>
            <a:off x="323528" y="3803795"/>
            <a:ext cx="8496944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execution of P3, three more processes P4, P5 and P6 becomes available.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(P5,BT=5,PR=4), (P6,BT=15,PR=10)}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all these three have the priority lower to P3,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pre-emption, P3 continues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t=5, P3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4" name="Google Shape;1214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040" y="2010358"/>
            <a:ext cx="31146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9"/>
          <p:cNvSpPr/>
          <p:nvPr/>
        </p:nvSpPr>
        <p:spPr>
          <a:xfrm>
            <a:off x="127138" y="1916832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89"/>
          <p:cNvSpPr/>
          <p:nvPr/>
        </p:nvSpPr>
        <p:spPr>
          <a:xfrm>
            <a:off x="3454784" y="112474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89"/>
          <p:cNvSpPr/>
          <p:nvPr/>
        </p:nvSpPr>
        <p:spPr>
          <a:xfrm>
            <a:off x="3454784" y="191683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90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224" name="Google Shape;1224;p90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7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225" name="Google Shape;1225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26" name="Google Shape;1226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27" name="Google Shape;1227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8" name="Google Shape;122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29200"/>
            <a:ext cx="3384376" cy="5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0"/>
          <p:cNvSpPr/>
          <p:nvPr/>
        </p:nvSpPr>
        <p:spPr>
          <a:xfrm>
            <a:off x="3635896" y="439876"/>
            <a:ext cx="5508104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(P5,BT=5,PR=4),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P5 will be scheduled with the priority highest among the available processes.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execution of P5, all the processes got available in the ready queue. At this point, the algorithm will start behaving as Non Preemptive Priority Scheduling.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t=10, P5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P4 selected with highest priority in ready queue and will be executed till the completion.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t=15, P7 arrives, with lower priority, P4 continues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t=16, P4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90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90"/>
          <p:cNvSpPr/>
          <p:nvPr/>
        </p:nvSpPr>
        <p:spPr>
          <a:xfrm>
            <a:off x="3059832" y="124959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90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90"/>
          <p:cNvSpPr/>
          <p:nvPr/>
        </p:nvSpPr>
        <p:spPr>
          <a:xfrm>
            <a:off x="3059832" y="312180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0"/>
          <p:cNvSpPr/>
          <p:nvPr/>
        </p:nvSpPr>
        <p:spPr>
          <a:xfrm>
            <a:off x="3059832" y="2708920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1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241" name="Google Shape;1241;p91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7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242" name="Google Shape;1242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43" name="Google Shape;1243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44" name="Google Shape;1244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5" name="Google Shape;1245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997" y="3419754"/>
            <a:ext cx="5616624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91"/>
          <p:cNvSpPr/>
          <p:nvPr/>
        </p:nvSpPr>
        <p:spPr>
          <a:xfrm>
            <a:off x="3635897" y="476671"/>
            <a:ext cx="537217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(P6,BT=15,PR=10) (P7,BT=8,PR=9)}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is selected,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it has highest priority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Queue={(P6,BT=15,PR=10),(P7,BT=8,PR=9)}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1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1"/>
          <p:cNvSpPr/>
          <p:nvPr/>
        </p:nvSpPr>
        <p:spPr>
          <a:xfrm>
            <a:off x="3059832" y="1340768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1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91"/>
          <p:cNvSpPr/>
          <p:nvPr/>
        </p:nvSpPr>
        <p:spPr>
          <a:xfrm>
            <a:off x="3059832" y="276176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91"/>
          <p:cNvSpPr/>
          <p:nvPr/>
        </p:nvSpPr>
        <p:spPr>
          <a:xfrm>
            <a:off x="3059832" y="319381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91"/>
          <p:cNvSpPr/>
          <p:nvPr/>
        </p:nvSpPr>
        <p:spPr>
          <a:xfrm>
            <a:off x="3059832" y="184482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92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259" name="Google Shape;1259;p92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260" name="Google Shape;1260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61" name="Google Shape;1261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62" name="Google Shape;1262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3" name="Google Shape;1263;p92"/>
          <p:cNvSpPr/>
          <p:nvPr/>
        </p:nvSpPr>
        <p:spPr>
          <a:xfrm>
            <a:off x="323528" y="3501008"/>
            <a:ext cx="82809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remaining process is P6 with the least priority, will be executed at the last.</a:t>
            </a:r>
            <a:endParaRPr/>
          </a:p>
        </p:txBody>
      </p:sp>
      <p:pic>
        <p:nvPicPr>
          <p:cNvPr id="1264" name="Google Shape;126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4581128"/>
            <a:ext cx="60102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92"/>
          <p:cNvSpPr/>
          <p:nvPr/>
        </p:nvSpPr>
        <p:spPr>
          <a:xfrm>
            <a:off x="3635896" y="692696"/>
            <a:ext cx="52565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Queue={(P6,BT=15,PR=10),(P7,BT=8,PR=9}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P7 will be selected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6" name="Google Shape;126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3920" y="2708920"/>
            <a:ext cx="52768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92"/>
          <p:cNvSpPr/>
          <p:nvPr/>
        </p:nvSpPr>
        <p:spPr>
          <a:xfrm>
            <a:off x="3059832" y="104527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2"/>
          <p:cNvSpPr/>
          <p:nvPr/>
        </p:nvSpPr>
        <p:spPr>
          <a:xfrm>
            <a:off x="3059832" y="156849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92"/>
          <p:cNvSpPr/>
          <p:nvPr/>
        </p:nvSpPr>
        <p:spPr>
          <a:xfrm>
            <a:off x="3059832" y="185763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92"/>
          <p:cNvSpPr/>
          <p:nvPr/>
        </p:nvSpPr>
        <p:spPr>
          <a:xfrm>
            <a:off x="3059832" y="216558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92"/>
          <p:cNvSpPr/>
          <p:nvPr/>
        </p:nvSpPr>
        <p:spPr>
          <a:xfrm>
            <a:off x="3059832" y="130688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2"/>
          <p:cNvSpPr/>
          <p:nvPr/>
        </p:nvSpPr>
        <p:spPr>
          <a:xfrm>
            <a:off x="3059832" y="2545740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92"/>
          <p:cNvSpPr/>
          <p:nvPr/>
        </p:nvSpPr>
        <p:spPr>
          <a:xfrm>
            <a:off x="3059832" y="285293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93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sp>
        <p:nvSpPr>
          <p:cNvPr id="1280" name="Google Shape;1280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81" name="Google Shape;1281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82" name="Google Shape;1282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3" name="Google Shape;1283;p93"/>
          <p:cNvSpPr/>
          <p:nvPr/>
        </p:nvSpPr>
        <p:spPr>
          <a:xfrm>
            <a:off x="323528" y="3501008"/>
            <a:ext cx="828092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Turnaround Time = Completion Time - Arrival Time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 Time = Turn Around Time - Burst Time  or Sum of times spent in Ready queue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Avg Waiting Time = (0+14+0+7+1+25+16)/7 = 63/7 = 9 units </a:t>
            </a:r>
            <a:endParaRPr/>
          </a:p>
        </p:txBody>
      </p:sp>
      <p:graphicFrame>
        <p:nvGraphicFramePr>
          <p:cNvPr id="1284" name="Google Shape;1284;p93"/>
          <p:cNvGraphicFramePr/>
          <p:nvPr/>
        </p:nvGraphicFramePr>
        <p:xfrm>
          <a:off x="374849" y="83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{7FB002A0-A32F-40A6-A267-3B4B6D3308BB}</a:tableStyleId>
              </a:tblPr>
              <a:tblGrid>
                <a:gridCol w="1175650"/>
                <a:gridCol w="1175650"/>
                <a:gridCol w="1175650"/>
                <a:gridCol w="1175650"/>
                <a:gridCol w="1175650"/>
                <a:gridCol w="1175650"/>
                <a:gridCol w="11756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Process Id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Priority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Arrival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Burst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Completion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Turn around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Waiting Time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285" name="Google Shape;1285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4234988"/>
            <a:ext cx="60102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3"/>
          <p:cNvSpPr/>
          <p:nvPr/>
        </p:nvSpPr>
        <p:spPr>
          <a:xfrm>
            <a:off x="354717" y="6031160"/>
            <a:ext cx="8136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https://www.javatpoint.com/os-preemptive-priority-scheduling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4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293" name="Google Shape;1293;p94"/>
          <p:cNvSpPr txBox="1"/>
          <p:nvPr>
            <p:ph idx="1" type="body"/>
          </p:nvPr>
        </p:nvSpPr>
        <p:spPr>
          <a:xfrm>
            <a:off x="844550" y="1068388"/>
            <a:ext cx="7537450" cy="5168924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are classified into different groups.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division is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–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foreground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(interactive)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–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(batch)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294" name="Google Shape;1294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295" name="Google Shape;1295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96" name="Google Shape;1296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5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303" name="Google Shape;1303;p95"/>
          <p:cNvSpPr txBox="1"/>
          <p:nvPr>
            <p:ph idx="1" type="body"/>
          </p:nvPr>
        </p:nvSpPr>
        <p:spPr>
          <a:xfrm>
            <a:off x="844550" y="1068388"/>
            <a:ext cx="7537450" cy="5168924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Processes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different response time requirements 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have different scheduling needs.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  <a:sym typeface="Calibri"/>
              </a:rPr>
              <a:t>Foreground process have higher priority over background processes</a:t>
            </a:r>
            <a:endParaRPr>
              <a:highlight>
                <a:srgbClr val="FF0000"/>
              </a:highlight>
            </a:endParaRPr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304" name="Google Shape;1304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05" name="Google Shape;1305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06" name="Google Shape;1306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6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313" name="Google Shape;1313;p96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</a:rPr>
              <a:t>How?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Multi Level Queue Scheduling Algorithm(MQSA) partitions </a:t>
            </a:r>
            <a:r>
              <a:rPr b="1" lang="en-US" sz="2400" u="sng"/>
              <a:t>Ready queue into separate queues</a:t>
            </a:r>
            <a:r>
              <a:rPr lang="en-US" sz="2400"/>
              <a:t>, eg: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Process permanently assigned to a given queue based on some property as: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Process priority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Process type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Memory size</a:t>
            </a:r>
            <a:endParaRPr/>
          </a:p>
          <a:p>
            <a:pPr indent="-273050" lvl="1" marL="742950" rtl="0" algn="l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</a:pPr>
            <a:r>
              <a:t/>
            </a:r>
            <a:endParaRPr sz="200"/>
          </a:p>
        </p:txBody>
      </p:sp>
      <p:sp>
        <p:nvSpPr>
          <p:cNvPr id="1314" name="Google Shape;1314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15" name="Google Shape;1315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16" name="Google Shape;1316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7" name="Google Shape;1317;p96"/>
          <p:cNvSpPr/>
          <p:nvPr/>
        </p:nvSpPr>
        <p:spPr>
          <a:xfrm>
            <a:off x="683568" y="1412776"/>
            <a:ext cx="7056784" cy="11521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7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324" name="Google Shape;1324;p97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Each queue has its own scheduling algorithm: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foreground</a:t>
            </a:r>
            <a:r>
              <a:rPr b="1" lang="en-US" sz="3200">
                <a:solidFill>
                  <a:schemeClr val="dk2"/>
                </a:solidFill>
              </a:rPr>
              <a:t> – RR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background</a:t>
            </a:r>
            <a:r>
              <a:rPr b="1" lang="en-US" sz="3200">
                <a:solidFill>
                  <a:schemeClr val="dk2"/>
                </a:solidFill>
              </a:rPr>
              <a:t> – FCFS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Scheduling must be done between the queues: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Fixed priority scheduling; 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Time Slicing</a:t>
            </a:r>
            <a:endParaRPr/>
          </a:p>
        </p:txBody>
      </p:sp>
      <p:sp>
        <p:nvSpPr>
          <p:cNvPr id="1325" name="Google Shape;132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26" name="Google Shape;132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27" name="Google Shape;132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8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334" name="Google Shape;1334;p98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>
                <a:solidFill>
                  <a:schemeClr val="dk2"/>
                </a:solidFill>
              </a:rPr>
              <a:t>Fixed priority scheduling;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Foreground Queue has absolute priority over Background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Serve all from foreground then from background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Possibility of starvation.</a:t>
            </a:r>
            <a:endParaRPr/>
          </a:p>
        </p:txBody>
      </p:sp>
      <p:sp>
        <p:nvSpPr>
          <p:cNvPr id="1335" name="Google Shape;1335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36" name="Google Shape;1336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37" name="Google Shape;1337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8" name="Google Shape;1338;p98"/>
          <p:cNvSpPr/>
          <p:nvPr/>
        </p:nvSpPr>
        <p:spPr>
          <a:xfrm>
            <a:off x="1115616" y="3501008"/>
            <a:ext cx="6696744" cy="57606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9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345" name="Google Shape;1345;p99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>
                <a:solidFill>
                  <a:schemeClr val="dk2"/>
                </a:solidFill>
              </a:rPr>
              <a:t>Time slice between the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each queue gets a certain amount of CPU time which it can schedule amongst its processes;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 eg, 80% of CPU time to foreground in RR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20% to background in FCFS 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46" name="Google Shape;1346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47" name="Google Shape;1347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48" name="Google Shape;1348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00"/>
          <p:cNvSpPr txBox="1"/>
          <p:nvPr>
            <p:ph type="title"/>
          </p:nvPr>
        </p:nvSpPr>
        <p:spPr>
          <a:xfrm>
            <a:off x="1090613" y="188913"/>
            <a:ext cx="7596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 Scheduling</a:t>
            </a:r>
            <a:endParaRPr/>
          </a:p>
        </p:txBody>
      </p:sp>
      <p:pic>
        <p:nvPicPr>
          <p:cNvPr descr="5" id="1355" name="Google Shape;135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0" y="1484784"/>
            <a:ext cx="6686550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57" name="Google Shape;1357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58" name="Google Shape;1358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01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Queue- Possibility of starvation</a:t>
            </a:r>
            <a:endParaRPr sz="3200"/>
          </a:p>
        </p:txBody>
      </p:sp>
      <p:sp>
        <p:nvSpPr>
          <p:cNvPr id="1365" name="Google Shape;1365;p101"/>
          <p:cNvSpPr txBox="1"/>
          <p:nvPr>
            <p:ph idx="1" type="body"/>
          </p:nvPr>
        </p:nvSpPr>
        <p:spPr>
          <a:xfrm>
            <a:off x="251520" y="1068388"/>
            <a:ext cx="4392488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MQSA with 5 queues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queue has absolute priority over lower priority queues.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process in batch queue could run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unless the queues from system, interactive, interactive editing queue were all empty.</a:t>
            </a:r>
            <a:endParaRPr/>
          </a:p>
        </p:txBody>
      </p:sp>
      <p:pic>
        <p:nvPicPr>
          <p:cNvPr descr="5" id="1366" name="Google Shape;136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68" name="Google Shape;1368;p1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69" name="Google Shape;1369;p1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02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Queue- Possibility of starvation</a:t>
            </a:r>
            <a:endParaRPr sz="3200"/>
          </a:p>
        </p:txBody>
      </p:sp>
      <p:sp>
        <p:nvSpPr>
          <p:cNvPr id="1376" name="Google Shape;1376;p102"/>
          <p:cNvSpPr txBox="1"/>
          <p:nvPr>
            <p:ph idx="1" type="body"/>
          </p:nvPr>
        </p:nvSpPr>
        <p:spPr>
          <a:xfrm>
            <a:off x="251520" y="1068388"/>
            <a:ext cx="4392488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 interacting editing process entered the ready queue while a batch process was running,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batch process would be preempted.</a:t>
            </a:r>
            <a:endParaRPr/>
          </a:p>
        </p:txBody>
      </p:sp>
      <p:pic>
        <p:nvPicPr>
          <p:cNvPr descr="5" id="1377" name="Google Shape;137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79" name="Google Shape;137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80" name="Google Shape;138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03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</a:t>
            </a:r>
            <a:endParaRPr/>
          </a:p>
        </p:txBody>
      </p:sp>
      <p:sp>
        <p:nvSpPr>
          <p:cNvPr id="1387" name="Google Shape;1387;p103"/>
          <p:cNvSpPr txBox="1"/>
          <p:nvPr>
            <p:ph idx="1" type="body"/>
          </p:nvPr>
        </p:nvSpPr>
        <p:spPr>
          <a:xfrm>
            <a:off x="251520" y="1068388"/>
            <a:ext cx="8424936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do not move between queues.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processes do not change their foreground or background nature.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scheduling overhead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Inflexible</a:t>
            </a:r>
            <a:endParaRPr/>
          </a:p>
        </p:txBody>
      </p:sp>
      <p:sp>
        <p:nvSpPr>
          <p:cNvPr id="1388" name="Google Shape;1388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89" name="Google Shape;1389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90" name="Google Shape;1390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04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397" name="Google Shape;1397;p104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>
                <a:solidFill>
                  <a:srgbClr val="0070C0"/>
                </a:solidFill>
              </a:rPr>
              <a:t>A process can move between the various queues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How?</a:t>
            </a:r>
            <a:endParaRPr sz="2800" u="sng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98" name="Google Shape;1398;p1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399" name="Google Shape;1399;p1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00" name="Google Shape;1400;p1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05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407" name="Google Shape;1407;p105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800">
                <a:solidFill>
                  <a:srgbClr val="0070C0"/>
                </a:solidFill>
              </a:rPr>
              <a:t>How?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idea is to Separate Processes with different </a:t>
            </a:r>
            <a:r>
              <a:rPr b="1" lang="en-US" sz="2800" u="sng"/>
              <a:t>CPU burst characteristic.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–"/>
            </a:pPr>
            <a:r>
              <a:rPr b="1" lang="en-US" u="sng">
                <a:solidFill>
                  <a:srgbClr val="0070C0"/>
                </a:solidFill>
              </a:rPr>
              <a:t>Process uses too much CPU time,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 u="sng">
                <a:solidFill>
                  <a:srgbClr val="0070C0"/>
                </a:solidFill>
              </a:rPr>
              <a:t>will be moved to a lower priority queue.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–"/>
            </a:pPr>
            <a:r>
              <a:rPr b="1" lang="en-US" u="sng">
                <a:solidFill>
                  <a:srgbClr val="0070C0"/>
                </a:solidFill>
              </a:rPr>
              <a:t>This scheme leaves I/O bound and interactive processes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 u="sng">
                <a:solidFill>
                  <a:srgbClr val="0070C0"/>
                </a:solidFill>
              </a:rPr>
              <a:t>in the higher priority queues.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 u="sng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08" name="Google Shape;1408;p1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09" name="Google Shape;1409;p1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10" name="Google Shape;1410;p1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06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417" name="Google Shape;1417;p106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Starvation=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>
                <a:solidFill>
                  <a:srgbClr val="0070C0"/>
                </a:solidFill>
              </a:rPr>
              <a:t>A process that waits too long in a lower priority queue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Solution=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Aging can be implemented this way to prevent starvation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en-US" sz="2400">
                <a:solidFill>
                  <a:srgbClr val="0070C0"/>
                </a:solidFill>
              </a:rPr>
              <a:t>may be moved to a higher priority queue.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18" name="Google Shape;1418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19" name="Google Shape;1419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20" name="Google Shape;1420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07"/>
          <p:cNvSpPr txBox="1"/>
          <p:nvPr>
            <p:ph type="title"/>
          </p:nvPr>
        </p:nvSpPr>
        <p:spPr>
          <a:xfrm>
            <a:off x="611560" y="0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427" name="Google Shape;1427;p107"/>
          <p:cNvSpPr txBox="1"/>
          <p:nvPr>
            <p:ph idx="1" type="body"/>
          </p:nvPr>
        </p:nvSpPr>
        <p:spPr>
          <a:xfrm>
            <a:off x="107504" y="1196752"/>
            <a:ext cx="882047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Multilevel-feedback-queue scheduler defined by the following parameters: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number of queues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scheduling algorithms for each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when to upgrade a process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when to demote a process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which queue a process will enter when that process needs service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Most general scheme but most complex</a:t>
            </a:r>
            <a:endParaRPr/>
          </a:p>
        </p:txBody>
      </p:sp>
      <p:sp>
        <p:nvSpPr>
          <p:cNvPr id="1428" name="Google Shape;1428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29" name="Google Shape;1429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30" name="Google Shape;1430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08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37" name="Google Shape;1437;p108"/>
          <p:cNvSpPr txBox="1"/>
          <p:nvPr>
            <p:ph idx="1" type="body"/>
          </p:nvPr>
        </p:nvSpPr>
        <p:spPr>
          <a:xfrm>
            <a:off x="683568" y="1418555"/>
            <a:ext cx="418847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Three queues: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0</a:t>
            </a:r>
            <a:r>
              <a:rPr lang="en-US" sz="2400"/>
              <a:t> – RR with time quantum 8 milliseconds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1</a:t>
            </a:r>
            <a:r>
              <a:rPr lang="en-US" sz="2400"/>
              <a:t> – RR time quantum 16 milliseconds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2</a:t>
            </a:r>
            <a:r>
              <a:rPr lang="en-US" sz="2400"/>
              <a:t> – FCFS</a:t>
            </a:r>
            <a:endParaRPr/>
          </a:p>
          <a:p>
            <a:pPr indent="-1968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descr="5" id="1438" name="Google Shape;143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40" name="Google Shape;1440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41" name="Google Shape;1441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9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48" name="Google Shape;1448;p109"/>
          <p:cNvSpPr txBox="1"/>
          <p:nvPr>
            <p:ph idx="1" type="body"/>
          </p:nvPr>
        </p:nvSpPr>
        <p:spPr>
          <a:xfrm>
            <a:off x="323528" y="1233488"/>
            <a:ext cx="454851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Scheduler first executes all processes in Queue 0,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Only when Queue0 is empty,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will it execute processes in Queue1.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 Queue2 will be executed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only when Queue 0 and Queue 1 is empty</a:t>
            </a:r>
            <a:endParaRPr sz="2200"/>
          </a:p>
        </p:txBody>
      </p:sp>
      <p:pic>
        <p:nvPicPr>
          <p:cNvPr descr="5" id="1449" name="Google Shape;144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51" name="Google Shape;1451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52" name="Google Shape;1452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3" name="Google Shape;1453;p109"/>
          <p:cNvSpPr/>
          <p:nvPr/>
        </p:nvSpPr>
        <p:spPr>
          <a:xfrm>
            <a:off x="8244408" y="2159000"/>
            <a:ext cx="360040" cy="1053976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09"/>
          <p:cNvSpPr/>
          <p:nvPr/>
        </p:nvSpPr>
        <p:spPr>
          <a:xfrm>
            <a:off x="8396808" y="3861048"/>
            <a:ext cx="360040" cy="1053976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10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61" name="Google Shape;1461;p110"/>
          <p:cNvSpPr txBox="1"/>
          <p:nvPr>
            <p:ph idx="1" type="body"/>
          </p:nvPr>
        </p:nvSpPr>
        <p:spPr>
          <a:xfrm>
            <a:off x="906462" y="1556792"/>
            <a:ext cx="4065588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process that arrives for Q1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will preempt a process in Q2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process that arrives for Q0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will preempt a process in Q1</a:t>
            </a:r>
            <a:endParaRPr/>
          </a:p>
        </p:txBody>
      </p:sp>
      <p:pic>
        <p:nvPicPr>
          <p:cNvPr descr="5" id="1462" name="Google Shape;1462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64" name="Google Shape;1464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65" name="Google Shape;1465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11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72" name="Google Shape;1472;p111"/>
          <p:cNvSpPr txBox="1"/>
          <p:nvPr>
            <p:ph idx="1" type="body"/>
          </p:nvPr>
        </p:nvSpPr>
        <p:spPr>
          <a:xfrm>
            <a:off x="251520" y="1233488"/>
            <a:ext cx="4620518" cy="536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Scheduling</a:t>
            </a:r>
            <a:endParaRPr/>
          </a:p>
          <a:p>
            <a:pPr indent="-1968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A new job enters queue </a:t>
            </a:r>
            <a:r>
              <a:rPr i="1" lang="en-US" sz="2600"/>
              <a:t>Q</a:t>
            </a:r>
            <a:r>
              <a:rPr baseline="-25000" i="1" lang="en-US" sz="2600"/>
              <a:t>0</a:t>
            </a:r>
            <a:r>
              <a:rPr i="1" lang="en-US" sz="2600"/>
              <a:t> </a:t>
            </a:r>
            <a:r>
              <a:rPr lang="en-US" sz="2600"/>
              <a:t>which is served</a:t>
            </a:r>
            <a:r>
              <a:rPr i="1" lang="en-US" sz="2600"/>
              <a:t> </a:t>
            </a:r>
            <a:r>
              <a:rPr lang="en-US" sz="2600"/>
              <a:t>RR</a:t>
            </a:r>
            <a:endParaRPr/>
          </a:p>
          <a:p>
            <a:pPr indent="-228600" lvl="2" marL="11430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When it gains CPU, job receives 8 milliseconds</a:t>
            </a:r>
            <a:endParaRPr/>
          </a:p>
          <a:p>
            <a:pPr indent="-228600" lvl="2" marL="114300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•"/>
            </a:pPr>
            <a:r>
              <a:rPr lang="en-US" sz="2600">
                <a:solidFill>
                  <a:srgbClr val="00B0F0"/>
                </a:solidFill>
              </a:rPr>
              <a:t>If it does not finish in 8 milliseconds, job is moved to tail of  queue </a:t>
            </a:r>
            <a:r>
              <a:rPr i="1" lang="en-US" sz="2600">
                <a:solidFill>
                  <a:srgbClr val="00B0F0"/>
                </a:solidFill>
              </a:rPr>
              <a:t>Q</a:t>
            </a:r>
            <a:r>
              <a:rPr baseline="-25000" lang="en-US" sz="2600">
                <a:solidFill>
                  <a:srgbClr val="00B0F0"/>
                </a:solidFill>
              </a:rPr>
              <a:t>1</a:t>
            </a:r>
            <a:endParaRPr/>
          </a:p>
          <a:p>
            <a:pPr indent="0" lvl="2" marL="9144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pic>
        <p:nvPicPr>
          <p:cNvPr descr="5" id="1473" name="Google Shape;147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75" name="Google Shape;1475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76" name="Google Shape;1476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12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83" name="Google Shape;1483;p112"/>
          <p:cNvSpPr txBox="1"/>
          <p:nvPr>
            <p:ph idx="1" type="body"/>
          </p:nvPr>
        </p:nvSpPr>
        <p:spPr>
          <a:xfrm>
            <a:off x="251520" y="1340768"/>
            <a:ext cx="4620518" cy="536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Scheduling</a:t>
            </a:r>
            <a:endParaRPr/>
          </a:p>
          <a:p>
            <a:pPr indent="-209550" lvl="1" marL="74295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Q0 is empty, the process at the head of Q1 is given time quantum of 16 milliseconds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At </a:t>
            </a:r>
            <a:r>
              <a:rPr i="1" lang="en-US"/>
              <a:t>Q</a:t>
            </a:r>
            <a:r>
              <a:rPr baseline="-25000" lang="en-US"/>
              <a:t>1</a:t>
            </a:r>
            <a:r>
              <a:rPr lang="en-US"/>
              <a:t> job again receives 16 additional milliseconds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it still does not complete, it is preempted and moved to queue </a:t>
            </a:r>
            <a:r>
              <a:rPr i="1" lang="en-US"/>
              <a:t>Q</a:t>
            </a:r>
            <a:r>
              <a:rPr baseline="-25000" lang="en-US"/>
              <a:t>2</a:t>
            </a:r>
            <a:endParaRPr/>
          </a:p>
        </p:txBody>
      </p:sp>
      <p:pic>
        <p:nvPicPr>
          <p:cNvPr descr="5" id="1484" name="Google Shape;148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86" name="Google Shape;1486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87" name="Google Shape;1487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13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494" name="Google Shape;1494;p113"/>
          <p:cNvSpPr txBox="1"/>
          <p:nvPr>
            <p:ph idx="1" type="body"/>
          </p:nvPr>
        </p:nvSpPr>
        <p:spPr>
          <a:xfrm>
            <a:off x="323528" y="1706587"/>
            <a:ext cx="454851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Scheduling</a:t>
            </a:r>
            <a:endParaRPr/>
          </a:p>
          <a:p>
            <a:pPr indent="-203517" lvl="1" marL="742950" rtl="0" algn="l"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400"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Processes with CPU burst of 8 ms or less are given high priority</a:t>
            </a:r>
            <a:endParaRPr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Processes with CPU burst &gt;8 but &lt;24 ms are also served quickly with less priority</a:t>
            </a:r>
            <a:endParaRPr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Long processes automatically sink to Queue 2</a:t>
            </a:r>
            <a:endParaRPr/>
          </a:p>
        </p:txBody>
      </p:sp>
      <p:pic>
        <p:nvPicPr>
          <p:cNvPr descr="5" id="1495" name="Google Shape;149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497" name="Google Shape;1497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98" name="Google Shape;1498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Advantages of Multilevel Scheduling:</a:t>
            </a:r>
            <a:endParaRPr/>
          </a:p>
        </p:txBody>
      </p:sp>
      <p:sp>
        <p:nvSpPr>
          <p:cNvPr id="1504" name="Google Shape;1504;p1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You can use multilevel queue scheduling to apply different scheduling methods to distinct processes.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will have low overhead in terms of scheduling.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1505" name="Google Shape;1505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06" name="Google Shape;1506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07" name="Google Shape;1507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Disadvantages of Multilevel Scheduling:</a:t>
            </a:r>
            <a:endParaRPr/>
          </a:p>
        </p:txBody>
      </p:sp>
      <p:sp>
        <p:nvSpPr>
          <p:cNvPr id="1513" name="Google Shape;1513;p1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There is a risk of starvation for lower priority processes.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rigid in nature.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/>
          </a:p>
        </p:txBody>
      </p:sp>
      <p:sp>
        <p:nvSpPr>
          <p:cNvPr id="1514" name="Google Shape;1514;p1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15" name="Google Shape;1515;p1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16" name="Google Shape;1516;p1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Advantages of Multilevel Feedback Queue Scheduling:</a:t>
            </a:r>
            <a:endParaRPr/>
          </a:p>
        </p:txBody>
      </p:sp>
      <p:sp>
        <p:nvSpPr>
          <p:cNvPr id="1522" name="Google Shape;1522;p1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more flexible.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allows different processes to move between different queues.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1" lang="en-US"/>
              <a:t>It prevents starvation by moving a process that waits too long for the lower priority queue to the higher priority queue.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1523" name="Google Shape;1523;p1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24" name="Google Shape;1524;p1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25" name="Google Shape;1525;p1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Disadvantages of Multilevel Feedback Queue Scheduling:</a:t>
            </a:r>
            <a:endParaRPr/>
          </a:p>
        </p:txBody>
      </p:sp>
      <p:sp>
        <p:nvSpPr>
          <p:cNvPr id="1531" name="Google Shape;1531;p1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produces more CPU overheads.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the most complex algorithm.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2" name="Google Shape;1532;p1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33" name="Google Shape;1533;p1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34" name="Google Shape;1534;p1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18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Difference b/w MLQ and MLFQ</a:t>
            </a:r>
            <a:endParaRPr/>
          </a:p>
        </p:txBody>
      </p:sp>
      <p:sp>
        <p:nvSpPr>
          <p:cNvPr id="1540" name="Google Shape;1540;p1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41" name="Google Shape;1541;p1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42" name="Google Shape;1542;p1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3" name="Google Shape;1543;p1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355750"/>
            <a:ext cx="8352928" cy="4953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19"/>
          <p:cNvSpPr txBox="1"/>
          <p:nvPr>
            <p:ph type="title"/>
          </p:nvPr>
        </p:nvSpPr>
        <p:spPr>
          <a:xfrm>
            <a:off x="971600" y="2204864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</a:t>
            </a:r>
            <a:endParaRPr/>
          </a:p>
        </p:txBody>
      </p:sp>
      <p:sp>
        <p:nvSpPr>
          <p:cNvPr id="1550" name="Google Shape;1550;p1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51" name="Google Shape;1551;p1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52" name="Google Shape;1552;p1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20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Prior to kernel Version 2.5</a:t>
            </a:r>
            <a:endParaRPr/>
          </a:p>
        </p:txBody>
      </p:sp>
      <p:sp>
        <p:nvSpPr>
          <p:cNvPr id="1559" name="Google Shape;1559;p120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Prior to kernel version 2.5, ran variation of traditional UNIX scheduling algorithm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Two problems with the traditional UNIX scheduler are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it does not provide adequate support for SMP systems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it does not scale well as the number of tasks on the system grows.</a:t>
            </a:r>
            <a:endParaRPr b="1" sz="2400" u="sng"/>
          </a:p>
        </p:txBody>
      </p:sp>
      <p:sp>
        <p:nvSpPr>
          <p:cNvPr id="1560" name="Google Shape;1560;p1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61" name="Google Shape;1561;p1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62" name="Google Shape;1562;p1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3" name="Google Shape;1563;p120"/>
          <p:cNvSpPr/>
          <p:nvPr/>
        </p:nvSpPr>
        <p:spPr>
          <a:xfrm>
            <a:off x="8388424" y="3429000"/>
            <a:ext cx="288032" cy="93610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21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570" name="Google Shape;1570;p121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Version 2.5 moved to constant order </a:t>
            </a:r>
            <a:r>
              <a:rPr i="1" lang="en-US" sz="2400"/>
              <a:t>O</a:t>
            </a:r>
            <a:r>
              <a:rPr lang="en-US" sz="2400"/>
              <a:t>(1) scheduling time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Regardless of the number of tasks on the system.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new scheduler also provides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increased support for SMP,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including processor affinity and load balancing,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as well as providing fairness and support for interactive tasks.</a:t>
            </a:r>
            <a:endParaRPr b="1" sz="2400" u="sng"/>
          </a:p>
        </p:txBody>
      </p:sp>
      <p:sp>
        <p:nvSpPr>
          <p:cNvPr id="1571" name="Google Shape;1571;p1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72" name="Google Shape;1572;p1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73" name="Google Shape;1573;p1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22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580" name="Google Shape;1580;p122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Linux scheduler is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preemptive priority-based algorithm</a:t>
            </a:r>
            <a:endParaRPr/>
          </a:p>
        </p:txBody>
      </p:sp>
      <p:sp>
        <p:nvSpPr>
          <p:cNvPr id="1581" name="Google Shape;1581;p1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82" name="Google Shape;1582;p1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83" name="Google Shape;1583;p1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23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590" name="Google Shape;1590;p123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Linux scheduler is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preemptive priority-based algorithm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with two separate priority ranges: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real-time range from 0 to 99 and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nice value ranging from 100 to 140. </a:t>
            </a:r>
            <a:endParaRPr sz="2400"/>
          </a:p>
        </p:txBody>
      </p:sp>
      <p:grpSp>
        <p:nvGrpSpPr>
          <p:cNvPr id="1591" name="Google Shape;1591;p123"/>
          <p:cNvGrpSpPr/>
          <p:nvPr/>
        </p:nvGrpSpPr>
        <p:grpSpPr>
          <a:xfrm>
            <a:off x="683568" y="3429000"/>
            <a:ext cx="7452320" cy="2507776"/>
            <a:chOff x="0" y="3501008"/>
            <a:chExt cx="7452320" cy="2507776"/>
          </a:xfrm>
        </p:grpSpPr>
        <p:pic>
          <p:nvPicPr>
            <p:cNvPr id="1592" name="Google Shape;1592;p123"/>
            <p:cNvPicPr preferRelativeResize="0"/>
            <p:nvPr/>
          </p:nvPicPr>
          <p:blipFill rotWithShape="1">
            <a:blip r:embed="rId3">
              <a:alphaModFix/>
            </a:blip>
            <a:srcRect b="15717" l="28182" r="39825" t="50000"/>
            <a:stretch/>
          </p:blipFill>
          <p:spPr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p123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23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23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nice value </a:t>
              </a:r>
              <a:endParaRPr/>
            </a:p>
          </p:txBody>
        </p:sp>
        <p:sp>
          <p:nvSpPr>
            <p:cNvPr id="1596" name="Google Shape;1596;p123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real-time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7" name="Google Shape;1597;p1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598" name="Google Shape;1598;p1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99" name="Google Shape;1599;p1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24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06" name="Google Shape;1606;p124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 two ranges map into a global priority scheme wherein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numerically lower values indicate higher priorities.</a:t>
            </a:r>
            <a:endParaRPr sz="2400"/>
          </a:p>
        </p:txBody>
      </p:sp>
      <p:grpSp>
        <p:nvGrpSpPr>
          <p:cNvPr id="1607" name="Google Shape;1607;p124"/>
          <p:cNvGrpSpPr/>
          <p:nvPr/>
        </p:nvGrpSpPr>
        <p:grpSpPr>
          <a:xfrm>
            <a:off x="683568" y="2708920"/>
            <a:ext cx="7452320" cy="2507776"/>
            <a:chOff x="0" y="3501008"/>
            <a:chExt cx="7452320" cy="2507776"/>
          </a:xfrm>
        </p:grpSpPr>
        <p:pic>
          <p:nvPicPr>
            <p:cNvPr id="1608" name="Google Shape;1608;p124"/>
            <p:cNvPicPr preferRelativeResize="0"/>
            <p:nvPr/>
          </p:nvPicPr>
          <p:blipFill rotWithShape="1">
            <a:blip r:embed="rId3">
              <a:alphaModFix/>
            </a:blip>
            <a:srcRect b="15717" l="28182" r="39825" t="50000"/>
            <a:stretch/>
          </p:blipFill>
          <p:spPr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9" name="Google Shape;1609;p124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24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24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nice value </a:t>
              </a:r>
              <a:endParaRPr/>
            </a:p>
          </p:txBody>
        </p:sp>
        <p:sp>
          <p:nvSpPr>
            <p:cNvPr id="1612" name="Google Shape;1612;p124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real-time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3" name="Google Shape;1613;p1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14" name="Google Shape;1614;p1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15" name="Google Shape;1615;p1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25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22" name="Google Shape;1622;p125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Unlike schedulers for many other systems, including </a:t>
            </a:r>
            <a:endParaRPr sz="28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Solaris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Windows XP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 u="sng"/>
              <a:t>Linux assigns </a:t>
            </a:r>
            <a:endParaRPr b="1" sz="2800"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higher-priority tasks longer time quanta and </a:t>
            </a:r>
            <a:endParaRPr b="1" sz="2000"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lower-priority tasks shorter time quanta. </a:t>
            </a:r>
            <a:endParaRPr b="1" sz="2000" u="sng"/>
          </a:p>
        </p:txBody>
      </p:sp>
      <p:pic>
        <p:nvPicPr>
          <p:cNvPr id="1623" name="Google Shape;1623;p125"/>
          <p:cNvPicPr preferRelativeResize="0"/>
          <p:nvPr/>
        </p:nvPicPr>
        <p:blipFill rotWithShape="1">
          <a:blip r:embed="rId3">
            <a:alphaModFix/>
          </a:blip>
          <a:srcRect b="15717" l="28182" r="39825" t="50000"/>
          <a:stretch/>
        </p:blipFill>
        <p:spPr>
          <a:xfrm>
            <a:off x="1115616" y="3501008"/>
            <a:ext cx="6336704" cy="250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25"/>
          <p:cNvSpPr/>
          <p:nvPr/>
        </p:nvSpPr>
        <p:spPr>
          <a:xfrm>
            <a:off x="5652120" y="3501008"/>
            <a:ext cx="1656184" cy="864096"/>
          </a:xfrm>
          <a:prstGeom prst="ellipse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25"/>
          <p:cNvSpPr/>
          <p:nvPr/>
        </p:nvSpPr>
        <p:spPr>
          <a:xfrm>
            <a:off x="5580112" y="4941168"/>
            <a:ext cx="1656184" cy="864096"/>
          </a:xfrm>
          <a:prstGeom prst="ellipse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27" name="Google Shape;1627;p1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28" name="Google Shape;1628;p1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26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35" name="Google Shape;1635;p126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runnable task is considered eligible for execution on the CPU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as long as it has time remaining in its time slice.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task has exhausted its time slice,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 is considered expired and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is not eligible for execution again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until all other tasks have also exhausted their time quanta.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36" name="Google Shape;1636;p1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37" name="Google Shape;1637;p1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38" name="Google Shape;1638;p1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27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45" name="Google Shape;1645;p127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kernel maintains a list of all runnable tasks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 a runqueue data structure. </a:t>
            </a:r>
            <a:endParaRPr sz="2400"/>
          </a:p>
        </p:txBody>
      </p:sp>
      <p:sp>
        <p:nvSpPr>
          <p:cNvPr id="1646" name="Google Shape;1646;p127"/>
          <p:cNvSpPr/>
          <p:nvPr/>
        </p:nvSpPr>
        <p:spPr>
          <a:xfrm>
            <a:off x="767277" y="1340768"/>
            <a:ext cx="7056784" cy="136815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48" name="Google Shape;1648;p1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49" name="Google Shape;1649;p1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28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56" name="Google Shape;1656;p128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Because of its support for SMP,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Each processor maintains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its own runqueue and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schedules itself independently.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57" name="Google Shape;1657;p1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58" name="Google Shape;1658;p1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59" name="Google Shape;1659;p1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29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66" name="Google Shape;1666;p129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runqueue contains </a:t>
            </a:r>
            <a:r>
              <a:rPr b="1" lang="en-US" sz="2400" u="sng"/>
              <a:t>two priority arrays</a:t>
            </a:r>
            <a:r>
              <a:rPr lang="en-US" sz="2400"/>
              <a:t>: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Active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Expired</a:t>
            </a:r>
            <a:endParaRPr/>
          </a:p>
        </p:txBody>
      </p:sp>
      <p:sp>
        <p:nvSpPr>
          <p:cNvPr id="1667" name="Google Shape;1667;p129"/>
          <p:cNvSpPr/>
          <p:nvPr/>
        </p:nvSpPr>
        <p:spPr>
          <a:xfrm>
            <a:off x="796520" y="980728"/>
            <a:ext cx="7317520" cy="165618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1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69" name="Google Shape;1669;p1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70" name="Google Shape;1670;p1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30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77" name="Google Shape;1677;p130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active array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contains all tasks with </a:t>
            </a:r>
            <a:r>
              <a:rPr b="1" lang="en-US" sz="2400" u="sng"/>
              <a:t>time remaining in their time slices,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expired array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contains all expired tasks. </a:t>
            </a:r>
            <a:endParaRPr sz="2400"/>
          </a:p>
        </p:txBody>
      </p:sp>
      <p:pic>
        <p:nvPicPr>
          <p:cNvPr id="1678" name="Google Shape;1678;p130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80" name="Google Shape;1680;p1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81" name="Google Shape;1681;p1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31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88" name="Google Shape;1688;p131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of these priority arrays contains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list of tasks indexed according to priority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pic>
        <p:nvPicPr>
          <p:cNvPr id="1689" name="Google Shape;1689;p131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691" name="Google Shape;1691;p1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92" name="Google Shape;1692;p1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32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699" name="Google Shape;1699;p132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scheduler chooses the task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with the highest priority from the active array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 for execution on the CPU. 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pic>
        <p:nvPicPr>
          <p:cNvPr id="1700" name="Google Shape;1700;p132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02" name="Google Shape;1702;p1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03" name="Google Shape;1703;p1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33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710" name="Google Shape;1710;p133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multiprocessor machines,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each processor is scheduling the highest-priority task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from its own runqueue structure.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all tasks have exhausted their time slices (that is, the active array is empty),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two priority arrays are exchanged;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expired array becomes the active array, and vice versa.</a:t>
            </a:r>
            <a:endParaRPr b="1" sz="2400" u="sng"/>
          </a:p>
        </p:txBody>
      </p:sp>
      <p:sp>
        <p:nvSpPr>
          <p:cNvPr id="1711" name="Google Shape;1711;p1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12" name="Google Shape;1712;p1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13" name="Google Shape;1713;p1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34"/>
          <p:cNvSpPr txBox="1"/>
          <p:nvPr>
            <p:ph type="title"/>
          </p:nvPr>
        </p:nvSpPr>
        <p:spPr>
          <a:xfrm>
            <a:off x="457200" y="1635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Linux Scheduling (Cont.)</a:t>
            </a:r>
            <a:endParaRPr/>
          </a:p>
        </p:txBody>
      </p:sp>
      <p:sp>
        <p:nvSpPr>
          <p:cNvPr id="1719" name="Google Shape;1719;p134"/>
          <p:cNvSpPr txBox="1"/>
          <p:nvPr>
            <p:ph idx="1" type="body"/>
          </p:nvPr>
        </p:nvSpPr>
        <p:spPr>
          <a:xfrm>
            <a:off x="699476" y="716129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Real-time scheduling according to POSIX.1b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Real-time tasks are assigned static priorities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Other tasks have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dynamic priorities</a:t>
            </a:r>
            <a:r>
              <a:rPr lang="en-US" sz="2400"/>
              <a:t> that are based on their </a:t>
            </a:r>
            <a:r>
              <a:rPr i="1" lang="en-US" sz="2400"/>
              <a:t>nice </a:t>
            </a:r>
            <a:r>
              <a:rPr lang="en-US" sz="2400"/>
              <a:t>values plus or minus the value 5.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interactivity of a task determines whether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value 5 will be added to or subtracted from the </a:t>
            </a:r>
            <a:r>
              <a:rPr i="1" lang="en-US"/>
              <a:t>nice </a:t>
            </a:r>
            <a:r>
              <a:rPr lang="en-US"/>
              <a:t>value. </a:t>
            </a:r>
            <a:endParaRPr/>
          </a:p>
        </p:txBody>
      </p:sp>
      <p:pic>
        <p:nvPicPr>
          <p:cNvPr descr="Screen Shot 2012-12-17 at 9.28.34 PM.png" id="1720" name="Google Shape;1720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4489046"/>
            <a:ext cx="5145609" cy="170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34"/>
          <p:cNvSpPr/>
          <p:nvPr/>
        </p:nvSpPr>
        <p:spPr>
          <a:xfrm>
            <a:off x="6335688" y="4308281"/>
            <a:ext cx="2808312" cy="730862"/>
          </a:xfrm>
          <a:prstGeom prst="ellipse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134"/>
          <p:cNvSpPr/>
          <p:nvPr/>
        </p:nvSpPr>
        <p:spPr>
          <a:xfrm>
            <a:off x="7236296" y="3797609"/>
            <a:ext cx="1269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 values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24" name="Google Shape;1724;p1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25" name="Google Shape;1725;p1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6" name="Google Shape;1726;p134"/>
          <p:cNvPicPr preferRelativeResize="0"/>
          <p:nvPr/>
        </p:nvPicPr>
        <p:blipFill rotWithShape="1">
          <a:blip r:embed="rId4">
            <a:alphaModFix/>
          </a:blip>
          <a:srcRect b="16254" l="0" r="26325" t="7698"/>
          <a:stretch/>
        </p:blipFill>
        <p:spPr>
          <a:xfrm>
            <a:off x="100956" y="4166940"/>
            <a:ext cx="3678956" cy="2025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35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732" name="Google Shape;1732;p135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task's interactivity is determined by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how long it has been sleeping while waiting for I/0.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733" name="Google Shape;1733;p1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34" name="Google Shape;1734;p1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35" name="Google Shape;1735;p1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136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741" name="Google Shape;1741;p136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Tasks that are more interactive typically have longer sleep times and therefore are more likely to have adjustments closer to -5,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the scheduler favors interactive tasks, The result of such adjustments will be higher priorities for these tasks.</a:t>
            </a:r>
            <a:endParaRPr sz="2400"/>
          </a:p>
        </p:txBody>
      </p:sp>
      <p:pic>
        <p:nvPicPr>
          <p:cNvPr descr="Screen Shot 2012-12-17 at 9.28.34 PM.png" id="1742" name="Google Shape;1742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44" name="Google Shape;1744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45" name="Google Shape;1745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37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751" name="Google Shape;1751;p137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Conversely, tasks with shorter sleep times are often more CPU-bound and thus will have their priorities lowered.</a:t>
            </a:r>
            <a:endParaRPr sz="2400"/>
          </a:p>
        </p:txBody>
      </p:sp>
      <p:pic>
        <p:nvPicPr>
          <p:cNvPr descr="Screen Shot 2012-12-17 at 9.28.34 PM.png" id="1752" name="Google Shape;1752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54" name="Google Shape;1754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55" name="Google Shape;1755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38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761" name="Google Shape;1761;p138"/>
          <p:cNvSpPr txBox="1"/>
          <p:nvPr>
            <p:ph idx="1" type="body"/>
          </p:nvPr>
        </p:nvSpPr>
        <p:spPr>
          <a:xfrm>
            <a:off x="692795" y="692696"/>
            <a:ext cx="779145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Interactive Processes ?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–"/>
            </a:pPr>
            <a:r>
              <a:rPr b="1" lang="en-US" u="sng">
                <a:solidFill>
                  <a:schemeClr val="accent1"/>
                </a:solidFill>
              </a:rPr>
              <a:t>These interact constantly with their users, and therefore spend a lot of time waiting for keypresses and mouse operations. </a:t>
            </a:r>
            <a:endParaRPr b="1" u="sng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–"/>
            </a:pPr>
            <a:r>
              <a:rPr b="1" lang="en-US" u="sng">
                <a:solidFill>
                  <a:schemeClr val="accent1"/>
                </a:solidFill>
              </a:rPr>
              <a:t>When input is received, the process must be woken up quickly, or the user will find the system to be unresponsive. </a:t>
            </a:r>
            <a:endParaRPr b="1" u="sng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Typically, the average delay must fall between 50 and 150 ms.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 variance of such delay must also be bounded, or the user will find the system to be erratic.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u="sng"/>
              <a:t>Typical interactive programs are command shells, text editors, and graphical applications.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/>
          </a:p>
        </p:txBody>
      </p:sp>
      <p:sp>
        <p:nvSpPr>
          <p:cNvPr id="1762" name="Google Shape;1762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63" name="Google Shape;1763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64" name="Google Shape;1764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139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771" name="Google Shape;1771;p139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1" lang="en-US" sz="2400"/>
              <a:t>Completely Fair Scheduler </a:t>
            </a:r>
            <a:r>
              <a:rPr lang="en-US" sz="2400"/>
              <a:t>(CFS)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is default scheduling process since version 2.6.23.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Elegant handling of I/O and CPU bound process.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 u="sng">
                <a:solidFill>
                  <a:schemeClr val="accent1"/>
                </a:solidFill>
              </a:rPr>
              <a:t>Each runnable process have a virtual time associated with it in PCB (process control block).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772" name="Google Shape;1772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73" name="Google Shape;1773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74" name="Google Shape;1774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140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781" name="Google Shape;1781;p140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Whenever a context switch happens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then current running process virtual time is increased by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virtualruntime_currprocess+=T.</a:t>
            </a:r>
            <a:br>
              <a:rPr b="1" lang="en-US" sz="2400"/>
            </a:br>
            <a:r>
              <a:rPr b="1" lang="en-US" sz="2400"/>
              <a:t>where </a:t>
            </a:r>
            <a:r>
              <a:rPr b="1" lang="en-US" sz="2400" u="sng"/>
              <a:t>T is time for which it is executed recently.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Runtime for the process therefore monotonically </a:t>
            </a:r>
            <a:r>
              <a:rPr b="1" lang="en-US" sz="2400" u="sng"/>
              <a:t>increases.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So initially every process have some starting virtual time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782" name="Google Shape;1782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83" name="Google Shape;1783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84" name="Google Shape;1784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41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791" name="Google Shape;1791;p141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CFS is quite simple algorithm for the process scheduling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is implemented </a:t>
            </a:r>
            <a:r>
              <a:rPr b="1" lang="en-US" sz="2400" u="sng"/>
              <a:t>using RED BLACK Trees and not queues.</a:t>
            </a:r>
            <a:br>
              <a:rPr lang="en-US" sz="2400"/>
            </a:b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So all the process which are on main memory are inserted into Red Black trees and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whenever a new process comes it is inserted into the tree.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As we know that Red Black trees are self Balancing binary Search trees.</a:t>
            </a:r>
            <a:endParaRPr/>
          </a:p>
        </p:txBody>
      </p:sp>
      <p:sp>
        <p:nvSpPr>
          <p:cNvPr id="1792" name="Google Shape;1792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793" name="Google Shape;1793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94" name="Google Shape;1794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42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801" name="Google Shape;1801;p142"/>
          <p:cNvSpPr txBox="1"/>
          <p:nvPr>
            <p:ph idx="1" type="body"/>
          </p:nvPr>
        </p:nvSpPr>
        <p:spPr>
          <a:xfrm>
            <a:off x="683568" y="90872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</a:t>
            </a:r>
            <a:r>
              <a:rPr b="1" lang="en-US" sz="2400"/>
              <a:t>context switch</a:t>
            </a:r>
            <a:r>
              <a:rPr lang="en-US" sz="2400"/>
              <a:t> occurs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virtual time for the current process which was executing is updated 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The new process is decided </a:t>
            </a:r>
            <a:endParaRPr b="1" sz="2400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which has lowest virtual time and </a:t>
            </a:r>
            <a:endParaRPr b="1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that we know that is left most node of Red Black tree.</a:t>
            </a:r>
            <a:endParaRPr b="1" u="sng">
              <a:solidFill>
                <a:srgbClr val="00B0F0"/>
              </a:solidFill>
            </a:endParaRPr>
          </a:p>
        </p:txBody>
      </p:sp>
      <p:pic>
        <p:nvPicPr>
          <p:cNvPr descr="Screen Shot 2012-12-17 at 9.25.06 PM.png" id="1802" name="Google Shape;1802;p142"/>
          <p:cNvPicPr preferRelativeResize="0"/>
          <p:nvPr/>
        </p:nvPicPr>
        <p:blipFill rotWithShape="1">
          <a:blip r:embed="rId3">
            <a:alphaModFix/>
          </a:blip>
          <a:srcRect b="41564" l="6238" r="7718" t="16772"/>
          <a:stretch/>
        </p:blipFill>
        <p:spPr>
          <a:xfrm>
            <a:off x="1691680" y="4365105"/>
            <a:ext cx="5688632" cy="18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04" name="Google Shape;1804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05" name="Google Shape;1805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43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812" name="Google Shape;1812;p143"/>
          <p:cNvSpPr txBox="1"/>
          <p:nvPr>
            <p:ph idx="1" type="body"/>
          </p:nvPr>
        </p:nvSpPr>
        <p:spPr>
          <a:xfrm>
            <a:off x="683568" y="90872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the current process still has some burst time then it is inserted into the Red Black tree.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So this way each process gets fair time for the execution as </a:t>
            </a:r>
            <a:endParaRPr b="1" sz="2400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after every context switch the virtual time of a process increases and </a:t>
            </a:r>
            <a:endParaRPr b="1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thus priority shuffles.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 u="sng">
              <a:solidFill>
                <a:srgbClr val="3366FF"/>
              </a:solidFill>
            </a:endParaRPr>
          </a:p>
        </p:txBody>
      </p:sp>
      <p:sp>
        <p:nvSpPr>
          <p:cNvPr id="1813" name="Google Shape;1813;p1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14" name="Google Shape;1814;p1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15" name="Google Shape;1815;p1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44"/>
          <p:cNvSpPr txBox="1"/>
          <p:nvPr>
            <p:ph type="title"/>
          </p:nvPr>
        </p:nvSpPr>
        <p:spPr>
          <a:xfrm>
            <a:off x="827088" y="138113"/>
            <a:ext cx="7859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CFS Performance</a:t>
            </a:r>
            <a:endParaRPr/>
          </a:p>
        </p:txBody>
      </p:sp>
      <p:pic>
        <p:nvPicPr>
          <p:cNvPr descr="Screen Shot 2012-12-17 at 9.25.06 PM.png" id="1822" name="Google Shape;1822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1" y="1077913"/>
            <a:ext cx="8136903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24" name="Google Shape;1824;p1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25" name="Google Shape;1825;p1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31" name="Google Shape;1831;p1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832" name="Google Shape;1832;p1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33" name="Google Shape;1833;p1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34" name="Google Shape;1834;p1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46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41" name="Google Shape;1841;p146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Distinction between user-level and kernel-level threads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On operating systems that support them, </a:t>
            </a:r>
            <a:endParaRPr sz="26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–"/>
            </a:pPr>
            <a:r>
              <a:rPr b="1" lang="en-US" sz="2600" u="sng">
                <a:solidFill>
                  <a:srgbClr val="00B0F0"/>
                </a:solidFill>
              </a:rPr>
              <a:t>it is kernel-level threads-not processes-that are being scheduled by the operating system. </a:t>
            </a:r>
            <a:endParaRPr b="1" sz="2600" u="sng">
              <a:solidFill>
                <a:srgbClr val="00B0F0"/>
              </a:solidFill>
            </a:endParaRPr>
          </a:p>
          <a:p>
            <a:pPr indent="-1206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 u="sng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–"/>
            </a:pPr>
            <a:r>
              <a:rPr b="1" lang="en-US" sz="2600" u="sng">
                <a:solidFill>
                  <a:srgbClr val="00B0F0"/>
                </a:solidFill>
              </a:rPr>
              <a:t>User-level threads are managed by a thread library, and the kernel is unaware of them.</a:t>
            </a:r>
            <a:endParaRPr b="1" sz="2600" u="sng">
              <a:solidFill>
                <a:srgbClr val="00B0F0"/>
              </a:solidFill>
            </a:endParaRPr>
          </a:p>
        </p:txBody>
      </p:sp>
      <p:sp>
        <p:nvSpPr>
          <p:cNvPr id="1842" name="Google Shape;1842;p1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43" name="Google Shape;1843;p1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44" name="Google Shape;1844;p1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47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51" name="Google Shape;1851;p147"/>
          <p:cNvSpPr txBox="1"/>
          <p:nvPr>
            <p:ph idx="1" type="body"/>
          </p:nvPr>
        </p:nvSpPr>
        <p:spPr>
          <a:xfrm>
            <a:off x="755576" y="980728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run on a CPU, user-level threads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must ultimately be mapped to an associated kernel-level thread, </a:t>
            </a:r>
            <a:endParaRPr b="1" sz="2400" u="sng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Although this mapping may be indirect and may use a lightweight process (LWP).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52" name="Google Shape;1852;p1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53" name="Google Shape;1853;p1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54" name="Google Shape;1854;p1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55" name="Google Shape;1855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808" y="3140968"/>
            <a:ext cx="2743200" cy="32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8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62" name="Google Shape;1862;p148"/>
          <p:cNvSpPr txBox="1"/>
          <p:nvPr>
            <p:ph idx="1" type="body"/>
          </p:nvPr>
        </p:nvSpPr>
        <p:spPr>
          <a:xfrm>
            <a:off x="251520" y="764704"/>
            <a:ext cx="5445613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LWP-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Light-weight process are threads in the user space that acts as an interface for the ULT to access the physical CPU resources.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63" name="Google Shape;1863;p1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64" name="Google Shape;1864;p1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65" name="Google Shape;1865;p1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6" name="Google Shape;1866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49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73" name="Google Shape;1873;p149"/>
          <p:cNvSpPr txBox="1"/>
          <p:nvPr>
            <p:ph idx="1" type="body"/>
          </p:nvPr>
        </p:nvSpPr>
        <p:spPr>
          <a:xfrm>
            <a:off x="251520" y="764704"/>
            <a:ext cx="5445613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LWP-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Thread library schedules which thread of a process to run on which LWP and how long.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number of LWP created by the thread library depends on the type of application</a:t>
            </a:r>
            <a:endParaRPr b="1" sz="2400" u="sng">
              <a:solidFill>
                <a:srgbClr val="00B0F0"/>
              </a:solidFill>
            </a:endParaRPr>
          </a:p>
        </p:txBody>
      </p:sp>
      <p:sp>
        <p:nvSpPr>
          <p:cNvPr id="1874" name="Google Shape;1874;p1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75" name="Google Shape;1875;p1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76" name="Google Shape;1876;p1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77" name="Google Shape;1877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50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1884" name="Google Shape;1884;p150"/>
          <p:cNvSpPr txBox="1"/>
          <p:nvPr>
            <p:ph idx="1" type="body"/>
          </p:nvPr>
        </p:nvSpPr>
        <p:spPr>
          <a:xfrm>
            <a:off x="755576" y="980728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we say the thread library </a:t>
            </a:r>
            <a:r>
              <a:rPr i="1" lang="en-US" sz="2400"/>
              <a:t>schedules </a:t>
            </a:r>
            <a:r>
              <a:rPr lang="en-US" sz="2400"/>
              <a:t>user threads onto available LWPs,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we do not mean that the thread is actually running on a CPU;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this would require the operating system to schedule the kernel thread onto a physical CPU.</a:t>
            </a:r>
            <a:endParaRPr/>
          </a:p>
        </p:txBody>
      </p:sp>
      <p:sp>
        <p:nvSpPr>
          <p:cNvPr id="1885" name="Google Shape;1885;p1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86" name="Google Shape;1886;p1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87" name="Google Shape;1887;p1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51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Process Contention Scope (PCS) </a:t>
            </a:r>
            <a:endParaRPr sz="3600"/>
          </a:p>
        </p:txBody>
      </p:sp>
      <p:sp>
        <p:nvSpPr>
          <p:cNvPr id="1894" name="Google Shape;1894;p151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Many-to-one and many-to-many models,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 u="sng">
                <a:solidFill>
                  <a:schemeClr val="accent1"/>
                </a:solidFill>
              </a:rPr>
              <a:t>thread library schedules user-level threads to run on LWP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Known as </a:t>
            </a:r>
            <a:r>
              <a:rPr b="1" lang="en-US" sz="2400" u="sng">
                <a:solidFill>
                  <a:srgbClr val="3366FF"/>
                </a:solidFill>
              </a:rPr>
              <a:t>process-contention scope </a:t>
            </a:r>
            <a:r>
              <a:rPr b="1" lang="en-US" sz="2400" u="sng"/>
              <a:t>(</a:t>
            </a:r>
            <a:r>
              <a:rPr b="1" lang="en-US" sz="2400" u="sng">
                <a:solidFill>
                  <a:srgbClr val="3366FF"/>
                </a:solidFill>
              </a:rPr>
              <a:t>PCS</a:t>
            </a:r>
            <a:r>
              <a:rPr b="1" lang="en-US" sz="2400" u="sng"/>
              <a:t>) since scheduling competition is within the process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Typically done via priority set by programmer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The contention takes place among threads </a:t>
            </a:r>
            <a:r>
              <a:rPr b="1" lang="en-US" sz="2400" u="sng"/>
              <a:t>within a same process</a:t>
            </a:r>
            <a:r>
              <a:rPr lang="en-US" sz="2400" u="sng"/>
              <a:t>. </a:t>
            </a:r>
            <a:endParaRPr sz="2400" u="sng"/>
          </a:p>
        </p:txBody>
      </p:sp>
      <p:sp>
        <p:nvSpPr>
          <p:cNvPr id="1895" name="Google Shape;1895;p1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896" name="Google Shape;1896;p1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97" name="Google Shape;1897;p1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52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System Contention Scope (SCS) </a:t>
            </a:r>
            <a:endParaRPr sz="3600"/>
          </a:p>
        </p:txBody>
      </p:sp>
      <p:sp>
        <p:nvSpPr>
          <p:cNvPr id="1904" name="Google Shape;1904;p152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Kernel thread scheduled onto available CPU is </a:t>
            </a:r>
            <a:r>
              <a:rPr b="1" lang="en-US" sz="2400" u="sng">
                <a:solidFill>
                  <a:srgbClr val="3366FF"/>
                </a:solidFill>
              </a:rPr>
              <a:t>system-contention scope</a:t>
            </a:r>
            <a:r>
              <a:rPr b="1" lang="en-US" sz="2400" u="sng"/>
              <a:t> (</a:t>
            </a:r>
            <a:r>
              <a:rPr b="1" lang="en-US" sz="2400" u="sng">
                <a:solidFill>
                  <a:srgbClr val="3366FF"/>
                </a:solidFill>
              </a:rPr>
              <a:t>SCS</a:t>
            </a:r>
            <a:r>
              <a:rPr b="1" lang="en-US" sz="2400" u="sng"/>
              <a:t>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i.e. Decide which Kernel thread to execute on the CPU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Competition for the CPU with SCS scheduling takes place among all kernel threads in system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contention takes place among </a:t>
            </a:r>
            <a:r>
              <a:rPr b="1" lang="en-US" sz="2400"/>
              <a:t>all kernel threads in the system</a:t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sp>
        <p:nvSpPr>
          <p:cNvPr id="1905" name="Google Shape;1905;p1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06" name="Google Shape;1906;p1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07" name="Google Shape;1907;p1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53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PCS Scheduling</a:t>
            </a:r>
            <a:endParaRPr/>
          </a:p>
        </p:txBody>
      </p:sp>
      <p:sp>
        <p:nvSpPr>
          <p:cNvPr id="1914" name="Google Shape;1914;p153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PCS is done according to priority-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scheduler selects the runnable thread with the highest priority to run.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User-level thread priorities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are set by the programmer and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are not adjusted by the thread library,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Although some thread libraries may allow the programmer to change the priority of a thread. </a:t>
            </a:r>
            <a:endParaRPr b="1" sz="2400" u="sng"/>
          </a:p>
        </p:txBody>
      </p:sp>
      <p:sp>
        <p:nvSpPr>
          <p:cNvPr id="1915" name="Google Shape;1915;p1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16" name="Google Shape;1916;p1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17" name="Google Shape;1917;p1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54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PCS Scheduling</a:t>
            </a:r>
            <a:endParaRPr/>
          </a:p>
        </p:txBody>
      </p:sp>
      <p:sp>
        <p:nvSpPr>
          <p:cNvPr id="1924" name="Google Shape;1924;p154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PCS will typically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preempt the thread currently running in favor of a higher-priority thread;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However, there is no guarantee of time slicing among threads of equal priority.</a:t>
            </a:r>
            <a:endParaRPr b="1" sz="2400" u="sng"/>
          </a:p>
        </p:txBody>
      </p:sp>
      <p:sp>
        <p:nvSpPr>
          <p:cNvPr id="1925" name="Google Shape;1925;p1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26" name="Google Shape;1926;p1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27" name="Google Shape;1927;p1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5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</a:t>
            </a:r>
            <a:endParaRPr/>
          </a:p>
        </p:txBody>
      </p:sp>
      <p:sp>
        <p:nvSpPr>
          <p:cNvPr id="1934" name="Google Shape;1934;p155"/>
          <p:cNvSpPr txBox="1"/>
          <p:nvPr>
            <p:ph idx="1" type="body"/>
          </p:nvPr>
        </p:nvSpPr>
        <p:spPr>
          <a:xfrm>
            <a:off x="395536" y="1268760"/>
            <a:ext cx="8496944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POSIX Threads,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Referred to as pthreads,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execution model that exists independently from a language,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a parallel execution model.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POSIX Threads is an API defined by the standard POSIX.1c</a:t>
            </a:r>
            <a:endParaRPr b="1" sz="2400" u="sng"/>
          </a:p>
        </p:txBody>
      </p:sp>
      <p:sp>
        <p:nvSpPr>
          <p:cNvPr id="1935" name="Google Shape;1935;p1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36" name="Google Shape;1936;p1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37" name="Google Shape;1937;p1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156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</a:t>
            </a:r>
            <a:endParaRPr/>
          </a:p>
        </p:txBody>
      </p:sp>
      <p:sp>
        <p:nvSpPr>
          <p:cNvPr id="1944" name="Google Shape;1944;p156"/>
          <p:cNvSpPr txBox="1"/>
          <p:nvPr>
            <p:ph idx="1" type="body"/>
          </p:nvPr>
        </p:nvSpPr>
        <p:spPr>
          <a:xfrm>
            <a:off x="395536" y="1268760"/>
            <a:ext cx="8496944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allows a program to control multiple different flows of work that overlap in time.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flow of work is referred to as a thread.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Creation and control over these flows is achieved by making calls to the POSIX Threads API. </a:t>
            </a:r>
            <a:endParaRPr sz="2400"/>
          </a:p>
        </p:txBody>
      </p:sp>
      <p:sp>
        <p:nvSpPr>
          <p:cNvPr id="1945" name="Google Shape;1945;p1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46" name="Google Shape;1946;p1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47" name="Google Shape;1947;p1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57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1954" name="Google Shape;1954;p157"/>
          <p:cNvSpPr txBox="1"/>
          <p:nvPr>
            <p:ph idx="1" type="body"/>
          </p:nvPr>
        </p:nvSpPr>
        <p:spPr>
          <a:xfrm>
            <a:off x="958850" y="1336675"/>
            <a:ext cx="697865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API allows specifying –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 sz="2800">
                <a:solidFill>
                  <a:srgbClr val="FF0000"/>
                </a:solidFill>
              </a:rPr>
              <a:t>Either PCS or SCS during thread creation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>
                <a:solidFill>
                  <a:srgbClr val="00B0F0"/>
                </a:solidFill>
              </a:rPr>
              <a:t>PTHREAD_SCOPE_PROCESS schedules threads using PCS scheduling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>
                <a:solidFill>
                  <a:srgbClr val="00B0F0"/>
                </a:solidFill>
              </a:rPr>
              <a:t>PTHREAD_SCOPE_SYSTEM schedules threads using SCS scheduling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955" name="Google Shape;1955;p1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56" name="Google Shape;1956;p1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57" name="Google Shape;1957;p1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5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1964" name="Google Shape;1964;p158"/>
          <p:cNvSpPr txBox="1"/>
          <p:nvPr>
            <p:ph idx="1" type="body"/>
          </p:nvPr>
        </p:nvSpPr>
        <p:spPr>
          <a:xfrm>
            <a:off x="958850" y="1336675"/>
            <a:ext cx="697865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Systems using the </a:t>
            </a:r>
            <a:r>
              <a:rPr lang="en-US" sz="2400">
                <a:solidFill>
                  <a:srgbClr val="00B0F0"/>
                </a:solidFill>
              </a:rPr>
              <a:t>one-to-one model </a:t>
            </a:r>
            <a:endParaRPr sz="2400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such as Windows XP, Solaris, and Linux,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schedule threads </a:t>
            </a:r>
            <a:r>
              <a:rPr lang="en-US" sz="2400">
                <a:solidFill>
                  <a:srgbClr val="00B0F0"/>
                </a:solidFill>
              </a:rPr>
              <a:t>using only SCS.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Can be limited by OS – Linux and Mac OS X only allow PTHREAD_SCOPE_SYSTEM</a:t>
            </a:r>
            <a:endParaRPr/>
          </a:p>
        </p:txBody>
      </p:sp>
      <p:sp>
        <p:nvSpPr>
          <p:cNvPr id="1965" name="Google Shape;1965;p1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66" name="Google Shape;1966;p1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67" name="Google Shape;1967;p1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159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1974" name="Google Shape;1974;p159"/>
          <p:cNvSpPr txBox="1"/>
          <p:nvPr>
            <p:ph idx="1" type="body"/>
          </p:nvPr>
        </p:nvSpPr>
        <p:spPr>
          <a:xfrm>
            <a:off x="539552" y="1340768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Pthread IPC provides two functions </a:t>
            </a:r>
            <a:r>
              <a:rPr b="1" lang="en-US" sz="2400" u="sng"/>
              <a:t>for getting-and setting-the contention scope policy: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</p:txBody>
      </p:sp>
      <p:sp>
        <p:nvSpPr>
          <p:cNvPr id="1975" name="Google Shape;1975;p1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76" name="Google Shape;1976;p1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77" name="Google Shape;1977;p1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6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1984" name="Google Shape;1984;p160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Sets the thread contention scope attribute in the thread attribute object attr to the value specified in scope.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Sets the scope attribute in the </a:t>
            </a:r>
            <a:r>
              <a:rPr b="1" lang="en-US" sz="2400"/>
              <a:t>attr</a:t>
            </a:r>
            <a:r>
              <a:rPr lang="en-US" sz="2400"/>
              <a:t> object.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B0F0"/>
              </a:solidFill>
            </a:endParaRPr>
          </a:p>
        </p:txBody>
      </p:sp>
      <p:sp>
        <p:nvSpPr>
          <p:cNvPr id="1985" name="Google Shape;1985;p1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86" name="Google Shape;1986;p1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87" name="Google Shape;1987;p1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8" name="Google Shape;1988;p160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61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1995" name="Google Shape;1995;p161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1</a:t>
            </a:r>
            <a:r>
              <a:rPr baseline="30000" lang="en-US" sz="2400"/>
              <a:t>st</a:t>
            </a:r>
            <a:r>
              <a:rPr lang="en-US" sz="2400"/>
              <a:t> parameter for both functions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attr -Specifies the thread attributes object.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the pthread_attr_t structure that defines the attributes to use when creating new threads</a:t>
            </a:r>
            <a:endParaRPr b="1" sz="2400">
              <a:solidFill>
                <a:srgbClr val="00B0F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1996" name="Google Shape;1996;p1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1997" name="Google Shape;1997;p1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98" name="Google Shape;1998;p1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9" name="Google Shape;1999;p161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62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006" name="Google Shape;2006;p162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2</a:t>
            </a:r>
            <a:r>
              <a:rPr baseline="30000" lang="en-US" sz="2400"/>
              <a:t>nd</a:t>
            </a:r>
            <a:r>
              <a:rPr lang="en-US" sz="2400"/>
              <a:t> parameter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The new value for the contention scope attribute</a:t>
            </a:r>
            <a:endParaRPr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The second parameter defines the scope of contention for the thread pointed.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 takes two values.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PTHREAD_SCOPE_SYSTEM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PTHREAD_SCOPE_PROCESS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indicating how the contention scope is to be set.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2007" name="Google Shape;2007;p1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08" name="Google Shape;2008;p1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09" name="Google Shape;2009;p1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0" name="Google Shape;2010;p162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16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017" name="Google Shape;2017;p163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Return Values-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Upon successful completion, the pthread_attr_getscope and pthread_attr_setscope subroutines return a value of 0.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Otherwise, an error number is returned to indicate the error.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2018" name="Google Shape;2018;p1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19" name="Google Shape;2019;p1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20" name="Google Shape;2020;p1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1" name="Google Shape;2021;p163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https://www.ibm.com/docs/en/aix/7.2?topic=p-pthread-attr-getscope-pthread-attr-setscope-subroutines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64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028" name="Google Shape;2028;p164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Gets the thread contention scope attribute from the thread attribute object </a:t>
            </a:r>
            <a:r>
              <a:rPr i="1" lang="en-US" sz="2400"/>
              <a:t>attr</a:t>
            </a:r>
            <a:r>
              <a:rPr lang="en-US" sz="2400"/>
              <a:t> and returns it in </a:t>
            </a:r>
            <a:r>
              <a:rPr i="1" lang="en-US" sz="2400"/>
              <a:t>scope</a:t>
            </a:r>
            <a:r>
              <a:rPr lang="en-US" sz="2400"/>
              <a:t>. 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29" name="Google Shape;2029;p1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30" name="Google Shape;2030;p1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31" name="Google Shape;2031;p1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2" name="Google Shape;2032;p164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6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039" name="Google Shape;2039;p165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1</a:t>
            </a:r>
            <a:r>
              <a:rPr baseline="30000" lang="en-US" sz="2400"/>
              <a:t>st</a:t>
            </a:r>
            <a:r>
              <a:rPr lang="en-US" sz="2400"/>
              <a:t> parameter for both functions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attr -Specifies the thread attributes object.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A pointer to the pthread_attr_t structure that defines the attributes to use when creating new threads</a:t>
            </a:r>
            <a:endParaRPr b="1" sz="2400" u="sng">
              <a:solidFill>
                <a:srgbClr val="00B0F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2</a:t>
            </a:r>
            <a:r>
              <a:rPr baseline="30000" lang="en-US" sz="2400"/>
              <a:t>nd</a:t>
            </a:r>
            <a:r>
              <a:rPr lang="en-US" sz="2400"/>
              <a:t> parameter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A pointer to a location where the function can store the current contention scope. </a:t>
            </a:r>
            <a:endParaRPr sz="2400" u="sng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40" name="Google Shape;2040;p1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41" name="Google Shape;2041;p1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42" name="Google Shape;2042;p1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3" name="Google Shape;2043;p165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66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050" name="Google Shape;2050;p166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The thread attributes structure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you start a new thread, it can assume some well-defined defaults, or you can explicitly specify its characteristics. 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051" name="Google Shape;2051;p1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52" name="Google Shape;2052;p1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53" name="Google Shape;2053;p1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4" name="Google Shape;2054;p166"/>
          <p:cNvSpPr/>
          <p:nvPr/>
        </p:nvSpPr>
        <p:spPr>
          <a:xfrm>
            <a:off x="0" y="6242828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http://www.qnx.com/developers/docs/qnxcar2/index.jsp?topic=%2Fcom.qnx.doc.neutrino.getting_started%2Ftopic%2Fs1_procs_thread_attr.html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167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061" name="Google Shape;2061;p167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Let's look at the pthread_attr_t data type: </a:t>
            </a:r>
            <a:endParaRPr sz="2000"/>
          </a:p>
        </p:txBody>
      </p:sp>
      <p:sp>
        <p:nvSpPr>
          <p:cNvPr id="2062" name="Google Shape;2062;p1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63" name="Google Shape;2063;p1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64" name="Google Shape;2064;p1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5" name="Google Shape;2065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23" y="1772817"/>
            <a:ext cx="6821213" cy="3572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6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072" name="Google Shape;2072;p168"/>
          <p:cNvSpPr txBox="1"/>
          <p:nvPr>
            <p:ph idx="1" type="body"/>
          </p:nvPr>
        </p:nvSpPr>
        <p:spPr>
          <a:xfrm>
            <a:off x="395536" y="306896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Basically, the fields are used as follows: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__flags -Non-numerical (Boolean) characteristics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__stacksize, __stackaddr, and __guardsize-Stack specifications.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__exitfunc-    Function to execute at thread exit.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__policy and __param- Scheduling parameters. </a:t>
            </a:r>
            <a:endParaRPr sz="2000"/>
          </a:p>
        </p:txBody>
      </p:sp>
      <p:sp>
        <p:nvSpPr>
          <p:cNvPr id="2073" name="Google Shape;2073;p1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74" name="Google Shape;2074;p1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75" name="Google Shape;2075;p1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6" name="Google Shape;2076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908720"/>
            <a:ext cx="7992888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69"/>
          <p:cNvSpPr txBox="1"/>
          <p:nvPr>
            <p:ph type="title"/>
          </p:nvPr>
        </p:nvSpPr>
        <p:spPr>
          <a:xfrm>
            <a:off x="493204" y="-334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Example</a:t>
            </a:r>
            <a:endParaRPr/>
          </a:p>
        </p:txBody>
      </p:sp>
      <p:sp>
        <p:nvSpPr>
          <p:cNvPr id="2083" name="Google Shape;2083;p169"/>
          <p:cNvSpPr/>
          <p:nvPr/>
        </p:nvSpPr>
        <p:spPr>
          <a:xfrm>
            <a:off x="539552" y="1261502"/>
            <a:ext cx="770485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first determines the existing contention scope and sets it to PTHREAD_SCOPE_SYSTEM. 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then creates five separate threads that will run using the SCS scheduling policy.</a:t>
            </a:r>
            <a:endParaRPr/>
          </a:p>
        </p:txBody>
      </p:sp>
      <p:sp>
        <p:nvSpPr>
          <p:cNvPr id="2084" name="Google Shape;2084;p1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85" name="Google Shape;2085;p1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86" name="Google Shape;2086;p1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7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093" name="Google Shape;2093;p170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pthread_attr_init()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Initialize a thread-attribute object</a:t>
            </a:r>
            <a:r>
              <a:rPr lang="en-US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pthread_attr_init( pthread_attr_t *</a:t>
            </a:r>
            <a:r>
              <a:rPr i="1" lang="en-US" sz="2400"/>
              <a:t>attr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attr</a:t>
            </a:r>
            <a:r>
              <a:rPr lang="en-US" sz="2400"/>
              <a:t> -A pointer to the pthread_attr_t structure that you want to initialize.</a:t>
            </a:r>
            <a:endParaRPr/>
          </a:p>
        </p:txBody>
      </p:sp>
      <p:sp>
        <p:nvSpPr>
          <p:cNvPr id="2094" name="Google Shape;2094;p1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095" name="Google Shape;2095;p1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96" name="Google Shape;2096;p1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7" name="Google Shape;2097;p170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71"/>
          <p:cNvSpPr txBox="1"/>
          <p:nvPr>
            <p:ph type="title"/>
          </p:nvPr>
        </p:nvSpPr>
        <p:spPr>
          <a:xfrm>
            <a:off x="493204" y="-334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Example</a:t>
            </a:r>
            <a:endParaRPr/>
          </a:p>
        </p:txBody>
      </p:sp>
      <p:sp>
        <p:nvSpPr>
          <p:cNvPr id="2104" name="Google Shape;2104;p171"/>
          <p:cNvSpPr txBox="1"/>
          <p:nvPr>
            <p:ph idx="1" type="body"/>
          </p:nvPr>
        </p:nvSpPr>
        <p:spPr>
          <a:xfrm>
            <a:off x="899592" y="836712"/>
            <a:ext cx="6818312" cy="571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#include &lt;pthread.h&gt;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#include &lt;stdio.h&gt;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#define NUM_THREADS 5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int main(int argc, char *argv[]) {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int i, scope;</a:t>
            </a:r>
            <a:br>
              <a:rPr lang="en-US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pthread_t tid[NUM THREADS];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pthread_attr_t attr;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/* get the default attributes */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pthread_attr_init(&amp;attr);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/* first inquire on the current scope */</a:t>
            </a:r>
            <a:br>
              <a:rPr lang="en-US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if (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pthread_attr_getscope(&amp;attr, &amp;scope) != 0)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fprintf(stderr, "Unable to get scheduling scope\n");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else {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if (scope == PTHREAD_SCOPE_PROCESS)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printf("PTHREAD_SCOPE_PROCESS");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 if (scope == PTHREAD_SCOPE_SYSTEM)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printf("PTHREAD_SCOPE_SYSTEM");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b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fprintf(stderr, "Illegal scope value.\n");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endParaRPr/>
          </a:p>
        </p:txBody>
      </p:sp>
      <p:sp>
        <p:nvSpPr>
          <p:cNvPr id="2105" name="Google Shape;2105;p1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06" name="Google Shape;2106;p1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07" name="Google Shape;2107;p1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8" name="Google Shape;2108;p171"/>
          <p:cNvSpPr/>
          <p:nvPr/>
        </p:nvSpPr>
        <p:spPr>
          <a:xfrm>
            <a:off x="715937" y="2852936"/>
            <a:ext cx="4824536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72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115" name="Google Shape;2115;p172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  <p:sp>
        <p:nvSpPr>
          <p:cNvPr id="2116" name="Google Shape;2116;p1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17" name="Google Shape;2117;p1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18" name="Google Shape;2118;p1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9" name="Google Shape;2119;p172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17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26" name="Google Shape;2126;p173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pthread_create()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Create a thread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</p:txBody>
      </p:sp>
      <p:sp>
        <p:nvSpPr>
          <p:cNvPr id="2127" name="Google Shape;2127;p1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28" name="Google Shape;2128;p1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29" name="Google Shape;2129;p1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0" name="Google Shape;2130;p173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174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37" name="Google Shape;2137;p174"/>
          <p:cNvSpPr txBox="1"/>
          <p:nvPr>
            <p:ph idx="1" type="body"/>
          </p:nvPr>
        </p:nvSpPr>
        <p:spPr>
          <a:xfrm>
            <a:off x="251520" y="836712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thread</a:t>
            </a:r>
            <a:r>
              <a:rPr lang="en-US" sz="2400"/>
              <a:t>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a pthread_t object where the function can store the thread ID of the new thread. </a:t>
            </a:r>
            <a:endParaRPr sz="2400"/>
          </a:p>
        </p:txBody>
      </p:sp>
      <p:sp>
        <p:nvSpPr>
          <p:cNvPr id="2138" name="Google Shape;2138;p1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39" name="Google Shape;2139;p1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40" name="Google Shape;2140;p1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1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pthread_t</a:t>
            </a:r>
            <a:endParaRPr/>
          </a:p>
        </p:txBody>
      </p:sp>
      <p:sp>
        <p:nvSpPr>
          <p:cNvPr id="2146" name="Google Shape;2146;p1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pthread_t is the data type used to uniquely identify a thread.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Used by the application in function calls that require a thread identifier.</a:t>
            </a:r>
            <a:endParaRPr/>
          </a:p>
        </p:txBody>
      </p:sp>
      <p:sp>
        <p:nvSpPr>
          <p:cNvPr id="2147" name="Google Shape;2147;p1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48" name="Google Shape;2148;p1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49" name="Google Shape;2149;p1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176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56" name="Google Shape;2156;p176"/>
          <p:cNvSpPr txBox="1"/>
          <p:nvPr>
            <p:ph idx="1" type="body"/>
          </p:nvPr>
        </p:nvSpPr>
        <p:spPr>
          <a:xfrm>
            <a:off x="251520" y="836712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attr</a:t>
            </a:r>
            <a:r>
              <a:rPr lang="en-US" sz="2400"/>
              <a:t> 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a pthread_attr_t structure that specifies the attributes of the new thread.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Instead of manipulating the members of this structure directly, use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pthread_attr_init()</a:t>
            </a:r>
            <a:r>
              <a:rPr lang="en-US" sz="2400"/>
              <a:t> and the pthread_attr_set_* functions.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you modify the attributes in </a:t>
            </a:r>
            <a:r>
              <a:rPr i="1" lang="en-US" sz="2400"/>
              <a:t>attr</a:t>
            </a:r>
            <a:r>
              <a:rPr lang="en-US" sz="2400"/>
              <a:t> after creating the thread, the thread's attributes aren't affected. </a:t>
            </a:r>
            <a:endParaRPr sz="2400"/>
          </a:p>
        </p:txBody>
      </p:sp>
      <p:sp>
        <p:nvSpPr>
          <p:cNvPr id="2157" name="Google Shape;2157;p1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58" name="Google Shape;2158;p1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59" name="Google Shape;2159;p1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77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66" name="Google Shape;2166;p177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start_routine</a:t>
            </a:r>
            <a:r>
              <a:rPr lang="en-US" sz="2400"/>
              <a:t>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routine where the thread begins, with </a:t>
            </a:r>
            <a:r>
              <a:rPr i="1" lang="en-US" sz="2400"/>
              <a:t>arg</a:t>
            </a:r>
            <a:r>
              <a:rPr lang="en-US" sz="2400"/>
              <a:t> as its only argument. </a:t>
            </a:r>
            <a:endParaRPr/>
          </a:p>
        </p:txBody>
      </p:sp>
      <p:sp>
        <p:nvSpPr>
          <p:cNvPr id="2167" name="Google Shape;2167;p1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68" name="Google Shape;2168;p1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69" name="Google Shape;2169;p1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0" name="Google Shape;2170;p177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17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77" name="Google Shape;2177;p178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arg</a:t>
            </a:r>
            <a:r>
              <a:rPr lang="en-US" sz="2400"/>
              <a:t> The argument to pass to </a:t>
            </a:r>
            <a:r>
              <a:rPr i="1" lang="en-US" sz="2400"/>
              <a:t>start_routine</a:t>
            </a:r>
            <a:r>
              <a:rPr lang="en-US" sz="2400"/>
              <a:t>. </a:t>
            </a:r>
            <a:endParaRPr/>
          </a:p>
        </p:txBody>
      </p:sp>
      <p:sp>
        <p:nvSpPr>
          <p:cNvPr id="2178" name="Google Shape;2178;p1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79" name="Google Shape;2179;p1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80" name="Google Shape;2180;p1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1" name="Google Shape;2181;p178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179"/>
          <p:cNvSpPr txBox="1"/>
          <p:nvPr>
            <p:ph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pthread_create()</a:t>
            </a:r>
            <a:endParaRPr/>
          </a:p>
        </p:txBody>
      </p:sp>
      <p:sp>
        <p:nvSpPr>
          <p:cNvPr id="2187" name="Google Shape;2187;p179"/>
          <p:cNvSpPr txBox="1"/>
          <p:nvPr>
            <p:ph idx="1"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int pthread_create(pthread_t *</a:t>
            </a:r>
            <a:r>
              <a:rPr i="1" lang="en-US" sz="2400"/>
              <a:t>thread</a:t>
            </a:r>
            <a:r>
              <a:rPr b="1" lang="en-US" sz="2400"/>
              <a:t>, const pthread_attr_t *</a:t>
            </a:r>
            <a:r>
              <a:rPr i="1" lang="en-US" sz="2400"/>
              <a:t>attr</a:t>
            </a:r>
            <a:r>
              <a:rPr b="1" lang="en-US" sz="2400"/>
              <a:t>,</a:t>
            </a:r>
            <a:r>
              <a:rPr lang="en-US" sz="2400"/>
              <a:t> </a:t>
            </a:r>
            <a:r>
              <a:rPr b="1" lang="en-US" sz="2400"/>
              <a:t>void *(*</a:t>
            </a:r>
            <a:r>
              <a:rPr i="1" lang="en-US" sz="2400"/>
              <a:t>start_routine</a:t>
            </a:r>
            <a:r>
              <a:rPr b="1" lang="en-US" sz="2400"/>
              <a:t>) (void *), void *</a:t>
            </a:r>
            <a:r>
              <a:rPr i="1" lang="en-US" sz="2400"/>
              <a:t>arg</a:t>
            </a:r>
            <a:r>
              <a:rPr b="1" lang="en-US" sz="2400"/>
              <a:t>);</a:t>
            </a:r>
            <a:r>
              <a:rPr lang="en-US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RETURN VALUE        </a:t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success, </a:t>
            </a:r>
            <a:r>
              <a:rPr b="1" lang="en-US" sz="2400"/>
              <a:t>pthread_create</a:t>
            </a:r>
            <a:r>
              <a:rPr lang="en-US" sz="2400"/>
              <a:t>() returns 0;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error, it returns an error number, and the contents of </a:t>
            </a:r>
            <a:r>
              <a:rPr i="1" lang="en-US" sz="2400"/>
              <a:t>*thread</a:t>
            </a:r>
            <a:r>
              <a:rPr lang="en-US" sz="2400"/>
              <a:t> are undefined.</a:t>
            </a:r>
            <a:endParaRPr sz="240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18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94" name="Google Shape;2194;p180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pthread_create(&amp;tid[i],&amp;attr,runner,NULL);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195" name="Google Shape;2195;p1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196" name="Google Shape;2196;p1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97" name="Google Shape;2197;p1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180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181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205" name="Google Shape;2205;p181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  <p:sp>
        <p:nvSpPr>
          <p:cNvPr id="2206" name="Google Shape;2206;p1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07" name="Google Shape;2207;p1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08" name="Google Shape;2208;p1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9" name="Google Shape;2209;p181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181"/>
          <p:cNvSpPr/>
          <p:nvPr/>
        </p:nvSpPr>
        <p:spPr>
          <a:xfrm>
            <a:off x="1196008" y="3212976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182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17" name="Google Shape;2217;p182"/>
          <p:cNvSpPr txBox="1"/>
          <p:nvPr>
            <p:ph idx="1" type="body"/>
          </p:nvPr>
        </p:nvSpPr>
        <p:spPr>
          <a:xfrm>
            <a:off x="251520" y="836712"/>
            <a:ext cx="828092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Joining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simplest method of synchronization is to </a:t>
            </a:r>
            <a:r>
              <a:rPr i="1" lang="en-US" sz="2400"/>
              <a:t>join</a:t>
            </a:r>
            <a:r>
              <a:rPr lang="en-US" sz="2400"/>
              <a:t> the threads as they terminate.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Joining really means waiting for termination.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Joining is accomplished by one thread waiting for the termination of another thread. The waiting thread calls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pthread_join()</a:t>
            </a:r>
            <a:endParaRPr sz="2400"/>
          </a:p>
        </p:txBody>
      </p:sp>
      <p:sp>
        <p:nvSpPr>
          <p:cNvPr id="2218" name="Google Shape;2218;p1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19" name="Google Shape;2219;p1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20" name="Google Shape;2220;p1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8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27" name="Google Shape;2227;p183"/>
          <p:cNvSpPr txBox="1"/>
          <p:nvPr>
            <p:ph idx="1" type="body"/>
          </p:nvPr>
        </p:nvSpPr>
        <p:spPr>
          <a:xfrm>
            <a:off x="251520" y="836712"/>
            <a:ext cx="828092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Joining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2228" name="Google Shape;2228;p1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29" name="Google Shape;2229;p1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30" name="Google Shape;2230;p1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1" name="Google Shape;2231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313" y="2200275"/>
            <a:ext cx="71913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84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38" name="Google Shape;2238;p184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pthread_join( pthread_t </a:t>
            </a:r>
            <a:r>
              <a:rPr i="1" lang="en-US" sz="2400"/>
              <a:t>thread</a:t>
            </a:r>
            <a:r>
              <a:rPr lang="en-US" sz="2400"/>
              <a:t>, void**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b="1"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Eg-pthread_join(tid[i], NULL); </a:t>
            </a:r>
            <a:endParaRPr b="1" sz="2400">
              <a:solidFill>
                <a:srgbClr val="00B0F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thread</a:t>
            </a:r>
            <a:r>
              <a:rPr lang="en-US" sz="2400"/>
              <a:t> –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target thread whose termination you're waiting for,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Pass it the thread ID of the thread that you wish to join</a:t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value_ptr –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An optional </a:t>
            </a:r>
            <a:r>
              <a:rPr i="1" lang="en-US" sz="2000"/>
              <a:t>value_ptr</a:t>
            </a:r>
            <a:r>
              <a:rPr lang="en-US" sz="2000"/>
              <a:t>, which can be used to store the termination return value from the joined thread. 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NULL, or a pointer to a location where the function can store the value passed to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pthread_exit()</a:t>
            </a:r>
            <a:r>
              <a:rPr lang="en-US" sz="2000"/>
              <a:t> by the target thread. 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You can pass in a NULL if you aren't interested in this value</a:t>
            </a:r>
            <a:endParaRPr sz="2000"/>
          </a:p>
        </p:txBody>
      </p:sp>
      <p:sp>
        <p:nvSpPr>
          <p:cNvPr id="2239" name="Google Shape;2239;p1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40" name="Google Shape;2240;p1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41" name="Google Shape;2241;p1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8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48" name="Google Shape;2248;p185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pthread_join function returns an integer value that also indicates different error codes.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Return Value-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0 if the call was successful and this guarantees the given thread has terminated.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EDEADLK- a deadlock was detected.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EINVAL- the given thread is not joinable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ESRCH- the given thread ID can’t be found. </a:t>
            </a:r>
            <a:endParaRPr sz="2000"/>
          </a:p>
        </p:txBody>
      </p:sp>
      <p:sp>
        <p:nvSpPr>
          <p:cNvPr id="2249" name="Google Shape;2249;p1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50" name="Google Shape;2250;p1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51" name="Google Shape;2251;p1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86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258" name="Google Shape;2258;p186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The calling thread waits for every thread with the pthread_join call in the loop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2259" name="Google Shape;2259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60" name="Google Shape;2260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61" name="Google Shape;2261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2" name="Google Shape;2262;p186"/>
          <p:cNvSpPr/>
          <p:nvPr/>
        </p:nvSpPr>
        <p:spPr>
          <a:xfrm>
            <a:off x="976539" y="2780928"/>
            <a:ext cx="6840760" cy="792088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187"/>
          <p:cNvSpPr txBox="1"/>
          <p:nvPr>
            <p:ph type="title"/>
          </p:nvPr>
        </p:nvSpPr>
        <p:spPr>
          <a:xfrm>
            <a:off x="467544" y="28243"/>
            <a:ext cx="8229600" cy="30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Pthread Scheduling API</a:t>
            </a:r>
            <a:endParaRPr/>
          </a:p>
        </p:txBody>
      </p:sp>
      <p:sp>
        <p:nvSpPr>
          <p:cNvPr id="2269" name="Google Shape;2269;p187"/>
          <p:cNvSpPr txBox="1"/>
          <p:nvPr>
            <p:ph idx="1" type="body"/>
          </p:nvPr>
        </p:nvSpPr>
        <p:spPr>
          <a:xfrm>
            <a:off x="323528" y="620688"/>
            <a:ext cx="4172272" cy="55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#include &lt;pthread.h&gt;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#include &lt;stdio.h&gt;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#define NUM_THREADS 5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int main(int argc, char *argv[]) {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int i, scope;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pthread_t tid[NUM THREADS];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pthread_attr_t attr;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/* get the default attributes */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pthread_attr_init(&amp;attr);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/* first inquire on the current scope */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if (</a:t>
            </a:r>
            <a:r>
              <a:rPr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pthread_attr_getscope(&amp;attr, &amp;scope) != 0)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fprintf(stderr, "Unable to get scheduling scope\n");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else {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if (scope == PTHREAD_SCOPE_PROCESS)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printf("PTHREAD_SCOPE_PROCESS");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 if (scope == PTHREAD_SCOPE_SYSTEM)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printf("PTHREAD_SCOPE_SYSTEM");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b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fprintf(stderr, "Illegal scope value.\n");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0" name="Google Shape;2270;p187"/>
          <p:cNvSpPr txBox="1"/>
          <p:nvPr>
            <p:ph idx="2" type="body"/>
          </p:nvPr>
        </p:nvSpPr>
        <p:spPr>
          <a:xfrm>
            <a:off x="4644008" y="7647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58445" lvl="0" marL="34290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271" name="Google Shape;2271;p1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72" name="Google Shape;2272;p1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73" name="Google Shape;2273;p1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p18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80" name="Google Shape;2280;p188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pthread_exit()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Terminate a thread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pthread_exit( void*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/>
          </a:p>
        </p:txBody>
      </p:sp>
      <p:sp>
        <p:nvSpPr>
          <p:cNvPr id="2281" name="Google Shape;2281;p1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82" name="Google Shape;2282;p1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83" name="Google Shape;2283;p1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89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90" name="Google Shape;2290;p189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pthread_exit( void*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value_ptr</a:t>
            </a:r>
            <a:r>
              <a:rPr lang="en-US" sz="2400"/>
              <a:t> -A pointer to a value that you want to be made available to any thread joining the thread that you're terminating.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Terminates the calling thread.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routine kills the thread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thread is joinable, the value </a:t>
            </a:r>
            <a:r>
              <a:rPr i="1" lang="en-US" sz="2400"/>
              <a:t>value_ptr</a:t>
            </a:r>
            <a:r>
              <a:rPr lang="en-US" sz="2400"/>
              <a:t> is made available to any thread joining the terminating thread (only one thread can get the return status).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thread is detached, all system resources allocated to the thread are immediately reclaimed. </a:t>
            </a:r>
            <a:endParaRPr/>
          </a:p>
        </p:txBody>
      </p:sp>
      <p:sp>
        <p:nvSpPr>
          <p:cNvPr id="2291" name="Google Shape;2291;p1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292" name="Google Shape;2292;p1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93" name="Google Shape;2293;p1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19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Diff between exit and joining?</a:t>
            </a:r>
            <a:endParaRPr/>
          </a:p>
        </p:txBody>
      </p:sp>
      <p:sp>
        <p:nvSpPr>
          <p:cNvPr id="2300" name="Google Shape;2300;p190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pthread_exit is called from the thread itself to terminate its execution (and return a result) early.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pthread_join is called from another thread (usually the thread that created it) to wait for a thread to terminate and obtain its return value.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can be called before or after the thread you're waiting for calls pthread_exit.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before, it will wait for the exit to occur.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after, it simply obtains the return value and releases the pthread_t resources.</a:t>
            </a:r>
            <a:endParaRPr/>
          </a:p>
        </p:txBody>
      </p:sp>
      <p:sp>
        <p:nvSpPr>
          <p:cNvPr id="2301" name="Google Shape;2301;p1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01-09-2023</a:t>
            </a:r>
            <a:endParaRPr/>
          </a:p>
        </p:txBody>
      </p:sp>
      <p:sp>
        <p:nvSpPr>
          <p:cNvPr id="2302" name="Google Shape;2302;p1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03" name="Google Shape;2303;p1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4" name="Google Shape;2304;p190"/>
          <p:cNvSpPr/>
          <p:nvPr/>
        </p:nvSpPr>
        <p:spPr>
          <a:xfrm>
            <a:off x="323528" y="6021288"/>
            <a:ext cx="84066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https://codehunter.cc/a/c/difference-between-pthread-exit-pthread-join-and-pthread-detach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191"/>
          <p:cNvSpPr txBox="1"/>
          <p:nvPr>
            <p:ph idx="1" type="body"/>
          </p:nvPr>
        </p:nvSpPr>
        <p:spPr>
          <a:xfrm>
            <a:off x="457200" y="0"/>
            <a:ext cx="4343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&lt;stdlib.h&gt;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&lt;unistd.h&gt;  //Header file for sleep()</a:t>
            </a:r>
            <a:endParaRPr sz="40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&lt;pthread.h&gt;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A normal C function that is executed as a thread 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when its name is specified in pthread_create()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void *myThreadFun(void *vargp)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sleep(1);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printf("Printing Hello from Thread 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return NULL;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pthread_t thread_id;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printf("Before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pthread_create(&amp;thread_id, NULL, myThreadFun,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pthread_join(thread_id,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printf("After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10" name="Google Shape;2310;p191"/>
          <p:cNvSpPr txBox="1"/>
          <p:nvPr/>
        </p:nvSpPr>
        <p:spPr>
          <a:xfrm>
            <a:off x="5580112" y="1556792"/>
            <a:ext cx="1800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192"/>
          <p:cNvSpPr txBox="1"/>
          <p:nvPr>
            <p:ph idx="1" type="body"/>
          </p:nvPr>
        </p:nvSpPr>
        <p:spPr>
          <a:xfrm>
            <a:off x="457200" y="0"/>
            <a:ext cx="4343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&lt;stdlib.h&gt;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&lt;unistd.h&gt;  //Header file for sleep()</a:t>
            </a:r>
            <a:endParaRPr sz="40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&lt;pthread.h&gt;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A normal C function that is executed as a thread 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when its name is specified in pthread_create()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void *myThreadFun(void *vargp)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sleep(1);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printf("Printing Hello from Thread 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return NULL;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pthread_t thread_id;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printf("Before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pthread_create(&amp;thread_id, NULL, myThreadFun,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pthread_join(thread_id,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printf("After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16" name="Google Shape;2316;p192"/>
          <p:cNvSpPr/>
          <p:nvPr/>
        </p:nvSpPr>
        <p:spPr>
          <a:xfrm>
            <a:off x="5029200" y="1183215"/>
            <a:ext cx="3733800" cy="173634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8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Before Thread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Printing Hello from Thread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After Thread</a:t>
            </a: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193"/>
          <p:cNvSpPr txBox="1"/>
          <p:nvPr>
            <p:ph idx="1" type="body"/>
          </p:nvPr>
        </p:nvSpPr>
        <p:spPr>
          <a:xfrm>
            <a:off x="0" y="0"/>
            <a:ext cx="4283968" cy="6705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&lt;iostream&gt;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&lt;stdlib&gt;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&lt;pthread.h&gt;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namespace std;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NUM_THREADS 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*PrintHello(void *threadid)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long tid;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tid = (long)threadid;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printf("Hello World! Thread ID, %d\n", tid);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pthread_exit(NULL);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/>
          </a:p>
        </p:txBody>
      </p:sp>
      <p:sp>
        <p:nvSpPr>
          <p:cNvPr id="2322" name="Google Shape;2322;p193"/>
          <p:cNvSpPr txBox="1"/>
          <p:nvPr/>
        </p:nvSpPr>
        <p:spPr>
          <a:xfrm>
            <a:off x="4341628" y="0"/>
            <a:ext cx="4800600" cy="6705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 ()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pthread_t threads[NUM_THREADS];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int rc;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int i;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for( i = 0; i &lt; NUM_THREADS; i++ 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cout &lt;&lt; "main() : creating thread, " &lt;&lt; i &lt;&lt; endl;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rc = pthread_create(&amp;threads[i], NULL, PrintHello, (void *)i);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if (rc)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printf("Error:unable to create thread, %d\n", rc);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exit(-1);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}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}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pthread_exit(NULL);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193"/>
          <p:cNvSpPr txBox="1"/>
          <p:nvPr/>
        </p:nvSpPr>
        <p:spPr>
          <a:xfrm>
            <a:off x="4910194" y="5877272"/>
            <a:ext cx="1800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194"/>
          <p:cNvSpPr txBox="1"/>
          <p:nvPr>
            <p:ph idx="1" type="body"/>
          </p:nvPr>
        </p:nvSpPr>
        <p:spPr>
          <a:xfrm>
            <a:off x="0" y="0"/>
            <a:ext cx="48006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&lt;iostream&gt;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&lt;stdlib&gt;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&lt;pthread.h&gt;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using namespace std;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#define NUM_THREADS 5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void *PrintHello(void *threadid)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long tid;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tid = (long)threadid;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printf("Hello World! Thread ID, %d\n", tid);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pthread_exit(NULL);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int main ()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pthread_t threads[NUM_THREADS];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int rc;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int i;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for( i = 0; i &lt; NUM_THREADS; i++ 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cout &lt;&lt; "main() : creating thread, " &lt;&lt; i &lt;&lt; endl;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rc = pthread_create(&amp;threads[i], NULL, PrintHello, (void *)i);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if (rc)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printf("Error:unable to create thread, %d\n", rc);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exit(-1);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pthread_exit(NULL);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100"/>
          </a:p>
        </p:txBody>
      </p:sp>
      <p:sp>
        <p:nvSpPr>
          <p:cNvPr id="2329" name="Google Shape;2329;p194"/>
          <p:cNvSpPr/>
          <p:nvPr/>
        </p:nvSpPr>
        <p:spPr>
          <a:xfrm>
            <a:off x="5022273" y="914400"/>
            <a:ext cx="3733800" cy="345989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8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4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194"/>
          <p:cNvSpPr txBox="1"/>
          <p:nvPr/>
        </p:nvSpPr>
        <p:spPr>
          <a:xfrm>
            <a:off x="5022273" y="260648"/>
            <a:ext cx="29341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95"/>
          <p:cNvSpPr txBox="1"/>
          <p:nvPr>
            <p:ph type="title"/>
          </p:nvPr>
        </p:nvSpPr>
        <p:spPr>
          <a:xfrm>
            <a:off x="2895600" y="-11987"/>
            <a:ext cx="6069360" cy="560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Sequence/No Sequence?</a:t>
            </a:r>
            <a:endParaRPr b="1"/>
          </a:p>
        </p:txBody>
      </p:sp>
      <p:sp>
        <p:nvSpPr>
          <p:cNvPr id="2336" name="Google Shape;2336;p1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37" name="Google Shape;2337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2571750" cy="357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980728"/>
            <a:ext cx="3200400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1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636912"/>
            <a:ext cx="3048000" cy="365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96"/>
          <p:cNvSpPr txBox="1"/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Playing around with the Code</a:t>
            </a:r>
            <a:endParaRPr/>
          </a:p>
        </p:txBody>
      </p:sp>
      <p:pic>
        <p:nvPicPr>
          <p:cNvPr id="2345" name="Google Shape;2345;p19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4437" l="20380" r="34218" t="14701"/>
          <a:stretch/>
        </p:blipFill>
        <p:spPr>
          <a:xfrm>
            <a:off x="179512" y="836712"/>
            <a:ext cx="8712968" cy="571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97"/>
          <p:cNvSpPr txBox="1"/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Playing around with the Code</a:t>
            </a:r>
            <a:endParaRPr/>
          </a:p>
        </p:txBody>
      </p:sp>
      <p:sp>
        <p:nvSpPr>
          <p:cNvPr id="2351" name="Google Shape;2351;p19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352" name="Google Shape;2352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556792"/>
            <a:ext cx="8424936" cy="4662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2020-06-30T15:25:15Z</dcterms:created>
  <dc:creator>Admin</dc:creator>
</cp:coreProperties>
</file>
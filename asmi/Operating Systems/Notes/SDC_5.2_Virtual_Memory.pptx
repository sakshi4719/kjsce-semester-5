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</p:sldIdLst>
  <p:sldSz cy="6858000" cx="9144000"/>
  <p:notesSz cx="7086600" cy="9372600"/>
  <p:embeddedFontLst>
    <p:embeddedFont>
      <p:font typeface="Helvetica Neue"/>
      <p:regular r:id="rId85"/>
      <p:bold r:id="rId86"/>
      <p:italic r:id="rId87"/>
      <p:boldItalic r:id="rId8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16">
          <p15:clr>
            <a:srgbClr val="000000"/>
          </p15:clr>
        </p15:guide>
        <p15:guide id="2" pos="440">
          <p15:clr>
            <a:srgbClr val="000000"/>
          </p15:clr>
        </p15:guide>
      </p15:sldGuideLst>
    </p:ext>
    <p:ext uri="GoogleSlidesCustomDataVersion2">
      <go:slidesCustomData xmlns:go="http://customooxmlschemas.google.com/" r:id="rId89" roundtripDataSignature="AMtx7mgBXPqaunb1Gpoy+VQBy0aVYf5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16" orient="horz"/>
        <p:guide pos="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font" Target="fonts/HelveticaNeue-bold.fntdata"/><Relationship Id="rId41" Type="http://schemas.openxmlformats.org/officeDocument/2006/relationships/slide" Target="slides/slide35.xml"/><Relationship Id="rId85" Type="http://schemas.openxmlformats.org/officeDocument/2006/relationships/font" Target="fonts/HelveticaNeue-regular.fntdata"/><Relationship Id="rId44" Type="http://schemas.openxmlformats.org/officeDocument/2006/relationships/slide" Target="slides/slide38.xml"/><Relationship Id="rId88" Type="http://schemas.openxmlformats.org/officeDocument/2006/relationships/font" Target="fonts/HelveticaNeue-boldItalic.fntdata"/><Relationship Id="rId43" Type="http://schemas.openxmlformats.org/officeDocument/2006/relationships/slide" Target="slides/slide37.xml"/><Relationship Id="rId87" Type="http://schemas.openxmlformats.org/officeDocument/2006/relationships/font" Target="fonts/HelveticaNeue-italic.fntdata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customschemas.google.com/relationships/presentationmetadata" Target="metadata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16375" y="0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" name="Google Shape;75;p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" name="Google Shape;82;p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3" name="Google Shape;103;p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0" name="Google Shape;110;p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1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9" name="Google Shape;189;p1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3" name="Google Shape;203;p2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2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2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0" name="Google Shape;230;p2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2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4" name="Google Shape;244;p2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1" name="Google Shape;251;p2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2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8" name="Google Shape;258;p2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2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5" name="Google Shape;265;p2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6" name="Google Shape;266;p2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2" name="Google Shape;272;p3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9" name="Google Shape;279;p3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3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6" name="Google Shape;286;p3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3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5" name="Google Shape;295;p3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3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2" name="Google Shape;302;p3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3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3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8" name="Google Shape;318;p3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p3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5" name="Google Shape;325;p3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3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2" name="Google Shape;332;p3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3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9" name="Google Shape;339;p3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3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6" name="Google Shape;346;p4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4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53" name="Google Shape;353;p4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4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2" name="Google Shape;372;p4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4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9" name="Google Shape;379;p4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4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2" name="Google Shape;392;p4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4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99" name="Google Shape;399;p4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4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2" name="Google Shape;412;p4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9" name="Google Shape;419;p5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0" name="Google Shape;420;p5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6" name="Google Shape;426;p5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5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33" name="Google Shape;433;p5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5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0" name="Google Shape;440;p5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5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48" name="Google Shape;448;p5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5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55" name="Google Shape;455;p5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5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5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70" name="Google Shape;470;p5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5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5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83" name="Google Shape;483;p5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5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0" name="Google Shape;490;p6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6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7" name="Google Shape;497;p6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6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04" name="Google Shape;504;p6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6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1" name="Google Shape;511;p6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2" name="Google Shape;512;p6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6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18" name="Google Shape;518;p6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9" name="Google Shape;519;p6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25" name="Google Shape;525;p6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p6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2" name="Google Shape;532;p6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6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39" name="Google Shape;539;p6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6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46" name="Google Shape;546;p6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6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9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53" name="Google Shape;553;p69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p69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70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0" name="Google Shape;560;p70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1" name="Google Shape;561;p70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1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67" name="Google Shape;567;p71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8" name="Google Shape;568;p71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2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74" name="Google Shape;574;p72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72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3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1" name="Google Shape;581;p73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73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74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89" name="Google Shape;589;p74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74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5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6" name="Google Shape;596;p75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75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6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3" name="Google Shape;603;p76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4" name="Google Shape;604;p76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7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0" name="Google Shape;610;p77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1" name="Google Shape;611;p77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8:notes"/>
          <p:cNvSpPr txBox="1"/>
          <p:nvPr/>
        </p:nvSpPr>
        <p:spPr>
          <a:xfrm>
            <a:off x="4016375" y="8905875"/>
            <a:ext cx="307022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7000" lIns="94025" spcFirstLastPara="1" rIns="94025" wrap="square" tIns="470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17" name="Google Shape;617;p78:notes"/>
          <p:cNvSpPr/>
          <p:nvPr>
            <p:ph idx="2" type="sldImg"/>
          </p:nvPr>
        </p:nvSpPr>
        <p:spPr>
          <a:xfrm>
            <a:off x="1200150" y="704850"/>
            <a:ext cx="4687887" cy="3514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8" name="Google Shape;618;p78:notes"/>
          <p:cNvSpPr txBox="1"/>
          <p:nvPr>
            <p:ph idx="1" type="body"/>
          </p:nvPr>
        </p:nvSpPr>
        <p:spPr>
          <a:xfrm>
            <a:off x="944562" y="4452937"/>
            <a:ext cx="5197475" cy="4214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00" lIns="94025" spcFirstLastPara="1" rIns="94025" wrap="square" tIns="47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0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2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2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3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4"/>
          <p:cNvSpPr txBox="1"/>
          <p:nvPr>
            <p:ph type="title"/>
          </p:nvPr>
        </p:nvSpPr>
        <p:spPr>
          <a:xfrm rot="5400000">
            <a:off x="5220494" y="1948657"/>
            <a:ext cx="5486400" cy="2144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4"/>
          <p:cNvSpPr txBox="1"/>
          <p:nvPr>
            <p:ph idx="1" type="body"/>
          </p:nvPr>
        </p:nvSpPr>
        <p:spPr>
          <a:xfrm rot="5400000">
            <a:off x="854869" y="-119856"/>
            <a:ext cx="5486400" cy="628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5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5"/>
          <p:cNvSpPr txBox="1"/>
          <p:nvPr>
            <p:ph idx="1" type="body"/>
          </p:nvPr>
        </p:nvSpPr>
        <p:spPr>
          <a:xfrm rot="5400000">
            <a:off x="2655888" y="-615950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630"/>
              </a:spcBef>
              <a:spcAft>
                <a:spcPts val="0"/>
              </a:spcAft>
              <a:buSzPts val="1620"/>
              <a:buChar char="●"/>
              <a:defRPr/>
            </a:lvl1pPr>
            <a:lvl2pPr indent="-320040" lvl="1" marL="914400" algn="l">
              <a:spcBef>
                <a:spcPts val="630"/>
              </a:spcBef>
              <a:spcAft>
                <a:spcPts val="0"/>
              </a:spcAft>
              <a:buSzPts val="1440"/>
              <a:buChar char="●"/>
              <a:defRPr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8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1120"/>
              </a:spcBef>
              <a:spcAft>
                <a:spcPts val="0"/>
              </a:spcAft>
              <a:buSzPts val="2880"/>
              <a:buChar char="●"/>
              <a:defRPr sz="3200"/>
            </a:lvl1pPr>
            <a:lvl2pPr indent="-370840" lvl="1" marL="914400" algn="l">
              <a:spcBef>
                <a:spcPts val="980"/>
              </a:spcBef>
              <a:spcAft>
                <a:spcPts val="0"/>
              </a:spcAft>
              <a:buSzPts val="2240"/>
              <a:buChar char="●"/>
              <a:defRPr sz="2800"/>
            </a:lvl2pPr>
            <a:lvl3pPr indent="-342900" lvl="2" marL="1371600" algn="l">
              <a:spcBef>
                <a:spcPts val="840"/>
              </a:spcBef>
              <a:spcAft>
                <a:spcPts val="0"/>
              </a:spcAft>
              <a:buSzPts val="1800"/>
              <a:buChar char="4"/>
              <a:defRPr sz="2400"/>
            </a:lvl3pPr>
            <a:lvl4pPr indent="-323850" lvl="3" marL="1828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–"/>
              <a:defRPr sz="2000"/>
            </a:lvl4pPr>
            <a:lvl5pPr indent="-323850" lvl="4" marL="22860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5pPr>
            <a:lvl6pPr indent="-323850" lvl="5" marL="27432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6pPr>
            <a:lvl7pPr indent="-323850" lvl="6" marL="32004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7pPr>
            <a:lvl8pPr indent="-323850" lvl="7" marL="36576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8pPr>
            <a:lvl9pPr indent="-323850" lvl="8" marL="4114800" algn="l">
              <a:spcBef>
                <a:spcPts val="700"/>
              </a:spcBef>
              <a:spcAft>
                <a:spcPts val="0"/>
              </a:spcAft>
              <a:buSzPts val="15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52" name="Google Shape;52;p8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9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750"/>
              <a:buNone/>
              <a:defRPr sz="1000"/>
            </a:lvl3pPr>
            <a:lvl4pPr indent="-228600" lvl="3" marL="1828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4pPr>
            <a:lvl5pPr indent="-228600" lvl="4" marL="22860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5pPr>
            <a:lvl6pPr indent="-228600" lvl="5" marL="27432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6pPr>
            <a:lvl7pPr indent="-228600" lvl="6" marL="32004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7pPr>
            <a:lvl8pPr indent="-228600" lvl="7" marL="36576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8pPr>
            <a:lvl9pPr indent="-228600" lvl="8" marL="4114800" algn="l">
              <a:spcBef>
                <a:spcPts val="315"/>
              </a:spcBef>
              <a:spcAft>
                <a:spcPts val="0"/>
              </a:spcAft>
              <a:buSzPts val="675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7" name="Google Shape;57;p8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58" name="Google Shape;58;p8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840"/>
              </a:spcBef>
              <a:spcAft>
                <a:spcPts val="0"/>
              </a:spcAft>
              <a:buSzPts val="216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630"/>
              </a:spcBef>
              <a:spcAft>
                <a:spcPts val="0"/>
              </a:spcAft>
              <a:buSzPts val="1350"/>
              <a:buNone/>
              <a:defRPr b="1" sz="1800"/>
            </a:lvl3pPr>
            <a:lvl4pPr indent="-2286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59" name="Google Shape;59;p8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spcBef>
                <a:spcPts val="840"/>
              </a:spcBef>
              <a:spcAft>
                <a:spcPts val="0"/>
              </a:spcAft>
              <a:buSzPts val="2160"/>
              <a:buChar char="●"/>
              <a:defRPr sz="2400"/>
            </a:lvl1pPr>
            <a:lvl2pPr indent="-330200" lvl="1" marL="914400" algn="l"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2000"/>
            </a:lvl2pPr>
            <a:lvl3pPr indent="-314325" lvl="2" marL="1371600" algn="l">
              <a:spcBef>
                <a:spcPts val="630"/>
              </a:spcBef>
              <a:spcAft>
                <a:spcPts val="0"/>
              </a:spcAft>
              <a:buSzPts val="1350"/>
              <a:buChar char="4"/>
              <a:defRPr sz="1800"/>
            </a:lvl3pPr>
            <a:lvl4pPr indent="-304800" lvl="3" marL="1828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–"/>
              <a:defRPr sz="1600"/>
            </a:lvl4pPr>
            <a:lvl5pPr indent="-304800" lvl="4" marL="22860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5pPr>
            <a:lvl6pPr indent="-304800" lvl="5" marL="27432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6pPr>
            <a:lvl7pPr indent="-304800" lvl="6" marL="32004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7pPr>
            <a:lvl8pPr indent="-304800" lvl="7" marL="36576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8pPr>
            <a:lvl9pPr indent="-304800" lvl="8" marL="4114800" algn="l">
              <a:spcBef>
                <a:spcPts val="560"/>
              </a:spcBef>
              <a:spcAft>
                <a:spcPts val="0"/>
              </a:spcAft>
              <a:buSzPts val="12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0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0"/>
          <p:cNvSpPr txBox="1"/>
          <p:nvPr>
            <p:ph idx="1" type="body"/>
          </p:nvPr>
        </p:nvSpPr>
        <p:spPr>
          <a:xfrm>
            <a:off x="806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63" name="Google Shape;63;p90"/>
          <p:cNvSpPr txBox="1"/>
          <p:nvPr>
            <p:ph idx="2" type="body"/>
          </p:nvPr>
        </p:nvSpPr>
        <p:spPr>
          <a:xfrm>
            <a:off x="4997450" y="1233488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8620" lvl="0" marL="457200" algn="l">
              <a:spcBef>
                <a:spcPts val="980"/>
              </a:spcBef>
              <a:spcAft>
                <a:spcPts val="0"/>
              </a:spcAft>
              <a:buSzPts val="2520"/>
              <a:buChar char="●"/>
              <a:defRPr sz="2800"/>
            </a:lvl1pPr>
            <a:lvl2pPr indent="-350519" lvl="1" marL="914400" algn="l">
              <a:spcBef>
                <a:spcPts val="840"/>
              </a:spcBef>
              <a:spcAft>
                <a:spcPts val="0"/>
              </a:spcAft>
              <a:buSzPts val="1920"/>
              <a:buChar char="●"/>
              <a:defRPr sz="2400"/>
            </a:lvl2pPr>
            <a:lvl3pPr indent="-323850" lvl="2" marL="1371600" algn="l">
              <a:spcBef>
                <a:spcPts val="700"/>
              </a:spcBef>
              <a:spcAft>
                <a:spcPts val="0"/>
              </a:spcAft>
              <a:buSzPts val="1500"/>
              <a:buChar char="4"/>
              <a:defRPr sz="2000"/>
            </a:lvl3pPr>
            <a:lvl4pPr indent="-314325" lvl="3" marL="1828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–"/>
              <a:defRPr sz="1800"/>
            </a:lvl4pPr>
            <a:lvl5pPr indent="-314325" lvl="4" marL="22860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5pPr>
            <a:lvl6pPr indent="-314325" lvl="5" marL="27432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6pPr>
            <a:lvl7pPr indent="-314325" lvl="6" marL="32004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7pPr>
            <a:lvl8pPr indent="-314325" lvl="7" marL="36576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8pPr>
            <a:lvl9pPr indent="-314325" lvl="8" marL="4114800" algn="l">
              <a:spcBef>
                <a:spcPts val="630"/>
              </a:spcBef>
              <a:spcAft>
                <a:spcPts val="0"/>
              </a:spcAft>
              <a:buSzPts val="135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spcBef>
                <a:spcPts val="63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spcBef>
                <a:spcPts val="560"/>
              </a:spcBef>
              <a:spcAft>
                <a:spcPts val="0"/>
              </a:spcAft>
              <a:buSzPts val="1200"/>
              <a:buNone/>
              <a:defRPr sz="1600"/>
            </a:lvl3pPr>
            <a:lvl4pPr indent="-228600" lvl="3" marL="1828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4pPr>
            <a:lvl5pPr indent="-228600" lvl="4" marL="22860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5pPr>
            <a:lvl6pPr indent="-228600" lvl="5" marL="27432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6pPr>
            <a:lvl7pPr indent="-228600" lvl="6" marL="32004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7pPr>
            <a:lvl8pPr indent="-228600" lvl="7" marL="36576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8pPr>
            <a:lvl9pPr indent="-228600" lvl="8" marL="4114800" algn="l">
              <a:spcBef>
                <a:spcPts val="490"/>
              </a:spcBef>
              <a:spcAft>
                <a:spcPts val="0"/>
              </a:spcAft>
              <a:buSzPts val="1050"/>
              <a:buFont typeface="Helvetica Neue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4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0.jpg"/><Relationship Id="rId2" Type="http://schemas.openxmlformats.org/officeDocument/2006/relationships/image" Target="../media/image12.jp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79"/>
          <p:cNvGrpSpPr/>
          <p:nvPr/>
        </p:nvGrpSpPr>
        <p:grpSpPr>
          <a:xfrm>
            <a:off x="198437" y="2960687"/>
            <a:ext cx="8610600" cy="201612"/>
            <a:chOff x="125" y="1865"/>
            <a:chExt cx="5424" cy="127"/>
          </a:xfrm>
        </p:grpSpPr>
        <p:sp>
          <p:nvSpPr>
            <p:cNvPr id="11" name="Google Shape;11;p79"/>
            <p:cNvSpPr txBox="1"/>
            <p:nvPr/>
          </p:nvSpPr>
          <p:spPr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Google Shape;12;p79"/>
            <p:cNvSpPr txBox="1"/>
            <p:nvPr/>
          </p:nvSpPr>
          <p:spPr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Google Shape;13;p79"/>
            <p:cNvSpPr txBox="1"/>
            <p:nvPr/>
          </p:nvSpPr>
          <p:spPr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14" name="Google Shape;14;p79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15" name="Google Shape;15;p79"/>
          <p:cNvSpPr txBox="1"/>
          <p:nvPr/>
        </p:nvSpPr>
        <p:spPr>
          <a:xfrm>
            <a:off x="26987" y="6613525"/>
            <a:ext cx="269557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33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4" id="16" name="Google Shape;16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360737" y="4157662"/>
            <a:ext cx="2062162" cy="1593850"/>
          </a:xfrm>
          <a:prstGeom prst="rect">
            <a:avLst/>
          </a:prstGeom>
          <a:noFill/>
          <a:ln cap="flat" cmpd="sng" w="76200">
            <a:solidFill>
              <a:srgbClr val="336699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7" name="Google Shape;17;p79"/>
          <p:cNvSpPr txBox="1"/>
          <p:nvPr/>
        </p:nvSpPr>
        <p:spPr>
          <a:xfrm>
            <a:off x="3224212" y="4006850"/>
            <a:ext cx="2336800" cy="1887537"/>
          </a:xfrm>
          <a:prstGeom prst="rect">
            <a:avLst/>
          </a:prstGeom>
          <a:noFill/>
          <a:ln cap="flat" cmpd="thinThick" w="57150">
            <a:solidFill>
              <a:srgbClr val="66CC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" name="Google Shape;18;p79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79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ino_3" id="23" name="Google Shape;23;p8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85750" y="0"/>
            <a:ext cx="1195387" cy="908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81"/>
          <p:cNvSpPr txBox="1"/>
          <p:nvPr>
            <p:ph type="title"/>
          </p:nvPr>
        </p:nvSpPr>
        <p:spPr>
          <a:xfrm>
            <a:off x="457200" y="277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81"/>
          <p:cNvSpPr txBox="1"/>
          <p:nvPr>
            <p:ph idx="1" type="body"/>
          </p:nvPr>
        </p:nvSpPr>
        <p:spPr>
          <a:xfrm>
            <a:off x="806450" y="12334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20040" lvl="1" marL="914400" marR="0" rtl="0" algn="l"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4325" lvl="2" marL="1371600" marR="0" rtl="0" algn="l"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4325" lvl="3" marL="1828800" marR="0" rtl="0" algn="l"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4325" lvl="4" marL="22860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4325" lvl="5" marL="27432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4325" lvl="6" marL="32004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4325" lvl="7" marL="36576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4325" lvl="8" marL="4114800" marR="0" rtl="0" algn="l">
              <a:spcBef>
                <a:spcPts val="630"/>
              </a:spcBef>
              <a:spcAft>
                <a:spcPts val="0"/>
              </a:spcAft>
              <a:buClr>
                <a:srgbClr val="FF0066"/>
              </a:buClr>
              <a:buSzPts val="1350"/>
              <a:buFont typeface="Helvetica Neue"/>
              <a:buChar char="»"/>
              <a:defRPr b="0" i="0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26" name="Google Shape;26;p81"/>
          <p:cNvSpPr txBox="1"/>
          <p:nvPr/>
        </p:nvSpPr>
        <p:spPr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27" name="Google Shape;27;p81"/>
          <p:cNvCxnSpPr/>
          <p:nvPr/>
        </p:nvCxnSpPr>
        <p:spPr>
          <a:xfrm>
            <a:off x="457200" y="860425"/>
            <a:ext cx="8077200" cy="0"/>
          </a:xfrm>
          <a:prstGeom prst="straightConnector1">
            <a:avLst/>
          </a:prstGeom>
          <a:noFill/>
          <a:ln cap="flat" cmpd="sng" w="19050">
            <a:solidFill>
              <a:srgbClr val="336699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8" name="Google Shape;28;p81"/>
          <p:cNvSpPr txBox="1"/>
          <p:nvPr/>
        </p:nvSpPr>
        <p:spPr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p81"/>
          <p:cNvSpPr txBox="1"/>
          <p:nvPr/>
        </p:nvSpPr>
        <p:spPr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81"/>
          <p:cNvSpPr txBox="1"/>
          <p:nvPr/>
        </p:nvSpPr>
        <p:spPr>
          <a:xfrm>
            <a:off x="4256087" y="6613525"/>
            <a:ext cx="447675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9.</a:t>
            </a:r>
            <a:fld id="{00000000-1234-1234-1234-123412341234}" type="slidenum"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‹#›</a:t>
            </a:fld>
            <a:endParaRPr/>
          </a:p>
        </p:txBody>
      </p:sp>
      <p:sp>
        <p:nvSpPr>
          <p:cNvPr id="31" name="Google Shape;31;p81"/>
          <p:cNvSpPr txBox="1"/>
          <p:nvPr/>
        </p:nvSpPr>
        <p:spPr>
          <a:xfrm>
            <a:off x="6489700" y="6588125"/>
            <a:ext cx="2713037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Silberschatz, Galvin and Gagne ©2013</a:t>
            </a:r>
            <a:endParaRPr/>
          </a:p>
        </p:txBody>
      </p:sp>
      <p:sp>
        <p:nvSpPr>
          <p:cNvPr id="32" name="Google Shape;32;p81"/>
          <p:cNvSpPr txBox="1"/>
          <p:nvPr/>
        </p:nvSpPr>
        <p:spPr>
          <a:xfrm>
            <a:off x="185737" y="6621462"/>
            <a:ext cx="26384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1000"/>
              <a:buFont typeface="Helvetica Neue"/>
              <a:buNone/>
            </a:pP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Concepts – 9</a:t>
            </a:r>
            <a:r>
              <a:rPr b="1" baseline="30000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</a:t>
            </a:r>
            <a:r>
              <a:rPr b="1" i="0" lang="en-US" sz="1000" u="none">
                <a:solidFill>
                  <a:srgbClr val="006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Edition</a:t>
            </a:r>
            <a:endParaRPr/>
          </a:p>
        </p:txBody>
      </p:sp>
      <p:pic>
        <p:nvPicPr>
          <p:cNvPr descr="dino_6" id="33" name="Google Shape;33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3987" y="5849937"/>
            <a:ext cx="1284287" cy="79216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Relationship Id="rId4" Type="http://schemas.openxmlformats.org/officeDocument/2006/relationships/image" Target="../media/image2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8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685800" y="80645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300"/>
              <a:buFont typeface="Arial"/>
              <a:buNone/>
            </a:pPr>
            <a:r>
              <a:rPr b="1" i="0" lang="en-US" sz="43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Chapter 9:  Virtual Memory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982662" y="195262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Chapter 9:  Virtual Memory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838200" y="112395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Background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Allocation of Frames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Allocating Kernel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 Considerations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Operating-System Examples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457200" y="16827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928687" y="1233487"/>
            <a:ext cx="6877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describe the benefits of a virtual memory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explain the concepts of demand paging, page-replacement algorithms, and allocation of page frames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discuss the principle of the working-set model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examine the relationship between shared memory and memory-mapped files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explore how kernel memory is managed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457200" y="141287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862012" y="1111250"/>
            <a:ext cx="7213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needs to be in memory to execute, but entire program rarely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Error code, unusual routines, large data structures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Entire program code not needed at same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ability to execute partially-loaded program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no longer constrained by limits of physical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program takes less memory while running -&gt; more programs run at the same time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Increased CPU utilization and throughput with no increase in response time or turnaround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 to load or swap programs into memory -&gt; each user program runs faster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 (Cont.)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849312" y="1063625"/>
            <a:ext cx="7177087" cy="452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separation of user logical memory from physical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Only part of the program needs to be in memory for execution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address space can therefore be much larger than physical address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address spaces to be shared by several processes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Allows for more efficient process creation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programs running concurrently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 to load or swap processes</a:t>
            </a:r>
            <a:endParaRPr/>
          </a:p>
          <a:p>
            <a:pPr indent="-251459" lvl="0" marL="342900" rtl="0" algn="l"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Background (Cont.)</a:t>
            </a:r>
            <a:endParaRPr/>
          </a:p>
        </p:txBody>
      </p:sp>
      <p:sp>
        <p:nvSpPr>
          <p:cNvPr id="107" name="Google Shape;107;p6"/>
          <p:cNvSpPr txBox="1"/>
          <p:nvPr>
            <p:ph idx="1" type="body"/>
          </p:nvPr>
        </p:nvSpPr>
        <p:spPr>
          <a:xfrm>
            <a:off x="874712" y="1038225"/>
            <a:ext cx="6834187" cy="4529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address space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logical view of how process is stored in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Usually start at address 0, contiguous addresses until end of space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Meanwhile, physical memory organized in page 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MMU must map logical to physical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 memory can be implemented via: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paging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segmentation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1143000" y="76200"/>
            <a:ext cx="8080375" cy="608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Virtual Memory That is Larger Than Physical Memory</a:t>
            </a:r>
            <a:endParaRPr/>
          </a:p>
        </p:txBody>
      </p:sp>
      <p:pic>
        <p:nvPicPr>
          <p:cNvPr descr="9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1700" y="1185862"/>
            <a:ext cx="5360987" cy="4249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>
            <p:ph type="title"/>
          </p:nvPr>
        </p:nvSpPr>
        <p:spPr>
          <a:xfrm>
            <a:off x="942975" y="176212"/>
            <a:ext cx="77438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Virtual-address Space</a:t>
            </a:r>
            <a:endParaRPr/>
          </a:p>
        </p:txBody>
      </p:sp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6600" y="1274762"/>
            <a:ext cx="2063750" cy="45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 txBox="1"/>
          <p:nvPr/>
        </p:nvSpPr>
        <p:spPr>
          <a:xfrm>
            <a:off x="811212" y="1119187"/>
            <a:ext cx="4370387" cy="5002212"/>
          </a:xfrm>
          <a:prstGeom prst="rect">
            <a:avLst/>
          </a:prstGeom>
          <a:noFill/>
          <a:ln>
            <a:noFill/>
          </a:ln>
        </p:spPr>
        <p:txBody>
          <a:bodyPr anchorCtr="0" anchor="t" bIns="32000" lIns="64000" spcFirstLastPara="1" rIns="64000" wrap="square" tIns="32000">
            <a:noAutofit/>
          </a:bodyPr>
          <a:lstStyle/>
          <a:p>
            <a:pPr indent="-488950" lvl="0" marL="488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Usually design logical address space for stack to start at Max logical address and grow “down” while heap grows “up”</a:t>
            </a:r>
            <a:endParaRPr/>
          </a:p>
          <a:p>
            <a:pPr indent="-407987" lvl="1" marL="10604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Maximizes address space use</a:t>
            </a:r>
            <a:endParaRPr/>
          </a:p>
          <a:p>
            <a:pPr indent="-407987" lvl="1" marL="10604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Unused address space between the two is hole</a:t>
            </a:r>
            <a:endParaRPr/>
          </a:p>
          <a:p>
            <a:pPr indent="-325437" lvl="2" marL="1550987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physical memory needed until heap or stack grows to a given new page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Enables </a:t>
            </a: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sparse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address spaces with holes left for growth, dynamically linked libraries, etc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libraries shared via mapping into virtual address space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memory by mapping pages read-write into virtual address space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Pages can be shared during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fork()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speeding process creation</a:t>
            </a:r>
            <a:endParaRPr/>
          </a:p>
          <a:p>
            <a:pPr indent="-407987" lvl="1" marL="10604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type="title"/>
          </p:nvPr>
        </p:nvSpPr>
        <p:spPr>
          <a:xfrm>
            <a:off x="1392237" y="188912"/>
            <a:ext cx="75612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Shared Library Using Virtual Memory</a:t>
            </a:r>
            <a:endParaRPr/>
          </a:p>
        </p:txBody>
      </p:sp>
      <p:pic>
        <p:nvPicPr>
          <p:cNvPr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800" y="1255712"/>
            <a:ext cx="6296025" cy="4157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/>
          <p:nvPr>
            <p:ph type="title"/>
          </p:nvPr>
        </p:nvSpPr>
        <p:spPr>
          <a:xfrm>
            <a:off x="457200" y="1254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Demand Paging</a:t>
            </a:r>
            <a:endParaRPr/>
          </a:p>
        </p:txBody>
      </p:sp>
      <p:sp>
        <p:nvSpPr>
          <p:cNvPr id="136" name="Google Shape;136;p10"/>
          <p:cNvSpPr txBox="1"/>
          <p:nvPr>
            <p:ph idx="1" type="body"/>
          </p:nvPr>
        </p:nvSpPr>
        <p:spPr>
          <a:xfrm>
            <a:off x="704850" y="960437"/>
            <a:ext cx="4184650" cy="5351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Could bring entire process into memory at load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bring a page into memory only when it is needed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I/O needed, no unnecessary I/O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Less memory needed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Faster response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users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to paging system with swapping (diagram on right)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is needed ⇒ reference to 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not-in-memory ⇒ bring to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Lazy swapper</a:t>
            </a:r>
            <a:r>
              <a:rPr b="0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never swaps a page into memory unless page will be needed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Swapper that deals with pages is a </a:t>
            </a: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pager</a:t>
            </a:r>
            <a:endParaRPr/>
          </a:p>
          <a:p>
            <a:pPr indent="-251459" lvl="0" marL="342900" rtl="0" algn="l">
              <a:spcBef>
                <a:spcPts val="56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1600" u="none">
              <a:solidFill>
                <a:srgbClr val="3366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9" id="137" name="Google Shape;13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675" y="1701800"/>
            <a:ext cx="3878262" cy="355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Basic Concepts</a:t>
            </a:r>
            <a:endParaRPr/>
          </a:p>
        </p:txBody>
      </p:sp>
      <p:sp>
        <p:nvSpPr>
          <p:cNvPr id="143" name="Google Shape;143;p11"/>
          <p:cNvSpPr txBox="1"/>
          <p:nvPr>
            <p:ph idx="1" type="body"/>
          </p:nvPr>
        </p:nvSpPr>
        <p:spPr>
          <a:xfrm>
            <a:off x="806450" y="1144587"/>
            <a:ext cx="7512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swapping, pager guesses which pages will be used before swapping out again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Instead, pager brings in only those pages into memory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determine that set of pages?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new MMU functionality to implement demand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pages needed are already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resident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difference from non demand-paging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page needed and not memory resident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detect and load the page into memory from storage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changing program behavior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Without programmer needing to change code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457200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Valid-Invalid Bit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920750" y="1046162"/>
            <a:ext cx="7410450" cy="547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each page table entry a valid–invalid bit is associated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in-memory –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resident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b="0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not-in-memory)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Initially valid–invalid bit is set to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all entries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 of a page table snapshot: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During MMU address translation, if valid–invalid bit in page table entry is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page fault</a:t>
            </a:r>
            <a:endParaRPr/>
          </a:p>
        </p:txBody>
      </p:sp>
      <p:pic>
        <p:nvPicPr>
          <p:cNvPr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475" y="2238375"/>
            <a:ext cx="2828925" cy="326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1092200" y="139700"/>
            <a:ext cx="8296275" cy="501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Table When Some Pages Are Not in Main Memory</a:t>
            </a:r>
            <a:endParaRPr/>
          </a:p>
        </p:txBody>
      </p:sp>
      <p:pic>
        <p:nvPicPr>
          <p:cNvPr descr="9" id="158" name="Google Shape;1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700" y="1174750"/>
            <a:ext cx="4967287" cy="4818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Fault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887412" y="904875"/>
            <a:ext cx="7138987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there is a reference to a page, first reference to that page will trap to operating system: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looks at another table to decide:</a:t>
            </a:r>
            <a:endParaRPr/>
          </a:p>
          <a:p>
            <a:pPr indent="-341312" lvl="1" marL="79851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Invalid reference ⇒ abort</a:t>
            </a:r>
            <a:endParaRPr/>
          </a:p>
          <a:p>
            <a:pPr indent="-341312" lvl="1" marL="798512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not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free frame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page into frame via scheduled disk operation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Reset tables to indicate page now in memory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validation bit =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instruction that caused the page fault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690562" y="188912"/>
            <a:ext cx="7996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Steps in Handling a Page Fault</a:t>
            </a:r>
            <a:endParaRPr/>
          </a:p>
        </p:txBody>
      </p:sp>
      <p:pic>
        <p:nvPicPr>
          <p:cNvPr descr="9" id="172" name="Google Shape;17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9900" y="1217612"/>
            <a:ext cx="5800725" cy="484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Aspects of Demand Paging</a:t>
            </a:r>
            <a:endParaRPr/>
          </a:p>
        </p:txBody>
      </p:sp>
      <p:sp>
        <p:nvSpPr>
          <p:cNvPr id="178" name="Google Shape;178;p16"/>
          <p:cNvSpPr txBox="1"/>
          <p:nvPr>
            <p:ph idx="1" type="body"/>
          </p:nvPr>
        </p:nvSpPr>
        <p:spPr>
          <a:xfrm>
            <a:off x="857250" y="1081087"/>
            <a:ext cx="7740650" cy="4887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Extreme case – start process with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pages in memory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sets instruction pointer to first instruction of process, non-memory-resident -&gt; page fault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for every other process pages on first access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Pure demand paging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Actually, a given instruction could access multiple pages -&gt; multiple page faults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fetch and decode of instruction which adds 2 numbers from memory and stores result back to memory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Pain decreased because of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 of reference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Hardware support needed for demand paging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table with valid / invalid bit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Secondary memory (swap device with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space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 restart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Instruction Restart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938212" y="1157287"/>
            <a:ext cx="770255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an instruction that could access several different locations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block move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280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 increment/decrement location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whole operation?</a:t>
            </a:r>
            <a:endParaRPr/>
          </a:p>
          <a:p>
            <a:pPr indent="-228600" lvl="2" marL="10858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if source and destination overlap?</a:t>
            </a:r>
            <a:endParaRPr/>
          </a:p>
        </p:txBody>
      </p:sp>
      <p:pic>
        <p:nvPicPr>
          <p:cNvPr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2812" y="1911350"/>
            <a:ext cx="1563687" cy="164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 txBox="1"/>
          <p:nvPr>
            <p:ph type="title"/>
          </p:nvPr>
        </p:nvSpPr>
        <p:spPr>
          <a:xfrm>
            <a:off x="817562" y="201612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Performance of Demand Paging</a:t>
            </a:r>
            <a:endParaRPr/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882650" y="1081087"/>
            <a:ext cx="7791450" cy="484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Stages in Demand Paging (worse case)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Trap to the operating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 the user registers and process state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 that the interrupt was a page fault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Check that the page reference was legal and determine the location of the page on the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Issue a read from the disk to a free frame:</a:t>
            </a:r>
            <a:endParaRPr/>
          </a:p>
          <a:p>
            <a:pPr indent="-341312" lvl="1" marL="798512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CC6600"/>
              </a:buClr>
              <a:buSzPts val="112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in a queue for this device until the read request is serviced</a:t>
            </a:r>
            <a:endParaRPr/>
          </a:p>
          <a:p>
            <a:pPr indent="-341312" lvl="1" marL="798512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CC6600"/>
              </a:buClr>
              <a:buSzPts val="112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for the device seek and/or latency time</a:t>
            </a:r>
            <a:endParaRPr/>
          </a:p>
          <a:p>
            <a:pPr indent="-341312" lvl="1" marL="798512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CC6600"/>
              </a:buClr>
              <a:buSzPts val="112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Begin the transfer of the page to a free frame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waiting, allocate the CPU to some other user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Receive an interrupt from the disk I/O subsystem (I/O completed)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 the registers and process state for the other user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 that the interrupt was from the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 the page table and other tables to show page is now 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Wait for the CPU to be allocated to this process again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Clr>
                <a:srgbClr val="993300"/>
              </a:buClr>
              <a:buSzPts val="1260"/>
              <a:buFont typeface="Arial"/>
              <a:buAutoNum type="arabicPeriod"/>
            </a:pPr>
            <a:r>
              <a:rPr b="0" i="0" lang="en-US" sz="1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Restore the user registers, process state, and new page table, and then resume the interrupted instruction</a:t>
            </a:r>
            <a:endParaRPr/>
          </a:p>
          <a:p>
            <a:pPr indent="-262890" lvl="0" marL="342900" rtl="0" algn="l">
              <a:spcBef>
                <a:spcPts val="490"/>
              </a:spcBef>
              <a:spcAft>
                <a:spcPts val="0"/>
              </a:spcAft>
              <a:buSzPts val="1260"/>
              <a:buNone/>
            </a:pPr>
            <a:r>
              <a:t/>
            </a:r>
            <a:endParaRPr b="0" i="0" sz="14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 txBox="1"/>
          <p:nvPr>
            <p:ph type="title"/>
          </p:nvPr>
        </p:nvSpPr>
        <p:spPr>
          <a:xfrm>
            <a:off x="1304925" y="188912"/>
            <a:ext cx="79422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Performance of Demand Paging (Cont.)</a:t>
            </a:r>
            <a:endParaRPr/>
          </a:p>
        </p:txBody>
      </p:sp>
      <p:sp>
        <p:nvSpPr>
          <p:cNvPr id="200" name="Google Shape;200;p19"/>
          <p:cNvSpPr txBox="1"/>
          <p:nvPr>
            <p:ph idx="1" type="body"/>
          </p:nvPr>
        </p:nvSpPr>
        <p:spPr>
          <a:xfrm>
            <a:off x="844550" y="1119187"/>
            <a:ext cx="8299450" cy="4646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Three major activities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Service the interrupt – careful coding means just several hundred instructions needed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the page – lots of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Restart the process – again just a small amount of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 Rate 0 ≤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≤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0 no page faults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1, every reference is a fault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Effective Access Time (EAT)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EAT = (1 –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x memory 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+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(page fault overhead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+ swap page out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           + swap page in 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935037" y="214312"/>
            <a:ext cx="77517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Demand Paging Example</a:t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857250" y="1068387"/>
            <a:ext cx="7715250" cy="4849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access time = 200 nanoseconds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Average page-fault service time = 8 milliseconds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EAT = (1 – p) x 200 + p (8 milliseconds)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= (1 – p  x 200 + p x 8,000,000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= 200 + p x 7,999,800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one access out of 1,000 causes a page fault, then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EAT = 8.2 microseconds.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This is a slowdown by a factor of 40!!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want performance degradation &lt; 10 percent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220 &gt; 200 + 7,999,800 x p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 &gt; 7,999,800 x 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&lt; .0000025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&lt; one page fault in every 400,000 memory 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520700" y="1635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Demand Paging Optimizations</a:t>
            </a:r>
            <a:endParaRPr/>
          </a:p>
        </p:txBody>
      </p:sp>
      <p:sp>
        <p:nvSpPr>
          <p:cNvPr id="213" name="Google Shape;213;p21"/>
          <p:cNvSpPr txBox="1"/>
          <p:nvPr>
            <p:ph idx="1" type="body"/>
          </p:nvPr>
        </p:nvSpPr>
        <p:spPr>
          <a:xfrm>
            <a:off x="806450" y="1028700"/>
            <a:ext cx="7575550" cy="52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space I/O faster than file system I/O even if on the same device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Swap allocated in larger chunks, less management needed than file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 entire process image to swap space at process load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page in and out of swap space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in older BSD Unix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Demand page in from program binary on disk, but discard rather than paging out when freeing frame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in Solaris and current BSD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Still need to write to swap space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Pages not associated with a file (like stack and heap) – </a:t>
            </a:r>
            <a:r>
              <a:rPr b="1" i="0" lang="en-US" sz="16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anonymous</a:t>
            </a: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6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Pages modified in memory but not yet written back to the file 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Mobile systems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Typically don’t support swapping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Instead, demand page from file system and reclaim read-only pages (such as code)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457200" y="1254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Copy-on-Write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869950" y="1106487"/>
            <a:ext cx="73342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Copy-on-Write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(COW) allows both parent and child processes to initially </a:t>
            </a:r>
            <a:r>
              <a:rPr b="1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same pages in memory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either process modifies a shared page, only then is the page copied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COW allows more efficient process creation as only modified pages are copied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general, free pages are allocated from a </a:t>
            </a: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pool</a:t>
            </a:r>
            <a:r>
              <a:rPr b="0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</a:t>
            </a:r>
            <a:r>
              <a:rPr b="1" i="0" lang="en-US" sz="16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zero-fill-on-demand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Pool should always have free frames for fast demand page execution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9900"/>
              </a:buClr>
              <a:buSzPts val="1200"/>
              <a:buFont typeface="Arimo"/>
              <a:buChar char="4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Don’t want to have to free a frame as well as other processing on page fault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zero-out a page before allocating it?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vfork()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variation on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fork() 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 call has parent suspend and child using copy-on-write address space of parent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Designed to have child call </a:t>
            </a:r>
            <a:r>
              <a:rPr b="0" i="0" lang="en-US" sz="16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exec()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Very efficient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984250" y="227012"/>
            <a:ext cx="779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Before Process 1 Modifies Page C</a:t>
            </a:r>
            <a:endParaRPr/>
          </a:p>
        </p:txBody>
      </p:sp>
      <p:pic>
        <p:nvPicPr>
          <p:cNvPr descr="9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700" y="1354137"/>
            <a:ext cx="7339012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type="title"/>
          </p:nvPr>
        </p:nvSpPr>
        <p:spPr>
          <a:xfrm>
            <a:off x="889000" y="138112"/>
            <a:ext cx="7810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After Process 1 Modifies Page C</a:t>
            </a:r>
            <a:endParaRPr/>
          </a:p>
        </p:txBody>
      </p:sp>
      <p:pic>
        <p:nvPicPr>
          <p:cNvPr descr="9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1319212"/>
            <a:ext cx="6403975" cy="29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>
            <p:ph type="title"/>
          </p:nvPr>
        </p:nvSpPr>
        <p:spPr>
          <a:xfrm>
            <a:off x="1131887" y="144462"/>
            <a:ext cx="7869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What Happens if There is no Free Frame?</a:t>
            </a:r>
            <a:endParaRPr/>
          </a:p>
        </p:txBody>
      </p:sp>
      <p:sp>
        <p:nvSpPr>
          <p:cNvPr id="241" name="Google Shape;241;p25"/>
          <p:cNvSpPr txBox="1"/>
          <p:nvPr>
            <p:ph idx="1" type="body"/>
          </p:nvPr>
        </p:nvSpPr>
        <p:spPr>
          <a:xfrm>
            <a:off x="852487" y="1133475"/>
            <a:ext cx="7300912" cy="451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up by process pages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in demand from the kernel, I/O buffers, etc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much to allocate to each?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– find some page in memory, but not really in use, page it out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– terminate? swap out? replace the page?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– want an algorithm which will result in minimum number of page faults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page may be brought into memory several times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/>
          <p:nvPr>
            <p:ph type="title"/>
          </p:nvPr>
        </p:nvSpPr>
        <p:spPr>
          <a:xfrm>
            <a:off x="962025" y="188912"/>
            <a:ext cx="77247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Replacement</a:t>
            </a:r>
            <a:endParaRPr/>
          </a:p>
        </p:txBody>
      </p:sp>
      <p:sp>
        <p:nvSpPr>
          <p:cNvPr id="248" name="Google Shape;248;p26"/>
          <p:cNvSpPr txBox="1"/>
          <p:nvPr>
            <p:ph idx="1" type="body"/>
          </p:nvPr>
        </p:nvSpPr>
        <p:spPr>
          <a:xfrm>
            <a:off x="895350" y="1233487"/>
            <a:ext cx="6508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Prevent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over-allocation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memory by modifying page-fault service routine to include page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modify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dirty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bit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reduce overhead of page transfers – only modified pages are written to disk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replacement completes separation between logical memory and physical memory – large virtual memory can be provided on a smaller physical memory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type="title"/>
          </p:nvPr>
        </p:nvSpPr>
        <p:spPr>
          <a:xfrm>
            <a:off x="993775" y="188912"/>
            <a:ext cx="7693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Need For Page Replacement</a:t>
            </a:r>
            <a:endParaRPr/>
          </a:p>
        </p:txBody>
      </p:sp>
      <p:pic>
        <p:nvPicPr>
          <p:cNvPr descr="9"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7200" y="1192212"/>
            <a:ext cx="6192837" cy="45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1079500" y="163512"/>
            <a:ext cx="7607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Basic Page Replacement</a:t>
            </a:r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908050" y="1122362"/>
            <a:ext cx="7653337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9412" lvl="0" marL="3794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location of the desired page on disk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 free frame: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a free frame, use it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-  If there is no free frame, use a page replacement algorithm to select a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victim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</a:t>
            </a:r>
            <a:b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-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victim frame to disk if dirty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Bring  the desired page into the (newly) free frame; update the page and frame tables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Continue the process by restarting the instruction that caused the trap</a:t>
            </a:r>
            <a:endParaRPr/>
          </a:p>
          <a:p>
            <a:pPr indent="-27654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9412" lvl="0" marL="379412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 now potentially 2 page transfers for page fault – increasing EAT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 txBox="1"/>
          <p:nvPr>
            <p:ph type="title"/>
          </p:nvPr>
        </p:nvSpPr>
        <p:spPr>
          <a:xfrm>
            <a:off x="1022350" y="176212"/>
            <a:ext cx="7664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Replacement</a:t>
            </a:r>
            <a:endParaRPr/>
          </a:p>
        </p:txBody>
      </p:sp>
      <p:pic>
        <p:nvPicPr>
          <p:cNvPr descr="9" id="269" name="Google Shape;26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500" y="1223962"/>
            <a:ext cx="6267450" cy="46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0"/>
          <p:cNvSpPr txBox="1"/>
          <p:nvPr>
            <p:ph type="title"/>
          </p:nvPr>
        </p:nvSpPr>
        <p:spPr>
          <a:xfrm>
            <a:off x="1239837" y="163512"/>
            <a:ext cx="76755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 and Frame Replacement Algorithms</a:t>
            </a:r>
            <a:endParaRPr/>
          </a:p>
        </p:txBody>
      </p:sp>
      <p:sp>
        <p:nvSpPr>
          <p:cNvPr id="276" name="Google Shape;276;p30"/>
          <p:cNvSpPr txBox="1"/>
          <p:nvPr>
            <p:ph idx="1" type="body"/>
          </p:nvPr>
        </p:nvSpPr>
        <p:spPr>
          <a:xfrm>
            <a:off x="869950" y="1133475"/>
            <a:ext cx="7486650" cy="4899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Frame-allocation algorithm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frames to give each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Which frames to replace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Page-replacement 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Want lowest page-fault rate on both first access and re-access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Evaluate algorithm by running it on a particular string of memory references (reference string) and computing the number of page faults on that string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 is just page numbers, not full addresses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 access to the same page does not cause a page fault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depend on number of frames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all our examples, the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referenced page numbers is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             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7,0,1,2,0,3,0,4,2,3,0,3,0,3,2,1,2,0,1,7,0,1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1"/>
          <p:cNvSpPr txBox="1"/>
          <p:nvPr>
            <p:ph type="title"/>
          </p:nvPr>
        </p:nvSpPr>
        <p:spPr>
          <a:xfrm>
            <a:off x="1104900" y="98425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Graph of Page Faults Versus The Number of Frames</a:t>
            </a:r>
            <a:endParaRPr/>
          </a:p>
        </p:txBody>
      </p:sp>
      <p:pic>
        <p:nvPicPr>
          <p:cNvPr id="283" name="Google Shape;28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4800" y="1238250"/>
            <a:ext cx="6045200" cy="355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2"/>
          <p:cNvSpPr txBox="1"/>
          <p:nvPr>
            <p:ph type="title"/>
          </p:nvPr>
        </p:nvSpPr>
        <p:spPr>
          <a:xfrm>
            <a:off x="941387" y="176212"/>
            <a:ext cx="7821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First-In-First-Out (FIFO) Algorithm</a:t>
            </a:r>
            <a:endParaRPr/>
          </a:p>
        </p:txBody>
      </p:sp>
      <p:sp>
        <p:nvSpPr>
          <p:cNvPr id="290" name="Google Shape;290;p32"/>
          <p:cNvSpPr txBox="1"/>
          <p:nvPr>
            <p:ph idx="1" type="body"/>
          </p:nvPr>
        </p:nvSpPr>
        <p:spPr>
          <a:xfrm>
            <a:off x="908050" y="1052512"/>
            <a:ext cx="7283450" cy="576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string: </a:t>
            </a:r>
            <a:r>
              <a:rPr b="1" i="0" lang="en-US" sz="1800" u="none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7,0,1,2,0,3,0,4,2,3,0,3,0,3,2,1,2,0,1,7,0,1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frames (3 pages can be in memory at a time per process)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20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vary by reference string: consider 1,2,3,4,1,2,5,1,2,3,4,5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Adding more frames can cause more page faults!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Belady’s Anomaly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track ages of pages?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Just use a FIFO queue</a:t>
            </a:r>
            <a:endParaRPr/>
          </a:p>
        </p:txBody>
      </p:sp>
      <p:sp>
        <p:nvSpPr>
          <p:cNvPr id="291" name="Google Shape;291;p32"/>
          <p:cNvSpPr txBox="1"/>
          <p:nvPr/>
        </p:nvSpPr>
        <p:spPr>
          <a:xfrm>
            <a:off x="1333500" y="3546475"/>
            <a:ext cx="1633537" cy="369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15 page faults</a:t>
            </a:r>
            <a:endParaRPr/>
          </a:p>
        </p:txBody>
      </p:sp>
      <p:pic>
        <p:nvPicPr>
          <p:cNvPr id="292" name="Google Shape;2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4337" y="1854200"/>
            <a:ext cx="5327650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1168400" y="214312"/>
            <a:ext cx="77343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FIFO Illustrating Belady’s Anomaly</a:t>
            </a:r>
            <a:endParaRPr/>
          </a:p>
        </p:txBody>
      </p:sp>
      <p:pic>
        <p:nvPicPr>
          <p:cNvPr descr="9_13.pdf" id="299" name="Google Shape;2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3537" y="1303337"/>
            <a:ext cx="5676900" cy="406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type="title"/>
          </p:nvPr>
        </p:nvSpPr>
        <p:spPr>
          <a:xfrm>
            <a:off x="749300" y="138112"/>
            <a:ext cx="7937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Optimal Algorithm</a:t>
            </a:r>
            <a:endParaRPr/>
          </a:p>
        </p:txBody>
      </p:sp>
      <p:sp>
        <p:nvSpPr>
          <p:cNvPr id="306" name="Google Shape;306;p34"/>
          <p:cNvSpPr txBox="1"/>
          <p:nvPr>
            <p:ph idx="1" type="body"/>
          </p:nvPr>
        </p:nvSpPr>
        <p:spPr>
          <a:xfrm>
            <a:off x="895350" y="1119187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page that will not be used for longest period of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9 is optimal for the example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do you know this?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Can’t read the future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for measuring how well your algorithm performs</a:t>
            </a:r>
            <a:endParaRPr/>
          </a:p>
        </p:txBody>
      </p:sp>
      <p:pic>
        <p:nvPicPr>
          <p:cNvPr id="307" name="Google Shape;30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900" y="3159125"/>
            <a:ext cx="6259512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"/>
          <p:cNvSpPr txBox="1"/>
          <p:nvPr>
            <p:ph type="title"/>
          </p:nvPr>
        </p:nvSpPr>
        <p:spPr>
          <a:xfrm>
            <a:off x="1368425" y="163512"/>
            <a:ext cx="76739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Least Recently Used (LRU) Algorithm</a:t>
            </a:r>
            <a:endParaRPr/>
          </a:p>
        </p:txBody>
      </p:sp>
      <p:sp>
        <p:nvSpPr>
          <p:cNvPr id="314" name="Google Shape;314;p35"/>
          <p:cNvSpPr txBox="1"/>
          <p:nvPr>
            <p:ph idx="1" type="body"/>
          </p:nvPr>
        </p:nvSpPr>
        <p:spPr>
          <a:xfrm>
            <a:off x="889000" y="727075"/>
            <a:ext cx="7454900" cy="483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past knowledge rather than future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page that has not been used in the most amount of time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Associate time of last use with each page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 faults – better than FIFO but worse than OPT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Generally good algorithm and frequently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how to implement?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9" id="315" name="Google Shape;3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587" y="2363787"/>
            <a:ext cx="6902450" cy="1884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6"/>
          <p:cNvSpPr txBox="1"/>
          <p:nvPr>
            <p:ph type="title"/>
          </p:nvPr>
        </p:nvSpPr>
        <p:spPr>
          <a:xfrm>
            <a:off x="457200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LRU Algorithm (Cont.)</a:t>
            </a:r>
            <a:endParaRPr/>
          </a:p>
        </p:txBody>
      </p:sp>
      <p:sp>
        <p:nvSpPr>
          <p:cNvPr id="322" name="Google Shape;322;p36"/>
          <p:cNvSpPr txBox="1"/>
          <p:nvPr>
            <p:ph idx="1" type="body"/>
          </p:nvPr>
        </p:nvSpPr>
        <p:spPr>
          <a:xfrm>
            <a:off x="895350" y="950912"/>
            <a:ext cx="7524750" cy="52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Counter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page entry has a counter; every time page is referenced through this entry, copy the clock into the counter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a page needs to be changed, look at the counters to find smallest value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 through table needed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implementation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a stack of page numbers in a double link form: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referenced: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move it to the top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requires 6 pointers to be changed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each update more expensive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search for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LRU and OPT are cases of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stack algorithms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 don’t have Belady’s Anomaly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type="title"/>
          </p:nvPr>
        </p:nvSpPr>
        <p:spPr>
          <a:xfrm>
            <a:off x="1263650" y="103187"/>
            <a:ext cx="76263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Use Of A Stack to Record Most Recent Page References</a:t>
            </a:r>
            <a:endParaRPr/>
          </a:p>
        </p:txBody>
      </p:sp>
      <p:pic>
        <p:nvPicPr>
          <p:cNvPr descr="9_16.pdf" id="329" name="Google Shape;3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8037" y="1141412"/>
            <a:ext cx="4702175" cy="36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8"/>
          <p:cNvSpPr txBox="1"/>
          <p:nvPr>
            <p:ph type="title"/>
          </p:nvPr>
        </p:nvSpPr>
        <p:spPr>
          <a:xfrm>
            <a:off x="914400" y="150812"/>
            <a:ext cx="7772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LRU Approximation Algorithms</a:t>
            </a:r>
            <a:endParaRPr/>
          </a:p>
        </p:txBody>
      </p:sp>
      <p:sp>
        <p:nvSpPr>
          <p:cNvPr id="336" name="Google Shape;336;p38"/>
          <p:cNvSpPr txBox="1"/>
          <p:nvPr>
            <p:ph idx="1" type="body"/>
          </p:nvPr>
        </p:nvSpPr>
        <p:spPr>
          <a:xfrm>
            <a:off x="919162" y="982662"/>
            <a:ext cx="7370762" cy="514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LRU needs special hardware and still slow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each page associate a bit, initially =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page is referenced bit set to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any with reference bit = 0 (if one exists)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do not know the order, however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Second-chance 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Generally FIFO, plus hardware-provided reference bit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Clock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replacement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page to be replaced has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bit = 0 -&gt; replace it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 bit = 1 then: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reference bit 0, leave page in memory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next page, subject to same rules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type="title"/>
          </p:nvPr>
        </p:nvSpPr>
        <p:spPr>
          <a:xfrm>
            <a:off x="927100" y="177800"/>
            <a:ext cx="8010525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Second-Chance (clock) Page-Replacement Algorithm</a:t>
            </a:r>
            <a:endParaRPr/>
          </a:p>
        </p:txBody>
      </p:sp>
      <p:pic>
        <p:nvPicPr>
          <p:cNvPr descr="9_17.pdf" id="343" name="Google Shape;34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8525" y="1092200"/>
            <a:ext cx="4402137" cy="4443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0"/>
          <p:cNvSpPr txBox="1"/>
          <p:nvPr>
            <p:ph type="title"/>
          </p:nvPr>
        </p:nvSpPr>
        <p:spPr>
          <a:xfrm>
            <a:off x="1016000" y="138112"/>
            <a:ext cx="7772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Enhanced Second-Chance Algorithm</a:t>
            </a:r>
            <a:endParaRPr/>
          </a:p>
        </p:txBody>
      </p:sp>
      <p:sp>
        <p:nvSpPr>
          <p:cNvPr id="350" name="Google Shape;350;p40"/>
          <p:cNvSpPr txBox="1"/>
          <p:nvPr>
            <p:ph idx="1" type="body"/>
          </p:nvPr>
        </p:nvSpPr>
        <p:spPr>
          <a:xfrm>
            <a:off x="906462" y="1071562"/>
            <a:ext cx="7158037" cy="5146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 algorithm by using reference bit and modify bit (if available) in concert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Take ordered pair (reference, modify)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(0, 0) neither recently used not modified – best page to replace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(0, 1) not recently used but modified – not quite as good, must write out before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(1, 0) recently used but clean – probably will be used again soon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(1, 1) recently used and modified – probably will be used again soon and need to write out before replacement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page replacement called for, use the clock scheme  but use the four classes replace page in lowest non-empty class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Might need to search circular queue several times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1"/>
          <p:cNvSpPr txBox="1"/>
          <p:nvPr>
            <p:ph type="title"/>
          </p:nvPr>
        </p:nvSpPr>
        <p:spPr>
          <a:xfrm>
            <a:off x="457200" y="1635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Counting Algorithms</a:t>
            </a:r>
            <a:endParaRPr/>
          </a:p>
        </p:txBody>
      </p:sp>
      <p:sp>
        <p:nvSpPr>
          <p:cNvPr id="357" name="Google Shape;357;p41"/>
          <p:cNvSpPr txBox="1"/>
          <p:nvPr>
            <p:ph idx="1" type="body"/>
          </p:nvPr>
        </p:nvSpPr>
        <p:spPr>
          <a:xfrm>
            <a:off x="915987" y="1155700"/>
            <a:ext cx="7377112" cy="4551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a counter of the number of references that have been made to each page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common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Lease Frequently Used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LFU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Algorithm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replaces page with smallest count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Frequently Used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MFU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Algorithm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based on the argument that the page with the smallest count was probably just brought in and has yet to be used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2"/>
          <p:cNvSpPr txBox="1"/>
          <p:nvPr>
            <p:ph type="title"/>
          </p:nvPr>
        </p:nvSpPr>
        <p:spPr>
          <a:xfrm>
            <a:off x="4572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Page-Buffering Algorithms</a:t>
            </a:r>
            <a:endParaRPr/>
          </a:p>
        </p:txBody>
      </p:sp>
      <p:sp>
        <p:nvSpPr>
          <p:cNvPr id="363" name="Google Shape;363;p42"/>
          <p:cNvSpPr txBox="1"/>
          <p:nvPr>
            <p:ph idx="1" type="body"/>
          </p:nvPr>
        </p:nvSpPr>
        <p:spPr>
          <a:xfrm>
            <a:off x="869950" y="1093787"/>
            <a:ext cx="7232650" cy="5078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a pool of free frames, always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frame available when needed, not found at fault time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page into free frame and select victim to evict and add to free pool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convenient, evict victim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Possibly, keep list of modified pages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backing store otherwise idle, write pages there and set to non-dirty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Possibly, keep free frame contents intact and note what is in them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referenced again before reused, no need to load contents again from disk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Generally useful to reduce penalty if wrong victim frame selected 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3"/>
          <p:cNvSpPr txBox="1"/>
          <p:nvPr>
            <p:ph type="title"/>
          </p:nvPr>
        </p:nvSpPr>
        <p:spPr>
          <a:xfrm>
            <a:off x="831850" y="138112"/>
            <a:ext cx="78676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Applications and Page Replacement</a:t>
            </a:r>
            <a:endParaRPr/>
          </a:p>
        </p:txBody>
      </p:sp>
      <p:sp>
        <p:nvSpPr>
          <p:cNvPr id="369" name="Google Shape;369;p43"/>
          <p:cNvSpPr txBox="1"/>
          <p:nvPr>
            <p:ph idx="1" type="body"/>
          </p:nvPr>
        </p:nvSpPr>
        <p:spPr>
          <a:xfrm>
            <a:off x="895350" y="1131887"/>
            <a:ext cx="70675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of these algorithms have OS guessing about future page access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applications have better knowledge – i.e. databases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intensive applications can cause double buffering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OS keeps copy of page in memory as I/O buffer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 keeps page in memory for its own work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can given direct access to the disk, getting out of the way of the applications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disk</a:t>
            </a:r>
            <a:r>
              <a:rPr b="1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Bypasses buffering, locking, etc</a:t>
            </a:r>
            <a:endParaRPr/>
          </a:p>
          <a:p>
            <a:pPr indent="-24003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4"/>
          <p:cNvSpPr txBox="1"/>
          <p:nvPr>
            <p:ph type="title"/>
          </p:nvPr>
        </p:nvSpPr>
        <p:spPr>
          <a:xfrm>
            <a:off x="808037" y="163512"/>
            <a:ext cx="78787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Allocation of Frames</a:t>
            </a:r>
            <a:endParaRPr/>
          </a:p>
        </p:txBody>
      </p:sp>
      <p:sp>
        <p:nvSpPr>
          <p:cNvPr id="376" name="Google Shape;376;p44"/>
          <p:cNvSpPr txBox="1"/>
          <p:nvPr>
            <p:ph idx="1" type="body"/>
          </p:nvPr>
        </p:nvSpPr>
        <p:spPr>
          <a:xfrm>
            <a:off x="890587" y="1120775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process needs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minimum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number of frames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IBM 370 – 6 pages to handle SS MOVE instruction: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instruction is 6 bytes, might span 2 pages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pages to handle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pages to handle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Maximum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course is total frames in the system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major allocation schemes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fixed allocation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allocation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variations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/>
          <p:nvPr>
            <p:ph type="title"/>
          </p:nvPr>
        </p:nvSpPr>
        <p:spPr>
          <a:xfrm>
            <a:off x="738187" y="188912"/>
            <a:ext cx="7948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Fixed Allocation</a:t>
            </a:r>
            <a:endParaRPr/>
          </a:p>
        </p:txBody>
      </p:sp>
      <p:sp>
        <p:nvSpPr>
          <p:cNvPr id="383" name="Google Shape;383;p45"/>
          <p:cNvSpPr txBox="1"/>
          <p:nvPr>
            <p:ph idx="1" type="body"/>
          </p:nvPr>
        </p:nvSpPr>
        <p:spPr>
          <a:xfrm>
            <a:off x="901700" y="1082675"/>
            <a:ext cx="7226300" cy="464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Equal allocation – For example, if there are 100 frames (after allocating frames for the OS) and 5 processes, give each process 20 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some as free frame buffer pool</a:t>
            </a:r>
            <a:endParaRPr/>
          </a:p>
          <a:p>
            <a:pPr indent="-29718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93300"/>
              </a:buClr>
              <a:buSzPts val="72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Proportional allocation – Allocate according to the size of process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as degree of multiprogramming, process sizes change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84" name="Google Shape;38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6437" y="3630612"/>
            <a:ext cx="2857500" cy="16113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45"/>
          <p:cNvCxnSpPr/>
          <p:nvPr/>
        </p:nvCxnSpPr>
        <p:spPr>
          <a:xfrm>
            <a:off x="1782762" y="3792537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6" name="Google Shape;386;p45"/>
          <p:cNvCxnSpPr/>
          <p:nvPr/>
        </p:nvCxnSpPr>
        <p:spPr>
          <a:xfrm>
            <a:off x="1782762" y="4129087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7" name="Google Shape;387;p45"/>
          <p:cNvCxnSpPr/>
          <p:nvPr/>
        </p:nvCxnSpPr>
        <p:spPr>
          <a:xfrm>
            <a:off x="1782762" y="4989512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88" name="Google Shape;388;p45"/>
          <p:cNvCxnSpPr/>
          <p:nvPr/>
        </p:nvCxnSpPr>
        <p:spPr>
          <a:xfrm>
            <a:off x="1776412" y="4456112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389" name="Google Shape;38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5187" y="3425825"/>
            <a:ext cx="1506537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866775" y="201612"/>
            <a:ext cx="78200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Priority Allocation</a:t>
            </a:r>
            <a:endParaRPr/>
          </a:p>
        </p:txBody>
      </p:sp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920750" y="1190625"/>
            <a:ext cx="6851650" cy="4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a proportional allocation scheme using priorities rather than size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process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generates a page fault,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for replacement one of its 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for replacement a frame from a process with lower priority number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"/>
          <p:cNvSpPr txBox="1"/>
          <p:nvPr>
            <p:ph type="title"/>
          </p:nvPr>
        </p:nvSpPr>
        <p:spPr>
          <a:xfrm>
            <a:off x="1030287" y="188912"/>
            <a:ext cx="76565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Global vs. Local Allocation</a:t>
            </a:r>
            <a:endParaRPr/>
          </a:p>
        </p:txBody>
      </p:sp>
      <p:sp>
        <p:nvSpPr>
          <p:cNvPr id="403" name="Google Shape;403;p47"/>
          <p:cNvSpPr txBox="1"/>
          <p:nvPr>
            <p:ph idx="1" type="body"/>
          </p:nvPr>
        </p:nvSpPr>
        <p:spPr>
          <a:xfrm>
            <a:off x="877887" y="1116012"/>
            <a:ext cx="6958012" cy="4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replacement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process selects a replacement frame from the set of all frames; one process can take a frame from another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then process execution time can vary greatly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greater throughput so more common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replacement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each process selects from only its own set of allocated frames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consistent per-process performance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possibly underutilized memory</a:t>
            </a:r>
            <a:endParaRPr/>
          </a:p>
          <a:p>
            <a:pPr indent="-194309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"/>
          <p:cNvSpPr txBox="1"/>
          <p:nvPr>
            <p:ph type="title"/>
          </p:nvPr>
        </p:nvSpPr>
        <p:spPr>
          <a:xfrm>
            <a:off x="495300" y="2016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Non-Uniform Memory Access</a:t>
            </a:r>
            <a:endParaRPr/>
          </a:p>
        </p:txBody>
      </p:sp>
      <p:sp>
        <p:nvSpPr>
          <p:cNvPr id="409" name="Google Shape;409;p48"/>
          <p:cNvSpPr txBox="1"/>
          <p:nvPr>
            <p:ph idx="1" type="body"/>
          </p:nvPr>
        </p:nvSpPr>
        <p:spPr>
          <a:xfrm>
            <a:off x="895350" y="1081087"/>
            <a:ext cx="7169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 far all memory accessed equally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Many systems are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NUMA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speed of access to memory varies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system boards containing CPUs and memory, interconnected over a system bus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Optimal performance comes from allocating memory “close to” the CPU on which the thread is scheduled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modifying the scheduler to schedule the thread on the same system board when possible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Solved by Solaris by creating </a:t>
            </a:r>
            <a:r>
              <a:rPr b="1" i="0" lang="en-US" sz="1800" u="none" cap="none" strike="noStrik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lgroups 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Structure to track CPU / Memory low latency groups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Used my schedule and pager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possible schedule all threads of a process and allocate all memory for that process within the lgroup</a:t>
            </a:r>
            <a:endParaRPr/>
          </a:p>
          <a:p>
            <a:pPr indent="-240030" lvl="0" marL="342900" marR="0" rtl="0" algn="l"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9"/>
          <p:cNvSpPr txBox="1"/>
          <p:nvPr>
            <p:ph type="title"/>
          </p:nvPr>
        </p:nvSpPr>
        <p:spPr>
          <a:xfrm>
            <a:off x="457200" y="1889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Thrashing</a:t>
            </a:r>
            <a:endParaRPr/>
          </a:p>
        </p:txBody>
      </p:sp>
      <p:sp>
        <p:nvSpPr>
          <p:cNvPr id="416" name="Google Shape;416;p49"/>
          <p:cNvSpPr txBox="1"/>
          <p:nvPr>
            <p:ph idx="1" type="body"/>
          </p:nvPr>
        </p:nvSpPr>
        <p:spPr>
          <a:xfrm>
            <a:off x="889000" y="1131887"/>
            <a:ext cx="735330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 process does not have “enough” pages, the page-fault rate is very high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fault to get page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Replace existing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quickly need replaced frame back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leads to: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Low CPU utilization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Operating system thinking that it needs to increase the degree of multiprogramming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Another process added to the system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Thrashing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≡ a process is busy swapping pages in and out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0"/>
          <p:cNvSpPr txBox="1"/>
          <p:nvPr>
            <p:ph type="title"/>
          </p:nvPr>
        </p:nvSpPr>
        <p:spPr>
          <a:xfrm>
            <a:off x="944562" y="163512"/>
            <a:ext cx="69230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Thrashing (Cont.)</a:t>
            </a:r>
            <a:endParaRPr/>
          </a:p>
        </p:txBody>
      </p:sp>
      <p:pic>
        <p:nvPicPr>
          <p:cNvPr descr="9" id="423" name="Google Shape;42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100" y="1206500"/>
            <a:ext cx="6678612" cy="386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1"/>
          <p:cNvSpPr txBox="1"/>
          <p:nvPr>
            <p:ph type="title"/>
          </p:nvPr>
        </p:nvSpPr>
        <p:spPr>
          <a:xfrm>
            <a:off x="1262062" y="188912"/>
            <a:ext cx="71596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Demand Paging and Thrashing </a:t>
            </a:r>
            <a:endParaRPr/>
          </a:p>
        </p:txBody>
      </p:sp>
      <p:sp>
        <p:nvSpPr>
          <p:cNvPr id="430" name="Google Shape;430;p51"/>
          <p:cNvSpPr txBox="1"/>
          <p:nvPr>
            <p:ph idx="1" type="body"/>
          </p:nvPr>
        </p:nvSpPr>
        <p:spPr>
          <a:xfrm>
            <a:off x="938212" y="1084262"/>
            <a:ext cx="7100887" cy="300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does demand paging work?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 model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migrates from one locality to another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Localities may overlap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does thrashing occur?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Σ size of locality &gt; total memory size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Limit effects by using local or priority page replacement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2"/>
          <p:cNvSpPr txBox="1"/>
          <p:nvPr>
            <p:ph type="title"/>
          </p:nvPr>
        </p:nvSpPr>
        <p:spPr>
          <a:xfrm>
            <a:off x="1077912" y="125412"/>
            <a:ext cx="7850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Locality In A Memory-Reference Pattern</a:t>
            </a:r>
            <a:endParaRPr/>
          </a:p>
        </p:txBody>
      </p:sp>
      <p:pic>
        <p:nvPicPr>
          <p:cNvPr descr="9_19.pdf" id="437" name="Google Shape;4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5262" y="1017587"/>
            <a:ext cx="3770312" cy="540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3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Working-Set Model</a:t>
            </a:r>
            <a:endParaRPr/>
          </a:p>
        </p:txBody>
      </p:sp>
      <p:sp>
        <p:nvSpPr>
          <p:cNvPr id="444" name="Google Shape;444;p53"/>
          <p:cNvSpPr txBox="1"/>
          <p:nvPr>
            <p:ph idx="1" type="body"/>
          </p:nvPr>
        </p:nvSpPr>
        <p:spPr>
          <a:xfrm>
            <a:off x="908050" y="979487"/>
            <a:ext cx="7573962" cy="4881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Δ ≡ working-set window ≡ a fixed number of page references 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 10,000 instructions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WSS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(working set of Process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</a:t>
            </a:r>
            <a:b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total number of pages referenced in the most recent Δ (varies in time)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too small will not encompass entire 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too large will encompass several localities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Δ = ∞ ⇒ will encompass entire program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Σ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WSS</a:t>
            </a:r>
            <a:r>
              <a:rPr b="0" baseline="-2500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≡ total demand frames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6600"/>
              </a:buClr>
              <a:buSzPts val="128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Approximation of locality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⇒ Thrashing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440"/>
              <a:buFont typeface="Arial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Policy if </a:t>
            </a:r>
            <a:r>
              <a:rPr b="0" i="1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m, then suspe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nd or swap out one of the processes </a:t>
            </a:r>
            <a:endParaRPr/>
          </a:p>
        </p:txBody>
      </p:sp>
      <p:pic>
        <p:nvPicPr>
          <p:cNvPr id="445" name="Google Shape;44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1475" y="4546600"/>
            <a:ext cx="6707187" cy="178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54"/>
          <p:cNvSpPr txBox="1"/>
          <p:nvPr>
            <p:ph type="title"/>
          </p:nvPr>
        </p:nvSpPr>
        <p:spPr>
          <a:xfrm>
            <a:off x="969962" y="163512"/>
            <a:ext cx="77422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Keeping Track of the Working Set</a:t>
            </a:r>
            <a:endParaRPr/>
          </a:p>
        </p:txBody>
      </p:sp>
      <p:sp>
        <p:nvSpPr>
          <p:cNvPr id="452" name="Google Shape;452;p54"/>
          <p:cNvSpPr txBox="1"/>
          <p:nvPr>
            <p:ph idx="1" type="body"/>
          </p:nvPr>
        </p:nvSpPr>
        <p:spPr>
          <a:xfrm>
            <a:off x="869950" y="1119187"/>
            <a:ext cx="774382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Approximate with interval timer + a reference bit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Δ = 10,000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Timer interrupts after every 5000 time units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Keep in memory 2 bits for each page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Whenever a timer interrupts copy and sets the values of all reference bits to 0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one of the bits in memory = 1 ⇒ page in working 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is this not completely accurate?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Improvement = 10 bits and interrupt every 1000 time units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5"/>
          <p:cNvSpPr txBox="1"/>
          <p:nvPr>
            <p:ph type="title"/>
          </p:nvPr>
        </p:nvSpPr>
        <p:spPr>
          <a:xfrm>
            <a:off x="796925" y="163512"/>
            <a:ext cx="78898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Page-Fault Frequency</a:t>
            </a:r>
            <a:endParaRPr/>
          </a:p>
        </p:txBody>
      </p:sp>
      <p:sp>
        <p:nvSpPr>
          <p:cNvPr id="459" name="Google Shape;459;p55"/>
          <p:cNvSpPr txBox="1"/>
          <p:nvPr>
            <p:ph idx="1" type="body"/>
          </p:nvPr>
        </p:nvSpPr>
        <p:spPr>
          <a:xfrm>
            <a:off x="927100" y="1049337"/>
            <a:ext cx="6604000" cy="166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More direct approach than WSS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Establish “acceptable”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page-fault frequency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PFF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rate and use local replacement policy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actual rate too low, process loses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actual rate too high, process gains frame</a:t>
            </a:r>
            <a:endParaRPr/>
          </a:p>
        </p:txBody>
      </p:sp>
      <p:pic>
        <p:nvPicPr>
          <p:cNvPr descr="9_21.pdf" id="460" name="Google Shape;46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8000" y="2954337"/>
            <a:ext cx="5103812" cy="2954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>
            <p:ph type="title"/>
          </p:nvPr>
        </p:nvSpPr>
        <p:spPr>
          <a:xfrm>
            <a:off x="1063625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Working Sets and Page Fault Rates</a:t>
            </a:r>
            <a:endParaRPr/>
          </a:p>
        </p:txBody>
      </p:sp>
      <p:pic>
        <p:nvPicPr>
          <p:cNvPr descr="9" id="466" name="Google Shape;4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0" y="2684462"/>
            <a:ext cx="5802312" cy="26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6"/>
          <p:cNvSpPr txBox="1"/>
          <p:nvPr/>
        </p:nvSpPr>
        <p:spPr>
          <a:xfrm>
            <a:off x="908050" y="1042987"/>
            <a:ext cx="7194550" cy="2071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88950" lvl="0" marL="488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Direct relationship between working set of a process and its page-fault rate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changes over time</a:t>
            </a:r>
            <a:endParaRPr/>
          </a:p>
          <a:p>
            <a:pPr indent="-488950" lvl="0" marL="488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Peaks and valleys over time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7"/>
          <p:cNvSpPr txBox="1"/>
          <p:nvPr>
            <p:ph type="title"/>
          </p:nvPr>
        </p:nvSpPr>
        <p:spPr>
          <a:xfrm>
            <a:off x="457200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Memory-Mapped Files</a:t>
            </a:r>
            <a:endParaRPr/>
          </a:p>
        </p:txBody>
      </p:sp>
      <p:sp>
        <p:nvSpPr>
          <p:cNvPr id="474" name="Google Shape;474;p57"/>
          <p:cNvSpPr txBox="1"/>
          <p:nvPr>
            <p:ph idx="1" type="body"/>
          </p:nvPr>
        </p:nvSpPr>
        <p:spPr>
          <a:xfrm>
            <a:off x="895350" y="1081087"/>
            <a:ext cx="7296150" cy="4684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Memory-mapped file I/O allows file I/O to be treated as routine memory access by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mapping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disk block to a page in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file is initially read using demand paging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page-sized portion of the file is read from the file system into a physical page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Subsequent reads/writes to/from the file are treated as ordinary memory accesses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Simplifies and speeds file access by driving file I/O through memory rather than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read()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write()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system calls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Also allows several processes to map the same file allowing the pages in memory to be shared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when does written data make it to disk?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Periodically and / or at file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close()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when the pager scans for dirty pages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1497012" y="138112"/>
            <a:ext cx="74310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Memory-Mapped File Technique for all I/O</a:t>
            </a:r>
            <a:endParaRPr/>
          </a:p>
        </p:txBody>
      </p:sp>
      <p:sp>
        <p:nvSpPr>
          <p:cNvPr id="480" name="Google Shape;480;p58"/>
          <p:cNvSpPr txBox="1"/>
          <p:nvPr>
            <p:ph idx="1" type="body"/>
          </p:nvPr>
        </p:nvSpPr>
        <p:spPr>
          <a:xfrm>
            <a:off x="920750" y="1042987"/>
            <a:ext cx="7696200" cy="4900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OSes  uses memory mapped files for standard I/O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can explicitly request memory mapping a file via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mmap()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system call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file mapped into process address space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standard I/O (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open(), read(), write(), close()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), mmap anyway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map file into kernel address space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still does read() and write()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Copies data to and from kernel space and user space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efficient memory management subsystem</a:t>
            </a:r>
            <a:endParaRPr/>
          </a:p>
          <a:p>
            <a:pPr indent="-228600" lvl="2" marL="108585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Avoids needing separate subsystem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COW can be used for read/write non-shared pages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mapped files can be  used for shared memory (although again via separate system calls)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/>
          <p:nvPr>
            <p:ph type="title"/>
          </p:nvPr>
        </p:nvSpPr>
        <p:spPr>
          <a:xfrm>
            <a:off x="457200" y="1254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Memory Mapped Files</a:t>
            </a:r>
            <a:endParaRPr/>
          </a:p>
        </p:txBody>
      </p:sp>
      <p:pic>
        <p:nvPicPr>
          <p:cNvPr descr="9_22.pdf" id="487" name="Google Shape;48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173162"/>
            <a:ext cx="5149850" cy="465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0"/>
          <p:cNvSpPr txBox="1"/>
          <p:nvPr>
            <p:ph type="title"/>
          </p:nvPr>
        </p:nvSpPr>
        <p:spPr>
          <a:xfrm>
            <a:off x="1257300" y="103187"/>
            <a:ext cx="76581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Shared Memory via Memory-Mapped I/O</a:t>
            </a:r>
            <a:endParaRPr/>
          </a:p>
        </p:txBody>
      </p:sp>
      <p:pic>
        <p:nvPicPr>
          <p:cNvPr descr="9_23.pdf" id="494" name="Google Shape;49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1312" y="1320800"/>
            <a:ext cx="6070600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61"/>
          <p:cNvSpPr txBox="1"/>
          <p:nvPr>
            <p:ph type="title"/>
          </p:nvPr>
        </p:nvSpPr>
        <p:spPr>
          <a:xfrm>
            <a:off x="584200" y="1762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Shared Memory in Windows API</a:t>
            </a:r>
            <a:endParaRPr/>
          </a:p>
        </p:txBody>
      </p:sp>
      <p:sp>
        <p:nvSpPr>
          <p:cNvPr id="501" name="Google Shape;501;p61"/>
          <p:cNvSpPr txBox="1"/>
          <p:nvPr>
            <p:ph idx="1" type="body"/>
          </p:nvPr>
        </p:nvSpPr>
        <p:spPr>
          <a:xfrm>
            <a:off x="895350" y="1131887"/>
            <a:ext cx="73850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create a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file mapping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file to be mapped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establish a view of the mapped file in process’s virtual address space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producer / consumer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Producer create shared-memory object using memory mapping features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 file via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CreateFile(),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returning 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HANDLE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mapping via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CreateFileMapping()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creating a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named shared-memory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view via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MapViewOfFile()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Sample code in Textbook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62"/>
          <p:cNvSpPr txBox="1"/>
          <p:nvPr>
            <p:ph type="title"/>
          </p:nvPr>
        </p:nvSpPr>
        <p:spPr>
          <a:xfrm>
            <a:off x="963612" y="163512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Allocating Kernel Memory</a:t>
            </a:r>
            <a:endParaRPr/>
          </a:p>
        </p:txBody>
      </p:sp>
      <p:sp>
        <p:nvSpPr>
          <p:cNvPr id="508" name="Google Shape;508;p62"/>
          <p:cNvSpPr txBox="1"/>
          <p:nvPr>
            <p:ph idx="1" type="body"/>
          </p:nvPr>
        </p:nvSpPr>
        <p:spPr>
          <a:xfrm>
            <a:off x="895350" y="1093787"/>
            <a:ext cx="7677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Treated differently from user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Often allocated from a free-memory pool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Kernel requests memory for structures of varying sizes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kernel memory needs to be contiguous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I.e. for device I/O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3"/>
          <p:cNvSpPr txBox="1"/>
          <p:nvPr>
            <p:ph type="title"/>
          </p:nvPr>
        </p:nvSpPr>
        <p:spPr>
          <a:xfrm>
            <a:off x="457200" y="1381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Buddy System</a:t>
            </a:r>
            <a:endParaRPr/>
          </a:p>
        </p:txBody>
      </p:sp>
      <p:sp>
        <p:nvSpPr>
          <p:cNvPr id="515" name="Google Shape;515;p63"/>
          <p:cNvSpPr txBox="1"/>
          <p:nvPr>
            <p:ph idx="1" type="body"/>
          </p:nvPr>
        </p:nvSpPr>
        <p:spPr>
          <a:xfrm>
            <a:off x="908050" y="1042987"/>
            <a:ext cx="7854950" cy="5243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Allocates memory from fixed-size segment consisting of physically-contiguous pages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Memory allocated using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power-of-2 allocator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Satisfies requests in units sized as power of 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Request rounded up to next highest power of 2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smaller allocation needed than is available, current chunk split into two buddies of next-lower power of 2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Continue until appropriate sized chunk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 assume 256KB chunk available, kernel requests 21KB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Split into 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128KB each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further divided into B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B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64KB</a:t>
            </a:r>
            <a:endParaRPr/>
          </a:p>
          <a:p>
            <a:pPr indent="-228600" lvl="3" marL="14287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chemeClr val="hlink"/>
              </a:buClr>
              <a:buSzPts val="1350"/>
              <a:buFont typeface="Helvetica Neue"/>
              <a:buChar char="–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further into 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C</a:t>
            </a:r>
            <a:r>
              <a:rPr b="0" baseline="-25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32KB each – one used to satisfy request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Advantage – quickly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coalesce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unused chunks into larger chunk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Disadvantage - fragmentation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4"/>
          <p:cNvSpPr txBox="1"/>
          <p:nvPr>
            <p:ph type="title"/>
          </p:nvPr>
        </p:nvSpPr>
        <p:spPr>
          <a:xfrm>
            <a:off x="963612" y="201612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Buddy System Allocator</a:t>
            </a:r>
            <a:endParaRPr/>
          </a:p>
        </p:txBody>
      </p:sp>
      <p:pic>
        <p:nvPicPr>
          <p:cNvPr descr="9_26.pdf" id="522" name="Google Shape;52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7600" y="1111250"/>
            <a:ext cx="4589462" cy="449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5"/>
          <p:cNvSpPr txBox="1"/>
          <p:nvPr>
            <p:ph type="title"/>
          </p:nvPr>
        </p:nvSpPr>
        <p:spPr>
          <a:xfrm>
            <a:off x="1081087" y="188912"/>
            <a:ext cx="7605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Slab Allocator</a:t>
            </a:r>
            <a:endParaRPr/>
          </a:p>
        </p:txBody>
      </p:sp>
      <p:sp>
        <p:nvSpPr>
          <p:cNvPr id="529" name="Google Shape;529;p65"/>
          <p:cNvSpPr txBox="1"/>
          <p:nvPr>
            <p:ph idx="1" type="body"/>
          </p:nvPr>
        </p:nvSpPr>
        <p:spPr>
          <a:xfrm>
            <a:off x="869950" y="1081087"/>
            <a:ext cx="7067550" cy="5046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Alternate strategy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one or more physically contiguous pages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Cache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consists of one or more slabs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Single cache for each unique kernel data structure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cache filled with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objects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instantiations of the data structure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cache created, filled with objects marked as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free</a:t>
            </a:r>
            <a:endParaRPr b="1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structures stored, objects marked as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used</a:t>
            </a:r>
            <a:endParaRPr b="1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slab is full of used objects, next object allocated from empty slab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 empty slabs, new slab allocated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Benefits include no fragmentation, fast memory request satisfaction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6"/>
          <p:cNvSpPr txBox="1"/>
          <p:nvPr>
            <p:ph type="title"/>
          </p:nvPr>
        </p:nvSpPr>
        <p:spPr>
          <a:xfrm>
            <a:off x="1050925" y="163512"/>
            <a:ext cx="76358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Slab Allocation</a:t>
            </a:r>
            <a:endParaRPr/>
          </a:p>
        </p:txBody>
      </p:sp>
      <p:pic>
        <p:nvPicPr>
          <p:cNvPr descr="9_27.pdf" id="536" name="Google Shape;53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3900" y="1182687"/>
            <a:ext cx="5129212" cy="40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"/>
          <p:cNvSpPr txBox="1"/>
          <p:nvPr>
            <p:ph type="title"/>
          </p:nvPr>
        </p:nvSpPr>
        <p:spPr>
          <a:xfrm>
            <a:off x="1081087" y="188912"/>
            <a:ext cx="7605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Slab Allocator in Linux</a:t>
            </a:r>
            <a:endParaRPr/>
          </a:p>
        </p:txBody>
      </p:sp>
      <p:sp>
        <p:nvSpPr>
          <p:cNvPr id="543" name="Google Shape;543;p67"/>
          <p:cNvSpPr txBox="1"/>
          <p:nvPr>
            <p:ph idx="1" type="body"/>
          </p:nvPr>
        </p:nvSpPr>
        <p:spPr>
          <a:xfrm>
            <a:off x="895350" y="1065212"/>
            <a:ext cx="7704137" cy="521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 process descriptor is of type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Approx 1.7KB of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task -&gt; allocate new struct from cache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Will use existing free </a:t>
            </a: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struct task_struct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 can be in three possible states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Full – all used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Empty – all free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Partial – mix of free and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Upon request, slab allocator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free struct in partial slab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none, takes one from empty slab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no empty slab, create new empty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68"/>
          <p:cNvSpPr txBox="1"/>
          <p:nvPr>
            <p:ph type="title"/>
          </p:nvPr>
        </p:nvSpPr>
        <p:spPr>
          <a:xfrm>
            <a:off x="1081087" y="188912"/>
            <a:ext cx="7605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Slab Allocator in Linux (Cont.)</a:t>
            </a:r>
            <a:endParaRPr/>
          </a:p>
        </p:txBody>
      </p:sp>
      <p:sp>
        <p:nvSpPr>
          <p:cNvPr id="550" name="Google Shape;550;p68"/>
          <p:cNvSpPr txBox="1"/>
          <p:nvPr>
            <p:ph idx="1" type="body"/>
          </p:nvPr>
        </p:nvSpPr>
        <p:spPr>
          <a:xfrm>
            <a:off x="869950" y="1103312"/>
            <a:ext cx="7321550" cy="5214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Slab started in Solaris, now wide-spread for both kernel mode and user memory in various OSes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Linux  2.2 had SLAB, now has both SLOB and SLUB allocators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SLOB for systems with limited memory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List of Blocks – maintains 3 list objects for small, medium, large objects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SLUB is performance-optimized SLAB removes per-CPU queues, metadata stored in page structure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9"/>
          <p:cNvSpPr txBox="1"/>
          <p:nvPr>
            <p:ph type="title"/>
          </p:nvPr>
        </p:nvSpPr>
        <p:spPr>
          <a:xfrm>
            <a:off x="946150" y="188912"/>
            <a:ext cx="77914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Other Considerations -- Prepaging</a:t>
            </a:r>
            <a:endParaRPr/>
          </a:p>
        </p:txBody>
      </p:sp>
      <p:sp>
        <p:nvSpPr>
          <p:cNvPr id="557" name="Google Shape;557;p69"/>
          <p:cNvSpPr txBox="1"/>
          <p:nvPr>
            <p:ph idx="1" type="body"/>
          </p:nvPr>
        </p:nvSpPr>
        <p:spPr>
          <a:xfrm>
            <a:off x="877887" y="1104900"/>
            <a:ext cx="7427912" cy="490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Prepaging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reduce the large number of page faults that occurs at process startup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Prepage all or some of the pages a process will need, before they are referenced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But if prepaged pages are unused, I/O and memory was wasted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Assume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pages are prepaged and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α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of the pages is used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cost of </a:t>
            </a: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* α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 pages faults &gt; or &lt; than the cost of prepaging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 * (1- α)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unnecessary pages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  </a:t>
            </a:r>
            <a:endParaRPr/>
          </a:p>
          <a:p>
            <a:pPr indent="-228600" lvl="2" marL="10858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009900"/>
              </a:buClr>
              <a:buSzPts val="1350"/>
              <a:buFont typeface="Arimo"/>
              <a:buChar char="4"/>
            </a:pPr>
            <a:r>
              <a:rPr b="1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α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near zero ⇒ prepaging loses 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70"/>
          <p:cNvSpPr txBox="1"/>
          <p:nvPr>
            <p:ph type="title"/>
          </p:nvPr>
        </p:nvSpPr>
        <p:spPr>
          <a:xfrm>
            <a:off x="1255712" y="163512"/>
            <a:ext cx="74310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Other Issues – Page Size</a:t>
            </a:r>
            <a:endParaRPr/>
          </a:p>
        </p:txBody>
      </p:sp>
      <p:sp>
        <p:nvSpPr>
          <p:cNvPr id="564" name="Google Shape;564;p70"/>
          <p:cNvSpPr txBox="1"/>
          <p:nvPr>
            <p:ph idx="1" type="body"/>
          </p:nvPr>
        </p:nvSpPr>
        <p:spPr>
          <a:xfrm>
            <a:off x="920750" y="1069975"/>
            <a:ext cx="72898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Sometimes OS designers have a choice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Especially if running on custom-built CPU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size selection must take into consideration: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Fragmentation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Page table size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Resolution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overhead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Number of page faults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TLB size and effectiveness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Always power of 2, usually in the range 2</a:t>
            </a:r>
            <a:r>
              <a:rPr b="0" baseline="30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(4,096 bytes) to 2</a:t>
            </a:r>
            <a:r>
              <a:rPr b="0" baseline="3000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22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(4,194,304 bytes)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average, growing over time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71"/>
          <p:cNvSpPr txBox="1"/>
          <p:nvPr>
            <p:ph type="title"/>
          </p:nvPr>
        </p:nvSpPr>
        <p:spPr>
          <a:xfrm>
            <a:off x="992187" y="176212"/>
            <a:ext cx="76946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Other Issues – TLB Reach </a:t>
            </a:r>
            <a:endParaRPr/>
          </a:p>
        </p:txBody>
      </p:sp>
      <p:sp>
        <p:nvSpPr>
          <p:cNvPr id="571" name="Google Shape;571;p71"/>
          <p:cNvSpPr txBox="1"/>
          <p:nvPr>
            <p:ph idx="1" type="body"/>
          </p:nvPr>
        </p:nvSpPr>
        <p:spPr>
          <a:xfrm>
            <a:off x="890587" y="1165225"/>
            <a:ext cx="7631112" cy="4418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TLB Reach - The amount of memory accessible from the TLB</a:t>
            </a:r>
            <a:endParaRPr/>
          </a:p>
          <a:p>
            <a:pPr indent="-29718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93300"/>
              </a:buClr>
              <a:buSzPts val="72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TLB Reach = (TLB Size) X (Page Size)</a:t>
            </a:r>
            <a:endParaRPr/>
          </a:p>
          <a:p>
            <a:pPr indent="-29718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993300"/>
              </a:buClr>
              <a:buSzPts val="72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Ideally, the working set of each process is stored in the TLB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Otherwise there is a high degree of page faults</a:t>
            </a:r>
            <a:endParaRPr/>
          </a:p>
          <a:p>
            <a:pPr indent="-245109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CC6600"/>
              </a:buClr>
              <a:buSzPts val="64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Increase the Page Size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may lead to an increase in fragmentation as not all applications require a large page size</a:t>
            </a:r>
            <a:endParaRPr/>
          </a:p>
          <a:p>
            <a:pPr indent="-245109" lvl="1" marL="74295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CC6600"/>
              </a:buClr>
              <a:buSzPts val="640"/>
              <a:buFont typeface="Arial"/>
              <a:buNone/>
            </a:pPr>
            <a:r>
              <a:t/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Provide Multiple Page Sizes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allows applications that require larger page sizes the opportunity to use them without an increase in fragmentation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2"/>
          <p:cNvSpPr txBox="1"/>
          <p:nvPr>
            <p:ph type="title"/>
          </p:nvPr>
        </p:nvSpPr>
        <p:spPr>
          <a:xfrm>
            <a:off x="1119187" y="163512"/>
            <a:ext cx="7605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Other Issues – Program Structure</a:t>
            </a:r>
            <a:endParaRPr/>
          </a:p>
        </p:txBody>
      </p:sp>
      <p:sp>
        <p:nvSpPr>
          <p:cNvPr id="578" name="Google Shape;578;p72"/>
          <p:cNvSpPr txBox="1"/>
          <p:nvPr>
            <p:ph idx="1" type="body"/>
          </p:nvPr>
        </p:nvSpPr>
        <p:spPr>
          <a:xfrm>
            <a:off x="877887" y="1104900"/>
            <a:ext cx="7548562" cy="499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structure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int[128,128] data;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row is stored in one page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1 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for (j = 0; j &lt;128; j++)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for (i = 0; i &lt; 128; i++)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data[i,j] = 0;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128 x 128 = 16,384 page faults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Clr>
                <a:srgbClr val="CC6600"/>
              </a:buClr>
              <a:buSzPts val="144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 2 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for (i = 0; i &lt; 128; i++)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for (j = 0; j &lt; 128; j++)</a:t>
            </a:r>
            <a:b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data[i,j] = 0;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1440"/>
              <a:buNone/>
            </a:pP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128 page faults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3"/>
          <p:cNvSpPr txBox="1"/>
          <p:nvPr>
            <p:ph type="title"/>
          </p:nvPr>
        </p:nvSpPr>
        <p:spPr>
          <a:xfrm>
            <a:off x="885825" y="150812"/>
            <a:ext cx="78009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Other Issues – I/O interlock</a:t>
            </a:r>
            <a:endParaRPr/>
          </a:p>
        </p:txBody>
      </p:sp>
      <p:sp>
        <p:nvSpPr>
          <p:cNvPr id="585" name="Google Shape;585;p73"/>
          <p:cNvSpPr txBox="1"/>
          <p:nvPr>
            <p:ph idx="1" type="body"/>
          </p:nvPr>
        </p:nvSpPr>
        <p:spPr>
          <a:xfrm>
            <a:off x="827087" y="1193800"/>
            <a:ext cx="4176712" cy="445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I/O Interlock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– Pages must sometimes be locked into memory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Consider I/O - Pages that are used for copying a file from a device must be locked from being selected for eviction by a page replacement algorithm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Pinning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of pages to lock into memory</a:t>
            </a:r>
            <a:endParaRPr/>
          </a:p>
        </p:txBody>
      </p:sp>
      <p:pic>
        <p:nvPicPr>
          <p:cNvPr id="586" name="Google Shape;58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700" y="1677987"/>
            <a:ext cx="2914650" cy="3376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4"/>
          <p:cNvSpPr txBox="1"/>
          <p:nvPr>
            <p:ph type="title"/>
          </p:nvPr>
        </p:nvSpPr>
        <p:spPr>
          <a:xfrm>
            <a:off x="876300" y="176212"/>
            <a:ext cx="78105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Operating System Examples</a:t>
            </a:r>
            <a:endParaRPr/>
          </a:p>
        </p:txBody>
      </p:sp>
      <p:sp>
        <p:nvSpPr>
          <p:cNvPr id="593" name="Google Shape;593;p74"/>
          <p:cNvSpPr txBox="1"/>
          <p:nvPr>
            <p:ph idx="1" type="body"/>
          </p:nvPr>
        </p:nvSpPr>
        <p:spPr>
          <a:xfrm>
            <a:off x="827087" y="14351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Windows</a:t>
            </a:r>
            <a:endParaRPr/>
          </a:p>
          <a:p>
            <a:pPr indent="-24003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Solaris 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75"/>
          <p:cNvSpPr txBox="1"/>
          <p:nvPr>
            <p:ph type="title"/>
          </p:nvPr>
        </p:nvSpPr>
        <p:spPr>
          <a:xfrm>
            <a:off x="457200" y="1508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Windows</a:t>
            </a:r>
            <a:endParaRPr/>
          </a:p>
        </p:txBody>
      </p:sp>
      <p:sp>
        <p:nvSpPr>
          <p:cNvPr id="600" name="Google Shape;600;p75"/>
          <p:cNvSpPr txBox="1"/>
          <p:nvPr>
            <p:ph idx="1" type="body"/>
          </p:nvPr>
        </p:nvSpPr>
        <p:spPr>
          <a:xfrm>
            <a:off x="882650" y="1017587"/>
            <a:ext cx="7296150" cy="529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demand paging with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clustering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Clustering brings in pages surrounding the faulting page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Processes are assigned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minimum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maximum</a:t>
            </a:r>
            <a:endParaRPr b="0" i="0" sz="800" u="none">
              <a:solidFill>
                <a:srgbClr val="3366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minimum is the minimum number of pages the process is guaranteed to have in memory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process may be assigned as many pages up to its working set maximum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the amount of free memory in the system falls below a threshold, </a:t>
            </a: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automatic working set trimming</a:t>
            </a:r>
            <a:r>
              <a:rPr b="0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performed to restore the amount of free memory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Working set trimming removes pages from processes that have pages in excess of their working set minimum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6"/>
          <p:cNvSpPr txBox="1"/>
          <p:nvPr>
            <p:ph type="title"/>
          </p:nvPr>
        </p:nvSpPr>
        <p:spPr>
          <a:xfrm>
            <a:off x="457200" y="1127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Solaris </a:t>
            </a:r>
            <a:endParaRPr/>
          </a:p>
        </p:txBody>
      </p:sp>
      <p:sp>
        <p:nvSpPr>
          <p:cNvPr id="607" name="Google Shape;607;p76"/>
          <p:cNvSpPr txBox="1"/>
          <p:nvPr>
            <p:ph idx="1" type="body"/>
          </p:nvPr>
        </p:nvSpPr>
        <p:spPr>
          <a:xfrm>
            <a:off x="869950" y="1030287"/>
            <a:ext cx="7334250" cy="5386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Maintains a list of free pages to assign faulting processes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Lotsfree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(amount of free memory) to begin paging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Desfree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to increasing paging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Minfree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– threshold parameter to being swapping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Paging is performed by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pageout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process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Pageout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scans pages using modified clock algorithm</a:t>
            </a:r>
            <a:endParaRPr b="0" i="0" sz="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Scanrate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the rate at which pages are scanned. This ranges from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slowscan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</a:t>
            </a: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fastscan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Pageout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called more frequently depending upon the amount of free memory available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993300"/>
              </a:buClr>
              <a:buSzPts val="1620"/>
              <a:buFont typeface="Arial"/>
              <a:buChar char="●"/>
            </a:pPr>
            <a:r>
              <a:rPr b="1" i="0" lang="en-US" sz="1800" u="none">
                <a:solidFill>
                  <a:srgbClr val="3366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 paging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gives priority to process code pages</a:t>
            </a:r>
            <a:endParaRPr/>
          </a:p>
          <a:p>
            <a:pPr indent="-240030" lvl="0" marL="342900" rtl="0" algn="l">
              <a:spcBef>
                <a:spcPts val="630"/>
              </a:spcBef>
              <a:spcAft>
                <a:spcPts val="0"/>
              </a:spcAft>
              <a:buSzPts val="1620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7"/>
          <p:cNvSpPr txBox="1"/>
          <p:nvPr>
            <p:ph type="title"/>
          </p:nvPr>
        </p:nvSpPr>
        <p:spPr>
          <a:xfrm>
            <a:off x="457200" y="188912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Solaris 2 Page Scanner</a:t>
            </a:r>
            <a:endParaRPr/>
          </a:p>
        </p:txBody>
      </p:sp>
      <p:pic>
        <p:nvPicPr>
          <p:cNvPr descr="9_29.pdf" id="614" name="Google Shape;61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4200" y="1189037"/>
            <a:ext cx="5454650" cy="413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8"/>
          <p:cNvSpPr txBox="1"/>
          <p:nvPr>
            <p:ph type="ctrTitle"/>
          </p:nvPr>
        </p:nvSpPr>
        <p:spPr>
          <a:xfrm>
            <a:off x="685800" y="685800"/>
            <a:ext cx="7772400" cy="2127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699"/>
              </a:buClr>
              <a:buSzPts val="4300"/>
              <a:buFont typeface="Arial"/>
              <a:buNone/>
            </a:pPr>
            <a:r>
              <a:rPr b="1" i="0" lang="en-US" sz="4300" u="non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End of Chapter 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2011-01-13T23:43:38Z</dcterms:created>
  <dc:creator>Lucent End User</dc:creator>
</cp:coreProperties>
</file>
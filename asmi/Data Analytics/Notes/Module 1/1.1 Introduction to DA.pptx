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7"/>
  </p:notesMasterIdLst>
  <p:sldIdLst>
    <p:sldId id="347" r:id="rId2"/>
    <p:sldId id="398" r:id="rId3"/>
    <p:sldId id="400" r:id="rId4"/>
    <p:sldId id="419" r:id="rId5"/>
    <p:sldId id="420" r:id="rId6"/>
    <p:sldId id="421" r:id="rId7"/>
    <p:sldId id="418" r:id="rId8"/>
    <p:sldId id="402" r:id="rId9"/>
    <p:sldId id="403" r:id="rId10"/>
    <p:sldId id="404" r:id="rId11"/>
    <p:sldId id="422" r:id="rId12"/>
    <p:sldId id="405" r:id="rId13"/>
    <p:sldId id="424" r:id="rId14"/>
    <p:sldId id="423" r:id="rId15"/>
    <p:sldId id="407" r:id="rId16"/>
    <p:sldId id="425" r:id="rId17"/>
    <p:sldId id="408" r:id="rId18"/>
    <p:sldId id="409" r:id="rId19"/>
    <p:sldId id="410" r:id="rId20"/>
    <p:sldId id="411" r:id="rId21"/>
    <p:sldId id="430" r:id="rId22"/>
    <p:sldId id="416" r:id="rId23"/>
    <p:sldId id="392" r:id="rId24"/>
    <p:sldId id="391" r:id="rId25"/>
    <p:sldId id="393" r:id="rId26"/>
    <p:sldId id="394" r:id="rId27"/>
    <p:sldId id="395" r:id="rId28"/>
    <p:sldId id="396" r:id="rId29"/>
    <p:sldId id="427" r:id="rId30"/>
    <p:sldId id="429" r:id="rId31"/>
    <p:sldId id="387" r:id="rId32"/>
    <p:sldId id="428" r:id="rId33"/>
    <p:sldId id="388" r:id="rId34"/>
    <p:sldId id="389" r:id="rId35"/>
    <p:sldId id="390" r:id="rId36"/>
    <p:sldId id="381" r:id="rId37"/>
    <p:sldId id="385" r:id="rId38"/>
    <p:sldId id="431" r:id="rId39"/>
    <p:sldId id="432" r:id="rId40"/>
    <p:sldId id="433" r:id="rId41"/>
    <p:sldId id="434" r:id="rId42"/>
    <p:sldId id="436" r:id="rId43"/>
    <p:sldId id="437" r:id="rId44"/>
    <p:sldId id="438" r:id="rId45"/>
    <p:sldId id="435" r:id="rId46"/>
    <p:sldId id="440" r:id="rId47"/>
    <p:sldId id="441" r:id="rId48"/>
    <p:sldId id="442" r:id="rId49"/>
    <p:sldId id="443" r:id="rId50"/>
    <p:sldId id="444" r:id="rId51"/>
    <p:sldId id="445" r:id="rId52"/>
    <p:sldId id="446" r:id="rId53"/>
    <p:sldId id="447" r:id="rId54"/>
    <p:sldId id="366" r:id="rId55"/>
    <p:sldId id="439" r:id="rId5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34" autoAdjust="0"/>
    <p:restoredTop sz="95196" autoAdjust="0"/>
  </p:normalViewPr>
  <p:slideViewPr>
    <p:cSldViewPr>
      <p:cViewPr varScale="1">
        <p:scale>
          <a:sx n="81" d="100"/>
          <a:sy n="81" d="100"/>
        </p:scale>
        <p:origin x="1498" y="62"/>
      </p:cViewPr>
      <p:guideLst>
        <p:guide orient="horz" pos="2160"/>
        <p:guide pos="2880"/>
      </p:guideLst>
    </p:cSldViewPr>
  </p:slideViewPr>
  <p:outlineViewPr>
    <p:cViewPr>
      <p:scale>
        <a:sx n="33" d="100"/>
        <a:sy n="33" d="100"/>
      </p:scale>
      <p:origin x="30" y="7002"/>
    </p:cViewPr>
  </p:outlin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smi Takle" userId="1a40ecd3fc665b3a" providerId="LiveId" clId="{BAA4B066-E52B-43B3-BDD3-F8B42AA3F681}"/>
    <pc:docChg chg="custSel delSld modSld">
      <pc:chgData name="Asmi Takle" userId="1a40ecd3fc665b3a" providerId="LiveId" clId="{BAA4B066-E52B-43B3-BDD3-F8B42AA3F681}" dt="2023-09-15T10:57:49.422" v="16" actId="2696"/>
      <pc:docMkLst>
        <pc:docMk/>
      </pc:docMkLst>
      <pc:sldChg chg="del">
        <pc:chgData name="Asmi Takle" userId="1a40ecd3fc665b3a" providerId="LiveId" clId="{BAA4B066-E52B-43B3-BDD3-F8B42AA3F681}" dt="2023-09-15T10:53:37.522" v="6" actId="2696"/>
        <pc:sldMkLst>
          <pc:docMk/>
          <pc:sldMk cId="435980832" sldId="397"/>
        </pc:sldMkLst>
      </pc:sldChg>
      <pc:sldChg chg="addSp modSp mod">
        <pc:chgData name="Asmi Takle" userId="1a40ecd3fc665b3a" providerId="LiveId" clId="{BAA4B066-E52B-43B3-BDD3-F8B42AA3F681}" dt="2023-09-15T10:53:19.178" v="4" actId="14100"/>
        <pc:sldMkLst>
          <pc:docMk/>
          <pc:sldMk cId="3716931145" sldId="398"/>
        </pc:sldMkLst>
        <pc:spChg chg="add mod">
          <ac:chgData name="Asmi Takle" userId="1a40ecd3fc665b3a" providerId="LiveId" clId="{BAA4B066-E52B-43B3-BDD3-F8B42AA3F681}" dt="2023-09-15T10:53:19.178" v="4" actId="14100"/>
          <ac:spMkLst>
            <pc:docMk/>
            <pc:sldMk cId="3716931145" sldId="398"/>
            <ac:spMk id="4" creationId="{DBDC3E4E-4374-8D97-A01D-5EA9C8423649}"/>
          </ac:spMkLst>
        </pc:spChg>
      </pc:sldChg>
      <pc:sldChg chg="addSp delSp modSp del mod">
        <pc:chgData name="Asmi Takle" userId="1a40ecd3fc665b3a" providerId="LiveId" clId="{BAA4B066-E52B-43B3-BDD3-F8B42AA3F681}" dt="2023-09-15T10:53:26.003" v="5" actId="2696"/>
        <pc:sldMkLst>
          <pc:docMk/>
          <pc:sldMk cId="2311584737" sldId="399"/>
        </pc:sldMkLst>
        <pc:spChg chg="del">
          <ac:chgData name="Asmi Takle" userId="1a40ecd3fc665b3a" providerId="LiveId" clId="{BAA4B066-E52B-43B3-BDD3-F8B42AA3F681}" dt="2023-09-15T10:52:59.928" v="0" actId="21"/>
          <ac:spMkLst>
            <pc:docMk/>
            <pc:sldMk cId="2311584737" sldId="399"/>
            <ac:spMk id="3" creationId="{00000000-0000-0000-0000-000000000000}"/>
          </ac:spMkLst>
        </pc:spChg>
        <pc:spChg chg="add mod">
          <ac:chgData name="Asmi Takle" userId="1a40ecd3fc665b3a" providerId="LiveId" clId="{BAA4B066-E52B-43B3-BDD3-F8B42AA3F681}" dt="2023-09-15T10:52:59.928" v="0" actId="21"/>
          <ac:spMkLst>
            <pc:docMk/>
            <pc:sldMk cId="2311584737" sldId="399"/>
            <ac:spMk id="5" creationId="{3632E2F4-BA83-F371-EE7F-C7FA38FA1FEF}"/>
          </ac:spMkLst>
        </pc:spChg>
      </pc:sldChg>
      <pc:sldChg chg="addSp delSp modSp del mod">
        <pc:chgData name="Asmi Takle" userId="1a40ecd3fc665b3a" providerId="LiveId" clId="{BAA4B066-E52B-43B3-BDD3-F8B42AA3F681}" dt="2023-09-15T10:55:08.577" v="14" actId="2696"/>
        <pc:sldMkLst>
          <pc:docMk/>
          <pc:sldMk cId="1044823896" sldId="401"/>
        </pc:sldMkLst>
        <pc:spChg chg="del">
          <ac:chgData name="Asmi Takle" userId="1a40ecd3fc665b3a" providerId="LiveId" clId="{BAA4B066-E52B-43B3-BDD3-F8B42AA3F681}" dt="2023-09-15T10:54:41.449" v="8" actId="21"/>
          <ac:spMkLst>
            <pc:docMk/>
            <pc:sldMk cId="1044823896" sldId="401"/>
            <ac:spMk id="3" creationId="{00000000-0000-0000-0000-000000000000}"/>
          </ac:spMkLst>
        </pc:spChg>
        <pc:spChg chg="add mod">
          <ac:chgData name="Asmi Takle" userId="1a40ecd3fc665b3a" providerId="LiveId" clId="{BAA4B066-E52B-43B3-BDD3-F8B42AA3F681}" dt="2023-09-15T10:54:41.449" v="8" actId="21"/>
          <ac:spMkLst>
            <pc:docMk/>
            <pc:sldMk cId="1044823896" sldId="401"/>
            <ac:spMk id="5" creationId="{FF82CB6A-2587-CC87-0DB1-562A2A9E5BDB}"/>
          </ac:spMkLst>
        </pc:spChg>
      </pc:sldChg>
      <pc:sldChg chg="del">
        <pc:chgData name="Asmi Takle" userId="1a40ecd3fc665b3a" providerId="LiveId" clId="{BAA4B066-E52B-43B3-BDD3-F8B42AA3F681}" dt="2023-09-15T10:55:39.714" v="15" actId="2696"/>
        <pc:sldMkLst>
          <pc:docMk/>
          <pc:sldMk cId="3158168479" sldId="406"/>
        </pc:sldMkLst>
      </pc:sldChg>
      <pc:sldChg chg="addSp delSp modSp mod">
        <pc:chgData name="Asmi Takle" userId="1a40ecd3fc665b3a" providerId="LiveId" clId="{BAA4B066-E52B-43B3-BDD3-F8B42AA3F681}" dt="2023-09-15T10:55:04.334" v="13" actId="478"/>
        <pc:sldMkLst>
          <pc:docMk/>
          <pc:sldMk cId="3433115650" sldId="420"/>
        </pc:sldMkLst>
        <pc:spChg chg="del">
          <ac:chgData name="Asmi Takle" userId="1a40ecd3fc665b3a" providerId="LiveId" clId="{BAA4B066-E52B-43B3-BDD3-F8B42AA3F681}" dt="2023-09-15T10:55:04.334" v="13" actId="478"/>
          <ac:spMkLst>
            <pc:docMk/>
            <pc:sldMk cId="3433115650" sldId="420"/>
            <ac:spMk id="2" creationId="{00000000-0000-0000-0000-000000000000}"/>
          </ac:spMkLst>
        </pc:spChg>
        <pc:spChg chg="add mod">
          <ac:chgData name="Asmi Takle" userId="1a40ecd3fc665b3a" providerId="LiveId" clId="{BAA4B066-E52B-43B3-BDD3-F8B42AA3F681}" dt="2023-09-15T10:54:59.163" v="12" actId="1076"/>
          <ac:spMkLst>
            <pc:docMk/>
            <pc:sldMk cId="3433115650" sldId="420"/>
            <ac:spMk id="4" creationId="{54DCB5A3-70BE-AB99-9BA8-48E8E89D811B}"/>
          </ac:spMkLst>
        </pc:spChg>
      </pc:sldChg>
      <pc:sldChg chg="del">
        <pc:chgData name="Asmi Takle" userId="1a40ecd3fc665b3a" providerId="LiveId" clId="{BAA4B066-E52B-43B3-BDD3-F8B42AA3F681}" dt="2023-09-15T10:57:49.422" v="16" actId="2696"/>
        <pc:sldMkLst>
          <pc:docMk/>
          <pc:sldMk cId="39367334" sldId="426"/>
        </pc:sldMkLst>
      </pc:sldChg>
      <pc:sldChg chg="del">
        <pc:chgData name="Asmi Takle" userId="1a40ecd3fc665b3a" providerId="LiveId" clId="{BAA4B066-E52B-43B3-BDD3-F8B42AA3F681}" dt="2023-09-15T10:53:41.025" v="7" actId="2696"/>
        <pc:sldMkLst>
          <pc:docMk/>
          <pc:sldMk cId="2482781717" sldId="448"/>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A48141C-1FE4-4D87-B00D-6A681C6ABDAB}" type="datetimeFigureOut">
              <a:rPr lang="en-IN" smtClean="0"/>
              <a:t>15-09-2023</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1A97293-404B-44E7-8FF7-D9A57321EE43}" type="slidenum">
              <a:rPr lang="en-IN" smtClean="0"/>
              <a:t>‹#›</a:t>
            </a:fld>
            <a:endParaRPr lang="en-IN"/>
          </a:p>
        </p:txBody>
      </p:sp>
    </p:spTree>
    <p:extLst>
      <p:ext uri="{BB962C8B-B14F-4D97-AF65-F5344CB8AC3E}">
        <p14:creationId xmlns:p14="http://schemas.microsoft.com/office/powerpoint/2010/main" val="1856783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www.techtarget.com/whatis/definition/descriptive-analytics" TargetMode="External"/><Relationship Id="rId2" Type="http://schemas.openxmlformats.org/officeDocument/2006/relationships/slide" Target="../slides/slide19.xml"/><Relationship Id="rId1" Type="http://schemas.openxmlformats.org/officeDocument/2006/relationships/notesMaster" Target="../notesMasters/notesMaster1.xml"/><Relationship Id="rId6" Type="http://schemas.openxmlformats.org/officeDocument/2006/relationships/hyperlink" Target="https://www.techtarget.com/searchcio/definition/Prescriptive-analytics" TargetMode="External"/><Relationship Id="rId5" Type="http://schemas.openxmlformats.org/officeDocument/2006/relationships/hyperlink" Target="https://www.techtarget.com/searchbusinessanalytics/definition/predictive-analytics" TargetMode="External"/><Relationship Id="rId4" Type="http://schemas.openxmlformats.org/officeDocument/2006/relationships/hyperlink" Target="https://www.techtarget.com/searchbusinessanalytics/definition/key-performance-indicators-KPIs" TargetMode="Externa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www.datapine.com/blog/right-business-intelligence-questions/" TargetMode="External"/><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internetofthingsagenda.techtarget.com/feature/Reach-business-objectives-with-the-right-IoT-data-pipeline" TargetMode="External"/><Relationship Id="rId2" Type="http://schemas.openxmlformats.org/officeDocument/2006/relationships/slide" Target="../slides/slide38.xml"/><Relationship Id="rId1" Type="http://schemas.openxmlformats.org/officeDocument/2006/relationships/notesMaster" Target="../notesMasters/notesMaster1.xml"/><Relationship Id="rId5" Type="http://schemas.openxmlformats.org/officeDocument/2006/relationships/hyperlink" Target="https://www.techtarget.com/searchaws/definition/data-lake" TargetMode="External"/><Relationship Id="rId4" Type="http://schemas.openxmlformats.org/officeDocument/2006/relationships/hyperlink" Target="https://www.techtarget.com/whatis/feature/Top-8-must-have-data-analyst-skills" TargetMode="Externa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s://www.mygreatlearning.com/business-analytics-certificate-program" TargetMode="External"/><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09910DCD-4B35-41B5-9D33-ACFB34421816}" type="slidenum">
              <a:rPr lang="en-IN" smtClean="0"/>
              <a:t>1</a:t>
            </a:fld>
            <a:endParaRPr lang="en-IN"/>
          </a:p>
        </p:txBody>
      </p:sp>
    </p:spTree>
    <p:extLst>
      <p:ext uri="{BB962C8B-B14F-4D97-AF65-F5344CB8AC3E}">
        <p14:creationId xmlns:p14="http://schemas.microsoft.com/office/powerpoint/2010/main" val="10137028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Source:</a:t>
            </a:r>
            <a:r>
              <a:rPr lang="en-IN" baseline="0" dirty="0"/>
              <a:t> https://www.analyticsvidhya.com/blog/2021/05/data-analytics-vs-data-analysis-are-they-similar/#:~:text=Literally%2C%20%E2%80%9CAnalysis%E2%80%9D%20is%20the,analysis%20of%20data%20or%20statistics.</a:t>
            </a:r>
            <a:endParaRPr lang="en-IN" dirty="0"/>
          </a:p>
        </p:txBody>
      </p:sp>
      <p:sp>
        <p:nvSpPr>
          <p:cNvPr id="4" name="Slide Number Placeholder 3"/>
          <p:cNvSpPr>
            <a:spLocks noGrp="1"/>
          </p:cNvSpPr>
          <p:nvPr>
            <p:ph type="sldNum" sz="quarter" idx="10"/>
          </p:nvPr>
        </p:nvSpPr>
        <p:spPr/>
        <p:txBody>
          <a:bodyPr/>
          <a:lstStyle/>
          <a:p>
            <a:fld id="{F1A97293-404B-44E7-8FF7-D9A57321EE43}" type="slidenum">
              <a:rPr lang="en-IN" smtClean="0"/>
              <a:t>6</a:t>
            </a:fld>
            <a:endParaRPr lang="en-IN"/>
          </a:p>
        </p:txBody>
      </p:sp>
    </p:spTree>
    <p:extLst>
      <p:ext uri="{BB962C8B-B14F-4D97-AF65-F5344CB8AC3E}">
        <p14:creationId xmlns:p14="http://schemas.microsoft.com/office/powerpoint/2010/main" val="34374519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b="0" i="0" u="sng" kern="1200" dirty="0">
                <a:solidFill>
                  <a:schemeClr val="tx1"/>
                </a:solidFill>
                <a:effectLst/>
                <a:latin typeface="+mn-lt"/>
                <a:ea typeface="+mn-ea"/>
                <a:cs typeface="+mn-cs"/>
                <a:hlinkClick r:id="rId3"/>
              </a:rPr>
              <a:t>descriptive analytics</a:t>
            </a:r>
            <a:r>
              <a:rPr lang="en-IN" sz="1200" b="0" i="0" kern="1200" dirty="0">
                <a:solidFill>
                  <a:schemeClr val="tx1"/>
                </a:solidFill>
                <a:effectLst/>
                <a:latin typeface="+mn-lt"/>
                <a:ea typeface="+mn-ea"/>
                <a:cs typeface="+mn-cs"/>
              </a:rPr>
              <a:t>, which tracks key performance indicators (</a:t>
            </a:r>
            <a:r>
              <a:rPr lang="en-IN" sz="1200" b="0" i="0" u="sng" kern="1200" dirty="0">
                <a:solidFill>
                  <a:schemeClr val="tx1"/>
                </a:solidFill>
                <a:effectLst/>
                <a:latin typeface="+mn-lt"/>
                <a:ea typeface="+mn-ea"/>
                <a:cs typeface="+mn-cs"/>
                <a:hlinkClick r:id="rId4"/>
              </a:rPr>
              <a:t>KPIs</a:t>
            </a:r>
            <a:r>
              <a:rPr lang="en-IN" sz="1200" b="0" i="0" kern="1200" dirty="0">
                <a:solidFill>
                  <a:schemeClr val="tx1"/>
                </a:solidFill>
                <a:effectLst/>
                <a:latin typeface="+mn-lt"/>
                <a:ea typeface="+mn-ea"/>
                <a:cs typeface="+mn-cs"/>
              </a:rPr>
              <a:t>) to understand the present state of a business;</a:t>
            </a:r>
          </a:p>
          <a:p>
            <a:r>
              <a:rPr lang="en-IN" sz="1200" b="0" i="0" u="sng" kern="1200" dirty="0">
                <a:solidFill>
                  <a:schemeClr val="tx1"/>
                </a:solidFill>
                <a:effectLst/>
                <a:latin typeface="+mn-lt"/>
                <a:ea typeface="+mn-ea"/>
                <a:cs typeface="+mn-cs"/>
                <a:hlinkClick r:id="rId5"/>
              </a:rPr>
              <a:t>predictive analytics</a:t>
            </a:r>
            <a:r>
              <a:rPr lang="en-IN" sz="1200" b="0" i="0" kern="1200" dirty="0">
                <a:solidFill>
                  <a:schemeClr val="tx1"/>
                </a:solidFill>
                <a:effectLst/>
                <a:latin typeface="+mn-lt"/>
                <a:ea typeface="+mn-ea"/>
                <a:cs typeface="+mn-cs"/>
              </a:rPr>
              <a:t>, which </a:t>
            </a:r>
            <a:r>
              <a:rPr lang="en-IN" sz="1200" b="0" i="0" kern="1200" dirty="0" err="1">
                <a:solidFill>
                  <a:schemeClr val="tx1"/>
                </a:solidFill>
                <a:effectLst/>
                <a:latin typeface="+mn-lt"/>
                <a:ea typeface="+mn-ea"/>
                <a:cs typeface="+mn-cs"/>
              </a:rPr>
              <a:t>analyzes</a:t>
            </a:r>
            <a:r>
              <a:rPr lang="en-IN" sz="1200" b="0" i="0" kern="1200" dirty="0">
                <a:solidFill>
                  <a:schemeClr val="tx1"/>
                </a:solidFill>
                <a:effectLst/>
                <a:latin typeface="+mn-lt"/>
                <a:ea typeface="+mn-ea"/>
                <a:cs typeface="+mn-cs"/>
              </a:rPr>
              <a:t> trend data to assess the likelihood of future outcomes; and</a:t>
            </a:r>
          </a:p>
          <a:p>
            <a:r>
              <a:rPr lang="en-IN" sz="1200" b="0" i="0" u="sng" kern="1200" dirty="0">
                <a:solidFill>
                  <a:schemeClr val="tx1"/>
                </a:solidFill>
                <a:effectLst/>
                <a:latin typeface="+mn-lt"/>
                <a:ea typeface="+mn-ea"/>
                <a:cs typeface="+mn-cs"/>
                <a:hlinkClick r:id="rId6"/>
              </a:rPr>
              <a:t>prescriptive analytics</a:t>
            </a:r>
            <a:r>
              <a:rPr lang="en-IN" sz="1200" b="0" i="0" kern="1200" dirty="0">
                <a:solidFill>
                  <a:schemeClr val="tx1"/>
                </a:solidFill>
                <a:effectLst/>
                <a:latin typeface="+mn-lt"/>
                <a:ea typeface="+mn-ea"/>
                <a:cs typeface="+mn-cs"/>
              </a:rPr>
              <a:t>, which uses past performance to generate recommendations for handling similar situations in the future.</a:t>
            </a:r>
          </a:p>
          <a:p>
            <a:endParaRPr lang="en-IN" dirty="0"/>
          </a:p>
        </p:txBody>
      </p:sp>
      <p:sp>
        <p:nvSpPr>
          <p:cNvPr id="4" name="Slide Number Placeholder 3"/>
          <p:cNvSpPr>
            <a:spLocks noGrp="1"/>
          </p:cNvSpPr>
          <p:nvPr>
            <p:ph type="sldNum" sz="quarter" idx="10"/>
          </p:nvPr>
        </p:nvSpPr>
        <p:spPr/>
        <p:txBody>
          <a:bodyPr/>
          <a:lstStyle/>
          <a:p>
            <a:fld id="{F1A97293-404B-44E7-8FF7-D9A57321EE43}" type="slidenum">
              <a:rPr lang="en-IN" smtClean="0"/>
              <a:t>19</a:t>
            </a:fld>
            <a:endParaRPr lang="en-IN"/>
          </a:p>
        </p:txBody>
      </p:sp>
    </p:spTree>
    <p:extLst>
      <p:ext uri="{BB962C8B-B14F-4D97-AF65-F5344CB8AC3E}">
        <p14:creationId xmlns:p14="http://schemas.microsoft.com/office/powerpoint/2010/main" val="26449054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b="0" i="0" kern="1200" dirty="0">
                <a:solidFill>
                  <a:schemeClr val="tx1"/>
                </a:solidFill>
                <a:effectLst/>
                <a:latin typeface="+mn-lt"/>
                <a:ea typeface="+mn-ea"/>
                <a:cs typeface="+mn-cs"/>
              </a:rPr>
              <a:t>Let’s say you’re on the coaching staff of a football team and you want to review the most recent game. You do this to see how you can fix your errors and replicate your successes.</a:t>
            </a:r>
          </a:p>
          <a:p>
            <a:r>
              <a:rPr lang="en-IN" sz="1200" b="0" i="0" kern="1200" dirty="0">
                <a:solidFill>
                  <a:schemeClr val="tx1"/>
                </a:solidFill>
                <a:effectLst/>
                <a:latin typeface="+mn-lt"/>
                <a:ea typeface="+mn-ea"/>
                <a:cs typeface="+mn-cs"/>
              </a:rPr>
              <a:t>Using our previous definitions, </a:t>
            </a:r>
            <a:r>
              <a:rPr lang="en-IN" sz="1200" b="1" i="0" kern="1200" dirty="0">
                <a:solidFill>
                  <a:schemeClr val="tx1"/>
                </a:solidFill>
                <a:effectLst/>
                <a:latin typeface="+mn-lt"/>
                <a:ea typeface="+mn-ea"/>
                <a:cs typeface="+mn-cs"/>
              </a:rPr>
              <a:t>BI</a:t>
            </a:r>
            <a:r>
              <a:rPr lang="en-IN" sz="1200" b="0" i="0" kern="1200" dirty="0">
                <a:solidFill>
                  <a:schemeClr val="tx1"/>
                </a:solidFill>
                <a:effectLst/>
                <a:latin typeface="+mn-lt"/>
                <a:ea typeface="+mn-ea"/>
                <a:cs typeface="+mn-cs"/>
              </a:rPr>
              <a:t> would be the process of identifying all the statistics and plays that led to your team winning. It would identify that you kept possession of the ball for much longer than your opponents. It would also identify the trend that your right side of the field was instrumental in retaining possession through excellent passing.</a:t>
            </a:r>
          </a:p>
          <a:p>
            <a:r>
              <a:rPr lang="en-IN" sz="1200" b="1" i="0" kern="1200" dirty="0">
                <a:solidFill>
                  <a:schemeClr val="tx1"/>
                </a:solidFill>
                <a:effectLst/>
                <a:latin typeface="+mn-lt"/>
                <a:ea typeface="+mn-ea"/>
                <a:cs typeface="+mn-cs"/>
              </a:rPr>
              <a:t>BA </a:t>
            </a:r>
            <a:r>
              <a:rPr lang="en-IN" sz="1200" b="0" i="0" kern="1200" dirty="0">
                <a:solidFill>
                  <a:schemeClr val="tx1"/>
                </a:solidFill>
                <a:effectLst/>
                <a:latin typeface="+mn-lt"/>
                <a:ea typeface="+mn-ea"/>
                <a:cs typeface="+mn-cs"/>
              </a:rPr>
              <a:t>would be more concerned with </a:t>
            </a:r>
            <a:r>
              <a:rPr lang="en-IN" sz="1200" b="0" i="1" kern="1200" dirty="0">
                <a:solidFill>
                  <a:schemeClr val="tx1"/>
                </a:solidFill>
                <a:effectLst/>
                <a:latin typeface="+mn-lt"/>
                <a:ea typeface="+mn-ea"/>
                <a:cs typeface="+mn-cs"/>
              </a:rPr>
              <a:t>why </a:t>
            </a:r>
            <a:r>
              <a:rPr lang="en-IN" sz="1200" b="0" i="0" kern="1200" dirty="0">
                <a:solidFill>
                  <a:schemeClr val="tx1"/>
                </a:solidFill>
                <a:effectLst/>
                <a:latin typeface="+mn-lt"/>
                <a:ea typeface="+mn-ea"/>
                <a:cs typeface="+mn-cs"/>
              </a:rPr>
              <a:t>you had possession of the ball for longer than your opponent and why your right side of the field did so well at passing.</a:t>
            </a:r>
          </a:p>
          <a:p>
            <a:r>
              <a:rPr lang="en-IN" sz="1200" b="0" i="0" kern="1200" dirty="0">
                <a:solidFill>
                  <a:schemeClr val="tx1"/>
                </a:solidFill>
                <a:effectLst/>
                <a:latin typeface="+mn-lt"/>
                <a:ea typeface="+mn-ea"/>
                <a:cs typeface="+mn-cs"/>
              </a:rPr>
              <a:t>Was it because:</a:t>
            </a:r>
          </a:p>
          <a:p>
            <a:r>
              <a:rPr lang="en-IN" sz="1200" b="0" i="0" kern="1200" dirty="0">
                <a:solidFill>
                  <a:schemeClr val="tx1"/>
                </a:solidFill>
                <a:effectLst/>
                <a:latin typeface="+mn-lt"/>
                <a:ea typeface="+mn-ea"/>
                <a:cs typeface="+mn-cs"/>
              </a:rPr>
              <a:t>Your opponent’s defenders on that side were weaker players than their defenders on the other?</a:t>
            </a:r>
          </a:p>
          <a:p>
            <a:r>
              <a:rPr lang="en-IN" sz="1200" b="0" i="0" kern="1200" dirty="0">
                <a:solidFill>
                  <a:schemeClr val="tx1"/>
                </a:solidFill>
                <a:effectLst/>
                <a:latin typeface="+mn-lt"/>
                <a:ea typeface="+mn-ea"/>
                <a:cs typeface="+mn-cs"/>
              </a:rPr>
              <a:t>Your right-side players had been putting in more time on the field together than your left side?</a:t>
            </a:r>
          </a:p>
          <a:p>
            <a:r>
              <a:rPr lang="en-IN" sz="1200" b="0" i="0" kern="1200" dirty="0">
                <a:solidFill>
                  <a:schemeClr val="tx1"/>
                </a:solidFill>
                <a:effectLst/>
                <a:latin typeface="+mn-lt"/>
                <a:ea typeface="+mn-ea"/>
                <a:cs typeface="+mn-cs"/>
              </a:rPr>
              <a:t>One of your players on the right was simply having a phenomenal performance that carried over to the rest of that side?</a:t>
            </a:r>
          </a:p>
          <a:p>
            <a:r>
              <a:rPr lang="en-IN" sz="1200" b="0" i="0" kern="1200" dirty="0">
                <a:solidFill>
                  <a:schemeClr val="tx1"/>
                </a:solidFill>
                <a:effectLst/>
                <a:latin typeface="+mn-lt"/>
                <a:ea typeface="+mn-ea"/>
                <a:cs typeface="+mn-cs"/>
              </a:rPr>
              <a:t>These questions are important. They allow you to figure out how you can replicate your success, or prevent your failure hereafter. Asking the </a:t>
            </a:r>
            <a:r>
              <a:rPr lang="en-IN" sz="1200" b="0" i="0" u="none" strike="noStrike" kern="1200" dirty="0">
                <a:solidFill>
                  <a:schemeClr val="tx1"/>
                </a:solidFill>
                <a:effectLst/>
                <a:latin typeface="+mn-lt"/>
                <a:ea typeface="+mn-ea"/>
                <a:cs typeface="+mn-cs"/>
                <a:hlinkClick r:id="rId3"/>
              </a:rPr>
              <a:t>right business intelligence questions</a:t>
            </a:r>
            <a:r>
              <a:rPr lang="en-IN" sz="1200" b="0" i="0" kern="1200" dirty="0">
                <a:solidFill>
                  <a:schemeClr val="tx1"/>
                </a:solidFill>
                <a:effectLst/>
                <a:latin typeface="+mn-lt"/>
                <a:ea typeface="+mn-ea"/>
                <a:cs typeface="+mn-cs"/>
              </a:rPr>
              <a:t> will lead you to better analytics. While using a business dashboard, all your information can be simplified into a single place, making the time for meaningful decisions much faster. But first, we need to analyze the difference more, as that will help us to understand what to do in a company’s operation process, and how to choose the best tool to manage your insights.</a:t>
            </a:r>
          </a:p>
          <a:p>
            <a:endParaRPr lang="en-IN" dirty="0"/>
          </a:p>
        </p:txBody>
      </p:sp>
      <p:sp>
        <p:nvSpPr>
          <p:cNvPr id="4" name="Slide Number Placeholder 3"/>
          <p:cNvSpPr>
            <a:spLocks noGrp="1"/>
          </p:cNvSpPr>
          <p:nvPr>
            <p:ph type="sldNum" sz="quarter" idx="10"/>
          </p:nvPr>
        </p:nvSpPr>
        <p:spPr/>
        <p:txBody>
          <a:bodyPr/>
          <a:lstStyle/>
          <a:p>
            <a:fld id="{F1A97293-404B-44E7-8FF7-D9A57321EE43}" type="slidenum">
              <a:rPr lang="en-IN" smtClean="0"/>
              <a:t>22</a:t>
            </a:fld>
            <a:endParaRPr lang="en-IN"/>
          </a:p>
        </p:txBody>
      </p:sp>
    </p:spTree>
    <p:extLst>
      <p:ext uri="{BB962C8B-B14F-4D97-AF65-F5344CB8AC3E}">
        <p14:creationId xmlns:p14="http://schemas.microsoft.com/office/powerpoint/2010/main" val="19796123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F1A97293-404B-44E7-8FF7-D9A57321EE43}" type="slidenum">
              <a:rPr lang="en-IN" smtClean="0"/>
              <a:t>37</a:t>
            </a:fld>
            <a:endParaRPr lang="en-IN"/>
          </a:p>
        </p:txBody>
      </p:sp>
    </p:spTree>
    <p:extLst>
      <p:ext uri="{BB962C8B-B14F-4D97-AF65-F5344CB8AC3E}">
        <p14:creationId xmlns:p14="http://schemas.microsoft.com/office/powerpoint/2010/main" val="9689535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b="1" i="0" kern="1200" dirty="0">
                <a:solidFill>
                  <a:schemeClr val="tx1"/>
                </a:solidFill>
                <a:effectLst/>
                <a:latin typeface="+mn-lt"/>
                <a:ea typeface="+mn-ea"/>
                <a:cs typeface="+mn-cs"/>
              </a:rPr>
              <a:t>Too many data sources.</a:t>
            </a:r>
            <a:r>
              <a:rPr lang="en-IN" sz="1200" b="0" i="0" kern="1200" dirty="0">
                <a:solidFill>
                  <a:schemeClr val="tx1"/>
                </a:solidFill>
                <a:effectLst/>
                <a:latin typeface="+mn-lt"/>
                <a:ea typeface="+mn-ea"/>
                <a:cs typeface="+mn-cs"/>
              </a:rPr>
              <a:t> There is an increasingly large spectrum of </a:t>
            </a:r>
            <a:r>
              <a:rPr lang="en-IN" sz="1200" b="0" i="0" u="sng" kern="1200" dirty="0">
                <a:solidFill>
                  <a:schemeClr val="tx1"/>
                </a:solidFill>
                <a:effectLst/>
                <a:latin typeface="+mn-lt"/>
                <a:ea typeface="+mn-ea"/>
                <a:cs typeface="+mn-cs"/>
                <a:hlinkClick r:id="rId3"/>
              </a:rPr>
              <a:t>internet-connected devices generating business data</a:t>
            </a:r>
            <a:r>
              <a:rPr lang="en-IN" sz="1200" b="0" i="0" kern="1200" dirty="0">
                <a:solidFill>
                  <a:schemeClr val="tx1"/>
                </a:solidFill>
                <a:effectLst/>
                <a:latin typeface="+mn-lt"/>
                <a:ea typeface="+mn-ea"/>
                <a:cs typeface="+mn-cs"/>
              </a:rPr>
              <a:t>. In many cases, they are generating different types of data that must be integrated into an analytics strategy. However, the more complex a data set becomes, the harder it is to use it as part of an analytics framework.</a:t>
            </a:r>
          </a:p>
          <a:p>
            <a:r>
              <a:rPr lang="en-IN" sz="1200" b="1" i="0" kern="1200" dirty="0">
                <a:solidFill>
                  <a:schemeClr val="tx1"/>
                </a:solidFill>
                <a:effectLst/>
                <a:latin typeface="+mn-lt"/>
                <a:ea typeface="+mn-ea"/>
                <a:cs typeface="+mn-cs"/>
              </a:rPr>
              <a:t>Lack of skills.</a:t>
            </a:r>
            <a:r>
              <a:rPr lang="en-IN" sz="1200" b="0" i="0" kern="1200" dirty="0">
                <a:solidFill>
                  <a:schemeClr val="tx1"/>
                </a:solidFill>
                <a:effectLst/>
                <a:latin typeface="+mn-lt"/>
                <a:ea typeface="+mn-ea"/>
                <a:cs typeface="+mn-cs"/>
              </a:rPr>
              <a:t> The demand for employees </a:t>
            </a:r>
            <a:r>
              <a:rPr lang="en-IN" sz="1200" b="0" i="0" u="sng" kern="1200" dirty="0">
                <a:solidFill>
                  <a:schemeClr val="tx1"/>
                </a:solidFill>
                <a:effectLst/>
                <a:latin typeface="+mn-lt"/>
                <a:ea typeface="+mn-ea"/>
                <a:cs typeface="+mn-cs"/>
                <a:hlinkClick r:id="rId4"/>
              </a:rPr>
              <a:t>with the data analytic skills necessary</a:t>
            </a:r>
            <a:r>
              <a:rPr lang="en-IN" sz="1200" b="0" i="0" kern="1200" dirty="0">
                <a:solidFill>
                  <a:schemeClr val="tx1"/>
                </a:solidFill>
                <a:effectLst/>
                <a:latin typeface="+mn-lt"/>
                <a:ea typeface="+mn-ea"/>
                <a:cs typeface="+mn-cs"/>
              </a:rPr>
              <a:t> to process BA data has grown. Some businesses, particularly small and medium-sized businesses (SMBs), may have a hard time hiring people with the BA expertise and skills they need.</a:t>
            </a:r>
          </a:p>
          <a:p>
            <a:r>
              <a:rPr lang="en-IN" sz="1200" b="1" i="0" kern="1200" dirty="0">
                <a:solidFill>
                  <a:schemeClr val="tx1"/>
                </a:solidFill>
                <a:effectLst/>
                <a:latin typeface="+mn-lt"/>
                <a:ea typeface="+mn-ea"/>
                <a:cs typeface="+mn-cs"/>
              </a:rPr>
              <a:t>Data storage limitations.</a:t>
            </a:r>
            <a:r>
              <a:rPr lang="en-IN" sz="1200" b="0" i="0" kern="1200" dirty="0">
                <a:solidFill>
                  <a:schemeClr val="tx1"/>
                </a:solidFill>
                <a:effectLst/>
                <a:latin typeface="+mn-lt"/>
                <a:ea typeface="+mn-ea"/>
                <a:cs typeface="+mn-cs"/>
              </a:rPr>
              <a:t> Before a business can begin to decide how it will process data, it must decide where to store it. For instance, a </a:t>
            </a:r>
            <a:r>
              <a:rPr lang="en-IN" sz="1200" b="0" i="0" u="sng" kern="1200" dirty="0">
                <a:solidFill>
                  <a:schemeClr val="tx1"/>
                </a:solidFill>
                <a:effectLst/>
                <a:latin typeface="+mn-lt"/>
                <a:ea typeface="+mn-ea"/>
                <a:cs typeface="+mn-cs"/>
                <a:hlinkClick r:id="rId5"/>
              </a:rPr>
              <a:t>data lake</a:t>
            </a:r>
            <a:r>
              <a:rPr lang="en-IN" sz="1200" b="0" i="0" kern="1200" dirty="0">
                <a:solidFill>
                  <a:schemeClr val="tx1"/>
                </a:solidFill>
                <a:effectLst/>
                <a:latin typeface="+mn-lt"/>
                <a:ea typeface="+mn-ea"/>
                <a:cs typeface="+mn-cs"/>
              </a:rPr>
              <a:t> can be used to capture large volumes of unstructured data.</a:t>
            </a:r>
          </a:p>
          <a:p>
            <a:endParaRPr lang="en-IN" dirty="0"/>
          </a:p>
        </p:txBody>
      </p:sp>
      <p:sp>
        <p:nvSpPr>
          <p:cNvPr id="4" name="Slide Number Placeholder 3"/>
          <p:cNvSpPr>
            <a:spLocks noGrp="1"/>
          </p:cNvSpPr>
          <p:nvPr>
            <p:ph type="sldNum" sz="quarter" idx="10"/>
          </p:nvPr>
        </p:nvSpPr>
        <p:spPr/>
        <p:txBody>
          <a:bodyPr/>
          <a:lstStyle/>
          <a:p>
            <a:fld id="{F1A97293-404B-44E7-8FF7-D9A57321EE43}" type="slidenum">
              <a:rPr lang="en-IN" smtClean="0"/>
              <a:t>38</a:t>
            </a:fld>
            <a:endParaRPr lang="en-IN"/>
          </a:p>
        </p:txBody>
      </p:sp>
    </p:spTree>
    <p:extLst>
      <p:ext uri="{BB962C8B-B14F-4D97-AF65-F5344CB8AC3E}">
        <p14:creationId xmlns:p14="http://schemas.microsoft.com/office/powerpoint/2010/main" val="158543965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b="1" i="0" kern="1200" dirty="0">
                <a:solidFill>
                  <a:schemeClr val="tx1"/>
                </a:solidFill>
                <a:effectLst/>
                <a:latin typeface="+mn-lt"/>
                <a:ea typeface="+mn-ea"/>
                <a:cs typeface="+mn-cs"/>
              </a:rPr>
              <a:t>You Need Programming to Learn Business Analytics – </a:t>
            </a:r>
            <a:r>
              <a:rPr lang="en-IN" sz="1200" b="0" i="0" kern="1200" dirty="0">
                <a:solidFill>
                  <a:schemeClr val="tx1"/>
                </a:solidFill>
                <a:effectLst/>
                <a:latin typeface="+mn-lt"/>
                <a:ea typeface="+mn-ea"/>
                <a:cs typeface="+mn-cs"/>
              </a:rPr>
              <a:t>A professional doesn’t require programming experience to learn business analytics as most of the tools and techniques are easy to use. Tableau, a data visualization tool, even has drag and drop elements that make it really easy for anyone to get started. That’s why Business Analytics has found such ubiquitous application in all domains and professionals from vastly different industries like BFSI, Marketing, Agriculture, Healthcare, Genomics, etc. find it to be a great career option and a natural progression in their careers. A good knowledge of statistics will need to be developed though.</a:t>
            </a:r>
          </a:p>
          <a:p>
            <a:r>
              <a:rPr lang="en-IN" sz="1200" b="1" i="0" kern="1200" dirty="0">
                <a:solidFill>
                  <a:schemeClr val="tx1"/>
                </a:solidFill>
                <a:effectLst/>
                <a:latin typeface="+mn-lt"/>
                <a:ea typeface="+mn-ea"/>
                <a:cs typeface="+mn-cs"/>
              </a:rPr>
              <a:t>You Need Advanced Maths for Business Analytics –</a:t>
            </a:r>
            <a:r>
              <a:rPr lang="en-IN" sz="1200" b="0" i="0" kern="1200" dirty="0">
                <a:solidFill>
                  <a:schemeClr val="tx1"/>
                </a:solidFill>
                <a:effectLst/>
                <a:latin typeface="+mn-lt"/>
                <a:ea typeface="+mn-ea"/>
                <a:cs typeface="+mn-cs"/>
              </a:rPr>
              <a:t> Is based on the use of common human intelligence that can be applied to solve any and all industry problem. Hence, you don’t need Fourier series or advanced mathematical algorithms to build analytical models. Math learned till 10+2 level is good enough and can serve as a starting base for professionals in all domains. Also, unknowingly a lot of professionals apply math in their day to day work with excel and data interpretation so Math beyond the basic level is not a mandate to learn the principles of business analytics.</a:t>
            </a:r>
          </a:p>
          <a:p>
            <a:r>
              <a:rPr lang="en-IN" sz="1200" b="1" i="0" kern="1200" dirty="0">
                <a:solidFill>
                  <a:schemeClr val="tx1"/>
                </a:solidFill>
                <a:effectLst/>
                <a:latin typeface="+mn-lt"/>
                <a:ea typeface="+mn-ea"/>
                <a:cs typeface="+mn-cs"/>
              </a:rPr>
              <a:t>Learning BA Tools And Techniques is Enough for Becoming a Good Business Analyst – </a:t>
            </a:r>
            <a:r>
              <a:rPr lang="en-IN" sz="1200" b="0" i="0" kern="1200" dirty="0">
                <a:solidFill>
                  <a:schemeClr val="tx1"/>
                </a:solidFill>
                <a:effectLst/>
                <a:latin typeface="+mn-lt"/>
                <a:ea typeface="+mn-ea"/>
                <a:cs typeface="+mn-cs"/>
              </a:rPr>
              <a:t>While learning Python, R, or SAS can get you through the door for an interview, it would be fairly hard for anyone to excel in their role without two things – one is </a:t>
            </a:r>
            <a:r>
              <a:rPr lang="en-IN" sz="1200" b="1" i="0" kern="1200" dirty="0">
                <a:solidFill>
                  <a:schemeClr val="accent2"/>
                </a:solidFill>
                <a:effectLst/>
                <a:latin typeface="+mn-lt"/>
                <a:ea typeface="+mn-ea"/>
                <a:cs typeface="+mn-cs"/>
              </a:rPr>
              <a:t>domain knowledge </a:t>
            </a:r>
            <a:r>
              <a:rPr lang="en-IN" sz="1200" b="0" i="0" kern="1200" dirty="0">
                <a:solidFill>
                  <a:schemeClr val="tx1"/>
                </a:solidFill>
                <a:effectLst/>
                <a:latin typeface="+mn-lt"/>
                <a:ea typeface="+mn-ea"/>
                <a:cs typeface="+mn-cs"/>
              </a:rPr>
              <a:t>and the second would be a </a:t>
            </a:r>
            <a:r>
              <a:rPr lang="en-IN" sz="1200" b="1" i="0" kern="1200" dirty="0">
                <a:solidFill>
                  <a:schemeClr val="accent2"/>
                </a:solidFill>
                <a:effectLst/>
                <a:latin typeface="+mn-lt"/>
                <a:ea typeface="+mn-ea"/>
                <a:cs typeface="+mn-cs"/>
              </a:rPr>
              <a:t>business sense</a:t>
            </a:r>
            <a:r>
              <a:rPr lang="en-IN" sz="1200" b="0" i="0" kern="1200" dirty="0">
                <a:solidFill>
                  <a:schemeClr val="tx1"/>
                </a:solidFill>
                <a:effectLst/>
                <a:latin typeface="+mn-lt"/>
                <a:ea typeface="+mn-ea"/>
                <a:cs typeface="+mn-cs"/>
              </a:rPr>
              <a:t>. To understand a client’s (or your own internal) requirement, to formulate a problem statement that needs to be processed, a business analytics professional has a lot under his/her purview. Simply put, learning tools and techniques is only a small piece of the larger picture to get you started in your role. </a:t>
            </a:r>
            <a:r>
              <a:rPr lang="en-IN" sz="1200" b="0" i="0" kern="1200" dirty="0" err="1">
                <a:solidFill>
                  <a:schemeClr val="tx1"/>
                </a:solidFill>
                <a:effectLst/>
                <a:latin typeface="+mn-lt"/>
                <a:ea typeface="+mn-ea"/>
                <a:cs typeface="+mn-cs"/>
              </a:rPr>
              <a:t>Dr.</a:t>
            </a:r>
            <a:r>
              <a:rPr lang="en-IN" sz="1200" b="0" i="0" kern="1200" dirty="0">
                <a:solidFill>
                  <a:schemeClr val="tx1"/>
                </a:solidFill>
                <a:effectLst/>
                <a:latin typeface="+mn-lt"/>
                <a:ea typeface="+mn-ea"/>
                <a:cs typeface="+mn-cs"/>
              </a:rPr>
              <a:t> </a:t>
            </a:r>
            <a:r>
              <a:rPr lang="en-IN" sz="1200" b="0" i="0" kern="1200" dirty="0" err="1">
                <a:solidFill>
                  <a:schemeClr val="tx1"/>
                </a:solidFill>
                <a:effectLst/>
                <a:latin typeface="+mn-lt"/>
                <a:ea typeface="+mn-ea"/>
                <a:cs typeface="+mn-cs"/>
              </a:rPr>
              <a:t>Bappaditya</a:t>
            </a:r>
            <a:r>
              <a:rPr lang="en-IN" sz="1200" b="0" i="0" kern="1200" dirty="0">
                <a:solidFill>
                  <a:schemeClr val="tx1"/>
                </a:solidFill>
                <a:effectLst/>
                <a:latin typeface="+mn-lt"/>
                <a:ea typeface="+mn-ea"/>
                <a:cs typeface="+mn-cs"/>
              </a:rPr>
              <a:t> (Director, PG Program </a:t>
            </a:r>
            <a:r>
              <a:rPr lang="en-IN" sz="1200" b="1" i="0" u="none" strike="noStrike" kern="1200" dirty="0">
                <a:solidFill>
                  <a:schemeClr val="tx1"/>
                </a:solidFill>
                <a:effectLst/>
                <a:latin typeface="+mn-lt"/>
                <a:ea typeface="+mn-ea"/>
                <a:cs typeface="+mn-cs"/>
                <a:hlinkClick r:id="rId3"/>
              </a:rPr>
              <a:t>Business Analytics Program</a:t>
            </a:r>
            <a:r>
              <a:rPr lang="en-IN" sz="1200" b="1" i="0" kern="1200" dirty="0">
                <a:solidFill>
                  <a:schemeClr val="tx1"/>
                </a:solidFill>
                <a:effectLst/>
                <a:latin typeface="+mn-lt"/>
                <a:ea typeface="+mn-ea"/>
                <a:cs typeface="+mn-cs"/>
              </a:rPr>
              <a:t>,</a:t>
            </a:r>
            <a:r>
              <a:rPr lang="en-IN" sz="1200" b="0" i="0" kern="1200" dirty="0">
                <a:solidFill>
                  <a:schemeClr val="tx1"/>
                </a:solidFill>
                <a:effectLst/>
                <a:latin typeface="+mn-lt"/>
                <a:ea typeface="+mn-ea"/>
                <a:cs typeface="+mn-cs"/>
              </a:rPr>
              <a:t> Great Lakes) explains this with an example: “A million records of a customer for credit cards are processed to figure out bad customers from good ones. While a data scientist will crunch that data to find insights, a Business Analytics professional will put a decision rule to it. A business analyst will look at all this data and come to the simple rule that customer is good if his credit score is above this (let’s say 95%)  or his income is above that and the number of dependents is this. Otherwise, a customer is bad.</a:t>
            </a:r>
            <a:br>
              <a:rPr lang="en-IN" sz="1200" b="0" i="0" kern="1200" dirty="0">
                <a:solidFill>
                  <a:schemeClr val="tx1"/>
                </a:solidFill>
                <a:effectLst/>
                <a:latin typeface="+mn-lt"/>
                <a:ea typeface="+mn-ea"/>
                <a:cs typeface="+mn-cs"/>
              </a:rPr>
            </a:br>
            <a:r>
              <a:rPr lang="en-IN" sz="1200" b="0" i="0" kern="1200" dirty="0">
                <a:solidFill>
                  <a:schemeClr val="tx1"/>
                </a:solidFill>
                <a:effectLst/>
                <a:latin typeface="+mn-lt"/>
                <a:ea typeface="+mn-ea"/>
                <a:cs typeface="+mn-cs"/>
              </a:rPr>
              <a:t>So, Business Analytics is much more applied and with a very specific objective in mind.</a:t>
            </a:r>
          </a:p>
          <a:p>
            <a:r>
              <a:rPr lang="en-IN" sz="1200" b="1" i="0" kern="1200" dirty="0">
                <a:solidFill>
                  <a:schemeClr val="tx1"/>
                </a:solidFill>
                <a:effectLst/>
                <a:latin typeface="+mn-lt"/>
                <a:ea typeface="+mn-ea"/>
                <a:cs typeface="+mn-cs"/>
              </a:rPr>
              <a:t>A Business Analytics Profile Is All About Crunching Numbers – </a:t>
            </a:r>
            <a:r>
              <a:rPr lang="en-IN" sz="1200" b="0" i="0" kern="1200" dirty="0">
                <a:solidFill>
                  <a:schemeClr val="tx1"/>
                </a:solidFill>
                <a:effectLst/>
                <a:latin typeface="+mn-lt"/>
                <a:ea typeface="+mn-ea"/>
                <a:cs typeface="+mn-cs"/>
              </a:rPr>
              <a:t>Number crunching or in technical terms – cleaning of data, slicing and dicing of data, converting an unstructured data set into a structured one is all part of the process. However, the profile of a business analytics professional is not limited by these functions. The essence of true business analytics lies in resolving business problems combining domain knowledge, client interactions, business sense, and basic human intelligence apart.</a:t>
            </a:r>
          </a:p>
          <a:p>
            <a:endParaRPr lang="en-IN" dirty="0"/>
          </a:p>
        </p:txBody>
      </p:sp>
      <p:sp>
        <p:nvSpPr>
          <p:cNvPr id="4" name="Slide Number Placeholder 3"/>
          <p:cNvSpPr>
            <a:spLocks noGrp="1"/>
          </p:cNvSpPr>
          <p:nvPr>
            <p:ph type="sldNum" sz="quarter" idx="10"/>
          </p:nvPr>
        </p:nvSpPr>
        <p:spPr/>
        <p:txBody>
          <a:bodyPr/>
          <a:lstStyle/>
          <a:p>
            <a:fld id="{F1A97293-404B-44E7-8FF7-D9A57321EE43}" type="slidenum">
              <a:rPr lang="en-IN" smtClean="0"/>
              <a:t>41</a:t>
            </a:fld>
            <a:endParaRPr lang="en-IN"/>
          </a:p>
        </p:txBody>
      </p:sp>
    </p:spTree>
    <p:extLst>
      <p:ext uri="{BB962C8B-B14F-4D97-AF65-F5344CB8AC3E}">
        <p14:creationId xmlns:p14="http://schemas.microsoft.com/office/powerpoint/2010/main" val="37390349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F1A97293-404B-44E7-8FF7-D9A57321EE43}" type="slidenum">
              <a:rPr lang="en-IN" smtClean="0"/>
              <a:t>42</a:t>
            </a:fld>
            <a:endParaRPr lang="en-IN"/>
          </a:p>
        </p:txBody>
      </p:sp>
    </p:spTree>
    <p:extLst>
      <p:ext uri="{BB962C8B-B14F-4D97-AF65-F5344CB8AC3E}">
        <p14:creationId xmlns:p14="http://schemas.microsoft.com/office/powerpoint/2010/main" val="79304663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https://www.datapine.com/blog/difference-between-business-intelligence-and-analytics/</a:t>
            </a:r>
          </a:p>
          <a:p>
            <a:r>
              <a:rPr lang="en-IN" dirty="0"/>
              <a:t>https://www.mygreatlearning.com/blog/what-is-business-analytics/</a:t>
            </a:r>
          </a:p>
          <a:p>
            <a:endParaRPr lang="en-IN" dirty="0"/>
          </a:p>
        </p:txBody>
      </p:sp>
      <p:sp>
        <p:nvSpPr>
          <p:cNvPr id="4" name="Slide Number Placeholder 3"/>
          <p:cNvSpPr>
            <a:spLocks noGrp="1"/>
          </p:cNvSpPr>
          <p:nvPr>
            <p:ph type="sldNum" sz="quarter" idx="10"/>
          </p:nvPr>
        </p:nvSpPr>
        <p:spPr/>
        <p:txBody>
          <a:bodyPr/>
          <a:lstStyle/>
          <a:p>
            <a:fld id="{F1A97293-404B-44E7-8FF7-D9A57321EE43}" type="slidenum">
              <a:rPr lang="en-IN" smtClean="0"/>
              <a:t>54</a:t>
            </a:fld>
            <a:endParaRPr lang="en-IN"/>
          </a:p>
        </p:txBody>
      </p:sp>
    </p:spTree>
    <p:extLst>
      <p:ext uri="{BB962C8B-B14F-4D97-AF65-F5344CB8AC3E}">
        <p14:creationId xmlns:p14="http://schemas.microsoft.com/office/powerpoint/2010/main" val="32410182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4"/>
            <a:ext cx="78867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a:xfrm>
            <a:off x="628650" y="6356351"/>
            <a:ext cx="2057400" cy="365125"/>
          </a:xfrm>
          <a:prstGeom prst="rect">
            <a:avLst/>
          </a:prstGeom>
        </p:spPr>
        <p:txBody>
          <a:bodyPr/>
          <a:lstStyle/>
          <a:p>
            <a:fld id="{5F6FE439-C49D-4EC1-BB5F-F12E4768289D}" type="datetime1">
              <a:rPr lang="en-US">
                <a:solidFill>
                  <a:prstClr val="black"/>
                </a:solidFill>
              </a:rPr>
              <a:pPr/>
              <a:t>15-Sep-23</a:t>
            </a:fld>
            <a:endParaRPr lang="en-US">
              <a:solidFill>
                <a:prstClr val="black"/>
              </a:solidFill>
            </a:endParaRPr>
          </a:p>
        </p:txBody>
      </p:sp>
      <p:sp>
        <p:nvSpPr>
          <p:cNvPr id="5" name="Footer Placeholder 4"/>
          <p:cNvSpPr>
            <a:spLocks noGrp="1"/>
          </p:cNvSpPr>
          <p:nvPr>
            <p:ph type="ftr" sz="quarter" idx="11"/>
          </p:nvPr>
        </p:nvSpPr>
        <p:spPr>
          <a:xfrm>
            <a:off x="3028950" y="6356351"/>
            <a:ext cx="3086100" cy="365125"/>
          </a:xfrm>
          <a:prstGeom prst="rect">
            <a:avLst/>
          </a:prstGeom>
        </p:spPr>
        <p:txBody>
          <a:bodyPr/>
          <a:lstStyle/>
          <a:p>
            <a:r>
              <a:rPr lang="en-US">
                <a:solidFill>
                  <a:prstClr val="black"/>
                </a:solidFill>
              </a:rPr>
              <a:t>SIRAC/29-5-2020</a:t>
            </a:r>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E564FDC1-7B51-4592-AE98-E280758EE1BE}" type="slidenum">
              <a:rPr lang="en-US">
                <a:solidFill>
                  <a:prstClr val="black"/>
                </a:solidFill>
              </a:rPr>
              <a:pPr/>
              <a:t>‹#›</a:t>
            </a:fld>
            <a:endParaRPr lang="en-US">
              <a:solidFill>
                <a:prstClr val="black"/>
              </a:solidFill>
            </a:endParaRPr>
          </a:p>
        </p:txBody>
      </p:sp>
    </p:spTree>
    <p:extLst>
      <p:ext uri="{BB962C8B-B14F-4D97-AF65-F5344CB8AC3E}">
        <p14:creationId xmlns:p14="http://schemas.microsoft.com/office/powerpoint/2010/main" val="29426417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628650" y="6356351"/>
            <a:ext cx="2057400" cy="365125"/>
          </a:xfrm>
          <a:prstGeom prst="rect">
            <a:avLst/>
          </a:prstGeom>
        </p:spPr>
        <p:txBody>
          <a:bodyPr/>
          <a:lstStyle/>
          <a:p>
            <a:fld id="{F74E0460-F78B-4751-ACD5-CB1FA823892D}" type="datetime1">
              <a:rPr lang="en-US">
                <a:solidFill>
                  <a:prstClr val="black"/>
                </a:solidFill>
              </a:rPr>
              <a:pPr/>
              <a:t>15-Sep-23</a:t>
            </a:fld>
            <a:endParaRPr lang="en-US">
              <a:solidFill>
                <a:prstClr val="black"/>
              </a:solidFill>
            </a:endParaRPr>
          </a:p>
        </p:txBody>
      </p:sp>
      <p:sp>
        <p:nvSpPr>
          <p:cNvPr id="5" name="Footer Placeholder 4"/>
          <p:cNvSpPr>
            <a:spLocks noGrp="1"/>
          </p:cNvSpPr>
          <p:nvPr>
            <p:ph type="ftr" sz="quarter" idx="11"/>
          </p:nvPr>
        </p:nvSpPr>
        <p:spPr>
          <a:xfrm>
            <a:off x="3028950" y="6356351"/>
            <a:ext cx="3086100" cy="365125"/>
          </a:xfrm>
          <a:prstGeom prst="rect">
            <a:avLst/>
          </a:prstGeom>
        </p:spPr>
        <p:txBody>
          <a:bodyPr/>
          <a:lstStyle/>
          <a:p>
            <a:r>
              <a:rPr lang="en-US">
                <a:solidFill>
                  <a:prstClr val="black"/>
                </a:solidFill>
              </a:rPr>
              <a:t>SIRAC/29-5-2020</a:t>
            </a:r>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E564FDC1-7B51-4592-AE98-E280758EE1BE}" type="slidenum">
              <a:rPr lang="en-US">
                <a:solidFill>
                  <a:prstClr val="black"/>
                </a:solidFill>
              </a:rPr>
              <a:pPr/>
              <a:t>‹#›</a:t>
            </a:fld>
            <a:endParaRPr lang="en-US">
              <a:solidFill>
                <a:prstClr val="black"/>
              </a:solidFill>
            </a:endParaRPr>
          </a:p>
        </p:txBody>
      </p:sp>
      <p:sp>
        <p:nvSpPr>
          <p:cNvPr id="7" name="Text Placeholder 2"/>
          <p:cNvSpPr>
            <a:spLocks noGrp="1"/>
          </p:cNvSpPr>
          <p:nvPr>
            <p:ph idx="1"/>
          </p:nvPr>
        </p:nvSpPr>
        <p:spPr>
          <a:xfrm>
            <a:off x="728983" y="1324629"/>
            <a:ext cx="8229600" cy="4525963"/>
          </a:xfrm>
          <a:prstGeom prst="rect">
            <a:avLst/>
          </a:prstGeom>
        </p:spPr>
        <p:txBody>
          <a:bodyPr vert="horz" lIns="91440" tIns="45720" rIns="91440" bIns="45720" rtlCol="0">
            <a:normAutofit/>
          </a:bodyPr>
          <a:lstStyle>
            <a:lvl1pPr marL="285750" indent="-285750">
              <a:buFont typeface="Arial" panose="020B0604020202020204" pitchFamily="34" charset="0"/>
              <a:buChar char="•"/>
              <a:defRPr sz="2800">
                <a:latin typeface="Times New Roman" panose="02020603050405020304" pitchFamily="18" charset="0"/>
                <a:cs typeface="Times New Roman" panose="02020603050405020304" pitchFamily="18" charset="0"/>
              </a:defRPr>
            </a:lvl1pPr>
            <a:lvl2pPr marL="742950" indent="-285750">
              <a:buFont typeface="Courier New" panose="02070309020205020404" pitchFamily="49" charset="0"/>
              <a:buChar char="o"/>
              <a:defRPr sz="2400">
                <a:latin typeface="Times New Roman" panose="02020603050405020304" pitchFamily="18" charset="0"/>
                <a:cs typeface="Times New Roman" panose="02020603050405020304" pitchFamily="18" charset="0"/>
              </a:defRPr>
            </a:lvl2pPr>
            <a:lvl3pPr marL="1200150" indent="-137160">
              <a:buFont typeface="Calibri" panose="020F0502020204030204" pitchFamily="34" charset="0"/>
              <a:buChar char="−"/>
              <a:defRPr sz="2000">
                <a:latin typeface="Times New Roman" panose="02020603050405020304" pitchFamily="18" charset="0"/>
                <a:cs typeface="Times New Roman" panose="02020603050405020304" pitchFamily="18" charset="0"/>
              </a:defRPr>
            </a:lvl3pPr>
            <a:lvl4pPr>
              <a:defRPr sz="1800">
                <a:latin typeface="Times New Roman" panose="02020603050405020304" pitchFamily="18" charset="0"/>
                <a:cs typeface="Times New Roman" panose="02020603050405020304" pitchFamily="18" charset="0"/>
              </a:defRPr>
            </a:lvl4pPr>
            <a:lvl5pPr>
              <a:defRPr sz="1400">
                <a:latin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1180438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628650" y="6356351"/>
            <a:ext cx="2057400" cy="365125"/>
          </a:xfrm>
          <a:prstGeom prst="rect">
            <a:avLst/>
          </a:prstGeom>
        </p:spPr>
        <p:txBody>
          <a:bodyPr/>
          <a:lstStyle/>
          <a:p>
            <a:fld id="{57CA7694-521A-450C-9D96-31F4F6DC37F1}" type="datetime1">
              <a:rPr lang="en-US">
                <a:solidFill>
                  <a:prstClr val="black"/>
                </a:solidFill>
              </a:rPr>
              <a:pPr/>
              <a:t>15-Sep-23</a:t>
            </a:fld>
            <a:endParaRPr lang="en-US">
              <a:solidFill>
                <a:prstClr val="black"/>
              </a:solidFill>
            </a:endParaRPr>
          </a:p>
        </p:txBody>
      </p:sp>
      <p:sp>
        <p:nvSpPr>
          <p:cNvPr id="5" name="Footer Placeholder 4"/>
          <p:cNvSpPr>
            <a:spLocks noGrp="1"/>
          </p:cNvSpPr>
          <p:nvPr>
            <p:ph type="ftr" sz="quarter" idx="11"/>
          </p:nvPr>
        </p:nvSpPr>
        <p:spPr>
          <a:xfrm>
            <a:off x="3028950" y="6356351"/>
            <a:ext cx="3086100" cy="365125"/>
          </a:xfrm>
          <a:prstGeom prst="rect">
            <a:avLst/>
          </a:prstGeom>
        </p:spPr>
        <p:txBody>
          <a:bodyPr/>
          <a:lstStyle/>
          <a:p>
            <a:r>
              <a:rPr lang="en-US">
                <a:solidFill>
                  <a:prstClr val="black"/>
                </a:solidFill>
              </a:rPr>
              <a:t>SIRAC/29-5-2020</a:t>
            </a:r>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E564FDC1-7B51-4592-AE98-E280758EE1BE}" type="slidenum">
              <a:rPr lang="en-US">
                <a:solidFill>
                  <a:prstClr val="black"/>
                </a:solidFill>
              </a:rPr>
              <a:pPr/>
              <a:t>‹#›</a:t>
            </a:fld>
            <a:endParaRPr lang="en-US">
              <a:solidFill>
                <a:prstClr val="black"/>
              </a:solidFill>
            </a:endParaRPr>
          </a:p>
        </p:txBody>
      </p:sp>
      <p:sp>
        <p:nvSpPr>
          <p:cNvPr id="7" name="Title 1"/>
          <p:cNvSpPr>
            <a:spLocks noGrp="1"/>
          </p:cNvSpPr>
          <p:nvPr>
            <p:ph type="title"/>
          </p:nvPr>
        </p:nvSpPr>
        <p:spPr>
          <a:xfrm>
            <a:off x="817323" y="214817"/>
            <a:ext cx="7402883" cy="874951"/>
          </a:xfrm>
          <a:prstGeom prst="rect">
            <a:avLst/>
          </a:prstGeom>
        </p:spPr>
        <p:txBody>
          <a:bodyPr/>
          <a:lstStyle>
            <a:lvl1pPr algn="ctr">
              <a:defRPr sz="3600">
                <a:solidFill>
                  <a:srgbClr val="930B0B"/>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9" name="Text Placeholder 2"/>
          <p:cNvSpPr>
            <a:spLocks noGrp="1"/>
          </p:cNvSpPr>
          <p:nvPr>
            <p:ph idx="1"/>
          </p:nvPr>
        </p:nvSpPr>
        <p:spPr>
          <a:xfrm>
            <a:off x="700004" y="1324629"/>
            <a:ext cx="8229600" cy="4525963"/>
          </a:xfrm>
          <a:prstGeom prst="rect">
            <a:avLst/>
          </a:prstGeom>
        </p:spPr>
        <p:txBody>
          <a:bodyPr vert="horz" lIns="91440" tIns="45720" rIns="91440" bIns="45720" rtlCol="0">
            <a:normAutofit/>
          </a:bodyPr>
          <a:lstStyle>
            <a:lvl1pPr marL="285750" indent="-285750">
              <a:buFont typeface="Arial" panose="020B0604020202020204" pitchFamily="34" charset="0"/>
              <a:buChar char="•"/>
              <a:defRPr sz="2800">
                <a:latin typeface="Times New Roman" panose="02020603050405020304" pitchFamily="18" charset="0"/>
                <a:cs typeface="Times New Roman" panose="02020603050405020304" pitchFamily="18" charset="0"/>
              </a:defRPr>
            </a:lvl1pPr>
            <a:lvl2pPr marL="742950" indent="-285750">
              <a:buFont typeface="Courier New" panose="02070309020205020404" pitchFamily="49" charset="0"/>
              <a:buChar char="o"/>
              <a:defRPr sz="2400">
                <a:latin typeface="Times New Roman" panose="02020603050405020304" pitchFamily="18" charset="0"/>
                <a:cs typeface="Times New Roman" panose="02020603050405020304" pitchFamily="18" charset="0"/>
              </a:defRPr>
            </a:lvl2pPr>
            <a:lvl3pPr marL="1200150" indent="-137160">
              <a:buFont typeface="Calibri" panose="020F0502020204030204" pitchFamily="34" charset="0"/>
              <a:buChar char="−"/>
              <a:defRPr sz="2000">
                <a:latin typeface="Times New Roman" panose="02020603050405020304" pitchFamily="18" charset="0"/>
                <a:cs typeface="Times New Roman" panose="02020603050405020304" pitchFamily="18" charset="0"/>
              </a:defRPr>
            </a:lvl3pPr>
            <a:lvl4pPr>
              <a:defRPr sz="1800">
                <a:latin typeface="Times New Roman" panose="02020603050405020304" pitchFamily="18" charset="0"/>
                <a:cs typeface="Times New Roman" panose="02020603050405020304" pitchFamily="18" charset="0"/>
              </a:defRPr>
            </a:lvl4pPr>
            <a:lvl5pPr>
              <a:defRPr sz="1400">
                <a:latin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213651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27078762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17323" y="214817"/>
            <a:ext cx="7402883" cy="874951"/>
          </a:xfrm>
          <a:prstGeom prst="rect">
            <a:avLst/>
          </a:prstGeom>
        </p:spPr>
        <p:txBody>
          <a:bodyPr/>
          <a:lstStyle>
            <a:lvl1pPr algn="ctr">
              <a:defRPr sz="3600">
                <a:solidFill>
                  <a:srgbClr val="930B0B"/>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Content Placeholder 2"/>
          <p:cNvSpPr>
            <a:spLocks noGrp="1"/>
          </p:cNvSpPr>
          <p:nvPr>
            <p:ph sz="half" idx="1"/>
          </p:nvPr>
        </p:nvSpPr>
        <p:spPr>
          <a:xfrm>
            <a:off x="655370" y="1189973"/>
            <a:ext cx="8248389" cy="4899308"/>
          </a:xfrm>
          <a:prstGeom prst="rect">
            <a:avLst/>
          </a:prstGeom>
        </p:spPr>
        <p:txBody>
          <a:bodyPr/>
          <a:lstStyle>
            <a:lvl1pPr>
              <a:defRPr>
                <a:latin typeface="Times New Roman" panose="02020603050405020304" pitchFamily="18" charset="0"/>
                <a:cs typeface="Times New Roman" panose="02020603050405020304" pitchFamily="18" charset="0"/>
              </a:defRPr>
            </a:lvl1pPr>
            <a:lvl2pPr marL="685800" indent="-228600">
              <a:buClr>
                <a:schemeClr val="accent2">
                  <a:lumMod val="75000"/>
                </a:schemeClr>
              </a:buClr>
              <a:buSzPct val="70000"/>
              <a:buFont typeface="Courier New" panose="02070309020205020404" pitchFamily="49" charset="0"/>
              <a:buChar char="o"/>
              <a:defRPr>
                <a:latin typeface="Times New Roman" panose="02020603050405020304" pitchFamily="18" charset="0"/>
                <a:cs typeface="Times New Roman" panose="02020603050405020304" pitchFamily="18" charset="0"/>
              </a:defRPr>
            </a:lvl2pPr>
            <a:lvl3pPr marL="1143000" indent="-228600">
              <a:buClr>
                <a:srgbClr val="8D4427"/>
              </a:buClr>
              <a:buSzPct val="70000"/>
              <a:buFont typeface="Times New Roman" panose="02020603050405020304" pitchFamily="18" charset="0"/>
              <a:buChar char="−"/>
              <a:defRPr>
                <a:latin typeface="Times New Roman" panose="02020603050405020304" pitchFamily="18" charset="0"/>
                <a:cs typeface="Times New Roman" panose="02020603050405020304" pitchFamily="18" charset="0"/>
              </a:defRPr>
            </a:lvl3pPr>
            <a:lvl4pPr>
              <a:defRPr>
                <a:latin typeface="Times New Roman" panose="02020603050405020304" pitchFamily="18" charset="0"/>
                <a:cs typeface="Times New Roman" panose="02020603050405020304" pitchFamily="18" charset="0"/>
              </a:defRPr>
            </a:lvl4pPr>
            <a:lvl5pPr>
              <a:defRPr>
                <a:latin typeface="Times New Roman" panose="02020603050405020304" pitchFamily="18" charset="0"/>
                <a:cs typeface="Times New Roman" panose="02020603050405020304" pitchFamily="18"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3059118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681575" y="1606006"/>
            <a:ext cx="3868340"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03704" y="2505075"/>
            <a:ext cx="3868340" cy="368458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803013" y="1681163"/>
            <a:ext cx="3887391"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803013" y="2505075"/>
            <a:ext cx="3887391" cy="368458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628650" y="6356351"/>
            <a:ext cx="2057400" cy="365125"/>
          </a:xfrm>
          <a:prstGeom prst="rect">
            <a:avLst/>
          </a:prstGeom>
        </p:spPr>
        <p:txBody>
          <a:bodyPr/>
          <a:lstStyle/>
          <a:p>
            <a:fld id="{AC268793-EB06-4C2E-A344-050FACD6263B}" type="datetime1">
              <a:rPr lang="en-US">
                <a:solidFill>
                  <a:prstClr val="black"/>
                </a:solidFill>
              </a:rPr>
              <a:pPr/>
              <a:t>15-Sep-23</a:t>
            </a:fld>
            <a:endParaRPr lang="en-US">
              <a:solidFill>
                <a:prstClr val="black"/>
              </a:solidFill>
            </a:endParaRPr>
          </a:p>
        </p:txBody>
      </p:sp>
      <p:sp>
        <p:nvSpPr>
          <p:cNvPr id="8" name="Footer Placeholder 7"/>
          <p:cNvSpPr>
            <a:spLocks noGrp="1"/>
          </p:cNvSpPr>
          <p:nvPr>
            <p:ph type="ftr" sz="quarter" idx="11"/>
          </p:nvPr>
        </p:nvSpPr>
        <p:spPr>
          <a:xfrm>
            <a:off x="3028950" y="6356351"/>
            <a:ext cx="3086100" cy="365125"/>
          </a:xfrm>
          <a:prstGeom prst="rect">
            <a:avLst/>
          </a:prstGeom>
        </p:spPr>
        <p:txBody>
          <a:bodyPr/>
          <a:lstStyle/>
          <a:p>
            <a:r>
              <a:rPr lang="en-US">
                <a:solidFill>
                  <a:prstClr val="black"/>
                </a:solidFill>
              </a:rPr>
              <a:t>SIRAC/29-5-2020</a:t>
            </a:r>
          </a:p>
        </p:txBody>
      </p:sp>
      <p:sp>
        <p:nvSpPr>
          <p:cNvPr id="9" name="Slide Number Placeholder 8"/>
          <p:cNvSpPr>
            <a:spLocks noGrp="1"/>
          </p:cNvSpPr>
          <p:nvPr>
            <p:ph type="sldNum" sz="quarter" idx="12"/>
          </p:nvPr>
        </p:nvSpPr>
        <p:spPr>
          <a:xfrm>
            <a:off x="6457950" y="6356351"/>
            <a:ext cx="2057400" cy="365125"/>
          </a:xfrm>
          <a:prstGeom prst="rect">
            <a:avLst/>
          </a:prstGeom>
        </p:spPr>
        <p:txBody>
          <a:bodyPr/>
          <a:lstStyle/>
          <a:p>
            <a:fld id="{E564FDC1-7B51-4592-AE98-E280758EE1BE}" type="slidenum">
              <a:rPr lang="en-US">
                <a:solidFill>
                  <a:prstClr val="black"/>
                </a:solidFill>
              </a:rPr>
              <a:pPr/>
              <a:t>‹#›</a:t>
            </a:fld>
            <a:endParaRPr lang="en-US">
              <a:solidFill>
                <a:prstClr val="black"/>
              </a:solidFill>
            </a:endParaRPr>
          </a:p>
        </p:txBody>
      </p:sp>
    </p:spTree>
    <p:extLst>
      <p:ext uri="{BB962C8B-B14F-4D97-AF65-F5344CB8AC3E}">
        <p14:creationId xmlns:p14="http://schemas.microsoft.com/office/powerpoint/2010/main" val="31807507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628650" y="6356351"/>
            <a:ext cx="2057400" cy="365125"/>
          </a:xfrm>
          <a:prstGeom prst="rect">
            <a:avLst/>
          </a:prstGeom>
        </p:spPr>
        <p:txBody>
          <a:bodyPr/>
          <a:lstStyle/>
          <a:p>
            <a:fld id="{2FF30AE1-1730-442F-9262-909CF92DC89A}" type="datetime1">
              <a:rPr lang="en-US">
                <a:solidFill>
                  <a:prstClr val="black"/>
                </a:solidFill>
              </a:rPr>
              <a:pPr/>
              <a:t>15-Sep-23</a:t>
            </a:fld>
            <a:endParaRPr lang="en-US">
              <a:solidFill>
                <a:prstClr val="black"/>
              </a:solidFill>
            </a:endParaRPr>
          </a:p>
        </p:txBody>
      </p:sp>
      <p:sp>
        <p:nvSpPr>
          <p:cNvPr id="4" name="Footer Placeholder 3"/>
          <p:cNvSpPr>
            <a:spLocks noGrp="1"/>
          </p:cNvSpPr>
          <p:nvPr>
            <p:ph type="ftr" sz="quarter" idx="11"/>
          </p:nvPr>
        </p:nvSpPr>
        <p:spPr>
          <a:xfrm>
            <a:off x="3028950" y="6356351"/>
            <a:ext cx="3086100" cy="365125"/>
          </a:xfrm>
          <a:prstGeom prst="rect">
            <a:avLst/>
          </a:prstGeom>
        </p:spPr>
        <p:txBody>
          <a:bodyPr/>
          <a:lstStyle/>
          <a:p>
            <a:r>
              <a:rPr lang="en-US">
                <a:solidFill>
                  <a:prstClr val="black"/>
                </a:solidFill>
              </a:rPr>
              <a:t>SIRAC/29-5-2020</a:t>
            </a:r>
          </a:p>
        </p:txBody>
      </p:sp>
      <p:sp>
        <p:nvSpPr>
          <p:cNvPr id="5" name="Slide Number Placeholder 4"/>
          <p:cNvSpPr>
            <a:spLocks noGrp="1"/>
          </p:cNvSpPr>
          <p:nvPr>
            <p:ph type="sldNum" sz="quarter" idx="12"/>
          </p:nvPr>
        </p:nvSpPr>
        <p:spPr>
          <a:xfrm>
            <a:off x="6457950" y="6356351"/>
            <a:ext cx="2057400" cy="365125"/>
          </a:xfrm>
          <a:prstGeom prst="rect">
            <a:avLst/>
          </a:prstGeom>
        </p:spPr>
        <p:txBody>
          <a:bodyPr/>
          <a:lstStyle/>
          <a:p>
            <a:fld id="{E564FDC1-7B51-4592-AE98-E280758EE1BE}" type="slidenum">
              <a:rPr lang="en-US">
                <a:solidFill>
                  <a:prstClr val="black"/>
                </a:solidFill>
              </a:rPr>
              <a:pPr/>
              <a:t>‹#›</a:t>
            </a:fld>
            <a:endParaRPr lang="en-US">
              <a:solidFill>
                <a:prstClr val="black"/>
              </a:solidFill>
            </a:endParaRPr>
          </a:p>
        </p:txBody>
      </p:sp>
    </p:spTree>
    <p:extLst>
      <p:ext uri="{BB962C8B-B14F-4D97-AF65-F5344CB8AC3E}">
        <p14:creationId xmlns:p14="http://schemas.microsoft.com/office/powerpoint/2010/main" val="12578961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28650" y="6356351"/>
            <a:ext cx="2057400" cy="365125"/>
          </a:xfrm>
          <a:prstGeom prst="rect">
            <a:avLst/>
          </a:prstGeom>
        </p:spPr>
        <p:txBody>
          <a:bodyPr/>
          <a:lstStyle/>
          <a:p>
            <a:fld id="{3ED5625C-EF98-48BD-8FC8-5BF7C67FC7BA}" type="datetime1">
              <a:rPr lang="en-US">
                <a:solidFill>
                  <a:prstClr val="black"/>
                </a:solidFill>
              </a:rPr>
              <a:pPr/>
              <a:t>15-Sep-23</a:t>
            </a:fld>
            <a:endParaRPr lang="en-US">
              <a:solidFill>
                <a:prstClr val="black"/>
              </a:solidFill>
            </a:endParaRPr>
          </a:p>
        </p:txBody>
      </p:sp>
      <p:sp>
        <p:nvSpPr>
          <p:cNvPr id="3" name="Footer Placeholder 2"/>
          <p:cNvSpPr>
            <a:spLocks noGrp="1"/>
          </p:cNvSpPr>
          <p:nvPr>
            <p:ph type="ftr" sz="quarter" idx="11"/>
          </p:nvPr>
        </p:nvSpPr>
        <p:spPr>
          <a:xfrm>
            <a:off x="3028950" y="6356351"/>
            <a:ext cx="3086100" cy="365125"/>
          </a:xfrm>
          <a:prstGeom prst="rect">
            <a:avLst/>
          </a:prstGeom>
        </p:spPr>
        <p:txBody>
          <a:bodyPr/>
          <a:lstStyle/>
          <a:p>
            <a:r>
              <a:rPr lang="en-US">
                <a:solidFill>
                  <a:prstClr val="black"/>
                </a:solidFill>
              </a:rPr>
              <a:t>SIRAC/29-5-2020</a:t>
            </a:r>
          </a:p>
        </p:txBody>
      </p:sp>
      <p:sp>
        <p:nvSpPr>
          <p:cNvPr id="4" name="Slide Number Placeholder 3"/>
          <p:cNvSpPr>
            <a:spLocks noGrp="1"/>
          </p:cNvSpPr>
          <p:nvPr>
            <p:ph type="sldNum" sz="quarter" idx="12"/>
          </p:nvPr>
        </p:nvSpPr>
        <p:spPr>
          <a:xfrm>
            <a:off x="6457950" y="6356351"/>
            <a:ext cx="2057400" cy="365125"/>
          </a:xfrm>
          <a:prstGeom prst="rect">
            <a:avLst/>
          </a:prstGeom>
        </p:spPr>
        <p:txBody>
          <a:bodyPr/>
          <a:lstStyle/>
          <a:p>
            <a:fld id="{E564FDC1-7B51-4592-AE98-E280758EE1BE}" type="slidenum">
              <a:rPr lang="en-US">
                <a:solidFill>
                  <a:prstClr val="black"/>
                </a:solidFill>
              </a:rPr>
              <a:pPr/>
              <a:t>‹#›</a:t>
            </a:fld>
            <a:endParaRPr lang="en-US">
              <a:solidFill>
                <a:prstClr val="black"/>
              </a:solidFill>
            </a:endParaRPr>
          </a:p>
        </p:txBody>
      </p:sp>
    </p:spTree>
    <p:extLst>
      <p:ext uri="{BB962C8B-B14F-4D97-AF65-F5344CB8AC3E}">
        <p14:creationId xmlns:p14="http://schemas.microsoft.com/office/powerpoint/2010/main" val="28274334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a:prstGeom prst="rect">
            <a:avLst/>
          </a:prstGeo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391" y="987426"/>
            <a:ext cx="462915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29841" y="2057400"/>
            <a:ext cx="2949178"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628650" y="6356351"/>
            <a:ext cx="2057400" cy="365125"/>
          </a:xfrm>
          <a:prstGeom prst="rect">
            <a:avLst/>
          </a:prstGeom>
        </p:spPr>
        <p:txBody>
          <a:bodyPr/>
          <a:lstStyle/>
          <a:p>
            <a:fld id="{22647B38-CBE4-43F0-83C7-2BFE19C03D99}" type="datetime1">
              <a:rPr lang="en-US">
                <a:solidFill>
                  <a:prstClr val="black"/>
                </a:solidFill>
              </a:rPr>
              <a:pPr/>
              <a:t>15-Sep-23</a:t>
            </a:fld>
            <a:endParaRPr lang="en-US">
              <a:solidFill>
                <a:prstClr val="black"/>
              </a:solidFill>
            </a:endParaRPr>
          </a:p>
        </p:txBody>
      </p:sp>
      <p:sp>
        <p:nvSpPr>
          <p:cNvPr id="6" name="Footer Placeholder 5"/>
          <p:cNvSpPr>
            <a:spLocks noGrp="1"/>
          </p:cNvSpPr>
          <p:nvPr>
            <p:ph type="ftr" sz="quarter" idx="11"/>
          </p:nvPr>
        </p:nvSpPr>
        <p:spPr>
          <a:xfrm>
            <a:off x="3028950" y="6356351"/>
            <a:ext cx="3086100" cy="365125"/>
          </a:xfrm>
          <a:prstGeom prst="rect">
            <a:avLst/>
          </a:prstGeom>
        </p:spPr>
        <p:txBody>
          <a:bodyPr/>
          <a:lstStyle/>
          <a:p>
            <a:r>
              <a:rPr lang="en-US">
                <a:solidFill>
                  <a:prstClr val="black"/>
                </a:solidFill>
              </a:rPr>
              <a:t>SIRAC/29-5-2020</a:t>
            </a:r>
          </a:p>
        </p:txBody>
      </p:sp>
      <p:sp>
        <p:nvSpPr>
          <p:cNvPr id="7" name="Slide Number Placeholder 6"/>
          <p:cNvSpPr>
            <a:spLocks noGrp="1"/>
          </p:cNvSpPr>
          <p:nvPr>
            <p:ph type="sldNum" sz="quarter" idx="12"/>
          </p:nvPr>
        </p:nvSpPr>
        <p:spPr>
          <a:xfrm>
            <a:off x="6457950" y="6356351"/>
            <a:ext cx="2057400" cy="365125"/>
          </a:xfrm>
          <a:prstGeom prst="rect">
            <a:avLst/>
          </a:prstGeom>
        </p:spPr>
        <p:txBody>
          <a:bodyPr/>
          <a:lstStyle/>
          <a:p>
            <a:fld id="{E564FDC1-7B51-4592-AE98-E280758EE1BE}" type="slidenum">
              <a:rPr lang="en-US">
                <a:solidFill>
                  <a:prstClr val="black"/>
                </a:solidFill>
              </a:rPr>
              <a:pPr/>
              <a:t>‹#›</a:t>
            </a:fld>
            <a:endParaRPr lang="en-US">
              <a:solidFill>
                <a:prstClr val="black"/>
              </a:solidFill>
            </a:endParaRPr>
          </a:p>
        </p:txBody>
      </p:sp>
    </p:spTree>
    <p:extLst>
      <p:ext uri="{BB962C8B-B14F-4D97-AF65-F5344CB8AC3E}">
        <p14:creationId xmlns:p14="http://schemas.microsoft.com/office/powerpoint/2010/main" val="11161225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391" y="987426"/>
            <a:ext cx="462915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629841" y="2057400"/>
            <a:ext cx="2949178"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628650" y="6356351"/>
            <a:ext cx="2057400" cy="365125"/>
          </a:xfrm>
          <a:prstGeom prst="rect">
            <a:avLst/>
          </a:prstGeom>
        </p:spPr>
        <p:txBody>
          <a:bodyPr/>
          <a:lstStyle/>
          <a:p>
            <a:fld id="{774D2745-A1BB-4740-B2A6-77A91BD6B24F}" type="datetime1">
              <a:rPr lang="en-US">
                <a:solidFill>
                  <a:prstClr val="black"/>
                </a:solidFill>
              </a:rPr>
              <a:pPr/>
              <a:t>15-Sep-23</a:t>
            </a:fld>
            <a:endParaRPr lang="en-US">
              <a:solidFill>
                <a:prstClr val="black"/>
              </a:solidFill>
            </a:endParaRPr>
          </a:p>
        </p:txBody>
      </p:sp>
      <p:sp>
        <p:nvSpPr>
          <p:cNvPr id="6" name="Footer Placeholder 5"/>
          <p:cNvSpPr>
            <a:spLocks noGrp="1"/>
          </p:cNvSpPr>
          <p:nvPr>
            <p:ph type="ftr" sz="quarter" idx="11"/>
          </p:nvPr>
        </p:nvSpPr>
        <p:spPr>
          <a:xfrm>
            <a:off x="3028950" y="6356351"/>
            <a:ext cx="3086100" cy="365125"/>
          </a:xfrm>
          <a:prstGeom prst="rect">
            <a:avLst/>
          </a:prstGeom>
        </p:spPr>
        <p:txBody>
          <a:bodyPr/>
          <a:lstStyle/>
          <a:p>
            <a:r>
              <a:rPr lang="en-US">
                <a:solidFill>
                  <a:prstClr val="black"/>
                </a:solidFill>
              </a:rPr>
              <a:t>SIRAC/29-5-2020</a:t>
            </a:r>
          </a:p>
        </p:txBody>
      </p:sp>
      <p:sp>
        <p:nvSpPr>
          <p:cNvPr id="7" name="Slide Number Placeholder 6"/>
          <p:cNvSpPr>
            <a:spLocks noGrp="1"/>
          </p:cNvSpPr>
          <p:nvPr>
            <p:ph type="sldNum" sz="quarter" idx="12"/>
          </p:nvPr>
        </p:nvSpPr>
        <p:spPr>
          <a:xfrm>
            <a:off x="6457950" y="6356351"/>
            <a:ext cx="2057400" cy="365125"/>
          </a:xfrm>
          <a:prstGeom prst="rect">
            <a:avLst/>
          </a:prstGeom>
        </p:spPr>
        <p:txBody>
          <a:bodyPr/>
          <a:lstStyle/>
          <a:p>
            <a:fld id="{E564FDC1-7B51-4592-AE98-E280758EE1BE}" type="slidenum">
              <a:rPr lang="en-US">
                <a:solidFill>
                  <a:prstClr val="black"/>
                </a:solidFill>
              </a:rPr>
              <a:pPr/>
              <a:t>‹#›</a:t>
            </a:fld>
            <a:endParaRPr lang="en-US">
              <a:solidFill>
                <a:prstClr val="black"/>
              </a:solidFill>
            </a:endParaRPr>
          </a:p>
        </p:txBody>
      </p:sp>
    </p:spTree>
    <p:extLst>
      <p:ext uri="{BB962C8B-B14F-4D97-AF65-F5344CB8AC3E}">
        <p14:creationId xmlns:p14="http://schemas.microsoft.com/office/powerpoint/2010/main" val="27830445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1325563"/>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628650" y="1825625"/>
            <a:ext cx="7886700" cy="4351338"/>
          </a:xfrm>
          <a:prstGeom prst="rect">
            <a:avLst/>
          </a:prstGeo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628650" y="6356351"/>
            <a:ext cx="2057400" cy="365125"/>
          </a:xfrm>
          <a:prstGeom prst="rect">
            <a:avLst/>
          </a:prstGeom>
        </p:spPr>
        <p:txBody>
          <a:bodyPr/>
          <a:lstStyle/>
          <a:p>
            <a:fld id="{46D82B56-AE6E-4339-A450-F4754EE48308}" type="datetime1">
              <a:rPr lang="en-US">
                <a:solidFill>
                  <a:prstClr val="black"/>
                </a:solidFill>
              </a:rPr>
              <a:pPr/>
              <a:t>15-Sep-23</a:t>
            </a:fld>
            <a:endParaRPr lang="en-US">
              <a:solidFill>
                <a:prstClr val="black"/>
              </a:solidFill>
            </a:endParaRPr>
          </a:p>
        </p:txBody>
      </p:sp>
      <p:sp>
        <p:nvSpPr>
          <p:cNvPr id="5" name="Footer Placeholder 4"/>
          <p:cNvSpPr>
            <a:spLocks noGrp="1"/>
          </p:cNvSpPr>
          <p:nvPr>
            <p:ph type="ftr" sz="quarter" idx="11"/>
          </p:nvPr>
        </p:nvSpPr>
        <p:spPr>
          <a:xfrm>
            <a:off x="3028950" y="6356351"/>
            <a:ext cx="3086100" cy="365125"/>
          </a:xfrm>
          <a:prstGeom prst="rect">
            <a:avLst/>
          </a:prstGeom>
        </p:spPr>
        <p:txBody>
          <a:bodyPr/>
          <a:lstStyle/>
          <a:p>
            <a:r>
              <a:rPr lang="en-US">
                <a:solidFill>
                  <a:prstClr val="black"/>
                </a:solidFill>
              </a:rPr>
              <a:t>SIRAC/29-5-2020</a:t>
            </a:r>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E564FDC1-7B51-4592-AE98-E280758EE1BE}" type="slidenum">
              <a:rPr lang="en-US">
                <a:solidFill>
                  <a:prstClr val="black"/>
                </a:solidFill>
              </a:rPr>
              <a:pPr/>
              <a:t>‹#›</a:t>
            </a:fld>
            <a:endParaRPr lang="en-US">
              <a:solidFill>
                <a:prstClr val="black"/>
              </a:solidFill>
            </a:endParaRPr>
          </a:p>
        </p:txBody>
      </p:sp>
    </p:spTree>
    <p:extLst>
      <p:ext uri="{BB962C8B-B14F-4D97-AF65-F5344CB8AC3E}">
        <p14:creationId xmlns:p14="http://schemas.microsoft.com/office/powerpoint/2010/main" val="376357907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0" y="365125"/>
            <a:ext cx="5800725" cy="5811838"/>
          </a:xfrm>
          <a:prstGeom prst="rect">
            <a:avLst/>
          </a:prstGeo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628650" y="6356351"/>
            <a:ext cx="2057400" cy="365125"/>
          </a:xfrm>
          <a:prstGeom prst="rect">
            <a:avLst/>
          </a:prstGeom>
        </p:spPr>
        <p:txBody>
          <a:bodyPr/>
          <a:lstStyle/>
          <a:p>
            <a:fld id="{BDE04EE8-9791-44D9-8C72-CADA01B0B9BA}" type="datetime1">
              <a:rPr lang="en-US">
                <a:solidFill>
                  <a:prstClr val="black"/>
                </a:solidFill>
              </a:rPr>
              <a:pPr/>
              <a:t>15-Sep-23</a:t>
            </a:fld>
            <a:endParaRPr lang="en-US">
              <a:solidFill>
                <a:prstClr val="black"/>
              </a:solidFill>
            </a:endParaRPr>
          </a:p>
        </p:txBody>
      </p:sp>
      <p:sp>
        <p:nvSpPr>
          <p:cNvPr id="5" name="Footer Placeholder 4"/>
          <p:cNvSpPr>
            <a:spLocks noGrp="1"/>
          </p:cNvSpPr>
          <p:nvPr>
            <p:ph type="ftr" sz="quarter" idx="11"/>
          </p:nvPr>
        </p:nvSpPr>
        <p:spPr>
          <a:xfrm>
            <a:off x="3028950" y="6356351"/>
            <a:ext cx="3086100" cy="365125"/>
          </a:xfrm>
          <a:prstGeom prst="rect">
            <a:avLst/>
          </a:prstGeom>
        </p:spPr>
        <p:txBody>
          <a:bodyPr/>
          <a:lstStyle/>
          <a:p>
            <a:r>
              <a:rPr lang="en-US">
                <a:solidFill>
                  <a:prstClr val="black"/>
                </a:solidFill>
              </a:rPr>
              <a:t>SIRAC/29-5-2020</a:t>
            </a:r>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E564FDC1-7B51-4592-AE98-E280758EE1BE}" type="slidenum">
              <a:rPr lang="en-US">
                <a:solidFill>
                  <a:prstClr val="black"/>
                </a:solidFill>
              </a:rPr>
              <a:pPr/>
              <a:t>‹#›</a:t>
            </a:fld>
            <a:endParaRPr lang="en-US">
              <a:solidFill>
                <a:prstClr val="black"/>
              </a:solidFill>
            </a:endParaRPr>
          </a:p>
        </p:txBody>
      </p:sp>
    </p:spTree>
    <p:extLst>
      <p:ext uri="{BB962C8B-B14F-4D97-AF65-F5344CB8AC3E}">
        <p14:creationId xmlns:p14="http://schemas.microsoft.com/office/powerpoint/2010/main" val="150806532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Tree>
    <p:extLst>
      <p:ext uri="{BB962C8B-B14F-4D97-AF65-F5344CB8AC3E}">
        <p14:creationId xmlns:p14="http://schemas.microsoft.com/office/powerpoint/2010/main" val="95275457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Tree>
    <p:extLst>
      <p:ext uri="{BB962C8B-B14F-4D97-AF65-F5344CB8AC3E}">
        <p14:creationId xmlns:p14="http://schemas.microsoft.com/office/powerpoint/2010/main" val="50419554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ftr" sz="quarter" idx="10"/>
          </p:nvPr>
        </p:nvSpPr>
        <p:spPr/>
        <p:txBody>
          <a:bodyPr/>
          <a:lstStyle>
            <a:lvl1pPr>
              <a:defRPr/>
            </a:lvl1pPr>
          </a:lstStyle>
          <a:p>
            <a:pPr>
              <a:defRPr/>
            </a:pPr>
            <a:r>
              <a:rPr lang="en-US">
                <a:solidFill>
                  <a:prstClr val="black"/>
                </a:solidFill>
              </a:rPr>
              <a:t>Copyright © 2009 Addison-Wesley. All rights reserved.</a:t>
            </a:r>
          </a:p>
        </p:txBody>
      </p:sp>
      <p:sp>
        <p:nvSpPr>
          <p:cNvPr id="5" name="Rectangle 5"/>
          <p:cNvSpPr>
            <a:spLocks noGrp="1" noChangeArrowheads="1"/>
          </p:cNvSpPr>
          <p:nvPr>
            <p:ph type="sldNum" sz="quarter" idx="11"/>
          </p:nvPr>
        </p:nvSpPr>
        <p:spPr/>
        <p:txBody>
          <a:bodyPr/>
          <a:lstStyle>
            <a:lvl1pPr>
              <a:defRPr/>
            </a:lvl1pPr>
          </a:lstStyle>
          <a:p>
            <a:pPr>
              <a:defRPr/>
            </a:pPr>
            <a:r>
              <a:rPr lang="en-US" altLang="en-US">
                <a:solidFill>
                  <a:prstClr val="black"/>
                </a:solidFill>
              </a:rPr>
              <a:t>1-</a:t>
            </a:r>
            <a:fld id="{2720CEF3-E9D1-4755-A08F-1B10BC3280D2}" type="slidenum">
              <a:rPr lang="en-US" altLang="en-US">
                <a:solidFill>
                  <a:prstClr val="black"/>
                </a:solidFill>
              </a:rPr>
              <a:pPr>
                <a:defRPr/>
              </a:pPr>
              <a:t>‹#›</a:t>
            </a:fld>
            <a:endParaRPr lang="en-US" altLang="en-US">
              <a:solidFill>
                <a:prstClr val="black"/>
              </a:solidFill>
            </a:endParaRPr>
          </a:p>
        </p:txBody>
      </p:sp>
    </p:spTree>
    <p:extLst>
      <p:ext uri="{BB962C8B-B14F-4D97-AF65-F5344CB8AC3E}">
        <p14:creationId xmlns:p14="http://schemas.microsoft.com/office/powerpoint/2010/main" val="142670502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315397" name="Rectangle 5"/>
          <p:cNvSpPr>
            <a:spLocks noGrp="1" noChangeArrowheads="1"/>
          </p:cNvSpPr>
          <p:nvPr>
            <p:ph type="ctrTitle"/>
          </p:nvPr>
        </p:nvSpPr>
        <p:spPr>
          <a:xfrm>
            <a:off x="685800" y="2130425"/>
            <a:ext cx="7772400" cy="1470025"/>
          </a:xfrm>
          <a:prstGeom prst="rect">
            <a:avLst/>
          </a:prstGeom>
        </p:spPr>
        <p:txBody>
          <a:bodyPr/>
          <a:lstStyle>
            <a:lvl1pPr>
              <a:defRPr/>
            </a:lvl1pPr>
          </a:lstStyle>
          <a:p>
            <a:r>
              <a:rPr lang="en-US"/>
              <a:t>Click to edit Master title style</a:t>
            </a:r>
          </a:p>
        </p:txBody>
      </p:sp>
      <p:sp>
        <p:nvSpPr>
          <p:cNvPr id="315398" name="Rectangle 6"/>
          <p:cNvSpPr>
            <a:spLocks noGrp="1" noChangeArrowheads="1"/>
          </p:cNvSpPr>
          <p:nvPr>
            <p:ph type="subTitle" idx="1"/>
          </p:nvPr>
        </p:nvSpPr>
        <p:spPr>
          <a:xfrm>
            <a:off x="685800" y="3886200"/>
            <a:ext cx="7086600" cy="1752600"/>
          </a:xfrm>
          <a:prstGeom prst="rect">
            <a:avLst/>
          </a:prstGeom>
        </p:spPr>
        <p:txBody>
          <a:bodyPr/>
          <a:lstStyle>
            <a:lvl1pPr marL="0" indent="0">
              <a:buFont typeface="Symbol" charset="2"/>
              <a:buNone/>
              <a:defRPr/>
            </a:lvl1pPr>
          </a:lstStyle>
          <a:p>
            <a:r>
              <a:rPr lang="en-US"/>
              <a:t>Click to edit Master subtitle style</a:t>
            </a:r>
          </a:p>
        </p:txBody>
      </p:sp>
    </p:spTree>
    <p:extLst>
      <p:ext uri="{BB962C8B-B14F-4D97-AF65-F5344CB8AC3E}">
        <p14:creationId xmlns:p14="http://schemas.microsoft.com/office/powerpoint/2010/main" val="4136215509"/>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21" Type="http://schemas.openxmlformats.org/officeDocument/2006/relationships/image" Target="../media/image4.jpe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Title 1"/>
          <p:cNvSpPr txBox="1">
            <a:spLocks/>
          </p:cNvSpPr>
          <p:nvPr userDrawn="1"/>
        </p:nvSpPr>
        <p:spPr>
          <a:xfrm>
            <a:off x="1148443" y="294320"/>
            <a:ext cx="6847115" cy="73796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endParaRPr lang="en-US" dirty="0">
              <a:solidFill>
                <a:prstClr val="black"/>
              </a:solidFill>
            </a:endParaRPr>
          </a:p>
        </p:txBody>
      </p:sp>
      <p:sp>
        <p:nvSpPr>
          <p:cNvPr id="11" name="Date Placeholder 6"/>
          <p:cNvSpPr txBox="1">
            <a:spLocks/>
          </p:cNvSpPr>
          <p:nvPr userDrawn="1"/>
        </p:nvSpPr>
        <p:spPr>
          <a:xfrm>
            <a:off x="324390" y="6373654"/>
            <a:ext cx="1455965"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E4A7E44F-68F0-4AA3-A5C8-607811B8945D}" type="datetime1">
              <a:rPr lang="en-US" sz="1400" b="1" smtClean="0">
                <a:ln w="0"/>
                <a:solidFill>
                  <a:prstClr val="white"/>
                </a:solidFill>
                <a:effectLst>
                  <a:outerShdw blurRad="38100" dist="19050" dir="2700000" algn="tl" rotWithShape="0">
                    <a:prstClr val="black">
                      <a:alpha val="40000"/>
                    </a:prstClr>
                  </a:outerShdw>
                </a:effectLst>
                <a:latin typeface="Times New Roman" panose="02020603050405020304" pitchFamily="18" charset="0"/>
                <a:cs typeface="Times New Roman" panose="02020603050405020304" pitchFamily="18" charset="0"/>
              </a:rPr>
              <a:pPr algn="ctr"/>
              <a:t>15-Sep-23</a:t>
            </a:fld>
            <a:endParaRPr lang="en-US" sz="1400" b="1" dirty="0">
              <a:solidFill>
                <a:prstClr val="white"/>
              </a:solidFill>
              <a:latin typeface="Times New Roman" panose="02020603050405020304" pitchFamily="18" charset="0"/>
              <a:cs typeface="Times New Roman" panose="02020603050405020304" pitchFamily="18" charset="0"/>
            </a:endParaRPr>
          </a:p>
        </p:txBody>
      </p:sp>
      <p:sp>
        <p:nvSpPr>
          <p:cNvPr id="13" name="Slide Number Placeholder 8"/>
          <p:cNvSpPr txBox="1">
            <a:spLocks/>
          </p:cNvSpPr>
          <p:nvPr userDrawn="1"/>
        </p:nvSpPr>
        <p:spPr>
          <a:xfrm>
            <a:off x="8240198" y="6347051"/>
            <a:ext cx="601436"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EA8E0CFD-BB30-4A9F-B723-AE1386555E15}" type="slidenum">
              <a:rPr lang="en-US" sz="1400" b="1" smtClean="0">
                <a:solidFill>
                  <a:prstClr val="white"/>
                </a:solidFill>
                <a:latin typeface="Times New Roman" panose="02020603050405020304" pitchFamily="18" charset="0"/>
                <a:cs typeface="Times New Roman" panose="02020603050405020304" pitchFamily="18" charset="0"/>
              </a:rPr>
              <a:pPr algn="ctr"/>
              <a:t>‹#›</a:t>
            </a:fld>
            <a:endParaRPr lang="en-US" sz="1400" b="1" dirty="0">
              <a:solidFill>
                <a:prstClr val="white"/>
              </a:solidFill>
              <a:latin typeface="Times New Roman" panose="02020603050405020304" pitchFamily="18" charset="0"/>
              <a:cs typeface="Times New Roman" panose="02020603050405020304" pitchFamily="18" charset="0"/>
            </a:endParaRPr>
          </a:p>
        </p:txBody>
      </p:sp>
      <p:cxnSp>
        <p:nvCxnSpPr>
          <p:cNvPr id="26" name="Straight Connector 25"/>
          <p:cNvCxnSpPr/>
          <p:nvPr userDrawn="1"/>
        </p:nvCxnSpPr>
        <p:spPr>
          <a:xfrm>
            <a:off x="173929" y="524443"/>
            <a:ext cx="15020" cy="5873873"/>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userDrawn="1"/>
        </p:nvCxnSpPr>
        <p:spPr>
          <a:xfrm>
            <a:off x="8958782" y="135448"/>
            <a:ext cx="14374" cy="6100958"/>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userDrawn="1"/>
        </p:nvCxnSpPr>
        <p:spPr>
          <a:xfrm>
            <a:off x="429274" y="135448"/>
            <a:ext cx="8536694"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2" name="Curved Connector 31"/>
          <p:cNvCxnSpPr/>
          <p:nvPr userDrawn="1"/>
        </p:nvCxnSpPr>
        <p:spPr>
          <a:xfrm>
            <a:off x="188949" y="6398315"/>
            <a:ext cx="240325" cy="292996"/>
          </a:xfrm>
          <a:prstGeom prst="curvedConnector3">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3" name="Curved Connector 32"/>
          <p:cNvCxnSpPr/>
          <p:nvPr userDrawn="1"/>
        </p:nvCxnSpPr>
        <p:spPr>
          <a:xfrm rot="5400000">
            <a:off x="8611851" y="6330006"/>
            <a:ext cx="454905" cy="267707"/>
          </a:xfrm>
          <a:prstGeom prst="curvedConnector3">
            <a:avLst/>
          </a:prstGeom>
          <a:ln>
            <a:solidFill>
              <a:schemeClr val="accent2"/>
            </a:solidFill>
          </a:ln>
        </p:spPr>
        <p:style>
          <a:lnRef idx="1">
            <a:schemeClr val="accent1"/>
          </a:lnRef>
          <a:fillRef idx="0">
            <a:schemeClr val="accent1"/>
          </a:fillRef>
          <a:effectRef idx="0">
            <a:schemeClr val="accent1"/>
          </a:effectRef>
          <a:fontRef idx="minor">
            <a:schemeClr val="tx1"/>
          </a:fontRef>
        </p:style>
      </p:cxnSp>
      <p:pic>
        <p:nvPicPr>
          <p:cNvPr id="15" name="Picture 14">
            <a:extLst>
              <a:ext uri="{FF2B5EF4-FFF2-40B4-BE49-F238E27FC236}">
                <a16:creationId xmlns:a16="http://schemas.microsoft.com/office/drawing/2014/main" id="{8026AED6-E793-48A3-96AF-36A0D1FE2D70}"/>
              </a:ext>
            </a:extLst>
          </p:cNvPr>
          <p:cNvPicPr>
            <a:picLocks noChangeAspect="1"/>
          </p:cNvPicPr>
          <p:nvPr userDrawn="1"/>
        </p:nvPicPr>
        <p:blipFill>
          <a:blip r:embed="rId18"/>
          <a:stretch>
            <a:fillRect/>
          </a:stretch>
        </p:blipFill>
        <p:spPr>
          <a:xfrm>
            <a:off x="454" y="135448"/>
            <a:ext cx="425219" cy="6722552"/>
          </a:xfrm>
          <a:prstGeom prst="rect">
            <a:avLst/>
          </a:prstGeom>
        </p:spPr>
      </p:pic>
      <p:pic>
        <p:nvPicPr>
          <p:cNvPr id="16" name="Picture 15">
            <a:extLst>
              <a:ext uri="{FF2B5EF4-FFF2-40B4-BE49-F238E27FC236}">
                <a16:creationId xmlns:a16="http://schemas.microsoft.com/office/drawing/2014/main" id="{98F5ADD7-F579-4B31-B088-24730AEA76C9}"/>
              </a:ext>
            </a:extLst>
          </p:cNvPr>
          <p:cNvPicPr>
            <a:picLocks noChangeAspect="1"/>
          </p:cNvPicPr>
          <p:nvPr userDrawn="1"/>
        </p:nvPicPr>
        <p:blipFill>
          <a:blip r:embed="rId19"/>
          <a:stretch>
            <a:fillRect/>
          </a:stretch>
        </p:blipFill>
        <p:spPr>
          <a:xfrm>
            <a:off x="429588" y="135448"/>
            <a:ext cx="153343" cy="5305232"/>
          </a:xfrm>
          <a:prstGeom prst="rect">
            <a:avLst/>
          </a:prstGeom>
        </p:spPr>
      </p:pic>
      <p:pic>
        <p:nvPicPr>
          <p:cNvPr id="17" name="Picture 16" descr="A close up of a sign&#10;&#10;Description automatically generated">
            <a:extLst>
              <a:ext uri="{FF2B5EF4-FFF2-40B4-BE49-F238E27FC236}">
                <a16:creationId xmlns:a16="http://schemas.microsoft.com/office/drawing/2014/main" id="{C8EA3854-8902-4417-899A-DE9CBF528C1A}"/>
              </a:ext>
            </a:extLst>
          </p:cNvPr>
          <p:cNvPicPr>
            <a:picLocks noChangeAspect="1"/>
          </p:cNvPicPr>
          <p:nvPr userDrawn="1"/>
        </p:nvPicPr>
        <p:blipFill>
          <a:blip r:embed="rId20" cstate="print">
            <a:extLst>
              <a:ext uri="{28A0092B-C50C-407E-A947-70E740481C1C}">
                <a14:useLocalDpi xmlns:a14="http://schemas.microsoft.com/office/drawing/2010/main" val="0"/>
              </a:ext>
            </a:extLst>
          </a:blip>
          <a:stretch>
            <a:fillRect/>
          </a:stretch>
        </p:blipFill>
        <p:spPr>
          <a:xfrm>
            <a:off x="8321645" y="6043825"/>
            <a:ext cx="651512" cy="647487"/>
          </a:xfrm>
          <a:prstGeom prst="rect">
            <a:avLst/>
          </a:prstGeom>
        </p:spPr>
      </p:pic>
      <p:pic>
        <p:nvPicPr>
          <p:cNvPr id="18" name="Picture 17" descr="A picture containing drawing&#10;&#10;Description automatically generated">
            <a:extLst>
              <a:ext uri="{FF2B5EF4-FFF2-40B4-BE49-F238E27FC236}">
                <a16:creationId xmlns:a16="http://schemas.microsoft.com/office/drawing/2014/main" id="{DA3B82F8-7F36-4AE6-A785-76BCA479C67E}"/>
              </a:ext>
            </a:extLst>
          </p:cNvPr>
          <p:cNvPicPr>
            <a:picLocks noChangeAspect="1"/>
          </p:cNvPicPr>
          <p:nvPr userDrawn="1"/>
        </p:nvPicPr>
        <p:blipFill>
          <a:blip r:embed="rId21" cstate="print">
            <a:extLst>
              <a:ext uri="{28A0092B-C50C-407E-A947-70E740481C1C}">
                <a14:useLocalDpi xmlns:a14="http://schemas.microsoft.com/office/drawing/2010/main" val="0"/>
              </a:ext>
            </a:extLst>
          </a:blip>
          <a:stretch>
            <a:fillRect/>
          </a:stretch>
        </p:blipFill>
        <p:spPr>
          <a:xfrm>
            <a:off x="454" y="6214968"/>
            <a:ext cx="1991676" cy="663892"/>
          </a:xfrm>
          <a:prstGeom prst="rect">
            <a:avLst/>
          </a:prstGeom>
        </p:spPr>
      </p:pic>
      <p:pic>
        <p:nvPicPr>
          <p:cNvPr id="22" name="Picture 21">
            <a:extLst>
              <a:ext uri="{FF2B5EF4-FFF2-40B4-BE49-F238E27FC236}">
                <a16:creationId xmlns:a16="http://schemas.microsoft.com/office/drawing/2014/main" id="{1547C2F5-D0C4-4329-8DC2-48B66EE4F515}"/>
              </a:ext>
            </a:extLst>
          </p:cNvPr>
          <p:cNvPicPr>
            <a:picLocks noChangeAspect="1"/>
          </p:cNvPicPr>
          <p:nvPr userDrawn="1"/>
        </p:nvPicPr>
        <p:blipFill>
          <a:blip r:embed="rId18"/>
          <a:stretch>
            <a:fillRect/>
          </a:stretch>
        </p:blipFill>
        <p:spPr>
          <a:xfrm rot="5400000">
            <a:off x="4987623" y="3550281"/>
            <a:ext cx="385984" cy="6282060"/>
          </a:xfrm>
          <a:prstGeom prst="rect">
            <a:avLst/>
          </a:prstGeom>
        </p:spPr>
      </p:pic>
      <p:pic>
        <p:nvPicPr>
          <p:cNvPr id="23" name="Picture 22">
            <a:extLst>
              <a:ext uri="{FF2B5EF4-FFF2-40B4-BE49-F238E27FC236}">
                <a16:creationId xmlns:a16="http://schemas.microsoft.com/office/drawing/2014/main" id="{B15A553C-6E56-4E14-9B40-3D70033DB61F}"/>
              </a:ext>
            </a:extLst>
          </p:cNvPr>
          <p:cNvPicPr>
            <a:picLocks noChangeAspect="1"/>
          </p:cNvPicPr>
          <p:nvPr userDrawn="1"/>
        </p:nvPicPr>
        <p:blipFill>
          <a:blip r:embed="rId19"/>
          <a:stretch>
            <a:fillRect/>
          </a:stretch>
        </p:blipFill>
        <p:spPr>
          <a:xfrm rot="5400000">
            <a:off x="5093663" y="3283949"/>
            <a:ext cx="173904" cy="6282059"/>
          </a:xfrm>
          <a:prstGeom prst="rect">
            <a:avLst/>
          </a:prstGeom>
        </p:spPr>
      </p:pic>
    </p:spTree>
    <p:extLst>
      <p:ext uri="{BB962C8B-B14F-4D97-AF65-F5344CB8AC3E}">
        <p14:creationId xmlns:p14="http://schemas.microsoft.com/office/powerpoint/2010/main" val="157014873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6" r:id="rId15"/>
    <p:sldLayoutId id="2147483677" r:id="rId16"/>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6.xml"/><Relationship Id="rId5" Type="http://schemas.openxmlformats.org/officeDocument/2006/relationships/image" Target="../media/image4.jpe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hyperlink" Target="https://www.techtarget.com/whatis/definition/descriptive-analytics" TargetMode="External"/><Relationship Id="rId2" Type="http://schemas.openxmlformats.org/officeDocument/2006/relationships/notesSlide" Target="../notesSlides/notesSlide3.xml"/><Relationship Id="rId1" Type="http://schemas.openxmlformats.org/officeDocument/2006/relationships/slideLayout" Target="../slideLayouts/slideLayout3.xml"/><Relationship Id="rId5" Type="http://schemas.openxmlformats.org/officeDocument/2006/relationships/hyperlink" Target="https://www.techtarget.com/searchcio/definition/Prescriptive-analytics" TargetMode="External"/><Relationship Id="rId4" Type="http://schemas.openxmlformats.org/officeDocument/2006/relationships/hyperlink" Target="https://www.techtarget.com/searchbusinessanalytics/definition/predictive-analytics" TargetMode="External"/></Relationships>
</file>

<file path=ppt/slides/_rels/slide20.xml.rels><?xml version="1.0" encoding="UTF-8" standalone="yes"?>
<Relationships xmlns="http://schemas.openxmlformats.org/package/2006/relationships"><Relationship Id="rId3" Type="http://schemas.openxmlformats.org/officeDocument/2006/relationships/hyperlink" Target="https://www.techtarget.com/searchbusinessanalytics/definition/key-performance-indicators-KPIs" TargetMode="External"/><Relationship Id="rId2" Type="http://schemas.openxmlformats.org/officeDocument/2006/relationships/hyperlink" Target="https://www.techtarget.com/whatis/definition/descriptive-analytics" TargetMode="External"/><Relationship Id="rId1" Type="http://schemas.openxmlformats.org/officeDocument/2006/relationships/slideLayout" Target="../slideLayouts/slideLayout3.xml"/><Relationship Id="rId5" Type="http://schemas.openxmlformats.org/officeDocument/2006/relationships/hyperlink" Target="https://www.techtarget.com/searchcio/definition/Prescriptive-analytics" TargetMode="External"/><Relationship Id="rId4" Type="http://schemas.openxmlformats.org/officeDocument/2006/relationships/hyperlink" Target="https://www.techtarget.com/searchbusinessanalytics/definition/predictive-analytics"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hyperlink" Target="https://slate.com/news-and-politics/2013/07/warm-weather-homicide-rates-when-ice-cream-sales-rise-homicides-rise-coincidence.html" TargetMode="Externa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hyperlink" Target="http://www.tylervigen.com/spurious-correlations" TargetMode="External"/><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hyperlink" Target="https://www.mygreatlearning.com/pg-program-dsba?gl_blog_id=4343" TargetMode="Externa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3" Type="http://schemas.openxmlformats.org/officeDocument/2006/relationships/hyperlink" Target="https://excelr.in/business_analyst_course_mumbai/?utm_source=google&amp;utm_medium=cpc&amp;utm_term=business%20analytics%20training&amp;utm_content=572057223826&amp;utm_device=c&amp;utm_campaign=Search-DA_BA-MumbaiAndThane&amp;utm_adgroup=Search-BusinessAnalytics-Training-Phrase&amp;utm_location=Mumbai&amp;gclid=Cj0KCQjwpv2TBhDoARIsALBnVnkEmX0ShO0eXMMFk5DT2YyQL6_obU0NRWhTLUUv9IKdK3AnUZc8f5IaAtdHEALw_wcB" TargetMode="External"/><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hyperlink" Target="https://www.coursera.org/learn/wharton-customer-analytics?specialization=business-analytics" TargetMode="Externa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hyperlink" Target="https://analytics.hbs.edu/admissions/top-business-analytics-skills/" TargetMode="Externa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2" Type="http://schemas.openxmlformats.org/officeDocument/2006/relationships/hyperlink" Target="https://www.coursera.org/specializations/business-analytics" TargetMode="Externa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02094" y="1628800"/>
            <a:ext cx="7772400" cy="1470025"/>
          </a:xfrm>
        </p:spPr>
        <p:txBody>
          <a:bodyPr>
            <a:normAutofit fontScale="90000"/>
          </a:bodyPr>
          <a:lstStyle/>
          <a:p>
            <a:pPr algn="ctr"/>
            <a:r>
              <a:rPr lang="en-IN" sz="5400" dirty="0">
                <a:solidFill>
                  <a:srgbClr val="C00000"/>
                </a:solidFill>
                <a:latin typeface="Marcellus" panose="020E0602050203020307" pitchFamily="34" charset="0"/>
              </a:rPr>
              <a:t>Introduction to Data Analytics</a:t>
            </a:r>
          </a:p>
        </p:txBody>
      </p:sp>
      <p:sp>
        <p:nvSpPr>
          <p:cNvPr id="3" name="Subtitle 2"/>
          <p:cNvSpPr>
            <a:spLocks noGrp="1"/>
          </p:cNvSpPr>
          <p:nvPr>
            <p:ph type="subTitle" idx="1"/>
          </p:nvPr>
        </p:nvSpPr>
        <p:spPr>
          <a:xfrm>
            <a:off x="1043608" y="4465508"/>
            <a:ext cx="7734334" cy="1752600"/>
          </a:xfrm>
        </p:spPr>
        <p:txBody>
          <a:bodyPr>
            <a:noAutofit/>
          </a:bodyPr>
          <a:lstStyle/>
          <a:p>
            <a:pPr algn="ctr"/>
            <a:r>
              <a:rPr lang="en-IN" sz="2000" dirty="0">
                <a:solidFill>
                  <a:schemeClr val="tx1">
                    <a:lumMod val="85000"/>
                    <a:lumOff val="15000"/>
                  </a:schemeClr>
                </a:solidFill>
                <a:latin typeface="Marcellus" panose="020E0602050203020307" pitchFamily="34" charset="0"/>
              </a:rPr>
              <a:t>Assistant Professor</a:t>
            </a:r>
          </a:p>
          <a:p>
            <a:pPr algn="ctr"/>
            <a:r>
              <a:rPr lang="en-IN" sz="2000" dirty="0">
                <a:solidFill>
                  <a:schemeClr val="tx1">
                    <a:lumMod val="85000"/>
                    <a:lumOff val="15000"/>
                  </a:schemeClr>
                </a:solidFill>
                <a:latin typeface="Marcellus" panose="020E0602050203020307" pitchFamily="34" charset="0"/>
              </a:rPr>
              <a:t>Department of Computer Engineering </a:t>
            </a:r>
          </a:p>
          <a:p>
            <a:pPr algn="ctr"/>
            <a:r>
              <a:rPr lang="en-IN" sz="2000" dirty="0">
                <a:solidFill>
                  <a:schemeClr val="tx1">
                    <a:lumMod val="85000"/>
                    <a:lumOff val="15000"/>
                  </a:schemeClr>
                </a:solidFill>
                <a:latin typeface="Marcellus" panose="020E0602050203020307" pitchFamily="34" charset="0"/>
              </a:rPr>
              <a:t>K. J. Somaiya College of Engineering</a:t>
            </a:r>
          </a:p>
          <a:p>
            <a:pPr algn="ctr"/>
            <a:r>
              <a:rPr lang="en-IN" sz="2000" dirty="0">
                <a:solidFill>
                  <a:schemeClr val="tx1">
                    <a:lumMod val="85000"/>
                    <a:lumOff val="15000"/>
                  </a:schemeClr>
                </a:solidFill>
                <a:latin typeface="Marcellus" panose="020E0602050203020307" pitchFamily="34" charset="0"/>
              </a:rPr>
              <a:t>Somaiya </a:t>
            </a:r>
            <a:r>
              <a:rPr lang="en-IN" sz="2000" dirty="0" err="1">
                <a:solidFill>
                  <a:schemeClr val="tx1">
                    <a:lumMod val="85000"/>
                    <a:lumOff val="15000"/>
                  </a:schemeClr>
                </a:solidFill>
                <a:latin typeface="Marcellus" panose="020E0602050203020307" pitchFamily="34" charset="0"/>
              </a:rPr>
              <a:t>Vidyavihar</a:t>
            </a:r>
            <a:r>
              <a:rPr lang="en-IN" sz="2000" dirty="0">
                <a:solidFill>
                  <a:schemeClr val="tx1">
                    <a:lumMod val="85000"/>
                    <a:lumOff val="15000"/>
                  </a:schemeClr>
                </a:solidFill>
                <a:latin typeface="Marcellus" panose="020E0602050203020307" pitchFamily="34" charset="0"/>
              </a:rPr>
              <a:t> University</a:t>
            </a:r>
          </a:p>
        </p:txBody>
      </p:sp>
      <p:pic>
        <p:nvPicPr>
          <p:cNvPr id="4" name="Picture 3">
            <a:extLst>
              <a:ext uri="{FF2B5EF4-FFF2-40B4-BE49-F238E27FC236}">
                <a16:creationId xmlns:a16="http://schemas.microsoft.com/office/drawing/2014/main" id="{8026AED6-E793-48A3-96AF-36A0D1FE2D70}"/>
              </a:ext>
            </a:extLst>
          </p:cNvPr>
          <p:cNvPicPr>
            <a:picLocks noChangeAspect="1"/>
          </p:cNvPicPr>
          <p:nvPr/>
        </p:nvPicPr>
        <p:blipFill>
          <a:blip r:embed="rId3"/>
          <a:stretch>
            <a:fillRect/>
          </a:stretch>
        </p:blipFill>
        <p:spPr>
          <a:xfrm>
            <a:off x="454" y="2220"/>
            <a:ext cx="425219" cy="6855781"/>
          </a:xfrm>
          <a:prstGeom prst="rect">
            <a:avLst/>
          </a:prstGeom>
        </p:spPr>
      </p:pic>
      <p:pic>
        <p:nvPicPr>
          <p:cNvPr id="5" name="Picture 4">
            <a:extLst>
              <a:ext uri="{FF2B5EF4-FFF2-40B4-BE49-F238E27FC236}">
                <a16:creationId xmlns:a16="http://schemas.microsoft.com/office/drawing/2014/main" id="{98F5ADD7-F579-4B31-B088-24730AEA76C9}"/>
              </a:ext>
            </a:extLst>
          </p:cNvPr>
          <p:cNvPicPr>
            <a:picLocks noChangeAspect="1"/>
          </p:cNvPicPr>
          <p:nvPr/>
        </p:nvPicPr>
        <p:blipFill>
          <a:blip r:embed="rId4"/>
          <a:stretch>
            <a:fillRect/>
          </a:stretch>
        </p:blipFill>
        <p:spPr>
          <a:xfrm>
            <a:off x="425673" y="0"/>
            <a:ext cx="157258" cy="5440680"/>
          </a:xfrm>
          <a:prstGeom prst="rect">
            <a:avLst/>
          </a:prstGeom>
        </p:spPr>
      </p:pic>
      <p:pic>
        <p:nvPicPr>
          <p:cNvPr id="7" name="Picture 6" descr="A picture containing drawing&#10;&#10;Description automatically generated">
            <a:extLst>
              <a:ext uri="{FF2B5EF4-FFF2-40B4-BE49-F238E27FC236}">
                <a16:creationId xmlns:a16="http://schemas.microsoft.com/office/drawing/2014/main" id="{DA3B82F8-7F36-4AE6-A785-76BCA479C67E}"/>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82930" y="2219"/>
            <a:ext cx="1991676" cy="663892"/>
          </a:xfrm>
          <a:prstGeom prst="rect">
            <a:avLst/>
          </a:prstGeom>
        </p:spPr>
      </p:pic>
      <p:sp>
        <p:nvSpPr>
          <p:cNvPr id="8" name="Footer Placeholder 7"/>
          <p:cNvSpPr>
            <a:spLocks noGrp="1"/>
          </p:cNvSpPr>
          <p:nvPr>
            <p:ph type="ftr" sz="quarter" idx="4294967295"/>
          </p:nvPr>
        </p:nvSpPr>
        <p:spPr>
          <a:xfrm>
            <a:off x="3028950" y="6356351"/>
            <a:ext cx="3086100" cy="365125"/>
          </a:xfrm>
          <a:prstGeom prst="rect">
            <a:avLst/>
          </a:prstGeom>
        </p:spPr>
        <p:txBody>
          <a:bodyPr/>
          <a:lstStyle/>
          <a:p>
            <a:r>
              <a:rPr lang="fi-FI" dirty="0"/>
              <a:t>vaibhav.vasani@gmail.com</a:t>
            </a:r>
            <a:endParaRPr lang="en-US" dirty="0"/>
          </a:p>
        </p:txBody>
      </p:sp>
      <p:sp>
        <p:nvSpPr>
          <p:cNvPr id="9" name="Rectangle 8"/>
          <p:cNvSpPr/>
          <p:nvPr/>
        </p:nvSpPr>
        <p:spPr>
          <a:xfrm>
            <a:off x="1578768" y="3372901"/>
            <a:ext cx="6812008" cy="461665"/>
          </a:xfrm>
          <a:prstGeom prst="rect">
            <a:avLst/>
          </a:prstGeom>
        </p:spPr>
        <p:txBody>
          <a:bodyPr wrap="square">
            <a:spAutoFit/>
          </a:bodyPr>
          <a:lstStyle/>
          <a:p>
            <a:pPr algn="ctr"/>
            <a:r>
              <a:rPr lang="en-IN" sz="2400" dirty="0">
                <a:solidFill>
                  <a:schemeClr val="tx1">
                    <a:lumMod val="85000"/>
                    <a:lumOff val="15000"/>
                  </a:schemeClr>
                </a:solidFill>
                <a:latin typeface="Marcellus" panose="020E0602050203020307" pitchFamily="34" charset="0"/>
              </a:rPr>
              <a:t>Vaibhav P. Vasani</a:t>
            </a:r>
          </a:p>
        </p:txBody>
      </p:sp>
    </p:spTree>
    <p:extLst>
      <p:ext uri="{BB962C8B-B14F-4D97-AF65-F5344CB8AC3E}">
        <p14:creationId xmlns:p14="http://schemas.microsoft.com/office/powerpoint/2010/main" val="4200153857"/>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Analytics vs Analysis</a:t>
            </a:r>
            <a:endParaRPr lang="en-IN" dirty="0"/>
          </a:p>
        </p:txBody>
      </p:sp>
      <p:sp>
        <p:nvSpPr>
          <p:cNvPr id="3" name="Content Placeholder 2"/>
          <p:cNvSpPr>
            <a:spLocks noGrp="1"/>
          </p:cNvSpPr>
          <p:nvPr>
            <p:ph idx="1"/>
          </p:nvPr>
        </p:nvSpPr>
        <p:spPr/>
        <p:txBody>
          <a:bodyPr/>
          <a:lstStyle/>
          <a:p>
            <a:r>
              <a:rPr lang="en-IN" dirty="0"/>
              <a:t>Are They Same ?</a:t>
            </a:r>
          </a:p>
        </p:txBody>
      </p:sp>
      <p:sp>
        <p:nvSpPr>
          <p:cNvPr id="4" name="Content Placeholder 2">
            <a:extLst>
              <a:ext uri="{FF2B5EF4-FFF2-40B4-BE49-F238E27FC236}">
                <a16:creationId xmlns:a16="http://schemas.microsoft.com/office/drawing/2014/main" id="{DBDC3E4E-4374-8D97-A01D-5EA9C8423649}"/>
              </a:ext>
            </a:extLst>
          </p:cNvPr>
          <p:cNvSpPr txBox="1">
            <a:spLocks/>
          </p:cNvSpPr>
          <p:nvPr/>
        </p:nvSpPr>
        <p:spPr>
          <a:xfrm>
            <a:off x="700004" y="1988841"/>
            <a:ext cx="8120468" cy="1584176"/>
          </a:xfrm>
          <a:prstGeom prst="rect">
            <a:avLst/>
          </a:prstGeom>
        </p:spPr>
        <p:txBody>
          <a:bodyPr vert="horz" lIns="91440" tIns="45720" rIns="91440" bIns="45720" rtlCol="0">
            <a:normAutofit/>
          </a:bodyPr>
          <a:lstStyle>
            <a:lvl1pPr marL="285750" indent="-28575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Times New Roman" panose="02020603050405020304" pitchFamily="18" charset="0"/>
              </a:defRPr>
            </a:lvl1pPr>
            <a:lvl2pPr marL="742950" indent="-285750" algn="l" defTabSz="914400" rtl="0" eaLnBrk="1" latinLnBrk="0" hangingPunct="1">
              <a:lnSpc>
                <a:spcPct val="90000"/>
              </a:lnSpc>
              <a:spcBef>
                <a:spcPts val="500"/>
              </a:spcBef>
              <a:buFont typeface="Courier New" panose="02070309020205020404" pitchFamily="49" charset="0"/>
              <a:buChar char="o"/>
              <a:defRPr sz="2400" kern="1200">
                <a:solidFill>
                  <a:schemeClr val="tx1"/>
                </a:solidFill>
                <a:latin typeface="Times New Roman" panose="02020603050405020304" pitchFamily="18" charset="0"/>
                <a:ea typeface="+mn-ea"/>
                <a:cs typeface="Times New Roman" panose="02020603050405020304" pitchFamily="18" charset="0"/>
              </a:defRPr>
            </a:lvl2pPr>
            <a:lvl3pPr marL="1200150" indent="-137160" algn="l" defTabSz="914400" rtl="0" eaLnBrk="1" latinLnBrk="0" hangingPunct="1">
              <a:lnSpc>
                <a:spcPct val="90000"/>
              </a:lnSpc>
              <a:spcBef>
                <a:spcPts val="500"/>
              </a:spcBef>
              <a:buFont typeface="Calibri" panose="020F0502020204030204" pitchFamily="34" charset="0"/>
              <a:buChar char="−"/>
              <a:defRPr sz="20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dirty="0"/>
              <a:t>The answer is ‘No! they are not the same. </a:t>
            </a:r>
          </a:p>
          <a:p>
            <a:r>
              <a:rPr lang="en-IN" dirty="0"/>
              <a:t>There is not much importance for both the terms Data Analytics and Data Analysis without the Data.</a:t>
            </a:r>
          </a:p>
        </p:txBody>
      </p:sp>
    </p:spTree>
    <p:extLst>
      <p:ext uri="{BB962C8B-B14F-4D97-AF65-F5344CB8AC3E}">
        <p14:creationId xmlns:p14="http://schemas.microsoft.com/office/powerpoint/2010/main" val="37169311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 Data Analytics </a:t>
            </a:r>
          </a:p>
        </p:txBody>
      </p:sp>
      <p:sp>
        <p:nvSpPr>
          <p:cNvPr id="3" name="Content Placeholder 2"/>
          <p:cNvSpPr>
            <a:spLocks noGrp="1"/>
          </p:cNvSpPr>
          <p:nvPr>
            <p:ph idx="1"/>
          </p:nvPr>
        </p:nvSpPr>
        <p:spPr/>
        <p:txBody>
          <a:bodyPr>
            <a:normAutofit fontScale="85000" lnSpcReduction="20000"/>
          </a:bodyPr>
          <a:lstStyle/>
          <a:p>
            <a:r>
              <a:rPr lang="en-IN" dirty="0"/>
              <a:t>Analytics is a technique of converting raw facts and figures into some particular actions by </a:t>
            </a:r>
            <a:r>
              <a:rPr lang="en-IN" dirty="0" err="1"/>
              <a:t>analyzing</a:t>
            </a:r>
            <a:r>
              <a:rPr lang="en-IN" dirty="0"/>
              <a:t> those raw data evaluations and perceptions in the context of organizational problem-solving and also with the decision making. </a:t>
            </a:r>
          </a:p>
          <a:p>
            <a:r>
              <a:rPr lang="en-IN" dirty="0"/>
              <a:t>Analytics is the discovery and conversation of significant patterns in data. </a:t>
            </a:r>
          </a:p>
          <a:p>
            <a:r>
              <a:rPr lang="en-IN" dirty="0"/>
              <a:t>Especially, precious in areas prosperous with recorded information, analytics depends on the simultaneous utility of statistics, computer programming, and operation lookup to qualify performance. </a:t>
            </a:r>
          </a:p>
          <a:p>
            <a:r>
              <a:rPr lang="en-IN" dirty="0"/>
              <a:t>Analytics frequently </a:t>
            </a:r>
            <a:r>
              <a:rPr lang="en-IN" dirty="0" err="1"/>
              <a:t>favors</a:t>
            </a:r>
            <a:r>
              <a:rPr lang="en-IN" dirty="0"/>
              <a:t> data visualization to talk insight. </a:t>
            </a:r>
          </a:p>
          <a:p>
            <a:r>
              <a:rPr lang="en-IN" dirty="0"/>
              <a:t>The aim of Data Analytics is to get actionable insights ensuing in smarter selections and higher commercial enterprise outcomes.</a:t>
            </a:r>
          </a:p>
        </p:txBody>
      </p:sp>
    </p:spTree>
    <p:extLst>
      <p:ext uri="{BB962C8B-B14F-4D97-AF65-F5344CB8AC3E}">
        <p14:creationId xmlns:p14="http://schemas.microsoft.com/office/powerpoint/2010/main" val="10054856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Data Analysis</a:t>
            </a:r>
            <a:endParaRPr lang="en-IN" dirty="0"/>
          </a:p>
        </p:txBody>
      </p:sp>
      <p:sp>
        <p:nvSpPr>
          <p:cNvPr id="3" name="Content Placeholder 2"/>
          <p:cNvSpPr>
            <a:spLocks noGrp="1"/>
          </p:cNvSpPr>
          <p:nvPr>
            <p:ph idx="1"/>
          </p:nvPr>
        </p:nvSpPr>
        <p:spPr/>
        <p:txBody>
          <a:bodyPr/>
          <a:lstStyle/>
          <a:p>
            <a:r>
              <a:rPr lang="en-IN" dirty="0"/>
              <a:t>It is the technique of observing, transforming, cleaning, and modelling raw facts and figures with the purpose of developing beneficial information and acquiring profitable conclusions.</a:t>
            </a:r>
          </a:p>
        </p:txBody>
      </p:sp>
    </p:spTree>
    <p:extLst>
      <p:ext uri="{BB962C8B-B14F-4D97-AF65-F5344CB8AC3E}">
        <p14:creationId xmlns:p14="http://schemas.microsoft.com/office/powerpoint/2010/main" val="9918574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IN" dirty="0"/>
              <a:t>Literally, “Analysis” is the detailed examination of the elements or structure of something. </a:t>
            </a:r>
          </a:p>
          <a:p>
            <a:r>
              <a:rPr lang="en-IN" dirty="0"/>
              <a:t>On the other side “Analytics” is the systematic computational analysis of data or statistics. </a:t>
            </a:r>
          </a:p>
        </p:txBody>
      </p:sp>
      <p:sp>
        <p:nvSpPr>
          <p:cNvPr id="4" name="Content Placeholder 2">
            <a:extLst>
              <a:ext uri="{FF2B5EF4-FFF2-40B4-BE49-F238E27FC236}">
                <a16:creationId xmlns:a16="http://schemas.microsoft.com/office/drawing/2014/main" id="{54DCB5A3-70BE-AB99-9BA8-48E8E89D811B}"/>
              </a:ext>
            </a:extLst>
          </p:cNvPr>
          <p:cNvSpPr txBox="1">
            <a:spLocks/>
          </p:cNvSpPr>
          <p:nvPr/>
        </p:nvSpPr>
        <p:spPr>
          <a:xfrm>
            <a:off x="700004" y="3284984"/>
            <a:ext cx="8229600" cy="1728192"/>
          </a:xfrm>
          <a:prstGeom prst="rect">
            <a:avLst/>
          </a:prstGeom>
        </p:spPr>
        <p:txBody>
          <a:bodyPr vert="horz" lIns="91440" tIns="45720" rIns="91440" bIns="45720" rtlCol="0">
            <a:normAutofit/>
          </a:bodyPr>
          <a:lstStyle>
            <a:lvl1pPr marL="285750" indent="-28575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Times New Roman" panose="02020603050405020304" pitchFamily="18" charset="0"/>
              </a:defRPr>
            </a:lvl1pPr>
            <a:lvl2pPr marL="742950" indent="-285750" algn="l" defTabSz="914400" rtl="0" eaLnBrk="1" latinLnBrk="0" hangingPunct="1">
              <a:lnSpc>
                <a:spcPct val="90000"/>
              </a:lnSpc>
              <a:spcBef>
                <a:spcPts val="500"/>
              </a:spcBef>
              <a:buFont typeface="Courier New" panose="02070309020205020404" pitchFamily="49" charset="0"/>
              <a:buChar char="o"/>
              <a:defRPr sz="2400" kern="1200">
                <a:solidFill>
                  <a:schemeClr val="tx1"/>
                </a:solidFill>
                <a:latin typeface="Times New Roman" panose="02020603050405020304" pitchFamily="18" charset="0"/>
                <a:ea typeface="+mn-ea"/>
                <a:cs typeface="Times New Roman" panose="02020603050405020304" pitchFamily="18" charset="0"/>
              </a:defRPr>
            </a:lvl2pPr>
            <a:lvl3pPr marL="1200150" indent="-137160" algn="l" defTabSz="914400" rtl="0" eaLnBrk="1" latinLnBrk="0" hangingPunct="1">
              <a:lnSpc>
                <a:spcPct val="90000"/>
              </a:lnSpc>
              <a:spcBef>
                <a:spcPts val="500"/>
              </a:spcBef>
              <a:buFont typeface="Calibri" panose="020F0502020204030204" pitchFamily="34" charset="0"/>
              <a:buChar char="−"/>
              <a:defRPr sz="20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a:t> Data Analysis is actually a subset of Data Analytics which helps us to understand the data by questioning and to collect useful insights from the information already available.</a:t>
            </a:r>
            <a:endParaRPr lang="en-IN" dirty="0"/>
          </a:p>
        </p:txBody>
      </p:sp>
    </p:spTree>
    <p:extLst>
      <p:ext uri="{BB962C8B-B14F-4D97-AF65-F5344CB8AC3E}">
        <p14:creationId xmlns:p14="http://schemas.microsoft.com/office/powerpoint/2010/main" val="34331156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1026" name="Picture 2"/>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389707" y="1323975"/>
            <a:ext cx="6850361"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451988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IN" dirty="0"/>
              <a:t>Data Analytics Vs Data Analysis</a:t>
            </a:r>
            <a:br>
              <a:rPr lang="en-IN" dirty="0"/>
            </a:br>
            <a:endParaRPr lang="en-IN"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4066202684"/>
              </p:ext>
            </p:extLst>
          </p:nvPr>
        </p:nvGraphicFramePr>
        <p:xfrm>
          <a:off x="827584" y="1124744"/>
          <a:ext cx="8064896" cy="4747260"/>
        </p:xfrm>
        <a:graphic>
          <a:graphicData uri="http://schemas.openxmlformats.org/drawingml/2006/table">
            <a:tbl>
              <a:tblPr firstRow="1" bandRow="1">
                <a:tableStyleId>{5C22544A-7EE6-4342-B048-85BDC9FD1C3A}</a:tableStyleId>
              </a:tblPr>
              <a:tblGrid>
                <a:gridCol w="775568">
                  <a:extLst>
                    <a:ext uri="{9D8B030D-6E8A-4147-A177-3AD203B41FA5}">
                      <a16:colId xmlns:a16="http://schemas.microsoft.com/office/drawing/2014/main" val="20000"/>
                    </a:ext>
                  </a:extLst>
                </a:gridCol>
                <a:gridCol w="3384376">
                  <a:extLst>
                    <a:ext uri="{9D8B030D-6E8A-4147-A177-3AD203B41FA5}">
                      <a16:colId xmlns:a16="http://schemas.microsoft.com/office/drawing/2014/main" val="20001"/>
                    </a:ext>
                  </a:extLst>
                </a:gridCol>
                <a:gridCol w="3904952">
                  <a:extLst>
                    <a:ext uri="{9D8B030D-6E8A-4147-A177-3AD203B41FA5}">
                      <a16:colId xmlns:a16="http://schemas.microsoft.com/office/drawing/2014/main" val="20002"/>
                    </a:ext>
                  </a:extLst>
                </a:gridCol>
              </a:tblGrid>
              <a:tr h="370840">
                <a:tc>
                  <a:txBody>
                    <a:bodyPr/>
                    <a:lstStyle/>
                    <a:p>
                      <a:pPr algn="l" fontAlgn="base"/>
                      <a:r>
                        <a:rPr lang="en-IN" sz="1400" b="0" dirty="0">
                          <a:effectLst/>
                        </a:rPr>
                        <a:t>Sr. No.</a:t>
                      </a:r>
                    </a:p>
                  </a:txBody>
                  <a:tcPr marL="95250" marR="95250" marT="95250" marB="95250" anchor="ctr"/>
                </a:tc>
                <a:tc>
                  <a:txBody>
                    <a:bodyPr/>
                    <a:lstStyle/>
                    <a:p>
                      <a:pPr algn="l" fontAlgn="base"/>
                      <a:r>
                        <a:rPr lang="en-IN" sz="1400" b="0" dirty="0">
                          <a:effectLst/>
                        </a:rPr>
                        <a:t>Data Analytics</a:t>
                      </a:r>
                    </a:p>
                  </a:txBody>
                  <a:tcPr marL="95250" marR="95250" marT="95250" marB="95250" anchor="ctr"/>
                </a:tc>
                <a:tc>
                  <a:txBody>
                    <a:bodyPr/>
                    <a:lstStyle/>
                    <a:p>
                      <a:pPr algn="l" fontAlgn="base"/>
                      <a:r>
                        <a:rPr lang="en-IN" sz="1400" b="0" dirty="0">
                          <a:effectLst/>
                        </a:rPr>
                        <a:t>Data Analysis</a:t>
                      </a:r>
                    </a:p>
                  </a:txBody>
                  <a:tcPr marL="95250" marR="95250" marT="95250" marB="95250" anchor="ctr"/>
                </a:tc>
                <a:extLst>
                  <a:ext uri="{0D108BD9-81ED-4DB2-BD59-A6C34878D82A}">
                    <a16:rowId xmlns:a16="http://schemas.microsoft.com/office/drawing/2014/main" val="10000"/>
                  </a:ext>
                </a:extLst>
              </a:tr>
              <a:tr h="370840">
                <a:tc>
                  <a:txBody>
                    <a:bodyPr/>
                    <a:lstStyle/>
                    <a:p>
                      <a:pPr algn="ctr" fontAlgn="base"/>
                      <a:r>
                        <a:rPr lang="en-IN" sz="1250" b="0" dirty="0">
                          <a:effectLst/>
                        </a:rPr>
                        <a:t>1.</a:t>
                      </a:r>
                    </a:p>
                  </a:txBody>
                  <a:tcPr marL="95250" marR="95250" marT="133350" marB="133350" anchor="ctr"/>
                </a:tc>
                <a:tc>
                  <a:txBody>
                    <a:bodyPr/>
                    <a:lstStyle/>
                    <a:p>
                      <a:pPr algn="l" fontAlgn="base"/>
                      <a:r>
                        <a:rPr lang="en-IN" sz="1250" b="0">
                          <a:effectLst/>
                        </a:rPr>
                        <a:t>It is described as a traditional form or generic form of analytics.</a:t>
                      </a:r>
                    </a:p>
                  </a:txBody>
                  <a:tcPr marL="95250" marR="95250" marT="133350" marB="133350" anchor="ctr"/>
                </a:tc>
                <a:tc>
                  <a:txBody>
                    <a:bodyPr/>
                    <a:lstStyle/>
                    <a:p>
                      <a:pPr algn="l" fontAlgn="base"/>
                      <a:r>
                        <a:rPr lang="en-IN" sz="1250" b="0">
                          <a:effectLst/>
                        </a:rPr>
                        <a:t>It is described as a particularized form of analytics.</a:t>
                      </a:r>
                    </a:p>
                  </a:txBody>
                  <a:tcPr marL="95250" marR="95250" marT="133350" marB="133350" anchor="ctr"/>
                </a:tc>
                <a:extLst>
                  <a:ext uri="{0D108BD9-81ED-4DB2-BD59-A6C34878D82A}">
                    <a16:rowId xmlns:a16="http://schemas.microsoft.com/office/drawing/2014/main" val="10001"/>
                  </a:ext>
                </a:extLst>
              </a:tr>
              <a:tr h="370840">
                <a:tc>
                  <a:txBody>
                    <a:bodyPr/>
                    <a:lstStyle/>
                    <a:p>
                      <a:pPr algn="ctr" fontAlgn="base"/>
                      <a:r>
                        <a:rPr lang="en-IN" sz="1250" b="0" dirty="0">
                          <a:effectLst/>
                        </a:rPr>
                        <a:t>2.</a:t>
                      </a:r>
                    </a:p>
                  </a:txBody>
                  <a:tcPr marL="95250" marR="95250" marT="133350" marB="133350" anchor="ctr"/>
                </a:tc>
                <a:tc>
                  <a:txBody>
                    <a:bodyPr/>
                    <a:lstStyle/>
                    <a:p>
                      <a:pPr algn="l" fontAlgn="base"/>
                      <a:r>
                        <a:rPr lang="en-IN" sz="1250" b="0">
                          <a:effectLst/>
                        </a:rPr>
                        <a:t>It includes several stages like the collection of data and then the inspection of business data is done.</a:t>
                      </a:r>
                    </a:p>
                  </a:txBody>
                  <a:tcPr marL="95250" marR="95250" marT="133350" marB="133350" anchor="ctr"/>
                </a:tc>
                <a:tc>
                  <a:txBody>
                    <a:bodyPr/>
                    <a:lstStyle/>
                    <a:p>
                      <a:pPr algn="l" fontAlgn="base"/>
                      <a:r>
                        <a:rPr lang="en-IN" sz="1250" b="0">
                          <a:effectLst/>
                        </a:rPr>
                        <a:t>To process data, firstly raw data is defined in a meaningful manner, then data cleaning and conversion are done to get meaningful information from raw data.</a:t>
                      </a:r>
                    </a:p>
                  </a:txBody>
                  <a:tcPr marL="95250" marR="95250" marT="133350" marB="133350" anchor="ctr"/>
                </a:tc>
                <a:extLst>
                  <a:ext uri="{0D108BD9-81ED-4DB2-BD59-A6C34878D82A}">
                    <a16:rowId xmlns:a16="http://schemas.microsoft.com/office/drawing/2014/main" val="10002"/>
                  </a:ext>
                </a:extLst>
              </a:tr>
              <a:tr h="370840">
                <a:tc>
                  <a:txBody>
                    <a:bodyPr/>
                    <a:lstStyle/>
                    <a:p>
                      <a:pPr algn="ctr" fontAlgn="base"/>
                      <a:r>
                        <a:rPr lang="en-IN" sz="1250" b="0" dirty="0">
                          <a:effectLst/>
                        </a:rPr>
                        <a:t>3.</a:t>
                      </a:r>
                    </a:p>
                  </a:txBody>
                  <a:tcPr marL="95250" marR="95250" marT="133350" marB="133350" anchor="ctr"/>
                </a:tc>
                <a:tc>
                  <a:txBody>
                    <a:bodyPr/>
                    <a:lstStyle/>
                    <a:p>
                      <a:pPr algn="l" fontAlgn="base"/>
                      <a:r>
                        <a:rPr lang="en-IN" sz="1250" b="0">
                          <a:effectLst/>
                        </a:rPr>
                        <a:t>It supports decision making by analyzing enterprise data.</a:t>
                      </a:r>
                    </a:p>
                  </a:txBody>
                  <a:tcPr marL="95250" marR="95250" marT="133350" marB="133350" anchor="ctr"/>
                </a:tc>
                <a:tc>
                  <a:txBody>
                    <a:bodyPr/>
                    <a:lstStyle/>
                    <a:p>
                      <a:pPr algn="l" fontAlgn="base"/>
                      <a:r>
                        <a:rPr lang="en-IN" sz="1250" b="0">
                          <a:effectLst/>
                        </a:rPr>
                        <a:t>It analyzes the data by focusing on insights into business data.</a:t>
                      </a:r>
                    </a:p>
                  </a:txBody>
                  <a:tcPr marL="95250" marR="95250" marT="133350" marB="133350" anchor="ctr"/>
                </a:tc>
                <a:extLst>
                  <a:ext uri="{0D108BD9-81ED-4DB2-BD59-A6C34878D82A}">
                    <a16:rowId xmlns:a16="http://schemas.microsoft.com/office/drawing/2014/main" val="10003"/>
                  </a:ext>
                </a:extLst>
              </a:tr>
              <a:tr h="370840">
                <a:tc>
                  <a:txBody>
                    <a:bodyPr/>
                    <a:lstStyle/>
                    <a:p>
                      <a:pPr algn="ctr" fontAlgn="base"/>
                      <a:r>
                        <a:rPr lang="en-IN" sz="1250" b="0" dirty="0">
                          <a:effectLst/>
                        </a:rPr>
                        <a:t>4.</a:t>
                      </a:r>
                    </a:p>
                  </a:txBody>
                  <a:tcPr marL="95250" marR="95250" marT="133350" marB="133350" anchor="ctr"/>
                </a:tc>
                <a:tc>
                  <a:txBody>
                    <a:bodyPr/>
                    <a:lstStyle/>
                    <a:p>
                      <a:pPr algn="l" fontAlgn="base"/>
                      <a:r>
                        <a:rPr lang="en-IN" sz="1250" b="0" dirty="0">
                          <a:effectLst/>
                        </a:rPr>
                        <a:t>It uses various tools to process data such as Tableau, Python, Excel, etc.</a:t>
                      </a:r>
                    </a:p>
                  </a:txBody>
                  <a:tcPr marL="95250" marR="95250" marT="133350" marB="133350" anchor="ctr"/>
                </a:tc>
                <a:tc>
                  <a:txBody>
                    <a:bodyPr/>
                    <a:lstStyle/>
                    <a:p>
                      <a:pPr algn="l" fontAlgn="base"/>
                      <a:r>
                        <a:rPr lang="en-IN" sz="1250" b="0">
                          <a:effectLst/>
                        </a:rPr>
                        <a:t>It uses different tools to analyze data such as Rapid Miner, Open Refine, Node XL, KNIME, etc.</a:t>
                      </a:r>
                    </a:p>
                  </a:txBody>
                  <a:tcPr marL="95250" marR="95250" marT="133350" marB="133350" anchor="ctr"/>
                </a:tc>
                <a:extLst>
                  <a:ext uri="{0D108BD9-81ED-4DB2-BD59-A6C34878D82A}">
                    <a16:rowId xmlns:a16="http://schemas.microsoft.com/office/drawing/2014/main" val="10004"/>
                  </a:ext>
                </a:extLst>
              </a:tr>
              <a:tr h="370840">
                <a:tc>
                  <a:txBody>
                    <a:bodyPr/>
                    <a:lstStyle/>
                    <a:p>
                      <a:pPr algn="ctr" fontAlgn="base"/>
                      <a:r>
                        <a:rPr lang="en-IN" sz="1250" b="0" dirty="0">
                          <a:effectLst/>
                        </a:rPr>
                        <a:t>5.</a:t>
                      </a:r>
                    </a:p>
                  </a:txBody>
                  <a:tcPr marL="95250" marR="95250" marT="133350" marB="133350" anchor="ctr"/>
                </a:tc>
                <a:tc>
                  <a:txBody>
                    <a:bodyPr/>
                    <a:lstStyle/>
                    <a:p>
                      <a:pPr algn="l" fontAlgn="base"/>
                      <a:r>
                        <a:rPr lang="en-IN" sz="1250" b="0">
                          <a:effectLst/>
                        </a:rPr>
                        <a:t>Descriptive analysis cannot be performed on this.</a:t>
                      </a:r>
                    </a:p>
                  </a:txBody>
                  <a:tcPr marL="95250" marR="95250" marT="133350" marB="133350" anchor="ctr"/>
                </a:tc>
                <a:tc>
                  <a:txBody>
                    <a:bodyPr/>
                    <a:lstStyle/>
                    <a:p>
                      <a:pPr algn="l" fontAlgn="base"/>
                      <a:r>
                        <a:rPr lang="en-IN" sz="1250" b="0">
                          <a:effectLst/>
                        </a:rPr>
                        <a:t>A Descriptive analysis can be performed on this.</a:t>
                      </a:r>
                    </a:p>
                  </a:txBody>
                  <a:tcPr marL="95250" marR="95250" marT="133350" marB="133350" anchor="ctr"/>
                </a:tc>
                <a:extLst>
                  <a:ext uri="{0D108BD9-81ED-4DB2-BD59-A6C34878D82A}">
                    <a16:rowId xmlns:a16="http://schemas.microsoft.com/office/drawing/2014/main" val="10005"/>
                  </a:ext>
                </a:extLst>
              </a:tr>
              <a:tr h="370840">
                <a:tc>
                  <a:txBody>
                    <a:bodyPr/>
                    <a:lstStyle/>
                    <a:p>
                      <a:pPr algn="ctr" fontAlgn="base"/>
                      <a:r>
                        <a:rPr lang="en-IN" sz="1250" b="0" dirty="0">
                          <a:effectLst/>
                        </a:rPr>
                        <a:t>6.</a:t>
                      </a:r>
                    </a:p>
                  </a:txBody>
                  <a:tcPr marL="95250" marR="95250" marT="133350" marB="133350" anchor="ctr"/>
                </a:tc>
                <a:tc>
                  <a:txBody>
                    <a:bodyPr/>
                    <a:lstStyle/>
                    <a:p>
                      <a:pPr algn="l" fontAlgn="base"/>
                      <a:r>
                        <a:rPr lang="en-IN" sz="1250" b="0">
                          <a:effectLst/>
                        </a:rPr>
                        <a:t>One can find anonymous relations with the help of this.</a:t>
                      </a:r>
                    </a:p>
                  </a:txBody>
                  <a:tcPr marL="95250" marR="95250" marT="133350" marB="133350" anchor="ctr"/>
                </a:tc>
                <a:tc>
                  <a:txBody>
                    <a:bodyPr/>
                    <a:lstStyle/>
                    <a:p>
                      <a:pPr algn="l" fontAlgn="base"/>
                      <a:r>
                        <a:rPr lang="en-IN" sz="1250" b="0">
                          <a:effectLst/>
                        </a:rPr>
                        <a:t>One cannot find anonymous relations with the help of this.</a:t>
                      </a:r>
                    </a:p>
                  </a:txBody>
                  <a:tcPr marL="95250" marR="95250" marT="133350" marB="133350" anchor="ctr"/>
                </a:tc>
                <a:extLst>
                  <a:ext uri="{0D108BD9-81ED-4DB2-BD59-A6C34878D82A}">
                    <a16:rowId xmlns:a16="http://schemas.microsoft.com/office/drawing/2014/main" val="10006"/>
                  </a:ext>
                </a:extLst>
              </a:tr>
              <a:tr h="370840">
                <a:tc>
                  <a:txBody>
                    <a:bodyPr/>
                    <a:lstStyle/>
                    <a:p>
                      <a:pPr algn="ctr" fontAlgn="base"/>
                      <a:r>
                        <a:rPr lang="en-IN" sz="1250" b="0" dirty="0">
                          <a:effectLst/>
                        </a:rPr>
                        <a:t>7.</a:t>
                      </a:r>
                    </a:p>
                  </a:txBody>
                  <a:tcPr marL="95250" marR="95250" marT="133350" marB="133350" anchor="ctr"/>
                </a:tc>
                <a:tc>
                  <a:txBody>
                    <a:bodyPr/>
                    <a:lstStyle/>
                    <a:p>
                      <a:pPr algn="l" fontAlgn="base"/>
                      <a:r>
                        <a:rPr lang="en-IN" sz="1250" b="0">
                          <a:effectLst/>
                        </a:rPr>
                        <a:t>It does not deal with inferential analysis.</a:t>
                      </a:r>
                    </a:p>
                  </a:txBody>
                  <a:tcPr marL="95250" marR="95250" marT="133350" marB="133350" anchor="ctr"/>
                </a:tc>
                <a:tc>
                  <a:txBody>
                    <a:bodyPr/>
                    <a:lstStyle/>
                    <a:p>
                      <a:pPr algn="l" fontAlgn="base"/>
                      <a:r>
                        <a:rPr lang="en-IN" sz="1250" b="0" dirty="0">
                          <a:effectLst/>
                        </a:rPr>
                        <a:t>It supports inferential analysis.</a:t>
                      </a:r>
                    </a:p>
                  </a:txBody>
                  <a:tcPr marL="95250" marR="95250" marT="133350" marB="133350" anchor="ct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29181520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205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791810" y="1323975"/>
            <a:ext cx="8046156"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964700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Tools and Process involved</a:t>
            </a:r>
          </a:p>
        </p:txBody>
      </p:sp>
      <p:sp>
        <p:nvSpPr>
          <p:cNvPr id="3" name="Content Placeholder 2"/>
          <p:cNvSpPr>
            <a:spLocks noGrp="1"/>
          </p:cNvSpPr>
          <p:nvPr>
            <p:ph idx="1"/>
          </p:nvPr>
        </p:nvSpPr>
        <p:spPr/>
        <p:txBody>
          <a:bodyPr>
            <a:normAutofit fontScale="92500" lnSpcReduction="10000"/>
          </a:bodyPr>
          <a:lstStyle/>
          <a:p>
            <a:r>
              <a:rPr lang="en-IN" dirty="0"/>
              <a:t>The journey of Data Analytics consists of various stages including identifying the problem, finding the Data, Data Filtering, Data Validation, Data Cleaning, Data Visualization, Data Analysis, Inference, Prediction, etc. The most common tools employed in Data Analytics are R, Python, SAS, SPARK, Google Analytics, Excel, etc.</a:t>
            </a:r>
          </a:p>
          <a:p>
            <a:endParaRPr lang="en-IN" dirty="0"/>
          </a:p>
          <a:p>
            <a:r>
              <a:rPr lang="en-IN" dirty="0"/>
              <a:t>Similarly, the journey of Data Analysis comprises Data gathering, Data validation, Interpretation, Analysis, Results, etc., shortly it tries to find what the data is trying to express. The most common tools employed in Data Analysis are Tableau, Excel, SPARK, Google Fusion tables, Node XL, etc.</a:t>
            </a:r>
          </a:p>
        </p:txBody>
      </p:sp>
    </p:spTree>
    <p:extLst>
      <p:ext uri="{BB962C8B-B14F-4D97-AF65-F5344CB8AC3E}">
        <p14:creationId xmlns:p14="http://schemas.microsoft.com/office/powerpoint/2010/main" val="30181126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307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700088" y="1908890"/>
            <a:ext cx="8229600" cy="33561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923856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92500" lnSpcReduction="20000"/>
          </a:bodyPr>
          <a:lstStyle/>
          <a:p>
            <a:r>
              <a:rPr lang="en-IN" dirty="0"/>
              <a:t>Analytics is commonly used in many distinct ways to find some strange patterns like </a:t>
            </a:r>
            <a:r>
              <a:rPr lang="en-IN" dirty="0">
                <a:solidFill>
                  <a:srgbClr val="FF0000"/>
                </a:solidFill>
              </a:rPr>
              <a:t>finding the preferences</a:t>
            </a:r>
            <a:r>
              <a:rPr lang="en-IN" dirty="0"/>
              <a:t>, </a:t>
            </a:r>
            <a:r>
              <a:rPr lang="en-IN" dirty="0">
                <a:solidFill>
                  <a:srgbClr val="FF0000"/>
                </a:solidFill>
              </a:rPr>
              <a:t>compute</a:t>
            </a:r>
            <a:r>
              <a:rPr lang="en-IN" dirty="0"/>
              <a:t> various </a:t>
            </a:r>
            <a:r>
              <a:rPr lang="en-IN" dirty="0">
                <a:solidFill>
                  <a:srgbClr val="FF0000"/>
                </a:solidFill>
              </a:rPr>
              <a:t>correlations</a:t>
            </a:r>
            <a:r>
              <a:rPr lang="en-IN" dirty="0"/>
              <a:t>, </a:t>
            </a:r>
            <a:r>
              <a:rPr lang="en-IN" dirty="0">
                <a:solidFill>
                  <a:srgbClr val="FF0000"/>
                </a:solidFill>
              </a:rPr>
              <a:t>trend </a:t>
            </a:r>
            <a:r>
              <a:rPr lang="en-IN" dirty="0" err="1">
                <a:solidFill>
                  <a:srgbClr val="FF0000"/>
                </a:solidFill>
              </a:rPr>
              <a:t>forecastings</a:t>
            </a:r>
            <a:r>
              <a:rPr lang="en-IN" dirty="0"/>
              <a:t>, etc. </a:t>
            </a:r>
          </a:p>
          <a:p>
            <a:r>
              <a:rPr lang="en-IN" dirty="0"/>
              <a:t>The most common real-life findings found through analytics are </a:t>
            </a:r>
            <a:r>
              <a:rPr lang="en-IN" dirty="0">
                <a:solidFill>
                  <a:srgbClr val="FF0000"/>
                </a:solidFill>
              </a:rPr>
              <a:t>market trend </a:t>
            </a:r>
            <a:r>
              <a:rPr lang="en-IN" dirty="0" err="1">
                <a:solidFill>
                  <a:srgbClr val="FF0000"/>
                </a:solidFill>
              </a:rPr>
              <a:t>forecastings</a:t>
            </a:r>
            <a:r>
              <a:rPr lang="en-IN" dirty="0"/>
              <a:t>, </a:t>
            </a:r>
            <a:r>
              <a:rPr lang="en-IN" dirty="0">
                <a:solidFill>
                  <a:srgbClr val="FF0000"/>
                </a:solidFill>
              </a:rPr>
              <a:t>customer preferences, and effective business decisions.</a:t>
            </a:r>
          </a:p>
          <a:p>
            <a:endParaRPr lang="en-IN" dirty="0"/>
          </a:p>
          <a:p>
            <a:r>
              <a:rPr lang="en-IN" dirty="0"/>
              <a:t>With the help of Analysis, it is quite simple and easy to explore more valuable insights from the available data by performing the various types of Data Analysis such as </a:t>
            </a:r>
            <a:r>
              <a:rPr lang="en-IN" dirty="0">
                <a:solidFill>
                  <a:srgbClr val="FF0000"/>
                </a:solidFill>
              </a:rPr>
              <a:t>Exploratory Data Analysis, Predictive Analysis, and Inferential Analysis</a:t>
            </a:r>
            <a:r>
              <a:rPr lang="en-IN" dirty="0"/>
              <a:t>, etc. They play a major role by providing more </a:t>
            </a:r>
            <a:r>
              <a:rPr lang="en-IN" dirty="0">
                <a:solidFill>
                  <a:srgbClr val="FF0000"/>
                </a:solidFill>
              </a:rPr>
              <a:t>insights</a:t>
            </a:r>
            <a:r>
              <a:rPr lang="en-IN" dirty="0"/>
              <a:t> in understanding the data.</a:t>
            </a:r>
          </a:p>
        </p:txBody>
      </p:sp>
    </p:spTree>
    <p:extLst>
      <p:ext uri="{BB962C8B-B14F-4D97-AF65-F5344CB8AC3E}">
        <p14:creationId xmlns:p14="http://schemas.microsoft.com/office/powerpoint/2010/main" val="13381583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u="sng" dirty="0"/>
              <a:t>Example 1</a:t>
            </a:r>
            <a:endParaRPr lang="en-IN" dirty="0"/>
          </a:p>
        </p:txBody>
      </p:sp>
      <p:sp>
        <p:nvSpPr>
          <p:cNvPr id="3" name="Content Placeholder 2"/>
          <p:cNvSpPr>
            <a:spLocks noGrp="1"/>
          </p:cNvSpPr>
          <p:nvPr>
            <p:ph idx="1"/>
          </p:nvPr>
        </p:nvSpPr>
        <p:spPr/>
        <p:txBody>
          <a:bodyPr>
            <a:normAutofit lnSpcReduction="10000"/>
          </a:bodyPr>
          <a:lstStyle/>
          <a:p>
            <a:r>
              <a:rPr lang="en-IN" dirty="0"/>
              <a:t>Most probably before starting trading you just try to examine the past trend records of the shares in the share market to understand what happened so far in order to frame your strategies to get more profit right? This kind of process is an example of Data Analysis.</a:t>
            </a:r>
          </a:p>
          <a:p>
            <a:endParaRPr lang="en-IN" dirty="0"/>
          </a:p>
          <a:p>
            <a:r>
              <a:rPr lang="en-IN" dirty="0"/>
              <a:t>After understanding the trend of the shares, now you may use different techniques to predict the future price trend of the shares, and based on that you buy some shares right? This is an example process of Data Analytics.</a:t>
            </a:r>
          </a:p>
        </p:txBody>
      </p:sp>
    </p:spTree>
    <p:extLst>
      <p:ext uri="{BB962C8B-B14F-4D97-AF65-F5344CB8AC3E}">
        <p14:creationId xmlns:p14="http://schemas.microsoft.com/office/powerpoint/2010/main" val="25737158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What is business analytics?</a:t>
            </a:r>
            <a:endParaRPr lang="en-IN" dirty="0"/>
          </a:p>
        </p:txBody>
      </p:sp>
      <p:sp>
        <p:nvSpPr>
          <p:cNvPr id="3" name="Content Placeholder 2"/>
          <p:cNvSpPr>
            <a:spLocks noGrp="1"/>
          </p:cNvSpPr>
          <p:nvPr>
            <p:ph idx="1"/>
          </p:nvPr>
        </p:nvSpPr>
        <p:spPr/>
        <p:txBody>
          <a:bodyPr/>
          <a:lstStyle/>
          <a:p>
            <a:r>
              <a:rPr lang="en-IN" dirty="0"/>
              <a:t>Business analytics (BA) is a set of disciplines and technologies for solving business problems using data analysis, statistical models and other quantitative methods. </a:t>
            </a:r>
          </a:p>
          <a:p>
            <a:r>
              <a:rPr lang="en-IN" dirty="0"/>
              <a:t>It involves an iterative, methodical exploration of an organization's data, with an emphasis on statistical analysis, to drive decision-making.</a:t>
            </a:r>
          </a:p>
        </p:txBody>
      </p:sp>
    </p:spTree>
    <p:extLst>
      <p:ext uri="{BB962C8B-B14F-4D97-AF65-F5344CB8AC3E}">
        <p14:creationId xmlns:p14="http://schemas.microsoft.com/office/powerpoint/2010/main" val="804018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dirty="0"/>
              <a:t>Data-driven companies treat their data as a business asset and actively look for ways to turn it into a competitive advantage. </a:t>
            </a:r>
          </a:p>
          <a:p>
            <a:r>
              <a:rPr lang="en-IN" dirty="0"/>
              <a:t>Success with business analytics depends on data quality, skilled analysts who understand the technologies and the business, and a commitment to using data to gain insights that inform business decisions.</a:t>
            </a:r>
          </a:p>
        </p:txBody>
      </p:sp>
    </p:spTree>
    <p:extLst>
      <p:ext uri="{BB962C8B-B14F-4D97-AF65-F5344CB8AC3E}">
        <p14:creationId xmlns:p14="http://schemas.microsoft.com/office/powerpoint/2010/main" val="25222763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How business analytics works</a:t>
            </a:r>
            <a:endParaRPr lang="en-IN" dirty="0"/>
          </a:p>
        </p:txBody>
      </p:sp>
      <p:sp>
        <p:nvSpPr>
          <p:cNvPr id="3" name="Content Placeholder 2"/>
          <p:cNvSpPr>
            <a:spLocks noGrp="1"/>
          </p:cNvSpPr>
          <p:nvPr>
            <p:ph idx="1"/>
          </p:nvPr>
        </p:nvSpPr>
        <p:spPr/>
        <p:txBody>
          <a:bodyPr/>
          <a:lstStyle/>
          <a:p>
            <a:r>
              <a:rPr lang="en-IN" dirty="0"/>
              <a:t>Determine the business goal of the analysis.</a:t>
            </a:r>
          </a:p>
          <a:p>
            <a:r>
              <a:rPr lang="en-IN" dirty="0"/>
              <a:t>Select an analysis methodology.</a:t>
            </a:r>
          </a:p>
          <a:p>
            <a:r>
              <a:rPr lang="en-IN" dirty="0"/>
              <a:t>Get business data to support the analysis, often from various systems and sources.</a:t>
            </a:r>
          </a:p>
          <a:p>
            <a:r>
              <a:rPr lang="en-IN" dirty="0"/>
              <a:t>Cleanse and integrate data into a single repository, such as a data warehouse or data mart.</a:t>
            </a:r>
          </a:p>
        </p:txBody>
      </p:sp>
    </p:spTree>
    <p:extLst>
      <p:ext uri="{BB962C8B-B14F-4D97-AF65-F5344CB8AC3E}">
        <p14:creationId xmlns:p14="http://schemas.microsoft.com/office/powerpoint/2010/main" val="8766643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dirty="0"/>
              <a:t>Initial analysis is typically performed on a smaller sample data set of data. </a:t>
            </a:r>
          </a:p>
          <a:p>
            <a:r>
              <a:rPr lang="en-IN" dirty="0"/>
              <a:t>Analytics tools range from spreadsheets with statistical functions to complex data mining and predictive </a:t>
            </a:r>
            <a:r>
              <a:rPr lang="en-IN" dirty="0" err="1"/>
              <a:t>modeling</a:t>
            </a:r>
            <a:r>
              <a:rPr lang="en-IN" dirty="0"/>
              <a:t> applications. </a:t>
            </a:r>
          </a:p>
          <a:p>
            <a:r>
              <a:rPr lang="en-IN" dirty="0"/>
              <a:t>Patterns and relationships in the raw data are revealed. </a:t>
            </a:r>
          </a:p>
          <a:p>
            <a:r>
              <a:rPr lang="en-IN" dirty="0"/>
              <a:t>Then new questions are asked, and the analytic process iterates until the business goal is met.</a:t>
            </a:r>
          </a:p>
        </p:txBody>
      </p:sp>
    </p:spTree>
    <p:extLst>
      <p:ext uri="{BB962C8B-B14F-4D97-AF65-F5344CB8AC3E}">
        <p14:creationId xmlns:p14="http://schemas.microsoft.com/office/powerpoint/2010/main" val="16654214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dirty="0"/>
              <a:t>Deployment of predictive models involves a statistical process known as scoring and uses records typically located in a database. </a:t>
            </a:r>
          </a:p>
          <a:p>
            <a:r>
              <a:rPr lang="en-IN" dirty="0"/>
              <a:t>Scores help enterprises make more informed, real-time decisions within applications and business processes.</a:t>
            </a:r>
          </a:p>
          <a:p>
            <a:r>
              <a:rPr lang="en-IN" dirty="0"/>
              <a:t>BA also supports tactical decision-making in response to unforeseen events. </a:t>
            </a:r>
          </a:p>
          <a:p>
            <a:r>
              <a:rPr lang="en-IN" dirty="0"/>
              <a:t>Often the decision-making is automated using artificial intelligence to support real-time responses.</a:t>
            </a:r>
          </a:p>
        </p:txBody>
      </p:sp>
    </p:spTree>
    <p:extLst>
      <p:ext uri="{BB962C8B-B14F-4D97-AF65-F5344CB8AC3E}">
        <p14:creationId xmlns:p14="http://schemas.microsoft.com/office/powerpoint/2010/main" val="2110907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098"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787404" y="1323975"/>
            <a:ext cx="4054968"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272025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Type of Analytics </a:t>
            </a:r>
          </a:p>
        </p:txBody>
      </p:sp>
      <p:sp>
        <p:nvSpPr>
          <p:cNvPr id="3" name="Content Placeholder 2"/>
          <p:cNvSpPr>
            <a:spLocks noGrp="1"/>
          </p:cNvSpPr>
          <p:nvPr>
            <p:ph idx="1"/>
          </p:nvPr>
        </p:nvSpPr>
        <p:spPr/>
        <p:txBody>
          <a:bodyPr>
            <a:normAutofit/>
          </a:bodyPr>
          <a:lstStyle/>
          <a:p>
            <a:r>
              <a:rPr lang="en-IN" u="sng" dirty="0">
                <a:hlinkClick r:id="rId3"/>
              </a:rPr>
              <a:t>descriptive analytics</a:t>
            </a:r>
            <a:r>
              <a:rPr lang="en-IN" dirty="0"/>
              <a:t>, </a:t>
            </a:r>
          </a:p>
          <a:p>
            <a:r>
              <a:rPr lang="en-IN" u="sng" dirty="0">
                <a:hlinkClick r:id="rId4"/>
              </a:rPr>
              <a:t>predictive analytics</a:t>
            </a:r>
            <a:endParaRPr lang="en-IN" u="sng" dirty="0"/>
          </a:p>
          <a:p>
            <a:r>
              <a:rPr lang="en-IN" u="sng" dirty="0">
                <a:hlinkClick r:id="rId5"/>
              </a:rPr>
              <a:t>prescriptive analytics</a:t>
            </a:r>
            <a:r>
              <a:rPr lang="en-IN" dirty="0"/>
              <a:t>,</a:t>
            </a:r>
          </a:p>
          <a:p>
            <a:r>
              <a:rPr lang="en-IN" b="1" dirty="0"/>
              <a:t>Diagnostic</a:t>
            </a:r>
            <a:r>
              <a:rPr lang="en-IN" dirty="0"/>
              <a:t> </a:t>
            </a:r>
            <a:r>
              <a:rPr lang="en-IN" b="1" dirty="0"/>
              <a:t>analytics</a:t>
            </a:r>
            <a:r>
              <a:rPr lang="en-IN" dirty="0"/>
              <a:t>, </a:t>
            </a:r>
          </a:p>
        </p:txBody>
      </p:sp>
    </p:spTree>
    <p:extLst>
      <p:ext uri="{BB962C8B-B14F-4D97-AF65-F5344CB8AC3E}">
        <p14:creationId xmlns:p14="http://schemas.microsoft.com/office/powerpoint/2010/main" val="26000114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lnSpcReduction="10000"/>
          </a:bodyPr>
          <a:lstStyle/>
          <a:p>
            <a:r>
              <a:rPr lang="en-IN" u="sng" dirty="0">
                <a:hlinkClick r:id="rId2"/>
              </a:rPr>
              <a:t>descriptive analytics</a:t>
            </a:r>
            <a:r>
              <a:rPr lang="en-IN" dirty="0"/>
              <a:t>, which tracks key performance indicators (</a:t>
            </a:r>
            <a:r>
              <a:rPr lang="en-IN" u="sng" dirty="0">
                <a:hlinkClick r:id="rId3"/>
              </a:rPr>
              <a:t>KPIs</a:t>
            </a:r>
            <a:r>
              <a:rPr lang="en-IN" dirty="0"/>
              <a:t>) to understand the present state of a business;</a:t>
            </a:r>
          </a:p>
          <a:p>
            <a:r>
              <a:rPr lang="en-IN" u="sng" dirty="0">
                <a:hlinkClick r:id="rId4"/>
              </a:rPr>
              <a:t>predictive analytics</a:t>
            </a:r>
            <a:r>
              <a:rPr lang="en-IN" dirty="0"/>
              <a:t>, which </a:t>
            </a:r>
            <a:r>
              <a:rPr lang="en-IN" dirty="0" err="1"/>
              <a:t>analyzes</a:t>
            </a:r>
            <a:r>
              <a:rPr lang="en-IN" dirty="0"/>
              <a:t> trend data to assess the likelihood of future outcomes; and</a:t>
            </a:r>
          </a:p>
          <a:p>
            <a:r>
              <a:rPr lang="en-IN" u="sng" dirty="0">
                <a:hlinkClick r:id="rId5"/>
              </a:rPr>
              <a:t>prescriptive analytics</a:t>
            </a:r>
            <a:r>
              <a:rPr lang="en-IN" dirty="0"/>
              <a:t>, which uses past performance to generate recommendations for handling similar situations in the future.</a:t>
            </a:r>
          </a:p>
          <a:p>
            <a:r>
              <a:rPr lang="en-IN" b="1" dirty="0"/>
              <a:t>Diagnostic</a:t>
            </a:r>
            <a:r>
              <a:rPr lang="en-IN" dirty="0"/>
              <a:t> </a:t>
            </a:r>
            <a:r>
              <a:rPr lang="en-IN" b="1" dirty="0"/>
              <a:t>analytics</a:t>
            </a:r>
            <a:r>
              <a:rPr lang="en-IN" dirty="0"/>
              <a:t>, which is like descriptive analytics. It </a:t>
            </a:r>
            <a:r>
              <a:rPr lang="en-IN" dirty="0" err="1"/>
              <a:t>analyzes</a:t>
            </a:r>
            <a:r>
              <a:rPr lang="en-IN" dirty="0"/>
              <a:t> the state of a business and diagnoses why certain events or outcomes happened.</a:t>
            </a:r>
          </a:p>
        </p:txBody>
      </p:sp>
    </p:spTree>
    <p:extLst>
      <p:ext uri="{BB962C8B-B14F-4D97-AF65-F5344CB8AC3E}">
        <p14:creationId xmlns:p14="http://schemas.microsoft.com/office/powerpoint/2010/main" val="20204263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 vs DA</a:t>
            </a:r>
            <a:endParaRPr lang="en-IN" dirty="0"/>
          </a:p>
        </p:txBody>
      </p:sp>
      <p:sp>
        <p:nvSpPr>
          <p:cNvPr id="3" name="Content Placeholder 2"/>
          <p:cNvSpPr>
            <a:spLocks noGrp="1"/>
          </p:cNvSpPr>
          <p:nvPr>
            <p:ph idx="1"/>
          </p:nvPr>
        </p:nvSpPr>
        <p:spPr/>
        <p:txBody>
          <a:bodyPr/>
          <a:lstStyle/>
          <a:p>
            <a:r>
              <a:rPr lang="en-IN" i="1" dirty="0"/>
              <a:t>What is happening now and why? (Business Intelligence)</a:t>
            </a:r>
            <a:endParaRPr lang="en-IN" dirty="0"/>
          </a:p>
          <a:p>
            <a:r>
              <a:rPr lang="en-IN" i="1" dirty="0"/>
              <a:t>What will probably happen next? (Data Analytics)</a:t>
            </a:r>
            <a:endParaRPr lang="en-IN" dirty="0"/>
          </a:p>
          <a:p>
            <a:endParaRPr lang="en-IN" dirty="0"/>
          </a:p>
        </p:txBody>
      </p:sp>
    </p:spTree>
    <p:extLst>
      <p:ext uri="{BB962C8B-B14F-4D97-AF65-F5344CB8AC3E}">
        <p14:creationId xmlns:p14="http://schemas.microsoft.com/office/powerpoint/2010/main" val="37578482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Business Intelligence vs Data Analytics As Seen Through Football</a:t>
            </a:r>
            <a:endParaRPr lang="en-IN" dirty="0"/>
          </a:p>
        </p:txBody>
      </p:sp>
      <p:pic>
        <p:nvPicPr>
          <p:cNvPr id="10242" name="Picture 2"/>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909763" y="1886744"/>
            <a:ext cx="5810250" cy="3400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9618513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b="1" dirty="0"/>
              <a:t>BI</a:t>
            </a:r>
            <a:r>
              <a:rPr lang="en-IN" dirty="0"/>
              <a:t> would be the process of identifying all the statistics and plays that led to your team winning. </a:t>
            </a:r>
          </a:p>
          <a:p>
            <a:r>
              <a:rPr lang="en-IN" dirty="0"/>
              <a:t>It would identify that you kept possession of the ball for much longer than your opponents. </a:t>
            </a:r>
          </a:p>
          <a:p>
            <a:r>
              <a:rPr lang="en-IN" dirty="0"/>
              <a:t>It would also identify the trend that your right side of the field was instrumental in retaining possession through excellent passing.</a:t>
            </a:r>
          </a:p>
          <a:p>
            <a:endParaRPr lang="en-IN" dirty="0"/>
          </a:p>
        </p:txBody>
      </p:sp>
    </p:spTree>
    <p:extLst>
      <p:ext uri="{BB962C8B-B14F-4D97-AF65-F5344CB8AC3E}">
        <p14:creationId xmlns:p14="http://schemas.microsoft.com/office/powerpoint/2010/main" val="29090092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b="1" dirty="0"/>
              <a:t>DA </a:t>
            </a:r>
            <a:r>
              <a:rPr lang="en-IN" dirty="0"/>
              <a:t>would be more concerned with </a:t>
            </a:r>
            <a:r>
              <a:rPr lang="en-IN" i="1" dirty="0"/>
              <a:t>why </a:t>
            </a:r>
            <a:r>
              <a:rPr lang="en-IN" dirty="0"/>
              <a:t>you had possession of the ball for longer than your opponent and why your right side of the field did so well at passing.</a:t>
            </a:r>
          </a:p>
          <a:p>
            <a:r>
              <a:rPr lang="en-IN" dirty="0"/>
              <a:t>Was it because:</a:t>
            </a:r>
          </a:p>
          <a:p>
            <a:pPr lvl="1"/>
            <a:r>
              <a:rPr lang="en-IN" sz="2000" dirty="0"/>
              <a:t>Your opponent’s defenders on that side were weaker players than their defenders on the other?</a:t>
            </a:r>
          </a:p>
          <a:p>
            <a:pPr lvl="1"/>
            <a:r>
              <a:rPr lang="en-IN" sz="2000" dirty="0"/>
              <a:t>Your right-side players had been putting in more time on the field together than your left side?</a:t>
            </a:r>
          </a:p>
          <a:p>
            <a:pPr lvl="1"/>
            <a:r>
              <a:rPr lang="en-IN" sz="2000" dirty="0"/>
              <a:t>One of your players on the right was simply having a phenomenal performance that carried over to the rest of that side?</a:t>
            </a:r>
          </a:p>
        </p:txBody>
      </p:sp>
    </p:spTree>
    <p:extLst>
      <p:ext uri="{BB962C8B-B14F-4D97-AF65-F5344CB8AC3E}">
        <p14:creationId xmlns:p14="http://schemas.microsoft.com/office/powerpoint/2010/main" val="13982830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Correlation Is Not Causation</a:t>
            </a:r>
          </a:p>
        </p:txBody>
      </p:sp>
      <p:sp>
        <p:nvSpPr>
          <p:cNvPr id="3" name="Content Placeholder 2"/>
          <p:cNvSpPr>
            <a:spLocks noGrp="1"/>
          </p:cNvSpPr>
          <p:nvPr>
            <p:ph idx="1"/>
          </p:nvPr>
        </p:nvSpPr>
        <p:spPr/>
        <p:txBody>
          <a:bodyPr>
            <a:normAutofit fontScale="92500"/>
          </a:bodyPr>
          <a:lstStyle/>
          <a:p>
            <a:r>
              <a:rPr lang="en-IN" dirty="0"/>
              <a:t>When two things are correlated, it means that when one happens, the other tends to happen at the same time. </a:t>
            </a:r>
          </a:p>
          <a:p>
            <a:r>
              <a:rPr lang="en-IN" dirty="0"/>
              <a:t>When two things have a causal relationship, it means that one thing leads directly or indirectly to the other happening.</a:t>
            </a:r>
          </a:p>
          <a:p>
            <a:r>
              <a:rPr lang="en-IN" dirty="0"/>
              <a:t>A famous example of the difference between these two is the fact that </a:t>
            </a:r>
            <a:r>
              <a:rPr lang="en-IN" dirty="0">
                <a:hlinkClick r:id="rId2"/>
              </a:rPr>
              <a:t>ice cream consumption and city homicide rates</a:t>
            </a:r>
            <a:r>
              <a:rPr lang="en-IN" dirty="0"/>
              <a:t> are highly correlated. </a:t>
            </a:r>
          </a:p>
          <a:p>
            <a:r>
              <a:rPr lang="en-IN" dirty="0"/>
              <a:t>Now, of course, ice cream does not cause people to murder each other. So clearly there is not a causal relationship.</a:t>
            </a:r>
          </a:p>
        </p:txBody>
      </p:sp>
    </p:spTree>
    <p:extLst>
      <p:ext uri="{BB962C8B-B14F-4D97-AF65-F5344CB8AC3E}">
        <p14:creationId xmlns:p14="http://schemas.microsoft.com/office/powerpoint/2010/main" val="5996808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Case </a:t>
            </a:r>
          </a:p>
        </p:txBody>
      </p:sp>
      <p:sp>
        <p:nvSpPr>
          <p:cNvPr id="3" name="Content Placeholder 2"/>
          <p:cNvSpPr>
            <a:spLocks noGrp="1"/>
          </p:cNvSpPr>
          <p:nvPr>
            <p:ph idx="1"/>
          </p:nvPr>
        </p:nvSpPr>
        <p:spPr/>
        <p:txBody>
          <a:bodyPr/>
          <a:lstStyle/>
          <a:p>
            <a:r>
              <a:rPr lang="en-IN" dirty="0"/>
              <a:t>https://slate.com/news-and-politics/2013/07/warm-weather-homicide-rates-when-ice-cream-sales-rise-homicides-rise-coincidence.html</a:t>
            </a:r>
          </a:p>
        </p:txBody>
      </p:sp>
    </p:spTree>
    <p:extLst>
      <p:ext uri="{BB962C8B-B14F-4D97-AF65-F5344CB8AC3E}">
        <p14:creationId xmlns:p14="http://schemas.microsoft.com/office/powerpoint/2010/main" val="97454162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dirty="0"/>
              <a:t>The two are correlated due to the fact that homicide rates rise when temperatures rise in the late summer. </a:t>
            </a:r>
          </a:p>
          <a:p>
            <a:r>
              <a:rPr lang="en-IN" dirty="0"/>
              <a:t>It is theorized that since warmer weather brings more people outside, this leads to more social interaction, some of which is violent.</a:t>
            </a:r>
          </a:p>
        </p:txBody>
      </p:sp>
    </p:spTree>
    <p:extLst>
      <p:ext uri="{BB962C8B-B14F-4D97-AF65-F5344CB8AC3E}">
        <p14:creationId xmlns:p14="http://schemas.microsoft.com/office/powerpoint/2010/main" val="23227746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You Can’t Always Trust What You See</a:t>
            </a:r>
            <a:endParaRPr lang="en-IN" dirty="0"/>
          </a:p>
        </p:txBody>
      </p:sp>
      <p:sp>
        <p:nvSpPr>
          <p:cNvPr id="3" name="Content Placeholder 2"/>
          <p:cNvSpPr>
            <a:spLocks noGrp="1"/>
          </p:cNvSpPr>
          <p:nvPr>
            <p:ph idx="1"/>
          </p:nvPr>
        </p:nvSpPr>
        <p:spPr/>
        <p:txBody>
          <a:bodyPr/>
          <a:lstStyle/>
          <a:p>
            <a:endParaRPr lang="en-IN"/>
          </a:p>
        </p:txBody>
      </p:sp>
    </p:spTree>
    <p:extLst>
      <p:ext uri="{BB962C8B-B14F-4D97-AF65-F5344CB8AC3E}">
        <p14:creationId xmlns:p14="http://schemas.microsoft.com/office/powerpoint/2010/main" val="343533585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Read Yourself slide</a:t>
            </a:r>
          </a:p>
        </p:txBody>
      </p:sp>
      <p:sp>
        <p:nvSpPr>
          <p:cNvPr id="3" name="Content Placeholder 2"/>
          <p:cNvSpPr>
            <a:spLocks noGrp="1"/>
          </p:cNvSpPr>
          <p:nvPr>
            <p:ph idx="1"/>
          </p:nvPr>
        </p:nvSpPr>
        <p:spPr/>
        <p:txBody>
          <a:bodyPr/>
          <a:lstStyle/>
          <a:p>
            <a:pPr algn="just"/>
            <a:r>
              <a:rPr lang="en-IN" dirty="0"/>
              <a:t>You can find examples of people confusing correlation and causation everywhere you look. </a:t>
            </a:r>
          </a:p>
          <a:p>
            <a:pPr algn="just"/>
            <a:r>
              <a:rPr lang="en-IN" dirty="0"/>
              <a:t>For example, that muscular person at the gym who always likes to give you workout advice may or may not actually know what they are talking about. </a:t>
            </a:r>
          </a:p>
          <a:p>
            <a:pPr algn="just"/>
            <a:r>
              <a:rPr lang="en-IN" dirty="0"/>
              <a:t>The advice they’re giving you, while correlated with being known by a muscular person, may not actually lead to being muscular. Instead, they may simply have good genetics. They may be muscular not because of their knowledge, but actually in spite of it.</a:t>
            </a:r>
          </a:p>
        </p:txBody>
      </p:sp>
    </p:spTree>
    <p:extLst>
      <p:ext uri="{BB962C8B-B14F-4D97-AF65-F5344CB8AC3E}">
        <p14:creationId xmlns:p14="http://schemas.microsoft.com/office/powerpoint/2010/main" val="2574525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Read Yourself slide</a:t>
            </a:r>
          </a:p>
        </p:txBody>
      </p:sp>
      <p:sp>
        <p:nvSpPr>
          <p:cNvPr id="3" name="Content Placeholder 2"/>
          <p:cNvSpPr>
            <a:spLocks noGrp="1"/>
          </p:cNvSpPr>
          <p:nvPr>
            <p:ph idx="1"/>
          </p:nvPr>
        </p:nvSpPr>
        <p:spPr/>
        <p:txBody>
          <a:bodyPr/>
          <a:lstStyle/>
          <a:p>
            <a:pPr algn="just"/>
            <a:r>
              <a:rPr lang="en-IN" dirty="0"/>
              <a:t>There are some hilarious examples of things being correlated that clearly don’t have a causal relationship. </a:t>
            </a:r>
          </a:p>
          <a:p>
            <a:pPr algn="just"/>
            <a:r>
              <a:rPr lang="en-IN" dirty="0"/>
              <a:t>Many of them are shown on the website Spurious Correlations. </a:t>
            </a:r>
          </a:p>
          <a:p>
            <a:pPr algn="just"/>
            <a:r>
              <a:rPr lang="en-IN" dirty="0"/>
              <a:t>For example, divorce rates in Maine are very closely correlated with per capita consumption of margarine… Maybe married couples should switch to butter instead?</a:t>
            </a:r>
          </a:p>
        </p:txBody>
      </p:sp>
    </p:spTree>
    <p:extLst>
      <p:ext uri="{BB962C8B-B14F-4D97-AF65-F5344CB8AC3E}">
        <p14:creationId xmlns:p14="http://schemas.microsoft.com/office/powerpoint/2010/main" val="3807684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1126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700088" y="1645141"/>
            <a:ext cx="8229600" cy="38836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2915816" y="5805264"/>
            <a:ext cx="2913105" cy="369332"/>
          </a:xfrm>
          <a:prstGeom prst="rect">
            <a:avLst/>
          </a:prstGeom>
        </p:spPr>
        <p:txBody>
          <a:bodyPr wrap="none">
            <a:spAutoFit/>
          </a:bodyPr>
          <a:lstStyle/>
          <a:p>
            <a:r>
              <a:rPr lang="en-IN" i="1" dirty="0"/>
              <a:t>Source: </a:t>
            </a:r>
            <a:r>
              <a:rPr lang="en-IN" i="1" dirty="0">
                <a:hlinkClick r:id="rId3"/>
              </a:rPr>
              <a:t>Spurious Correlations</a:t>
            </a:r>
            <a:endParaRPr lang="en-IN" dirty="0"/>
          </a:p>
        </p:txBody>
      </p:sp>
    </p:spTree>
    <p:extLst>
      <p:ext uri="{BB962C8B-B14F-4D97-AF65-F5344CB8AC3E}">
        <p14:creationId xmlns:p14="http://schemas.microsoft.com/office/powerpoint/2010/main" val="121404924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dirty="0"/>
              <a:t>https://www.americanscientist.org/article/understanding-the-butterfly-effect</a:t>
            </a:r>
          </a:p>
        </p:txBody>
      </p:sp>
    </p:spTree>
    <p:extLst>
      <p:ext uri="{BB962C8B-B14F-4D97-AF65-F5344CB8AC3E}">
        <p14:creationId xmlns:p14="http://schemas.microsoft.com/office/powerpoint/2010/main" val="152186075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BI and DA Use-Case Scenarios?</a:t>
            </a:r>
            <a:br>
              <a:rPr lang="en-IN" b="1" dirty="0"/>
            </a:br>
            <a:endParaRPr lang="en-IN" dirty="0"/>
          </a:p>
        </p:txBody>
      </p:sp>
      <p:sp>
        <p:nvSpPr>
          <p:cNvPr id="3" name="Content Placeholder 2"/>
          <p:cNvSpPr>
            <a:spLocks noGrp="1"/>
          </p:cNvSpPr>
          <p:nvPr>
            <p:ph idx="1"/>
          </p:nvPr>
        </p:nvSpPr>
        <p:spPr/>
        <p:txBody>
          <a:bodyPr>
            <a:normAutofit/>
          </a:bodyPr>
          <a:lstStyle/>
          <a:p>
            <a:r>
              <a:rPr lang="en-IN" dirty="0"/>
              <a:t>Let’s say you work for a marketing firm that uses both business intelligence and analytics to help large e-commerce companies launch new products. </a:t>
            </a:r>
          </a:p>
          <a:p>
            <a:r>
              <a:rPr lang="en-IN" dirty="0"/>
              <a:t>In order to understand what new products would be most likely to succeed (analytics), you would need to figure out:</a:t>
            </a:r>
          </a:p>
          <a:p>
            <a:pPr lvl="1"/>
            <a:r>
              <a:rPr lang="en-IN" dirty="0"/>
              <a:t>What products had been most successful in the past (BI)</a:t>
            </a:r>
          </a:p>
          <a:p>
            <a:pPr lvl="1"/>
            <a:r>
              <a:rPr lang="en-IN" dirty="0"/>
              <a:t>The seasonal trends that had influenced success for past launches (BI)</a:t>
            </a:r>
          </a:p>
          <a:p>
            <a:pPr lvl="1"/>
            <a:r>
              <a:rPr lang="en-IN" dirty="0"/>
              <a:t>Why customers bought past successful products (DA)</a:t>
            </a:r>
          </a:p>
          <a:p>
            <a:endParaRPr lang="en-IN" dirty="0"/>
          </a:p>
        </p:txBody>
      </p:sp>
    </p:spTree>
    <p:extLst>
      <p:ext uri="{BB962C8B-B14F-4D97-AF65-F5344CB8AC3E}">
        <p14:creationId xmlns:p14="http://schemas.microsoft.com/office/powerpoint/2010/main" val="6935529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dirty="0"/>
              <a:t>For example, let’s say that your hypothetical e-commerce store sold boutique women’s fashion. You will need to work with your retail analytics to understand what products will work.</a:t>
            </a:r>
          </a:p>
        </p:txBody>
      </p:sp>
    </p:spTree>
    <p:extLst>
      <p:ext uri="{BB962C8B-B14F-4D97-AF65-F5344CB8AC3E}">
        <p14:creationId xmlns:p14="http://schemas.microsoft.com/office/powerpoint/2010/main" val="416894802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1331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85825" y="1396206"/>
            <a:ext cx="7858125" cy="4381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58426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endParaRPr lang="en-IN"/>
          </a:p>
        </p:txBody>
      </p:sp>
      <p:sp>
        <p:nvSpPr>
          <p:cNvPr id="5" name="Content Placeholder 4"/>
          <p:cNvSpPr>
            <a:spLocks noGrp="1"/>
          </p:cNvSpPr>
          <p:nvPr>
            <p:ph idx="1"/>
          </p:nvPr>
        </p:nvSpPr>
        <p:spPr/>
        <p:txBody>
          <a:bodyPr>
            <a:normAutofit fontScale="85000" lnSpcReduction="10000"/>
          </a:bodyPr>
          <a:lstStyle/>
          <a:p>
            <a:r>
              <a:rPr lang="en-IN" dirty="0"/>
              <a:t>First, you would examine what categories of clothing are driving the most profits. </a:t>
            </a:r>
          </a:p>
          <a:p>
            <a:r>
              <a:rPr lang="en-IN" dirty="0"/>
              <a:t>Then, you can examine what times in the year those successful products had been launched. </a:t>
            </a:r>
          </a:p>
          <a:p>
            <a:r>
              <a:rPr lang="en-IN" dirty="0"/>
              <a:t>Finally, you could do a series of in-depth customer interviews in order to figure out why customers liked those pieces or categories more than the others.</a:t>
            </a:r>
          </a:p>
          <a:p>
            <a:r>
              <a:rPr lang="en-IN" dirty="0"/>
              <a:t>If you did enough </a:t>
            </a:r>
            <a:r>
              <a:rPr lang="en-IN" dirty="0">
                <a:solidFill>
                  <a:srgbClr val="FF0000"/>
                </a:solidFill>
              </a:rPr>
              <a:t>market</a:t>
            </a:r>
            <a:r>
              <a:rPr lang="en-IN" dirty="0"/>
              <a:t> </a:t>
            </a:r>
            <a:r>
              <a:rPr lang="en-IN" dirty="0">
                <a:solidFill>
                  <a:srgbClr val="FF0000"/>
                </a:solidFill>
              </a:rPr>
              <a:t>research</a:t>
            </a:r>
            <a:r>
              <a:rPr lang="en-IN" dirty="0"/>
              <a:t>, and you had a large enough sample size, you should be able to predict with a great deal of accuracy which new products would be likely to succeed.</a:t>
            </a:r>
          </a:p>
          <a:p>
            <a:r>
              <a:rPr lang="en-IN" dirty="0"/>
              <a:t>This could lead to surprises in the way that you think about your products because your customers often have a very different way of looking at your products than you do.</a:t>
            </a:r>
          </a:p>
        </p:txBody>
      </p:sp>
    </p:spTree>
    <p:extLst>
      <p:ext uri="{BB962C8B-B14F-4D97-AF65-F5344CB8AC3E}">
        <p14:creationId xmlns:p14="http://schemas.microsoft.com/office/powerpoint/2010/main" val="8611134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IN" b="1" dirty="0"/>
              <a:t>BI and DA Dismantle Assumptions</a:t>
            </a:r>
            <a:endParaRPr lang="en-IN" dirty="0"/>
          </a:p>
        </p:txBody>
      </p:sp>
      <p:sp>
        <p:nvSpPr>
          <p:cNvPr id="5" name="Content Placeholder 4"/>
          <p:cNvSpPr>
            <a:spLocks noGrp="1"/>
          </p:cNvSpPr>
          <p:nvPr>
            <p:ph idx="1"/>
          </p:nvPr>
        </p:nvSpPr>
        <p:spPr>
          <a:xfrm>
            <a:off x="755576" y="980729"/>
            <a:ext cx="8174028" cy="5040560"/>
          </a:xfrm>
        </p:spPr>
        <p:txBody>
          <a:bodyPr>
            <a:normAutofit fontScale="85000" lnSpcReduction="10000"/>
          </a:bodyPr>
          <a:lstStyle/>
          <a:p>
            <a:r>
              <a:rPr lang="en-IN" dirty="0"/>
              <a:t>For example, maybe your </a:t>
            </a:r>
            <a:r>
              <a:rPr lang="en-IN" dirty="0">
                <a:solidFill>
                  <a:srgbClr val="FF0000"/>
                </a:solidFill>
              </a:rPr>
              <a:t>assumption</a:t>
            </a:r>
            <a:r>
              <a:rPr lang="en-IN" dirty="0"/>
              <a:t> was that your customers mainly cared about the price point of your garments.</a:t>
            </a:r>
          </a:p>
          <a:p>
            <a:r>
              <a:rPr lang="en-IN" dirty="0"/>
              <a:t>After your research, however, you found your customers were actually willing to spend more on your products if you emphasized your humane sourcing practices, such as not utilizing sweatshops.</a:t>
            </a:r>
          </a:p>
          <a:p>
            <a:r>
              <a:rPr lang="en-IN" dirty="0"/>
              <a:t>Then, your focus would be on continuing to use that positioning in your marketing messages as opposed to worrying about the price points of your garments so much when doing a product launch.</a:t>
            </a:r>
          </a:p>
          <a:p>
            <a:r>
              <a:rPr lang="en-IN" dirty="0"/>
              <a:t>The fundamental important points of </a:t>
            </a:r>
            <a:r>
              <a:rPr lang="en-IN" b="1" dirty="0"/>
              <a:t>BI</a:t>
            </a:r>
            <a:r>
              <a:rPr lang="en-IN" dirty="0"/>
              <a:t> and </a:t>
            </a:r>
            <a:r>
              <a:rPr lang="en-IN" b="1" dirty="0"/>
              <a:t>DA</a:t>
            </a:r>
            <a:r>
              <a:rPr lang="en-IN" dirty="0"/>
              <a:t>:</a:t>
            </a:r>
          </a:p>
          <a:p>
            <a:pPr lvl="1"/>
            <a:r>
              <a:rPr lang="en-IN" dirty="0"/>
              <a:t>Your assumptions about your organization, your customers, your marketplace, and your products, are often flat out wrong – or at the very least, incomplete. </a:t>
            </a:r>
          </a:p>
          <a:p>
            <a:pPr lvl="1"/>
            <a:r>
              <a:rPr lang="en-IN" dirty="0"/>
              <a:t>After asking the right questions, analytics are here to help – whichever your industry or sector</a:t>
            </a:r>
          </a:p>
          <a:p>
            <a:endParaRPr lang="en-IN" dirty="0"/>
          </a:p>
        </p:txBody>
      </p:sp>
    </p:spTree>
    <p:extLst>
      <p:ext uri="{BB962C8B-B14F-4D97-AF65-F5344CB8AC3E}">
        <p14:creationId xmlns:p14="http://schemas.microsoft.com/office/powerpoint/2010/main" val="9216412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Common challenges of data analytics</a:t>
            </a:r>
            <a:endParaRPr lang="en-IN" dirty="0"/>
          </a:p>
        </p:txBody>
      </p:sp>
      <p:sp>
        <p:nvSpPr>
          <p:cNvPr id="3" name="Content Placeholder 2"/>
          <p:cNvSpPr>
            <a:spLocks noGrp="1"/>
          </p:cNvSpPr>
          <p:nvPr>
            <p:ph idx="1"/>
          </p:nvPr>
        </p:nvSpPr>
        <p:spPr/>
        <p:txBody>
          <a:bodyPr/>
          <a:lstStyle/>
          <a:p>
            <a:r>
              <a:rPr lang="en-IN" b="1" dirty="0"/>
              <a:t>Too many data sources</a:t>
            </a:r>
          </a:p>
          <a:p>
            <a:r>
              <a:rPr lang="en-IN" b="1" dirty="0"/>
              <a:t>Lack of skills</a:t>
            </a:r>
          </a:p>
          <a:p>
            <a:r>
              <a:rPr lang="en-IN" b="1" dirty="0"/>
              <a:t>Data storage limitations</a:t>
            </a:r>
            <a:endParaRPr lang="en-IN" dirty="0"/>
          </a:p>
        </p:txBody>
      </p:sp>
    </p:spTree>
    <p:extLst>
      <p:ext uri="{BB962C8B-B14F-4D97-AF65-F5344CB8AC3E}">
        <p14:creationId xmlns:p14="http://schemas.microsoft.com/office/powerpoint/2010/main" val="239580863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Roles and responsibilities in Data/business analytics</a:t>
            </a:r>
            <a:endParaRPr lang="en-IN" dirty="0"/>
          </a:p>
        </p:txBody>
      </p:sp>
      <p:sp>
        <p:nvSpPr>
          <p:cNvPr id="3" name="Content Placeholder 2"/>
          <p:cNvSpPr>
            <a:spLocks noGrp="1"/>
          </p:cNvSpPr>
          <p:nvPr>
            <p:ph idx="1"/>
          </p:nvPr>
        </p:nvSpPr>
        <p:spPr/>
        <p:txBody>
          <a:bodyPr>
            <a:normAutofit fontScale="92500"/>
          </a:bodyPr>
          <a:lstStyle/>
          <a:p>
            <a:r>
              <a:rPr lang="en-IN" dirty="0"/>
              <a:t>Business analytics professionals' main responsibility is to collect and analyze data to influence strategic decisions that a business makes. Some initiatives they might provide analysis for include the following:</a:t>
            </a:r>
          </a:p>
          <a:p>
            <a:pPr lvl="1"/>
            <a:r>
              <a:rPr lang="en-IN" dirty="0"/>
              <a:t>identifying strategic opportunities from data patterns;</a:t>
            </a:r>
          </a:p>
          <a:p>
            <a:pPr lvl="1"/>
            <a:r>
              <a:rPr lang="en-IN" dirty="0"/>
              <a:t>identifying potential problems facing the business and solutions;</a:t>
            </a:r>
          </a:p>
          <a:p>
            <a:pPr lvl="1"/>
            <a:r>
              <a:rPr lang="en-IN" dirty="0"/>
              <a:t>creating a budget and business forecast;</a:t>
            </a:r>
          </a:p>
          <a:p>
            <a:pPr lvl="1"/>
            <a:r>
              <a:rPr lang="en-IN" dirty="0"/>
              <a:t>monitoring progress with business initiatives;</a:t>
            </a:r>
          </a:p>
          <a:p>
            <a:pPr lvl="1"/>
            <a:r>
              <a:rPr lang="en-IN" dirty="0"/>
              <a:t>reporting progress on business objectives back to stakeholders;</a:t>
            </a:r>
          </a:p>
          <a:p>
            <a:pPr lvl="1"/>
            <a:r>
              <a:rPr lang="en-IN" dirty="0"/>
              <a:t>understanding KPIs; and</a:t>
            </a:r>
          </a:p>
          <a:p>
            <a:pPr lvl="1"/>
            <a:r>
              <a:rPr lang="en-IN" dirty="0"/>
              <a:t>understanding regulatory and reporting requirements.</a:t>
            </a:r>
          </a:p>
          <a:p>
            <a:pPr lvl="1"/>
            <a:endParaRPr lang="en-IN" dirty="0"/>
          </a:p>
        </p:txBody>
      </p:sp>
    </p:spTree>
    <p:extLst>
      <p:ext uri="{BB962C8B-B14F-4D97-AF65-F5344CB8AC3E}">
        <p14:creationId xmlns:p14="http://schemas.microsoft.com/office/powerpoint/2010/main" val="86794592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dirty="0"/>
              <a:t>Business analysts must have a mixture of hard and soft skills. </a:t>
            </a:r>
          </a:p>
          <a:p>
            <a:r>
              <a:rPr lang="en-IN" dirty="0"/>
              <a:t>A business analyst does not need a deep understanding of IT but does need to understand how systems work together. </a:t>
            </a:r>
          </a:p>
          <a:p>
            <a:r>
              <a:rPr lang="en-IN" dirty="0"/>
              <a:t>Some business analysts choose to move from an IT-centric role into a BA role.</a:t>
            </a:r>
          </a:p>
        </p:txBody>
      </p:sp>
    </p:spTree>
    <p:extLst>
      <p:ext uri="{BB962C8B-B14F-4D97-AF65-F5344CB8AC3E}">
        <p14:creationId xmlns:p14="http://schemas.microsoft.com/office/powerpoint/2010/main" val="413038391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Busting Business Analytics Myths</a:t>
            </a:r>
            <a:endParaRPr lang="en-IN" dirty="0"/>
          </a:p>
        </p:txBody>
      </p:sp>
      <p:sp>
        <p:nvSpPr>
          <p:cNvPr id="3" name="Content Placeholder 2"/>
          <p:cNvSpPr>
            <a:spLocks noGrp="1"/>
          </p:cNvSpPr>
          <p:nvPr>
            <p:ph idx="1"/>
          </p:nvPr>
        </p:nvSpPr>
        <p:spPr/>
        <p:txBody>
          <a:bodyPr/>
          <a:lstStyle/>
          <a:p>
            <a:r>
              <a:rPr lang="en-IN" b="1" dirty="0"/>
              <a:t>You Need Programming to Learn Business Analytics</a:t>
            </a:r>
          </a:p>
          <a:p>
            <a:r>
              <a:rPr lang="en-IN" b="1" dirty="0"/>
              <a:t>You Need Advanced Maths for Business Analytics</a:t>
            </a:r>
          </a:p>
          <a:p>
            <a:r>
              <a:rPr lang="en-IN" b="1" dirty="0"/>
              <a:t>Learning BA Tools And Techniques is Enough for Becoming a Good Business Analyst </a:t>
            </a:r>
          </a:p>
          <a:p>
            <a:r>
              <a:rPr lang="en-IN" b="1" dirty="0"/>
              <a:t>A Business Analytics Profile Is All About Crunching Numbers</a:t>
            </a:r>
            <a:endParaRPr lang="en-IN" dirty="0"/>
          </a:p>
        </p:txBody>
      </p:sp>
    </p:spTree>
    <p:extLst>
      <p:ext uri="{BB962C8B-B14F-4D97-AF65-F5344CB8AC3E}">
        <p14:creationId xmlns:p14="http://schemas.microsoft.com/office/powerpoint/2010/main" val="414094460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92500" lnSpcReduction="10000"/>
          </a:bodyPr>
          <a:lstStyle/>
          <a:p>
            <a:r>
              <a:rPr lang="en-IN" dirty="0" err="1"/>
              <a:t>Dr.</a:t>
            </a:r>
            <a:r>
              <a:rPr lang="en-IN" dirty="0"/>
              <a:t> </a:t>
            </a:r>
            <a:r>
              <a:rPr lang="en-IN" dirty="0" err="1"/>
              <a:t>Bappaditya</a:t>
            </a:r>
            <a:r>
              <a:rPr lang="en-IN" dirty="0"/>
              <a:t> (Director, PG Program Business Analytics Program, Great Lakes) explains this with an example:</a:t>
            </a:r>
          </a:p>
          <a:p>
            <a:r>
              <a:rPr lang="en-IN" dirty="0"/>
              <a:t> “A million records of a customer for credit cards are processed to figure out bad customers from good ones. While a data scientist will crunch that data to find insights, a Business Analytics professional will put a decision rule to it. A business analyst will look at all this data and come to the simple rule that customer is good if his credit score is above this (let’s say 95%)  or his income is above that and the number of dependents is this. Otherwise, a customer is bad.</a:t>
            </a:r>
            <a:br>
              <a:rPr lang="en-IN" dirty="0"/>
            </a:br>
            <a:r>
              <a:rPr lang="en-IN" dirty="0"/>
              <a:t>So, Business Analytics is much more applied and with a very specific objective in mind.</a:t>
            </a:r>
          </a:p>
          <a:p>
            <a:endParaRPr lang="en-IN" dirty="0"/>
          </a:p>
        </p:txBody>
      </p:sp>
    </p:spTree>
    <p:extLst>
      <p:ext uri="{BB962C8B-B14F-4D97-AF65-F5344CB8AC3E}">
        <p14:creationId xmlns:p14="http://schemas.microsoft.com/office/powerpoint/2010/main" val="402461724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Business Analytics FAQs</a:t>
            </a:r>
          </a:p>
        </p:txBody>
      </p:sp>
      <p:sp>
        <p:nvSpPr>
          <p:cNvPr id="3" name="Content Placeholder 2"/>
          <p:cNvSpPr>
            <a:spLocks noGrp="1"/>
          </p:cNvSpPr>
          <p:nvPr>
            <p:ph idx="1"/>
          </p:nvPr>
        </p:nvSpPr>
        <p:spPr/>
        <p:txBody>
          <a:bodyPr>
            <a:normAutofit fontScale="55000" lnSpcReduction="20000"/>
          </a:bodyPr>
          <a:lstStyle/>
          <a:p>
            <a:r>
              <a:rPr lang="en-IN" b="1" dirty="0"/>
              <a:t>1. What is business analytics in simple words?</a:t>
            </a:r>
            <a:endParaRPr lang="en-IN" dirty="0"/>
          </a:p>
          <a:p>
            <a:r>
              <a:rPr lang="en-IN" dirty="0"/>
              <a:t>In simple words, business analytics is a process through which businesses make use of various technologies and statistical methods to analyze data to help in gaining new insights that can further help in decision-making.</a:t>
            </a:r>
          </a:p>
          <a:p>
            <a:r>
              <a:rPr lang="en-IN" b="1" dirty="0"/>
              <a:t>2. What do business analytics do?</a:t>
            </a:r>
            <a:endParaRPr lang="en-IN" dirty="0"/>
          </a:p>
          <a:p>
            <a:r>
              <a:rPr lang="en-IN" dirty="0"/>
              <a:t>Business Analytics have numerous responsibilities. They work on utilizing statistical data, big data, and data visualization to aid in business decision and implementing organizational changes. They also help in predicting outcomes based on insights and taking informed decisions.</a:t>
            </a:r>
          </a:p>
          <a:p>
            <a:r>
              <a:rPr lang="en-IN" b="1" dirty="0"/>
              <a:t>3. What are the 3 types of business analytics?</a:t>
            </a:r>
            <a:endParaRPr lang="en-IN" dirty="0"/>
          </a:p>
          <a:p>
            <a:r>
              <a:rPr lang="en-IN" dirty="0"/>
              <a:t>The three main types of business analytics are:</a:t>
            </a:r>
          </a:p>
          <a:p>
            <a:r>
              <a:rPr lang="en-IN" dirty="0"/>
              <a:t>Descriptive Analytics</a:t>
            </a:r>
          </a:p>
          <a:p>
            <a:r>
              <a:rPr lang="en-IN" dirty="0"/>
              <a:t>Predictive Analytics</a:t>
            </a:r>
          </a:p>
          <a:p>
            <a:r>
              <a:rPr lang="en-IN" dirty="0"/>
              <a:t>Prescriptive Analytics</a:t>
            </a:r>
          </a:p>
          <a:p>
            <a:r>
              <a:rPr lang="en-IN" b="1" dirty="0"/>
              <a:t>4. What are examples of business analytics?</a:t>
            </a:r>
            <a:endParaRPr lang="en-IN" dirty="0"/>
          </a:p>
          <a:p>
            <a:r>
              <a:rPr lang="en-IN" dirty="0"/>
              <a:t>Business Analytics is used in almost every industry today. Some of the real-world examples of business analytics are developing marketing strategies, increasing sales, improving financial efficiency, streamlining processes, increasing productivity, and using predictive analytics.</a:t>
            </a:r>
          </a:p>
        </p:txBody>
      </p:sp>
    </p:spTree>
    <p:extLst>
      <p:ext uri="{BB962C8B-B14F-4D97-AF65-F5344CB8AC3E}">
        <p14:creationId xmlns:p14="http://schemas.microsoft.com/office/powerpoint/2010/main" val="219959623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00004" y="188641"/>
            <a:ext cx="8229600" cy="5661952"/>
          </a:xfrm>
        </p:spPr>
        <p:txBody>
          <a:bodyPr>
            <a:normAutofit fontScale="47500" lnSpcReduction="20000"/>
          </a:bodyPr>
          <a:lstStyle/>
          <a:p>
            <a:r>
              <a:rPr lang="en-IN" b="1" dirty="0"/>
              <a:t>5. Is business analytics a good career?</a:t>
            </a:r>
            <a:endParaRPr lang="en-IN" dirty="0"/>
          </a:p>
          <a:p>
            <a:r>
              <a:rPr lang="en-IN" dirty="0"/>
              <a:t>Yes, business analytics is a good career. Organizations depend on Business Analysts to provide valuable insights that can be helpful in decision making. Business analytics professionals are required in all industries, be it financial institutions or e-commerce sites. Upskilling in the field of business analytics can help you power ahead your career.</a:t>
            </a:r>
          </a:p>
          <a:p>
            <a:r>
              <a:rPr lang="en-IN" b="1" dirty="0"/>
              <a:t>6. How difficult is business analytics?</a:t>
            </a:r>
            <a:endParaRPr lang="en-IN" dirty="0"/>
          </a:p>
          <a:p>
            <a:r>
              <a:rPr lang="en-IN" dirty="0"/>
              <a:t>The learning outcomes may vary from one individual to another. Some may find business analytics difficult and some might be able to grasp the concepts easily. However, choosing the right format of learning (online courses, video tutorials, books, etc.), will help make it easier. Choosing the right </a:t>
            </a:r>
            <a:r>
              <a:rPr lang="en-IN" dirty="0">
                <a:hlinkClick r:id="rId2"/>
              </a:rPr>
              <a:t>online courses</a:t>
            </a:r>
            <a:r>
              <a:rPr lang="en-IN" dirty="0"/>
              <a:t> which mentor guidance will surely help make the process easier.</a:t>
            </a:r>
          </a:p>
          <a:p>
            <a:r>
              <a:rPr lang="en-IN" b="1" dirty="0"/>
              <a:t>7. Is business analyst an IT job?</a:t>
            </a:r>
            <a:endParaRPr lang="en-IN" dirty="0"/>
          </a:p>
          <a:p>
            <a:r>
              <a:rPr lang="en-IN" dirty="0"/>
              <a:t>A combination of technical skills such as statistical analysis software’s, SQL and database query languages, data mining, data visualization, business intelligence, and soft skills are required for a business analyst. IT Business Analyst is one of the career paths you can take up as a business analyst.</a:t>
            </a:r>
          </a:p>
          <a:p>
            <a:r>
              <a:rPr lang="en-IN" b="1" dirty="0"/>
              <a:t>8. Does business analytics require coding?</a:t>
            </a:r>
            <a:endParaRPr lang="en-IN" dirty="0"/>
          </a:p>
          <a:p>
            <a:r>
              <a:rPr lang="en-IN" dirty="0"/>
              <a:t>Business Analytics is more statistics oriented. However, some of these tools may include SQL, Python, and thus having some coding and programming knowledge is required. Depending on the company and your job description, the requirements may vary.</a:t>
            </a:r>
          </a:p>
          <a:p>
            <a:r>
              <a:rPr lang="en-IN" b="1" dirty="0"/>
              <a:t>9. What skills are needed for business analyst?</a:t>
            </a:r>
            <a:endParaRPr lang="en-IN" dirty="0"/>
          </a:p>
          <a:p>
            <a:r>
              <a:rPr lang="en-IN" dirty="0"/>
              <a:t>Some of the skills needed for business analysts are:</a:t>
            </a:r>
          </a:p>
          <a:p>
            <a:r>
              <a:rPr lang="en-IN" dirty="0"/>
              <a:t>Analytical and problem solving</a:t>
            </a:r>
          </a:p>
          <a:p>
            <a:r>
              <a:rPr lang="en-IN" dirty="0"/>
              <a:t>Oral and written communication proficiency</a:t>
            </a:r>
          </a:p>
          <a:p>
            <a:r>
              <a:rPr lang="en-IN" dirty="0"/>
              <a:t>Basic programing language knowledge</a:t>
            </a:r>
          </a:p>
          <a:p>
            <a:r>
              <a:rPr lang="en-IN" dirty="0"/>
              <a:t>Business structure understanding</a:t>
            </a:r>
          </a:p>
          <a:p>
            <a:r>
              <a:rPr lang="en-IN" dirty="0"/>
              <a:t>Cost-Benefit Analysis</a:t>
            </a:r>
          </a:p>
          <a:p>
            <a:r>
              <a:rPr lang="en-IN" dirty="0"/>
              <a:t>Statistical analysis software (e.g. R, SAS, SPSS, or STATA)</a:t>
            </a:r>
          </a:p>
          <a:p>
            <a:endParaRPr lang="en-IN" dirty="0"/>
          </a:p>
          <a:p>
            <a:endParaRPr lang="en-IN" dirty="0"/>
          </a:p>
        </p:txBody>
      </p:sp>
    </p:spTree>
    <p:extLst>
      <p:ext uri="{BB962C8B-B14F-4D97-AF65-F5344CB8AC3E}">
        <p14:creationId xmlns:p14="http://schemas.microsoft.com/office/powerpoint/2010/main" val="321186952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14338"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700088" y="2212952"/>
            <a:ext cx="8229600" cy="274800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Rectangle 5"/>
          <p:cNvSpPr/>
          <p:nvPr/>
        </p:nvSpPr>
        <p:spPr>
          <a:xfrm>
            <a:off x="2874159" y="5445224"/>
            <a:ext cx="1842171" cy="369332"/>
          </a:xfrm>
          <a:prstGeom prst="rect">
            <a:avLst/>
          </a:prstGeom>
        </p:spPr>
        <p:txBody>
          <a:bodyPr wrap="none">
            <a:spAutoFit/>
          </a:bodyPr>
          <a:lstStyle/>
          <a:p>
            <a:r>
              <a:rPr lang="en-IN" dirty="0">
                <a:hlinkClick r:id="rId3"/>
              </a:rPr>
              <a:t>Source: (excelr.in)</a:t>
            </a:r>
            <a:endParaRPr lang="en-IN" dirty="0"/>
          </a:p>
        </p:txBody>
      </p:sp>
    </p:spTree>
    <p:extLst>
      <p:ext uri="{BB962C8B-B14F-4D97-AF65-F5344CB8AC3E}">
        <p14:creationId xmlns:p14="http://schemas.microsoft.com/office/powerpoint/2010/main" val="350807612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There are 5 Courses in this Specialization</a:t>
            </a:r>
          </a:p>
        </p:txBody>
      </p:sp>
      <p:sp>
        <p:nvSpPr>
          <p:cNvPr id="3" name="Content Placeholder 2"/>
          <p:cNvSpPr>
            <a:spLocks noGrp="1"/>
          </p:cNvSpPr>
          <p:nvPr>
            <p:ph idx="1"/>
          </p:nvPr>
        </p:nvSpPr>
        <p:spPr/>
        <p:txBody>
          <a:bodyPr/>
          <a:lstStyle/>
          <a:p>
            <a:pPr marL="514350" indent="-514350">
              <a:buFont typeface="+mj-lt"/>
              <a:buAutoNum type="arabicPeriod"/>
            </a:pPr>
            <a:r>
              <a:rPr lang="en-IN" dirty="0"/>
              <a:t>Customer Analytics</a:t>
            </a:r>
            <a:endParaRPr lang="en-IN" dirty="0">
              <a:hlinkClick r:id="rId2"/>
            </a:endParaRPr>
          </a:p>
          <a:p>
            <a:pPr marL="514350" indent="-514350">
              <a:buFont typeface="+mj-lt"/>
              <a:buAutoNum type="arabicPeriod"/>
            </a:pPr>
            <a:r>
              <a:rPr lang="en-IN" dirty="0"/>
              <a:t>Operations Analytics</a:t>
            </a:r>
          </a:p>
          <a:p>
            <a:pPr marL="514350" indent="-514350">
              <a:buFont typeface="+mj-lt"/>
              <a:buAutoNum type="arabicPeriod"/>
            </a:pPr>
            <a:r>
              <a:rPr lang="en-IN" dirty="0"/>
              <a:t>People Analytics</a:t>
            </a:r>
          </a:p>
          <a:p>
            <a:pPr marL="514350" indent="-514350">
              <a:buFont typeface="+mj-lt"/>
              <a:buAutoNum type="arabicPeriod"/>
            </a:pPr>
            <a:r>
              <a:rPr lang="en-IN" dirty="0"/>
              <a:t>Accounting Analytics</a:t>
            </a:r>
          </a:p>
          <a:p>
            <a:pPr marL="514350" indent="-514350">
              <a:buFont typeface="+mj-lt"/>
              <a:buAutoNum type="arabicPeriod"/>
            </a:pPr>
            <a:r>
              <a:rPr lang="en-IN" dirty="0"/>
              <a:t>Business Analytics Capstone</a:t>
            </a:r>
          </a:p>
        </p:txBody>
      </p:sp>
    </p:spTree>
    <p:extLst>
      <p:ext uri="{BB962C8B-B14F-4D97-AF65-F5344CB8AC3E}">
        <p14:creationId xmlns:p14="http://schemas.microsoft.com/office/powerpoint/2010/main" val="287274698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Skills Every Business Analytics Professional Needs</a:t>
            </a:r>
            <a:endParaRPr lang="en-IN" dirty="0"/>
          </a:p>
        </p:txBody>
      </p:sp>
      <p:sp>
        <p:nvSpPr>
          <p:cNvPr id="3" name="Content Placeholder 2"/>
          <p:cNvSpPr>
            <a:spLocks noGrp="1"/>
          </p:cNvSpPr>
          <p:nvPr>
            <p:ph idx="1"/>
          </p:nvPr>
        </p:nvSpPr>
        <p:spPr/>
        <p:txBody>
          <a:bodyPr>
            <a:normAutofit lnSpcReduction="10000"/>
          </a:bodyPr>
          <a:lstStyle/>
          <a:p>
            <a:pPr marL="514350" indent="-514350">
              <a:buFont typeface="+mj-lt"/>
              <a:buAutoNum type="arabicPeriod"/>
            </a:pPr>
            <a:r>
              <a:rPr lang="en-IN" dirty="0"/>
              <a:t>A good communicator</a:t>
            </a:r>
          </a:p>
          <a:p>
            <a:pPr marL="514350" indent="-514350">
              <a:buFont typeface="+mj-lt"/>
              <a:buAutoNum type="arabicPeriod"/>
            </a:pPr>
            <a:r>
              <a:rPr lang="en-IN" dirty="0"/>
              <a:t>Inquisitive</a:t>
            </a:r>
          </a:p>
          <a:p>
            <a:pPr marL="514350" indent="-514350">
              <a:buFont typeface="+mj-lt"/>
              <a:buAutoNum type="arabicPeriod"/>
            </a:pPr>
            <a:r>
              <a:rPr lang="en-IN" dirty="0"/>
              <a:t>A problem solver</a:t>
            </a:r>
          </a:p>
          <a:p>
            <a:pPr marL="514350" indent="-514350">
              <a:buFont typeface="+mj-lt"/>
              <a:buAutoNum type="arabicPeriod"/>
            </a:pPr>
            <a:r>
              <a:rPr lang="en-IN" dirty="0"/>
              <a:t>A critical thinker</a:t>
            </a:r>
          </a:p>
          <a:p>
            <a:pPr marL="514350" indent="-514350">
              <a:buFont typeface="+mj-lt"/>
              <a:buAutoNum type="arabicPeriod"/>
            </a:pPr>
            <a:r>
              <a:rPr lang="en-IN" dirty="0"/>
              <a:t>A visualizer</a:t>
            </a:r>
          </a:p>
          <a:p>
            <a:pPr marL="514350" indent="-514350">
              <a:buFont typeface="+mj-lt"/>
              <a:buAutoNum type="arabicPeriod"/>
            </a:pPr>
            <a:r>
              <a:rPr lang="en-IN" dirty="0"/>
              <a:t>Both detail-oriented and a big picture thinker</a:t>
            </a:r>
          </a:p>
          <a:p>
            <a:pPr marL="514350" indent="-514350">
              <a:buFont typeface="+mj-lt"/>
              <a:buAutoNum type="arabicPeriod"/>
            </a:pPr>
            <a:r>
              <a:rPr lang="en-IN" dirty="0"/>
              <a:t>Statistical languages </a:t>
            </a:r>
          </a:p>
          <a:p>
            <a:pPr marL="514350" indent="-514350">
              <a:buFont typeface="+mj-lt"/>
              <a:buAutoNum type="arabicPeriod"/>
            </a:pPr>
            <a:r>
              <a:rPr lang="en-IN" dirty="0"/>
              <a:t>Statistical software**</a:t>
            </a:r>
          </a:p>
          <a:p>
            <a:pPr marL="514350" indent="-514350">
              <a:buFont typeface="+mj-lt"/>
              <a:buAutoNum type="arabicPeriod"/>
            </a:pPr>
            <a:r>
              <a:rPr lang="en-IN"/>
              <a:t>SQL***</a:t>
            </a:r>
            <a:endParaRPr lang="en-IN" dirty="0"/>
          </a:p>
        </p:txBody>
      </p:sp>
      <p:sp>
        <p:nvSpPr>
          <p:cNvPr id="4" name="Rectangle 3"/>
          <p:cNvSpPr/>
          <p:nvPr/>
        </p:nvSpPr>
        <p:spPr>
          <a:xfrm>
            <a:off x="2627784" y="5733256"/>
            <a:ext cx="4572000" cy="369332"/>
          </a:xfrm>
          <a:prstGeom prst="rect">
            <a:avLst/>
          </a:prstGeom>
        </p:spPr>
        <p:txBody>
          <a:bodyPr>
            <a:spAutoFit/>
          </a:bodyPr>
          <a:lstStyle/>
          <a:p>
            <a:r>
              <a:rPr lang="en-IN" dirty="0">
                <a:hlinkClick r:id="rId2"/>
              </a:rPr>
              <a:t>Source : (hbs.edu)</a:t>
            </a:r>
            <a:endParaRPr lang="en-IN" dirty="0"/>
          </a:p>
        </p:txBody>
      </p:sp>
    </p:spTree>
    <p:extLst>
      <p:ext uri="{BB962C8B-B14F-4D97-AF65-F5344CB8AC3E}">
        <p14:creationId xmlns:p14="http://schemas.microsoft.com/office/powerpoint/2010/main" val="109051322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Data for Data Analytics</a:t>
            </a:r>
            <a:endParaRPr lang="en-IN" dirty="0"/>
          </a:p>
        </p:txBody>
      </p:sp>
      <p:sp>
        <p:nvSpPr>
          <p:cNvPr id="3" name="Content Placeholder 2"/>
          <p:cNvSpPr>
            <a:spLocks noGrp="1"/>
          </p:cNvSpPr>
          <p:nvPr>
            <p:ph idx="1"/>
          </p:nvPr>
        </p:nvSpPr>
        <p:spPr/>
        <p:txBody>
          <a:bodyPr/>
          <a:lstStyle/>
          <a:p>
            <a:r>
              <a:rPr lang="en-IN" i="1" dirty="0"/>
              <a:t>Data </a:t>
            </a:r>
            <a:r>
              <a:rPr lang="en-IN" dirty="0"/>
              <a:t>are numerical facts and figures that are collected through some type of measurement process. </a:t>
            </a:r>
            <a:br>
              <a:rPr lang="en-IN" dirty="0"/>
            </a:br>
            <a:endParaRPr lang="en-IN" dirty="0"/>
          </a:p>
        </p:txBody>
      </p:sp>
    </p:spTree>
    <p:extLst>
      <p:ext uri="{BB962C8B-B14F-4D97-AF65-F5344CB8AC3E}">
        <p14:creationId xmlns:p14="http://schemas.microsoft.com/office/powerpoint/2010/main" val="48812651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dirty="0"/>
              <a:t>Data are used in virtually every major function in a business. </a:t>
            </a:r>
          </a:p>
          <a:p>
            <a:endParaRPr lang="en-IN" dirty="0"/>
          </a:p>
        </p:txBody>
      </p:sp>
    </p:spTree>
    <p:extLst>
      <p:ext uri="{BB962C8B-B14F-4D97-AF65-F5344CB8AC3E}">
        <p14:creationId xmlns:p14="http://schemas.microsoft.com/office/powerpoint/2010/main" val="346746975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3200" b="1" dirty="0"/>
              <a:t>Some examples of how data are used in business include the following: </a:t>
            </a:r>
          </a:p>
        </p:txBody>
      </p:sp>
      <p:sp>
        <p:nvSpPr>
          <p:cNvPr id="3" name="Content Placeholder 2"/>
          <p:cNvSpPr>
            <a:spLocks noGrp="1"/>
          </p:cNvSpPr>
          <p:nvPr>
            <p:ph idx="1"/>
          </p:nvPr>
        </p:nvSpPr>
        <p:spPr/>
        <p:txBody>
          <a:bodyPr>
            <a:normAutofit fontScale="92500" lnSpcReduction="20000"/>
          </a:bodyPr>
          <a:lstStyle/>
          <a:p>
            <a:r>
              <a:rPr lang="en-IN" b="1" dirty="0">
                <a:solidFill>
                  <a:srgbClr val="FF0000"/>
                </a:solidFill>
              </a:rPr>
              <a:t>Annual</a:t>
            </a:r>
            <a:r>
              <a:rPr lang="en-IN" dirty="0">
                <a:solidFill>
                  <a:srgbClr val="FF0000"/>
                </a:solidFill>
              </a:rPr>
              <a:t> </a:t>
            </a:r>
            <a:r>
              <a:rPr lang="en-IN" b="1" dirty="0">
                <a:solidFill>
                  <a:srgbClr val="FF0000"/>
                </a:solidFill>
              </a:rPr>
              <a:t>reports</a:t>
            </a:r>
            <a:r>
              <a:rPr lang="en-IN" dirty="0">
                <a:solidFill>
                  <a:srgbClr val="FF0000"/>
                </a:solidFill>
              </a:rPr>
              <a:t> </a:t>
            </a:r>
            <a:r>
              <a:rPr lang="en-IN" dirty="0"/>
              <a:t>summarize data about companies’ profitability and market share both in numerical form and in charts and graphs to communicate with shareholders.</a:t>
            </a:r>
          </a:p>
          <a:p>
            <a:r>
              <a:rPr lang="en-IN" b="1" dirty="0">
                <a:solidFill>
                  <a:srgbClr val="FF0000"/>
                </a:solidFill>
              </a:rPr>
              <a:t>Accountants</a:t>
            </a:r>
            <a:r>
              <a:rPr lang="en-IN" dirty="0">
                <a:solidFill>
                  <a:srgbClr val="FF0000"/>
                </a:solidFill>
              </a:rPr>
              <a:t> </a:t>
            </a:r>
            <a:r>
              <a:rPr lang="en-IN" dirty="0"/>
              <a:t>conduct audits to determine whether figures reported on a </a:t>
            </a:r>
            <a:r>
              <a:rPr lang="en-IN" b="1" dirty="0">
                <a:solidFill>
                  <a:srgbClr val="FF0000"/>
                </a:solidFill>
              </a:rPr>
              <a:t>firm’s balance sheet</a:t>
            </a:r>
            <a:r>
              <a:rPr lang="en-IN" dirty="0"/>
              <a:t> fairly represent the actual data by examining samples (that is, subsets) of accounting data, such as accounts receivable.</a:t>
            </a:r>
          </a:p>
          <a:p>
            <a:r>
              <a:rPr lang="en-IN" b="1" dirty="0">
                <a:solidFill>
                  <a:srgbClr val="FF0000"/>
                </a:solidFill>
              </a:rPr>
              <a:t>Financial analysts </a:t>
            </a:r>
            <a:r>
              <a:rPr lang="en-IN" dirty="0"/>
              <a:t>collect and analyze a variety of data to understand the contribution that a business provides to its shareholders. These typically include </a:t>
            </a:r>
            <a:r>
              <a:rPr lang="en-IN" b="1" dirty="0">
                <a:solidFill>
                  <a:srgbClr val="FF0000"/>
                </a:solidFill>
              </a:rPr>
              <a:t>profitability</a:t>
            </a:r>
            <a:r>
              <a:rPr lang="en-IN" dirty="0"/>
              <a:t>, </a:t>
            </a:r>
            <a:r>
              <a:rPr lang="en-IN" b="1" dirty="0">
                <a:solidFill>
                  <a:srgbClr val="FF0000"/>
                </a:solidFill>
              </a:rPr>
              <a:t>revenue </a:t>
            </a:r>
            <a:r>
              <a:rPr lang="en-IN" dirty="0"/>
              <a:t>growth</a:t>
            </a:r>
            <a:r>
              <a:rPr lang="en-IN" b="1" dirty="0">
                <a:solidFill>
                  <a:srgbClr val="FF0000"/>
                </a:solidFill>
              </a:rPr>
              <a:t>, return on investment</a:t>
            </a:r>
            <a:r>
              <a:rPr lang="en-IN" dirty="0"/>
              <a:t>, </a:t>
            </a:r>
            <a:r>
              <a:rPr lang="en-IN" b="1" dirty="0">
                <a:solidFill>
                  <a:srgbClr val="FF0000"/>
                </a:solidFill>
              </a:rPr>
              <a:t>asset</a:t>
            </a:r>
            <a:r>
              <a:rPr lang="en-IN" dirty="0"/>
              <a:t> </a:t>
            </a:r>
            <a:r>
              <a:rPr lang="en-IN" b="1" dirty="0">
                <a:solidFill>
                  <a:srgbClr val="FF0000"/>
                </a:solidFill>
              </a:rPr>
              <a:t>utilization</a:t>
            </a:r>
            <a:r>
              <a:rPr lang="en-IN" dirty="0"/>
              <a:t>, </a:t>
            </a:r>
            <a:r>
              <a:rPr lang="en-IN" b="1" dirty="0">
                <a:solidFill>
                  <a:srgbClr val="FF0000"/>
                </a:solidFill>
              </a:rPr>
              <a:t>operating</a:t>
            </a:r>
            <a:r>
              <a:rPr lang="en-IN" dirty="0"/>
              <a:t> </a:t>
            </a:r>
            <a:r>
              <a:rPr lang="en-IN" b="1" dirty="0">
                <a:solidFill>
                  <a:srgbClr val="FF0000"/>
                </a:solidFill>
              </a:rPr>
              <a:t>margins</a:t>
            </a:r>
            <a:r>
              <a:rPr lang="en-IN" dirty="0"/>
              <a:t>, </a:t>
            </a:r>
            <a:r>
              <a:rPr lang="en-IN" b="1" dirty="0">
                <a:solidFill>
                  <a:srgbClr val="FF0000"/>
                </a:solidFill>
              </a:rPr>
              <a:t>earnings</a:t>
            </a:r>
            <a:r>
              <a:rPr lang="en-IN" dirty="0"/>
              <a:t> </a:t>
            </a:r>
            <a:r>
              <a:rPr lang="en-IN" b="1" dirty="0">
                <a:solidFill>
                  <a:srgbClr val="FF0000"/>
                </a:solidFill>
              </a:rPr>
              <a:t>per</a:t>
            </a:r>
            <a:r>
              <a:rPr lang="en-IN" dirty="0"/>
              <a:t> </a:t>
            </a:r>
            <a:r>
              <a:rPr lang="en-IN" b="1" dirty="0">
                <a:solidFill>
                  <a:srgbClr val="FF0000"/>
                </a:solidFill>
              </a:rPr>
              <a:t>share</a:t>
            </a:r>
            <a:r>
              <a:rPr lang="en-IN" dirty="0"/>
              <a:t>, </a:t>
            </a:r>
            <a:r>
              <a:rPr lang="en-IN" b="1" dirty="0">
                <a:solidFill>
                  <a:srgbClr val="FF0000"/>
                </a:solidFill>
              </a:rPr>
              <a:t>economic value added (EVA), shareholder value</a:t>
            </a:r>
            <a:r>
              <a:rPr lang="en-IN" dirty="0"/>
              <a:t>, and other relevant measures.</a:t>
            </a:r>
            <a:br>
              <a:rPr lang="en-IN" dirty="0"/>
            </a:br>
            <a:endParaRPr lang="en-IN" dirty="0"/>
          </a:p>
        </p:txBody>
      </p:sp>
    </p:spTree>
    <p:extLst>
      <p:ext uri="{BB962C8B-B14F-4D97-AF65-F5344CB8AC3E}">
        <p14:creationId xmlns:p14="http://schemas.microsoft.com/office/powerpoint/2010/main" val="30257159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7323" y="44624"/>
            <a:ext cx="7402883" cy="874951"/>
          </a:xfrm>
        </p:spPr>
        <p:txBody>
          <a:bodyPr/>
          <a:lstStyle/>
          <a:p>
            <a:r>
              <a:rPr lang="en-IN" sz="3200" b="1" dirty="0"/>
              <a:t>Some examples of how data are used in business include the following: </a:t>
            </a:r>
          </a:p>
        </p:txBody>
      </p:sp>
      <p:sp>
        <p:nvSpPr>
          <p:cNvPr id="3" name="Content Placeholder 2"/>
          <p:cNvSpPr>
            <a:spLocks noGrp="1"/>
          </p:cNvSpPr>
          <p:nvPr>
            <p:ph idx="1"/>
          </p:nvPr>
        </p:nvSpPr>
        <p:spPr>
          <a:xfrm>
            <a:off x="700004" y="908720"/>
            <a:ext cx="8229600" cy="4525963"/>
          </a:xfrm>
        </p:spPr>
        <p:txBody>
          <a:bodyPr>
            <a:noAutofit/>
          </a:bodyPr>
          <a:lstStyle/>
          <a:p>
            <a:r>
              <a:rPr lang="en-IN" sz="2000" b="1" dirty="0">
                <a:solidFill>
                  <a:srgbClr val="FF0000"/>
                </a:solidFill>
              </a:rPr>
              <a:t>Economists</a:t>
            </a:r>
            <a:r>
              <a:rPr lang="en-IN" sz="2000" dirty="0">
                <a:solidFill>
                  <a:srgbClr val="FF0000"/>
                </a:solidFill>
              </a:rPr>
              <a:t> </a:t>
            </a:r>
            <a:r>
              <a:rPr lang="en-IN" sz="2000" dirty="0"/>
              <a:t>use data to help companies understand and predict population </a:t>
            </a:r>
            <a:r>
              <a:rPr lang="en-IN" sz="2000" b="1" dirty="0">
                <a:solidFill>
                  <a:srgbClr val="FF0000"/>
                </a:solidFill>
              </a:rPr>
              <a:t>trends, interest rates, industry performance, consumer spending, and international trade</a:t>
            </a:r>
            <a:r>
              <a:rPr lang="en-IN" sz="2000" dirty="0"/>
              <a:t>.</a:t>
            </a:r>
            <a:br>
              <a:rPr lang="en-IN" sz="2000" dirty="0"/>
            </a:br>
            <a:r>
              <a:rPr lang="en-IN" sz="2000" dirty="0"/>
              <a:t>Such data are often obtained from external sources such as Standard &amp; Poor’s </a:t>
            </a:r>
            <a:r>
              <a:rPr lang="en-IN" sz="2000" dirty="0" err="1"/>
              <a:t>Compustat</a:t>
            </a:r>
            <a:r>
              <a:rPr lang="en-IN" sz="2000" dirty="0"/>
              <a:t> data sets, industry trade associations, or government databases.</a:t>
            </a:r>
          </a:p>
          <a:p>
            <a:r>
              <a:rPr lang="en-IN" sz="2000" b="1" dirty="0">
                <a:solidFill>
                  <a:srgbClr val="FF0000"/>
                </a:solidFill>
              </a:rPr>
              <a:t>Marketing researchers</a:t>
            </a:r>
            <a:r>
              <a:rPr lang="en-IN" sz="2000" dirty="0"/>
              <a:t> collect and analyze extensive customer data. These data often consist of </a:t>
            </a:r>
            <a:r>
              <a:rPr lang="en-IN" sz="2000" b="1" dirty="0">
                <a:solidFill>
                  <a:srgbClr val="FF0000"/>
                </a:solidFill>
              </a:rPr>
              <a:t>demographics</a:t>
            </a:r>
            <a:r>
              <a:rPr lang="en-IN" sz="2000" dirty="0"/>
              <a:t>, </a:t>
            </a:r>
            <a:r>
              <a:rPr lang="en-IN" sz="2000" b="1" dirty="0">
                <a:solidFill>
                  <a:srgbClr val="FF0000"/>
                </a:solidFill>
              </a:rPr>
              <a:t>preferences</a:t>
            </a:r>
            <a:r>
              <a:rPr lang="en-IN" sz="2000" dirty="0"/>
              <a:t> and </a:t>
            </a:r>
            <a:r>
              <a:rPr lang="en-IN" sz="2000" b="1" dirty="0">
                <a:solidFill>
                  <a:srgbClr val="FF0000"/>
                </a:solidFill>
              </a:rPr>
              <a:t>opinions</a:t>
            </a:r>
            <a:r>
              <a:rPr lang="en-IN" sz="2000" dirty="0"/>
              <a:t>, </a:t>
            </a:r>
            <a:r>
              <a:rPr lang="en-IN" sz="2000" b="1" dirty="0">
                <a:solidFill>
                  <a:srgbClr val="FF0000"/>
                </a:solidFill>
              </a:rPr>
              <a:t>transaction</a:t>
            </a:r>
            <a:r>
              <a:rPr lang="en-IN" sz="2000" dirty="0"/>
              <a:t> and </a:t>
            </a:r>
            <a:r>
              <a:rPr lang="en-IN" sz="2000" b="1" dirty="0">
                <a:solidFill>
                  <a:srgbClr val="FF0000"/>
                </a:solidFill>
              </a:rPr>
              <a:t>payment</a:t>
            </a:r>
            <a:r>
              <a:rPr lang="en-IN" sz="2000" dirty="0"/>
              <a:t> history, </a:t>
            </a:r>
            <a:r>
              <a:rPr lang="en-IN" sz="2000" b="1" dirty="0">
                <a:solidFill>
                  <a:srgbClr val="FF0000"/>
                </a:solidFill>
              </a:rPr>
              <a:t>shopping</a:t>
            </a:r>
            <a:r>
              <a:rPr lang="en-IN" sz="2000" dirty="0"/>
              <a:t> </a:t>
            </a:r>
            <a:r>
              <a:rPr lang="en-IN" sz="2000" b="1" dirty="0" err="1">
                <a:solidFill>
                  <a:srgbClr val="FF0000"/>
                </a:solidFill>
              </a:rPr>
              <a:t>behavior</a:t>
            </a:r>
            <a:r>
              <a:rPr lang="en-IN" sz="2000" dirty="0"/>
              <a:t>, and a lot more. Such data may be </a:t>
            </a:r>
            <a:r>
              <a:rPr lang="en-IN" sz="2000" b="1" dirty="0">
                <a:solidFill>
                  <a:schemeClr val="accent5"/>
                </a:solidFill>
              </a:rPr>
              <a:t>collected by surveys, personal interviews, focus groups, or from shopper loyalty cards.</a:t>
            </a:r>
            <a:endParaRPr lang="en-IN" sz="2000" dirty="0"/>
          </a:p>
          <a:p>
            <a:r>
              <a:rPr lang="en-IN" sz="2000" b="1" dirty="0">
                <a:solidFill>
                  <a:srgbClr val="FF0000"/>
                </a:solidFill>
              </a:rPr>
              <a:t>Operations</a:t>
            </a:r>
            <a:r>
              <a:rPr lang="en-IN" sz="2000" dirty="0">
                <a:solidFill>
                  <a:srgbClr val="FF0000"/>
                </a:solidFill>
              </a:rPr>
              <a:t> </a:t>
            </a:r>
            <a:r>
              <a:rPr lang="en-IN" sz="2000" b="1" dirty="0">
                <a:solidFill>
                  <a:srgbClr val="FF0000"/>
                </a:solidFill>
              </a:rPr>
              <a:t>managers</a:t>
            </a:r>
            <a:r>
              <a:rPr lang="en-IN" sz="2000" dirty="0"/>
              <a:t> use data on production </a:t>
            </a:r>
            <a:r>
              <a:rPr lang="en-IN" sz="2000" b="1" dirty="0">
                <a:solidFill>
                  <a:srgbClr val="FF0000"/>
                </a:solidFill>
              </a:rPr>
              <a:t>performance, manufacturing quality, delivery times, order accuracy, supplier performance, productivity, costs, and environmental compliance</a:t>
            </a:r>
            <a:r>
              <a:rPr lang="en-IN" sz="2000" dirty="0"/>
              <a:t> to manage their operations.</a:t>
            </a:r>
          </a:p>
          <a:p>
            <a:r>
              <a:rPr lang="en-IN" sz="2000" b="1" dirty="0">
                <a:solidFill>
                  <a:srgbClr val="FF0000"/>
                </a:solidFill>
              </a:rPr>
              <a:t>Human resource managers measure employee satisfaction, training costs, turnover, market innovation, training effectiveness, and skills development. </a:t>
            </a:r>
            <a:br>
              <a:rPr lang="en-IN" sz="2000" b="1" dirty="0">
                <a:solidFill>
                  <a:srgbClr val="FF0000"/>
                </a:solidFill>
              </a:rPr>
            </a:br>
            <a:endParaRPr lang="en-IN" sz="2000" b="1" dirty="0">
              <a:solidFill>
                <a:srgbClr val="FF0000"/>
              </a:solidFill>
            </a:endParaRPr>
          </a:p>
        </p:txBody>
      </p:sp>
    </p:spTree>
    <p:extLst>
      <p:ext uri="{BB962C8B-B14F-4D97-AF65-F5344CB8AC3E}">
        <p14:creationId xmlns:p14="http://schemas.microsoft.com/office/powerpoint/2010/main" val="98202460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dirty="0"/>
              <a:t>Such Data Gathered from primary sources such as internal company records and business transactions, automated data-capturing equipment, or customer market surveys and from secondary sources such as government and commercial data sources, custom</a:t>
            </a:r>
            <a:br>
              <a:rPr lang="en-IN" dirty="0"/>
            </a:br>
            <a:r>
              <a:rPr lang="en-IN" dirty="0"/>
              <a:t>research providers, and online research. </a:t>
            </a:r>
            <a:br>
              <a:rPr lang="en-IN" dirty="0"/>
            </a:br>
            <a:endParaRPr lang="en-IN" dirty="0"/>
          </a:p>
        </p:txBody>
      </p:sp>
    </p:spTree>
    <p:extLst>
      <p:ext uri="{BB962C8B-B14F-4D97-AF65-F5344CB8AC3E}">
        <p14:creationId xmlns:p14="http://schemas.microsoft.com/office/powerpoint/2010/main" val="342852363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dirty="0"/>
              <a:t>the most important source of data today is data obtained from the Web. </a:t>
            </a:r>
          </a:p>
          <a:p>
            <a:r>
              <a:rPr lang="en-IN" dirty="0"/>
              <a:t>With today’s technology, marketers collect extensive information about Web </a:t>
            </a:r>
            <a:r>
              <a:rPr lang="en-IN" dirty="0" err="1"/>
              <a:t>behaviors</a:t>
            </a:r>
            <a:r>
              <a:rPr lang="en-IN" dirty="0"/>
              <a:t>, such as the number of page views, visitor’s country, time of view, length of time, origin and destination paths, products they searched for and viewed, products purchased, what reviews they read, and many others. </a:t>
            </a:r>
            <a:br>
              <a:rPr lang="en-IN" dirty="0"/>
            </a:br>
            <a:endParaRPr lang="en-IN" dirty="0"/>
          </a:p>
        </p:txBody>
      </p:sp>
    </p:spTree>
    <p:extLst>
      <p:ext uri="{BB962C8B-B14F-4D97-AF65-F5344CB8AC3E}">
        <p14:creationId xmlns:p14="http://schemas.microsoft.com/office/powerpoint/2010/main" val="71058440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145841" y="2967335"/>
            <a:ext cx="2852320" cy="1754326"/>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sz="54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Question</a:t>
            </a:r>
          </a:p>
          <a:p>
            <a:pPr algn="ctr"/>
            <a:r>
              <a:rPr lang="en-US" sz="54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 </a:t>
            </a:r>
          </a:p>
        </p:txBody>
      </p:sp>
    </p:spTree>
    <p:extLst>
      <p:ext uri="{BB962C8B-B14F-4D97-AF65-F5344CB8AC3E}">
        <p14:creationId xmlns:p14="http://schemas.microsoft.com/office/powerpoint/2010/main" val="192312856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dirty="0">
                <a:hlinkClick r:id="rId2"/>
              </a:rPr>
              <a:t>Business Analytics | Coursera</a:t>
            </a:r>
            <a:endParaRPr lang="en-IN" dirty="0"/>
          </a:p>
        </p:txBody>
      </p:sp>
    </p:spTree>
    <p:extLst>
      <p:ext uri="{BB962C8B-B14F-4D97-AF65-F5344CB8AC3E}">
        <p14:creationId xmlns:p14="http://schemas.microsoft.com/office/powerpoint/2010/main" val="23360913"/>
      </p:ext>
    </p:extLst>
  </p:cSld>
  <p:clrMapOvr>
    <a:masterClrMapping/>
  </p:clrMapOvr>
</p:sld>
</file>

<file path=ppt/theme/theme1.xml><?xml version="1.0" encoding="utf-8"?>
<a:theme xmlns:a="http://schemas.openxmlformats.org/drawingml/2006/main" name="2_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2717</TotalTime>
  <Words>4571</Words>
  <Application>Microsoft Office PowerPoint</Application>
  <PresentationFormat>On-screen Show (4:3)</PresentationFormat>
  <Paragraphs>254</Paragraphs>
  <Slides>55</Slides>
  <Notes>9</Notes>
  <HiddenSlides>13</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55</vt:i4>
      </vt:variant>
    </vt:vector>
  </HeadingPairs>
  <TitlesOfParts>
    <vt:vector size="63" baseType="lpstr">
      <vt:lpstr>Arial</vt:lpstr>
      <vt:lpstr>Calibri</vt:lpstr>
      <vt:lpstr>Calibri Light</vt:lpstr>
      <vt:lpstr>Courier New</vt:lpstr>
      <vt:lpstr>Marcellus</vt:lpstr>
      <vt:lpstr>Symbol</vt:lpstr>
      <vt:lpstr>Times New Roman</vt:lpstr>
      <vt:lpstr>2_Custom Design</vt:lpstr>
      <vt:lpstr>Introduction to Data Analytics</vt:lpstr>
      <vt:lpstr>Analytics vs Analysis</vt:lpstr>
      <vt:lpstr> Data Analytics </vt:lpstr>
      <vt:lpstr>Data Analysis</vt:lpstr>
      <vt:lpstr>PowerPoint Presentation</vt:lpstr>
      <vt:lpstr>PowerPoint Presentation</vt:lpstr>
      <vt:lpstr>Data Analytics Vs Data Analysis </vt:lpstr>
      <vt:lpstr>PowerPoint Presentation</vt:lpstr>
      <vt:lpstr>Tools and Process involved</vt:lpstr>
      <vt:lpstr>PowerPoint Presentation</vt:lpstr>
      <vt:lpstr>PowerPoint Presentation</vt:lpstr>
      <vt:lpstr>Example 1</vt:lpstr>
      <vt:lpstr>What is business analytics?</vt:lpstr>
      <vt:lpstr>PowerPoint Presentation</vt:lpstr>
      <vt:lpstr>How business analytics works</vt:lpstr>
      <vt:lpstr>PowerPoint Presentation</vt:lpstr>
      <vt:lpstr>PowerPoint Presentation</vt:lpstr>
      <vt:lpstr>PowerPoint Presentation</vt:lpstr>
      <vt:lpstr>Type of Analytics </vt:lpstr>
      <vt:lpstr>PowerPoint Presentation</vt:lpstr>
      <vt:lpstr>BI vs DA</vt:lpstr>
      <vt:lpstr>Business Intelligence vs Data Analytics As Seen Through Football</vt:lpstr>
      <vt:lpstr>PowerPoint Presentation</vt:lpstr>
      <vt:lpstr>PowerPoint Presentation</vt:lpstr>
      <vt:lpstr>Correlation Is Not Causation</vt:lpstr>
      <vt:lpstr>Case </vt:lpstr>
      <vt:lpstr>PowerPoint Presentation</vt:lpstr>
      <vt:lpstr>You Can’t Always Trust What You See</vt:lpstr>
      <vt:lpstr>Read Yourself slide</vt:lpstr>
      <vt:lpstr>Read Yourself slide</vt:lpstr>
      <vt:lpstr>PowerPoint Presentation</vt:lpstr>
      <vt:lpstr>PowerPoint Presentation</vt:lpstr>
      <vt:lpstr>BI and DA Use-Case Scenarios? </vt:lpstr>
      <vt:lpstr>PowerPoint Presentation</vt:lpstr>
      <vt:lpstr>PowerPoint Presentation</vt:lpstr>
      <vt:lpstr>PowerPoint Presentation</vt:lpstr>
      <vt:lpstr>BI and DA Dismantle Assumptions</vt:lpstr>
      <vt:lpstr>Common challenges of data analytics</vt:lpstr>
      <vt:lpstr>Roles and responsibilities in Data/business analytics</vt:lpstr>
      <vt:lpstr>PowerPoint Presentation</vt:lpstr>
      <vt:lpstr>Busting Business Analytics Myths</vt:lpstr>
      <vt:lpstr>PowerPoint Presentation</vt:lpstr>
      <vt:lpstr>Business Analytics FAQs</vt:lpstr>
      <vt:lpstr>PowerPoint Presentation</vt:lpstr>
      <vt:lpstr>PowerPoint Presentation</vt:lpstr>
      <vt:lpstr>There are 5 Courses in this Specialization</vt:lpstr>
      <vt:lpstr>Skills Every Business Analytics Professional Needs</vt:lpstr>
      <vt:lpstr>Data for Data Analytics</vt:lpstr>
      <vt:lpstr>PowerPoint Presentation</vt:lpstr>
      <vt:lpstr>Some examples of how data are used in business include the following: </vt:lpstr>
      <vt:lpstr>Some examples of how data are used in business include the following: </vt:lpstr>
      <vt:lpstr>PowerPoint Presentation</vt:lpstr>
      <vt:lpstr>PowerPoint Presentation</vt:lpstr>
      <vt:lpstr>PowerPoint Presentation</vt:lpstr>
      <vt:lpstr>PowerPoint Presentation</vt:lpstr>
    </vt:vector>
  </TitlesOfParts>
  <Manager>Vaibhav Vasani</Manager>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 Data Analytics; </dc:title>
  <dc:subject>H- Data Analytics; </dc:subject>
  <dc:creator>Vaibhav Vasani</dc:creator>
  <cp:keywords>H- Data Analytics</cp:keywords>
  <dc:description>Vaibhav</dc:description>
  <cp:lastModifiedBy>Asmi Takle</cp:lastModifiedBy>
  <cp:revision>27</cp:revision>
  <dcterms:created xsi:type="dcterms:W3CDTF">2021-02-11T03:47:51Z</dcterms:created>
  <dcterms:modified xsi:type="dcterms:W3CDTF">2023-09-16T05:26:38Z</dcterms:modified>
  <cp:category>Data Analytics</cp:category>
</cp:coreProperties>
</file>
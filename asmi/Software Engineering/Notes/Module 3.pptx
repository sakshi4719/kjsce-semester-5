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</p:sldIdLst>
  <p:sldSz cy="6858000" cx="9144000"/>
  <p:notesSz cx="6858000" cy="9144000"/>
  <p:embeddedFontLst>
    <p:embeddedFont>
      <p:font typeface="Helvetica Neue"/>
      <p:regular r:id="rId137"/>
      <p:bold r:id="rId138"/>
      <p:italic r:id="rId139"/>
      <p:boldItalic r:id="rId140"/>
    </p:embeddedFont>
    <p:embeddedFont>
      <p:font typeface="Questrial"/>
      <p:regular r:id="rId1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2" roundtripDataSignature="AMtx7mgc9t1ApTnfjkkiMOs+yiEQIrbs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65B97C-5326-4BAC-A17B-2A6405EF6768}">
  <a:tblStyle styleId="{2665B97C-5326-4BAC-A17B-2A6405EF676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2" Type="http://customschemas.google.com/relationships/presentationmetadata" Target="metadata"/><Relationship Id="rId141" Type="http://schemas.openxmlformats.org/officeDocument/2006/relationships/font" Target="fonts/Questrial-regular.fntdata"/><Relationship Id="rId140" Type="http://schemas.openxmlformats.org/officeDocument/2006/relationships/font" Target="fonts/HelveticaNeue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font" Target="fonts/HelveticaNeue-italic.fntdata"/><Relationship Id="rId138" Type="http://schemas.openxmlformats.org/officeDocument/2006/relationships/font" Target="fonts/HelveticaNeue-bold.fntdata"/><Relationship Id="rId137" Type="http://schemas.openxmlformats.org/officeDocument/2006/relationships/font" Target="fonts/HelveticaNeue-regular.fntdata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1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1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8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7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0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3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5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3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6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1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26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20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24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29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Chapter 3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2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{2665B97C-5326-4BAC-A17B-2A6405EF6768}</a:tableStyleId>
              </a:tblPr>
              <a:tblGrid>
                <a:gridCol w="1487550"/>
                <a:gridCol w="7656450"/>
              </a:tblGrid>
              <a:tr h="115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3.1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Design quality, Classification of Design Activities,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Design Concepts: Modularity and Layering, Introduction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to Pattern-Based Software Design,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15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3.2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Software Architecture, Data Design, Object-Oriented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versus Function-Oriented Design, Design of Software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Objects, Methods, Cohesion and Coupling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between Objects,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15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3.4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User Interface Design: Rules, User Interface Analysis and Steps in Interface Design, Design Evaluation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401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3.5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Software Reuse, Component-Based Software Engineering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Quality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Software design </a:t>
            </a:r>
            <a:r>
              <a:rPr lang="en-US"/>
              <a:t>is an </a:t>
            </a:r>
            <a:r>
              <a:rPr b="1" lang="en-US"/>
              <a:t>iterative process </a:t>
            </a:r>
            <a:r>
              <a:rPr lang="en-US"/>
              <a:t>through which </a:t>
            </a:r>
            <a:r>
              <a:rPr b="1" lang="en-US"/>
              <a:t>requirements are translated into a “blueprint” </a:t>
            </a:r>
            <a:r>
              <a:rPr lang="en-US"/>
              <a:t>for constructing the software.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Developers identify and prioritize the </a:t>
            </a:r>
            <a:r>
              <a:rPr lang="en-US">
                <a:solidFill>
                  <a:srgbClr val="FF0000"/>
                </a:solidFill>
              </a:rPr>
              <a:t>qualities of the system</a:t>
            </a:r>
            <a:r>
              <a:rPr lang="en-US"/>
              <a:t> that they should optimize.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136325" y="100731"/>
            <a:ext cx="8871600" cy="7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6"/>
              <a:buFont typeface="Arial"/>
              <a:buNone/>
            </a:pPr>
            <a:r>
              <a:rPr b="1" lang="en-US"/>
              <a:t>Translating the requirement model in to Design Model</a:t>
            </a:r>
            <a:endParaRPr b="1"/>
          </a:p>
        </p:txBody>
      </p:sp>
      <p:sp>
        <p:nvSpPr>
          <p:cNvPr id="106" name="Google Shape;106;p4"/>
          <p:cNvSpPr txBox="1"/>
          <p:nvPr>
            <p:ph idx="11" type="ftr"/>
          </p:nvPr>
        </p:nvSpPr>
        <p:spPr>
          <a:xfrm>
            <a:off x="3028950" y="6356351"/>
            <a:ext cx="30861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MODULE  3</a:t>
            </a:r>
            <a:endParaRPr/>
          </a:p>
        </p:txBody>
      </p:sp>
      <p:sp>
        <p:nvSpPr>
          <p:cNvPr id="107" name="Google Shape;107;p4"/>
          <p:cNvSpPr txBox="1"/>
          <p:nvPr>
            <p:ph idx="12" type="sldNum"/>
          </p:nvPr>
        </p:nvSpPr>
        <p:spPr>
          <a:xfrm>
            <a:off x="6457950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26" y="1090301"/>
            <a:ext cx="7095003" cy="507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and Quality</a:t>
            </a:r>
            <a:endParaRPr/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500"/>
              <a:t>The design must implement all of the explicit requirements </a:t>
            </a:r>
            <a:r>
              <a:rPr lang="en-US" sz="3500"/>
              <a:t>contained in the analysis model, and it must accommodate all of the implicit requirements desired by the customer.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Explicit Requirements: </a:t>
            </a:r>
            <a:r>
              <a:rPr b="1" lang="en-US">
                <a:solidFill>
                  <a:srgbClr val="FF0000"/>
                </a:solidFill>
              </a:rPr>
              <a:t>The Things You Wrote Down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Implicit Requirements: </a:t>
            </a:r>
            <a:r>
              <a:rPr b="1" lang="en-US">
                <a:solidFill>
                  <a:srgbClr val="FF0000"/>
                </a:solidFill>
              </a:rPr>
              <a:t>The Things Your Customers Will Expect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800"/>
              <a:t>Latent Requirements: </a:t>
            </a:r>
            <a:r>
              <a:rPr b="1" lang="en-US" sz="2800">
                <a:solidFill>
                  <a:srgbClr val="FF0000"/>
                </a:solidFill>
              </a:rPr>
              <a:t>Things That Will Delight Your Customers</a:t>
            </a:r>
            <a:endParaRPr sz="3500">
              <a:solidFill>
                <a:srgbClr val="FF0000"/>
              </a:solidFill>
            </a:endParaRPr>
          </a:p>
          <a:p>
            <a:pPr indent="-187325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500"/>
          </a:p>
          <a:p>
            <a:pPr indent="-342900" lvl="0" marL="34290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500"/>
              <a:t>the design must be a readable, understandable </a:t>
            </a:r>
            <a:r>
              <a:rPr lang="en-US" sz="3500"/>
              <a:t>guide for those who generate code and for those who test and subsequently support the software.</a:t>
            </a:r>
            <a:endParaRPr/>
          </a:p>
          <a:p>
            <a:pPr indent="-187325" lvl="0" marL="34290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500"/>
          </a:p>
          <a:p>
            <a:pPr indent="-342900" lvl="0" marL="342900" rtl="0" algn="just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500"/>
              <a:t>the design should provide a </a:t>
            </a:r>
            <a:r>
              <a:rPr b="1" lang="en-US" sz="3500">
                <a:solidFill>
                  <a:srgbClr val="FF0000"/>
                </a:solidFill>
              </a:rPr>
              <a:t>complete picture of the software</a:t>
            </a:r>
            <a:r>
              <a:rPr lang="en-US" sz="3500"/>
              <a:t>, addressing the data, functional, and behavioral domains from an implementation perspective.</a:t>
            </a:r>
            <a:endParaRPr/>
          </a:p>
          <a:p>
            <a:pPr indent="-200660" lvl="0" marL="342900" rtl="0" algn="just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Quality Guidelines</a:t>
            </a:r>
            <a:endParaRPr/>
          </a:p>
        </p:txBody>
      </p:sp>
      <p:sp>
        <p:nvSpPr>
          <p:cNvPr id="120" name="Google Shape;120;p6"/>
          <p:cNvSpPr txBox="1"/>
          <p:nvPr>
            <p:ph idx="1" type="body"/>
          </p:nvPr>
        </p:nvSpPr>
        <p:spPr>
          <a:xfrm>
            <a:off x="152400" y="1371600"/>
            <a:ext cx="8915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 design should exhibit an architecture </a:t>
            </a:r>
            <a:r>
              <a:rPr lang="en-US"/>
              <a:t>that: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lang="en-US"/>
              <a:t>Created using standard architectural patterns.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lang="en-US"/>
              <a:t>composed of components that exhibit good design characteristics.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can be implemented in an evolutionary fashion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338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 design should be modular: </a:t>
            </a:r>
            <a:r>
              <a:rPr lang="en-US"/>
              <a:t>logically partitioned into elements or subsystems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Quality Guidelines</a:t>
            </a:r>
            <a:endParaRPr/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152400" y="1447800"/>
            <a:ext cx="88392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design should contain </a:t>
            </a:r>
            <a:r>
              <a:rPr b="1" lang="en-US"/>
              <a:t>distinct representations </a:t>
            </a:r>
            <a:r>
              <a:rPr lang="en-US"/>
              <a:t>of data, architecture, interfaces, and components.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design should lead to </a:t>
            </a:r>
            <a:r>
              <a:rPr b="1" lang="en-US"/>
              <a:t>data structures that are appropriate</a:t>
            </a:r>
            <a:r>
              <a:rPr lang="en-US"/>
              <a:t> for the classes to be implemented and are drawn from recognizable data patterns.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design should lead to components that </a:t>
            </a:r>
            <a:r>
              <a:rPr b="1" lang="en-US"/>
              <a:t>exhibit independent functional characteristics.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Quality Guidelines</a:t>
            </a:r>
            <a:endParaRPr/>
          </a:p>
        </p:txBody>
      </p:sp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152400" y="13716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design should lead to </a:t>
            </a:r>
            <a:r>
              <a:rPr b="1" lang="en-US"/>
              <a:t>interfaces that reduce the complexity</a:t>
            </a:r>
            <a:r>
              <a:rPr lang="en-US"/>
              <a:t> of connections between components and with the external environment.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design should be derived using a </a:t>
            </a:r>
            <a:r>
              <a:rPr b="1" lang="en-US"/>
              <a:t>repeatable method</a:t>
            </a:r>
            <a:r>
              <a:rPr lang="en-US"/>
              <a:t> that is driven by information obtained during software requirements analysis.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design should be represented using a notation that </a:t>
            </a:r>
            <a:r>
              <a:rPr b="1" lang="en-US"/>
              <a:t>effectively communicates its meaning</a:t>
            </a:r>
            <a:r>
              <a:rPr lang="en-US"/>
              <a:t>.</a:t>
            </a:r>
            <a:endParaRPr b="1" sz="4000">
              <a:latin typeface="Times"/>
              <a:ea typeface="Times"/>
              <a:cs typeface="Times"/>
              <a:sym typeface="Times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Activities</a:t>
            </a:r>
            <a:endParaRPr/>
          </a:p>
        </p:txBody>
      </p:sp>
      <p:sp>
        <p:nvSpPr>
          <p:cNvPr id="138" name="Google Shape;138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implementation phase of software development is the </a:t>
            </a:r>
            <a:r>
              <a:rPr b="1" lang="en-US"/>
              <a:t>process of converting a system specification into an executable system </a:t>
            </a:r>
            <a:r>
              <a:rPr lang="en-US"/>
              <a:t>through the </a:t>
            </a:r>
            <a:r>
              <a:rPr b="1" lang="en-US"/>
              <a:t>design of system</a:t>
            </a:r>
            <a:r>
              <a:rPr lang="en-US"/>
              <a:t>. 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Architectural design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Interface Design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Component-Level Design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Data structure design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Algorithm design. 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Deployment-Level Design</a:t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Activities</a:t>
            </a:r>
            <a:endParaRPr/>
          </a:p>
        </p:txBody>
      </p:sp>
      <p:sp>
        <p:nvSpPr>
          <p:cNvPr id="144" name="Google Shape;144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design process activities are the followings: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AutoNum type="arabicPeriod"/>
            </a:pPr>
            <a:r>
              <a:rPr lang="en-US">
                <a:solidFill>
                  <a:srgbClr val="FF0000"/>
                </a:solidFill>
              </a:rPr>
              <a:t>Architectural design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The architectural design for software is the equivalent to the floor plan(overview) of a house.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 Architectural design elements give us an   overall view of the software.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Activities</a:t>
            </a:r>
            <a:endParaRPr/>
          </a:p>
        </p:txBody>
      </p:sp>
      <p:sp>
        <p:nvSpPr>
          <p:cNvPr id="150" name="Google Shape;150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Architectural model is derived from three sources: 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Both"/>
            </a:pPr>
            <a:r>
              <a:rPr b="1" lang="en-US"/>
              <a:t>Information about the application </a:t>
            </a:r>
            <a:r>
              <a:rPr lang="en-US"/>
              <a:t>domain for the software to be built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(2) </a:t>
            </a:r>
            <a:r>
              <a:rPr b="1" lang="en-US"/>
              <a:t>specific requirements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(3) the availability of architectural </a:t>
            </a:r>
            <a:r>
              <a:rPr b="1" lang="en-US"/>
              <a:t>Styles and patterns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Activities</a:t>
            </a:r>
            <a:endParaRPr/>
          </a:p>
        </p:txBody>
      </p:sp>
      <p:sp>
        <p:nvSpPr>
          <p:cNvPr id="156" name="Google Shape;156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>
                <a:solidFill>
                  <a:srgbClr val="FF0000"/>
                </a:solidFill>
              </a:rPr>
              <a:t>2. Interface Design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interface is application view to which user interacts in order to use the software. 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analogous to a set of detailed drawings.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Specifications of software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interface design elements for software depict </a:t>
            </a:r>
            <a:r>
              <a:rPr b="1" lang="en-US"/>
              <a:t>information flows into and out of the system </a:t>
            </a:r>
            <a:r>
              <a:rPr lang="en-US"/>
              <a:t>and how it is communicated among the components defined as part of the architecture.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Activities</a:t>
            </a:r>
            <a:endParaRPr/>
          </a:p>
        </p:txBody>
      </p:sp>
      <p:sp>
        <p:nvSpPr>
          <p:cNvPr id="162" name="Google Shape;162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3 important elements of interface design: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(1) the user interface (UI)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(2) external interfaces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External interfaces are the connections and interactions between a software system and external entities. These entities can be other software systems, APIs, web services, hardware devices, databases, or even human users.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(3) internal interfaces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</a:t>
            </a:r>
            <a:r>
              <a:rPr lang="en-US" sz="2800"/>
              <a:t>one private methods in another method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/>
          <p:nvPr/>
        </p:nvSpPr>
        <p:spPr>
          <a:xfrm>
            <a:off x="914400" y="914400"/>
            <a:ext cx="74676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Component-Level Design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component-level design for software is the equivalent to a set of detailed drawings (and specifications) for each room in a house.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3" name="Google Shape;173;p15"/>
          <p:cNvSpPr txBox="1"/>
          <p:nvPr>
            <p:ph idx="1" type="body"/>
          </p:nvPr>
        </p:nvSpPr>
        <p:spPr>
          <a:xfrm>
            <a:off x="457200" y="6858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74" name="Google Shape;1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28800"/>
            <a:ext cx="7924800" cy="3610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Activities</a:t>
            </a:r>
            <a:endParaRPr/>
          </a:p>
        </p:txBody>
      </p:sp>
      <p:sp>
        <p:nvSpPr>
          <p:cNvPr id="180" name="Google Shape;180;p16"/>
          <p:cNvSpPr txBox="1"/>
          <p:nvPr>
            <p:ph idx="1" type="body"/>
          </p:nvPr>
        </p:nvSpPr>
        <p:spPr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component-level design for software fully </a:t>
            </a:r>
            <a:r>
              <a:rPr b="1" lang="en-US"/>
              <a:t>describes the internal detail of each software component</a:t>
            </a:r>
            <a:r>
              <a:rPr lang="en-US"/>
              <a:t>.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component-level design </a:t>
            </a:r>
            <a:r>
              <a:rPr b="1" lang="en-US"/>
              <a:t>defines data structures</a:t>
            </a:r>
            <a:r>
              <a:rPr lang="en-US"/>
              <a:t> for all local data objects and </a:t>
            </a:r>
            <a:r>
              <a:rPr b="1" lang="en-US"/>
              <a:t>algorithmic detail</a:t>
            </a:r>
            <a:r>
              <a:rPr lang="en-US"/>
              <a:t>.</a:t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Within the context of object-oriented software engineering, a </a:t>
            </a:r>
            <a:r>
              <a:rPr b="1" lang="en-US"/>
              <a:t>component is represented in UML diagrammatic form.</a:t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Activities</a:t>
            </a:r>
            <a:endParaRPr/>
          </a:p>
        </p:txBody>
      </p:sp>
      <p:sp>
        <p:nvSpPr>
          <p:cNvPr id="186" name="Google Shape;186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lang="en-US">
                <a:solidFill>
                  <a:srgbClr val="FF0000"/>
                </a:solidFill>
              </a:rPr>
              <a:t>4. Data structure design.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The data structures used in the system implementation are designed in detail and specified.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lang="en-US">
                <a:solidFill>
                  <a:srgbClr val="FF0000"/>
                </a:solidFill>
              </a:rPr>
              <a:t>5. Algorithm design.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this activity the algorithms used to provide services are designed in detail and specified.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Activities</a:t>
            </a:r>
            <a:endParaRPr/>
          </a:p>
        </p:txBody>
      </p:sp>
      <p:sp>
        <p:nvSpPr>
          <p:cNvPr id="192" name="Google Shape;192;p18"/>
          <p:cNvSpPr txBox="1"/>
          <p:nvPr>
            <p:ph idx="1" type="body"/>
          </p:nvPr>
        </p:nvSpPr>
        <p:spPr>
          <a:xfrm>
            <a:off x="457200" y="14478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>
                <a:solidFill>
                  <a:srgbClr val="FF0000"/>
                </a:solidFill>
              </a:rPr>
              <a:t>6. Deployment-Level Design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Indicate how software functionality and subsystems will be allocated within the physical computing environment that will support the software.</a:t>
            </a:r>
            <a:endParaRPr/>
          </a:p>
          <a:p>
            <a:pPr indent="-17018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example, the elements of the </a:t>
            </a:r>
            <a:r>
              <a:rPr i="1" lang="en-US"/>
              <a:t>SafeHome product configured </a:t>
            </a:r>
            <a:r>
              <a:rPr lang="en-US"/>
              <a:t>to operate within three primary computing environments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home-based PC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SafeHome control panel 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server housed at CPI Corp. (providing Internet-based access to the system).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Principles</a:t>
            </a:r>
            <a:endParaRPr/>
          </a:p>
        </p:txBody>
      </p:sp>
      <p:sp>
        <p:nvSpPr>
          <p:cNvPr id="198" name="Google Shape;198;p19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</a:t>
            </a:r>
            <a:r>
              <a:rPr b="1" lang="en-US" sz="2800"/>
              <a:t>design proce</a:t>
            </a:r>
            <a:r>
              <a:rPr lang="en-US" sz="2800"/>
              <a:t>ss is a sequence of steps that enable the designer to </a:t>
            </a:r>
            <a:r>
              <a:rPr b="1" lang="en-US" sz="2800"/>
              <a:t>describe all aspects of the software to be built.</a:t>
            </a:r>
            <a:endParaRPr/>
          </a:p>
          <a:p>
            <a:pPr indent="-1651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/>
          </a:p>
          <a:p>
            <a:pPr indent="-514350" lvl="0" marL="5143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b="1" lang="en-US" sz="2800"/>
              <a:t>The design process should not suffer from “tunnel vision.”- </a:t>
            </a:r>
            <a:r>
              <a:rPr lang="en-US" sz="2800"/>
              <a:t>A good designer should consider alternative approaches.</a:t>
            </a:r>
            <a:endParaRPr/>
          </a:p>
          <a:p>
            <a:pPr indent="-336550" lvl="0" marL="5143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2. The design should be traceable to the analysis model.- </a:t>
            </a:r>
            <a:r>
              <a:rPr lang="en-US" sz="2800"/>
              <a:t>means for tracking how requirements have been satisfied by the design model.</a:t>
            </a:r>
            <a:endParaRPr b="1"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Principles</a:t>
            </a:r>
            <a:endParaRPr/>
          </a:p>
        </p:txBody>
      </p:sp>
      <p:sp>
        <p:nvSpPr>
          <p:cNvPr id="204" name="Google Shape;204;p20"/>
          <p:cNvSpPr txBox="1"/>
          <p:nvPr>
            <p:ph idx="1" type="body"/>
          </p:nvPr>
        </p:nvSpPr>
        <p:spPr>
          <a:xfrm>
            <a:off x="457200" y="14478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3. The design should not reinvent the wheel. - </a:t>
            </a:r>
            <a:r>
              <a:rPr lang="en-US" sz="2800"/>
              <a:t>Design time should be invested in representing truly new ideas and integrating those patterns that already exist.</a:t>
            </a:r>
            <a:endParaRPr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4. The design should “minimize the intellectual distance” between the software and the problem as it exists in the real world. - </a:t>
            </a:r>
            <a:r>
              <a:rPr lang="en-US" sz="2800"/>
              <a:t>structure of the software design should be replica of structure of the problem domain.</a:t>
            </a:r>
            <a:endParaRPr b="1"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Principles</a:t>
            </a:r>
            <a:endParaRPr/>
          </a:p>
        </p:txBody>
      </p:sp>
      <p:sp>
        <p:nvSpPr>
          <p:cNvPr id="210" name="Google Shape;210;p21"/>
          <p:cNvSpPr txBox="1"/>
          <p:nvPr>
            <p:ph idx="1" type="body"/>
          </p:nvPr>
        </p:nvSpPr>
        <p:spPr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5. The design should exhibit uniformity and integration. </a:t>
            </a:r>
            <a:endParaRPr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/>
              <a:t>format should be defined for a design team before design work begins.</a:t>
            </a:r>
            <a:endParaRPr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/>
              <a:t>design is integrated if care is taken in defining interfaces between design components.</a:t>
            </a:r>
            <a:endParaRPr/>
          </a:p>
          <a:p>
            <a:pPr indent="-1651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6. The design should be structured to accommodate change.</a:t>
            </a:r>
            <a:endParaRPr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Principles</a:t>
            </a:r>
            <a:endParaRPr/>
          </a:p>
        </p:txBody>
      </p:sp>
      <p:sp>
        <p:nvSpPr>
          <p:cNvPr id="216" name="Google Shape;216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7. The design should be structured to degrade gently, even when aberrant data, events, or operating conditions are encountered.  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It should be designed to accommodate unusual circumstances, and if it must terminate processing, do so in a graceful manner.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Principles</a:t>
            </a:r>
            <a:endParaRPr/>
          </a:p>
        </p:txBody>
      </p:sp>
      <p:sp>
        <p:nvSpPr>
          <p:cNvPr id="222" name="Google Shape;222;p23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8. Design is not coding, coding is not design. </a:t>
            </a:r>
            <a:endParaRPr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/>
              <a:t>the level of abstraction of the design model is higher than source code.</a:t>
            </a:r>
            <a:endParaRPr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/>
              <a:t>only design decisions made at the coding level address the small implementation details.</a:t>
            </a:r>
            <a:endParaRPr/>
          </a:p>
          <a:p>
            <a:pPr indent="-1651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9. The design should be assessed for quality as it is being created, not after the fact.</a:t>
            </a:r>
            <a:endParaRPr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10. The design should be reviewed to minimize conceptual (semantic) errors.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/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228" name="Google Shape;228;p24"/>
          <p:cNvSpPr txBox="1"/>
          <p:nvPr>
            <p:ph idx="1" type="body"/>
          </p:nvPr>
        </p:nvSpPr>
        <p:spPr>
          <a:xfrm>
            <a:off x="152400" y="1371600"/>
            <a:ext cx="87630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Software Design concepts are </a:t>
            </a:r>
            <a:r>
              <a:rPr b="1" lang="en-US" sz="2400"/>
              <a:t>fundamental concepts</a:t>
            </a:r>
            <a:r>
              <a:rPr lang="en-US" sz="2400"/>
              <a:t> which </a:t>
            </a:r>
            <a:r>
              <a:rPr b="1" lang="en-US" sz="2400"/>
              <a:t>provides</a:t>
            </a:r>
            <a:r>
              <a:rPr lang="en-US" sz="2400"/>
              <a:t> the software designer with a </a:t>
            </a:r>
            <a:r>
              <a:rPr b="1" lang="en-US" sz="2400"/>
              <a:t>foundation from which more sophisticated design methods </a:t>
            </a:r>
            <a:r>
              <a:rPr lang="en-US" sz="2400"/>
              <a:t>can be applied for software design process </a:t>
            </a:r>
            <a:endParaRPr/>
          </a:p>
          <a:p>
            <a:pPr indent="-342900" lvl="0" marL="342900" rtl="0" algn="just"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 sz="2400">
                <a:solidFill>
                  <a:srgbClr val="FF0000"/>
                </a:solidFill>
              </a:rPr>
              <a:t>Abstraction</a:t>
            </a:r>
            <a:endParaRPr/>
          </a:p>
          <a:p>
            <a:pPr indent="-342900" lvl="0" marL="342900" rtl="0" algn="just"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 sz="2400">
                <a:solidFill>
                  <a:srgbClr val="FF0000"/>
                </a:solidFill>
              </a:rPr>
              <a:t>Refinement</a:t>
            </a:r>
            <a:endParaRPr/>
          </a:p>
          <a:p>
            <a:pPr indent="-342900" lvl="0" marL="342900" rtl="0" algn="just"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 sz="2400">
                <a:solidFill>
                  <a:srgbClr val="FF0000"/>
                </a:solidFill>
              </a:rPr>
              <a:t>Modularity</a:t>
            </a:r>
            <a:endParaRPr/>
          </a:p>
          <a:p>
            <a:pPr indent="-342900" lvl="0" marL="342900" rtl="0" algn="just"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 sz="2400">
                <a:solidFill>
                  <a:srgbClr val="FF0000"/>
                </a:solidFill>
              </a:rPr>
              <a:t>Software Architecture</a:t>
            </a:r>
            <a:endParaRPr/>
          </a:p>
          <a:p>
            <a:pPr indent="-342900" lvl="0" marL="342900" rtl="0" algn="just"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 sz="2400">
                <a:solidFill>
                  <a:srgbClr val="FF0000"/>
                </a:solidFill>
              </a:rPr>
              <a:t>Patterns</a:t>
            </a:r>
            <a:endParaRPr/>
          </a:p>
          <a:p>
            <a:pPr indent="-342900" lvl="0" marL="342900" rtl="0" algn="just"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 sz="2400">
                <a:solidFill>
                  <a:srgbClr val="FF0000"/>
                </a:solidFill>
              </a:rPr>
              <a:t>Information Hiding</a:t>
            </a:r>
            <a:endParaRPr/>
          </a:p>
          <a:p>
            <a:pPr indent="-342900" lvl="0" marL="342900" rtl="0" algn="just"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 sz="2400">
                <a:solidFill>
                  <a:srgbClr val="FF0000"/>
                </a:solidFill>
              </a:rPr>
              <a:t>Functional Independence</a:t>
            </a:r>
            <a:endParaRPr/>
          </a:p>
          <a:p>
            <a:pPr indent="-342900" lvl="0" marL="342900" rtl="0" algn="just"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 sz="2400">
                <a:solidFill>
                  <a:srgbClr val="FF0000"/>
                </a:solidFill>
              </a:rPr>
              <a:t>Refactoring</a:t>
            </a:r>
            <a:endParaRPr b="1" sz="2400">
              <a:solidFill>
                <a:srgbClr val="FF0000"/>
              </a:solidFill>
            </a:endParaRPr>
          </a:p>
          <a:p>
            <a:pPr indent="-201930" lvl="0" marL="342900" rtl="0" algn="just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>
              <a:solidFill>
                <a:srgbClr val="FF0000"/>
              </a:solidFill>
            </a:endParaRPr>
          </a:p>
          <a:p>
            <a:pPr indent="-201930" lvl="0" marL="342900" rtl="0" algn="just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>
              <a:solidFill>
                <a:srgbClr val="FF0000"/>
              </a:solidFill>
            </a:endParaRPr>
          </a:p>
          <a:p>
            <a:pPr indent="-201930" lvl="0" marL="342900" rtl="0" algn="just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>
              <a:solidFill>
                <a:srgbClr val="FF0000"/>
              </a:solidFill>
            </a:endParaRPr>
          </a:p>
          <a:p>
            <a:pPr indent="-201930" lvl="0" marL="342900" rtl="0" algn="just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>
              <a:solidFill>
                <a:srgbClr val="FF0000"/>
              </a:solidFill>
            </a:endParaRPr>
          </a:p>
          <a:p>
            <a:pPr indent="-201930" lvl="0" marL="342900" rtl="0" algn="just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>
              <a:solidFill>
                <a:srgbClr val="FF0000"/>
              </a:solidFill>
            </a:endParaRPr>
          </a:p>
          <a:p>
            <a:pPr indent="-201930" lvl="0" marL="342900" rtl="0" algn="just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>
              <a:solidFill>
                <a:srgbClr val="FF0000"/>
              </a:solidFill>
            </a:endParaRPr>
          </a:p>
          <a:p>
            <a:pPr indent="-201930" lvl="0" marL="342900" rtl="0" algn="just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234" name="Google Shape;234;p25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514350" lvl="0" marL="51435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AutoNum type="arabicPeriod"/>
            </a:pPr>
            <a:r>
              <a:rPr b="1" lang="en-US" sz="2800">
                <a:solidFill>
                  <a:srgbClr val="FF0000"/>
                </a:solidFill>
              </a:rPr>
              <a:t>Abstraction</a:t>
            </a:r>
            <a:endParaRPr/>
          </a:p>
          <a:p>
            <a:pPr indent="-342900" lvl="0" marL="34290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modular solution to any problem , many levels of abstraction can be posed.</a:t>
            </a:r>
            <a:endParaRPr/>
          </a:p>
          <a:p>
            <a:pPr indent="-178435" lvl="0" marL="34290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-342900" lvl="0" marL="34290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At the highest level of abstraction, a solution is stated in broad terms using the language of the problem environment.</a:t>
            </a:r>
            <a:endParaRPr/>
          </a:p>
          <a:p>
            <a:pPr indent="-178435" lvl="0" marL="34290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-342900" lvl="0" marL="34290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lower levels of abstraction, a more procedural orientation is taken.</a:t>
            </a:r>
            <a:endParaRPr/>
          </a:p>
          <a:p>
            <a:pPr indent="-178435" lvl="0" marL="34290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-342900" lvl="0" marL="34290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Each step in the software process is a refinement in the level of abstraction of the software solution.</a:t>
            </a:r>
            <a:endParaRPr/>
          </a:p>
          <a:p>
            <a:pPr indent="-326390" lvl="0" marL="51435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914400"/>
            <a:ext cx="8001001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45" name="Google Shape;245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95400"/>
            <a:ext cx="8229600" cy="3289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251" name="Google Shape;251;p28"/>
          <p:cNvSpPr txBox="1"/>
          <p:nvPr>
            <p:ph idx="1" type="body"/>
          </p:nvPr>
        </p:nvSpPr>
        <p:spPr>
          <a:xfrm>
            <a:off x="152400" y="1600200"/>
            <a:ext cx="8839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 </a:t>
            </a:r>
            <a:r>
              <a:rPr b="1" lang="en-US" sz="2800"/>
              <a:t>procedural abstraction </a:t>
            </a:r>
            <a:r>
              <a:rPr lang="en-US" sz="2800"/>
              <a:t>is a named sequence of instructions that has a specific and limited function. (algorithm)</a:t>
            </a:r>
            <a:endParaRPr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 </a:t>
            </a:r>
            <a:r>
              <a:rPr b="1" lang="en-US" sz="2800"/>
              <a:t>data abstraction </a:t>
            </a:r>
            <a:r>
              <a:rPr lang="en-US" sz="2800"/>
              <a:t>is a named collection of data that describes a data object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257" name="Google Shape;257;p29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control abstraction </a:t>
            </a:r>
            <a:r>
              <a:rPr lang="en-US"/>
              <a:t>implies a program control mechanism for coordinating activities.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US">
                <a:solidFill>
                  <a:srgbClr val="FF0000"/>
                </a:solidFill>
              </a:rPr>
              <a:t>2. Refinement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Refinement is process of elaboration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top-down design strategy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program is developed by successively refining levels of procedural detail.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/>
          <p:nvPr>
            <p:ph idx="4294967295" type="title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pic>
        <p:nvPicPr>
          <p:cNvPr id="263" name="Google Shape;2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371600"/>
            <a:ext cx="8686800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Refinement causes the designer to </a:t>
            </a:r>
            <a:r>
              <a:rPr b="1" lang="en-US"/>
              <a:t>elaborate on the original statement, providing more and more detail</a:t>
            </a:r>
            <a:r>
              <a:rPr lang="en-US"/>
              <a:t> as each successive refinement (elaboration) occurs.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Abstraction and refinement are complementary concepts.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US">
                <a:solidFill>
                  <a:srgbClr val="FF0000"/>
                </a:solidFill>
              </a:rPr>
              <a:t>3. Modularity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b="1" lang="en-US"/>
              <a:t>software is divided </a:t>
            </a:r>
            <a:r>
              <a:rPr lang="en-US"/>
              <a:t>into separately named and addressable </a:t>
            </a:r>
            <a:r>
              <a:rPr b="1" lang="en-US"/>
              <a:t>components</a:t>
            </a:r>
            <a:r>
              <a:rPr lang="en-US"/>
              <a:t>, often called modules, that are </a:t>
            </a:r>
            <a:r>
              <a:rPr b="1" lang="en-US"/>
              <a:t>integrated to satisfy problem requirements.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b="1" lang="en-US"/>
              <a:t>modularity</a:t>
            </a:r>
            <a:r>
              <a:rPr lang="en-US"/>
              <a:t> is the single attribute of software that </a:t>
            </a:r>
            <a:r>
              <a:rPr b="1" lang="en-US"/>
              <a:t>allows</a:t>
            </a:r>
            <a:r>
              <a:rPr lang="en-US"/>
              <a:t> a program to be </a:t>
            </a:r>
            <a:r>
              <a:rPr b="1" lang="en-US"/>
              <a:t>intellectually manageable.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281" name="Google Shape;281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/>
              <a:t>"</a:t>
            </a:r>
            <a:r>
              <a:rPr b="1" lang="en-US"/>
              <a:t>divide and conquer</a:t>
            </a:r>
            <a:r>
              <a:rPr lang="en-US"/>
              <a:t>" conclusion—it's easier to solve a complex problem when you break it into manageable pieces - </a:t>
            </a:r>
            <a:r>
              <a:rPr b="1" lang="en-US"/>
              <a:t>an argument for modularity.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82" name="Google Shape;28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3657600"/>
            <a:ext cx="3276600" cy="2874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288" name="Google Shape;288;p34"/>
          <p:cNvSpPr txBox="1"/>
          <p:nvPr>
            <p:ph idx="1" type="body"/>
          </p:nvPr>
        </p:nvSpPr>
        <p:spPr>
          <a:xfrm>
            <a:off x="228600" y="1447800"/>
            <a:ext cx="8763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five criteria to define an effective modular system:</a:t>
            </a:r>
            <a:endParaRPr/>
          </a:p>
          <a:p>
            <a:pPr indent="-514350" lvl="0" marL="5143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b="1" lang="en-US" sz="2800"/>
              <a:t>Modular decomposability – </a:t>
            </a:r>
            <a:r>
              <a:rPr lang="en-US" sz="2800"/>
              <a:t>systematic mechanism for </a:t>
            </a:r>
            <a:r>
              <a:rPr b="1" lang="en-US" sz="2800"/>
              <a:t>decomposing</a:t>
            </a:r>
            <a:r>
              <a:rPr lang="en-US" sz="2800"/>
              <a:t> the problem into sub problems.</a:t>
            </a:r>
            <a:endParaRPr/>
          </a:p>
          <a:p>
            <a:pPr indent="-514350" lvl="0" marL="5143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514350" lvl="0" marL="5143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2. Modular composability – reusing</a:t>
            </a:r>
            <a:r>
              <a:rPr lang="en-US" sz="2800"/>
              <a:t> existing system into new system yield modular solution and not reinvent wheel.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3.  Modular understandability - </a:t>
            </a:r>
            <a:r>
              <a:rPr lang="en-US" sz="2800"/>
              <a:t>understood as </a:t>
            </a:r>
            <a:r>
              <a:rPr b="1" lang="en-US" sz="2800"/>
              <a:t>standalone </a:t>
            </a:r>
            <a:r>
              <a:rPr lang="en-US" sz="2800"/>
              <a:t>unit , it will be easier to build and easier to change.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294" name="Google Shape;294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4. Modular continuity - small changes </a:t>
            </a:r>
            <a:r>
              <a:rPr lang="en-US"/>
              <a:t>to the system requirements - changes to </a:t>
            </a:r>
            <a:r>
              <a:rPr b="1" lang="en-US"/>
              <a:t>individual modules</a:t>
            </a:r>
            <a:r>
              <a:rPr lang="en-US"/>
              <a:t> rather system – change induced side effects minimized.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5. Modular protection - </a:t>
            </a:r>
            <a:r>
              <a:rPr lang="en-US"/>
              <a:t>aberrant condition - error-induced side effects minimized.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00" name="Google Shape;300;p36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US">
                <a:solidFill>
                  <a:srgbClr val="FF0000"/>
                </a:solidFill>
              </a:rPr>
              <a:t>4. Software Architecture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architecture—the overall structure of the software.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architecture is the hierarchical structure of program components (modules),the manner in which these components interact and the structure of data that are used by the components.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06" name="Google Shape;306;p37"/>
          <p:cNvSpPr txBox="1"/>
          <p:nvPr>
            <p:ph idx="1" type="body"/>
          </p:nvPr>
        </p:nvSpPr>
        <p:spPr>
          <a:xfrm>
            <a:off x="457200" y="14478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Well designed architecture servers as framework for detailed design activities which can also help in reuse of design level concepts.</a:t>
            </a:r>
            <a:endParaRPr/>
          </a:p>
          <a:p>
            <a:pPr indent="-178435" lvl="0" marL="34290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-342900" lvl="0" marL="34290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800"/>
              <a:t>Properties of an architectural design:</a:t>
            </a:r>
            <a:endParaRPr/>
          </a:p>
          <a:p>
            <a:pPr indent="-514350" lvl="0" marL="51435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2800"/>
              <a:t>Structural properties: </a:t>
            </a:r>
            <a:r>
              <a:rPr lang="en-US" sz="2800"/>
              <a:t>This aspect of the architectural design representation defines the components of a system and their interaction with one another.</a:t>
            </a:r>
            <a:endParaRPr/>
          </a:p>
          <a:p>
            <a:pPr indent="-349885" lvl="0" marL="51435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-514350" lvl="0" marL="51435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2800"/>
              <a:t>Extra-functional properties: </a:t>
            </a:r>
            <a:r>
              <a:rPr lang="en-US" sz="2800"/>
              <a:t>like performance, capacity, reliability, security, adaptability, and other system characteristics.</a:t>
            </a:r>
            <a:endParaRPr/>
          </a:p>
          <a:p>
            <a:pPr indent="-342900" lvl="0" marL="3429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12" name="Google Shape;312;p38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3. Families of related systems: </a:t>
            </a:r>
            <a:r>
              <a:rPr lang="en-US"/>
              <a:t>The architectural design </a:t>
            </a:r>
            <a:r>
              <a:rPr b="1" lang="en-US"/>
              <a:t>should draw upon repeatable patterns </a:t>
            </a:r>
            <a:r>
              <a:rPr lang="en-US"/>
              <a:t>that are commonly encountered in the design of families of similar systems.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18" name="Google Shape;318;p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Different architectural models</a:t>
            </a:r>
            <a:endParaRPr/>
          </a:p>
          <a:p>
            <a:pPr indent="-514350" lvl="0" marL="51435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/>
              <a:t>Structural models </a:t>
            </a:r>
            <a:r>
              <a:rPr lang="en-US"/>
              <a:t>represent architecture as an organized collection of </a:t>
            </a:r>
            <a:r>
              <a:rPr b="1" lang="en-US"/>
              <a:t>program components.</a:t>
            </a:r>
            <a:endParaRPr/>
          </a:p>
          <a:p>
            <a:pPr indent="-514350" lvl="0" marL="51435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2. Framework models </a:t>
            </a:r>
            <a:r>
              <a:rPr lang="en-US"/>
              <a:t>identify </a:t>
            </a:r>
            <a:r>
              <a:rPr b="1" lang="en-US"/>
              <a:t>repeatable</a:t>
            </a:r>
            <a:r>
              <a:rPr lang="en-US"/>
              <a:t> architectural design frameworks (</a:t>
            </a:r>
            <a:r>
              <a:rPr b="1" lang="en-US"/>
              <a:t>patterns</a:t>
            </a:r>
            <a:r>
              <a:rPr lang="en-US"/>
              <a:t>)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3. Dynamic models </a:t>
            </a:r>
            <a:r>
              <a:rPr lang="en-US"/>
              <a:t>address the behavioral aspects of the program architecture, </a:t>
            </a:r>
            <a:r>
              <a:rPr b="1" lang="en-US"/>
              <a:t>indicating changes</a:t>
            </a:r>
            <a:r>
              <a:rPr lang="en-US"/>
              <a:t> in configuration of system.</a:t>
            </a:r>
            <a:endParaRPr b="1"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 txBox="1"/>
          <p:nvPr>
            <p:ph type="title"/>
          </p:nvPr>
        </p:nvSpPr>
        <p:spPr>
          <a:xfrm>
            <a:off x="457200" y="274638"/>
            <a:ext cx="8229600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24" name="Google Shape;324;p40"/>
          <p:cNvSpPr txBox="1"/>
          <p:nvPr>
            <p:ph idx="1" type="body"/>
          </p:nvPr>
        </p:nvSpPr>
        <p:spPr>
          <a:xfrm>
            <a:off x="228600" y="1371600"/>
            <a:ext cx="8686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4. Process models </a:t>
            </a:r>
            <a:r>
              <a:rPr lang="en-US"/>
              <a:t>focus on the design of the </a:t>
            </a:r>
            <a:r>
              <a:rPr b="1" lang="en-US"/>
              <a:t>business or technical process </a:t>
            </a:r>
            <a:r>
              <a:rPr lang="en-US"/>
              <a:t>that the system must accommodate.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5. Functional models </a:t>
            </a:r>
            <a:r>
              <a:rPr lang="en-US"/>
              <a:t>can be used to represent the </a:t>
            </a:r>
            <a:r>
              <a:rPr b="1" lang="en-US"/>
              <a:t>functional hierarchy of a system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30" name="Google Shape;330;p41"/>
          <p:cNvSpPr txBox="1"/>
          <p:nvPr>
            <p:ph idx="1" type="body"/>
          </p:nvPr>
        </p:nvSpPr>
        <p:spPr>
          <a:xfrm>
            <a:off x="152400" y="1371600"/>
            <a:ext cx="8763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US">
                <a:solidFill>
                  <a:srgbClr val="FF0000"/>
                </a:solidFill>
              </a:rPr>
              <a:t>5. Patterns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design pattern describes a design structure that solves a particular design problem within a specific context.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intent of each design pattern is to provide a description that enables a designer to determine: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Both"/>
            </a:pPr>
            <a:r>
              <a:rPr lang="en-US"/>
              <a:t>whether the pattern is applicable to the </a:t>
            </a:r>
            <a:r>
              <a:rPr b="1" lang="en-US"/>
              <a:t>current work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(2) whether the pattern can be </a:t>
            </a:r>
            <a:r>
              <a:rPr b="1" lang="en-US"/>
              <a:t>reused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36" name="Google Shape;336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(3) whether the pattern can serve as a guide for </a:t>
            </a:r>
            <a:r>
              <a:rPr b="1" lang="en-US"/>
              <a:t>developing a similar</a:t>
            </a:r>
            <a:r>
              <a:rPr lang="en-US"/>
              <a:t>, but f</a:t>
            </a:r>
            <a:r>
              <a:rPr b="1" lang="en-US"/>
              <a:t>unctionally</a:t>
            </a:r>
            <a:r>
              <a:rPr lang="en-US"/>
              <a:t> or structurally </a:t>
            </a:r>
            <a:r>
              <a:rPr b="1" lang="en-US"/>
              <a:t>different pattern</a:t>
            </a:r>
            <a:r>
              <a:rPr lang="en-US"/>
              <a:t>.</a:t>
            </a:r>
            <a:endParaRPr/>
          </a:p>
        </p:txBody>
      </p:sp>
      <p:pic>
        <p:nvPicPr>
          <p:cNvPr id="337" name="Google Shape;33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3276600"/>
            <a:ext cx="4819650" cy="3401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43" name="Google Shape;343;p43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>
                <a:solidFill>
                  <a:srgbClr val="FF0000"/>
                </a:solidFill>
              </a:rPr>
              <a:t>6. Information Hiding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intent of information hiding is to </a:t>
            </a:r>
            <a:r>
              <a:rPr b="1" lang="en-US"/>
              <a:t>hide the details of data structures and procedural processing</a:t>
            </a:r>
            <a:r>
              <a:rPr lang="en-US"/>
              <a:t> behind a module interface.</a:t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Knowledge of the </a:t>
            </a:r>
            <a:r>
              <a:rPr b="1" lang="en-US"/>
              <a:t>details need not be known by users </a:t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independent modules that </a:t>
            </a:r>
            <a:r>
              <a:rPr b="1" lang="en-US"/>
              <a:t>communicate with one another only that information necessary </a:t>
            </a:r>
            <a:r>
              <a:rPr lang="en-US"/>
              <a:t>to achieve software function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49" name="Google Shape;349;p44"/>
          <p:cNvSpPr txBox="1"/>
          <p:nvPr>
            <p:ph idx="1" type="body"/>
          </p:nvPr>
        </p:nvSpPr>
        <p:spPr>
          <a:xfrm>
            <a:off x="457200" y="1600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information hiding provides the </a:t>
            </a:r>
            <a:r>
              <a:rPr b="1" lang="en-US" sz="2400"/>
              <a:t>greatest benefits when modifications</a:t>
            </a:r>
            <a:r>
              <a:rPr lang="en-US" sz="2400"/>
              <a:t> are required.</a:t>
            </a:r>
            <a:endParaRPr/>
          </a:p>
          <a:p>
            <a:pPr indent="-342900" lvl="0" marL="34290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Because most data and procedural </a:t>
            </a:r>
            <a:r>
              <a:rPr b="1" lang="en-US" sz="2400"/>
              <a:t>detail are hidden</a:t>
            </a:r>
            <a:r>
              <a:rPr lang="en-US" sz="2400"/>
              <a:t> from other parts of the </a:t>
            </a:r>
            <a:r>
              <a:rPr b="1" lang="en-US" sz="2400"/>
              <a:t>software errors less likely to propagate.</a:t>
            </a:r>
            <a:endParaRPr/>
          </a:p>
          <a:p>
            <a:pPr indent="-190500" lvl="0" marL="34290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90500" lvl="0" marL="34290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90500" lvl="0" marL="34290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pic>
        <p:nvPicPr>
          <p:cNvPr id="350" name="Google Shape;35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2657" y="3200400"/>
            <a:ext cx="4724400" cy="339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56" name="Google Shape;356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lang="en-US">
                <a:solidFill>
                  <a:srgbClr val="FF0000"/>
                </a:solidFill>
              </a:rPr>
              <a:t>7. Functional Independence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Software should be designed such that </a:t>
            </a:r>
            <a:r>
              <a:rPr b="1" lang="en-US"/>
              <a:t>each module addresses a specific subset of requirements</a:t>
            </a:r>
            <a:r>
              <a:rPr lang="en-US"/>
              <a:t> and has a </a:t>
            </a:r>
            <a:r>
              <a:rPr b="1" lang="en-US"/>
              <a:t>simple interface with other program structure.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Software with effective modularity, that is, independent modules, is easier to develop.</a:t>
            </a:r>
            <a:endParaRPr b="1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62" name="Google Shape;362;p46"/>
          <p:cNvSpPr txBox="1"/>
          <p:nvPr>
            <p:ph idx="1" type="body"/>
          </p:nvPr>
        </p:nvSpPr>
        <p:spPr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Independent modules 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/>
              <a:t>easier to maintain (and test) 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/>
              <a:t>effects caused by design or code modification limited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/>
              <a:t>error propagation is reduced 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/>
              <a:t>reusable modules are possible. </a:t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functional independence is a </a:t>
            </a:r>
            <a:r>
              <a:rPr b="1" lang="en-US"/>
              <a:t>key to good design</a:t>
            </a:r>
            <a:r>
              <a:rPr lang="en-US"/>
              <a:t>, and </a:t>
            </a:r>
            <a:r>
              <a:rPr b="1" lang="en-US"/>
              <a:t>design</a:t>
            </a:r>
            <a:r>
              <a:rPr lang="en-US"/>
              <a:t> is the </a:t>
            </a:r>
            <a:r>
              <a:rPr b="1" lang="en-US"/>
              <a:t>key to software quality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68" name="Google Shape;368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Independence is assessed using two qualitative criteria:</a:t>
            </a:r>
            <a:endParaRPr/>
          </a:p>
        </p:txBody>
      </p:sp>
      <p:pic>
        <p:nvPicPr>
          <p:cNvPr id="369" name="Google Shape;36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819400"/>
            <a:ext cx="7386638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75" name="Google Shape;375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b="1" lang="en-US"/>
              <a:t>Cohesion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cohesive module performs a </a:t>
            </a:r>
            <a:r>
              <a:rPr b="1" lang="en-US"/>
              <a:t>single task</a:t>
            </a:r>
            <a:r>
              <a:rPr lang="en-US"/>
              <a:t>, requiring </a:t>
            </a:r>
            <a:r>
              <a:rPr b="1" lang="en-US"/>
              <a:t>little interaction</a:t>
            </a:r>
            <a:r>
              <a:rPr lang="en-US"/>
              <a:t> with </a:t>
            </a:r>
            <a:r>
              <a:rPr b="1" lang="en-US"/>
              <a:t>other components</a:t>
            </a:r>
            <a:r>
              <a:rPr lang="en-US"/>
              <a:t> in other parts of a program.</a:t>
            </a:r>
            <a:endParaRPr/>
          </a:p>
          <a:p>
            <a:pPr indent="-3111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High degree of cohesion is advisable but</a:t>
            </a:r>
            <a:r>
              <a:rPr lang="en-US"/>
              <a:t> it is also necessary and advisable for </a:t>
            </a:r>
            <a:r>
              <a:rPr b="1" lang="en-US"/>
              <a:t>components to perform multiple functions.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81" name="Google Shape;381;p49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2. Coupling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Coupling is an indication of </a:t>
            </a:r>
            <a:r>
              <a:rPr b="1" lang="en-US"/>
              <a:t>interconnection among modules</a:t>
            </a:r>
            <a:r>
              <a:rPr lang="en-US"/>
              <a:t> in a software structure. </a:t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Coupling depends on the </a:t>
            </a:r>
            <a:r>
              <a:rPr b="1" lang="en-US"/>
              <a:t>interface complexity </a:t>
            </a:r>
            <a:r>
              <a:rPr lang="en-US"/>
              <a:t>between modules – entry point and type of data that passes through interface.</a:t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software design, one should strive for the lowest possible coupling.</a:t>
            </a:r>
            <a:endParaRPr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87" name="Google Shape;387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Simple connectivity among modules results in software that is </a:t>
            </a:r>
            <a:r>
              <a:rPr b="1" lang="en-US"/>
              <a:t>easier to understand </a:t>
            </a:r>
            <a:r>
              <a:rPr lang="en-US"/>
              <a:t>and </a:t>
            </a:r>
            <a:r>
              <a:rPr b="1" lang="en-US"/>
              <a:t>less</a:t>
            </a:r>
            <a:r>
              <a:rPr lang="en-US"/>
              <a:t> prone to a “</a:t>
            </a:r>
            <a:r>
              <a:rPr b="1" lang="en-US"/>
              <a:t>ripple effect”</a:t>
            </a:r>
            <a:endParaRPr/>
          </a:p>
        </p:txBody>
      </p:sp>
      <p:pic>
        <p:nvPicPr>
          <p:cNvPr id="388" name="Google Shape;38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3362089"/>
            <a:ext cx="4141832" cy="3064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Concepts</a:t>
            </a:r>
            <a:endParaRPr/>
          </a:p>
        </p:txBody>
      </p:sp>
      <p:sp>
        <p:nvSpPr>
          <p:cNvPr id="394" name="Google Shape;394;p51"/>
          <p:cNvSpPr txBox="1"/>
          <p:nvPr>
            <p:ph idx="1" type="body"/>
          </p:nvPr>
        </p:nvSpPr>
        <p:spPr>
          <a:xfrm>
            <a:off x="457200" y="1600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>
                <a:solidFill>
                  <a:srgbClr val="FF0000"/>
                </a:solidFill>
              </a:rPr>
              <a:t>8. Refactoring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Refactoring is the process of </a:t>
            </a:r>
            <a:r>
              <a:rPr b="1" lang="en-US"/>
              <a:t>changing a software system </a:t>
            </a:r>
            <a:r>
              <a:rPr lang="en-US"/>
              <a:t>in such a way that it </a:t>
            </a:r>
            <a:r>
              <a:rPr b="1" lang="en-US"/>
              <a:t>does not alter the external behavior</a:t>
            </a:r>
            <a:r>
              <a:rPr lang="en-US"/>
              <a:t> of the code [design] yet </a:t>
            </a:r>
            <a:r>
              <a:rPr b="1" lang="en-US"/>
              <a:t>improves its internal structure.</a:t>
            </a:r>
            <a:endParaRPr/>
          </a:p>
          <a:p>
            <a:pPr indent="-17018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When software is refactored: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/>
              <a:t> the existing design is examined for redundancy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/>
              <a:t> unused design elements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/>
              <a:t> inefficient or unnecessary algorithms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/>
              <a:t> poorly constructed or inappropriate data structures, 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/>
              <a:t>any other design failure that can be corrected to yield a better design.</a:t>
            </a:r>
            <a:endParaRPr b="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Design Model</a:t>
            </a:r>
            <a:endParaRPr/>
          </a:p>
        </p:txBody>
      </p:sp>
      <p:sp>
        <p:nvSpPr>
          <p:cNvPr id="400" name="Google Shape;400;p52"/>
          <p:cNvSpPr txBox="1"/>
          <p:nvPr>
            <p:ph idx="1" type="body"/>
          </p:nvPr>
        </p:nvSpPr>
        <p:spPr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design model can be viewed in two different dimensions:</a:t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Each element of analysis model is transformed into design model and refined iteratively.</a:t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/>
              <a:t>The </a:t>
            </a:r>
            <a:r>
              <a:rPr b="1" lang="en-US"/>
              <a:t>process dimension </a:t>
            </a:r>
            <a:r>
              <a:rPr lang="en-US"/>
              <a:t>as design tasks are executed as part of software process.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/>
              <a:t>The </a:t>
            </a:r>
            <a:r>
              <a:rPr b="1" lang="en-US"/>
              <a:t>abstraction dimension </a:t>
            </a:r>
            <a:r>
              <a:rPr lang="en-US"/>
              <a:t>represents the level of detail in each element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3"/>
          <p:cNvSpPr txBox="1"/>
          <p:nvPr>
            <p:ph idx="11" type="ftr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53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53"/>
          <p:cNvSpPr/>
          <p:nvPr/>
        </p:nvSpPr>
        <p:spPr>
          <a:xfrm>
            <a:off x="1075267" y="939801"/>
            <a:ext cx="7381523" cy="5273675"/>
          </a:xfrm>
          <a:prstGeom prst="rect">
            <a:avLst/>
          </a:prstGeom>
          <a:solidFill>
            <a:srgbClr val="96E3FE"/>
          </a:solidFill>
          <a:ln>
            <a:noFill/>
          </a:ln>
          <a:effectLst>
            <a:outerShdw rotWithShape="0" algn="ctr" dir="2700000" dist="71842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3"/>
          <p:cNvSpPr txBox="1"/>
          <p:nvPr>
            <p:ph type="title"/>
          </p:nvPr>
        </p:nvSpPr>
        <p:spPr>
          <a:xfrm>
            <a:off x="1996723" y="0"/>
            <a:ext cx="51660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Design Model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9" name="Google Shape;40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163" y="1027100"/>
            <a:ext cx="7539750" cy="518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838200"/>
            <a:ext cx="8737656" cy="541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Design Model</a:t>
            </a:r>
            <a:endParaRPr/>
          </a:p>
        </p:txBody>
      </p:sp>
      <p:sp>
        <p:nvSpPr>
          <p:cNvPr id="420" name="Google Shape;420;p55"/>
          <p:cNvSpPr txBox="1"/>
          <p:nvPr>
            <p:ph idx="1" type="body"/>
          </p:nvPr>
        </p:nvSpPr>
        <p:spPr>
          <a:xfrm>
            <a:off x="152400" y="12954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Elements of Design Model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✔"/>
            </a:pPr>
            <a:r>
              <a:rPr b="1" lang="en-US" sz="2400">
                <a:solidFill>
                  <a:srgbClr val="FF0000"/>
                </a:solidFill>
              </a:rPr>
              <a:t>Data Design Elements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data structures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database architecture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✔"/>
            </a:pPr>
            <a:r>
              <a:rPr b="1" lang="en-US" sz="2400">
                <a:solidFill>
                  <a:srgbClr val="FF0000"/>
                </a:solidFill>
              </a:rPr>
              <a:t>Architectural Design Elements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/>
              <a:t>The architectural design for software is the equivalent to the </a:t>
            </a:r>
            <a:r>
              <a:rPr b="1" lang="en-US" sz="2400"/>
              <a:t>floor plan </a:t>
            </a:r>
            <a:r>
              <a:rPr lang="en-US" sz="2400"/>
              <a:t>of a house.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b="1" lang="en-US" sz="2400"/>
              <a:t>Three sources for development of architecture model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b="1" lang="en-US" sz="2400"/>
              <a:t>information </a:t>
            </a:r>
            <a:r>
              <a:rPr lang="en-US" sz="2400"/>
              <a:t>about the </a:t>
            </a:r>
            <a:r>
              <a:rPr b="1" lang="en-US" sz="2400"/>
              <a:t>application domain </a:t>
            </a:r>
            <a:r>
              <a:rPr lang="en-US" sz="2400"/>
              <a:t>for the software to be built.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(2) specific requirements </a:t>
            </a:r>
            <a:r>
              <a:rPr lang="en-US" sz="2400"/>
              <a:t>model elements (data flow diagrams , collaboration etc.)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(3) Architectural </a:t>
            </a:r>
            <a:r>
              <a:rPr b="1" lang="en-US" sz="2400"/>
              <a:t>styles and patterns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Design Model</a:t>
            </a:r>
            <a:endParaRPr/>
          </a:p>
        </p:txBody>
      </p:sp>
      <p:sp>
        <p:nvSpPr>
          <p:cNvPr id="426" name="Google Shape;426;p56"/>
          <p:cNvSpPr txBox="1"/>
          <p:nvPr>
            <p:ph idx="1" type="body"/>
          </p:nvPr>
        </p:nvSpPr>
        <p:spPr>
          <a:xfrm>
            <a:off x="457200" y="1371600"/>
            <a:ext cx="85344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✔"/>
            </a:pPr>
            <a:r>
              <a:rPr b="1" lang="en-US">
                <a:solidFill>
                  <a:srgbClr val="FF0000"/>
                </a:solidFill>
              </a:rPr>
              <a:t>Interface Design Elements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</a:pPr>
            <a:r>
              <a:rPr lang="en-US"/>
              <a:t>The interface design for software is analogous to a set of </a:t>
            </a:r>
            <a:r>
              <a:rPr b="1" lang="en-US"/>
              <a:t>detailed drawings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</a:pPr>
            <a:r>
              <a:rPr lang="en-US"/>
              <a:t>There are three important elements of interface design: </a:t>
            </a:r>
            <a:endParaRPr/>
          </a:p>
          <a:p>
            <a:pPr indent="-514350" lvl="0" marL="51435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arenBoth"/>
            </a:pPr>
            <a:r>
              <a:rPr lang="en-US"/>
              <a:t>the user interface (UI)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(2) external interfaces to other systems, devices, networks, or other producers or consumers of information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(3) internal interfaces between various design components.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Interface design elements </a:t>
            </a:r>
            <a:r>
              <a:rPr b="1" lang="en-US"/>
              <a:t>allow external/ internal communication</a:t>
            </a:r>
            <a:r>
              <a:rPr lang="en-US"/>
              <a:t> and </a:t>
            </a:r>
            <a:r>
              <a:rPr b="1" lang="en-US"/>
              <a:t>collaboration</a:t>
            </a:r>
            <a:r>
              <a:rPr lang="en-US"/>
              <a:t> among various components.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Design Model</a:t>
            </a:r>
            <a:endParaRPr/>
          </a:p>
        </p:txBody>
      </p:sp>
      <p:sp>
        <p:nvSpPr>
          <p:cNvPr id="432" name="Google Shape;432;p57"/>
          <p:cNvSpPr txBox="1"/>
          <p:nvPr>
            <p:ph idx="1" type="body"/>
          </p:nvPr>
        </p:nvSpPr>
        <p:spPr>
          <a:xfrm>
            <a:off x="152400" y="1371600"/>
            <a:ext cx="8763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✔"/>
            </a:pPr>
            <a:r>
              <a:rPr b="1" lang="en-US">
                <a:solidFill>
                  <a:srgbClr val="FF0000"/>
                </a:solidFill>
              </a:rPr>
              <a:t>Component-Level Design Elements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</a:pPr>
            <a:r>
              <a:rPr lang="en-US"/>
              <a:t>The component-level design for software is the equivalent to a </a:t>
            </a:r>
            <a:r>
              <a:rPr b="1" lang="en-US"/>
              <a:t>set of detailed drawings </a:t>
            </a:r>
            <a:r>
              <a:rPr lang="en-US"/>
              <a:t>(and specifications) E.g. Each room of house.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</a:pPr>
            <a:r>
              <a:rPr lang="en-US"/>
              <a:t>Relationship between the components.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✔"/>
            </a:pPr>
            <a:r>
              <a:rPr b="1" lang="en-US">
                <a:solidFill>
                  <a:srgbClr val="FF0000"/>
                </a:solidFill>
              </a:rPr>
              <a:t>Deployment-Level Design Elements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</a:pPr>
            <a:r>
              <a:rPr lang="en-US"/>
              <a:t>Deployment-level design elements indicate how </a:t>
            </a:r>
            <a:r>
              <a:rPr b="1" lang="en-US"/>
              <a:t>software functionality and subsystems</a:t>
            </a:r>
            <a:r>
              <a:rPr lang="en-US"/>
              <a:t> will be allocated within the software environment.</a:t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8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8"/>
          <p:cNvSpPr txBox="1"/>
          <p:nvPr>
            <p:ph type="title"/>
          </p:nvPr>
        </p:nvSpPr>
        <p:spPr>
          <a:xfrm>
            <a:off x="685800" y="274638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Pattern-based Software Design</a:t>
            </a:r>
            <a:endParaRPr/>
          </a:p>
        </p:txBody>
      </p:sp>
      <p:sp>
        <p:nvSpPr>
          <p:cNvPr id="439" name="Google Shape;439;p58"/>
          <p:cNvSpPr txBox="1"/>
          <p:nvPr>
            <p:ph idx="1" type="body"/>
          </p:nvPr>
        </p:nvSpPr>
        <p:spPr>
          <a:xfrm>
            <a:off x="152400" y="1371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best designers in any field have an uncanny </a:t>
            </a:r>
            <a:r>
              <a:rPr b="1" lang="en-US" sz="2800"/>
              <a:t>ability to see patterns that characterize a problem </a:t>
            </a:r>
            <a:r>
              <a:rPr lang="en-US" sz="2800"/>
              <a:t>and corresponding patterns that can be combined to create a solution.</a:t>
            </a:r>
            <a:endParaRPr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 description of a design pattern may also consider a set of design forces. </a:t>
            </a:r>
            <a:endParaRPr/>
          </a:p>
          <a:p>
            <a:pPr indent="-285750" lvl="1" marL="7429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i="1" lang="en-US"/>
              <a:t>Design forces</a:t>
            </a:r>
            <a:r>
              <a:rPr b="1" lang="en-US"/>
              <a:t> describe non-functional requirements </a:t>
            </a:r>
            <a:r>
              <a:rPr lang="en-US"/>
              <a:t>(e.g., ease of maintainability, portability) </a:t>
            </a:r>
            <a:r>
              <a:rPr b="1" lang="en-US"/>
              <a:t>associated with the software</a:t>
            </a:r>
            <a:r>
              <a:rPr lang="en-US"/>
              <a:t> for which the pattern is to be applied. 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Pattern-based Software Design</a:t>
            </a:r>
            <a:endParaRPr/>
          </a:p>
        </p:txBody>
      </p:sp>
      <p:sp>
        <p:nvSpPr>
          <p:cNvPr id="445" name="Google Shape;445;p59"/>
          <p:cNvSpPr txBox="1"/>
          <p:nvPr>
            <p:ph idx="1" type="body"/>
          </p:nvPr>
        </p:nvSpPr>
        <p:spPr>
          <a:xfrm>
            <a:off x="457200" y="1600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pattern characteristics (classes, responsibilities, and collaborations) indicate the attributes of the design that may be adjusted to enable the pattern to accommodate a </a:t>
            </a:r>
            <a:r>
              <a:rPr b="1" lang="en-US"/>
              <a:t>variety of problems (problem solving)</a:t>
            </a:r>
            <a:r>
              <a:rPr lang="en-US"/>
              <a:t>.</a:t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Throughout the design process, one should look for every opportunity to </a:t>
            </a:r>
            <a:r>
              <a:rPr b="1" lang="en-US"/>
              <a:t>apply existing design patterns</a:t>
            </a:r>
            <a:r>
              <a:rPr lang="en-US"/>
              <a:t> rather than creating new ones.</a:t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0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Pattern-based Software Design</a:t>
            </a:r>
            <a:endParaRPr/>
          </a:p>
        </p:txBody>
      </p:sp>
      <p:sp>
        <p:nvSpPr>
          <p:cNvPr id="451" name="Google Shape;451;p60"/>
          <p:cNvSpPr txBox="1"/>
          <p:nvPr>
            <p:ph idx="1" type="body"/>
          </p:nvPr>
        </p:nvSpPr>
        <p:spPr>
          <a:xfrm>
            <a:off x="228600" y="14478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US">
                <a:solidFill>
                  <a:srgbClr val="FF0000"/>
                </a:solidFill>
              </a:rPr>
              <a:t>1. Pattern-Based Design in Context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 </a:t>
            </a:r>
            <a:endParaRPr/>
          </a:p>
          <a:p>
            <a:pPr indent="0" lvl="0" marL="0" rtl="0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Use methods and modeling tools </a:t>
            </a:r>
            <a:endParaRPr/>
          </a:p>
          <a:p>
            <a:pPr indent="0" lvl="0" marL="0" rtl="0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available for architectural,</a:t>
            </a:r>
            <a:endParaRPr/>
          </a:p>
          <a:p>
            <a:pPr indent="0" lvl="0" marL="0" rtl="0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component level,  </a:t>
            </a:r>
            <a:endParaRPr/>
          </a:p>
          <a:p>
            <a:pPr indent="0" lvl="0" marL="0" rtl="0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and interface design.</a:t>
            </a:r>
            <a:endParaRPr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</p:txBody>
      </p:sp>
      <p:pic>
        <p:nvPicPr>
          <p:cNvPr id="452" name="Google Shape;45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955104"/>
            <a:ext cx="5211741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Pattern-based Software Design</a:t>
            </a:r>
            <a:endParaRPr b="1"/>
          </a:p>
        </p:txBody>
      </p:sp>
      <p:sp>
        <p:nvSpPr>
          <p:cNvPr id="458" name="Google Shape;458;p61"/>
          <p:cNvSpPr txBox="1"/>
          <p:nvPr>
            <p:ph idx="1" type="body"/>
          </p:nvPr>
        </p:nvSpPr>
        <p:spPr>
          <a:xfrm>
            <a:off x="152400" y="1600200"/>
            <a:ext cx="88392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US">
                <a:solidFill>
                  <a:srgbClr val="FF0000"/>
                </a:solidFill>
              </a:rPr>
              <a:t>2. Thinking in Patterns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“</a:t>
            </a:r>
            <a:r>
              <a:rPr b="1" lang="en-US"/>
              <a:t>new way of thinking</a:t>
            </a:r>
            <a:r>
              <a:rPr lang="en-US"/>
              <a:t>” when one </a:t>
            </a:r>
            <a:r>
              <a:rPr b="1" lang="en-US"/>
              <a:t>uses</a:t>
            </a:r>
            <a:r>
              <a:rPr lang="en-US"/>
              <a:t> </a:t>
            </a:r>
            <a:r>
              <a:rPr b="1" lang="en-US"/>
              <a:t>patterns</a:t>
            </a:r>
            <a:r>
              <a:rPr lang="en-US"/>
              <a:t> as part of the design activity.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Good design begins by considering context—the big picture.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Pattern-based Software Design</a:t>
            </a:r>
            <a:endParaRPr b="1"/>
          </a:p>
        </p:txBody>
      </p:sp>
      <p:sp>
        <p:nvSpPr>
          <p:cNvPr id="464" name="Google Shape;464;p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Approach that enables a designer to think in patterns: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lang="en-US"/>
              <a:t>Context of </a:t>
            </a:r>
            <a:r>
              <a:rPr b="1" lang="en-US"/>
              <a:t>software build and requirements</a:t>
            </a:r>
            <a:r>
              <a:rPr lang="en-US"/>
              <a:t> to be understood.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lang="en-US"/>
              <a:t>extract the </a:t>
            </a:r>
            <a:r>
              <a:rPr b="1" lang="en-US"/>
              <a:t>patterns</a:t>
            </a:r>
            <a:r>
              <a:rPr lang="en-US"/>
              <a:t> that are </a:t>
            </a:r>
            <a:r>
              <a:rPr b="1" lang="en-US"/>
              <a:t>present</a:t>
            </a:r>
            <a:r>
              <a:rPr lang="en-US"/>
              <a:t> at </a:t>
            </a:r>
            <a:r>
              <a:rPr b="1" lang="en-US"/>
              <a:t>level of abstraction.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lang="en-US"/>
              <a:t>Begin design with “</a:t>
            </a:r>
            <a:r>
              <a:rPr b="1" lang="en-US"/>
              <a:t>big picture</a:t>
            </a:r>
            <a:r>
              <a:rPr lang="en-US"/>
              <a:t>” patterns that establish a </a:t>
            </a:r>
            <a:r>
              <a:rPr b="1" lang="en-US"/>
              <a:t>context or skeleton </a:t>
            </a:r>
            <a:r>
              <a:rPr lang="en-US"/>
              <a:t>for further design work.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Pattern-based Software Design</a:t>
            </a:r>
            <a:endParaRPr/>
          </a:p>
        </p:txBody>
      </p:sp>
      <p:sp>
        <p:nvSpPr>
          <p:cNvPr id="470" name="Google Shape;470;p6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4. “</a:t>
            </a:r>
            <a:r>
              <a:rPr b="1" lang="en-US"/>
              <a:t>Work inward from the context</a:t>
            </a:r>
            <a:r>
              <a:rPr lang="en-US"/>
              <a:t>” lower levels of abstraction that contribute to the design solution.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5. </a:t>
            </a:r>
            <a:r>
              <a:rPr b="1" lang="en-US"/>
              <a:t>Repeat steps 1 to 4 </a:t>
            </a:r>
            <a:r>
              <a:rPr lang="en-US"/>
              <a:t>until the complete design is fleshed out.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6. </a:t>
            </a:r>
            <a:r>
              <a:rPr b="1" lang="en-US"/>
              <a:t>Refine the design</a:t>
            </a:r>
            <a:r>
              <a:rPr lang="en-US"/>
              <a:t> by adapting each pattern to the specifics of the software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of Thinking in Pattern</a:t>
            </a:r>
            <a:endParaRPr/>
          </a:p>
        </p:txBody>
      </p:sp>
      <p:sp>
        <p:nvSpPr>
          <p:cNvPr id="476" name="Google Shape;476;p64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SafeHomeAssured.com </a:t>
            </a:r>
            <a:r>
              <a:rPr lang="en-US"/>
              <a:t>WebApp.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How to </a:t>
            </a:r>
            <a:r>
              <a:rPr b="1" lang="en-US"/>
              <a:t>provide information </a:t>
            </a:r>
            <a:r>
              <a:rPr lang="en-US"/>
              <a:t>about </a:t>
            </a:r>
            <a:r>
              <a:rPr i="1" lang="en-US"/>
              <a:t>SafeHome </a:t>
            </a:r>
            <a:r>
              <a:rPr lang="en-US"/>
              <a:t>products and services?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How to </a:t>
            </a:r>
            <a:r>
              <a:rPr b="1" lang="en-US"/>
              <a:t>sell </a:t>
            </a:r>
            <a:r>
              <a:rPr b="1" i="1" lang="en-US"/>
              <a:t>SafeHome </a:t>
            </a:r>
            <a:r>
              <a:rPr lang="en-US"/>
              <a:t>products and services to customers?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How to establish </a:t>
            </a:r>
            <a:r>
              <a:rPr b="1" lang="en-US"/>
              <a:t>Internet-based monitoring and control</a:t>
            </a:r>
            <a:r>
              <a:rPr lang="en-US"/>
              <a:t> of an installed security system?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Pattern-based Software Design</a:t>
            </a:r>
            <a:endParaRPr/>
          </a:p>
        </p:txBody>
      </p:sp>
      <p:sp>
        <p:nvSpPr>
          <p:cNvPr id="482" name="Google Shape;482;p65"/>
          <p:cNvSpPr txBox="1"/>
          <p:nvPr>
            <p:ph idx="1" type="body"/>
          </p:nvPr>
        </p:nvSpPr>
        <p:spPr>
          <a:xfrm>
            <a:off x="457200" y="1600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US">
                <a:solidFill>
                  <a:srgbClr val="FF0000"/>
                </a:solidFill>
              </a:rPr>
              <a:t>3. Design Tasks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The following design tasks are applied when a pattern-based design philosophy is used: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b="1" lang="en-US"/>
              <a:t>Examine</a:t>
            </a:r>
            <a:r>
              <a:rPr lang="en-US"/>
              <a:t> the </a:t>
            </a:r>
            <a:r>
              <a:rPr b="1" lang="en-US"/>
              <a:t>requirements model and develop </a:t>
            </a:r>
            <a:r>
              <a:rPr lang="en-US"/>
              <a:t>a problem hierarchy.</a:t>
            </a:r>
            <a:endParaRPr/>
          </a:p>
          <a:p>
            <a:pPr indent="-3111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lang="en-US"/>
              <a:t>Determine if a </a:t>
            </a:r>
            <a:r>
              <a:rPr b="1" lang="en-US"/>
              <a:t>reliable pattern language </a:t>
            </a:r>
            <a:r>
              <a:rPr lang="en-US"/>
              <a:t>has been</a:t>
            </a:r>
            <a:r>
              <a:rPr b="1" lang="en-US"/>
              <a:t> developed </a:t>
            </a:r>
            <a:r>
              <a:rPr lang="en-US"/>
              <a:t>for the problem domain.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Pattern-based Software Design</a:t>
            </a:r>
            <a:endParaRPr/>
          </a:p>
        </p:txBody>
      </p:sp>
      <p:sp>
        <p:nvSpPr>
          <p:cNvPr id="488" name="Google Shape;488;p66"/>
          <p:cNvSpPr txBox="1"/>
          <p:nvPr>
            <p:ph idx="1" type="body"/>
          </p:nvPr>
        </p:nvSpPr>
        <p:spPr>
          <a:xfrm>
            <a:off x="457200" y="14478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3. Beginning with a broad problem, determine </a:t>
            </a:r>
            <a:r>
              <a:rPr b="1" lang="en-US"/>
              <a:t>whether one or more architectural patterns </a:t>
            </a:r>
            <a:r>
              <a:rPr lang="en-US"/>
              <a:t>is </a:t>
            </a:r>
            <a:r>
              <a:rPr b="1" lang="en-US"/>
              <a:t>available</a:t>
            </a:r>
            <a:r>
              <a:rPr lang="en-US"/>
              <a:t> for it.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4. </a:t>
            </a:r>
            <a:r>
              <a:rPr lang="en-US"/>
              <a:t>Using the collaborations provided for the architectural pattern , </a:t>
            </a:r>
            <a:r>
              <a:rPr b="1" lang="en-US"/>
              <a:t>examine subsystem or component-level problems and search for appropriate patterns</a:t>
            </a:r>
            <a:r>
              <a:rPr lang="en-US"/>
              <a:t> to address them.</a:t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Repeat steps until all broad problems have been addressed</a:t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Pattern-based Software Design</a:t>
            </a:r>
            <a:endParaRPr/>
          </a:p>
        </p:txBody>
      </p:sp>
      <p:sp>
        <p:nvSpPr>
          <p:cNvPr id="494" name="Google Shape;494;p6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5. </a:t>
            </a:r>
            <a:r>
              <a:rPr b="1" lang="en-US"/>
              <a:t>user interface design problems</a:t>
            </a:r>
            <a:r>
              <a:rPr lang="en-US"/>
              <a:t> have been -</a:t>
            </a:r>
            <a:r>
              <a:rPr b="1" lang="en-US"/>
              <a:t>search</a:t>
            </a:r>
            <a:r>
              <a:rPr lang="en-US"/>
              <a:t> the many user interface </a:t>
            </a:r>
            <a:r>
              <a:rPr b="1" lang="en-US"/>
              <a:t>design pattern </a:t>
            </a:r>
            <a:r>
              <a:rPr lang="en-US"/>
              <a:t>repositories for appropriate patterns.</a:t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6. </a:t>
            </a:r>
            <a:r>
              <a:rPr b="1" lang="en-US"/>
              <a:t>Compare various pattern </a:t>
            </a:r>
            <a:r>
              <a:rPr lang="en-US"/>
              <a:t>against the existing ones for better designing.</a:t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7. Be certain to refine the design as it is derived from patterns using </a:t>
            </a:r>
            <a:r>
              <a:rPr b="1" lang="en-US"/>
              <a:t>design quality criteria </a:t>
            </a:r>
            <a:r>
              <a:rPr lang="en-US"/>
              <a:t>as a guide.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Pattern-based Software Design</a:t>
            </a:r>
            <a:endParaRPr b="1"/>
          </a:p>
        </p:txBody>
      </p:sp>
      <p:sp>
        <p:nvSpPr>
          <p:cNvPr id="500" name="Google Shape;500;p6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US">
                <a:solidFill>
                  <a:srgbClr val="FF0000"/>
                </a:solidFill>
              </a:rPr>
              <a:t>4. Building a Pattern-Organizing Table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As pattern based design proceeds organizing and categorizing problem may occur.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Solution: A pattern-organizing table can be implemented as a spreadsheet model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Pattern-based Software Design</a:t>
            </a:r>
            <a:endParaRPr/>
          </a:p>
        </p:txBody>
      </p:sp>
      <p:sp>
        <p:nvSpPr>
          <p:cNvPr id="506" name="Google Shape;506;p6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Pattern Organizing Table</a:t>
            </a:r>
            <a:endParaRPr/>
          </a:p>
        </p:txBody>
      </p:sp>
      <p:pic>
        <p:nvPicPr>
          <p:cNvPr id="507" name="Google Shape;50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2286000"/>
            <a:ext cx="72390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Pattern-based Software Design</a:t>
            </a:r>
            <a:endParaRPr/>
          </a:p>
        </p:txBody>
      </p:sp>
      <p:sp>
        <p:nvSpPr>
          <p:cNvPr id="513" name="Google Shape;513;p7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US">
                <a:solidFill>
                  <a:srgbClr val="FF0000"/>
                </a:solidFill>
              </a:rPr>
              <a:t>5. Common Design Mistakes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number of common mistakes occur when pattern-based design is used.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b="1" lang="en-US"/>
              <a:t>not enough time </a:t>
            </a:r>
            <a:r>
              <a:rPr lang="en-US"/>
              <a:t>has been spent to understand the underlying problem.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b="1" lang="en-US"/>
              <a:t>Wrong pattern selected.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b="1" lang="en-US"/>
              <a:t>Quality</a:t>
            </a:r>
            <a:r>
              <a:rPr lang="en-US"/>
              <a:t> standards ignored.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Software Architecture </a:t>
            </a:r>
            <a:endParaRPr/>
          </a:p>
        </p:txBody>
      </p:sp>
      <p:sp>
        <p:nvSpPr>
          <p:cNvPr id="519" name="Google Shape;519;p71"/>
          <p:cNvSpPr txBox="1"/>
          <p:nvPr>
            <p:ph idx="1" type="body"/>
          </p:nvPr>
        </p:nvSpPr>
        <p:spPr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Why Architecture?</a:t>
            </a:r>
            <a:endParaRPr/>
          </a:p>
          <a:p>
            <a:pPr indent="0" lvl="0" marL="0" rtl="0" algn="l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architecture </a:t>
            </a:r>
            <a:r>
              <a:rPr b="1" lang="en-US"/>
              <a:t>is not the operational software</a:t>
            </a:r>
            <a:r>
              <a:rPr lang="en-US"/>
              <a:t>. Rather, it is a representation that enables a software engineer to: </a:t>
            </a:r>
            <a:endParaRPr/>
          </a:p>
          <a:p>
            <a:pPr indent="0" lvl="0" marL="0" rtl="0" algn="just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(1) </a:t>
            </a:r>
            <a:r>
              <a:rPr b="1" lang="en-US"/>
              <a:t>analyze the effectiveness of the design </a:t>
            </a:r>
            <a:r>
              <a:rPr lang="en-US"/>
              <a:t>in meeting its stated requirements, </a:t>
            </a:r>
            <a:endParaRPr/>
          </a:p>
          <a:p>
            <a:pPr indent="0" lvl="0" marL="0" rtl="0" algn="just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(2) </a:t>
            </a:r>
            <a:r>
              <a:rPr b="1" lang="en-US"/>
              <a:t>consider architectural alternatives </a:t>
            </a:r>
            <a:r>
              <a:rPr lang="en-US"/>
              <a:t>at a stage when making design changes is still relatively easy, and </a:t>
            </a:r>
            <a:endParaRPr/>
          </a:p>
          <a:p>
            <a:pPr indent="0" lvl="0" marL="0" rtl="0" algn="just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(3) </a:t>
            </a:r>
            <a:r>
              <a:rPr b="1" lang="en-US"/>
              <a:t>reduce the risks </a:t>
            </a:r>
            <a:r>
              <a:rPr lang="en-US"/>
              <a:t>associated with the construction of the software.</a:t>
            </a:r>
            <a:endParaRPr b="1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Software Architecture </a:t>
            </a:r>
            <a:endParaRPr/>
          </a:p>
        </p:txBody>
      </p:sp>
      <p:sp>
        <p:nvSpPr>
          <p:cNvPr id="525" name="Google Shape;525;p72"/>
          <p:cNvSpPr txBox="1"/>
          <p:nvPr>
            <p:ph idx="1" type="body"/>
          </p:nvPr>
        </p:nvSpPr>
        <p:spPr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Why is Architecture Important?</a:t>
            </a:r>
            <a:endParaRPr/>
          </a:p>
          <a:p>
            <a:pPr indent="-342900" lvl="0" marL="342900" rtl="0" algn="just">
              <a:spcBef>
                <a:spcPts val="33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Representations of software architecture are an enabler for communication</a:t>
            </a:r>
            <a:r>
              <a:rPr lang="en-US"/>
              <a:t> between all parties (stakeholders) interested in the development of a computer-based system.</a:t>
            </a:r>
            <a:endParaRPr/>
          </a:p>
          <a:p>
            <a:pPr indent="-185420" lvl="0" marL="342900" rtl="0" algn="just">
              <a:spcBef>
                <a:spcPts val="33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The architecture highlights early design decisions </a:t>
            </a:r>
            <a:r>
              <a:rPr lang="en-US"/>
              <a:t>that will have a profound impact on all software engineering work that follows and, as important, on the ultimate success of the system as an operational entity.</a:t>
            </a:r>
            <a:endParaRPr/>
          </a:p>
          <a:p>
            <a:pPr indent="-185420" lvl="0" marL="342900" rtl="0" algn="just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Architecture “constitutes a relatively small, intellectually graspable model</a:t>
            </a:r>
            <a:r>
              <a:rPr lang="en-US"/>
              <a:t> of how the system is structured and how its components work together”.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Architectural Styles</a:t>
            </a:r>
            <a:endParaRPr/>
          </a:p>
        </p:txBody>
      </p:sp>
      <p:sp>
        <p:nvSpPr>
          <p:cNvPr id="531" name="Google Shape;531;p7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400"/>
              <a:t>Each style describes a system category that encompasses: </a:t>
            </a:r>
            <a:endParaRPr/>
          </a:p>
          <a:p>
            <a:pPr indent="-514350" lvl="0" marL="514350" rtl="0" algn="just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arenBoth"/>
            </a:pPr>
            <a:r>
              <a:rPr b="1" lang="en-US" sz="3400"/>
              <a:t>a set of components </a:t>
            </a:r>
            <a:r>
              <a:rPr lang="en-US" sz="3400"/>
              <a:t>(e.g., a database, computational modules) that perform a function required by a system</a:t>
            </a:r>
            <a:endParaRPr/>
          </a:p>
          <a:p>
            <a:pPr indent="-363220" lvl="0" marL="514350" rtl="0" algn="just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400"/>
          </a:p>
          <a:p>
            <a:pPr indent="0" lvl="0" marL="0" rtl="0" algn="just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(2) </a:t>
            </a:r>
            <a:r>
              <a:rPr b="1" lang="en-US" sz="3400"/>
              <a:t>a set of connectors </a:t>
            </a:r>
            <a:r>
              <a:rPr lang="en-US" sz="3400"/>
              <a:t>that enable “communication, coordination and cooperation” among components</a:t>
            </a:r>
            <a:endParaRPr/>
          </a:p>
          <a:p>
            <a:pPr indent="0" lvl="0" marL="0" rtl="0" algn="just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400"/>
          </a:p>
          <a:p>
            <a:pPr indent="0" lvl="0" marL="0" rtl="0" algn="just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(3) </a:t>
            </a:r>
            <a:r>
              <a:rPr b="1" lang="en-US" sz="3400"/>
              <a:t>constraints</a:t>
            </a:r>
            <a:r>
              <a:rPr lang="en-US" sz="3400"/>
              <a:t> that define how components can be integrated to form the system</a:t>
            </a:r>
            <a:endParaRPr/>
          </a:p>
          <a:p>
            <a:pPr indent="0" lvl="0" marL="0" rtl="0" algn="just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400"/>
          </a:p>
          <a:p>
            <a:pPr indent="0" lvl="0" marL="0" rtl="0" algn="just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400"/>
              <a:t>(4) </a:t>
            </a:r>
            <a:r>
              <a:rPr b="1" lang="en-US" sz="3400"/>
              <a:t>semantic models </a:t>
            </a:r>
            <a:r>
              <a:rPr lang="en-US" sz="3400"/>
              <a:t>that enable a designer to </a:t>
            </a:r>
            <a:r>
              <a:rPr b="1" lang="en-US" sz="3400"/>
              <a:t>understand the overall properties of a system</a:t>
            </a:r>
            <a:r>
              <a:rPr lang="en-US" sz="3400"/>
              <a:t> by analyzing the known properties of its constituent parts. 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Architectural Styles</a:t>
            </a:r>
            <a:endParaRPr/>
          </a:p>
        </p:txBody>
      </p:sp>
      <p:sp>
        <p:nvSpPr>
          <p:cNvPr id="537" name="Google Shape;537;p74"/>
          <p:cNvSpPr txBox="1"/>
          <p:nvPr>
            <p:ph idx="1" type="body"/>
          </p:nvPr>
        </p:nvSpPr>
        <p:spPr>
          <a:xfrm>
            <a:off x="457200" y="1600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>
                <a:solidFill>
                  <a:srgbClr val="FF0000"/>
                </a:solidFill>
              </a:rPr>
              <a:t>Data-centered architectures.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</a:t>
            </a:r>
            <a:r>
              <a:rPr b="1" lang="en-US"/>
              <a:t>data store </a:t>
            </a:r>
            <a:r>
              <a:rPr lang="en-US"/>
              <a:t>(e.g., a file or database) </a:t>
            </a:r>
            <a:r>
              <a:rPr b="1" lang="en-US"/>
              <a:t>resides at the center</a:t>
            </a:r>
            <a:r>
              <a:rPr lang="en-US"/>
              <a:t> of this architecture and is accessed frequently by other components.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Client software </a:t>
            </a:r>
            <a:r>
              <a:rPr lang="en-US"/>
              <a:t>accesses a </a:t>
            </a:r>
            <a:r>
              <a:rPr b="1" lang="en-US"/>
              <a:t>central repository.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Data-centered architectures promote </a:t>
            </a:r>
            <a:r>
              <a:rPr b="1" lang="en-US"/>
              <a:t>integrability.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New client components can be added easily.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Client components independently execute processes.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5"/>
          <p:cNvSpPr txBox="1"/>
          <p:nvPr>
            <p:ph idx="11" type="ftr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43" name="Google Shape;543;p75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75"/>
          <p:cNvSpPr txBox="1"/>
          <p:nvPr>
            <p:ph type="title"/>
          </p:nvPr>
        </p:nvSpPr>
        <p:spPr>
          <a:xfrm>
            <a:off x="973667" y="274638"/>
            <a:ext cx="7196667" cy="1027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Data-Centered Architecture</a:t>
            </a:r>
            <a:endParaRPr/>
          </a:p>
        </p:txBody>
      </p:sp>
      <p:pic>
        <p:nvPicPr>
          <p:cNvPr id="545" name="Google Shape;54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38301"/>
            <a:ext cx="731519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Architectural Styles</a:t>
            </a:r>
            <a:endParaRPr/>
          </a:p>
        </p:txBody>
      </p:sp>
      <p:sp>
        <p:nvSpPr>
          <p:cNvPr id="551" name="Google Shape;551;p76"/>
          <p:cNvSpPr txBox="1"/>
          <p:nvPr>
            <p:ph idx="1" type="body"/>
          </p:nvPr>
        </p:nvSpPr>
        <p:spPr>
          <a:xfrm>
            <a:off x="457200" y="1600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Char char="•"/>
            </a:pPr>
            <a:r>
              <a:rPr b="1" lang="en-US">
                <a:solidFill>
                  <a:srgbClr val="FF0000"/>
                </a:solidFill>
              </a:rPr>
              <a:t>Data-flow architectures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This architecture is applied when </a:t>
            </a:r>
            <a:r>
              <a:rPr b="1" lang="en-US"/>
              <a:t>input data </a:t>
            </a:r>
            <a:r>
              <a:rPr lang="en-US"/>
              <a:t>are to be </a:t>
            </a:r>
            <a:r>
              <a:rPr b="1" lang="en-US"/>
              <a:t>transformed through </a:t>
            </a:r>
            <a:r>
              <a:rPr lang="en-US"/>
              <a:t>a </a:t>
            </a:r>
            <a:r>
              <a:rPr b="1" lang="en-US"/>
              <a:t>series</a:t>
            </a:r>
            <a:r>
              <a:rPr lang="en-US"/>
              <a:t> of computational or manipulative </a:t>
            </a:r>
            <a:r>
              <a:rPr b="1" lang="en-US"/>
              <a:t>components into output data.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Pipe and filter pattern.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Each filter works independently.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If the data </a:t>
            </a:r>
            <a:r>
              <a:rPr b="1" lang="en-US"/>
              <a:t>flow degenerates into a single line </a:t>
            </a:r>
            <a:r>
              <a:rPr lang="en-US"/>
              <a:t>of transforms, it is termed </a:t>
            </a:r>
            <a:r>
              <a:rPr b="1" lang="en-US"/>
              <a:t>batch sequential.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7"/>
          <p:cNvSpPr txBox="1"/>
          <p:nvPr>
            <p:ph idx="11" type="ftr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57" name="Google Shape;557;p77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77"/>
          <p:cNvSpPr txBox="1"/>
          <p:nvPr>
            <p:ph type="title"/>
          </p:nvPr>
        </p:nvSpPr>
        <p:spPr>
          <a:xfrm>
            <a:off x="1636889" y="274638"/>
            <a:ext cx="5871634" cy="1027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Data Flow Architecture</a:t>
            </a:r>
            <a:endParaRPr/>
          </a:p>
        </p:txBody>
      </p:sp>
      <p:pic>
        <p:nvPicPr>
          <p:cNvPr id="559" name="Google Shape;559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057274"/>
            <a:ext cx="8686800" cy="564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Architectural Styles</a:t>
            </a:r>
            <a:endParaRPr/>
          </a:p>
        </p:txBody>
      </p:sp>
      <p:sp>
        <p:nvSpPr>
          <p:cNvPr id="565" name="Google Shape;565;p7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US">
                <a:solidFill>
                  <a:srgbClr val="FF0000"/>
                </a:solidFill>
              </a:rPr>
              <a:t>Call and return architectures.</a:t>
            </a:r>
            <a:endParaRPr/>
          </a:p>
          <a:p>
            <a:pPr indent="-342900" lvl="0" marL="342900" rtl="0" algn="just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architectural style enables you to achieve a </a:t>
            </a:r>
            <a:r>
              <a:rPr b="1" lang="en-US"/>
              <a:t>program structure that is relatively easy to modify and scale.</a:t>
            </a:r>
            <a:endParaRPr/>
          </a:p>
          <a:p>
            <a:pPr indent="-185420" lvl="0" marL="342900" rtl="0" algn="just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342900" lvl="0" marL="342900" rtl="0" algn="just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Sub styles of call and return architecture:</a:t>
            </a:r>
            <a:endParaRPr/>
          </a:p>
          <a:p>
            <a:pPr indent="-514350" lvl="0" marL="514350" rtl="0" algn="just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/>
              <a:t>Main program/subprogram architectures: main program invokes a number of program components</a:t>
            </a:r>
            <a:r>
              <a:rPr lang="en-US"/>
              <a:t> that in turn may invoke still other components.</a:t>
            </a:r>
            <a:endParaRPr/>
          </a:p>
          <a:p>
            <a:pPr indent="-356870" lvl="0" marL="514350" rtl="0" algn="just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14350" lvl="0" marL="514350" rtl="0" algn="just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/>
              <a:t>Remote procedure call architectures: </a:t>
            </a:r>
            <a:r>
              <a:rPr lang="en-US"/>
              <a:t>The </a:t>
            </a:r>
            <a:r>
              <a:rPr b="1" lang="en-US"/>
              <a:t>components of a main program/subprogram</a:t>
            </a:r>
            <a:r>
              <a:rPr lang="en-US"/>
              <a:t> architecture are </a:t>
            </a:r>
            <a:r>
              <a:rPr b="1" lang="en-US"/>
              <a:t>distributed across multiple computers on a network.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95474"/>
            <a:ext cx="7772399" cy="4657726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79"/>
          <p:cNvSpPr txBox="1"/>
          <p:nvPr>
            <p:ph idx="4294967295" type="title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br>
              <a:rPr b="1" lang="en-US">
                <a:solidFill>
                  <a:srgbClr val="FF0000"/>
                </a:solidFill>
              </a:rPr>
            </a:br>
            <a:r>
              <a:rPr b="1" lang="en-US"/>
              <a:t>Call and return architectures.</a:t>
            </a:r>
            <a:br>
              <a:rPr b="1" lang="en-US"/>
            </a:b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Architectural Styles</a:t>
            </a:r>
            <a:endParaRPr/>
          </a:p>
        </p:txBody>
      </p:sp>
      <p:sp>
        <p:nvSpPr>
          <p:cNvPr id="577" name="Google Shape;577;p8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Char char="•"/>
            </a:pPr>
            <a:r>
              <a:rPr b="1" lang="en-US">
                <a:solidFill>
                  <a:srgbClr val="FF0000"/>
                </a:solidFill>
              </a:rPr>
              <a:t>Layered architectures.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Layered architecture focuses on the </a:t>
            </a:r>
            <a:r>
              <a:rPr b="1" lang="en-US"/>
              <a:t>grouping of related functionality within an application </a:t>
            </a:r>
            <a:r>
              <a:rPr lang="en-US"/>
              <a:t>into distinct layers that are stacked vertically on top of each other.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1"/>
          <p:cNvSpPr txBox="1"/>
          <p:nvPr>
            <p:ph idx="11" type="ftr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83" name="Google Shape;583;p81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81"/>
          <p:cNvSpPr txBox="1"/>
          <p:nvPr>
            <p:ph type="title"/>
          </p:nvPr>
        </p:nvSpPr>
        <p:spPr>
          <a:xfrm>
            <a:off x="1524000" y="274638"/>
            <a:ext cx="610446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Layered Architecture</a:t>
            </a:r>
            <a:endParaRPr/>
          </a:p>
        </p:txBody>
      </p:sp>
      <p:pic>
        <p:nvPicPr>
          <p:cNvPr id="585" name="Google Shape;585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8878" y="1371600"/>
            <a:ext cx="5295900" cy="50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Architectural Patterns Issues</a:t>
            </a:r>
            <a:endParaRPr/>
          </a:p>
        </p:txBody>
      </p:sp>
      <p:sp>
        <p:nvSpPr>
          <p:cNvPr id="591" name="Google Shape;591;p82"/>
          <p:cNvSpPr txBox="1"/>
          <p:nvPr>
            <p:ph idx="1" type="body"/>
          </p:nvPr>
        </p:nvSpPr>
        <p:spPr>
          <a:xfrm>
            <a:off x="457200" y="13716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software architecture may have a number of</a:t>
            </a:r>
            <a:endParaRPr/>
          </a:p>
          <a:p>
            <a:pPr indent="0" lvl="0" marL="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architectural patterns </a:t>
            </a:r>
            <a:r>
              <a:rPr lang="en-US"/>
              <a:t>that </a:t>
            </a:r>
            <a:r>
              <a:rPr b="1" lang="en-US"/>
              <a:t>address</a:t>
            </a:r>
            <a:r>
              <a:rPr lang="en-US"/>
              <a:t> issues such as </a:t>
            </a:r>
            <a:r>
              <a:rPr b="1" lang="en-US"/>
              <a:t>concurrency, persistence, and distribution</a:t>
            </a:r>
            <a:r>
              <a:rPr lang="en-US"/>
              <a:t>.</a:t>
            </a:r>
            <a:endParaRPr/>
          </a:p>
          <a:p>
            <a:pPr indent="0" lvl="0" marL="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14350" lvl="0" marL="51435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arenBoth"/>
            </a:pPr>
            <a:r>
              <a:rPr b="1" lang="en-US"/>
              <a:t>Concurrency</a:t>
            </a:r>
            <a:r>
              <a:rPr lang="en-US"/>
              <a:t>—applications must </a:t>
            </a:r>
            <a:r>
              <a:rPr b="1" lang="en-US"/>
              <a:t>handle multiple tasks</a:t>
            </a:r>
            <a:r>
              <a:rPr lang="en-US"/>
              <a:t> in a manner that simulates parallelism.</a:t>
            </a:r>
            <a:endParaRPr/>
          </a:p>
          <a:p>
            <a:pPr indent="0" lvl="0" marL="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 1: </a:t>
            </a:r>
            <a:r>
              <a:rPr b="1" lang="en-US"/>
              <a:t>Operating System Process Management pattern</a:t>
            </a:r>
            <a:r>
              <a:rPr lang="en-US"/>
              <a:t> that provides built-in OS features that allow components to execute concurrently.</a:t>
            </a:r>
            <a:endParaRPr/>
          </a:p>
          <a:p>
            <a:pPr indent="-17018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 2: </a:t>
            </a:r>
            <a:r>
              <a:rPr b="1" lang="en-US"/>
              <a:t>Task Scheduler pattern </a:t>
            </a:r>
            <a:r>
              <a:rPr lang="en-US"/>
              <a:t>invokes the next concurrent object 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Architectural Patterns</a:t>
            </a:r>
            <a:endParaRPr/>
          </a:p>
        </p:txBody>
      </p:sp>
      <p:sp>
        <p:nvSpPr>
          <p:cNvPr id="597" name="Google Shape;597;p83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(2) Distribution - </a:t>
            </a:r>
            <a:r>
              <a:rPr lang="en-US"/>
              <a:t>The distribution problem </a:t>
            </a:r>
            <a:r>
              <a:rPr b="1" lang="en-US"/>
              <a:t>addresses the manner in which systems or components </a:t>
            </a:r>
            <a:r>
              <a:rPr lang="en-US"/>
              <a:t>within systems </a:t>
            </a:r>
            <a:r>
              <a:rPr b="1" lang="en-US"/>
              <a:t>communicate</a:t>
            </a:r>
            <a:r>
              <a:rPr lang="en-US"/>
              <a:t> with one another in a </a:t>
            </a:r>
            <a:r>
              <a:rPr b="1" lang="en-US"/>
              <a:t>distributed environment.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 1: </a:t>
            </a:r>
            <a:r>
              <a:rPr b="1" lang="en-US"/>
              <a:t>Broker pattern: </a:t>
            </a:r>
            <a:r>
              <a:rPr lang="en-US"/>
              <a:t>broker acts as a middle man to constitute communication.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Architectural Patterns</a:t>
            </a:r>
            <a:endParaRPr/>
          </a:p>
        </p:txBody>
      </p:sp>
      <p:sp>
        <p:nvSpPr>
          <p:cNvPr id="603" name="Google Shape;603;p8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(3) Persistence - Data persists if it survives past the execution</a:t>
            </a:r>
            <a:r>
              <a:rPr lang="en-US"/>
              <a:t> of the process that created it.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Persistent data are stored </a:t>
            </a:r>
            <a:r>
              <a:rPr lang="en-US"/>
              <a:t>in a database or file and </a:t>
            </a:r>
            <a:r>
              <a:rPr b="1" lang="en-US"/>
              <a:t>modified later</a:t>
            </a:r>
            <a:r>
              <a:rPr lang="en-US"/>
              <a:t>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Example 1: </a:t>
            </a:r>
            <a:r>
              <a:rPr b="1" lang="en-US"/>
              <a:t>Database management system pattern</a:t>
            </a:r>
            <a:r>
              <a:rPr lang="en-US"/>
              <a:t> which stores and retrieves data.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Architectural Design</a:t>
            </a:r>
            <a:endParaRPr/>
          </a:p>
        </p:txBody>
      </p:sp>
      <p:sp>
        <p:nvSpPr>
          <p:cNvPr id="609" name="Google Shape;609;p85"/>
          <p:cNvSpPr txBox="1"/>
          <p:nvPr>
            <p:ph idx="1" type="body"/>
          </p:nvPr>
        </p:nvSpPr>
        <p:spPr>
          <a:xfrm>
            <a:off x="457200" y="1600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software must be placed into context</a:t>
            </a:r>
            <a:endParaRPr/>
          </a:p>
          <a:p>
            <a:pPr indent="-285750" lvl="1" marL="74295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the </a:t>
            </a:r>
            <a:r>
              <a:rPr b="1" lang="en-US"/>
              <a:t>design</a:t>
            </a:r>
            <a:r>
              <a:rPr lang="en-US"/>
              <a:t> should </a:t>
            </a:r>
            <a:r>
              <a:rPr b="1" lang="en-US"/>
              <a:t>define</a:t>
            </a:r>
            <a:r>
              <a:rPr lang="en-US"/>
              <a:t> the </a:t>
            </a:r>
            <a:r>
              <a:rPr b="1" lang="en-US"/>
              <a:t>external entities </a:t>
            </a:r>
            <a:r>
              <a:rPr lang="en-US"/>
              <a:t>(other systems, devices, people) that the </a:t>
            </a:r>
            <a:r>
              <a:rPr b="1" lang="en-US"/>
              <a:t>software interacts </a:t>
            </a:r>
            <a:r>
              <a:rPr lang="en-US"/>
              <a:t>with and the </a:t>
            </a:r>
            <a:r>
              <a:rPr b="1" lang="en-US"/>
              <a:t>nature of the interaction</a:t>
            </a:r>
            <a:endParaRPr/>
          </a:p>
          <a:p>
            <a:pPr indent="-121284" lvl="1" marL="74295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set of architectural archetypes should be identified</a:t>
            </a:r>
            <a:endParaRPr/>
          </a:p>
          <a:p>
            <a:pPr indent="-285750" lvl="1" marL="74295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An </a:t>
            </a:r>
            <a:r>
              <a:rPr b="1" lang="en-US"/>
              <a:t>archetype</a:t>
            </a:r>
            <a:r>
              <a:rPr lang="en-US"/>
              <a:t> is an abstraction (similar to a class) that </a:t>
            </a:r>
            <a:r>
              <a:rPr b="1" lang="en-US"/>
              <a:t>represents one element of system behavior</a:t>
            </a:r>
            <a:r>
              <a:rPr lang="en-US"/>
              <a:t>.</a:t>
            </a:r>
            <a:endParaRPr b="1"/>
          </a:p>
          <a:p>
            <a:pPr indent="-121284" lvl="1" marL="742950" rtl="0" algn="just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</a:t>
            </a:r>
            <a:r>
              <a:rPr b="1" lang="en-US"/>
              <a:t>designer specifies the structure </a:t>
            </a:r>
            <a:r>
              <a:rPr lang="en-US"/>
              <a:t>of the system by </a:t>
            </a:r>
            <a:r>
              <a:rPr b="1" lang="en-US"/>
              <a:t>defining and refining software components</a:t>
            </a:r>
            <a:r>
              <a:rPr lang="en-US"/>
              <a:t> that implement each archetype</a:t>
            </a:r>
            <a:endParaRPr/>
          </a:p>
          <a:p>
            <a:pPr indent="-121284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86"/>
          <p:cNvSpPr txBox="1"/>
          <p:nvPr>
            <p:ph idx="11" type="ftr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15" name="Google Shape;615;p86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86"/>
          <p:cNvSpPr txBox="1"/>
          <p:nvPr>
            <p:ph type="title"/>
          </p:nvPr>
        </p:nvSpPr>
        <p:spPr>
          <a:xfrm>
            <a:off x="1509890" y="228600"/>
            <a:ext cx="618913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/>
              <a:t>Architectural Context Diagram - </a:t>
            </a:r>
            <a:r>
              <a:rPr lang="en-US" sz="1800"/>
              <a:t>model the manner in which </a:t>
            </a:r>
            <a:r>
              <a:rPr b="1" lang="en-US" sz="1800"/>
              <a:t>software interacts with entities external</a:t>
            </a:r>
            <a:r>
              <a:rPr lang="en-US" sz="1800"/>
              <a:t> to its boundaries. </a:t>
            </a:r>
            <a:endParaRPr sz="1800"/>
          </a:p>
        </p:txBody>
      </p:sp>
      <p:pic>
        <p:nvPicPr>
          <p:cNvPr id="617" name="Google Shape;617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8600" y="1447800"/>
            <a:ext cx="4038600" cy="457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1295399"/>
            <a:ext cx="4259263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7"/>
          <p:cNvSpPr txBox="1"/>
          <p:nvPr>
            <p:ph idx="11" type="ftr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24" name="Google Shape;624;p87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87"/>
          <p:cNvSpPr/>
          <p:nvPr/>
        </p:nvSpPr>
        <p:spPr>
          <a:xfrm>
            <a:off x="1905001" y="881064"/>
            <a:ext cx="4976989" cy="5748337"/>
          </a:xfrm>
          <a:prstGeom prst="rect">
            <a:avLst/>
          </a:prstGeom>
          <a:solidFill>
            <a:srgbClr val="96E3FE"/>
          </a:solidFill>
          <a:ln>
            <a:noFill/>
          </a:ln>
          <a:effectLst>
            <a:outerShdw rotWithShape="0" algn="ctr" dir="2700000" dist="35921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87"/>
          <p:cNvSpPr txBox="1"/>
          <p:nvPr>
            <p:ph type="title"/>
          </p:nvPr>
        </p:nvSpPr>
        <p:spPr>
          <a:xfrm>
            <a:off x="533400" y="1"/>
            <a:ext cx="8458200" cy="950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/>
              <a:t>Archetypes</a:t>
            </a:r>
            <a:r>
              <a:rPr lang="en-US" sz="1800"/>
              <a:t> - An archetype is a class or </a:t>
            </a:r>
            <a:r>
              <a:rPr b="1" lang="en-US" sz="1800"/>
              <a:t>pattern that represents a core abstraction that is critical to the design </a:t>
            </a:r>
            <a:r>
              <a:rPr lang="en-US" sz="1800"/>
              <a:t>of an architecture for the target system. </a:t>
            </a:r>
            <a:endParaRPr sz="1800"/>
          </a:p>
        </p:txBody>
      </p:sp>
      <p:pic>
        <p:nvPicPr>
          <p:cNvPr id="627" name="Google Shape;62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957264"/>
            <a:ext cx="4161367" cy="560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88"/>
          <p:cNvSpPr txBox="1"/>
          <p:nvPr>
            <p:ph idx="11" type="ftr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33" name="Google Shape;633;p88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88"/>
          <p:cNvSpPr/>
          <p:nvPr/>
        </p:nvSpPr>
        <p:spPr>
          <a:xfrm>
            <a:off x="381001" y="1262064"/>
            <a:ext cx="8610600" cy="5519736"/>
          </a:xfrm>
          <a:prstGeom prst="rect">
            <a:avLst/>
          </a:prstGeom>
          <a:solidFill>
            <a:srgbClr val="96E3FE"/>
          </a:solidFill>
          <a:ln>
            <a:noFill/>
          </a:ln>
          <a:effectLst>
            <a:outerShdw rotWithShape="0" algn="ctr" dir="2700000" dist="35921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88"/>
          <p:cNvSpPr txBox="1"/>
          <p:nvPr>
            <p:ph type="title"/>
          </p:nvPr>
        </p:nvSpPr>
        <p:spPr>
          <a:xfrm>
            <a:off x="1492956" y="274638"/>
            <a:ext cx="61778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Component Structure</a:t>
            </a:r>
            <a:endParaRPr/>
          </a:p>
        </p:txBody>
      </p:sp>
      <p:pic>
        <p:nvPicPr>
          <p:cNvPr id="636" name="Google Shape;63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226" y="1600200"/>
            <a:ext cx="8016414" cy="469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89"/>
          <p:cNvSpPr txBox="1"/>
          <p:nvPr>
            <p:ph idx="11" type="ftr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42" name="Google Shape;642;p89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89"/>
          <p:cNvSpPr/>
          <p:nvPr/>
        </p:nvSpPr>
        <p:spPr>
          <a:xfrm>
            <a:off x="152401" y="996951"/>
            <a:ext cx="8763000" cy="5708649"/>
          </a:xfrm>
          <a:prstGeom prst="rect">
            <a:avLst/>
          </a:prstGeom>
          <a:solidFill>
            <a:srgbClr val="96E3FE"/>
          </a:solidFill>
          <a:ln>
            <a:noFill/>
          </a:ln>
          <a:effectLst>
            <a:outerShdw rotWithShape="0" algn="ctr" dir="2700000" dist="35921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89"/>
          <p:cNvSpPr txBox="1"/>
          <p:nvPr>
            <p:ph type="title"/>
          </p:nvPr>
        </p:nvSpPr>
        <p:spPr>
          <a:xfrm>
            <a:off x="285750" y="76200"/>
            <a:ext cx="8763000" cy="1089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/>
              <a:t>Refined Component Structure - A well-designed habitat allows for the </a:t>
            </a:r>
            <a:r>
              <a:rPr b="1" lang="en-US" sz="2000"/>
              <a:t>successful evolution of all the components needed in a software system.</a:t>
            </a:r>
            <a:endParaRPr b="1" sz="2000"/>
          </a:p>
        </p:txBody>
      </p:sp>
      <p:pic>
        <p:nvPicPr>
          <p:cNvPr id="645" name="Google Shape;645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165226"/>
            <a:ext cx="7239000" cy="5735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Cohesion</a:t>
            </a:r>
            <a:endParaRPr/>
          </a:p>
        </p:txBody>
      </p:sp>
      <p:sp>
        <p:nvSpPr>
          <p:cNvPr id="651" name="Google Shape;651;p90"/>
          <p:cNvSpPr txBox="1"/>
          <p:nvPr>
            <p:ph idx="1" type="body"/>
          </p:nvPr>
        </p:nvSpPr>
        <p:spPr>
          <a:xfrm>
            <a:off x="457200" y="1600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Cohesion implies that a component or class encapsulates only attributes and operations that are closely related to one another and to the class or component itself.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Different types of cohesion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Both"/>
            </a:pPr>
            <a:r>
              <a:rPr b="1" lang="en-US"/>
              <a:t>Functional - </a:t>
            </a:r>
            <a:r>
              <a:rPr lang="en-US"/>
              <a:t>Based on </a:t>
            </a:r>
            <a:r>
              <a:rPr b="1" lang="en-US"/>
              <a:t>operations</a:t>
            </a:r>
            <a:r>
              <a:rPr lang="en-US"/>
              <a:t> ,  this level of cohesion occurs when a component </a:t>
            </a:r>
            <a:r>
              <a:rPr b="1" lang="en-US"/>
              <a:t>performs a targeted computation </a:t>
            </a:r>
            <a:r>
              <a:rPr lang="en-US"/>
              <a:t>and then returns a result.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Cohesion</a:t>
            </a:r>
            <a:endParaRPr/>
          </a:p>
        </p:txBody>
      </p:sp>
      <p:sp>
        <p:nvSpPr>
          <p:cNvPr id="657" name="Google Shape;657;p91"/>
          <p:cNvSpPr txBox="1"/>
          <p:nvPr>
            <p:ph idx="1" type="body"/>
          </p:nvPr>
        </p:nvSpPr>
        <p:spPr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(2) Layer - </a:t>
            </a:r>
            <a:r>
              <a:rPr lang="en-US"/>
              <a:t>Exhibited by packages, components, and classes, this type of cohesion occurs when a </a:t>
            </a:r>
            <a:r>
              <a:rPr b="1" lang="en-US"/>
              <a:t>higher layer accesses the services of a lower layer</a:t>
            </a:r>
            <a:r>
              <a:rPr lang="en-US"/>
              <a:t>, but </a:t>
            </a:r>
            <a:r>
              <a:rPr b="1" lang="en-US"/>
              <a:t>lower layers do not access higher layers.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(3) Communicational. All operations that access the same data are defined </a:t>
            </a:r>
            <a:r>
              <a:rPr lang="en-US"/>
              <a:t>within one class. Focus is only on data in question.</a:t>
            </a:r>
            <a:endParaRPr b="1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Google Shape;662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4638" y="1471613"/>
            <a:ext cx="3514725" cy="39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9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Layered Cohesion</a:t>
            </a:r>
            <a:endParaRPr/>
          </a:p>
        </p:txBody>
      </p:sp>
      <p:sp>
        <p:nvSpPr>
          <p:cNvPr id="664" name="Google Shape;664;p9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Coupling</a:t>
            </a:r>
            <a:endParaRPr/>
          </a:p>
        </p:txBody>
      </p:sp>
      <p:sp>
        <p:nvSpPr>
          <p:cNvPr id="670" name="Google Shape;670;p93"/>
          <p:cNvSpPr txBox="1"/>
          <p:nvPr>
            <p:ph idx="1" type="body"/>
          </p:nvPr>
        </p:nvSpPr>
        <p:spPr>
          <a:xfrm>
            <a:off x="457200" y="1600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Coupling</a:t>
            </a:r>
            <a:r>
              <a:rPr i="1" lang="en-US" sz="2400"/>
              <a:t> </a:t>
            </a:r>
            <a:r>
              <a:rPr lang="en-US" sz="2400"/>
              <a:t>is a qualitative measure of the </a:t>
            </a:r>
            <a:r>
              <a:rPr b="1" lang="en-US" sz="2400"/>
              <a:t>degree to which classes are connected to one another</a:t>
            </a:r>
            <a:r>
              <a:rPr lang="en-US" sz="2400"/>
              <a:t>.</a:t>
            </a:r>
            <a:endParaRPr/>
          </a:p>
          <a:p>
            <a:pPr indent="-342900" lvl="0" marL="34290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Classes become more </a:t>
            </a:r>
            <a:r>
              <a:rPr b="1" lang="en-US" sz="2400"/>
              <a:t>interdependent </a:t>
            </a:r>
            <a:r>
              <a:rPr lang="en-US" sz="2400"/>
              <a:t>,</a:t>
            </a:r>
            <a:r>
              <a:rPr b="1" lang="en-US" sz="2400"/>
              <a:t>coupling increases</a:t>
            </a:r>
            <a:endParaRPr/>
          </a:p>
          <a:p>
            <a:pPr indent="-342900" lvl="0" marL="34290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Different types of coupling</a:t>
            </a:r>
            <a:endParaRPr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(1) Content coupling Occurs when one component secretly modifies data</a:t>
            </a:r>
            <a:r>
              <a:rPr lang="en-US" sz="2400"/>
              <a:t> that is internal to </a:t>
            </a:r>
            <a:r>
              <a:rPr b="1" lang="en-US" sz="2400"/>
              <a:t>another component</a:t>
            </a:r>
            <a:endParaRPr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(2) Common coupling </a:t>
            </a:r>
            <a:r>
              <a:rPr lang="en-US" sz="2400"/>
              <a:t>Occurs when a number of components </a:t>
            </a:r>
            <a:r>
              <a:rPr b="1" lang="en-US" sz="2400"/>
              <a:t>all make use of a global variable</a:t>
            </a:r>
            <a:r>
              <a:rPr lang="en-US" sz="2400"/>
              <a:t>. Common coupling can </a:t>
            </a:r>
            <a:r>
              <a:rPr b="1" lang="en-US" sz="2400"/>
              <a:t>lead to error propagation.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94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Coupling</a:t>
            </a:r>
            <a:endParaRPr/>
          </a:p>
        </p:txBody>
      </p:sp>
      <p:sp>
        <p:nvSpPr>
          <p:cNvPr id="676" name="Google Shape;676;p94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(3) Control coupling – </a:t>
            </a:r>
            <a:r>
              <a:rPr lang="en-US"/>
              <a:t>Occurs when </a:t>
            </a:r>
            <a:r>
              <a:rPr b="1" lang="en-US"/>
              <a:t>one operation controls flow of another operation </a:t>
            </a:r>
            <a:r>
              <a:rPr lang="en-US"/>
              <a:t>and control signals are sent. Changes done to an operation are to be monitored for errors.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(4) Stamp coupling – </a:t>
            </a:r>
            <a:r>
              <a:rPr lang="en-US"/>
              <a:t>Occurs when systems </a:t>
            </a:r>
            <a:r>
              <a:rPr b="1" lang="en-US"/>
              <a:t>operation are in nested state </a:t>
            </a:r>
            <a:r>
              <a:rPr lang="en-US"/>
              <a:t>, modifying the system becomes complex.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Similar to common coupling but here global data is accessible to selected routines.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95"/>
          <p:cNvSpPr txBox="1"/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Coupling</a:t>
            </a:r>
            <a:endParaRPr/>
          </a:p>
        </p:txBody>
      </p:sp>
      <p:sp>
        <p:nvSpPr>
          <p:cNvPr id="682" name="Google Shape;682;p95"/>
          <p:cNvSpPr txBox="1"/>
          <p:nvPr>
            <p:ph idx="1" type="body"/>
          </p:nvPr>
        </p:nvSpPr>
        <p:spPr>
          <a:xfrm>
            <a:off x="381000" y="1295400"/>
            <a:ext cx="88392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(5) Data coupling - </a:t>
            </a:r>
            <a:r>
              <a:rPr lang="en-US"/>
              <a:t>Occurs when operations </a:t>
            </a:r>
            <a:r>
              <a:rPr b="1" lang="en-US"/>
              <a:t>pass long strings of data arguments. </a:t>
            </a:r>
            <a:endParaRPr/>
          </a:p>
          <a:p>
            <a:pPr indent="0" lvl="0" marL="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B/W of communication increases complexity increases maintenance becomes difficult.</a:t>
            </a:r>
            <a:endParaRPr/>
          </a:p>
          <a:p>
            <a:pPr indent="0" lvl="0" marL="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(6) Routine call coupling - </a:t>
            </a:r>
            <a:r>
              <a:rPr lang="en-US"/>
              <a:t>Occurs when one operation invokes another</a:t>
            </a:r>
            <a:endParaRPr/>
          </a:p>
          <a:p>
            <a:pPr indent="0" lvl="0" marL="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(7) Type use coupling. </a:t>
            </a:r>
            <a:r>
              <a:rPr lang="en-US"/>
              <a:t>Occurs when component </a:t>
            </a:r>
            <a:r>
              <a:rPr b="1" lang="en-US"/>
              <a:t>A </a:t>
            </a:r>
            <a:r>
              <a:rPr lang="en-US"/>
              <a:t>uses a data type defined in component </a:t>
            </a:r>
            <a:r>
              <a:rPr b="1" lang="en-US"/>
              <a:t>B.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the type definition changes, every component that uses the definition must also change.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96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Coupling</a:t>
            </a:r>
            <a:endParaRPr/>
          </a:p>
        </p:txBody>
      </p:sp>
      <p:sp>
        <p:nvSpPr>
          <p:cNvPr id="688" name="Google Shape;688;p96"/>
          <p:cNvSpPr txBox="1"/>
          <p:nvPr>
            <p:ph idx="1" type="body"/>
          </p:nvPr>
        </p:nvSpPr>
        <p:spPr>
          <a:xfrm>
            <a:off x="152400" y="1371600"/>
            <a:ext cx="88392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(8) Inclusion or import coupling. </a:t>
            </a:r>
            <a:r>
              <a:rPr lang="en-US"/>
              <a:t>Occurs when component </a:t>
            </a:r>
            <a:r>
              <a:rPr b="1" lang="en-US"/>
              <a:t>A </a:t>
            </a:r>
            <a:r>
              <a:rPr lang="en-US"/>
              <a:t>imports or includes a package or the content of component </a:t>
            </a:r>
            <a:r>
              <a:rPr b="1" lang="en-US"/>
              <a:t>B</a:t>
            </a:r>
            <a:r>
              <a:rPr lang="en-US"/>
              <a:t>.</a:t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(9) External coupling - </a:t>
            </a:r>
            <a:r>
              <a:rPr lang="en-US"/>
              <a:t>Occurs when </a:t>
            </a:r>
            <a:r>
              <a:rPr b="1" lang="en-US"/>
              <a:t>a component communicates or collaborates with infrastructure components </a:t>
            </a:r>
            <a:r>
              <a:rPr lang="en-US"/>
              <a:t>(e.g., operating system functions,</a:t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database capability, telecommunication functions).</a:t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This type of coupling is necessary but it should also be limited.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9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User Interface Design Rules</a:t>
            </a:r>
            <a:endParaRPr/>
          </a:p>
        </p:txBody>
      </p:sp>
      <p:sp>
        <p:nvSpPr>
          <p:cNvPr id="694" name="Google Shape;694;p97"/>
          <p:cNvSpPr txBox="1"/>
          <p:nvPr>
            <p:ph idx="1" type="body"/>
          </p:nvPr>
        </p:nvSpPr>
        <p:spPr>
          <a:xfrm>
            <a:off x="457200" y="1600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AutoNum type="arabicPeriod"/>
            </a:pPr>
            <a:r>
              <a:rPr b="1" lang="en-US">
                <a:solidFill>
                  <a:srgbClr val="FF0000"/>
                </a:solidFill>
              </a:rPr>
              <a:t>Place the user in control.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system or user interface </a:t>
            </a:r>
            <a:r>
              <a:rPr b="1" lang="en-US"/>
              <a:t>should be designed keeping user in mind.</a:t>
            </a:r>
            <a:endParaRPr/>
          </a:p>
          <a:p>
            <a:pPr indent="-17018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Interface designed should be </a:t>
            </a:r>
            <a:r>
              <a:rPr b="1" lang="en-US"/>
              <a:t>easy to use and build.</a:t>
            </a:r>
            <a:endParaRPr/>
          </a:p>
          <a:p>
            <a:pPr indent="0" lvl="0" marL="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number of design principles that allow the user to maintain control:</a:t>
            </a:r>
            <a:endParaRPr/>
          </a:p>
          <a:p>
            <a:pPr indent="-17018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14350" lvl="0" marL="51435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arenBoth"/>
            </a:pPr>
            <a:r>
              <a:rPr b="1" lang="en-US"/>
              <a:t>Define interaction modes in a way that does not force a user into unnecessary or undesired actions.</a:t>
            </a:r>
            <a:endParaRPr/>
          </a:p>
          <a:p>
            <a:pPr indent="0" lvl="0" marL="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Example: Spell Checking mode</a:t>
            </a:r>
            <a:endParaRPr/>
          </a:p>
          <a:p>
            <a:pPr indent="0" lvl="0" marL="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User Interface Design Rules</a:t>
            </a:r>
            <a:endParaRPr/>
          </a:p>
        </p:txBody>
      </p:sp>
      <p:sp>
        <p:nvSpPr>
          <p:cNvPr id="700" name="Google Shape;700;p98"/>
          <p:cNvSpPr txBox="1"/>
          <p:nvPr>
            <p:ph idx="1" type="body"/>
          </p:nvPr>
        </p:nvSpPr>
        <p:spPr>
          <a:xfrm>
            <a:off x="152400" y="1600200"/>
            <a:ext cx="8915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(2) Provide for flexible interaction. </a:t>
            </a:r>
            <a:r>
              <a:rPr lang="en-US"/>
              <a:t>Because different </a:t>
            </a:r>
            <a:r>
              <a:rPr b="1" lang="en-US"/>
              <a:t>users have different interaction preferences</a:t>
            </a:r>
            <a:r>
              <a:rPr lang="en-US"/>
              <a:t>, choices should be provided.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Example:</a:t>
            </a:r>
            <a:r>
              <a:rPr lang="en-US"/>
              <a:t> software might allow a user to interact via keyboard commands, mouse movement, a digitizer pen etc.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(3) Allow user interaction to be interruptible and undoable.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(4) Hide technical internals from the casual user.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99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User Interface Design Rules</a:t>
            </a:r>
            <a:endParaRPr/>
          </a:p>
        </p:txBody>
      </p:sp>
      <p:sp>
        <p:nvSpPr>
          <p:cNvPr id="706" name="Google Shape;706;p99"/>
          <p:cNvSpPr txBox="1"/>
          <p:nvPr>
            <p:ph idx="1" type="body"/>
          </p:nvPr>
        </p:nvSpPr>
        <p:spPr>
          <a:xfrm>
            <a:off x="152400" y="1295400"/>
            <a:ext cx="89154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(5) Design for direct interaction with objects that appear on the screen.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Example: Zoom option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US">
                <a:solidFill>
                  <a:srgbClr val="FF0000"/>
                </a:solidFill>
              </a:rPr>
              <a:t>2. Reduce the User’s Memory Load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</a:t>
            </a:r>
            <a:r>
              <a:rPr b="1" lang="en-US"/>
              <a:t>more a user has to remember</a:t>
            </a:r>
            <a:r>
              <a:rPr lang="en-US"/>
              <a:t>, the </a:t>
            </a:r>
            <a:r>
              <a:rPr b="1" lang="en-US"/>
              <a:t>more error-prone the interaction </a:t>
            </a:r>
            <a:r>
              <a:rPr lang="en-US"/>
              <a:t>with the system will be.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well-designed user interface does not tax the user’s memory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User Interface Design Rules</a:t>
            </a:r>
            <a:endParaRPr/>
          </a:p>
        </p:txBody>
      </p:sp>
      <p:sp>
        <p:nvSpPr>
          <p:cNvPr id="712" name="Google Shape;712;p100"/>
          <p:cNvSpPr txBox="1"/>
          <p:nvPr>
            <p:ph idx="1" type="body"/>
          </p:nvPr>
        </p:nvSpPr>
        <p:spPr>
          <a:xfrm>
            <a:off x="152400" y="13716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defines design principles that enable an interface to reduce the user’s memory load: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Both"/>
            </a:pPr>
            <a:r>
              <a:rPr b="1" lang="en-US"/>
              <a:t>Reduce demand on short-term memory – </a:t>
            </a:r>
            <a:r>
              <a:rPr lang="en-US"/>
              <a:t>complex tasks demand on short term memory is high - interface designed to reduce dependency.</a:t>
            </a:r>
            <a:endParaRPr/>
          </a:p>
          <a:p>
            <a:pPr indent="-3111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Both"/>
            </a:pPr>
            <a:r>
              <a:rPr b="1" lang="en-US"/>
              <a:t>Establish meaningful defaults - </a:t>
            </a:r>
            <a:r>
              <a:rPr lang="en-US"/>
              <a:t>“reset” option should be available for enabling original default values.</a:t>
            </a:r>
            <a:endParaRPr/>
          </a:p>
          <a:p>
            <a:pPr indent="-3111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111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01"/>
          <p:cNvSpPr txBox="1"/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User Interface Design Rules</a:t>
            </a:r>
            <a:endParaRPr/>
          </a:p>
        </p:txBody>
      </p:sp>
      <p:sp>
        <p:nvSpPr>
          <p:cNvPr id="718" name="Google Shape;718;p101"/>
          <p:cNvSpPr txBox="1"/>
          <p:nvPr>
            <p:ph idx="1" type="body"/>
          </p:nvPr>
        </p:nvSpPr>
        <p:spPr>
          <a:xfrm>
            <a:off x="152400" y="1371600"/>
            <a:ext cx="89154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(3) Define shortcuts that are intuitive (easy to use).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Ctrl S , alt P..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(4) The visual layout of the interface should be based on a real-world metaphor.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(5) Disclose information in a progressive fashion - </a:t>
            </a:r>
            <a:r>
              <a:rPr lang="en-US"/>
              <a:t>The interface should be organized hierarchically.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 example, word-processing applications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02"/>
          <p:cNvSpPr txBox="1"/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User Interface Design Rules</a:t>
            </a:r>
            <a:endParaRPr/>
          </a:p>
        </p:txBody>
      </p:sp>
      <p:sp>
        <p:nvSpPr>
          <p:cNvPr id="724" name="Google Shape;724;p102"/>
          <p:cNvSpPr txBox="1"/>
          <p:nvPr>
            <p:ph idx="1" type="body"/>
          </p:nvPr>
        </p:nvSpPr>
        <p:spPr>
          <a:xfrm>
            <a:off x="152400" y="1295400"/>
            <a:ext cx="88392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US">
                <a:solidFill>
                  <a:srgbClr val="FF0000"/>
                </a:solidFill>
              </a:rPr>
              <a:t>3. Make the Interface Consistent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“Things that look different should act different. Things that look the same should act the same.”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Both"/>
            </a:pPr>
            <a:r>
              <a:rPr b="1" lang="en-US"/>
              <a:t>Allow the user to put the current task into a meaningful context.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Complex layers to be implemented with clear indication to the user about the context of the work at hand.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03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User Interface Design Rules</a:t>
            </a:r>
            <a:endParaRPr/>
          </a:p>
        </p:txBody>
      </p:sp>
      <p:sp>
        <p:nvSpPr>
          <p:cNvPr id="730" name="Google Shape;730;p103"/>
          <p:cNvSpPr txBox="1"/>
          <p:nvPr>
            <p:ph idx="1" type="body"/>
          </p:nvPr>
        </p:nvSpPr>
        <p:spPr>
          <a:xfrm>
            <a:off x="152400" y="1295400"/>
            <a:ext cx="89154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(2) Maintain consistency across a family of applications.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set of applications (or products) should all implement the same design rules - consistency is maintained for all interaction.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(3) If past interactive models have created user expectations, do not make changes unless there is a compelling reason to do so.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0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user interface design process</a:t>
            </a:r>
            <a:endParaRPr/>
          </a:p>
        </p:txBody>
      </p:sp>
      <p:sp>
        <p:nvSpPr>
          <p:cNvPr id="736" name="Google Shape;736;p104"/>
          <p:cNvSpPr txBox="1"/>
          <p:nvPr>
            <p:ph idx="1" type="body"/>
          </p:nvPr>
        </p:nvSpPr>
        <p:spPr>
          <a:xfrm>
            <a:off x="76200" y="1600200"/>
            <a:ext cx="8991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analysis and design process for user interfaces is iterative and can be represented using a spiral model.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737" name="Google Shape;737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3048000"/>
            <a:ext cx="57150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05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user interface design process</a:t>
            </a:r>
            <a:endParaRPr/>
          </a:p>
        </p:txBody>
      </p:sp>
      <p:sp>
        <p:nvSpPr>
          <p:cNvPr id="743" name="Google Shape;743;p105"/>
          <p:cNvSpPr txBox="1"/>
          <p:nvPr>
            <p:ph idx="1" type="body"/>
          </p:nvPr>
        </p:nvSpPr>
        <p:spPr>
          <a:xfrm>
            <a:off x="152400" y="1219200"/>
            <a:ext cx="8915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i="1" lang="en-US">
                <a:solidFill>
                  <a:srgbClr val="FF0000"/>
                </a:solidFill>
              </a:rPr>
              <a:t>(1) Interface analysis </a:t>
            </a:r>
            <a:r>
              <a:rPr b="1" i="1" lang="en-US"/>
              <a:t>– </a:t>
            </a:r>
            <a:r>
              <a:rPr lang="en-US"/>
              <a:t>focuses on the </a:t>
            </a:r>
            <a:r>
              <a:rPr b="1" lang="en-US"/>
              <a:t>profile of the users</a:t>
            </a:r>
            <a:r>
              <a:rPr lang="en-US"/>
              <a:t> who will interact with the system. Different </a:t>
            </a:r>
            <a:r>
              <a:rPr b="1" lang="en-US"/>
              <a:t>user categories </a:t>
            </a:r>
            <a:r>
              <a:rPr lang="en-US"/>
              <a:t>are </a:t>
            </a:r>
            <a:r>
              <a:rPr b="1" lang="en-US"/>
              <a:t>defined</a:t>
            </a:r>
            <a:r>
              <a:rPr lang="en-US"/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Once </a:t>
            </a:r>
            <a:r>
              <a:rPr b="1" lang="en-US"/>
              <a:t>general requirements </a:t>
            </a:r>
            <a:r>
              <a:rPr lang="en-US"/>
              <a:t>have been </a:t>
            </a:r>
            <a:r>
              <a:rPr b="1" lang="en-US"/>
              <a:t>defined</a:t>
            </a:r>
            <a:r>
              <a:rPr lang="en-US"/>
              <a:t>, a more </a:t>
            </a:r>
            <a:r>
              <a:rPr b="1" lang="en-US"/>
              <a:t>detailed </a:t>
            </a:r>
            <a:r>
              <a:rPr b="1" i="1" lang="en-US"/>
              <a:t>task analysis </a:t>
            </a:r>
            <a:r>
              <a:rPr lang="en-US"/>
              <a:t>is conducted.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US">
                <a:solidFill>
                  <a:srgbClr val="FF0000"/>
                </a:solidFill>
              </a:rPr>
              <a:t>(2) I</a:t>
            </a:r>
            <a:r>
              <a:rPr b="1" i="1" lang="en-US">
                <a:solidFill>
                  <a:srgbClr val="FF0000"/>
                </a:solidFill>
              </a:rPr>
              <a:t>nterface design</a:t>
            </a:r>
            <a:r>
              <a:rPr b="1" i="1" lang="en-US"/>
              <a:t> –</a:t>
            </a:r>
            <a:r>
              <a:rPr i="1" lang="en-US"/>
              <a:t> </a:t>
            </a:r>
            <a:r>
              <a:rPr lang="en-US"/>
              <a:t>is to </a:t>
            </a:r>
            <a:r>
              <a:rPr b="1" lang="en-US"/>
              <a:t>define a set of interface objects and actions </a:t>
            </a:r>
            <a:r>
              <a:rPr lang="en-US"/>
              <a:t>that enable a user to perform all defined tasks to </a:t>
            </a:r>
            <a:r>
              <a:rPr b="1" lang="en-US"/>
              <a:t>meet goals </a:t>
            </a:r>
            <a:r>
              <a:rPr lang="en-US"/>
              <a:t>defined.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06"/>
          <p:cNvSpPr txBox="1"/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user interface design process</a:t>
            </a:r>
            <a:endParaRPr/>
          </a:p>
        </p:txBody>
      </p:sp>
      <p:sp>
        <p:nvSpPr>
          <p:cNvPr id="749" name="Google Shape;749;p106"/>
          <p:cNvSpPr txBox="1"/>
          <p:nvPr>
            <p:ph idx="1" type="body"/>
          </p:nvPr>
        </p:nvSpPr>
        <p:spPr>
          <a:xfrm>
            <a:off x="152400" y="1295400"/>
            <a:ext cx="88392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i="1" lang="en-US">
                <a:solidFill>
                  <a:srgbClr val="FF0000"/>
                </a:solidFill>
              </a:rPr>
              <a:t>(3) Interface construction </a:t>
            </a:r>
            <a:r>
              <a:rPr i="1" lang="en-US">
                <a:solidFill>
                  <a:srgbClr val="FF0000"/>
                </a:solidFill>
              </a:rPr>
              <a:t>- </a:t>
            </a:r>
            <a:r>
              <a:rPr lang="en-US"/>
              <a:t>normally begins with the </a:t>
            </a:r>
            <a:r>
              <a:rPr b="1" lang="en-US"/>
              <a:t>creation of a prototype </a:t>
            </a:r>
            <a:r>
              <a:rPr lang="en-US"/>
              <a:t>that enables usage scenarios to be evaluated.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i="1" lang="en-US">
                <a:solidFill>
                  <a:srgbClr val="FF0000"/>
                </a:solidFill>
              </a:rPr>
              <a:t>(4) Interface validation - </a:t>
            </a:r>
            <a:r>
              <a:rPr lang="en-US"/>
              <a:t>focuses on </a:t>
            </a:r>
            <a:endParaRPr/>
          </a:p>
          <a:p>
            <a:pPr indent="-514350" lvl="0" marL="51435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arenBoth"/>
            </a:pPr>
            <a:r>
              <a:rPr lang="en-US"/>
              <a:t>the ability of the interface to implement </a:t>
            </a:r>
            <a:r>
              <a:rPr b="1" lang="en-US"/>
              <a:t>every user task correctly</a:t>
            </a:r>
            <a:r>
              <a:rPr lang="en-US"/>
              <a:t>, </a:t>
            </a:r>
            <a:r>
              <a:rPr b="1" lang="en-US"/>
              <a:t>accommodate all task va</a:t>
            </a:r>
            <a:r>
              <a:rPr lang="en-US"/>
              <a:t>riations, and to </a:t>
            </a:r>
            <a:r>
              <a:rPr b="1" lang="en-US"/>
              <a:t>achieve all general user requi</a:t>
            </a:r>
            <a:r>
              <a:rPr lang="en-US"/>
              <a:t>rements; </a:t>
            </a:r>
            <a:endParaRPr/>
          </a:p>
          <a:p>
            <a:pPr indent="-514350" lvl="0" marL="51435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arenBoth"/>
            </a:pPr>
            <a:r>
              <a:rPr lang="en-US"/>
              <a:t>the degree to which the </a:t>
            </a:r>
            <a:r>
              <a:rPr b="1" lang="en-US"/>
              <a:t>interface is easy to use </a:t>
            </a:r>
            <a:r>
              <a:rPr lang="en-US"/>
              <a:t>and </a:t>
            </a:r>
            <a:r>
              <a:rPr b="1" lang="en-US"/>
              <a:t>easy to learn</a:t>
            </a:r>
            <a:endParaRPr/>
          </a:p>
          <a:p>
            <a:pPr indent="-514350" lvl="0" marL="51435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arenBoth"/>
            </a:pPr>
            <a:r>
              <a:rPr lang="en-US"/>
              <a:t>the </a:t>
            </a:r>
            <a:r>
              <a:rPr b="1" lang="en-US"/>
              <a:t>users’ acceptance </a:t>
            </a:r>
            <a:r>
              <a:rPr lang="en-US"/>
              <a:t>of the </a:t>
            </a:r>
            <a:r>
              <a:rPr b="1" lang="en-US"/>
              <a:t>interface</a:t>
            </a:r>
            <a:r>
              <a:rPr lang="en-US"/>
              <a:t> as a useful tool in their work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Interface Analysis</a:t>
            </a:r>
            <a:endParaRPr/>
          </a:p>
        </p:txBody>
      </p:sp>
      <p:sp>
        <p:nvSpPr>
          <p:cNvPr id="755" name="Google Shape;755;p107"/>
          <p:cNvSpPr txBox="1"/>
          <p:nvPr>
            <p:ph idx="1" type="body"/>
          </p:nvPr>
        </p:nvSpPr>
        <p:spPr>
          <a:xfrm>
            <a:off x="152400" y="14478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understand the problem before you attempt to design a solution. 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Both"/>
            </a:pPr>
            <a:r>
              <a:rPr lang="en-US"/>
              <a:t> the people (</a:t>
            </a:r>
            <a:r>
              <a:rPr b="1" lang="en-US"/>
              <a:t>end users</a:t>
            </a:r>
            <a:r>
              <a:rPr lang="en-US"/>
              <a:t>) who will interact with the system through the interface.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(2) the </a:t>
            </a:r>
            <a:r>
              <a:rPr b="1" lang="en-US"/>
              <a:t>tasks that end users must perfo</a:t>
            </a:r>
            <a:r>
              <a:rPr lang="en-US"/>
              <a:t>rm to do their work,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(3) the </a:t>
            </a:r>
            <a:r>
              <a:rPr b="1" lang="en-US"/>
              <a:t>content that is presented </a:t>
            </a:r>
            <a:r>
              <a:rPr lang="en-US"/>
              <a:t>as part of the interface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(4) the </a:t>
            </a:r>
            <a:r>
              <a:rPr b="1" lang="en-US"/>
              <a:t>environment</a:t>
            </a:r>
            <a:r>
              <a:rPr lang="en-US"/>
              <a:t> in which these </a:t>
            </a:r>
            <a:r>
              <a:rPr b="1" lang="en-US"/>
              <a:t>tasks will be conducted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0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Interface Analysis Steps</a:t>
            </a:r>
            <a:endParaRPr/>
          </a:p>
        </p:txBody>
      </p:sp>
      <p:sp>
        <p:nvSpPr>
          <p:cNvPr id="761" name="Google Shape;761;p10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AutoNum type="arabicParenBoth"/>
            </a:pPr>
            <a:r>
              <a:rPr b="1" lang="en-US">
                <a:solidFill>
                  <a:srgbClr val="FF0000"/>
                </a:solidFill>
              </a:rPr>
              <a:t>User Analysis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User Interviews.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Sales input </a:t>
            </a:r>
            <a:r>
              <a:rPr lang="en-US"/>
              <a:t>- Sales people meet with users on a regular basis and can gather information.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Marketing input.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Support input - </a:t>
            </a:r>
            <a:r>
              <a:rPr lang="en-US"/>
              <a:t>Support staff talks with users on a daily basis. 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0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Interface Analysis Steps</a:t>
            </a:r>
            <a:endParaRPr/>
          </a:p>
        </p:txBody>
      </p:sp>
      <p:sp>
        <p:nvSpPr>
          <p:cNvPr id="767" name="Google Shape;767;p109"/>
          <p:cNvSpPr txBox="1"/>
          <p:nvPr>
            <p:ph idx="1" type="body"/>
          </p:nvPr>
        </p:nvSpPr>
        <p:spPr>
          <a:xfrm>
            <a:off x="228600" y="1524000"/>
            <a:ext cx="87630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US">
                <a:solidFill>
                  <a:srgbClr val="FF0000"/>
                </a:solidFill>
              </a:rPr>
              <a:t>(2) Task Analysis and Modeling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task analysis and modeling information about the </a:t>
            </a:r>
            <a:r>
              <a:rPr b="1" lang="en-US"/>
              <a:t>tasks and subtasks </a:t>
            </a:r>
            <a:r>
              <a:rPr lang="en-US"/>
              <a:t>performed by the user , their </a:t>
            </a:r>
            <a:r>
              <a:rPr b="1" lang="en-US"/>
              <a:t>workflow and hierarchy</a:t>
            </a:r>
            <a:r>
              <a:rPr lang="en-US"/>
              <a:t> is to be gathered.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b="1" lang="en-US"/>
              <a:t>Use cases. 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b="1" lang="en-US"/>
              <a:t>Task elaboration </a:t>
            </a:r>
            <a:r>
              <a:rPr lang="en-US"/>
              <a:t>- stepwise elaboration (also called functional decomposition or stepwise refinement) for software to accomplish some desired function.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Interface Analysis Steps</a:t>
            </a:r>
            <a:endParaRPr/>
          </a:p>
        </p:txBody>
      </p:sp>
      <p:sp>
        <p:nvSpPr>
          <p:cNvPr id="773" name="Google Shape;773;p110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3. Object elaboration: </a:t>
            </a:r>
            <a:r>
              <a:rPr lang="en-US"/>
              <a:t>Examine use case and other information obtained from the user.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4. Workflow analysis - </a:t>
            </a:r>
            <a:r>
              <a:rPr lang="en-US"/>
              <a:t>When a number of different users, makes use of a user interface workflow analysis becomes important.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Eg: Pharmaceutical Company using swimlane activity diagram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5. Hierarchical representation - </a:t>
            </a:r>
            <a:r>
              <a:rPr lang="en-US"/>
              <a:t>Once workflow has been established, a task hierarchy can be defined for each user type.</a:t>
            </a:r>
            <a:endParaRPr b="1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Interface Analysis Steps</a:t>
            </a:r>
            <a:endParaRPr/>
          </a:p>
        </p:txBody>
      </p:sp>
      <p:sp>
        <p:nvSpPr>
          <p:cNvPr id="779" name="Google Shape;779;p1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User task: </a:t>
            </a:r>
            <a:r>
              <a:rPr b="1" i="1" lang="en-US"/>
              <a:t>Requests that a prescription be refilled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• </a:t>
            </a:r>
            <a:r>
              <a:rPr i="1" lang="en-US"/>
              <a:t>Provide identifying information.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i="1" lang="en-US"/>
              <a:t>Specify name.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i="1" lang="en-US"/>
              <a:t>Specify userid.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i="1" lang="en-US"/>
              <a:t>Specify PIN and password.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• </a:t>
            </a:r>
            <a:r>
              <a:rPr i="1" lang="en-US"/>
              <a:t>Specify prescription number.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• </a:t>
            </a:r>
            <a:r>
              <a:rPr i="1" lang="en-US"/>
              <a:t>Specify date refill is required.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Interface Analysis Steps</a:t>
            </a:r>
            <a:endParaRPr/>
          </a:p>
        </p:txBody>
      </p:sp>
      <p:sp>
        <p:nvSpPr>
          <p:cNvPr id="785" name="Google Shape;785;p1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>
                <a:solidFill>
                  <a:srgbClr val="FF0000"/>
                </a:solidFill>
              </a:rPr>
              <a:t>(3) Analysis of Display Content - </a:t>
            </a:r>
            <a:r>
              <a:rPr lang="en-US"/>
              <a:t>the presentation of a variety of different types of content.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modern applications, display content can range from character-based reports (e.g., a spreadsheet), graphical displays (e.g., a histogram, a 3-D model, a picture of a person), or specialized information (e.g., audio or video files).</a:t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>
                <a:solidFill>
                  <a:srgbClr val="FF0000"/>
                </a:solidFill>
              </a:rPr>
              <a:t>(4) Analysis of the Work Environment</a:t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13"/>
          <p:cNvSpPr txBox="1"/>
          <p:nvPr>
            <p:ph type="title"/>
          </p:nvPr>
        </p:nvSpPr>
        <p:spPr>
          <a:xfrm>
            <a:off x="1361723" y="274638"/>
            <a:ext cx="643466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Interface Design Steps</a:t>
            </a:r>
            <a:endParaRPr/>
          </a:p>
        </p:txBody>
      </p:sp>
      <p:sp>
        <p:nvSpPr>
          <p:cNvPr id="791" name="Google Shape;791;p113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Using </a:t>
            </a:r>
            <a:r>
              <a:rPr b="1" lang="en-US"/>
              <a:t>information developed during interface analysis</a:t>
            </a:r>
            <a:r>
              <a:rPr lang="en-US"/>
              <a:t>, define interface objects and actions (operations).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Define events (user actions) that will cause the state of the user interface to change</a:t>
            </a:r>
            <a:r>
              <a:rPr lang="en-US"/>
              <a:t>. Model this behavior.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Depict each </a:t>
            </a:r>
            <a:r>
              <a:rPr b="1" lang="en-US"/>
              <a:t>interface state as it will actually look to the end-user.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Indicate how the user interprets the state of</a:t>
            </a:r>
            <a:r>
              <a:rPr lang="en-US"/>
              <a:t> the system from information provided through the </a:t>
            </a:r>
            <a:r>
              <a:rPr b="1" lang="en-US"/>
              <a:t>interface.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14"/>
          <p:cNvSpPr txBox="1"/>
          <p:nvPr>
            <p:ph type="title"/>
          </p:nvPr>
        </p:nvSpPr>
        <p:spPr>
          <a:xfrm>
            <a:off x="2631723" y="274638"/>
            <a:ext cx="389325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Issues</a:t>
            </a:r>
            <a:endParaRPr/>
          </a:p>
        </p:txBody>
      </p:sp>
      <p:sp>
        <p:nvSpPr>
          <p:cNvPr id="797" name="Google Shape;797;p114"/>
          <p:cNvSpPr txBox="1"/>
          <p:nvPr>
            <p:ph idx="1" type="body"/>
          </p:nvPr>
        </p:nvSpPr>
        <p:spPr>
          <a:xfrm>
            <a:off x="381000" y="1714501"/>
            <a:ext cx="8534399" cy="4914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Response time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Help facilities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Error handling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Menu and command labeling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Application accessibility – for physically challenged users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Internationalization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15"/>
          <p:cNvSpPr/>
          <p:nvPr/>
        </p:nvSpPr>
        <p:spPr>
          <a:xfrm>
            <a:off x="2133600" y="1143000"/>
            <a:ext cx="4840111" cy="5292725"/>
          </a:xfrm>
          <a:prstGeom prst="rect">
            <a:avLst/>
          </a:prstGeom>
          <a:solidFill>
            <a:srgbClr val="96E3FE"/>
          </a:solidFill>
          <a:ln>
            <a:noFill/>
          </a:ln>
          <a:effectLst>
            <a:outerShdw rotWithShape="0" algn="ctr" dir="2700000" dist="71842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15"/>
          <p:cNvSpPr txBox="1"/>
          <p:nvPr>
            <p:ph type="title"/>
          </p:nvPr>
        </p:nvSpPr>
        <p:spPr>
          <a:xfrm>
            <a:off x="1684867" y="311151"/>
            <a:ext cx="5526899" cy="73481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71425" spcFirstLastPara="1" rIns="71425" wrap="square" tIns="2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Evaluation Cycle</a:t>
            </a:r>
            <a:endParaRPr/>
          </a:p>
        </p:txBody>
      </p:sp>
      <p:pic>
        <p:nvPicPr>
          <p:cNvPr id="804" name="Google Shape;804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1219200"/>
            <a:ext cx="4143022" cy="51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Design with Reuse</a:t>
            </a:r>
            <a:endParaRPr/>
          </a:p>
        </p:txBody>
      </p:sp>
      <p:sp>
        <p:nvSpPr>
          <p:cNvPr id="810" name="Google Shape;810;p116"/>
          <p:cNvSpPr txBox="1"/>
          <p:nvPr>
            <p:ph idx="1" type="body"/>
          </p:nvPr>
        </p:nvSpPr>
        <p:spPr>
          <a:xfrm>
            <a:off x="913444" y="2135158"/>
            <a:ext cx="7804921" cy="4130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Building software from reusable components.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Software Reuse</a:t>
            </a:r>
            <a:endParaRPr/>
          </a:p>
        </p:txBody>
      </p:sp>
      <p:sp>
        <p:nvSpPr>
          <p:cNvPr id="816" name="Google Shape;816;p117"/>
          <p:cNvSpPr txBox="1"/>
          <p:nvPr>
            <p:ph idx="1" type="body"/>
          </p:nvPr>
        </p:nvSpPr>
        <p:spPr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most engineering disciplines, systems are designed by composing existing components that have been used in other systems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Software engineering has been more focused on original development but it is now recognised that to achieve better software, more quickly and at lower cost, we need to adopt a design process that is based on </a:t>
            </a:r>
            <a:r>
              <a:rPr i="1" lang="en-US"/>
              <a:t>systematic reuse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Reuse-based software engineering</a:t>
            </a:r>
            <a:endParaRPr/>
          </a:p>
        </p:txBody>
      </p:sp>
      <p:sp>
        <p:nvSpPr>
          <p:cNvPr id="822" name="Google Shape;822;p118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Application system reuse</a:t>
            </a:r>
            <a:endParaRPr/>
          </a:p>
          <a:p>
            <a:pPr indent="-285750" lvl="1" marL="7429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The whole of an application system may be reused either by incorporating it without change into other systems or by configuring the application for different customers.</a:t>
            </a:r>
            <a:endParaRPr/>
          </a:p>
          <a:p>
            <a:pPr indent="-107950" lvl="1" marL="7429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85750" lvl="1" marL="7429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application families that have a common architecture, but which are tailored for specific customers, may be developed.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Reuse-based software engineering</a:t>
            </a:r>
            <a:endParaRPr/>
          </a:p>
        </p:txBody>
      </p:sp>
      <p:sp>
        <p:nvSpPr>
          <p:cNvPr id="828" name="Google Shape;828;p1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Component reuse</a:t>
            </a:r>
            <a:endParaRPr/>
          </a:p>
          <a:p>
            <a:pPr indent="-285750" lvl="1" marL="7429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Components of an application from sub-systems to single objects may be reused</a:t>
            </a:r>
            <a:endParaRPr/>
          </a:p>
          <a:p>
            <a:pPr indent="-285750" lvl="1" marL="7429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Object and Function reuse</a:t>
            </a:r>
            <a:endParaRPr/>
          </a:p>
          <a:p>
            <a:pPr indent="-285750" lvl="1" marL="7429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Software components that implement a single function, such as a mathematical function, or an object class may be reused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Benefits of reuse</a:t>
            </a:r>
            <a:endParaRPr/>
          </a:p>
        </p:txBody>
      </p:sp>
      <p:sp>
        <p:nvSpPr>
          <p:cNvPr id="834" name="Google Shape;834;p1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Increased reliability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Components exercised in working systems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Reduced process risk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Less uncertainty in development costs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Effective use of specialists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Reuse components instead of people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Standards compliance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Embed standards in reusable components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Accelerated development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Avoid original development and hence speed-up production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/>
            </a:br>
            <a:r>
              <a:rPr lang="en-US"/>
              <a:t>Component-based software engineering</a:t>
            </a:r>
            <a:br>
              <a:rPr lang="en-US"/>
            </a:br>
            <a:endParaRPr/>
          </a:p>
        </p:txBody>
      </p:sp>
      <p:sp>
        <p:nvSpPr>
          <p:cNvPr id="840" name="Google Shape;840;p121"/>
          <p:cNvSpPr txBox="1"/>
          <p:nvPr>
            <p:ph idx="1" type="body"/>
          </p:nvPr>
        </p:nvSpPr>
        <p:spPr>
          <a:xfrm>
            <a:off x="457200" y="1600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Component-based software engineering (CBSE) is an </a:t>
            </a:r>
            <a:r>
              <a:rPr b="1" lang="en-US" sz="2800"/>
              <a:t>approach to software development that relies on reuse</a:t>
            </a:r>
            <a:endParaRPr/>
          </a:p>
          <a:p>
            <a:pPr indent="-1651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It emerged from the failure of object-oriented development to support effective reuse. Single object classes are too detailed and specific</a:t>
            </a:r>
            <a:endParaRPr/>
          </a:p>
          <a:p>
            <a:pPr indent="-1651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Components are more abstract than object classes </a:t>
            </a:r>
            <a:r>
              <a:rPr lang="en-US" sz="2800"/>
              <a:t>and can be considered to be stand-alone service providers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/>
            </a:br>
            <a:r>
              <a:rPr lang="en-US"/>
              <a:t>Component-based software engineering</a:t>
            </a:r>
            <a:br>
              <a:rPr lang="en-US"/>
            </a:br>
            <a:endParaRPr/>
          </a:p>
        </p:txBody>
      </p:sp>
      <p:sp>
        <p:nvSpPr>
          <p:cNvPr id="846" name="Google Shape;846;p1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Components can range in size from simple functions to entire application systems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Key Goals of CBSE</a:t>
            </a:r>
            <a:endParaRPr/>
          </a:p>
        </p:txBody>
      </p:sp>
      <p:sp>
        <p:nvSpPr>
          <p:cNvPr id="852" name="Google Shape;852;p1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Save time and money when building large and complex systems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Enhance the software quality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Detect defects within the systems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Improved efficiency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Minimized delivery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Component interfaces</a:t>
            </a:r>
            <a:endParaRPr/>
          </a:p>
        </p:txBody>
      </p:sp>
      <p:pic>
        <p:nvPicPr>
          <p:cNvPr descr="14.4 interfaces.eps                                            00002F00Docs                           B1931E2B:" id="858" name="Google Shape;858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632" y="2370982"/>
            <a:ext cx="8264033" cy="2788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Component Interfaces</a:t>
            </a:r>
            <a:endParaRPr/>
          </a:p>
        </p:txBody>
      </p:sp>
      <p:sp>
        <p:nvSpPr>
          <p:cNvPr id="864" name="Google Shape;864;p125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These interfaces reflect the services that the component provides and the services that the component requires to operate correctly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Provides interface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Defines the services that are provided by the component to other components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Requires interface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Defines the services that specifies what services must be made available for the component to execute as specified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Example: Printing services component</a:t>
            </a:r>
            <a:endParaRPr/>
          </a:p>
        </p:txBody>
      </p:sp>
      <p:pic>
        <p:nvPicPr>
          <p:cNvPr descr="14.5 PrintServices.eps                                         00002F00Docs                           B1931E2B:" id="870" name="Google Shape;870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632" y="1835599"/>
            <a:ext cx="7881439" cy="4106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CBSE processes </a:t>
            </a:r>
            <a:endParaRPr/>
          </a:p>
        </p:txBody>
      </p:sp>
      <p:sp>
        <p:nvSpPr>
          <p:cNvPr id="876" name="Google Shape;876;p1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CBSE processes are software processes that support component-based software engineering.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They take into account the possibilities of reuse and the different process activities involved in developing and using reusable components. </a:t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28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CBSE processes </a:t>
            </a:r>
            <a:endParaRPr/>
          </a:p>
        </p:txBody>
      </p:sp>
      <p:sp>
        <p:nvSpPr>
          <p:cNvPr id="882" name="Google Shape;882;p128"/>
          <p:cNvSpPr txBox="1"/>
          <p:nvPr>
            <p:ph idx="1" type="body"/>
          </p:nvPr>
        </p:nvSpPr>
        <p:spPr>
          <a:xfrm>
            <a:off x="457200" y="15240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There are two types:</a:t>
            </a:r>
            <a:endParaRPr/>
          </a:p>
          <a:p>
            <a:pPr indent="-514350" lvl="0" marL="51435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/>
              <a:t>Development for reuse</a:t>
            </a:r>
            <a:r>
              <a:rPr lang="en-US"/>
              <a:t> </a:t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- This process is concerned with </a:t>
            </a:r>
            <a:r>
              <a:rPr b="1" lang="en-US"/>
              <a:t>developing components or services that will be reused </a:t>
            </a:r>
            <a:r>
              <a:rPr lang="en-US"/>
              <a:t>in other applications. </a:t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- It usually involves generalizing existing components.</a:t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2. Development with reuse </a:t>
            </a:r>
            <a:endParaRPr/>
          </a:p>
          <a:p>
            <a:pPr indent="0" lvl="0" marL="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- </a:t>
            </a:r>
            <a:r>
              <a:rPr lang="en-US"/>
              <a:t>This is the process of </a:t>
            </a:r>
            <a:r>
              <a:rPr b="1" lang="en-US"/>
              <a:t>developing new applications using existing components and services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/>
            </a:br>
            <a:r>
              <a:rPr lang="en-US"/>
              <a:t>CBSE processes - </a:t>
            </a:r>
            <a:r>
              <a:rPr b="1" lang="en-US"/>
              <a:t>Development for reuse</a:t>
            </a:r>
            <a:r>
              <a:rPr lang="en-US"/>
              <a:t> </a:t>
            </a:r>
            <a:br>
              <a:rPr lang="en-US"/>
            </a:br>
            <a:endParaRPr/>
          </a:p>
        </p:txBody>
      </p:sp>
      <p:sp>
        <p:nvSpPr>
          <p:cNvPr id="888" name="Google Shape;888;p1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CBSE for reuse is the process of developing reusable components and making them available for reuse through a component management system.</a:t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CBSE processes - Development with reuse</a:t>
            </a:r>
            <a:endParaRPr/>
          </a:p>
        </p:txBody>
      </p:sp>
      <p:pic>
        <p:nvPicPr>
          <p:cNvPr id="894" name="Google Shape;894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959" y="1937576"/>
            <a:ext cx="8439389" cy="3785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2016-08-22T21:47:42Z</dcterms:created>
  <dc:creator>Lenovo</dc:creator>
</cp:coreProperties>
</file>
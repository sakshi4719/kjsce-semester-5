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92" r:id="rId2"/>
    <p:sldId id="302" r:id="rId3"/>
    <p:sldId id="303" r:id="rId4"/>
    <p:sldId id="305" r:id="rId5"/>
    <p:sldId id="308" r:id="rId6"/>
    <p:sldId id="309" r:id="rId7"/>
    <p:sldId id="310" r:id="rId8"/>
    <p:sldId id="311" r:id="rId9"/>
    <p:sldId id="306" r:id="rId10"/>
    <p:sldId id="312" r:id="rId11"/>
    <p:sldId id="313" r:id="rId12"/>
    <p:sldId id="30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5854"/>
    <p:restoredTop sz="94828"/>
  </p:normalViewPr>
  <p:slideViewPr>
    <p:cSldViewPr snapToGrid="0" snapToObjects="1">
      <p:cViewPr varScale="1">
        <p:scale>
          <a:sx n="42" d="100"/>
          <a:sy n="42" d="100"/>
        </p:scale>
        <p:origin x="52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mi Takle" userId="1a40ecd3fc665b3a" providerId="LiveId" clId="{03957616-8E79-45BE-BE27-D8AB1EE331D7}"/>
    <pc:docChg chg="modSld">
      <pc:chgData name="Asmi Takle" userId="1a40ecd3fc665b3a" providerId="LiveId" clId="{03957616-8E79-45BE-BE27-D8AB1EE331D7}" dt="2023-11-28T08:38:21.574" v="4" actId="732"/>
      <pc:docMkLst>
        <pc:docMk/>
      </pc:docMkLst>
      <pc:sldChg chg="modSp">
        <pc:chgData name="Asmi Takle" userId="1a40ecd3fc665b3a" providerId="LiveId" clId="{03957616-8E79-45BE-BE27-D8AB1EE331D7}" dt="2023-11-28T08:38:21.574" v="4" actId="732"/>
        <pc:sldMkLst>
          <pc:docMk/>
          <pc:sldMk cId="729327661" sldId="309"/>
        </pc:sldMkLst>
        <pc:picChg chg="mod">
          <ac:chgData name="Asmi Takle" userId="1a40ecd3fc665b3a" providerId="LiveId" clId="{03957616-8E79-45BE-BE27-D8AB1EE331D7}" dt="2023-11-28T08:38:21.574" v="4" actId="732"/>
          <ac:picMkLst>
            <pc:docMk/>
            <pc:sldMk cId="729327661" sldId="309"/>
            <ac:picMk id="8" creationId="{CB327349-4B2F-DE41-83DE-A98B5C01C2F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E41518-5087-5D44-9752-104950522B01}" type="datetimeFigureOut">
              <a:rPr lang="en-US" smtClean="0"/>
              <a:t>27-Nov-23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F762C6-D4A4-6447-8E35-7B0105939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598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FCA20-9BA5-9F48-9530-C5E65787D2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EECB35-FF27-CC44-ACB2-749F78709E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C0FB6-ED13-4C4E-BFCA-64D30A3AF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54BD5-A4DA-B74A-A333-46182307C3BC}" type="datetime1">
              <a:rPr lang="en-IN" smtClean="0"/>
              <a:t>27-11-2023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602B1-190D-2C46-ACEE-8FF6EF0CC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73588-B557-334B-8E7F-2AD1F457C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B2100-AC2C-F948-A5D7-D9A78EA78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72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8FF7F-509C-5B45-AC40-3C796836C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B1454-4773-DA46-9A0B-D8CE7EC14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7E7F0-2D2C-E649-87F5-B7595CA13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737CF-9665-4D4E-8033-C95A03BABF41}" type="datetime1">
              <a:rPr lang="en-IN" smtClean="0"/>
              <a:t>27-11-2023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93FE8-865D-4141-A1FE-FFC95D071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B325F-BA12-6544-9A2F-E75C9D8B5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B2100-AC2C-F948-A5D7-D9A78EA78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546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601E2-2E08-F643-ACA4-79FB842EB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67027-36F6-B649-84C0-AB6D757CB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E1207-E868-8648-9242-DEDBBC691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C465A-1C56-9340-8395-072DDE9326A4}" type="datetime1">
              <a:rPr lang="en-IN" smtClean="0"/>
              <a:t>27-11-2023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6F264-F402-F945-B0C3-9B0C78E32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66FCC-E93D-8F43-8ABA-40B2F0157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B2100-AC2C-F948-A5D7-D9A78EA78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362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C479B-8FBE-7741-9B8E-A00881E53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05355-0A57-1040-93C7-F0FE1DC55F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0DC5B9-F2E1-0F44-8E0A-A90216B8C0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A8071B-7B30-2648-ADE5-E3BC25F36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BE04-4409-B448-9810-903C4604DC4C}" type="datetime1">
              <a:rPr lang="en-IN" smtClean="0"/>
              <a:t>27-11-2023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57C20-6F38-A444-9D67-849BE26B2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4B955-DF68-7148-897D-0AD5E7934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B2100-AC2C-F948-A5D7-D9A78EA78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396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0F247-ABB7-6446-B7D7-FF56CF0FD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02B0E2-81E3-BC44-849E-417560EAE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BC80FA-724F-2B49-8308-336810928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CE5F2C-EC90-9342-B4FA-314515FB1D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C49081-2ED7-CA4D-B17C-ED908CDEA3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7C3DFF-B748-6541-AF4A-3B5EB5CD0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FFB30-EFBE-A140-85FD-420D1DC35786}" type="datetime1">
              <a:rPr lang="en-IN" smtClean="0"/>
              <a:t>27-11-2023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17ECB5-EDEE-9D4F-B311-167FBE944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457749-328F-2142-8582-7D5A50404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B2100-AC2C-F948-A5D7-D9A78EA78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607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84B6E-D2FE-1C40-B9BB-FB6BC0368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7F15D4-665F-634D-9931-21277B02B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092B4-3F79-154E-86F0-CD0D71F6C1AD}" type="datetime1">
              <a:rPr lang="en-IN" smtClean="0"/>
              <a:t>27-11-2023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78995E-2C45-F746-B3FB-EA66DAAD2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BD092F-5A23-FB4B-96BB-ABD288DAB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B2100-AC2C-F948-A5D7-D9A78EA78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828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E44558-7D52-7D46-9A56-15A66DC58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E085C-ADE4-3D48-B6FF-04C80DBC7702}" type="datetime1">
              <a:rPr lang="en-IN" smtClean="0"/>
              <a:t>27-11-2023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9D9FA8-0B67-DF4E-9497-8B70AAE98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A28B0-3664-7D49-A186-054BCFD50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B2100-AC2C-F948-A5D7-D9A78EA78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490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D0BF0-66B0-5A4A-967B-274F03DFA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F6497-8BBA-1349-AF2D-201AA7742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6B3894-19E8-7748-BCF9-E71703D23D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0FB338-D22E-0944-AD86-39C32E58F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B3DF6-49A1-5A41-9D06-C4EE9DD75DD5}" type="datetime1">
              <a:rPr lang="en-IN" smtClean="0"/>
              <a:t>27-11-2023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578BA1-0AAD-D44B-BC69-7F79ED09A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B3D1E4-9679-2B4F-B3D9-076339EB9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B2100-AC2C-F948-A5D7-D9A78EA78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198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78199-C9A6-0843-B9FD-75FD49307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AC18AF-CD8C-604C-911C-D0DE20FA9B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9BF75C-EFE2-964C-9166-193305AA4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4ECC78-BA6C-274E-A171-8CE6BE987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555D9-3587-D14B-ADF5-79A0A67D4775}" type="datetime1">
              <a:rPr lang="en-IN" smtClean="0"/>
              <a:t>27-11-2023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1240B5-1B50-CC4C-B1BF-D16001F41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55405-164E-804E-8325-F459F31A4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B2100-AC2C-F948-A5D7-D9A78EA78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113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E1388-B640-2846-B270-D5C0DEB86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32476D-D342-2A4F-8FDC-0ECA9B7303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85BE58-5A8E-F548-A039-E7B0F934D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15769-BD98-784C-B2D6-84FFAEE080E9}" type="datetime1">
              <a:rPr lang="en-IN" smtClean="0"/>
              <a:t>27-11-2023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52DE8-2766-EC4A-98F6-96CAA258A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4551B-7038-1142-AAF8-F4A9EB5B0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B2100-AC2C-F948-A5D7-D9A78EA78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126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8E44B5-1843-384B-A48E-2B61429C1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453AC0-C9E7-6E47-8E78-674202BC05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CCE28-B7D8-154E-8CE4-210F148BF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2FF5B-6392-7A42-8117-70D90DB09CB1}" type="datetime1">
              <a:rPr lang="en-IN" smtClean="0"/>
              <a:t>27-11-2023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9B590-B21B-2547-B2E8-FC3EC39B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24BFC-E034-5443-B938-6DEC2E992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B2100-AC2C-F948-A5D7-D9A78EA78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000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71A118-3BEB-8945-A51C-131154F1F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2BD41-37C6-BF4F-B1E9-E1E9346D2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A48F9-0AB5-774F-93B7-7FE2FC27A2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02CAEC-A008-2944-9429-CB277A524867}" type="datetime1">
              <a:rPr lang="en-IN" smtClean="0"/>
              <a:t>27-11-2023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2F41C-BDA5-C648-9967-29BA78602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Module 4.5  Risk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A2773-1656-054F-9FB2-23685242A8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3B2100-AC2C-F948-A5D7-D9A78EA78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013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lms-kjsce.somaiya.edu/course/view.php?id=1209#section-4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6D252-F53F-224C-8614-6F78ED09A2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Software Engineering </a:t>
            </a:r>
            <a:br>
              <a:rPr lang="en-US" dirty="0"/>
            </a:br>
            <a:r>
              <a:rPr lang="en-US" dirty="0"/>
              <a:t>2UCCE501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64116F-1110-4746-8399-4F98421E18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36386"/>
            <a:ext cx="9144000" cy="521413"/>
          </a:xfrm>
        </p:spPr>
        <p:txBody>
          <a:bodyPr/>
          <a:lstStyle/>
          <a:p>
            <a:r>
              <a:rPr lang="en-US" dirty="0"/>
              <a:t>Module 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277E1D-091D-E144-AD97-83AA0884B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75657E-23F2-744C-BB68-A99946F34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B2100-AC2C-F948-A5D7-D9A78EA7888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784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1D63A-8D23-0B4E-AFBF-F254B34B8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4" y="547961"/>
            <a:ext cx="11373196" cy="85275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Module 4 </a:t>
            </a:r>
            <a:br>
              <a:rPr lang="en-US" b="1" dirty="0"/>
            </a:br>
            <a:r>
              <a:rPr lang="en-IN" sz="4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System Implementation, Configuration Management </a:t>
            </a:r>
            <a:br>
              <a:rPr lang="en-IN" sz="4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IN" sz="4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&amp; Risk Management</a:t>
            </a:r>
            <a:br>
              <a:rPr lang="en-IN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42246-7FDE-5846-A664-BA09029AE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647121"/>
            <a:ext cx="10805160" cy="4891791"/>
          </a:xfrm>
        </p:spPr>
        <p:txBody>
          <a:bodyPr>
            <a:normAutofit/>
          </a:bodyPr>
          <a:lstStyle/>
          <a:p>
            <a:pPr marL="582613" indent="-582613">
              <a:buNone/>
            </a:pP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4.1 Packages &amp; Interfaces: Distinguishing between classes versus interfaces. Exposing class &amp; package interfaces.</a:t>
            </a:r>
          </a:p>
          <a:p>
            <a:pPr marL="582613" indent="-582613">
              <a:buNone/>
            </a:pP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4.2 Mapping Model to code, Mapping object models to Database schema.</a:t>
            </a:r>
          </a:p>
          <a:p>
            <a:pPr marL="0" indent="0">
              <a:buNone/>
            </a:pP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4.3 Component &amp; Deployment Diagrams: Describing dependencies.</a:t>
            </a:r>
          </a:p>
          <a:p>
            <a:pPr marL="0" indent="0">
              <a:buNone/>
            </a:pP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4.4 Managing &amp; Controlling Changes: Managing &amp; Controlling versions.</a:t>
            </a:r>
          </a:p>
          <a:p>
            <a:pPr marL="582613" indent="-582613">
              <a:buNone/>
            </a:pPr>
            <a:r>
              <a:rPr lang="en-IN" dirty="0"/>
              <a:t>4.5 Categories of Risks. Nature of risks, Types of risks, Risk identification, Risk assessment, Risk Planning and control, Risk Management, Evaluating risk to schedule, PERT technique.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031A54-84D3-8948-83F5-C5F699C39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AC2981-2AD2-F242-9CF1-694EB58F6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CE164-8857-FD40-AD3D-45F3A691825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628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1D63A-8D23-0B4E-AFBF-F254B34B8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52755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Risk Management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031A54-84D3-8948-83F5-C5F699C39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AC2981-2AD2-F242-9CF1-694EB58F6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CE164-8857-FD40-AD3D-45F3A691825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85E5C16-C061-1540-AACC-034ABB81A5FC}"/>
              </a:ext>
            </a:extLst>
          </p:cNvPr>
          <p:cNvSpPr txBox="1">
            <a:spLocks noChangeArrowheads="1"/>
          </p:cNvSpPr>
          <p:nvPr/>
        </p:nvSpPr>
        <p:spPr>
          <a:xfrm>
            <a:off x="975702" y="1062356"/>
            <a:ext cx="1065241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Definition:</a:t>
            </a:r>
          </a:p>
          <a:p>
            <a:pPr>
              <a:buFont typeface="Monotype Sorts" pitchFamily="2" charset="2"/>
              <a:buNone/>
            </a:pPr>
            <a:endParaRPr lang="en-GB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Monotype Sorts" pitchFamily="2" charset="2"/>
              <a:buNone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‘the chance of exposure to the adverse consequences of future events’ </a:t>
            </a:r>
          </a:p>
          <a:p>
            <a:pPr>
              <a:buFont typeface="Monotype Sorts" pitchFamily="2" charset="2"/>
              <a:buNone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‘an uncertain event or condition that, if it occurs, has a positive or negative effect on a project’s objectives’ </a:t>
            </a:r>
          </a:p>
          <a:p>
            <a:pPr>
              <a:buFont typeface="Monotype Sorts" pitchFamily="2" charset="2"/>
              <a:buNone/>
            </a:pPr>
            <a:endParaRPr lang="en-GB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Risks relate to possible future problems, not current ones</a:t>
            </a:r>
          </a:p>
          <a:p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involve a possible cause and its effect(s) </a:t>
            </a:r>
          </a:p>
          <a:p>
            <a:pPr lvl="1"/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</a:t>
            </a:r>
          </a:p>
          <a:p>
            <a:pPr lvl="2"/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 leaves -&gt; task delayed</a:t>
            </a:r>
          </a:p>
          <a:p>
            <a:pPr lvl="2"/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Misinterpretation of scope -&gt; failure of acceptance test</a:t>
            </a:r>
          </a:p>
        </p:txBody>
      </p:sp>
    </p:spTree>
    <p:extLst>
      <p:ext uri="{BB962C8B-B14F-4D97-AF65-F5344CB8AC3E}">
        <p14:creationId xmlns:p14="http://schemas.microsoft.com/office/powerpoint/2010/main" val="2499196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1D63A-8D23-0B4E-AFBF-F254B34B8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52755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Sources of Risks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031A54-84D3-8948-83F5-C5F699C39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AC2981-2AD2-F242-9CF1-694EB58F6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CE164-8857-FD40-AD3D-45F3A691825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57515C26-2FD1-0841-84D7-9FDAA94B0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3444"/>
            <a:ext cx="10515600" cy="524495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Natures of risks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of resources mismatch,(people with different skill set allocated)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Number of people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technology used for implementation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 structure : Projectized / Strong Matrix / Weak matrix/ Open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 are carried out for the first time  </a:t>
            </a:r>
          </a:p>
        </p:txBody>
      </p:sp>
    </p:spTree>
    <p:extLst>
      <p:ext uri="{BB962C8B-B14F-4D97-AF65-F5344CB8AC3E}">
        <p14:creationId xmlns:p14="http://schemas.microsoft.com/office/powerpoint/2010/main" val="2498916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1D63A-8D23-0B4E-AFBF-F254B34B8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52755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Risk Management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031A54-84D3-8948-83F5-C5F699C39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AC2981-2AD2-F242-9CF1-694EB58F6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CE164-8857-FD40-AD3D-45F3A691825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85E5C16-C061-1540-AACC-034ABB81A5FC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992463"/>
            <a:ext cx="10393680" cy="51797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GB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Approaches to resolve risks:</a:t>
            </a:r>
          </a:p>
          <a:p>
            <a:pPr>
              <a:buNone/>
            </a:pPr>
            <a:r>
              <a:rPr lang="en-GB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Reactive:</a:t>
            </a:r>
          </a:p>
          <a:p>
            <a:pPr lvl="1"/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team responds when risk occurs</a:t>
            </a:r>
          </a:p>
          <a:p>
            <a:pPr lvl="1"/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 on failure approach </a:t>
            </a:r>
          </a:p>
          <a:p>
            <a:pPr lvl="1"/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Crises management, if failure is NOT responded in time project may enter into jeopardy </a:t>
            </a:r>
          </a:p>
          <a:p>
            <a:pPr>
              <a:buFont typeface="Monotype Sorts" pitchFamily="2" charset="2"/>
              <a:buNone/>
            </a:pPr>
            <a:r>
              <a:rPr lang="en-GB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Proactive: </a:t>
            </a:r>
          </a:p>
          <a:p>
            <a:pPr lvl="1"/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 Risk analysis is performed</a:t>
            </a:r>
          </a:p>
          <a:p>
            <a:pPr lvl="1"/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TQM &amp; Statistical SQA</a:t>
            </a:r>
          </a:p>
          <a:p>
            <a:pPr lvl="1"/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 skills to manage changes </a:t>
            </a:r>
          </a:p>
        </p:txBody>
      </p:sp>
    </p:spTree>
    <p:extLst>
      <p:ext uri="{BB962C8B-B14F-4D97-AF65-F5344CB8AC3E}">
        <p14:creationId xmlns:p14="http://schemas.microsoft.com/office/powerpoint/2010/main" val="2103705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1D63A-8D23-0B4E-AFBF-F254B34B8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52755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Boehm’s risk engineering task breakdown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031A54-84D3-8948-83F5-C5F699C39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AC2981-2AD2-F242-9CF1-694EB58F6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CE164-8857-FD40-AD3D-45F3A691825F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CB327349-4B2F-DE41-83DE-A98B5C01C2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28" t="27321" r="26375" b="30156"/>
          <a:stretch/>
        </p:blipFill>
        <p:spPr bwMode="auto">
          <a:xfrm>
            <a:off x="1199213" y="852755"/>
            <a:ext cx="9218951" cy="5276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9327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1D63A-8D23-0B4E-AFBF-F254B34B8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9186"/>
            <a:ext cx="10754710" cy="852755"/>
          </a:xfrm>
        </p:spPr>
        <p:txBody>
          <a:bodyPr>
            <a:noAutofit/>
          </a:bodyPr>
          <a:lstStyle/>
          <a:p>
            <a:pPr algn="ctr"/>
            <a:r>
              <a:rPr lang="en-GB" altLang="en-US" sz="3600" dirty="0"/>
              <a:t>Boehm’s top 10 development risks &amp; reduction strategies</a:t>
            </a:r>
            <a:endParaRPr lang="en-US" sz="36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031A54-84D3-8948-83F5-C5F699C39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AC2981-2AD2-F242-9CF1-694EB58F6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CE164-8857-FD40-AD3D-45F3A691825F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8" name="Group 101">
            <a:extLst>
              <a:ext uri="{FF2B5EF4-FFF2-40B4-BE49-F238E27FC236}">
                <a16:creationId xmlns:a16="http://schemas.microsoft.com/office/drawing/2014/main" id="{67D88E42-FA75-984D-B718-D56037746F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3487855"/>
              </p:ext>
            </p:extLst>
          </p:nvPr>
        </p:nvGraphicFramePr>
        <p:xfrm>
          <a:off x="365760" y="1425521"/>
          <a:ext cx="11643360" cy="4761976"/>
        </p:xfrm>
        <a:graphic>
          <a:graphicData uri="http://schemas.openxmlformats.org/drawingml/2006/table">
            <a:tbl>
              <a:tblPr/>
              <a:tblGrid>
                <a:gridCol w="3891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52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1127">
                <a:tc>
                  <a:txBody>
                    <a:bodyPr/>
                    <a:lstStyle>
                      <a:lvl1pPr marL="342900" indent="-34290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1pPr>
                      <a:lvl2pPr marL="742950" indent="-28575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2pPr>
                      <a:lvl3pPr marL="1143000" indent="-228600" defTabSz="762000">
                        <a:spcBef>
                          <a:spcPct val="20000"/>
                        </a:spcBef>
                        <a:buSzPct val="100000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3pPr>
                      <a:lvl4pPr marL="1562100" indent="-228600" defTabSz="762000">
                        <a:spcBef>
                          <a:spcPct val="20000"/>
                        </a:spcBef>
                        <a:buSzPct val="100000"/>
                        <a:buFont typeface="Times" charset="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4pPr>
                      <a:lvl5pPr marL="1981200" indent="-228600" defTabSz="7620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5pPr>
                      <a:lvl6pPr marL="24384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6pPr>
                      <a:lvl7pPr marL="28956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7pPr>
                      <a:lvl8pPr marL="33528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8pPr>
                      <a:lvl9pPr marL="38100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r>
                        <a:rPr kumimoji="0" lang="en-US" altLang="x-none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" charset="0"/>
                          <a:ea typeface="Times New Roman" charset="0"/>
                          <a:cs typeface="Times New Roman" charset="0"/>
                        </a:rPr>
                        <a:t>Risk</a:t>
                      </a:r>
                      <a:endParaRPr kumimoji="0" lang="en-US" altLang="x-none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1pPr>
                      <a:lvl2pPr marL="742950" indent="-28575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2pPr>
                      <a:lvl3pPr marL="1143000" indent="-228600" defTabSz="762000">
                        <a:spcBef>
                          <a:spcPct val="20000"/>
                        </a:spcBef>
                        <a:buSzPct val="100000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3pPr>
                      <a:lvl4pPr marL="1562100" indent="-228600" defTabSz="762000">
                        <a:spcBef>
                          <a:spcPct val="20000"/>
                        </a:spcBef>
                        <a:buSzPct val="100000"/>
                        <a:buFont typeface="Times" charset="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4pPr>
                      <a:lvl5pPr marL="1981200" indent="-228600" defTabSz="7620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5pPr>
                      <a:lvl6pPr marL="24384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6pPr>
                      <a:lvl7pPr marL="28956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7pPr>
                      <a:lvl8pPr marL="33528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8pPr>
                      <a:lvl9pPr marL="38100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r>
                        <a:rPr kumimoji="0" lang="en-US" altLang="x-none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" charset="0"/>
                          <a:ea typeface="Times New Roman" charset="0"/>
                          <a:cs typeface="Times New Roman" charset="0"/>
                        </a:rPr>
                        <a:t>Risk reduction techniques</a:t>
                      </a:r>
                      <a:endParaRPr kumimoji="0" lang="en-US" altLang="x-none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3361">
                <a:tc>
                  <a:txBody>
                    <a:bodyPr/>
                    <a:lstStyle>
                      <a:lvl1pPr marL="342900" indent="-34290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1pPr>
                      <a:lvl2pPr marL="742950" indent="-28575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2pPr>
                      <a:lvl3pPr marL="1143000" indent="-228600" defTabSz="762000">
                        <a:spcBef>
                          <a:spcPct val="20000"/>
                        </a:spcBef>
                        <a:buSzPct val="100000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3pPr>
                      <a:lvl4pPr marL="1562100" indent="-228600" defTabSz="762000">
                        <a:spcBef>
                          <a:spcPct val="20000"/>
                        </a:spcBef>
                        <a:buSzPct val="100000"/>
                        <a:buFont typeface="Times" charset="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4pPr>
                      <a:lvl5pPr marL="1981200" indent="-228600" defTabSz="7620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5pPr>
                      <a:lvl6pPr marL="24384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6pPr>
                      <a:lvl7pPr marL="28956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7pPr>
                      <a:lvl8pPr marL="33528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8pPr>
                      <a:lvl9pPr marL="38100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r>
                        <a:rPr kumimoji="0" lang="en-US" altLang="x-non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Times New Roman" charset="0"/>
                          <a:cs typeface="Times New Roman" charset="0"/>
                        </a:rPr>
                        <a:t>Personnel shortfalls</a:t>
                      </a:r>
                      <a:endParaRPr kumimoji="0" lang="en-US" altLang="x-none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1pPr>
                      <a:lvl2pPr marL="742950" indent="-28575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2pPr>
                      <a:lvl3pPr marL="1143000" indent="-228600" defTabSz="762000">
                        <a:spcBef>
                          <a:spcPct val="20000"/>
                        </a:spcBef>
                        <a:buSzPct val="100000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3pPr>
                      <a:lvl4pPr marL="1562100" indent="-228600" defTabSz="762000">
                        <a:spcBef>
                          <a:spcPct val="20000"/>
                        </a:spcBef>
                        <a:buSzPct val="100000"/>
                        <a:buFont typeface="Times" charset="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4pPr>
                      <a:lvl5pPr marL="1981200" indent="-228600" defTabSz="7620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5pPr>
                      <a:lvl6pPr marL="24384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6pPr>
                      <a:lvl7pPr marL="28956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7pPr>
                      <a:lvl8pPr marL="33528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8pPr>
                      <a:lvl9pPr marL="38100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9pPr>
                    </a:lstStyle>
                    <a:p>
                      <a:pPr marL="44450" marR="0" lvl="0" indent="-4445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r>
                        <a:rPr kumimoji="0" lang="en-US" altLang="x-non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Times New Roman" charset="0"/>
                          <a:cs typeface="Times New Roman" charset="0"/>
                        </a:rPr>
                        <a:t>Staffing with top talent; job matching; teambuilding; training and career development; early scheduling of key personnel</a:t>
                      </a:r>
                      <a:endParaRPr kumimoji="0" lang="en-US" altLang="x-none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187">
                <a:tc>
                  <a:txBody>
                    <a:bodyPr/>
                    <a:lstStyle>
                      <a:lvl1pPr marL="342900" indent="-34290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1pPr>
                      <a:lvl2pPr marL="742950" indent="-28575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2pPr>
                      <a:lvl3pPr marL="1143000" indent="-228600" defTabSz="762000">
                        <a:spcBef>
                          <a:spcPct val="20000"/>
                        </a:spcBef>
                        <a:buSzPct val="100000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3pPr>
                      <a:lvl4pPr marL="1562100" indent="-228600" defTabSz="762000">
                        <a:spcBef>
                          <a:spcPct val="20000"/>
                        </a:spcBef>
                        <a:buSzPct val="100000"/>
                        <a:buFont typeface="Times" charset="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4pPr>
                      <a:lvl5pPr marL="1981200" indent="-228600" defTabSz="7620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5pPr>
                      <a:lvl6pPr marL="24384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6pPr>
                      <a:lvl7pPr marL="28956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7pPr>
                      <a:lvl8pPr marL="33528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8pPr>
                      <a:lvl9pPr marL="38100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9pPr>
                    </a:lstStyle>
                    <a:p>
                      <a:pPr marL="44450" marR="0" lvl="0" indent="-4445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r>
                        <a:rPr kumimoji="0" lang="en-US" altLang="x-non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Times New Roman" charset="0"/>
                          <a:cs typeface="Times New Roman" charset="0"/>
                        </a:rPr>
                        <a:t>Unrealistic time and cost estimates</a:t>
                      </a:r>
                      <a:endParaRPr kumimoji="0" lang="en-US" altLang="x-none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1pPr>
                      <a:lvl2pPr marL="742950" indent="-28575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2pPr>
                      <a:lvl3pPr marL="1143000" indent="-228600" defTabSz="762000">
                        <a:spcBef>
                          <a:spcPct val="20000"/>
                        </a:spcBef>
                        <a:buSzPct val="100000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3pPr>
                      <a:lvl4pPr marL="1562100" indent="-228600" defTabSz="762000">
                        <a:spcBef>
                          <a:spcPct val="20000"/>
                        </a:spcBef>
                        <a:buSzPct val="100000"/>
                        <a:buFont typeface="Times" charset="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4pPr>
                      <a:lvl5pPr marL="1981200" indent="-228600" defTabSz="7620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5pPr>
                      <a:lvl6pPr marL="24384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6pPr>
                      <a:lvl7pPr marL="28956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7pPr>
                      <a:lvl8pPr marL="33528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8pPr>
                      <a:lvl9pPr marL="38100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9pPr>
                    </a:lstStyle>
                    <a:p>
                      <a:pPr marL="44450" marR="0" lvl="0" indent="-4445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r>
                        <a:rPr kumimoji="0" lang="en-US" altLang="x-non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Times New Roman" charset="0"/>
                          <a:cs typeface="Times New Roman" charset="0"/>
                        </a:rPr>
                        <a:t>Multiple estimation techniques; design to cost; incremental development; recording and analysis of past projects; standardization of methods</a:t>
                      </a:r>
                      <a:endParaRPr kumimoji="0" lang="en-US" altLang="x-none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24">
                <a:tc>
                  <a:txBody>
                    <a:bodyPr/>
                    <a:lstStyle>
                      <a:lvl1pPr marL="342900" indent="-34290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1pPr>
                      <a:lvl2pPr marL="742950" indent="-28575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2pPr>
                      <a:lvl3pPr marL="1143000" indent="-228600" defTabSz="762000">
                        <a:spcBef>
                          <a:spcPct val="20000"/>
                        </a:spcBef>
                        <a:buSzPct val="100000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3pPr>
                      <a:lvl4pPr marL="1562100" indent="-228600" defTabSz="762000">
                        <a:spcBef>
                          <a:spcPct val="20000"/>
                        </a:spcBef>
                        <a:buSzPct val="100000"/>
                        <a:buFont typeface="Times" charset="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4pPr>
                      <a:lvl5pPr marL="1981200" indent="-228600" defTabSz="7620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5pPr>
                      <a:lvl6pPr marL="24384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6pPr>
                      <a:lvl7pPr marL="28956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7pPr>
                      <a:lvl8pPr marL="33528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8pPr>
                      <a:lvl9pPr marL="38100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9pPr>
                    </a:lstStyle>
                    <a:p>
                      <a:pPr marL="44450" marR="0" lvl="0" indent="-4445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r>
                        <a:rPr kumimoji="0" lang="en-US" altLang="x-non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Times New Roman" charset="0"/>
                          <a:cs typeface="Times New Roman" charset="0"/>
                        </a:rPr>
                        <a:t>Developing the wrong software functions</a:t>
                      </a:r>
                      <a:endParaRPr kumimoji="0" lang="en-US" altLang="x-none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1pPr>
                      <a:lvl2pPr marL="742950" indent="-28575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2pPr>
                      <a:lvl3pPr marL="1143000" indent="-228600" defTabSz="762000">
                        <a:spcBef>
                          <a:spcPct val="20000"/>
                        </a:spcBef>
                        <a:buSzPct val="100000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3pPr>
                      <a:lvl4pPr marL="1562100" indent="-228600" defTabSz="762000">
                        <a:spcBef>
                          <a:spcPct val="20000"/>
                        </a:spcBef>
                        <a:buSzPct val="100000"/>
                        <a:buFont typeface="Times" charset="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4pPr>
                      <a:lvl5pPr marL="1981200" indent="-228600" defTabSz="7620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5pPr>
                      <a:lvl6pPr marL="24384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6pPr>
                      <a:lvl7pPr marL="28956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7pPr>
                      <a:lvl8pPr marL="33528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8pPr>
                      <a:lvl9pPr marL="38100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9pPr>
                    </a:lstStyle>
                    <a:p>
                      <a:pPr marL="44450" marR="0" lvl="0" indent="-4445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r>
                        <a:rPr kumimoji="0" lang="en-US" altLang="x-non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Times New Roman" charset="0"/>
                          <a:cs typeface="Times New Roman" charset="0"/>
                        </a:rPr>
                        <a:t>Improved software evaluation; formal specification methods; user surveys; prototyping; early user manuals</a:t>
                      </a:r>
                      <a:endParaRPr kumimoji="0" lang="en-US" altLang="x-none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26">
                <a:tc>
                  <a:txBody>
                    <a:bodyPr/>
                    <a:lstStyle>
                      <a:lvl1pPr marL="342900" indent="-34290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1pPr>
                      <a:lvl2pPr marL="742950" indent="-28575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2pPr>
                      <a:lvl3pPr marL="1143000" indent="-228600" defTabSz="762000">
                        <a:spcBef>
                          <a:spcPct val="20000"/>
                        </a:spcBef>
                        <a:buSzPct val="100000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3pPr>
                      <a:lvl4pPr marL="1562100" indent="-228600" defTabSz="762000">
                        <a:spcBef>
                          <a:spcPct val="20000"/>
                        </a:spcBef>
                        <a:buSzPct val="100000"/>
                        <a:buFont typeface="Times" charset="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4pPr>
                      <a:lvl5pPr marL="1981200" indent="-228600" defTabSz="7620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5pPr>
                      <a:lvl6pPr marL="24384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6pPr>
                      <a:lvl7pPr marL="28956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7pPr>
                      <a:lvl8pPr marL="33528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8pPr>
                      <a:lvl9pPr marL="38100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9pPr>
                    </a:lstStyle>
                    <a:p>
                      <a:pPr marL="44450" marR="0" lvl="0" indent="-4445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r>
                        <a:rPr kumimoji="0" lang="en-US" altLang="x-non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Times New Roman" charset="0"/>
                          <a:cs typeface="Times New Roman" charset="0"/>
                        </a:rPr>
                        <a:t>Developing the wrong user interface</a:t>
                      </a:r>
                      <a:endParaRPr kumimoji="0" lang="en-US" altLang="x-none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1pPr>
                      <a:lvl2pPr marL="742950" indent="-28575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2pPr>
                      <a:lvl3pPr marL="1143000" indent="-228600" defTabSz="762000">
                        <a:spcBef>
                          <a:spcPct val="20000"/>
                        </a:spcBef>
                        <a:buSzPct val="100000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3pPr>
                      <a:lvl4pPr marL="1562100" indent="-228600" defTabSz="762000">
                        <a:spcBef>
                          <a:spcPct val="20000"/>
                        </a:spcBef>
                        <a:buSzPct val="100000"/>
                        <a:buFont typeface="Times" charset="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4pPr>
                      <a:lvl5pPr marL="1981200" indent="-228600" defTabSz="7620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5pPr>
                      <a:lvl6pPr marL="24384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6pPr>
                      <a:lvl7pPr marL="28956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7pPr>
                      <a:lvl8pPr marL="33528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8pPr>
                      <a:lvl9pPr marL="38100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9pPr>
                    </a:lstStyle>
                    <a:p>
                      <a:pPr marL="44450" marR="0" lvl="0" indent="-4445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r>
                        <a:rPr kumimoji="0" lang="en-US" altLang="x-non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charset="0"/>
                          <a:ea typeface="Times New Roman" charset="0"/>
                          <a:cs typeface="Times New Roman" charset="0"/>
                        </a:rPr>
                        <a:t>Prototyping; task analysis; user involvement</a:t>
                      </a:r>
                      <a:endParaRPr kumimoji="0" lang="en-US" altLang="x-none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6077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1D63A-8D23-0B4E-AFBF-F254B34B8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8013"/>
            <a:ext cx="10754710" cy="852755"/>
          </a:xfrm>
        </p:spPr>
        <p:txBody>
          <a:bodyPr>
            <a:noAutofit/>
          </a:bodyPr>
          <a:lstStyle/>
          <a:p>
            <a:pPr algn="ctr"/>
            <a:r>
              <a:rPr lang="en-GB" altLang="en-US" sz="3600" dirty="0"/>
              <a:t>Boehm’s top 10 development risks &amp; reduction strategies</a:t>
            </a:r>
            <a:endParaRPr lang="en-US" sz="36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031A54-84D3-8948-83F5-C5F699C39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AC2981-2AD2-F242-9CF1-694EB58F6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CE164-8857-FD40-AD3D-45F3A691825F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8" name="Group 101">
            <a:extLst>
              <a:ext uri="{FF2B5EF4-FFF2-40B4-BE49-F238E27FC236}">
                <a16:creationId xmlns:a16="http://schemas.microsoft.com/office/drawing/2014/main" id="{67D88E42-FA75-984D-B718-D56037746F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9064485"/>
              </p:ext>
            </p:extLst>
          </p:nvPr>
        </p:nvGraphicFramePr>
        <p:xfrm>
          <a:off x="517635" y="724742"/>
          <a:ext cx="11395840" cy="4912175"/>
        </p:xfrm>
        <a:graphic>
          <a:graphicData uri="http://schemas.openxmlformats.org/drawingml/2006/table">
            <a:tbl>
              <a:tblPr/>
              <a:tblGrid>
                <a:gridCol w="36329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62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1127">
                <a:tc>
                  <a:txBody>
                    <a:bodyPr/>
                    <a:lstStyle>
                      <a:lvl1pPr marL="342900" indent="-34290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1pPr>
                      <a:lvl2pPr marL="742950" indent="-28575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2pPr>
                      <a:lvl3pPr marL="1143000" indent="-228600" defTabSz="762000">
                        <a:spcBef>
                          <a:spcPct val="20000"/>
                        </a:spcBef>
                        <a:buSzPct val="100000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3pPr>
                      <a:lvl4pPr marL="1562100" indent="-228600" defTabSz="762000">
                        <a:spcBef>
                          <a:spcPct val="20000"/>
                        </a:spcBef>
                        <a:buSzPct val="100000"/>
                        <a:buFont typeface="Times" charset="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4pPr>
                      <a:lvl5pPr marL="1981200" indent="-228600" defTabSz="7620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5pPr>
                      <a:lvl6pPr marL="24384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6pPr>
                      <a:lvl7pPr marL="28956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7pPr>
                      <a:lvl8pPr marL="33528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8pPr>
                      <a:lvl9pPr marL="38100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r>
                        <a:rPr kumimoji="0" lang="en-US" altLang="x-none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charset="0"/>
                          <a:cs typeface="Times New Roman" panose="02020603050405020304" pitchFamily="18" charset="0"/>
                        </a:rPr>
                        <a:t>Risk</a:t>
                      </a:r>
                      <a:endParaRPr kumimoji="0" lang="en-US" altLang="x-none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1pPr>
                      <a:lvl2pPr marL="742950" indent="-285750"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2pPr>
                      <a:lvl3pPr marL="1143000" indent="-228600" defTabSz="762000">
                        <a:spcBef>
                          <a:spcPct val="20000"/>
                        </a:spcBef>
                        <a:buSzPct val="100000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3pPr>
                      <a:lvl4pPr marL="1562100" indent="-228600" defTabSz="762000">
                        <a:spcBef>
                          <a:spcPct val="20000"/>
                        </a:spcBef>
                        <a:buSzPct val="100000"/>
                        <a:buFont typeface="Times" charset="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4pPr>
                      <a:lvl5pPr marL="1981200" indent="-228600" defTabSz="7620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5pPr>
                      <a:lvl6pPr marL="24384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6pPr>
                      <a:lvl7pPr marL="28956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7pPr>
                      <a:lvl8pPr marL="33528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8pPr>
                      <a:lvl9pPr marL="38100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r>
                        <a:rPr kumimoji="0" lang="en-US" altLang="x-none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Times New Roman" charset="0"/>
                          <a:cs typeface="Times New Roman" panose="02020603050405020304" pitchFamily="18" charset="0"/>
                        </a:rPr>
                        <a:t>Risk reduction techniques</a:t>
                      </a:r>
                      <a:endParaRPr kumimoji="0" lang="en-US" altLang="x-none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8290">
                <a:tc>
                  <a:txBody>
                    <a:bodyPr/>
                    <a:lstStyle>
                      <a:lvl1pPr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1pPr>
                      <a:lvl2pPr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2pPr>
                      <a:lvl3pPr defTabSz="762000">
                        <a:spcBef>
                          <a:spcPct val="20000"/>
                        </a:spcBef>
                        <a:buSzPct val="100000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3pPr>
                      <a:lvl4pPr indent="-38100" defTabSz="762000">
                        <a:spcBef>
                          <a:spcPct val="20000"/>
                        </a:spcBef>
                        <a:buSzPct val="100000"/>
                        <a:buFont typeface="Times" charset="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4pPr>
                      <a:lvl5pPr indent="-76200" defTabSz="7620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5pPr>
                      <a:lvl6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6pPr>
                      <a:lvl7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7pPr>
                      <a:lvl8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8pPr>
                      <a:lvl9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r>
                        <a:rPr kumimoji="0" lang="en-GB" altLang="x-non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Gold plating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1pPr>
                      <a:lvl2pPr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2pPr>
                      <a:lvl3pPr defTabSz="762000">
                        <a:spcBef>
                          <a:spcPct val="20000"/>
                        </a:spcBef>
                        <a:buSzPct val="100000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3pPr>
                      <a:lvl4pPr indent="-38100" defTabSz="762000">
                        <a:spcBef>
                          <a:spcPct val="20000"/>
                        </a:spcBef>
                        <a:buSzPct val="100000"/>
                        <a:buFont typeface="Times" charset="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4pPr>
                      <a:lvl5pPr indent="-76200" defTabSz="7620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5pPr>
                      <a:lvl6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6pPr>
                      <a:lvl7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7pPr>
                      <a:lvl8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8pPr>
                      <a:lvl9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r>
                        <a:rPr kumimoji="0" lang="en-GB" altLang="x-non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Requirements scrubbing, prototyping,</a:t>
                      </a:r>
                    </a:p>
                    <a:p>
                      <a:pPr marL="0" marR="0" lvl="0" indent="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r>
                        <a:rPr kumimoji="0" lang="en-GB" altLang="x-non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to cost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391">
                <a:tc>
                  <a:txBody>
                    <a:bodyPr/>
                    <a:lstStyle>
                      <a:lvl1pPr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1pPr>
                      <a:lvl2pPr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2pPr>
                      <a:lvl3pPr defTabSz="762000">
                        <a:spcBef>
                          <a:spcPct val="20000"/>
                        </a:spcBef>
                        <a:buSzPct val="100000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3pPr>
                      <a:lvl4pPr indent="-38100" defTabSz="762000">
                        <a:spcBef>
                          <a:spcPct val="20000"/>
                        </a:spcBef>
                        <a:buSzPct val="100000"/>
                        <a:buFont typeface="Times" charset="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4pPr>
                      <a:lvl5pPr indent="-76200" defTabSz="7620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5pPr>
                      <a:lvl6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6pPr>
                      <a:lvl7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7pPr>
                      <a:lvl8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8pPr>
                      <a:lvl9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r>
                        <a:rPr kumimoji="0" lang="en-GB" altLang="x-non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Late changes to requirements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1pPr>
                      <a:lvl2pPr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2pPr>
                      <a:lvl3pPr defTabSz="762000">
                        <a:spcBef>
                          <a:spcPct val="20000"/>
                        </a:spcBef>
                        <a:buSzPct val="100000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3pPr>
                      <a:lvl4pPr indent="-38100" defTabSz="762000">
                        <a:spcBef>
                          <a:spcPct val="20000"/>
                        </a:spcBef>
                        <a:buSzPct val="100000"/>
                        <a:buFont typeface="Times" charset="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4pPr>
                      <a:lvl5pPr indent="-76200" defTabSz="7620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5pPr>
                      <a:lvl6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6pPr>
                      <a:lvl7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7pPr>
                      <a:lvl8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8pPr>
                      <a:lvl9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r>
                        <a:rPr kumimoji="0" lang="en-GB" altLang="x-non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Change control, incremental development 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24">
                <a:tc>
                  <a:txBody>
                    <a:bodyPr/>
                    <a:lstStyle>
                      <a:lvl1pPr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1pPr>
                      <a:lvl2pPr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2pPr>
                      <a:lvl3pPr defTabSz="762000">
                        <a:spcBef>
                          <a:spcPct val="20000"/>
                        </a:spcBef>
                        <a:buSzPct val="100000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3pPr>
                      <a:lvl4pPr indent="-38100" defTabSz="762000">
                        <a:spcBef>
                          <a:spcPct val="20000"/>
                        </a:spcBef>
                        <a:buSzPct val="100000"/>
                        <a:buFont typeface="Times" charset="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4pPr>
                      <a:lvl5pPr indent="-76200" defTabSz="7620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5pPr>
                      <a:lvl6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6pPr>
                      <a:lvl7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7pPr>
                      <a:lvl8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8pPr>
                      <a:lvl9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r>
                        <a:rPr kumimoji="0" lang="en-GB" altLang="x-non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Shortfalls in externally supplied components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1pPr>
                      <a:lvl2pPr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2pPr>
                      <a:lvl3pPr defTabSz="762000">
                        <a:spcBef>
                          <a:spcPct val="20000"/>
                        </a:spcBef>
                        <a:buSzPct val="100000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3pPr>
                      <a:lvl4pPr indent="-38100" defTabSz="762000">
                        <a:spcBef>
                          <a:spcPct val="20000"/>
                        </a:spcBef>
                        <a:buSzPct val="100000"/>
                        <a:buFont typeface="Times" charset="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4pPr>
                      <a:lvl5pPr indent="-76200" defTabSz="7620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5pPr>
                      <a:lvl6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6pPr>
                      <a:lvl7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7pPr>
                      <a:lvl8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8pPr>
                      <a:lvl9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r>
                        <a:rPr kumimoji="0" lang="en-GB" altLang="x-none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Benchmarking, inspections, formal specifications, contractual agreements, quality controls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26">
                <a:tc>
                  <a:txBody>
                    <a:bodyPr/>
                    <a:lstStyle>
                      <a:lvl1pPr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1pPr>
                      <a:lvl2pPr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2pPr>
                      <a:lvl3pPr defTabSz="762000">
                        <a:spcBef>
                          <a:spcPct val="20000"/>
                        </a:spcBef>
                        <a:buSzPct val="100000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3pPr>
                      <a:lvl4pPr indent="-38100" defTabSz="762000">
                        <a:spcBef>
                          <a:spcPct val="20000"/>
                        </a:spcBef>
                        <a:buSzPct val="100000"/>
                        <a:buFont typeface="Times" charset="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4pPr>
                      <a:lvl5pPr indent="-76200" defTabSz="7620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5pPr>
                      <a:lvl6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6pPr>
                      <a:lvl7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7pPr>
                      <a:lvl8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8pPr>
                      <a:lvl9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r>
                        <a:rPr kumimoji="0" lang="en-GB" altLang="x-non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Shortfalls in externally performed tasks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1pPr>
                      <a:lvl2pPr defTabSz="7620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Monotype Sorts" charset="2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2pPr>
                      <a:lvl3pPr defTabSz="762000">
                        <a:spcBef>
                          <a:spcPct val="20000"/>
                        </a:spcBef>
                        <a:buSzPct val="100000"/>
                        <a:defRPr sz="2000">
                          <a:solidFill>
                            <a:srgbClr val="FFFFB3"/>
                          </a:solidFill>
                          <a:latin typeface="Arial" charset="0"/>
                        </a:defRPr>
                      </a:lvl3pPr>
                      <a:lvl4pPr indent="-38100" defTabSz="762000">
                        <a:spcBef>
                          <a:spcPct val="20000"/>
                        </a:spcBef>
                        <a:buSzPct val="100000"/>
                        <a:buFont typeface="Times" charset="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4pPr>
                      <a:lvl5pPr indent="-76200" defTabSz="7620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5pPr>
                      <a:lvl6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6pPr>
                      <a:lvl7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7pPr>
                      <a:lvl8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8pPr>
                      <a:lvl9pPr indent="-762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rgbClr val="000000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r>
                        <a:rPr kumimoji="0" lang="en-GB" altLang="x-non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Quality assurance procedures, competitive design etc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26">
                <a:tc>
                  <a:txBody>
                    <a:bodyPr/>
                    <a:lstStyle/>
                    <a:p>
                      <a:pPr marL="0" marR="0" lvl="0" indent="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endParaRPr kumimoji="0" lang="en-GB" altLang="x-none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20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Monotype Sorts" charset="2"/>
                        <a:buNone/>
                        <a:tabLst/>
                      </a:pPr>
                      <a:endParaRPr kumimoji="0" lang="en-GB" altLang="x-none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01123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9472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1D63A-8D23-0B4E-AFBF-F254B34B8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52755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Risk Planning &amp; Control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031A54-84D3-8948-83F5-C5F699C39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AC2981-2AD2-F242-9CF1-694EB58F6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CE164-8857-FD40-AD3D-45F3A691825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CB4A0C8-F598-C043-8368-29164F7615A9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1041026"/>
            <a:ext cx="10683240" cy="441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GB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planning for risk includes these steps:</a:t>
            </a:r>
          </a:p>
          <a:p>
            <a:r>
              <a:rPr lang="en-GB" altLang="en-US" sz="3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identification </a:t>
            </a:r>
            <a:r>
              <a:rPr lang="en-GB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what risks might there be?</a:t>
            </a:r>
          </a:p>
          <a:p>
            <a:r>
              <a:rPr lang="en-GB" altLang="en-US" sz="3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Assessment </a:t>
            </a:r>
            <a:r>
              <a:rPr lang="en-GB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which are the most serious risks?</a:t>
            </a:r>
          </a:p>
          <a:p>
            <a:r>
              <a:rPr lang="en-GB" altLang="en-US" sz="3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planning </a:t>
            </a:r>
            <a:r>
              <a:rPr lang="en-GB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what are we going to do about them?</a:t>
            </a:r>
          </a:p>
          <a:p>
            <a:r>
              <a:rPr lang="en-GB" altLang="en-US" sz="3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monitoring </a:t>
            </a:r>
            <a:r>
              <a:rPr lang="en-GB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what is the current state of the risk?</a:t>
            </a:r>
          </a:p>
        </p:txBody>
      </p:sp>
    </p:spTree>
    <p:extLst>
      <p:ext uri="{BB962C8B-B14F-4D97-AF65-F5344CB8AC3E}">
        <p14:creationId xmlns:p14="http://schemas.microsoft.com/office/powerpoint/2010/main" val="1115830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1D63A-8D23-0B4E-AFBF-F254B34B8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52755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Risk assessment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031A54-84D3-8948-83F5-C5F699C39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AC2981-2AD2-F242-9CF1-694EB58F6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CE164-8857-FD40-AD3D-45F3A691825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5845E08-08F4-4B4E-8074-EB6E917FD3B5}"/>
              </a:ext>
            </a:extLst>
          </p:cNvPr>
          <p:cNvSpPr txBox="1">
            <a:spLocks noChangeArrowheads="1"/>
          </p:cNvSpPr>
          <p:nvPr/>
        </p:nvSpPr>
        <p:spPr>
          <a:xfrm>
            <a:off x="960632" y="1183834"/>
            <a:ext cx="9821917" cy="24207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GB" altLang="en-US" sz="2000" dirty="0"/>
              <a:t>Risk exposure (RE)</a:t>
            </a:r>
          </a:p>
          <a:p>
            <a:pPr>
              <a:buFont typeface="Monotype Sorts" pitchFamily="2" charset="2"/>
              <a:buNone/>
            </a:pPr>
            <a:r>
              <a:rPr lang="en-GB" altLang="en-US" sz="2000" dirty="0"/>
              <a:t> = (potential damage) x (probability of occurrence)</a:t>
            </a:r>
          </a:p>
          <a:p>
            <a:pPr>
              <a:buFont typeface="Monotype Sorts" pitchFamily="2" charset="2"/>
              <a:buNone/>
            </a:pPr>
            <a:r>
              <a:rPr lang="en-GB" altLang="en-US" sz="2000" i="1" dirty="0"/>
              <a:t>Ideally</a:t>
            </a:r>
          </a:p>
          <a:p>
            <a:pPr>
              <a:buFont typeface="Monotype Sorts" pitchFamily="2" charset="2"/>
              <a:buNone/>
            </a:pPr>
            <a:r>
              <a:rPr lang="en-GB" altLang="en-US" sz="2000" b="1" dirty="0"/>
              <a:t>Potential damage</a:t>
            </a:r>
            <a:r>
              <a:rPr lang="en-GB" altLang="en-US" sz="2000" dirty="0"/>
              <a:t>: (PD) a money value  </a:t>
            </a:r>
          </a:p>
          <a:p>
            <a:pPr>
              <a:buFont typeface="Monotype Sorts" pitchFamily="2" charset="2"/>
              <a:buNone/>
            </a:pPr>
            <a:r>
              <a:rPr lang="en-GB" altLang="en-US" sz="2000" b="1" dirty="0"/>
              <a:t>Probability</a:t>
            </a:r>
            <a:r>
              <a:rPr lang="en-GB" altLang="en-US" sz="2000" dirty="0"/>
              <a:t> (P) 0.00 (absolutely no chance) to 1.00 (absolutely certain) </a:t>
            </a:r>
          </a:p>
          <a:p>
            <a:pPr>
              <a:buFont typeface="Monotype Sorts" pitchFamily="2" charset="2"/>
              <a:buNone/>
            </a:pPr>
            <a:r>
              <a:rPr lang="en-GB" altLang="en-US" sz="2000" dirty="0"/>
              <a:t>	RE = PD x P </a:t>
            </a:r>
          </a:p>
          <a:p>
            <a:pPr>
              <a:buFont typeface="Monotype Sorts" pitchFamily="2" charset="2"/>
              <a:buNone/>
            </a:pPr>
            <a:endParaRPr lang="en-GB" altLang="en-US" sz="2000" dirty="0"/>
          </a:p>
          <a:p>
            <a:pPr>
              <a:buFont typeface="Monotype Sorts" pitchFamily="2" charset="2"/>
              <a:buNone/>
            </a:pPr>
            <a:endParaRPr lang="en-GB" altLang="en-US" sz="2000" dirty="0"/>
          </a:p>
          <a:p>
            <a:pPr>
              <a:buFont typeface="Monotype Sorts" pitchFamily="2" charset="2"/>
              <a:buNone/>
            </a:pPr>
            <a:endParaRPr lang="en-GB" alt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1533488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1D63A-8D23-0B4E-AFBF-F254B34B8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52755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Risk Analysis &amp; Prioritization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031A54-84D3-8948-83F5-C5F699C39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AC2981-2AD2-F242-9CF1-694EB58F6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CE164-8857-FD40-AD3D-45F3A691825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A03B4D6-9AC5-7C49-A8ED-9E1D38AC8007}"/>
              </a:ext>
            </a:extLst>
          </p:cNvPr>
          <p:cNvSpPr txBox="1">
            <a:spLocks noChangeArrowheads="1"/>
          </p:cNvSpPr>
          <p:nvPr/>
        </p:nvSpPr>
        <p:spPr>
          <a:xfrm>
            <a:off x="457199" y="1268413"/>
            <a:ext cx="10690261" cy="3365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sz="2000" dirty="0"/>
              <a:t>Reduce the risk exposure by reducing the likelihood or impact</a:t>
            </a:r>
          </a:p>
          <a:p>
            <a:r>
              <a:rPr lang="en-GB" altLang="en-US" sz="2000" dirty="0"/>
              <a:t>Drawing up contingency plans to deal with the risk should it occur</a:t>
            </a:r>
          </a:p>
          <a:p>
            <a:r>
              <a:rPr lang="en-GB" altLang="en-US" sz="2000" dirty="0"/>
              <a:t>Confidence of the risk assessment</a:t>
            </a:r>
          </a:p>
          <a:p>
            <a:r>
              <a:rPr lang="en-GB" altLang="en-US" sz="2000" dirty="0"/>
              <a:t>Compound risk </a:t>
            </a:r>
          </a:p>
          <a:p>
            <a:r>
              <a:rPr lang="en-GB" altLang="en-US" sz="2000" dirty="0"/>
              <a:t>The number of risks </a:t>
            </a:r>
          </a:p>
          <a:p>
            <a:r>
              <a:rPr lang="en-GB" altLang="en-US" sz="2000" dirty="0"/>
              <a:t>Cost of action</a:t>
            </a:r>
          </a:p>
          <a:p>
            <a:r>
              <a:rPr lang="en-GB" altLang="en-US" sz="2000" dirty="0"/>
              <a:t>Risk Reduction Leverage (RRL)= (</a:t>
            </a:r>
            <a:r>
              <a:rPr lang="en-GB" altLang="en-US" sz="2000" dirty="0" err="1"/>
              <a:t>RE</a:t>
            </a:r>
            <a:r>
              <a:rPr lang="en-GB" altLang="en-US" sz="2000" baseline="-25000" dirty="0" err="1"/>
              <a:t>before</a:t>
            </a:r>
            <a:r>
              <a:rPr lang="en-GB" altLang="en-US" sz="2000" dirty="0"/>
              <a:t>- </a:t>
            </a:r>
            <a:r>
              <a:rPr lang="en-GB" altLang="en-US" sz="2000" dirty="0" err="1"/>
              <a:t>RE</a:t>
            </a:r>
            <a:r>
              <a:rPr lang="en-GB" altLang="en-US" sz="2000" baseline="-25000" dirty="0" err="1"/>
              <a:t>afte</a:t>
            </a:r>
            <a:r>
              <a:rPr lang="en-GB" altLang="en-US" sz="2000" dirty="0" err="1"/>
              <a:t>r</a:t>
            </a:r>
            <a:r>
              <a:rPr lang="en-GB" altLang="en-US" sz="2000" dirty="0"/>
              <a:t>)/ risk reduction cost</a:t>
            </a:r>
          </a:p>
          <a:p>
            <a:r>
              <a:rPr lang="en-GB" altLang="en-US" sz="2000" dirty="0"/>
              <a:t>If RRL &gt; 1. gain from implementing the risk reduction plan </a:t>
            </a:r>
          </a:p>
          <a:p>
            <a:endParaRPr lang="en-GB" altLang="en-US" sz="2000" dirty="0"/>
          </a:p>
          <a:p>
            <a:pPr>
              <a:buFont typeface="Monotype Sorts" pitchFamily="2" charset="2"/>
              <a:buNone/>
            </a:pPr>
            <a:endParaRPr lang="en-GB" altLang="en-US" sz="2000" dirty="0"/>
          </a:p>
          <a:p>
            <a:pPr>
              <a:buFont typeface="Monotype Sorts" pitchFamily="2" charset="2"/>
              <a:buNone/>
            </a:pPr>
            <a:endParaRPr lang="en-GB" alt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2900780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1D63A-8D23-0B4E-AFBF-F254B34B8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52755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Dealing with Risks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031A54-84D3-8948-83F5-C5F699C39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Module 4.5  Risk Management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AC2981-2AD2-F242-9CF1-694EB58F6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CE164-8857-FD40-AD3D-45F3A691825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57515C26-2FD1-0841-84D7-9FDAA94B0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7755"/>
            <a:ext cx="10515600" cy="4351338"/>
          </a:xfrm>
        </p:spPr>
        <p:txBody>
          <a:bodyPr>
            <a:normAutofit fontScale="77500" lnSpcReduction="20000"/>
          </a:bodyPr>
          <a:lstStyle/>
          <a:p>
            <a:r>
              <a:rPr lang="en-GB" altLang="en-US" b="1" dirty="0">
                <a:solidFill>
                  <a:srgbClr val="0070C0"/>
                </a:solidFill>
              </a:rPr>
              <a:t>Generic Risks: </a:t>
            </a:r>
          </a:p>
          <a:p>
            <a:r>
              <a:rPr lang="en-GB" altLang="en-US" b="1" dirty="0">
                <a:solidFill>
                  <a:srgbClr val="0070C0"/>
                </a:solidFill>
              </a:rPr>
              <a:t>Application factor: </a:t>
            </a:r>
            <a:r>
              <a:rPr lang="en-GB" altLang="en-US" dirty="0"/>
              <a:t>nature of the application</a:t>
            </a:r>
          </a:p>
          <a:p>
            <a:r>
              <a:rPr lang="en-GB" altLang="en-US" b="1" dirty="0">
                <a:solidFill>
                  <a:srgbClr val="0070C0"/>
                </a:solidFill>
              </a:rPr>
              <a:t>Staffing Factor: </a:t>
            </a:r>
          </a:p>
          <a:p>
            <a:pPr marL="539750" indent="-539750">
              <a:buNone/>
            </a:pPr>
            <a:r>
              <a:rPr lang="en-GB" altLang="en-US" dirty="0"/>
              <a:t>	staff satisfaction</a:t>
            </a:r>
          </a:p>
          <a:p>
            <a:pPr marL="539750" indent="-539750">
              <a:buNone/>
            </a:pPr>
            <a:r>
              <a:rPr lang="en-GB" altLang="en-US" dirty="0"/>
              <a:t>	Staff turn-over rate</a:t>
            </a:r>
          </a:p>
          <a:p>
            <a:r>
              <a:rPr lang="en-GB" altLang="en-US" b="1" dirty="0">
                <a:solidFill>
                  <a:srgbClr val="0070C0"/>
                </a:solidFill>
              </a:rPr>
              <a:t>Project factor:</a:t>
            </a:r>
          </a:p>
          <a:p>
            <a:pPr marL="539750" lvl="1" indent="0">
              <a:spcBef>
                <a:spcPts val="1000"/>
              </a:spcBef>
              <a:buNone/>
            </a:pPr>
            <a:r>
              <a:rPr lang="en-GB" altLang="en-US" sz="2800" dirty="0"/>
              <a:t>Project objectives are clear &amp; know to ALL stakeholders </a:t>
            </a:r>
          </a:p>
          <a:p>
            <a:pPr marL="539750" lvl="1" indent="0">
              <a:spcBef>
                <a:spcPts val="1000"/>
              </a:spcBef>
              <a:buNone/>
            </a:pPr>
            <a:r>
              <a:rPr lang="en-GB" altLang="en-US" sz="2800" dirty="0"/>
              <a:t>Agreed and formal quality plan must be prepared  </a:t>
            </a:r>
          </a:p>
          <a:p>
            <a:pPr>
              <a:buFont typeface="Monotype Sorts" pitchFamily="2" charset="2"/>
              <a:buNone/>
            </a:pPr>
            <a:r>
              <a:rPr lang="en-GB" altLang="en-US" b="1" dirty="0">
                <a:solidFill>
                  <a:srgbClr val="0070C0"/>
                </a:solidFill>
              </a:rPr>
              <a:t>Project Method:</a:t>
            </a:r>
          </a:p>
          <a:p>
            <a:pPr lvl="1">
              <a:buFont typeface="Monotype Sorts" pitchFamily="2" charset="2"/>
              <a:buNone/>
            </a:pPr>
            <a:r>
              <a:rPr lang="en-GB" altLang="en-US" dirty="0"/>
              <a:t>Specified &amp; structured methods will reduce risk</a:t>
            </a:r>
          </a:p>
          <a:p>
            <a:pPr>
              <a:buFont typeface="Monotype Sorts" pitchFamily="2" charset="2"/>
              <a:buNone/>
            </a:pPr>
            <a:r>
              <a:rPr lang="en-GB" altLang="en-US" dirty="0"/>
              <a:t>Hardware &amp; Software factors:</a:t>
            </a:r>
          </a:p>
          <a:p>
            <a:pPr>
              <a:buFont typeface="Monotype Sorts" pitchFamily="2" charset="2"/>
              <a:buNone/>
            </a:pPr>
            <a:r>
              <a:rPr lang="en-GB" altLang="en-US" dirty="0"/>
              <a:t>	New hardware/ software will increase risk</a:t>
            </a:r>
          </a:p>
        </p:txBody>
      </p:sp>
    </p:spTree>
    <p:extLst>
      <p:ext uri="{BB962C8B-B14F-4D97-AF65-F5344CB8AC3E}">
        <p14:creationId xmlns:p14="http://schemas.microsoft.com/office/powerpoint/2010/main" val="2198446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15436</TotalTime>
  <Words>739</Words>
  <Application>Microsoft Office PowerPoint</Application>
  <PresentationFormat>Widescreen</PresentationFormat>
  <Paragraphs>125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Monotype Sorts</vt:lpstr>
      <vt:lpstr>Times</vt:lpstr>
      <vt:lpstr>Times New Roman</vt:lpstr>
      <vt:lpstr>Office Theme</vt:lpstr>
      <vt:lpstr>Software Engineering  2UCCE501</vt:lpstr>
      <vt:lpstr>Module 4  System Implementation, Configuration Management  &amp; Risk Management </vt:lpstr>
      <vt:lpstr>Risk Management </vt:lpstr>
      <vt:lpstr>Sources of Risks </vt:lpstr>
      <vt:lpstr>Risk Management </vt:lpstr>
      <vt:lpstr>Boehm’s risk engineering task breakdown</vt:lpstr>
      <vt:lpstr>Boehm’s top 10 development risks &amp; reduction strategies</vt:lpstr>
      <vt:lpstr>Boehm’s top 10 development risks &amp; reduction strategies</vt:lpstr>
      <vt:lpstr>Risk Planning &amp; Control </vt:lpstr>
      <vt:lpstr>Risk assessment</vt:lpstr>
      <vt:lpstr>Risk Analysis &amp; Prioritization </vt:lpstr>
      <vt:lpstr>Dealing with Risks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  2UCCE501</dc:title>
  <dc:creator>uday joshi</dc:creator>
  <cp:lastModifiedBy>Asmi Takle</cp:lastModifiedBy>
  <cp:revision>34</cp:revision>
  <cp:lastPrinted>2020-10-15T10:25:04Z</cp:lastPrinted>
  <dcterms:created xsi:type="dcterms:W3CDTF">2020-10-05T04:41:33Z</dcterms:created>
  <dcterms:modified xsi:type="dcterms:W3CDTF">2023-11-28T09:18:15Z</dcterms:modified>
</cp:coreProperties>
</file>
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2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4" r:id="rId58"/>
    <p:sldId id="315" r:id="rId59"/>
    <p:sldId id="312" r:id="rId60"/>
    <p:sldId id="313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996" y="4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068F3-3E74-4E9E-8D3E-826982129943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678A4-5A6E-4BA9-AE47-8D30E4CFDC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3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678A4-5A6E-4BA9-AE47-8D30E4CFDC4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28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C96A2-1B0C-4DB6-B5DC-A594C82127F5}" type="datetimeFigureOut">
              <a:rPr lang="en-US" smtClean="0"/>
              <a:t>10/25/2023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F24DE-98CE-4D2F-8315-C5BA2E97919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-1" y="1"/>
          <a:ext cx="9144001" cy="6857998"/>
        </p:xfrm>
        <a:graphic>
          <a:graphicData uri="http://schemas.openxmlformats.org/drawingml/2006/table">
            <a:tbl>
              <a:tblPr/>
              <a:tblGrid>
                <a:gridCol w="1487554"/>
                <a:gridCol w="7656447"/>
              </a:tblGrid>
              <a:tr h="1008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>
                          <a:latin typeface="+mn-lt"/>
                          <a:ea typeface="Calibri"/>
                          <a:cs typeface="Times New Roman"/>
                        </a:rPr>
                        <a:t>System Implementation &amp;Configuration Management</a:t>
                      </a:r>
                      <a:endParaRPr lang="en-US" sz="28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53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4.1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Packages and interfaces: Distinguishing between classes/interfaces, Exposing class and package interfaces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8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4.2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Mapping model to code , Mapping Object Model to Database Schema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8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4.3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Component and deployment diagrams: Describing dependencies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8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4.4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+mn-lt"/>
                          <a:ea typeface="Calibri"/>
                          <a:cs typeface="Times New Roman"/>
                        </a:rPr>
                        <a:t>Managing and controlling Changes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8529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4.5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kern="12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Times New Roman"/>
                        </a:rPr>
                        <a:t>Managing and controlling version</a:t>
                      </a:r>
                    </a:p>
                  </a:txBody>
                  <a:tcPr marL="67838" marR="678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Version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Version control </a:t>
            </a:r>
            <a:r>
              <a:rPr lang="en-US" b="1" dirty="0" smtClean="0"/>
              <a:t>combines procedures and tools to manage different versions of configuration objects </a:t>
            </a:r>
            <a:r>
              <a:rPr lang="en-US" dirty="0" smtClean="0"/>
              <a:t>that are created during the software process. 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A version control system implements four major capabilities:</a:t>
            </a:r>
          </a:p>
          <a:p>
            <a:pPr algn="just">
              <a:buNone/>
            </a:pPr>
            <a:endParaRPr lang="en-US" dirty="0" smtClean="0"/>
          </a:p>
          <a:p>
            <a:pPr algn="just">
              <a:buNone/>
            </a:pPr>
            <a:r>
              <a:rPr lang="en-US" dirty="0" smtClean="0"/>
              <a:t>(1) a </a:t>
            </a:r>
            <a:r>
              <a:rPr lang="en-US" b="1" dirty="0" smtClean="0"/>
              <a:t>project database </a:t>
            </a:r>
            <a:r>
              <a:rPr lang="en-US" dirty="0" smtClean="0"/>
              <a:t>that stores all relevant configuration objects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Version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 smtClean="0"/>
              <a:t>(2) a </a:t>
            </a:r>
            <a:r>
              <a:rPr lang="en-US" b="1" dirty="0" smtClean="0"/>
              <a:t>version management capability </a:t>
            </a:r>
            <a:r>
              <a:rPr lang="en-US" dirty="0" smtClean="0"/>
              <a:t>that </a:t>
            </a:r>
            <a:r>
              <a:rPr lang="en-US" b="1" dirty="0" smtClean="0"/>
              <a:t>stores all versions</a:t>
            </a:r>
            <a:r>
              <a:rPr lang="en-US" dirty="0" smtClean="0"/>
              <a:t> of a configuration object.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 smtClean="0"/>
              <a:t>(3) a make facility that enables </a:t>
            </a:r>
            <a:r>
              <a:rPr lang="en-US" b="1" dirty="0" smtClean="0"/>
              <a:t>construct a specific version of the software.  </a:t>
            </a:r>
          </a:p>
          <a:p>
            <a:pPr algn="just">
              <a:buNone/>
            </a:pPr>
            <a:endParaRPr lang="en-US" b="1" dirty="0"/>
          </a:p>
          <a:p>
            <a:pPr algn="just">
              <a:buNone/>
            </a:pPr>
            <a:r>
              <a:rPr lang="en-US" dirty="0" smtClean="0"/>
              <a:t>(4) version control and change control systems often implement an </a:t>
            </a:r>
            <a:r>
              <a:rPr lang="en-US" b="1" dirty="0" smtClean="0"/>
              <a:t>issues tracking (also called bug tracking) </a:t>
            </a:r>
            <a:r>
              <a:rPr lang="en-US" dirty="0" smtClean="0"/>
              <a:t>capability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Version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334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A number of version control systems </a:t>
            </a:r>
            <a:r>
              <a:rPr lang="en-US" b="1" dirty="0" smtClean="0"/>
              <a:t>establish a change set</a:t>
            </a:r>
            <a:r>
              <a:rPr lang="en-US" dirty="0" smtClean="0"/>
              <a:t>—a collection of all changes that are required to create a specific version of the software.</a:t>
            </a:r>
          </a:p>
          <a:p>
            <a:pPr algn="just"/>
            <a:endParaRPr lang="en-US" dirty="0"/>
          </a:p>
          <a:p>
            <a:pPr algn="just"/>
            <a:r>
              <a:rPr lang="en-US" b="1" dirty="0" smtClean="0"/>
              <a:t>named change sets can be identified </a:t>
            </a:r>
            <a:r>
              <a:rPr lang="en-US" dirty="0" smtClean="0"/>
              <a:t>for an application or system.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construct a version of the software by specifying the change sets </a:t>
            </a:r>
            <a:r>
              <a:rPr lang="en-US" b="1" dirty="0" smtClean="0"/>
              <a:t>(by name) </a:t>
            </a: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Version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Modeling approach for building new versions contains:</a:t>
            </a:r>
          </a:p>
          <a:p>
            <a:pPr marL="514350" indent="-514350">
              <a:buAutoNum type="arabicPeriod"/>
            </a:pPr>
            <a:r>
              <a:rPr lang="en-US" dirty="0" smtClean="0"/>
              <a:t>Template for building version</a:t>
            </a:r>
          </a:p>
          <a:p>
            <a:pPr marL="514350" indent="-514350">
              <a:buAutoNum type="arabicPeriod"/>
            </a:pPr>
            <a:r>
              <a:rPr lang="en-US" dirty="0" smtClean="0"/>
              <a:t>Construction rules</a:t>
            </a:r>
          </a:p>
          <a:p>
            <a:pPr marL="514350" indent="-514350">
              <a:buAutoNum type="arabicPeriod"/>
            </a:pPr>
            <a:r>
              <a:rPr lang="en-US" dirty="0" smtClean="0"/>
              <a:t>Verification rules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Too much change control and we create problems. 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large software project, uncontrolled change rapidly leads to chaos.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For </a:t>
            </a:r>
            <a:r>
              <a:rPr lang="en-US" b="1" dirty="0" smtClean="0"/>
              <a:t>large projects </a:t>
            </a:r>
            <a:r>
              <a:rPr lang="en-US" dirty="0" smtClean="0"/>
              <a:t>change control combines </a:t>
            </a:r>
            <a:r>
              <a:rPr lang="en-US" b="1" dirty="0" smtClean="0"/>
              <a:t>human procedures and automated tools </a:t>
            </a:r>
            <a:r>
              <a:rPr lang="en-US" dirty="0" smtClean="0"/>
              <a:t>to provide a mechanism for the control of change.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algn="just"/>
            <a:r>
              <a:rPr lang="en-US" dirty="0" smtClean="0"/>
              <a:t>engineering change order (ECO).</a:t>
            </a:r>
          </a:p>
          <a:p>
            <a:pPr algn="just"/>
            <a:endParaRPr lang="en-US" dirty="0"/>
          </a:p>
          <a:p>
            <a:pPr algn="just"/>
            <a:r>
              <a:rPr lang="en-US" b="1" dirty="0" smtClean="0"/>
              <a:t>elements of change management:</a:t>
            </a:r>
          </a:p>
          <a:p>
            <a:pPr algn="just"/>
            <a:endParaRPr lang="en-US" b="1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A</a:t>
            </a:r>
            <a:r>
              <a:rPr lang="en-US" b="1" dirty="0" smtClean="0"/>
              <a:t>ccess </a:t>
            </a:r>
            <a:r>
              <a:rPr lang="en-US" b="1" dirty="0"/>
              <a:t>C</a:t>
            </a:r>
            <a:r>
              <a:rPr lang="en-US" b="1" dirty="0" smtClean="0"/>
              <a:t>ontrol </a:t>
            </a:r>
          </a:p>
          <a:p>
            <a:pPr marL="514350" indent="-514350" algn="just"/>
            <a:r>
              <a:rPr lang="en-US" dirty="0" smtClean="0"/>
              <a:t>Access control governs which software engineers have the authority to access and modify a particular configuration object.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2. Synchronization Control.</a:t>
            </a:r>
          </a:p>
          <a:p>
            <a:pPr algn="just"/>
            <a:r>
              <a:rPr lang="en-US" dirty="0" smtClean="0"/>
              <a:t>Synchronization control helps to ensure that parallel changes, performed by two different people, don’t overwrite one another.</a:t>
            </a:r>
          </a:p>
          <a:p>
            <a:pPr algn="just"/>
            <a:endParaRPr lang="en-US" dirty="0"/>
          </a:p>
          <a:p>
            <a:pPr algn="just"/>
            <a:r>
              <a:rPr lang="en-US" b="1" dirty="0" smtClean="0">
                <a:solidFill>
                  <a:srgbClr val="FF0000"/>
                </a:solidFill>
              </a:rPr>
              <a:t>Informal Change Control</a:t>
            </a:r>
          </a:p>
          <a:p>
            <a:r>
              <a:rPr lang="en-US" dirty="0" smtClean="0"/>
              <a:t>Developer makes changes in project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project level change control</a:t>
            </a:r>
          </a:p>
          <a:p>
            <a:r>
              <a:rPr lang="en-US" dirty="0" smtClean="0"/>
              <a:t>developer must gain approval from the project manager to makes changes.</a:t>
            </a:r>
          </a:p>
          <a:p>
            <a:endParaRPr lang="en-US" dirty="0"/>
          </a:p>
          <a:p>
            <a:r>
              <a:rPr lang="en-US" b="1" dirty="0" smtClean="0">
                <a:solidFill>
                  <a:srgbClr val="FF0000"/>
                </a:solidFill>
              </a:rPr>
              <a:t>formal change control </a:t>
            </a:r>
          </a:p>
          <a:p>
            <a:pPr algn="just"/>
            <a:r>
              <a:rPr lang="en-US" dirty="0" smtClean="0"/>
              <a:t>is instituted </a:t>
            </a:r>
            <a:r>
              <a:rPr lang="en-US" dirty="0"/>
              <a:t>w</a:t>
            </a:r>
            <a:r>
              <a:rPr lang="en-US" dirty="0" smtClean="0"/>
              <a:t>hen the software product is released to customers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"/>
            <a:ext cx="7924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Component diagram </a:t>
            </a:r>
            <a:r>
              <a:rPr lang="en-US" i="1" dirty="0"/>
              <a:t>shows components</a:t>
            </a:r>
            <a:r>
              <a:rPr lang="en-US" dirty="0"/>
              <a:t>, provided and required interfaces, ports, and </a:t>
            </a:r>
            <a:r>
              <a:rPr lang="en-US" b="1" dirty="0"/>
              <a:t>relationships between them</a:t>
            </a:r>
            <a:r>
              <a:rPr lang="en-US" b="1" dirty="0" smtClean="0"/>
              <a:t>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It does not describe the functionality of the system but it </a:t>
            </a:r>
            <a:r>
              <a:rPr lang="en-US" b="1" dirty="0"/>
              <a:t>describes the components used to make those functionalities</a:t>
            </a:r>
            <a:r>
              <a:rPr lang="en-US" b="1" dirty="0" smtClean="0"/>
              <a:t>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Component diagrams can also be described as a static implementation view of a system. 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3355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component diagram's main purpose is to show the structural relationships between the components of a system.</a:t>
            </a:r>
          </a:p>
        </p:txBody>
      </p:sp>
    </p:spTree>
    <p:extLst>
      <p:ext uri="{BB962C8B-B14F-4D97-AF65-F5344CB8AC3E}">
        <p14:creationId xmlns:p14="http://schemas.microsoft.com/office/powerpoint/2010/main" val="313383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85344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71930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8610599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826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392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782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63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759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assembly connector bridges  </a:t>
            </a:r>
            <a:r>
              <a:rPr lang="en-US" dirty="0" smtClean="0"/>
              <a:t>component’s </a:t>
            </a:r>
            <a:r>
              <a:rPr lang="en-US" dirty="0"/>
              <a:t>required interface (Component1) with the provided interface of another component (Component2); this allows one component to provide the services that another component requires.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419600"/>
            <a:ext cx="50292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6866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7482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162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Port</a:t>
            </a:r>
          </a:p>
          <a:p>
            <a:pPr algn="just"/>
            <a:r>
              <a:rPr lang="en-US" dirty="0"/>
              <a:t>Ports are represented using a square along the edge of the system or a component. A port is often used to help expose required and provided interfaces of a component.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178" y="4343400"/>
            <a:ext cx="41148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9428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/>
              <a:t> This component's inner structure is composed of other components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0"/>
            <a:ext cx="80772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3234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800" b="1" dirty="0" smtClean="0"/>
              <a:t>Online Shopping </a:t>
            </a:r>
            <a:r>
              <a:rPr lang="en-US" sz="4800" b="1" i="1" dirty="0" smtClean="0"/>
              <a:t>UML </a:t>
            </a:r>
            <a:r>
              <a:rPr lang="en-US" sz="4800" b="1" i="1" dirty="0"/>
              <a:t>Component Diagram </a:t>
            </a:r>
            <a:r>
              <a:rPr lang="en-US" sz="4800" b="1" i="1" dirty="0" smtClean="0"/>
              <a:t>Example</a:t>
            </a:r>
          </a:p>
          <a:p>
            <a:endParaRPr lang="en-US" sz="4800" b="1" i="1" dirty="0"/>
          </a:p>
          <a:p>
            <a:pPr algn="just"/>
            <a:r>
              <a:rPr lang="en-US" sz="4800" dirty="0"/>
              <a:t>Online shopping UML component diagram example with three related subsystems - </a:t>
            </a:r>
            <a:r>
              <a:rPr lang="en-US" sz="4800" b="1" dirty="0" err="1"/>
              <a:t>WebStore</a:t>
            </a:r>
            <a:r>
              <a:rPr lang="en-US" sz="4800" b="1" dirty="0"/>
              <a:t>, Warehouses, and Accounting.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5806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nline shopping UML component diagram example with three related subsystems - WebStore, Warehouses, and Accounting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07763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Deployment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A deployment diagram is used to show the allocation of artifacts to nodes in the physical design of a system.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Deployment Diagrams are made up of a graph of nodes connected by communication associations to show the physical configuration of the software and hardware.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500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054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Essential elements of deployment diagram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Artifacts</a:t>
            </a:r>
          </a:p>
          <a:p>
            <a:pPr algn="just"/>
            <a:r>
              <a:rPr lang="en-US" dirty="0"/>
              <a:t>Artifact is a physical item that implements a portion of software design.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can be an source file , document or another item related to code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Notation of artifact consists of class rectangle name of artifact and label </a:t>
            </a:r>
            <a:r>
              <a:rPr lang="en-US" b="1" dirty="0" smtClean="0"/>
              <a:t>&lt;&lt;artifact&gt;&gt;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851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2. </a:t>
            </a:r>
            <a:r>
              <a:rPr lang="en-US" b="1" dirty="0" smtClean="0"/>
              <a:t>Nodes</a:t>
            </a:r>
          </a:p>
          <a:p>
            <a:pPr algn="just"/>
            <a:r>
              <a:rPr lang="en-US" dirty="0" smtClean="0"/>
              <a:t>A node is computational resource containing memory and processing on which artifacts are deployed for execution.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Notation of node three dimensional cube.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Nodes denote hardware, not software entities.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 smtClean="0"/>
              <a:t>Connections</a:t>
            </a:r>
          </a:p>
          <a:p>
            <a:r>
              <a:rPr lang="en-US" dirty="0"/>
              <a:t>Nodes communicate via messages and signals , through communication path indicated by solid line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algn="just"/>
            <a:r>
              <a:rPr lang="en-US" dirty="0"/>
              <a:t>Communication paths are usually considered to be bidirectional</a:t>
            </a:r>
            <a:r>
              <a:rPr lang="en-US" dirty="0" smtClean="0"/>
              <a:t>, for unidirectional</a:t>
            </a:r>
            <a:r>
              <a:rPr lang="en-US" dirty="0"/>
              <a:t>, an arrow may be </a:t>
            </a:r>
            <a:r>
              <a:rPr lang="en-US" dirty="0" smtClean="0"/>
              <a:t>added </a:t>
            </a:r>
            <a:r>
              <a:rPr lang="en-US" dirty="0"/>
              <a:t>to show the </a:t>
            </a:r>
            <a:r>
              <a:rPr lang="en-US" dirty="0" smtClean="0"/>
              <a:t>direction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communication path may include an optional keyword label, such as «http» or «TCP/IP», that provides information about the </a:t>
            </a:r>
            <a:r>
              <a:rPr lang="en-US" dirty="0" smtClean="0"/>
              <a:t>connection.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multiplicity for each of the nodes connected via a communication path.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966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"/>
            <a:ext cx="8000999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4456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229600" cy="579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6915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04800"/>
            <a:ext cx="6917871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9465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Mapping Models </a:t>
            </a:r>
            <a:r>
              <a:rPr lang="en-US" dirty="0" smtClean="0"/>
              <a:t>to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transformation </a:t>
            </a:r>
            <a:r>
              <a:rPr lang="en-US" dirty="0"/>
              <a:t>aims at improving one aspect of the model (e.g., its modularity) </a:t>
            </a:r>
            <a:r>
              <a:rPr lang="en-US" dirty="0" smtClean="0"/>
              <a:t>while preserving </a:t>
            </a:r>
            <a:r>
              <a:rPr lang="en-US" dirty="0"/>
              <a:t>all of its other properties (e.g., its functionality</a:t>
            </a:r>
            <a:r>
              <a:rPr lang="en-US" dirty="0" smtClean="0"/>
              <a:t>).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Transformation Activities:</a:t>
            </a:r>
          </a:p>
          <a:p>
            <a:pPr marL="514350" indent="-514350" algn="just">
              <a:buAutoNum type="arabicPeriod"/>
            </a:pPr>
            <a:r>
              <a:rPr lang="en-US" i="1" dirty="0" smtClean="0">
                <a:solidFill>
                  <a:srgbClr val="FF0000"/>
                </a:solidFill>
              </a:rPr>
              <a:t>Optimization</a:t>
            </a:r>
          </a:p>
          <a:p>
            <a:pPr algn="just"/>
            <a:r>
              <a:rPr lang="en-US" dirty="0"/>
              <a:t>This activity addresses the performance requirements </a:t>
            </a:r>
            <a:r>
              <a:rPr lang="en-US" dirty="0" smtClean="0"/>
              <a:t>of the </a:t>
            </a:r>
            <a:r>
              <a:rPr lang="en-US" dirty="0"/>
              <a:t>system model.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1752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Examples</a:t>
            </a:r>
          </a:p>
          <a:p>
            <a:r>
              <a:rPr lang="en-US" dirty="0" smtClean="0"/>
              <a:t>Reducing multiplicities </a:t>
            </a:r>
          </a:p>
          <a:p>
            <a:r>
              <a:rPr lang="en-US" dirty="0" smtClean="0"/>
              <a:t>adding </a:t>
            </a:r>
            <a:r>
              <a:rPr lang="en-US" dirty="0"/>
              <a:t>redundant associations for </a:t>
            </a:r>
            <a:r>
              <a:rPr lang="en-US" dirty="0" smtClean="0"/>
              <a:t>efficiency,</a:t>
            </a:r>
          </a:p>
          <a:p>
            <a:r>
              <a:rPr lang="en-US" dirty="0" smtClean="0"/>
              <a:t>adding </a:t>
            </a:r>
            <a:r>
              <a:rPr lang="en-US" dirty="0"/>
              <a:t>derived attributes </a:t>
            </a:r>
            <a:r>
              <a:rPr lang="en-US" dirty="0" smtClean="0"/>
              <a:t>to improve </a:t>
            </a:r>
            <a:r>
              <a:rPr lang="en-US" dirty="0"/>
              <a:t>the access time to objects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rgbClr val="FF0000"/>
                </a:solidFill>
              </a:rPr>
              <a:t>2. </a:t>
            </a:r>
            <a:r>
              <a:rPr lang="en-US" i="1" dirty="0">
                <a:solidFill>
                  <a:srgbClr val="FF0000"/>
                </a:solidFill>
              </a:rPr>
              <a:t>Realizing </a:t>
            </a:r>
            <a:r>
              <a:rPr lang="en-US" i="1" dirty="0" smtClean="0">
                <a:solidFill>
                  <a:srgbClr val="FF0000"/>
                </a:solidFill>
              </a:rPr>
              <a:t>associations</a:t>
            </a:r>
          </a:p>
          <a:p>
            <a:r>
              <a:rPr lang="en-US" dirty="0"/>
              <a:t>map associations </a:t>
            </a:r>
            <a:r>
              <a:rPr lang="en-US" dirty="0" smtClean="0"/>
              <a:t>to source </a:t>
            </a:r>
            <a:r>
              <a:rPr lang="en-US" dirty="0"/>
              <a:t>code constructs, </a:t>
            </a:r>
            <a:endParaRPr lang="en-US" dirty="0" smtClean="0"/>
          </a:p>
          <a:p>
            <a:r>
              <a:rPr lang="en-US" b="1" dirty="0" smtClean="0"/>
              <a:t>Example</a:t>
            </a:r>
          </a:p>
          <a:p>
            <a:r>
              <a:rPr lang="en-US" dirty="0" smtClean="0"/>
              <a:t>references </a:t>
            </a:r>
            <a:r>
              <a:rPr lang="en-US" dirty="0"/>
              <a:t>and collections of references.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614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i="1" dirty="0" smtClean="0">
                <a:solidFill>
                  <a:srgbClr val="FF0000"/>
                </a:solidFill>
              </a:rPr>
              <a:t>3. Mapping </a:t>
            </a:r>
            <a:r>
              <a:rPr lang="en-US" i="1" dirty="0">
                <a:solidFill>
                  <a:srgbClr val="FF0000"/>
                </a:solidFill>
              </a:rPr>
              <a:t>contracts to exceptions </a:t>
            </a:r>
            <a:endParaRPr lang="en-US" i="1" dirty="0" smtClean="0">
              <a:solidFill>
                <a:srgbClr val="FF0000"/>
              </a:solidFill>
            </a:endParaRPr>
          </a:p>
          <a:p>
            <a:pPr algn="just"/>
            <a:r>
              <a:rPr lang="en-US" dirty="0" smtClean="0"/>
              <a:t>describe the behavior </a:t>
            </a:r>
            <a:r>
              <a:rPr lang="en-US" dirty="0"/>
              <a:t>of operations when contracts are broken.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includes </a:t>
            </a:r>
            <a:r>
              <a:rPr lang="en-US" dirty="0" smtClean="0"/>
              <a:t>raising exceptions</a:t>
            </a:r>
            <a:r>
              <a:rPr lang="en-US" dirty="0"/>
              <a:t> </a:t>
            </a:r>
            <a:r>
              <a:rPr lang="en-US" dirty="0" smtClean="0"/>
              <a:t>when </a:t>
            </a:r>
            <a:r>
              <a:rPr lang="en-US" dirty="0"/>
              <a:t>violations are </a:t>
            </a:r>
            <a:r>
              <a:rPr lang="en-US" dirty="0" smtClean="0"/>
              <a:t>detected.</a:t>
            </a:r>
          </a:p>
          <a:p>
            <a:pPr algn="just"/>
            <a:endParaRPr lang="en-US" dirty="0" smtClean="0"/>
          </a:p>
          <a:p>
            <a:pPr marL="0" indent="0" algn="just">
              <a:buNone/>
            </a:pPr>
            <a:r>
              <a:rPr lang="en-US" i="1" dirty="0" smtClean="0">
                <a:solidFill>
                  <a:srgbClr val="FF0000"/>
                </a:solidFill>
              </a:rPr>
              <a:t>4. </a:t>
            </a:r>
            <a:r>
              <a:rPr lang="en-US" i="1" dirty="0">
                <a:solidFill>
                  <a:srgbClr val="FF0000"/>
                </a:solidFill>
              </a:rPr>
              <a:t>Mapping class models to a storage schema </a:t>
            </a:r>
          </a:p>
          <a:p>
            <a:pPr algn="just"/>
            <a:r>
              <a:rPr lang="en-US" dirty="0" smtClean="0"/>
              <a:t>selected </a:t>
            </a:r>
            <a:r>
              <a:rPr lang="en-US" dirty="0"/>
              <a:t>a persistent storage strategy, such as a </a:t>
            </a:r>
            <a:r>
              <a:rPr lang="en-US" dirty="0" smtClean="0"/>
              <a:t>database management </a:t>
            </a:r>
            <a:r>
              <a:rPr lang="en-US" dirty="0"/>
              <a:t>system, a set </a:t>
            </a:r>
            <a:r>
              <a:rPr lang="en-US" dirty="0" smtClean="0"/>
              <a:t>of flat </a:t>
            </a:r>
            <a:r>
              <a:rPr lang="en-US" dirty="0"/>
              <a:t>files, or a combination of both. 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map </a:t>
            </a:r>
            <a:r>
              <a:rPr lang="en-US" dirty="0"/>
              <a:t>the class model to </a:t>
            </a:r>
            <a:r>
              <a:rPr lang="en-US" dirty="0" smtClean="0"/>
              <a:t>a storage </a:t>
            </a:r>
            <a:r>
              <a:rPr lang="en-US" dirty="0"/>
              <a:t>schema, such as a relational database schema.</a:t>
            </a:r>
          </a:p>
        </p:txBody>
      </p:sp>
    </p:spTree>
    <p:extLst>
      <p:ext uri="{BB962C8B-B14F-4D97-AF65-F5344CB8AC3E}">
        <p14:creationId xmlns:p14="http://schemas.microsoft.com/office/powerpoint/2010/main" val="3263384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F</a:t>
            </a:r>
            <a:r>
              <a:rPr lang="en-US" b="1" dirty="0" smtClean="0"/>
              <a:t>our </a:t>
            </a:r>
            <a:r>
              <a:rPr lang="en-US" b="1" dirty="0"/>
              <a:t>types of </a:t>
            </a:r>
            <a:r>
              <a:rPr lang="en-US" b="1" dirty="0" smtClean="0"/>
              <a:t>transformations:</a:t>
            </a:r>
          </a:p>
          <a:p>
            <a:pPr marL="514350" indent="-514350">
              <a:buAutoNum type="arabicPeriod"/>
            </a:pPr>
            <a:r>
              <a:rPr lang="en-US" b="1" i="1" dirty="0" smtClean="0">
                <a:solidFill>
                  <a:srgbClr val="FF0000"/>
                </a:solidFill>
              </a:rPr>
              <a:t>Model transformations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model transformation </a:t>
            </a:r>
            <a:r>
              <a:rPr lang="en-US" dirty="0"/>
              <a:t>is applied to an object model and results in another object </a:t>
            </a:r>
            <a:r>
              <a:rPr lang="en-US" dirty="0" smtClean="0"/>
              <a:t>model.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purpose of object model transformation is to </a:t>
            </a:r>
            <a:r>
              <a:rPr lang="en-US" dirty="0" smtClean="0"/>
              <a:t>bringing </a:t>
            </a:r>
            <a:r>
              <a:rPr lang="en-US" dirty="0"/>
              <a:t>it into closer compliance with all </a:t>
            </a:r>
            <a:r>
              <a:rPr lang="en-US" dirty="0" smtClean="0"/>
              <a:t>requirements.</a:t>
            </a:r>
          </a:p>
          <a:p>
            <a:pPr algn="just"/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A transformation may add, remove, or rename classes, operations, associations, </a:t>
            </a:r>
            <a:r>
              <a:rPr lang="en-US" dirty="0" smtClean="0"/>
              <a:t>or attributes</a:t>
            </a:r>
            <a:r>
              <a:rPr lang="en-US" dirty="0"/>
              <a:t>.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761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80772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29994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FF0000"/>
                </a:solidFill>
              </a:rPr>
              <a:t>2. Refactoring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refactoring </a:t>
            </a:r>
            <a:r>
              <a:rPr lang="en-US" dirty="0"/>
              <a:t>is a transformation of the source code that improves its readability </a:t>
            </a:r>
            <a:r>
              <a:rPr lang="en-US" dirty="0" smtClean="0"/>
              <a:t>or modifiability </a:t>
            </a:r>
            <a:r>
              <a:rPr lang="en-US" dirty="0"/>
              <a:t>without changing the behavior of the </a:t>
            </a:r>
            <a:r>
              <a:rPr lang="en-US" dirty="0" smtClean="0"/>
              <a:t>system.</a:t>
            </a:r>
          </a:p>
          <a:p>
            <a:pPr algn="just"/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Refactoring aims </a:t>
            </a:r>
            <a:r>
              <a:rPr lang="en-US" dirty="0" smtClean="0"/>
              <a:t>at improving </a:t>
            </a:r>
            <a:r>
              <a:rPr lang="en-US" dirty="0"/>
              <a:t>the design of a working </a:t>
            </a:r>
            <a:r>
              <a:rPr lang="en-US" dirty="0" smtClean="0"/>
              <a:t>system.</a:t>
            </a:r>
          </a:p>
          <a:p>
            <a:pPr algn="just"/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the refactoring is </a:t>
            </a:r>
            <a:r>
              <a:rPr lang="en-US" dirty="0" smtClean="0"/>
              <a:t>done in </a:t>
            </a:r>
            <a:r>
              <a:rPr lang="en-US" dirty="0"/>
              <a:t>small incremental steps that are interleaved with tests.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13294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object model transformation of Figure </a:t>
            </a:r>
            <a:r>
              <a:rPr lang="en-US" dirty="0" smtClean="0"/>
              <a:t>shown </a:t>
            </a:r>
            <a:r>
              <a:rPr lang="en-US" dirty="0"/>
              <a:t>corresponds to a sequence </a:t>
            </a:r>
            <a:r>
              <a:rPr lang="en-US" dirty="0" smtClean="0"/>
              <a:t>of three </a:t>
            </a:r>
            <a:r>
              <a:rPr lang="en-US" dirty="0" err="1" smtClean="0"/>
              <a:t>refactorings</a:t>
            </a:r>
            <a:r>
              <a:rPr lang="en-US" dirty="0"/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278756"/>
            <a:ext cx="5867400" cy="3350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113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algn="just"/>
            <a:r>
              <a:rPr lang="en-US" dirty="0"/>
              <a:t>The first one, Pull Up Field, moves the email field from the subclasses to </a:t>
            </a:r>
            <a:r>
              <a:rPr lang="en-US" dirty="0" smtClean="0"/>
              <a:t>the superclass </a:t>
            </a:r>
            <a:r>
              <a:rPr lang="en-US" dirty="0"/>
              <a:t>User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00400"/>
            <a:ext cx="65532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11546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600200"/>
            <a:ext cx="8839200" cy="4724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53181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second one, Pull Up Constructor Body, moves the initialization code </a:t>
            </a:r>
            <a:r>
              <a:rPr lang="en-US" dirty="0" smtClean="0"/>
              <a:t>from the </a:t>
            </a:r>
            <a:r>
              <a:rPr lang="en-US" dirty="0"/>
              <a:t>subclasses to the superclass.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3276600"/>
            <a:ext cx="6934199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36487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14400"/>
            <a:ext cx="7467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46376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third and final one, Pull Up Method, moves the </a:t>
            </a:r>
            <a:r>
              <a:rPr lang="en-US" dirty="0" smtClean="0"/>
              <a:t>methods manipulating </a:t>
            </a:r>
            <a:r>
              <a:rPr lang="en-US" dirty="0"/>
              <a:t>the email field from the subclasses to the superclass.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505200"/>
            <a:ext cx="5686816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2845" y="5521368"/>
            <a:ext cx="5371708" cy="879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97671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Applying these three </a:t>
            </a:r>
            <a:r>
              <a:rPr lang="en-US" dirty="0" err="1"/>
              <a:t>refactorings</a:t>
            </a:r>
            <a:r>
              <a:rPr lang="en-US" dirty="0"/>
              <a:t> effectively transforms the ARENA source code in the </a:t>
            </a:r>
            <a:r>
              <a:rPr lang="en-US" dirty="0" smtClean="0"/>
              <a:t>same way </a:t>
            </a:r>
            <a:r>
              <a:rPr lang="en-US" dirty="0"/>
              <a:t>the object model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2723345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FF0000"/>
                </a:solidFill>
              </a:rPr>
              <a:t>3. Forward Engineering</a:t>
            </a:r>
          </a:p>
          <a:p>
            <a:pPr algn="just"/>
            <a:r>
              <a:rPr lang="en-US" b="1" dirty="0"/>
              <a:t>Forward engineering </a:t>
            </a:r>
            <a:r>
              <a:rPr lang="en-US" dirty="0"/>
              <a:t>is applied to a set of model elements and results in a set of </a:t>
            </a:r>
            <a:r>
              <a:rPr lang="en-US" dirty="0" smtClean="0"/>
              <a:t>corresponding source </a:t>
            </a:r>
            <a:r>
              <a:rPr lang="en-US" dirty="0"/>
              <a:t>code statements, such as a class declaration, a Java expression, or a database schema</a:t>
            </a:r>
            <a:r>
              <a:rPr lang="en-US" dirty="0" smtClean="0"/>
              <a:t>.</a:t>
            </a:r>
          </a:p>
          <a:p>
            <a:pPr algn="just"/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P</a:t>
            </a:r>
            <a:r>
              <a:rPr lang="en-US" dirty="0" smtClean="0"/>
              <a:t>urpose </a:t>
            </a:r>
            <a:r>
              <a:rPr lang="en-US" dirty="0"/>
              <a:t>of forward engineering is </a:t>
            </a:r>
            <a:r>
              <a:rPr lang="en-US" b="1" dirty="0"/>
              <a:t>to maintain a strong correspondence between the </a:t>
            </a:r>
            <a:r>
              <a:rPr lang="en-US" b="1" dirty="0" smtClean="0"/>
              <a:t>object design </a:t>
            </a:r>
            <a:r>
              <a:rPr lang="en-US" b="1" dirty="0"/>
              <a:t>model and the code</a:t>
            </a:r>
            <a:r>
              <a:rPr lang="en-US" dirty="0"/>
              <a:t>, and to </a:t>
            </a:r>
            <a:r>
              <a:rPr lang="en-US" b="1" dirty="0"/>
              <a:t>reduce</a:t>
            </a:r>
            <a:r>
              <a:rPr lang="en-US" dirty="0"/>
              <a:t> </a:t>
            </a:r>
            <a:r>
              <a:rPr lang="en-US" b="1" dirty="0" smtClean="0"/>
              <a:t>implementation errors.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7252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91440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63146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 smtClean="0">
                <a:solidFill>
                  <a:srgbClr val="FF0000"/>
                </a:solidFill>
              </a:rPr>
              <a:t>4. Reverse Engineering</a:t>
            </a:r>
          </a:p>
          <a:p>
            <a:pPr algn="just"/>
            <a:r>
              <a:rPr lang="en-US" b="1" dirty="0"/>
              <a:t>Reverse engineering </a:t>
            </a:r>
            <a:r>
              <a:rPr lang="en-US" dirty="0"/>
              <a:t>is applied to a set of source code elements and results in a set of </a:t>
            </a:r>
            <a:r>
              <a:rPr lang="en-US" dirty="0" smtClean="0"/>
              <a:t>model elements.</a:t>
            </a:r>
          </a:p>
          <a:p>
            <a:pPr algn="just"/>
            <a:endParaRPr lang="en-US" i="1" dirty="0">
              <a:solidFill>
                <a:srgbClr val="FF0000"/>
              </a:solidFill>
            </a:endParaRPr>
          </a:p>
          <a:p>
            <a:pPr algn="just"/>
            <a:r>
              <a:rPr lang="en-US" b="1" dirty="0" smtClean="0"/>
              <a:t>purpose</a:t>
            </a:r>
            <a:r>
              <a:rPr lang="en-US" dirty="0" smtClean="0"/>
              <a:t> - to recreate the model for an existing system</a:t>
            </a:r>
            <a:r>
              <a:rPr lang="en-US" dirty="0"/>
              <a:t>, either because the model was lost or never created, or because it became out of </a:t>
            </a:r>
            <a:r>
              <a:rPr lang="en-US" dirty="0" smtClean="0"/>
              <a:t>sync with </a:t>
            </a:r>
            <a:r>
              <a:rPr lang="en-US" dirty="0"/>
              <a:t>the source code</a:t>
            </a:r>
            <a:r>
              <a:rPr lang="en-US" dirty="0" smtClean="0"/>
              <a:t>.</a:t>
            </a:r>
          </a:p>
          <a:p>
            <a:pPr algn="just"/>
            <a:endParaRPr lang="en-US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Reverse engineering is essentially an inverse transformation of </a:t>
            </a:r>
            <a:r>
              <a:rPr lang="en-US" dirty="0" smtClean="0"/>
              <a:t>forward engineering</a:t>
            </a:r>
            <a:r>
              <a:rPr lang="en-US" dirty="0"/>
              <a:t>.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763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Transformation </a:t>
            </a:r>
            <a:r>
              <a:rPr lang="en-US" b="1" dirty="0" smtClean="0">
                <a:solidFill>
                  <a:srgbClr val="FF0000"/>
                </a:solidFill>
              </a:rPr>
              <a:t>Principles</a:t>
            </a:r>
          </a:p>
          <a:p>
            <a:pPr marL="0" indent="0" algn="just">
              <a:buNone/>
            </a:pPr>
            <a:r>
              <a:rPr lang="en-US" dirty="0"/>
              <a:t>A transformation aims at improving the design of the system with respect to some criterion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To avoid introducing new errors, </a:t>
            </a:r>
            <a:r>
              <a:rPr lang="en-US" dirty="0" smtClean="0"/>
              <a:t>all transformations </a:t>
            </a:r>
            <a:r>
              <a:rPr lang="en-US" dirty="0"/>
              <a:t>should follow </a:t>
            </a:r>
            <a:r>
              <a:rPr lang="en-US" dirty="0" smtClean="0"/>
              <a:t>certain </a:t>
            </a:r>
            <a:r>
              <a:rPr lang="en-US" dirty="0"/>
              <a:t>principles:</a:t>
            </a:r>
          </a:p>
        </p:txBody>
      </p:sp>
    </p:spTree>
    <p:extLst>
      <p:ext uri="{BB962C8B-B14F-4D97-AF65-F5344CB8AC3E}">
        <p14:creationId xmlns:p14="http://schemas.microsoft.com/office/powerpoint/2010/main" val="13650383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marL="514350" indent="-514350" algn="just">
              <a:buAutoNum type="arabicPeriod"/>
            </a:pPr>
            <a:r>
              <a:rPr lang="en-US" b="1" i="1" dirty="0" smtClean="0"/>
              <a:t>Each </a:t>
            </a:r>
            <a:r>
              <a:rPr lang="en-US" b="1" i="1" dirty="0"/>
              <a:t>transformation must address a single criteria</a:t>
            </a:r>
            <a:r>
              <a:rPr lang="en-US" i="1" dirty="0" smtClean="0"/>
              <a:t>.</a:t>
            </a:r>
          </a:p>
          <a:p>
            <a:pPr marL="514350" indent="-514350" algn="just">
              <a:buAutoNum type="arabicPeriod"/>
            </a:pPr>
            <a:endParaRPr lang="en-US" dirty="0" smtClean="0"/>
          </a:p>
          <a:p>
            <a:pPr marL="0" indent="0" algn="just">
              <a:buNone/>
            </a:pPr>
            <a:r>
              <a:rPr lang="en-US" i="1" dirty="0" smtClean="0"/>
              <a:t>2. </a:t>
            </a:r>
            <a:r>
              <a:rPr lang="en-US" b="1" i="1" dirty="0" smtClean="0"/>
              <a:t>Each </a:t>
            </a:r>
            <a:r>
              <a:rPr lang="en-US" b="1" i="1" dirty="0"/>
              <a:t>transformation must be local</a:t>
            </a:r>
            <a:r>
              <a:rPr lang="en-US" dirty="0"/>
              <a:t>. </a:t>
            </a:r>
            <a:r>
              <a:rPr lang="en-US" dirty="0" smtClean="0"/>
              <a:t>A transformation </a:t>
            </a:r>
            <a:r>
              <a:rPr lang="en-US" dirty="0"/>
              <a:t>should change only a </a:t>
            </a:r>
            <a:r>
              <a:rPr lang="en-US" dirty="0" smtClean="0"/>
              <a:t>few methods </a:t>
            </a:r>
            <a:r>
              <a:rPr lang="en-US" dirty="0"/>
              <a:t>or a few classes at once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3. </a:t>
            </a:r>
            <a:r>
              <a:rPr lang="en-US" b="1" i="1" dirty="0"/>
              <a:t>Each transformation must be applied in isolation to other changes</a:t>
            </a:r>
            <a:r>
              <a:rPr lang="en-US" b="1" dirty="0" smtClean="0"/>
              <a:t>.</a:t>
            </a:r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i="1" dirty="0" smtClean="0"/>
              <a:t>4. Each </a:t>
            </a:r>
            <a:r>
              <a:rPr lang="en-US" b="1" i="1" dirty="0"/>
              <a:t>transformation must be followed by a validation step</a:t>
            </a:r>
            <a:r>
              <a:rPr lang="en-US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31905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FF0000"/>
                </a:solidFill>
              </a:rPr>
              <a:t>Mapping Associations to </a:t>
            </a:r>
            <a:r>
              <a:rPr lang="en-US" b="1" i="1" dirty="0" smtClean="0">
                <a:solidFill>
                  <a:srgbClr val="FF0000"/>
                </a:solidFill>
              </a:rPr>
              <a:t>Collections</a:t>
            </a:r>
          </a:p>
          <a:p>
            <a:pPr marL="0" indent="0">
              <a:buNone/>
            </a:pPr>
            <a:r>
              <a:rPr lang="en-US" b="1" dirty="0" smtClean="0"/>
              <a:t>1. </a:t>
            </a:r>
            <a:r>
              <a:rPr lang="en-US" b="1" dirty="0"/>
              <a:t>Unidirectional one-to-one associations.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743200"/>
            <a:ext cx="61722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07043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2. Bidirectional </a:t>
            </a:r>
            <a:r>
              <a:rPr lang="en-US" b="1" dirty="0"/>
              <a:t>one-to-one associations.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362200"/>
            <a:ext cx="7010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82624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3. One-to-many </a:t>
            </a:r>
            <a:r>
              <a:rPr lang="en-US" b="1" dirty="0"/>
              <a:t>associations.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09800"/>
            <a:ext cx="7543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17044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4. </a:t>
            </a:r>
            <a:r>
              <a:rPr lang="en-US" b="1" dirty="0"/>
              <a:t>Many-to-many associations.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8001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9591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Mapping Contracts to </a:t>
            </a:r>
            <a:r>
              <a:rPr lang="en-US" b="1" i="1" dirty="0" smtClean="0">
                <a:solidFill>
                  <a:srgbClr val="FF0000"/>
                </a:solidFill>
              </a:rPr>
              <a:t>Exceptions</a:t>
            </a:r>
          </a:p>
          <a:p>
            <a:pPr marL="514350" indent="-514350" algn="just">
              <a:buAutoNum type="arabicPeriod"/>
            </a:pPr>
            <a:r>
              <a:rPr lang="en-US" b="1" dirty="0" smtClean="0"/>
              <a:t>Checking </a:t>
            </a:r>
            <a:r>
              <a:rPr lang="en-US" b="1" dirty="0"/>
              <a:t>preconditions. </a:t>
            </a:r>
            <a:endParaRPr lang="en-US" b="1" dirty="0" smtClean="0"/>
          </a:p>
          <a:p>
            <a:pPr algn="just"/>
            <a:r>
              <a:rPr lang="en-US" dirty="0" smtClean="0"/>
              <a:t>Preconditions </a:t>
            </a:r>
            <a:r>
              <a:rPr lang="en-US" dirty="0"/>
              <a:t>should be checked at the beginning of </a:t>
            </a:r>
            <a:r>
              <a:rPr lang="en-US" dirty="0" smtClean="0"/>
              <a:t>the method</a:t>
            </a:r>
            <a:r>
              <a:rPr lang="en-US" dirty="0"/>
              <a:t>, before any processing is done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There should be a test that checks if </a:t>
            </a:r>
            <a:r>
              <a:rPr lang="en-US" dirty="0" smtClean="0"/>
              <a:t>the precondition </a:t>
            </a:r>
            <a:r>
              <a:rPr lang="en-US" dirty="0"/>
              <a:t>is true and raises an exception otherwise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r>
              <a:rPr lang="en-US" dirty="0"/>
              <a:t>Each precondition </a:t>
            </a:r>
            <a:r>
              <a:rPr lang="en-US" dirty="0" smtClean="0"/>
              <a:t>corresponds to </a:t>
            </a:r>
            <a:r>
              <a:rPr lang="en-US" dirty="0"/>
              <a:t>a different exception</a:t>
            </a:r>
          </a:p>
        </p:txBody>
      </p:sp>
    </p:spTree>
    <p:extLst>
      <p:ext uri="{BB962C8B-B14F-4D97-AF65-F5344CB8AC3E}">
        <p14:creationId xmlns:p14="http://schemas.microsoft.com/office/powerpoint/2010/main" val="38191815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2. Checking post conditions</a:t>
            </a:r>
            <a:r>
              <a:rPr lang="en-US" b="1" dirty="0"/>
              <a:t>. </a:t>
            </a:r>
            <a:endParaRPr lang="en-US" b="1" dirty="0" smtClean="0"/>
          </a:p>
          <a:p>
            <a:pPr algn="just"/>
            <a:r>
              <a:rPr lang="en-US" dirty="0" smtClean="0"/>
              <a:t>Post conditions </a:t>
            </a:r>
            <a:r>
              <a:rPr lang="en-US" dirty="0"/>
              <a:t>should be checked at the end of the </a:t>
            </a:r>
            <a:r>
              <a:rPr lang="en-US" dirty="0" smtClean="0"/>
              <a:t>method, after </a:t>
            </a:r>
            <a:r>
              <a:rPr lang="en-US" dirty="0"/>
              <a:t>all the work has been accomplished and the state changes are finalized</a:t>
            </a:r>
            <a:r>
              <a:rPr lang="en-US" dirty="0" smtClean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Post condition </a:t>
            </a:r>
            <a:r>
              <a:rPr lang="en-US" dirty="0"/>
              <a:t>corresponds to a Boolean expression in an if statement that raises </a:t>
            </a:r>
            <a:r>
              <a:rPr lang="en-US" dirty="0" smtClean="0"/>
              <a:t>an exception </a:t>
            </a:r>
            <a:r>
              <a:rPr lang="en-US" dirty="0"/>
              <a:t>if the contract is violated.</a:t>
            </a:r>
          </a:p>
        </p:txBody>
      </p:sp>
    </p:spTree>
    <p:extLst>
      <p:ext uri="{BB962C8B-B14F-4D97-AF65-F5344CB8AC3E}">
        <p14:creationId xmlns:p14="http://schemas.microsoft.com/office/powerpoint/2010/main" val="26134477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/>
              <a:t>3. Checking </a:t>
            </a:r>
            <a:r>
              <a:rPr lang="en-US" b="1" dirty="0"/>
              <a:t>invariants. </a:t>
            </a:r>
            <a:endParaRPr lang="en-US" b="1" dirty="0" smtClean="0"/>
          </a:p>
          <a:p>
            <a:pPr algn="just"/>
            <a:r>
              <a:rPr lang="en-US" dirty="0" smtClean="0"/>
              <a:t>When </a:t>
            </a:r>
            <a:r>
              <a:rPr lang="en-US" dirty="0"/>
              <a:t>treating each operation contract individually, invariants </a:t>
            </a:r>
            <a:r>
              <a:rPr lang="en-US" dirty="0" smtClean="0"/>
              <a:t>are checked </a:t>
            </a:r>
            <a:r>
              <a:rPr lang="en-US" dirty="0"/>
              <a:t>at the same time as </a:t>
            </a:r>
            <a:r>
              <a:rPr lang="en-US" dirty="0" smtClean="0"/>
              <a:t>post conditions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b="1" dirty="0" smtClean="0"/>
              <a:t>4. Dealing </a:t>
            </a:r>
            <a:r>
              <a:rPr lang="en-US" b="1" dirty="0"/>
              <a:t>with inheritance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/>
              <a:t>checking code for preconditions and </a:t>
            </a:r>
            <a:r>
              <a:rPr lang="en-US" dirty="0" smtClean="0"/>
              <a:t>post conditions should </a:t>
            </a:r>
            <a:r>
              <a:rPr lang="en-US" dirty="0"/>
              <a:t>be encapsulated into separate methods that can be called from subclasses.</a:t>
            </a:r>
          </a:p>
        </p:txBody>
      </p:sp>
    </p:spTree>
    <p:extLst>
      <p:ext uri="{BB962C8B-B14F-4D97-AF65-F5344CB8AC3E}">
        <p14:creationId xmlns:p14="http://schemas.microsoft.com/office/powerpoint/2010/main" val="27883741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5. Coding </a:t>
            </a:r>
            <a:r>
              <a:rPr lang="en-US" b="1" dirty="0"/>
              <a:t>effort. </a:t>
            </a:r>
            <a:endParaRPr lang="en-US" b="1" dirty="0" smtClean="0"/>
          </a:p>
          <a:p>
            <a:pPr algn="just"/>
            <a:r>
              <a:rPr lang="en-US" dirty="0" smtClean="0"/>
              <a:t>In </a:t>
            </a:r>
            <a:r>
              <a:rPr lang="en-US" dirty="0"/>
              <a:t>many cases, the code required for checking preconditions </a:t>
            </a:r>
            <a:r>
              <a:rPr lang="en-US" dirty="0" smtClean="0"/>
              <a:t>and post conditions </a:t>
            </a:r>
            <a:r>
              <a:rPr lang="en-US" dirty="0"/>
              <a:t>is longer and more complex than the </a:t>
            </a:r>
            <a:r>
              <a:rPr lang="en-US" dirty="0" smtClean="0"/>
              <a:t>code accomplishing </a:t>
            </a:r>
            <a:r>
              <a:rPr lang="en-US" dirty="0"/>
              <a:t>the real work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b="1" dirty="0" smtClean="0"/>
              <a:t>6. </a:t>
            </a:r>
            <a:r>
              <a:rPr lang="en-US" b="1" dirty="0"/>
              <a:t>Increased opportunities for defects. </a:t>
            </a:r>
            <a:endParaRPr lang="en-US" b="1" dirty="0" smtClean="0"/>
          </a:p>
          <a:p>
            <a:pPr algn="just"/>
            <a:r>
              <a:rPr lang="en-US" dirty="0" smtClean="0"/>
              <a:t>Checking </a:t>
            </a:r>
            <a:r>
              <a:rPr lang="en-US" dirty="0"/>
              <a:t>code can also include errors, </a:t>
            </a:r>
            <a:r>
              <a:rPr lang="en-US" dirty="0" smtClean="0"/>
              <a:t>increasing testing </a:t>
            </a:r>
            <a:r>
              <a:rPr lang="en-US" dirty="0"/>
              <a:t>effort.</a:t>
            </a:r>
          </a:p>
        </p:txBody>
      </p:sp>
    </p:spTree>
    <p:extLst>
      <p:ext uri="{BB962C8B-B14F-4D97-AF65-F5344CB8AC3E}">
        <p14:creationId xmlns:p14="http://schemas.microsoft.com/office/powerpoint/2010/main" val="12492370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Models to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7. Performances </a:t>
            </a:r>
            <a:r>
              <a:rPr lang="en-US" b="1" dirty="0"/>
              <a:t>drawback. </a:t>
            </a:r>
            <a:endParaRPr lang="en-US" b="1" dirty="0" smtClean="0"/>
          </a:p>
          <a:p>
            <a:pPr marL="0" indent="0" algn="just">
              <a:buNone/>
            </a:pPr>
            <a:r>
              <a:rPr lang="en-US" dirty="0" smtClean="0"/>
              <a:t>Checking </a:t>
            </a:r>
            <a:r>
              <a:rPr lang="en-US" dirty="0"/>
              <a:t>systematically all contracts can significantly </a:t>
            </a:r>
            <a:r>
              <a:rPr lang="en-US" dirty="0" smtClean="0"/>
              <a:t>slow down </a:t>
            </a:r>
            <a:r>
              <a:rPr lang="en-US" dirty="0"/>
              <a:t>the code, sometimes by an order of magnitude. Although correctness is always </a:t>
            </a:r>
            <a:r>
              <a:rPr lang="en-US" dirty="0" smtClean="0"/>
              <a:t>a design </a:t>
            </a:r>
            <a:r>
              <a:rPr lang="en-US" dirty="0"/>
              <a:t>goal, response time and throughput design goals would not be met.</a:t>
            </a:r>
          </a:p>
        </p:txBody>
      </p:sp>
    </p:spTree>
    <p:extLst>
      <p:ext uri="{BB962C8B-B14F-4D97-AF65-F5344CB8AC3E}">
        <p14:creationId xmlns:p14="http://schemas.microsoft.com/office/powerpoint/2010/main" val="37459331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337863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3999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1902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</TotalTime>
  <Words>1660</Words>
  <Application>Microsoft Office PowerPoint</Application>
  <PresentationFormat>On-screen Show (4:3)</PresentationFormat>
  <Paragraphs>219</Paragraphs>
  <Slides>60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CHAPTER 4</vt:lpstr>
      <vt:lpstr>PowerPoint Presentation</vt:lpstr>
      <vt:lpstr>Version Control</vt:lpstr>
      <vt:lpstr>Version Control</vt:lpstr>
      <vt:lpstr>Version Control</vt:lpstr>
      <vt:lpstr>Version Control</vt:lpstr>
      <vt:lpstr>Change Control</vt:lpstr>
      <vt:lpstr>Change Control</vt:lpstr>
      <vt:lpstr>Change Control</vt:lpstr>
      <vt:lpstr>Change Control</vt:lpstr>
      <vt:lpstr>PowerPoint Presentation</vt:lpstr>
      <vt:lpstr>Component diagram</vt:lpstr>
      <vt:lpstr>Component diagram</vt:lpstr>
      <vt:lpstr>Component diagram</vt:lpstr>
      <vt:lpstr>Component diagram</vt:lpstr>
      <vt:lpstr>PowerPoint Presentation</vt:lpstr>
      <vt:lpstr>PowerPoint Presentation</vt:lpstr>
      <vt:lpstr>Component diagram</vt:lpstr>
      <vt:lpstr>PowerPoint Presentation</vt:lpstr>
      <vt:lpstr>PowerPoint Presentation</vt:lpstr>
      <vt:lpstr>Component diagram</vt:lpstr>
      <vt:lpstr>Component diagram</vt:lpstr>
      <vt:lpstr>Component diagram</vt:lpstr>
      <vt:lpstr>PowerPoint Presentation</vt:lpstr>
      <vt:lpstr>Deployment Diagram</vt:lpstr>
      <vt:lpstr>Deployment Diagram</vt:lpstr>
      <vt:lpstr>Deployment Diagram</vt:lpstr>
      <vt:lpstr>Deployment Diagram</vt:lpstr>
      <vt:lpstr>PowerPoint Presentation</vt:lpstr>
      <vt:lpstr>PowerPoint Presentation</vt:lpstr>
      <vt:lpstr>PowerPoint Presentation</vt:lpstr>
      <vt:lpstr>Mapping Models to Code</vt:lpstr>
      <vt:lpstr>Mapping Models to Code</vt:lpstr>
      <vt:lpstr>Mapping Models to Code</vt:lpstr>
      <vt:lpstr>Mapping Models to Code</vt:lpstr>
      <vt:lpstr>PowerPoint Presentation</vt:lpstr>
      <vt:lpstr>Mapping Models to Code</vt:lpstr>
      <vt:lpstr>Mapping Models to Code</vt:lpstr>
      <vt:lpstr>Mapping Models to Code</vt:lpstr>
      <vt:lpstr>Mapping Models to Code</vt:lpstr>
      <vt:lpstr>Mapping Models to Code</vt:lpstr>
      <vt:lpstr>PowerPoint Presentation</vt:lpstr>
      <vt:lpstr>Mapping Models to Code</vt:lpstr>
      <vt:lpstr>Mapping Models to Code</vt:lpstr>
      <vt:lpstr>Mapping Models to Code</vt:lpstr>
      <vt:lpstr>PowerPoint Presentation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Mapping Models to Code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creator>poonam madam</dc:creator>
  <cp:lastModifiedBy>Admin</cp:lastModifiedBy>
  <cp:revision>116</cp:revision>
  <dcterms:created xsi:type="dcterms:W3CDTF">2016-09-28T13:54:18Z</dcterms:created>
  <dcterms:modified xsi:type="dcterms:W3CDTF">2023-10-25T05:50:36Z</dcterms:modified>
</cp:coreProperties>
</file>
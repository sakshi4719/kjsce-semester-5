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izNKCEmEeoI2BKvAUFRX0TcKQq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/>
          <p:nvPr/>
        </p:nvSpPr>
        <p:spPr>
          <a:xfrm flipH="1" rot="10800000">
            <a:off x="5410182" y="3810000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" name="Google Shape;26;p21"/>
          <p:cNvSpPr/>
          <p:nvPr/>
        </p:nvSpPr>
        <p:spPr>
          <a:xfrm flipH="1" rot="10800000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" name="Google Shape;27;p21"/>
          <p:cNvSpPr/>
          <p:nvPr/>
        </p:nvSpPr>
        <p:spPr>
          <a:xfrm flipH="1" rot="10800000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" name="Google Shape;28;p21"/>
          <p:cNvSpPr/>
          <p:nvPr/>
        </p:nvSpPr>
        <p:spPr>
          <a:xfrm flipH="1" rot="10800000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" name="Google Shape;29;p21"/>
          <p:cNvSpPr/>
          <p:nvPr/>
        </p:nvSpPr>
        <p:spPr>
          <a:xfrm flipH="1" rot="10800000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" name="Google Shape;30;p21"/>
          <p:cNvSpPr/>
          <p:nvPr/>
        </p:nvSpPr>
        <p:spPr>
          <a:xfrm>
            <a:off x="5410200" y="3962400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" name="Google Shape;31;p21"/>
          <p:cNvSpPr/>
          <p:nvPr/>
        </p:nvSpPr>
        <p:spPr>
          <a:xfrm>
            <a:off x="7376507" y="406098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21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21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21"/>
          <p:cNvSpPr/>
          <p:nvPr/>
        </p:nvSpPr>
        <p:spPr>
          <a:xfrm flipH="1" rot="10800000">
            <a:off x="6414051" y="3643090"/>
            <a:ext cx="2729950" cy="248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21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21"/>
          <p:cNvSpPr txBox="1"/>
          <p:nvPr>
            <p:ph type="ctrTitle"/>
          </p:nvPr>
        </p:nvSpPr>
        <p:spPr>
          <a:xfrm>
            <a:off x="457200" y="2401887"/>
            <a:ext cx="8458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" type="subTitle"/>
          </p:nvPr>
        </p:nvSpPr>
        <p:spPr>
          <a:xfrm>
            <a:off x="457200" y="3899938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6705600" y="420624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5410200" y="4205288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320088" y="1136"/>
            <a:ext cx="74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 txBox="1"/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0" type="dt"/>
          </p:nvPr>
        </p:nvSpPr>
        <p:spPr>
          <a:xfrm>
            <a:off x="6583680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4"/>
          <p:cNvSpPr txBox="1"/>
          <p:nvPr>
            <p:ph type="title"/>
          </p:nvPr>
        </p:nvSpPr>
        <p:spPr>
          <a:xfrm>
            <a:off x="722313" y="19812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Trebuchet MS"/>
              <a:buNone/>
              <a:defRPr b="1" sz="430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" type="body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2100"/>
              <a:buNone/>
              <a:defRPr b="0" sz="21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457200" y="224942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4648200" y="224942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b="0" i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" type="body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328D96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8" name="Google Shape;68;p26"/>
          <p:cNvSpPr txBox="1"/>
          <p:nvPr>
            <p:ph idx="2" type="body"/>
          </p:nvPr>
        </p:nvSpPr>
        <p:spPr>
          <a:xfrm>
            <a:off x="4721225" y="2244970"/>
            <a:ext cx="4041775" cy="457200"/>
          </a:xfrm>
          <a:prstGeom prst="rect">
            <a:avLst/>
          </a:prstGeom>
          <a:solidFill>
            <a:srgbClr val="328D96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3" type="body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▫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4" type="body"/>
          </p:nvPr>
        </p:nvSpPr>
        <p:spPr>
          <a:xfrm>
            <a:off x="4718304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▫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26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>
            <a:off x="5353496" y="2010727"/>
            <a:ext cx="3383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2" type="body"/>
          </p:nvPr>
        </p:nvSpPr>
        <p:spPr>
          <a:xfrm>
            <a:off x="152400" y="776287"/>
            <a:ext cx="5102352" cy="585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 txBox="1"/>
          <p:nvPr>
            <p:ph type="title"/>
          </p:nvPr>
        </p:nvSpPr>
        <p:spPr>
          <a:xfrm rot="-5400000">
            <a:off x="3393017" y="3156577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9"/>
          <p:cNvSpPr/>
          <p:nvPr>
            <p:ph idx="2" type="pic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cap="flat" cmpd="sng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4800000" dist="31750">
              <a:srgbClr val="000000">
                <a:alpha val="24705"/>
              </a:srgbClr>
            </a:outerShdw>
          </a:effectLst>
        </p:spPr>
      </p:sp>
      <p:sp>
        <p:nvSpPr>
          <p:cNvPr id="88" name="Google Shape;88;p29"/>
          <p:cNvSpPr txBox="1"/>
          <p:nvPr>
            <p:ph idx="1" type="body"/>
          </p:nvPr>
        </p:nvSpPr>
        <p:spPr>
          <a:xfrm>
            <a:off x="6088443" y="3274308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Georgia"/>
              <a:buNone/>
              <a:defRPr sz="13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Font typeface="Georgia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Georgia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Font typeface="Georgia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Font typeface="Georgia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0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0"/>
          <p:cNvSpPr txBox="1"/>
          <p:nvPr>
            <p:ph idx="1" type="body"/>
          </p:nvPr>
        </p:nvSpPr>
        <p:spPr>
          <a:xfrm rot="5400000">
            <a:off x="2409444" y="297180"/>
            <a:ext cx="432511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5" name="Google Shape;95;p30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0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0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"/>
          <p:cNvSpPr txBox="1"/>
          <p:nvPr>
            <p:ph type="title"/>
          </p:nvPr>
        </p:nvSpPr>
        <p:spPr>
          <a:xfrm rot="5400000">
            <a:off x="4991100" y="2933700"/>
            <a:ext cx="5486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1"/>
          <p:cNvSpPr txBox="1"/>
          <p:nvPr>
            <p:ph idx="1" type="body"/>
          </p:nvPr>
        </p:nvSpPr>
        <p:spPr>
          <a:xfrm rot="5400000">
            <a:off x="838200" y="762000"/>
            <a:ext cx="54864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1" name="Google Shape;101;p31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" name="Google Shape;7;p20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" name="Google Shape;8;p20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" name="Google Shape;9;p20"/>
          <p:cNvSpPr/>
          <p:nvPr/>
        </p:nvSpPr>
        <p:spPr>
          <a:xfrm flipH="1" rot="10800000">
            <a:off x="5410182" y="360246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" name="Google Shape;10;p20"/>
          <p:cNvSpPr/>
          <p:nvPr/>
        </p:nvSpPr>
        <p:spPr>
          <a:xfrm flipH="1" rot="10800000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" name="Google Shape;11;p20"/>
          <p:cNvSpPr/>
          <p:nvPr/>
        </p:nvSpPr>
        <p:spPr>
          <a:xfrm>
            <a:off x="5407339" y="497504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" name="Google Shape;12;p20"/>
          <p:cNvSpPr/>
          <p:nvPr/>
        </p:nvSpPr>
        <p:spPr>
          <a:xfrm>
            <a:off x="7373646" y="58894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" name="Google Shape;13;p20"/>
          <p:cNvSpPr/>
          <p:nvPr/>
        </p:nvSpPr>
        <p:spPr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" name="Google Shape;14;p20"/>
          <p:cNvSpPr/>
          <p:nvPr/>
        </p:nvSpPr>
        <p:spPr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" name="Google Shape;15;p20"/>
          <p:cNvSpPr/>
          <p:nvPr/>
        </p:nvSpPr>
        <p:spPr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" name="Google Shape;16;p20"/>
          <p:cNvSpPr/>
          <p:nvPr/>
        </p:nvSpPr>
        <p:spPr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Google Shape;17;p20"/>
          <p:cNvSpPr/>
          <p:nvPr/>
        </p:nvSpPr>
        <p:spPr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Google Shape;18;p20"/>
          <p:cNvSpPr/>
          <p:nvPr/>
        </p:nvSpPr>
        <p:spPr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" name="Google Shape;19;p20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20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937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810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36830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35560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b="0" i="0" sz="20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429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b="0" i="0" sz="18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302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b="0" i="0" sz="16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b="0" i="0" sz="15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b="0" i="0" sz="14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21" name="Google Shape;21;p20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23" name="Google Shape;23;p20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>
            <p:ph type="ctrTitle"/>
          </p:nvPr>
        </p:nvSpPr>
        <p:spPr>
          <a:xfrm>
            <a:off x="457200" y="2401887"/>
            <a:ext cx="8458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</a:pPr>
            <a:r>
              <a:rPr lang="en-US"/>
              <a:t>Special Neural Network</a:t>
            </a:r>
            <a:endParaRPr/>
          </a:p>
        </p:txBody>
      </p:sp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457200" y="3899938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4008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Dr. Bhakti Palkar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lang="en-US"/>
              <a:t>Syllabus</a:t>
            </a:r>
            <a:endParaRPr/>
          </a:p>
        </p:txBody>
      </p:sp>
      <p:sp>
        <p:nvSpPr>
          <p:cNvPr id="115" name="Google Shape;115;p2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9728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/>
              <a:t>Special Neural Networks </a:t>
            </a:r>
            <a:r>
              <a:rPr lang="en-US"/>
              <a:t>	</a:t>
            </a:r>
            <a:r>
              <a:rPr b="1" lang="en-US"/>
              <a:t>08 </a:t>
            </a:r>
            <a:r>
              <a:rPr lang="en-US"/>
              <a:t>	</a:t>
            </a:r>
            <a:r>
              <a:rPr b="1" lang="en-US"/>
              <a:t>CO3 </a:t>
            </a:r>
            <a:r>
              <a:rPr lang="en-US"/>
              <a:t>	</a:t>
            </a:r>
            <a:endParaRPr/>
          </a:p>
          <a:p>
            <a:pPr indent="-256032" lvl="0" marL="365760" rtl="0" algn="l"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4.1 </a:t>
            </a:r>
            <a:r>
              <a:rPr lang="en-US"/>
              <a:t>	Cognitron, Neocognitron, Boltzman Machine, Gaussian Machine, Simulated Annealing, SVM 	</a:t>
            </a:r>
            <a:endParaRPr/>
          </a:p>
          <a:p>
            <a:pPr indent="-256032" lvl="0" marL="365760" rtl="0" algn="l"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#Self-Learning: Benefits of Multi-layer Neural Network 	</a:t>
            </a:r>
            <a:endParaRPr/>
          </a:p>
          <a:p>
            <a:pPr indent="-78232" lvl="0" marL="365760" rtl="0" algn="l"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Simulated Annealing</a:t>
            </a:r>
            <a:endParaRPr sz="4400"/>
          </a:p>
        </p:txBody>
      </p:sp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8600" lvl="0" marL="241300" marR="508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solidFill>
                  <a:srgbClr val="292929"/>
                </a:solidFill>
                <a:latin typeface="Georgia"/>
                <a:ea typeface="Georgia"/>
                <a:cs typeface="Georgia"/>
                <a:sym typeface="Georgia"/>
              </a:rPr>
              <a:t>The Simulated Annealing algorithm is based upon </a:t>
            </a:r>
            <a:r>
              <a:rPr lang="en-US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Physical Annealing </a:t>
            </a:r>
            <a:r>
              <a:rPr lang="en-US">
                <a:solidFill>
                  <a:srgbClr val="292929"/>
                </a:solidFill>
                <a:latin typeface="Georgia"/>
                <a:ea typeface="Georgia"/>
                <a:cs typeface="Georgia"/>
                <a:sym typeface="Georgia"/>
              </a:rPr>
              <a:t>in real life.  Physical Annealing is the process of heating up a material until it reaches  an </a:t>
            </a:r>
            <a:r>
              <a:rPr b="1" lang="en-US">
                <a:solidFill>
                  <a:srgbClr val="292929"/>
                </a:solidFill>
                <a:latin typeface="Georgia"/>
                <a:ea typeface="Georgia"/>
                <a:cs typeface="Georgia"/>
                <a:sym typeface="Georgia"/>
              </a:rPr>
              <a:t>annealing temperature </a:t>
            </a:r>
            <a:r>
              <a:rPr lang="en-US">
                <a:solidFill>
                  <a:srgbClr val="292929"/>
                </a:solidFill>
                <a:latin typeface="Georgia"/>
                <a:ea typeface="Georgia"/>
                <a:cs typeface="Georgia"/>
                <a:sym typeface="Georgia"/>
              </a:rPr>
              <a:t>and then it will be </a:t>
            </a:r>
            <a:r>
              <a:rPr b="1" lang="en-US">
                <a:solidFill>
                  <a:srgbClr val="292929"/>
                </a:solidFill>
                <a:latin typeface="Georgia"/>
                <a:ea typeface="Georgia"/>
                <a:cs typeface="Georgia"/>
                <a:sym typeface="Georgia"/>
              </a:rPr>
              <a:t>cooled down </a:t>
            </a:r>
            <a:r>
              <a:rPr lang="en-US">
                <a:solidFill>
                  <a:srgbClr val="292929"/>
                </a:solidFill>
                <a:latin typeface="Georgia"/>
                <a:ea typeface="Georgia"/>
                <a:cs typeface="Georgia"/>
                <a:sym typeface="Georgia"/>
              </a:rPr>
              <a:t>slowly in order to  change the material to a desired structure.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228600" lvl="0" marL="241300" marR="5715" rtl="0" algn="just">
              <a:lnSpc>
                <a:spcPct val="140000"/>
              </a:lnSpc>
              <a:spcBef>
                <a:spcPts val="994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solidFill>
                  <a:srgbClr val="292929"/>
                </a:solidFill>
                <a:latin typeface="Georgia"/>
                <a:ea typeface="Georgia"/>
                <a:cs typeface="Georgia"/>
                <a:sym typeface="Georgia"/>
              </a:rPr>
              <a:t>When the material is hot, the molecular structure is weaker and is more  susceptible to change.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228600" lvl="0" marL="241300" marR="5080" rtl="0" algn="just">
              <a:lnSpc>
                <a:spcPct val="140000"/>
              </a:lnSpc>
              <a:spcBef>
                <a:spcPts val="101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solidFill>
                  <a:srgbClr val="292929"/>
                </a:solidFill>
                <a:latin typeface="Georgia"/>
                <a:ea typeface="Georgia"/>
                <a:cs typeface="Georgia"/>
                <a:sym typeface="Georgia"/>
              </a:rPr>
              <a:t>When the material cools down, the molecular structure is harder and is less  susceptible to change.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228600" lvl="0" marL="241300" marR="5080" rtl="0" algn="just">
              <a:lnSpc>
                <a:spcPct val="140100"/>
              </a:lnSpc>
              <a:spcBef>
                <a:spcPts val="995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solidFill>
                  <a:srgbClr val="292929"/>
                </a:solidFill>
                <a:latin typeface="Georgia"/>
                <a:ea typeface="Georgia"/>
                <a:cs typeface="Georgia"/>
                <a:sym typeface="Georgia"/>
              </a:rPr>
              <a:t>Another important part of this analogy is the following equation from Thermal  Dynamics: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144907" lvl="0" marL="365760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781" y="6030916"/>
            <a:ext cx="29718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8307958" y="6465214"/>
            <a:ext cx="15367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Simulated Annealing (cont.)</a:t>
            </a:r>
            <a:endParaRPr sz="4400"/>
          </a:p>
        </p:txBody>
      </p:sp>
      <p:sp>
        <p:nvSpPr>
          <p:cNvPr id="129" name="Google Shape;129;p4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55600" marR="508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292929"/>
                </a:solidFill>
                <a:latin typeface="Georgia"/>
                <a:ea typeface="Georgia"/>
                <a:cs typeface="Georgia"/>
                <a:sym typeface="Georgia"/>
              </a:rPr>
              <a:t>Simulated Annealing (SA) mimics the Physical Annealing  process but is used for optimizing parameters in a model.</a:t>
            </a:r>
            <a:endParaRPr/>
          </a:p>
          <a:p>
            <a:pPr indent="-342900" lvl="0" marL="355600" marR="5715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292929"/>
                </a:solidFill>
                <a:latin typeface="Georgia"/>
                <a:ea typeface="Georgia"/>
                <a:cs typeface="Georgia"/>
                <a:sym typeface="Georgia"/>
              </a:rPr>
              <a:t>This process is very useful for situations where there are a  lot of local minima such that algorithms like Gradient  Descent would be stuck at.</a:t>
            </a:r>
            <a:endParaRPr/>
          </a:p>
          <a:p>
            <a:pPr indent="-129032" lvl="0" marL="365760" rtl="0" algn="l">
              <a:spcBef>
                <a:spcPts val="3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9934" y="4211365"/>
            <a:ext cx="4375852" cy="228969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8307958" y="6465214"/>
            <a:ext cx="15367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Simulated Annealing (cont.)</a:t>
            </a:r>
            <a:endParaRPr sz="4400"/>
          </a:p>
        </p:txBody>
      </p:sp>
      <p:sp>
        <p:nvSpPr>
          <p:cNvPr id="137" name="Google Shape;137;p5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556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292929"/>
                </a:solidFill>
                <a:latin typeface="Georgia"/>
                <a:ea typeface="Georgia"/>
                <a:cs typeface="Georgia"/>
                <a:sym typeface="Georgia"/>
              </a:rPr>
              <a:t>Example – Stone and Hill (Textbook-Shivnandan)</a:t>
            </a:r>
            <a:endParaRPr sz="2000">
              <a:solidFill>
                <a:srgbClr val="2929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5560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rgbClr val="292929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8" name="Google Shape;1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2667001"/>
            <a:ext cx="5486400" cy="337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 txBox="1"/>
          <p:nvPr/>
        </p:nvSpPr>
        <p:spPr>
          <a:xfrm>
            <a:off x="381000" y="6040018"/>
            <a:ext cx="8229600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Fig- Reference - https://dev.to/swyx/unsupervised-learning-  randomized-optimization-d2j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8333358" y="6427114"/>
            <a:ext cx="1028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Boltzmann Machine</a:t>
            </a:r>
            <a:endParaRPr sz="4400"/>
          </a:p>
        </p:txBody>
      </p:sp>
      <p:sp>
        <p:nvSpPr>
          <p:cNvPr id="146" name="Google Shape;146;p6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1300" marR="571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When simulated annealing is applied to the Discrete  Hopfield network then it becomes Boltzmann machine.</a:t>
            </a:r>
            <a:endParaRPr/>
          </a:p>
          <a:p>
            <a:pPr indent="-228600" lvl="0" marL="241300" marR="508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It consists of as set of units Xi and Xj and set of  bidirectional connections between pairs of units. Also,  contains wij not equal to 0.</a:t>
            </a:r>
            <a:endParaRPr/>
          </a:p>
          <a:p>
            <a:pPr indent="-228600" lvl="0" marL="241300" marR="5080" rtl="0" algn="just">
              <a:lnSpc>
                <a:spcPct val="150100"/>
              </a:lnSpc>
              <a:spcBef>
                <a:spcPts val="99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This machine can be used as an associative memory  then, wij = wji. Self-connection on weights also exist.</a:t>
            </a:r>
            <a:endParaRPr sz="2000"/>
          </a:p>
          <a:p>
            <a:pPr indent="-129032" lvl="0" marL="365760" rtl="0" algn="l"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-228600" lvl="0" marL="241300" rtl="0" algn="l">
              <a:spcBef>
                <a:spcPts val="3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For unit Xi, state xi may be 0 or 1.</a:t>
            </a:r>
            <a:endParaRPr/>
          </a:p>
          <a:p>
            <a:pPr indent="-129032" lvl="0" marL="365760" rtl="0" algn="l">
              <a:spcBef>
                <a:spcPts val="3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47" name="Google Shape;147;p6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6888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Boltzmann Machine</a:t>
            </a:r>
            <a:endParaRPr sz="4400"/>
          </a:p>
        </p:txBody>
      </p:sp>
      <p:sp>
        <p:nvSpPr>
          <p:cNvPr id="153" name="Google Shape;153;p7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6888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707542" y="1948917"/>
            <a:ext cx="7449184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28600" lvl="0" marL="241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 is to maximize Consensus Function (CF);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9344" y="2362200"/>
            <a:ext cx="18478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963672"/>
            <a:ext cx="9143999" cy="3392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Boltzmann Machine</a:t>
            </a:r>
            <a:endParaRPr/>
          </a:p>
        </p:txBody>
      </p:sp>
      <p:sp>
        <p:nvSpPr>
          <p:cNvPr id="162" name="Google Shape;162;p8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6888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3" name="Google Shape;1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273" y="2209800"/>
            <a:ext cx="8274727" cy="3665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>
            <p:ph type="title"/>
          </p:nvPr>
        </p:nvSpPr>
        <p:spPr>
          <a:xfrm rot="-5400000">
            <a:off x="-2548879" y="2791638"/>
            <a:ext cx="6778508" cy="1354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Boltzmann Machine </a:t>
            </a:r>
            <a:br>
              <a:rPr lang="en-US" sz="4400"/>
            </a:br>
            <a:r>
              <a:rPr lang="en-US" sz="4400"/>
              <a:t>Architecture</a:t>
            </a:r>
            <a:endParaRPr sz="4400"/>
          </a:p>
        </p:txBody>
      </p:sp>
      <p:sp>
        <p:nvSpPr>
          <p:cNvPr id="169" name="Google Shape;169;p9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6888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0" name="Google Shape;170;p9"/>
          <p:cNvGrpSpPr/>
          <p:nvPr/>
        </p:nvGrpSpPr>
        <p:grpSpPr>
          <a:xfrm>
            <a:off x="1447801" y="1447800"/>
            <a:ext cx="6705528" cy="4876439"/>
            <a:chOff x="18130" y="784555"/>
            <a:chExt cx="9107707" cy="5145659"/>
          </a:xfrm>
        </p:grpSpPr>
        <p:pic>
          <p:nvPicPr>
            <p:cNvPr id="171" name="Google Shape;171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130" y="784555"/>
              <a:ext cx="4943729" cy="5145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61762" y="1935988"/>
              <a:ext cx="4164075" cy="27626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Boltzmann Machine Algorithm</a:t>
            </a:r>
            <a:endParaRPr sz="4400"/>
          </a:p>
        </p:txBody>
      </p:sp>
      <p:sp>
        <p:nvSpPr>
          <p:cNvPr id="178" name="Google Shape;178;p10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6888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9" name="Google Shape;17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133600"/>
            <a:ext cx="7467600" cy="4658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Boltzmann Machine Algorithm</a:t>
            </a:r>
            <a:endParaRPr sz="4400"/>
          </a:p>
        </p:txBody>
      </p:sp>
      <p:sp>
        <p:nvSpPr>
          <p:cNvPr id="185" name="Google Shape;185;p1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6888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6" name="Google Shape;1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057400"/>
            <a:ext cx="8145907" cy="4624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Gaussian Machine</a:t>
            </a:r>
            <a:endParaRPr sz="4400"/>
          </a:p>
        </p:txBody>
      </p:sp>
      <p:sp>
        <p:nvSpPr>
          <p:cNvPr id="192" name="Google Shape;192;p12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just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Gaussian machine is one which includes Boltzmann machine, Hopfield net and other neural networks. </a:t>
            </a:r>
            <a:endParaRPr/>
          </a:p>
          <a:p>
            <a:pPr indent="-256032" lvl="0" marL="365760" rtl="0" algn="just"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Gaussian machine is based on the following three parameters: (a) a slope parameter of sigmoidal function (alpha) (b)  a rime step Delta </a:t>
            </a:r>
            <a:r>
              <a:rPr i="1" lang="en-US" sz="2000"/>
              <a:t>t, </a:t>
            </a:r>
            <a:r>
              <a:rPr lang="en-US" sz="2000"/>
              <a:t>(c) Temperature </a:t>
            </a:r>
            <a:r>
              <a:rPr i="1" lang="en-US" sz="2000"/>
              <a:t>T.</a:t>
            </a:r>
            <a:endParaRPr/>
          </a:p>
          <a:p>
            <a:pPr indent="-256032" lvl="0" marL="365760" rtl="0" algn="just"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 steps involved in the operation of the Gaussian net are the following: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Gaussian Machine</a:t>
            </a:r>
            <a:endParaRPr/>
          </a:p>
        </p:txBody>
      </p:sp>
      <p:sp>
        <p:nvSpPr>
          <p:cNvPr id="198" name="Google Shape;198;p13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8232" lvl="0" marL="36576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99" name="Google Shape;1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28361"/>
            <a:ext cx="9144000" cy="4122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t/>
            </a:r>
            <a:endParaRPr/>
          </a:p>
        </p:txBody>
      </p:sp>
      <p:pic>
        <p:nvPicPr>
          <p:cNvPr id="205" name="Google Shape;205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838200"/>
            <a:ext cx="8201896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" y="1933574"/>
            <a:ext cx="7971716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type="title"/>
          </p:nvPr>
        </p:nvSpPr>
        <p:spPr>
          <a:xfrm>
            <a:off x="457200" y="1333279"/>
            <a:ext cx="8229600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Cognitron Neural Network</a:t>
            </a:r>
            <a:endParaRPr/>
          </a:p>
        </p:txBody>
      </p:sp>
      <p:pic>
        <p:nvPicPr>
          <p:cNvPr id="212" name="Google Shape;2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209800"/>
            <a:ext cx="7620000" cy="428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/>
          <p:nvPr>
            <p:ph type="title"/>
          </p:nvPr>
        </p:nvSpPr>
        <p:spPr>
          <a:xfrm>
            <a:off x="457200" y="993200"/>
            <a:ext cx="8229600" cy="13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Model of Cognitron Neural Network</a:t>
            </a:r>
            <a:endParaRPr/>
          </a:p>
        </p:txBody>
      </p:sp>
      <p:sp>
        <p:nvSpPr>
          <p:cNvPr id="218" name="Google Shape;218;p16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Application	- Cognitron network  can be used in neurophysiolog and	psychology,  visual and suditory information processing system.</a:t>
            </a:r>
            <a:endParaRPr sz="2000"/>
          </a:p>
          <a:p>
            <a:pPr indent="-129032" lvl="0" marL="365760" rtl="0" algn="l">
              <a:spcBef>
                <a:spcPts val="3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219" name="Google Shape;219;p16"/>
          <p:cNvSpPr txBox="1"/>
          <p:nvPr/>
        </p:nvSpPr>
        <p:spPr>
          <a:xfrm>
            <a:off x="5682488" y="4775072"/>
            <a:ext cx="84391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3555872"/>
            <a:ext cx="6400800" cy="3302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 txBox="1"/>
          <p:nvPr>
            <p:ph type="title"/>
          </p:nvPr>
        </p:nvSpPr>
        <p:spPr>
          <a:xfrm>
            <a:off x="457200" y="1257078"/>
            <a:ext cx="8229600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Neocognitron Neural Network </a:t>
            </a:r>
            <a:endParaRPr/>
          </a:p>
        </p:txBody>
      </p:sp>
      <p:pic>
        <p:nvPicPr>
          <p:cNvPr id="226" name="Google Shape;2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365" y="2438400"/>
            <a:ext cx="7203835" cy="4310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 txBox="1"/>
          <p:nvPr>
            <p:ph type="title"/>
          </p:nvPr>
        </p:nvSpPr>
        <p:spPr>
          <a:xfrm>
            <a:off x="457200" y="1333278"/>
            <a:ext cx="8229600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Neocognitron Neural Network </a:t>
            </a:r>
            <a:endParaRPr/>
          </a:p>
        </p:txBody>
      </p:sp>
      <p:pic>
        <p:nvPicPr>
          <p:cNvPr id="232" name="Google Shape;2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286000"/>
            <a:ext cx="7380605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"/>
          <p:cNvSpPr txBox="1"/>
          <p:nvPr>
            <p:ph type="title"/>
          </p:nvPr>
        </p:nvSpPr>
        <p:spPr>
          <a:xfrm>
            <a:off x="457200" y="1333278"/>
            <a:ext cx="8229600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</a:pPr>
            <a:r>
              <a:rPr lang="en-US" sz="4400"/>
              <a:t>Neocognitron Neural Network</a:t>
            </a:r>
            <a:endParaRPr sz="4400"/>
          </a:p>
        </p:txBody>
      </p:sp>
      <p:sp>
        <p:nvSpPr>
          <p:cNvPr id="238" name="Google Shape;238;p19"/>
          <p:cNvSpPr txBox="1"/>
          <p:nvPr/>
        </p:nvSpPr>
        <p:spPr>
          <a:xfrm>
            <a:off x="8762745" y="6368288"/>
            <a:ext cx="18097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873" y="2366517"/>
            <a:ext cx="6334125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rban">
  <a:themeElements>
    <a:clrScheme name="Urban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Admin</dc:creator>
</cp:coreProperties>
</file>
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6858000" cx="9144000"/>
  <p:notesSz cx="6858000" cy="9144000"/>
  <p:embeddedFontLst>
    <p:embeddedFont>
      <p:font typeface="Robot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4" roundtripDataSignature="AMtx7mhJlIUcii72hbpUPNcFiYYtBsex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FE54519-387C-40F5-8D72-C6E4E22D01FA}">
  <a:tblStyle styleId="{AFE54519-387C-40F5-8D72-C6E4E22D01F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regular.fntdata"/><Relationship Id="rId20" Type="http://schemas.openxmlformats.org/officeDocument/2006/relationships/slide" Target="slides/slide14.xml"/><Relationship Id="rId42" Type="http://schemas.openxmlformats.org/officeDocument/2006/relationships/font" Target="fonts/Roboto-italic.fntdata"/><Relationship Id="rId41" Type="http://schemas.openxmlformats.org/officeDocument/2006/relationships/font" Target="fonts/Roboto-bold.fntdata"/><Relationship Id="rId22" Type="http://schemas.openxmlformats.org/officeDocument/2006/relationships/slide" Target="slides/slide16.xml"/><Relationship Id="rId44" Type="http://customschemas.google.com/relationships/presentationmetadata" Target="metadata"/><Relationship Id="rId21" Type="http://schemas.openxmlformats.org/officeDocument/2006/relationships/slide" Target="slides/slide15.xml"/><Relationship Id="rId43" Type="http://schemas.openxmlformats.org/officeDocument/2006/relationships/font" Target="fonts/Roboto-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implilearn.com/erp-planning-and-erp-systems-rar102-article" TargetMode="External"/><Relationship Id="rId3" Type="http://schemas.openxmlformats.org/officeDocument/2006/relationships/hyperlink" Target="https://www.simplilearn.com/what-is-data-modeling-article" TargetMode="External"/><Relationship Id="rId4" Type="http://schemas.openxmlformats.org/officeDocument/2006/relationships/hyperlink" Target="https://www.simplilearn.com/what-is-business-intelligence-article" TargetMode="External"/><Relationship Id="rId5" Type="http://schemas.openxmlformats.org/officeDocument/2006/relationships/hyperlink" Target="https://www.simplilearn.com/business-analyst-job-description-article"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IN" sz="1200">
                <a:solidFill>
                  <a:schemeClr val="dk1"/>
                </a:solidFill>
                <a:latin typeface="Calibri"/>
                <a:ea typeface="Calibri"/>
                <a:cs typeface="Calibri"/>
                <a:sym typeface="Calibri"/>
              </a:rPr>
              <a:t>Descriptive analytics breaks down into five steps, including: </a:t>
            </a:r>
            <a:endParaRPr/>
          </a:p>
          <a:p>
            <a:pPr indent="0" lvl="0" marL="0" rtl="0" algn="l">
              <a:spcBef>
                <a:spcPts val="0"/>
              </a:spcBef>
              <a:spcAft>
                <a:spcPts val="0"/>
              </a:spcAft>
              <a:buNone/>
            </a:pPr>
            <a:r>
              <a:rPr b="0" i="0" lang="en-IN" sz="1200">
                <a:solidFill>
                  <a:schemeClr val="dk1"/>
                </a:solidFill>
                <a:latin typeface="Calibri"/>
                <a:ea typeface="Calibri"/>
                <a:cs typeface="Calibri"/>
                <a:sym typeface="Calibri"/>
              </a:rPr>
              <a:t>1. State the Business Metrics</a:t>
            </a:r>
            <a:endParaRPr/>
          </a:p>
          <a:p>
            <a:pPr indent="0" lvl="0" marL="0" rtl="0" algn="l">
              <a:spcBef>
                <a:spcPts val="0"/>
              </a:spcBef>
              <a:spcAft>
                <a:spcPts val="0"/>
              </a:spcAft>
              <a:buNone/>
            </a:pPr>
            <a:r>
              <a:rPr b="0" i="0" lang="en-IN" sz="1200">
                <a:solidFill>
                  <a:schemeClr val="dk1"/>
                </a:solidFill>
                <a:latin typeface="Calibri"/>
                <a:ea typeface="Calibri"/>
                <a:cs typeface="Calibri"/>
                <a:sym typeface="Calibri"/>
              </a:rPr>
              <a:t>For starters, the business must identify the metrics that it wants to generate based on the essential business goals of each group within the company or the company's overall goals. For instance, a company emphasizing growth may emphasize measuring quarterly revenue increases. At the same time, the company's accounts receivable department might monitor great days' sales and other metrics that show how much time it takes to collect money from their customers.</a:t>
            </a:r>
            <a:endParaRPr/>
          </a:p>
          <a:p>
            <a:pPr indent="0" lvl="0" marL="0" rtl="0" algn="l">
              <a:spcBef>
                <a:spcPts val="0"/>
              </a:spcBef>
              <a:spcAft>
                <a:spcPts val="0"/>
              </a:spcAft>
              <a:buNone/>
            </a:pPr>
            <a:r>
              <a:rPr b="0" i="0" lang="en-IN" sz="1200">
                <a:solidFill>
                  <a:schemeClr val="dk1"/>
                </a:solidFill>
                <a:latin typeface="Calibri"/>
                <a:ea typeface="Calibri"/>
                <a:cs typeface="Calibri"/>
                <a:sym typeface="Calibri"/>
              </a:rPr>
              <a:t>2. Identify the Data Required</a:t>
            </a:r>
            <a:endParaRPr/>
          </a:p>
          <a:p>
            <a:pPr indent="0" lvl="0" marL="0" rtl="0" algn="l">
              <a:spcBef>
                <a:spcPts val="0"/>
              </a:spcBef>
              <a:spcAft>
                <a:spcPts val="0"/>
              </a:spcAft>
              <a:buNone/>
            </a:pPr>
            <a:r>
              <a:rPr b="0" i="0" lang="en-IN" sz="1200">
                <a:solidFill>
                  <a:schemeClr val="dk1"/>
                </a:solidFill>
                <a:latin typeface="Calibri"/>
                <a:ea typeface="Calibri"/>
                <a:cs typeface="Calibri"/>
                <a:sym typeface="Calibri"/>
              </a:rPr>
              <a:t>Next, the company must find the data needed to generate the desired metrics. This task is a potential challenge since the relevant data may be scattered across many files and applications. However, companies that employ an </a:t>
            </a:r>
            <a:r>
              <a:rPr b="0" i="0" lang="en-IN" sz="1200" u="sng" strike="noStrike">
                <a:solidFill>
                  <a:schemeClr val="dk1"/>
                </a:solidFill>
                <a:latin typeface="Calibri"/>
                <a:ea typeface="Calibri"/>
                <a:cs typeface="Calibri"/>
                <a:sym typeface="Calibri"/>
                <a:hlinkClick r:id="rId2">
                  <a:extLst>
                    <a:ext uri="{A12FA001-AC4F-418D-AE19-62706E023703}">
                      <ahyp:hlinkClr val="tx"/>
                    </a:ext>
                  </a:extLst>
                </a:hlinkClick>
              </a:rPr>
              <a:t>Enterprise Resource Planning (ERP) system</a:t>
            </a:r>
            <a:r>
              <a:rPr b="0" i="0" lang="en-IN" sz="1200">
                <a:solidFill>
                  <a:schemeClr val="dk1"/>
                </a:solidFill>
                <a:latin typeface="Calibri"/>
                <a:ea typeface="Calibri"/>
                <a:cs typeface="Calibri"/>
                <a:sym typeface="Calibri"/>
              </a:rPr>
              <a:t> may have an easier time because they will already have most or all the needed data in their systems' databases. Furthermore, some metrics may also need data from external sources, like e-commerce websites, industry benchmarking databases, or social media platforms.</a:t>
            </a:r>
            <a:endParaRPr/>
          </a:p>
          <a:p>
            <a:pPr indent="0" lvl="0" marL="0" rtl="0" algn="l">
              <a:spcBef>
                <a:spcPts val="0"/>
              </a:spcBef>
              <a:spcAft>
                <a:spcPts val="0"/>
              </a:spcAft>
              <a:buNone/>
            </a:pPr>
            <a:r>
              <a:rPr b="0" i="0" lang="en-IN" sz="1200">
                <a:solidFill>
                  <a:schemeClr val="dk1"/>
                </a:solidFill>
                <a:latin typeface="Calibri"/>
                <a:ea typeface="Calibri"/>
                <a:cs typeface="Calibri"/>
                <a:sym typeface="Calibri"/>
              </a:rPr>
              <a:t>3. Extract and Prepare the Data</a:t>
            </a:r>
            <a:endParaRPr/>
          </a:p>
          <a:p>
            <a:pPr indent="0" lvl="0" marL="0" rtl="0" algn="l">
              <a:spcBef>
                <a:spcPts val="0"/>
              </a:spcBef>
              <a:spcAft>
                <a:spcPts val="0"/>
              </a:spcAft>
              <a:buNone/>
            </a:pPr>
            <a:r>
              <a:rPr b="0" i="0" lang="en-IN" sz="1200">
                <a:solidFill>
                  <a:schemeClr val="dk1"/>
                </a:solidFill>
                <a:latin typeface="Calibri"/>
                <a:ea typeface="Calibri"/>
                <a:cs typeface="Calibri"/>
                <a:sym typeface="Calibri"/>
              </a:rPr>
              <a:t>Extracting, combining, and preparing the relevant data for analysis is potentially time-consuming if the needed analysis data originates from multiple sources. However, this is a crucial step to ensure accuracy. Furthermore, this may involve data cleansing to eliminate inconsistencies and mistakes in the data, a reasonable effort considering the information coming from an eclectic group of sources and rendering data into a suitable format for analysis tools. Advanced data analytics types use a process known as </a:t>
            </a:r>
            <a:r>
              <a:rPr b="0" i="0" lang="en-IN" sz="1200" u="sng" strike="noStrike">
                <a:solidFill>
                  <a:schemeClr val="dk1"/>
                </a:solidFill>
                <a:latin typeface="Calibri"/>
                <a:ea typeface="Calibri"/>
                <a:cs typeface="Calibri"/>
                <a:sym typeface="Calibri"/>
                <a:hlinkClick r:id="rId3">
                  <a:extLst>
                    <a:ext uri="{A12FA001-AC4F-418D-AE19-62706E023703}">
                      <ahyp:hlinkClr val="tx"/>
                    </a:ext>
                  </a:extLst>
                </a:hlinkClick>
              </a:rPr>
              <a:t>data modeling</a:t>
            </a:r>
            <a:r>
              <a:rPr b="0" i="0" lang="en-IN" sz="1200">
                <a:solidFill>
                  <a:schemeClr val="dk1"/>
                </a:solidFill>
                <a:latin typeface="Calibri"/>
                <a:ea typeface="Calibri"/>
                <a:cs typeface="Calibri"/>
                <a:sym typeface="Calibri"/>
              </a:rPr>
              <a:t>, a framework residing within information systems to help prepare, arrange, and organize the company's information. Data modeling defines and formats complex data, turning it into a usable, actionable resource.</a:t>
            </a:r>
            <a:endParaRPr/>
          </a:p>
          <a:p>
            <a:pPr indent="0" lvl="0" marL="0" rtl="0" algn="l">
              <a:spcBef>
                <a:spcPts val="0"/>
              </a:spcBef>
              <a:spcAft>
                <a:spcPts val="0"/>
              </a:spcAft>
              <a:buNone/>
            </a:pPr>
            <a:r>
              <a:rPr b="0" i="0" lang="en-IN" sz="1200">
                <a:solidFill>
                  <a:schemeClr val="dk1"/>
                </a:solidFill>
                <a:latin typeface="Calibri"/>
                <a:ea typeface="Calibri"/>
                <a:cs typeface="Calibri"/>
                <a:sym typeface="Calibri"/>
              </a:rPr>
              <a:t>4. Analyze the Data</a:t>
            </a:r>
            <a:endParaRPr/>
          </a:p>
          <a:p>
            <a:pPr indent="0" lvl="0" marL="0" rtl="0" algn="l">
              <a:spcBef>
                <a:spcPts val="0"/>
              </a:spcBef>
              <a:spcAft>
                <a:spcPts val="0"/>
              </a:spcAft>
              <a:buNone/>
            </a:pPr>
            <a:r>
              <a:rPr b="0" i="0" lang="en-IN" sz="1200">
                <a:solidFill>
                  <a:schemeClr val="dk1"/>
                </a:solidFill>
                <a:latin typeface="Calibri"/>
                <a:ea typeface="Calibri"/>
                <a:cs typeface="Calibri"/>
                <a:sym typeface="Calibri"/>
              </a:rPr>
              <a:t>Companies have various tools at their disposal to apply descriptive analytics, ranging from </a:t>
            </a:r>
            <a:r>
              <a:rPr b="0" i="0" lang="en-IN" sz="1200" u="sng" strike="noStrike">
                <a:solidFill>
                  <a:schemeClr val="dk1"/>
                </a:solidFill>
                <a:latin typeface="Calibri"/>
                <a:ea typeface="Calibri"/>
                <a:cs typeface="Calibri"/>
                <a:sym typeface="Calibri"/>
                <a:hlinkClick r:id="rId4">
                  <a:extLst>
                    <a:ext uri="{A12FA001-AC4F-418D-AE19-62706E023703}">
                      <ahyp:hlinkClr val="tx"/>
                    </a:ext>
                  </a:extLst>
                </a:hlinkClick>
              </a:rPr>
              <a:t>business intelligence (BI)</a:t>
            </a:r>
            <a:r>
              <a:rPr b="0" i="0" lang="en-IN" sz="1200">
                <a:solidFill>
                  <a:schemeClr val="dk1"/>
                </a:solidFill>
                <a:latin typeface="Calibri"/>
                <a:ea typeface="Calibri"/>
                <a:cs typeface="Calibri"/>
                <a:sym typeface="Calibri"/>
              </a:rPr>
              <a:t> software to spreadsheets such as ones found in Excel. Descriptive analytics usually involves using fundamental mathematical operations to one or more of the variables. For instance, a sales manager might like to monitor the average sales revenue or the monthly revenue from either established or recently acquired customers.</a:t>
            </a:r>
            <a:endParaRPr/>
          </a:p>
          <a:p>
            <a:pPr indent="0" lvl="0" marL="0" rtl="0" algn="l">
              <a:spcBef>
                <a:spcPts val="0"/>
              </a:spcBef>
              <a:spcAft>
                <a:spcPts val="0"/>
              </a:spcAft>
              <a:buNone/>
            </a:pPr>
            <a:r>
              <a:rPr b="0" i="0" lang="en-IN" sz="1200">
                <a:solidFill>
                  <a:schemeClr val="dk1"/>
                </a:solidFill>
                <a:latin typeface="Calibri"/>
                <a:ea typeface="Calibri"/>
                <a:cs typeface="Calibri"/>
                <a:sym typeface="Calibri"/>
              </a:rPr>
              <a:t>5. Present the Data</a:t>
            </a:r>
            <a:endParaRPr/>
          </a:p>
          <a:p>
            <a:pPr indent="0" lvl="0" marL="0" rtl="0" algn="l">
              <a:spcBef>
                <a:spcPts val="0"/>
              </a:spcBef>
              <a:spcAft>
                <a:spcPts val="0"/>
              </a:spcAft>
              <a:buNone/>
            </a:pPr>
            <a:r>
              <a:rPr b="0" i="0" lang="en-IN" sz="1200">
                <a:solidFill>
                  <a:schemeClr val="dk1"/>
                </a:solidFill>
                <a:latin typeface="Calibri"/>
                <a:ea typeface="Calibri"/>
                <a:cs typeface="Calibri"/>
                <a:sym typeface="Calibri"/>
              </a:rPr>
              <a:t>Once </a:t>
            </a:r>
            <a:r>
              <a:rPr b="0" i="0" lang="en-IN" sz="1200" u="sng" strike="noStrike">
                <a:solidFill>
                  <a:schemeClr val="dk1"/>
                </a:solidFill>
                <a:latin typeface="Calibri"/>
                <a:ea typeface="Calibri"/>
                <a:cs typeface="Calibri"/>
                <a:sym typeface="Calibri"/>
                <a:hlinkClick r:id="rId5">
                  <a:extLst>
                    <a:ext uri="{A12FA001-AC4F-418D-AE19-62706E023703}">
                      <ahyp:hlinkClr val="tx"/>
                    </a:ext>
                  </a:extLst>
                </a:hlinkClick>
              </a:rPr>
              <a:t>business analysts</a:t>
            </a:r>
            <a:r>
              <a:rPr b="0" i="0" lang="en-IN" sz="1200">
                <a:solidFill>
                  <a:schemeClr val="dk1"/>
                </a:solidFill>
                <a:latin typeface="Calibri"/>
                <a:ea typeface="Calibri"/>
                <a:cs typeface="Calibri"/>
                <a:sym typeface="Calibri"/>
              </a:rPr>
              <a:t> have gone through the necessary steps, all that's left is presenting the data. First, however, the information must be presented so that everyone can understand it, from stakeholders to finance specialists. Stakeholders usually appreciate seeing the report in compelling visual forms, like bar charts, pie charts, or line graphs. Visible data is easier to grasp. Finance specialists on the other hand, may want the information presented through numbers and tables.</a:t>
            </a:r>
            <a:endParaRPr/>
          </a:p>
          <a:p>
            <a:pPr indent="0" lvl="0" marL="0" rtl="0" algn="l">
              <a:spcBef>
                <a:spcPts val="0"/>
              </a:spcBef>
              <a:spcAft>
                <a:spcPts val="0"/>
              </a:spcAft>
              <a:buNone/>
            </a:pPr>
            <a:r>
              <a:t/>
            </a:r>
            <a:endParaRPr/>
          </a:p>
        </p:txBody>
      </p:sp>
      <p:sp>
        <p:nvSpPr>
          <p:cNvPr id="130" name="Google Shape;130;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N"/>
              <a:t>https://careerfoundry.com/en/blog/data-analytics/diagnostic-analytics/</a:t>
            </a:r>
            <a:endParaRPr/>
          </a:p>
        </p:txBody>
      </p:sp>
      <p:sp>
        <p:nvSpPr>
          <p:cNvPr id="192" name="Google Shape;192;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IN" sz="1200">
                <a:solidFill>
                  <a:schemeClr val="dk1"/>
                </a:solidFill>
                <a:latin typeface="Calibri"/>
                <a:ea typeface="Calibri"/>
                <a:cs typeface="Calibri"/>
                <a:sym typeface="Calibri"/>
              </a:rPr>
              <a:t>It’s not just about statistics, though. It involves thinking laterally, considering external factors that might be impacting the patterns in your data, finding additional sources to help you build a broader picture, and then checking these conclusions against the original dataset.</a:t>
            </a:r>
            <a:endParaRPr/>
          </a:p>
        </p:txBody>
      </p:sp>
      <p:sp>
        <p:nvSpPr>
          <p:cNvPr id="204" name="Google Shape;204;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4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3"/>
          <p:cNvSpPr/>
          <p:nvPr>
            <p:ph idx="2" type="pic"/>
          </p:nvPr>
        </p:nvSpPr>
        <p:spPr>
          <a:xfrm>
            <a:off x="1792288" y="612775"/>
            <a:ext cx="5486400" cy="4114800"/>
          </a:xfrm>
          <a:prstGeom prst="rect">
            <a:avLst/>
          </a:prstGeom>
          <a:noFill/>
          <a:ln>
            <a:noFill/>
          </a:ln>
        </p:spPr>
      </p:sp>
      <p:sp>
        <p:nvSpPr>
          <p:cNvPr id="68" name="Google Shape;68;p4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www.simplilearn.com/business-analyst-job-description-articl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Different types of data analytics</a:t>
            </a:r>
            <a:endParaRPr/>
          </a:p>
        </p:txBody>
      </p:sp>
      <p:sp>
        <p:nvSpPr>
          <p:cNvPr id="90" name="Google Shape;90;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lang="en-IN"/>
              <a:t>Kaustubh Kulkarni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96" name="Google Shape;96;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IN"/>
              <a:t>Different types of data analytics: </a:t>
            </a:r>
            <a:endParaRPr/>
          </a:p>
          <a:p>
            <a:pPr indent="-285750" lvl="1" marL="742950" rtl="0" algn="l">
              <a:spcBef>
                <a:spcPts val="560"/>
              </a:spcBef>
              <a:spcAft>
                <a:spcPts val="0"/>
              </a:spcAft>
              <a:buClr>
                <a:schemeClr val="dk1"/>
              </a:buClr>
              <a:buSzPts val="2800"/>
              <a:buChar char="–"/>
            </a:pPr>
            <a:r>
              <a:rPr lang="en-IN"/>
              <a:t>Descriptive analytics,</a:t>
            </a:r>
            <a:endParaRPr/>
          </a:p>
          <a:p>
            <a:pPr indent="-285750" lvl="1" marL="742950" rtl="0" algn="l">
              <a:spcBef>
                <a:spcPts val="560"/>
              </a:spcBef>
              <a:spcAft>
                <a:spcPts val="0"/>
              </a:spcAft>
              <a:buClr>
                <a:schemeClr val="dk1"/>
              </a:buClr>
              <a:buSzPts val="2800"/>
              <a:buChar char="–"/>
            </a:pPr>
            <a:r>
              <a:rPr lang="en-IN"/>
              <a:t>Diagnostics Analytics, </a:t>
            </a:r>
            <a:endParaRPr/>
          </a:p>
          <a:p>
            <a:pPr indent="-285750" lvl="1" marL="742950" rtl="0" algn="l">
              <a:spcBef>
                <a:spcPts val="560"/>
              </a:spcBef>
              <a:spcAft>
                <a:spcPts val="0"/>
              </a:spcAft>
              <a:buClr>
                <a:schemeClr val="dk1"/>
              </a:buClr>
              <a:buSzPts val="2800"/>
              <a:buChar char="–"/>
            </a:pPr>
            <a:r>
              <a:rPr lang="en-IN"/>
              <a:t>Predictive analytics,</a:t>
            </a:r>
            <a:endParaRPr/>
          </a:p>
          <a:p>
            <a:pPr indent="-285750" lvl="1" marL="742950" rtl="0" algn="l">
              <a:spcBef>
                <a:spcPts val="560"/>
              </a:spcBef>
              <a:spcAft>
                <a:spcPts val="0"/>
              </a:spcAft>
              <a:buClr>
                <a:schemeClr val="dk1"/>
              </a:buClr>
              <a:buSzPts val="2800"/>
              <a:buChar char="–"/>
            </a:pPr>
            <a:r>
              <a:rPr lang="en-IN"/>
              <a:t>Prescriptive analytics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Four types</a:t>
            </a:r>
            <a:endParaRPr b="1"/>
          </a:p>
        </p:txBody>
      </p:sp>
      <p:sp>
        <p:nvSpPr>
          <p:cNvPr id="102" name="Google Shape;102;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IN"/>
              <a:t>Descriptive analytics: </a:t>
            </a:r>
            <a:r>
              <a:rPr lang="en-IN"/>
              <a:t>What happened?</a:t>
            </a:r>
            <a:endParaRPr/>
          </a:p>
          <a:p>
            <a:pPr indent="-342900" lvl="0" marL="342900" rtl="0" algn="l">
              <a:spcBef>
                <a:spcPts val="640"/>
              </a:spcBef>
              <a:spcAft>
                <a:spcPts val="0"/>
              </a:spcAft>
              <a:buClr>
                <a:schemeClr val="dk1"/>
              </a:buClr>
              <a:buSzPts val="3200"/>
              <a:buChar char="•"/>
            </a:pPr>
            <a:r>
              <a:rPr b="1" lang="en-IN"/>
              <a:t>Diagnostic analytics</a:t>
            </a:r>
            <a:r>
              <a:rPr lang="en-IN"/>
              <a:t>: Why did this happen?</a:t>
            </a:r>
            <a:endParaRPr/>
          </a:p>
          <a:p>
            <a:pPr indent="-342900" lvl="0" marL="342900" rtl="0" algn="l">
              <a:spcBef>
                <a:spcPts val="640"/>
              </a:spcBef>
              <a:spcAft>
                <a:spcPts val="0"/>
              </a:spcAft>
              <a:buClr>
                <a:schemeClr val="dk1"/>
              </a:buClr>
              <a:buSzPts val="3200"/>
              <a:buChar char="•"/>
            </a:pPr>
            <a:r>
              <a:rPr b="1" lang="en-IN"/>
              <a:t>Predictive analytics:</a:t>
            </a:r>
            <a:r>
              <a:rPr lang="en-IN"/>
              <a:t> Based on the past data, what could happen?</a:t>
            </a:r>
            <a:endParaRPr/>
          </a:p>
          <a:p>
            <a:pPr indent="-342900" lvl="0" marL="342900" rtl="0" algn="l">
              <a:spcBef>
                <a:spcPts val="640"/>
              </a:spcBef>
              <a:spcAft>
                <a:spcPts val="0"/>
              </a:spcAft>
              <a:buClr>
                <a:schemeClr val="dk1"/>
              </a:buClr>
              <a:buSzPts val="3200"/>
              <a:buChar char="•"/>
            </a:pPr>
            <a:r>
              <a:rPr b="1" lang="en-IN"/>
              <a:t>Prescriptive analytics</a:t>
            </a:r>
            <a:r>
              <a:rPr lang="en-IN"/>
              <a:t>: Taking the other three analytics together as an aggregate, what can we do about it?</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What Does Descriptive Analytics Tell Us?</a:t>
            </a:r>
            <a:endParaRPr/>
          </a:p>
        </p:txBody>
      </p:sp>
      <p:sp>
        <p:nvSpPr>
          <p:cNvPr id="108" name="Google Shape;108;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IN"/>
              <a:t>It gives businesses essential information about how it’s doing, where it’s going, and how it’s stacking up against the competition. </a:t>
            </a:r>
            <a:endParaRPr/>
          </a:p>
          <a:p>
            <a:pPr indent="-342900" lvl="0" marL="342900" rtl="0" algn="l">
              <a:spcBef>
                <a:spcPts val="592"/>
              </a:spcBef>
              <a:spcAft>
                <a:spcPts val="0"/>
              </a:spcAft>
              <a:buClr>
                <a:schemeClr val="dk1"/>
              </a:buClr>
              <a:buSzPct val="100000"/>
              <a:buChar char="•"/>
            </a:pPr>
            <a:r>
              <a:rPr b="1" lang="en-IN"/>
              <a:t>The company’s current performance: </a:t>
            </a:r>
            <a:r>
              <a:rPr lang="en-IN"/>
              <a:t>Descriptive analytics helps businesses keep track of critical metrics involving individuals, groups and teams, and the company. </a:t>
            </a:r>
            <a:endParaRPr/>
          </a:p>
          <a:p>
            <a:pPr indent="-342900" lvl="0" marL="342900" rtl="0" algn="l">
              <a:spcBef>
                <a:spcPts val="592"/>
              </a:spcBef>
              <a:spcAft>
                <a:spcPts val="0"/>
              </a:spcAft>
              <a:buClr>
                <a:schemeClr val="dk1"/>
              </a:buClr>
              <a:buSzPct val="100000"/>
              <a:buChar char="•"/>
            </a:pPr>
            <a:r>
              <a:rPr lang="en-IN"/>
              <a:t>For instance, descriptive analytics can show how a specific sales representative is doing this quarter or which of the representative’s products sells the most.</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Continued…</a:t>
            </a:r>
            <a:endParaRPr/>
          </a:p>
        </p:txBody>
      </p:sp>
      <p:sp>
        <p:nvSpPr>
          <p:cNvPr id="114" name="Google Shape;114;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b="1" lang="en-IN"/>
              <a:t>The business’s historical trends: </a:t>
            </a:r>
            <a:r>
              <a:rPr lang="en-IN"/>
              <a:t>Descriptive analytics gathers information over long periods, and that accumulated information can be used to track the company's progress by comparing the metrics for different periods. </a:t>
            </a:r>
            <a:endParaRPr/>
          </a:p>
          <a:p>
            <a:pPr indent="-342900" lvl="0" marL="342900" rtl="0" algn="l">
              <a:spcBef>
                <a:spcPts val="592"/>
              </a:spcBef>
              <a:spcAft>
                <a:spcPts val="0"/>
              </a:spcAft>
              <a:buClr>
                <a:schemeClr val="dk1"/>
              </a:buClr>
              <a:buSzPct val="100000"/>
              <a:buChar char="•"/>
            </a:pPr>
            <a:r>
              <a:rPr lang="en-IN"/>
              <a:t>For example, the corporate bean counters can track sales or expenses by comparing the results of various quarters, calculating revenue growth by percentages, and rendering the results on easy-to-read charts.</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descr="Counting Beans: ClipArtfest.com" id="120" name="Google Shape;120;p6"/>
          <p:cNvPicPr preferRelativeResize="0"/>
          <p:nvPr>
            <p:ph idx="1" type="body"/>
          </p:nvPr>
        </p:nvPicPr>
        <p:blipFill rotWithShape="1">
          <a:blip r:embed="rId3">
            <a:alphaModFix/>
          </a:blip>
          <a:srcRect b="0" l="0" r="0" t="0"/>
          <a:stretch/>
        </p:blipFill>
        <p:spPr>
          <a:xfrm>
            <a:off x="3143250" y="2434431"/>
            <a:ext cx="2857500" cy="2857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Continued…</a:t>
            </a:r>
            <a:endParaRPr/>
          </a:p>
        </p:txBody>
      </p:sp>
      <p:sp>
        <p:nvSpPr>
          <p:cNvPr id="126" name="Google Shape;126;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b="1" lang="en-IN"/>
              <a:t>The company’s strong and weak points: </a:t>
            </a:r>
            <a:r>
              <a:rPr lang="en-IN"/>
              <a:t>Descriptive analytics gives professionals the tools to compare the performances of various business groups using metrics like employee-generated revenue or expenses as a percentage of revenue. </a:t>
            </a:r>
            <a:endParaRPr/>
          </a:p>
          <a:p>
            <a:pPr indent="-342900" lvl="0" marL="342900" rtl="0" algn="l">
              <a:spcBef>
                <a:spcPts val="592"/>
              </a:spcBef>
              <a:spcAft>
                <a:spcPts val="0"/>
              </a:spcAft>
              <a:buClr>
                <a:schemeClr val="dk1"/>
              </a:buClr>
              <a:buSzPct val="100000"/>
              <a:buChar char="•"/>
            </a:pPr>
            <a:r>
              <a:rPr lang="en-IN"/>
              <a:t>It will also compare these results with known industry averages or published results from other businesses. </a:t>
            </a:r>
            <a:endParaRPr/>
          </a:p>
          <a:p>
            <a:pPr indent="-342900" lvl="0" marL="342900" rtl="0" algn="l">
              <a:spcBef>
                <a:spcPts val="592"/>
              </a:spcBef>
              <a:spcAft>
                <a:spcPts val="0"/>
              </a:spcAft>
              <a:buClr>
                <a:schemeClr val="dk1"/>
              </a:buClr>
              <a:buSzPct val="100000"/>
              <a:buChar char="•"/>
            </a:pPr>
            <a:r>
              <a:rPr lang="en-IN"/>
              <a:t>These comparisons help companies see where they’re doing well and where they need to improve. </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How Does Descriptive Analytics Work?</a:t>
            </a:r>
            <a:endParaRPr/>
          </a:p>
        </p:txBody>
      </p:sp>
      <p:sp>
        <p:nvSpPr>
          <p:cNvPr id="133" name="Google Shape;133;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IN"/>
              <a:t>Descriptive analytics breaks down into five steps, including: </a:t>
            </a:r>
            <a:endParaRPr/>
          </a:p>
          <a:p>
            <a:pPr indent="-342900" lvl="0" marL="342900" rtl="0" algn="l">
              <a:spcBef>
                <a:spcPts val="640"/>
              </a:spcBef>
              <a:spcAft>
                <a:spcPts val="0"/>
              </a:spcAft>
              <a:buClr>
                <a:schemeClr val="dk1"/>
              </a:buClr>
              <a:buSzPts val="3200"/>
              <a:buChar char="•"/>
            </a:pPr>
            <a:r>
              <a:rPr lang="en-IN"/>
              <a:t>1. State the Business Metrics</a:t>
            </a:r>
            <a:endParaRPr/>
          </a:p>
          <a:p>
            <a:pPr indent="-342900" lvl="0" marL="342900" rtl="0" algn="l">
              <a:spcBef>
                <a:spcPts val="640"/>
              </a:spcBef>
              <a:spcAft>
                <a:spcPts val="0"/>
              </a:spcAft>
              <a:buClr>
                <a:schemeClr val="dk1"/>
              </a:buClr>
              <a:buSzPts val="3200"/>
              <a:buChar char="•"/>
            </a:pPr>
            <a:r>
              <a:rPr lang="en-IN"/>
              <a:t>2. Identify the Data Required</a:t>
            </a:r>
            <a:endParaRPr/>
          </a:p>
          <a:p>
            <a:pPr indent="-342900" lvl="0" marL="342900" rtl="0" algn="l">
              <a:spcBef>
                <a:spcPts val="640"/>
              </a:spcBef>
              <a:spcAft>
                <a:spcPts val="0"/>
              </a:spcAft>
              <a:buClr>
                <a:schemeClr val="dk1"/>
              </a:buClr>
              <a:buSzPts val="3200"/>
              <a:buChar char="•"/>
            </a:pPr>
            <a:r>
              <a:rPr lang="en-IN"/>
              <a:t>3. Extract and Prepare the Data</a:t>
            </a:r>
            <a:endParaRPr/>
          </a:p>
          <a:p>
            <a:pPr indent="-342900" lvl="0" marL="342900" rtl="0" algn="l">
              <a:spcBef>
                <a:spcPts val="640"/>
              </a:spcBef>
              <a:spcAft>
                <a:spcPts val="0"/>
              </a:spcAft>
              <a:buClr>
                <a:schemeClr val="dk1"/>
              </a:buClr>
              <a:buSzPts val="3200"/>
              <a:buChar char="•"/>
            </a:pPr>
            <a:r>
              <a:rPr lang="en-IN"/>
              <a:t>4. Analyze the Data</a:t>
            </a:r>
            <a:endParaRPr/>
          </a:p>
          <a:p>
            <a:pPr indent="-342900" lvl="0" marL="342900" rtl="0" algn="l">
              <a:spcBef>
                <a:spcPts val="640"/>
              </a:spcBef>
              <a:spcAft>
                <a:spcPts val="0"/>
              </a:spcAft>
              <a:buClr>
                <a:schemeClr val="dk1"/>
              </a:buClr>
              <a:buSzPts val="3200"/>
              <a:buChar char="•"/>
            </a:pPr>
            <a:r>
              <a:rPr lang="en-IN"/>
              <a:t>5. Present the Data</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0" i="0" lang="en-IN" sz="4400">
                <a:solidFill>
                  <a:schemeClr val="dk1"/>
                </a:solidFill>
                <a:latin typeface="Calibri"/>
                <a:ea typeface="Calibri"/>
                <a:cs typeface="Calibri"/>
                <a:sym typeface="Calibri"/>
              </a:rPr>
              <a:t>1. State the Business Metrics</a:t>
            </a:r>
            <a:endParaRPr/>
          </a:p>
        </p:txBody>
      </p:sp>
      <p:sp>
        <p:nvSpPr>
          <p:cNvPr id="139" name="Google Shape;139;p9"/>
          <p:cNvSpPr txBox="1"/>
          <p:nvPr>
            <p:ph idx="1" type="body"/>
          </p:nvPr>
        </p:nvSpPr>
        <p:spPr>
          <a:xfrm>
            <a:off x="457200" y="1600200"/>
            <a:ext cx="8229600" cy="4983162"/>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b="0" i="0" lang="en-IN" sz="3200">
                <a:solidFill>
                  <a:schemeClr val="dk1"/>
                </a:solidFill>
                <a:latin typeface="Calibri"/>
                <a:ea typeface="Calibri"/>
                <a:cs typeface="Calibri"/>
                <a:sym typeface="Calibri"/>
              </a:rPr>
              <a:t>For starters, the business must identify the metrics that it wants to generate based on the essential business goals of each group within the company or the company's overall goals.</a:t>
            </a:r>
            <a:endParaRPr/>
          </a:p>
          <a:p>
            <a:pPr indent="-342900" lvl="0" marL="342900" rtl="0" algn="l">
              <a:spcBef>
                <a:spcPts val="592"/>
              </a:spcBef>
              <a:spcAft>
                <a:spcPts val="0"/>
              </a:spcAft>
              <a:buClr>
                <a:schemeClr val="dk1"/>
              </a:buClr>
              <a:buSzPct val="100000"/>
              <a:buChar char="•"/>
            </a:pPr>
            <a:r>
              <a:rPr b="0" i="0" lang="en-IN" sz="3200">
                <a:solidFill>
                  <a:schemeClr val="dk1"/>
                </a:solidFill>
                <a:latin typeface="Calibri"/>
                <a:ea typeface="Calibri"/>
                <a:cs typeface="Calibri"/>
                <a:sym typeface="Calibri"/>
              </a:rPr>
              <a:t>For instance, a company emphasizing growth may emphasize measuring </a:t>
            </a:r>
            <a:r>
              <a:rPr b="1" i="0" lang="en-IN" sz="3200">
                <a:solidFill>
                  <a:schemeClr val="dk1"/>
                </a:solidFill>
                <a:latin typeface="Calibri"/>
                <a:ea typeface="Calibri"/>
                <a:cs typeface="Calibri"/>
                <a:sym typeface="Calibri"/>
              </a:rPr>
              <a:t>quarterly revenue increases</a:t>
            </a:r>
            <a:r>
              <a:rPr b="0" i="0" lang="en-IN" sz="3200">
                <a:solidFill>
                  <a:schemeClr val="dk1"/>
                </a:solidFill>
                <a:latin typeface="Calibri"/>
                <a:ea typeface="Calibri"/>
                <a:cs typeface="Calibri"/>
                <a:sym typeface="Calibri"/>
              </a:rPr>
              <a:t>.</a:t>
            </a:r>
            <a:endParaRPr/>
          </a:p>
          <a:p>
            <a:pPr indent="-342900" lvl="0" marL="342900" rtl="0" algn="l">
              <a:spcBef>
                <a:spcPts val="592"/>
              </a:spcBef>
              <a:spcAft>
                <a:spcPts val="0"/>
              </a:spcAft>
              <a:buClr>
                <a:schemeClr val="dk1"/>
              </a:buClr>
              <a:buSzPct val="100000"/>
              <a:buChar char="•"/>
            </a:pPr>
            <a:r>
              <a:rPr b="0" i="0" lang="en-IN" sz="3200">
                <a:solidFill>
                  <a:schemeClr val="dk1"/>
                </a:solidFill>
                <a:latin typeface="Calibri"/>
                <a:ea typeface="Calibri"/>
                <a:cs typeface="Calibri"/>
                <a:sym typeface="Calibri"/>
              </a:rPr>
              <a:t>At the same time, the company's accounts receivable department might monitor great days' sales and other metrics that show how much </a:t>
            </a:r>
            <a:r>
              <a:rPr b="1" i="0" lang="en-IN" sz="3200">
                <a:solidFill>
                  <a:schemeClr val="dk1"/>
                </a:solidFill>
                <a:latin typeface="Calibri"/>
                <a:ea typeface="Calibri"/>
                <a:cs typeface="Calibri"/>
                <a:sym typeface="Calibri"/>
              </a:rPr>
              <a:t>time it takes to collect money</a:t>
            </a:r>
            <a:r>
              <a:rPr b="0" i="0" lang="en-IN" sz="3200">
                <a:solidFill>
                  <a:schemeClr val="dk1"/>
                </a:solidFill>
                <a:latin typeface="Calibri"/>
                <a:ea typeface="Calibri"/>
                <a:cs typeface="Calibri"/>
                <a:sym typeface="Calibri"/>
              </a:rPr>
              <a:t> from their customers.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0" i="0" lang="en-IN" sz="4400">
                <a:solidFill>
                  <a:schemeClr val="dk1"/>
                </a:solidFill>
                <a:latin typeface="Calibri"/>
                <a:ea typeface="Calibri"/>
                <a:cs typeface="Calibri"/>
                <a:sym typeface="Calibri"/>
              </a:rPr>
              <a:t>2. Identify the Data Required</a:t>
            </a:r>
            <a:endParaRPr/>
          </a:p>
        </p:txBody>
      </p:sp>
      <p:sp>
        <p:nvSpPr>
          <p:cNvPr id="146" name="Google Shape;146;p10"/>
          <p:cNvSpPr txBox="1"/>
          <p:nvPr>
            <p:ph idx="1" type="body"/>
          </p:nvPr>
        </p:nvSpPr>
        <p:spPr>
          <a:xfrm>
            <a:off x="457200" y="1600200"/>
            <a:ext cx="8229600" cy="5141168"/>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b="0" i="0" lang="en-IN" sz="3200">
                <a:solidFill>
                  <a:schemeClr val="dk1"/>
                </a:solidFill>
                <a:latin typeface="Calibri"/>
                <a:ea typeface="Calibri"/>
                <a:cs typeface="Calibri"/>
                <a:sym typeface="Calibri"/>
              </a:rPr>
              <a:t>Next, the company must find the data needed to generate the desired metrics.</a:t>
            </a:r>
            <a:endParaRPr/>
          </a:p>
          <a:p>
            <a:pPr indent="-342900" lvl="0" marL="342900" rtl="0" algn="l">
              <a:spcBef>
                <a:spcPts val="544"/>
              </a:spcBef>
              <a:spcAft>
                <a:spcPts val="0"/>
              </a:spcAft>
              <a:buClr>
                <a:schemeClr val="dk1"/>
              </a:buClr>
              <a:buSzPct val="100000"/>
              <a:buChar char="•"/>
            </a:pPr>
            <a:r>
              <a:rPr b="0" i="0" lang="en-IN" sz="3200">
                <a:solidFill>
                  <a:schemeClr val="dk1"/>
                </a:solidFill>
                <a:latin typeface="Calibri"/>
                <a:ea typeface="Calibri"/>
                <a:cs typeface="Calibri"/>
                <a:sym typeface="Calibri"/>
              </a:rPr>
              <a:t>This task is a potential challenge since the relevant data may be scattered across many files and applications.</a:t>
            </a:r>
            <a:endParaRPr/>
          </a:p>
          <a:p>
            <a:pPr indent="-342900" lvl="0" marL="342900" rtl="0" algn="l">
              <a:spcBef>
                <a:spcPts val="544"/>
              </a:spcBef>
              <a:spcAft>
                <a:spcPts val="0"/>
              </a:spcAft>
              <a:buClr>
                <a:schemeClr val="dk1"/>
              </a:buClr>
              <a:buSzPct val="100000"/>
              <a:buChar char="•"/>
            </a:pPr>
            <a:r>
              <a:rPr b="0" i="0" lang="en-IN" sz="3200">
                <a:solidFill>
                  <a:schemeClr val="dk1"/>
                </a:solidFill>
                <a:latin typeface="Calibri"/>
                <a:ea typeface="Calibri"/>
                <a:cs typeface="Calibri"/>
                <a:sym typeface="Calibri"/>
              </a:rPr>
              <a:t>However, companies that employ an </a:t>
            </a:r>
            <a:r>
              <a:rPr b="0" i="0" lang="en-IN" sz="3200" u="none" strike="noStrike">
                <a:solidFill>
                  <a:schemeClr val="dk1"/>
                </a:solidFill>
                <a:latin typeface="Calibri"/>
                <a:ea typeface="Calibri"/>
                <a:cs typeface="Calibri"/>
                <a:sym typeface="Calibri"/>
              </a:rPr>
              <a:t>Enterprise Resource Planning (</a:t>
            </a:r>
            <a:r>
              <a:rPr b="1" i="0" lang="en-IN" sz="3200" u="none" strike="noStrike">
                <a:solidFill>
                  <a:schemeClr val="dk1"/>
                </a:solidFill>
                <a:latin typeface="Calibri"/>
                <a:ea typeface="Calibri"/>
                <a:cs typeface="Calibri"/>
                <a:sym typeface="Calibri"/>
              </a:rPr>
              <a:t>ERP</a:t>
            </a:r>
            <a:r>
              <a:rPr b="0" i="0" lang="en-IN" sz="3200" u="none" strike="noStrike">
                <a:solidFill>
                  <a:schemeClr val="dk1"/>
                </a:solidFill>
                <a:latin typeface="Calibri"/>
                <a:ea typeface="Calibri"/>
                <a:cs typeface="Calibri"/>
                <a:sym typeface="Calibri"/>
              </a:rPr>
              <a:t>) system</a:t>
            </a:r>
            <a:r>
              <a:rPr b="0" i="0" lang="en-IN" sz="3200">
                <a:solidFill>
                  <a:schemeClr val="dk1"/>
                </a:solidFill>
                <a:latin typeface="Calibri"/>
                <a:ea typeface="Calibri"/>
                <a:cs typeface="Calibri"/>
                <a:sym typeface="Calibri"/>
              </a:rPr>
              <a:t> may have an easier time because they will already have most or all the needed data in their systems' databases.</a:t>
            </a:r>
            <a:endParaRPr/>
          </a:p>
          <a:p>
            <a:pPr indent="-342900" lvl="0" marL="342900" rtl="0" algn="l">
              <a:spcBef>
                <a:spcPts val="544"/>
              </a:spcBef>
              <a:spcAft>
                <a:spcPts val="0"/>
              </a:spcAft>
              <a:buClr>
                <a:schemeClr val="dk1"/>
              </a:buClr>
              <a:buSzPct val="100000"/>
              <a:buChar char="•"/>
            </a:pPr>
            <a:r>
              <a:rPr b="0" i="0" lang="en-IN" sz="3200">
                <a:solidFill>
                  <a:schemeClr val="dk1"/>
                </a:solidFill>
                <a:latin typeface="Calibri"/>
                <a:ea typeface="Calibri"/>
                <a:cs typeface="Calibri"/>
                <a:sym typeface="Calibri"/>
              </a:rPr>
              <a:t>Furthermore, some metrics may also need data from external sources, like </a:t>
            </a:r>
            <a:r>
              <a:rPr b="1" i="0" lang="en-IN" sz="3200">
                <a:solidFill>
                  <a:schemeClr val="dk1"/>
                </a:solidFill>
                <a:latin typeface="Calibri"/>
                <a:ea typeface="Calibri"/>
                <a:cs typeface="Calibri"/>
                <a:sym typeface="Calibri"/>
              </a:rPr>
              <a:t>e-commerce websites, industry benchmarking databases, or social media platforms</a:t>
            </a:r>
            <a:r>
              <a:rPr b="0" i="0" lang="en-IN" sz="3200">
                <a:solidFill>
                  <a:schemeClr val="dk1"/>
                </a:solidFill>
                <a:latin typeface="Calibri"/>
                <a:ea typeface="Calibri"/>
                <a:cs typeface="Calibri"/>
                <a:sym typeface="Calibri"/>
              </a:rPr>
              <a:t>.</a:t>
            </a:r>
            <a:endParaRPr/>
          </a:p>
          <a:p>
            <a:pPr indent="-170180" lvl="0" marL="342900" rtl="0" algn="l">
              <a:spcBef>
                <a:spcPts val="544"/>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0" i="0" lang="en-IN" sz="4400">
                <a:solidFill>
                  <a:schemeClr val="dk1"/>
                </a:solidFill>
                <a:latin typeface="Calibri"/>
                <a:ea typeface="Calibri"/>
                <a:cs typeface="Calibri"/>
                <a:sym typeface="Calibri"/>
              </a:rPr>
              <a:t>3. Extract and Prepare the Data</a:t>
            </a:r>
            <a:endParaRPr/>
          </a:p>
        </p:txBody>
      </p:sp>
      <p:sp>
        <p:nvSpPr>
          <p:cNvPr id="152" name="Google Shape;152;p11"/>
          <p:cNvSpPr txBox="1"/>
          <p:nvPr>
            <p:ph idx="1" type="body"/>
          </p:nvPr>
        </p:nvSpPr>
        <p:spPr>
          <a:xfrm>
            <a:off x="457200" y="1600200"/>
            <a:ext cx="8229600" cy="5257800"/>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b="0" i="0" lang="en-IN" sz="3200">
                <a:solidFill>
                  <a:schemeClr val="dk1"/>
                </a:solidFill>
                <a:latin typeface="Calibri"/>
                <a:ea typeface="Calibri"/>
                <a:cs typeface="Calibri"/>
                <a:sym typeface="Calibri"/>
              </a:rPr>
              <a:t>Extracting, combining, and preparing the relevant data for analysis is potentially time-consuming if the needed analysis data originates from multiple sources.</a:t>
            </a:r>
            <a:endParaRPr/>
          </a:p>
          <a:p>
            <a:pPr indent="-342900" lvl="0" marL="342900" rtl="0" algn="l">
              <a:spcBef>
                <a:spcPts val="544"/>
              </a:spcBef>
              <a:spcAft>
                <a:spcPts val="0"/>
              </a:spcAft>
              <a:buClr>
                <a:schemeClr val="dk1"/>
              </a:buClr>
              <a:buSzPct val="100000"/>
              <a:buChar char="•"/>
            </a:pPr>
            <a:r>
              <a:rPr b="0" i="0" lang="en-IN" sz="3200">
                <a:solidFill>
                  <a:schemeClr val="dk1"/>
                </a:solidFill>
                <a:latin typeface="Calibri"/>
                <a:ea typeface="Calibri"/>
                <a:cs typeface="Calibri"/>
                <a:sym typeface="Calibri"/>
              </a:rPr>
              <a:t>Furthermore, this may involve data cleansing to eliminate inconsistencies and mistakes in the data, a reasonable effort considering the information coming from an eclectic group of sources and rendering data into a suitable format for analysis tools.</a:t>
            </a:r>
            <a:endParaRPr/>
          </a:p>
          <a:p>
            <a:pPr indent="-342900" lvl="0" marL="342900" rtl="0" algn="l">
              <a:spcBef>
                <a:spcPts val="544"/>
              </a:spcBef>
              <a:spcAft>
                <a:spcPts val="0"/>
              </a:spcAft>
              <a:buClr>
                <a:schemeClr val="dk1"/>
              </a:buClr>
              <a:buSzPct val="100000"/>
              <a:buChar char="•"/>
            </a:pPr>
            <a:r>
              <a:rPr b="0" i="0" lang="en-IN" sz="3200">
                <a:solidFill>
                  <a:schemeClr val="dk1"/>
                </a:solidFill>
                <a:latin typeface="Calibri"/>
                <a:ea typeface="Calibri"/>
                <a:cs typeface="Calibri"/>
                <a:sym typeface="Calibri"/>
              </a:rPr>
              <a:t>Advanced data analytics types use a process known as </a:t>
            </a:r>
            <a:r>
              <a:rPr b="1" i="0" lang="en-IN" sz="3200" u="none" strike="noStrike">
                <a:solidFill>
                  <a:schemeClr val="dk1"/>
                </a:solidFill>
                <a:latin typeface="Calibri"/>
                <a:ea typeface="Calibri"/>
                <a:cs typeface="Calibri"/>
                <a:sym typeface="Calibri"/>
              </a:rPr>
              <a:t>data modelling</a:t>
            </a:r>
            <a:r>
              <a:rPr b="0" i="0" lang="en-IN" sz="3200">
                <a:solidFill>
                  <a:schemeClr val="dk1"/>
                </a:solidFill>
                <a:latin typeface="Calibri"/>
                <a:ea typeface="Calibri"/>
                <a:cs typeface="Calibri"/>
                <a:sym typeface="Calibri"/>
              </a:rPr>
              <a:t>, a framework residing within information systems to help prepare, arrange, and organize the company's information.</a:t>
            </a:r>
            <a:endParaRPr/>
          </a:p>
          <a:p>
            <a:pPr indent="-342900" lvl="0" marL="342900" rtl="0" algn="l">
              <a:spcBef>
                <a:spcPts val="544"/>
              </a:spcBef>
              <a:spcAft>
                <a:spcPts val="0"/>
              </a:spcAft>
              <a:buClr>
                <a:schemeClr val="dk1"/>
              </a:buClr>
              <a:buSzPct val="100000"/>
              <a:buChar char="•"/>
            </a:pPr>
            <a:r>
              <a:rPr b="0" i="0" lang="en-IN" sz="3200">
                <a:solidFill>
                  <a:schemeClr val="dk1"/>
                </a:solidFill>
                <a:latin typeface="Calibri"/>
                <a:ea typeface="Calibri"/>
                <a:cs typeface="Calibri"/>
                <a:sym typeface="Calibri"/>
              </a:rPr>
              <a:t>Data modelling defines and formats complex data, turning it into a usable, actionable resource.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0" i="0" lang="en-IN" sz="4400">
                <a:solidFill>
                  <a:schemeClr val="dk1"/>
                </a:solidFill>
                <a:latin typeface="Calibri"/>
                <a:ea typeface="Calibri"/>
                <a:cs typeface="Calibri"/>
                <a:sym typeface="Calibri"/>
              </a:rPr>
              <a:t>4. Analyze the Data</a:t>
            </a:r>
            <a:endParaRPr/>
          </a:p>
        </p:txBody>
      </p:sp>
      <p:sp>
        <p:nvSpPr>
          <p:cNvPr id="158" name="Google Shape;158;p12"/>
          <p:cNvSpPr txBox="1"/>
          <p:nvPr>
            <p:ph idx="1" type="body"/>
          </p:nvPr>
        </p:nvSpPr>
        <p:spPr>
          <a:xfrm>
            <a:off x="457200" y="1600200"/>
            <a:ext cx="8229600" cy="4983162"/>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b="0" i="0" lang="en-IN" sz="3200">
                <a:solidFill>
                  <a:schemeClr val="dk1"/>
                </a:solidFill>
                <a:latin typeface="Calibri"/>
                <a:ea typeface="Calibri"/>
                <a:cs typeface="Calibri"/>
                <a:sym typeface="Calibri"/>
              </a:rPr>
              <a:t>Companies have various tools at their disposal to apply descriptive analytics, ranging from </a:t>
            </a:r>
            <a:r>
              <a:rPr b="0" i="0" lang="en-IN" sz="3200" u="none" strike="noStrike">
                <a:solidFill>
                  <a:schemeClr val="dk1"/>
                </a:solidFill>
                <a:latin typeface="Calibri"/>
                <a:ea typeface="Calibri"/>
                <a:cs typeface="Calibri"/>
                <a:sym typeface="Calibri"/>
              </a:rPr>
              <a:t>business intelligence (BI)</a:t>
            </a:r>
            <a:r>
              <a:rPr b="0" i="0" lang="en-IN" sz="3200">
                <a:solidFill>
                  <a:schemeClr val="dk1"/>
                </a:solidFill>
                <a:latin typeface="Calibri"/>
                <a:ea typeface="Calibri"/>
                <a:cs typeface="Calibri"/>
                <a:sym typeface="Calibri"/>
              </a:rPr>
              <a:t> software to spreadsheets such as ones found in Excel.</a:t>
            </a:r>
            <a:endParaRPr/>
          </a:p>
          <a:p>
            <a:pPr indent="-342900" lvl="0" marL="342900" rtl="0" algn="l">
              <a:spcBef>
                <a:spcPts val="592"/>
              </a:spcBef>
              <a:spcAft>
                <a:spcPts val="0"/>
              </a:spcAft>
              <a:buClr>
                <a:schemeClr val="dk1"/>
              </a:buClr>
              <a:buSzPct val="100000"/>
              <a:buChar char="•"/>
            </a:pPr>
            <a:r>
              <a:rPr b="0" i="0" lang="en-IN" sz="3200">
                <a:solidFill>
                  <a:schemeClr val="dk1"/>
                </a:solidFill>
                <a:latin typeface="Calibri"/>
                <a:ea typeface="Calibri"/>
                <a:cs typeface="Calibri"/>
                <a:sym typeface="Calibri"/>
              </a:rPr>
              <a:t>Descriptive analytics usually involves using fundamental mathematical operations to one or more of the variables.</a:t>
            </a:r>
            <a:endParaRPr/>
          </a:p>
          <a:p>
            <a:pPr indent="-342900" lvl="0" marL="342900" rtl="0" algn="l">
              <a:spcBef>
                <a:spcPts val="592"/>
              </a:spcBef>
              <a:spcAft>
                <a:spcPts val="0"/>
              </a:spcAft>
              <a:buClr>
                <a:schemeClr val="dk1"/>
              </a:buClr>
              <a:buSzPct val="100000"/>
              <a:buChar char="•"/>
            </a:pPr>
            <a:r>
              <a:rPr b="0" i="0" lang="en-IN" sz="3200">
                <a:solidFill>
                  <a:schemeClr val="dk1"/>
                </a:solidFill>
                <a:latin typeface="Calibri"/>
                <a:ea typeface="Calibri"/>
                <a:cs typeface="Calibri"/>
                <a:sym typeface="Calibri"/>
              </a:rPr>
              <a:t>For instance, a sales manager might like to monitor the average sales revenue or the monthly revenue from either established or recently acquired customers.</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0" i="0" lang="en-IN" sz="4400">
                <a:solidFill>
                  <a:schemeClr val="dk1"/>
                </a:solidFill>
                <a:latin typeface="Calibri"/>
                <a:ea typeface="Calibri"/>
                <a:cs typeface="Calibri"/>
                <a:sym typeface="Calibri"/>
              </a:rPr>
              <a:t>5. Present the Data</a:t>
            </a:r>
            <a:endParaRPr/>
          </a:p>
        </p:txBody>
      </p:sp>
      <p:sp>
        <p:nvSpPr>
          <p:cNvPr id="164" name="Google Shape;164;p13"/>
          <p:cNvSpPr txBox="1"/>
          <p:nvPr>
            <p:ph idx="1" type="body"/>
          </p:nvPr>
        </p:nvSpPr>
        <p:spPr>
          <a:xfrm>
            <a:off x="457200" y="1600200"/>
            <a:ext cx="8229600" cy="5257800"/>
          </a:xfrm>
          <a:prstGeom prst="rect">
            <a:avLst/>
          </a:prstGeom>
          <a:noFill/>
          <a:ln>
            <a:noFill/>
          </a:ln>
        </p:spPr>
        <p:txBody>
          <a:bodyPr anchorCtr="0" anchor="t" bIns="45700" lIns="91425" spcFirstLastPara="1" rIns="91425" wrap="square" tIns="45700">
            <a:normAutofit fontScale="85000" lnSpcReduction="10000"/>
          </a:bodyPr>
          <a:lstStyle/>
          <a:p>
            <a:pPr indent="-327660" lvl="0" marL="342900" rtl="0" algn="l">
              <a:spcBef>
                <a:spcPts val="0"/>
              </a:spcBef>
              <a:spcAft>
                <a:spcPts val="0"/>
              </a:spcAft>
              <a:buClr>
                <a:schemeClr val="dk1"/>
              </a:buClr>
              <a:buSzPct val="100000"/>
              <a:buChar char="•"/>
            </a:pPr>
            <a:r>
              <a:rPr b="0" i="0" lang="en-IN" sz="3200">
                <a:solidFill>
                  <a:schemeClr val="dk1"/>
                </a:solidFill>
                <a:latin typeface="Calibri"/>
                <a:ea typeface="Calibri"/>
                <a:cs typeface="Calibri"/>
                <a:sym typeface="Calibri"/>
              </a:rPr>
              <a:t>Once </a:t>
            </a:r>
            <a:r>
              <a:rPr b="0" i="0" lang="en-IN" sz="3200" u="sng" strike="noStrike">
                <a:solidFill>
                  <a:schemeClr val="dk1"/>
                </a:solidFill>
                <a:latin typeface="Calibri"/>
                <a:ea typeface="Calibri"/>
                <a:cs typeface="Calibri"/>
                <a:sym typeface="Calibri"/>
                <a:hlinkClick r:id="rId3">
                  <a:extLst>
                    <a:ext uri="{A12FA001-AC4F-418D-AE19-62706E023703}">
                      <ahyp:hlinkClr val="tx"/>
                    </a:ext>
                  </a:extLst>
                </a:hlinkClick>
              </a:rPr>
              <a:t>business analysts</a:t>
            </a:r>
            <a:r>
              <a:rPr b="0" i="0" lang="en-IN" sz="3200">
                <a:solidFill>
                  <a:schemeClr val="dk1"/>
                </a:solidFill>
                <a:latin typeface="Calibri"/>
                <a:ea typeface="Calibri"/>
                <a:cs typeface="Calibri"/>
                <a:sym typeface="Calibri"/>
              </a:rPr>
              <a:t> have gone through the necessary steps, all that's left is presenting the data.</a:t>
            </a:r>
            <a:endParaRPr/>
          </a:p>
          <a:p>
            <a:pPr indent="-327660" lvl="0" marL="342900" rtl="0" algn="l">
              <a:spcBef>
                <a:spcPts val="592"/>
              </a:spcBef>
              <a:spcAft>
                <a:spcPts val="0"/>
              </a:spcAft>
              <a:buClr>
                <a:schemeClr val="dk1"/>
              </a:buClr>
              <a:buSzPct val="100000"/>
              <a:buChar char="•"/>
            </a:pPr>
            <a:r>
              <a:rPr b="0" i="0" lang="en-IN" sz="3200">
                <a:solidFill>
                  <a:schemeClr val="dk1"/>
                </a:solidFill>
                <a:latin typeface="Calibri"/>
                <a:ea typeface="Calibri"/>
                <a:cs typeface="Calibri"/>
                <a:sym typeface="Calibri"/>
              </a:rPr>
              <a:t>First, however, the information must be presented so that everyone can understand it, from stakeholders to finance specialists.</a:t>
            </a:r>
            <a:endParaRPr>
              <a:highlight>
                <a:srgbClr val="FF00FF"/>
              </a:highlight>
            </a:endParaRPr>
          </a:p>
          <a:p>
            <a:pPr indent="-327660" lvl="0" marL="342900" rtl="0" algn="l">
              <a:spcBef>
                <a:spcPts val="592"/>
              </a:spcBef>
              <a:spcAft>
                <a:spcPts val="0"/>
              </a:spcAft>
              <a:buClr>
                <a:schemeClr val="dk1"/>
              </a:buClr>
              <a:buSzPct val="100000"/>
              <a:buChar char="•"/>
            </a:pPr>
            <a:r>
              <a:rPr b="0" i="0" lang="en-IN" sz="3200">
                <a:solidFill>
                  <a:schemeClr val="dk1"/>
                </a:solidFill>
                <a:latin typeface="Calibri"/>
                <a:ea typeface="Calibri"/>
                <a:cs typeface="Calibri"/>
                <a:sym typeface="Calibri"/>
              </a:rPr>
              <a:t>Stakeholders usually appreciate seeing the report in compelling visual forms, like bar charts, pie charts, or line graph</a:t>
            </a:r>
            <a:r>
              <a:rPr lang="en-IN"/>
              <a:t>.</a:t>
            </a:r>
            <a:endParaRPr>
              <a:solidFill>
                <a:srgbClr val="00FF00"/>
              </a:solidFill>
            </a:endParaRPr>
          </a:p>
          <a:p>
            <a:pPr indent="-327660" lvl="0" marL="342900" rtl="0" algn="l">
              <a:spcBef>
                <a:spcPts val="592"/>
              </a:spcBef>
              <a:spcAft>
                <a:spcPts val="0"/>
              </a:spcAft>
              <a:buClr>
                <a:schemeClr val="dk1"/>
              </a:buClr>
              <a:buSzPct val="100000"/>
              <a:buChar char="•"/>
            </a:pPr>
            <a:r>
              <a:rPr b="0" i="0" lang="en-IN" sz="3200">
                <a:solidFill>
                  <a:schemeClr val="dk1"/>
                </a:solidFill>
                <a:latin typeface="Calibri"/>
                <a:ea typeface="Calibri"/>
                <a:cs typeface="Calibri"/>
                <a:sym typeface="Calibri"/>
              </a:rPr>
              <a:t>Visible data is easier to grasp.</a:t>
            </a:r>
            <a:endParaRPr/>
          </a:p>
          <a:p>
            <a:pPr indent="-327660" lvl="0" marL="342900" rtl="0" algn="l">
              <a:spcBef>
                <a:spcPts val="592"/>
              </a:spcBef>
              <a:spcAft>
                <a:spcPts val="0"/>
              </a:spcAft>
              <a:buClr>
                <a:schemeClr val="dk1"/>
              </a:buClr>
              <a:buSzPct val="100000"/>
              <a:buChar char="•"/>
            </a:pPr>
            <a:r>
              <a:rPr b="0" i="0" lang="en-IN" sz="3200">
                <a:solidFill>
                  <a:schemeClr val="dk1"/>
                </a:solidFill>
                <a:latin typeface="Calibri"/>
                <a:ea typeface="Calibri"/>
                <a:cs typeface="Calibri"/>
                <a:sym typeface="Calibri"/>
              </a:rPr>
              <a:t>Finance specialists on the other hand, may want the information presented through numbers and tables.</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Advantages of Descriptive Analytics</a:t>
            </a:r>
            <a:endParaRPr/>
          </a:p>
        </p:txBody>
      </p:sp>
      <p:sp>
        <p:nvSpPr>
          <p:cNvPr id="170" name="Google Shape;170;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lang="en-IN"/>
              <a:t>It’s easy to do: Descriptive analysis doesn’t require great expertise or experience in statistical methods or analytics.</a:t>
            </a:r>
            <a:endParaRPr/>
          </a:p>
          <a:p>
            <a:pPr indent="-342900" lvl="0" marL="342900" rtl="0" algn="l">
              <a:spcBef>
                <a:spcPts val="496"/>
              </a:spcBef>
              <a:spcAft>
                <a:spcPts val="0"/>
              </a:spcAft>
              <a:buClr>
                <a:schemeClr val="dk1"/>
              </a:buClr>
              <a:buSzPct val="100000"/>
              <a:buChar char="•"/>
            </a:pPr>
            <a:r>
              <a:rPr lang="en-IN"/>
              <a:t>There are a lot of tools available: There is a cornucopia of analytics tools available to choose from, products that do most of the heavy lifting. Come to think of it, that helps explain why it’s easy to perform descriptive analytics!</a:t>
            </a:r>
            <a:endParaRPr/>
          </a:p>
          <a:p>
            <a:pPr indent="-342900" lvl="0" marL="342900" rtl="0" algn="l">
              <a:spcBef>
                <a:spcPts val="496"/>
              </a:spcBef>
              <a:spcAft>
                <a:spcPts val="0"/>
              </a:spcAft>
              <a:buClr>
                <a:schemeClr val="dk1"/>
              </a:buClr>
              <a:buSzPct val="100000"/>
              <a:buChar char="•"/>
            </a:pPr>
            <a:r>
              <a:rPr lang="en-IN"/>
              <a:t>It answers the most common business performance questions: Most stakeholders and salespeople want to know things like "How are we doing?" or "What should we be doing differently?" Descriptive analytics provides the data needed to answer those questions efficiently, no matter when or how often they're asked</a:t>
            </a:r>
            <a:endParaRPr/>
          </a:p>
          <a:p>
            <a:pPr indent="-185420" lvl="0" marL="342900" rtl="0" algn="l">
              <a:spcBef>
                <a:spcPts val="496"/>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Drawbacks</a:t>
            </a:r>
            <a:endParaRPr/>
          </a:p>
        </p:txBody>
      </p:sp>
      <p:sp>
        <p:nvSpPr>
          <p:cNvPr id="176" name="Google Shape;176;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IN"/>
              <a:t>It’s limited to simple analysis: Descriptive analysis examines the relationship between a handful of variables, and that’s all.</a:t>
            </a:r>
            <a:endParaRPr/>
          </a:p>
          <a:p>
            <a:pPr indent="-342900" lvl="0" marL="342900" rtl="0" algn="l">
              <a:spcBef>
                <a:spcPts val="640"/>
              </a:spcBef>
              <a:spcAft>
                <a:spcPts val="0"/>
              </a:spcAft>
              <a:buClr>
                <a:schemeClr val="dk1"/>
              </a:buClr>
              <a:buSzPts val="3200"/>
              <a:buChar char="•"/>
            </a:pPr>
            <a:r>
              <a:rPr lang="en-IN"/>
              <a:t>It tells you what, but not why: Descriptive analysis reports events as they happened, not why they happened or what could possibly happen next.</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Descriptive vs. Predictive vs. Prescriptive Analytics</a:t>
            </a:r>
            <a:endParaRPr/>
          </a:p>
        </p:txBody>
      </p:sp>
      <p:graphicFrame>
        <p:nvGraphicFramePr>
          <p:cNvPr id="182" name="Google Shape;182;p16"/>
          <p:cNvGraphicFramePr/>
          <p:nvPr/>
        </p:nvGraphicFramePr>
        <p:xfrm>
          <a:off x="179512" y="1600200"/>
          <a:ext cx="3000000" cy="3000000"/>
        </p:xfrm>
        <a:graphic>
          <a:graphicData uri="http://schemas.openxmlformats.org/drawingml/2006/table">
            <a:tbl>
              <a:tblPr bandRow="1" firstRow="1">
                <a:noFill/>
                <a:tableStyleId>{AFE54519-387C-40F5-8D72-C6E4E22D01FA}</a:tableStyleId>
              </a:tblPr>
              <a:tblGrid>
                <a:gridCol w="1368150"/>
                <a:gridCol w="2160250"/>
                <a:gridCol w="2952325"/>
                <a:gridCol w="2160250"/>
              </a:tblGrid>
              <a:tr h="370850">
                <a:tc>
                  <a:txBody>
                    <a:bodyPr/>
                    <a:lstStyle/>
                    <a:p>
                      <a:pPr indent="0" lvl="0" marL="0" marR="0" rtl="0" algn="ctr">
                        <a:spcBef>
                          <a:spcPts val="0"/>
                        </a:spcBef>
                        <a:spcAft>
                          <a:spcPts val="0"/>
                        </a:spcAft>
                        <a:buNone/>
                      </a:pPr>
                      <a:r>
                        <a:rPr b="0" i="0" lang="en-IN" sz="1800" u="none" cap="none" strike="noStrike">
                          <a:solidFill>
                            <a:srgbClr val="51565E"/>
                          </a:solidFill>
                          <a:latin typeface="Roboto"/>
                          <a:ea typeface="Roboto"/>
                          <a:cs typeface="Roboto"/>
                          <a:sym typeface="Roboto"/>
                        </a:rPr>
                        <a:t> </a:t>
                      </a:r>
                      <a:endParaRPr/>
                    </a:p>
                  </a:txBody>
                  <a:tcPr marT="152400" marB="152400" marR="114300" marL="114300" anchor="ctr"/>
                </a:tc>
                <a:tc>
                  <a:txBody>
                    <a:bodyPr/>
                    <a:lstStyle/>
                    <a:p>
                      <a:pPr indent="0" lvl="0" marL="0" marR="0" rtl="0" algn="ctr">
                        <a:spcBef>
                          <a:spcPts val="0"/>
                        </a:spcBef>
                        <a:spcAft>
                          <a:spcPts val="0"/>
                        </a:spcAft>
                        <a:buNone/>
                      </a:pPr>
                      <a:r>
                        <a:rPr b="0" i="0" lang="en-IN" sz="1800" u="none" cap="none" strike="noStrike">
                          <a:solidFill>
                            <a:srgbClr val="272C37"/>
                          </a:solidFill>
                          <a:latin typeface="Roboto"/>
                          <a:ea typeface="Roboto"/>
                          <a:cs typeface="Roboto"/>
                          <a:sym typeface="Roboto"/>
                        </a:rPr>
                        <a:t>Descriptive Analysis</a:t>
                      </a:r>
                      <a:endParaRPr/>
                    </a:p>
                  </a:txBody>
                  <a:tcPr marT="152400" marB="152400" marR="114300" marL="114300" anchor="ctr"/>
                </a:tc>
                <a:tc>
                  <a:txBody>
                    <a:bodyPr/>
                    <a:lstStyle/>
                    <a:p>
                      <a:pPr indent="0" lvl="0" marL="0" marR="0" rtl="0" algn="ctr">
                        <a:spcBef>
                          <a:spcPts val="0"/>
                        </a:spcBef>
                        <a:spcAft>
                          <a:spcPts val="0"/>
                        </a:spcAft>
                        <a:buNone/>
                      </a:pPr>
                      <a:r>
                        <a:rPr b="0" i="0" lang="en-IN" sz="1800" u="none" cap="none" strike="noStrike">
                          <a:solidFill>
                            <a:srgbClr val="272C37"/>
                          </a:solidFill>
                          <a:latin typeface="Roboto"/>
                          <a:ea typeface="Roboto"/>
                          <a:cs typeface="Roboto"/>
                          <a:sym typeface="Roboto"/>
                        </a:rPr>
                        <a:t>Predictive Analysis</a:t>
                      </a:r>
                      <a:endParaRPr/>
                    </a:p>
                  </a:txBody>
                  <a:tcPr marT="152400" marB="152400" marR="114300" marL="114300" anchor="ctr"/>
                </a:tc>
                <a:tc>
                  <a:txBody>
                    <a:bodyPr/>
                    <a:lstStyle/>
                    <a:p>
                      <a:pPr indent="0" lvl="0" marL="0" marR="0" rtl="0" algn="ctr">
                        <a:spcBef>
                          <a:spcPts val="0"/>
                        </a:spcBef>
                        <a:spcAft>
                          <a:spcPts val="0"/>
                        </a:spcAft>
                        <a:buNone/>
                      </a:pPr>
                      <a:r>
                        <a:rPr b="0" i="0" lang="en-IN" sz="1800" u="none" cap="none" strike="noStrike">
                          <a:solidFill>
                            <a:srgbClr val="272C37"/>
                          </a:solidFill>
                          <a:latin typeface="Roboto"/>
                          <a:ea typeface="Roboto"/>
                          <a:cs typeface="Roboto"/>
                          <a:sym typeface="Roboto"/>
                        </a:rPr>
                        <a:t>Prescriptive Analysis</a:t>
                      </a:r>
                      <a:endParaRPr/>
                    </a:p>
                  </a:txBody>
                  <a:tcPr marT="152400" marB="152400" marR="114300" marL="114300" anchor="ctr"/>
                </a:tc>
              </a:tr>
              <a:tr h="370850">
                <a:tc>
                  <a:txBody>
                    <a:bodyPr/>
                    <a:lstStyle/>
                    <a:p>
                      <a:pPr indent="0" lvl="0" marL="0" marR="0" rtl="0" algn="ctr">
                        <a:spcBef>
                          <a:spcPts val="0"/>
                        </a:spcBef>
                        <a:spcAft>
                          <a:spcPts val="0"/>
                        </a:spcAft>
                        <a:buNone/>
                      </a:pPr>
                      <a:r>
                        <a:rPr b="0" i="0" lang="en-IN" sz="1800" u="none" cap="none" strike="noStrike">
                          <a:solidFill>
                            <a:srgbClr val="51565E"/>
                          </a:solidFill>
                          <a:latin typeface="Roboto"/>
                          <a:ea typeface="Roboto"/>
                          <a:cs typeface="Roboto"/>
                          <a:sym typeface="Roboto"/>
                        </a:rPr>
                        <a:t>Summary</a:t>
                      </a:r>
                      <a:endParaRPr/>
                    </a:p>
                  </a:txBody>
                  <a:tcPr marT="152400" marB="152400" marR="114300" marL="114300" anchor="ctr"/>
                </a:tc>
                <a:tc>
                  <a:txBody>
                    <a:bodyPr/>
                    <a:lstStyle/>
                    <a:p>
                      <a:pPr indent="0" lvl="0" marL="0" marR="0" rtl="0" algn="ctr">
                        <a:spcBef>
                          <a:spcPts val="0"/>
                        </a:spcBef>
                        <a:spcAft>
                          <a:spcPts val="0"/>
                        </a:spcAft>
                        <a:buNone/>
                      </a:pPr>
                      <a:r>
                        <a:rPr b="0" i="0" lang="en-IN" sz="1800" u="none" cap="none" strike="noStrike">
                          <a:solidFill>
                            <a:srgbClr val="51565E"/>
                          </a:solidFill>
                          <a:latin typeface="Roboto"/>
                          <a:ea typeface="Roboto"/>
                          <a:cs typeface="Roboto"/>
                          <a:sym typeface="Roboto"/>
                        </a:rPr>
                        <a:t>What happened?</a:t>
                      </a:r>
                      <a:endParaRPr/>
                    </a:p>
                  </a:txBody>
                  <a:tcPr marT="152400" marB="152400" marR="114300" marL="114300" anchor="ctr"/>
                </a:tc>
                <a:tc>
                  <a:txBody>
                    <a:bodyPr/>
                    <a:lstStyle/>
                    <a:p>
                      <a:pPr indent="0" lvl="0" marL="0" marR="0" rtl="0" algn="ctr">
                        <a:spcBef>
                          <a:spcPts val="0"/>
                        </a:spcBef>
                        <a:spcAft>
                          <a:spcPts val="0"/>
                        </a:spcAft>
                        <a:buNone/>
                      </a:pPr>
                      <a:r>
                        <a:rPr b="0" i="0" lang="en-IN" sz="1800" u="none" cap="none" strike="noStrike">
                          <a:solidFill>
                            <a:srgbClr val="51565E"/>
                          </a:solidFill>
                          <a:latin typeface="Roboto"/>
                          <a:ea typeface="Roboto"/>
                          <a:cs typeface="Roboto"/>
                          <a:sym typeface="Roboto"/>
                        </a:rPr>
                        <a:t>What’s going to happen?</a:t>
                      </a:r>
                      <a:endParaRPr/>
                    </a:p>
                  </a:txBody>
                  <a:tcPr marT="152400" marB="152400" marR="114300" marL="114300" anchor="ctr"/>
                </a:tc>
                <a:tc>
                  <a:txBody>
                    <a:bodyPr/>
                    <a:lstStyle/>
                    <a:p>
                      <a:pPr indent="0" lvl="0" marL="0" marR="0" rtl="0" algn="ctr">
                        <a:spcBef>
                          <a:spcPts val="0"/>
                        </a:spcBef>
                        <a:spcAft>
                          <a:spcPts val="0"/>
                        </a:spcAft>
                        <a:buNone/>
                      </a:pPr>
                      <a:r>
                        <a:rPr b="0" i="0" lang="en-IN" sz="1800" u="none" cap="none" strike="noStrike">
                          <a:solidFill>
                            <a:srgbClr val="51565E"/>
                          </a:solidFill>
                          <a:latin typeface="Roboto"/>
                          <a:ea typeface="Roboto"/>
                          <a:cs typeface="Roboto"/>
                          <a:sym typeface="Roboto"/>
                        </a:rPr>
                        <a:t>What should happen?</a:t>
                      </a:r>
                      <a:endParaRPr/>
                    </a:p>
                  </a:txBody>
                  <a:tcPr marT="152400" marB="152400" marR="114300" marL="114300" anchor="ctr"/>
                </a:tc>
              </a:tr>
              <a:tr h="370850">
                <a:tc>
                  <a:txBody>
                    <a:bodyPr/>
                    <a:lstStyle/>
                    <a:p>
                      <a:pPr indent="0" lvl="0" marL="0" marR="0" rtl="0" algn="ctr">
                        <a:spcBef>
                          <a:spcPts val="0"/>
                        </a:spcBef>
                        <a:spcAft>
                          <a:spcPts val="0"/>
                        </a:spcAft>
                        <a:buNone/>
                      </a:pPr>
                      <a:r>
                        <a:rPr b="0" i="0" lang="en-IN" sz="1800" u="none" cap="none" strike="noStrike">
                          <a:solidFill>
                            <a:srgbClr val="51565E"/>
                          </a:solidFill>
                          <a:latin typeface="Roboto"/>
                          <a:ea typeface="Roboto"/>
                          <a:cs typeface="Roboto"/>
                          <a:sym typeface="Roboto"/>
                        </a:rPr>
                        <a:t>Function</a:t>
                      </a:r>
                      <a:endParaRPr/>
                    </a:p>
                  </a:txBody>
                  <a:tcPr marT="152400" marB="152400" marR="114300" marL="114300" anchor="ctr"/>
                </a:tc>
                <a:tc>
                  <a:txBody>
                    <a:bodyPr/>
                    <a:lstStyle/>
                    <a:p>
                      <a:pPr indent="0" lvl="0" marL="0" marR="0" rtl="0" algn="ctr">
                        <a:spcBef>
                          <a:spcPts val="0"/>
                        </a:spcBef>
                        <a:spcAft>
                          <a:spcPts val="0"/>
                        </a:spcAft>
                        <a:buNone/>
                      </a:pPr>
                      <a:r>
                        <a:rPr b="0" i="0" lang="en-IN" sz="1800" u="none" cap="none" strike="noStrike">
                          <a:solidFill>
                            <a:srgbClr val="51565E"/>
                          </a:solidFill>
                          <a:latin typeface="Roboto"/>
                          <a:ea typeface="Roboto"/>
                          <a:cs typeface="Roboto"/>
                          <a:sym typeface="Roboto"/>
                        </a:rPr>
                        <a:t>It uses data mining and data aggregation to discover historical data.</a:t>
                      </a:r>
                      <a:endParaRPr/>
                    </a:p>
                  </a:txBody>
                  <a:tcPr marT="152400" marB="152400" marR="114300" marL="114300" anchor="ctr"/>
                </a:tc>
                <a:tc>
                  <a:txBody>
                    <a:bodyPr/>
                    <a:lstStyle/>
                    <a:p>
                      <a:pPr indent="0" lvl="0" marL="0" marR="0" rtl="0" algn="ctr">
                        <a:spcBef>
                          <a:spcPts val="0"/>
                        </a:spcBef>
                        <a:spcAft>
                          <a:spcPts val="0"/>
                        </a:spcAft>
                        <a:buNone/>
                      </a:pPr>
                      <a:r>
                        <a:rPr b="0" i="0" lang="en-IN" sz="1800" u="none" cap="none" strike="noStrike">
                          <a:solidFill>
                            <a:srgbClr val="51565E"/>
                          </a:solidFill>
                          <a:latin typeface="Roboto"/>
                          <a:ea typeface="Roboto"/>
                          <a:cs typeface="Roboto"/>
                          <a:sym typeface="Roboto"/>
                        </a:rPr>
                        <a:t>It looks at historical data and analyzes past data trends to predict what could happen.</a:t>
                      </a:r>
                      <a:endParaRPr/>
                    </a:p>
                  </a:txBody>
                  <a:tcPr marT="152400" marB="152400" marR="114300" marL="114300" anchor="ctr"/>
                </a:tc>
                <a:tc>
                  <a:txBody>
                    <a:bodyPr/>
                    <a:lstStyle/>
                    <a:p>
                      <a:pPr indent="0" lvl="0" marL="0" marR="0" rtl="0" algn="ctr">
                        <a:spcBef>
                          <a:spcPts val="0"/>
                        </a:spcBef>
                        <a:spcAft>
                          <a:spcPts val="0"/>
                        </a:spcAft>
                        <a:buNone/>
                      </a:pPr>
                      <a:r>
                        <a:rPr b="0" i="0" lang="en-IN" sz="1800" u="none" cap="none" strike="noStrike">
                          <a:solidFill>
                            <a:srgbClr val="51565E"/>
                          </a:solidFill>
                          <a:latin typeface="Roboto"/>
                          <a:ea typeface="Roboto"/>
                          <a:cs typeface="Roboto"/>
                          <a:sym typeface="Roboto"/>
                        </a:rPr>
                        <a:t>It takes the conclusions gleaned from descriptive and predictive analysis and recommends the best future course of action.</a:t>
                      </a:r>
                      <a:endParaRPr/>
                    </a:p>
                  </a:txBody>
                  <a:tcPr marT="152400" marB="152400" marR="114300" marL="114300" anchor="ct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graphicFrame>
        <p:nvGraphicFramePr>
          <p:cNvPr id="188" name="Google Shape;188;p17"/>
          <p:cNvGraphicFramePr/>
          <p:nvPr/>
        </p:nvGraphicFramePr>
        <p:xfrm>
          <a:off x="457200" y="1600200"/>
          <a:ext cx="3000000" cy="3000000"/>
        </p:xfrm>
        <a:graphic>
          <a:graphicData uri="http://schemas.openxmlformats.org/drawingml/2006/table">
            <a:tbl>
              <a:tblPr bandRow="1" firstRow="1">
                <a:noFill/>
                <a:tableStyleId>{AFE54519-387C-40F5-8D72-C6E4E22D01FA}</a:tableStyleId>
              </a:tblPr>
              <a:tblGrid>
                <a:gridCol w="1368150"/>
                <a:gridCol w="2160250"/>
                <a:gridCol w="2026575"/>
                <a:gridCol w="2952325"/>
              </a:tblGrid>
              <a:tr h="370850">
                <a:tc>
                  <a:txBody>
                    <a:bodyPr/>
                    <a:lstStyle/>
                    <a:p>
                      <a:pPr indent="0" lvl="0" marL="0" marR="0" rtl="0" algn="ctr">
                        <a:spcBef>
                          <a:spcPts val="0"/>
                        </a:spcBef>
                        <a:spcAft>
                          <a:spcPts val="0"/>
                        </a:spcAft>
                        <a:buNone/>
                      </a:pPr>
                      <a:r>
                        <a:rPr b="0" i="0" lang="en-IN" sz="1800" u="none" cap="none" strike="noStrike">
                          <a:solidFill>
                            <a:srgbClr val="51565E"/>
                          </a:solidFill>
                          <a:latin typeface="Roboto"/>
                          <a:ea typeface="Roboto"/>
                          <a:cs typeface="Roboto"/>
                          <a:sym typeface="Roboto"/>
                        </a:rPr>
                        <a:t> </a:t>
                      </a:r>
                      <a:endParaRPr/>
                    </a:p>
                  </a:txBody>
                  <a:tcPr marT="152400" marB="152400" marR="114300" marL="114300" anchor="ctr"/>
                </a:tc>
                <a:tc>
                  <a:txBody>
                    <a:bodyPr/>
                    <a:lstStyle/>
                    <a:p>
                      <a:pPr indent="0" lvl="0" marL="0" marR="0" rtl="0" algn="ctr">
                        <a:spcBef>
                          <a:spcPts val="0"/>
                        </a:spcBef>
                        <a:spcAft>
                          <a:spcPts val="0"/>
                        </a:spcAft>
                        <a:buNone/>
                      </a:pPr>
                      <a:r>
                        <a:rPr b="0" i="0" lang="en-IN" sz="1800" u="none" cap="none" strike="noStrike">
                          <a:solidFill>
                            <a:srgbClr val="272C37"/>
                          </a:solidFill>
                          <a:latin typeface="Roboto"/>
                          <a:ea typeface="Roboto"/>
                          <a:cs typeface="Roboto"/>
                          <a:sym typeface="Roboto"/>
                        </a:rPr>
                        <a:t>Descriptive Analysis</a:t>
                      </a:r>
                      <a:endParaRPr/>
                    </a:p>
                  </a:txBody>
                  <a:tcPr marT="152400" marB="152400" marR="114300" marL="114300" anchor="ctr"/>
                </a:tc>
                <a:tc>
                  <a:txBody>
                    <a:bodyPr/>
                    <a:lstStyle/>
                    <a:p>
                      <a:pPr indent="0" lvl="0" marL="0" marR="0" rtl="0" algn="ctr">
                        <a:spcBef>
                          <a:spcPts val="0"/>
                        </a:spcBef>
                        <a:spcAft>
                          <a:spcPts val="0"/>
                        </a:spcAft>
                        <a:buNone/>
                      </a:pPr>
                      <a:r>
                        <a:rPr b="0" i="0" lang="en-IN" sz="1800" u="none" cap="none" strike="noStrike">
                          <a:solidFill>
                            <a:srgbClr val="272C37"/>
                          </a:solidFill>
                          <a:latin typeface="Roboto"/>
                          <a:ea typeface="Roboto"/>
                          <a:cs typeface="Roboto"/>
                          <a:sym typeface="Roboto"/>
                        </a:rPr>
                        <a:t>Predictive Analysis</a:t>
                      </a:r>
                      <a:endParaRPr/>
                    </a:p>
                  </a:txBody>
                  <a:tcPr marT="152400" marB="152400" marR="114300" marL="114300" anchor="ctr"/>
                </a:tc>
                <a:tc>
                  <a:txBody>
                    <a:bodyPr/>
                    <a:lstStyle/>
                    <a:p>
                      <a:pPr indent="0" lvl="0" marL="0" marR="0" rtl="0" algn="ctr">
                        <a:spcBef>
                          <a:spcPts val="0"/>
                        </a:spcBef>
                        <a:spcAft>
                          <a:spcPts val="0"/>
                        </a:spcAft>
                        <a:buNone/>
                      </a:pPr>
                      <a:r>
                        <a:rPr b="0" i="0" lang="en-IN" sz="1800" u="none" cap="none" strike="noStrike">
                          <a:solidFill>
                            <a:srgbClr val="272C37"/>
                          </a:solidFill>
                          <a:latin typeface="Roboto"/>
                          <a:ea typeface="Roboto"/>
                          <a:cs typeface="Roboto"/>
                          <a:sym typeface="Roboto"/>
                        </a:rPr>
                        <a:t>Prescriptive Analysis</a:t>
                      </a:r>
                      <a:endParaRPr/>
                    </a:p>
                  </a:txBody>
                  <a:tcPr marT="152400" marB="152400" marR="114300" marL="114300" anchor="ctr"/>
                </a:tc>
              </a:tr>
              <a:tr h="370850">
                <a:tc>
                  <a:txBody>
                    <a:bodyPr/>
                    <a:lstStyle/>
                    <a:p>
                      <a:pPr indent="0" lvl="0" marL="0" marR="0" rtl="0" algn="ctr">
                        <a:spcBef>
                          <a:spcPts val="0"/>
                        </a:spcBef>
                        <a:spcAft>
                          <a:spcPts val="0"/>
                        </a:spcAft>
                        <a:buNone/>
                      </a:pPr>
                      <a:r>
                        <a:rPr b="0" i="0" lang="en-IN" sz="1800" u="none" cap="none" strike="noStrike">
                          <a:solidFill>
                            <a:srgbClr val="51565E"/>
                          </a:solidFill>
                          <a:latin typeface="Roboto"/>
                          <a:ea typeface="Roboto"/>
                          <a:cs typeface="Roboto"/>
                          <a:sym typeface="Roboto"/>
                        </a:rPr>
                        <a:t>Pros</a:t>
                      </a:r>
                      <a:endParaRPr/>
                    </a:p>
                  </a:txBody>
                  <a:tcPr marT="152400" marB="152400" marR="114300" marL="114300" anchor="ctr"/>
                </a:tc>
                <a:tc>
                  <a:txBody>
                    <a:bodyPr/>
                    <a:lstStyle/>
                    <a:p>
                      <a:pPr indent="0" lvl="0" marL="0" marR="0" rtl="0" algn="ctr">
                        <a:spcBef>
                          <a:spcPts val="0"/>
                        </a:spcBef>
                        <a:spcAft>
                          <a:spcPts val="0"/>
                        </a:spcAft>
                        <a:buNone/>
                      </a:pPr>
                      <a:r>
                        <a:rPr b="0" i="0" lang="en-IN" sz="1800" u="none" cap="none" strike="noStrike">
                          <a:solidFill>
                            <a:srgbClr val="51565E"/>
                          </a:solidFill>
                          <a:latin typeface="Roboto"/>
                          <a:ea typeface="Roboto"/>
                          <a:cs typeface="Roboto"/>
                          <a:sym typeface="Roboto"/>
                        </a:rPr>
                        <a:t>It’s easy to employ in daily operations. Little experience is needed.</a:t>
                      </a:r>
                      <a:endParaRPr/>
                    </a:p>
                  </a:txBody>
                  <a:tcPr marT="152400" marB="152400" marR="114300" marL="114300" anchor="ctr"/>
                </a:tc>
                <a:tc>
                  <a:txBody>
                    <a:bodyPr/>
                    <a:lstStyle/>
                    <a:p>
                      <a:pPr indent="0" lvl="0" marL="0" marR="0" rtl="0" algn="ctr">
                        <a:spcBef>
                          <a:spcPts val="0"/>
                        </a:spcBef>
                        <a:spcAft>
                          <a:spcPts val="0"/>
                        </a:spcAft>
                        <a:buNone/>
                      </a:pPr>
                      <a:r>
                        <a:rPr b="0" i="0" lang="en-IN" sz="1800" u="none" cap="none" strike="noStrike">
                          <a:solidFill>
                            <a:srgbClr val="51565E"/>
                          </a:solidFill>
                          <a:latin typeface="Roboto"/>
                          <a:ea typeface="Roboto"/>
                          <a:cs typeface="Roboto"/>
                          <a:sym typeface="Roboto"/>
                        </a:rPr>
                        <a:t>It’s a valuable forecasting tool.</a:t>
                      </a:r>
                      <a:endParaRPr/>
                    </a:p>
                  </a:txBody>
                  <a:tcPr marT="152400" marB="152400" marR="114300" marL="114300" anchor="ctr"/>
                </a:tc>
                <a:tc>
                  <a:txBody>
                    <a:bodyPr/>
                    <a:lstStyle/>
                    <a:p>
                      <a:pPr indent="0" lvl="0" marL="0" marR="0" rtl="0" algn="ctr">
                        <a:spcBef>
                          <a:spcPts val="0"/>
                        </a:spcBef>
                        <a:spcAft>
                          <a:spcPts val="0"/>
                        </a:spcAft>
                        <a:buNone/>
                      </a:pPr>
                      <a:r>
                        <a:rPr b="0" i="0" lang="en-IN" sz="1800" u="none" cap="none" strike="noStrike">
                          <a:solidFill>
                            <a:srgbClr val="51565E"/>
                          </a:solidFill>
                          <a:latin typeface="Roboto"/>
                          <a:ea typeface="Roboto"/>
                          <a:cs typeface="Roboto"/>
                          <a:sym typeface="Roboto"/>
                        </a:rPr>
                        <a:t>It offers critical insights into making the best, most informed decisions.</a:t>
                      </a:r>
                      <a:endParaRPr/>
                    </a:p>
                  </a:txBody>
                  <a:tcPr marT="152400" marB="152400" marR="114300" marL="114300" anchor="ctr"/>
                </a:tc>
              </a:tr>
              <a:tr h="370850">
                <a:tc>
                  <a:txBody>
                    <a:bodyPr/>
                    <a:lstStyle/>
                    <a:p>
                      <a:pPr indent="0" lvl="0" marL="0" marR="0" rtl="0" algn="ctr">
                        <a:spcBef>
                          <a:spcPts val="0"/>
                        </a:spcBef>
                        <a:spcAft>
                          <a:spcPts val="0"/>
                        </a:spcAft>
                        <a:buNone/>
                      </a:pPr>
                      <a:r>
                        <a:rPr b="0" i="0" lang="en-IN" sz="1800" u="none" cap="none" strike="noStrike">
                          <a:solidFill>
                            <a:srgbClr val="51565E"/>
                          </a:solidFill>
                          <a:latin typeface="Roboto"/>
                          <a:ea typeface="Roboto"/>
                          <a:cs typeface="Roboto"/>
                          <a:sym typeface="Roboto"/>
                        </a:rPr>
                        <a:t>Cons</a:t>
                      </a:r>
                      <a:endParaRPr/>
                    </a:p>
                  </a:txBody>
                  <a:tcPr marT="152400" marB="152400" marR="114300" marL="114300" anchor="ctr"/>
                </a:tc>
                <a:tc>
                  <a:txBody>
                    <a:bodyPr/>
                    <a:lstStyle/>
                    <a:p>
                      <a:pPr indent="0" lvl="0" marL="0" marR="0" rtl="0" algn="ctr">
                        <a:spcBef>
                          <a:spcPts val="0"/>
                        </a:spcBef>
                        <a:spcAft>
                          <a:spcPts val="0"/>
                        </a:spcAft>
                        <a:buNone/>
                      </a:pPr>
                      <a:r>
                        <a:rPr b="0" i="0" lang="en-IN" sz="1800" u="none" cap="none" strike="noStrike">
                          <a:solidFill>
                            <a:srgbClr val="51565E"/>
                          </a:solidFill>
                          <a:latin typeface="Roboto"/>
                          <a:ea typeface="Roboto"/>
                          <a:cs typeface="Roboto"/>
                          <a:sym typeface="Roboto"/>
                        </a:rPr>
                        <a:t>It offers a limited view, and doesn't go beyond the data’s surface.</a:t>
                      </a:r>
                      <a:endParaRPr/>
                    </a:p>
                  </a:txBody>
                  <a:tcPr marT="152400" marB="152400" marR="114300" marL="114300" anchor="ctr"/>
                </a:tc>
                <a:tc>
                  <a:txBody>
                    <a:bodyPr/>
                    <a:lstStyle/>
                    <a:p>
                      <a:pPr indent="0" lvl="0" marL="0" marR="0" rtl="0" algn="ctr">
                        <a:spcBef>
                          <a:spcPts val="0"/>
                        </a:spcBef>
                        <a:spcAft>
                          <a:spcPts val="0"/>
                        </a:spcAft>
                        <a:buNone/>
                      </a:pPr>
                      <a:r>
                        <a:rPr b="0" i="0" lang="en-IN" sz="1800" u="none" cap="none" strike="noStrike">
                          <a:solidFill>
                            <a:srgbClr val="51565E"/>
                          </a:solidFill>
                          <a:latin typeface="Roboto"/>
                          <a:ea typeface="Roboto"/>
                          <a:cs typeface="Roboto"/>
                          <a:sym typeface="Roboto"/>
                        </a:rPr>
                        <a:t>It needs lots of historical data to work. It will never be 100% accurate.</a:t>
                      </a:r>
                      <a:endParaRPr/>
                    </a:p>
                  </a:txBody>
                  <a:tcPr marT="152400" marB="152400" marR="114300" marL="114300" anchor="ctr"/>
                </a:tc>
                <a:tc>
                  <a:txBody>
                    <a:bodyPr/>
                    <a:lstStyle/>
                    <a:p>
                      <a:pPr indent="0" lvl="0" marL="0" marR="0" rtl="0" algn="ctr">
                        <a:spcBef>
                          <a:spcPts val="0"/>
                        </a:spcBef>
                        <a:spcAft>
                          <a:spcPts val="0"/>
                        </a:spcAft>
                        <a:buNone/>
                      </a:pPr>
                      <a:r>
                        <a:rPr b="0" i="0" lang="en-IN" sz="1800" u="none" cap="none" strike="noStrike">
                          <a:solidFill>
                            <a:srgbClr val="51565E"/>
                          </a:solidFill>
                          <a:latin typeface="Roboto"/>
                          <a:ea typeface="Roboto"/>
                          <a:cs typeface="Roboto"/>
                          <a:sym typeface="Roboto"/>
                        </a:rPr>
                        <a:t>It requires a lot of past data and often cannot account for all possible variables.</a:t>
                      </a:r>
                      <a:endParaRPr/>
                    </a:p>
                  </a:txBody>
                  <a:tcPr marT="152400" marB="152400" marR="114300" marL="114300" anchor="ct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Diagnostics Analytics</a:t>
            </a:r>
            <a:endParaRPr/>
          </a:p>
        </p:txBody>
      </p:sp>
      <p:sp>
        <p:nvSpPr>
          <p:cNvPr id="195" name="Google Shape;195;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IN"/>
              <a:t>Involves drilling deeper into data to identify not only what has occurred, but why. </a:t>
            </a:r>
            <a:endParaRPr/>
          </a:p>
          <a:p>
            <a:pPr indent="-342900" lvl="0" marL="342900" rtl="0" algn="l">
              <a:spcBef>
                <a:spcPts val="640"/>
              </a:spcBef>
              <a:spcAft>
                <a:spcPts val="0"/>
              </a:spcAft>
              <a:buClr>
                <a:schemeClr val="dk1"/>
              </a:buClr>
              <a:buSzPts val="3200"/>
              <a:buChar char="•"/>
            </a:pPr>
            <a:r>
              <a:rPr lang="en-IN"/>
              <a:t>This focus on cause and effect is why diagnostic analytics is sometimes known as root cause analysis.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9"/>
          <p:cNvSpPr txBox="1"/>
          <p:nvPr>
            <p:ph idx="1" type="body"/>
          </p:nvPr>
        </p:nvSpPr>
        <p:spPr>
          <a:xfrm>
            <a:off x="457200" y="260648"/>
            <a:ext cx="8229600" cy="5865515"/>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lang="en-IN"/>
              <a:t>Diagnostic analytics is similar to descriptive analytics in that it also uses historical data. However, its unique feature is that it aims to identify and explain anomalies and outliers. </a:t>
            </a:r>
            <a:endParaRPr/>
          </a:p>
          <a:p>
            <a:pPr indent="-342900" lvl="0" marL="342900" rtl="0" algn="l">
              <a:spcBef>
                <a:spcPts val="544"/>
              </a:spcBef>
              <a:spcAft>
                <a:spcPts val="0"/>
              </a:spcAft>
              <a:buClr>
                <a:schemeClr val="dk1"/>
              </a:buClr>
              <a:buSzPct val="100000"/>
              <a:buChar char="•"/>
            </a:pPr>
            <a:r>
              <a:rPr lang="en-IN"/>
              <a:t>For instance, perhaps a fashion brand sees an unexpected surge in profits. By applying diagnostic analytics, the company can develop and test various hypotheses about why that has happened. </a:t>
            </a:r>
            <a:endParaRPr/>
          </a:p>
          <a:p>
            <a:pPr indent="-342900" lvl="0" marL="342900" rtl="0" algn="l">
              <a:spcBef>
                <a:spcPts val="544"/>
              </a:spcBef>
              <a:spcAft>
                <a:spcPts val="0"/>
              </a:spcAft>
              <a:buClr>
                <a:schemeClr val="dk1"/>
              </a:buClr>
              <a:buSzPct val="100000"/>
              <a:buChar char="•"/>
            </a:pPr>
            <a:r>
              <a:rPr lang="en-IN"/>
              <a:t>Perhaps one of their clothing ranges has been promoted by a celebrity influencer, or maybe it has appeared on a Netflix series. </a:t>
            </a:r>
            <a:endParaRPr/>
          </a:p>
          <a:p>
            <a:pPr indent="-342900" lvl="0" marL="342900" rtl="0" algn="l">
              <a:spcBef>
                <a:spcPts val="544"/>
              </a:spcBef>
              <a:spcAft>
                <a:spcPts val="0"/>
              </a:spcAft>
              <a:buClr>
                <a:schemeClr val="dk1"/>
              </a:buClr>
              <a:buSzPct val="100000"/>
              <a:buChar char="•"/>
            </a:pPr>
            <a:r>
              <a:rPr lang="en-IN"/>
              <a:t>By sourcing and analyzing additional data, they can identify the most likely cause for the profit surge, in turn, informing their future strategy (for instance, by actively pursuing product placement deals with Netflix).</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07" name="Google Shape;207;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IN"/>
              <a:t>Diagnostic analytics employs various techniques, ranging from probability theory to regression analysis, clustering analysis, filtering, time-series analysis, and more.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How is diagnostic analytics used?</a:t>
            </a:r>
            <a:endParaRPr/>
          </a:p>
        </p:txBody>
      </p:sp>
      <p:sp>
        <p:nvSpPr>
          <p:cNvPr id="213" name="Google Shape;213;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lang="en-IN"/>
              <a:t>Sales teams—to determine why a company’s profits are dropping or growing.</a:t>
            </a:r>
            <a:endParaRPr/>
          </a:p>
          <a:p>
            <a:pPr indent="-342900" lvl="0" marL="342900" rtl="0" algn="l">
              <a:spcBef>
                <a:spcPts val="544"/>
              </a:spcBef>
              <a:spcAft>
                <a:spcPts val="0"/>
              </a:spcAft>
              <a:buClr>
                <a:schemeClr val="dk1"/>
              </a:buClr>
              <a:buSzPct val="100000"/>
              <a:buChar char="•"/>
            </a:pPr>
            <a:r>
              <a:rPr lang="en-IN"/>
              <a:t>Marketing teams—to figure out why a website has seen a traffic increase.</a:t>
            </a:r>
            <a:endParaRPr/>
          </a:p>
          <a:p>
            <a:pPr indent="-342900" lvl="0" marL="342900" rtl="0" algn="l">
              <a:spcBef>
                <a:spcPts val="544"/>
              </a:spcBef>
              <a:spcAft>
                <a:spcPts val="0"/>
              </a:spcAft>
              <a:buClr>
                <a:schemeClr val="dk1"/>
              </a:buClr>
              <a:buSzPct val="100000"/>
              <a:buChar char="•"/>
            </a:pPr>
            <a:r>
              <a:rPr lang="en-IN"/>
              <a:t>IT—to diagnose technical problems within a company’s digital infrastructure.</a:t>
            </a:r>
            <a:endParaRPr/>
          </a:p>
          <a:p>
            <a:pPr indent="-342900" lvl="0" marL="342900" rtl="0" algn="l">
              <a:spcBef>
                <a:spcPts val="544"/>
              </a:spcBef>
              <a:spcAft>
                <a:spcPts val="0"/>
              </a:spcAft>
              <a:buClr>
                <a:schemeClr val="dk1"/>
              </a:buClr>
              <a:buSzPct val="100000"/>
              <a:buChar char="•"/>
            </a:pPr>
            <a:r>
              <a:rPr lang="en-IN"/>
              <a:t>HR—to understand the factors contributing to why employees may leave a company.</a:t>
            </a:r>
            <a:endParaRPr/>
          </a:p>
          <a:p>
            <a:pPr indent="-342900" lvl="0" marL="342900" rtl="0" algn="l">
              <a:spcBef>
                <a:spcPts val="544"/>
              </a:spcBef>
              <a:spcAft>
                <a:spcPts val="0"/>
              </a:spcAft>
              <a:buClr>
                <a:schemeClr val="dk1"/>
              </a:buClr>
              <a:buSzPct val="100000"/>
              <a:buChar char="•"/>
            </a:pPr>
            <a:r>
              <a:rPr lang="en-IN"/>
              <a:t>Big pharma—to evaluate the effectiveness of different drugs.</a:t>
            </a:r>
            <a:endParaRPr/>
          </a:p>
          <a:p>
            <a:pPr indent="-342900" lvl="0" marL="342900" rtl="0" algn="l">
              <a:spcBef>
                <a:spcPts val="544"/>
              </a:spcBef>
              <a:spcAft>
                <a:spcPts val="0"/>
              </a:spcAft>
              <a:buClr>
                <a:schemeClr val="dk1"/>
              </a:buClr>
              <a:buSzPct val="100000"/>
              <a:buChar char="•"/>
            </a:pPr>
            <a:r>
              <a:rPr lang="en-IN"/>
              <a:t>Hospitals—to understand why patients are admitted for particular ailments.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id="219" name="Google Shape;219;p22"/>
          <p:cNvPicPr preferRelativeResize="0"/>
          <p:nvPr>
            <p:ph idx="1" type="body"/>
          </p:nvPr>
        </p:nvPicPr>
        <p:blipFill rotWithShape="1">
          <a:blip r:embed="rId3">
            <a:alphaModFix/>
          </a:blip>
          <a:srcRect b="0" l="0" r="0" t="0"/>
          <a:stretch/>
        </p:blipFill>
        <p:spPr>
          <a:xfrm>
            <a:off x="1000125" y="2148681"/>
            <a:ext cx="7143750" cy="3429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id="225" name="Google Shape;225;p23"/>
          <p:cNvPicPr preferRelativeResize="0"/>
          <p:nvPr>
            <p:ph idx="1" type="body"/>
          </p:nvPr>
        </p:nvPicPr>
        <p:blipFill rotWithShape="1">
          <a:blip r:embed="rId3">
            <a:alphaModFix/>
          </a:blip>
          <a:srcRect b="0" l="0" r="0" t="0"/>
          <a:stretch/>
        </p:blipFill>
        <p:spPr>
          <a:xfrm>
            <a:off x="2005097" y="1600200"/>
            <a:ext cx="5133805" cy="452596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id="232" name="Google Shape;232;p24"/>
          <p:cNvPicPr preferRelativeResize="0"/>
          <p:nvPr>
            <p:ph idx="1" type="body"/>
          </p:nvPr>
        </p:nvPicPr>
        <p:blipFill rotWithShape="1">
          <a:blip r:embed="rId3">
            <a:alphaModFix/>
          </a:blip>
          <a:srcRect b="0" l="0" r="0" t="0"/>
          <a:stretch/>
        </p:blipFill>
        <p:spPr>
          <a:xfrm>
            <a:off x="-1" y="1340768"/>
            <a:ext cx="9164655" cy="403244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How to develop a predictive analytics process</a:t>
            </a:r>
            <a:endParaRPr/>
          </a:p>
        </p:txBody>
      </p:sp>
      <p:sp>
        <p:nvSpPr>
          <p:cNvPr id="238" name="Google Shape;238;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IN"/>
              <a:t>Define the requirements. </a:t>
            </a:r>
            <a:r>
              <a:rPr lang="en-IN"/>
              <a:t>Understand the business problem you're trying to solve. Is it managing inventory? Reducing fraud? Predicting sales? A business user or subject matter expert generally takes charge of this first step.</a:t>
            </a:r>
            <a:endParaRPr/>
          </a:p>
          <a:p>
            <a:pPr indent="-342900" lvl="0" marL="342900" rtl="0" algn="l">
              <a:spcBef>
                <a:spcPts val="640"/>
              </a:spcBef>
              <a:spcAft>
                <a:spcPts val="0"/>
              </a:spcAft>
              <a:buClr>
                <a:schemeClr val="dk1"/>
              </a:buClr>
              <a:buSzPts val="3200"/>
              <a:buChar char="•"/>
            </a:pPr>
            <a:r>
              <a:rPr b="1" lang="en-IN"/>
              <a:t>Explore the data.</a:t>
            </a:r>
            <a:r>
              <a:rPr lang="en-IN"/>
              <a:t> Identify the data that informs the problem you're trying to solve.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How to develop a predictive analytics process</a:t>
            </a:r>
            <a:endParaRPr/>
          </a:p>
        </p:txBody>
      </p:sp>
      <p:sp>
        <p:nvSpPr>
          <p:cNvPr id="244" name="Google Shape;244;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IN"/>
              <a:t>Develop the model.</a:t>
            </a:r>
            <a:r>
              <a:rPr lang="en-IN"/>
              <a:t> A data scientist can help figure out which predictive models are best suited to solving the problem. </a:t>
            </a:r>
            <a:endParaRPr/>
          </a:p>
          <a:p>
            <a:pPr indent="-342900" lvl="0" marL="342900" rtl="0" algn="l">
              <a:spcBef>
                <a:spcPts val="640"/>
              </a:spcBef>
              <a:spcAft>
                <a:spcPts val="0"/>
              </a:spcAft>
              <a:buClr>
                <a:schemeClr val="dk1"/>
              </a:buClr>
              <a:buSzPts val="3200"/>
              <a:buChar char="•"/>
            </a:pPr>
            <a:r>
              <a:rPr b="1" lang="en-IN"/>
              <a:t>Deploy the model. </a:t>
            </a:r>
            <a:r>
              <a:rPr lang="en-IN"/>
              <a:t>Once the model is approved by the data scientist, a data engineer determines how best to retrieve, clean and transform the required raw data.</a:t>
            </a:r>
            <a:endParaRPr/>
          </a:p>
          <a:p>
            <a:pPr indent="-342900" lvl="0" marL="342900" rtl="0" algn="l">
              <a:spcBef>
                <a:spcPts val="640"/>
              </a:spcBef>
              <a:spcAft>
                <a:spcPts val="0"/>
              </a:spcAft>
              <a:buClr>
                <a:schemeClr val="dk1"/>
              </a:buClr>
              <a:buSzPts val="3200"/>
              <a:buChar char="•"/>
            </a:pPr>
            <a:r>
              <a:rPr b="1" lang="en-IN"/>
              <a:t>Validate the results.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50" name="Google Shape;250;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id="251" name="Google Shape;251;p27"/>
          <p:cNvPicPr preferRelativeResize="0"/>
          <p:nvPr/>
        </p:nvPicPr>
        <p:blipFill rotWithShape="1">
          <a:blip r:embed="rId3">
            <a:alphaModFix/>
          </a:blip>
          <a:srcRect b="0" l="0" r="0" t="0"/>
          <a:stretch/>
        </p:blipFill>
        <p:spPr>
          <a:xfrm>
            <a:off x="467544" y="1916832"/>
            <a:ext cx="8146876" cy="324245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Calibri"/>
              <a:buNone/>
            </a:pPr>
            <a:r>
              <a:rPr lang="en-IN"/>
              <a:t>A COMPLETE EXAMPLE</a:t>
            </a:r>
            <a:endParaRPr/>
          </a:p>
        </p:txBody>
      </p:sp>
      <p:sp>
        <p:nvSpPr>
          <p:cNvPr id="257" name="Google Shape;257;p2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888888"/>
              </a:buClr>
              <a:buSzPts val="20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u="sng"/>
              <a:t>Descriptive analytics </a:t>
            </a:r>
            <a:endParaRPr u="sng"/>
          </a:p>
        </p:txBody>
      </p:sp>
      <p:sp>
        <p:nvSpPr>
          <p:cNvPr id="263" name="Google Shape;263;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IN" u="sng"/>
              <a:t>Descriptive analytics </a:t>
            </a:r>
            <a:r>
              <a:rPr lang="en-IN"/>
              <a:t>answers the question, “What happened?”</a:t>
            </a:r>
            <a:endParaRPr/>
          </a:p>
          <a:p>
            <a:pPr indent="-342900" lvl="0" marL="342900" rtl="0" algn="l">
              <a:spcBef>
                <a:spcPts val="592"/>
              </a:spcBef>
              <a:spcAft>
                <a:spcPts val="0"/>
              </a:spcAft>
              <a:buClr>
                <a:schemeClr val="dk1"/>
              </a:buClr>
              <a:buSzPct val="100000"/>
              <a:buChar char="•"/>
            </a:pPr>
            <a:r>
              <a:rPr lang="en-IN"/>
              <a:t>For example, imagine you’re analyzing your company’s data and find there’s a seasonal surge in sales for one of your products: a video game console. </a:t>
            </a:r>
            <a:endParaRPr/>
          </a:p>
          <a:p>
            <a:pPr indent="-342900" lvl="0" marL="342900" rtl="0" algn="l">
              <a:spcBef>
                <a:spcPts val="592"/>
              </a:spcBef>
              <a:spcAft>
                <a:spcPts val="0"/>
              </a:spcAft>
              <a:buClr>
                <a:schemeClr val="dk1"/>
              </a:buClr>
              <a:buSzPct val="100000"/>
              <a:buChar char="•"/>
            </a:pPr>
            <a:r>
              <a:rPr lang="en-IN"/>
              <a:t>Here, descriptive analytics can tell you, “This video game console experiences an increase in sales in October, November, and early December each year.”</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u="sng"/>
              <a:t>Diagnostic analytics</a:t>
            </a:r>
            <a:endParaRPr/>
          </a:p>
        </p:txBody>
      </p:sp>
      <p:sp>
        <p:nvSpPr>
          <p:cNvPr id="269" name="Google Shape;269;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IN" u="sng"/>
              <a:t>Diagnostic analytics</a:t>
            </a:r>
            <a:r>
              <a:rPr lang="en-IN"/>
              <a:t> addresses the next logical question, “Why did this happen?”</a:t>
            </a:r>
            <a:endParaRPr/>
          </a:p>
          <a:p>
            <a:pPr indent="-342900" lvl="0" marL="342900" rtl="0" algn="l">
              <a:spcBef>
                <a:spcPts val="448"/>
              </a:spcBef>
              <a:spcAft>
                <a:spcPts val="0"/>
              </a:spcAft>
              <a:buClr>
                <a:schemeClr val="dk1"/>
              </a:buClr>
              <a:buSzPct val="100000"/>
              <a:buChar char="•"/>
            </a:pPr>
            <a:r>
              <a:rPr lang="en-IN"/>
              <a:t>Taking the analysis a step further, this type includes comparing coexisting trends or movement, uncovering correlations between variables, and determining causal relationships where possible.</a:t>
            </a:r>
            <a:endParaRPr/>
          </a:p>
          <a:p>
            <a:pPr indent="-342900" lvl="0" marL="342900" rtl="0" algn="l">
              <a:spcBef>
                <a:spcPts val="448"/>
              </a:spcBef>
              <a:spcAft>
                <a:spcPts val="0"/>
              </a:spcAft>
              <a:buClr>
                <a:schemeClr val="dk1"/>
              </a:buClr>
              <a:buSzPct val="100000"/>
              <a:buChar char="•"/>
            </a:pPr>
            <a:r>
              <a:rPr lang="en-IN"/>
              <a:t>Continuing the aforementioned example, you may dig into video game console users’ demographic data and find that they’re between the ages of eight and 18. </a:t>
            </a:r>
            <a:endParaRPr/>
          </a:p>
          <a:p>
            <a:pPr indent="-342900" lvl="0" marL="342900" rtl="0" algn="l">
              <a:spcBef>
                <a:spcPts val="448"/>
              </a:spcBef>
              <a:spcAft>
                <a:spcPts val="0"/>
              </a:spcAft>
              <a:buClr>
                <a:schemeClr val="dk1"/>
              </a:buClr>
              <a:buSzPct val="100000"/>
              <a:buChar char="•"/>
            </a:pPr>
            <a:r>
              <a:rPr lang="en-IN"/>
              <a:t>The customers, however, tend to be between the ages of 35 and 55. </a:t>
            </a:r>
            <a:endParaRPr/>
          </a:p>
          <a:p>
            <a:pPr indent="-342900" lvl="0" marL="342900" rtl="0" algn="l">
              <a:spcBef>
                <a:spcPts val="448"/>
              </a:spcBef>
              <a:spcAft>
                <a:spcPts val="0"/>
              </a:spcAft>
              <a:buClr>
                <a:schemeClr val="dk1"/>
              </a:buClr>
              <a:buSzPct val="100000"/>
              <a:buChar char="•"/>
            </a:pPr>
            <a:r>
              <a:rPr lang="en-IN"/>
              <a:t>Analysis of customer survey data reveals that one primary motivator for customers to purchase the video game console is to gift it to their children. </a:t>
            </a:r>
            <a:endParaRPr/>
          </a:p>
          <a:p>
            <a:pPr indent="-342900" lvl="0" marL="342900" rtl="0" algn="l">
              <a:spcBef>
                <a:spcPts val="448"/>
              </a:spcBef>
              <a:spcAft>
                <a:spcPts val="0"/>
              </a:spcAft>
              <a:buClr>
                <a:schemeClr val="dk1"/>
              </a:buClr>
              <a:buSzPct val="100000"/>
              <a:buChar char="•"/>
            </a:pPr>
            <a:r>
              <a:rPr lang="en-IN"/>
              <a:t>The spike in sales in the fall and early winter months may be due to the holidays that include gift-giving.</a:t>
            </a:r>
            <a:endParaRPr/>
          </a:p>
          <a:p>
            <a:pPr indent="-200660" lvl="0" marL="342900" rtl="0" algn="l">
              <a:spcBef>
                <a:spcPts val="448"/>
              </a:spcBef>
              <a:spcAft>
                <a:spcPts val="0"/>
              </a:spcAft>
              <a:buClr>
                <a:schemeClr val="dk1"/>
              </a:buClr>
              <a:buSzPct val="1000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u="sng"/>
              <a:t>Predictive analytics</a:t>
            </a:r>
            <a:endParaRPr/>
          </a:p>
        </p:txBody>
      </p:sp>
      <p:sp>
        <p:nvSpPr>
          <p:cNvPr id="275" name="Google Shape;275;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lang="en-IN" u="sng"/>
              <a:t>Predictive analytics</a:t>
            </a:r>
            <a:r>
              <a:rPr lang="en-IN"/>
              <a:t> is used to make predictions about future trends or events and answers the question, “What might happen in the future?”</a:t>
            </a:r>
            <a:endParaRPr/>
          </a:p>
          <a:p>
            <a:pPr indent="-342900" lvl="0" marL="342900" rtl="0" algn="l">
              <a:spcBef>
                <a:spcPts val="496"/>
              </a:spcBef>
              <a:spcAft>
                <a:spcPts val="0"/>
              </a:spcAft>
              <a:buClr>
                <a:schemeClr val="dk1"/>
              </a:buClr>
              <a:buSzPct val="100000"/>
              <a:buChar char="•"/>
            </a:pPr>
            <a:r>
              <a:rPr lang="en-IN"/>
              <a:t>By analyzing historical data in tandem with industry trends, you can make informed predictions about what the future could hold for your company.</a:t>
            </a:r>
            <a:endParaRPr/>
          </a:p>
          <a:p>
            <a:pPr indent="-342900" lvl="0" marL="342900" rtl="0" algn="l">
              <a:spcBef>
                <a:spcPts val="496"/>
              </a:spcBef>
              <a:spcAft>
                <a:spcPts val="0"/>
              </a:spcAft>
              <a:buClr>
                <a:schemeClr val="dk1"/>
              </a:buClr>
              <a:buSzPct val="100000"/>
              <a:buChar char="•"/>
            </a:pPr>
            <a:r>
              <a:rPr lang="en-IN"/>
              <a:t>For instance, knowing that video game console sales have spiked in October, November, and early December every year for the past decade provides you with ample data to predict that the same trend will occur next year. </a:t>
            </a:r>
            <a:endParaRPr/>
          </a:p>
          <a:p>
            <a:pPr indent="-342900" lvl="0" marL="342900" rtl="0" algn="l">
              <a:spcBef>
                <a:spcPts val="496"/>
              </a:spcBef>
              <a:spcAft>
                <a:spcPts val="0"/>
              </a:spcAft>
              <a:buClr>
                <a:schemeClr val="dk1"/>
              </a:buClr>
              <a:buSzPct val="100000"/>
              <a:buChar char="•"/>
            </a:pPr>
            <a:r>
              <a:rPr lang="en-IN"/>
              <a:t>Backed by upward trends in the video game industry as a whole, this is a reasonable prediction to make.</a:t>
            </a:r>
            <a:endParaRPr/>
          </a:p>
          <a:p>
            <a:pPr indent="-185420" lvl="0" marL="342900" rtl="0" algn="l">
              <a:spcBef>
                <a:spcPts val="496"/>
              </a:spcBef>
              <a:spcAft>
                <a:spcPts val="0"/>
              </a:spcAft>
              <a:buClr>
                <a:schemeClr val="dk1"/>
              </a:buClr>
              <a:buSzPct val="1000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u="sng"/>
              <a:t>Prescriptive analytics</a:t>
            </a:r>
            <a:endParaRPr b="1" u="sng"/>
          </a:p>
        </p:txBody>
      </p:sp>
      <p:sp>
        <p:nvSpPr>
          <p:cNvPr id="281" name="Google Shape;281;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IN"/>
              <a:t>Finally, prescriptive analytics answers the question, “What should we do next?”</a:t>
            </a:r>
            <a:endParaRPr/>
          </a:p>
          <a:p>
            <a:pPr indent="-342900" lvl="0" marL="342900" rtl="0" algn="l">
              <a:spcBef>
                <a:spcPts val="448"/>
              </a:spcBef>
              <a:spcAft>
                <a:spcPts val="0"/>
              </a:spcAft>
              <a:buClr>
                <a:schemeClr val="dk1"/>
              </a:buClr>
              <a:buSzPct val="100000"/>
              <a:buChar char="•"/>
            </a:pPr>
            <a:r>
              <a:rPr lang="en-IN"/>
              <a:t>What should your team decide to do given the predicted trend in seasonality due to winter gift-giving? </a:t>
            </a:r>
            <a:endParaRPr/>
          </a:p>
          <a:p>
            <a:pPr indent="-342900" lvl="0" marL="342900" rtl="0" algn="l">
              <a:spcBef>
                <a:spcPts val="448"/>
              </a:spcBef>
              <a:spcAft>
                <a:spcPts val="0"/>
              </a:spcAft>
              <a:buClr>
                <a:schemeClr val="dk1"/>
              </a:buClr>
              <a:buSzPct val="100000"/>
              <a:buChar char="•"/>
            </a:pPr>
            <a:r>
              <a:rPr lang="en-IN"/>
              <a:t>Perhaps you decide to run an A/B test with two ads: one that caters to product end-users (children) and one targeted to customers (their parents). </a:t>
            </a:r>
            <a:endParaRPr/>
          </a:p>
          <a:p>
            <a:pPr indent="-342900" lvl="0" marL="342900" rtl="0" algn="l">
              <a:spcBef>
                <a:spcPts val="448"/>
              </a:spcBef>
              <a:spcAft>
                <a:spcPts val="0"/>
              </a:spcAft>
              <a:buClr>
                <a:schemeClr val="dk1"/>
              </a:buClr>
              <a:buSzPct val="100000"/>
              <a:buChar char="•"/>
            </a:pPr>
            <a:r>
              <a:rPr lang="en-IN"/>
              <a:t>The data from that test can inform how to capitalize on the seasonal spike and its supposed cause even further. </a:t>
            </a:r>
            <a:endParaRPr/>
          </a:p>
          <a:p>
            <a:pPr indent="-342900" lvl="0" marL="342900" rtl="0" algn="l">
              <a:spcBef>
                <a:spcPts val="448"/>
              </a:spcBef>
              <a:spcAft>
                <a:spcPts val="0"/>
              </a:spcAft>
              <a:buClr>
                <a:schemeClr val="dk1"/>
              </a:buClr>
              <a:buSzPct val="100000"/>
              <a:buChar char="•"/>
            </a:pPr>
            <a:r>
              <a:rPr lang="en-IN"/>
              <a:t>Or, maybe you decide to increase marketing efforts in September with holiday-themed messaging to try to extend the spike into another month.</a:t>
            </a:r>
            <a:endParaRPr/>
          </a:p>
          <a:p>
            <a:pPr indent="-342900" lvl="0" marL="342900" rtl="0" algn="l">
              <a:spcBef>
                <a:spcPts val="448"/>
              </a:spcBef>
              <a:spcAft>
                <a:spcPts val="0"/>
              </a:spcAft>
              <a:buClr>
                <a:schemeClr val="dk1"/>
              </a:buClr>
              <a:buSzPct val="100000"/>
              <a:buChar char="•"/>
            </a:pPr>
            <a:r>
              <a:rPr lang="en-IN"/>
              <a:t>While manual prescriptive analysis is doable and accessible, machine-learning algorithms are often employed to help parse through large volumes of data to recommend the optimal next step.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Questions ?</a:t>
            </a:r>
            <a:endParaRPr/>
          </a:p>
        </p:txBody>
      </p:sp>
      <p:sp>
        <p:nvSpPr>
          <p:cNvPr id="287" name="Google Shape;287;p3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2022-08-31T13:10:37Z</dcterms:created>
  <dc:creator>Vaibhav Vasani</dc:creator>
</cp:coreProperties>
</file>
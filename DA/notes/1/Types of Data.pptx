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9144000"/>
  <p:notesSz cx="6858000" cy="9144000"/>
  <p:embeddedFontLst>
    <p:embeddedFont>
      <p:font typeface="Marcellus"/>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4" roundtripDataSignature="AMtx7mhj68pbYg3GMkJj0o8DZWGJ7BuF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Marcellu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23" name="Shape 23"/>
        <p:cNvGrpSpPr/>
        <p:nvPr/>
      </p:nvGrpSpPr>
      <p:grpSpPr>
        <a:xfrm>
          <a:off x="0" y="0"/>
          <a:ext cx="0" cy="0"/>
          <a:chOff x="0" y="0"/>
          <a:chExt cx="0" cy="0"/>
        </a:xfrm>
      </p:grpSpPr>
      <p:sp>
        <p:nvSpPr>
          <p:cNvPr id="24" name="Google Shape;24;p21"/>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5" name="Google Shape;25;p21"/>
          <p:cNvSpPr txBox="1"/>
          <p:nvPr>
            <p:ph idx="1" type="subTitle"/>
          </p:nvPr>
        </p:nvSpPr>
        <p:spPr>
          <a:xfrm>
            <a:off x="685800" y="3886200"/>
            <a:ext cx="7086600" cy="1752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Noto Sans Symbols"/>
              <a:buNone/>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6" name="Shape 26"/>
        <p:cNvGrpSpPr/>
        <p:nvPr/>
      </p:nvGrpSpPr>
      <p:grpSpPr>
        <a:xfrm>
          <a:off x="0" y="0"/>
          <a:ext cx="0" cy="0"/>
          <a:chOff x="0" y="0"/>
          <a:chExt cx="0" cy="0"/>
        </a:xfrm>
      </p:grpSpPr>
      <p:sp>
        <p:nvSpPr>
          <p:cNvPr id="27" name="Google Shape;27;p22"/>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22"/>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22"/>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rgbClr val="000000"/>
                </a:solidFill>
                <a:latin typeface="Calibri"/>
                <a:ea typeface="Calibri"/>
                <a:cs typeface="Calibri"/>
                <a:sym typeface="Calibri"/>
              </a:defRPr>
            </a:lvl1pPr>
            <a:lvl2pPr indent="0" lvl="1" marL="0" marR="0" rtl="0" algn="l">
              <a:spcBef>
                <a:spcPts val="0"/>
              </a:spcBef>
              <a:buNone/>
              <a:defRPr b="0" i="0" sz="1800" u="none" cap="none" strike="noStrike">
                <a:solidFill>
                  <a:srgbClr val="000000"/>
                </a:solidFill>
                <a:latin typeface="Calibri"/>
                <a:ea typeface="Calibri"/>
                <a:cs typeface="Calibri"/>
                <a:sym typeface="Calibri"/>
              </a:defRPr>
            </a:lvl2pPr>
            <a:lvl3pPr indent="0" lvl="2" marL="0" marR="0" rtl="0" algn="l">
              <a:spcBef>
                <a:spcPts val="0"/>
              </a:spcBef>
              <a:buNone/>
              <a:defRPr b="0" i="0" sz="1800" u="none" cap="none" strike="noStrike">
                <a:solidFill>
                  <a:srgbClr val="000000"/>
                </a:solidFill>
                <a:latin typeface="Calibri"/>
                <a:ea typeface="Calibri"/>
                <a:cs typeface="Calibri"/>
                <a:sym typeface="Calibri"/>
              </a:defRPr>
            </a:lvl3pPr>
            <a:lvl4pPr indent="0" lvl="3" marL="0" marR="0" rtl="0" algn="l">
              <a:spcBef>
                <a:spcPts val="0"/>
              </a:spcBef>
              <a:buNone/>
              <a:defRPr b="0" i="0" sz="1800" u="none" cap="none" strike="noStrike">
                <a:solidFill>
                  <a:srgbClr val="000000"/>
                </a:solidFill>
                <a:latin typeface="Calibri"/>
                <a:ea typeface="Calibri"/>
                <a:cs typeface="Calibri"/>
                <a:sym typeface="Calibri"/>
              </a:defRPr>
            </a:lvl4pPr>
            <a:lvl5pPr indent="0" lvl="4" marL="0" marR="0" rtl="0" algn="l">
              <a:spcBef>
                <a:spcPts val="0"/>
              </a:spcBef>
              <a:buNone/>
              <a:defRPr b="0" i="0" sz="1800" u="none" cap="none" strike="noStrike">
                <a:solidFill>
                  <a:srgbClr val="000000"/>
                </a:solidFill>
                <a:latin typeface="Calibri"/>
                <a:ea typeface="Calibri"/>
                <a:cs typeface="Calibri"/>
                <a:sym typeface="Calibri"/>
              </a:defRPr>
            </a:lvl5pPr>
            <a:lvl6pPr indent="0" lvl="5" marL="0" marR="0" rtl="0" algn="l">
              <a:spcBef>
                <a:spcPts val="0"/>
              </a:spcBef>
              <a:buNone/>
              <a:defRPr b="0" i="0" sz="1800" u="none" cap="none" strike="noStrike">
                <a:solidFill>
                  <a:srgbClr val="000000"/>
                </a:solidFill>
                <a:latin typeface="Calibri"/>
                <a:ea typeface="Calibri"/>
                <a:cs typeface="Calibri"/>
                <a:sym typeface="Calibri"/>
              </a:defRPr>
            </a:lvl6pPr>
            <a:lvl7pPr indent="0" lvl="6" marL="0" marR="0" rtl="0" algn="l">
              <a:spcBef>
                <a:spcPts val="0"/>
              </a:spcBef>
              <a:buNone/>
              <a:defRPr b="0" i="0" sz="1800" u="none" cap="none" strike="noStrike">
                <a:solidFill>
                  <a:srgbClr val="000000"/>
                </a:solidFill>
                <a:latin typeface="Calibri"/>
                <a:ea typeface="Calibri"/>
                <a:cs typeface="Calibri"/>
                <a:sym typeface="Calibri"/>
              </a:defRPr>
            </a:lvl7pPr>
            <a:lvl8pPr indent="0" lvl="7" marL="0" marR="0" rtl="0" algn="l">
              <a:spcBef>
                <a:spcPts val="0"/>
              </a:spcBef>
              <a:buNone/>
              <a:defRPr b="0" i="0" sz="1800" u="none" cap="none" strike="noStrike">
                <a:solidFill>
                  <a:srgbClr val="000000"/>
                </a:solidFill>
                <a:latin typeface="Calibri"/>
                <a:ea typeface="Calibri"/>
                <a:cs typeface="Calibri"/>
                <a:sym typeface="Calibri"/>
              </a:defRPr>
            </a:lvl8pPr>
            <a:lvl9pPr indent="0" lvl="8" marL="0" marR="0" rtl="0" algn="l">
              <a:spcBef>
                <a:spcPts val="0"/>
              </a:spcBef>
              <a:buNone/>
              <a:defRPr b="0" i="0" sz="18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30" name="Google Shape;30;p2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rgbClr val="930B0B"/>
              </a:buClr>
              <a:buSzPts val="3600"/>
              <a:buFont typeface="Times New Roman"/>
              <a:buNone/>
              <a:defRPr b="0" i="0" sz="3600" u="none" cap="none" strike="noStrik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 name="Google Shape;31;p22"/>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Calibri"/>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23"/>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23"/>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5" name="Shape 35"/>
        <p:cNvGrpSpPr/>
        <p:nvPr/>
      </p:nvGrpSpPr>
      <p:grpSpPr>
        <a:xfrm>
          <a:off x="0" y="0"/>
          <a:ext cx="0" cy="0"/>
          <a:chOff x="0" y="0"/>
          <a:chExt cx="0" cy="0"/>
        </a:xfrm>
      </p:grpSpPr>
      <p:sp>
        <p:nvSpPr>
          <p:cNvPr id="36" name="Google Shape;36;p24"/>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24"/>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24"/>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39" name="Google Shape;39;p24"/>
          <p:cNvSpPr txBox="1"/>
          <p:nvPr>
            <p:ph idx="1" type="body"/>
          </p:nvPr>
        </p:nvSpPr>
        <p:spPr>
          <a:xfrm>
            <a:off x="728983" y="1324629"/>
            <a:ext cx="8229600" cy="45259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Calibri"/>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40" name="Shape 40"/>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1" name="Shape 41"/>
        <p:cNvGrpSpPr/>
        <p:nvPr/>
      </p:nvGrpSpPr>
      <p:grpSpPr>
        <a:xfrm>
          <a:off x="0" y="0"/>
          <a:ext cx="0" cy="0"/>
          <a:chOff x="0" y="0"/>
          <a:chExt cx="0" cy="0"/>
        </a:xfrm>
      </p:grpSpPr>
      <p:sp>
        <p:nvSpPr>
          <p:cNvPr id="42" name="Google Shape;42;p2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rgbClr val="930B0B"/>
              </a:buClr>
              <a:buSzPts val="3600"/>
              <a:buFont typeface="Times New Roman"/>
              <a:buNone/>
              <a:defRPr b="0" i="0" sz="3600" u="none" cap="none" strike="noStrik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3" name="Google Shape;43;p26"/>
          <p:cNvSpPr txBox="1"/>
          <p:nvPr>
            <p:ph idx="1" type="body"/>
          </p:nvPr>
        </p:nvSpPr>
        <p:spPr>
          <a:xfrm>
            <a:off x="655370" y="1189973"/>
            <a:ext cx="8248389" cy="489930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35280" lvl="1" marL="914400" marR="0" rtl="0" algn="l">
              <a:lnSpc>
                <a:spcPct val="90000"/>
              </a:lnSpc>
              <a:spcBef>
                <a:spcPts val="500"/>
              </a:spcBef>
              <a:spcAft>
                <a:spcPts val="0"/>
              </a:spcAft>
              <a:buClr>
                <a:srgbClr val="C55A11"/>
              </a:buClr>
              <a:buSzPts val="168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17500" lvl="2" marL="1371600" marR="0" rtl="0" algn="l">
              <a:lnSpc>
                <a:spcPct val="90000"/>
              </a:lnSpc>
              <a:spcBef>
                <a:spcPts val="500"/>
              </a:spcBef>
              <a:spcAft>
                <a:spcPts val="0"/>
              </a:spcAft>
              <a:buClr>
                <a:srgbClr val="8D4427"/>
              </a:buClr>
              <a:buSzPts val="1400"/>
              <a:buFont typeface="Times New Roman"/>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7"/>
          <p:cNvSpPr txBox="1"/>
          <p:nvPr>
            <p:ph type="title"/>
          </p:nvPr>
        </p:nvSpPr>
        <p:spPr>
          <a:xfrm>
            <a:off x="629841"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6" name="Google Shape;46;p27"/>
          <p:cNvSpPr txBox="1"/>
          <p:nvPr>
            <p:ph idx="1" type="body"/>
          </p:nvPr>
        </p:nvSpPr>
        <p:spPr>
          <a:xfrm>
            <a:off x="681575" y="1606006"/>
            <a:ext cx="3868340"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7" name="Google Shape;47;p27"/>
          <p:cNvSpPr txBox="1"/>
          <p:nvPr>
            <p:ph idx="2" type="body"/>
          </p:nvPr>
        </p:nvSpPr>
        <p:spPr>
          <a:xfrm>
            <a:off x="803704" y="2505075"/>
            <a:ext cx="3868340"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 name="Google Shape;48;p27"/>
          <p:cNvSpPr txBox="1"/>
          <p:nvPr>
            <p:ph idx="3" type="body"/>
          </p:nvPr>
        </p:nvSpPr>
        <p:spPr>
          <a:xfrm>
            <a:off x="4803013" y="1681163"/>
            <a:ext cx="3887391"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27"/>
          <p:cNvSpPr txBox="1"/>
          <p:nvPr>
            <p:ph idx="4" type="body"/>
          </p:nvPr>
        </p:nvSpPr>
        <p:spPr>
          <a:xfrm>
            <a:off x="4803013" y="2505075"/>
            <a:ext cx="3887391"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27"/>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 name="Google Shape;51;p27"/>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27"/>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8"/>
          <p:cNvSpPr txBox="1"/>
          <p:nvPr>
            <p:ph type="title"/>
          </p:nvPr>
        </p:nvSpPr>
        <p:spPr>
          <a:xfrm>
            <a:off x="628650"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5" name="Google Shape;55;p28"/>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28"/>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28"/>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29"/>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0" name="Google Shape;60;p29"/>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29"/>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30"/>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30"/>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5" name="Google Shape;65;p30"/>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6" name="Google Shape;66;p30"/>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30"/>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30"/>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3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1" name="Google Shape;71;p31"/>
          <p:cNvSpPr/>
          <p:nvPr>
            <p:ph idx="2" type="pic"/>
          </p:nvPr>
        </p:nvSpPr>
        <p:spPr>
          <a:xfrm>
            <a:off x="3887391" y="987426"/>
            <a:ext cx="4629150" cy="4873625"/>
          </a:xfrm>
          <a:prstGeom prst="rect">
            <a:avLst/>
          </a:prstGeom>
          <a:noFill/>
          <a:ln>
            <a:noFill/>
          </a:ln>
        </p:spPr>
      </p:sp>
      <p:sp>
        <p:nvSpPr>
          <p:cNvPr id="72" name="Google Shape;72;p31"/>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3" name="Google Shape;73;p31"/>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31"/>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31"/>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32"/>
          <p:cNvSpPr txBox="1"/>
          <p:nvPr>
            <p:ph type="title"/>
          </p:nvPr>
        </p:nvSpPr>
        <p:spPr>
          <a:xfrm>
            <a:off x="628650"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8" name="Google Shape;78;p32"/>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9" name="Google Shape;79;p32"/>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 name="Google Shape;80;p32"/>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1" name="Google Shape;81;p32"/>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33"/>
          <p:cNvSpPr txBox="1"/>
          <p:nvPr>
            <p:ph type="title"/>
          </p:nvPr>
        </p:nvSpPr>
        <p:spPr>
          <a:xfrm rot="5400000">
            <a:off x="4623594" y="2285207"/>
            <a:ext cx="5811838" cy="19716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4" name="Google Shape;84;p33"/>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5" name="Google Shape;85;p33"/>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6" name="Google Shape;86;p33"/>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7" name="Google Shape;87;p33"/>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88" name="Shape 88"/>
        <p:cNvGrpSpPr/>
        <p:nvPr/>
      </p:nvGrpSpPr>
      <p:grpSpPr>
        <a:xfrm>
          <a:off x="0" y="0"/>
          <a:ext cx="0" cy="0"/>
          <a:chOff x="0" y="0"/>
          <a:chExt cx="0" cy="0"/>
        </a:xfrm>
      </p:grpSpPr>
      <p:sp>
        <p:nvSpPr>
          <p:cNvPr id="89" name="Google Shape;89;p3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90" name="Shape 90"/>
        <p:cNvGrpSpPr/>
        <p:nvPr/>
      </p:nvGrpSpPr>
      <p:grpSpPr>
        <a:xfrm>
          <a:off x="0" y="0"/>
          <a:ext cx="0" cy="0"/>
          <a:chOff x="0" y="0"/>
          <a:chExt cx="0" cy="0"/>
        </a:xfrm>
      </p:grpSpPr>
      <p:sp>
        <p:nvSpPr>
          <p:cNvPr id="91" name="Google Shape;91;p3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92" name="Shape 92"/>
        <p:cNvGrpSpPr/>
        <p:nvPr/>
      </p:nvGrpSpPr>
      <p:grpSpPr>
        <a:xfrm>
          <a:off x="0" y="0"/>
          <a:ext cx="0" cy="0"/>
          <a:chOff x="0" y="0"/>
          <a:chExt cx="0" cy="0"/>
        </a:xfrm>
      </p:grpSpPr>
      <p:sp>
        <p:nvSpPr>
          <p:cNvPr id="93" name="Google Shape;93;p36"/>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4" name="Google Shape;94;p36"/>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5" name="Google Shape;95;p3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6" name="Google Shape;96;p3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000000"/>
                </a:solidFill>
                <a:latin typeface="Calibri"/>
                <a:ea typeface="Calibri"/>
                <a:cs typeface="Calibri"/>
                <a:sym typeface="Calibri"/>
              </a:defRPr>
            </a:lvl1pPr>
            <a:lvl2pPr indent="0" lvl="1" marL="0" marR="0" rtl="0" algn="l">
              <a:spcBef>
                <a:spcPts val="0"/>
              </a:spcBef>
              <a:buNone/>
              <a:defRPr sz="1800">
                <a:solidFill>
                  <a:srgbClr val="000000"/>
                </a:solidFill>
                <a:latin typeface="Calibri"/>
                <a:ea typeface="Calibri"/>
                <a:cs typeface="Calibri"/>
                <a:sym typeface="Calibri"/>
              </a:defRPr>
            </a:lvl2pPr>
            <a:lvl3pPr indent="0" lvl="2" marL="0" marR="0" rtl="0" algn="l">
              <a:spcBef>
                <a:spcPts val="0"/>
              </a:spcBef>
              <a:buNone/>
              <a:defRPr sz="1800">
                <a:solidFill>
                  <a:srgbClr val="000000"/>
                </a:solidFill>
                <a:latin typeface="Calibri"/>
                <a:ea typeface="Calibri"/>
                <a:cs typeface="Calibri"/>
                <a:sym typeface="Calibri"/>
              </a:defRPr>
            </a:lvl3pPr>
            <a:lvl4pPr indent="0" lvl="3" marL="0" marR="0" rtl="0" algn="l">
              <a:spcBef>
                <a:spcPts val="0"/>
              </a:spcBef>
              <a:buNone/>
              <a:defRPr sz="1800">
                <a:solidFill>
                  <a:srgbClr val="000000"/>
                </a:solidFill>
                <a:latin typeface="Calibri"/>
                <a:ea typeface="Calibri"/>
                <a:cs typeface="Calibri"/>
                <a:sym typeface="Calibri"/>
              </a:defRPr>
            </a:lvl4pPr>
            <a:lvl5pPr indent="0" lvl="4" marL="0" marR="0" rtl="0" algn="l">
              <a:spcBef>
                <a:spcPts val="0"/>
              </a:spcBef>
              <a:buNone/>
              <a:defRPr sz="1800">
                <a:solidFill>
                  <a:srgbClr val="000000"/>
                </a:solidFill>
                <a:latin typeface="Calibri"/>
                <a:ea typeface="Calibri"/>
                <a:cs typeface="Calibri"/>
                <a:sym typeface="Calibri"/>
              </a:defRPr>
            </a:lvl5pPr>
            <a:lvl6pPr indent="0" lvl="5" marL="0" marR="0" rtl="0" algn="l">
              <a:spcBef>
                <a:spcPts val="0"/>
              </a:spcBef>
              <a:buNone/>
              <a:defRPr sz="1800">
                <a:solidFill>
                  <a:srgbClr val="000000"/>
                </a:solidFill>
                <a:latin typeface="Calibri"/>
                <a:ea typeface="Calibri"/>
                <a:cs typeface="Calibri"/>
                <a:sym typeface="Calibri"/>
              </a:defRPr>
            </a:lvl6pPr>
            <a:lvl7pPr indent="0" lvl="6" marL="0" marR="0" rtl="0" algn="l">
              <a:spcBef>
                <a:spcPts val="0"/>
              </a:spcBef>
              <a:buNone/>
              <a:defRPr sz="1800">
                <a:solidFill>
                  <a:srgbClr val="000000"/>
                </a:solidFill>
                <a:latin typeface="Calibri"/>
                <a:ea typeface="Calibri"/>
                <a:cs typeface="Calibri"/>
                <a:sym typeface="Calibri"/>
              </a:defRPr>
            </a:lvl7pPr>
            <a:lvl8pPr indent="0" lvl="7" marL="0" marR="0" rtl="0" algn="l">
              <a:spcBef>
                <a:spcPts val="0"/>
              </a:spcBef>
              <a:buNone/>
              <a:defRPr sz="1800">
                <a:solidFill>
                  <a:srgbClr val="000000"/>
                </a:solidFill>
                <a:latin typeface="Calibri"/>
                <a:ea typeface="Calibri"/>
                <a:cs typeface="Calibri"/>
                <a:sym typeface="Calibri"/>
              </a:defRPr>
            </a:lvl8pPr>
            <a:lvl9pPr indent="0" lvl="8" marL="0" marR="0" rtl="0" algn="l">
              <a:spcBef>
                <a:spcPts val="0"/>
              </a:spcBef>
              <a:buNone/>
              <a:defRPr sz="1800">
                <a:solidFill>
                  <a:srgbClr val="000000"/>
                </a:solidFill>
                <a:latin typeface="Calibri"/>
                <a:ea typeface="Calibri"/>
                <a:cs typeface="Calibri"/>
                <a:sym typeface="Calibri"/>
              </a:defRPr>
            </a:lvl9pPr>
          </a:lstStyle>
          <a:p>
            <a:pPr indent="0" lvl="0" marL="0" rtl="0" algn="l">
              <a:spcBef>
                <a:spcPts val="0"/>
              </a:spcBef>
              <a:spcAft>
                <a:spcPts val="0"/>
              </a:spcAft>
              <a:buNone/>
            </a:pPr>
            <a:r>
              <a:rPr lang="en-IN"/>
              <a:t>1-</a:t>
            </a: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6.xml"/><Relationship Id="rId11" Type="http://schemas.openxmlformats.org/officeDocument/2006/relationships/slideLayout" Target="../slideLayouts/slideLayout7.xml"/><Relationship Id="rId10" Type="http://schemas.openxmlformats.org/officeDocument/2006/relationships/slideLayout" Target="../slideLayouts/slideLayout6.xml"/><Relationship Id="rId21" Type="http://schemas.openxmlformats.org/officeDocument/2006/relationships/theme" Target="../theme/theme1.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12.png"/><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14.jp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slideLayout" Target="../slideLayouts/slideLayout13.xml"/><Relationship Id="rId16" Type="http://schemas.openxmlformats.org/officeDocument/2006/relationships/slideLayout" Target="../slideLayouts/slideLayout12.xml"/><Relationship Id="rId5" Type="http://schemas.openxmlformats.org/officeDocument/2006/relationships/slideLayout" Target="../slideLayouts/slideLayout1.xml"/><Relationship Id="rId19" Type="http://schemas.openxmlformats.org/officeDocument/2006/relationships/slideLayout" Target="../slideLayouts/slideLayout15.xml"/><Relationship Id="rId6" Type="http://schemas.openxmlformats.org/officeDocument/2006/relationships/slideLayout" Target="../slideLayouts/slideLayout2.xml"/><Relationship Id="rId18" Type="http://schemas.openxmlformats.org/officeDocument/2006/relationships/slideLayout" Target="../slideLayouts/slideLayout14.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nvSpPr>
        <p:spPr>
          <a:xfrm>
            <a:off x="1148443" y="294320"/>
            <a:ext cx="6847115" cy="73796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4400"/>
              <a:buFont typeface="Calibri"/>
              <a:buNone/>
            </a:pPr>
            <a:r>
              <a:t/>
            </a:r>
            <a:endParaRPr b="0" i="0" sz="4400" u="none" cap="none" strike="noStrike">
              <a:solidFill>
                <a:srgbClr val="000000"/>
              </a:solidFill>
              <a:latin typeface="Calibri"/>
              <a:ea typeface="Calibri"/>
              <a:cs typeface="Calibri"/>
              <a:sym typeface="Calibri"/>
            </a:endParaRPr>
          </a:p>
        </p:txBody>
      </p:sp>
      <p:sp>
        <p:nvSpPr>
          <p:cNvPr id="11" name="Google Shape;11;p20"/>
          <p:cNvSpPr txBox="1"/>
          <p:nvPr/>
        </p:nvSpPr>
        <p:spPr>
          <a:xfrm>
            <a:off x="324390" y="6373654"/>
            <a:ext cx="1455965"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IN" sz="1400" u="none" cap="none" strike="noStrike">
                <a:solidFill>
                  <a:srgbClr val="FFFFFF"/>
                </a:solidFill>
                <a:latin typeface="Times New Roman"/>
                <a:ea typeface="Times New Roman"/>
                <a:cs typeface="Times New Roman"/>
                <a:sym typeface="Times New Roman"/>
              </a:rPr>
              <a:t>8/22/2024</a:t>
            </a:r>
            <a:endParaRPr b="1" i="0" sz="1400" u="none" cap="none" strike="noStrike">
              <a:solidFill>
                <a:srgbClr val="FFFFFF"/>
              </a:solidFill>
              <a:latin typeface="Times New Roman"/>
              <a:ea typeface="Times New Roman"/>
              <a:cs typeface="Times New Roman"/>
              <a:sym typeface="Times New Roman"/>
            </a:endParaRPr>
          </a:p>
        </p:txBody>
      </p:sp>
      <p:sp>
        <p:nvSpPr>
          <p:cNvPr id="12" name="Google Shape;12;p20"/>
          <p:cNvSpPr txBox="1"/>
          <p:nvPr/>
        </p:nvSpPr>
        <p:spPr>
          <a:xfrm>
            <a:off x="8240198" y="6347051"/>
            <a:ext cx="601436"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1" i="0" lang="en-IN" sz="1400" u="none" cap="none" strike="noStrike">
                <a:solidFill>
                  <a:srgbClr val="FFFFFF"/>
                </a:solidFill>
                <a:latin typeface="Times New Roman"/>
                <a:ea typeface="Times New Roman"/>
                <a:cs typeface="Times New Roman"/>
                <a:sym typeface="Times New Roman"/>
              </a:rPr>
              <a:t>‹#›</a:t>
            </a:fld>
            <a:endParaRPr b="1" i="0" sz="1400" u="none" cap="none" strike="noStrike">
              <a:solidFill>
                <a:srgbClr val="FFFFFF"/>
              </a:solidFill>
              <a:latin typeface="Times New Roman"/>
              <a:ea typeface="Times New Roman"/>
              <a:cs typeface="Times New Roman"/>
              <a:sym typeface="Times New Roman"/>
            </a:endParaRPr>
          </a:p>
        </p:txBody>
      </p:sp>
      <p:cxnSp>
        <p:nvCxnSpPr>
          <p:cNvPr id="13" name="Google Shape;13;p20"/>
          <p:cNvCxnSpPr/>
          <p:nvPr/>
        </p:nvCxnSpPr>
        <p:spPr>
          <a:xfrm>
            <a:off x="173929" y="524443"/>
            <a:ext cx="15020" cy="5873873"/>
          </a:xfrm>
          <a:prstGeom prst="straightConnector1">
            <a:avLst/>
          </a:prstGeom>
          <a:noFill/>
          <a:ln cap="flat" cmpd="sng" w="9525">
            <a:solidFill>
              <a:schemeClr val="accent2"/>
            </a:solidFill>
            <a:prstDash val="solid"/>
            <a:miter lim="800000"/>
            <a:headEnd len="sm" w="sm" type="none"/>
            <a:tailEnd len="sm" w="sm" type="none"/>
          </a:ln>
        </p:spPr>
      </p:cxnSp>
      <p:cxnSp>
        <p:nvCxnSpPr>
          <p:cNvPr id="14" name="Google Shape;14;p20"/>
          <p:cNvCxnSpPr/>
          <p:nvPr/>
        </p:nvCxnSpPr>
        <p:spPr>
          <a:xfrm>
            <a:off x="8958782" y="135448"/>
            <a:ext cx="14374" cy="6100958"/>
          </a:xfrm>
          <a:prstGeom prst="straightConnector1">
            <a:avLst/>
          </a:prstGeom>
          <a:noFill/>
          <a:ln cap="flat" cmpd="sng" w="9525">
            <a:solidFill>
              <a:schemeClr val="accent2"/>
            </a:solidFill>
            <a:prstDash val="solid"/>
            <a:miter lim="800000"/>
            <a:headEnd len="sm" w="sm" type="none"/>
            <a:tailEnd len="sm" w="sm" type="none"/>
          </a:ln>
        </p:spPr>
      </p:cxnSp>
      <p:cxnSp>
        <p:nvCxnSpPr>
          <p:cNvPr id="15" name="Google Shape;15;p20"/>
          <p:cNvCxnSpPr/>
          <p:nvPr/>
        </p:nvCxnSpPr>
        <p:spPr>
          <a:xfrm>
            <a:off x="429274" y="135448"/>
            <a:ext cx="8536694" cy="0"/>
          </a:xfrm>
          <a:prstGeom prst="straightConnector1">
            <a:avLst/>
          </a:prstGeom>
          <a:noFill/>
          <a:ln cap="flat" cmpd="sng" w="9525">
            <a:solidFill>
              <a:schemeClr val="accent2"/>
            </a:solidFill>
            <a:prstDash val="solid"/>
            <a:miter lim="800000"/>
            <a:headEnd len="sm" w="sm" type="none"/>
            <a:tailEnd len="sm" w="sm" type="none"/>
          </a:ln>
        </p:spPr>
      </p:cxnSp>
      <p:cxnSp>
        <p:nvCxnSpPr>
          <p:cNvPr id="16" name="Google Shape;16;p20"/>
          <p:cNvCxnSpPr/>
          <p:nvPr/>
        </p:nvCxnSpPr>
        <p:spPr>
          <a:xfrm flipH="1" rot="-5400000">
            <a:off x="162549" y="6424715"/>
            <a:ext cx="293100" cy="240300"/>
          </a:xfrm>
          <a:prstGeom prst="curvedConnector3">
            <a:avLst>
              <a:gd fmla="val 50000" name="adj1"/>
            </a:avLst>
          </a:prstGeom>
          <a:noFill/>
          <a:ln cap="flat" cmpd="sng" w="9525">
            <a:solidFill>
              <a:schemeClr val="accent2"/>
            </a:solidFill>
            <a:prstDash val="solid"/>
            <a:miter lim="800000"/>
            <a:headEnd len="sm" w="sm" type="none"/>
            <a:tailEnd len="sm" w="sm" type="none"/>
          </a:ln>
        </p:spPr>
      </p:cxnSp>
      <p:cxnSp>
        <p:nvCxnSpPr>
          <p:cNvPr id="17" name="Google Shape;17;p20"/>
          <p:cNvCxnSpPr/>
          <p:nvPr/>
        </p:nvCxnSpPr>
        <p:spPr>
          <a:xfrm rot="5400000">
            <a:off x="8611957" y="6330007"/>
            <a:ext cx="454800" cy="267600"/>
          </a:xfrm>
          <a:prstGeom prst="curvedConnector3">
            <a:avLst>
              <a:gd fmla="val 50000" name="adj1"/>
            </a:avLst>
          </a:prstGeom>
          <a:noFill/>
          <a:ln cap="flat" cmpd="sng" w="9525">
            <a:solidFill>
              <a:schemeClr val="accent2"/>
            </a:solidFill>
            <a:prstDash val="solid"/>
            <a:miter lim="800000"/>
            <a:headEnd len="sm" w="sm" type="none"/>
            <a:tailEnd len="sm" w="sm" type="none"/>
          </a:ln>
        </p:spPr>
      </p:cxnSp>
      <p:pic>
        <p:nvPicPr>
          <p:cNvPr id="18" name="Google Shape;18;p20"/>
          <p:cNvPicPr preferRelativeResize="0"/>
          <p:nvPr/>
        </p:nvPicPr>
        <p:blipFill rotWithShape="1">
          <a:blip r:embed="rId1">
            <a:alphaModFix/>
          </a:blip>
          <a:srcRect b="0" l="0" r="0" t="0"/>
          <a:stretch/>
        </p:blipFill>
        <p:spPr>
          <a:xfrm>
            <a:off x="454" y="135448"/>
            <a:ext cx="425219" cy="6722552"/>
          </a:xfrm>
          <a:prstGeom prst="rect">
            <a:avLst/>
          </a:prstGeom>
          <a:noFill/>
          <a:ln>
            <a:noFill/>
          </a:ln>
        </p:spPr>
      </p:pic>
      <p:pic>
        <p:nvPicPr>
          <p:cNvPr id="19" name="Google Shape;19;p20"/>
          <p:cNvPicPr preferRelativeResize="0"/>
          <p:nvPr/>
        </p:nvPicPr>
        <p:blipFill rotWithShape="1">
          <a:blip r:embed="rId2">
            <a:alphaModFix/>
          </a:blip>
          <a:srcRect b="0" l="0" r="0" t="0"/>
          <a:stretch/>
        </p:blipFill>
        <p:spPr>
          <a:xfrm>
            <a:off x="429588" y="135448"/>
            <a:ext cx="153343" cy="5305232"/>
          </a:xfrm>
          <a:prstGeom prst="rect">
            <a:avLst/>
          </a:prstGeom>
          <a:noFill/>
          <a:ln>
            <a:noFill/>
          </a:ln>
        </p:spPr>
      </p:pic>
      <p:pic>
        <p:nvPicPr>
          <p:cNvPr descr="A close up of a sign&#10;&#10;Description automatically generated" id="20" name="Google Shape;20;p20"/>
          <p:cNvPicPr preferRelativeResize="0"/>
          <p:nvPr/>
        </p:nvPicPr>
        <p:blipFill rotWithShape="1">
          <a:blip r:embed="rId3">
            <a:alphaModFix/>
          </a:blip>
          <a:srcRect b="0" l="0" r="0" t="0"/>
          <a:stretch/>
        </p:blipFill>
        <p:spPr>
          <a:xfrm>
            <a:off x="8321645" y="6043825"/>
            <a:ext cx="651512" cy="647487"/>
          </a:xfrm>
          <a:prstGeom prst="rect">
            <a:avLst/>
          </a:prstGeom>
          <a:noFill/>
          <a:ln>
            <a:noFill/>
          </a:ln>
        </p:spPr>
      </p:pic>
      <p:pic>
        <p:nvPicPr>
          <p:cNvPr descr="A picture containing drawing&#10;&#10;Description automatically generated" id="21" name="Google Shape;21;p20"/>
          <p:cNvPicPr preferRelativeResize="0"/>
          <p:nvPr/>
        </p:nvPicPr>
        <p:blipFill rotWithShape="1">
          <a:blip r:embed="rId4">
            <a:alphaModFix/>
          </a:blip>
          <a:srcRect b="0" l="0" r="0" t="0"/>
          <a:stretch/>
        </p:blipFill>
        <p:spPr>
          <a:xfrm>
            <a:off x="454" y="6214968"/>
            <a:ext cx="1991676" cy="663892"/>
          </a:xfrm>
          <a:prstGeom prst="rect">
            <a:avLst/>
          </a:prstGeom>
          <a:noFill/>
          <a:ln>
            <a:noFill/>
          </a:ln>
        </p:spPr>
      </p:pic>
      <p:pic>
        <p:nvPicPr>
          <p:cNvPr id="22" name="Google Shape;22;p20"/>
          <p:cNvPicPr preferRelativeResize="0"/>
          <p:nvPr/>
        </p:nvPicPr>
        <p:blipFill rotWithShape="1">
          <a:blip r:embed="rId2">
            <a:alphaModFix/>
          </a:blip>
          <a:srcRect b="0" l="0" r="0" t="0"/>
          <a:stretch/>
        </p:blipFill>
        <p:spPr>
          <a:xfrm rot="5400000">
            <a:off x="5093663" y="3283949"/>
            <a:ext cx="173904" cy="628205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 id="2147483662" r:id="rId18"/>
    <p:sldLayoutId id="2147483663" r:id="rId19"/>
    <p:sldLayoutId id="2147483664"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
          <p:cNvSpPr txBox="1"/>
          <p:nvPr>
            <p:ph type="ctrTitle"/>
          </p:nvPr>
        </p:nvSpPr>
        <p:spPr>
          <a:xfrm>
            <a:off x="1002094" y="1628800"/>
            <a:ext cx="7772400" cy="1470025"/>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Marcellus"/>
              <a:buNone/>
            </a:pPr>
            <a:r>
              <a:rPr lang="en-IN" sz="5400">
                <a:solidFill>
                  <a:srgbClr val="C00000"/>
                </a:solidFill>
                <a:latin typeface="Marcellus"/>
                <a:ea typeface="Marcellus"/>
                <a:cs typeface="Marcellus"/>
                <a:sym typeface="Marcellus"/>
              </a:rPr>
              <a:t>Data Types in Data Analytics </a:t>
            </a:r>
            <a:endParaRPr sz="5400">
              <a:solidFill>
                <a:srgbClr val="C00000"/>
              </a:solidFill>
              <a:latin typeface="Marcellus"/>
              <a:ea typeface="Marcellus"/>
              <a:cs typeface="Marcellus"/>
              <a:sym typeface="Marcellus"/>
            </a:endParaRPr>
          </a:p>
        </p:txBody>
      </p:sp>
      <p:pic>
        <p:nvPicPr>
          <p:cNvPr id="103" name="Google Shape;103;p1"/>
          <p:cNvPicPr preferRelativeResize="0"/>
          <p:nvPr/>
        </p:nvPicPr>
        <p:blipFill rotWithShape="1">
          <a:blip r:embed="rId3">
            <a:alphaModFix/>
          </a:blip>
          <a:srcRect b="0" l="0" r="0" t="0"/>
          <a:stretch/>
        </p:blipFill>
        <p:spPr>
          <a:xfrm>
            <a:off x="454" y="2220"/>
            <a:ext cx="425219" cy="6855781"/>
          </a:xfrm>
          <a:prstGeom prst="rect">
            <a:avLst/>
          </a:prstGeom>
          <a:noFill/>
          <a:ln>
            <a:noFill/>
          </a:ln>
        </p:spPr>
      </p:pic>
      <p:pic>
        <p:nvPicPr>
          <p:cNvPr id="104" name="Google Shape;104;p1"/>
          <p:cNvPicPr preferRelativeResize="0"/>
          <p:nvPr/>
        </p:nvPicPr>
        <p:blipFill rotWithShape="1">
          <a:blip r:embed="rId4">
            <a:alphaModFix/>
          </a:blip>
          <a:srcRect b="0" l="0" r="0" t="0"/>
          <a:stretch/>
        </p:blipFill>
        <p:spPr>
          <a:xfrm>
            <a:off x="425673" y="0"/>
            <a:ext cx="157258" cy="5440680"/>
          </a:xfrm>
          <a:prstGeom prst="rect">
            <a:avLst/>
          </a:prstGeom>
          <a:noFill/>
          <a:ln>
            <a:noFill/>
          </a:ln>
        </p:spPr>
      </p:pic>
      <p:pic>
        <p:nvPicPr>
          <p:cNvPr descr="A picture containing drawing&#10;&#10;Description automatically generated" id="105" name="Google Shape;105;p1"/>
          <p:cNvPicPr preferRelativeResize="0"/>
          <p:nvPr/>
        </p:nvPicPr>
        <p:blipFill rotWithShape="1">
          <a:blip r:embed="rId5">
            <a:alphaModFix/>
          </a:blip>
          <a:srcRect b="0" l="0" r="0" t="0"/>
          <a:stretch/>
        </p:blipFill>
        <p:spPr>
          <a:xfrm>
            <a:off x="582930" y="2219"/>
            <a:ext cx="1991676" cy="66389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IN"/>
              <a:t>Attribute:</a:t>
            </a:r>
            <a:endParaRPr/>
          </a:p>
        </p:txBody>
      </p:sp>
      <p:sp>
        <p:nvSpPr>
          <p:cNvPr id="111" name="Google Shape;111;p2"/>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IN"/>
              <a:t>It can be seen as a data field that represents the characteristics or features of a data object. </a:t>
            </a:r>
            <a:endParaRPr/>
          </a:p>
          <a:p>
            <a:pPr indent="-285750" lvl="0" marL="285750" rtl="0" algn="l">
              <a:lnSpc>
                <a:spcPct val="90000"/>
              </a:lnSpc>
              <a:spcBef>
                <a:spcPts val="1000"/>
              </a:spcBef>
              <a:spcAft>
                <a:spcPts val="0"/>
              </a:spcAft>
              <a:buClr>
                <a:schemeClr val="dk1"/>
              </a:buClr>
              <a:buSzPts val="2800"/>
              <a:buFont typeface="Arial"/>
              <a:buChar char="•"/>
            </a:pPr>
            <a:r>
              <a:rPr lang="en-IN"/>
              <a:t>For a customer, object attributes can be customer Id, address, etc.</a:t>
            </a:r>
            <a:endParaRPr/>
          </a:p>
          <a:p>
            <a:pPr indent="-285750" lvl="0" marL="285750" rtl="0" algn="l">
              <a:lnSpc>
                <a:spcPct val="90000"/>
              </a:lnSpc>
              <a:spcBef>
                <a:spcPts val="1000"/>
              </a:spcBef>
              <a:spcAft>
                <a:spcPts val="0"/>
              </a:spcAft>
              <a:buClr>
                <a:schemeClr val="dk1"/>
              </a:buClr>
              <a:buSzPts val="2800"/>
              <a:buFont typeface="Arial"/>
              <a:buChar char="•"/>
            </a:pPr>
            <a:r>
              <a:rPr lang="en-IN"/>
              <a:t>It can be seen as a data field that represents the characteristics or features of a data object. For a customer, object attributes can be customer Id, address, etc.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IN"/>
              <a:t>Type of attributes :</a:t>
            </a:r>
            <a:endParaRPr/>
          </a:p>
        </p:txBody>
      </p:sp>
      <p:sp>
        <p:nvSpPr>
          <p:cNvPr id="117" name="Google Shape;117;p3"/>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Char char="•"/>
            </a:pPr>
            <a:r>
              <a:rPr lang="en-IN"/>
              <a:t>Qualitative (Nominal (N), Ordinal (O), Binary(B)). </a:t>
            </a:r>
            <a:endParaRPr/>
          </a:p>
          <a:p>
            <a:pPr indent="-285750" lvl="0" marL="285750" rtl="0" algn="l">
              <a:lnSpc>
                <a:spcPct val="90000"/>
              </a:lnSpc>
              <a:spcBef>
                <a:spcPts val="1000"/>
              </a:spcBef>
              <a:spcAft>
                <a:spcPts val="0"/>
              </a:spcAft>
              <a:buClr>
                <a:schemeClr val="dk1"/>
              </a:buClr>
              <a:buSzPts val="2800"/>
              <a:buChar char="•"/>
            </a:pPr>
            <a:r>
              <a:rPr lang="en-IN"/>
              <a:t> Quantitative (Numeric, Discrete, Continuous) </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pic>
        <p:nvPicPr>
          <p:cNvPr id="118" name="Google Shape;118;p3"/>
          <p:cNvPicPr preferRelativeResize="0"/>
          <p:nvPr/>
        </p:nvPicPr>
        <p:blipFill rotWithShape="1">
          <a:blip r:embed="rId3">
            <a:alphaModFix/>
          </a:blip>
          <a:srcRect b="0" l="0" r="0" t="0"/>
          <a:stretch/>
        </p:blipFill>
        <p:spPr>
          <a:xfrm>
            <a:off x="1691680" y="2587994"/>
            <a:ext cx="6004902" cy="310743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IN"/>
              <a:t>Qualitative Attributes:</a:t>
            </a:r>
            <a:br>
              <a:rPr b="1" lang="en-IN"/>
            </a:br>
            <a:endParaRPr/>
          </a:p>
        </p:txBody>
      </p:sp>
      <p:sp>
        <p:nvSpPr>
          <p:cNvPr id="124" name="Google Shape;124;p4"/>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Nominal Attributes – related to names: </a:t>
            </a:r>
            <a:r>
              <a:rPr lang="en-IN"/>
              <a:t>The values of a Nominal attribute are names of things, some kind of symbols. Values of Nominal attributes represents some category or state and that’s why nominal attribute also referred as </a:t>
            </a:r>
            <a:r>
              <a:rPr b="1" lang="en-IN"/>
              <a:t>categorical attributes</a:t>
            </a:r>
            <a:r>
              <a:rPr lang="en-IN"/>
              <a:t> and there is no order (rank, position) among values of the nominal attribute.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pic>
        <p:nvPicPr>
          <p:cNvPr id="130" name="Google Shape;130;p5"/>
          <p:cNvPicPr preferRelativeResize="0"/>
          <p:nvPr>
            <p:ph idx="1" type="body"/>
          </p:nvPr>
        </p:nvPicPr>
        <p:blipFill rotWithShape="1">
          <a:blip r:embed="rId3">
            <a:alphaModFix/>
          </a:blip>
          <a:srcRect b="0" l="0" r="0" t="0"/>
          <a:stretch/>
        </p:blipFill>
        <p:spPr>
          <a:xfrm>
            <a:off x="3152775" y="3010694"/>
            <a:ext cx="3324225" cy="1152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136" name="Google Shape;136;p6"/>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Char char="•"/>
            </a:pPr>
            <a:r>
              <a:rPr b="1" lang="en-IN"/>
              <a:t>Binary Attributes:</a:t>
            </a:r>
            <a:r>
              <a:rPr lang="en-IN"/>
              <a:t> Binary data has only 2 values/states. For Example yes or no, affected or unaffected, true or false. </a:t>
            </a:r>
            <a:endParaRPr/>
          </a:p>
          <a:p>
            <a:pPr indent="-285750" lvl="0" marL="285750" rtl="0" algn="l">
              <a:lnSpc>
                <a:spcPct val="90000"/>
              </a:lnSpc>
              <a:spcBef>
                <a:spcPts val="1000"/>
              </a:spcBef>
              <a:spcAft>
                <a:spcPts val="0"/>
              </a:spcAft>
              <a:buClr>
                <a:schemeClr val="dk1"/>
              </a:buClr>
              <a:buSzPts val="2800"/>
              <a:buChar char="•"/>
            </a:pPr>
            <a:r>
              <a:rPr b="1" lang="en-IN"/>
              <a:t>Symmetric:</a:t>
            </a:r>
            <a:r>
              <a:rPr lang="en-IN"/>
              <a:t> Both values are equally important (Gender). </a:t>
            </a:r>
            <a:endParaRPr/>
          </a:p>
          <a:p>
            <a:pPr indent="-285750" lvl="0" marL="285750" rtl="0" algn="l">
              <a:lnSpc>
                <a:spcPct val="90000"/>
              </a:lnSpc>
              <a:spcBef>
                <a:spcPts val="1000"/>
              </a:spcBef>
              <a:spcAft>
                <a:spcPts val="0"/>
              </a:spcAft>
              <a:buClr>
                <a:schemeClr val="dk1"/>
              </a:buClr>
              <a:buSzPts val="2800"/>
              <a:buChar char="•"/>
            </a:pPr>
            <a:r>
              <a:rPr b="1" lang="en-IN"/>
              <a:t>Asymmetric:</a:t>
            </a:r>
            <a:r>
              <a:rPr lang="en-IN"/>
              <a:t> Both values are not equally important (Result).</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pic>
        <p:nvPicPr>
          <p:cNvPr id="137" name="Google Shape;137;p6"/>
          <p:cNvPicPr preferRelativeResize="0"/>
          <p:nvPr/>
        </p:nvPicPr>
        <p:blipFill rotWithShape="1">
          <a:blip r:embed="rId3">
            <a:alphaModFix/>
          </a:blip>
          <a:srcRect b="0" l="0" r="0" t="0"/>
          <a:stretch/>
        </p:blipFill>
        <p:spPr>
          <a:xfrm>
            <a:off x="1979712" y="5000093"/>
            <a:ext cx="1857375" cy="857250"/>
          </a:xfrm>
          <a:prstGeom prst="rect">
            <a:avLst/>
          </a:prstGeom>
          <a:noFill/>
          <a:ln>
            <a:noFill/>
          </a:ln>
        </p:spPr>
      </p:pic>
      <p:pic>
        <p:nvPicPr>
          <p:cNvPr id="138" name="Google Shape;138;p6"/>
          <p:cNvPicPr preferRelativeResize="0"/>
          <p:nvPr/>
        </p:nvPicPr>
        <p:blipFill rotWithShape="1">
          <a:blip r:embed="rId4">
            <a:alphaModFix/>
          </a:blip>
          <a:srcRect b="0" l="0" r="0" t="0"/>
          <a:stretch/>
        </p:blipFill>
        <p:spPr>
          <a:xfrm>
            <a:off x="5796136" y="4390493"/>
            <a:ext cx="2019300" cy="1466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7"/>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144" name="Google Shape;144;p7"/>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IN"/>
              <a:t>Ordinal Attributes : The Ordinal Attributes contains values that have a meaningful sequence or ranking(order) between them, but the magnitude between values is not actually known, the order of values that shows what is important but don’t indicate how important it is. </a:t>
            </a:r>
            <a:endParaRPr/>
          </a:p>
        </p:txBody>
      </p:sp>
      <p:pic>
        <p:nvPicPr>
          <p:cNvPr id="145" name="Google Shape;145;p7"/>
          <p:cNvPicPr preferRelativeResize="0"/>
          <p:nvPr/>
        </p:nvPicPr>
        <p:blipFill rotWithShape="1">
          <a:blip r:embed="rId3">
            <a:alphaModFix/>
          </a:blip>
          <a:srcRect b="0" l="0" r="0" t="0"/>
          <a:stretch/>
        </p:blipFill>
        <p:spPr>
          <a:xfrm>
            <a:off x="3447061" y="4293096"/>
            <a:ext cx="2305050" cy="1162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8"/>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b="1" lang="en-IN"/>
              <a:t>Quantitative Attributes:</a:t>
            </a:r>
            <a:br>
              <a:rPr b="1" lang="en-IN"/>
            </a:br>
            <a:br>
              <a:rPr lang="en-IN"/>
            </a:br>
            <a:endParaRPr/>
          </a:p>
        </p:txBody>
      </p:sp>
      <p:sp>
        <p:nvSpPr>
          <p:cNvPr id="151" name="Google Shape;151;p8"/>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285750" lvl="0" marL="285750" rtl="0" algn="l">
              <a:lnSpc>
                <a:spcPct val="90000"/>
              </a:lnSpc>
              <a:spcBef>
                <a:spcPts val="0"/>
              </a:spcBef>
              <a:spcAft>
                <a:spcPts val="0"/>
              </a:spcAft>
              <a:buClr>
                <a:schemeClr val="dk1"/>
              </a:buClr>
              <a:buSzPct val="100000"/>
              <a:buChar char="•"/>
            </a:pPr>
            <a:r>
              <a:rPr b="1" lang="en-IN"/>
              <a:t>1. Numeric:</a:t>
            </a:r>
            <a:r>
              <a:rPr lang="en-IN"/>
              <a:t> A numeric attribute is quantitative because, it is a measurable quantity, represented in integer or real values. Numerical attributes are of 2 types, </a:t>
            </a:r>
            <a:r>
              <a:rPr b="1" lang="en-IN"/>
              <a:t>interval</a:t>
            </a:r>
            <a:r>
              <a:rPr lang="en-IN"/>
              <a:t>, and </a:t>
            </a:r>
            <a:r>
              <a:rPr b="1" lang="en-IN"/>
              <a:t>ratio</a:t>
            </a:r>
            <a:r>
              <a:rPr lang="en-IN"/>
              <a:t>. </a:t>
            </a:r>
            <a:endParaRPr/>
          </a:p>
          <a:p>
            <a:pPr indent="-285750" lvl="1" marL="742950" rtl="0" algn="l">
              <a:lnSpc>
                <a:spcPct val="90000"/>
              </a:lnSpc>
              <a:spcBef>
                <a:spcPts val="500"/>
              </a:spcBef>
              <a:spcAft>
                <a:spcPts val="0"/>
              </a:spcAft>
              <a:buClr>
                <a:schemeClr val="dk1"/>
              </a:buClr>
              <a:buSzPct val="100000"/>
              <a:buChar char="o"/>
            </a:pPr>
            <a:r>
              <a:rPr lang="en-IN"/>
              <a:t>An </a:t>
            </a:r>
            <a:r>
              <a:rPr b="1" lang="en-IN"/>
              <a:t>interval-scaled</a:t>
            </a:r>
            <a:r>
              <a:rPr lang="en-IN"/>
              <a:t> attribute has values, whose differences are interpretable, but the numerical attributes do not have the correct reference point, or we can call zero points. Data can be added and subtracted at an interval scale but can not be multiplied or divided. Consider an example of temperature in degrees Centigrade. If a day’s temperature of one day is twice of the other day we cannot say that one day is twice as hot as another day. </a:t>
            </a:r>
            <a:endParaRPr/>
          </a:p>
          <a:p>
            <a:pPr indent="-285750" lvl="1" marL="742950" rtl="0" algn="l">
              <a:lnSpc>
                <a:spcPct val="90000"/>
              </a:lnSpc>
              <a:spcBef>
                <a:spcPts val="500"/>
              </a:spcBef>
              <a:spcAft>
                <a:spcPts val="0"/>
              </a:spcAft>
              <a:buClr>
                <a:schemeClr val="dk1"/>
              </a:buClr>
              <a:buSzPct val="100000"/>
              <a:buChar char="o"/>
            </a:pPr>
            <a:r>
              <a:rPr lang="en-IN"/>
              <a:t>A</a:t>
            </a:r>
            <a:r>
              <a:rPr b="1" lang="en-IN"/>
              <a:t> ratio-scaled</a:t>
            </a:r>
            <a:r>
              <a:rPr lang="en-IN"/>
              <a:t> attribute is a numeric attribute with a fix zero-point. If a measurement is ratio-scaled, we can say of a value as being a multiple (or ratio) of another value. The values are ordered, and we can also compute the difference between values, and the mean, median, mode, Quantile-range, and Five number summary can be given.</a:t>
            </a:r>
            <a:endParaRPr/>
          </a:p>
          <a:p>
            <a:pPr indent="-134620" lvl="0" marL="285750" rtl="0" algn="l">
              <a:lnSpc>
                <a:spcPct val="90000"/>
              </a:lnSpc>
              <a:spcBef>
                <a:spcPts val="1000"/>
              </a:spcBef>
              <a:spcAft>
                <a:spcPts val="0"/>
              </a:spcAft>
              <a:buClr>
                <a:schemeClr val="dk1"/>
              </a:buClr>
              <a:buSzPct val="100000"/>
              <a:buFont typeface="Arial"/>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9"/>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157" name="Google Shape;157;p9"/>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b="1" lang="en-IN"/>
              <a:t>2. Discrete : </a:t>
            </a:r>
            <a:r>
              <a:rPr lang="en-IN"/>
              <a:t>Discrete data have finite values it can be numerical and can also be in categorical form. These attributes has finite or countably infinite set of values.</a:t>
            </a:r>
            <a:endParaRPr/>
          </a:p>
        </p:txBody>
      </p:sp>
      <p:pic>
        <p:nvPicPr>
          <p:cNvPr id="158" name="Google Shape;158;p9"/>
          <p:cNvPicPr preferRelativeResize="0"/>
          <p:nvPr/>
        </p:nvPicPr>
        <p:blipFill rotWithShape="1">
          <a:blip r:embed="rId3">
            <a:alphaModFix/>
          </a:blip>
          <a:srcRect b="0" l="0" r="0" t="0"/>
          <a:stretch/>
        </p:blipFill>
        <p:spPr>
          <a:xfrm>
            <a:off x="3248025" y="2862263"/>
            <a:ext cx="2647950" cy="1133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0"/>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164" name="Google Shape;164;p10"/>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IN"/>
              <a:t>3. </a:t>
            </a:r>
            <a:r>
              <a:rPr b="1" lang="en-IN"/>
              <a:t>Continuous</a:t>
            </a:r>
            <a:r>
              <a:rPr lang="en-IN"/>
              <a:t>: Continuous data have an infinite no of states. Continuous data is of float type. There can be many values between 2 and 3. </a:t>
            </a:r>
            <a:endParaRPr/>
          </a:p>
        </p:txBody>
      </p:sp>
      <p:pic>
        <p:nvPicPr>
          <p:cNvPr id="165" name="Google Shape;165;p10"/>
          <p:cNvPicPr preferRelativeResize="0"/>
          <p:nvPr/>
        </p:nvPicPr>
        <p:blipFill rotWithShape="1">
          <a:blip r:embed="rId3">
            <a:alphaModFix/>
          </a:blip>
          <a:srcRect b="0" l="0" r="0" t="0"/>
          <a:stretch/>
        </p:blipFill>
        <p:spPr>
          <a:xfrm>
            <a:off x="3203848" y="3526971"/>
            <a:ext cx="2628900" cy="1123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1"/>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IN"/>
              <a:t>Normal Distribution of data</a:t>
            </a:r>
            <a:endParaRPr/>
          </a:p>
        </p:txBody>
      </p:sp>
      <p:sp>
        <p:nvSpPr>
          <p:cNvPr id="171" name="Google Shape;171;p11"/>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IN"/>
              <a:t>In a normal distribution, data is symmetrically distributed with no skew. When plotted on a graph, the data follows a bell shape, with most values clustering around a central region and tapering off as they go further away from the center.</a:t>
            </a:r>
            <a:endParaRPr/>
          </a:p>
          <a:p>
            <a:pPr indent="-107950" lvl="0" marL="285750" rtl="0" algn="l">
              <a:lnSpc>
                <a:spcPct val="90000"/>
              </a:lnSpc>
              <a:spcBef>
                <a:spcPts val="1000"/>
              </a:spcBef>
              <a:spcAft>
                <a:spcPts val="0"/>
              </a:spcAft>
              <a:buClr>
                <a:schemeClr val="dk1"/>
              </a:buClr>
              <a:buSzPts val="2800"/>
              <a:buFont typeface="Arial"/>
              <a:buNone/>
            </a:pPr>
            <a:r>
              <a:t/>
            </a:r>
            <a:endParaRPr/>
          </a:p>
          <a:p>
            <a:pPr indent="-285750" lvl="0" marL="285750" rtl="0" algn="l">
              <a:lnSpc>
                <a:spcPct val="90000"/>
              </a:lnSpc>
              <a:spcBef>
                <a:spcPts val="1000"/>
              </a:spcBef>
              <a:spcAft>
                <a:spcPts val="0"/>
              </a:spcAft>
              <a:buClr>
                <a:schemeClr val="dk1"/>
              </a:buClr>
              <a:buSzPts val="2800"/>
              <a:buFont typeface="Arial"/>
              <a:buChar char="•"/>
            </a:pPr>
            <a:r>
              <a:rPr lang="en-IN"/>
              <a:t>Normal distributions are also called Gaussian distributions or bell curves because of their shape.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pic>
        <p:nvPicPr>
          <p:cNvPr id="177" name="Google Shape;177;p12"/>
          <p:cNvPicPr preferRelativeResize="0"/>
          <p:nvPr>
            <p:ph idx="1" type="body"/>
          </p:nvPr>
        </p:nvPicPr>
        <p:blipFill rotWithShape="1">
          <a:blip r:embed="rId3">
            <a:alphaModFix/>
          </a:blip>
          <a:srcRect b="0" l="0" r="0" t="0"/>
          <a:stretch/>
        </p:blipFill>
        <p:spPr>
          <a:xfrm>
            <a:off x="1957388" y="1820069"/>
            <a:ext cx="5715000" cy="3533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3"/>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183" name="Google Shape;183;p13"/>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lnSpc>
                <a:spcPct val="90000"/>
              </a:lnSpc>
              <a:spcBef>
                <a:spcPts val="0"/>
              </a:spcBef>
              <a:spcAft>
                <a:spcPts val="0"/>
              </a:spcAft>
              <a:buClr>
                <a:schemeClr val="dk1"/>
              </a:buClr>
              <a:buSzPct val="100000"/>
              <a:buFont typeface="Arial"/>
              <a:buChar char="•"/>
            </a:pPr>
            <a:r>
              <a:rPr lang="en-IN"/>
              <a:t>All kinds of variables in natural and social sciences are normally or approximately normally distributed. Height, birth weight, reading ability, job satisfaction, or SAT scores are just a few examples of such variables.</a:t>
            </a:r>
            <a:endParaRPr/>
          </a:p>
          <a:p>
            <a:pPr indent="-121285" lvl="0" marL="285750" rtl="0" algn="l">
              <a:lnSpc>
                <a:spcPct val="90000"/>
              </a:lnSpc>
              <a:spcBef>
                <a:spcPts val="1000"/>
              </a:spcBef>
              <a:spcAft>
                <a:spcPts val="0"/>
              </a:spcAft>
              <a:buClr>
                <a:schemeClr val="dk1"/>
              </a:buClr>
              <a:buSzPct val="100000"/>
              <a:buFont typeface="Arial"/>
              <a:buNone/>
            </a:pPr>
            <a:r>
              <a:t/>
            </a:r>
            <a:endParaRPr/>
          </a:p>
          <a:p>
            <a:pPr indent="-285750" lvl="0" marL="285750" rtl="0" algn="l">
              <a:lnSpc>
                <a:spcPct val="90000"/>
              </a:lnSpc>
              <a:spcBef>
                <a:spcPts val="1000"/>
              </a:spcBef>
              <a:spcAft>
                <a:spcPts val="0"/>
              </a:spcAft>
              <a:buClr>
                <a:schemeClr val="dk1"/>
              </a:buClr>
              <a:buSzPct val="100000"/>
              <a:buFont typeface="Arial"/>
              <a:buChar char="•"/>
            </a:pPr>
            <a:r>
              <a:rPr lang="en-IN"/>
              <a:t>Because normally distributed variables are so common, many statistical tests are designed for normally distributed populations.</a:t>
            </a:r>
            <a:endParaRPr/>
          </a:p>
          <a:p>
            <a:pPr indent="-121285" lvl="0" marL="285750" rtl="0" algn="l">
              <a:lnSpc>
                <a:spcPct val="90000"/>
              </a:lnSpc>
              <a:spcBef>
                <a:spcPts val="1000"/>
              </a:spcBef>
              <a:spcAft>
                <a:spcPts val="0"/>
              </a:spcAft>
              <a:buClr>
                <a:schemeClr val="dk1"/>
              </a:buClr>
              <a:buSzPct val="100000"/>
              <a:buFont typeface="Arial"/>
              <a:buNone/>
            </a:pPr>
            <a:r>
              <a:t/>
            </a:r>
            <a:endParaRPr/>
          </a:p>
          <a:p>
            <a:pPr indent="-285750" lvl="0" marL="285750" rtl="0" algn="l">
              <a:lnSpc>
                <a:spcPct val="90000"/>
              </a:lnSpc>
              <a:spcBef>
                <a:spcPts val="1000"/>
              </a:spcBef>
              <a:spcAft>
                <a:spcPts val="0"/>
              </a:spcAft>
              <a:buClr>
                <a:schemeClr val="dk1"/>
              </a:buClr>
              <a:buSzPct val="100000"/>
              <a:buFont typeface="Arial"/>
              <a:buChar char="•"/>
            </a:pPr>
            <a:r>
              <a:rPr lang="en-IN"/>
              <a:t>Understanding the properties of normal distributions means you can use inferential statistics to compare different groups and make estimates about populations using samples.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4"/>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IN"/>
              <a:t>The properties of normal distributions</a:t>
            </a:r>
            <a:endParaRPr/>
          </a:p>
        </p:txBody>
      </p:sp>
      <p:sp>
        <p:nvSpPr>
          <p:cNvPr id="189" name="Google Shape;189;p14"/>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IN"/>
              <a:t>Normal distributions have key characteristics that are easy to spot in graphs:</a:t>
            </a:r>
            <a:endParaRPr/>
          </a:p>
          <a:p>
            <a:pPr indent="-285750" lvl="0" marL="285750" rtl="0" algn="l">
              <a:lnSpc>
                <a:spcPct val="90000"/>
              </a:lnSpc>
              <a:spcBef>
                <a:spcPts val="1000"/>
              </a:spcBef>
              <a:spcAft>
                <a:spcPts val="0"/>
              </a:spcAft>
              <a:buClr>
                <a:schemeClr val="dk1"/>
              </a:buClr>
              <a:buSzPts val="2800"/>
              <a:buFont typeface="Arial"/>
              <a:buChar char="•"/>
            </a:pPr>
            <a:r>
              <a:rPr lang="en-IN"/>
              <a:t>The mean, median and mode are the same.</a:t>
            </a:r>
            <a:endParaRPr/>
          </a:p>
          <a:p>
            <a:pPr indent="-285750" lvl="0" marL="285750" rtl="0" algn="l">
              <a:lnSpc>
                <a:spcPct val="90000"/>
              </a:lnSpc>
              <a:spcBef>
                <a:spcPts val="1000"/>
              </a:spcBef>
              <a:spcAft>
                <a:spcPts val="0"/>
              </a:spcAft>
              <a:buClr>
                <a:schemeClr val="dk1"/>
              </a:buClr>
              <a:buSzPts val="2800"/>
              <a:buFont typeface="Arial"/>
              <a:buChar char="•"/>
            </a:pPr>
            <a:r>
              <a:rPr lang="en-IN"/>
              <a:t>The distribution is symmetric about the mean—half the values fall below the mean and half above the mean.</a:t>
            </a:r>
            <a:endParaRPr/>
          </a:p>
          <a:p>
            <a:pPr indent="-285750" lvl="0" marL="285750" rtl="0" algn="l">
              <a:lnSpc>
                <a:spcPct val="90000"/>
              </a:lnSpc>
              <a:spcBef>
                <a:spcPts val="1000"/>
              </a:spcBef>
              <a:spcAft>
                <a:spcPts val="0"/>
              </a:spcAft>
              <a:buClr>
                <a:schemeClr val="dk1"/>
              </a:buClr>
              <a:buSzPts val="2800"/>
              <a:buFont typeface="Arial"/>
              <a:buChar char="•"/>
            </a:pPr>
            <a:r>
              <a:rPr lang="en-IN"/>
              <a:t>The distribution can be described by two values: the mean and the standard deviation.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pic>
        <p:nvPicPr>
          <p:cNvPr id="195" name="Google Shape;195;p16"/>
          <p:cNvPicPr preferRelativeResize="0"/>
          <p:nvPr>
            <p:ph idx="1" type="body"/>
          </p:nvPr>
        </p:nvPicPr>
        <p:blipFill rotWithShape="1">
          <a:blip r:embed="rId3">
            <a:alphaModFix/>
          </a:blip>
          <a:srcRect b="0" l="0" r="0" t="0"/>
          <a:stretch/>
        </p:blipFill>
        <p:spPr>
          <a:xfrm>
            <a:off x="1638010" y="1323975"/>
            <a:ext cx="6353755" cy="45259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7"/>
          <p:cNvSpPr txBox="1"/>
          <p:nvPr>
            <p:ph idx="1" type="body"/>
          </p:nvPr>
        </p:nvSpPr>
        <p:spPr>
          <a:xfrm>
            <a:off x="737828" y="404664"/>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IN"/>
              <a:t>The mean is the location parameter while the standard deviation is the scale parameter.</a:t>
            </a:r>
            <a:endParaRPr/>
          </a:p>
          <a:p>
            <a:pPr indent="-107950" lvl="0" marL="285750" rtl="0" algn="l">
              <a:lnSpc>
                <a:spcPct val="90000"/>
              </a:lnSpc>
              <a:spcBef>
                <a:spcPts val="1000"/>
              </a:spcBef>
              <a:spcAft>
                <a:spcPts val="0"/>
              </a:spcAft>
              <a:buClr>
                <a:schemeClr val="dk1"/>
              </a:buClr>
              <a:buSzPts val="2800"/>
              <a:buFont typeface="Arial"/>
              <a:buNone/>
            </a:pPr>
            <a:r>
              <a:t/>
            </a:r>
            <a:endParaRPr/>
          </a:p>
          <a:p>
            <a:pPr indent="-285750" lvl="0" marL="285750" rtl="0" algn="l">
              <a:lnSpc>
                <a:spcPct val="90000"/>
              </a:lnSpc>
              <a:spcBef>
                <a:spcPts val="1000"/>
              </a:spcBef>
              <a:spcAft>
                <a:spcPts val="0"/>
              </a:spcAft>
              <a:buClr>
                <a:schemeClr val="dk1"/>
              </a:buClr>
              <a:buSzPts val="2800"/>
              <a:buFont typeface="Arial"/>
              <a:buChar char="•"/>
            </a:pPr>
            <a:r>
              <a:rPr lang="en-IN"/>
              <a:t>The mean determines where the peak of the curve is centered. Increasing the mean moves the curve right, while decreasing it moves the curve left.</a:t>
            </a:r>
            <a:endParaRPr/>
          </a:p>
        </p:txBody>
      </p:sp>
      <p:pic>
        <p:nvPicPr>
          <p:cNvPr id="201" name="Google Shape;201;p17"/>
          <p:cNvPicPr preferRelativeResize="0"/>
          <p:nvPr/>
        </p:nvPicPr>
        <p:blipFill rotWithShape="1">
          <a:blip r:embed="rId3">
            <a:alphaModFix/>
          </a:blip>
          <a:srcRect b="0" l="0" r="0" t="0"/>
          <a:stretch/>
        </p:blipFill>
        <p:spPr>
          <a:xfrm>
            <a:off x="2051720" y="3212976"/>
            <a:ext cx="5025752" cy="3108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8"/>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207" name="Google Shape;207;p18"/>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IN"/>
              <a:t>The standard deviation stretches or squeezes the curve. A small standard deviation results in a narrow curve, while a large standard deviation leads to a wide curve.</a:t>
            </a:r>
            <a:endParaRPr/>
          </a:p>
        </p:txBody>
      </p:sp>
      <p:pic>
        <p:nvPicPr>
          <p:cNvPr id="208" name="Google Shape;208;p18"/>
          <p:cNvPicPr preferRelativeResize="0"/>
          <p:nvPr/>
        </p:nvPicPr>
        <p:blipFill rotWithShape="1">
          <a:blip r:embed="rId3">
            <a:alphaModFix/>
          </a:blip>
          <a:srcRect b="0" l="0" r="0" t="0"/>
          <a:stretch/>
        </p:blipFill>
        <p:spPr>
          <a:xfrm>
            <a:off x="3203848" y="2582813"/>
            <a:ext cx="5025752" cy="3108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2021-02-11T03:47:51Z</dcterms:created>
  <dc:creator>Vaibhav Vasani</dc:creator>
</cp:coreProperties>
</file>
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9144000"/>
  <p:notesSz cx="6858000" cy="9144000"/>
  <p:embeddedFontLst>
    <p:embeddedFont>
      <p:font typeface="Arim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ge5BfmCb+AOzgYBGUk+F0mx4xV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Arimo-bold.fntdata"/><Relationship Id="rId12" Type="http://schemas.openxmlformats.org/officeDocument/2006/relationships/slide" Target="slides/slide7.xml"/><Relationship Id="rId34" Type="http://schemas.openxmlformats.org/officeDocument/2006/relationships/font" Target="fonts/Arimo-regular.fntdata"/><Relationship Id="rId15" Type="http://schemas.openxmlformats.org/officeDocument/2006/relationships/slide" Target="slides/slide10.xml"/><Relationship Id="rId37" Type="http://schemas.openxmlformats.org/officeDocument/2006/relationships/font" Target="fonts/Arimo-boldItalic.fntdata"/><Relationship Id="rId14" Type="http://schemas.openxmlformats.org/officeDocument/2006/relationships/slide" Target="slides/slide9.xml"/><Relationship Id="rId36" Type="http://schemas.openxmlformats.org/officeDocument/2006/relationships/font" Target="fonts/Arimo-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09" name="Google Shape;10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80" name="Google Shape;18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8"/>
          <p:cNvSpPr/>
          <p:nvPr>
            <p:ph idx="2" type="pic"/>
          </p:nvPr>
        </p:nvSpPr>
        <p:spPr>
          <a:xfrm>
            <a:off x="1792288" y="612775"/>
            <a:ext cx="5486400" cy="4114800"/>
          </a:xfrm>
          <a:prstGeom prst="rect">
            <a:avLst/>
          </a:prstGeom>
          <a:noFill/>
          <a:ln>
            <a:noFill/>
          </a:ln>
        </p:spPr>
      </p:sp>
      <p:sp>
        <p:nvSpPr>
          <p:cNvPr id="68" name="Google Shape;68;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7.png"/><Relationship Id="rId7" Type="http://schemas.openxmlformats.org/officeDocument/2006/relationships/image" Target="../media/image15.png"/><Relationship Id="rId8"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Simple Mail Transfer Protocol (SMTP)</a:t>
            </a:r>
            <a:endParaRPr/>
          </a:p>
        </p:txBody>
      </p:sp>
      <p:sp>
        <p:nvSpPr>
          <p:cNvPr id="89" name="Google Shape;89;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SMTP</a:t>
            </a:r>
            <a:endParaRPr/>
          </a:p>
        </p:txBody>
      </p:sp>
      <p:sp>
        <p:nvSpPr>
          <p:cNvPr id="95" name="Google Shape;95;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3200"/>
              <a:buChar char="•"/>
            </a:pPr>
            <a:r>
              <a:rPr lang="en-US"/>
              <a:t>SMTP stands for Simple Mail Transfer Protocol.</a:t>
            </a:r>
            <a:endParaRPr/>
          </a:p>
          <a:p>
            <a:pPr indent="-139700" lvl="0" marL="342900" rtl="0" algn="just">
              <a:lnSpc>
                <a:spcPct val="100000"/>
              </a:lnSpc>
              <a:spcBef>
                <a:spcPts val="640"/>
              </a:spcBef>
              <a:spcAft>
                <a:spcPts val="0"/>
              </a:spcAft>
              <a:buClr>
                <a:schemeClr val="dk1"/>
              </a:buClr>
              <a:buSzPts val="3200"/>
              <a:buNone/>
            </a:pPr>
            <a:r>
              <a:t/>
            </a:r>
            <a:endParaRPr/>
          </a:p>
          <a:p>
            <a:pPr indent="-342900" lvl="0" marL="342900" rtl="0" algn="just">
              <a:lnSpc>
                <a:spcPct val="100000"/>
              </a:lnSpc>
              <a:spcBef>
                <a:spcPts val="640"/>
              </a:spcBef>
              <a:spcAft>
                <a:spcPts val="0"/>
              </a:spcAft>
              <a:buClr>
                <a:schemeClr val="dk1"/>
              </a:buClr>
              <a:buSzPts val="3200"/>
              <a:buChar char="•"/>
            </a:pPr>
            <a:r>
              <a:rPr lang="en-US"/>
              <a:t>When an e-mail is sent from the sender to receiver, in most cases this involves, the sender machine sends the email to local SMTP sever, which in then sends mail to recipients local SMTP sever, and finally to recipients local machine.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SMTP</a:t>
            </a:r>
            <a:endParaRPr/>
          </a:p>
        </p:txBody>
      </p:sp>
      <p:sp>
        <p:nvSpPr>
          <p:cNvPr id="101" name="Google Shape;101;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Actual mail transfer requires MTA (Message transfer agents).</a:t>
            </a:r>
            <a:endParaRPr/>
          </a:p>
          <a:p>
            <a:pPr indent="-139700" lvl="0" marL="342900" rtl="0" algn="l">
              <a:lnSpc>
                <a:spcPct val="100000"/>
              </a:lnSpc>
              <a:spcBef>
                <a:spcPts val="640"/>
              </a:spcBef>
              <a:spcAft>
                <a:spcPts val="0"/>
              </a:spcAft>
              <a:buClr>
                <a:schemeClr val="dk1"/>
              </a:buClr>
              <a:buSzPts val="3200"/>
              <a:buNone/>
            </a:pPr>
            <a:r>
              <a:t/>
            </a:r>
            <a:endParaRPr/>
          </a:p>
          <a:p>
            <a:pPr indent="-342900" lvl="0" marL="342900" rtl="0" algn="l">
              <a:lnSpc>
                <a:spcPct val="100000"/>
              </a:lnSpc>
              <a:spcBef>
                <a:spcPts val="640"/>
              </a:spcBef>
              <a:spcAft>
                <a:spcPts val="0"/>
              </a:spcAft>
              <a:buClr>
                <a:schemeClr val="dk1"/>
              </a:buClr>
              <a:buSzPts val="3200"/>
              <a:buChar char="•"/>
            </a:pPr>
            <a:r>
              <a:rPr lang="en-US"/>
              <a:t>Sender MTA and Receiver MTA.</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4"/>
          <p:cNvPicPr preferRelativeResize="0"/>
          <p:nvPr/>
        </p:nvPicPr>
        <p:blipFill rotWithShape="1">
          <a:blip r:embed="rId3">
            <a:alphaModFix/>
          </a:blip>
          <a:srcRect b="0" l="0" r="0" t="0"/>
          <a:stretch/>
        </p:blipFill>
        <p:spPr>
          <a:xfrm>
            <a:off x="228600" y="457200"/>
            <a:ext cx="8683625" cy="6248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13" name="Google Shape;113;p5"/>
          <p:cNvPicPr preferRelativeResize="0"/>
          <p:nvPr/>
        </p:nvPicPr>
        <p:blipFill rotWithShape="1">
          <a:blip r:embed="rId3">
            <a:alphaModFix/>
          </a:blip>
          <a:srcRect b="0" l="0" r="0" t="0"/>
          <a:stretch/>
        </p:blipFill>
        <p:spPr>
          <a:xfrm>
            <a:off x="1371600" y="2286000"/>
            <a:ext cx="6249988" cy="3660775"/>
          </a:xfrm>
          <a:prstGeom prst="rect">
            <a:avLst/>
          </a:prstGeom>
          <a:noFill/>
          <a:ln>
            <a:noFill/>
          </a:ln>
        </p:spPr>
      </p:pic>
      <p:sp>
        <p:nvSpPr>
          <p:cNvPr id="114" name="Google Shape;114;p5"/>
          <p:cNvSpPr txBox="1"/>
          <p:nvPr/>
        </p:nvSpPr>
        <p:spPr>
          <a:xfrm>
            <a:off x="1295400" y="914400"/>
            <a:ext cx="55626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hlink"/>
                </a:solidFill>
                <a:latin typeface="Times New Roman"/>
                <a:ea typeface="Times New Roman"/>
                <a:cs typeface="Times New Roman"/>
                <a:sym typeface="Times New Roman"/>
              </a:rPr>
              <a:t>Message transfer…</a:t>
            </a:r>
            <a:endParaRPr b="0" i="0" sz="1400" u="none" cap="none" strike="noStrike">
              <a:solidFill>
                <a:srgbClr val="000000"/>
              </a:solidFill>
              <a:latin typeface="Arial"/>
              <a:ea typeface="Arial"/>
              <a:cs typeface="Arial"/>
              <a:sym typeface="Arial"/>
            </a:endParaRPr>
          </a:p>
        </p:txBody>
      </p:sp>
      <p:pic>
        <p:nvPicPr>
          <p:cNvPr id="115" name="Google Shape;115;p5"/>
          <p:cNvPicPr preferRelativeResize="0"/>
          <p:nvPr/>
        </p:nvPicPr>
        <p:blipFill rotWithShape="1">
          <a:blip r:embed="rId3">
            <a:alphaModFix/>
          </a:blip>
          <a:srcRect b="0" l="0" r="0" t="0"/>
          <a:stretch/>
        </p:blipFill>
        <p:spPr>
          <a:xfrm>
            <a:off x="1371600" y="2286000"/>
            <a:ext cx="6249988" cy="3660775"/>
          </a:xfrm>
          <a:prstGeom prst="rect">
            <a:avLst/>
          </a:prstGeom>
          <a:noFill/>
          <a:ln>
            <a:noFill/>
          </a:ln>
        </p:spPr>
      </p:pic>
      <p:sp>
        <p:nvSpPr>
          <p:cNvPr id="116" name="Google Shape;116;p5"/>
          <p:cNvSpPr/>
          <p:nvPr/>
        </p:nvSpPr>
        <p:spPr>
          <a:xfrm rot="10800000">
            <a:off x="2362200" y="5257800"/>
            <a:ext cx="3962400" cy="381000"/>
          </a:xfrm>
          <a:prstGeom prst="rightArrow">
            <a:avLst>
              <a:gd fmla="val 50000" name="adj1"/>
              <a:gd fmla="val 260000" name="adj2"/>
            </a:avLst>
          </a:prstGeom>
          <a:solidFill>
            <a:srgbClr val="00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5"/>
          <p:cNvSpPr/>
          <p:nvPr/>
        </p:nvSpPr>
        <p:spPr>
          <a:xfrm>
            <a:off x="2590800" y="3276600"/>
            <a:ext cx="3962400" cy="457200"/>
          </a:xfrm>
          <a:prstGeom prst="rightArrow">
            <a:avLst>
              <a:gd fmla="val 50000" name="adj1"/>
              <a:gd fmla="val 216667" name="adj2"/>
            </a:avLst>
          </a:prstGeom>
          <a:solidFill>
            <a:srgbClr val="FF00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5"/>
          <p:cNvSpPr/>
          <p:nvPr/>
        </p:nvSpPr>
        <p:spPr>
          <a:xfrm>
            <a:off x="4343400" y="1616075"/>
            <a:ext cx="2133600" cy="816600"/>
          </a:xfrm>
          <a:prstGeom prst="wedgeRoundRectCallout">
            <a:avLst>
              <a:gd fmla="val -94750" name="adj1"/>
              <a:gd fmla="val 65106" name="adj2"/>
              <a:gd fmla="val 16667" name="adj3"/>
            </a:avLst>
          </a:prstGeom>
          <a:noFill/>
          <a:ln cap="flat" cmpd="sng" w="25400">
            <a:solidFill>
              <a:srgbClr val="FF0066"/>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SMTP is a push protocol</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6"/>
          <p:cNvPicPr preferRelativeResize="0"/>
          <p:nvPr/>
        </p:nvPicPr>
        <p:blipFill rotWithShape="1">
          <a:blip r:embed="rId3">
            <a:alphaModFix/>
          </a:blip>
          <a:srcRect b="0" l="0" r="0" t="0"/>
          <a:stretch/>
        </p:blipFill>
        <p:spPr>
          <a:xfrm>
            <a:off x="762000" y="2384260"/>
            <a:ext cx="7048500" cy="2035340"/>
          </a:xfrm>
          <a:prstGeom prst="rect">
            <a:avLst/>
          </a:prstGeom>
          <a:noFill/>
          <a:ln>
            <a:noFill/>
          </a:ln>
        </p:spPr>
      </p:pic>
      <p:sp>
        <p:nvSpPr>
          <p:cNvPr id="124" name="Google Shape;124;p6"/>
          <p:cNvSpPr txBox="1"/>
          <p:nvPr>
            <p:ph idx="4294967295" type="title"/>
          </p:nvPr>
        </p:nvSpPr>
        <p:spPr>
          <a:xfrm>
            <a:off x="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How SMTP works?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Commands of SMTP</a:t>
            </a:r>
            <a:endParaRPr/>
          </a:p>
        </p:txBody>
      </p:sp>
      <p:sp>
        <p:nvSpPr>
          <p:cNvPr id="130" name="Google Shape;130;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00000"/>
              </a:lnSpc>
              <a:spcBef>
                <a:spcPts val="0"/>
              </a:spcBef>
              <a:spcAft>
                <a:spcPts val="0"/>
              </a:spcAft>
              <a:buClr>
                <a:schemeClr val="dk1"/>
              </a:buClr>
              <a:buSzPct val="100000"/>
              <a:buFont typeface="Noto Sans Symbols"/>
              <a:buNone/>
            </a:pPr>
            <a:r>
              <a:rPr b="1" lang="en-US"/>
              <a:t>HELO </a:t>
            </a:r>
            <a:r>
              <a:rPr lang="en-US"/>
              <a:t>          : </a:t>
            </a:r>
            <a:r>
              <a:rPr b="1" lang="en-US"/>
              <a:t>Request to initiate SMTP session</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MAIL FROM : Sender’s E-Mail address</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RCPT TO      : Receiver’s E-Mail address</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DATA           : Body of message</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QUIT           : Terminates SMTP connection</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RSET           : Aborts mail transaction</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VRFY           : Asks receiver to verify the validity of the mailbox</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EXPN           : Asks receiver to identify mailing list</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HELP           : Causes receiver to send help information</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NOOP          : Forces server to verify the communication with SMTP  </a:t>
            </a:r>
            <a:endParaRPr/>
          </a:p>
          <a:p>
            <a:pPr indent="-342900" lvl="0" marL="342900" rtl="0" algn="l">
              <a:lnSpc>
                <a:spcPct val="100000"/>
              </a:lnSpc>
              <a:spcBef>
                <a:spcPts val="448"/>
              </a:spcBef>
              <a:spcAft>
                <a:spcPts val="0"/>
              </a:spcAft>
              <a:buClr>
                <a:schemeClr val="dk1"/>
              </a:buClr>
              <a:buSzPct val="100000"/>
              <a:buFont typeface="Noto Sans Symbols"/>
              <a:buNone/>
            </a:pPr>
            <a:r>
              <a:rPr b="1" lang="en-US"/>
              <a:t>                      receiver</a:t>
            </a:r>
            <a:endParaRPr/>
          </a:p>
          <a:p>
            <a:pPr indent="-200660" lvl="0" marL="342900" rtl="0" algn="l">
              <a:lnSpc>
                <a:spcPct val="100000"/>
              </a:lnSpc>
              <a:spcBef>
                <a:spcPts val="448"/>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idx="4294967295" type="title"/>
          </p:nvPr>
        </p:nvSpPr>
        <p:spPr>
          <a:xfrm>
            <a:off x="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accent2"/>
              </a:buClr>
              <a:buSzPct val="100000"/>
              <a:buFont typeface="Calibri"/>
              <a:buNone/>
            </a:pPr>
            <a:r>
              <a:rPr lang="en-US">
                <a:solidFill>
                  <a:schemeClr val="accent2"/>
                </a:solidFill>
              </a:rPr>
              <a:t> </a:t>
            </a:r>
            <a:r>
              <a:rPr lang="en-US"/>
              <a:t>Session Establishment and Termination</a:t>
            </a:r>
            <a:r>
              <a:rPr lang="en-US" sz="5400"/>
              <a:t> </a:t>
            </a:r>
            <a:endParaRPr/>
          </a:p>
        </p:txBody>
      </p:sp>
      <p:pic>
        <p:nvPicPr>
          <p:cNvPr id="136" name="Google Shape;136;p8"/>
          <p:cNvPicPr preferRelativeResize="0"/>
          <p:nvPr/>
        </p:nvPicPr>
        <p:blipFill rotWithShape="1">
          <a:blip r:embed="rId3">
            <a:alphaModFix/>
          </a:blip>
          <a:srcRect b="0" l="0" r="0" t="0"/>
          <a:stretch/>
        </p:blipFill>
        <p:spPr>
          <a:xfrm>
            <a:off x="1219200" y="1600200"/>
            <a:ext cx="6477000" cy="5029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SMTP Mail Transaction Process</a:t>
            </a:r>
            <a:endParaRPr b="1"/>
          </a:p>
        </p:txBody>
      </p:sp>
      <p:sp>
        <p:nvSpPr>
          <p:cNvPr id="142" name="Google Shape;142;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609600" lvl="0" marL="609600" rtl="0" algn="l">
              <a:lnSpc>
                <a:spcPct val="90000"/>
              </a:lnSpc>
              <a:spcBef>
                <a:spcPts val="0"/>
              </a:spcBef>
              <a:spcAft>
                <a:spcPts val="0"/>
              </a:spcAft>
              <a:buClr>
                <a:schemeClr val="dk1"/>
              </a:buClr>
              <a:buSzPct val="100000"/>
              <a:buFont typeface="Noto Sans Symbols"/>
              <a:buNone/>
            </a:pPr>
            <a:r>
              <a:rPr b="1" lang="en-US" sz="2800"/>
              <a:t>1. </a:t>
            </a:r>
            <a:r>
              <a:rPr b="1" lang="en-US"/>
              <a:t>Transaction Initiation and Sender Identification</a:t>
            </a:r>
            <a:endParaRPr/>
          </a:p>
          <a:p>
            <a:pPr indent="-609600" lvl="0" marL="609600" rtl="0" algn="l">
              <a:lnSpc>
                <a:spcPct val="90000"/>
              </a:lnSpc>
              <a:spcBef>
                <a:spcPts val="448"/>
              </a:spcBef>
              <a:spcAft>
                <a:spcPts val="0"/>
              </a:spcAft>
              <a:buClr>
                <a:schemeClr val="dk1"/>
              </a:buClr>
              <a:buSzPct val="100000"/>
              <a:buFont typeface="Noto Sans Symbols"/>
              <a:buNone/>
            </a:pPr>
            <a:r>
              <a:rPr b="1" lang="en-US"/>
              <a:t>	S: HELO sjsu.edu</a:t>
            </a:r>
            <a:endParaRPr/>
          </a:p>
          <a:p>
            <a:pPr indent="-609600" lvl="0" marL="609600" rtl="0" algn="l">
              <a:lnSpc>
                <a:spcPct val="90000"/>
              </a:lnSpc>
              <a:spcBef>
                <a:spcPts val="448"/>
              </a:spcBef>
              <a:spcAft>
                <a:spcPts val="0"/>
              </a:spcAft>
              <a:buClr>
                <a:schemeClr val="dk1"/>
              </a:buClr>
              <a:buSzPct val="100000"/>
              <a:buFont typeface="Noto Sans Symbols"/>
              <a:buNone/>
            </a:pPr>
            <a:r>
              <a:rPr b="1" lang="en-US"/>
              <a:t>	R: 250 Hello sjsu.edu</a:t>
            </a:r>
            <a:br>
              <a:rPr b="1" lang="en-US"/>
            </a:br>
            <a:r>
              <a:rPr b="1" lang="en-US"/>
              <a:t>S: MAIL FROM:&lt;cooldd10@yahoo.com&gt;</a:t>
            </a:r>
            <a:br>
              <a:rPr b="1" lang="en-US"/>
            </a:br>
            <a:r>
              <a:rPr b="1" lang="en-US"/>
              <a:t>R: 250 Ok</a:t>
            </a:r>
            <a:r>
              <a:rPr lang="en-US"/>
              <a:t> </a:t>
            </a:r>
            <a:endParaRPr b="1"/>
          </a:p>
          <a:p>
            <a:pPr indent="-609600" lvl="0" marL="609600" rtl="0" algn="l">
              <a:lnSpc>
                <a:spcPct val="90000"/>
              </a:lnSpc>
              <a:spcBef>
                <a:spcPts val="448"/>
              </a:spcBef>
              <a:spcAft>
                <a:spcPts val="0"/>
              </a:spcAft>
              <a:buClr>
                <a:schemeClr val="accent2"/>
              </a:buClr>
              <a:buSzPct val="100000"/>
              <a:buFont typeface="Noto Sans Symbols"/>
              <a:buNone/>
            </a:pPr>
            <a:r>
              <a:rPr b="1" lang="en-US"/>
              <a:t>2. Recipient Identification</a:t>
            </a:r>
            <a:r>
              <a:rPr lang="en-US"/>
              <a:t> </a:t>
            </a:r>
            <a:endParaRPr/>
          </a:p>
          <a:p>
            <a:pPr indent="-609600" lvl="0" marL="609600" rtl="0" algn="l">
              <a:lnSpc>
                <a:spcPct val="90000"/>
              </a:lnSpc>
              <a:spcBef>
                <a:spcPts val="448"/>
              </a:spcBef>
              <a:spcAft>
                <a:spcPts val="0"/>
              </a:spcAft>
              <a:buClr>
                <a:schemeClr val="accent2"/>
              </a:buClr>
              <a:buSzPct val="100000"/>
              <a:buFont typeface="Noto Sans Symbols"/>
              <a:buNone/>
            </a:pPr>
            <a:r>
              <a:rPr lang="en-US"/>
              <a:t>	</a:t>
            </a:r>
            <a:r>
              <a:rPr b="1" lang="en-US"/>
              <a:t>S: RCPT TO:&lt;jainip_1983@gmail.com&gt;</a:t>
            </a:r>
            <a:br>
              <a:rPr b="1" lang="en-US"/>
            </a:br>
            <a:r>
              <a:rPr b="1" lang="en-US"/>
              <a:t>R: 250 Ok </a:t>
            </a:r>
            <a:endParaRPr/>
          </a:p>
          <a:p>
            <a:pPr indent="-609600" lvl="0" marL="609600" rtl="0" algn="l">
              <a:lnSpc>
                <a:spcPct val="90000"/>
              </a:lnSpc>
              <a:spcBef>
                <a:spcPts val="448"/>
              </a:spcBef>
              <a:spcAft>
                <a:spcPts val="0"/>
              </a:spcAft>
              <a:buClr>
                <a:schemeClr val="accent2"/>
              </a:buClr>
              <a:buSzPct val="100000"/>
              <a:buFont typeface="Noto Sans Symbols"/>
              <a:buNone/>
            </a:pPr>
            <a:r>
              <a:rPr b="1" lang="en-US"/>
              <a:t>3. Mail Transfer</a:t>
            </a:r>
            <a:r>
              <a:rPr lang="en-US"/>
              <a:t> </a:t>
            </a:r>
            <a:endParaRPr/>
          </a:p>
          <a:p>
            <a:pPr indent="-609600" lvl="0" marL="609600" rtl="0" algn="l">
              <a:lnSpc>
                <a:spcPct val="90000"/>
              </a:lnSpc>
              <a:spcBef>
                <a:spcPts val="448"/>
              </a:spcBef>
              <a:spcAft>
                <a:spcPts val="0"/>
              </a:spcAft>
              <a:buClr>
                <a:schemeClr val="accent2"/>
              </a:buClr>
              <a:buSzPct val="100000"/>
              <a:buFont typeface="Noto Sans Symbols"/>
              <a:buNone/>
            </a:pPr>
            <a:r>
              <a:rPr lang="en-US"/>
              <a:t>	</a:t>
            </a:r>
            <a:r>
              <a:rPr b="1" lang="en-US"/>
              <a:t>S: DATA</a:t>
            </a:r>
            <a:br>
              <a:rPr b="1" lang="en-US"/>
            </a:br>
            <a:r>
              <a:rPr b="1" lang="en-US"/>
              <a:t>R: 354 End data with &lt;CR&gt;&lt;LF&gt;.&lt;CR&gt;&lt;LF&gt;</a:t>
            </a:r>
            <a:br>
              <a:rPr b="1" lang="en-US"/>
            </a:br>
            <a:r>
              <a:rPr b="1" lang="en-US"/>
              <a:t>S: &lt;The message data&gt;</a:t>
            </a:r>
            <a:endParaRPr/>
          </a:p>
          <a:p>
            <a:pPr indent="-609600" lvl="0" marL="609600" rtl="0" algn="l">
              <a:lnSpc>
                <a:spcPct val="90000"/>
              </a:lnSpc>
              <a:spcBef>
                <a:spcPts val="448"/>
              </a:spcBef>
              <a:spcAft>
                <a:spcPts val="0"/>
              </a:spcAft>
              <a:buClr>
                <a:schemeClr val="accent2"/>
              </a:buClr>
              <a:buSzPct val="100000"/>
              <a:buFont typeface="Noto Sans Symbols"/>
              <a:buNone/>
            </a:pPr>
            <a:r>
              <a:rPr b="1" lang="en-US"/>
              <a:t>	S:.</a:t>
            </a:r>
            <a:br>
              <a:rPr b="1" lang="en-US"/>
            </a:br>
            <a:r>
              <a:rPr b="1" lang="en-US"/>
              <a:t>R: 250 Ok, message accepted for delivery: queued as 12345</a:t>
            </a:r>
            <a:br>
              <a:rPr b="1" lang="en-US"/>
            </a:br>
            <a:r>
              <a:rPr b="1" lang="en-US"/>
              <a:t>S: QUIT</a:t>
            </a:r>
            <a:br>
              <a:rPr b="1" lang="en-US"/>
            </a:br>
            <a:r>
              <a:rPr b="1" lang="en-US"/>
              <a:t>R: 221 Bye</a:t>
            </a:r>
            <a:r>
              <a:rPr lang="en-US"/>
              <a:t> </a:t>
            </a:r>
            <a:endParaRPr/>
          </a:p>
          <a:p>
            <a:pPr indent="-200660" lvl="0" marL="342900" rtl="0" algn="l">
              <a:lnSpc>
                <a:spcPct val="100000"/>
              </a:lnSpc>
              <a:spcBef>
                <a:spcPts val="448"/>
              </a:spcBef>
              <a:spcAft>
                <a:spcPts val="0"/>
              </a:spcAft>
              <a:buClr>
                <a:schemeClr val="dk1"/>
              </a:buClr>
              <a:buSzPct val="10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File Transfer Protocol</a:t>
            </a:r>
            <a:endParaRPr/>
          </a:p>
        </p:txBody>
      </p:sp>
      <p:sp>
        <p:nvSpPr>
          <p:cNvPr id="148" name="Google Shape;148;p10"/>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00000"/>
              </a:lnSpc>
              <a:spcBef>
                <a:spcPts val="0"/>
              </a:spcBef>
              <a:spcAft>
                <a:spcPts val="0"/>
              </a:spcAft>
              <a:buClr>
                <a:schemeClr val="dk1"/>
              </a:buClr>
              <a:buSzPct val="100000"/>
              <a:buChar char="•"/>
            </a:pPr>
            <a:r>
              <a:rPr lang="en-US">
                <a:latin typeface="Times New Roman"/>
                <a:ea typeface="Times New Roman"/>
                <a:cs typeface="Times New Roman"/>
                <a:sym typeface="Times New Roman"/>
              </a:rPr>
              <a:t>File Transfer Protocol (FTP) is the standard mechanism provided by TCP/IP for copying a file from one host to another. </a:t>
            </a:r>
            <a:endParaRPr/>
          </a:p>
          <a:p>
            <a:pPr indent="-342900" lvl="0" marL="342900" rtl="0" algn="l">
              <a:lnSpc>
                <a:spcPct val="100000"/>
              </a:lnSpc>
              <a:spcBef>
                <a:spcPts val="1200"/>
              </a:spcBef>
              <a:spcAft>
                <a:spcPts val="0"/>
              </a:spcAft>
              <a:buClr>
                <a:schemeClr val="dk1"/>
              </a:buClr>
              <a:buSzPct val="100000"/>
              <a:buChar char="•"/>
            </a:pPr>
            <a:r>
              <a:rPr lang="en-US">
                <a:latin typeface="Times New Roman"/>
                <a:ea typeface="Times New Roman"/>
                <a:cs typeface="Times New Roman"/>
                <a:sym typeface="Times New Roman"/>
              </a:rPr>
              <a:t>FTP uses the services of TCP. It needs two TCP connections.</a:t>
            </a:r>
            <a:endParaRPr/>
          </a:p>
          <a:p>
            <a:pPr indent="-342900" lvl="0" marL="342900" rtl="0" algn="l">
              <a:lnSpc>
                <a:spcPct val="100000"/>
              </a:lnSpc>
              <a:spcBef>
                <a:spcPts val="2200"/>
              </a:spcBef>
              <a:spcAft>
                <a:spcPts val="0"/>
              </a:spcAft>
              <a:buClr>
                <a:schemeClr val="dk1"/>
              </a:buClr>
              <a:buSzPct val="100000"/>
              <a:buChar char="•"/>
            </a:pPr>
            <a:r>
              <a:rPr lang="en-US">
                <a:latin typeface="Times New Roman"/>
                <a:ea typeface="Times New Roman"/>
                <a:cs typeface="Times New Roman"/>
                <a:sym typeface="Times New Roman"/>
              </a:rPr>
              <a:t>The well-known port 21 is used for the control connection and the well-known port 20 for the data connection</a:t>
            </a:r>
            <a:endParaRPr/>
          </a:p>
          <a:p>
            <a:pPr indent="-342900" lvl="0" marL="342900" rtl="0" algn="l">
              <a:lnSpc>
                <a:spcPct val="100000"/>
              </a:lnSpc>
              <a:spcBef>
                <a:spcPts val="1544"/>
              </a:spcBef>
              <a:spcAft>
                <a:spcPts val="0"/>
              </a:spcAft>
              <a:buClr>
                <a:schemeClr val="dk1"/>
              </a:buClr>
              <a:buSzPct val="100000"/>
              <a:buChar char="•"/>
            </a:pPr>
            <a:r>
              <a:rPr lang="en-US">
                <a:latin typeface="Times New Roman"/>
                <a:ea typeface="Times New Roman"/>
                <a:cs typeface="Times New Roman"/>
                <a:sym typeface="Times New Roman"/>
              </a:rPr>
              <a:t>Establishes two connections </a:t>
            </a:r>
            <a:endParaRPr/>
          </a:p>
          <a:p>
            <a:pPr indent="-514350" lvl="0" marL="514350" rtl="0" algn="l">
              <a:lnSpc>
                <a:spcPct val="100000"/>
              </a:lnSpc>
              <a:spcBef>
                <a:spcPts val="544"/>
              </a:spcBef>
              <a:spcAft>
                <a:spcPts val="0"/>
              </a:spcAft>
              <a:buClr>
                <a:schemeClr val="dk1"/>
              </a:buClr>
              <a:buSzPct val="100000"/>
              <a:buFont typeface="Calibri"/>
              <a:buAutoNum type="arabicPeriod"/>
            </a:pPr>
            <a:r>
              <a:rPr lang="en-US">
                <a:latin typeface="Times New Roman"/>
                <a:ea typeface="Times New Roman"/>
                <a:cs typeface="Times New Roman"/>
                <a:sym typeface="Times New Roman"/>
              </a:rPr>
              <a:t>Data Transfer</a:t>
            </a:r>
            <a:endParaRPr/>
          </a:p>
          <a:p>
            <a:pPr indent="-514350" lvl="0" marL="514350" rtl="0" algn="l">
              <a:lnSpc>
                <a:spcPct val="100000"/>
              </a:lnSpc>
              <a:spcBef>
                <a:spcPts val="544"/>
              </a:spcBef>
              <a:spcAft>
                <a:spcPts val="0"/>
              </a:spcAft>
              <a:buClr>
                <a:schemeClr val="dk1"/>
              </a:buClr>
              <a:buSzPct val="100000"/>
              <a:buFont typeface="Calibri"/>
              <a:buAutoNum type="arabicPeriod"/>
            </a:pPr>
            <a:r>
              <a:rPr lang="en-US">
                <a:latin typeface="Times New Roman"/>
                <a:ea typeface="Times New Roman"/>
                <a:cs typeface="Times New Roman"/>
                <a:sym typeface="Times New Roman"/>
              </a:rPr>
              <a:t>Control Information Transfer</a:t>
            </a:r>
            <a:endParaRPr/>
          </a:p>
          <a:p>
            <a:pPr indent="-170180" lvl="0" marL="342900" rtl="0" algn="l">
              <a:lnSpc>
                <a:spcPct val="100000"/>
              </a:lnSpc>
              <a:spcBef>
                <a:spcPts val="544"/>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11"/>
          <p:cNvPicPr preferRelativeResize="0"/>
          <p:nvPr/>
        </p:nvPicPr>
        <p:blipFill rotWithShape="1">
          <a:blip r:embed="rId3">
            <a:alphaModFix/>
          </a:blip>
          <a:srcRect b="0" l="0" r="0" t="0"/>
          <a:stretch/>
        </p:blipFill>
        <p:spPr>
          <a:xfrm>
            <a:off x="215900" y="1436688"/>
            <a:ext cx="8775700" cy="3973512"/>
          </a:xfrm>
          <a:prstGeom prst="rect">
            <a:avLst/>
          </a:prstGeom>
          <a:noFill/>
          <a:ln>
            <a:noFill/>
          </a:ln>
        </p:spPr>
      </p:pic>
      <p:sp>
        <p:nvSpPr>
          <p:cNvPr id="154" name="Google Shape;154;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FTP Model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Times New Roman"/>
              <a:buNone/>
            </a:pP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Using the data connection</a:t>
            </a:r>
            <a:br>
              <a:rPr lang="en-US">
                <a:latin typeface="Times New Roman"/>
                <a:ea typeface="Times New Roman"/>
                <a:cs typeface="Times New Roman"/>
                <a:sym typeface="Times New Roman"/>
              </a:rPr>
            </a:br>
            <a:endParaRPr/>
          </a:p>
        </p:txBody>
      </p:sp>
      <p:pic>
        <p:nvPicPr>
          <p:cNvPr id="160" name="Google Shape;160;p12"/>
          <p:cNvPicPr preferRelativeResize="0"/>
          <p:nvPr>
            <p:ph idx="1" type="body"/>
          </p:nvPr>
        </p:nvPicPr>
        <p:blipFill rotWithShape="1">
          <a:blip r:embed="rId3">
            <a:alphaModFix/>
          </a:blip>
          <a:srcRect b="0" l="0" r="0" t="0"/>
          <a:stretch/>
        </p:blipFill>
        <p:spPr>
          <a:xfrm>
            <a:off x="457200" y="3000045"/>
            <a:ext cx="8229600" cy="17262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Times New Roman"/>
              <a:buNone/>
            </a:pP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Command processing</a:t>
            </a:r>
            <a:br>
              <a:rPr lang="en-US">
                <a:latin typeface="Times New Roman"/>
                <a:ea typeface="Times New Roman"/>
                <a:cs typeface="Times New Roman"/>
                <a:sym typeface="Times New Roman"/>
              </a:rPr>
            </a:br>
            <a:endParaRPr/>
          </a:p>
        </p:txBody>
      </p:sp>
      <p:pic>
        <p:nvPicPr>
          <p:cNvPr id="166" name="Google Shape;166;p13"/>
          <p:cNvPicPr preferRelativeResize="0"/>
          <p:nvPr>
            <p:ph idx="1" type="body"/>
          </p:nvPr>
        </p:nvPicPr>
        <p:blipFill rotWithShape="1">
          <a:blip r:embed="rId3">
            <a:alphaModFix/>
          </a:blip>
          <a:srcRect b="0" l="0" r="0" t="0"/>
          <a:stretch/>
        </p:blipFill>
        <p:spPr>
          <a:xfrm>
            <a:off x="457200" y="3176097"/>
            <a:ext cx="8229600" cy="137416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4"/>
          <p:cNvPicPr preferRelativeResize="0"/>
          <p:nvPr/>
        </p:nvPicPr>
        <p:blipFill rotWithShape="1">
          <a:blip r:embed="rId3">
            <a:alphaModFix/>
          </a:blip>
          <a:srcRect b="0" l="0" r="0" t="0"/>
          <a:stretch/>
        </p:blipFill>
        <p:spPr>
          <a:xfrm>
            <a:off x="609600" y="304800"/>
            <a:ext cx="8001000" cy="5867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Domain Name Server (DNS)</a:t>
            </a:r>
            <a:endParaRPr/>
          </a:p>
        </p:txBody>
      </p:sp>
      <p:sp>
        <p:nvSpPr>
          <p:cNvPr id="177" name="Google Shape;17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0000"/>
              <a:buChar char="•"/>
            </a:pPr>
            <a:r>
              <a:rPr lang="en-US">
                <a:latin typeface="Times"/>
                <a:ea typeface="Times"/>
                <a:cs typeface="Times"/>
                <a:sym typeface="Times"/>
              </a:rPr>
              <a:t>NEED FOR DNS </a:t>
            </a:r>
            <a:r>
              <a:rPr lang="en-US">
                <a:solidFill>
                  <a:schemeClr val="lt1"/>
                </a:solidFill>
                <a:latin typeface="Times"/>
                <a:ea typeface="Times"/>
                <a:cs typeface="Times"/>
                <a:sym typeface="Times"/>
              </a:rPr>
              <a:t>NEED FOR DNS</a:t>
            </a:r>
            <a:endParaRPr/>
          </a:p>
          <a:p>
            <a:pPr indent="0" lvl="0" marL="0" rtl="0" algn="just">
              <a:lnSpc>
                <a:spcPct val="100000"/>
              </a:lnSpc>
              <a:spcBef>
                <a:spcPts val="592"/>
              </a:spcBef>
              <a:spcAft>
                <a:spcPts val="0"/>
              </a:spcAft>
              <a:buClr>
                <a:schemeClr val="dk1"/>
              </a:buClr>
              <a:buSzPct val="100000"/>
              <a:buNone/>
            </a:pPr>
            <a:r>
              <a:rPr lang="en-US">
                <a:latin typeface="Arimo"/>
                <a:ea typeface="Arimo"/>
                <a:cs typeface="Arimo"/>
                <a:sym typeface="Arimo"/>
              </a:rPr>
              <a:t>To identify an entity, TCP/IP protocols use the IP address, which uniquely identifies the connection of a host to the Internet. However, people prefer to use names instead of numeric addresses. Therefore, we need a system that can map a name to an address or an address to a name.</a:t>
            </a:r>
            <a:endParaRPr/>
          </a:p>
          <a:p>
            <a:pPr indent="-187960" lvl="0" marL="0" rtl="0" algn="just">
              <a:lnSpc>
                <a:spcPct val="100000"/>
              </a:lnSpc>
              <a:spcBef>
                <a:spcPts val="592"/>
              </a:spcBef>
              <a:spcAft>
                <a:spcPts val="0"/>
              </a:spcAft>
              <a:buClr>
                <a:schemeClr val="dk1"/>
              </a:buClr>
              <a:buSzPct val="100000"/>
              <a:buChar char="•"/>
            </a:pPr>
            <a:r>
              <a:rPr lang="en-US">
                <a:latin typeface="Arimo"/>
                <a:ea typeface="Arimo"/>
                <a:cs typeface="Arimo"/>
                <a:sym typeface="Arimo"/>
              </a:rPr>
              <a:t> The names must be unique because the addresses are unique</a:t>
            </a:r>
            <a:endParaRPr>
              <a:latin typeface="Arimo"/>
              <a:ea typeface="Arimo"/>
              <a:cs typeface="Arimo"/>
              <a:sym typeface="Arimo"/>
            </a:endParaRPr>
          </a:p>
          <a:p>
            <a:pPr indent="-154940" lvl="0" marL="342900" rtl="0" algn="l">
              <a:lnSpc>
                <a:spcPct val="100000"/>
              </a:lnSpc>
              <a:spcBef>
                <a:spcPts val="592"/>
              </a:spcBef>
              <a:spcAft>
                <a:spcPts val="0"/>
              </a:spcAft>
              <a:buClr>
                <a:schemeClr val="dk1"/>
              </a:buClr>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ph idx="11" type="ftr"/>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r>
              <a:rPr lang="en-US" sz="1200">
                <a:solidFill>
                  <a:srgbClr val="888888"/>
                </a:solidFill>
                <a:latin typeface="Calibri"/>
                <a:ea typeface="Calibri"/>
                <a:cs typeface="Calibri"/>
                <a:sym typeface="Calibri"/>
              </a:rPr>
              <a:t>TCP/IP Protocol Suite</a:t>
            </a:r>
            <a:endParaRPr/>
          </a:p>
        </p:txBody>
      </p:sp>
      <p:sp>
        <p:nvSpPr>
          <p:cNvPr id="184" name="Google Shape;184;p16"/>
          <p:cNvSpPr txBox="1"/>
          <p:nvPr>
            <p:ph idx="12" type="sldNum"/>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200"/>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pic>
        <p:nvPicPr>
          <p:cNvPr id="185" name="Google Shape;185;p16"/>
          <p:cNvPicPr preferRelativeResize="0"/>
          <p:nvPr/>
        </p:nvPicPr>
        <p:blipFill rotWithShape="1">
          <a:blip r:embed="rId3">
            <a:alphaModFix/>
          </a:blip>
          <a:srcRect b="0" l="0" r="0" t="0"/>
          <a:stretch/>
        </p:blipFill>
        <p:spPr>
          <a:xfrm>
            <a:off x="457200" y="2590800"/>
            <a:ext cx="8007350" cy="1744663"/>
          </a:xfrm>
          <a:prstGeom prst="rect">
            <a:avLst/>
          </a:prstGeom>
          <a:noFill/>
          <a:ln>
            <a:noFill/>
          </a:ln>
        </p:spPr>
      </p:pic>
      <p:sp>
        <p:nvSpPr>
          <p:cNvPr id="186" name="Google Shape;186;p16"/>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Figure 19.1</a:t>
            </a:r>
            <a:r>
              <a:rPr b="0" i="0" lang="en-US" sz="1800" u="none" cap="none" strike="noStrike">
                <a:solidFill>
                  <a:schemeClr val="accent2"/>
                </a:solidFill>
                <a:latin typeface="Times New Roman"/>
                <a:ea typeface="Times New Roman"/>
                <a:cs typeface="Times New Roman"/>
                <a:sym typeface="Times New Roman"/>
              </a:rPr>
              <a:t>    </a:t>
            </a:r>
            <a:r>
              <a:rPr b="0" i="1" lang="en-US" sz="1800" u="none" cap="none" strike="noStrike">
                <a:solidFill>
                  <a:schemeClr val="dk1"/>
                </a:solidFill>
                <a:latin typeface="Times New Roman"/>
                <a:ea typeface="Times New Roman"/>
                <a:cs typeface="Times New Roman"/>
                <a:sym typeface="Times New Roman"/>
              </a:rPr>
              <a:t>Purpose of DNS</a:t>
            </a:r>
            <a:endParaRPr b="0" i="0" sz="1400" u="none" cap="none" strike="noStrike">
              <a:solidFill>
                <a:srgbClr val="000000"/>
              </a:solidFill>
              <a:latin typeface="Arial"/>
              <a:ea typeface="Arial"/>
              <a:cs typeface="Arial"/>
              <a:sym typeface="Arial"/>
            </a:endParaRPr>
          </a:p>
        </p:txBody>
      </p:sp>
      <p:sp>
        <p:nvSpPr>
          <p:cNvPr id="187" name="Google Shape;187;p16"/>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88" name="Google Shape;188;p16"/>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89" name="Google Shape;189;p16"/>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90" name="Google Shape;190;p16"/>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91" name="Google Shape;191;p16"/>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92" name="Google Shape;192;p16"/>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93" name="Google Shape;193;p16"/>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194" name="Google Shape;194;p16"/>
          <p:cNvPicPr preferRelativeResize="0"/>
          <p:nvPr/>
        </p:nvPicPr>
        <p:blipFill rotWithShape="1">
          <a:blip r:embed="rId4">
            <a:alphaModFix/>
          </a:blip>
          <a:srcRect b="0" l="0" r="0" t="0"/>
          <a:stretch/>
        </p:blipFill>
        <p:spPr>
          <a:xfrm>
            <a:off x="1935163" y="1628775"/>
            <a:ext cx="731837" cy="1266825"/>
          </a:xfrm>
          <a:prstGeom prst="rect">
            <a:avLst/>
          </a:prstGeom>
          <a:noFill/>
          <a:ln>
            <a:noFill/>
          </a:ln>
        </p:spPr>
      </p:pic>
      <p:pic>
        <p:nvPicPr>
          <p:cNvPr id="195" name="Google Shape;195;p16"/>
          <p:cNvPicPr preferRelativeResize="0"/>
          <p:nvPr/>
        </p:nvPicPr>
        <p:blipFill rotWithShape="1">
          <a:blip r:embed="rId5">
            <a:alphaModFix/>
          </a:blip>
          <a:srcRect b="0" l="0" r="0" t="0"/>
          <a:stretch/>
        </p:blipFill>
        <p:spPr>
          <a:xfrm>
            <a:off x="2590800" y="2735263"/>
            <a:ext cx="877888" cy="541337"/>
          </a:xfrm>
          <a:prstGeom prst="rect">
            <a:avLst/>
          </a:prstGeom>
          <a:noFill/>
          <a:ln>
            <a:noFill/>
          </a:ln>
        </p:spPr>
      </p:pic>
      <p:pic>
        <p:nvPicPr>
          <p:cNvPr id="196" name="Google Shape;196;p16"/>
          <p:cNvPicPr preferRelativeResize="0"/>
          <p:nvPr/>
        </p:nvPicPr>
        <p:blipFill rotWithShape="1">
          <a:blip r:embed="rId6">
            <a:alphaModFix/>
          </a:blip>
          <a:srcRect b="0" l="0" r="0" t="0"/>
          <a:stretch/>
        </p:blipFill>
        <p:spPr>
          <a:xfrm>
            <a:off x="4122738" y="4090988"/>
            <a:ext cx="3573462" cy="633412"/>
          </a:xfrm>
          <a:prstGeom prst="rect">
            <a:avLst/>
          </a:prstGeom>
          <a:noFill/>
          <a:ln>
            <a:noFill/>
          </a:ln>
        </p:spPr>
      </p:pic>
      <p:pic>
        <p:nvPicPr>
          <p:cNvPr id="197" name="Google Shape;197;p16"/>
          <p:cNvPicPr preferRelativeResize="0"/>
          <p:nvPr/>
        </p:nvPicPr>
        <p:blipFill rotWithShape="1">
          <a:blip r:embed="rId7">
            <a:alphaModFix/>
          </a:blip>
          <a:srcRect b="0" l="0" r="0" t="0"/>
          <a:stretch/>
        </p:blipFill>
        <p:spPr>
          <a:xfrm>
            <a:off x="3505200" y="3962400"/>
            <a:ext cx="4706938" cy="1141413"/>
          </a:xfrm>
          <a:prstGeom prst="rect">
            <a:avLst/>
          </a:prstGeom>
          <a:noFill/>
          <a:ln>
            <a:noFill/>
          </a:ln>
        </p:spPr>
      </p:pic>
      <p:pic>
        <p:nvPicPr>
          <p:cNvPr id="198" name="Google Shape;198;p16"/>
          <p:cNvPicPr preferRelativeResize="0"/>
          <p:nvPr/>
        </p:nvPicPr>
        <p:blipFill rotWithShape="1">
          <a:blip r:embed="rId8">
            <a:alphaModFix/>
          </a:blip>
          <a:srcRect b="0" l="0" r="0" t="0"/>
          <a:stretch/>
        </p:blipFill>
        <p:spPr>
          <a:xfrm>
            <a:off x="2584450" y="3733800"/>
            <a:ext cx="996950" cy="630238"/>
          </a:xfrm>
          <a:prstGeom prst="rect">
            <a:avLst/>
          </a:prstGeom>
          <a:noFill/>
          <a:ln>
            <a:noFill/>
          </a:ln>
        </p:spPr>
      </p:pic>
      <p:pic>
        <p:nvPicPr>
          <p:cNvPr id="199" name="Google Shape;199;p16"/>
          <p:cNvPicPr preferRelativeResize="0"/>
          <p:nvPr/>
        </p:nvPicPr>
        <p:blipFill rotWithShape="1">
          <a:blip r:embed="rId9">
            <a:alphaModFix/>
          </a:blip>
          <a:srcRect b="0" l="0" r="0" t="0"/>
          <a:stretch/>
        </p:blipFill>
        <p:spPr>
          <a:xfrm>
            <a:off x="1524000" y="4071938"/>
            <a:ext cx="1444625" cy="12620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20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4"/>
                                        </p:tgtEl>
                                      </p:cBhvr>
                                    </p:animEffect>
                                    <p:set>
                                      <p:cBhvr>
                                        <p:cTn dur="1" fill="hold">
                                          <p:stCondLst>
                                            <p:cond delay="500"/>
                                          </p:stCondLst>
                                        </p:cTn>
                                        <p:tgtEl>
                                          <p:spTgt spid="1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20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5"/>
                                        </p:tgtEl>
                                      </p:cBhvr>
                                    </p:animEffect>
                                    <p:set>
                                      <p:cBhvr>
                                        <p:cTn dur="1" fill="hold">
                                          <p:stCondLst>
                                            <p:cond delay="500"/>
                                          </p:stCondLst>
                                        </p:cTn>
                                        <p:tgtEl>
                                          <p:spTgt spid="1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20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6"/>
                                        </p:tgtEl>
                                      </p:cBhvr>
                                    </p:animEffect>
                                    <p:set>
                                      <p:cBhvr>
                                        <p:cTn dur="1" fill="hold">
                                          <p:stCondLst>
                                            <p:cond delay="500"/>
                                          </p:stCondLst>
                                        </p:cTn>
                                        <p:tgtEl>
                                          <p:spTgt spid="1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20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7"/>
                                        </p:tgtEl>
                                      </p:cBhvr>
                                    </p:animEffect>
                                    <p:set>
                                      <p:cBhvr>
                                        <p:cTn dur="1" fill="hold">
                                          <p:stCondLst>
                                            <p:cond delay="500"/>
                                          </p:stCondLst>
                                        </p:cTn>
                                        <p:tgtEl>
                                          <p:spTgt spid="1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20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8"/>
                                        </p:tgtEl>
                                      </p:cBhvr>
                                    </p:animEffect>
                                    <p:set>
                                      <p:cBhvr>
                                        <p:cTn dur="1" fill="hold">
                                          <p:stCondLst>
                                            <p:cond delay="500"/>
                                          </p:stCondLst>
                                        </p:cTn>
                                        <p:tgtEl>
                                          <p:spTgt spid="1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9"/>
                                        </p:tgtEl>
                                      </p:cBhvr>
                                    </p:animEffect>
                                    <p:set>
                                      <p:cBhvr>
                                        <p:cTn dur="1" fill="hold">
                                          <p:stCondLst>
                                            <p:cond delay="500"/>
                                          </p:stCondLst>
                                        </p:cTn>
                                        <p:tgtEl>
                                          <p:spTgt spid="19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NAME SPACE</a:t>
            </a:r>
            <a:endParaRPr/>
          </a:p>
        </p:txBody>
      </p:sp>
      <p:sp>
        <p:nvSpPr>
          <p:cNvPr id="205" name="Google Shape;205;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3200"/>
              <a:buChar char="•"/>
            </a:pPr>
            <a:r>
              <a:rPr b="1" lang="en-US">
                <a:latin typeface="Times New Roman"/>
                <a:ea typeface="Times New Roman"/>
                <a:cs typeface="Times New Roman"/>
                <a:sym typeface="Times New Roman"/>
              </a:rPr>
              <a:t>Flat Name Space</a:t>
            </a:r>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Series of characters without any structure.</a:t>
            </a:r>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Cannot be used for large systems like internet.</a:t>
            </a:r>
            <a:endParaRPr/>
          </a:p>
          <a:p>
            <a:pPr indent="-342900" lvl="0" marL="342900" rtl="0" algn="l">
              <a:lnSpc>
                <a:spcPct val="100000"/>
              </a:lnSpc>
              <a:spcBef>
                <a:spcPts val="640"/>
              </a:spcBef>
              <a:spcAft>
                <a:spcPts val="0"/>
              </a:spcAft>
              <a:buClr>
                <a:schemeClr val="dk1"/>
              </a:buClr>
              <a:buSzPts val="3200"/>
              <a:buChar char="•"/>
            </a:pPr>
            <a:r>
              <a:rPr b="1" lang="en-US">
                <a:latin typeface="Times New Roman"/>
                <a:ea typeface="Times New Roman"/>
                <a:cs typeface="Times New Roman"/>
                <a:sym typeface="Times New Roman"/>
              </a:rPr>
              <a:t>Hierarchical Name Space</a:t>
            </a:r>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First part defines nature of organization</a:t>
            </a:r>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Second part defines name of organization</a:t>
            </a:r>
            <a:endParaRPr/>
          </a:p>
          <a:p>
            <a:pPr indent="-342900" lvl="0" marL="342900" rtl="0" algn="l">
              <a:lnSpc>
                <a:spcPct val="100000"/>
              </a:lnSpc>
              <a:spcBef>
                <a:spcPts val="640"/>
              </a:spcBef>
              <a:spcAft>
                <a:spcPts val="0"/>
              </a:spcAft>
              <a:buClr>
                <a:schemeClr val="dk1"/>
              </a:buClr>
              <a:buSzPts val="3200"/>
              <a:buFont typeface="Times New Roman"/>
              <a:buChar char="-"/>
            </a:pPr>
            <a:r>
              <a:rPr lang="en-US">
                <a:latin typeface="Times New Roman"/>
                <a:ea typeface="Times New Roman"/>
                <a:cs typeface="Times New Roman"/>
                <a:sym typeface="Times New Roman"/>
              </a:rPr>
              <a:t>Third part defines department of organization and so 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8"/>
          <p:cNvSpPr txBox="1"/>
          <p:nvPr>
            <p:ph idx="4294967295" type="title"/>
          </p:nvPr>
        </p:nvSpPr>
        <p:spPr>
          <a:xfrm>
            <a:off x="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Times New Roman"/>
              <a:buNone/>
            </a:pPr>
            <a:br>
              <a:rPr i="1" lang="en-US">
                <a:latin typeface="Times New Roman"/>
                <a:ea typeface="Times New Roman"/>
                <a:cs typeface="Times New Roman"/>
                <a:sym typeface="Times New Roman"/>
              </a:rPr>
            </a:br>
            <a:r>
              <a:rPr lang="en-US">
                <a:latin typeface="Times New Roman"/>
                <a:ea typeface="Times New Roman"/>
                <a:cs typeface="Times New Roman"/>
                <a:sym typeface="Times New Roman"/>
              </a:rPr>
              <a:t>Domain names and labels</a:t>
            </a:r>
            <a:br>
              <a:rPr lang="en-US">
                <a:latin typeface="Times New Roman"/>
                <a:ea typeface="Times New Roman"/>
                <a:cs typeface="Times New Roman"/>
                <a:sym typeface="Times New Roman"/>
              </a:rPr>
            </a:br>
            <a:endParaRPr/>
          </a:p>
        </p:txBody>
      </p:sp>
      <p:pic>
        <p:nvPicPr>
          <p:cNvPr id="211" name="Google Shape;211;p18"/>
          <p:cNvPicPr preferRelativeResize="0"/>
          <p:nvPr/>
        </p:nvPicPr>
        <p:blipFill rotWithShape="1">
          <a:blip r:embed="rId3">
            <a:alphaModFix/>
          </a:blip>
          <a:srcRect b="0" l="0" r="0" t="0"/>
          <a:stretch/>
        </p:blipFill>
        <p:spPr>
          <a:xfrm>
            <a:off x="914400" y="1676400"/>
            <a:ext cx="7075487" cy="48942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2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Times"/>
              <a:buNone/>
            </a:pPr>
            <a:r>
              <a:rPr lang="en-US">
                <a:latin typeface="Times"/>
                <a:ea typeface="Times"/>
                <a:cs typeface="Times"/>
                <a:sym typeface="Times"/>
              </a:rPr>
              <a:t>DNS IN THE INTERNET</a:t>
            </a:r>
            <a:endParaRPr/>
          </a:p>
        </p:txBody>
      </p:sp>
      <p:sp>
        <p:nvSpPr>
          <p:cNvPr id="217" name="Google Shape;21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latin typeface="Arimo"/>
                <a:ea typeface="Arimo"/>
                <a:cs typeface="Arimo"/>
                <a:sym typeface="Arimo"/>
              </a:rPr>
              <a:t>DNS is a protocol that can be used in different platforms. In the Internet, the domain name space (tree) is divided into three different sections: </a:t>
            </a:r>
            <a:endParaRPr>
              <a:latin typeface="Arimo"/>
              <a:ea typeface="Arimo"/>
              <a:cs typeface="Arimo"/>
              <a:sym typeface="Arimo"/>
            </a:endParaRPr>
          </a:p>
          <a:p>
            <a:pPr indent="-514350" lvl="0" marL="514350" rtl="0" algn="l">
              <a:lnSpc>
                <a:spcPct val="100000"/>
              </a:lnSpc>
              <a:spcBef>
                <a:spcPts val="640"/>
              </a:spcBef>
              <a:spcAft>
                <a:spcPts val="0"/>
              </a:spcAft>
              <a:buClr>
                <a:schemeClr val="dk1"/>
              </a:buClr>
              <a:buSzPts val="3200"/>
              <a:buFont typeface="Calibri"/>
              <a:buAutoNum type="arabicPeriod"/>
            </a:pPr>
            <a:r>
              <a:rPr lang="en-US">
                <a:latin typeface="Arimo"/>
                <a:ea typeface="Arimo"/>
                <a:cs typeface="Arimo"/>
                <a:sym typeface="Arimo"/>
              </a:rPr>
              <a:t>Generic domains</a:t>
            </a:r>
            <a:endParaRPr/>
          </a:p>
          <a:p>
            <a:pPr indent="-514350" lvl="0" marL="514350" rtl="0" algn="l">
              <a:lnSpc>
                <a:spcPct val="100000"/>
              </a:lnSpc>
              <a:spcBef>
                <a:spcPts val="640"/>
              </a:spcBef>
              <a:spcAft>
                <a:spcPts val="0"/>
              </a:spcAft>
              <a:buClr>
                <a:schemeClr val="dk1"/>
              </a:buClr>
              <a:buSzPts val="3200"/>
              <a:buFont typeface="Calibri"/>
              <a:buAutoNum type="arabicPeriod"/>
            </a:pPr>
            <a:r>
              <a:rPr lang="en-US">
                <a:latin typeface="Arimo"/>
                <a:ea typeface="Arimo"/>
                <a:cs typeface="Arimo"/>
                <a:sym typeface="Arimo"/>
              </a:rPr>
              <a:t>Country domains</a:t>
            </a:r>
            <a:endParaRPr/>
          </a:p>
          <a:p>
            <a:pPr indent="-514350" lvl="0" marL="514350" rtl="0" algn="l">
              <a:lnSpc>
                <a:spcPct val="100000"/>
              </a:lnSpc>
              <a:spcBef>
                <a:spcPts val="640"/>
              </a:spcBef>
              <a:spcAft>
                <a:spcPts val="0"/>
              </a:spcAft>
              <a:buClr>
                <a:schemeClr val="dk1"/>
              </a:buClr>
              <a:buSzPts val="3200"/>
              <a:buFont typeface="Calibri"/>
              <a:buAutoNum type="arabicPeriod"/>
            </a:pPr>
            <a:r>
              <a:rPr lang="en-US">
                <a:latin typeface="Arimo"/>
                <a:ea typeface="Arimo"/>
                <a:cs typeface="Arimo"/>
                <a:sym typeface="Arimo"/>
              </a:rPr>
              <a:t>Inverse domain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Generic domains</a:t>
            </a:r>
            <a:endParaRPr/>
          </a:p>
        </p:txBody>
      </p:sp>
      <p:pic>
        <p:nvPicPr>
          <p:cNvPr id="223" name="Google Shape;223;p20"/>
          <p:cNvPicPr preferRelativeResize="0"/>
          <p:nvPr>
            <p:ph idx="1" type="body"/>
          </p:nvPr>
        </p:nvPicPr>
        <p:blipFill rotWithShape="1">
          <a:blip r:embed="rId3">
            <a:alphaModFix/>
          </a:blip>
          <a:srcRect b="0" l="0" r="0" t="0"/>
          <a:stretch/>
        </p:blipFill>
        <p:spPr>
          <a:xfrm>
            <a:off x="575471" y="1600200"/>
            <a:ext cx="7993057" cy="45259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21"/>
          <p:cNvPicPr preferRelativeResize="0"/>
          <p:nvPr/>
        </p:nvPicPr>
        <p:blipFill rotWithShape="1">
          <a:blip r:embed="rId3">
            <a:alphaModFix/>
          </a:blip>
          <a:srcRect b="0" l="0" r="0" t="0"/>
          <a:stretch/>
        </p:blipFill>
        <p:spPr>
          <a:xfrm>
            <a:off x="1601788" y="838200"/>
            <a:ext cx="6170612" cy="488473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Times New Roman"/>
              <a:buNone/>
            </a:pP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Country domains</a:t>
            </a:r>
            <a:br>
              <a:rPr lang="en-US">
                <a:latin typeface="Times New Roman"/>
                <a:ea typeface="Times New Roman"/>
                <a:cs typeface="Times New Roman"/>
                <a:sym typeface="Times New Roman"/>
              </a:rPr>
            </a:br>
            <a:endParaRPr/>
          </a:p>
        </p:txBody>
      </p:sp>
      <p:pic>
        <p:nvPicPr>
          <p:cNvPr id="234" name="Google Shape;234;p22"/>
          <p:cNvPicPr preferRelativeResize="0"/>
          <p:nvPr>
            <p:ph idx="1" type="body"/>
          </p:nvPr>
        </p:nvPicPr>
        <p:blipFill rotWithShape="1">
          <a:blip r:embed="rId3">
            <a:alphaModFix/>
          </a:blip>
          <a:srcRect b="0" l="0" r="0" t="0"/>
          <a:stretch/>
        </p:blipFill>
        <p:spPr>
          <a:xfrm>
            <a:off x="1557248" y="1600200"/>
            <a:ext cx="6029503" cy="45259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Times New Roman"/>
              <a:buNone/>
            </a:pPr>
            <a:br>
              <a:rPr i="1" lang="en-US">
                <a:latin typeface="Times New Roman"/>
                <a:ea typeface="Times New Roman"/>
                <a:cs typeface="Times New Roman"/>
                <a:sym typeface="Times New Roman"/>
              </a:rPr>
            </a:br>
            <a:r>
              <a:rPr lang="en-US">
                <a:latin typeface="Times New Roman"/>
                <a:ea typeface="Times New Roman"/>
                <a:cs typeface="Times New Roman"/>
                <a:sym typeface="Times New Roman"/>
              </a:rPr>
              <a:t>Inverse domain</a:t>
            </a:r>
            <a:br>
              <a:rPr lang="en-US">
                <a:latin typeface="Times New Roman"/>
                <a:ea typeface="Times New Roman"/>
                <a:cs typeface="Times New Roman"/>
                <a:sym typeface="Times New Roman"/>
              </a:rPr>
            </a:br>
            <a:endParaRPr/>
          </a:p>
        </p:txBody>
      </p:sp>
      <p:pic>
        <p:nvPicPr>
          <p:cNvPr id="240" name="Google Shape;240;p23"/>
          <p:cNvPicPr preferRelativeResize="0"/>
          <p:nvPr>
            <p:ph idx="1" type="body"/>
          </p:nvPr>
        </p:nvPicPr>
        <p:blipFill rotWithShape="1">
          <a:blip r:embed="rId3">
            <a:alphaModFix/>
          </a:blip>
          <a:srcRect b="0" l="0" r="0" t="0"/>
          <a:stretch/>
        </p:blipFill>
        <p:spPr>
          <a:xfrm>
            <a:off x="2057401" y="1600200"/>
            <a:ext cx="4953000" cy="4724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DNS Messages</a:t>
            </a:r>
            <a:endParaRPr/>
          </a:p>
        </p:txBody>
      </p:sp>
      <p:sp>
        <p:nvSpPr>
          <p:cNvPr id="246" name="Google Shape;246;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Query Messages</a:t>
            </a:r>
            <a:endParaRPr/>
          </a:p>
          <a:p>
            <a:pPr indent="-342900" lvl="0" marL="342900" rtl="0" algn="l">
              <a:lnSpc>
                <a:spcPct val="100000"/>
              </a:lnSpc>
              <a:spcBef>
                <a:spcPts val="640"/>
              </a:spcBef>
              <a:spcAft>
                <a:spcPts val="0"/>
              </a:spcAft>
              <a:buClr>
                <a:schemeClr val="dk1"/>
              </a:buClr>
              <a:buSzPts val="3200"/>
              <a:buNone/>
            </a:pPr>
            <a:r>
              <a:t/>
            </a:r>
            <a:endParaRPr/>
          </a:p>
          <a:p>
            <a:pPr indent="-342900" lvl="0" marL="342900" rtl="0" algn="l">
              <a:lnSpc>
                <a:spcPct val="100000"/>
              </a:lnSpc>
              <a:spcBef>
                <a:spcPts val="640"/>
              </a:spcBef>
              <a:spcAft>
                <a:spcPts val="0"/>
              </a:spcAft>
              <a:buClr>
                <a:schemeClr val="dk1"/>
              </a:buClr>
              <a:buSzPts val="3200"/>
              <a:buChar char="•"/>
            </a:pPr>
            <a:r>
              <a:rPr lang="en-US"/>
              <a:t>Response Messages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TELNET</a:t>
            </a:r>
            <a:endParaRPr/>
          </a:p>
        </p:txBody>
      </p:sp>
      <p:sp>
        <p:nvSpPr>
          <p:cNvPr id="252" name="Google Shape;252;p25"/>
          <p:cNvSpPr txBox="1"/>
          <p:nvPr>
            <p:ph idx="1" type="body"/>
          </p:nvPr>
        </p:nvSpPr>
        <p:spPr>
          <a:xfrm>
            <a:off x="457200" y="1371600"/>
            <a:ext cx="8229600" cy="51054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0000"/>
              <a:buChar char="•"/>
            </a:pPr>
            <a:r>
              <a:rPr lang="en-US"/>
              <a:t>TELNET is standard TCP/IP protocol that lets user access any application program on remote computer.</a:t>
            </a:r>
            <a:endParaRPr/>
          </a:p>
          <a:p>
            <a:pPr indent="-342900" lvl="0" marL="342900" rtl="0" algn="l">
              <a:lnSpc>
                <a:spcPct val="100000"/>
              </a:lnSpc>
              <a:spcBef>
                <a:spcPts val="592"/>
              </a:spcBef>
              <a:spcAft>
                <a:spcPts val="0"/>
              </a:spcAft>
              <a:buClr>
                <a:schemeClr val="dk1"/>
              </a:buClr>
              <a:buSzPct val="100000"/>
              <a:buChar char="•"/>
            </a:pPr>
            <a:r>
              <a:rPr lang="en-US"/>
              <a:t>TELNET – Terminal Network</a:t>
            </a:r>
            <a:endParaRPr/>
          </a:p>
          <a:p>
            <a:pPr indent="-342900" lvl="0" marL="342900" rtl="0" algn="l">
              <a:lnSpc>
                <a:spcPct val="100000"/>
              </a:lnSpc>
              <a:spcBef>
                <a:spcPts val="592"/>
              </a:spcBef>
              <a:spcAft>
                <a:spcPts val="0"/>
              </a:spcAft>
              <a:buClr>
                <a:schemeClr val="dk1"/>
              </a:buClr>
              <a:buSzPct val="100000"/>
              <a:buChar char="•"/>
            </a:pPr>
            <a:r>
              <a:rPr lang="en-US"/>
              <a:t>Standard protocol for virtual terminal service proposed by ISO.</a:t>
            </a:r>
            <a:endParaRPr/>
          </a:p>
          <a:p>
            <a:pPr indent="-342900" lvl="0" marL="342900" rtl="0" algn="l">
              <a:lnSpc>
                <a:spcPct val="100000"/>
              </a:lnSpc>
              <a:spcBef>
                <a:spcPts val="592"/>
              </a:spcBef>
              <a:spcAft>
                <a:spcPts val="0"/>
              </a:spcAft>
              <a:buClr>
                <a:schemeClr val="dk1"/>
              </a:buClr>
              <a:buSzPct val="100000"/>
              <a:buChar char="•"/>
            </a:pPr>
            <a:r>
              <a:rPr lang="en-US"/>
              <a:t>TELNET enables establishment of connection to remote system such that local terminal appears to be terminal at remote system.</a:t>
            </a:r>
            <a:endParaRPr/>
          </a:p>
          <a:p>
            <a:pPr indent="-342900" lvl="0" marL="342900" rtl="0" algn="l">
              <a:lnSpc>
                <a:spcPct val="100000"/>
              </a:lnSpc>
              <a:spcBef>
                <a:spcPts val="592"/>
              </a:spcBef>
              <a:spcAft>
                <a:spcPts val="0"/>
              </a:spcAft>
              <a:buClr>
                <a:schemeClr val="dk1"/>
              </a:buClr>
              <a:buSzPct val="100000"/>
              <a:buChar char="•"/>
            </a:pPr>
            <a:r>
              <a:rPr lang="en-US">
                <a:latin typeface="Arial"/>
                <a:ea typeface="Arial"/>
                <a:cs typeface="Arial"/>
                <a:sym typeface="Arial"/>
              </a:rPr>
              <a:t>TELNET is a general-purpose </a:t>
            </a:r>
            <a:br>
              <a:rPr lang="en-US">
                <a:latin typeface="Arial"/>
                <a:ea typeface="Arial"/>
                <a:cs typeface="Arial"/>
                <a:sym typeface="Arial"/>
              </a:rPr>
            </a:br>
            <a:r>
              <a:rPr lang="en-US">
                <a:latin typeface="Arial"/>
                <a:ea typeface="Arial"/>
                <a:cs typeface="Arial"/>
                <a:sym typeface="Arial"/>
              </a:rPr>
              <a:t>client-server application program</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6"/>
          <p:cNvSpPr txBox="1"/>
          <p:nvPr>
            <p:ph idx="4294967295" type="title"/>
          </p:nvPr>
        </p:nvSpPr>
        <p:spPr>
          <a:xfrm>
            <a:off x="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TELNET</a:t>
            </a:r>
            <a:endParaRPr/>
          </a:p>
        </p:txBody>
      </p:sp>
      <p:sp>
        <p:nvSpPr>
          <p:cNvPr id="258" name="Google Shape;258;p26"/>
          <p:cNvSpPr txBox="1"/>
          <p:nvPr>
            <p:ph idx="4294967295" type="body"/>
          </p:nvPr>
        </p:nvSpPr>
        <p:spPr>
          <a:xfrm>
            <a:off x="285750" y="1600200"/>
            <a:ext cx="8229600" cy="4526100"/>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chemeClr val="dk1"/>
              </a:buClr>
              <a:buSzPts val="3200"/>
              <a:buFont typeface="Calibri"/>
              <a:buAutoNum type="arabicPeriod"/>
            </a:pPr>
            <a:r>
              <a:rPr b="1" lang="en-US"/>
              <a:t>Local Login</a:t>
            </a:r>
            <a:endParaRPr b="1"/>
          </a:p>
        </p:txBody>
      </p:sp>
      <p:pic>
        <p:nvPicPr>
          <p:cNvPr id="259" name="Google Shape;259;p26"/>
          <p:cNvPicPr preferRelativeResize="0"/>
          <p:nvPr/>
        </p:nvPicPr>
        <p:blipFill rotWithShape="1">
          <a:blip r:embed="rId3">
            <a:alphaModFix/>
          </a:blip>
          <a:srcRect b="0" l="0" r="0" t="0"/>
          <a:stretch/>
        </p:blipFill>
        <p:spPr>
          <a:xfrm>
            <a:off x="3124200" y="1295400"/>
            <a:ext cx="5767387" cy="5562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2.Remote Login</a:t>
            </a:r>
            <a:endParaRPr b="1"/>
          </a:p>
        </p:txBody>
      </p:sp>
      <p:pic>
        <p:nvPicPr>
          <p:cNvPr id="265" name="Google Shape;265;p27"/>
          <p:cNvPicPr preferRelativeResize="0"/>
          <p:nvPr>
            <p:ph idx="1" type="body"/>
          </p:nvPr>
        </p:nvPicPr>
        <p:blipFill rotWithShape="1">
          <a:blip r:embed="rId3">
            <a:alphaModFix/>
          </a:blip>
          <a:srcRect b="0" l="0" r="0" t="0"/>
          <a:stretch/>
        </p:blipFill>
        <p:spPr>
          <a:xfrm>
            <a:off x="457200" y="2103511"/>
            <a:ext cx="8229600" cy="351934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br>
              <a:rPr b="1" lang="en-US"/>
            </a:br>
            <a:r>
              <a:rPr b="1" lang="en-US"/>
              <a:t>Concept of NVT</a:t>
            </a:r>
            <a:br>
              <a:rPr b="1" lang="en-US"/>
            </a:br>
            <a:endParaRPr b="1"/>
          </a:p>
        </p:txBody>
      </p:sp>
      <p:pic>
        <p:nvPicPr>
          <p:cNvPr id="271" name="Google Shape;271;p28"/>
          <p:cNvPicPr preferRelativeResize="0"/>
          <p:nvPr>
            <p:ph idx="1" type="body"/>
          </p:nvPr>
        </p:nvPicPr>
        <p:blipFill rotWithShape="1">
          <a:blip r:embed="rId3">
            <a:alphaModFix/>
          </a:blip>
          <a:srcRect b="0" l="0" r="0" t="0"/>
          <a:stretch/>
        </p:blipFill>
        <p:spPr>
          <a:xfrm>
            <a:off x="457200" y="2357081"/>
            <a:ext cx="8229600" cy="30122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2014-10-07T10:10:36Z</dcterms:created>
  <dc:creator>university</dc:creator>
</cp:coreProperties>
</file>
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6858000" cx="9144000"/>
  <p:notesSz cx="6858000" cy="9144000"/>
  <p:embeddedFontLst>
    <p:embeddedFont>
      <p:font typeface="Arimo"/>
      <p:regular r:id="rId50"/>
      <p:bold r:id="rId51"/>
      <p:italic r:id="rId52"/>
      <p:boldItalic r:id="rId53"/>
    </p:embeddedFont>
    <p:embeddedFont>
      <p:font typeface="Tahoma"/>
      <p:regular r:id="rId54"/>
      <p:bold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6" roundtripDataSignature="AMtx7mgzcRwaL6A3wNWIcEv17ud92uOt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Arimo-bold.fntdata"/><Relationship Id="rId50" Type="http://schemas.openxmlformats.org/officeDocument/2006/relationships/font" Target="fonts/Arimo-regular.fntdata"/><Relationship Id="rId53" Type="http://schemas.openxmlformats.org/officeDocument/2006/relationships/font" Target="fonts/Arimo-boldItalic.fntdata"/><Relationship Id="rId52" Type="http://schemas.openxmlformats.org/officeDocument/2006/relationships/font" Target="fonts/Arimo-italic.fntdata"/><Relationship Id="rId11" Type="http://schemas.openxmlformats.org/officeDocument/2006/relationships/slide" Target="slides/slide5.xml"/><Relationship Id="rId55" Type="http://schemas.openxmlformats.org/officeDocument/2006/relationships/font" Target="fonts/Tahoma-bold.fntdata"/><Relationship Id="rId10" Type="http://schemas.openxmlformats.org/officeDocument/2006/relationships/slide" Target="slides/slide4.xml"/><Relationship Id="rId54" Type="http://schemas.openxmlformats.org/officeDocument/2006/relationships/font" Target="fonts/Tahoma-regular.fntdata"/><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rgbClr val="000000"/>
                </a:solidFill>
                <a:latin typeface="Tahoma"/>
                <a:ea typeface="Tahoma"/>
                <a:cs typeface="Tahoma"/>
                <a:sym typeface="Tahoma"/>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a:p>
        </p:txBody>
      </p:sp>
      <p:sp>
        <p:nvSpPr>
          <p:cNvPr id="99" name="Google Shape;9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a:p>
        </p:txBody>
      </p:sp>
      <p:sp>
        <p:nvSpPr>
          <p:cNvPr id="111" name="Google Shape;11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20" name="Google Shape;12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35" name="Google Shape;13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46" name="Google Shape;14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56" name="Google Shape;15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67" name="Google Shape;16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77" name="Google Shape;17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193" name="Google Shape;19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13" name="Google Shape;21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29" name="Google Shape;22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46" name="Google Shape;24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66" name="Google Shape;26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85" name="Google Shape;28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296" name="Google Shape;29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314" name="Google Shape;31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331" name="Google Shape;33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342" name="Google Shape;34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352" name="Google Shape;35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368" name="Google Shape;36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399" name="Google Shape;39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419" name="Google Shape;41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437" name="Google Shape;43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459" name="Google Shape;45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479" name="Google Shape;47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499" name="Google Shape;49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517" name="Google Shape;51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533" name="Google Shape;53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553" name="Google Shape;55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564" name="Google Shape;56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574" name="Google Shape;57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3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590" name="Google Shape;59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621" name="Google Shape;62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652" name="Google Shape;65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3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683" name="Google Shape;68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4" name="Google Shape;684;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714" name="Google Shape;71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5" name="Google Shape;71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745" name="Google Shape;74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6" name="Google Shape;74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756" name="Google Shape;75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767" name="Google Shape;76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8" name="Google Shape;768;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4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798" name="Google Shape;79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9" name="Google Shape;79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4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809" name="Google Shape;80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0" name="Google Shape;810;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4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840" name="Google Shape;84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1" name="Google Shape;841;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a:solidFill>
                  <a:srgbClr val="000000"/>
                </a:solidFill>
                <a:latin typeface="Times New Roman"/>
                <a:ea typeface="Times New Roman"/>
                <a:cs typeface="Times New Roman"/>
                <a:sym typeface="Times New Roman"/>
              </a:rPr>
              <a:t>‹#›</a:t>
            </a:fld>
            <a:endParaRPr/>
          </a:p>
        </p:txBody>
      </p:sp>
      <p:sp>
        <p:nvSpPr>
          <p:cNvPr id="851" name="Google Shape;85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2" name="Shape 12"/>
        <p:cNvGrpSpPr/>
        <p:nvPr/>
      </p:nvGrpSpPr>
      <p:grpSpPr>
        <a:xfrm>
          <a:off x="0" y="0"/>
          <a:ext cx="0" cy="0"/>
          <a:chOff x="0" y="0"/>
          <a:chExt cx="0" cy="0"/>
        </a:xfrm>
      </p:grpSpPr>
      <p:sp>
        <p:nvSpPr>
          <p:cNvPr id="13" name="Google Shape;13;p45"/>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5"/>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表格" type="tbl">
  <p:cSld name="TABLE">
    <p:spTree>
      <p:nvGrpSpPr>
        <p:cNvPr id="15" name="Shape 15"/>
        <p:cNvGrpSpPr/>
        <p:nvPr/>
      </p:nvGrpSpPr>
      <p:grpSpPr>
        <a:xfrm>
          <a:off x="0" y="0"/>
          <a:ext cx="0" cy="0"/>
          <a:chOff x="0" y="0"/>
          <a:chExt cx="0" cy="0"/>
        </a:xfrm>
      </p:grpSpPr>
      <p:sp>
        <p:nvSpPr>
          <p:cNvPr id="16" name="Google Shape;16;p46"/>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7" name="Google Shape;17;p46"/>
          <p:cNvSpPr/>
          <p:nvPr>
            <p:ph idx="2" type="tbl"/>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8" name="Google Shape;18;p46"/>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6"/>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圖表或組織圖" type="dgm">
  <p:cSld name="DIAGRAM">
    <p:spTree>
      <p:nvGrpSpPr>
        <p:cNvPr id="20" name="Shape 20"/>
        <p:cNvGrpSpPr/>
        <p:nvPr/>
      </p:nvGrpSpPr>
      <p:grpSpPr>
        <a:xfrm>
          <a:off x="0" y="0"/>
          <a:ext cx="0" cy="0"/>
          <a:chOff x="0" y="0"/>
          <a:chExt cx="0" cy="0"/>
        </a:xfrm>
      </p:grpSpPr>
      <p:sp>
        <p:nvSpPr>
          <p:cNvPr id="21" name="Google Shape;21;p47"/>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2" name="Google Shape;22;p47"/>
          <p:cNvSpPr/>
          <p:nvPr>
            <p:ph idx="2" type="dgm"/>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3" name="Google Shape;23;p47"/>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7"/>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25" name="Shape 25"/>
        <p:cNvGrpSpPr/>
        <p:nvPr/>
      </p:nvGrpSpPr>
      <p:grpSpPr>
        <a:xfrm>
          <a:off x="0" y="0"/>
          <a:ext cx="0" cy="0"/>
          <a:chOff x="0" y="0"/>
          <a:chExt cx="0" cy="0"/>
        </a:xfrm>
      </p:grpSpPr>
      <p:sp>
        <p:nvSpPr>
          <p:cNvPr id="26" name="Google Shape;26;p48"/>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7" name="Google Shape;27;p48"/>
          <p:cNvSpPr txBox="1"/>
          <p:nvPr>
            <p:ph idx="1" type="body"/>
          </p:nvPr>
        </p:nvSpPr>
        <p:spPr>
          <a:xfrm rot="5400000">
            <a:off x="604044" y="389731"/>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8" name="Google Shape;28;p48"/>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8"/>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30" name="Shape 30"/>
        <p:cNvGrpSpPr/>
        <p:nvPr/>
      </p:nvGrpSpPr>
      <p:grpSpPr>
        <a:xfrm>
          <a:off x="0" y="0"/>
          <a:ext cx="0" cy="0"/>
          <a:chOff x="0" y="0"/>
          <a:chExt cx="0" cy="0"/>
        </a:xfrm>
      </p:grpSpPr>
      <p:sp>
        <p:nvSpPr>
          <p:cNvPr id="31" name="Google Shape;31;p49"/>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2" name="Google Shape;32;p49"/>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33" name="Google Shape;33;p49"/>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9"/>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圖片" type="picTx">
  <p:cSld name="PICTURE_WITH_CAPTION_TEXT">
    <p:spTree>
      <p:nvGrpSpPr>
        <p:cNvPr id="35" name="Shape 35"/>
        <p:cNvGrpSpPr/>
        <p:nvPr/>
      </p:nvGrpSpPr>
      <p:grpSpPr>
        <a:xfrm>
          <a:off x="0" y="0"/>
          <a:ext cx="0" cy="0"/>
          <a:chOff x="0" y="0"/>
          <a:chExt cx="0" cy="0"/>
        </a:xfrm>
      </p:grpSpPr>
      <p:sp>
        <p:nvSpPr>
          <p:cNvPr id="36" name="Google Shape;36;p50"/>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7" name="Google Shape;37;p50"/>
          <p:cNvSpPr/>
          <p:nvPr>
            <p:ph idx="2" type="pic"/>
          </p:nvPr>
        </p:nvSpPr>
        <p:spPr>
          <a:xfrm>
            <a:off x="3887788" y="987425"/>
            <a:ext cx="4629150" cy="4873625"/>
          </a:xfrm>
          <a:prstGeom prst="rect">
            <a:avLst/>
          </a:prstGeom>
          <a:noFill/>
          <a:ln>
            <a:noFill/>
          </a:ln>
        </p:spPr>
      </p:sp>
      <p:sp>
        <p:nvSpPr>
          <p:cNvPr id="38" name="Google Shape;38;p50"/>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9" name="Google Shape;39;p50"/>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0"/>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標題的內容" type="objTx">
  <p:cSld name="OBJECT_WITH_CAPTION_TEXT">
    <p:spTree>
      <p:nvGrpSpPr>
        <p:cNvPr id="41" name="Shape 41"/>
        <p:cNvGrpSpPr/>
        <p:nvPr/>
      </p:nvGrpSpPr>
      <p:grpSpPr>
        <a:xfrm>
          <a:off x="0" y="0"/>
          <a:ext cx="0" cy="0"/>
          <a:chOff x="0" y="0"/>
          <a:chExt cx="0" cy="0"/>
        </a:xfrm>
      </p:grpSpPr>
      <p:sp>
        <p:nvSpPr>
          <p:cNvPr id="42" name="Google Shape;42;p51"/>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3" name="Google Shape;43;p51"/>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44" name="Google Shape;44;p51"/>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45" name="Google Shape;45;p51"/>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1"/>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7" name="Shape 47"/>
        <p:cNvGrpSpPr/>
        <p:nvPr/>
      </p:nvGrpSpPr>
      <p:grpSpPr>
        <a:xfrm>
          <a:off x="0" y="0"/>
          <a:ext cx="0" cy="0"/>
          <a:chOff x="0" y="0"/>
          <a:chExt cx="0" cy="0"/>
        </a:xfrm>
      </p:grpSpPr>
      <p:sp>
        <p:nvSpPr>
          <p:cNvPr id="48" name="Google Shape;48;p52"/>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9" name="Google Shape;49;p52"/>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2"/>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對" type="twoTxTwoObj">
  <p:cSld name="TWO_OBJECTS_WITH_TEXT">
    <p:spTree>
      <p:nvGrpSpPr>
        <p:cNvPr id="51" name="Shape 51"/>
        <p:cNvGrpSpPr/>
        <p:nvPr/>
      </p:nvGrpSpPr>
      <p:grpSpPr>
        <a:xfrm>
          <a:off x="0" y="0"/>
          <a:ext cx="0" cy="0"/>
          <a:chOff x="0" y="0"/>
          <a:chExt cx="0" cy="0"/>
        </a:xfrm>
      </p:grpSpPr>
      <p:sp>
        <p:nvSpPr>
          <p:cNvPr id="52" name="Google Shape;52;p53"/>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3" name="Google Shape;53;p53"/>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54" name="Google Shape;54;p53"/>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5" name="Google Shape;55;p53"/>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56" name="Google Shape;56;p53"/>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7" name="Google Shape;57;p53"/>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3"/>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項物件" type="twoObj">
  <p:cSld name="TWO_OBJECTS">
    <p:spTree>
      <p:nvGrpSpPr>
        <p:cNvPr id="59" name="Shape 59"/>
        <p:cNvGrpSpPr/>
        <p:nvPr/>
      </p:nvGrpSpPr>
      <p:grpSpPr>
        <a:xfrm>
          <a:off x="0" y="0"/>
          <a:ext cx="0" cy="0"/>
          <a:chOff x="0" y="0"/>
          <a:chExt cx="0" cy="0"/>
        </a:xfrm>
      </p:grpSpPr>
      <p:sp>
        <p:nvSpPr>
          <p:cNvPr id="60" name="Google Shape;60;p54"/>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1" name="Google Shape;61;p54"/>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62" name="Google Shape;62;p54"/>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63" name="Google Shape;63;p54"/>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4"/>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65" name="Shape 65"/>
        <p:cNvGrpSpPr/>
        <p:nvPr/>
      </p:nvGrpSpPr>
      <p:grpSpPr>
        <a:xfrm>
          <a:off x="0" y="0"/>
          <a:ext cx="0" cy="0"/>
          <a:chOff x="0" y="0"/>
          <a:chExt cx="0" cy="0"/>
        </a:xfrm>
      </p:grpSpPr>
      <p:sp>
        <p:nvSpPr>
          <p:cNvPr id="66" name="Google Shape;66;p55"/>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6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7" name="Google Shape;67;p55"/>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68" name="Google Shape;68;p55"/>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55"/>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type="obj">
  <p:cSld name="OBJECT">
    <p:spTree>
      <p:nvGrpSpPr>
        <p:cNvPr id="70" name="Shape 70"/>
        <p:cNvGrpSpPr/>
        <p:nvPr/>
      </p:nvGrpSpPr>
      <p:grpSpPr>
        <a:xfrm>
          <a:off x="0" y="0"/>
          <a:ext cx="0" cy="0"/>
          <a:chOff x="0" y="0"/>
          <a:chExt cx="0" cy="0"/>
        </a:xfrm>
      </p:grpSpPr>
      <p:sp>
        <p:nvSpPr>
          <p:cNvPr id="71" name="Google Shape;71;p56"/>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2" name="Google Shape;72;p5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73" name="Google Shape;73;p56"/>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6"/>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91" name="Shape 91"/>
        <p:cNvGrpSpPr/>
        <p:nvPr/>
      </p:nvGrpSpPr>
      <p:grpSpPr>
        <a:xfrm>
          <a:off x="0" y="0"/>
          <a:ext cx="0" cy="0"/>
          <a:chOff x="0" y="0"/>
          <a:chExt cx="0" cy="0"/>
        </a:xfrm>
      </p:grpSpPr>
      <p:sp>
        <p:nvSpPr>
          <p:cNvPr id="92" name="Google Shape;92;p58"/>
          <p:cNvSpPr txBox="1"/>
          <p:nvPr>
            <p:ph type="ctrTitle"/>
          </p:nvPr>
        </p:nvSpPr>
        <p:spPr>
          <a:xfrm>
            <a:off x="990600" y="1676400"/>
            <a:ext cx="7772400" cy="14620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3" name="Google Shape;93;p5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folHlink"/>
              </a:buClr>
              <a:buSzPts val="1920"/>
              <a:buFont typeface="Noto Sans Symbols"/>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94" name="Google Shape;94;p58"/>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8"/>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b="0" sz="14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8"/>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12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11" name="Google Shape;11;p44"/>
          <p:cNvSpPr txBox="1"/>
          <p:nvPr>
            <p:ph idx="12" type="sldNum"/>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grpSp>
        <p:nvGrpSpPr>
          <p:cNvPr id="76" name="Google Shape;76;p57"/>
          <p:cNvGrpSpPr/>
          <p:nvPr/>
        </p:nvGrpSpPr>
        <p:grpSpPr>
          <a:xfrm>
            <a:off x="0" y="2438400"/>
            <a:ext cx="9009062" cy="1052512"/>
            <a:chOff x="0" y="1536"/>
            <a:chExt cx="5675" cy="663"/>
          </a:xfrm>
        </p:grpSpPr>
        <p:grpSp>
          <p:nvGrpSpPr>
            <p:cNvPr id="77" name="Google Shape;77;p57"/>
            <p:cNvGrpSpPr/>
            <p:nvPr/>
          </p:nvGrpSpPr>
          <p:grpSpPr>
            <a:xfrm>
              <a:off x="183" y="1604"/>
              <a:ext cx="448" cy="299"/>
              <a:chOff x="720" y="336"/>
              <a:chExt cx="624" cy="432"/>
            </a:xfrm>
          </p:grpSpPr>
          <p:sp>
            <p:nvSpPr>
              <p:cNvPr id="78" name="Google Shape;78;p57"/>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9" name="Google Shape;79;p57"/>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0" name="Google Shape;80;p57"/>
            <p:cNvGrpSpPr/>
            <p:nvPr/>
          </p:nvGrpSpPr>
          <p:grpSpPr>
            <a:xfrm>
              <a:off x="261" y="1870"/>
              <a:ext cx="465" cy="299"/>
              <a:chOff x="912" y="2640"/>
              <a:chExt cx="672" cy="432"/>
            </a:xfrm>
          </p:grpSpPr>
          <p:sp>
            <p:nvSpPr>
              <p:cNvPr id="81" name="Google Shape;81;p57"/>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 name="Google Shape;82;p57"/>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sp>
          <p:nvSpPr>
            <p:cNvPr id="83" name="Google Shape;83;p57"/>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4" name="Google Shape;84;p57"/>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5" name="Google Shape;85;p57"/>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sp>
        <p:nvSpPr>
          <p:cNvPr id="86" name="Google Shape;86;p57"/>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McGraw-Hill</a:t>
            </a:r>
            <a:endParaRPr/>
          </a:p>
        </p:txBody>
      </p:sp>
      <p:sp>
        <p:nvSpPr>
          <p:cNvPr id="87" name="Google Shape;87;p57"/>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The McGraw-Hill Companies, Inc., 2000</a:t>
            </a:r>
            <a:endParaRPr/>
          </a:p>
        </p:txBody>
      </p:sp>
      <p:sp>
        <p:nvSpPr>
          <p:cNvPr id="88" name="Google Shape;88;p57"/>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18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89" name="Google Shape;89;p57"/>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lt2"/>
                </a:solidFill>
                <a:latin typeface="Tahoma"/>
                <a:ea typeface="Tahoma"/>
                <a:cs typeface="Tahoma"/>
                <a:sym typeface="Tahoma"/>
              </a:defRPr>
            </a:lvl1pPr>
            <a:lvl2pPr lvl="1"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90" name="Google Shape;90;p57"/>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20.png"/><Relationship Id="rId5" Type="http://schemas.openxmlformats.org/officeDocument/2006/relationships/image" Target="../media/image18.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43.png"/><Relationship Id="rId5"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29.png"/><Relationship Id="rId7" Type="http://schemas.openxmlformats.org/officeDocument/2006/relationships/image" Target="../media/image32.png"/><Relationship Id="rId8"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42.png"/><Relationship Id="rId5"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cap="none" strike="noStrike">
                <a:solidFill>
                  <a:schemeClr val="dk1"/>
                </a:solidFill>
                <a:latin typeface="Tahoma"/>
                <a:ea typeface="Tahoma"/>
                <a:cs typeface="Tahoma"/>
                <a:sym typeface="Tahoma"/>
              </a:rPr>
              <a:t>TCP/IP Protocol Suite</a:t>
            </a:r>
            <a:endParaRPr/>
          </a:p>
        </p:txBody>
      </p:sp>
      <p:sp>
        <p:nvSpPr>
          <p:cNvPr id="103" name="Google Shape;103;p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cap="none" strike="noStrike">
                <a:solidFill>
                  <a:schemeClr val="dk1"/>
                </a:solidFill>
                <a:latin typeface="Tahoma"/>
                <a:ea typeface="Tahoma"/>
                <a:cs typeface="Tahoma"/>
                <a:sym typeface="Tahoma"/>
              </a:rPr>
              <a:t>‹#›</a:t>
            </a:fld>
            <a:endParaRPr/>
          </a:p>
        </p:txBody>
      </p:sp>
      <p:sp>
        <p:nvSpPr>
          <p:cNvPr id="104" name="Google Shape;104;p1"/>
          <p:cNvSpPr txBox="1"/>
          <p:nvPr/>
        </p:nvSpPr>
        <p:spPr>
          <a:xfrm>
            <a:off x="1714500" y="6604000"/>
            <a:ext cx="5656262" cy="254000"/>
          </a:xfrm>
          <a:prstGeom prst="rect">
            <a:avLst/>
          </a:prstGeom>
          <a:noFill/>
          <a:ln>
            <a:noFill/>
          </a:ln>
        </p:spPr>
        <p:txBody>
          <a:bodyPr anchorCtr="0" anchor="t" bIns="51400" lIns="102825" spcFirstLastPara="1" rIns="102825" wrap="square" tIns="51400">
            <a:sp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Copyright </a:t>
            </a:r>
            <a:r>
              <a:rPr b="1" i="0" lang="en-US" sz="1000" u="none" cap="none" strike="noStrike">
                <a:solidFill>
                  <a:schemeClr val="dk1"/>
                </a:solidFill>
                <a:latin typeface="Tahoma"/>
                <a:ea typeface="Tahoma"/>
                <a:cs typeface="Tahoma"/>
                <a:sym typeface="Tahoma"/>
              </a:rPr>
              <a:t>©</a:t>
            </a:r>
            <a:r>
              <a:rPr b="1" i="0" lang="en-US" sz="1000" u="none" cap="none" strike="noStrike">
                <a:solidFill>
                  <a:schemeClr val="dk1"/>
                </a:solidFill>
                <a:latin typeface="Arial"/>
                <a:ea typeface="Arial"/>
                <a:cs typeface="Arial"/>
                <a:sym typeface="Arial"/>
              </a:rPr>
              <a:t> The McGraw-Hill Companies, Inc. Permission required for reproduction or display.</a:t>
            </a:r>
            <a:endParaRPr/>
          </a:p>
        </p:txBody>
      </p:sp>
      <p:pic>
        <p:nvPicPr>
          <p:cNvPr descr="brandinglogo" id="105" name="Google Shape;105;p1"/>
          <p:cNvPicPr preferRelativeResize="0"/>
          <p:nvPr/>
        </p:nvPicPr>
        <p:blipFill rotWithShape="1">
          <a:blip r:embed="rId3">
            <a:alphaModFix/>
          </a:blip>
          <a:srcRect b="0" l="0" r="0" t="0"/>
          <a:stretch/>
        </p:blipFill>
        <p:spPr>
          <a:xfrm>
            <a:off x="0" y="0"/>
            <a:ext cx="9144000" cy="647700"/>
          </a:xfrm>
          <a:prstGeom prst="rect">
            <a:avLst/>
          </a:prstGeom>
          <a:noFill/>
          <a:ln>
            <a:noFill/>
          </a:ln>
        </p:spPr>
      </p:pic>
      <p:sp>
        <p:nvSpPr>
          <p:cNvPr id="106" name="Google Shape;106;p1"/>
          <p:cNvSpPr txBox="1"/>
          <p:nvPr/>
        </p:nvSpPr>
        <p:spPr>
          <a:xfrm>
            <a:off x="187325" y="914400"/>
            <a:ext cx="4156075" cy="8239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Times"/>
              <a:buNone/>
            </a:pPr>
            <a:r>
              <a:rPr b="1" i="0" lang="en-US" sz="4800" u="none" cap="none" strike="noStrike">
                <a:solidFill>
                  <a:schemeClr val="dk1"/>
                </a:solidFill>
                <a:latin typeface="Times"/>
                <a:ea typeface="Times"/>
                <a:cs typeface="Times"/>
                <a:sym typeface="Times"/>
              </a:rPr>
              <a:t>Chapter 8</a:t>
            </a:r>
            <a:endParaRPr/>
          </a:p>
        </p:txBody>
      </p:sp>
      <p:pic>
        <p:nvPicPr>
          <p:cNvPr descr="Forouzan4e10lbj_nm3" id="107" name="Google Shape;107;p1"/>
          <p:cNvPicPr preferRelativeResize="0"/>
          <p:nvPr/>
        </p:nvPicPr>
        <p:blipFill rotWithShape="1">
          <a:blip r:embed="rId4">
            <a:alphaModFix/>
          </a:blip>
          <a:srcRect b="0" l="0" r="0" t="0"/>
          <a:stretch/>
        </p:blipFill>
        <p:spPr>
          <a:xfrm>
            <a:off x="4838700" y="1066800"/>
            <a:ext cx="4076700" cy="5168900"/>
          </a:xfrm>
          <a:prstGeom prst="rect">
            <a:avLst/>
          </a:prstGeom>
          <a:noFill/>
          <a:ln>
            <a:noFill/>
          </a:ln>
        </p:spPr>
      </p:pic>
      <p:sp>
        <p:nvSpPr>
          <p:cNvPr id="108" name="Google Shape;108;p1"/>
          <p:cNvSpPr txBox="1"/>
          <p:nvPr/>
        </p:nvSpPr>
        <p:spPr>
          <a:xfrm>
            <a:off x="225425" y="2320925"/>
            <a:ext cx="4156075" cy="30194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4800"/>
              <a:buFont typeface="Times"/>
              <a:buNone/>
            </a:pPr>
            <a:r>
              <a:rPr b="1" i="0" lang="en-US" sz="4800" u="none" cap="none" strike="noStrike">
                <a:solidFill>
                  <a:schemeClr val="folHlink"/>
                </a:solidFill>
                <a:latin typeface="Times"/>
                <a:ea typeface="Times"/>
                <a:cs typeface="Times"/>
                <a:sym typeface="Times"/>
              </a:rPr>
              <a:t>Address</a:t>
            </a:r>
            <a:br>
              <a:rPr b="1" i="0" lang="en-US" sz="1800" u="none" cap="none" strike="noStrike">
                <a:solidFill>
                  <a:schemeClr val="dk1"/>
                </a:solidFill>
                <a:latin typeface="Tahoma"/>
                <a:ea typeface="Tahoma"/>
                <a:cs typeface="Tahoma"/>
                <a:sym typeface="Tahoma"/>
              </a:rPr>
            </a:br>
            <a:r>
              <a:rPr b="1" i="0" lang="en-US" sz="4800" u="none" cap="none" strike="noStrike">
                <a:solidFill>
                  <a:schemeClr val="folHlink"/>
                </a:solidFill>
                <a:latin typeface="Times"/>
                <a:ea typeface="Times"/>
                <a:cs typeface="Times"/>
                <a:sym typeface="Times"/>
              </a:rPr>
              <a:t>Resolution</a:t>
            </a:r>
            <a:endParaRPr/>
          </a:p>
          <a:p>
            <a:pPr indent="0" lvl="0" marL="0" marR="0" rtl="0" algn="ctr">
              <a:lnSpc>
                <a:spcPct val="100000"/>
              </a:lnSpc>
              <a:spcBef>
                <a:spcPts val="0"/>
              </a:spcBef>
              <a:spcAft>
                <a:spcPts val="0"/>
              </a:spcAft>
              <a:buClr>
                <a:schemeClr val="folHlink"/>
              </a:buClr>
              <a:buSzPts val="4800"/>
              <a:buFont typeface="Times"/>
              <a:buNone/>
            </a:pPr>
            <a:r>
              <a:rPr b="1" i="0" lang="en-US" sz="4800" u="none" cap="none" strike="noStrike">
                <a:solidFill>
                  <a:schemeClr val="folHlink"/>
                </a:solidFill>
                <a:latin typeface="Times"/>
                <a:ea typeface="Times"/>
                <a:cs typeface="Times"/>
                <a:sym typeface="Times"/>
              </a:rPr>
              <a:t> Protocol</a:t>
            </a:r>
            <a:br>
              <a:rPr b="1" i="0" lang="en-US" sz="1800" u="none" cap="none" strike="noStrike">
                <a:solidFill>
                  <a:schemeClr val="dk1"/>
                </a:solidFill>
                <a:latin typeface="Tahoma"/>
                <a:ea typeface="Tahoma"/>
                <a:cs typeface="Tahoma"/>
                <a:sym typeface="Tahoma"/>
              </a:rPr>
            </a:br>
            <a:r>
              <a:rPr b="1" i="0" lang="en-US" sz="4800" u="none" cap="none" strike="noStrike">
                <a:solidFill>
                  <a:schemeClr val="folHlink"/>
                </a:solidFill>
                <a:latin typeface="Times"/>
                <a:ea typeface="Times"/>
                <a:cs typeface="Times"/>
                <a:sym typeface="Times"/>
              </a:rPr>
              <a:t>(ARP)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cap="none" strike="noStrike">
                <a:solidFill>
                  <a:schemeClr val="dk1"/>
                </a:solidFill>
                <a:latin typeface="Tahoma"/>
                <a:ea typeface="Tahoma"/>
                <a:cs typeface="Tahoma"/>
                <a:sym typeface="Tahoma"/>
              </a:rPr>
              <a:t>TCP/IP Protocol Suite</a:t>
            </a:r>
            <a:endParaRPr/>
          </a:p>
        </p:txBody>
      </p:sp>
      <p:sp>
        <p:nvSpPr>
          <p:cNvPr id="115" name="Google Shape;115;p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cap="none" strike="noStrike">
                <a:solidFill>
                  <a:schemeClr val="dk1"/>
                </a:solidFill>
                <a:latin typeface="Tahoma"/>
                <a:ea typeface="Tahoma"/>
                <a:cs typeface="Tahoma"/>
                <a:sym typeface="Tahoma"/>
              </a:rPr>
              <a:t>‹#›</a:t>
            </a:fld>
            <a:endParaRPr/>
          </a:p>
        </p:txBody>
      </p:sp>
      <p:sp>
        <p:nvSpPr>
          <p:cNvPr id="116" name="Google Shape;116;p2"/>
          <p:cNvSpPr txBox="1"/>
          <p:nvPr>
            <p:ph type="title"/>
          </p:nvPr>
        </p:nvSpPr>
        <p:spPr>
          <a:xfrm>
            <a:off x="152400" y="0"/>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hlink"/>
              </a:buClr>
              <a:buSzPts val="4400"/>
              <a:buFont typeface="Tahoma"/>
              <a:buNone/>
            </a:pPr>
            <a:r>
              <a:rPr b="1" i="0" lang="en-US" sz="4400" u="sng">
                <a:solidFill>
                  <a:schemeClr val="hlink"/>
                </a:solidFill>
                <a:latin typeface="Tahoma"/>
                <a:ea typeface="Tahoma"/>
                <a:cs typeface="Tahoma"/>
                <a:sym typeface="Tahoma"/>
              </a:rPr>
              <a:t>OBJECTIVES:</a:t>
            </a:r>
            <a:endParaRPr/>
          </a:p>
        </p:txBody>
      </p:sp>
      <p:sp>
        <p:nvSpPr>
          <p:cNvPr id="117" name="Google Shape;117;p2"/>
          <p:cNvSpPr txBox="1"/>
          <p:nvPr/>
        </p:nvSpPr>
        <p:spPr>
          <a:xfrm>
            <a:off x="76200" y="838200"/>
            <a:ext cx="89916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make a distinction between logical address (IP address) and physical address (MAC address).</a:t>
            </a:r>
            <a:endParaRPr/>
          </a:p>
          <a:p>
            <a:pPr indent="-342900" lvl="0" marL="342900" marR="0" rtl="0" algn="l">
              <a:lnSpc>
                <a:spcPct val="90000"/>
              </a:lnSpc>
              <a:spcBef>
                <a:spcPts val="48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describe how the mapping of a logical address to a physical address can be static or dynamic.</a:t>
            </a:r>
            <a:endParaRPr/>
          </a:p>
          <a:p>
            <a:pPr indent="-342900" lvl="0" marL="342900" marR="0" rtl="0" algn="l">
              <a:lnSpc>
                <a:spcPct val="90000"/>
              </a:lnSpc>
              <a:spcBef>
                <a:spcPts val="48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show how the address resolution protocol (ARP) is used to dynamically map a logical address to a physical address.</a:t>
            </a:r>
            <a:endParaRPr/>
          </a:p>
          <a:p>
            <a:pPr indent="-342900" lvl="0" marL="342900" marR="0" rtl="0" algn="l">
              <a:lnSpc>
                <a:spcPct val="90000"/>
              </a:lnSpc>
              <a:spcBef>
                <a:spcPts val="48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show that the proxy ARP can be used to create a subnetting effect.</a:t>
            </a:r>
            <a:endParaRPr/>
          </a:p>
          <a:p>
            <a:pPr indent="-342900" lvl="0" marL="342900" marR="0" rtl="0" algn="l">
              <a:lnSpc>
                <a:spcPct val="90000"/>
              </a:lnSpc>
              <a:spcBef>
                <a:spcPts val="48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discuss ATMARP, which maps the IP addresses when the underlying network is an ATM WAN.</a:t>
            </a:r>
            <a:endParaRPr/>
          </a:p>
          <a:p>
            <a:pPr indent="-342900" lvl="0" marL="342900" marR="0" rtl="0" algn="l">
              <a:lnSpc>
                <a:spcPct val="90000"/>
              </a:lnSpc>
              <a:spcBef>
                <a:spcPts val="48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show that an ARP software package can be made of five components.</a:t>
            </a:r>
            <a:endParaRPr/>
          </a:p>
          <a:p>
            <a:pPr indent="-342900" lvl="0" marL="342900" marR="0" rtl="0" algn="l">
              <a:lnSpc>
                <a:spcPct val="90000"/>
              </a:lnSpc>
              <a:spcBef>
                <a:spcPts val="480"/>
              </a:spcBef>
              <a:spcAft>
                <a:spcPts val="0"/>
              </a:spcAft>
              <a:buClr>
                <a:schemeClr val="folHlink"/>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To show the pseudocode for each module used in the ARP software package.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anim calcmode="lin" valueType="num">
                                      <p:cBhvr additive="base">
                                        <p:cTn dur="500"/>
                                        <p:tgtEl>
                                          <p:spTgt spid="117">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17">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anim calcmode="lin" valueType="num">
                                      <p:cBhvr additive="base">
                                        <p:cTn dur="500"/>
                                        <p:tgtEl>
                                          <p:spTgt spid="117">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17">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anim calcmode="lin" valueType="num">
                                      <p:cBhvr additive="base">
                                        <p:cTn dur="500"/>
                                        <p:tgtEl>
                                          <p:spTgt spid="117">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17">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anim calcmode="lin" valueType="num">
                                      <p:cBhvr additive="base">
                                        <p:cTn dur="500"/>
                                        <p:tgtEl>
                                          <p:spTgt spid="117">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17">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anim calcmode="lin" valueType="num">
                                      <p:cBhvr additive="base">
                                        <p:cTn dur="500"/>
                                        <p:tgtEl>
                                          <p:spTgt spid="117">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17">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anim calcmode="lin" valueType="num">
                                      <p:cBhvr additive="base">
                                        <p:cTn dur="500"/>
                                        <p:tgtEl>
                                          <p:spTgt spid="117">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117">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anim calcmode="lin" valueType="num">
                                      <p:cBhvr additive="base">
                                        <p:cTn dur="500"/>
                                        <p:tgtEl>
                                          <p:spTgt spid="117">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117">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cap="none" strike="noStrike">
                <a:solidFill>
                  <a:schemeClr val="dk1"/>
                </a:solidFill>
                <a:latin typeface="Tahoma"/>
                <a:ea typeface="Tahoma"/>
                <a:cs typeface="Tahoma"/>
                <a:sym typeface="Tahoma"/>
              </a:rPr>
              <a:t>TCP/IP Protocol Suite</a:t>
            </a:r>
            <a:endParaRPr/>
          </a:p>
        </p:txBody>
      </p:sp>
      <p:sp>
        <p:nvSpPr>
          <p:cNvPr id="124" name="Google Shape;124;p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cap="none" strike="noStrike">
                <a:solidFill>
                  <a:schemeClr val="dk1"/>
                </a:solidFill>
                <a:latin typeface="Tahoma"/>
                <a:ea typeface="Tahoma"/>
                <a:cs typeface="Tahoma"/>
                <a:sym typeface="Tahoma"/>
              </a:rPr>
              <a:t>‹#›</a:t>
            </a:fld>
            <a:endParaRPr/>
          </a:p>
        </p:txBody>
      </p:sp>
      <p:sp>
        <p:nvSpPr>
          <p:cNvPr id="125" name="Google Shape;125;p3"/>
          <p:cNvSpPr txBox="1"/>
          <p:nvPr/>
        </p:nvSpPr>
        <p:spPr>
          <a:xfrm>
            <a:off x="822325" y="33337"/>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26" name="Google Shape;126;p3"/>
          <p:cNvSpPr txBox="1"/>
          <p:nvPr/>
        </p:nvSpPr>
        <p:spPr>
          <a:xfrm>
            <a:off x="152400" y="119062"/>
            <a:ext cx="2603500" cy="1311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4000"/>
              <a:buFont typeface="Arial"/>
              <a:buNone/>
            </a:pPr>
            <a:r>
              <a:rPr b="1" i="0" lang="en-US" sz="4000" u="none">
                <a:solidFill>
                  <a:schemeClr val="folHlink"/>
                </a:solidFill>
                <a:latin typeface="Arial"/>
                <a:ea typeface="Arial"/>
                <a:cs typeface="Arial"/>
                <a:sym typeface="Arial"/>
              </a:rPr>
              <a:t>Chapter </a:t>
            </a:r>
            <a:br>
              <a:rPr b="1" i="0" lang="en-US" sz="1800" u="none">
                <a:solidFill>
                  <a:schemeClr val="dk1"/>
                </a:solidFill>
                <a:latin typeface="Tahoma"/>
                <a:ea typeface="Tahoma"/>
                <a:cs typeface="Tahoma"/>
                <a:sym typeface="Tahoma"/>
              </a:rPr>
            </a:br>
            <a:r>
              <a:rPr b="1" i="0" lang="en-US" sz="4000" u="none">
                <a:solidFill>
                  <a:schemeClr val="folHlink"/>
                </a:solidFill>
                <a:latin typeface="Arial"/>
                <a:ea typeface="Arial"/>
                <a:cs typeface="Arial"/>
                <a:sym typeface="Arial"/>
              </a:rPr>
              <a:t>Outline</a:t>
            </a:r>
            <a:endParaRPr/>
          </a:p>
        </p:txBody>
      </p:sp>
      <p:cxnSp>
        <p:nvCxnSpPr>
          <p:cNvPr id="127" name="Google Shape;127;p3"/>
          <p:cNvCxnSpPr/>
          <p:nvPr/>
        </p:nvCxnSpPr>
        <p:spPr>
          <a:xfrm>
            <a:off x="2590800" y="228600"/>
            <a:ext cx="0" cy="6172200"/>
          </a:xfrm>
          <a:prstGeom prst="straightConnector1">
            <a:avLst/>
          </a:prstGeom>
          <a:noFill/>
          <a:ln cap="flat" cmpd="sng" w="38100">
            <a:solidFill>
              <a:schemeClr val="dk1"/>
            </a:solidFill>
            <a:prstDash val="solid"/>
            <a:miter lim="800000"/>
            <a:headEnd len="med" w="med" type="none"/>
            <a:tailEnd len="med" w="med" type="none"/>
          </a:ln>
        </p:spPr>
      </p:cxnSp>
      <p:sp>
        <p:nvSpPr>
          <p:cNvPr id="128" name="Google Shape;128;p3"/>
          <p:cNvSpPr txBox="1"/>
          <p:nvPr/>
        </p:nvSpPr>
        <p:spPr>
          <a:xfrm>
            <a:off x="2819400" y="152400"/>
            <a:ext cx="43862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8.1  Address Mapping</a:t>
            </a:r>
            <a:endParaRPr/>
          </a:p>
        </p:txBody>
      </p:sp>
      <p:sp>
        <p:nvSpPr>
          <p:cNvPr id="129" name="Google Shape;129;p3"/>
          <p:cNvSpPr txBox="1"/>
          <p:nvPr/>
        </p:nvSpPr>
        <p:spPr>
          <a:xfrm>
            <a:off x="2819400" y="903287"/>
            <a:ext cx="432435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8.2  The ARP Protocol</a:t>
            </a:r>
            <a:endParaRPr/>
          </a:p>
        </p:txBody>
      </p:sp>
      <p:sp>
        <p:nvSpPr>
          <p:cNvPr id="130" name="Google Shape;130;p3"/>
          <p:cNvSpPr txBox="1"/>
          <p:nvPr/>
        </p:nvSpPr>
        <p:spPr>
          <a:xfrm>
            <a:off x="2819400" y="3352800"/>
            <a:ext cx="184150" cy="106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ahoma"/>
              <a:buNone/>
            </a:pPr>
            <a:r>
              <a:t/>
            </a:r>
            <a:endParaRPr b="1" i="1" sz="32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1" name="Google Shape;131;p3"/>
          <p:cNvSpPr txBox="1"/>
          <p:nvPr/>
        </p:nvSpPr>
        <p:spPr>
          <a:xfrm>
            <a:off x="2819400" y="1828800"/>
            <a:ext cx="273526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8.3  ATM ARP</a:t>
            </a:r>
            <a:endParaRPr/>
          </a:p>
        </p:txBody>
      </p:sp>
      <p:sp>
        <p:nvSpPr>
          <p:cNvPr id="132" name="Google Shape;132;p3"/>
          <p:cNvSpPr txBox="1"/>
          <p:nvPr/>
        </p:nvSpPr>
        <p:spPr>
          <a:xfrm>
            <a:off x="2819400" y="2579687"/>
            <a:ext cx="34798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8.4  ARP Package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39" name="Google Shape;139;p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140" name="Google Shape;140;p4"/>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1" name="Google Shape;141;p4"/>
          <p:cNvSpPr txBox="1"/>
          <p:nvPr/>
        </p:nvSpPr>
        <p:spPr>
          <a:xfrm>
            <a:off x="228600" y="355600"/>
            <a:ext cx="5464175" cy="650875"/>
          </a:xfrm>
          <a:prstGeom prst="rect">
            <a:avLst/>
          </a:prstGeom>
          <a:solidFill>
            <a:schemeClr val="folHlink"/>
          </a:solidFill>
          <a:ln cap="flat" cmpd="sng" w="9525">
            <a:solidFill>
              <a:schemeClr val="folHlink"/>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8-1  ADDRESS MAPPING</a:t>
            </a:r>
            <a:endParaRPr/>
          </a:p>
        </p:txBody>
      </p:sp>
      <p:sp>
        <p:nvSpPr>
          <p:cNvPr id="142" name="Google Shape;142;p4"/>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43" name="Google Shape;143;p4"/>
          <p:cNvSpPr txBox="1"/>
          <p:nvPr/>
        </p:nvSpPr>
        <p:spPr>
          <a:xfrm>
            <a:off x="381000" y="1524000"/>
            <a:ext cx="8534400" cy="3081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The delivery of a packet to a host or a router requires two levels of addressing: </a:t>
            </a:r>
            <a:r>
              <a:rPr b="1" i="1" lang="en-US" sz="2800" u="none">
                <a:solidFill>
                  <a:schemeClr val="hlink"/>
                </a:solidFill>
                <a:latin typeface="Arimo"/>
                <a:ea typeface="Arimo"/>
                <a:cs typeface="Arimo"/>
                <a:sym typeface="Arimo"/>
              </a:rPr>
              <a:t>logical</a:t>
            </a:r>
            <a:r>
              <a:rPr b="1" i="0" lang="en-US" sz="2800" u="none">
                <a:solidFill>
                  <a:schemeClr val="dk1"/>
                </a:solidFill>
                <a:latin typeface="Arimo"/>
                <a:ea typeface="Arimo"/>
                <a:cs typeface="Arimo"/>
                <a:sym typeface="Arimo"/>
              </a:rPr>
              <a:t> and </a:t>
            </a:r>
            <a:r>
              <a:rPr b="1" i="1" lang="en-US" sz="2800" u="none">
                <a:solidFill>
                  <a:schemeClr val="hlink"/>
                </a:solidFill>
                <a:latin typeface="Arimo"/>
                <a:ea typeface="Arimo"/>
                <a:cs typeface="Arimo"/>
                <a:sym typeface="Arimo"/>
              </a:rPr>
              <a:t>physical</a:t>
            </a:r>
            <a:r>
              <a:rPr b="1" i="0" lang="en-US" sz="2800" u="none">
                <a:solidFill>
                  <a:schemeClr val="dk1"/>
                </a:solidFill>
                <a:latin typeface="Arimo"/>
                <a:ea typeface="Arimo"/>
                <a:cs typeface="Arimo"/>
                <a:sym typeface="Arimo"/>
              </a:rPr>
              <a:t>. We need to be able to map a logical address to its corresponding physical address and vice versa. These can be done using either </a:t>
            </a:r>
            <a:r>
              <a:rPr b="1" i="1" lang="en-US" sz="2800" u="none">
                <a:solidFill>
                  <a:schemeClr val="hlink"/>
                </a:solidFill>
                <a:latin typeface="Arimo"/>
                <a:ea typeface="Arimo"/>
                <a:cs typeface="Arimo"/>
                <a:sym typeface="Arimo"/>
              </a:rPr>
              <a:t>static</a:t>
            </a:r>
            <a:r>
              <a:rPr b="1" i="0" lang="en-US" sz="2800" u="none">
                <a:solidFill>
                  <a:schemeClr val="dk1"/>
                </a:solidFill>
                <a:latin typeface="Arimo"/>
                <a:ea typeface="Arimo"/>
                <a:cs typeface="Arimo"/>
                <a:sym typeface="Arimo"/>
              </a:rPr>
              <a:t> or </a:t>
            </a:r>
            <a:r>
              <a:rPr b="1" i="1" lang="en-US" sz="2800" u="none">
                <a:solidFill>
                  <a:schemeClr val="hlink"/>
                </a:solidFill>
                <a:latin typeface="Arimo"/>
                <a:ea typeface="Arimo"/>
                <a:cs typeface="Arimo"/>
                <a:sym typeface="Arimo"/>
              </a:rPr>
              <a:t>dynamic</a:t>
            </a:r>
            <a:r>
              <a:rPr b="1" i="0" lang="en-US" sz="2800" u="none">
                <a:solidFill>
                  <a:schemeClr val="dk1"/>
                </a:solidFill>
                <a:latin typeface="Arimo"/>
                <a:ea typeface="Arimo"/>
                <a:cs typeface="Arimo"/>
                <a:sym typeface="Arimo"/>
              </a:rPr>
              <a:t> mapping.</a:t>
            </a:r>
            <a:endParaRPr/>
          </a:p>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48" name="Shape 148"/>
        <p:cNvGrpSpPr/>
        <p:nvPr/>
      </p:nvGrpSpPr>
      <p:grpSpPr>
        <a:xfrm>
          <a:off x="0" y="0"/>
          <a:ext cx="0" cy="0"/>
          <a:chOff x="0" y="0"/>
          <a:chExt cx="0" cy="0"/>
        </a:xfrm>
      </p:grpSpPr>
      <p:sp>
        <p:nvSpPr>
          <p:cNvPr id="149" name="Google Shape;149;p5"/>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50" name="Google Shape;150;p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151" name="Google Shape;151;p5"/>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52" name="Google Shape;152;p5"/>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53" name="Google Shape;153;p5"/>
          <p:cNvSpPr txBox="1"/>
          <p:nvPr/>
        </p:nvSpPr>
        <p:spPr>
          <a:xfrm>
            <a:off x="304800" y="989012"/>
            <a:ext cx="8382000" cy="1031875"/>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Static Mapping</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Dynamic Mapping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6"/>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60" name="Google Shape;160;p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161" name="Google Shape;161;p6"/>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2" name="Google Shape;162;p6"/>
          <p:cNvSpPr txBox="1"/>
          <p:nvPr/>
        </p:nvSpPr>
        <p:spPr>
          <a:xfrm>
            <a:off x="228600" y="355600"/>
            <a:ext cx="5464175" cy="650875"/>
          </a:xfrm>
          <a:prstGeom prst="rect">
            <a:avLst/>
          </a:prstGeom>
          <a:solidFill>
            <a:schemeClr val="folHlink"/>
          </a:solidFill>
          <a:ln cap="flat" cmpd="sng" w="9525">
            <a:solidFill>
              <a:schemeClr val="folHlink"/>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8-2  ADDRESS MAPPING</a:t>
            </a:r>
            <a:endParaRPr/>
          </a:p>
        </p:txBody>
      </p:sp>
      <p:sp>
        <p:nvSpPr>
          <p:cNvPr id="163" name="Google Shape;163;p6"/>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64" name="Google Shape;164;p6"/>
          <p:cNvSpPr txBox="1"/>
          <p:nvPr/>
        </p:nvSpPr>
        <p:spPr>
          <a:xfrm>
            <a:off x="228600" y="1371600"/>
            <a:ext cx="8534400" cy="47894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Anytime a host or a router has an IP datagram to send to another host or router, it has the logical (IP) address of the receiver. But the IP datagram must be encapsulated in a frame to be able to pass through the physical network. This means that the sender needs the physical address of the receiver. A mapping corresponds a logical address to a physical address. ARP accepts a logical address from the IP protocol, maps the address to the corresponding physical address and pass it to the data link layer.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169" name="Shape 169"/>
        <p:cNvGrpSpPr/>
        <p:nvPr/>
      </p:nvGrpSpPr>
      <p:grpSpPr>
        <a:xfrm>
          <a:off x="0" y="0"/>
          <a:ext cx="0" cy="0"/>
          <a:chOff x="0" y="0"/>
          <a:chExt cx="0" cy="0"/>
        </a:xfrm>
      </p:grpSpPr>
      <p:sp>
        <p:nvSpPr>
          <p:cNvPr id="170" name="Google Shape;170;p7"/>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71" name="Google Shape;171;p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172" name="Google Shape;172;p7"/>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173" name="Google Shape;173;p7"/>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74" name="Google Shape;174;p7"/>
          <p:cNvSpPr txBox="1"/>
          <p:nvPr/>
        </p:nvSpPr>
        <p:spPr>
          <a:xfrm>
            <a:off x="304800" y="989012"/>
            <a:ext cx="8382000" cy="2057400"/>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Packet Format</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Encapsulation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Operation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Proxy ARP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0"/>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81" name="Google Shape;181;p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182" name="Google Shape;182;p8"/>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Position of ARP in TCP/IP protocol suite</a:t>
            </a:r>
            <a:endParaRPr/>
          </a:p>
        </p:txBody>
      </p:sp>
      <p:sp>
        <p:nvSpPr>
          <p:cNvPr id="183" name="Google Shape;183;p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4" name="Google Shape;184;p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5" name="Google Shape;185;p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6" name="Google Shape;186;p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7" name="Google Shape;187;p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8" name="Google Shape;188;p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189" name="Google Shape;189;p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190" name="Google Shape;190;p8"/>
          <p:cNvPicPr preferRelativeResize="0"/>
          <p:nvPr/>
        </p:nvPicPr>
        <p:blipFill rotWithShape="1">
          <a:blip r:embed="rId3">
            <a:alphaModFix/>
          </a:blip>
          <a:srcRect b="0" l="0" r="0" t="0"/>
          <a:stretch/>
        </p:blipFill>
        <p:spPr>
          <a:xfrm>
            <a:off x="947737" y="2236787"/>
            <a:ext cx="6672262" cy="21828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197" name="Google Shape;197;p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198" name="Google Shape;198;p9"/>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ARP operation</a:t>
            </a:r>
            <a:endParaRPr/>
          </a:p>
        </p:txBody>
      </p:sp>
      <p:sp>
        <p:nvSpPr>
          <p:cNvPr id="199" name="Google Shape;199;p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0" name="Google Shape;200;p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1" name="Google Shape;201;p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2" name="Google Shape;202;p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3" name="Google Shape;203;p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4" name="Google Shape;204;p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05" name="Google Shape;205;p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06" name="Google Shape;206;p9"/>
          <p:cNvPicPr preferRelativeResize="0"/>
          <p:nvPr/>
        </p:nvPicPr>
        <p:blipFill rotWithShape="1">
          <a:blip r:embed="rId3">
            <a:alphaModFix/>
          </a:blip>
          <a:srcRect b="0" l="0" r="0" t="0"/>
          <a:stretch/>
        </p:blipFill>
        <p:spPr>
          <a:xfrm>
            <a:off x="685800" y="990600"/>
            <a:ext cx="6389687" cy="2482850"/>
          </a:xfrm>
          <a:prstGeom prst="rect">
            <a:avLst/>
          </a:prstGeom>
          <a:noFill/>
          <a:ln>
            <a:noFill/>
          </a:ln>
        </p:spPr>
      </p:pic>
      <p:pic>
        <p:nvPicPr>
          <p:cNvPr id="207" name="Google Shape;207;p9"/>
          <p:cNvPicPr preferRelativeResize="0"/>
          <p:nvPr/>
        </p:nvPicPr>
        <p:blipFill rotWithShape="1">
          <a:blip r:embed="rId4">
            <a:alphaModFix/>
          </a:blip>
          <a:srcRect b="0" l="0" r="0" t="0"/>
          <a:stretch/>
        </p:blipFill>
        <p:spPr>
          <a:xfrm>
            <a:off x="2209800" y="3886200"/>
            <a:ext cx="6380162" cy="2428875"/>
          </a:xfrm>
          <a:prstGeom prst="rect">
            <a:avLst/>
          </a:prstGeom>
          <a:noFill/>
          <a:ln>
            <a:noFill/>
          </a:ln>
        </p:spPr>
      </p:pic>
      <p:pic>
        <p:nvPicPr>
          <p:cNvPr id="208" name="Google Shape;208;p9"/>
          <p:cNvPicPr preferRelativeResize="0"/>
          <p:nvPr/>
        </p:nvPicPr>
        <p:blipFill rotWithShape="1">
          <a:blip r:embed="rId5">
            <a:alphaModFix/>
          </a:blip>
          <a:srcRect b="0" l="0" r="0" t="0"/>
          <a:stretch/>
        </p:blipFill>
        <p:spPr>
          <a:xfrm>
            <a:off x="285750" y="1981200"/>
            <a:ext cx="5657850" cy="950912"/>
          </a:xfrm>
          <a:prstGeom prst="rect">
            <a:avLst/>
          </a:prstGeom>
          <a:noFill/>
          <a:ln>
            <a:noFill/>
          </a:ln>
        </p:spPr>
      </p:pic>
      <p:pic>
        <p:nvPicPr>
          <p:cNvPr id="209" name="Google Shape;209;p9"/>
          <p:cNvPicPr preferRelativeResize="0"/>
          <p:nvPr/>
        </p:nvPicPr>
        <p:blipFill rotWithShape="1">
          <a:blip r:embed="rId6">
            <a:alphaModFix/>
          </a:blip>
          <a:srcRect b="0" l="0" r="0" t="0"/>
          <a:stretch/>
        </p:blipFill>
        <p:spPr>
          <a:xfrm>
            <a:off x="3581400" y="4876800"/>
            <a:ext cx="5110162" cy="1092200"/>
          </a:xfrm>
          <a:prstGeom prst="rect">
            <a:avLst/>
          </a:prstGeom>
          <a:noFill/>
          <a:ln>
            <a:noFill/>
          </a:ln>
        </p:spPr>
      </p:pic>
      <p:sp>
        <p:nvSpPr>
          <p:cNvPr id="210" name="Google Shape;210;p9"/>
          <p:cNvSpPr txBox="1"/>
          <p:nvPr/>
        </p:nvSpPr>
        <p:spPr>
          <a:xfrm>
            <a:off x="4224337" y="3268662"/>
            <a:ext cx="647700" cy="184150"/>
          </a:xfrm>
          <a:prstGeom prst="rect">
            <a:avLst/>
          </a:prstGeom>
          <a:solidFill>
            <a:schemeClr val="lt1"/>
          </a:solid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3366FF"/>
              </a:buClr>
              <a:buSzPts val="1200"/>
              <a:buFont typeface="Times New Roman"/>
              <a:buNone/>
            </a:pPr>
            <a:r>
              <a:rPr b="1" i="0" lang="en-US" sz="1200" u="none">
                <a:solidFill>
                  <a:srgbClr val="3366FF"/>
                </a:solidFill>
                <a:latin typeface="Times New Roman"/>
                <a:ea typeface="Times New Roman"/>
                <a:cs typeface="Times New Roman"/>
                <a:sym typeface="Times New Roman"/>
              </a:rPr>
              <a:t>broadcast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20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2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17" name="Google Shape;217;p1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218" name="Google Shape;218;p10"/>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ARP packet</a:t>
            </a:r>
            <a:endParaRPr/>
          </a:p>
        </p:txBody>
      </p:sp>
      <p:sp>
        <p:nvSpPr>
          <p:cNvPr id="219" name="Google Shape;219;p1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0" name="Google Shape;220;p1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1" name="Google Shape;221;p1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2" name="Google Shape;222;p1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3" name="Google Shape;223;p1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4" name="Google Shape;224;p1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25" name="Google Shape;225;p1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26" name="Google Shape;226;p10"/>
          <p:cNvPicPr preferRelativeResize="0"/>
          <p:nvPr/>
        </p:nvPicPr>
        <p:blipFill rotWithShape="1">
          <a:blip r:embed="rId3">
            <a:alphaModFix/>
          </a:blip>
          <a:srcRect b="0" l="0" r="0" t="0"/>
          <a:stretch/>
        </p:blipFill>
        <p:spPr>
          <a:xfrm>
            <a:off x="709612" y="1311275"/>
            <a:ext cx="8053387" cy="4479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1"/>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33" name="Google Shape;233;p1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234" name="Google Shape;234;p11"/>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8.4</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Encapsulation of ARP packet</a:t>
            </a:r>
            <a:endParaRPr/>
          </a:p>
        </p:txBody>
      </p:sp>
      <p:sp>
        <p:nvSpPr>
          <p:cNvPr id="235" name="Google Shape;235;p1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6" name="Google Shape;236;p1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7" name="Google Shape;237;p1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8" name="Google Shape;238;p1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39" name="Google Shape;239;p1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0" name="Google Shape;240;p1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41" name="Google Shape;241;p1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42" name="Google Shape;242;p11"/>
          <p:cNvPicPr preferRelativeResize="0"/>
          <p:nvPr/>
        </p:nvPicPr>
        <p:blipFill rotWithShape="1">
          <a:blip r:embed="rId3">
            <a:alphaModFix/>
          </a:blip>
          <a:srcRect b="0" l="0" r="0" t="0"/>
          <a:stretch/>
        </p:blipFill>
        <p:spPr>
          <a:xfrm>
            <a:off x="4799012" y="2159000"/>
            <a:ext cx="4040187" cy="965200"/>
          </a:xfrm>
          <a:prstGeom prst="rect">
            <a:avLst/>
          </a:prstGeom>
          <a:noFill/>
          <a:ln>
            <a:noFill/>
          </a:ln>
        </p:spPr>
      </p:pic>
      <p:pic>
        <p:nvPicPr>
          <p:cNvPr id="243" name="Google Shape;243;p11"/>
          <p:cNvPicPr preferRelativeResize="0"/>
          <p:nvPr/>
        </p:nvPicPr>
        <p:blipFill rotWithShape="1">
          <a:blip r:embed="rId4">
            <a:alphaModFix/>
          </a:blip>
          <a:srcRect b="0" l="0" r="0" t="0"/>
          <a:stretch/>
        </p:blipFill>
        <p:spPr>
          <a:xfrm>
            <a:off x="355600" y="2709862"/>
            <a:ext cx="8483600" cy="14049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20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2"/>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50" name="Google Shape;250;p1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251" name="Google Shape;251;p1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2" name="Google Shape;252;p1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3" name="Google Shape;253;p1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4" name="Google Shape;254;p1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5" name="Google Shape;255;p1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6" name="Google Shape;256;p1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57" name="Google Shape;257;p1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258" name="Google Shape;258;p12"/>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259" name="Google Shape;259;p12"/>
          <p:cNvCxnSpPr/>
          <p:nvPr/>
        </p:nvCxnSpPr>
        <p:spPr>
          <a:xfrm>
            <a:off x="609600" y="38862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260" name="Google Shape;260;p12"/>
          <p:cNvSpPr txBox="1"/>
          <p:nvPr/>
        </p:nvSpPr>
        <p:spPr>
          <a:xfrm>
            <a:off x="647700" y="2716212"/>
            <a:ext cx="8077200" cy="1066800"/>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An ARP request is broadcast; </a:t>
            </a:r>
            <a:br>
              <a:rPr b="1" i="0" lang="en-US" sz="1800" u="none">
                <a:solidFill>
                  <a:schemeClr val="dk1"/>
                </a:solidFill>
                <a:latin typeface="Tahoma"/>
                <a:ea typeface="Tahoma"/>
                <a:cs typeface="Tahoma"/>
                <a:sym typeface="Tahoma"/>
              </a:rPr>
            </a:br>
            <a:r>
              <a:rPr b="1" i="1" lang="en-US" sz="3200" u="none">
                <a:solidFill>
                  <a:schemeClr val="lt1"/>
                </a:solidFill>
                <a:latin typeface="Arial"/>
                <a:ea typeface="Arial"/>
                <a:cs typeface="Arial"/>
                <a:sym typeface="Arial"/>
              </a:rPr>
              <a:t>an ARP reply is unicast.</a:t>
            </a:r>
            <a:endParaRPr/>
          </a:p>
        </p:txBody>
      </p:sp>
      <p:grpSp>
        <p:nvGrpSpPr>
          <p:cNvPr id="261" name="Google Shape;261;p12"/>
          <p:cNvGrpSpPr/>
          <p:nvPr/>
        </p:nvGrpSpPr>
        <p:grpSpPr>
          <a:xfrm>
            <a:off x="609600" y="1981200"/>
            <a:ext cx="1143000" cy="566737"/>
            <a:chOff x="1200" y="1248"/>
            <a:chExt cx="720" cy="357"/>
          </a:xfrm>
        </p:grpSpPr>
        <p:pic>
          <p:nvPicPr>
            <p:cNvPr id="262" name="Google Shape;262;p1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63" name="Google Shape;263;p1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3"/>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70" name="Google Shape;270;p1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271" name="Google Shape;271;p13"/>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8.5</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Four cases using ARP</a:t>
            </a:r>
            <a:endParaRPr/>
          </a:p>
        </p:txBody>
      </p:sp>
      <p:sp>
        <p:nvSpPr>
          <p:cNvPr id="272" name="Google Shape;272;p1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3" name="Google Shape;273;p1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4" name="Google Shape;274;p1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5" name="Google Shape;275;p1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6" name="Google Shape;276;p1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7" name="Google Shape;277;p1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78" name="Google Shape;278;p1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279" name="Google Shape;279;p13"/>
          <p:cNvPicPr preferRelativeResize="0"/>
          <p:nvPr/>
        </p:nvPicPr>
        <p:blipFill rotWithShape="1">
          <a:blip r:embed="rId3">
            <a:alphaModFix/>
          </a:blip>
          <a:srcRect b="0" l="0" r="0" t="0"/>
          <a:stretch/>
        </p:blipFill>
        <p:spPr>
          <a:xfrm>
            <a:off x="1209675" y="914400"/>
            <a:ext cx="3025775" cy="2247900"/>
          </a:xfrm>
          <a:prstGeom prst="rect">
            <a:avLst/>
          </a:prstGeom>
          <a:noFill/>
          <a:ln>
            <a:noFill/>
          </a:ln>
        </p:spPr>
      </p:pic>
      <p:pic>
        <p:nvPicPr>
          <p:cNvPr id="280" name="Google Shape;280;p13"/>
          <p:cNvPicPr preferRelativeResize="0"/>
          <p:nvPr/>
        </p:nvPicPr>
        <p:blipFill rotWithShape="1">
          <a:blip r:embed="rId4">
            <a:alphaModFix/>
          </a:blip>
          <a:srcRect b="0" l="0" r="0" t="0"/>
          <a:stretch/>
        </p:blipFill>
        <p:spPr>
          <a:xfrm>
            <a:off x="4953000" y="914400"/>
            <a:ext cx="3043237" cy="2265362"/>
          </a:xfrm>
          <a:prstGeom prst="rect">
            <a:avLst/>
          </a:prstGeom>
          <a:noFill/>
          <a:ln>
            <a:noFill/>
          </a:ln>
        </p:spPr>
      </p:pic>
      <p:pic>
        <p:nvPicPr>
          <p:cNvPr id="281" name="Google Shape;281;p13"/>
          <p:cNvPicPr preferRelativeResize="0"/>
          <p:nvPr/>
        </p:nvPicPr>
        <p:blipFill rotWithShape="1">
          <a:blip r:embed="rId5">
            <a:alphaModFix/>
          </a:blip>
          <a:srcRect b="0" l="0" r="0" t="0"/>
          <a:stretch/>
        </p:blipFill>
        <p:spPr>
          <a:xfrm>
            <a:off x="1209675" y="3554412"/>
            <a:ext cx="3025775" cy="2192337"/>
          </a:xfrm>
          <a:prstGeom prst="rect">
            <a:avLst/>
          </a:prstGeom>
          <a:noFill/>
          <a:ln>
            <a:noFill/>
          </a:ln>
        </p:spPr>
      </p:pic>
      <p:pic>
        <p:nvPicPr>
          <p:cNvPr id="282" name="Google Shape;282;p13"/>
          <p:cNvPicPr preferRelativeResize="0"/>
          <p:nvPr/>
        </p:nvPicPr>
        <p:blipFill rotWithShape="1">
          <a:blip r:embed="rId6">
            <a:alphaModFix/>
          </a:blip>
          <a:srcRect b="0" l="0" r="0" t="0"/>
          <a:stretch/>
        </p:blipFill>
        <p:spPr>
          <a:xfrm>
            <a:off x="4953000" y="3554412"/>
            <a:ext cx="3043237" cy="22367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9"/>
                                        </p:tgtEl>
                                        <p:attrNameLst>
                                          <p:attrName>style.visibility</p:attrName>
                                        </p:attrNameLst>
                                      </p:cBhvr>
                                      <p:to>
                                        <p:strVal val="visible"/>
                                      </p:to>
                                    </p:set>
                                    <p:anim calcmode="lin" valueType="num">
                                      <p:cBhvr additive="base">
                                        <p:cTn dur="2000"/>
                                        <p:tgtEl>
                                          <p:spTgt spid="279"/>
                                        </p:tgtEl>
                                        <p:attrNameLst>
                                          <p:attrName>ppt_w</p:attrName>
                                        </p:attrNameLst>
                                      </p:cBhvr>
                                      <p:tavLst>
                                        <p:tav fmla="" tm="0">
                                          <p:val>
                                            <p:strVal val="0"/>
                                          </p:val>
                                        </p:tav>
                                        <p:tav fmla="" tm="100000">
                                          <p:val>
                                            <p:strVal val="#ppt_w"/>
                                          </p:val>
                                        </p:tav>
                                      </p:tavLst>
                                    </p:anim>
                                    <p:anim calcmode="lin" valueType="num">
                                      <p:cBhvr additive="base">
                                        <p:cTn dur="2000"/>
                                        <p:tgtEl>
                                          <p:spTgt spid="27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2000"/>
                                        <p:tgtEl>
                                          <p:spTgt spid="280"/>
                                        </p:tgtEl>
                                        <p:attrNameLst>
                                          <p:attrName>ppt_w</p:attrName>
                                        </p:attrNameLst>
                                      </p:cBhvr>
                                      <p:tavLst>
                                        <p:tav fmla="" tm="0">
                                          <p:val>
                                            <p:strVal val="0"/>
                                          </p:val>
                                        </p:tav>
                                        <p:tav fmla="" tm="100000">
                                          <p:val>
                                            <p:strVal val="#ppt_w"/>
                                          </p:val>
                                        </p:tav>
                                      </p:tavLst>
                                    </p:anim>
                                    <p:anim calcmode="lin" valueType="num">
                                      <p:cBhvr additive="base">
                                        <p:cTn dur="2000"/>
                                        <p:tgtEl>
                                          <p:spTgt spid="2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1"/>
                                        </p:tgtEl>
                                        <p:attrNameLst>
                                          <p:attrName>style.visibility</p:attrName>
                                        </p:attrNameLst>
                                      </p:cBhvr>
                                      <p:to>
                                        <p:strVal val="visible"/>
                                      </p:to>
                                    </p:set>
                                    <p:anim calcmode="lin" valueType="num">
                                      <p:cBhvr additive="base">
                                        <p:cTn dur="2000"/>
                                        <p:tgtEl>
                                          <p:spTgt spid="281"/>
                                        </p:tgtEl>
                                        <p:attrNameLst>
                                          <p:attrName>ppt_w</p:attrName>
                                        </p:attrNameLst>
                                      </p:cBhvr>
                                      <p:tavLst>
                                        <p:tav fmla="" tm="0">
                                          <p:val>
                                            <p:strVal val="0"/>
                                          </p:val>
                                        </p:tav>
                                        <p:tav fmla="" tm="100000">
                                          <p:val>
                                            <p:strVal val="#ppt_w"/>
                                          </p:val>
                                        </p:tav>
                                      </p:tavLst>
                                    </p:anim>
                                    <p:anim calcmode="lin" valueType="num">
                                      <p:cBhvr additive="base">
                                        <p:cTn dur="2000"/>
                                        <p:tgtEl>
                                          <p:spTgt spid="2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2"/>
                                        </p:tgtEl>
                                        <p:attrNameLst>
                                          <p:attrName>style.visibility</p:attrName>
                                        </p:attrNameLst>
                                      </p:cBhvr>
                                      <p:to>
                                        <p:strVal val="visible"/>
                                      </p:to>
                                    </p:set>
                                    <p:anim calcmode="lin" valueType="num">
                                      <p:cBhvr additive="base">
                                        <p:cTn dur="2000"/>
                                        <p:tgtEl>
                                          <p:spTgt spid="282"/>
                                        </p:tgtEl>
                                        <p:attrNameLst>
                                          <p:attrName>ppt_w</p:attrName>
                                        </p:attrNameLst>
                                      </p:cBhvr>
                                      <p:tavLst>
                                        <p:tav fmla="" tm="0">
                                          <p:val>
                                            <p:strVal val="0"/>
                                          </p:val>
                                        </p:tav>
                                        <p:tav fmla="" tm="100000">
                                          <p:val>
                                            <p:strVal val="#ppt_w"/>
                                          </p:val>
                                        </p:tav>
                                      </p:tavLst>
                                    </p:anim>
                                    <p:anim calcmode="lin" valueType="num">
                                      <p:cBhvr additive="base">
                                        <p:cTn dur="2000"/>
                                        <p:tgtEl>
                                          <p:spTgt spid="28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4"/>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289" name="Google Shape;289;p1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290" name="Google Shape;290;p14"/>
          <p:cNvSpPr txBox="1"/>
          <p:nvPr/>
        </p:nvSpPr>
        <p:spPr>
          <a:xfrm>
            <a:off x="76200" y="696912"/>
            <a:ext cx="8839200" cy="52038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A host with IP address 130.23.43.20 and physical address B2:34:55:10:22:10 has a packet to send to another host with IP address 130.23.43.25 and physical address A4:6E:F4:59:83:AB. The two hosts are on the same Ethernet network. Show the ARP request and reply packets encapsulated in Ethernet frames.</a:t>
            </a:r>
            <a:endParaRPr/>
          </a:p>
          <a:p>
            <a:pPr indent="0" lvl="0" marL="0" marR="0" rtl="0" algn="just">
              <a:lnSpc>
                <a:spcPct val="100000"/>
              </a:lnSpc>
              <a:spcBef>
                <a:spcPts val="0"/>
              </a:spcBef>
              <a:spcAft>
                <a:spcPts val="0"/>
              </a:spcAft>
              <a:buClr>
                <a:schemeClr val="dk1"/>
              </a:buClr>
              <a:buSzPts val="2400"/>
              <a:buFont typeface="Tahoma"/>
              <a:buNone/>
            </a:pPr>
            <a:r>
              <a:t/>
            </a:r>
            <a:endParaRPr b="1" i="0" sz="2400" u="none">
              <a:solidFill>
                <a:schemeClr val="dk1"/>
              </a:solidFill>
              <a:latin typeface="Arimo"/>
              <a:ea typeface="Arimo"/>
              <a:cs typeface="Arimo"/>
              <a:sym typeface="Arimo"/>
            </a:endParaRPr>
          </a:p>
          <a:p>
            <a:pPr indent="0" lvl="0" marL="0" marR="0" rtl="0" algn="just">
              <a:lnSpc>
                <a:spcPct val="100000"/>
              </a:lnSpc>
              <a:spcBef>
                <a:spcPts val="0"/>
              </a:spcBef>
              <a:spcAft>
                <a:spcPts val="0"/>
              </a:spcAft>
              <a:buClr>
                <a:schemeClr val="hlink"/>
              </a:buClr>
              <a:buSzPts val="2400"/>
              <a:buFont typeface="Arimo"/>
              <a:buNone/>
            </a:pPr>
            <a:r>
              <a:rPr b="1" i="1" lang="en-US" sz="2400" u="none">
                <a:solidFill>
                  <a:schemeClr val="hlink"/>
                </a:solidFill>
                <a:latin typeface="Arimo"/>
                <a:ea typeface="Arimo"/>
                <a:cs typeface="Arimo"/>
                <a:sym typeface="Arimo"/>
              </a:rPr>
              <a:t>Solution</a:t>
            </a:r>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Figure 8.6 shows the ARP request and reply packets. Note that the ARP data field in this case is 28 bytes, and that the individual addresses do not fit in the 4-byte boundary. That is why we do not show the regular 4-byte boundaries for these addresses. Also note that the IP addresses are shown in hexadecimal.</a:t>
            </a:r>
            <a:endParaRPr/>
          </a:p>
        </p:txBody>
      </p:sp>
      <p:grpSp>
        <p:nvGrpSpPr>
          <p:cNvPr id="291" name="Google Shape;291;p14"/>
          <p:cNvGrpSpPr/>
          <p:nvPr/>
        </p:nvGrpSpPr>
        <p:grpSpPr>
          <a:xfrm>
            <a:off x="0" y="0"/>
            <a:ext cx="9144000" cy="609600"/>
            <a:chOff x="0" y="2448"/>
            <a:chExt cx="5760" cy="384"/>
          </a:xfrm>
        </p:grpSpPr>
        <p:sp>
          <p:nvSpPr>
            <p:cNvPr id="292" name="Google Shape;292;p14"/>
            <p:cNvSpPr txBox="1"/>
            <p:nvPr/>
          </p:nvSpPr>
          <p:spPr>
            <a:xfrm>
              <a:off x="0" y="2448"/>
              <a:ext cx="5760" cy="384"/>
            </a:xfrm>
            <a:prstGeom prst="rect">
              <a:avLst/>
            </a:prstGeom>
            <a:solidFill>
              <a:srgbClr val="2CB843"/>
            </a:solidFill>
            <a:ln cap="flat" cmpd="sng" w="952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293" name="Google Shape;293;p14"/>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8.1</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5"/>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00" name="Google Shape;300;p1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301" name="Google Shape;301;p15"/>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8.6</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Example 8.1</a:t>
            </a:r>
            <a:endParaRPr/>
          </a:p>
        </p:txBody>
      </p:sp>
      <p:sp>
        <p:nvSpPr>
          <p:cNvPr id="302" name="Google Shape;302;p1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03" name="Google Shape;303;p1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04" name="Google Shape;304;p1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05" name="Google Shape;305;p1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06" name="Google Shape;306;p1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07" name="Google Shape;307;p1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08" name="Google Shape;308;p1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09" name="Google Shape;309;p15"/>
          <p:cNvPicPr preferRelativeResize="0"/>
          <p:nvPr/>
        </p:nvPicPr>
        <p:blipFill rotWithShape="1">
          <a:blip r:embed="rId3">
            <a:alphaModFix/>
          </a:blip>
          <a:srcRect b="0" l="0" r="0" t="0"/>
          <a:stretch/>
        </p:blipFill>
        <p:spPr>
          <a:xfrm>
            <a:off x="304800" y="990600"/>
            <a:ext cx="8702675" cy="1603375"/>
          </a:xfrm>
          <a:prstGeom prst="rect">
            <a:avLst/>
          </a:prstGeom>
          <a:noFill/>
          <a:ln>
            <a:noFill/>
          </a:ln>
        </p:spPr>
      </p:pic>
      <p:pic>
        <p:nvPicPr>
          <p:cNvPr id="310" name="Google Shape;310;p15"/>
          <p:cNvPicPr preferRelativeResize="0"/>
          <p:nvPr/>
        </p:nvPicPr>
        <p:blipFill rotWithShape="1">
          <a:blip r:embed="rId4">
            <a:alphaModFix/>
          </a:blip>
          <a:srcRect b="0" l="0" r="0" t="0"/>
          <a:stretch/>
        </p:blipFill>
        <p:spPr>
          <a:xfrm>
            <a:off x="457200" y="2743200"/>
            <a:ext cx="4059238" cy="1922462"/>
          </a:xfrm>
          <a:prstGeom prst="rect">
            <a:avLst/>
          </a:prstGeom>
          <a:noFill/>
          <a:ln>
            <a:noFill/>
          </a:ln>
        </p:spPr>
      </p:pic>
      <p:pic>
        <p:nvPicPr>
          <p:cNvPr id="311" name="Google Shape;311;p15"/>
          <p:cNvPicPr preferRelativeResize="0"/>
          <p:nvPr/>
        </p:nvPicPr>
        <p:blipFill rotWithShape="1">
          <a:blip r:embed="rId5">
            <a:alphaModFix/>
          </a:blip>
          <a:srcRect b="0" l="0" r="0" t="0"/>
          <a:stretch/>
        </p:blipFill>
        <p:spPr>
          <a:xfrm>
            <a:off x="4627562" y="4516437"/>
            <a:ext cx="4059238" cy="1960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20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20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6"/>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18" name="Google Shape;318;p1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319" name="Google Shape;319;p16"/>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8.7</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Proxy ARP</a:t>
            </a:r>
            <a:endParaRPr/>
          </a:p>
        </p:txBody>
      </p:sp>
      <p:sp>
        <p:nvSpPr>
          <p:cNvPr id="320" name="Google Shape;320;p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1" name="Google Shape;321;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2" name="Google Shape;322;p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3" name="Google Shape;323;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4" name="Google Shape;324;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5" name="Google Shape;325;p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26" name="Google Shape;326;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27" name="Google Shape;327;p16"/>
          <p:cNvPicPr preferRelativeResize="0"/>
          <p:nvPr/>
        </p:nvPicPr>
        <p:blipFill rotWithShape="1">
          <a:blip r:embed="rId3">
            <a:alphaModFix/>
          </a:blip>
          <a:srcRect b="0" l="0" r="0" t="0"/>
          <a:stretch/>
        </p:blipFill>
        <p:spPr>
          <a:xfrm>
            <a:off x="831850" y="1550987"/>
            <a:ext cx="7550150" cy="3935412"/>
          </a:xfrm>
          <a:prstGeom prst="rect">
            <a:avLst/>
          </a:prstGeom>
          <a:noFill/>
          <a:ln>
            <a:noFill/>
          </a:ln>
        </p:spPr>
      </p:pic>
      <p:pic>
        <p:nvPicPr>
          <p:cNvPr id="328" name="Google Shape;328;p16"/>
          <p:cNvPicPr preferRelativeResize="0"/>
          <p:nvPr/>
        </p:nvPicPr>
        <p:blipFill rotWithShape="1">
          <a:blip r:embed="rId4">
            <a:alphaModFix/>
          </a:blip>
          <a:srcRect b="0" l="0" r="0" t="0"/>
          <a:stretch/>
        </p:blipFill>
        <p:spPr>
          <a:xfrm>
            <a:off x="2286000" y="3817937"/>
            <a:ext cx="4716462" cy="9064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2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7"/>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35" name="Google Shape;335;p1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336" name="Google Shape;336;p17"/>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7" name="Google Shape;337;p17"/>
          <p:cNvSpPr txBox="1"/>
          <p:nvPr/>
        </p:nvSpPr>
        <p:spPr>
          <a:xfrm>
            <a:off x="228600" y="355600"/>
            <a:ext cx="3152775" cy="650875"/>
          </a:xfrm>
          <a:prstGeom prst="rect">
            <a:avLst/>
          </a:prstGeom>
          <a:solidFill>
            <a:schemeClr val="folHlink"/>
          </a:solidFill>
          <a:ln cap="flat" cmpd="sng" w="9525">
            <a:solidFill>
              <a:schemeClr val="folHlink"/>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8-3  ATM ARP</a:t>
            </a:r>
            <a:endParaRPr/>
          </a:p>
        </p:txBody>
      </p:sp>
      <p:sp>
        <p:nvSpPr>
          <p:cNvPr id="338" name="Google Shape;338;p17"/>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39" name="Google Shape;339;p17"/>
          <p:cNvSpPr txBox="1"/>
          <p:nvPr/>
        </p:nvSpPr>
        <p:spPr>
          <a:xfrm>
            <a:off x="381000" y="1524000"/>
            <a:ext cx="8534400" cy="47894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We discussed IP over ATM in Chapter 7. When IP packet are moving through an ATMWAN, a mechanism protocol is needed to find (map) the physical address of the exiting-point router in the ATM WAN given the IP address of the router. This is the same task performed by ARP on a LAN. However, there is a difference between a LAN and an ATM network. A LAN is a broadcast network (at the data link layer); ARP uses the broadcasting capability of a LAN to send (broadcast) an ARP request.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344" name="Shape 344"/>
        <p:cNvGrpSpPr/>
        <p:nvPr/>
      </p:nvGrpSpPr>
      <p:grpSpPr>
        <a:xfrm>
          <a:off x="0" y="0"/>
          <a:ext cx="0" cy="0"/>
          <a:chOff x="0" y="0"/>
          <a:chExt cx="0" cy="0"/>
        </a:xfrm>
      </p:grpSpPr>
      <p:sp>
        <p:nvSpPr>
          <p:cNvPr id="345" name="Google Shape;345;p18"/>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46" name="Google Shape;346;p1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347" name="Google Shape;347;p18"/>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348" name="Google Shape;348;p1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49" name="Google Shape;349;p18"/>
          <p:cNvSpPr txBox="1"/>
          <p:nvPr/>
        </p:nvSpPr>
        <p:spPr>
          <a:xfrm>
            <a:off x="304800" y="989012"/>
            <a:ext cx="8382000" cy="1544637"/>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Packet Format</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ATMARP Operation</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Logical IP Subnet (LIS)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9"/>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56" name="Google Shape;356;p1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357" name="Google Shape;357;p19"/>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8.8</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ATMARP packet</a:t>
            </a:r>
            <a:endParaRPr/>
          </a:p>
        </p:txBody>
      </p:sp>
      <p:sp>
        <p:nvSpPr>
          <p:cNvPr id="358" name="Google Shape;358;p1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59" name="Google Shape;359;p1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0" name="Google Shape;360;p1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1" name="Google Shape;361;p1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2" name="Google Shape;362;p1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3" name="Google Shape;363;p1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64" name="Google Shape;364;p1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365" name="Google Shape;365;p19"/>
          <p:cNvPicPr preferRelativeResize="0"/>
          <p:nvPr/>
        </p:nvPicPr>
        <p:blipFill rotWithShape="1">
          <a:blip r:embed="rId3">
            <a:alphaModFix/>
          </a:blip>
          <a:srcRect b="0" l="0" r="0" t="0"/>
          <a:stretch/>
        </p:blipFill>
        <p:spPr>
          <a:xfrm>
            <a:off x="633412" y="1431925"/>
            <a:ext cx="8053387" cy="4435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0"/>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372" name="Google Shape;372;p2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373" name="Google Shape;373;p20"/>
          <p:cNvGrpSpPr/>
          <p:nvPr/>
        </p:nvGrpSpPr>
        <p:grpSpPr>
          <a:xfrm>
            <a:off x="228600" y="228600"/>
            <a:ext cx="8458200" cy="5791200"/>
            <a:chOff x="144" y="144"/>
            <a:chExt cx="5328" cy="3648"/>
          </a:xfrm>
        </p:grpSpPr>
        <p:grpSp>
          <p:nvGrpSpPr>
            <p:cNvPr id="374" name="Google Shape;374;p20"/>
            <p:cNvGrpSpPr/>
            <p:nvPr/>
          </p:nvGrpSpPr>
          <p:grpSpPr>
            <a:xfrm>
              <a:off x="144" y="144"/>
              <a:ext cx="432" cy="3648"/>
              <a:chOff x="48" y="48"/>
              <a:chExt cx="576" cy="3984"/>
            </a:xfrm>
          </p:grpSpPr>
          <p:sp>
            <p:nvSpPr>
              <p:cNvPr id="375" name="Google Shape;375;p20"/>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76" name="Google Shape;376;p20"/>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77" name="Google Shape;377;p20"/>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378" name="Google Shape;378;p20"/>
            <p:cNvGrpSpPr/>
            <p:nvPr/>
          </p:nvGrpSpPr>
          <p:grpSpPr>
            <a:xfrm>
              <a:off x="144" y="144"/>
              <a:ext cx="5328" cy="336"/>
              <a:chOff x="0" y="144"/>
              <a:chExt cx="5760" cy="432"/>
            </a:xfrm>
          </p:grpSpPr>
          <p:sp>
            <p:nvSpPr>
              <p:cNvPr id="379" name="Google Shape;379;p20"/>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0" name="Google Shape;380;p20"/>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1" name="Google Shape;381;p20"/>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382" name="Google Shape;382;p20"/>
            <p:cNvGrpSpPr/>
            <p:nvPr/>
          </p:nvGrpSpPr>
          <p:grpSpPr>
            <a:xfrm>
              <a:off x="144" y="144"/>
              <a:ext cx="432" cy="336"/>
              <a:chOff x="144" y="144"/>
              <a:chExt cx="432" cy="336"/>
            </a:xfrm>
          </p:grpSpPr>
          <p:grpSp>
            <p:nvGrpSpPr>
              <p:cNvPr id="383" name="Google Shape;383;p20"/>
              <p:cNvGrpSpPr/>
              <p:nvPr/>
            </p:nvGrpSpPr>
            <p:grpSpPr>
              <a:xfrm>
                <a:off x="144" y="256"/>
                <a:ext cx="432" cy="112"/>
                <a:chOff x="288" y="256"/>
                <a:chExt cx="432" cy="112"/>
              </a:xfrm>
            </p:grpSpPr>
            <p:sp>
              <p:nvSpPr>
                <p:cNvPr id="384" name="Google Shape;384;p2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5" name="Google Shape;385;p2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86" name="Google Shape;386;p2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387" name="Google Shape;387;p20"/>
              <p:cNvGrpSpPr/>
              <p:nvPr/>
            </p:nvGrpSpPr>
            <p:grpSpPr>
              <a:xfrm>
                <a:off x="144" y="144"/>
                <a:ext cx="432" cy="336"/>
                <a:chOff x="144" y="144"/>
                <a:chExt cx="432" cy="336"/>
              </a:xfrm>
            </p:grpSpPr>
            <p:grpSp>
              <p:nvGrpSpPr>
                <p:cNvPr id="388" name="Google Shape;388;p20"/>
                <p:cNvGrpSpPr/>
                <p:nvPr/>
              </p:nvGrpSpPr>
              <p:grpSpPr>
                <a:xfrm>
                  <a:off x="144" y="144"/>
                  <a:ext cx="432" cy="112"/>
                  <a:chOff x="288" y="256"/>
                  <a:chExt cx="432" cy="112"/>
                </a:xfrm>
              </p:grpSpPr>
              <p:sp>
                <p:nvSpPr>
                  <p:cNvPr id="389" name="Google Shape;389;p2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0" name="Google Shape;390;p2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1" name="Google Shape;391;p2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392" name="Google Shape;392;p20"/>
                <p:cNvGrpSpPr/>
                <p:nvPr/>
              </p:nvGrpSpPr>
              <p:grpSpPr>
                <a:xfrm>
                  <a:off x="144" y="368"/>
                  <a:ext cx="432" cy="112"/>
                  <a:chOff x="288" y="256"/>
                  <a:chExt cx="432" cy="112"/>
                </a:xfrm>
              </p:grpSpPr>
              <p:sp>
                <p:nvSpPr>
                  <p:cNvPr id="393" name="Google Shape;393;p20"/>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4" name="Google Shape;394;p20"/>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395" name="Google Shape;395;p20"/>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396" name="Google Shape;396;p20"/>
          <p:cNvPicPr preferRelativeResize="0"/>
          <p:nvPr/>
        </p:nvPicPr>
        <p:blipFill rotWithShape="1">
          <a:blip r:embed="rId3">
            <a:alphaModFix/>
          </a:blip>
          <a:srcRect b="0" l="0" r="0" t="0"/>
          <a:stretch/>
        </p:blipFill>
        <p:spPr>
          <a:xfrm>
            <a:off x="1200150" y="1895475"/>
            <a:ext cx="7334250" cy="3438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1"/>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03" name="Google Shape;403;p2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404" name="Google Shape;404;p2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5" name="Google Shape;405;p2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6" name="Google Shape;406;p2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7" name="Google Shape;407;p2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8" name="Google Shape;408;p2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09" name="Google Shape;409;p2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10" name="Google Shape;410;p2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411" name="Google Shape;411;p21"/>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412" name="Google Shape;412;p21"/>
          <p:cNvCxnSpPr/>
          <p:nvPr/>
        </p:nvCxnSpPr>
        <p:spPr>
          <a:xfrm>
            <a:off x="609600" y="48768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413" name="Google Shape;413;p21"/>
          <p:cNvSpPr txBox="1"/>
          <p:nvPr/>
        </p:nvSpPr>
        <p:spPr>
          <a:xfrm>
            <a:off x="647700" y="2716212"/>
            <a:ext cx="8077200" cy="2041525"/>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inverse request and inverse</a:t>
            </a:r>
            <a:br>
              <a:rPr b="1" i="0" lang="en-US" sz="1800" u="none">
                <a:solidFill>
                  <a:schemeClr val="dk1"/>
                </a:solidFill>
                <a:latin typeface="Tahoma"/>
                <a:ea typeface="Tahoma"/>
                <a:cs typeface="Tahoma"/>
                <a:sym typeface="Tahoma"/>
              </a:rPr>
            </a:br>
            <a:r>
              <a:rPr b="1" i="1" lang="en-US" sz="3200" u="none">
                <a:solidFill>
                  <a:schemeClr val="lt1"/>
                </a:solidFill>
                <a:latin typeface="Arial"/>
                <a:ea typeface="Arial"/>
                <a:cs typeface="Arial"/>
                <a:sym typeface="Arial"/>
              </a:rPr>
              <a:t>reply messages can bind the </a:t>
            </a:r>
            <a:br>
              <a:rPr b="1" i="0" lang="en-US" sz="1800" u="none">
                <a:solidFill>
                  <a:schemeClr val="dk1"/>
                </a:solidFill>
                <a:latin typeface="Tahoma"/>
                <a:ea typeface="Tahoma"/>
                <a:cs typeface="Tahoma"/>
                <a:sym typeface="Tahoma"/>
              </a:rPr>
            </a:br>
            <a:r>
              <a:rPr b="1" i="1" lang="en-US" sz="3200" u="none">
                <a:solidFill>
                  <a:schemeClr val="lt1"/>
                </a:solidFill>
                <a:latin typeface="Arial"/>
                <a:ea typeface="Arial"/>
                <a:cs typeface="Arial"/>
                <a:sym typeface="Arial"/>
              </a:rPr>
              <a:t>physical address to an IP </a:t>
            </a:r>
            <a:br>
              <a:rPr b="1" i="0" lang="en-US" sz="1800" u="none">
                <a:solidFill>
                  <a:schemeClr val="dk1"/>
                </a:solidFill>
                <a:latin typeface="Tahoma"/>
                <a:ea typeface="Tahoma"/>
                <a:cs typeface="Tahoma"/>
                <a:sym typeface="Tahoma"/>
              </a:rPr>
            </a:br>
            <a:r>
              <a:rPr b="1" i="1" lang="en-US" sz="3200" u="none">
                <a:solidFill>
                  <a:schemeClr val="lt1"/>
                </a:solidFill>
                <a:latin typeface="Arial"/>
                <a:ea typeface="Arial"/>
                <a:cs typeface="Arial"/>
                <a:sym typeface="Arial"/>
              </a:rPr>
              <a:t>address in a PVC situation.</a:t>
            </a:r>
            <a:endParaRPr/>
          </a:p>
        </p:txBody>
      </p:sp>
      <p:grpSp>
        <p:nvGrpSpPr>
          <p:cNvPr id="414" name="Google Shape;414;p21"/>
          <p:cNvGrpSpPr/>
          <p:nvPr/>
        </p:nvGrpSpPr>
        <p:grpSpPr>
          <a:xfrm>
            <a:off x="609600" y="1981200"/>
            <a:ext cx="1143000" cy="566737"/>
            <a:chOff x="1200" y="1248"/>
            <a:chExt cx="720" cy="357"/>
          </a:xfrm>
        </p:grpSpPr>
        <p:pic>
          <p:nvPicPr>
            <p:cNvPr id="415" name="Google Shape;415;p21"/>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16" name="Google Shape;416;p21"/>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2"/>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23" name="Google Shape;423;p2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424" name="Google Shape;424;p22"/>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8.9</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Binding with PVC</a:t>
            </a:r>
            <a:endParaRPr/>
          </a:p>
        </p:txBody>
      </p:sp>
      <p:sp>
        <p:nvSpPr>
          <p:cNvPr id="425" name="Google Shape;425;p2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26" name="Google Shape;426;p2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27" name="Google Shape;427;p2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28" name="Google Shape;428;p2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29" name="Google Shape;429;p2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30" name="Google Shape;430;p2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31" name="Google Shape;431;p2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32" name="Google Shape;432;p22"/>
          <p:cNvPicPr preferRelativeResize="0"/>
          <p:nvPr/>
        </p:nvPicPr>
        <p:blipFill rotWithShape="1">
          <a:blip r:embed="rId3">
            <a:alphaModFix/>
          </a:blip>
          <a:srcRect b="0" l="0" r="0" t="0"/>
          <a:stretch/>
        </p:blipFill>
        <p:spPr>
          <a:xfrm>
            <a:off x="685800" y="1725612"/>
            <a:ext cx="7212012" cy="3622675"/>
          </a:xfrm>
          <a:prstGeom prst="rect">
            <a:avLst/>
          </a:prstGeom>
          <a:noFill/>
          <a:ln>
            <a:noFill/>
          </a:ln>
        </p:spPr>
      </p:pic>
      <p:pic>
        <p:nvPicPr>
          <p:cNvPr id="433" name="Google Shape;433;p22"/>
          <p:cNvPicPr preferRelativeResize="0"/>
          <p:nvPr/>
        </p:nvPicPr>
        <p:blipFill rotWithShape="1">
          <a:blip r:embed="rId4">
            <a:alphaModFix/>
          </a:blip>
          <a:srcRect b="0" l="0" r="0" t="0"/>
          <a:stretch/>
        </p:blipFill>
        <p:spPr>
          <a:xfrm>
            <a:off x="914400" y="3200400"/>
            <a:ext cx="6591300" cy="827087"/>
          </a:xfrm>
          <a:prstGeom prst="rect">
            <a:avLst/>
          </a:prstGeom>
          <a:noFill/>
          <a:ln>
            <a:noFill/>
          </a:ln>
        </p:spPr>
      </p:pic>
      <p:pic>
        <p:nvPicPr>
          <p:cNvPr id="434" name="Google Shape;434;p22"/>
          <p:cNvPicPr preferRelativeResize="0"/>
          <p:nvPr/>
        </p:nvPicPr>
        <p:blipFill rotWithShape="1">
          <a:blip r:embed="rId5">
            <a:alphaModFix/>
          </a:blip>
          <a:srcRect b="0" l="0" r="0" t="0"/>
          <a:stretch/>
        </p:blipFill>
        <p:spPr>
          <a:xfrm>
            <a:off x="1066800" y="3962400"/>
            <a:ext cx="6608762" cy="793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2000"/>
                                        <p:tgtEl>
                                          <p:spTgt spid="4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200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3"/>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41" name="Google Shape;441;p2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442" name="Google Shape;442;p23"/>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8.10</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Binding with ATMARP</a:t>
            </a:r>
            <a:endParaRPr/>
          </a:p>
        </p:txBody>
      </p:sp>
      <p:sp>
        <p:nvSpPr>
          <p:cNvPr id="443" name="Google Shape;443;p2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44" name="Google Shape;444;p2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45" name="Google Shape;445;p2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46" name="Google Shape;446;p2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47" name="Google Shape;447;p2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48" name="Google Shape;448;p2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49" name="Google Shape;449;p23"/>
          <p:cNvPicPr preferRelativeResize="0"/>
          <p:nvPr/>
        </p:nvPicPr>
        <p:blipFill rotWithShape="1">
          <a:blip r:embed="rId3">
            <a:alphaModFix/>
          </a:blip>
          <a:srcRect b="0" l="0" r="0" t="0"/>
          <a:stretch/>
        </p:blipFill>
        <p:spPr>
          <a:xfrm>
            <a:off x="1482725" y="638175"/>
            <a:ext cx="5832475" cy="6037262"/>
          </a:xfrm>
          <a:prstGeom prst="rect">
            <a:avLst/>
          </a:prstGeom>
          <a:noFill/>
          <a:ln>
            <a:noFill/>
          </a:ln>
        </p:spPr>
      </p:pic>
      <p:sp>
        <p:nvSpPr>
          <p:cNvPr id="450" name="Google Shape;450;p2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451" name="Google Shape;451;p23"/>
          <p:cNvPicPr preferRelativeResize="0"/>
          <p:nvPr/>
        </p:nvPicPr>
        <p:blipFill rotWithShape="1">
          <a:blip r:embed="rId4">
            <a:alphaModFix/>
          </a:blip>
          <a:srcRect b="0" l="0" r="0" t="0"/>
          <a:stretch/>
        </p:blipFill>
        <p:spPr>
          <a:xfrm>
            <a:off x="2057400" y="2590800"/>
            <a:ext cx="2366962" cy="673100"/>
          </a:xfrm>
          <a:prstGeom prst="rect">
            <a:avLst/>
          </a:prstGeom>
          <a:noFill/>
          <a:ln>
            <a:noFill/>
          </a:ln>
        </p:spPr>
      </p:pic>
      <p:pic>
        <p:nvPicPr>
          <p:cNvPr id="452" name="Google Shape;452;p23"/>
          <p:cNvPicPr preferRelativeResize="0"/>
          <p:nvPr/>
        </p:nvPicPr>
        <p:blipFill rotWithShape="1">
          <a:blip r:embed="rId5">
            <a:alphaModFix/>
          </a:blip>
          <a:srcRect b="0" l="0" r="0" t="0"/>
          <a:stretch/>
        </p:blipFill>
        <p:spPr>
          <a:xfrm>
            <a:off x="1997075" y="3324225"/>
            <a:ext cx="2422525" cy="409575"/>
          </a:xfrm>
          <a:prstGeom prst="rect">
            <a:avLst/>
          </a:prstGeom>
          <a:noFill/>
          <a:ln>
            <a:noFill/>
          </a:ln>
        </p:spPr>
      </p:pic>
      <p:pic>
        <p:nvPicPr>
          <p:cNvPr id="453" name="Google Shape;453;p23"/>
          <p:cNvPicPr preferRelativeResize="0"/>
          <p:nvPr/>
        </p:nvPicPr>
        <p:blipFill rotWithShape="1">
          <a:blip r:embed="rId6">
            <a:alphaModFix/>
          </a:blip>
          <a:srcRect b="0" l="0" r="0" t="0"/>
          <a:stretch/>
        </p:blipFill>
        <p:spPr>
          <a:xfrm>
            <a:off x="2057400" y="3810000"/>
            <a:ext cx="2468562" cy="403225"/>
          </a:xfrm>
          <a:prstGeom prst="rect">
            <a:avLst/>
          </a:prstGeom>
          <a:noFill/>
          <a:ln>
            <a:noFill/>
          </a:ln>
        </p:spPr>
      </p:pic>
      <p:pic>
        <p:nvPicPr>
          <p:cNvPr id="454" name="Google Shape;454;p23"/>
          <p:cNvPicPr preferRelativeResize="0"/>
          <p:nvPr/>
        </p:nvPicPr>
        <p:blipFill rotWithShape="1">
          <a:blip r:embed="rId7">
            <a:alphaModFix/>
          </a:blip>
          <a:srcRect b="0" l="0" r="0" t="0"/>
          <a:stretch/>
        </p:blipFill>
        <p:spPr>
          <a:xfrm>
            <a:off x="2057400" y="4191000"/>
            <a:ext cx="2459037" cy="557212"/>
          </a:xfrm>
          <a:prstGeom prst="rect">
            <a:avLst/>
          </a:prstGeom>
          <a:noFill/>
          <a:ln>
            <a:noFill/>
          </a:ln>
        </p:spPr>
      </p:pic>
      <p:pic>
        <p:nvPicPr>
          <p:cNvPr id="455" name="Google Shape;455;p23"/>
          <p:cNvPicPr preferRelativeResize="0"/>
          <p:nvPr/>
        </p:nvPicPr>
        <p:blipFill rotWithShape="1">
          <a:blip r:embed="rId8">
            <a:alphaModFix/>
          </a:blip>
          <a:srcRect b="0" l="0" r="0" t="0"/>
          <a:stretch/>
        </p:blipFill>
        <p:spPr>
          <a:xfrm>
            <a:off x="2057400" y="5029200"/>
            <a:ext cx="4667250" cy="576262"/>
          </a:xfrm>
          <a:prstGeom prst="rect">
            <a:avLst/>
          </a:prstGeom>
          <a:noFill/>
          <a:ln>
            <a:noFill/>
          </a:ln>
        </p:spPr>
      </p:pic>
      <p:sp>
        <p:nvSpPr>
          <p:cNvPr id="456" name="Google Shape;456;p23"/>
          <p:cNvSpPr txBox="1"/>
          <p:nvPr/>
        </p:nvSpPr>
        <p:spPr>
          <a:xfrm>
            <a:off x="4708525" y="3778250"/>
            <a:ext cx="2035175"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Finding physical</a:t>
            </a:r>
            <a:endParaRPr/>
          </a:p>
          <a:p>
            <a:pPr indent="0" lvl="0" marL="0" marR="0" rtl="0" algn="ctr">
              <a:lnSpc>
                <a:spcPct val="100000"/>
              </a:lnSpc>
              <a:spcBef>
                <a:spcPts val="0"/>
              </a:spcBef>
              <a:spcAft>
                <a:spcPts val="0"/>
              </a:spcAft>
              <a:buClr>
                <a:schemeClr val="dk1"/>
              </a:buClr>
              <a:buSzPts val="1800"/>
              <a:buFont typeface="Tahoma"/>
              <a:buNone/>
            </a:pPr>
            <a:r>
              <a:rPr b="1" i="0" lang="en-US" sz="1800" u="none">
                <a:solidFill>
                  <a:schemeClr val="dk1"/>
                </a:solidFill>
                <a:latin typeface="Tahoma"/>
                <a:ea typeface="Tahoma"/>
                <a:cs typeface="Tahoma"/>
                <a:sym typeface="Tahoma"/>
              </a:rPr>
              <a:t>address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2000"/>
                                        <p:tgtEl>
                                          <p:spTgt spid="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2000"/>
                                        <p:tgtEl>
                                          <p:spTgt spid="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2000"/>
                                        <p:tgtEl>
                                          <p:spTgt spid="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20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600"/>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2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4"/>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63" name="Google Shape;463;p2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464" name="Google Shape;464;p2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65" name="Google Shape;465;p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66" name="Google Shape;466;p2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67" name="Google Shape;467;p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68" name="Google Shape;468;p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69" name="Google Shape;469;p2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70" name="Google Shape;470;p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471" name="Google Shape;471;p24"/>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472" name="Google Shape;472;p24"/>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473" name="Google Shape;473;p24"/>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request and reply message can be used to bind a physical address to an</a:t>
            </a: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IP address in an SVC situation.</a:t>
            </a:r>
            <a:endParaRPr/>
          </a:p>
        </p:txBody>
      </p:sp>
      <p:grpSp>
        <p:nvGrpSpPr>
          <p:cNvPr id="474" name="Google Shape;474;p24"/>
          <p:cNvGrpSpPr/>
          <p:nvPr/>
        </p:nvGrpSpPr>
        <p:grpSpPr>
          <a:xfrm>
            <a:off x="609600" y="1981200"/>
            <a:ext cx="1143000" cy="566737"/>
            <a:chOff x="1200" y="1248"/>
            <a:chExt cx="720" cy="357"/>
          </a:xfrm>
        </p:grpSpPr>
        <p:pic>
          <p:nvPicPr>
            <p:cNvPr id="475" name="Google Shape;475;p2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76" name="Google Shape;476;p2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500"/>
                                        <p:tgtEl>
                                          <p:spTgt spid="47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5"/>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483" name="Google Shape;483;p2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484" name="Google Shape;484;p2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5" name="Google Shape;485;p2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6" name="Google Shape;486;p2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7" name="Google Shape;487;p2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8" name="Google Shape;488;p2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89" name="Google Shape;489;p2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490" name="Google Shape;490;p2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491" name="Google Shape;491;p25"/>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492" name="Google Shape;492;p25"/>
          <p:cNvCxnSpPr/>
          <p:nvPr/>
        </p:nvCxnSpPr>
        <p:spPr>
          <a:xfrm>
            <a:off x="609600" y="43434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493" name="Google Shape;493;p25"/>
          <p:cNvSpPr txBox="1"/>
          <p:nvPr/>
        </p:nvSpPr>
        <p:spPr>
          <a:xfrm>
            <a:off x="647700" y="2716212"/>
            <a:ext cx="8077200" cy="1554162"/>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The inverse request and inverse reply can also be used to build the </a:t>
            </a:r>
            <a:br>
              <a:rPr b="1" i="0" lang="en-US" sz="1800" u="none">
                <a:solidFill>
                  <a:schemeClr val="dk1"/>
                </a:solidFill>
                <a:latin typeface="Tahoma"/>
                <a:ea typeface="Tahoma"/>
                <a:cs typeface="Tahoma"/>
                <a:sym typeface="Tahoma"/>
              </a:rPr>
            </a:br>
            <a:r>
              <a:rPr b="1" i="1" lang="en-US" sz="3200" u="none">
                <a:solidFill>
                  <a:schemeClr val="lt1"/>
                </a:solidFill>
                <a:latin typeface="Arial"/>
                <a:ea typeface="Arial"/>
                <a:cs typeface="Arial"/>
                <a:sym typeface="Arial"/>
              </a:rPr>
              <a:t>server</a:t>
            </a:r>
            <a:r>
              <a:rPr b="1" i="1" lang="en-US" sz="3200" u="none">
                <a:solidFill>
                  <a:schemeClr val="lt1"/>
                </a:solidFill>
                <a:latin typeface="Tahoma"/>
                <a:ea typeface="Tahoma"/>
                <a:cs typeface="Tahoma"/>
                <a:sym typeface="Tahoma"/>
              </a:rPr>
              <a:t>’</a:t>
            </a:r>
            <a:r>
              <a:rPr b="1" i="1" lang="en-US" sz="3200" u="none">
                <a:solidFill>
                  <a:schemeClr val="lt1"/>
                </a:solidFill>
                <a:latin typeface="Arial"/>
                <a:ea typeface="Arial"/>
                <a:cs typeface="Arial"/>
                <a:sym typeface="Arial"/>
              </a:rPr>
              <a:t>s mapping table.</a:t>
            </a:r>
            <a:endParaRPr/>
          </a:p>
        </p:txBody>
      </p:sp>
      <p:grpSp>
        <p:nvGrpSpPr>
          <p:cNvPr id="494" name="Google Shape;494;p25"/>
          <p:cNvGrpSpPr/>
          <p:nvPr/>
        </p:nvGrpSpPr>
        <p:grpSpPr>
          <a:xfrm>
            <a:off x="609600" y="1981200"/>
            <a:ext cx="1143000" cy="566737"/>
            <a:chOff x="1200" y="1248"/>
            <a:chExt cx="720" cy="357"/>
          </a:xfrm>
        </p:grpSpPr>
        <p:pic>
          <p:nvPicPr>
            <p:cNvPr id="495" name="Google Shape;495;p25"/>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96" name="Google Shape;496;p25"/>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26"/>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03" name="Google Shape;503;p2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504" name="Google Shape;504;p26"/>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8.11</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ahoma"/>
                <a:ea typeface="Tahoma"/>
                <a:cs typeface="Tahoma"/>
                <a:sym typeface="Tahoma"/>
              </a:rPr>
              <a:t>Building a table</a:t>
            </a:r>
            <a:endParaRPr/>
          </a:p>
        </p:txBody>
      </p:sp>
      <p:sp>
        <p:nvSpPr>
          <p:cNvPr id="505" name="Google Shape;505;p2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6" name="Google Shape;506;p2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7" name="Google Shape;507;p2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8" name="Google Shape;508;p2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09" name="Google Shape;509;p2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10" name="Google Shape;510;p2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11" name="Google Shape;511;p2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512" name="Google Shape;512;p26"/>
          <p:cNvPicPr preferRelativeResize="0"/>
          <p:nvPr/>
        </p:nvPicPr>
        <p:blipFill rotWithShape="1">
          <a:blip r:embed="rId3">
            <a:alphaModFix/>
          </a:blip>
          <a:srcRect b="0" l="0" r="0" t="0"/>
          <a:stretch/>
        </p:blipFill>
        <p:spPr>
          <a:xfrm>
            <a:off x="381000" y="1730375"/>
            <a:ext cx="7532687" cy="3451225"/>
          </a:xfrm>
          <a:prstGeom prst="rect">
            <a:avLst/>
          </a:prstGeom>
          <a:noFill/>
          <a:ln>
            <a:noFill/>
          </a:ln>
        </p:spPr>
      </p:pic>
      <p:pic>
        <p:nvPicPr>
          <p:cNvPr id="513" name="Google Shape;513;p26"/>
          <p:cNvPicPr preferRelativeResize="0"/>
          <p:nvPr/>
        </p:nvPicPr>
        <p:blipFill rotWithShape="1">
          <a:blip r:embed="rId4">
            <a:alphaModFix/>
          </a:blip>
          <a:srcRect b="0" l="0" r="0" t="0"/>
          <a:stretch/>
        </p:blipFill>
        <p:spPr>
          <a:xfrm>
            <a:off x="1382712" y="3203575"/>
            <a:ext cx="6161087" cy="755650"/>
          </a:xfrm>
          <a:prstGeom prst="rect">
            <a:avLst/>
          </a:prstGeom>
          <a:noFill/>
          <a:ln>
            <a:noFill/>
          </a:ln>
        </p:spPr>
      </p:pic>
      <p:pic>
        <p:nvPicPr>
          <p:cNvPr id="514" name="Google Shape;514;p26"/>
          <p:cNvPicPr preferRelativeResize="0"/>
          <p:nvPr/>
        </p:nvPicPr>
        <p:blipFill rotWithShape="1">
          <a:blip r:embed="rId5">
            <a:alphaModFix/>
          </a:blip>
          <a:srcRect b="0" l="0" r="0" t="0"/>
          <a:stretch/>
        </p:blipFill>
        <p:spPr>
          <a:xfrm>
            <a:off x="1306512" y="4041775"/>
            <a:ext cx="6161087" cy="65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2000"/>
                                        <p:tgtEl>
                                          <p:spTgt spid="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2000"/>
                                        <p:tgtEl>
                                          <p:spTgt spid="5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7"/>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21" name="Google Shape;521;p2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522" name="Google Shape;522;p27"/>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8.12</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LIS</a:t>
            </a:r>
            <a:endParaRPr/>
          </a:p>
        </p:txBody>
      </p:sp>
      <p:sp>
        <p:nvSpPr>
          <p:cNvPr id="523" name="Google Shape;523;p2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24" name="Google Shape;524;p2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25" name="Google Shape;525;p2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26" name="Google Shape;526;p2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27" name="Google Shape;527;p2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28" name="Google Shape;528;p2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29" name="Google Shape;529;p2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530" name="Google Shape;530;p27"/>
          <p:cNvPicPr preferRelativeResize="0"/>
          <p:nvPr/>
        </p:nvPicPr>
        <p:blipFill rotWithShape="1">
          <a:blip r:embed="rId3">
            <a:alphaModFix/>
          </a:blip>
          <a:srcRect b="0" l="0" r="0" t="0"/>
          <a:stretch/>
        </p:blipFill>
        <p:spPr>
          <a:xfrm>
            <a:off x="457200" y="1617662"/>
            <a:ext cx="8245475" cy="394493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28"/>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37" name="Google Shape;537;p2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538" name="Google Shape;538;p2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39" name="Google Shape;539;p2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40" name="Google Shape;540;p2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41" name="Google Shape;541;p2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42" name="Google Shape;542;p2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43" name="Google Shape;543;p2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44" name="Google Shape;544;p2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cxnSp>
        <p:nvCxnSpPr>
          <p:cNvPr id="545" name="Google Shape;545;p28"/>
          <p:cNvCxnSpPr/>
          <p:nvPr/>
        </p:nvCxnSpPr>
        <p:spPr>
          <a:xfrm>
            <a:off x="609600" y="2624137"/>
            <a:ext cx="8153400" cy="0"/>
          </a:xfrm>
          <a:prstGeom prst="straightConnector1">
            <a:avLst/>
          </a:prstGeom>
          <a:noFill/>
          <a:ln cap="flat" cmpd="sng" w="76200">
            <a:solidFill>
              <a:schemeClr val="folHlink"/>
            </a:solidFill>
            <a:prstDash val="solid"/>
            <a:miter lim="800000"/>
            <a:headEnd len="med" w="med" type="none"/>
            <a:tailEnd len="med" w="med" type="none"/>
          </a:ln>
        </p:spPr>
      </p:cxnSp>
      <p:cxnSp>
        <p:nvCxnSpPr>
          <p:cNvPr id="546" name="Google Shape;546;p28"/>
          <p:cNvCxnSpPr/>
          <p:nvPr/>
        </p:nvCxnSpPr>
        <p:spPr>
          <a:xfrm>
            <a:off x="609600" y="5334000"/>
            <a:ext cx="8153400" cy="0"/>
          </a:xfrm>
          <a:prstGeom prst="straightConnector1">
            <a:avLst/>
          </a:prstGeom>
          <a:noFill/>
          <a:ln cap="flat" cmpd="sng" w="76200">
            <a:solidFill>
              <a:schemeClr val="folHlink"/>
            </a:solidFill>
            <a:prstDash val="solid"/>
            <a:miter lim="800000"/>
            <a:headEnd len="med" w="med" type="none"/>
            <a:tailEnd len="med" w="med" type="none"/>
          </a:ln>
        </p:spPr>
      </p:cxnSp>
      <p:sp>
        <p:nvSpPr>
          <p:cNvPr id="547" name="Google Shape;547;p28"/>
          <p:cNvSpPr txBox="1"/>
          <p:nvPr/>
        </p:nvSpPr>
        <p:spPr>
          <a:xfrm>
            <a:off x="647700" y="2716212"/>
            <a:ext cx="8077200" cy="2528887"/>
          </a:xfrm>
          <a:prstGeom prst="rect">
            <a:avLst/>
          </a:prstGeom>
          <a:solidFill>
            <a:srgbClr val="3333CC"/>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LIS allows an ATM network to be divided into several logical subnets.</a:t>
            </a:r>
            <a:br>
              <a:rPr b="1" i="0" lang="en-US" sz="1800" u="none">
                <a:solidFill>
                  <a:schemeClr val="dk1"/>
                </a:solidFill>
                <a:latin typeface="Tahoma"/>
                <a:ea typeface="Tahoma"/>
                <a:cs typeface="Tahoma"/>
                <a:sym typeface="Tahoma"/>
              </a:rPr>
            </a:br>
            <a:endParaRPr/>
          </a:p>
          <a:p>
            <a:pPr indent="0" lvl="0" marL="0" marR="0" rtl="0" algn="ctr">
              <a:lnSpc>
                <a:spcPct val="100000"/>
              </a:lnSpc>
              <a:spcBef>
                <a:spcPts val="0"/>
              </a:spcBef>
              <a:spcAft>
                <a:spcPts val="0"/>
              </a:spcAft>
              <a:buClr>
                <a:schemeClr val="lt1"/>
              </a:buClr>
              <a:buSzPts val="3200"/>
              <a:buFont typeface="Arial"/>
              <a:buNone/>
            </a:pPr>
            <a:r>
              <a:rPr b="1" i="1" lang="en-US" sz="3200" u="none">
                <a:solidFill>
                  <a:schemeClr val="lt1"/>
                </a:solidFill>
                <a:latin typeface="Arial"/>
                <a:ea typeface="Arial"/>
                <a:cs typeface="Arial"/>
                <a:sym typeface="Arial"/>
              </a:rPr>
              <a:t>To use ATMARP, we need a separate server for each subnet.</a:t>
            </a:r>
            <a:endParaRPr/>
          </a:p>
        </p:txBody>
      </p:sp>
      <p:grpSp>
        <p:nvGrpSpPr>
          <p:cNvPr id="548" name="Google Shape;548;p28"/>
          <p:cNvGrpSpPr/>
          <p:nvPr/>
        </p:nvGrpSpPr>
        <p:grpSpPr>
          <a:xfrm>
            <a:off x="609600" y="1981200"/>
            <a:ext cx="1143000" cy="566737"/>
            <a:chOff x="1200" y="1248"/>
            <a:chExt cx="720" cy="357"/>
          </a:xfrm>
        </p:grpSpPr>
        <p:pic>
          <p:nvPicPr>
            <p:cNvPr id="549" name="Google Shape;549;p2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550" name="Google Shape;550;p2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29"/>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57" name="Google Shape;557;p2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558" name="Google Shape;558;p29"/>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59" name="Google Shape;559;p29"/>
          <p:cNvSpPr txBox="1"/>
          <p:nvPr/>
        </p:nvSpPr>
        <p:spPr>
          <a:xfrm>
            <a:off x="228600" y="355600"/>
            <a:ext cx="4371975" cy="650875"/>
          </a:xfrm>
          <a:prstGeom prst="rect">
            <a:avLst/>
          </a:prstGeom>
          <a:solidFill>
            <a:schemeClr val="folHlink"/>
          </a:solidFill>
          <a:ln cap="flat" cmpd="sng" w="9525">
            <a:solidFill>
              <a:schemeClr val="folHlink"/>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Times"/>
              <a:buNone/>
            </a:pPr>
            <a:r>
              <a:rPr b="1" i="0" lang="en-US" sz="3600" u="none">
                <a:solidFill>
                  <a:schemeClr val="lt1"/>
                </a:solidFill>
                <a:latin typeface="Times"/>
                <a:ea typeface="Times"/>
                <a:cs typeface="Times"/>
                <a:sym typeface="Times"/>
              </a:rPr>
              <a:t>8-4  ARP PACKAGE</a:t>
            </a:r>
            <a:endParaRPr/>
          </a:p>
        </p:txBody>
      </p:sp>
      <p:sp>
        <p:nvSpPr>
          <p:cNvPr id="560" name="Google Shape;560;p29"/>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61" name="Google Shape;561;p29"/>
          <p:cNvSpPr txBox="1"/>
          <p:nvPr/>
        </p:nvSpPr>
        <p:spPr>
          <a:xfrm>
            <a:off x="381000" y="1524000"/>
            <a:ext cx="8534400" cy="39354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mo"/>
              <a:buNone/>
            </a:pPr>
            <a:r>
              <a:rPr b="1" i="0" lang="en-US" sz="2800" u="none">
                <a:solidFill>
                  <a:schemeClr val="dk1"/>
                </a:solidFill>
                <a:latin typeface="Arimo"/>
                <a:ea typeface="Arimo"/>
                <a:cs typeface="Arimo"/>
                <a:sym typeface="Arimo"/>
              </a:rPr>
              <a:t>In this section, we give an example of a simplified ARP software package. The purpose is to show the components of a hypothetical ARP package and the relationships between the components. Figure 8.13 shows these components and their interactions. We can say that this ARP package involves five components: a cache table, queues, an output module, an input module, and a cache-control module.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767647"/>
            </a:gs>
          </a:gsLst>
          <a:lin ang="0" scaled="0"/>
        </a:gradFill>
      </p:bgPr>
    </p:bg>
    <p:spTree>
      <p:nvGrpSpPr>
        <p:cNvPr id="566" name="Shape 566"/>
        <p:cNvGrpSpPr/>
        <p:nvPr/>
      </p:nvGrpSpPr>
      <p:grpSpPr>
        <a:xfrm>
          <a:off x="0" y="0"/>
          <a:ext cx="0" cy="0"/>
          <a:chOff x="0" y="0"/>
          <a:chExt cx="0" cy="0"/>
        </a:xfrm>
      </p:grpSpPr>
      <p:sp>
        <p:nvSpPr>
          <p:cNvPr id="567" name="Google Shape;567;p30"/>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68" name="Google Shape;568;p3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569" name="Google Shape;569;p30"/>
          <p:cNvSpPr txBox="1"/>
          <p:nvPr/>
        </p:nvSpPr>
        <p:spPr>
          <a:xfrm>
            <a:off x="228600" y="152400"/>
            <a:ext cx="54689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a:buNone/>
            </a:pPr>
            <a:r>
              <a:rPr b="1" i="1" lang="en-US" sz="3200" u="none">
                <a:solidFill>
                  <a:schemeClr val="hlink"/>
                </a:solidFill>
                <a:latin typeface="Times"/>
                <a:ea typeface="Times"/>
                <a:cs typeface="Times"/>
                <a:sym typeface="Times"/>
              </a:rPr>
              <a:t>Topics Discussed in the Section</a:t>
            </a:r>
            <a:endParaRPr/>
          </a:p>
        </p:txBody>
      </p:sp>
      <p:sp>
        <p:nvSpPr>
          <p:cNvPr id="570" name="Google Shape;570;p30"/>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71" name="Google Shape;571;p30"/>
          <p:cNvSpPr txBox="1"/>
          <p:nvPr/>
        </p:nvSpPr>
        <p:spPr>
          <a:xfrm>
            <a:off x="304800" y="989012"/>
            <a:ext cx="8382000" cy="2570162"/>
          </a:xfrm>
          <a:prstGeom prst="rect">
            <a:avLst/>
          </a:prstGeom>
          <a:noFill/>
          <a:ln>
            <a:noFill/>
          </a:ln>
        </p:spPr>
        <p:txBody>
          <a:bodyPr anchorCtr="0" anchor="t" bIns="45700" lIns="91425" spcFirstLastPara="1" rIns="91425" wrap="square" tIns="45700">
            <a:spAutoFit/>
          </a:bodyPr>
          <a:lstStyle/>
          <a:p>
            <a:pPr indent="-208025" lvl="0" marL="0" marR="0" rtl="0" algn="l">
              <a:lnSpc>
                <a:spcPct val="100000"/>
              </a:lnSpc>
              <a:spcBef>
                <a:spcPts val="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Cache Table</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Queues</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Output Module</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Input Module</a:t>
            </a:r>
            <a:endParaRPr/>
          </a:p>
          <a:p>
            <a:pPr indent="-208025" lvl="0" marL="0" marR="0" rtl="0" algn="l">
              <a:lnSpc>
                <a:spcPct val="100000"/>
              </a:lnSpc>
              <a:spcBef>
                <a:spcPts val="560"/>
              </a:spcBef>
              <a:spcAft>
                <a:spcPts val="0"/>
              </a:spcAft>
              <a:buClr>
                <a:schemeClr val="dk1"/>
              </a:buClr>
              <a:buSzPts val="3276"/>
              <a:buFont typeface="Noto Sans Symbols"/>
              <a:buChar char="✔"/>
            </a:pPr>
            <a:r>
              <a:rPr b="1" i="0" lang="en-US" sz="2800" u="none">
                <a:solidFill>
                  <a:srgbClr val="0033CC"/>
                </a:solidFill>
                <a:latin typeface="Times New Roman"/>
                <a:ea typeface="Times New Roman"/>
                <a:cs typeface="Times New Roman"/>
                <a:sym typeface="Times New Roman"/>
              </a:rPr>
              <a:t> Cache-Control Module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0"/>
                                        <p:tgtEl>
                                          <p:spTgt spid="5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31"/>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78" name="Google Shape;578;p3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579" name="Google Shape;579;p31"/>
          <p:cNvSpPr txBox="1"/>
          <p:nvPr/>
        </p:nvSpPr>
        <p:spPr>
          <a:xfrm>
            <a:off x="990600" y="90487"/>
            <a:ext cx="57150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1800"/>
              <a:buFont typeface="Times New Roman"/>
              <a:buNone/>
            </a:pPr>
            <a:r>
              <a:rPr b="1" i="0" lang="en-US" sz="1800" u="none">
                <a:solidFill>
                  <a:srgbClr val="0000FF"/>
                </a:solidFill>
                <a:latin typeface="Times New Roman"/>
                <a:ea typeface="Times New Roman"/>
                <a:cs typeface="Times New Roman"/>
                <a:sym typeface="Times New Roman"/>
              </a:rPr>
              <a:t>Figure 8.13</a:t>
            </a:r>
            <a:r>
              <a:rPr b="1" i="0" lang="en-US" sz="1800" u="none">
                <a:solidFill>
                  <a:schemeClr val="accent2"/>
                </a:solidFill>
                <a:latin typeface="Times New Roman"/>
                <a:ea typeface="Times New Roman"/>
                <a:cs typeface="Times New Roman"/>
                <a:sym typeface="Times New Roman"/>
              </a:rPr>
              <a:t>    </a:t>
            </a:r>
            <a:r>
              <a:rPr b="1" i="1" lang="en-US" sz="1800" u="none">
                <a:solidFill>
                  <a:schemeClr val="dk1"/>
                </a:solidFill>
                <a:latin typeface="Times New Roman"/>
                <a:ea typeface="Times New Roman"/>
                <a:cs typeface="Times New Roman"/>
                <a:sym typeface="Times New Roman"/>
              </a:rPr>
              <a:t>ARP components</a:t>
            </a:r>
            <a:endParaRPr/>
          </a:p>
        </p:txBody>
      </p:sp>
      <p:sp>
        <p:nvSpPr>
          <p:cNvPr id="580" name="Google Shape;580;p3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1" name="Google Shape;581;p3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2" name="Google Shape;582;p3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3" name="Google Shape;583;p3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4" name="Google Shape;584;p3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5" name="Google Shape;585;p3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86" name="Google Shape;586;p3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pic>
        <p:nvPicPr>
          <p:cNvPr id="587" name="Google Shape;587;p31"/>
          <p:cNvPicPr preferRelativeResize="0"/>
          <p:nvPr/>
        </p:nvPicPr>
        <p:blipFill rotWithShape="1">
          <a:blip r:embed="rId3">
            <a:alphaModFix/>
          </a:blip>
          <a:srcRect b="0" l="0" r="0" t="0"/>
          <a:stretch/>
        </p:blipFill>
        <p:spPr>
          <a:xfrm>
            <a:off x="539750" y="1096962"/>
            <a:ext cx="8070850" cy="50752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32"/>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594" name="Google Shape;594;p3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595" name="Google Shape;595;p32"/>
          <p:cNvGrpSpPr/>
          <p:nvPr/>
        </p:nvGrpSpPr>
        <p:grpSpPr>
          <a:xfrm>
            <a:off x="228600" y="228600"/>
            <a:ext cx="8458200" cy="5791200"/>
            <a:chOff x="144" y="144"/>
            <a:chExt cx="5328" cy="3648"/>
          </a:xfrm>
        </p:grpSpPr>
        <p:grpSp>
          <p:nvGrpSpPr>
            <p:cNvPr id="596" name="Google Shape;596;p32"/>
            <p:cNvGrpSpPr/>
            <p:nvPr/>
          </p:nvGrpSpPr>
          <p:grpSpPr>
            <a:xfrm>
              <a:off x="144" y="144"/>
              <a:ext cx="432" cy="3648"/>
              <a:chOff x="48" y="48"/>
              <a:chExt cx="576" cy="3984"/>
            </a:xfrm>
          </p:grpSpPr>
          <p:sp>
            <p:nvSpPr>
              <p:cNvPr id="597" name="Google Shape;597;p32"/>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98" name="Google Shape;598;p32"/>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599" name="Google Shape;599;p32"/>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00" name="Google Shape;600;p32"/>
            <p:cNvGrpSpPr/>
            <p:nvPr/>
          </p:nvGrpSpPr>
          <p:grpSpPr>
            <a:xfrm>
              <a:off x="144" y="144"/>
              <a:ext cx="5328" cy="336"/>
              <a:chOff x="0" y="144"/>
              <a:chExt cx="5760" cy="432"/>
            </a:xfrm>
          </p:grpSpPr>
          <p:sp>
            <p:nvSpPr>
              <p:cNvPr id="601" name="Google Shape;601;p32"/>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02" name="Google Shape;602;p32"/>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03" name="Google Shape;603;p32"/>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04" name="Google Shape;604;p32"/>
            <p:cNvGrpSpPr/>
            <p:nvPr/>
          </p:nvGrpSpPr>
          <p:grpSpPr>
            <a:xfrm>
              <a:off x="144" y="144"/>
              <a:ext cx="432" cy="336"/>
              <a:chOff x="144" y="144"/>
              <a:chExt cx="432" cy="336"/>
            </a:xfrm>
          </p:grpSpPr>
          <p:grpSp>
            <p:nvGrpSpPr>
              <p:cNvPr id="605" name="Google Shape;605;p32"/>
              <p:cNvGrpSpPr/>
              <p:nvPr/>
            </p:nvGrpSpPr>
            <p:grpSpPr>
              <a:xfrm>
                <a:off x="144" y="256"/>
                <a:ext cx="432" cy="112"/>
                <a:chOff x="288" y="256"/>
                <a:chExt cx="432" cy="112"/>
              </a:xfrm>
            </p:grpSpPr>
            <p:sp>
              <p:nvSpPr>
                <p:cNvPr id="606" name="Google Shape;606;p32"/>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07" name="Google Shape;607;p32"/>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08" name="Google Shape;608;p32"/>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09" name="Google Shape;609;p32"/>
              <p:cNvGrpSpPr/>
              <p:nvPr/>
            </p:nvGrpSpPr>
            <p:grpSpPr>
              <a:xfrm>
                <a:off x="144" y="144"/>
                <a:ext cx="432" cy="336"/>
                <a:chOff x="144" y="144"/>
                <a:chExt cx="432" cy="336"/>
              </a:xfrm>
            </p:grpSpPr>
            <p:grpSp>
              <p:nvGrpSpPr>
                <p:cNvPr id="610" name="Google Shape;610;p32"/>
                <p:cNvGrpSpPr/>
                <p:nvPr/>
              </p:nvGrpSpPr>
              <p:grpSpPr>
                <a:xfrm>
                  <a:off x="144" y="144"/>
                  <a:ext cx="432" cy="112"/>
                  <a:chOff x="288" y="256"/>
                  <a:chExt cx="432" cy="112"/>
                </a:xfrm>
              </p:grpSpPr>
              <p:sp>
                <p:nvSpPr>
                  <p:cNvPr id="611" name="Google Shape;611;p32"/>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12" name="Google Shape;612;p32"/>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13" name="Google Shape;613;p32"/>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14" name="Google Shape;614;p32"/>
                <p:cNvGrpSpPr/>
                <p:nvPr/>
              </p:nvGrpSpPr>
              <p:grpSpPr>
                <a:xfrm>
                  <a:off x="144" y="368"/>
                  <a:ext cx="432" cy="112"/>
                  <a:chOff x="288" y="256"/>
                  <a:chExt cx="432" cy="112"/>
                </a:xfrm>
              </p:grpSpPr>
              <p:sp>
                <p:nvSpPr>
                  <p:cNvPr id="615" name="Google Shape;615;p32"/>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16" name="Google Shape;616;p32"/>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17" name="Google Shape;617;p32"/>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618" name="Google Shape;618;p32"/>
          <p:cNvPicPr preferRelativeResize="0"/>
          <p:nvPr/>
        </p:nvPicPr>
        <p:blipFill rotWithShape="1">
          <a:blip r:embed="rId3">
            <a:alphaModFix/>
          </a:blip>
          <a:srcRect b="0" l="0" r="0" t="0"/>
          <a:stretch/>
        </p:blipFill>
        <p:spPr>
          <a:xfrm>
            <a:off x="2274887" y="838200"/>
            <a:ext cx="4735512" cy="553878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33"/>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625" name="Google Shape;625;p3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626" name="Google Shape;626;p33"/>
          <p:cNvGrpSpPr/>
          <p:nvPr/>
        </p:nvGrpSpPr>
        <p:grpSpPr>
          <a:xfrm>
            <a:off x="228600" y="228600"/>
            <a:ext cx="8458200" cy="5791200"/>
            <a:chOff x="144" y="144"/>
            <a:chExt cx="5328" cy="3648"/>
          </a:xfrm>
        </p:grpSpPr>
        <p:grpSp>
          <p:nvGrpSpPr>
            <p:cNvPr id="627" name="Google Shape;627;p33"/>
            <p:cNvGrpSpPr/>
            <p:nvPr/>
          </p:nvGrpSpPr>
          <p:grpSpPr>
            <a:xfrm>
              <a:off x="144" y="144"/>
              <a:ext cx="432" cy="3648"/>
              <a:chOff x="48" y="48"/>
              <a:chExt cx="576" cy="3984"/>
            </a:xfrm>
          </p:grpSpPr>
          <p:sp>
            <p:nvSpPr>
              <p:cNvPr id="628" name="Google Shape;628;p33"/>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29" name="Google Shape;629;p33"/>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30" name="Google Shape;630;p33"/>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31" name="Google Shape;631;p33"/>
            <p:cNvGrpSpPr/>
            <p:nvPr/>
          </p:nvGrpSpPr>
          <p:grpSpPr>
            <a:xfrm>
              <a:off x="144" y="144"/>
              <a:ext cx="5328" cy="336"/>
              <a:chOff x="0" y="144"/>
              <a:chExt cx="5760" cy="432"/>
            </a:xfrm>
          </p:grpSpPr>
          <p:sp>
            <p:nvSpPr>
              <p:cNvPr id="632" name="Google Shape;632;p33"/>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33" name="Google Shape;633;p33"/>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34" name="Google Shape;634;p33"/>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35" name="Google Shape;635;p33"/>
            <p:cNvGrpSpPr/>
            <p:nvPr/>
          </p:nvGrpSpPr>
          <p:grpSpPr>
            <a:xfrm>
              <a:off x="144" y="144"/>
              <a:ext cx="432" cy="336"/>
              <a:chOff x="144" y="144"/>
              <a:chExt cx="432" cy="336"/>
            </a:xfrm>
          </p:grpSpPr>
          <p:grpSp>
            <p:nvGrpSpPr>
              <p:cNvPr id="636" name="Google Shape;636;p33"/>
              <p:cNvGrpSpPr/>
              <p:nvPr/>
            </p:nvGrpSpPr>
            <p:grpSpPr>
              <a:xfrm>
                <a:off x="144" y="256"/>
                <a:ext cx="432" cy="112"/>
                <a:chOff x="288" y="256"/>
                <a:chExt cx="432" cy="112"/>
              </a:xfrm>
            </p:grpSpPr>
            <p:sp>
              <p:nvSpPr>
                <p:cNvPr id="637" name="Google Shape;637;p33"/>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38" name="Google Shape;638;p33"/>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39" name="Google Shape;639;p33"/>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40" name="Google Shape;640;p33"/>
              <p:cNvGrpSpPr/>
              <p:nvPr/>
            </p:nvGrpSpPr>
            <p:grpSpPr>
              <a:xfrm>
                <a:off x="144" y="144"/>
                <a:ext cx="432" cy="336"/>
                <a:chOff x="144" y="144"/>
                <a:chExt cx="432" cy="336"/>
              </a:xfrm>
            </p:grpSpPr>
            <p:grpSp>
              <p:nvGrpSpPr>
                <p:cNvPr id="641" name="Google Shape;641;p33"/>
                <p:cNvGrpSpPr/>
                <p:nvPr/>
              </p:nvGrpSpPr>
              <p:grpSpPr>
                <a:xfrm>
                  <a:off x="144" y="144"/>
                  <a:ext cx="432" cy="112"/>
                  <a:chOff x="288" y="256"/>
                  <a:chExt cx="432" cy="112"/>
                </a:xfrm>
              </p:grpSpPr>
              <p:sp>
                <p:nvSpPr>
                  <p:cNvPr id="642" name="Google Shape;642;p33"/>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43" name="Google Shape;643;p33"/>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44" name="Google Shape;644;p33"/>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45" name="Google Shape;645;p33"/>
                <p:cNvGrpSpPr/>
                <p:nvPr/>
              </p:nvGrpSpPr>
              <p:grpSpPr>
                <a:xfrm>
                  <a:off x="144" y="368"/>
                  <a:ext cx="432" cy="112"/>
                  <a:chOff x="288" y="256"/>
                  <a:chExt cx="432" cy="112"/>
                </a:xfrm>
              </p:grpSpPr>
              <p:sp>
                <p:nvSpPr>
                  <p:cNvPr id="646" name="Google Shape;646;p33"/>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47" name="Google Shape;647;p33"/>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48" name="Google Shape;648;p33"/>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649" name="Google Shape;649;p33"/>
          <p:cNvPicPr preferRelativeResize="0"/>
          <p:nvPr/>
        </p:nvPicPr>
        <p:blipFill rotWithShape="1">
          <a:blip r:embed="rId3">
            <a:alphaModFix/>
          </a:blip>
          <a:srcRect b="0" l="0" r="0" t="0"/>
          <a:stretch/>
        </p:blipFill>
        <p:spPr>
          <a:xfrm>
            <a:off x="2082800" y="838200"/>
            <a:ext cx="5156200" cy="549116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4"/>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656" name="Google Shape;656;p34"/>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657" name="Google Shape;657;p34"/>
          <p:cNvGrpSpPr/>
          <p:nvPr/>
        </p:nvGrpSpPr>
        <p:grpSpPr>
          <a:xfrm>
            <a:off x="228600" y="228600"/>
            <a:ext cx="8458200" cy="5791200"/>
            <a:chOff x="144" y="144"/>
            <a:chExt cx="5328" cy="3648"/>
          </a:xfrm>
        </p:grpSpPr>
        <p:grpSp>
          <p:nvGrpSpPr>
            <p:cNvPr id="658" name="Google Shape;658;p34"/>
            <p:cNvGrpSpPr/>
            <p:nvPr/>
          </p:nvGrpSpPr>
          <p:grpSpPr>
            <a:xfrm>
              <a:off x="144" y="144"/>
              <a:ext cx="432" cy="3648"/>
              <a:chOff x="48" y="48"/>
              <a:chExt cx="576" cy="3984"/>
            </a:xfrm>
          </p:grpSpPr>
          <p:sp>
            <p:nvSpPr>
              <p:cNvPr id="659" name="Google Shape;659;p34"/>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60" name="Google Shape;660;p34"/>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61" name="Google Shape;661;p34"/>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62" name="Google Shape;662;p34"/>
            <p:cNvGrpSpPr/>
            <p:nvPr/>
          </p:nvGrpSpPr>
          <p:grpSpPr>
            <a:xfrm>
              <a:off x="144" y="144"/>
              <a:ext cx="5328" cy="336"/>
              <a:chOff x="0" y="144"/>
              <a:chExt cx="5760" cy="432"/>
            </a:xfrm>
          </p:grpSpPr>
          <p:sp>
            <p:nvSpPr>
              <p:cNvPr id="663" name="Google Shape;663;p34"/>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64" name="Google Shape;664;p34"/>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65" name="Google Shape;665;p34"/>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66" name="Google Shape;666;p34"/>
            <p:cNvGrpSpPr/>
            <p:nvPr/>
          </p:nvGrpSpPr>
          <p:grpSpPr>
            <a:xfrm>
              <a:off x="144" y="144"/>
              <a:ext cx="432" cy="336"/>
              <a:chOff x="144" y="144"/>
              <a:chExt cx="432" cy="336"/>
            </a:xfrm>
          </p:grpSpPr>
          <p:grpSp>
            <p:nvGrpSpPr>
              <p:cNvPr id="667" name="Google Shape;667;p34"/>
              <p:cNvGrpSpPr/>
              <p:nvPr/>
            </p:nvGrpSpPr>
            <p:grpSpPr>
              <a:xfrm>
                <a:off x="144" y="256"/>
                <a:ext cx="432" cy="112"/>
                <a:chOff x="288" y="256"/>
                <a:chExt cx="432" cy="112"/>
              </a:xfrm>
            </p:grpSpPr>
            <p:sp>
              <p:nvSpPr>
                <p:cNvPr id="668" name="Google Shape;668;p34"/>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69" name="Google Shape;669;p34"/>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70" name="Google Shape;670;p34"/>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71" name="Google Shape;671;p34"/>
              <p:cNvGrpSpPr/>
              <p:nvPr/>
            </p:nvGrpSpPr>
            <p:grpSpPr>
              <a:xfrm>
                <a:off x="144" y="144"/>
                <a:ext cx="432" cy="336"/>
                <a:chOff x="144" y="144"/>
                <a:chExt cx="432" cy="336"/>
              </a:xfrm>
            </p:grpSpPr>
            <p:grpSp>
              <p:nvGrpSpPr>
                <p:cNvPr id="672" name="Google Shape;672;p34"/>
                <p:cNvGrpSpPr/>
                <p:nvPr/>
              </p:nvGrpSpPr>
              <p:grpSpPr>
                <a:xfrm>
                  <a:off x="144" y="144"/>
                  <a:ext cx="432" cy="112"/>
                  <a:chOff x="288" y="256"/>
                  <a:chExt cx="432" cy="112"/>
                </a:xfrm>
              </p:grpSpPr>
              <p:sp>
                <p:nvSpPr>
                  <p:cNvPr id="673" name="Google Shape;673;p34"/>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74" name="Google Shape;674;p34"/>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75" name="Google Shape;675;p34"/>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76" name="Google Shape;676;p34"/>
                <p:cNvGrpSpPr/>
                <p:nvPr/>
              </p:nvGrpSpPr>
              <p:grpSpPr>
                <a:xfrm>
                  <a:off x="144" y="368"/>
                  <a:ext cx="432" cy="112"/>
                  <a:chOff x="288" y="256"/>
                  <a:chExt cx="432" cy="112"/>
                </a:xfrm>
              </p:grpSpPr>
              <p:sp>
                <p:nvSpPr>
                  <p:cNvPr id="677" name="Google Shape;677;p34"/>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78" name="Google Shape;678;p34"/>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79" name="Google Shape;679;p34"/>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680" name="Google Shape;680;p34"/>
          <p:cNvPicPr preferRelativeResize="0"/>
          <p:nvPr/>
        </p:nvPicPr>
        <p:blipFill rotWithShape="1">
          <a:blip r:embed="rId3">
            <a:alphaModFix/>
          </a:blip>
          <a:srcRect b="0" l="0" r="0" t="0"/>
          <a:stretch/>
        </p:blipFill>
        <p:spPr>
          <a:xfrm>
            <a:off x="2257425" y="1600200"/>
            <a:ext cx="5210175" cy="245903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35"/>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687" name="Google Shape;687;p35"/>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688" name="Google Shape;688;p35"/>
          <p:cNvGrpSpPr/>
          <p:nvPr/>
        </p:nvGrpSpPr>
        <p:grpSpPr>
          <a:xfrm>
            <a:off x="228600" y="228600"/>
            <a:ext cx="8458200" cy="5791200"/>
            <a:chOff x="144" y="144"/>
            <a:chExt cx="5328" cy="3648"/>
          </a:xfrm>
        </p:grpSpPr>
        <p:grpSp>
          <p:nvGrpSpPr>
            <p:cNvPr id="689" name="Google Shape;689;p35"/>
            <p:cNvGrpSpPr/>
            <p:nvPr/>
          </p:nvGrpSpPr>
          <p:grpSpPr>
            <a:xfrm>
              <a:off x="144" y="144"/>
              <a:ext cx="432" cy="3648"/>
              <a:chOff x="48" y="48"/>
              <a:chExt cx="576" cy="3984"/>
            </a:xfrm>
          </p:grpSpPr>
          <p:sp>
            <p:nvSpPr>
              <p:cNvPr id="690" name="Google Shape;690;p35"/>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91" name="Google Shape;691;p35"/>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92" name="Google Shape;692;p35"/>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93" name="Google Shape;693;p35"/>
            <p:cNvGrpSpPr/>
            <p:nvPr/>
          </p:nvGrpSpPr>
          <p:grpSpPr>
            <a:xfrm>
              <a:off x="144" y="144"/>
              <a:ext cx="5328" cy="336"/>
              <a:chOff x="0" y="144"/>
              <a:chExt cx="5760" cy="432"/>
            </a:xfrm>
          </p:grpSpPr>
          <p:sp>
            <p:nvSpPr>
              <p:cNvPr id="694" name="Google Shape;694;p35"/>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95" name="Google Shape;695;p35"/>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696" name="Google Shape;696;p35"/>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697" name="Google Shape;697;p35"/>
            <p:cNvGrpSpPr/>
            <p:nvPr/>
          </p:nvGrpSpPr>
          <p:grpSpPr>
            <a:xfrm>
              <a:off x="144" y="144"/>
              <a:ext cx="432" cy="336"/>
              <a:chOff x="144" y="144"/>
              <a:chExt cx="432" cy="336"/>
            </a:xfrm>
          </p:grpSpPr>
          <p:grpSp>
            <p:nvGrpSpPr>
              <p:cNvPr id="698" name="Google Shape;698;p35"/>
              <p:cNvGrpSpPr/>
              <p:nvPr/>
            </p:nvGrpSpPr>
            <p:grpSpPr>
              <a:xfrm>
                <a:off x="144" y="256"/>
                <a:ext cx="432" cy="112"/>
                <a:chOff x="288" y="256"/>
                <a:chExt cx="432" cy="112"/>
              </a:xfrm>
            </p:grpSpPr>
            <p:sp>
              <p:nvSpPr>
                <p:cNvPr id="699" name="Google Shape;699;p35"/>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0" name="Google Shape;700;p35"/>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1" name="Google Shape;701;p35"/>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02" name="Google Shape;702;p35"/>
              <p:cNvGrpSpPr/>
              <p:nvPr/>
            </p:nvGrpSpPr>
            <p:grpSpPr>
              <a:xfrm>
                <a:off x="144" y="144"/>
                <a:ext cx="432" cy="336"/>
                <a:chOff x="144" y="144"/>
                <a:chExt cx="432" cy="336"/>
              </a:xfrm>
            </p:grpSpPr>
            <p:grpSp>
              <p:nvGrpSpPr>
                <p:cNvPr id="703" name="Google Shape;703;p35"/>
                <p:cNvGrpSpPr/>
                <p:nvPr/>
              </p:nvGrpSpPr>
              <p:grpSpPr>
                <a:xfrm>
                  <a:off x="144" y="144"/>
                  <a:ext cx="432" cy="112"/>
                  <a:chOff x="288" y="256"/>
                  <a:chExt cx="432" cy="112"/>
                </a:xfrm>
              </p:grpSpPr>
              <p:sp>
                <p:nvSpPr>
                  <p:cNvPr id="704" name="Google Shape;704;p35"/>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5" name="Google Shape;705;p35"/>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6" name="Google Shape;706;p35"/>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07" name="Google Shape;707;p35"/>
                <p:cNvGrpSpPr/>
                <p:nvPr/>
              </p:nvGrpSpPr>
              <p:grpSpPr>
                <a:xfrm>
                  <a:off x="144" y="368"/>
                  <a:ext cx="432" cy="112"/>
                  <a:chOff x="288" y="256"/>
                  <a:chExt cx="432" cy="112"/>
                </a:xfrm>
              </p:grpSpPr>
              <p:sp>
                <p:nvSpPr>
                  <p:cNvPr id="708" name="Google Shape;708;p35"/>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09" name="Google Shape;709;p35"/>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10" name="Google Shape;710;p35"/>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711" name="Google Shape;711;p35"/>
          <p:cNvPicPr preferRelativeResize="0"/>
          <p:nvPr/>
        </p:nvPicPr>
        <p:blipFill rotWithShape="1">
          <a:blip r:embed="rId3">
            <a:alphaModFix/>
          </a:blip>
          <a:srcRect b="0" l="0" r="0" t="0"/>
          <a:stretch/>
        </p:blipFill>
        <p:spPr>
          <a:xfrm>
            <a:off x="2122487" y="1066800"/>
            <a:ext cx="5192712" cy="481171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36"/>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18" name="Google Shape;718;p36"/>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719" name="Google Shape;719;p36"/>
          <p:cNvGrpSpPr/>
          <p:nvPr/>
        </p:nvGrpSpPr>
        <p:grpSpPr>
          <a:xfrm>
            <a:off x="228600" y="228600"/>
            <a:ext cx="8458200" cy="5791200"/>
            <a:chOff x="144" y="144"/>
            <a:chExt cx="5328" cy="3648"/>
          </a:xfrm>
        </p:grpSpPr>
        <p:grpSp>
          <p:nvGrpSpPr>
            <p:cNvPr id="720" name="Google Shape;720;p36"/>
            <p:cNvGrpSpPr/>
            <p:nvPr/>
          </p:nvGrpSpPr>
          <p:grpSpPr>
            <a:xfrm>
              <a:off x="144" y="144"/>
              <a:ext cx="432" cy="3648"/>
              <a:chOff x="48" y="48"/>
              <a:chExt cx="576" cy="3984"/>
            </a:xfrm>
          </p:grpSpPr>
          <p:sp>
            <p:nvSpPr>
              <p:cNvPr id="721" name="Google Shape;721;p36"/>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2" name="Google Shape;722;p36"/>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3" name="Google Shape;723;p36"/>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24" name="Google Shape;724;p36"/>
            <p:cNvGrpSpPr/>
            <p:nvPr/>
          </p:nvGrpSpPr>
          <p:grpSpPr>
            <a:xfrm>
              <a:off x="144" y="144"/>
              <a:ext cx="5328" cy="336"/>
              <a:chOff x="0" y="144"/>
              <a:chExt cx="5760" cy="432"/>
            </a:xfrm>
          </p:grpSpPr>
          <p:sp>
            <p:nvSpPr>
              <p:cNvPr id="725" name="Google Shape;725;p36"/>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6" name="Google Shape;726;p36"/>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27" name="Google Shape;727;p36"/>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28" name="Google Shape;728;p36"/>
            <p:cNvGrpSpPr/>
            <p:nvPr/>
          </p:nvGrpSpPr>
          <p:grpSpPr>
            <a:xfrm>
              <a:off x="144" y="144"/>
              <a:ext cx="432" cy="336"/>
              <a:chOff x="144" y="144"/>
              <a:chExt cx="432" cy="336"/>
            </a:xfrm>
          </p:grpSpPr>
          <p:grpSp>
            <p:nvGrpSpPr>
              <p:cNvPr id="729" name="Google Shape;729;p36"/>
              <p:cNvGrpSpPr/>
              <p:nvPr/>
            </p:nvGrpSpPr>
            <p:grpSpPr>
              <a:xfrm>
                <a:off x="144" y="256"/>
                <a:ext cx="432" cy="112"/>
                <a:chOff x="288" y="256"/>
                <a:chExt cx="432" cy="112"/>
              </a:xfrm>
            </p:grpSpPr>
            <p:sp>
              <p:nvSpPr>
                <p:cNvPr id="730" name="Google Shape;730;p36"/>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31" name="Google Shape;731;p36"/>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32" name="Google Shape;732;p36"/>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33" name="Google Shape;733;p36"/>
              <p:cNvGrpSpPr/>
              <p:nvPr/>
            </p:nvGrpSpPr>
            <p:grpSpPr>
              <a:xfrm>
                <a:off x="144" y="144"/>
                <a:ext cx="432" cy="336"/>
                <a:chOff x="144" y="144"/>
                <a:chExt cx="432" cy="336"/>
              </a:xfrm>
            </p:grpSpPr>
            <p:grpSp>
              <p:nvGrpSpPr>
                <p:cNvPr id="734" name="Google Shape;734;p36"/>
                <p:cNvGrpSpPr/>
                <p:nvPr/>
              </p:nvGrpSpPr>
              <p:grpSpPr>
                <a:xfrm>
                  <a:off x="144" y="144"/>
                  <a:ext cx="432" cy="112"/>
                  <a:chOff x="288" y="256"/>
                  <a:chExt cx="432" cy="112"/>
                </a:xfrm>
              </p:grpSpPr>
              <p:sp>
                <p:nvSpPr>
                  <p:cNvPr id="735" name="Google Shape;735;p36"/>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36" name="Google Shape;736;p36"/>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37" name="Google Shape;737;p36"/>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38" name="Google Shape;738;p36"/>
                <p:cNvGrpSpPr/>
                <p:nvPr/>
              </p:nvGrpSpPr>
              <p:grpSpPr>
                <a:xfrm>
                  <a:off x="144" y="368"/>
                  <a:ext cx="432" cy="112"/>
                  <a:chOff x="288" y="256"/>
                  <a:chExt cx="432" cy="112"/>
                </a:xfrm>
              </p:grpSpPr>
              <p:sp>
                <p:nvSpPr>
                  <p:cNvPr id="739" name="Google Shape;739;p36"/>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40" name="Google Shape;740;p36"/>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41" name="Google Shape;741;p36"/>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742" name="Google Shape;742;p36"/>
          <p:cNvPicPr preferRelativeResize="0"/>
          <p:nvPr/>
        </p:nvPicPr>
        <p:blipFill rotWithShape="1">
          <a:blip r:embed="rId3">
            <a:alphaModFix/>
          </a:blip>
          <a:srcRect b="0" l="0" r="0" t="0"/>
          <a:stretch/>
        </p:blipFill>
        <p:spPr>
          <a:xfrm>
            <a:off x="1143000" y="1905000"/>
            <a:ext cx="7732712" cy="30257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37"/>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49" name="Google Shape;749;p37"/>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750" name="Google Shape;750;p37"/>
          <p:cNvSpPr txBox="1"/>
          <p:nvPr/>
        </p:nvSpPr>
        <p:spPr>
          <a:xfrm>
            <a:off x="76200" y="696912"/>
            <a:ext cx="8839200" cy="26479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The ARP output module receives an IP datagram (from the IP layer) with the destination address 114.5.7.89. It checks the cache table and finds that an entry exists for this destination with the RESOLVED state (R in the table). It extracts the hardware address, which is 457342ACAE32, and sends the packet and the address to the data link layer for transmission. The cache table remains the same.</a:t>
            </a:r>
            <a:endParaRPr/>
          </a:p>
        </p:txBody>
      </p:sp>
      <p:grpSp>
        <p:nvGrpSpPr>
          <p:cNvPr id="751" name="Google Shape;751;p37"/>
          <p:cNvGrpSpPr/>
          <p:nvPr/>
        </p:nvGrpSpPr>
        <p:grpSpPr>
          <a:xfrm>
            <a:off x="0" y="0"/>
            <a:ext cx="9144000" cy="609600"/>
            <a:chOff x="0" y="2448"/>
            <a:chExt cx="5760" cy="384"/>
          </a:xfrm>
        </p:grpSpPr>
        <p:sp>
          <p:nvSpPr>
            <p:cNvPr id="752" name="Google Shape;752;p37"/>
            <p:cNvSpPr txBox="1"/>
            <p:nvPr/>
          </p:nvSpPr>
          <p:spPr>
            <a:xfrm>
              <a:off x="0" y="2448"/>
              <a:ext cx="5760" cy="384"/>
            </a:xfrm>
            <a:prstGeom prst="rect">
              <a:avLst/>
            </a:prstGeom>
            <a:solidFill>
              <a:srgbClr val="2CB843"/>
            </a:solidFill>
            <a:ln cap="flat" cmpd="sng" w="952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53" name="Google Shape;753;p37"/>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8.2</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38"/>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60" name="Google Shape;760;p38"/>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761" name="Google Shape;761;p38"/>
          <p:cNvSpPr txBox="1"/>
          <p:nvPr/>
        </p:nvSpPr>
        <p:spPr>
          <a:xfrm>
            <a:off x="76200" y="696912"/>
            <a:ext cx="8839200" cy="337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Twenty seconds later, the ARP output module receives an IP datagram (from the IP layer) with the destination address 116.1.7.22. It checks the cache table and does not find this destination in the table. The module adds an entry to the table with the state PENDING and the Attempt value 1. It creates a new queue for this destination and enqueues the packet. It then sends an ARP request to the data link layer for this destination. The new cache table is shown in Table 8.6.</a:t>
            </a:r>
            <a:endParaRPr/>
          </a:p>
        </p:txBody>
      </p:sp>
      <p:grpSp>
        <p:nvGrpSpPr>
          <p:cNvPr id="762" name="Google Shape;762;p38"/>
          <p:cNvGrpSpPr/>
          <p:nvPr/>
        </p:nvGrpSpPr>
        <p:grpSpPr>
          <a:xfrm>
            <a:off x="0" y="0"/>
            <a:ext cx="9144000" cy="609600"/>
            <a:chOff x="0" y="2448"/>
            <a:chExt cx="5760" cy="384"/>
          </a:xfrm>
        </p:grpSpPr>
        <p:sp>
          <p:nvSpPr>
            <p:cNvPr id="763" name="Google Shape;763;p38"/>
            <p:cNvSpPr txBox="1"/>
            <p:nvPr/>
          </p:nvSpPr>
          <p:spPr>
            <a:xfrm>
              <a:off x="0" y="2448"/>
              <a:ext cx="5760" cy="384"/>
            </a:xfrm>
            <a:prstGeom prst="rect">
              <a:avLst/>
            </a:prstGeom>
            <a:solidFill>
              <a:srgbClr val="2CB843"/>
            </a:solidFill>
            <a:ln cap="flat" cmpd="sng" w="952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64" name="Google Shape;764;p38"/>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8.3</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39"/>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771" name="Google Shape;771;p39"/>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772" name="Google Shape;772;p39"/>
          <p:cNvGrpSpPr/>
          <p:nvPr/>
        </p:nvGrpSpPr>
        <p:grpSpPr>
          <a:xfrm>
            <a:off x="228600" y="228600"/>
            <a:ext cx="8458200" cy="5791200"/>
            <a:chOff x="144" y="144"/>
            <a:chExt cx="5328" cy="3648"/>
          </a:xfrm>
        </p:grpSpPr>
        <p:grpSp>
          <p:nvGrpSpPr>
            <p:cNvPr id="773" name="Google Shape;773;p39"/>
            <p:cNvGrpSpPr/>
            <p:nvPr/>
          </p:nvGrpSpPr>
          <p:grpSpPr>
            <a:xfrm>
              <a:off x="144" y="144"/>
              <a:ext cx="432" cy="3648"/>
              <a:chOff x="48" y="48"/>
              <a:chExt cx="576" cy="3984"/>
            </a:xfrm>
          </p:grpSpPr>
          <p:sp>
            <p:nvSpPr>
              <p:cNvPr id="774" name="Google Shape;774;p39"/>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75" name="Google Shape;775;p39"/>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76" name="Google Shape;776;p39"/>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77" name="Google Shape;777;p39"/>
            <p:cNvGrpSpPr/>
            <p:nvPr/>
          </p:nvGrpSpPr>
          <p:grpSpPr>
            <a:xfrm>
              <a:off x="144" y="144"/>
              <a:ext cx="5328" cy="336"/>
              <a:chOff x="0" y="144"/>
              <a:chExt cx="5760" cy="432"/>
            </a:xfrm>
          </p:grpSpPr>
          <p:sp>
            <p:nvSpPr>
              <p:cNvPr id="778" name="Google Shape;778;p39"/>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79" name="Google Shape;779;p39"/>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0" name="Google Shape;780;p39"/>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81" name="Google Shape;781;p39"/>
            <p:cNvGrpSpPr/>
            <p:nvPr/>
          </p:nvGrpSpPr>
          <p:grpSpPr>
            <a:xfrm>
              <a:off x="144" y="144"/>
              <a:ext cx="432" cy="336"/>
              <a:chOff x="144" y="144"/>
              <a:chExt cx="432" cy="336"/>
            </a:xfrm>
          </p:grpSpPr>
          <p:grpSp>
            <p:nvGrpSpPr>
              <p:cNvPr id="782" name="Google Shape;782;p39"/>
              <p:cNvGrpSpPr/>
              <p:nvPr/>
            </p:nvGrpSpPr>
            <p:grpSpPr>
              <a:xfrm>
                <a:off x="144" y="256"/>
                <a:ext cx="432" cy="112"/>
                <a:chOff x="288" y="256"/>
                <a:chExt cx="432" cy="112"/>
              </a:xfrm>
            </p:grpSpPr>
            <p:sp>
              <p:nvSpPr>
                <p:cNvPr id="783" name="Google Shape;783;p39"/>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4" name="Google Shape;784;p39"/>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5" name="Google Shape;785;p39"/>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86" name="Google Shape;786;p39"/>
              <p:cNvGrpSpPr/>
              <p:nvPr/>
            </p:nvGrpSpPr>
            <p:grpSpPr>
              <a:xfrm>
                <a:off x="144" y="144"/>
                <a:ext cx="432" cy="336"/>
                <a:chOff x="144" y="144"/>
                <a:chExt cx="432" cy="336"/>
              </a:xfrm>
            </p:grpSpPr>
            <p:grpSp>
              <p:nvGrpSpPr>
                <p:cNvPr id="787" name="Google Shape;787;p39"/>
                <p:cNvGrpSpPr/>
                <p:nvPr/>
              </p:nvGrpSpPr>
              <p:grpSpPr>
                <a:xfrm>
                  <a:off x="144" y="144"/>
                  <a:ext cx="432" cy="112"/>
                  <a:chOff x="288" y="256"/>
                  <a:chExt cx="432" cy="112"/>
                </a:xfrm>
              </p:grpSpPr>
              <p:sp>
                <p:nvSpPr>
                  <p:cNvPr id="788" name="Google Shape;788;p39"/>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89" name="Google Shape;789;p39"/>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90" name="Google Shape;790;p39"/>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791" name="Google Shape;791;p39"/>
                <p:cNvGrpSpPr/>
                <p:nvPr/>
              </p:nvGrpSpPr>
              <p:grpSpPr>
                <a:xfrm>
                  <a:off x="144" y="368"/>
                  <a:ext cx="432" cy="112"/>
                  <a:chOff x="288" y="256"/>
                  <a:chExt cx="432" cy="112"/>
                </a:xfrm>
              </p:grpSpPr>
              <p:sp>
                <p:nvSpPr>
                  <p:cNvPr id="792" name="Google Shape;792;p39"/>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93" name="Google Shape;793;p39"/>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794" name="Google Shape;794;p39"/>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795" name="Google Shape;795;p39"/>
          <p:cNvPicPr preferRelativeResize="0"/>
          <p:nvPr/>
        </p:nvPicPr>
        <p:blipFill rotWithShape="1">
          <a:blip r:embed="rId3">
            <a:alphaModFix/>
          </a:blip>
          <a:srcRect b="0" l="0" r="0" t="0"/>
          <a:stretch/>
        </p:blipFill>
        <p:spPr>
          <a:xfrm>
            <a:off x="1166812" y="1897062"/>
            <a:ext cx="7596187" cy="290353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40"/>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02" name="Google Shape;802;p40"/>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803" name="Google Shape;803;p40"/>
          <p:cNvSpPr txBox="1"/>
          <p:nvPr/>
        </p:nvSpPr>
        <p:spPr>
          <a:xfrm>
            <a:off x="76200" y="696912"/>
            <a:ext cx="8839200" cy="3378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Fifteen seconds later, the ARP input module receives an ARP packet with target protocol (IP) address 188.11.8.71. The module checks the table and finds this address. It changes the state of the entry to RESOLVED and sets the time-out value to 900. The module then adds the target hardware address (E34573242ACA) to the entry. Now it accesses queue 18 and sends all the packets in this queue, one by one, to the data link layer. The new cache table is shown in Table 8.7.</a:t>
            </a:r>
            <a:endParaRPr/>
          </a:p>
        </p:txBody>
      </p:sp>
      <p:grpSp>
        <p:nvGrpSpPr>
          <p:cNvPr id="804" name="Google Shape;804;p40"/>
          <p:cNvGrpSpPr/>
          <p:nvPr/>
        </p:nvGrpSpPr>
        <p:grpSpPr>
          <a:xfrm>
            <a:off x="0" y="0"/>
            <a:ext cx="9144000" cy="609600"/>
            <a:chOff x="0" y="2448"/>
            <a:chExt cx="5760" cy="384"/>
          </a:xfrm>
        </p:grpSpPr>
        <p:sp>
          <p:nvSpPr>
            <p:cNvPr id="805" name="Google Shape;805;p40"/>
            <p:cNvSpPr txBox="1"/>
            <p:nvPr/>
          </p:nvSpPr>
          <p:spPr>
            <a:xfrm>
              <a:off x="0" y="2448"/>
              <a:ext cx="5760" cy="384"/>
            </a:xfrm>
            <a:prstGeom prst="rect">
              <a:avLst/>
            </a:prstGeom>
            <a:solidFill>
              <a:srgbClr val="2CB843"/>
            </a:solidFill>
            <a:ln cap="flat" cmpd="sng" w="952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06" name="Google Shape;806;p40"/>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8.4</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41"/>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13" name="Google Shape;813;p41"/>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814" name="Google Shape;814;p41"/>
          <p:cNvGrpSpPr/>
          <p:nvPr/>
        </p:nvGrpSpPr>
        <p:grpSpPr>
          <a:xfrm>
            <a:off x="228600" y="228600"/>
            <a:ext cx="8458200" cy="5791200"/>
            <a:chOff x="144" y="144"/>
            <a:chExt cx="5328" cy="3648"/>
          </a:xfrm>
        </p:grpSpPr>
        <p:grpSp>
          <p:nvGrpSpPr>
            <p:cNvPr id="815" name="Google Shape;815;p41"/>
            <p:cNvGrpSpPr/>
            <p:nvPr/>
          </p:nvGrpSpPr>
          <p:grpSpPr>
            <a:xfrm>
              <a:off x="144" y="144"/>
              <a:ext cx="432" cy="3648"/>
              <a:chOff x="48" y="48"/>
              <a:chExt cx="576" cy="3984"/>
            </a:xfrm>
          </p:grpSpPr>
          <p:sp>
            <p:nvSpPr>
              <p:cNvPr id="816" name="Google Shape;816;p41"/>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17" name="Google Shape;817;p41"/>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18" name="Google Shape;818;p41"/>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19" name="Google Shape;819;p41"/>
            <p:cNvGrpSpPr/>
            <p:nvPr/>
          </p:nvGrpSpPr>
          <p:grpSpPr>
            <a:xfrm>
              <a:off x="144" y="144"/>
              <a:ext cx="5328" cy="336"/>
              <a:chOff x="0" y="144"/>
              <a:chExt cx="5760" cy="432"/>
            </a:xfrm>
          </p:grpSpPr>
          <p:sp>
            <p:nvSpPr>
              <p:cNvPr id="820" name="Google Shape;820;p41"/>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1" name="Google Shape;821;p41"/>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2" name="Google Shape;822;p41"/>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23" name="Google Shape;823;p41"/>
            <p:cNvGrpSpPr/>
            <p:nvPr/>
          </p:nvGrpSpPr>
          <p:grpSpPr>
            <a:xfrm>
              <a:off x="144" y="144"/>
              <a:ext cx="432" cy="336"/>
              <a:chOff x="144" y="144"/>
              <a:chExt cx="432" cy="336"/>
            </a:xfrm>
          </p:grpSpPr>
          <p:grpSp>
            <p:nvGrpSpPr>
              <p:cNvPr id="824" name="Google Shape;824;p41"/>
              <p:cNvGrpSpPr/>
              <p:nvPr/>
            </p:nvGrpSpPr>
            <p:grpSpPr>
              <a:xfrm>
                <a:off x="144" y="256"/>
                <a:ext cx="432" cy="112"/>
                <a:chOff x="288" y="256"/>
                <a:chExt cx="432" cy="112"/>
              </a:xfrm>
            </p:grpSpPr>
            <p:sp>
              <p:nvSpPr>
                <p:cNvPr id="825" name="Google Shape;825;p41"/>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6" name="Google Shape;826;p41"/>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27" name="Google Shape;827;p41"/>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28" name="Google Shape;828;p41"/>
              <p:cNvGrpSpPr/>
              <p:nvPr/>
            </p:nvGrpSpPr>
            <p:grpSpPr>
              <a:xfrm>
                <a:off x="144" y="144"/>
                <a:ext cx="432" cy="336"/>
                <a:chOff x="144" y="144"/>
                <a:chExt cx="432" cy="336"/>
              </a:xfrm>
            </p:grpSpPr>
            <p:grpSp>
              <p:nvGrpSpPr>
                <p:cNvPr id="829" name="Google Shape;829;p41"/>
                <p:cNvGrpSpPr/>
                <p:nvPr/>
              </p:nvGrpSpPr>
              <p:grpSpPr>
                <a:xfrm>
                  <a:off x="144" y="144"/>
                  <a:ext cx="432" cy="112"/>
                  <a:chOff x="288" y="256"/>
                  <a:chExt cx="432" cy="112"/>
                </a:xfrm>
              </p:grpSpPr>
              <p:sp>
                <p:nvSpPr>
                  <p:cNvPr id="830" name="Google Shape;830;p41"/>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31" name="Google Shape;831;p41"/>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32" name="Google Shape;832;p41"/>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33" name="Google Shape;833;p41"/>
                <p:cNvGrpSpPr/>
                <p:nvPr/>
              </p:nvGrpSpPr>
              <p:grpSpPr>
                <a:xfrm>
                  <a:off x="144" y="368"/>
                  <a:ext cx="432" cy="112"/>
                  <a:chOff x="288" y="256"/>
                  <a:chExt cx="432" cy="112"/>
                </a:xfrm>
              </p:grpSpPr>
              <p:sp>
                <p:nvSpPr>
                  <p:cNvPr id="834" name="Google Shape;834;p41"/>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35" name="Google Shape;835;p41"/>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36" name="Google Shape;836;p41"/>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837" name="Google Shape;837;p41"/>
          <p:cNvPicPr preferRelativeResize="0"/>
          <p:nvPr/>
        </p:nvPicPr>
        <p:blipFill rotWithShape="1">
          <a:blip r:embed="rId3">
            <a:alphaModFix/>
          </a:blip>
          <a:srcRect b="0" l="0" r="0" t="0"/>
          <a:stretch/>
        </p:blipFill>
        <p:spPr>
          <a:xfrm>
            <a:off x="1114425" y="2206625"/>
            <a:ext cx="7724775" cy="28987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42"/>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44" name="Google Shape;844;p42"/>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sp>
        <p:nvSpPr>
          <p:cNvPr id="845" name="Google Shape;845;p42"/>
          <p:cNvSpPr txBox="1"/>
          <p:nvPr/>
        </p:nvSpPr>
        <p:spPr>
          <a:xfrm>
            <a:off x="76200" y="696912"/>
            <a:ext cx="8839200" cy="4838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Twenty-five seconds later, the cache-control module updates every entry. The time-out values for the first three resolved entries are decremented by 60. The time-out value for the last resolved entry is decremented by 25. The state of the next-to-the last entry is changed to FREE because the time-out is zero. For each of the three pending entries, the value of the attempts</a:t>
            </a:r>
            <a:endParaRPr/>
          </a:p>
          <a:p>
            <a:pPr indent="0" lvl="0" marL="0" marR="0" rtl="0" algn="just">
              <a:lnSpc>
                <a:spcPct val="100000"/>
              </a:lnSpc>
              <a:spcBef>
                <a:spcPts val="0"/>
              </a:spcBef>
              <a:spcAft>
                <a:spcPts val="0"/>
              </a:spcAft>
              <a:buClr>
                <a:schemeClr val="dk1"/>
              </a:buClr>
              <a:buSzPts val="2400"/>
              <a:buFont typeface="Arimo"/>
              <a:buNone/>
            </a:pPr>
            <a:r>
              <a:rPr b="1" i="0" lang="en-US" sz="2400" u="none">
                <a:solidFill>
                  <a:schemeClr val="dk1"/>
                </a:solidFill>
                <a:latin typeface="Arimo"/>
                <a:ea typeface="Arimo"/>
                <a:cs typeface="Arimo"/>
                <a:sym typeface="Arimo"/>
              </a:rPr>
              <a:t>field is incremented by one. After incrementing, the attempts value for one entry (the one with IP address 201.11.56.7) is more than the maximum; the state is changed to FREE, the queue is deleted, and an ICMP message is sent to the original destination (see Chapter 9). See Table 8.8.</a:t>
            </a:r>
            <a:endParaRPr/>
          </a:p>
        </p:txBody>
      </p:sp>
      <p:grpSp>
        <p:nvGrpSpPr>
          <p:cNvPr id="846" name="Google Shape;846;p42"/>
          <p:cNvGrpSpPr/>
          <p:nvPr/>
        </p:nvGrpSpPr>
        <p:grpSpPr>
          <a:xfrm>
            <a:off x="0" y="0"/>
            <a:ext cx="9144000" cy="609600"/>
            <a:chOff x="0" y="2448"/>
            <a:chExt cx="5760" cy="384"/>
          </a:xfrm>
        </p:grpSpPr>
        <p:sp>
          <p:nvSpPr>
            <p:cNvPr id="847" name="Google Shape;847;p42"/>
            <p:cNvSpPr txBox="1"/>
            <p:nvPr/>
          </p:nvSpPr>
          <p:spPr>
            <a:xfrm>
              <a:off x="0" y="2448"/>
              <a:ext cx="5760" cy="384"/>
            </a:xfrm>
            <a:prstGeom prst="rect">
              <a:avLst/>
            </a:prstGeom>
            <a:solidFill>
              <a:srgbClr val="2CB843"/>
            </a:solidFill>
            <a:ln cap="flat" cmpd="sng" w="952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48" name="Google Shape;848;p42"/>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imes New Roman"/>
                <a:buNone/>
              </a:pPr>
              <a:r>
                <a:rPr b="1" i="0" lang="en-US" sz="3200" u="none">
                  <a:solidFill>
                    <a:schemeClr val="lt1"/>
                  </a:solidFill>
                  <a:latin typeface="Times New Roman"/>
                  <a:ea typeface="Times New Roman"/>
                  <a:cs typeface="Times New Roman"/>
                  <a:sym typeface="Times New Roman"/>
                </a:rPr>
                <a:t>Example 8.5</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43"/>
          <p:cNvSpPr txBox="1"/>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1" i="0" lang="en-US" sz="1200" u="none">
                <a:solidFill>
                  <a:schemeClr val="dk1"/>
                </a:solidFill>
                <a:latin typeface="Tahoma"/>
                <a:ea typeface="Tahoma"/>
                <a:cs typeface="Tahoma"/>
                <a:sym typeface="Tahoma"/>
              </a:rPr>
              <a:t>TCP/IP Protocol Suite</a:t>
            </a:r>
            <a:endParaRPr/>
          </a:p>
        </p:txBody>
      </p:sp>
      <p:sp>
        <p:nvSpPr>
          <p:cNvPr id="855" name="Google Shape;855;p43"/>
          <p:cNvSpPr txBox="1"/>
          <p:nvPr/>
        </p:nvSpPr>
        <p:spPr>
          <a:xfrm>
            <a:off x="7042150" y="6243637"/>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Tahoma"/>
              <a:buNone/>
            </a:pPr>
            <a:fld id="{00000000-1234-1234-1234-123412341234}" type="slidenum">
              <a:rPr b="1" i="0" lang="en-US" sz="1400" u="none">
                <a:solidFill>
                  <a:schemeClr val="dk1"/>
                </a:solidFill>
                <a:latin typeface="Tahoma"/>
                <a:ea typeface="Tahoma"/>
                <a:cs typeface="Tahoma"/>
                <a:sym typeface="Tahoma"/>
              </a:rPr>
              <a:t>‹#›</a:t>
            </a:fld>
            <a:endParaRPr/>
          </a:p>
        </p:txBody>
      </p:sp>
      <p:grpSp>
        <p:nvGrpSpPr>
          <p:cNvPr id="856" name="Google Shape;856;p43"/>
          <p:cNvGrpSpPr/>
          <p:nvPr/>
        </p:nvGrpSpPr>
        <p:grpSpPr>
          <a:xfrm>
            <a:off x="228600" y="228600"/>
            <a:ext cx="8458200" cy="5791200"/>
            <a:chOff x="144" y="144"/>
            <a:chExt cx="5328" cy="3648"/>
          </a:xfrm>
        </p:grpSpPr>
        <p:grpSp>
          <p:nvGrpSpPr>
            <p:cNvPr id="857" name="Google Shape;857;p43"/>
            <p:cNvGrpSpPr/>
            <p:nvPr/>
          </p:nvGrpSpPr>
          <p:grpSpPr>
            <a:xfrm>
              <a:off x="144" y="144"/>
              <a:ext cx="432" cy="3648"/>
              <a:chOff x="48" y="48"/>
              <a:chExt cx="576" cy="3984"/>
            </a:xfrm>
          </p:grpSpPr>
          <p:sp>
            <p:nvSpPr>
              <p:cNvPr id="858" name="Google Shape;858;p43"/>
              <p:cNvSpPr txBox="1"/>
              <p:nvPr/>
            </p:nvSpPr>
            <p:spPr>
              <a:xfrm>
                <a:off x="240"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59" name="Google Shape;859;p43"/>
              <p:cNvSpPr txBox="1"/>
              <p:nvPr/>
            </p:nvSpPr>
            <p:spPr>
              <a:xfrm>
                <a:off x="48"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0" name="Google Shape;860;p43"/>
              <p:cNvSpPr txBox="1"/>
              <p:nvPr/>
            </p:nvSpPr>
            <p:spPr>
              <a:xfrm>
                <a:off x="432" y="48"/>
                <a:ext cx="192" cy="3984"/>
              </a:xfrm>
              <a:prstGeom prst="rect">
                <a:avLst/>
              </a:prstGeom>
              <a:solidFill>
                <a:srgbClr val="DDDDDD"/>
              </a:solidFill>
              <a:ln cap="flat" cmpd="sng" w="19050">
                <a:solidFill>
                  <a:srgbClr val="DDDDD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61" name="Google Shape;861;p43"/>
            <p:cNvGrpSpPr/>
            <p:nvPr/>
          </p:nvGrpSpPr>
          <p:grpSpPr>
            <a:xfrm>
              <a:off x="144" y="144"/>
              <a:ext cx="5328" cy="336"/>
              <a:chOff x="0" y="144"/>
              <a:chExt cx="5760" cy="432"/>
            </a:xfrm>
          </p:grpSpPr>
          <p:sp>
            <p:nvSpPr>
              <p:cNvPr id="862" name="Google Shape;862;p43"/>
              <p:cNvSpPr txBox="1"/>
              <p:nvPr/>
            </p:nvSpPr>
            <p:spPr>
              <a:xfrm>
                <a:off x="0" y="144"/>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3" name="Google Shape;863;p43"/>
              <p:cNvSpPr txBox="1"/>
              <p:nvPr/>
            </p:nvSpPr>
            <p:spPr>
              <a:xfrm>
                <a:off x="0" y="288"/>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4" name="Google Shape;864;p43"/>
              <p:cNvSpPr txBox="1"/>
              <p:nvPr/>
            </p:nvSpPr>
            <p:spPr>
              <a:xfrm>
                <a:off x="0" y="432"/>
                <a:ext cx="5760" cy="144"/>
              </a:xfrm>
              <a:prstGeom prst="rect">
                <a:avLst/>
              </a:prstGeom>
              <a:solidFill>
                <a:srgbClr val="DDDDDD"/>
              </a:solidFill>
              <a:ln cap="flat" cmpd="sng" w="1905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65" name="Google Shape;865;p43"/>
            <p:cNvGrpSpPr/>
            <p:nvPr/>
          </p:nvGrpSpPr>
          <p:grpSpPr>
            <a:xfrm>
              <a:off x="144" y="144"/>
              <a:ext cx="432" cy="336"/>
              <a:chOff x="144" y="144"/>
              <a:chExt cx="432" cy="336"/>
            </a:xfrm>
          </p:grpSpPr>
          <p:grpSp>
            <p:nvGrpSpPr>
              <p:cNvPr id="866" name="Google Shape;866;p43"/>
              <p:cNvGrpSpPr/>
              <p:nvPr/>
            </p:nvGrpSpPr>
            <p:grpSpPr>
              <a:xfrm>
                <a:off x="144" y="256"/>
                <a:ext cx="432" cy="112"/>
                <a:chOff x="288" y="256"/>
                <a:chExt cx="432" cy="112"/>
              </a:xfrm>
            </p:grpSpPr>
            <p:sp>
              <p:nvSpPr>
                <p:cNvPr id="867" name="Google Shape;867;p43"/>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8" name="Google Shape;868;p43"/>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69" name="Google Shape;869;p43"/>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70" name="Google Shape;870;p43"/>
              <p:cNvGrpSpPr/>
              <p:nvPr/>
            </p:nvGrpSpPr>
            <p:grpSpPr>
              <a:xfrm>
                <a:off x="144" y="144"/>
                <a:ext cx="432" cy="336"/>
                <a:chOff x="144" y="144"/>
                <a:chExt cx="432" cy="336"/>
              </a:xfrm>
            </p:grpSpPr>
            <p:grpSp>
              <p:nvGrpSpPr>
                <p:cNvPr id="871" name="Google Shape;871;p43"/>
                <p:cNvGrpSpPr/>
                <p:nvPr/>
              </p:nvGrpSpPr>
              <p:grpSpPr>
                <a:xfrm>
                  <a:off x="144" y="144"/>
                  <a:ext cx="432" cy="112"/>
                  <a:chOff x="288" y="256"/>
                  <a:chExt cx="432" cy="112"/>
                </a:xfrm>
              </p:grpSpPr>
              <p:sp>
                <p:nvSpPr>
                  <p:cNvPr id="872" name="Google Shape;872;p43"/>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3" name="Google Shape;873;p43"/>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4" name="Google Shape;874;p43"/>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nvGrpSpPr>
                <p:cNvPr id="875" name="Google Shape;875;p43"/>
                <p:cNvGrpSpPr/>
                <p:nvPr/>
              </p:nvGrpSpPr>
              <p:grpSpPr>
                <a:xfrm>
                  <a:off x="144" y="368"/>
                  <a:ext cx="432" cy="112"/>
                  <a:chOff x="288" y="256"/>
                  <a:chExt cx="432" cy="112"/>
                </a:xfrm>
              </p:grpSpPr>
              <p:sp>
                <p:nvSpPr>
                  <p:cNvPr id="876" name="Google Shape;876;p43"/>
                  <p:cNvSpPr txBox="1"/>
                  <p:nvPr/>
                </p:nvSpPr>
                <p:spPr>
                  <a:xfrm>
                    <a:off x="288"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7" name="Google Shape;877;p43"/>
                  <p:cNvSpPr txBox="1"/>
                  <p:nvPr/>
                </p:nvSpPr>
                <p:spPr>
                  <a:xfrm>
                    <a:off x="576"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sp>
                <p:nvSpPr>
                  <p:cNvPr id="878" name="Google Shape;878;p43"/>
                  <p:cNvSpPr txBox="1"/>
                  <p:nvPr/>
                </p:nvSpPr>
                <p:spPr>
                  <a:xfrm>
                    <a:off x="432" y="256"/>
                    <a:ext cx="144" cy="112"/>
                  </a:xfrm>
                  <a:prstGeom prst="rect">
                    <a:avLst/>
                  </a:prstGeom>
                  <a:gradFill>
                    <a:gsLst>
                      <a:gs pos="0">
                        <a:srgbClr val="760000"/>
                      </a:gs>
                      <a:gs pos="100000">
                        <a:schemeClr val="hlink"/>
                      </a:gs>
                    </a:gsLst>
                    <a:lin ang="18900000" scaled="0"/>
                  </a:gra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800" u="none">
                      <a:solidFill>
                        <a:schemeClr val="dk1"/>
                      </a:solidFill>
                      <a:latin typeface="Tahoma"/>
                      <a:ea typeface="Tahoma"/>
                      <a:cs typeface="Tahoma"/>
                      <a:sym typeface="Tahoma"/>
                    </a:endParaRPr>
                  </a:p>
                </p:txBody>
              </p:sp>
            </p:grpSp>
          </p:grpSp>
        </p:grpSp>
      </p:grpSp>
      <p:pic>
        <p:nvPicPr>
          <p:cNvPr id="879" name="Google Shape;879;p43"/>
          <p:cNvPicPr preferRelativeResize="0"/>
          <p:nvPr/>
        </p:nvPicPr>
        <p:blipFill rotWithShape="1">
          <a:blip r:embed="rId3">
            <a:alphaModFix/>
          </a:blip>
          <a:srcRect b="0" l="0" r="0" t="0"/>
          <a:stretch/>
        </p:blipFill>
        <p:spPr>
          <a:xfrm>
            <a:off x="1196975" y="2189162"/>
            <a:ext cx="7642225" cy="29162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
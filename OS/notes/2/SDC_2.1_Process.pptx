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</p:sldIdLst>
  <p:sldSz cy="6858000" cx="9144000"/>
  <p:notesSz cx="7010400" cy="9296400"/>
  <p:embeddedFontLst>
    <p:embeddedFont>
      <p:font typeface="Helvetica Neue"/>
      <p:regular r:id="rId164"/>
      <p:bold r:id="rId165"/>
      <p:italic r:id="rId166"/>
      <p:boldItalic r:id="rId167"/>
    </p:embeddedFont>
    <p:embeddedFont>
      <p:font typeface="Century Gothic"/>
      <p:regular r:id="rId168"/>
      <p:bold r:id="rId169"/>
      <p:italic r:id="rId170"/>
      <p:boldItalic r:id="rId1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000000"/>
          </p15:clr>
        </p15:guide>
        <p15:guide id="2" pos="440">
          <p15:clr>
            <a:srgbClr val="000000"/>
          </p15:clr>
        </p15:guide>
      </p15:sldGuideLst>
    </p:ext>
    <p:ext uri="GoogleSlidesCustomDataVersion2">
      <go:slidesCustomData xmlns:go="http://customooxmlschemas.google.com/" r:id="rId172" roundtripDataSignature="AMtx7mhOZtQrSevnYRSynwhJ4qHAUX1p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customschemas.google.com/relationships/presentationmetadata" Target="metadata"/><Relationship Id="rId65" Type="http://schemas.openxmlformats.org/officeDocument/2006/relationships/slide" Target="slides/slide60.xml"/><Relationship Id="rId171" Type="http://schemas.openxmlformats.org/officeDocument/2006/relationships/font" Target="fonts/CenturyGothic-boldItalic.fntdata"/><Relationship Id="rId68" Type="http://schemas.openxmlformats.org/officeDocument/2006/relationships/slide" Target="slides/slide63.xml"/><Relationship Id="rId170" Type="http://schemas.openxmlformats.org/officeDocument/2006/relationships/font" Target="fonts/CenturyGothic-italic.fntdata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font" Target="fonts/HelveticaNeue-bold.fntdata"/><Relationship Id="rId69" Type="http://schemas.openxmlformats.org/officeDocument/2006/relationships/slide" Target="slides/slide64.xml"/><Relationship Id="rId164" Type="http://schemas.openxmlformats.org/officeDocument/2006/relationships/font" Target="fonts/HelveticaNeue-regular.fntdata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font" Target="fonts/CenturyGothic-bold.fntdata"/><Relationship Id="rId168" Type="http://schemas.openxmlformats.org/officeDocument/2006/relationships/font" Target="fonts/CenturyGothic-regular.fntdata"/><Relationship Id="rId167" Type="http://schemas.openxmlformats.org/officeDocument/2006/relationships/font" Target="fonts/HelveticaNeue-boldItalic.fntdata"/><Relationship Id="rId166" Type="http://schemas.openxmlformats.org/officeDocument/2006/relationships/font" Target="fonts/HelveticaNeue-italic.fntdata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68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3513" y="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2850"/>
            <a:ext cx="30368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1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1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2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2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2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2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2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2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2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5" name="Google Shape;535;p3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3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3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3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3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3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3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7" name="Google Shape;607;p3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4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9" name="Google Shape;649;p4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4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p4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2" name="Google Shape;682;p4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4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7" name="Google Shape;757;p5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8" name="Google Shape;758;p5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5" name="Google Shape;795;p5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5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1" name="Google Shape;841;p6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1" name="Google Shape;851;p6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2" name="Google Shape;882;p6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3" name="Google Shape;883;p6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9" name="Google Shape;889;p6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0" name="Google Shape;890;p6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6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7" name="Google Shape;897;p6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8" name="Google Shape;898;p6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p6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5" name="Google Shape;905;p6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6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7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7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4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5" name="Google Shape;965;p7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6" name="Google Shape;966;p7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5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3" name="Google Shape;973;p7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p7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6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7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2" name="Google Shape;982;p7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9" name="Google Shape;989;p7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0" name="Google Shape;990;p7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8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7" name="Google Shape;997;p7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7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9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p7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p7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0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p8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4" name="Google Shape;1014;p8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1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1" name="Google Shape;1021;p8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2" name="Google Shape;1022;p8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2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9" name="Google Shape;1029;p8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0" name="Google Shape;1030;p8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8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8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8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8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8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5" name="Google Shape;1105;p8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8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4" name="Google Shape;1114;p8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3" name="Google Shape;1123;p9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9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3" name="Google Shape;1133;p9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2" name="Google Shape;1142;p9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1" name="Google Shape;1151;p9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9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1" name="Google Shape;1161;p9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1" name="Google Shape;1171;p9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1" name="Google Shape;1181;p9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1" name="Google Shape;1191;p9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0" name="Google Shape;1200;p9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0" name="Google Shape;1210;p9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0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0" name="Google Shape;1220;p10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0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0" name="Google Shape;1230;p10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0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9" name="Google Shape;1239;p10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0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8" name="Google Shape;1248;p10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7" name="Google Shape;1257;p10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0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6" name="Google Shape;1266;p10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0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5" name="Google Shape;1275;p10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0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4" name="Google Shape;1284;p10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0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3" name="Google Shape;1293;p10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0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2" name="Google Shape;1302;p10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1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1" name="Google Shape;1311;p11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1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0" name="Google Shape;1320;p11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1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0" name="Google Shape;1330;p11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1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0" name="Google Shape;1340;p11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1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9" name="Google Shape;1349;p11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1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8" name="Google Shape;1358;p11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1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7" name="Google Shape;1367;p11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1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6" name="Google Shape;1376;p11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1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5" name="Google Shape;1385;p11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1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4" name="Google Shape;1394;p11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3" name="Google Shape;1403;p12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2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2" name="Google Shape;1412;p12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2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1" name="Google Shape;1421;p12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2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12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2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9" name="Google Shape;1439;p12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2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8" name="Google Shape;1448;p12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2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7" name="Google Shape;1457;p12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7" name="Google Shape;1467;p12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2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2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2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6" name="Google Shape;1486;p12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3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3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3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3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3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3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3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3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3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1" name="Google Shape;1531;p13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3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13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3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0" name="Google Shape;1550;p13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3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9" name="Google Shape;1559;p13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3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13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3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3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14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4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4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4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4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4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14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4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4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4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4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4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4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4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4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0" name="Google Shape;1630;p14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147:notes"/>
          <p:cNvSpPr txBox="1"/>
          <p:nvPr>
            <p:ph idx="12" type="sldNum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4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14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49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6" name="Google Shape;1646;p149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0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5" name="Google Shape;1655;p150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51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4" name="Google Shape;1664;p151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52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3" name="Google Shape;1673;p152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3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2" name="Google Shape;1682;p153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54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1" name="Google Shape;1691;p154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55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0" name="Google Shape;1700;p155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56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1" name="Google Shape;1711;p156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157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1" name="Google Shape;1721;p157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58:notes"/>
          <p:cNvSpPr/>
          <p:nvPr>
            <p:ph idx="2" type="sldImg"/>
          </p:nvPr>
        </p:nvSpPr>
        <p:spPr>
          <a:xfrm>
            <a:off x="1182688" y="698500"/>
            <a:ext cx="46466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1" name="Google Shape;1731;p158:notes"/>
          <p:cNvSpPr txBox="1"/>
          <p:nvPr>
            <p:ph idx="1" type="body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0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1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1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62" name="Google Shape;62;p16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62"/>
          <p:cNvGrpSpPr/>
          <p:nvPr/>
        </p:nvGrpSpPr>
        <p:grpSpPr>
          <a:xfrm>
            <a:off x="-644937" y="0"/>
            <a:ext cx="10458963" cy="7117349"/>
            <a:chOff x="-644736" y="0"/>
            <a:chExt cx="10458272" cy="7117349"/>
          </a:xfrm>
        </p:grpSpPr>
        <p:grpSp>
          <p:nvGrpSpPr>
            <p:cNvPr id="67" name="Google Shape;67;p162"/>
            <p:cNvGrpSpPr/>
            <p:nvPr/>
          </p:nvGrpSpPr>
          <p:grpSpPr>
            <a:xfrm>
              <a:off x="159" y="0"/>
              <a:ext cx="9143396" cy="6858000"/>
              <a:chOff x="159" y="0"/>
              <a:chExt cx="9143396" cy="6858000"/>
            </a:xfrm>
          </p:grpSpPr>
          <p:grpSp>
            <p:nvGrpSpPr>
              <p:cNvPr id="68" name="Google Shape;68;p162"/>
              <p:cNvGrpSpPr/>
              <p:nvPr/>
            </p:nvGrpSpPr>
            <p:grpSpPr>
              <a:xfrm>
                <a:off x="159" y="0"/>
                <a:ext cx="2514434" cy="6858000"/>
                <a:chOff x="159" y="0"/>
                <a:chExt cx="2514434" cy="6858000"/>
              </a:xfrm>
            </p:grpSpPr>
            <p:sp>
              <p:nvSpPr>
                <p:cNvPr id="69" name="Google Shape;69;p16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70" name="Google Shape;70;p16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71" name="Google Shape;71;p162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72" name="Google Shape;72;p162"/>
              <p:cNvGrpSpPr/>
              <p:nvPr/>
            </p:nvGrpSpPr>
            <p:grpSpPr>
              <a:xfrm>
                <a:off x="422406" y="0"/>
                <a:ext cx="2514434" cy="6858000"/>
                <a:chOff x="-504" y="0"/>
                <a:chExt cx="2514434" cy="6858000"/>
              </a:xfrm>
            </p:grpSpPr>
            <p:sp>
              <p:nvSpPr>
                <p:cNvPr id="73" name="Google Shape;73;p162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74" name="Google Shape;74;p162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75" name="Google Shape;75;p162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76" name="Google Shape;76;p162"/>
              <p:cNvGrpSpPr/>
              <p:nvPr/>
            </p:nvGrpSpPr>
            <p:grpSpPr>
              <a:xfrm rot="10800000">
                <a:off x="6629121" y="0"/>
                <a:ext cx="2514434" cy="6858000"/>
                <a:chOff x="445" y="0"/>
                <a:chExt cx="2514434" cy="6858000"/>
              </a:xfrm>
            </p:grpSpPr>
            <p:sp>
              <p:nvSpPr>
                <p:cNvPr id="77" name="Google Shape;77;p162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78" name="Google Shape;78;p162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79" name="Google Shape;79;p162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sp>
            <p:nvSpPr>
              <p:cNvPr id="80" name="Google Shape;80;p162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81" name="Google Shape;81;p16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82" name="Google Shape;82;p16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83" name="Google Shape;83;p162"/>
            <p:cNvSpPr/>
            <p:nvPr/>
          </p:nvSpPr>
          <p:spPr>
            <a:xfrm>
              <a:off x="-12540" y="5035550"/>
              <a:ext cx="9144984" cy="1174750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4" name="Google Shape;84;p162"/>
            <p:cNvSpPr/>
            <p:nvPr/>
          </p:nvSpPr>
          <p:spPr>
            <a:xfrm>
              <a:off x="-12540" y="3467100"/>
              <a:ext cx="9144984" cy="890588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5" name="Google Shape;85;p162"/>
            <p:cNvSpPr/>
            <p:nvPr/>
          </p:nvSpPr>
          <p:spPr>
            <a:xfrm>
              <a:off x="-23653" y="5640388"/>
              <a:ext cx="3004940" cy="1211262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6" name="Google Shape;86;p162"/>
            <p:cNvSpPr/>
            <p:nvPr/>
          </p:nvSpPr>
          <p:spPr>
            <a:xfrm>
              <a:off x="-12540" y="5284788"/>
              <a:ext cx="9144984" cy="1477962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7" name="Google Shape;87;p162"/>
            <p:cNvSpPr/>
            <p:nvPr/>
          </p:nvSpPr>
          <p:spPr>
            <a:xfrm>
              <a:off x="2136793" y="5132388"/>
              <a:ext cx="6982952" cy="171926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8" name="Google Shape;88;p162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9" name="Google Shape;89;p16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0" name="Google Shape;90;p16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1" name="Google Shape;91;p162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2" name="Google Shape;92;p162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3" name="Google Shape;93;p162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4" name="Google Shape;94;p162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5" name="Google Shape;95;p162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6" name="Google Shape;96;p162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7" name="Google Shape;97;p162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8" name="Google Shape;98;p162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9" name="Google Shape;99;p16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0" name="Google Shape;100;p16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1" name="Google Shape;101;p162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2" name="Google Shape;102;p162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3" name="Google Shape;103;p162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4" name="Google Shape;104;p162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5" name="Google Shape;105;p16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6" name="Google Shape;106;p162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p162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" name="Google Shape;108;p162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" name="Google Shape;109;p162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2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62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112" name="Google Shape;112;p16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2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3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63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16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4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64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4" name="Google Shape;124;p164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5" name="Google Shape;125;p164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6" name="Google Shape;126;p164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7" name="Google Shape;127;p16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5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6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6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66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38" name="Google Shape;138;p166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39" name="Google Shape;139;p16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6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6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6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68"/>
          <p:cNvGrpSpPr/>
          <p:nvPr/>
        </p:nvGrpSpPr>
        <p:grpSpPr>
          <a:xfrm>
            <a:off x="-644937" y="0"/>
            <a:ext cx="10458963" cy="7117349"/>
            <a:chOff x="-644736" y="0"/>
            <a:chExt cx="10458272" cy="7117349"/>
          </a:xfrm>
        </p:grpSpPr>
        <p:grpSp>
          <p:nvGrpSpPr>
            <p:cNvPr id="148" name="Google Shape;148;p168"/>
            <p:cNvGrpSpPr/>
            <p:nvPr/>
          </p:nvGrpSpPr>
          <p:grpSpPr>
            <a:xfrm>
              <a:off x="159" y="0"/>
              <a:ext cx="9143396" cy="6858000"/>
              <a:chOff x="159" y="0"/>
              <a:chExt cx="9143396" cy="6858000"/>
            </a:xfrm>
          </p:grpSpPr>
          <p:grpSp>
            <p:nvGrpSpPr>
              <p:cNvPr id="149" name="Google Shape;149;p168"/>
              <p:cNvGrpSpPr/>
              <p:nvPr/>
            </p:nvGrpSpPr>
            <p:grpSpPr>
              <a:xfrm>
                <a:off x="159" y="0"/>
                <a:ext cx="2514434" cy="6858000"/>
                <a:chOff x="159" y="0"/>
                <a:chExt cx="2514434" cy="6858000"/>
              </a:xfrm>
            </p:grpSpPr>
            <p:sp>
              <p:nvSpPr>
                <p:cNvPr id="150" name="Google Shape;150;p168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51" name="Google Shape;151;p168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52" name="Google Shape;152;p168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153" name="Google Shape;153;p168"/>
              <p:cNvGrpSpPr/>
              <p:nvPr/>
            </p:nvGrpSpPr>
            <p:grpSpPr>
              <a:xfrm>
                <a:off x="422406" y="0"/>
                <a:ext cx="2514434" cy="6858000"/>
                <a:chOff x="-504" y="0"/>
                <a:chExt cx="2514434" cy="6858000"/>
              </a:xfrm>
            </p:grpSpPr>
            <p:sp>
              <p:nvSpPr>
                <p:cNvPr id="154" name="Google Shape;154;p168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55" name="Google Shape;155;p16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56" name="Google Shape;156;p16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157" name="Google Shape;157;p168"/>
              <p:cNvGrpSpPr/>
              <p:nvPr/>
            </p:nvGrpSpPr>
            <p:grpSpPr>
              <a:xfrm rot="10800000">
                <a:off x="6629121" y="0"/>
                <a:ext cx="2514434" cy="6858000"/>
                <a:chOff x="445" y="0"/>
                <a:chExt cx="2514434" cy="6858000"/>
              </a:xfrm>
            </p:grpSpPr>
            <p:sp>
              <p:nvSpPr>
                <p:cNvPr id="158" name="Google Shape;158;p168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59" name="Google Shape;159;p168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60" name="Google Shape;160;p168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sp>
            <p:nvSpPr>
              <p:cNvPr id="161" name="Google Shape;161;p168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62" name="Google Shape;162;p168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63" name="Google Shape;163;p168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164" name="Google Shape;164;p168"/>
            <p:cNvSpPr/>
            <p:nvPr/>
          </p:nvSpPr>
          <p:spPr>
            <a:xfrm>
              <a:off x="-12540" y="5035550"/>
              <a:ext cx="9144984" cy="1174750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5" name="Google Shape;165;p168"/>
            <p:cNvSpPr/>
            <p:nvPr/>
          </p:nvSpPr>
          <p:spPr>
            <a:xfrm>
              <a:off x="-12540" y="3467100"/>
              <a:ext cx="9144984" cy="890588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6" name="Google Shape;166;p168"/>
            <p:cNvSpPr/>
            <p:nvPr/>
          </p:nvSpPr>
          <p:spPr>
            <a:xfrm>
              <a:off x="-23653" y="5640388"/>
              <a:ext cx="3004940" cy="1211262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7" name="Google Shape;167;p168"/>
            <p:cNvSpPr/>
            <p:nvPr/>
          </p:nvSpPr>
          <p:spPr>
            <a:xfrm>
              <a:off x="-12540" y="5284788"/>
              <a:ext cx="9144984" cy="1477962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8" name="Google Shape;168;p168"/>
            <p:cNvSpPr/>
            <p:nvPr/>
          </p:nvSpPr>
          <p:spPr>
            <a:xfrm>
              <a:off x="2136793" y="5132388"/>
              <a:ext cx="6982952" cy="171926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9" name="Google Shape;169;p168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0" name="Google Shape;170;p168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1" name="Google Shape;171;p168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2" name="Google Shape;172;p168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3" name="Google Shape;173;p168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4" name="Google Shape;174;p168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5" name="Google Shape;175;p168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6" name="Google Shape;176;p16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7" name="Google Shape;177;p16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8" name="Google Shape;178;p168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9" name="Google Shape;179;p168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0" name="Google Shape;180;p168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1" name="Google Shape;181;p168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2" name="Google Shape;182;p168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3" name="Google Shape;183;p168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4" name="Google Shape;184;p168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5" name="Google Shape;185;p168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86" name="Google Shape;186;p168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p168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" name="Google Shape;188;p168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168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168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91" name="Google Shape;191;p168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68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193" name="Google Shape;193;p16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68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169"/>
          <p:cNvGrpSpPr/>
          <p:nvPr/>
        </p:nvGrpSpPr>
        <p:grpSpPr>
          <a:xfrm>
            <a:off x="-644937" y="0"/>
            <a:ext cx="10458963" cy="7117349"/>
            <a:chOff x="-644736" y="0"/>
            <a:chExt cx="10458272" cy="7117349"/>
          </a:xfrm>
        </p:grpSpPr>
        <p:grpSp>
          <p:nvGrpSpPr>
            <p:cNvPr id="198" name="Google Shape;198;p169"/>
            <p:cNvGrpSpPr/>
            <p:nvPr/>
          </p:nvGrpSpPr>
          <p:grpSpPr>
            <a:xfrm>
              <a:off x="159" y="0"/>
              <a:ext cx="9143396" cy="6858000"/>
              <a:chOff x="159" y="0"/>
              <a:chExt cx="9143396" cy="6858000"/>
            </a:xfrm>
          </p:grpSpPr>
          <p:grpSp>
            <p:nvGrpSpPr>
              <p:cNvPr id="199" name="Google Shape;199;p169"/>
              <p:cNvGrpSpPr/>
              <p:nvPr/>
            </p:nvGrpSpPr>
            <p:grpSpPr>
              <a:xfrm>
                <a:off x="159" y="0"/>
                <a:ext cx="2514434" cy="6858000"/>
                <a:chOff x="159" y="0"/>
                <a:chExt cx="2514434" cy="6858000"/>
              </a:xfrm>
            </p:grpSpPr>
            <p:sp>
              <p:nvSpPr>
                <p:cNvPr id="200" name="Google Shape;200;p16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01" name="Google Shape;201;p169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02" name="Google Shape;202;p169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203" name="Google Shape;203;p169"/>
              <p:cNvGrpSpPr/>
              <p:nvPr/>
            </p:nvGrpSpPr>
            <p:grpSpPr>
              <a:xfrm>
                <a:off x="422406" y="0"/>
                <a:ext cx="2514434" cy="6858000"/>
                <a:chOff x="-504" y="0"/>
                <a:chExt cx="2514434" cy="6858000"/>
              </a:xfrm>
            </p:grpSpPr>
            <p:sp>
              <p:nvSpPr>
                <p:cNvPr id="204" name="Google Shape;204;p16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05" name="Google Shape;205;p169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06" name="Google Shape;206;p16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207" name="Google Shape;207;p169"/>
              <p:cNvGrpSpPr/>
              <p:nvPr/>
            </p:nvGrpSpPr>
            <p:grpSpPr>
              <a:xfrm rot="10800000">
                <a:off x="6629121" y="0"/>
                <a:ext cx="2514434" cy="6858000"/>
                <a:chOff x="445" y="0"/>
                <a:chExt cx="2514434" cy="6858000"/>
              </a:xfrm>
            </p:grpSpPr>
            <p:sp>
              <p:nvSpPr>
                <p:cNvPr id="208" name="Google Shape;208;p169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09" name="Google Shape;209;p169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10" name="Google Shape;210;p169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sp>
            <p:nvSpPr>
              <p:cNvPr id="211" name="Google Shape;211;p169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12" name="Google Shape;212;p169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13" name="Google Shape;213;p169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214" name="Google Shape;214;p169"/>
            <p:cNvSpPr/>
            <p:nvPr/>
          </p:nvSpPr>
          <p:spPr>
            <a:xfrm>
              <a:off x="-12540" y="5035550"/>
              <a:ext cx="9144984" cy="1174750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5" name="Google Shape;215;p169"/>
            <p:cNvSpPr/>
            <p:nvPr/>
          </p:nvSpPr>
          <p:spPr>
            <a:xfrm>
              <a:off x="-12540" y="3467100"/>
              <a:ext cx="9144984" cy="890588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6" name="Google Shape;216;p169"/>
            <p:cNvSpPr/>
            <p:nvPr/>
          </p:nvSpPr>
          <p:spPr>
            <a:xfrm>
              <a:off x="-23653" y="5640388"/>
              <a:ext cx="3004940" cy="1211262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7" name="Google Shape;217;p169"/>
            <p:cNvSpPr/>
            <p:nvPr/>
          </p:nvSpPr>
          <p:spPr>
            <a:xfrm>
              <a:off x="-12540" y="5284788"/>
              <a:ext cx="9144984" cy="1477962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8" name="Google Shape;218;p169"/>
            <p:cNvSpPr/>
            <p:nvPr/>
          </p:nvSpPr>
          <p:spPr>
            <a:xfrm>
              <a:off x="2136793" y="5132388"/>
              <a:ext cx="6982952" cy="171926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9" name="Google Shape;219;p169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0" name="Google Shape;220;p169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1" name="Google Shape;221;p169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2" name="Google Shape;222;p169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3" name="Google Shape;223;p169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4" name="Google Shape;224;p169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5" name="Google Shape;225;p169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6" name="Google Shape;226;p169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7" name="Google Shape;227;p16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8" name="Google Shape;228;p16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9" name="Google Shape;229;p169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0" name="Google Shape;230;p169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1" name="Google Shape;231;p169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2" name="Google Shape;232;p169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3" name="Google Shape;233;p169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4" name="Google Shape;234;p169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5" name="Google Shape;235;p169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36" name="Google Shape;236;p169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7" name="Google Shape;237;p169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8" name="Google Shape;238;p169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169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0" name="Google Shape;240;p169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69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2" name="Google Shape;242;p169"/>
          <p:cNvSpPr txBox="1"/>
          <p:nvPr>
            <p:ph idx="10" type="dt"/>
          </p:nvPr>
        </p:nvSpPr>
        <p:spPr>
          <a:xfrm>
            <a:off x="4738688" y="1516063"/>
            <a:ext cx="21336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69"/>
          <p:cNvSpPr txBox="1"/>
          <p:nvPr>
            <p:ph idx="11" type="ftr"/>
          </p:nvPr>
        </p:nvSpPr>
        <p:spPr>
          <a:xfrm>
            <a:off x="5303838" y="5719763"/>
            <a:ext cx="2830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69"/>
          <p:cNvSpPr txBox="1"/>
          <p:nvPr>
            <p:ph idx="12" type="sldNum"/>
          </p:nvPr>
        </p:nvSpPr>
        <p:spPr>
          <a:xfrm>
            <a:off x="4649788" y="5719763"/>
            <a:ext cx="642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0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70"/>
          <p:cNvSpPr txBox="1"/>
          <p:nvPr>
            <p:ph idx="1" type="body"/>
          </p:nvPr>
        </p:nvSpPr>
        <p:spPr>
          <a:xfrm rot="5400000">
            <a:off x="2677319" y="689769"/>
            <a:ext cx="3508375" cy="677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8" name="Google Shape;248;p17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7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7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1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71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4" name="Google Shape;254;p17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17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7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2F35F"/>
            </a:gs>
            <a:gs pos="62000">
              <a:srgbClr val="92BE3F"/>
            </a:gs>
            <a:gs pos="100000">
              <a:srgbClr val="80A33D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59"/>
          <p:cNvGrpSpPr/>
          <p:nvPr/>
        </p:nvGrpSpPr>
        <p:grpSpPr>
          <a:xfrm>
            <a:off x="-567149" y="0"/>
            <a:ext cx="10458963" cy="7117349"/>
            <a:chOff x="-644736" y="0"/>
            <a:chExt cx="10458272" cy="7117349"/>
          </a:xfrm>
        </p:grpSpPr>
        <p:grpSp>
          <p:nvGrpSpPr>
            <p:cNvPr id="11" name="Google Shape;11;p159"/>
            <p:cNvGrpSpPr/>
            <p:nvPr/>
          </p:nvGrpSpPr>
          <p:grpSpPr>
            <a:xfrm>
              <a:off x="159" y="0"/>
              <a:ext cx="9143396" cy="6858000"/>
              <a:chOff x="159" y="0"/>
              <a:chExt cx="9143396" cy="6858000"/>
            </a:xfrm>
          </p:grpSpPr>
          <p:grpSp>
            <p:nvGrpSpPr>
              <p:cNvPr id="12" name="Google Shape;12;p159"/>
              <p:cNvGrpSpPr/>
              <p:nvPr/>
            </p:nvGrpSpPr>
            <p:grpSpPr>
              <a:xfrm>
                <a:off x="159" y="0"/>
                <a:ext cx="2514434" cy="6858000"/>
                <a:chOff x="159" y="0"/>
                <a:chExt cx="2514434" cy="6858000"/>
              </a:xfrm>
            </p:grpSpPr>
            <p:sp>
              <p:nvSpPr>
                <p:cNvPr id="13" name="Google Shape;13;p15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4" name="Google Shape;14;p159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5" name="Google Shape;15;p159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16" name="Google Shape;16;p159"/>
              <p:cNvGrpSpPr/>
              <p:nvPr/>
            </p:nvGrpSpPr>
            <p:grpSpPr>
              <a:xfrm>
                <a:off x="422406" y="0"/>
                <a:ext cx="2514434" cy="6858000"/>
                <a:chOff x="-504" y="0"/>
                <a:chExt cx="2514434" cy="6858000"/>
              </a:xfrm>
            </p:grpSpPr>
            <p:sp>
              <p:nvSpPr>
                <p:cNvPr id="17" name="Google Shape;17;p15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8" name="Google Shape;18;p159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19" name="Google Shape;19;p15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20" name="Google Shape;20;p159"/>
              <p:cNvGrpSpPr/>
              <p:nvPr/>
            </p:nvGrpSpPr>
            <p:grpSpPr>
              <a:xfrm rot="10800000">
                <a:off x="6629121" y="0"/>
                <a:ext cx="2514434" cy="6858000"/>
                <a:chOff x="445" y="0"/>
                <a:chExt cx="2514434" cy="6858000"/>
              </a:xfrm>
            </p:grpSpPr>
            <p:sp>
              <p:nvSpPr>
                <p:cNvPr id="21" name="Google Shape;21;p159"/>
                <p:cNvSpPr/>
                <p:nvPr/>
              </p:nvSpPr>
              <p:spPr>
                <a:xfrm>
                  <a:off x="914785" y="0"/>
                  <a:ext cx="1600094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2" name="Google Shape;22;p159"/>
                <p:cNvSpPr/>
                <p:nvPr/>
              </p:nvSpPr>
              <p:spPr>
                <a:xfrm>
                  <a:off x="445" y="0"/>
                  <a:ext cx="45717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sp>
              <p:nvSpPr>
                <p:cNvPr id="23" name="Google Shape;23;p159"/>
                <p:cNvSpPr/>
                <p:nvPr/>
              </p:nvSpPr>
              <p:spPr>
                <a:xfrm>
                  <a:off x="229030" y="0"/>
                  <a:ext cx="76195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sp>
            <p:nvSpPr>
              <p:cNvPr id="24" name="Google Shape;24;p159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5" name="Google Shape;25;p159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6" name="Google Shape;26;p159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27" name="Google Shape;27;p159"/>
            <p:cNvSpPr/>
            <p:nvPr/>
          </p:nvSpPr>
          <p:spPr>
            <a:xfrm>
              <a:off x="-12540" y="5035550"/>
              <a:ext cx="9144983" cy="1174750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8" name="Google Shape;28;p159"/>
            <p:cNvSpPr/>
            <p:nvPr/>
          </p:nvSpPr>
          <p:spPr>
            <a:xfrm>
              <a:off x="-12540" y="3467100"/>
              <a:ext cx="9144983" cy="890588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" name="Google Shape;29;p159"/>
            <p:cNvSpPr/>
            <p:nvPr/>
          </p:nvSpPr>
          <p:spPr>
            <a:xfrm>
              <a:off x="-23653" y="5640388"/>
              <a:ext cx="3004940" cy="1211262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0" name="Google Shape;30;p159"/>
            <p:cNvSpPr/>
            <p:nvPr/>
          </p:nvSpPr>
          <p:spPr>
            <a:xfrm>
              <a:off x="-12540" y="5284788"/>
              <a:ext cx="9144983" cy="1477962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1" name="Google Shape;31;p159"/>
            <p:cNvSpPr/>
            <p:nvPr/>
          </p:nvSpPr>
          <p:spPr>
            <a:xfrm>
              <a:off x="2136793" y="5132388"/>
              <a:ext cx="6982951" cy="171926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2" name="Google Shape;32;p15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" name="Google Shape;33;p159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" name="Google Shape;34;p159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" name="Google Shape;35;p159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" name="Google Shape;36;p159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" name="Google Shape;37;p159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" name="Google Shape;38;p159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" name="Google Shape;39;p159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" name="Google Shape;40;p159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" name="Google Shape;41;p159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" name="Google Shape;42;p1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3" name="Google Shape;43;p159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4" name="Google Shape;44;p159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" name="Google Shape;45;p159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6" name="Google Shape;46;p159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7" name="Google Shape;47;p159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8" name="Google Shape;48;p15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49" name="Google Shape;49;p159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" name="Google Shape;50;p15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" name="Google Shape;51;p159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" name="Google Shape;52;p159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59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15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5" name="Google Shape;55;p15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6" name="Google Shape;56;p15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7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5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4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4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4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6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6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9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29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34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9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3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2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30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38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38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38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35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"/>
          <p:cNvSpPr txBox="1"/>
          <p:nvPr>
            <p:ph type="ctrTitle"/>
          </p:nvPr>
        </p:nvSpPr>
        <p:spPr>
          <a:xfrm>
            <a:off x="371475" y="1831975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2:  Process Concept and scheduling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"/>
          <p:cNvSpPr txBox="1"/>
          <p:nvPr>
            <p:ph type="title"/>
          </p:nvPr>
        </p:nvSpPr>
        <p:spPr>
          <a:xfrm>
            <a:off x="1644650" y="550863"/>
            <a:ext cx="638016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3:  Processes</a:t>
            </a:r>
            <a:endParaRPr/>
          </a:p>
        </p:txBody>
      </p:sp>
      <p:sp>
        <p:nvSpPr>
          <p:cNvPr id="268" name="Google Shape;268;p2"/>
          <p:cNvSpPr txBox="1"/>
          <p:nvPr>
            <p:ph idx="1" type="body"/>
          </p:nvPr>
        </p:nvSpPr>
        <p:spPr>
          <a:xfrm>
            <a:off x="806450" y="1120775"/>
            <a:ext cx="7370763" cy="38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Process Concept</a:t>
            </a:r>
            <a:endParaRPr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Process Scheduling</a:t>
            </a:r>
            <a:endParaRPr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Operations on Processes</a:t>
            </a:r>
            <a:endParaRPr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Interprocess Communication</a:t>
            </a:r>
            <a:endParaRPr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Examples of IPC Systems</a:t>
            </a:r>
            <a:endParaRPr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Communication in Client-Server Systems</a:t>
            </a:r>
            <a:endParaRPr/>
          </a:p>
        </p:txBody>
      </p:sp>
      <p:sp>
        <p:nvSpPr>
          <p:cNvPr id="269" name="Google Shape;269;p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p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"/>
          <p:cNvSpPr txBox="1"/>
          <p:nvPr>
            <p:ph type="title"/>
          </p:nvPr>
        </p:nvSpPr>
        <p:spPr>
          <a:xfrm>
            <a:off x="1644650" y="550863"/>
            <a:ext cx="638016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3:  Processes</a:t>
            </a:r>
            <a:endParaRPr/>
          </a:p>
        </p:txBody>
      </p:sp>
      <p:sp>
        <p:nvSpPr>
          <p:cNvPr id="277" name="Google Shape;277;p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8" name="Google Shape;278;p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9" name="Google Shape;279;p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id="280" name="Google Shape;2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946" y="1765395"/>
            <a:ext cx="7674461" cy="2492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"/>
          <p:cNvSpPr txBox="1"/>
          <p:nvPr>
            <p:ph type="title"/>
          </p:nvPr>
        </p:nvSpPr>
        <p:spPr>
          <a:xfrm>
            <a:off x="889072" y="535058"/>
            <a:ext cx="7024687" cy="406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</a:t>
            </a:r>
            <a:endParaRPr/>
          </a:p>
        </p:txBody>
      </p:sp>
      <p:sp>
        <p:nvSpPr>
          <p:cNvPr id="286" name="Google Shape;286;p4"/>
          <p:cNvSpPr txBox="1"/>
          <p:nvPr>
            <p:ph idx="1" type="body"/>
          </p:nvPr>
        </p:nvSpPr>
        <p:spPr>
          <a:xfrm>
            <a:off x="970011" y="903832"/>
            <a:ext cx="7464305" cy="474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What ?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A Program in execution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Unit of work in modern time sharing systems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How?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System consists of a collection of processes: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/>
              <a:t>Operating system processes execute system code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/>
              <a:t>User processes executing  user code.</a:t>
            </a:r>
            <a:endParaRPr/>
          </a:p>
          <a:p>
            <a:pPr indent="-132080" lvl="2" marL="9144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Why?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/>
              <a:t>All these processes can execute concurrently with the CPU(s) multiplexed among them.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/>
              <a:t>By switching between processes, the OS can make computer more productive.</a:t>
            </a:r>
            <a:endParaRPr b="1"/>
          </a:p>
        </p:txBody>
      </p:sp>
      <p:sp>
        <p:nvSpPr>
          <p:cNvPr id="287" name="Google Shape;287;p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8" name="Google Shape;288;p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"/>
          <p:cNvSpPr txBox="1"/>
          <p:nvPr>
            <p:ph type="title"/>
          </p:nvPr>
        </p:nvSpPr>
        <p:spPr>
          <a:xfrm>
            <a:off x="4746625" y="777875"/>
            <a:ext cx="33004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</a:t>
            </a:r>
            <a:endParaRPr/>
          </a:p>
        </p:txBody>
      </p:sp>
      <p:sp>
        <p:nvSpPr>
          <p:cNvPr id="295" name="Google Shape;295;p5"/>
          <p:cNvSpPr txBox="1"/>
          <p:nvPr>
            <p:ph idx="1" type="body"/>
          </p:nvPr>
        </p:nvSpPr>
        <p:spPr>
          <a:xfrm>
            <a:off x="860425" y="600075"/>
            <a:ext cx="3544888" cy="564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 sz="2400">
                <a:solidFill>
                  <a:srgbClr val="94C600"/>
                </a:solidFill>
              </a:rPr>
              <a:t>Process</a:t>
            </a:r>
            <a:endParaRPr b="1" sz="2400"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A program in execution</a:t>
            </a:r>
            <a:endParaRPr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A process is more than the program code.</a:t>
            </a:r>
            <a:endParaRPr/>
          </a:p>
        </p:txBody>
      </p:sp>
      <p:sp>
        <p:nvSpPr>
          <p:cNvPr id="296" name="Google Shape;296;p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5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298" name="Google Shape;298;p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9" name="Google Shape;2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374" y="1214651"/>
            <a:ext cx="2986881" cy="41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type="title"/>
          </p:nvPr>
        </p:nvSpPr>
        <p:spPr>
          <a:xfrm>
            <a:off x="4746625" y="777875"/>
            <a:ext cx="33004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</a:t>
            </a:r>
            <a:endParaRPr/>
          </a:p>
        </p:txBody>
      </p:sp>
      <p:sp>
        <p:nvSpPr>
          <p:cNvPr id="305" name="Google Shape;305;p6"/>
          <p:cNvSpPr txBox="1"/>
          <p:nvPr>
            <p:ph idx="1" type="body"/>
          </p:nvPr>
        </p:nvSpPr>
        <p:spPr>
          <a:xfrm>
            <a:off x="860425" y="545757"/>
            <a:ext cx="3544888" cy="564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/>
              <a:t>Multiple parts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The program code, also called </a:t>
            </a:r>
            <a:r>
              <a:rPr b="1" lang="en-US" sz="2000">
                <a:solidFill>
                  <a:srgbClr val="3366FF"/>
                </a:solidFill>
              </a:rPr>
              <a:t>text section</a:t>
            </a:r>
            <a:endParaRPr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Current activity represented by</a:t>
            </a:r>
            <a:r>
              <a:rPr b="1" lang="en-US" sz="2000">
                <a:solidFill>
                  <a:srgbClr val="3366FF"/>
                </a:solidFill>
              </a:rPr>
              <a:t> value of program</a:t>
            </a:r>
            <a:r>
              <a:rPr b="1" lang="en-US" sz="2000"/>
              <a:t> </a:t>
            </a:r>
            <a:r>
              <a:rPr b="1" lang="en-US" sz="2000">
                <a:solidFill>
                  <a:srgbClr val="3366FF"/>
                </a:solidFill>
              </a:rPr>
              <a:t>counter</a:t>
            </a:r>
            <a:r>
              <a:rPr lang="en-US" sz="2000"/>
              <a:t>, </a:t>
            </a:r>
            <a:endParaRPr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Content of processor registers</a:t>
            </a:r>
            <a:endParaRPr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b="1" sz="2000">
              <a:solidFill>
                <a:srgbClr val="3366FF"/>
              </a:solidFill>
            </a:endParaRPr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</a:rPr>
              <a:t>Process Stack</a:t>
            </a:r>
            <a:r>
              <a:rPr b="1" lang="en-US" sz="2000"/>
              <a:t> </a:t>
            </a:r>
            <a:r>
              <a:rPr lang="en-US" sz="2000"/>
              <a:t>containing temporary data</a:t>
            </a:r>
            <a:endParaRPr/>
          </a:p>
          <a:p>
            <a:pPr indent="-171450" lvl="1" marL="6286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Function parameters, return addresses, local variables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p6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308" name="Google Shape;308;p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9" name="Google Shape;3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374" y="1214651"/>
            <a:ext cx="2986881" cy="41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 txBox="1"/>
          <p:nvPr>
            <p:ph type="title"/>
          </p:nvPr>
        </p:nvSpPr>
        <p:spPr>
          <a:xfrm>
            <a:off x="4746625" y="750716"/>
            <a:ext cx="33004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</a:t>
            </a:r>
            <a:endParaRPr/>
          </a:p>
        </p:txBody>
      </p:sp>
      <p:sp>
        <p:nvSpPr>
          <p:cNvPr id="315" name="Google Shape;315;p7"/>
          <p:cNvSpPr txBox="1"/>
          <p:nvPr>
            <p:ph idx="1" type="body"/>
          </p:nvPr>
        </p:nvSpPr>
        <p:spPr>
          <a:xfrm>
            <a:off x="860425" y="600075"/>
            <a:ext cx="3544888" cy="564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/>
              <a:t>Multiple parts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</a:rPr>
              <a:t>Data section</a:t>
            </a:r>
            <a:r>
              <a:rPr b="1" lang="en-US" sz="2000"/>
              <a:t> containing global variables</a:t>
            </a:r>
            <a:endParaRPr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b="1" sz="2000">
              <a:solidFill>
                <a:srgbClr val="3366FF"/>
              </a:solidFill>
            </a:endParaRPr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</a:rPr>
              <a:t>Heap</a:t>
            </a:r>
            <a:r>
              <a:rPr b="1" lang="en-US" sz="2000"/>
              <a:t> </a:t>
            </a:r>
            <a:r>
              <a:rPr lang="en-US" sz="2000"/>
              <a:t>containing </a:t>
            </a:r>
            <a:r>
              <a:rPr b="1" lang="en-US" sz="2000"/>
              <a:t>memory dynamically allocated during run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7" name="Google Shape;317;p7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318" name="Google Shape;318;p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9" name="Google Shape;3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374" y="1214651"/>
            <a:ext cx="2986881" cy="41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 txBox="1"/>
          <p:nvPr>
            <p:ph type="title"/>
          </p:nvPr>
        </p:nvSpPr>
        <p:spPr>
          <a:xfrm>
            <a:off x="1412875" y="849313"/>
            <a:ext cx="6107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</a:t>
            </a:r>
            <a:endParaRPr/>
          </a:p>
        </p:txBody>
      </p:sp>
      <p:sp>
        <p:nvSpPr>
          <p:cNvPr id="325" name="Google Shape;325;p8"/>
          <p:cNvSpPr txBox="1"/>
          <p:nvPr>
            <p:ph idx="1" type="body"/>
          </p:nvPr>
        </p:nvSpPr>
        <p:spPr>
          <a:xfrm>
            <a:off x="860425" y="1668463"/>
            <a:ext cx="7370763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An operating system executes a variety of programs:</a:t>
            </a:r>
            <a:endParaRPr/>
          </a:p>
          <a:p>
            <a:pPr indent="-273050" lvl="1" marL="639763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US"/>
              <a:t>Batch system – </a:t>
            </a:r>
            <a:r>
              <a:rPr b="1" lang="en-US">
                <a:solidFill>
                  <a:srgbClr val="3366FF"/>
                </a:solidFill>
              </a:rPr>
              <a:t>jobs</a:t>
            </a:r>
            <a:endParaRPr/>
          </a:p>
          <a:p>
            <a:pPr indent="-273050" lvl="1" marL="639763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US"/>
              <a:t>Time-shared systems – </a:t>
            </a:r>
            <a:r>
              <a:rPr b="1" lang="en-US">
                <a:solidFill>
                  <a:srgbClr val="3366FF"/>
                </a:solidFill>
              </a:rPr>
              <a:t>user programs </a:t>
            </a:r>
            <a:r>
              <a:rPr lang="en-US"/>
              <a:t>or </a:t>
            </a:r>
            <a:r>
              <a:rPr b="1" lang="en-US">
                <a:solidFill>
                  <a:srgbClr val="3366FF"/>
                </a:solidFill>
              </a:rPr>
              <a:t>tasks</a:t>
            </a:r>
            <a:endParaRPr/>
          </a:p>
          <a:p>
            <a:pPr indent="-157226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305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b="1" lang="en-US" u="sng"/>
              <a:t>The terms </a:t>
            </a:r>
            <a:r>
              <a:rPr b="1" i="1" lang="en-US" u="sng"/>
              <a:t>job</a:t>
            </a:r>
            <a:r>
              <a:rPr b="1" lang="en-US" u="sng"/>
              <a:t> and </a:t>
            </a:r>
            <a:r>
              <a:rPr b="1" i="1" lang="en-US" u="sng"/>
              <a:t>process</a:t>
            </a:r>
            <a:r>
              <a:rPr b="1" lang="en-US" u="sng"/>
              <a:t> are used almost interchangeably</a:t>
            </a:r>
            <a:endParaRPr/>
          </a:p>
          <a:p>
            <a:pPr indent="-27305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p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p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>
            <p:ph type="title"/>
          </p:nvPr>
        </p:nvSpPr>
        <p:spPr>
          <a:xfrm>
            <a:off x="1576388" y="428625"/>
            <a:ext cx="6107112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 (Cont.)</a:t>
            </a:r>
            <a:endParaRPr/>
          </a:p>
        </p:txBody>
      </p:sp>
      <p:sp>
        <p:nvSpPr>
          <p:cNvPr id="334" name="Google Shape;334;p9"/>
          <p:cNvSpPr txBox="1"/>
          <p:nvPr>
            <p:ph idx="1" type="body"/>
          </p:nvPr>
        </p:nvSpPr>
        <p:spPr>
          <a:xfrm>
            <a:off x="933450" y="1465263"/>
            <a:ext cx="7164388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program by itself is not a process.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Program is </a:t>
            </a:r>
            <a:r>
              <a:rPr b="1" i="1" lang="en-US" sz="2000"/>
              <a:t>passive</a:t>
            </a:r>
            <a:r>
              <a:rPr b="1" lang="en-US" sz="2000"/>
              <a:t> entity stored on disk (</a:t>
            </a:r>
            <a:r>
              <a:rPr b="1" lang="en-US" sz="2000">
                <a:solidFill>
                  <a:srgbClr val="3366FF"/>
                </a:solidFill>
              </a:rPr>
              <a:t>executable file</a:t>
            </a:r>
            <a:r>
              <a:rPr b="1" lang="en-US" sz="2000"/>
              <a:t>),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Eg- A file containing a list of instructions stored on a disk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Process is </a:t>
            </a:r>
            <a:r>
              <a:rPr b="1" i="1" lang="en-US" sz="2000"/>
              <a:t>active entity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An Active entity </a:t>
            </a:r>
            <a:r>
              <a:rPr lang="en-US" sz="2000"/>
              <a:t>with a program counter specifying the next instruction to execute and a set of associated resources</a:t>
            </a:r>
            <a:endParaRPr b="1" i="1" sz="2000"/>
          </a:p>
          <a:p>
            <a:pPr indent="-157226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305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7" name="Google Shape;337;p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 txBox="1"/>
          <p:nvPr>
            <p:ph type="title"/>
          </p:nvPr>
        </p:nvSpPr>
        <p:spPr>
          <a:xfrm>
            <a:off x="1245240" y="2327157"/>
            <a:ext cx="663733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When does a Program become a process?</a:t>
            </a:r>
            <a:endParaRPr b="1" sz="3200"/>
          </a:p>
        </p:txBody>
      </p:sp>
      <p:sp>
        <p:nvSpPr>
          <p:cNvPr id="343" name="Google Shape;343;p1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4" name="Google Shape;344;p1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345" name="Google Shape;345;p1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 txBox="1"/>
          <p:nvPr>
            <p:ph type="title"/>
          </p:nvPr>
        </p:nvSpPr>
        <p:spPr>
          <a:xfrm>
            <a:off x="1576388" y="428625"/>
            <a:ext cx="6107112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 (Cont.)</a:t>
            </a:r>
            <a:endParaRPr/>
          </a:p>
        </p:txBody>
      </p:sp>
      <p:sp>
        <p:nvSpPr>
          <p:cNvPr id="351" name="Google Shape;351;p11"/>
          <p:cNvSpPr txBox="1"/>
          <p:nvPr>
            <p:ph idx="1" type="body"/>
          </p:nvPr>
        </p:nvSpPr>
        <p:spPr>
          <a:xfrm>
            <a:off x="933450" y="1465263"/>
            <a:ext cx="7164388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Program becomes process when executable file is  loaded from disk into memory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305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3" name="Google Shape;353;p1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1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 txBox="1"/>
          <p:nvPr>
            <p:ph type="title"/>
          </p:nvPr>
        </p:nvSpPr>
        <p:spPr>
          <a:xfrm>
            <a:off x="1245240" y="2327157"/>
            <a:ext cx="663733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When is an executable file loaded into memory?</a:t>
            </a:r>
            <a:endParaRPr b="1" sz="3200"/>
          </a:p>
        </p:txBody>
      </p:sp>
      <p:sp>
        <p:nvSpPr>
          <p:cNvPr id="360" name="Google Shape;360;p1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p1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362" name="Google Shape;362;p1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type="title"/>
          </p:nvPr>
        </p:nvSpPr>
        <p:spPr>
          <a:xfrm>
            <a:off x="1576388" y="428625"/>
            <a:ext cx="6107112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Concept (Cont.)</a:t>
            </a:r>
            <a:endParaRPr/>
          </a:p>
        </p:txBody>
      </p:sp>
      <p:sp>
        <p:nvSpPr>
          <p:cNvPr id="368" name="Google Shape;368;p13"/>
          <p:cNvSpPr txBox="1"/>
          <p:nvPr>
            <p:ph idx="1" type="body"/>
          </p:nvPr>
        </p:nvSpPr>
        <p:spPr>
          <a:xfrm>
            <a:off x="933450" y="1465263"/>
            <a:ext cx="7164388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Two common techniques for loading executable files are :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Double-clicking an icon representing the executable file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Entering the name of the executable file on the command line</a:t>
            </a:r>
            <a:endParaRPr b="1" sz="2000"/>
          </a:p>
          <a:p>
            <a:pPr indent="-176529" lvl="1" marL="639763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653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24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0" name="Google Shape;370;p1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1" name="Google Shape;371;p1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 txBox="1"/>
          <p:nvPr>
            <p:ph type="title"/>
          </p:nvPr>
        </p:nvSpPr>
        <p:spPr>
          <a:xfrm>
            <a:off x="1003300" y="631825"/>
            <a:ext cx="7024688" cy="419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Process Concept (Cont.)</a:t>
            </a:r>
            <a:endParaRPr/>
          </a:p>
        </p:txBody>
      </p:sp>
      <p:sp>
        <p:nvSpPr>
          <p:cNvPr id="377" name="Google Shape;377;p14"/>
          <p:cNvSpPr txBox="1"/>
          <p:nvPr>
            <p:ph idx="1" type="body"/>
          </p:nvPr>
        </p:nvSpPr>
        <p:spPr>
          <a:xfrm>
            <a:off x="1180862" y="1296205"/>
            <a:ext cx="6844021" cy="11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0" lang="en-US" sz="2000"/>
              <a:t>Two processes may be associated with the same program but are separate execution sequences.</a:t>
            </a:r>
            <a:endParaRPr/>
          </a:p>
          <a:p>
            <a:pPr indent="-246380" lvl="0" marL="34290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b="0"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One program can have several processes</a:t>
            </a:r>
            <a:endParaRPr sz="2000"/>
          </a:p>
        </p:txBody>
      </p:sp>
      <p:sp>
        <p:nvSpPr>
          <p:cNvPr id="378" name="Google Shape;378;p14"/>
          <p:cNvSpPr txBox="1"/>
          <p:nvPr>
            <p:ph idx="2" type="body"/>
          </p:nvPr>
        </p:nvSpPr>
        <p:spPr>
          <a:xfrm>
            <a:off x="1041400" y="2974975"/>
            <a:ext cx="3419475" cy="28352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64008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/>
              <a:t>Consider multiple users executing the same program.</a:t>
            </a:r>
            <a:endParaRPr/>
          </a:p>
          <a:p>
            <a:pPr indent="-177800" lvl="1" marL="6400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  <a:p>
            <a:pPr indent="-274320" lvl="1" marL="6400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/>
              <a:t>Eg-several users may be running different copies of the mail program.</a:t>
            </a:r>
            <a:endParaRPr/>
          </a:p>
          <a:p>
            <a:pPr indent="0" lvl="1" marL="36576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379" name="Google Shape;379;p14"/>
          <p:cNvSpPr txBox="1"/>
          <p:nvPr>
            <p:ph idx="4" type="body"/>
          </p:nvPr>
        </p:nvSpPr>
        <p:spPr>
          <a:xfrm>
            <a:off x="4645025" y="2974975"/>
            <a:ext cx="3419475" cy="28352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1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/>
              <a:t>Same user may invoke many copies of the editor program, Each one of them is a separate process.</a:t>
            </a:r>
            <a:endParaRPr/>
          </a:p>
          <a:p>
            <a:pPr indent="-177800" lvl="1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  <a:p>
            <a:pPr indent="-274320" lvl="1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/>
              <a:t>The text sections are equivalent, data sections may vary.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1" name="Google Shape;381;p1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2" name="Google Shape;382;p1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388" name="Google Shape;388;p15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US"/>
              <a:t>As a process executes, </a:t>
            </a:r>
            <a:r>
              <a:rPr b="1" lang="en-US"/>
              <a:t>it changes </a:t>
            </a:r>
            <a:r>
              <a:rPr b="1" lang="en-US">
                <a:solidFill>
                  <a:srgbClr val="3366FF"/>
                </a:solidFill>
              </a:rPr>
              <a:t>state. </a:t>
            </a:r>
            <a:endParaRPr/>
          </a:p>
          <a:p>
            <a:pPr indent="-175869" lvl="0" marL="34290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8"/>
              </a:spcBef>
              <a:spcAft>
                <a:spcPts val="0"/>
              </a:spcAft>
              <a:buSzPct val="76000"/>
              <a:buChar char="🞇"/>
            </a:pPr>
            <a:r>
              <a:rPr lang="en-US"/>
              <a:t>Each process may be in one of the following states:</a:t>
            </a:r>
            <a:endParaRPr b="1">
              <a:solidFill>
                <a:srgbClr val="3366FF"/>
              </a:solidFill>
            </a:endParaRPr>
          </a:p>
          <a:p>
            <a:pPr indent="-274320" lvl="1" marL="640080" rtl="0" algn="l">
              <a:spcBef>
                <a:spcPts val="374"/>
              </a:spcBef>
              <a:spcAft>
                <a:spcPts val="0"/>
              </a:spcAft>
              <a:buSzPct val="76000"/>
              <a:buChar char="🞇"/>
            </a:pPr>
            <a:r>
              <a:rPr b="1" lang="en-US"/>
              <a:t>new</a:t>
            </a:r>
            <a:r>
              <a:rPr lang="en-US"/>
              <a:t>:  The process is being created</a:t>
            </a:r>
            <a:endParaRPr/>
          </a:p>
          <a:p>
            <a:pPr indent="-184073" lvl="1" marL="640080" rtl="0" algn="l">
              <a:spcBef>
                <a:spcPts val="37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274320" lvl="1" marL="640080" rtl="0" algn="l">
              <a:spcBef>
                <a:spcPts val="374"/>
              </a:spcBef>
              <a:spcAft>
                <a:spcPts val="0"/>
              </a:spcAft>
              <a:buSzPct val="76000"/>
              <a:buChar char="🞇"/>
            </a:pPr>
            <a:r>
              <a:rPr b="1" lang="en-US"/>
              <a:t>running</a:t>
            </a:r>
            <a:r>
              <a:rPr lang="en-US"/>
              <a:t>:  Instructions are being executed</a:t>
            </a:r>
            <a:endParaRPr/>
          </a:p>
          <a:p>
            <a:pPr indent="-184073" lvl="1" marL="640080" rtl="0" algn="l">
              <a:spcBef>
                <a:spcPts val="37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/>
          </a:p>
          <a:p>
            <a:pPr indent="-274320" lvl="1" marL="640080" rtl="0" algn="l">
              <a:spcBef>
                <a:spcPts val="374"/>
              </a:spcBef>
              <a:spcAft>
                <a:spcPts val="0"/>
              </a:spcAft>
              <a:buSzPct val="76000"/>
              <a:buChar char="🞇"/>
            </a:pPr>
            <a:r>
              <a:rPr b="1" lang="en-US"/>
              <a:t>Blocked/Waiting</a:t>
            </a:r>
            <a:r>
              <a:rPr lang="en-US"/>
              <a:t>:  The process is waiting for some event to occur (I/O completion or reception of signal)</a:t>
            </a:r>
            <a:endParaRPr/>
          </a:p>
          <a:p>
            <a:pPr indent="-184073" lvl="1" marL="640080" rtl="0" algn="l">
              <a:spcBef>
                <a:spcPts val="37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/>
          </a:p>
          <a:p>
            <a:pPr indent="-274320" lvl="1" marL="640080" rtl="0" algn="l">
              <a:spcBef>
                <a:spcPts val="374"/>
              </a:spcBef>
              <a:spcAft>
                <a:spcPts val="0"/>
              </a:spcAft>
              <a:buSzPct val="76000"/>
              <a:buChar char="🞇"/>
            </a:pPr>
            <a:r>
              <a:rPr b="1" lang="en-US"/>
              <a:t>ready</a:t>
            </a:r>
            <a:r>
              <a:rPr lang="en-US"/>
              <a:t>:  The process is waiting to be assigned to a processor</a:t>
            </a:r>
            <a:endParaRPr/>
          </a:p>
          <a:p>
            <a:pPr indent="-184073" lvl="1" marL="640080" rtl="0" algn="l">
              <a:spcBef>
                <a:spcPts val="37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/>
          </a:p>
          <a:p>
            <a:pPr indent="-274320" lvl="1" marL="640080" rtl="0" algn="l">
              <a:spcBef>
                <a:spcPts val="374"/>
              </a:spcBef>
              <a:spcAft>
                <a:spcPts val="0"/>
              </a:spcAft>
              <a:buSzPct val="76000"/>
              <a:buChar char="🞇"/>
            </a:pPr>
            <a:r>
              <a:rPr b="1" lang="en-US"/>
              <a:t>terminated</a:t>
            </a:r>
            <a:r>
              <a:rPr lang="en-US"/>
              <a:t>:  The process has finished execution</a:t>
            </a:r>
            <a:endParaRPr/>
          </a:p>
        </p:txBody>
      </p:sp>
      <p:sp>
        <p:nvSpPr>
          <p:cNvPr id="389" name="Google Shape;389;p1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0" name="Google Shape;390;p1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1" name="Google Shape;391;p1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392" name="Google Shape;392;p15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Book-Galvin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398" name="Google Shape;398;p16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New</a:t>
            </a:r>
            <a:r>
              <a:rPr lang="en-US"/>
              <a:t>:  </a:t>
            </a:r>
            <a:endParaRPr/>
          </a:p>
          <a:p>
            <a:pPr indent="-274320" lvl="0" marL="343217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process that has just been created </a:t>
            </a:r>
            <a:endParaRPr sz="2000"/>
          </a:p>
          <a:p>
            <a:pPr indent="-274320" lvl="0" marL="343217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Not yet been admitted to the pool of executable processes by the OS. </a:t>
            </a:r>
            <a:endParaRPr sz="2000"/>
          </a:p>
          <a:p>
            <a:pPr indent="-274320" lvl="0" marL="343217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new process has not yet been loaded into main memory, </a:t>
            </a:r>
            <a:endParaRPr sz="2000"/>
          </a:p>
          <a:p>
            <a:pPr indent="-274320" lvl="0" marL="343217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Although its process control block has been created.</a:t>
            </a:r>
            <a:endParaRPr sz="2000"/>
          </a:p>
        </p:txBody>
      </p:sp>
      <p:sp>
        <p:nvSpPr>
          <p:cNvPr id="399" name="Google Shape;399;p1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0" name="Google Shape;400;p1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1" name="Google Shape;401;p1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02" name="Google Shape;402;p1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New</a:t>
            </a:r>
            <a:r>
              <a:rPr lang="en-US"/>
              <a:t>:  </a:t>
            </a:r>
            <a:endParaRPr/>
          </a:p>
        </p:txBody>
      </p:sp>
      <p:sp>
        <p:nvSpPr>
          <p:cNvPr id="408" name="Google Shape;408;p17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For example,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User attempts to log on to a time-sharing system or a new batch job is submitted for execution, </a:t>
            </a:r>
            <a:endParaRPr b="1"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What will Happen next?</a:t>
            </a:r>
            <a:endParaRPr b="1" sz="2000"/>
          </a:p>
        </p:txBody>
      </p:sp>
      <p:sp>
        <p:nvSpPr>
          <p:cNvPr id="409" name="Google Shape;409;p1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0" name="Google Shape;410;p1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1" name="Google Shape;411;p1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New</a:t>
            </a:r>
            <a:r>
              <a:rPr lang="en-US"/>
              <a:t>:  </a:t>
            </a:r>
            <a:endParaRPr/>
          </a:p>
        </p:txBody>
      </p:sp>
      <p:sp>
        <p:nvSpPr>
          <p:cNvPr id="418" name="Google Shape;418;p18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OS can define a new process. </a:t>
            </a:r>
            <a:endParaRPr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An identifier is associated with the process. </a:t>
            </a:r>
            <a:endParaRPr b="1" sz="2000"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Any tables that will be needed to manage the process are allocated and built.</a:t>
            </a:r>
            <a:endParaRPr/>
          </a:p>
          <a:p>
            <a:pPr indent="-36068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b="1"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This means that the OS has performed the necessary actions to create the process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But has not committed itself to the execution of the process.</a:t>
            </a:r>
            <a:endParaRPr sz="2000"/>
          </a:p>
        </p:txBody>
      </p:sp>
      <p:sp>
        <p:nvSpPr>
          <p:cNvPr id="419" name="Google Shape;419;p1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0" name="Google Shape;420;p1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1" name="Google Shape;421;p1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22" name="Google Shape;422;p18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New</a:t>
            </a:r>
            <a:r>
              <a:rPr lang="en-US"/>
              <a:t>:  </a:t>
            </a:r>
            <a:endParaRPr/>
          </a:p>
        </p:txBody>
      </p:sp>
      <p:sp>
        <p:nvSpPr>
          <p:cNvPr id="428" name="Google Shape;428;p19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While a process is in the new state, information concerning the process that is needed by the OS is maintained in control tables in main memory.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However, the process itself is not in main memory. 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Where then?</a:t>
            </a:r>
            <a:endParaRPr/>
          </a:p>
        </p:txBody>
      </p:sp>
      <p:sp>
        <p:nvSpPr>
          <p:cNvPr id="429" name="Google Shape;429;p1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0" name="Google Shape;430;p1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p1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32" name="Google Shape;432;p19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New</a:t>
            </a:r>
            <a:r>
              <a:rPr lang="en-US"/>
              <a:t>:  </a:t>
            </a:r>
            <a:endParaRPr/>
          </a:p>
        </p:txBody>
      </p:sp>
      <p:sp>
        <p:nvSpPr>
          <p:cNvPr id="438" name="Google Shape;438;p20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705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The code of the program to be executed is not in main memory, and </a:t>
            </a:r>
            <a:endParaRPr sz="2000"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No space has been allocated for the data associated with that program.</a:t>
            </a:r>
            <a:endParaRPr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While the process is in the New state, the program remains in secondary storage, typically disk storage.</a:t>
            </a:r>
            <a:endParaRPr sz="2000"/>
          </a:p>
        </p:txBody>
      </p:sp>
      <p:sp>
        <p:nvSpPr>
          <p:cNvPr id="439" name="Google Shape;439;p2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0" name="Google Shape;440;p2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1" name="Google Shape;441;p2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42" name="Google Shape;442;p20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448" name="Google Shape;448;p21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Ready</a:t>
            </a:r>
            <a:r>
              <a:rPr lang="en-US"/>
              <a:t>: 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process that is prepared to execute when given the opportunity.</a:t>
            </a:r>
            <a:endParaRPr sz="2000"/>
          </a:p>
        </p:txBody>
      </p:sp>
      <p:sp>
        <p:nvSpPr>
          <p:cNvPr id="449" name="Google Shape;449;p2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0" name="Google Shape;450;p2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1" name="Google Shape;451;p2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458" name="Google Shape;458;p22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Running</a:t>
            </a:r>
            <a:r>
              <a:rPr lang="en-US"/>
              <a:t>: 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process that is currently being executed</a:t>
            </a:r>
            <a:endParaRPr sz="2000"/>
          </a:p>
        </p:txBody>
      </p:sp>
      <p:sp>
        <p:nvSpPr>
          <p:cNvPr id="459" name="Google Shape;459;p2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0" name="Google Shape;460;p2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1" name="Google Shape;461;p2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62" name="Google Shape;462;p22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468" name="Google Shape;468;p23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Blocked/Waiting</a:t>
            </a:r>
            <a:r>
              <a:rPr lang="en-US"/>
              <a:t>: 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process that cannot execute until some event occurs,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Such as the completion of an I/O operation.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I/O completion or reception of signal</a:t>
            </a:r>
            <a:endParaRPr sz="2000"/>
          </a:p>
        </p:txBody>
      </p:sp>
      <p:sp>
        <p:nvSpPr>
          <p:cNvPr id="469" name="Google Shape;469;p2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0" name="Google Shape;470;p2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1" name="Google Shape;471;p2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4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Terminated/Exit: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process that has been released from the pool of executable processes by the OS,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Either because it halted or because it aborted for some reason.</a:t>
            </a:r>
            <a:endParaRPr sz="2000"/>
          </a:p>
        </p:txBody>
      </p:sp>
      <p:sp>
        <p:nvSpPr>
          <p:cNvPr id="479" name="Google Shape;479;p2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0" name="Google Shape;480;p2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1" name="Google Shape;481;p2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488" name="Google Shape;488;p25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Terminated/Exit: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process is terminated –</a:t>
            </a:r>
            <a:endParaRPr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When it reaches a natural completion point, </a:t>
            </a:r>
            <a:endParaRPr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When it aborts due to an unrecoverable error, or </a:t>
            </a:r>
            <a:endParaRPr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When another process with the appropriate authority causes the process to abort</a:t>
            </a:r>
            <a:endParaRPr/>
          </a:p>
        </p:txBody>
      </p:sp>
      <p:sp>
        <p:nvSpPr>
          <p:cNvPr id="489" name="Google Shape;489;p2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0" name="Google Shape;490;p2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1" name="Google Shape;491;p2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498" name="Google Shape;498;p26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Terminated/Exit: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Termination moves the process to the exit state.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At this point, the process is no longer eligible for execution.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tables and other information associated with the job are temporarily preserved by the OS, which provides time for auxiliary or support programs to extract any needed information. </a:t>
            </a:r>
            <a:endParaRPr sz="2000"/>
          </a:p>
        </p:txBody>
      </p:sp>
      <p:sp>
        <p:nvSpPr>
          <p:cNvPr id="499" name="Google Shape;499;p2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0" name="Google Shape;500;p2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1" name="Google Shape;501;p2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02" name="Google Shape;502;p2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7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508" name="Google Shape;508;p27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Terminated/Exit:</a:t>
            </a:r>
            <a:endParaRPr/>
          </a:p>
          <a:p>
            <a:pPr indent="0" lvl="0" marL="6985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For example, </a:t>
            </a:r>
            <a:endParaRPr b="1"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An accounting program may need to record the processor time and other resources utilized by the process for billing purposes.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utility program may need to extract information about the history of the process for purposes related to performance or utilization analysis. </a:t>
            </a:r>
            <a:endParaRPr sz="2000"/>
          </a:p>
        </p:txBody>
      </p:sp>
      <p:sp>
        <p:nvSpPr>
          <p:cNvPr id="509" name="Google Shape;509;p2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0" name="Google Shape;510;p2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1" name="Google Shape;511;p2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12" name="Google Shape;512;p27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</a:t>
            </a:r>
            <a:endParaRPr/>
          </a:p>
        </p:txBody>
      </p:sp>
      <p:sp>
        <p:nvSpPr>
          <p:cNvPr id="518" name="Google Shape;518;p28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Terminated/Exit: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Once these programs have extracted the needed information,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OS no longer needs to maintain any data relating to the process and the process is deleted from the system.</a:t>
            </a:r>
            <a:endParaRPr sz="2000"/>
          </a:p>
        </p:txBody>
      </p:sp>
      <p:sp>
        <p:nvSpPr>
          <p:cNvPr id="519" name="Google Shape;519;p2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0" name="Google Shape;520;p2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1" name="Google Shape;521;p2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22" name="Google Shape;522;p28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"/>
          <p:cNvSpPr txBox="1"/>
          <p:nvPr>
            <p:ph type="title"/>
          </p:nvPr>
        </p:nvSpPr>
        <p:spPr>
          <a:xfrm>
            <a:off x="739775" y="332691"/>
            <a:ext cx="7947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 Diagram</a:t>
            </a:r>
            <a:endParaRPr/>
          </a:p>
        </p:txBody>
      </p:sp>
      <p:pic>
        <p:nvPicPr>
          <p:cNvPr id="528" name="Google Shape;5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50" y="1308100"/>
            <a:ext cx="6635750" cy="264636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0" name="Google Shape;530;p2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1" name="Google Shape;531;p29"/>
          <p:cNvSpPr txBox="1"/>
          <p:nvPr>
            <p:ph idx="1" type="body"/>
          </p:nvPr>
        </p:nvSpPr>
        <p:spPr>
          <a:xfrm>
            <a:off x="806450" y="4476750"/>
            <a:ext cx="737076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b="1" lang="en-US"/>
              <a:t>Only one process can be running on any processor at any instant, although many processes may be ready and waiting.</a:t>
            </a:r>
            <a:endParaRPr/>
          </a:p>
        </p:txBody>
      </p:sp>
      <p:sp>
        <p:nvSpPr>
          <p:cNvPr id="532" name="Google Shape;532;p2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 txBox="1"/>
          <p:nvPr>
            <p:ph type="title"/>
          </p:nvPr>
        </p:nvSpPr>
        <p:spPr>
          <a:xfrm>
            <a:off x="432441" y="373632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538" name="Google Shape;538;p30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Null to New: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new process is created to execute a program</a:t>
            </a:r>
            <a:endParaRPr sz="2000"/>
          </a:p>
        </p:txBody>
      </p:sp>
      <p:sp>
        <p:nvSpPr>
          <p:cNvPr id="539" name="Google Shape;539;p3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0" name="Google Shape;540;p3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1" name="Google Shape;541;p3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548" name="Google Shape;548;p31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New to Ready: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OS will move a process from the New state to the Ready state when it is prepared to take on an additional process.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Most systems set some limit based on </a:t>
            </a:r>
            <a:endParaRPr sz="2000"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The number of existing processes or </a:t>
            </a:r>
            <a:endParaRPr/>
          </a:p>
          <a:p>
            <a:pPr indent="-457200" lvl="0" marL="5270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The amount of virtual memory committed to existing processes. </a:t>
            </a:r>
            <a:endParaRPr b="1"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This limit assures that there are not so many active processes as to degrade performance.</a:t>
            </a:r>
            <a:endParaRPr sz="2000"/>
          </a:p>
        </p:txBody>
      </p:sp>
      <p:sp>
        <p:nvSpPr>
          <p:cNvPr id="549" name="Google Shape;549;p3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0" name="Google Shape;550;p3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1" name="Google Shape;551;p3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558" name="Google Shape;558;p32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Ready to</a:t>
            </a:r>
            <a:r>
              <a:rPr lang="en-US" sz="2000"/>
              <a:t> </a:t>
            </a:r>
            <a:r>
              <a:rPr b="1" lang="en-US" sz="2000"/>
              <a:t>Running: </a:t>
            </a:r>
            <a:endParaRPr b="1"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When it is time to select a process to run, the OS chooses one of the processes in the Ready state.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This is the job of the scheduler or dispatcher.</a:t>
            </a:r>
            <a:endParaRPr sz="2000"/>
          </a:p>
        </p:txBody>
      </p:sp>
      <p:sp>
        <p:nvSpPr>
          <p:cNvPr id="559" name="Google Shape;559;p3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0" name="Google Shape;560;p3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1" name="Google Shape;561;p3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62" name="Google Shape;562;p32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3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568" name="Google Shape;568;p33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Running to Exit: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currently running process is terminated by the OS if the process indicates that it has completed, or if it aborts.</a:t>
            </a:r>
            <a:endParaRPr sz="2000"/>
          </a:p>
        </p:txBody>
      </p:sp>
      <p:sp>
        <p:nvSpPr>
          <p:cNvPr id="569" name="Google Shape;569;p3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0" name="Google Shape;570;p3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1" name="Google Shape;571;p3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72" name="Google Shape;572;p33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4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578" name="Google Shape;578;p34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Running to Ready: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most common reason for this transition is that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running process has reached the maximum allowable time for uninterrupted execution.</a:t>
            </a:r>
            <a:endParaRPr/>
          </a:p>
        </p:txBody>
      </p:sp>
      <p:sp>
        <p:nvSpPr>
          <p:cNvPr id="579" name="Google Shape;579;p3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0" name="Google Shape;580;p3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1" name="Google Shape;581;p3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82" name="Google Shape;582;p34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83" name="Google Shape;5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229" y="3023264"/>
            <a:ext cx="6552702" cy="2863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5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589" name="Google Shape;589;p35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Running to Ready: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There are several other alternative causes for this transition-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OS assigns different levels of priority to different processes. </a:t>
            </a:r>
            <a:endParaRPr sz="2000"/>
          </a:p>
          <a:p>
            <a:pPr indent="0" lvl="0" marL="6985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590" name="Google Shape;590;p3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1" name="Google Shape;591;p3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2" name="Google Shape;592;p3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593" name="Google Shape;593;p35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94" name="Google Shape;5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229" y="3023264"/>
            <a:ext cx="6552702" cy="2863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6"/>
          <p:cNvSpPr txBox="1"/>
          <p:nvPr>
            <p:ph type="title"/>
          </p:nvPr>
        </p:nvSpPr>
        <p:spPr>
          <a:xfrm>
            <a:off x="1360488" y="182563"/>
            <a:ext cx="6251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State Transition</a:t>
            </a:r>
            <a:endParaRPr/>
          </a:p>
        </p:txBody>
      </p:sp>
      <p:sp>
        <p:nvSpPr>
          <p:cNvPr id="600" name="Google Shape;600;p36"/>
          <p:cNvSpPr txBox="1"/>
          <p:nvPr>
            <p:ph idx="1" type="body"/>
          </p:nvPr>
        </p:nvSpPr>
        <p:spPr>
          <a:xfrm>
            <a:off x="806450" y="1246188"/>
            <a:ext cx="73707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897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lang="en-US"/>
              <a:t>Running to Ready:</a:t>
            </a:r>
            <a:endParaRPr/>
          </a:p>
          <a:p>
            <a:pPr indent="0" lvl="0" marL="6985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For Example-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Process A is running at a given priority level, and process B, at a higher priority level, is blocked.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the OS learns that the event upon which process B has been waiting has occurred, moving B to a ready state,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Then it can interrupt process A and dispatch process B.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Thus, the OS has pre-empted process A</a:t>
            </a:r>
            <a:endParaRPr sz="2000"/>
          </a:p>
        </p:txBody>
      </p:sp>
      <p:sp>
        <p:nvSpPr>
          <p:cNvPr id="601" name="Google Shape;601;p3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2" name="Google Shape;602;p3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3" name="Google Shape;603;p3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604" name="Google Shape;604;p36"/>
          <p:cNvSpPr txBox="1"/>
          <p:nvPr/>
        </p:nvSpPr>
        <p:spPr>
          <a:xfrm>
            <a:off x="900752" y="5827594"/>
            <a:ext cx="4735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Book-William Stallings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7"/>
          <p:cNvSpPr txBox="1"/>
          <p:nvPr>
            <p:ph type="title"/>
          </p:nvPr>
        </p:nvSpPr>
        <p:spPr>
          <a:xfrm>
            <a:off x="1004032" y="997114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Control Block (PCB)</a:t>
            </a:r>
            <a:endParaRPr/>
          </a:p>
        </p:txBody>
      </p:sp>
      <p:sp>
        <p:nvSpPr>
          <p:cNvPr id="610" name="Google Shape;610;p37"/>
          <p:cNvSpPr txBox="1"/>
          <p:nvPr>
            <p:ph idx="1" type="body"/>
          </p:nvPr>
        </p:nvSpPr>
        <p:spPr>
          <a:xfrm>
            <a:off x="4733925" y="841973"/>
            <a:ext cx="3302000" cy="4811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rPr b="1" lang="en-US" sz="2000"/>
              <a:t>Information associated with each process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rPr b="1" lang="en-US" sz="2000"/>
              <a:t>(also called </a:t>
            </a:r>
            <a:r>
              <a:rPr b="1" lang="en-US" sz="2000">
                <a:solidFill>
                  <a:srgbClr val="3366FF"/>
                </a:solidFill>
              </a:rPr>
              <a:t>task control block</a:t>
            </a:r>
            <a:r>
              <a:rPr b="1" lang="en-US" sz="2000"/>
              <a:t>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rPr lang="en-US" sz="2000"/>
              <a:t>Repository of any information related to Process</a:t>
            </a:r>
            <a:endParaRPr/>
          </a:p>
        </p:txBody>
      </p:sp>
      <p:sp>
        <p:nvSpPr>
          <p:cNvPr id="611" name="Google Shape;611;p3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12" name="Google Shape;612;p3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13" name="Google Shape;613;p37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"/>
          <p:cNvSpPr txBox="1"/>
          <p:nvPr>
            <p:ph type="title"/>
          </p:nvPr>
        </p:nvSpPr>
        <p:spPr>
          <a:xfrm>
            <a:off x="4706938" y="847725"/>
            <a:ext cx="3300412" cy="5191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Control Block (PCB)</a:t>
            </a:r>
            <a:endParaRPr/>
          </a:p>
        </p:txBody>
      </p:sp>
      <p:sp>
        <p:nvSpPr>
          <p:cNvPr id="619" name="Google Shape;619;p38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20" name="Google Shape;620;p38"/>
          <p:cNvSpPr txBox="1"/>
          <p:nvPr>
            <p:ph idx="1" type="body"/>
          </p:nvPr>
        </p:nvSpPr>
        <p:spPr>
          <a:xfrm>
            <a:off x="4733925" y="1392238"/>
            <a:ext cx="33020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Process state – </a:t>
            </a:r>
            <a:r>
              <a:rPr lang="en-US" sz="2000"/>
              <a:t>running, waiting, etc</a:t>
            </a:r>
            <a:endParaRPr sz="2000"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Program counter – </a:t>
            </a:r>
            <a:r>
              <a:rPr lang="en-US" sz="2000"/>
              <a:t>address of the next instruction to be executed for this process</a:t>
            </a:r>
            <a:endParaRPr/>
          </a:p>
        </p:txBody>
      </p:sp>
      <p:sp>
        <p:nvSpPr>
          <p:cNvPr id="621" name="Google Shape;621;p3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2" name="Google Shape;622;p3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23" name="Google Shape;6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8" y="847725"/>
            <a:ext cx="3103562" cy="51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38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"/>
          <p:cNvSpPr txBox="1"/>
          <p:nvPr>
            <p:ph type="title"/>
          </p:nvPr>
        </p:nvSpPr>
        <p:spPr>
          <a:xfrm>
            <a:off x="4679950" y="684213"/>
            <a:ext cx="3300413" cy="325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Process Control Block (PCB)</a:t>
            </a:r>
            <a:endParaRPr/>
          </a:p>
        </p:txBody>
      </p:sp>
      <p:sp>
        <p:nvSpPr>
          <p:cNvPr id="630" name="Google Shape;630;p39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31" name="Google Shape;631;p39"/>
          <p:cNvSpPr txBox="1"/>
          <p:nvPr>
            <p:ph idx="1" type="body"/>
          </p:nvPr>
        </p:nvSpPr>
        <p:spPr>
          <a:xfrm>
            <a:off x="4652963" y="1119188"/>
            <a:ext cx="3494087" cy="484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US" sz="1800"/>
              <a:t>CPU registers – 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lang="en-US" sz="1800"/>
              <a:t>contents of all process-centric registers, </a:t>
            </a:r>
            <a:endParaRPr/>
          </a:p>
          <a:p>
            <a:pPr indent="-198882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Registers may vary in number and type depending on system architecture. </a:t>
            </a:r>
            <a:endParaRPr b="1" sz="1400"/>
          </a:p>
        </p:txBody>
      </p:sp>
      <p:sp>
        <p:nvSpPr>
          <p:cNvPr id="632" name="Google Shape;632;p3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3" name="Google Shape;633;p3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34" name="Google Shape;63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8" y="847725"/>
            <a:ext cx="3103562" cy="51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9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0"/>
          <p:cNvSpPr txBox="1"/>
          <p:nvPr>
            <p:ph type="title"/>
          </p:nvPr>
        </p:nvSpPr>
        <p:spPr>
          <a:xfrm>
            <a:off x="4679950" y="684213"/>
            <a:ext cx="3300413" cy="325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Process Control Block (PCB)</a:t>
            </a:r>
            <a:endParaRPr/>
          </a:p>
        </p:txBody>
      </p:sp>
      <p:sp>
        <p:nvSpPr>
          <p:cNvPr id="641" name="Google Shape;641;p40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40"/>
          <p:cNvSpPr txBox="1"/>
          <p:nvPr>
            <p:ph idx="1" type="body"/>
          </p:nvPr>
        </p:nvSpPr>
        <p:spPr>
          <a:xfrm>
            <a:off x="4652963" y="1119188"/>
            <a:ext cx="3494087" cy="484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 sz="1800"/>
              <a:t>CPU registers –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lang="en-US" sz="1800"/>
              <a:t>They may include </a:t>
            </a:r>
            <a:endParaRPr/>
          </a:p>
          <a:p>
            <a:pPr indent="-171450" lvl="1" marL="6286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accumulators, </a:t>
            </a:r>
            <a:endParaRPr/>
          </a:p>
          <a:p>
            <a:pPr indent="-171450" lvl="1" marL="6286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index registers , </a:t>
            </a:r>
            <a:endParaRPr/>
          </a:p>
          <a:p>
            <a:pPr indent="-171450" lvl="1" marL="6286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stack pointers and </a:t>
            </a:r>
            <a:endParaRPr/>
          </a:p>
          <a:p>
            <a:pPr indent="-171450" lvl="1" marL="6286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general purpose registers</a:t>
            </a:r>
            <a:endParaRPr/>
          </a:p>
          <a:p>
            <a:pPr indent="-171450" lvl="1" marL="6286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Any condition code information</a:t>
            </a:r>
            <a:endParaRPr/>
          </a:p>
          <a:p>
            <a:pPr indent="6857" lvl="0" marL="8001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  <a:p>
            <a:pPr indent="-80010" lvl="0" marL="8001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When interrupt occurs , then this state information along with program counter must be saved to be continued correctly afterward.</a:t>
            </a:r>
            <a:endParaRPr/>
          </a:p>
        </p:txBody>
      </p:sp>
      <p:sp>
        <p:nvSpPr>
          <p:cNvPr id="643" name="Google Shape;643;p4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4" name="Google Shape;644;p4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45" name="Google Shape;64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8" y="847725"/>
            <a:ext cx="3103562" cy="51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0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1"/>
          <p:cNvSpPr txBox="1"/>
          <p:nvPr>
            <p:ph type="title"/>
          </p:nvPr>
        </p:nvSpPr>
        <p:spPr>
          <a:xfrm>
            <a:off x="4706938" y="820738"/>
            <a:ext cx="3300412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Process Control Block (PCB)</a:t>
            </a:r>
            <a:endParaRPr/>
          </a:p>
        </p:txBody>
      </p:sp>
      <p:sp>
        <p:nvSpPr>
          <p:cNvPr id="652" name="Google Shape;652;p41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41"/>
          <p:cNvSpPr txBox="1"/>
          <p:nvPr>
            <p:ph idx="1" type="body"/>
          </p:nvPr>
        </p:nvSpPr>
        <p:spPr>
          <a:xfrm>
            <a:off x="4733925" y="1377950"/>
            <a:ext cx="3302000" cy="464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CPU scheduling information-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Process priorities,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scheduling queue pointers,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any other scheduling parameters.</a:t>
            </a:r>
            <a:endParaRPr/>
          </a:p>
          <a:p>
            <a:pPr indent="-18923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654" name="Google Shape;654;p4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5" name="Google Shape;655;p4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56" name="Google Shape;6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1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2"/>
          <p:cNvSpPr txBox="1"/>
          <p:nvPr>
            <p:ph type="title"/>
          </p:nvPr>
        </p:nvSpPr>
        <p:spPr>
          <a:xfrm>
            <a:off x="4706938" y="820738"/>
            <a:ext cx="3300412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Process Control Block (PCB)</a:t>
            </a:r>
            <a:endParaRPr/>
          </a:p>
        </p:txBody>
      </p:sp>
      <p:sp>
        <p:nvSpPr>
          <p:cNvPr id="663" name="Google Shape;663;p42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64" name="Google Shape;664;p42"/>
          <p:cNvSpPr txBox="1"/>
          <p:nvPr>
            <p:ph idx="1" type="body"/>
          </p:nvPr>
        </p:nvSpPr>
        <p:spPr>
          <a:xfrm>
            <a:off x="4733925" y="1377950"/>
            <a:ext cx="3302000" cy="464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Memory-management information –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memory allocated to the process,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value of the Base and limit registers,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the page tables or segment tables.</a:t>
            </a:r>
            <a:endParaRPr/>
          </a:p>
        </p:txBody>
      </p:sp>
      <p:sp>
        <p:nvSpPr>
          <p:cNvPr id="665" name="Google Shape;665;p4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6" name="Google Shape;666;p4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67" name="Google Shape;6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2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 txBox="1"/>
          <p:nvPr>
            <p:ph type="title"/>
          </p:nvPr>
        </p:nvSpPr>
        <p:spPr>
          <a:xfrm>
            <a:off x="4706938" y="820738"/>
            <a:ext cx="3300412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Control Block (PCB)</a:t>
            </a:r>
            <a:endParaRPr/>
          </a:p>
        </p:txBody>
      </p:sp>
      <p:sp>
        <p:nvSpPr>
          <p:cNvPr id="674" name="Google Shape;674;p43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75" name="Google Shape;675;p43"/>
          <p:cNvSpPr txBox="1"/>
          <p:nvPr>
            <p:ph idx="1" type="body"/>
          </p:nvPr>
        </p:nvSpPr>
        <p:spPr>
          <a:xfrm>
            <a:off x="4733925" y="1377950"/>
            <a:ext cx="3302000" cy="464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US" sz="1800"/>
              <a:t>Accounting information – 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lang="en-US" sz="1800"/>
              <a:t>CPU used, 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clock time elapsed since start, </a:t>
            </a:r>
            <a:endParaRPr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b="1" lang="en-US" sz="1800"/>
              <a:t>time limits,</a:t>
            </a:r>
            <a:r>
              <a:rPr lang="en-US" sz="1800"/>
              <a:t> </a:t>
            </a:r>
            <a:endParaRPr/>
          </a:p>
          <a:p>
            <a:pPr indent="-198882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676" name="Google Shape;676;p4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7" name="Google Shape;677;p4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78" name="Google Shape;67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3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4"/>
          <p:cNvSpPr txBox="1"/>
          <p:nvPr>
            <p:ph type="title"/>
          </p:nvPr>
        </p:nvSpPr>
        <p:spPr>
          <a:xfrm>
            <a:off x="4706938" y="820738"/>
            <a:ext cx="3300412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Control Block (PCB)</a:t>
            </a:r>
            <a:endParaRPr/>
          </a:p>
        </p:txBody>
      </p:sp>
      <p:sp>
        <p:nvSpPr>
          <p:cNvPr id="685" name="Google Shape;685;p44"/>
          <p:cNvSpPr/>
          <p:nvPr>
            <p:ph idx="2" type="pic"/>
          </p:nvPr>
        </p:nvSpPr>
        <p:spPr>
          <a:xfrm>
            <a:off x="1004888" y="693738"/>
            <a:ext cx="3359150" cy="5468937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44"/>
          <p:cNvSpPr txBox="1"/>
          <p:nvPr>
            <p:ph idx="1" type="body"/>
          </p:nvPr>
        </p:nvSpPr>
        <p:spPr>
          <a:xfrm>
            <a:off x="4733925" y="1377950"/>
            <a:ext cx="3302000" cy="464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/>
              <a:t>I/O status information –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n-US" sz="2000"/>
              <a:t>list of I/O devices allocated to process, 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b="1" lang="en-US" sz="2000"/>
              <a:t>list of open files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687" name="Google Shape;687;p4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8" name="Google Shape;688;p4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89" name="Google Shape;68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820738"/>
            <a:ext cx="3006725" cy="51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4"/>
          <p:cNvSpPr txBox="1"/>
          <p:nvPr>
            <p:ph idx="11" type="ftr"/>
          </p:nvPr>
        </p:nvSpPr>
        <p:spPr>
          <a:xfrm>
            <a:off x="4641850" y="5724525"/>
            <a:ext cx="349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5"/>
          <p:cNvSpPr txBox="1"/>
          <p:nvPr>
            <p:ph type="title"/>
          </p:nvPr>
        </p:nvSpPr>
        <p:spPr>
          <a:xfrm>
            <a:off x="558800" y="687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Switch From Process to Process</a:t>
            </a:r>
            <a:endParaRPr/>
          </a:p>
        </p:txBody>
      </p:sp>
      <p:pic>
        <p:nvPicPr>
          <p:cNvPr id="696" name="Google Shape;696;p45"/>
          <p:cNvPicPr preferRelativeResize="0"/>
          <p:nvPr/>
        </p:nvPicPr>
        <p:blipFill rotWithShape="1">
          <a:blip r:embed="rId3">
            <a:alphaModFix/>
          </a:blip>
          <a:srcRect b="0" l="6422" r="15461" t="0"/>
          <a:stretch/>
        </p:blipFill>
        <p:spPr>
          <a:xfrm>
            <a:off x="777923" y="1200435"/>
            <a:ext cx="7547212" cy="527961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8" name="Google Shape;698;p4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9" name="Google Shape;699;p45"/>
          <p:cNvSpPr txBox="1"/>
          <p:nvPr>
            <p:ph idx="11" type="ftr"/>
          </p:nvPr>
        </p:nvSpPr>
        <p:spPr>
          <a:xfrm>
            <a:off x="4851401" y="6201947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6"/>
          <p:cNvSpPr txBox="1"/>
          <p:nvPr>
            <p:ph type="title"/>
          </p:nvPr>
        </p:nvSpPr>
        <p:spPr>
          <a:xfrm>
            <a:off x="763588" y="33496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Representation in Linux</a:t>
            </a:r>
            <a:endParaRPr/>
          </a:p>
        </p:txBody>
      </p:sp>
      <p:sp>
        <p:nvSpPr>
          <p:cNvPr id="705" name="Google Shape;705;p46"/>
          <p:cNvSpPr txBox="1"/>
          <p:nvPr>
            <p:ph idx="1" type="body"/>
          </p:nvPr>
        </p:nvSpPr>
        <p:spPr>
          <a:xfrm>
            <a:off x="1001713" y="973138"/>
            <a:ext cx="759637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rPr lang="en-US" sz="1800"/>
              <a:t>Represented by the C structure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pid t_pid; /* process identifier */ 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long state; /* state of the process */ 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unsigned int time_slice /* scheduling information */ 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struct task_struct *parent; /* this process’s parent */ 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struct list_head children; /* this process’s children */ 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struct files_struct *files; /* list of open files */ 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struct mm_struct *mm; /* address space of this process 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C:\Users\as668\Desktop\in-3_1.jpg" id="706" name="Google Shape;70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175" y="4411663"/>
            <a:ext cx="5865813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8" name="Google Shape;708;p4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9" name="Google Shape;709;p4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7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What is a Thread?</a:t>
            </a:r>
            <a:endParaRPr/>
          </a:p>
        </p:txBody>
      </p:sp>
      <p:sp>
        <p:nvSpPr>
          <p:cNvPr id="715" name="Google Shape;715;p47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thread is a path of execution within a process.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A process can contain multiple threads.</a:t>
            </a:r>
            <a:endParaRPr/>
          </a:p>
        </p:txBody>
      </p:sp>
      <p:sp>
        <p:nvSpPr>
          <p:cNvPr id="716" name="Google Shape;716;p4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7" name="Google Shape;717;p4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18" name="Google Shape;718;p4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8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Traditional Heavy Weight process</a:t>
            </a:r>
            <a:endParaRPr/>
          </a:p>
        </p:txBody>
      </p:sp>
      <p:sp>
        <p:nvSpPr>
          <p:cNvPr id="724" name="Google Shape;724;p48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Has </a:t>
            </a:r>
            <a:r>
              <a:rPr b="1" lang="en-US" sz="2000"/>
              <a:t>a single thread of control.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Process performs a single thread of execution.</a:t>
            </a:r>
            <a:endParaRPr/>
          </a:p>
          <a:p>
            <a:pPr indent="0" lvl="0" marL="6985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725" name="Google Shape;725;p4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6" name="Google Shape;726;p4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27" name="Google Shape;727;p4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9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Traditional Heavy Weight process</a:t>
            </a:r>
            <a:endParaRPr/>
          </a:p>
        </p:txBody>
      </p:sp>
      <p:sp>
        <p:nvSpPr>
          <p:cNvPr id="733" name="Google Shape;733;p49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/>
              <a:t>For Example,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a process is running a word processor program,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single thread of instructions is being executed.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user could not simultaneously type in characters and run the spell checker within the same process.</a:t>
            </a:r>
            <a:endParaRPr/>
          </a:p>
        </p:txBody>
      </p:sp>
      <p:sp>
        <p:nvSpPr>
          <p:cNvPr id="734" name="Google Shape;734;p4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5" name="Google Shape;735;p4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36" name="Google Shape;736;p4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0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Multithreaded Process</a:t>
            </a:r>
            <a:endParaRPr/>
          </a:p>
        </p:txBody>
      </p:sp>
      <p:sp>
        <p:nvSpPr>
          <p:cNvPr id="742" name="Google Shape;742;p50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a process has </a:t>
            </a:r>
            <a:r>
              <a:rPr b="1" lang="en-US" sz="2000"/>
              <a:t>multiple threads of control</a:t>
            </a:r>
            <a:r>
              <a:rPr lang="en-US" sz="2000"/>
              <a:t>,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It can do </a:t>
            </a:r>
            <a:r>
              <a:rPr b="1" lang="en-US" sz="2000"/>
              <a:t>more than one task </a:t>
            </a:r>
            <a:r>
              <a:rPr lang="en-US" sz="2000"/>
              <a:t>at a time.</a:t>
            </a:r>
            <a:endParaRPr/>
          </a:p>
        </p:txBody>
      </p:sp>
      <p:sp>
        <p:nvSpPr>
          <p:cNvPr id="743" name="Google Shape;743;p5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4" name="Google Shape;744;p5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45" name="Google Shape;745;p5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1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Why Multithreading?</a:t>
            </a:r>
            <a:endParaRPr/>
          </a:p>
        </p:txBody>
      </p:sp>
      <p:sp>
        <p:nvSpPr>
          <p:cNvPr id="751" name="Google Shape;751;p51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thread is also known as lightweight process.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idea is to </a:t>
            </a:r>
            <a:r>
              <a:rPr b="1" lang="en-US" sz="2000"/>
              <a:t>achieve parallelism by dividing a process into multiple threads. 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752" name="Google Shape;752;p5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3" name="Google Shape;753;p5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54" name="Google Shape;754;p5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2"/>
          <p:cNvSpPr txBox="1"/>
          <p:nvPr>
            <p:ph type="title"/>
          </p:nvPr>
        </p:nvSpPr>
        <p:spPr>
          <a:xfrm>
            <a:off x="914400" y="5461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Single and Multithreaded Processes</a:t>
            </a:r>
            <a:endParaRPr/>
          </a:p>
        </p:txBody>
      </p:sp>
      <p:pic>
        <p:nvPicPr>
          <p:cNvPr descr="4_01.pdf" id="761" name="Google Shape;76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295400"/>
            <a:ext cx="6884988" cy="4468813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2"/>
          <p:cNvSpPr txBox="1"/>
          <p:nvPr/>
        </p:nvSpPr>
        <p:spPr>
          <a:xfrm>
            <a:off x="5199805" y="3161939"/>
            <a:ext cx="873457" cy="40011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3" name="Google Shape;763;p52"/>
          <p:cNvSpPr txBox="1"/>
          <p:nvPr/>
        </p:nvSpPr>
        <p:spPr>
          <a:xfrm>
            <a:off x="6157437" y="3177859"/>
            <a:ext cx="873457" cy="40011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4" name="Google Shape;764;p52"/>
          <p:cNvSpPr txBox="1"/>
          <p:nvPr/>
        </p:nvSpPr>
        <p:spPr>
          <a:xfrm>
            <a:off x="7071853" y="3177859"/>
            <a:ext cx="873457" cy="40011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3"/>
          <p:cNvSpPr txBox="1"/>
          <p:nvPr>
            <p:ph type="title"/>
          </p:nvPr>
        </p:nvSpPr>
        <p:spPr>
          <a:xfrm>
            <a:off x="873124" y="358823"/>
            <a:ext cx="7024687" cy="350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Threads</a:t>
            </a:r>
            <a:endParaRPr/>
          </a:p>
        </p:txBody>
      </p:sp>
      <p:sp>
        <p:nvSpPr>
          <p:cNvPr id="770" name="Google Shape;770;p53"/>
          <p:cNvSpPr txBox="1"/>
          <p:nvPr>
            <p:ph idx="1" type="body"/>
          </p:nvPr>
        </p:nvSpPr>
        <p:spPr>
          <a:xfrm>
            <a:off x="859477" y="699252"/>
            <a:ext cx="6777038" cy="2084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Threads are not independent of one another like processes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Threads share with other threads their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code section,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data section,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OS resources (like open files and signals). </a:t>
            </a:r>
            <a:endParaRPr/>
          </a:p>
        </p:txBody>
      </p:sp>
      <p:sp>
        <p:nvSpPr>
          <p:cNvPr id="771" name="Google Shape;771;p5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2" name="Google Shape;772;p53"/>
          <p:cNvSpPr txBox="1"/>
          <p:nvPr>
            <p:ph idx="11" type="ftr"/>
          </p:nvPr>
        </p:nvSpPr>
        <p:spPr>
          <a:xfrm>
            <a:off x="4751033" y="6124480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73" name="Google Shape;773;p5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74" name="Google Shape;77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124" y="2975204"/>
            <a:ext cx="7261225" cy="3220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3"/>
          <p:cNvSpPr/>
          <p:nvPr/>
        </p:nvSpPr>
        <p:spPr>
          <a:xfrm>
            <a:off x="4503736" y="2784144"/>
            <a:ext cx="3610128" cy="736979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6" name="Google Shape;776;p53"/>
          <p:cNvSpPr txBox="1"/>
          <p:nvPr/>
        </p:nvSpPr>
        <p:spPr>
          <a:xfrm>
            <a:off x="4749421" y="4417555"/>
            <a:ext cx="8734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7" name="Google Shape;777;p53"/>
          <p:cNvSpPr txBox="1"/>
          <p:nvPr/>
        </p:nvSpPr>
        <p:spPr>
          <a:xfrm>
            <a:off x="5611517" y="4433475"/>
            <a:ext cx="8734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8" name="Google Shape;778;p53"/>
          <p:cNvSpPr txBox="1"/>
          <p:nvPr/>
        </p:nvSpPr>
        <p:spPr>
          <a:xfrm>
            <a:off x="6444045" y="4447123"/>
            <a:ext cx="8734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4"/>
          <p:cNvSpPr txBox="1"/>
          <p:nvPr>
            <p:ph type="title"/>
          </p:nvPr>
        </p:nvSpPr>
        <p:spPr>
          <a:xfrm>
            <a:off x="947738" y="495300"/>
            <a:ext cx="7024687" cy="3781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Threads</a:t>
            </a:r>
            <a:endParaRPr/>
          </a:p>
        </p:txBody>
      </p:sp>
      <p:sp>
        <p:nvSpPr>
          <p:cNvPr id="784" name="Google Shape;784;p54"/>
          <p:cNvSpPr txBox="1"/>
          <p:nvPr>
            <p:ph idx="1" type="body"/>
          </p:nvPr>
        </p:nvSpPr>
        <p:spPr>
          <a:xfrm>
            <a:off x="873124" y="822088"/>
            <a:ext cx="6777038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But, like process, a thread </a:t>
            </a:r>
            <a:r>
              <a:rPr b="1" lang="en-US" sz="2000"/>
              <a:t>has its own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program counter (PC),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register set, and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stack space.</a:t>
            </a:r>
            <a:endParaRPr/>
          </a:p>
        </p:txBody>
      </p:sp>
      <p:sp>
        <p:nvSpPr>
          <p:cNvPr id="785" name="Google Shape;785;p5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6" name="Google Shape;786;p5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787" name="Google Shape;787;p5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88" name="Google Shape;7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124" y="2634016"/>
            <a:ext cx="7261225" cy="3302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4"/>
          <p:cNvSpPr/>
          <p:nvPr/>
        </p:nvSpPr>
        <p:spPr>
          <a:xfrm>
            <a:off x="4503736" y="3002508"/>
            <a:ext cx="3084419" cy="1514901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0" name="Google Shape;790;p54"/>
          <p:cNvSpPr txBox="1"/>
          <p:nvPr/>
        </p:nvSpPr>
        <p:spPr>
          <a:xfrm>
            <a:off x="4749421" y="4117299"/>
            <a:ext cx="8734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1" name="Google Shape;791;p54"/>
          <p:cNvSpPr txBox="1"/>
          <p:nvPr/>
        </p:nvSpPr>
        <p:spPr>
          <a:xfrm>
            <a:off x="5611517" y="4133219"/>
            <a:ext cx="8734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2" name="Google Shape;792;p54"/>
          <p:cNvSpPr txBox="1"/>
          <p:nvPr/>
        </p:nvSpPr>
        <p:spPr>
          <a:xfrm>
            <a:off x="6444045" y="4146867"/>
            <a:ext cx="87345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 Counter</a:t>
            </a:r>
            <a:endParaRPr b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5"/>
          <p:cNvSpPr txBox="1"/>
          <p:nvPr>
            <p:ph type="title"/>
          </p:nvPr>
        </p:nvSpPr>
        <p:spPr>
          <a:xfrm>
            <a:off x="741363" y="614363"/>
            <a:ext cx="7645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vs Thread?</a:t>
            </a:r>
            <a:endParaRPr/>
          </a:p>
        </p:txBody>
      </p:sp>
      <p:sp>
        <p:nvSpPr>
          <p:cNvPr id="798" name="Google Shape;798;p55"/>
          <p:cNvSpPr txBox="1"/>
          <p:nvPr>
            <p:ph idx="1" type="body"/>
          </p:nvPr>
        </p:nvSpPr>
        <p:spPr>
          <a:xfrm>
            <a:off x="960438" y="1530350"/>
            <a:ext cx="6975475" cy="398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Threads within the same process run in a shared memory space, while processes run in separate memory spaces.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Threads are not independent of one another like processes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799" name="Google Shape;799;p5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0" name="Google Shape;800;p5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1" name="Google Shape;801;p5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802" name="Google Shape;802;p55"/>
          <p:cNvSpPr/>
          <p:nvPr/>
        </p:nvSpPr>
        <p:spPr>
          <a:xfrm>
            <a:off x="791570" y="1473958"/>
            <a:ext cx="7315200" cy="117370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6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Process &amp; Threads</a:t>
            </a:r>
            <a:endParaRPr b="1"/>
          </a:p>
        </p:txBody>
      </p:sp>
      <p:sp>
        <p:nvSpPr>
          <p:cNvPr id="808" name="Google Shape;808;p56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Opening a new browser (say Chrome, etc) is an example of creating a process. At this point, a new process will start to execute.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On the contrary, opening multiple tabs in the browser is an example of creating the thread.</a:t>
            </a:r>
            <a:endParaRPr sz="2000"/>
          </a:p>
        </p:txBody>
      </p:sp>
      <p:sp>
        <p:nvSpPr>
          <p:cNvPr id="809" name="Google Shape;809;p5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810" name="Google Shape;810;p5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11" name="Google Shape;811;p5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7"/>
          <p:cNvSpPr txBox="1"/>
          <p:nvPr>
            <p:ph type="title"/>
          </p:nvPr>
        </p:nvSpPr>
        <p:spPr>
          <a:xfrm>
            <a:off x="1057275" y="890588"/>
            <a:ext cx="70246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Advantages of Thread over Process</a:t>
            </a:r>
            <a:endParaRPr/>
          </a:p>
        </p:txBody>
      </p:sp>
      <p:sp>
        <p:nvSpPr>
          <p:cNvPr id="817" name="Google Shape;817;p57"/>
          <p:cNvSpPr txBox="1"/>
          <p:nvPr>
            <p:ph idx="1" type="body"/>
          </p:nvPr>
        </p:nvSpPr>
        <p:spPr>
          <a:xfrm>
            <a:off x="1015077" y="1915213"/>
            <a:ext cx="6777037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2750" rtl="0" algn="l">
              <a:spcBef>
                <a:spcPts val="0"/>
              </a:spcBef>
              <a:spcAft>
                <a:spcPts val="0"/>
              </a:spcAft>
              <a:buSzPts val="1520"/>
              <a:buFont typeface="Noto Sans Symbols"/>
              <a:buAutoNum type="arabicPeriod"/>
            </a:pPr>
            <a:r>
              <a:rPr i="1" lang="en-US" sz="2000"/>
              <a:t>Responsiveness: </a:t>
            </a:r>
            <a:r>
              <a:rPr lang="en-US" sz="2000"/>
              <a:t>If the process is divided into multiple threads, </a:t>
            </a:r>
            <a:r>
              <a:rPr b="1" lang="en-US" sz="2000"/>
              <a:t>if one thread completes its execution, then its output can be immediately returned.</a:t>
            </a:r>
            <a:endParaRPr/>
          </a:p>
          <a:p>
            <a:pPr indent="-246380" lvl="0" marL="41275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41275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AutoNum type="arabicPeriod"/>
            </a:pPr>
            <a:r>
              <a:rPr i="1" lang="en-US" sz="2000"/>
              <a:t>Faster context switch: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Context switch time between threads is lower compared to process context switch.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Process context switching requires more overhead from the CPU.</a:t>
            </a:r>
            <a:endParaRPr/>
          </a:p>
          <a:p>
            <a:pPr indent="-227076" lvl="0" marL="412750" rtl="0" algn="l">
              <a:spcBef>
                <a:spcPts val="480"/>
              </a:spcBef>
              <a:spcAft>
                <a:spcPts val="0"/>
              </a:spcAft>
              <a:buSzPts val="1824"/>
              <a:buFont typeface="Noto Sans Symbols"/>
              <a:buNone/>
            </a:pPr>
            <a:r>
              <a:t/>
            </a:r>
            <a:endParaRPr i="1"/>
          </a:p>
        </p:txBody>
      </p:sp>
      <p:sp>
        <p:nvSpPr>
          <p:cNvPr id="818" name="Google Shape;818;p5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9" name="Google Shape;819;p5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820" name="Google Shape;820;p5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8"/>
          <p:cNvSpPr txBox="1"/>
          <p:nvPr>
            <p:ph type="title"/>
          </p:nvPr>
        </p:nvSpPr>
        <p:spPr>
          <a:xfrm>
            <a:off x="1057275" y="890588"/>
            <a:ext cx="70246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Advantages of Thread over Process</a:t>
            </a:r>
            <a:endParaRPr/>
          </a:p>
        </p:txBody>
      </p:sp>
      <p:sp>
        <p:nvSpPr>
          <p:cNvPr id="826" name="Google Shape;826;p58"/>
          <p:cNvSpPr txBox="1"/>
          <p:nvPr>
            <p:ph idx="1" type="body"/>
          </p:nvPr>
        </p:nvSpPr>
        <p:spPr>
          <a:xfrm>
            <a:off x="1096963" y="2065338"/>
            <a:ext cx="6777037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032" lvl="0" marL="4127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t/>
            </a:r>
            <a:endParaRPr i="1" sz="1800"/>
          </a:p>
          <a:p>
            <a:pPr indent="0" lvl="0" marL="69850" rtl="0" algn="l">
              <a:spcBef>
                <a:spcPts val="40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i="1" lang="en-US" sz="1800"/>
              <a:t>3.  </a:t>
            </a:r>
            <a:r>
              <a:rPr i="1" lang="en-US" sz="2000"/>
              <a:t>Resource sharing: </a:t>
            </a:r>
            <a:endParaRPr/>
          </a:p>
          <a:p>
            <a:pPr indent="0" lvl="1" marL="366713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Resources like </a:t>
            </a:r>
            <a:r>
              <a:rPr b="1" lang="en-US" sz="2000"/>
              <a:t>code, data, and files can be shared </a:t>
            </a:r>
            <a:r>
              <a:rPr lang="en-US" sz="2000"/>
              <a:t>among all threads within a process.</a:t>
            </a:r>
            <a:br>
              <a:rPr lang="en-US" sz="2000"/>
            </a:br>
            <a:r>
              <a:rPr lang="en-US" sz="2000"/>
              <a:t>Note: </a:t>
            </a:r>
            <a:r>
              <a:rPr b="1" lang="en-US" sz="2000"/>
              <a:t>stack and registers can’t be shared among the threads. </a:t>
            </a:r>
            <a:endParaRPr/>
          </a:p>
          <a:p>
            <a:pPr indent="0" lvl="1" marL="366713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Each thread has its own stack and registers.</a:t>
            </a:r>
            <a:endParaRPr/>
          </a:p>
        </p:txBody>
      </p:sp>
      <p:sp>
        <p:nvSpPr>
          <p:cNvPr id="827" name="Google Shape;827;p5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8" name="Google Shape;828;p5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829" name="Google Shape;829;p5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9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Advantages of Thread over Process</a:t>
            </a:r>
            <a:endParaRPr/>
          </a:p>
        </p:txBody>
      </p:sp>
      <p:sp>
        <p:nvSpPr>
          <p:cNvPr id="835" name="Google Shape;835;p59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275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eriod" startAt="4"/>
            </a:pPr>
            <a:r>
              <a:rPr i="1" lang="en-US" sz="2000"/>
              <a:t>Communication: 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Communication between multiple threads is easier, as the </a:t>
            </a:r>
            <a:r>
              <a:rPr b="1" lang="en-US" sz="2000"/>
              <a:t>threads shares common address space,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while in process we have to follow some </a:t>
            </a:r>
            <a:r>
              <a:rPr b="1" lang="en-US" sz="2000"/>
              <a:t>specific communication technique </a:t>
            </a:r>
            <a:r>
              <a:rPr lang="en-US" sz="2000"/>
              <a:t>for communication between two process.  </a:t>
            </a:r>
            <a:endParaRPr/>
          </a:p>
          <a:p>
            <a:pPr indent="-246380" lvl="0" marL="4127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i="1" sz="2000"/>
          </a:p>
          <a:p>
            <a:pPr indent="-137922" lvl="0" marL="34290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sp>
        <p:nvSpPr>
          <p:cNvPr id="836" name="Google Shape;836;p5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7" name="Google Shape;837;p5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838" name="Google Shape;838;p5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0"/>
          <p:cNvSpPr txBox="1"/>
          <p:nvPr>
            <p:ph type="title"/>
          </p:nvPr>
        </p:nvSpPr>
        <p:spPr>
          <a:xfrm>
            <a:off x="982663" y="168275"/>
            <a:ext cx="7704137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Interprocess Communication</a:t>
            </a:r>
            <a:endParaRPr/>
          </a:p>
        </p:txBody>
      </p:sp>
      <p:sp>
        <p:nvSpPr>
          <p:cNvPr id="844" name="Google Shape;844;p60"/>
          <p:cNvSpPr txBox="1"/>
          <p:nvPr>
            <p:ph idx="1" type="body"/>
          </p:nvPr>
        </p:nvSpPr>
        <p:spPr>
          <a:xfrm>
            <a:off x="885825" y="1154113"/>
            <a:ext cx="7485063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2128"/>
              <a:buChar char="🞇"/>
            </a:pPr>
            <a:r>
              <a:rPr lang="en-US" sz="2800"/>
              <a:t>Cooperating processes need </a:t>
            </a:r>
            <a:r>
              <a:rPr b="1" lang="en-US" sz="2800">
                <a:solidFill>
                  <a:srgbClr val="3366FF"/>
                </a:solidFill>
              </a:rPr>
              <a:t>interprocess communication </a:t>
            </a:r>
            <a:r>
              <a:rPr lang="en-US" sz="2800"/>
              <a:t>(</a:t>
            </a:r>
            <a:r>
              <a:rPr b="1" lang="en-US" sz="2800">
                <a:solidFill>
                  <a:srgbClr val="3366FF"/>
                </a:solidFill>
              </a:rPr>
              <a:t>IPC</a:t>
            </a:r>
            <a:r>
              <a:rPr lang="en-US" sz="2800"/>
              <a:t>) mechanism to exchange data and information</a:t>
            </a:r>
            <a:endParaRPr/>
          </a:p>
          <a:p>
            <a:pPr indent="-137922" lvl="0" marL="34290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66878" lvl="1" marL="639763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/>
          </a:p>
        </p:txBody>
      </p:sp>
      <p:pic>
        <p:nvPicPr>
          <p:cNvPr descr="Interprocess Communication" id="845" name="Google Shape;84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3789040"/>
            <a:ext cx="69246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6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08-08-2024</a:t>
            </a:r>
            <a:endParaRPr/>
          </a:p>
        </p:txBody>
      </p:sp>
      <p:sp>
        <p:nvSpPr>
          <p:cNvPr id="847" name="Google Shape;847;p6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48" name="Google Shape;848;p6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1"/>
          <p:cNvSpPr txBox="1"/>
          <p:nvPr>
            <p:ph type="title"/>
          </p:nvPr>
        </p:nvSpPr>
        <p:spPr>
          <a:xfrm>
            <a:off x="982663" y="168275"/>
            <a:ext cx="7704137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Interprocess Communication</a:t>
            </a:r>
            <a:endParaRPr/>
          </a:p>
        </p:txBody>
      </p:sp>
      <p:sp>
        <p:nvSpPr>
          <p:cNvPr id="854" name="Google Shape;854;p61"/>
          <p:cNvSpPr txBox="1"/>
          <p:nvPr>
            <p:ph idx="1" type="body"/>
          </p:nvPr>
        </p:nvSpPr>
        <p:spPr>
          <a:xfrm>
            <a:off x="885825" y="1154113"/>
            <a:ext cx="7485063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7922" lvl="0" marL="342900" rtl="0" algn="l"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273050" lvl="0" marL="342900" rtl="0" algn="l">
              <a:spcBef>
                <a:spcPts val="560"/>
              </a:spcBef>
              <a:spcAft>
                <a:spcPts val="0"/>
              </a:spcAft>
              <a:buSzPts val="2128"/>
              <a:buChar char="🞇"/>
            </a:pPr>
            <a:r>
              <a:rPr lang="en-US" sz="2800"/>
              <a:t>Two models of IPC</a:t>
            </a:r>
            <a:endParaRPr/>
          </a:p>
          <a:p>
            <a:pPr indent="-273049" lvl="1" marL="639763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b="1" lang="en-US" sz="2400">
                <a:solidFill>
                  <a:srgbClr val="3366FF"/>
                </a:solidFill>
              </a:rPr>
              <a:t>Shared memory</a:t>
            </a:r>
            <a:endParaRPr/>
          </a:p>
          <a:p>
            <a:pPr indent="-273049" lvl="1" marL="639763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b="1" lang="en-US" sz="2400">
                <a:solidFill>
                  <a:srgbClr val="3366FF"/>
                </a:solidFill>
              </a:rPr>
              <a:t>Message passing</a:t>
            </a:r>
            <a:endParaRPr/>
          </a:p>
          <a:p>
            <a:pPr indent="-166878" lvl="1" marL="639763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/>
          </a:p>
        </p:txBody>
      </p:sp>
      <p:sp>
        <p:nvSpPr>
          <p:cNvPr descr="Inter Process Communication in Operating System (OS) » PREP INSTA" id="855" name="Google Shape;855;p61"/>
          <p:cNvSpPr/>
          <p:nvPr/>
        </p:nvSpPr>
        <p:spPr>
          <a:xfrm>
            <a:off x="155575" y="-830263"/>
            <a:ext cx="1733550" cy="1733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nter Process Communication in Operating System (OS) » PREP INSTA" id="856" name="Google Shape;856;p61"/>
          <p:cNvSpPr/>
          <p:nvPr/>
        </p:nvSpPr>
        <p:spPr>
          <a:xfrm>
            <a:off x="307975" y="-677863"/>
            <a:ext cx="1733550" cy="1733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nter Process Communication in Operating System (OS) » PREP INSTA" id="857" name="Google Shape;857;p61"/>
          <p:cNvSpPr/>
          <p:nvPr/>
        </p:nvSpPr>
        <p:spPr>
          <a:xfrm>
            <a:off x="460375" y="-525463"/>
            <a:ext cx="1733550" cy="1733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nter Process Communication in Operating System (OS) » PREP INSTA" id="858" name="Google Shape;858;p61"/>
          <p:cNvPicPr preferRelativeResize="0"/>
          <p:nvPr/>
        </p:nvPicPr>
        <p:blipFill rotWithShape="1">
          <a:blip r:embed="rId3">
            <a:alphaModFix/>
          </a:blip>
          <a:srcRect b="21442" l="0" r="0" t="32303"/>
          <a:stretch/>
        </p:blipFill>
        <p:spPr>
          <a:xfrm>
            <a:off x="1825724" y="3573016"/>
            <a:ext cx="4762500" cy="2202873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6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08-08-2024</a:t>
            </a:r>
            <a:endParaRPr/>
          </a:p>
        </p:txBody>
      </p:sp>
      <p:sp>
        <p:nvSpPr>
          <p:cNvPr id="860" name="Google Shape;860;p6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61" name="Google Shape;861;p6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2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Advantages of Thread over Process</a:t>
            </a:r>
            <a:endParaRPr/>
          </a:p>
        </p:txBody>
      </p:sp>
      <p:sp>
        <p:nvSpPr>
          <p:cNvPr id="867" name="Google Shape;867;p62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032" lvl="0" marL="412750" rtl="0" algn="l">
              <a:spcBef>
                <a:spcPts val="0"/>
              </a:spcBef>
              <a:spcAft>
                <a:spcPts val="0"/>
              </a:spcAft>
              <a:buSzPts val="1368"/>
              <a:buFont typeface="Century Gothic"/>
              <a:buNone/>
            </a:pPr>
            <a:r>
              <a:t/>
            </a:r>
            <a:endParaRPr i="1" sz="1800"/>
          </a:p>
          <a:p>
            <a:pPr indent="-342900" lvl="0" marL="41275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eriod" startAt="5"/>
            </a:pPr>
            <a:r>
              <a:rPr i="1" lang="en-US" sz="2000"/>
              <a:t>Effective utilization of multiprocessor system: </a:t>
            </a:r>
            <a:endParaRPr/>
          </a:p>
          <a:p>
            <a:pPr indent="0" lvl="1" marL="366713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If we have multiple threads in a single process, </a:t>
            </a:r>
            <a:endParaRPr/>
          </a:p>
          <a:p>
            <a:pPr indent="0" lvl="1" marL="366713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then we can </a:t>
            </a:r>
            <a:r>
              <a:rPr b="1" lang="en-US" sz="2000"/>
              <a:t>schedule multiple threads on multiple processor. </a:t>
            </a:r>
            <a:endParaRPr/>
          </a:p>
          <a:p>
            <a:pPr indent="0" lvl="1" marL="366713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b="1" lang="en-US" sz="2000"/>
              <a:t>This will have faster execution .</a:t>
            </a:r>
            <a:endParaRPr/>
          </a:p>
          <a:p>
            <a:pPr indent="0" lvl="2" marL="6413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t/>
            </a:r>
            <a:endParaRPr sz="1600"/>
          </a:p>
          <a:p>
            <a:pPr indent="-137922" lvl="0" marL="34290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sp>
        <p:nvSpPr>
          <p:cNvPr id="868" name="Google Shape;868;p6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9" name="Google Shape;869;p6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870" name="Google Shape;870;p6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3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Threads</a:t>
            </a:r>
            <a:endParaRPr/>
          </a:p>
        </p:txBody>
      </p:sp>
      <p:sp>
        <p:nvSpPr>
          <p:cNvPr id="876" name="Google Shape;876;p63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There are two types of threads.</a:t>
            </a:r>
            <a:br>
              <a:rPr lang="en-US" sz="1800"/>
            </a:b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User Level Thread</a:t>
            </a:r>
            <a:br>
              <a:rPr lang="en-US" sz="1800"/>
            </a:b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Kernel Level Thread</a:t>
            </a:r>
            <a:endParaRPr sz="1800"/>
          </a:p>
        </p:txBody>
      </p:sp>
      <p:sp>
        <p:nvSpPr>
          <p:cNvPr id="877" name="Google Shape;877;p6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8" name="Google Shape;878;p6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879" name="Google Shape;879;p6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4"/>
          <p:cNvSpPr txBox="1"/>
          <p:nvPr>
            <p:ph type="title"/>
          </p:nvPr>
        </p:nvSpPr>
        <p:spPr>
          <a:xfrm>
            <a:off x="827088" y="774700"/>
            <a:ext cx="782637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User Threads and Kernel Threads</a:t>
            </a:r>
            <a:endParaRPr/>
          </a:p>
        </p:txBody>
      </p:sp>
      <p:sp>
        <p:nvSpPr>
          <p:cNvPr id="886" name="Google Shape;886;p64"/>
          <p:cNvSpPr txBox="1"/>
          <p:nvPr>
            <p:ph idx="1" type="body"/>
          </p:nvPr>
        </p:nvSpPr>
        <p:spPr>
          <a:xfrm>
            <a:off x="947738" y="1423988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User threads</a:t>
            </a:r>
            <a:r>
              <a:rPr lang="en-US" sz="1800"/>
              <a:t> - </a:t>
            </a:r>
            <a:r>
              <a:rPr b="1" lang="en-US" sz="1800"/>
              <a:t>management done by user-level threads library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Three primary thread libraries: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 POSIX </a:t>
            </a:r>
            <a:r>
              <a:rPr b="1" lang="en-US" sz="1800">
                <a:solidFill>
                  <a:srgbClr val="3366FF"/>
                </a:solidFill>
              </a:rPr>
              <a:t>Pthreads</a:t>
            </a:r>
            <a:endParaRPr b="1" i="1" sz="1800">
              <a:solidFill>
                <a:srgbClr val="3366FF"/>
              </a:solidFill>
            </a:endParaRPr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 Windows threads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 Java threads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Kernel threads </a:t>
            </a:r>
            <a:r>
              <a:rPr lang="en-US" sz="1800"/>
              <a:t>- </a:t>
            </a:r>
            <a:r>
              <a:rPr b="1" lang="en-US" sz="1800"/>
              <a:t>Supported by the Kernel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Examples – virtually all general purpose operating systems, including: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Windows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Solaris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Linux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Tru64 UNIX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Mac OS X</a:t>
            </a:r>
            <a:endParaRPr/>
          </a:p>
          <a:p>
            <a:pPr indent="-166878" lvl="1" marL="639763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5"/>
          <p:cNvSpPr txBox="1"/>
          <p:nvPr>
            <p:ph idx="1" type="body"/>
          </p:nvPr>
        </p:nvSpPr>
        <p:spPr>
          <a:xfrm>
            <a:off x="1014413" y="668338"/>
            <a:ext cx="3421062" cy="474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User Threads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Implemented by a </a:t>
            </a:r>
            <a:r>
              <a:rPr b="1" lang="en-US" sz="1800"/>
              <a:t>thread library at the user level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library provides support for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thread creation,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scheduling and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management</a:t>
            </a:r>
            <a:r>
              <a:rPr lang="en-US" sz="1800"/>
              <a:t> in User space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with </a:t>
            </a:r>
            <a:r>
              <a:rPr b="1" lang="en-US" sz="1800" u="sng"/>
              <a:t>no support /no intervention from the kernel.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893" name="Google Shape;893;p65"/>
          <p:cNvSpPr txBox="1"/>
          <p:nvPr>
            <p:ph idx="2" type="body"/>
          </p:nvPr>
        </p:nvSpPr>
        <p:spPr>
          <a:xfrm>
            <a:off x="4603750" y="736600"/>
            <a:ext cx="3421063" cy="4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Kernel Threads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Supported </a:t>
            </a:r>
            <a:r>
              <a:rPr b="1" lang="en-US" sz="1800"/>
              <a:t>Directly by the OS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Kernel performs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thread creation,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scheduling and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management </a:t>
            </a:r>
            <a:r>
              <a:rPr lang="en-US" sz="1800"/>
              <a:t>in Kernel space.</a:t>
            </a:r>
            <a:endParaRPr/>
          </a:p>
        </p:txBody>
      </p:sp>
      <p:sp>
        <p:nvSpPr>
          <p:cNvPr id="894" name="Google Shape;894;p65"/>
          <p:cNvSpPr/>
          <p:nvPr/>
        </p:nvSpPr>
        <p:spPr>
          <a:xfrm>
            <a:off x="805218" y="1009934"/>
            <a:ext cx="3684895" cy="668741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6"/>
          <p:cNvSpPr txBox="1"/>
          <p:nvPr>
            <p:ph idx="1" type="body"/>
          </p:nvPr>
        </p:nvSpPr>
        <p:spPr>
          <a:xfrm>
            <a:off x="1014413" y="668338"/>
            <a:ext cx="3421062" cy="474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User Threads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Generally </a:t>
            </a:r>
            <a:r>
              <a:rPr b="1" lang="en-US" sz="1800"/>
              <a:t>fast to create 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If the </a:t>
            </a:r>
            <a:r>
              <a:rPr b="1" lang="en-US" sz="1800"/>
              <a:t>Kernel is single threaded</a:t>
            </a:r>
            <a:r>
              <a:rPr lang="en-US" sz="1800"/>
              <a:t>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then </a:t>
            </a:r>
            <a:r>
              <a:rPr b="1" lang="en-US" sz="1800"/>
              <a:t>any user level thread performing a blocking system call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will cause the entire process to block,</a:t>
            </a:r>
            <a:r>
              <a:rPr lang="en-US" sz="1800"/>
              <a:t>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even if other threads are available to run within the application</a:t>
            </a:r>
            <a:endParaRPr sz="1800"/>
          </a:p>
        </p:txBody>
      </p:sp>
      <p:sp>
        <p:nvSpPr>
          <p:cNvPr id="901" name="Google Shape;901;p66"/>
          <p:cNvSpPr txBox="1"/>
          <p:nvPr>
            <p:ph idx="2" type="body"/>
          </p:nvPr>
        </p:nvSpPr>
        <p:spPr>
          <a:xfrm>
            <a:off x="4603750" y="736600"/>
            <a:ext cx="3421063" cy="4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Kernel Threads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Generally </a:t>
            </a:r>
            <a:r>
              <a:rPr b="1" lang="en-US" sz="1800"/>
              <a:t>slower to create </a:t>
            </a:r>
            <a:r>
              <a:rPr lang="en-US" sz="1800"/>
              <a:t>and manage than user threads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If a thread performs a </a:t>
            </a:r>
            <a:r>
              <a:rPr b="1" lang="en-US" sz="1800"/>
              <a:t>blocking system call,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kernel can schedule another thread</a:t>
            </a:r>
            <a:r>
              <a:rPr lang="en-US" sz="1800"/>
              <a:t> in the application for execution.</a:t>
            </a:r>
            <a:endParaRPr sz="1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7"/>
          <p:cNvSpPr txBox="1"/>
          <p:nvPr>
            <p:ph type="title"/>
          </p:nvPr>
        </p:nvSpPr>
        <p:spPr>
          <a:xfrm>
            <a:off x="430213" y="625475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Multithreading Models</a:t>
            </a:r>
            <a:endParaRPr/>
          </a:p>
        </p:txBody>
      </p:sp>
      <p:sp>
        <p:nvSpPr>
          <p:cNvPr id="908" name="Google Shape;908;p67"/>
          <p:cNvSpPr txBox="1"/>
          <p:nvPr>
            <p:ph idx="1" type="body"/>
          </p:nvPr>
        </p:nvSpPr>
        <p:spPr>
          <a:xfrm>
            <a:off x="988397" y="1750894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 sz="1800"/>
              <a:t>Many systems provide support for both user and kernel threads, resulting in different multithreading models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342900" lvl="0" marL="41275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Many-to-One</a:t>
            </a:r>
            <a:br>
              <a:rPr b="1" lang="en-US" sz="1800"/>
            </a:br>
            <a:endParaRPr b="1" sz="1800"/>
          </a:p>
          <a:p>
            <a:pPr indent="-342900" lvl="0" marL="41275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One-to-One</a:t>
            </a:r>
            <a:br>
              <a:rPr b="1" lang="en-US" sz="1800"/>
            </a:br>
            <a:endParaRPr b="1" sz="1800"/>
          </a:p>
          <a:p>
            <a:pPr indent="-342900" lvl="0" marL="41275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Many-to-Many</a:t>
            </a:r>
            <a:endParaRPr/>
          </a:p>
          <a:p>
            <a:pPr indent="-256032" lvl="0" marL="41275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8"/>
          <p:cNvSpPr txBox="1"/>
          <p:nvPr>
            <p:ph type="title"/>
          </p:nvPr>
        </p:nvSpPr>
        <p:spPr>
          <a:xfrm>
            <a:off x="1042988" y="1027113"/>
            <a:ext cx="7024687" cy="5560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Imp</a:t>
            </a:r>
            <a:endParaRPr b="1"/>
          </a:p>
        </p:txBody>
      </p:sp>
      <p:sp>
        <p:nvSpPr>
          <p:cNvPr id="914" name="Google Shape;914;p68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By default, an application begins with a single thread and begins running in that thread. </a:t>
            </a:r>
            <a:endParaRPr sz="2000"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This application and its thread are allocated to a single process managed by the kernel. </a:t>
            </a:r>
            <a:endParaRPr sz="2000"/>
          </a:p>
        </p:txBody>
      </p:sp>
      <p:sp>
        <p:nvSpPr>
          <p:cNvPr id="915" name="Google Shape;915;p6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916" name="Google Shape;916;p6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17" name="Google Shape;917;p6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69"/>
          <p:cNvSpPr txBox="1"/>
          <p:nvPr>
            <p:ph type="title"/>
          </p:nvPr>
        </p:nvSpPr>
        <p:spPr>
          <a:xfrm>
            <a:off x="1042988" y="1027113"/>
            <a:ext cx="7024687" cy="392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ULT and KLT</a:t>
            </a:r>
            <a:endParaRPr b="1" sz="2800"/>
          </a:p>
        </p:txBody>
      </p:sp>
      <p:sp>
        <p:nvSpPr>
          <p:cNvPr id="923" name="Google Shape;923;p69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At any time that the application is running (the process is in the Running state), the application may spawn a new thread to run within the same process. </a:t>
            </a:r>
            <a:endParaRPr/>
          </a:p>
        </p:txBody>
      </p:sp>
      <p:sp>
        <p:nvSpPr>
          <p:cNvPr id="924" name="Google Shape;924;p6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925" name="Google Shape;925;p6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26" name="Google Shape;926;p6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0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Spawning is done by invoking the spawn utility in the threads library.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Control is passed to that utility by a procedure call. </a:t>
            </a:r>
            <a:endParaRPr/>
          </a:p>
        </p:txBody>
      </p:sp>
      <p:sp>
        <p:nvSpPr>
          <p:cNvPr id="932" name="Google Shape;932;p7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933" name="Google Shape;933;p7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34" name="Google Shape;934;p7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5" name="Google Shape;935;p70"/>
          <p:cNvSpPr txBox="1"/>
          <p:nvPr>
            <p:ph type="title"/>
          </p:nvPr>
        </p:nvSpPr>
        <p:spPr>
          <a:xfrm>
            <a:off x="1042988" y="1027113"/>
            <a:ext cx="7024687" cy="392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ULT and KLT</a:t>
            </a:r>
            <a:endParaRPr b="1" sz="2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1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threads library creates a data structure for the new thread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Then passes control to one of the threads within this process that is in the Ready state, using some scheduling algorithm.</a:t>
            </a:r>
            <a:endParaRPr sz="2000"/>
          </a:p>
        </p:txBody>
      </p:sp>
      <p:sp>
        <p:nvSpPr>
          <p:cNvPr id="941" name="Google Shape;941;p7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942" name="Google Shape;942;p7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43" name="Google Shape;943;p7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71"/>
          <p:cNvSpPr txBox="1"/>
          <p:nvPr>
            <p:ph type="title"/>
          </p:nvPr>
        </p:nvSpPr>
        <p:spPr>
          <a:xfrm>
            <a:off x="1042988" y="1027113"/>
            <a:ext cx="7024687" cy="392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ULT and KLT</a:t>
            </a:r>
            <a:endParaRPr b="1" sz="2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2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When control is passed to the library, the context of the current thread is saved,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and when control is passed from the library to a thread, the context of that thread is restored.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context essentially consists of the contents of user registers, the program counter, and stack pointers.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50" name="Google Shape;950;p7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951" name="Google Shape;951;p7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52" name="Google Shape;952;p7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3" name="Google Shape;953;p72"/>
          <p:cNvSpPr txBox="1"/>
          <p:nvPr>
            <p:ph type="title"/>
          </p:nvPr>
        </p:nvSpPr>
        <p:spPr>
          <a:xfrm>
            <a:off x="1042988" y="1027113"/>
            <a:ext cx="7024687" cy="392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ULT and KLT</a:t>
            </a:r>
            <a:endParaRPr b="1" sz="28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3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All of the activity described in the preceding above takes place in user space and within a single process. </a:t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kernel is unaware of this activity. The  kernel continues to schedule the process as a unit and assigns a single execution state (Ready, Running, Blocked, etc.) to that process</a:t>
            </a:r>
            <a:endParaRPr/>
          </a:p>
        </p:txBody>
      </p:sp>
      <p:sp>
        <p:nvSpPr>
          <p:cNvPr id="959" name="Google Shape;959;p7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960" name="Google Shape;960;p7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61" name="Google Shape;961;p7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2" name="Google Shape;962;p73"/>
          <p:cNvSpPr txBox="1"/>
          <p:nvPr>
            <p:ph type="title"/>
          </p:nvPr>
        </p:nvSpPr>
        <p:spPr>
          <a:xfrm>
            <a:off x="1042988" y="1027113"/>
            <a:ext cx="7024687" cy="392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ULT and KLT</a:t>
            </a:r>
            <a:endParaRPr b="1" sz="2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4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Many-to-One</a:t>
            </a:r>
            <a:endParaRPr/>
          </a:p>
        </p:txBody>
      </p:sp>
      <p:sp>
        <p:nvSpPr>
          <p:cNvPr id="969" name="Google Shape;969;p74"/>
          <p:cNvSpPr txBox="1"/>
          <p:nvPr>
            <p:ph idx="1" type="body"/>
          </p:nvPr>
        </p:nvSpPr>
        <p:spPr>
          <a:xfrm>
            <a:off x="806450" y="1233488"/>
            <a:ext cx="46545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Many user-level threads mapped to single kernel thread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Only one thread can access the Kernel at a time.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 u="sng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Thread Management done in User space, so is efficient.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If one thread makes a blocking system call, the entire process will block.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One thread blocking causes all to block</a:t>
            </a:r>
            <a:endParaRPr/>
          </a:p>
        </p:txBody>
      </p:sp>
      <p:pic>
        <p:nvPicPr>
          <p:cNvPr descr="4_05.pdf" id="970" name="Google Shape;97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5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Many-to-One</a:t>
            </a:r>
            <a:endParaRPr/>
          </a:p>
        </p:txBody>
      </p:sp>
      <p:sp>
        <p:nvSpPr>
          <p:cNvPr id="977" name="Google Shape;977;p75"/>
          <p:cNvSpPr txBox="1"/>
          <p:nvPr>
            <p:ph idx="1" type="body"/>
          </p:nvPr>
        </p:nvSpPr>
        <p:spPr>
          <a:xfrm>
            <a:off x="806450" y="1233488"/>
            <a:ext cx="46545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Multiple threads are unable to run in parallel on multicore system because only one may be in kernel at a time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Few systems currently use this model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Examples: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Solaris Green Threads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Green thread, a thread that uses this model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Available for Solaris 2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GNU Portable Threads</a:t>
            </a:r>
            <a:endParaRPr/>
          </a:p>
        </p:txBody>
      </p:sp>
      <p:pic>
        <p:nvPicPr>
          <p:cNvPr descr="4_05.pdf" id="978" name="Google Shape;97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6"/>
          <p:cNvSpPr txBox="1"/>
          <p:nvPr>
            <p:ph type="title"/>
          </p:nvPr>
        </p:nvSpPr>
        <p:spPr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One-to-One</a:t>
            </a:r>
            <a:endParaRPr/>
          </a:p>
        </p:txBody>
      </p:sp>
      <p:sp>
        <p:nvSpPr>
          <p:cNvPr id="985" name="Google Shape;985;p76"/>
          <p:cNvSpPr txBox="1"/>
          <p:nvPr>
            <p:ph idx="1" type="body"/>
          </p:nvPr>
        </p:nvSpPr>
        <p:spPr>
          <a:xfrm>
            <a:off x="598203" y="941554"/>
            <a:ext cx="5772150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Each user-level thread maps to kernel thread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Creating a user-level thread creates a kernel thread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More concurrency than many-to-one</a:t>
            </a:r>
            <a:endParaRPr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US" sz="1600"/>
              <a:t>By allowing another thread to run when a thread makes a blocking system call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Allows multiple threads to run in parallel on multiprocessors</a:t>
            </a:r>
            <a:endParaRPr/>
          </a:p>
        </p:txBody>
      </p:sp>
      <p:pic>
        <p:nvPicPr>
          <p:cNvPr descr="4_06.pdf" id="986" name="Google Shape;98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788" y="4276635"/>
            <a:ext cx="4475162" cy="19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7"/>
          <p:cNvSpPr txBox="1"/>
          <p:nvPr>
            <p:ph idx="1" type="body"/>
          </p:nvPr>
        </p:nvSpPr>
        <p:spPr>
          <a:xfrm>
            <a:off x="551668" y="941554"/>
            <a:ext cx="5772150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Creating a user thread requires creating the corresponding kernel thread.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Overhead of creating kernel threads can burden the performance of an application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 u="sng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Number of threads per process sometimes restricted due to overhead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Examples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Windows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Linux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Solaris 9 and later</a:t>
            </a:r>
            <a:endParaRPr/>
          </a:p>
        </p:txBody>
      </p:sp>
      <p:pic>
        <p:nvPicPr>
          <p:cNvPr descr="4_06.pdf" id="993" name="Google Shape;99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788" y="4003675"/>
            <a:ext cx="4475162" cy="191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77"/>
          <p:cNvSpPr txBox="1"/>
          <p:nvPr/>
        </p:nvSpPr>
        <p:spPr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One-to-One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8"/>
          <p:cNvSpPr txBox="1"/>
          <p:nvPr>
            <p:ph idx="1" type="body"/>
          </p:nvPr>
        </p:nvSpPr>
        <p:spPr>
          <a:xfrm>
            <a:off x="792163" y="1039813"/>
            <a:ext cx="4448175" cy="4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Allows many user level threads to be mapped to many kernel threads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Allows the  operating system to create a sufficient number of kernel threads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pic>
        <p:nvPicPr>
          <p:cNvPr descr="4_07.pdf" id="1001" name="Google Shape;1001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78"/>
          <p:cNvSpPr txBox="1"/>
          <p:nvPr/>
        </p:nvSpPr>
        <p:spPr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Many-to-Many Model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9"/>
          <p:cNvSpPr txBox="1"/>
          <p:nvPr>
            <p:ph idx="1" type="body"/>
          </p:nvPr>
        </p:nvSpPr>
        <p:spPr>
          <a:xfrm>
            <a:off x="792163" y="1039813"/>
            <a:ext cx="4448175" cy="4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number of kernel threads may be specific to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Either a particular application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Or a particular machine</a:t>
            </a:r>
            <a:endParaRPr/>
          </a:p>
          <a:p>
            <a:pPr indent="-176529" lvl="1" marL="639763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Solaris prior to version 9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Windows  with the </a:t>
            </a:r>
            <a:r>
              <a:rPr i="1" lang="en-US" sz="2000"/>
              <a:t>ThreadFiber</a:t>
            </a:r>
            <a:r>
              <a:rPr lang="en-US" sz="2000"/>
              <a:t> package</a:t>
            </a:r>
            <a:endParaRPr/>
          </a:p>
          <a:p>
            <a:pPr indent="-176529" lvl="1" marL="639763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descr="4_07.pdf" id="1009" name="Google Shape;1009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9"/>
          <p:cNvSpPr txBox="1"/>
          <p:nvPr/>
        </p:nvSpPr>
        <p:spPr>
          <a:xfrm>
            <a:off x="551668" y="385667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Many-to-Many Model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0"/>
          <p:cNvSpPr txBox="1"/>
          <p:nvPr>
            <p:ph idx="1" type="body"/>
          </p:nvPr>
        </p:nvSpPr>
        <p:spPr>
          <a:xfrm>
            <a:off x="682981" y="1460310"/>
            <a:ext cx="4448175" cy="3748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Many to One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Allows developer to create as many user threads as needed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But true concurrency is not gained because kernel can schedule only one thread at a time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17" name="Google Shape;1017;p80"/>
          <p:cNvSpPr txBox="1"/>
          <p:nvPr/>
        </p:nvSpPr>
        <p:spPr>
          <a:xfrm>
            <a:off x="551667" y="863339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Drawbacks of Many-to-One Model</a:t>
            </a:r>
            <a:endParaRPr b="1"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4_05.pdf" id="1018" name="Google Shape;101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81"/>
          <p:cNvSpPr txBox="1"/>
          <p:nvPr>
            <p:ph idx="1" type="body"/>
          </p:nvPr>
        </p:nvSpPr>
        <p:spPr>
          <a:xfrm>
            <a:off x="682981" y="1624084"/>
            <a:ext cx="4448175" cy="3584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One to One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Allows for greater concurrency, but 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developer has to be careful not to create too many threads within an application</a:t>
            </a:r>
            <a:endParaRPr/>
          </a:p>
        </p:txBody>
      </p:sp>
      <p:sp>
        <p:nvSpPr>
          <p:cNvPr id="1025" name="Google Shape;1025;p81"/>
          <p:cNvSpPr txBox="1"/>
          <p:nvPr/>
        </p:nvSpPr>
        <p:spPr>
          <a:xfrm>
            <a:off x="551668" y="762709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Drawbacks of One-to-One Model</a:t>
            </a:r>
            <a:endParaRPr b="1"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4_06.pdf" id="1026" name="Google Shape;102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7788" y="4003675"/>
            <a:ext cx="4475162" cy="19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2"/>
          <p:cNvSpPr txBox="1"/>
          <p:nvPr>
            <p:ph idx="1" type="body"/>
          </p:nvPr>
        </p:nvSpPr>
        <p:spPr>
          <a:xfrm>
            <a:off x="669333" y="1486823"/>
            <a:ext cx="4448175" cy="4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Many to Many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Overcomes these shortcomings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Developers can create as many user threads as necessary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Corresponding Kernel threads can run in parallel on a multiprocessor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When a thread performs a blocking system call, the kernel can schedule another thread for execution</a:t>
            </a:r>
            <a:endParaRPr/>
          </a:p>
        </p:txBody>
      </p:sp>
      <p:pic>
        <p:nvPicPr>
          <p:cNvPr descr="4_07.pdf" id="1033" name="Google Shape;103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2"/>
          <p:cNvSpPr txBox="1"/>
          <p:nvPr/>
        </p:nvSpPr>
        <p:spPr>
          <a:xfrm>
            <a:off x="551667" y="762709"/>
            <a:ext cx="7024687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Advantages of Many-to-Many Model</a:t>
            </a:r>
            <a:endParaRPr b="1"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0" name="Google Shape;1040;p8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041" name="Google Shape;1041;p8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2" name="Google Shape;1042;p83"/>
          <p:cNvSpPr txBox="1"/>
          <p:nvPr>
            <p:ph type="title"/>
          </p:nvPr>
        </p:nvSpPr>
        <p:spPr>
          <a:xfrm>
            <a:off x="989013" y="3511550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Now,</a:t>
            </a:r>
            <a:br>
              <a:rPr lang="en-US"/>
            </a:br>
            <a:r>
              <a:rPr lang="en-US"/>
              <a:t>Lets compare User and Kernel Level Threads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4"/>
          <p:cNvSpPr txBox="1"/>
          <p:nvPr>
            <p:ph type="title"/>
          </p:nvPr>
        </p:nvSpPr>
        <p:spPr>
          <a:xfrm>
            <a:off x="769938" y="944563"/>
            <a:ext cx="7024687" cy="6524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Difference between User Level thread and Kernel Level thread</a:t>
            </a:r>
            <a:endParaRPr sz="2800"/>
          </a:p>
        </p:txBody>
      </p:sp>
      <p:sp>
        <p:nvSpPr>
          <p:cNvPr id="1048" name="Google Shape;1048;p8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9" name="Google Shape;1049;p8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050" name="Google Shape;1050;p8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51" name="Google Shape;1051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063" y="1541463"/>
            <a:ext cx="7970837" cy="4291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4"/>
          <p:cNvSpPr/>
          <p:nvPr/>
        </p:nvSpPr>
        <p:spPr>
          <a:xfrm>
            <a:off x="587375" y="3779838"/>
            <a:ext cx="6986588" cy="3413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3" name="Google Shape;1053;p84"/>
          <p:cNvSpPr/>
          <p:nvPr/>
        </p:nvSpPr>
        <p:spPr>
          <a:xfrm>
            <a:off x="615950" y="3386138"/>
            <a:ext cx="6988175" cy="3413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054" name="Google Shape;1054;p84"/>
          <p:cNvCxnSpPr/>
          <p:nvPr/>
        </p:nvCxnSpPr>
        <p:spPr>
          <a:xfrm>
            <a:off x="1869743" y="2906973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5" name="Google Shape;1055;p84"/>
          <p:cNvCxnSpPr/>
          <p:nvPr/>
        </p:nvCxnSpPr>
        <p:spPr>
          <a:xfrm>
            <a:off x="5595582" y="2906973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6" name="Google Shape;1056;p84"/>
          <p:cNvCxnSpPr/>
          <p:nvPr/>
        </p:nvCxnSpPr>
        <p:spPr>
          <a:xfrm>
            <a:off x="5595582" y="2538483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7" name="Google Shape;1057;p84"/>
          <p:cNvCxnSpPr/>
          <p:nvPr/>
        </p:nvCxnSpPr>
        <p:spPr>
          <a:xfrm>
            <a:off x="1869743" y="2511187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8" name="Google Shape;1058;p84"/>
          <p:cNvCxnSpPr/>
          <p:nvPr/>
        </p:nvCxnSpPr>
        <p:spPr>
          <a:xfrm>
            <a:off x="1869743" y="4476466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9" name="Google Shape;1059;p84"/>
          <p:cNvCxnSpPr/>
          <p:nvPr/>
        </p:nvCxnSpPr>
        <p:spPr>
          <a:xfrm>
            <a:off x="5595582" y="4476466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5"/>
          <p:cNvSpPr txBox="1"/>
          <p:nvPr>
            <p:ph type="title"/>
          </p:nvPr>
        </p:nvSpPr>
        <p:spPr>
          <a:xfrm>
            <a:off x="1016000" y="4206875"/>
            <a:ext cx="70246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 with Process and Threads</a:t>
            </a:r>
            <a:br>
              <a:rPr lang="en-US"/>
            </a:br>
            <a:br>
              <a:rPr lang="en-US"/>
            </a:br>
            <a:r>
              <a:rPr lang="en-US"/>
              <a:t>Now,</a:t>
            </a:r>
            <a:br>
              <a:rPr lang="en-US"/>
            </a:br>
            <a:r>
              <a:rPr lang="en-US"/>
              <a:t>Lets compare Process and Threads</a:t>
            </a:r>
            <a:br>
              <a:rPr lang="en-US"/>
            </a:br>
            <a:endParaRPr/>
          </a:p>
        </p:txBody>
      </p:sp>
      <p:sp>
        <p:nvSpPr>
          <p:cNvPr id="1065" name="Google Shape;1065;p8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66" name="Google Shape;1066;p8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067" name="Google Shape;1067;p8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3" name="Google Shape;1073;p8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074" name="Google Shape;1074;p8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75" name="Google Shape;1075;p86"/>
          <p:cNvPicPr preferRelativeResize="0"/>
          <p:nvPr/>
        </p:nvPicPr>
        <p:blipFill rotWithShape="1">
          <a:blip r:embed="rId3">
            <a:alphaModFix/>
          </a:blip>
          <a:srcRect b="26878" l="0" r="0" t="0"/>
          <a:stretch/>
        </p:blipFill>
        <p:spPr>
          <a:xfrm>
            <a:off x="614363" y="428625"/>
            <a:ext cx="7970837" cy="4387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6" name="Google Shape;1076;p86"/>
          <p:cNvCxnSpPr/>
          <p:nvPr/>
        </p:nvCxnSpPr>
        <p:spPr>
          <a:xfrm>
            <a:off x="2565779" y="1132764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7" name="Google Shape;1077;p86"/>
          <p:cNvCxnSpPr/>
          <p:nvPr/>
        </p:nvCxnSpPr>
        <p:spPr>
          <a:xfrm>
            <a:off x="5911811" y="1135036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8" name="Google Shape;1078;p86"/>
          <p:cNvCxnSpPr/>
          <p:nvPr/>
        </p:nvCxnSpPr>
        <p:spPr>
          <a:xfrm>
            <a:off x="2718179" y="2213228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9" name="Google Shape;1079;p86"/>
          <p:cNvCxnSpPr/>
          <p:nvPr/>
        </p:nvCxnSpPr>
        <p:spPr>
          <a:xfrm>
            <a:off x="5675257" y="2201861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0" name="Google Shape;1080;p86"/>
          <p:cNvCxnSpPr/>
          <p:nvPr/>
        </p:nvCxnSpPr>
        <p:spPr>
          <a:xfrm>
            <a:off x="2110854" y="2540758"/>
            <a:ext cx="248892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1" name="Google Shape;1081;p86"/>
          <p:cNvCxnSpPr/>
          <p:nvPr/>
        </p:nvCxnSpPr>
        <p:spPr>
          <a:xfrm>
            <a:off x="5533980" y="2540758"/>
            <a:ext cx="248892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2" name="Google Shape;1082;p86"/>
          <p:cNvCxnSpPr/>
          <p:nvPr/>
        </p:nvCxnSpPr>
        <p:spPr>
          <a:xfrm>
            <a:off x="4945039" y="3539335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3" name="Google Shape;1083;p86"/>
          <p:cNvCxnSpPr/>
          <p:nvPr/>
        </p:nvCxnSpPr>
        <p:spPr>
          <a:xfrm>
            <a:off x="1392072" y="3539335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9" name="Google Shape;1089;p8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090" name="Google Shape;1090;p8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91" name="Google Shape;109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" y="800100"/>
            <a:ext cx="7397750" cy="4986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2" name="Google Shape;1092;p87"/>
          <p:cNvCxnSpPr/>
          <p:nvPr/>
        </p:nvCxnSpPr>
        <p:spPr>
          <a:xfrm>
            <a:off x="5011003" y="4110266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3" name="Google Shape;1093;p87"/>
          <p:cNvCxnSpPr/>
          <p:nvPr/>
        </p:nvCxnSpPr>
        <p:spPr>
          <a:xfrm>
            <a:off x="1765111" y="4110266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4" name="Google Shape;1094;p87"/>
          <p:cNvCxnSpPr/>
          <p:nvPr/>
        </p:nvCxnSpPr>
        <p:spPr>
          <a:xfrm>
            <a:off x="5638800" y="1928899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5" name="Google Shape;1095;p87"/>
          <p:cNvCxnSpPr/>
          <p:nvPr/>
        </p:nvCxnSpPr>
        <p:spPr>
          <a:xfrm>
            <a:off x="1355678" y="1683240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6" name="Google Shape;1096;p87"/>
          <p:cNvCxnSpPr/>
          <p:nvPr/>
        </p:nvCxnSpPr>
        <p:spPr>
          <a:xfrm>
            <a:off x="1765111" y="3075310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7" name="Google Shape;1097;p87"/>
          <p:cNvCxnSpPr/>
          <p:nvPr/>
        </p:nvCxnSpPr>
        <p:spPr>
          <a:xfrm>
            <a:off x="5638800" y="3075310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8" name="Google Shape;1098;p87"/>
          <p:cNvCxnSpPr/>
          <p:nvPr/>
        </p:nvCxnSpPr>
        <p:spPr>
          <a:xfrm>
            <a:off x="4995081" y="5750059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9" name="Google Shape;1099;p87"/>
          <p:cNvCxnSpPr/>
          <p:nvPr/>
        </p:nvCxnSpPr>
        <p:spPr>
          <a:xfrm>
            <a:off x="1817428" y="5750059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00" name="Google Shape;1100;p87"/>
          <p:cNvCxnSpPr/>
          <p:nvPr/>
        </p:nvCxnSpPr>
        <p:spPr>
          <a:xfrm>
            <a:off x="5627435" y="4658458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01" name="Google Shape;1101;p87"/>
          <p:cNvCxnSpPr/>
          <p:nvPr/>
        </p:nvCxnSpPr>
        <p:spPr>
          <a:xfrm>
            <a:off x="2488435" y="4917759"/>
            <a:ext cx="17332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02" name="Google Shape;1102;p87"/>
          <p:cNvSpPr/>
          <p:nvPr/>
        </p:nvSpPr>
        <p:spPr>
          <a:xfrm>
            <a:off x="7779224" y="3075310"/>
            <a:ext cx="396401" cy="172870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8"/>
          <p:cNvSpPr txBox="1"/>
          <p:nvPr>
            <p:ph type="title"/>
          </p:nvPr>
        </p:nvSpPr>
        <p:spPr>
          <a:xfrm>
            <a:off x="973138" y="423863"/>
            <a:ext cx="7645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08" name="Google Shape;1108;p88"/>
          <p:cNvSpPr txBox="1"/>
          <p:nvPr>
            <p:ph idx="1" type="body"/>
          </p:nvPr>
        </p:nvSpPr>
        <p:spPr>
          <a:xfrm>
            <a:off x="887413" y="1168400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Maximize CPU use, quickly switch processes onto CPU for time sharing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Process scheduler </a:t>
            </a:r>
            <a:r>
              <a:rPr b="1" lang="en-US" sz="1800"/>
              <a:t>selects among available processes for next execution on CPU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109" name="Google Shape;1109;p8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0" name="Google Shape;1110;p8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1" name="Google Shape;1111;p8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9"/>
          <p:cNvSpPr txBox="1"/>
          <p:nvPr>
            <p:ph type="title"/>
          </p:nvPr>
        </p:nvSpPr>
        <p:spPr>
          <a:xfrm>
            <a:off x="973138" y="423863"/>
            <a:ext cx="7645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17" name="Google Shape;1117;p89"/>
          <p:cNvSpPr txBox="1"/>
          <p:nvPr>
            <p:ph idx="1" type="body"/>
          </p:nvPr>
        </p:nvSpPr>
        <p:spPr>
          <a:xfrm>
            <a:off x="887413" y="1168400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Maintains </a:t>
            </a:r>
            <a:r>
              <a:rPr b="1" lang="en-US" sz="1800">
                <a:solidFill>
                  <a:srgbClr val="3366FF"/>
                </a:solidFill>
              </a:rPr>
              <a:t>scheduling queues </a:t>
            </a:r>
            <a:r>
              <a:rPr lang="en-US" sz="1800"/>
              <a:t>of processes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Job queue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Ready queue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Device queues</a:t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118" name="Google Shape;1118;p8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9" name="Google Shape;1119;p8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0" name="Google Shape;1120;p8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90"/>
          <p:cNvSpPr txBox="1"/>
          <p:nvPr>
            <p:ph type="title"/>
          </p:nvPr>
        </p:nvSpPr>
        <p:spPr>
          <a:xfrm>
            <a:off x="973138" y="423863"/>
            <a:ext cx="7645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26" name="Google Shape;1126;p90"/>
          <p:cNvSpPr txBox="1"/>
          <p:nvPr>
            <p:ph idx="1" type="body"/>
          </p:nvPr>
        </p:nvSpPr>
        <p:spPr>
          <a:xfrm>
            <a:off x="887413" y="1168400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Processes migrate among the various queues</a:t>
            </a:r>
            <a:endParaRPr/>
          </a:p>
        </p:txBody>
      </p:sp>
      <p:sp>
        <p:nvSpPr>
          <p:cNvPr id="1127" name="Google Shape;1127;p9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8" name="Google Shape;1128;p9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9" name="Google Shape;1129;p9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descr="Process Scheduling Queuing" id="1130" name="Google Shape;113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829" y="1963570"/>
            <a:ext cx="6945508" cy="3904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1"/>
          <p:cNvSpPr txBox="1"/>
          <p:nvPr>
            <p:ph type="title"/>
          </p:nvPr>
        </p:nvSpPr>
        <p:spPr>
          <a:xfrm>
            <a:off x="1041400" y="136525"/>
            <a:ext cx="7645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36" name="Google Shape;1136;p91"/>
          <p:cNvSpPr txBox="1"/>
          <p:nvPr>
            <p:ph idx="1" type="body"/>
          </p:nvPr>
        </p:nvSpPr>
        <p:spPr>
          <a:xfrm>
            <a:off x="887413" y="1168400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rgbClr val="3366FF"/>
                </a:solidFill>
              </a:rPr>
              <a:t>Job queue </a:t>
            </a:r>
            <a:r>
              <a:rPr lang="en-US" sz="2000"/>
              <a:t>–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Each new process goes into the job queue. </a:t>
            </a:r>
            <a:endParaRPr sz="2000"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 u="sng"/>
              <a:t>Processes in the job queue reside on mass storage and await the allocation of main memory.</a:t>
            </a:r>
            <a:endParaRPr b="1" sz="2000" u="sng"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as a process enters the system, </a:t>
            </a:r>
            <a:endParaRPr/>
          </a:p>
          <a:p>
            <a:pPr indent="-274320" lvl="2" marL="914717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they are put on job queue..</a:t>
            </a:r>
            <a:endParaRPr/>
          </a:p>
        </p:txBody>
      </p:sp>
      <p:sp>
        <p:nvSpPr>
          <p:cNvPr id="1137" name="Google Shape;1137;p9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38" name="Google Shape;1138;p9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39" name="Google Shape;1139;p9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92"/>
          <p:cNvSpPr txBox="1"/>
          <p:nvPr>
            <p:ph type="title"/>
          </p:nvPr>
        </p:nvSpPr>
        <p:spPr>
          <a:xfrm>
            <a:off x="1041400" y="136525"/>
            <a:ext cx="7645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45" name="Google Shape;1145;p92"/>
          <p:cNvSpPr txBox="1"/>
          <p:nvPr>
            <p:ph idx="1" type="body"/>
          </p:nvPr>
        </p:nvSpPr>
        <p:spPr>
          <a:xfrm>
            <a:off x="819174" y="677081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rgbClr val="3366FF"/>
                </a:solidFill>
              </a:rPr>
              <a:t>Ready queue </a:t>
            </a:r>
            <a:r>
              <a:rPr lang="en-US" sz="2000"/>
              <a:t>– 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set of all processes residing in main memory, </a:t>
            </a:r>
            <a:r>
              <a:rPr b="1" lang="en-US" sz="2000"/>
              <a:t>ready and waiting to execute</a:t>
            </a:r>
            <a:r>
              <a:rPr lang="en-US" sz="2000"/>
              <a:t>, </a:t>
            </a:r>
            <a:endParaRPr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 u="sng"/>
              <a:t>The set of all processes that are in main memory and are waiting for CPU time are kept in the ready queue.</a:t>
            </a:r>
            <a:endParaRPr b="1" sz="2000" u="sng"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146" name="Google Shape;1146;p9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7" name="Google Shape;1147;p9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8" name="Google Shape;1148;p9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3"/>
          <p:cNvSpPr txBox="1"/>
          <p:nvPr>
            <p:ph type="title"/>
          </p:nvPr>
        </p:nvSpPr>
        <p:spPr>
          <a:xfrm>
            <a:off x="1041400" y="136525"/>
            <a:ext cx="7645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54" name="Google Shape;1154;p93"/>
          <p:cNvSpPr txBox="1"/>
          <p:nvPr>
            <p:ph idx="1" type="body"/>
          </p:nvPr>
        </p:nvSpPr>
        <p:spPr>
          <a:xfrm>
            <a:off x="819174" y="677081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rgbClr val="3366FF"/>
                </a:solidFill>
              </a:rPr>
              <a:t>Ready queue </a:t>
            </a:r>
            <a:r>
              <a:rPr lang="en-US" sz="2000"/>
              <a:t>– 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Generally </a:t>
            </a:r>
            <a:r>
              <a:rPr b="1" lang="en-US" sz="2000"/>
              <a:t>stored using a linked list. </a:t>
            </a:r>
            <a:endParaRPr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ready queue header contains </a:t>
            </a:r>
            <a:r>
              <a:rPr b="1" lang="en-US" sz="2000"/>
              <a:t>pointers to the first and final PCB in the list.</a:t>
            </a:r>
            <a:endParaRPr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155" name="Google Shape;1155;p9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56" name="Google Shape;1156;p9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57" name="Google Shape;1157;p9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id="1158" name="Google Shape;1158;p93"/>
          <p:cNvPicPr preferRelativeResize="0"/>
          <p:nvPr/>
        </p:nvPicPr>
        <p:blipFill rotWithShape="1">
          <a:blip r:embed="rId3">
            <a:alphaModFix/>
          </a:blip>
          <a:srcRect b="62216" l="0" r="0" t="0"/>
          <a:stretch/>
        </p:blipFill>
        <p:spPr>
          <a:xfrm>
            <a:off x="1345394" y="2972454"/>
            <a:ext cx="5822950" cy="166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94"/>
          <p:cNvSpPr txBox="1"/>
          <p:nvPr>
            <p:ph type="title"/>
          </p:nvPr>
        </p:nvSpPr>
        <p:spPr>
          <a:xfrm>
            <a:off x="1041400" y="136525"/>
            <a:ext cx="7645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64" name="Google Shape;1164;p94"/>
          <p:cNvSpPr txBox="1"/>
          <p:nvPr>
            <p:ph idx="1" type="body"/>
          </p:nvPr>
        </p:nvSpPr>
        <p:spPr>
          <a:xfrm>
            <a:off x="819174" y="677081"/>
            <a:ext cx="6975475" cy="456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 sz="2000">
                <a:solidFill>
                  <a:srgbClr val="3366FF"/>
                </a:solidFill>
              </a:rPr>
              <a:t>Ready queue </a:t>
            </a:r>
            <a:r>
              <a:rPr lang="en-US" sz="2000"/>
              <a:t>– 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We extend each </a:t>
            </a:r>
            <a:r>
              <a:rPr b="1" lang="en-US" sz="2000"/>
              <a:t>PCB to include a pointer field that points to the next PCB in the ready queue.</a:t>
            </a:r>
            <a:endParaRPr/>
          </a:p>
        </p:txBody>
      </p:sp>
      <p:sp>
        <p:nvSpPr>
          <p:cNvPr id="1165" name="Google Shape;1165;p9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6" name="Google Shape;1166;p9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7" name="Google Shape;1167;p9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id="1168" name="Google Shape;1168;p94"/>
          <p:cNvPicPr preferRelativeResize="0"/>
          <p:nvPr/>
        </p:nvPicPr>
        <p:blipFill rotWithShape="1">
          <a:blip r:embed="rId3">
            <a:alphaModFix/>
          </a:blip>
          <a:srcRect b="62216" l="0" r="0" t="0"/>
          <a:stretch/>
        </p:blipFill>
        <p:spPr>
          <a:xfrm>
            <a:off x="1345394" y="2972454"/>
            <a:ext cx="5822950" cy="166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95"/>
          <p:cNvSpPr txBox="1"/>
          <p:nvPr>
            <p:ph type="title"/>
          </p:nvPr>
        </p:nvSpPr>
        <p:spPr>
          <a:xfrm>
            <a:off x="1041400" y="136525"/>
            <a:ext cx="7645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Scheduling</a:t>
            </a:r>
            <a:endParaRPr/>
          </a:p>
        </p:txBody>
      </p:sp>
      <p:sp>
        <p:nvSpPr>
          <p:cNvPr id="1174" name="Google Shape;1174;p95"/>
          <p:cNvSpPr txBox="1"/>
          <p:nvPr>
            <p:ph idx="1" type="body"/>
          </p:nvPr>
        </p:nvSpPr>
        <p:spPr>
          <a:xfrm>
            <a:off x="887413" y="1168399"/>
            <a:ext cx="6975475" cy="5322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n-US" sz="2000">
                <a:solidFill>
                  <a:srgbClr val="3366FF"/>
                </a:solidFill>
              </a:rPr>
              <a:t>Device queues </a:t>
            </a:r>
            <a:r>
              <a:rPr lang="en-US" sz="2000"/>
              <a:t>– </a:t>
            </a:r>
            <a:endParaRPr/>
          </a:p>
          <a:p>
            <a:pPr indent="-342900" lvl="1" marL="70866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US" sz="2000"/>
              <a:t>Set of processes waiting for an I/O device.</a:t>
            </a:r>
            <a:endParaRPr/>
          </a:p>
          <a:p>
            <a:pPr indent="-274320" lvl="1" marL="64008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US" sz="2000"/>
              <a:t>Each device has its own device queue</a:t>
            </a:r>
            <a:endParaRPr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1" marL="6400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274344" lvl="1" marL="640080" rtl="0" algn="l">
              <a:spcBef>
                <a:spcPts val="388"/>
              </a:spcBef>
              <a:spcAft>
                <a:spcPts val="0"/>
              </a:spcAft>
              <a:buSzPct val="76000"/>
              <a:buChar char="🞇"/>
            </a:pPr>
            <a:r>
              <a:rPr b="1" lang="en-US" sz="2100"/>
              <a:t>Processes migrate among the various queues</a:t>
            </a:r>
            <a:endParaRPr/>
          </a:p>
          <a:p>
            <a:pPr indent="-180599" lvl="1" marL="640080" rtl="0" algn="l">
              <a:spcBef>
                <a:spcPts val="388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100"/>
          </a:p>
        </p:txBody>
      </p:sp>
      <p:sp>
        <p:nvSpPr>
          <p:cNvPr id="1175" name="Google Shape;1175;p9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6" name="Google Shape;1176;p9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7" name="Google Shape;1177;p9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id="1178" name="Google Shape;1178;p95"/>
          <p:cNvPicPr preferRelativeResize="0"/>
          <p:nvPr/>
        </p:nvPicPr>
        <p:blipFill rotWithShape="1">
          <a:blip r:embed="rId3">
            <a:alphaModFix/>
          </a:blip>
          <a:srcRect b="0" l="0" r="64510" t="23107"/>
          <a:stretch/>
        </p:blipFill>
        <p:spPr>
          <a:xfrm>
            <a:off x="1618350" y="2188600"/>
            <a:ext cx="2066546" cy="345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6"/>
          <p:cNvSpPr txBox="1"/>
          <p:nvPr>
            <p:ph type="title"/>
          </p:nvPr>
        </p:nvSpPr>
        <p:spPr>
          <a:xfrm>
            <a:off x="481842" y="313946"/>
            <a:ext cx="7645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Summary of Queues</a:t>
            </a:r>
            <a:endParaRPr/>
          </a:p>
        </p:txBody>
      </p:sp>
      <p:sp>
        <p:nvSpPr>
          <p:cNvPr id="1184" name="Google Shape;1184;p96"/>
          <p:cNvSpPr txBox="1"/>
          <p:nvPr>
            <p:ph idx="1" type="body"/>
          </p:nvPr>
        </p:nvSpPr>
        <p:spPr>
          <a:xfrm>
            <a:off x="887413" y="900752"/>
            <a:ext cx="7560551" cy="4831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Job Queue:</a:t>
            </a:r>
            <a:r>
              <a:rPr b="1" lang="en-US" sz="1800"/>
              <a:t> </a:t>
            </a:r>
            <a:endParaRPr b="1" sz="1800"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US" sz="1600"/>
              <a:t>Each new process goes into the job queue. </a:t>
            </a:r>
            <a:endParaRPr sz="1600"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US" sz="1600" u="sng"/>
              <a:t>Processes in the job queue reside on mass storage and await the allocation of main memory.</a:t>
            </a:r>
            <a:endParaRPr/>
          </a:p>
          <a:p>
            <a:pPr indent="-195833" lvl="1" marL="639763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b="1" sz="1600" u="sng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Ready Queue:</a:t>
            </a:r>
            <a:r>
              <a:rPr b="1" lang="en-US" sz="1800"/>
              <a:t> </a:t>
            </a:r>
            <a:endParaRPr b="1" sz="1800"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US" sz="1600"/>
              <a:t>The set of all processes </a:t>
            </a:r>
            <a:r>
              <a:rPr b="1" lang="en-US" sz="1600" u="sng"/>
              <a:t>that are in main memory and are waiting for CPU time</a:t>
            </a:r>
            <a:r>
              <a:rPr lang="en-US" sz="1600"/>
              <a:t> is kept in the ready queue.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Waiting (Device) Queues:</a:t>
            </a:r>
            <a:r>
              <a:rPr b="1" lang="en-US" sz="1800"/>
              <a:t> </a:t>
            </a:r>
            <a:endParaRPr b="1" sz="1800"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US" sz="1600"/>
              <a:t>The set of processes </a:t>
            </a:r>
            <a:r>
              <a:rPr b="1" lang="en-US" sz="1600" u="sng"/>
              <a:t>waiting for allocation of certain I/O devices </a:t>
            </a:r>
            <a:r>
              <a:rPr lang="en-US" sz="1600"/>
              <a:t>is kept in the waiting (device) queue.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185" name="Google Shape;1185;p9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6" name="Google Shape;1186;p9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7" name="Google Shape;1187;p9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188" name="Google Shape;1188;p96"/>
          <p:cNvSpPr/>
          <p:nvPr/>
        </p:nvSpPr>
        <p:spPr>
          <a:xfrm>
            <a:off x="586852" y="6069011"/>
            <a:ext cx="79157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https://cs.stackexchange.com/questions/1106/which-queue-does-the-long-term-scheduler-maintain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97"/>
          <p:cNvSpPr txBox="1"/>
          <p:nvPr>
            <p:ph type="title"/>
          </p:nvPr>
        </p:nvSpPr>
        <p:spPr>
          <a:xfrm>
            <a:off x="974725" y="236538"/>
            <a:ext cx="79835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Ready Queue And Various I/O Device Queues</a:t>
            </a:r>
            <a:endParaRPr/>
          </a:p>
        </p:txBody>
      </p:sp>
      <p:pic>
        <p:nvPicPr>
          <p:cNvPr id="1194" name="Google Shape;119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8475" y="1214438"/>
            <a:ext cx="5822950" cy="5021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6" name="Google Shape;1196;p9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7" name="Google Shape;1197;p9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8"/>
          <p:cNvSpPr txBox="1"/>
          <p:nvPr>
            <p:ph type="title"/>
          </p:nvPr>
        </p:nvSpPr>
        <p:spPr>
          <a:xfrm>
            <a:off x="971550" y="1524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Representation of Process Scheduling</a:t>
            </a:r>
            <a:endParaRPr/>
          </a:p>
        </p:txBody>
      </p:sp>
      <p:pic>
        <p:nvPicPr>
          <p:cNvPr descr="3" id="1203" name="Google Shape;1203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488" y="1966913"/>
            <a:ext cx="654685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98"/>
          <p:cNvSpPr txBox="1"/>
          <p:nvPr/>
        </p:nvSpPr>
        <p:spPr>
          <a:xfrm>
            <a:off x="808038" y="1303338"/>
            <a:ext cx="6975475" cy="39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lang="en-US" sz="1800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Queueing diagram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queues, resources, flows</a:t>
            </a:r>
            <a:endParaRPr/>
          </a:p>
        </p:txBody>
      </p:sp>
      <p:sp>
        <p:nvSpPr>
          <p:cNvPr id="1205" name="Google Shape;1205;p9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6" name="Google Shape;1206;p9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7" name="Google Shape;1207;p9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99"/>
          <p:cNvSpPr txBox="1"/>
          <p:nvPr>
            <p:ph type="title"/>
          </p:nvPr>
        </p:nvSpPr>
        <p:spPr>
          <a:xfrm>
            <a:off x="971550" y="1524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Representation of Process Scheduling</a:t>
            </a:r>
            <a:endParaRPr/>
          </a:p>
        </p:txBody>
      </p:sp>
      <p:pic>
        <p:nvPicPr>
          <p:cNvPr descr="3" id="1213" name="Google Shape;121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8358" y="3854469"/>
            <a:ext cx="5568192" cy="1893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9"/>
          <p:cNvSpPr txBox="1"/>
          <p:nvPr/>
        </p:nvSpPr>
        <p:spPr>
          <a:xfrm>
            <a:off x="808038" y="1303338"/>
            <a:ext cx="7148512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Rectangular box=queue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Circles= resources that serve the queues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Arrows=indicate the flow of processes</a:t>
            </a:r>
            <a:endParaRPr/>
          </a:p>
        </p:txBody>
      </p:sp>
      <p:sp>
        <p:nvSpPr>
          <p:cNvPr id="1215" name="Google Shape;1215;p9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6" name="Google Shape;1216;p9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7" name="Google Shape;1217;p9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0"/>
          <p:cNvSpPr txBox="1"/>
          <p:nvPr>
            <p:ph type="title"/>
          </p:nvPr>
        </p:nvSpPr>
        <p:spPr>
          <a:xfrm>
            <a:off x="971550" y="1524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Representation of Process Scheduling</a:t>
            </a:r>
            <a:endParaRPr/>
          </a:p>
        </p:txBody>
      </p:sp>
      <p:pic>
        <p:nvPicPr>
          <p:cNvPr descr="3" id="1223" name="Google Shape;122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025" y="4202113"/>
            <a:ext cx="6469063" cy="144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00"/>
          <p:cNvSpPr txBox="1"/>
          <p:nvPr/>
        </p:nvSpPr>
        <p:spPr>
          <a:xfrm>
            <a:off x="793750" y="771525"/>
            <a:ext cx="7148513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new process is initially put in the ready queue, waits in the ready queue to be dispatched.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Once assigned to the CPU and is executing, one of the several events may occur, </a:t>
            </a:r>
            <a:r>
              <a:rPr b="1" lang="en-US" sz="18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 could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Issue I/O request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be placed in I/O queue</a:t>
            </a:r>
            <a:endParaRPr/>
          </a:p>
          <a:p>
            <a:pPr indent="-285750" lvl="1" marL="742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sub process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wait  for its termination</a:t>
            </a:r>
            <a:endParaRPr/>
          </a:p>
          <a:p>
            <a:pPr indent="-285750" lvl="1" marL="742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 Removed forcibly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CPU due to interrupt and put back in the ready queue</a:t>
            </a:r>
            <a:endParaRPr/>
          </a:p>
          <a:p>
            <a:pPr indent="-285750" lvl="1" marL="742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Finally when terminates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removed from all queues, PCBs and resources deallocated.</a:t>
            </a:r>
            <a:endParaRPr/>
          </a:p>
          <a:p>
            <a:pPr indent="-38608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608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5" name="Google Shape;1225;p10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26" name="Google Shape;1226;p10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27" name="Google Shape;1227;p10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1"/>
          <p:cNvSpPr txBox="1"/>
          <p:nvPr>
            <p:ph type="title"/>
          </p:nvPr>
        </p:nvSpPr>
        <p:spPr>
          <a:xfrm>
            <a:off x="457200" y="18256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Schedulers</a:t>
            </a:r>
            <a:endParaRPr/>
          </a:p>
        </p:txBody>
      </p:sp>
      <p:sp>
        <p:nvSpPr>
          <p:cNvPr id="1233" name="Google Shape;1233;p101"/>
          <p:cNvSpPr txBox="1"/>
          <p:nvPr>
            <p:ph idx="1" type="body"/>
          </p:nvPr>
        </p:nvSpPr>
        <p:spPr>
          <a:xfrm>
            <a:off x="887413" y="1108075"/>
            <a:ext cx="7453312" cy="50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>
                <a:solidFill>
                  <a:schemeClr val="dk1"/>
                </a:solidFill>
              </a:rPr>
              <a:t>OS must select processes from these queues in some fashion. 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>
                <a:solidFill>
                  <a:schemeClr val="dk1"/>
                </a:solidFill>
              </a:rPr>
              <a:t>The selection process is carried out by the appropriate scheduler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>
                <a:solidFill>
                  <a:schemeClr val="dk1"/>
                </a:solidFill>
              </a:rPr>
              <a:t>The schedulers are :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Long-term scheduler  </a:t>
            </a:r>
            <a:r>
              <a:rPr lang="en-US" sz="1800"/>
              <a:t>(or </a:t>
            </a:r>
            <a:r>
              <a:rPr b="1" lang="en-US" sz="1800">
                <a:solidFill>
                  <a:srgbClr val="3366FF"/>
                </a:solidFill>
              </a:rPr>
              <a:t>job scheduler</a:t>
            </a:r>
            <a:r>
              <a:rPr lang="en-US" sz="1800"/>
              <a:t>) 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Short-term scheduler  </a:t>
            </a:r>
            <a:r>
              <a:rPr lang="en-US" sz="1800"/>
              <a:t>(or </a:t>
            </a:r>
            <a:r>
              <a:rPr b="1" lang="en-US" sz="1800">
                <a:solidFill>
                  <a:srgbClr val="3366FF"/>
                </a:solidFill>
              </a:rPr>
              <a:t>CPU scheduler</a:t>
            </a:r>
            <a:r>
              <a:rPr lang="en-US" sz="1800"/>
              <a:t>)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Medium-term scheduler</a:t>
            </a:r>
            <a:r>
              <a:rPr lang="en-US" sz="1800"/>
              <a:t> </a:t>
            </a:r>
            <a:endParaRPr/>
          </a:p>
          <a:p>
            <a:pPr indent="-195833" lvl="1" marL="639763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15722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722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4" name="Google Shape;1234;p10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5" name="Google Shape;1235;p10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6" name="Google Shape;1236;p10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02"/>
          <p:cNvSpPr txBox="1"/>
          <p:nvPr>
            <p:ph type="title"/>
          </p:nvPr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66FF"/>
                </a:solidFill>
              </a:rPr>
              <a:t>Long-term scheduler</a:t>
            </a:r>
            <a:endParaRPr sz="2000"/>
          </a:p>
        </p:txBody>
      </p:sp>
      <p:sp>
        <p:nvSpPr>
          <p:cNvPr id="1242" name="Google Shape;1242;p102"/>
          <p:cNvSpPr txBox="1"/>
          <p:nvPr>
            <p:ph idx="1" type="body"/>
          </p:nvPr>
        </p:nvSpPr>
        <p:spPr>
          <a:xfrm>
            <a:off x="887413" y="1108075"/>
            <a:ext cx="7453312" cy="50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Also known as </a:t>
            </a:r>
            <a:r>
              <a:rPr b="1" lang="en-US" sz="1800"/>
              <a:t>Job Scheduler.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Selects which </a:t>
            </a:r>
            <a:r>
              <a:rPr b="1" lang="en-US" sz="1800"/>
              <a:t>processes should be brought into the ready queue</a:t>
            </a:r>
            <a:endParaRPr/>
          </a:p>
          <a:p>
            <a:pPr indent="-186182" lvl="0" marL="342900" rtl="0" algn="just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just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Long-Term Scheduler changes the process state </a:t>
            </a:r>
            <a:endParaRPr/>
          </a:p>
          <a:p>
            <a:pPr indent="-186182" lvl="0" marL="342900" rtl="0" algn="just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just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FF0000"/>
                </a:solidFill>
              </a:rPr>
              <a:t>From New to Ready.</a:t>
            </a:r>
            <a:endParaRPr/>
          </a:p>
          <a:p>
            <a:pPr indent="-186181" lvl="1" marL="639763" rtl="0" algn="just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  <a:p>
            <a:pPr indent="-273049" lvl="1" marL="639763" rtl="0" algn="just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FF0000"/>
                </a:solidFill>
              </a:rPr>
              <a:t>I.e. From Disk to Main Memory</a:t>
            </a:r>
            <a:endParaRPr b="1" sz="1800">
              <a:solidFill>
                <a:srgbClr val="FF0000"/>
              </a:solidFill>
            </a:endParaRPr>
          </a:p>
          <a:p>
            <a:pPr indent="-186182" lvl="0" marL="342900" rtl="0" algn="just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just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invoked  infrequently (seconds, minutes) </a:t>
            </a:r>
            <a:r>
              <a:rPr lang="en-US" sz="1800"/>
              <a:t>⇒ (may be slow)</a:t>
            </a:r>
            <a:endParaRPr/>
          </a:p>
        </p:txBody>
      </p:sp>
      <p:sp>
        <p:nvSpPr>
          <p:cNvPr id="1243" name="Google Shape;1243;p10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4" name="Google Shape;1244;p10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5" name="Google Shape;1245;p10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03"/>
          <p:cNvSpPr txBox="1"/>
          <p:nvPr>
            <p:ph type="title"/>
          </p:nvPr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66FF"/>
                </a:solidFill>
              </a:rPr>
              <a:t>Long-term scheduler  </a:t>
            </a:r>
            <a:r>
              <a:rPr lang="en-US" sz="2000"/>
              <a:t>(or </a:t>
            </a:r>
            <a:r>
              <a:rPr b="1" lang="en-US" sz="2000">
                <a:solidFill>
                  <a:srgbClr val="3366FF"/>
                </a:solidFill>
              </a:rPr>
              <a:t>job scheduler</a:t>
            </a:r>
            <a:r>
              <a:rPr lang="en-US" sz="2000"/>
              <a:t>) </a:t>
            </a:r>
            <a:endParaRPr/>
          </a:p>
        </p:txBody>
      </p:sp>
      <p:sp>
        <p:nvSpPr>
          <p:cNvPr id="1251" name="Google Shape;1251;p103"/>
          <p:cNvSpPr txBox="1"/>
          <p:nvPr>
            <p:ph idx="1" type="body"/>
          </p:nvPr>
        </p:nvSpPr>
        <p:spPr>
          <a:xfrm>
            <a:off x="887413" y="1108075"/>
            <a:ext cx="7453312" cy="50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long-term scheduler controls 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</a:t>
            </a:r>
            <a:r>
              <a:rPr b="1" lang="en-US" sz="1800">
                <a:solidFill>
                  <a:srgbClr val="3366FF"/>
                </a:solidFill>
              </a:rPr>
              <a:t>degree of multiprogramming 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i.e. the number of processes in memory.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If the degree of multiprogramming is stable then:</a:t>
            </a:r>
            <a:endParaRPr/>
          </a:p>
          <a:p>
            <a:pPr indent="-141732" lvl="2" marL="9144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average rate of process creation= average departure rate of process leaving the system</a:t>
            </a:r>
            <a:endParaRPr/>
          </a:p>
        </p:txBody>
      </p:sp>
      <p:sp>
        <p:nvSpPr>
          <p:cNvPr id="1252" name="Google Shape;1252;p10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3" name="Google Shape;1253;p10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4" name="Google Shape;1254;p10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04"/>
          <p:cNvSpPr txBox="1"/>
          <p:nvPr>
            <p:ph idx="1" type="body"/>
          </p:nvPr>
        </p:nvSpPr>
        <p:spPr>
          <a:xfrm>
            <a:off x="887413" y="1460500"/>
            <a:ext cx="7453312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On some systems, </a:t>
            </a:r>
            <a:r>
              <a:rPr b="1" lang="en-US" sz="1800" u="sng"/>
              <a:t>the long term scheduler may be absent or minimal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Time sharing systems like UNIX often has no LTS</a:t>
            </a:r>
            <a:r>
              <a:rPr lang="en-US" sz="1800"/>
              <a:t>. The stability of such system depends on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physical limitations </a:t>
            </a:r>
            <a:endParaRPr/>
          </a:p>
          <a:p>
            <a:pPr indent="-228600" lvl="3" marL="112395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/>
              <a:t> such as no of available terminals  or </a:t>
            </a:r>
            <a:endParaRPr/>
          </a:p>
          <a:p>
            <a:pPr indent="-141732" lvl="2" marL="9144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self adjusting nature of human users </a:t>
            </a:r>
            <a:endParaRPr/>
          </a:p>
          <a:p>
            <a:pPr indent="-228600" lvl="3" marL="112395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/>
              <a:t>If performance declines to unacceptable limits, some users will simply quit .</a:t>
            </a:r>
            <a:endParaRPr/>
          </a:p>
        </p:txBody>
      </p:sp>
      <p:sp>
        <p:nvSpPr>
          <p:cNvPr id="1260" name="Google Shape;1260;p10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1" name="Google Shape;1261;p10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2" name="Google Shape;1262;p10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263" name="Google Shape;1263;p104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job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05"/>
          <p:cNvSpPr txBox="1"/>
          <p:nvPr>
            <p:ph idx="1" type="body"/>
          </p:nvPr>
        </p:nvSpPr>
        <p:spPr>
          <a:xfrm>
            <a:off x="887413" y="1746250"/>
            <a:ext cx="7453312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Processes can be described as either: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I/O-bound process</a:t>
            </a:r>
            <a:r>
              <a:rPr lang="en-US" sz="1800">
                <a:solidFill>
                  <a:srgbClr val="000000"/>
                </a:solidFill>
              </a:rPr>
              <a:t> </a:t>
            </a:r>
            <a:r>
              <a:rPr lang="en-US" sz="1800"/>
              <a:t>–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spends more time doing I/O than computations,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many short CPU bursts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CPU-bound process </a:t>
            </a:r>
            <a:r>
              <a:rPr lang="en-US" sz="1800"/>
              <a:t>–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spends more time doing computations;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generates I/O requests infrequently,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few very long CPU bursts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1" marL="366713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t/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269" name="Google Shape;1269;p10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0" name="Google Shape;1270;p10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1" name="Google Shape;1271;p10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272" name="Google Shape;1272;p105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job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6"/>
          <p:cNvSpPr txBox="1"/>
          <p:nvPr>
            <p:ph idx="1" type="body"/>
          </p:nvPr>
        </p:nvSpPr>
        <p:spPr>
          <a:xfrm>
            <a:off x="887413" y="1746250"/>
            <a:ext cx="7453312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Long-term scheduler strives for good </a:t>
            </a:r>
            <a:r>
              <a:rPr b="1" lang="en-US" sz="1800"/>
              <a:t>process mix of both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Why?</a:t>
            </a:r>
            <a:endParaRPr sz="1800"/>
          </a:p>
        </p:txBody>
      </p:sp>
      <p:sp>
        <p:nvSpPr>
          <p:cNvPr id="1278" name="Google Shape;1278;p10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9" name="Google Shape;1279;p10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0" name="Google Shape;1280;p10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281" name="Google Shape;1281;p106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job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07"/>
          <p:cNvSpPr txBox="1"/>
          <p:nvPr>
            <p:ph idx="1" type="body"/>
          </p:nvPr>
        </p:nvSpPr>
        <p:spPr>
          <a:xfrm>
            <a:off x="887413" y="1746250"/>
            <a:ext cx="7453312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Long-term scheduler strives for good </a:t>
            </a:r>
            <a:r>
              <a:rPr b="1" lang="en-US" sz="1800"/>
              <a:t>process mix of both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If all Processes are I/O bound,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ready queue will almost always be empty and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STS will have little to do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CPU goes underutilized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If all Processes are CPU bound,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I/O waiting queue will almost always be empty,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devices will go unused.</a:t>
            </a:r>
            <a:endParaRPr/>
          </a:p>
          <a:p>
            <a:pPr indent="0" lvl="1" marL="366713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t/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287" name="Google Shape;1287;p10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8" name="Google Shape;1288;p10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9" name="Google Shape;1289;p10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290" name="Google Shape;1290;p107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job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08"/>
          <p:cNvSpPr txBox="1"/>
          <p:nvPr>
            <p:ph idx="1" type="body"/>
          </p:nvPr>
        </p:nvSpPr>
        <p:spPr>
          <a:xfrm>
            <a:off x="887413" y="1814513"/>
            <a:ext cx="7453312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Selects processes from the ready queue and allocates the CPU for execution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 u="sng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Selects which process should be executed next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 u="sng"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</p:txBody>
      </p:sp>
      <p:sp>
        <p:nvSpPr>
          <p:cNvPr id="1296" name="Google Shape;1296;p10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7" name="Google Shape;1297;p10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8" name="Google Shape;1298;p10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299" name="Google Shape;1299;p108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CPU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09"/>
          <p:cNvSpPr txBox="1"/>
          <p:nvPr>
            <p:ph idx="1" type="body"/>
          </p:nvPr>
        </p:nvSpPr>
        <p:spPr>
          <a:xfrm>
            <a:off x="887413" y="1814513"/>
            <a:ext cx="7453312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Sometimes the only scheduler </a:t>
            </a:r>
            <a:r>
              <a:rPr lang="en-US" sz="1800"/>
              <a:t>in a system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Short-term scheduler is </a:t>
            </a:r>
            <a:r>
              <a:rPr b="1" lang="en-US" sz="1800"/>
              <a:t>invoked frequently (milliseconds)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Also known as </a:t>
            </a:r>
            <a:r>
              <a:rPr b="1" lang="en-US" sz="1800"/>
              <a:t>CPU scheduler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As it Selects a process from the ready queue and yields control of the CPU to the process.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</p:txBody>
      </p:sp>
      <p:sp>
        <p:nvSpPr>
          <p:cNvPr id="1305" name="Google Shape;1305;p10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6" name="Google Shape;1306;p10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7" name="Google Shape;1307;p10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308" name="Google Shape;1308;p109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CPU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10"/>
          <p:cNvSpPr txBox="1"/>
          <p:nvPr>
            <p:ph idx="1" type="body"/>
          </p:nvPr>
        </p:nvSpPr>
        <p:spPr>
          <a:xfrm>
            <a:off x="887413" y="1814513"/>
            <a:ext cx="7453312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49" lvl="1" marL="639763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It must be fast,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as a process may execute for only a few milliseconds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before waiting for an I/O request,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so STS needs to select another process from ready queue.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Often STS executes at least </a:t>
            </a:r>
            <a:r>
              <a:rPr b="1" lang="en-US" sz="1800"/>
              <a:t>once every 100 milliseconds.</a:t>
            </a:r>
            <a:endParaRPr/>
          </a:p>
        </p:txBody>
      </p:sp>
      <p:sp>
        <p:nvSpPr>
          <p:cNvPr id="1314" name="Google Shape;1314;p11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5" name="Google Shape;1315;p11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6" name="Google Shape;1316;p11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317" name="Google Shape;1317;p110"/>
          <p:cNvSpPr txBox="1"/>
          <p:nvPr/>
        </p:nvSpPr>
        <p:spPr>
          <a:xfrm>
            <a:off x="566738" y="777875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6985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Short-term scheduler  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(or </a:t>
            </a:r>
            <a:r>
              <a:rPr b="1" lang="en-US" sz="2000">
                <a:solidFill>
                  <a:srgbClr val="33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CPU scheduler</a:t>
            </a:r>
            <a:r>
              <a:rPr lang="en-US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11"/>
          <p:cNvSpPr txBox="1"/>
          <p:nvPr>
            <p:ph type="title"/>
          </p:nvPr>
        </p:nvSpPr>
        <p:spPr>
          <a:xfrm>
            <a:off x="581025" y="5842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Addition of Medium Term Scheduling</a:t>
            </a:r>
            <a:endParaRPr/>
          </a:p>
        </p:txBody>
      </p:sp>
      <p:pic>
        <p:nvPicPr>
          <p:cNvPr id="1323" name="Google Shape;132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875" y="2827338"/>
            <a:ext cx="7327900" cy="2665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1"/>
          <p:cNvSpPr txBox="1"/>
          <p:nvPr/>
        </p:nvSpPr>
        <p:spPr>
          <a:xfrm>
            <a:off x="806450" y="1160463"/>
            <a:ext cx="7200900" cy="1446212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lang="en-US" sz="1800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Medium-term scheduler 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added if degree of multiple programming needs to decrease</a:t>
            </a:r>
            <a:endParaRPr/>
          </a:p>
          <a:p>
            <a:pPr indent="-407988" lvl="1" marL="106045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 process from memory, store on disk, bring back in from disk to continue execution: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swapping</a:t>
            </a:r>
            <a:endParaRPr/>
          </a:p>
          <a:p>
            <a:pPr indent="-38608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608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5" name="Google Shape;1325;p11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6" name="Google Shape;1326;p11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7" name="Google Shape;1327;p11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12"/>
          <p:cNvSpPr txBox="1"/>
          <p:nvPr>
            <p:ph type="title"/>
          </p:nvPr>
        </p:nvSpPr>
        <p:spPr>
          <a:xfrm>
            <a:off x="581025" y="5842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Addition of Medium Term Scheduling</a:t>
            </a:r>
            <a:endParaRPr/>
          </a:p>
        </p:txBody>
      </p:sp>
      <p:pic>
        <p:nvPicPr>
          <p:cNvPr id="1333" name="Google Shape;133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875" y="2827338"/>
            <a:ext cx="7327900" cy="2665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112"/>
          <p:cNvSpPr txBox="1"/>
          <p:nvPr/>
        </p:nvSpPr>
        <p:spPr>
          <a:xfrm>
            <a:off x="806450" y="1160463"/>
            <a:ext cx="7200900" cy="1446212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Why?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improve the process mix</a:t>
            </a:r>
            <a:endParaRPr/>
          </a:p>
          <a:p>
            <a:pPr indent="-48895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requirements have overcommitted available memory, Requiring memory to be freed up.</a:t>
            </a:r>
            <a:endParaRPr/>
          </a:p>
          <a:p>
            <a:pPr indent="-386080" lvl="0" marL="48895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5" name="Google Shape;1335;p11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6" name="Google Shape;1336;p11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7" name="Google Shape;1337;p11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13"/>
          <p:cNvSpPr txBox="1"/>
          <p:nvPr>
            <p:ph type="title"/>
          </p:nvPr>
        </p:nvSpPr>
        <p:spPr>
          <a:xfrm>
            <a:off x="457200" y="1666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 Switch</a:t>
            </a:r>
            <a:endParaRPr/>
          </a:p>
        </p:txBody>
      </p:sp>
      <p:sp>
        <p:nvSpPr>
          <p:cNvPr id="1343" name="Google Shape;1343;p113"/>
          <p:cNvSpPr txBox="1"/>
          <p:nvPr>
            <p:ph idx="1" type="body"/>
          </p:nvPr>
        </p:nvSpPr>
        <p:spPr>
          <a:xfrm>
            <a:off x="854075" y="1108075"/>
            <a:ext cx="6997800" cy="44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Context </a:t>
            </a:r>
            <a:r>
              <a:rPr lang="en-US" sz="1800"/>
              <a:t>of a process represented in the PCB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When CPU switches to another process,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system must </a:t>
            </a:r>
            <a:r>
              <a:rPr b="1" lang="en-US" sz="1800">
                <a:solidFill>
                  <a:srgbClr val="3366FF"/>
                </a:solidFill>
              </a:rPr>
              <a:t>save the state </a:t>
            </a:r>
            <a:r>
              <a:rPr lang="en-US" sz="1800"/>
              <a:t>of the old process and 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load the </a:t>
            </a:r>
            <a:r>
              <a:rPr b="1" lang="en-US" sz="1800">
                <a:solidFill>
                  <a:srgbClr val="3366FF"/>
                </a:solidFill>
              </a:rPr>
              <a:t>saved state </a:t>
            </a:r>
            <a:r>
              <a:rPr lang="en-US" sz="1800"/>
              <a:t>for the new process via a </a:t>
            </a:r>
            <a:r>
              <a:rPr b="1" lang="en-US" sz="1800">
                <a:solidFill>
                  <a:srgbClr val="3366FF"/>
                </a:solidFill>
              </a:rPr>
              <a:t>context switch</a:t>
            </a:r>
            <a:endParaRPr sz="1800"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Kernel saves context of old process in its PCB and 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loads the saved contents of new process from its PCB to run.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344" name="Google Shape;1344;p11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5" name="Google Shape;1345;p11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6" name="Google Shape;1346;p11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114"/>
          <p:cNvSpPr txBox="1"/>
          <p:nvPr>
            <p:ph type="title"/>
          </p:nvPr>
        </p:nvSpPr>
        <p:spPr>
          <a:xfrm>
            <a:off x="457200" y="1666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 Switch</a:t>
            </a:r>
            <a:endParaRPr/>
          </a:p>
        </p:txBody>
      </p:sp>
      <p:sp>
        <p:nvSpPr>
          <p:cNvPr id="1352" name="Google Shape;1352;p114"/>
          <p:cNvSpPr txBox="1"/>
          <p:nvPr>
            <p:ph idx="1" type="body"/>
          </p:nvPr>
        </p:nvSpPr>
        <p:spPr>
          <a:xfrm>
            <a:off x="854075" y="1108075"/>
            <a:ext cx="699770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Context-switch time is overhead; </a:t>
            </a:r>
            <a:endParaRPr/>
          </a:p>
          <a:p>
            <a:pPr indent="-27431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system does no useful work while switching</a:t>
            </a:r>
            <a:endParaRPr/>
          </a:p>
          <a:p>
            <a:pPr indent="-27431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Varies from m/c to m/c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more complex the OS and the PCB 🡺 the longer the context switch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353" name="Google Shape;1353;p11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4" name="Google Shape;1354;p11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5" name="Google Shape;1355;p11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5"/>
          <p:cNvSpPr txBox="1"/>
          <p:nvPr>
            <p:ph type="title"/>
          </p:nvPr>
        </p:nvSpPr>
        <p:spPr>
          <a:xfrm>
            <a:off x="457200" y="1666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 Switch</a:t>
            </a:r>
            <a:endParaRPr/>
          </a:p>
        </p:txBody>
      </p:sp>
      <p:sp>
        <p:nvSpPr>
          <p:cNvPr id="1361" name="Google Shape;1361;p115"/>
          <p:cNvSpPr txBox="1"/>
          <p:nvPr>
            <p:ph idx="1" type="body"/>
          </p:nvPr>
        </p:nvSpPr>
        <p:spPr>
          <a:xfrm>
            <a:off x="854075" y="1108075"/>
            <a:ext cx="699770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Time dependent on hardware support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Some hardware provides multiple sets of registers per CPU 🡺 multiple contexts loaded at once,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involves changing the pointer to the current register set.</a:t>
            </a:r>
            <a:endParaRPr/>
          </a:p>
        </p:txBody>
      </p:sp>
      <p:sp>
        <p:nvSpPr>
          <p:cNvPr id="1362" name="Google Shape;1362;p11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3" name="Google Shape;1363;p11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4" name="Google Shape;1364;p11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16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 on Processes</a:t>
            </a:r>
            <a:endParaRPr/>
          </a:p>
        </p:txBody>
      </p:sp>
      <p:sp>
        <p:nvSpPr>
          <p:cNvPr id="1370" name="Google Shape;1370;p116"/>
          <p:cNvSpPr txBox="1"/>
          <p:nvPr>
            <p:ph idx="1" type="body"/>
          </p:nvPr>
        </p:nvSpPr>
        <p:spPr>
          <a:xfrm>
            <a:off x="806450" y="1233488"/>
            <a:ext cx="748030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System must provide mechanisms for: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 process creation,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 process termination</a:t>
            </a:r>
            <a:endParaRPr/>
          </a:p>
        </p:txBody>
      </p:sp>
      <p:sp>
        <p:nvSpPr>
          <p:cNvPr id="1371" name="Google Shape;1371;p11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2" name="Google Shape;1372;p11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3" name="Google Shape;1373;p11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17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Creation</a:t>
            </a:r>
            <a:endParaRPr/>
          </a:p>
        </p:txBody>
      </p:sp>
      <p:sp>
        <p:nvSpPr>
          <p:cNvPr id="1379" name="Google Shape;1379;p117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>
              <a:solidFill>
                <a:srgbClr val="3366FF"/>
              </a:solidFill>
            </a:endParaRPr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>
                <a:solidFill>
                  <a:srgbClr val="3366FF"/>
                </a:solidFill>
              </a:rPr>
              <a:t>Parent</a:t>
            </a:r>
            <a:r>
              <a:rPr b="1" lang="en-US" sz="1800"/>
              <a:t> </a:t>
            </a:r>
            <a:r>
              <a:rPr lang="en-US" sz="1800"/>
              <a:t>process create </a:t>
            </a:r>
            <a:r>
              <a:rPr b="1" lang="en-US" sz="1800">
                <a:solidFill>
                  <a:srgbClr val="3366FF"/>
                </a:solidFill>
              </a:rPr>
              <a:t>children</a:t>
            </a:r>
            <a:r>
              <a:rPr b="1" lang="en-US" sz="1800"/>
              <a:t> </a:t>
            </a:r>
            <a:r>
              <a:rPr lang="en-US" sz="1800"/>
              <a:t>processes,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which, in turn create other processes,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forming a </a:t>
            </a:r>
            <a:r>
              <a:rPr b="1" lang="en-US" sz="1800">
                <a:solidFill>
                  <a:srgbClr val="3366FF"/>
                </a:solidFill>
              </a:rPr>
              <a:t>tree</a:t>
            </a:r>
            <a:r>
              <a:rPr lang="en-US" sz="1800"/>
              <a:t> of processes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Generally, processes are identified and managed via a</a:t>
            </a:r>
            <a:r>
              <a:rPr b="1" lang="en-US" sz="1800"/>
              <a:t> </a:t>
            </a:r>
            <a:r>
              <a:rPr b="1" lang="en-US" sz="1800">
                <a:solidFill>
                  <a:srgbClr val="3366FF"/>
                </a:solidFill>
              </a:rPr>
              <a:t>process identifier </a:t>
            </a:r>
            <a:r>
              <a:rPr lang="en-US" sz="1800"/>
              <a:t>(</a:t>
            </a:r>
            <a:r>
              <a:rPr b="1" lang="en-US" sz="1800">
                <a:solidFill>
                  <a:srgbClr val="3366FF"/>
                </a:solidFill>
              </a:rPr>
              <a:t>pid</a:t>
            </a:r>
            <a:r>
              <a:rPr lang="en-US" sz="1800"/>
              <a:t>)</a:t>
            </a:r>
            <a:endParaRPr/>
          </a:p>
        </p:txBody>
      </p:sp>
      <p:sp>
        <p:nvSpPr>
          <p:cNvPr id="1380" name="Google Shape;1380;p11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1" name="Google Shape;1381;p11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2" name="Google Shape;1382;p11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18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Creation</a:t>
            </a:r>
            <a:endParaRPr/>
          </a:p>
        </p:txBody>
      </p:sp>
      <p:sp>
        <p:nvSpPr>
          <p:cNvPr id="1388" name="Google Shape;1388;p118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Resource sharing options(CPU </a:t>
            </a:r>
            <a:r>
              <a:rPr lang="en-US" sz="1800"/>
              <a:t>time, memory, files, I/O devices)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Parent and children share all resources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Children share subset of parent’s resources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Parent and child share no resources (child obtains resources directly from OS)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389" name="Google Shape;1389;p11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0" name="Google Shape;1390;p11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1" name="Google Shape;1391;p11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19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Creation</a:t>
            </a:r>
            <a:endParaRPr/>
          </a:p>
        </p:txBody>
      </p:sp>
      <p:sp>
        <p:nvSpPr>
          <p:cNvPr id="1397" name="Google Shape;1397;p119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618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Restricting a child process to a subset of parents resources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prevents any process from overloading the system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by creating too many sub processes.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398" name="Google Shape;1398;p11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9" name="Google Shape;1399;p11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0" name="Google Shape;1400;p11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20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Creation</a:t>
            </a:r>
            <a:endParaRPr/>
          </a:p>
        </p:txBody>
      </p:sp>
      <p:sp>
        <p:nvSpPr>
          <p:cNvPr id="1406" name="Google Shape;1406;p120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Execution options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Parent and children execute concurrently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Parent waits until children terminate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407" name="Google Shape;1407;p12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8" name="Google Shape;1408;p12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9" name="Google Shape;1409;p12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21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Creation</a:t>
            </a:r>
            <a:endParaRPr/>
          </a:p>
        </p:txBody>
      </p:sp>
      <p:sp>
        <p:nvSpPr>
          <p:cNvPr id="1415" name="Google Shape;1415;p121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In terms of Address space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Child duplicate of parent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Child has a separtate program loaded into it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16" name="Google Shape;1416;p12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7" name="Google Shape;1417;p12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8" name="Google Shape;1418;p12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22"/>
          <p:cNvSpPr txBox="1"/>
          <p:nvPr>
            <p:ph type="title"/>
          </p:nvPr>
        </p:nvSpPr>
        <p:spPr>
          <a:xfrm>
            <a:off x="498143" y="51233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/>
              <a:t>Process Creation-In terms of Address space</a:t>
            </a:r>
            <a:endParaRPr b="1" sz="1800"/>
          </a:p>
        </p:txBody>
      </p:sp>
      <p:sp>
        <p:nvSpPr>
          <p:cNvPr id="1424" name="Google Shape;1424;p122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fork()</a:t>
            </a:r>
            <a:endParaRPr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exec()</a:t>
            </a:r>
            <a:endParaRPr sz="1600"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425" name="Google Shape;1425;p12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6" name="Google Shape;1426;p12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7" name="Google Shape;1427;p12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23"/>
          <p:cNvSpPr txBox="1"/>
          <p:nvPr>
            <p:ph type="title"/>
          </p:nvPr>
        </p:nvSpPr>
        <p:spPr>
          <a:xfrm>
            <a:off x="498143" y="51233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/>
              <a:t>Process Creation-In terms of Address space</a:t>
            </a:r>
            <a:endParaRPr b="1" sz="1800"/>
          </a:p>
        </p:txBody>
      </p:sp>
      <p:sp>
        <p:nvSpPr>
          <p:cNvPr id="1433" name="Google Shape;1433;p123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fork() creates a new process by duplicating the calling process, </a:t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new process, referred to as child, is an exact duplicate of the calling process, referred to as parent</a:t>
            </a:r>
            <a:endParaRPr sz="1800"/>
          </a:p>
          <a:p>
            <a:pPr indent="0" lvl="2" marL="6858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434" name="Google Shape;1434;p12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5" name="Google Shape;1435;p12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6" name="Google Shape;1436;p12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24"/>
          <p:cNvSpPr txBox="1"/>
          <p:nvPr>
            <p:ph type="title"/>
          </p:nvPr>
        </p:nvSpPr>
        <p:spPr>
          <a:xfrm>
            <a:off x="498143" y="51233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/>
              <a:t>Process Creation-In terms of Address space</a:t>
            </a:r>
            <a:endParaRPr b="1" sz="1800"/>
          </a:p>
        </p:txBody>
      </p:sp>
      <p:sp>
        <p:nvSpPr>
          <p:cNvPr id="1442" name="Google Shape;1442;p124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fork()</a:t>
            </a:r>
            <a:endParaRPr sz="1800"/>
          </a:p>
          <a:p>
            <a:pPr indent="-342899" lvl="1" marL="7096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The child has its </a:t>
            </a:r>
            <a:r>
              <a:rPr b="1" lang="en-US" sz="1800"/>
              <a:t>own unique process ID</a:t>
            </a:r>
            <a:r>
              <a:rPr lang="en-US" sz="1800"/>
              <a:t>, and this PID </a:t>
            </a:r>
            <a:r>
              <a:rPr b="1" lang="en-US" sz="1800"/>
              <a:t>does not match the ID of any existing process group.</a:t>
            </a:r>
            <a:endParaRPr/>
          </a:p>
          <a:p>
            <a:pPr indent="-342899" lvl="1" marL="7096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The </a:t>
            </a:r>
            <a:r>
              <a:rPr b="1" lang="en-US" sz="1800"/>
              <a:t>child’s parent process ID is the same as the parent’s process ID</a:t>
            </a:r>
            <a:r>
              <a:rPr lang="en-US" sz="1800"/>
              <a:t>.</a:t>
            </a:r>
            <a:endParaRPr/>
          </a:p>
          <a:p>
            <a:pPr indent="-342899" lvl="1" marL="7096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The child </a:t>
            </a:r>
            <a:r>
              <a:rPr b="1" lang="en-US" sz="1800"/>
              <a:t>does not inherit its parent’s memory locks </a:t>
            </a:r>
            <a:r>
              <a:rPr lang="en-US" sz="1800"/>
              <a:t>and </a:t>
            </a:r>
            <a:r>
              <a:rPr b="1" lang="en-US" sz="1800"/>
              <a:t>semaphore</a:t>
            </a:r>
            <a:r>
              <a:rPr lang="en-US" sz="1800"/>
              <a:t> adjustments.</a:t>
            </a:r>
            <a:endParaRPr/>
          </a:p>
          <a:p>
            <a:pPr indent="-342899" lvl="1" marL="7096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lang="en-US" sz="1800"/>
              <a:t>The child </a:t>
            </a:r>
            <a:r>
              <a:rPr b="1" lang="en-US" sz="1800"/>
              <a:t>does not inherit outstanding asynchronous I/O </a:t>
            </a:r>
            <a:r>
              <a:rPr lang="en-US" sz="1800"/>
              <a:t>operations from its parent nor does it inherit any asynchronous I/O contexts from its parent.</a:t>
            </a:r>
            <a:endParaRPr/>
          </a:p>
          <a:p>
            <a:pPr indent="-141732" lvl="2" marL="9144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43" name="Google Shape;1443;p12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4" name="Google Shape;1444;p12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5" name="Google Shape;1445;p12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25"/>
          <p:cNvSpPr txBox="1"/>
          <p:nvPr>
            <p:ph type="title"/>
          </p:nvPr>
        </p:nvSpPr>
        <p:spPr>
          <a:xfrm>
            <a:off x="498143" y="51233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/>
              <a:t>Process Creation-In terms of Address space</a:t>
            </a:r>
            <a:endParaRPr b="1" sz="1800"/>
          </a:p>
        </p:txBody>
      </p:sp>
      <p:sp>
        <p:nvSpPr>
          <p:cNvPr id="1451" name="Google Shape;1451;p125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exec() family of functions </a:t>
            </a:r>
            <a:endParaRPr sz="2000"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replaces</a:t>
            </a:r>
            <a:r>
              <a:rPr lang="en-US" sz="2000"/>
              <a:t> </a:t>
            </a:r>
            <a:r>
              <a:rPr b="1" lang="en-US" sz="2000"/>
              <a:t>the current process image with a new process image. </a:t>
            </a:r>
            <a:endParaRPr b="1" sz="2000"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It loads the program into the current process space and runs it from the entry point.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452" name="Google Shape;1452;p12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3" name="Google Shape;1453;p12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4" name="Google Shape;1454;p12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26"/>
          <p:cNvSpPr txBox="1"/>
          <p:nvPr>
            <p:ph type="title"/>
          </p:nvPr>
        </p:nvSpPr>
        <p:spPr>
          <a:xfrm>
            <a:off x="1069975" y="152400"/>
            <a:ext cx="76168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Creation (Cont.)</a:t>
            </a:r>
            <a:endParaRPr/>
          </a:p>
        </p:txBody>
      </p:sp>
      <p:sp>
        <p:nvSpPr>
          <p:cNvPr id="1460" name="Google Shape;1460;p126"/>
          <p:cNvSpPr txBox="1"/>
          <p:nvPr>
            <p:ph idx="1" type="body"/>
          </p:nvPr>
        </p:nvSpPr>
        <p:spPr>
          <a:xfrm>
            <a:off x="869950" y="1060450"/>
            <a:ext cx="7154863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UNIX examples</a:t>
            </a:r>
            <a:endParaRPr/>
          </a:p>
          <a:p>
            <a:pPr indent="-273050" lvl="1" marL="639763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b="1" lang="en-US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/>
              <a:t>system call creates new process</a:t>
            </a:r>
            <a:endParaRPr/>
          </a:p>
          <a:p>
            <a:pPr indent="-273050" lvl="1" marL="639763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b="1" lang="en-US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exec()</a:t>
            </a:r>
            <a:r>
              <a:rPr lang="en-US"/>
              <a:t> system call used after a </a:t>
            </a:r>
            <a:r>
              <a:rPr b="1" lang="en-US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r>
              <a:rPr lang="en-US"/>
              <a:t> to </a:t>
            </a:r>
            <a:r>
              <a:rPr b="1" lang="en-US" u="sng"/>
              <a:t>replace the process’ memory space with a new program</a:t>
            </a:r>
            <a:endParaRPr/>
          </a:p>
          <a:p>
            <a:pPr indent="-15722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b="1" u="sng"/>
          </a:p>
        </p:txBody>
      </p:sp>
      <p:pic>
        <p:nvPicPr>
          <p:cNvPr descr="3" id="1461" name="Google Shape;1461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013" y="3798888"/>
            <a:ext cx="6419850" cy="16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3" name="Google Shape;1463;p12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4" name="Google Shape;1464;p12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7"/>
          <p:cNvSpPr txBox="1"/>
          <p:nvPr>
            <p:ph type="title"/>
          </p:nvPr>
        </p:nvSpPr>
        <p:spPr>
          <a:xfrm>
            <a:off x="1069975" y="152400"/>
            <a:ext cx="76168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Fork vs Exec</a:t>
            </a:r>
            <a:endParaRPr/>
          </a:p>
        </p:txBody>
      </p:sp>
      <p:sp>
        <p:nvSpPr>
          <p:cNvPr id="1470" name="Google Shape;1470;p127"/>
          <p:cNvSpPr txBox="1"/>
          <p:nvPr>
            <p:ph idx="1" type="body"/>
          </p:nvPr>
        </p:nvSpPr>
        <p:spPr>
          <a:xfrm>
            <a:off x="869950" y="1060450"/>
            <a:ext cx="7154863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fork starts a new process which is a copy of the one that calls it, while </a:t>
            </a:r>
            <a:endParaRPr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exec replaces the current process image with another (different) one</a:t>
            </a:r>
            <a:r>
              <a:rPr lang="en-US" sz="2000"/>
              <a:t>.</a:t>
            </a:r>
            <a:endParaRPr b="1" sz="2000" u="sng"/>
          </a:p>
        </p:txBody>
      </p:sp>
      <p:pic>
        <p:nvPicPr>
          <p:cNvPr descr="3" id="1471" name="Google Shape;1471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013" y="3798888"/>
            <a:ext cx="6419850" cy="16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2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3" name="Google Shape;1473;p12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4" name="Google Shape;1474;p12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8"/>
          <p:cNvSpPr txBox="1"/>
          <p:nvPr>
            <p:ph type="title"/>
          </p:nvPr>
        </p:nvSpPr>
        <p:spPr>
          <a:xfrm>
            <a:off x="796925" y="658813"/>
            <a:ext cx="7024688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execlp -- Overlay Calling Process and Run New Program</a:t>
            </a:r>
            <a:endParaRPr sz="2400"/>
          </a:p>
        </p:txBody>
      </p:sp>
      <p:sp>
        <p:nvSpPr>
          <p:cNvPr id="1480" name="Google Shape;1480;p128"/>
          <p:cNvSpPr txBox="1"/>
          <p:nvPr>
            <p:ph idx="1" type="body"/>
          </p:nvPr>
        </p:nvSpPr>
        <p:spPr>
          <a:xfrm>
            <a:off x="879475" y="1492250"/>
            <a:ext cx="6777038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execlp function is most commonly used to overlay a process image that has been created by a call to the fork function. 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execlp replaces the calling process image with a new process image. 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This has the effect of running a new program with the </a:t>
            </a:r>
            <a:r>
              <a:rPr b="1" lang="en-US" sz="1800" u="sng"/>
              <a:t>process ID of the calling process. </a:t>
            </a:r>
            <a:endParaRPr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US" sz="1600" u="sng"/>
              <a:t>Note that a new process is not started; </a:t>
            </a:r>
            <a:endParaRPr/>
          </a:p>
          <a:p>
            <a:pPr indent="-273049" lvl="1" marL="639763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US" sz="1600" u="sng"/>
              <a:t>the new process image simply overlays the original process image. </a:t>
            </a:r>
            <a:endParaRPr/>
          </a:p>
        </p:txBody>
      </p:sp>
      <p:sp>
        <p:nvSpPr>
          <p:cNvPr id="1481" name="Google Shape;1481;p12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2" name="Google Shape;1482;p12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483" name="Google Shape;1483;p12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9"/>
          <p:cNvSpPr txBox="1"/>
          <p:nvPr>
            <p:ph type="title"/>
          </p:nvPr>
        </p:nvSpPr>
        <p:spPr>
          <a:xfrm>
            <a:off x="498143" y="51233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/>
              <a:t>Process Creation-In terms of Address space</a:t>
            </a:r>
            <a:endParaRPr b="1" sz="1800"/>
          </a:p>
        </p:txBody>
      </p:sp>
      <p:sp>
        <p:nvSpPr>
          <p:cNvPr id="1489" name="Google Shape;1489;p129"/>
          <p:cNvSpPr txBox="1"/>
          <p:nvPr>
            <p:ph idx="1" type="body"/>
          </p:nvPr>
        </p:nvSpPr>
        <p:spPr>
          <a:xfrm>
            <a:off x="854075" y="1169988"/>
            <a:ext cx="691832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093" lvl="1" marL="639763" rtl="0" algn="l">
              <a:spcBef>
                <a:spcPts val="0"/>
              </a:spcBef>
              <a:spcAft>
                <a:spcPts val="0"/>
              </a:spcAft>
              <a:buSzPts val="456"/>
              <a:buNone/>
            </a:pPr>
            <a:r>
              <a:t/>
            </a:r>
            <a:endParaRPr sz="600"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exec() family consists of following functions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int execl(const char *path, const char *arg, ...); </a:t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int execlp(const char *file, const char *arg, ...); </a:t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int execle(const char *path, const char *arg, ..., char * const envp[]); </a:t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int execv(const char *path, char *const argv[]); </a:t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int execvp(const char *file, char *const argv[]); </a:t>
            </a:r>
            <a:endParaRPr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int execvpe(const char *file, char *const argv[], char *const envp[]);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90" name="Google Shape;1490;p12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1" name="Google Shape;1491;p12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2" name="Google Shape;1492;p12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30"/>
          <p:cNvSpPr txBox="1"/>
          <p:nvPr>
            <p:ph type="title"/>
          </p:nvPr>
        </p:nvSpPr>
        <p:spPr>
          <a:xfrm>
            <a:off x="796925" y="658813"/>
            <a:ext cx="7024688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execlp -- Overlay Calling Process and Run New Program</a:t>
            </a:r>
            <a:endParaRPr sz="2400"/>
          </a:p>
        </p:txBody>
      </p:sp>
      <p:sp>
        <p:nvSpPr>
          <p:cNvPr id="1498" name="Google Shape;1498;p130"/>
          <p:cNvSpPr txBox="1"/>
          <p:nvPr>
            <p:ph idx="1" type="body"/>
          </p:nvPr>
        </p:nvSpPr>
        <p:spPr>
          <a:xfrm>
            <a:off x="838200" y="1041140"/>
            <a:ext cx="6777038" cy="504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int execlp(const char *path, const char *arg0, ..., NULL);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path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identifies the location of the new process image </a:t>
            </a:r>
            <a:r>
              <a:rPr lang="en-US" sz="1800"/>
              <a:t>within the hierarchical file system (HFS).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arg0, ..., NULL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is a </a:t>
            </a:r>
            <a:r>
              <a:rPr b="1" lang="en-US" sz="1800"/>
              <a:t>variable length list of arguments that are passed to the new process image.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Each argument is specified as a null-terminated string, and the list must end with a NULL pointer.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 u="sng"/>
              <a:t>The first argument, arg0, is required and must contain the name of the executable file for the new process image.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499" name="Google Shape;1499;p13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0" name="Google Shape;1500;p13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01" name="Google Shape;1501;p13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31"/>
          <p:cNvSpPr txBox="1"/>
          <p:nvPr>
            <p:ph type="title"/>
          </p:nvPr>
        </p:nvSpPr>
        <p:spPr>
          <a:xfrm>
            <a:off x="796925" y="658813"/>
            <a:ext cx="7024688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execlp -- Overlay Calling Process and Run New Program</a:t>
            </a:r>
            <a:endParaRPr sz="2400"/>
          </a:p>
        </p:txBody>
      </p:sp>
      <p:sp>
        <p:nvSpPr>
          <p:cNvPr id="1507" name="Google Shape;1507;p131"/>
          <p:cNvSpPr txBox="1"/>
          <p:nvPr>
            <p:ph idx="1" type="body"/>
          </p:nvPr>
        </p:nvSpPr>
        <p:spPr>
          <a:xfrm>
            <a:off x="838200" y="1041140"/>
            <a:ext cx="6777038" cy="504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int execlp(const char *path, const char *arg0, ..., NULL);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RETURN VALUE-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successful call to execlp </a:t>
            </a:r>
            <a:r>
              <a:rPr b="1" lang="en-US" sz="1800"/>
              <a:t>does not have a return value </a:t>
            </a:r>
            <a:r>
              <a:rPr lang="en-US" sz="1800"/>
              <a:t>because </a:t>
            </a:r>
            <a:r>
              <a:rPr b="1" lang="en-US" sz="1800"/>
              <a:t>the new process image overlays the calling process image. </a:t>
            </a:r>
            <a:endParaRPr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However,  </a:t>
            </a:r>
            <a:r>
              <a:rPr b="1" lang="en-US" sz="1800"/>
              <a:t>-1 is returned if the call to execlp is unsuccessful. </a:t>
            </a:r>
            <a:endParaRPr b="1" sz="1800"/>
          </a:p>
        </p:txBody>
      </p:sp>
      <p:sp>
        <p:nvSpPr>
          <p:cNvPr id="1508" name="Google Shape;1508;p13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9" name="Google Shape;1509;p13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10" name="Google Shape;1510;p13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32"/>
          <p:cNvSpPr txBox="1"/>
          <p:nvPr>
            <p:ph type="title"/>
          </p:nvPr>
        </p:nvSpPr>
        <p:spPr>
          <a:xfrm>
            <a:off x="1042988" y="1027113"/>
            <a:ext cx="70246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fork()</a:t>
            </a:r>
            <a:endParaRPr/>
          </a:p>
        </p:txBody>
      </p:sp>
      <p:sp>
        <p:nvSpPr>
          <p:cNvPr id="1516" name="Google Shape;1516;p132"/>
          <p:cNvSpPr txBox="1"/>
          <p:nvPr>
            <p:ph idx="1" type="body"/>
          </p:nvPr>
        </p:nvSpPr>
        <p:spPr>
          <a:xfrm>
            <a:off x="1042988" y="1609725"/>
            <a:ext cx="6777037" cy="42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9850" lvl="0" marL="6985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Fork system call is used for creating a new process, which is called </a:t>
            </a:r>
            <a:r>
              <a:rPr b="1" i="1" lang="en-US" sz="1800"/>
              <a:t>child process</a:t>
            </a:r>
            <a:r>
              <a:rPr lang="en-US" sz="1800"/>
              <a:t>, </a:t>
            </a:r>
            <a:endParaRPr/>
          </a:p>
          <a:p>
            <a:pPr indent="17018" lvl="0" marL="6985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69850" lvl="0" marL="6985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which </a:t>
            </a:r>
            <a:r>
              <a:rPr b="1" lang="en-US" sz="1800"/>
              <a:t>runs concurrently</a:t>
            </a:r>
            <a:r>
              <a:rPr lang="en-US" sz="1800"/>
              <a:t> with the process that makes the fork() call (parent process). </a:t>
            </a:r>
            <a:endParaRPr/>
          </a:p>
          <a:p>
            <a:pPr indent="17018" lvl="0" marL="6985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517" name="Google Shape;1517;p13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8" name="Google Shape;1518;p13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19" name="Google Shape;1519;p13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3"/>
          <p:cNvSpPr txBox="1"/>
          <p:nvPr>
            <p:ph type="title"/>
          </p:nvPr>
        </p:nvSpPr>
        <p:spPr>
          <a:xfrm>
            <a:off x="1042988" y="1027113"/>
            <a:ext cx="70246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fork()</a:t>
            </a:r>
            <a:endParaRPr/>
          </a:p>
        </p:txBody>
      </p:sp>
      <p:sp>
        <p:nvSpPr>
          <p:cNvPr id="1525" name="Google Shape;1525;p133"/>
          <p:cNvSpPr txBox="1"/>
          <p:nvPr>
            <p:ph idx="1" type="body"/>
          </p:nvPr>
        </p:nvSpPr>
        <p:spPr>
          <a:xfrm>
            <a:off x="1042988" y="1609725"/>
            <a:ext cx="6777037" cy="422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9850" lvl="0" marL="6985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It takes no parameters and returns an integer value. Below are different values returned by fork().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Negative Value</a:t>
            </a:r>
            <a:r>
              <a:rPr lang="en-US" sz="1800"/>
              <a:t>: creation of a child process was unsuccessful.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Zero</a:t>
            </a:r>
            <a:r>
              <a:rPr lang="en-US" sz="1800"/>
              <a:t>: Returned to the newly created child process.</a:t>
            </a:r>
            <a:endParaRPr/>
          </a:p>
          <a:p>
            <a:pPr indent="-186181" lvl="1" marL="639763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3049" lvl="1" marL="639763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Positive value</a:t>
            </a:r>
            <a:r>
              <a:rPr lang="en-US" sz="1800"/>
              <a:t>: Returned to parent or caller.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The value contains process ID of newly created child process.</a:t>
            </a:r>
            <a:endParaRPr/>
          </a:p>
          <a:p>
            <a:pPr indent="-141732" lvl="2" marL="9144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i.e. the PID of the child process is returned in the parent</a:t>
            </a:r>
            <a:endParaRPr b="1" sz="1800"/>
          </a:p>
        </p:txBody>
      </p:sp>
      <p:sp>
        <p:nvSpPr>
          <p:cNvPr id="1526" name="Google Shape;1526;p13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7" name="Google Shape;1527;p13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28" name="Google Shape;1528;p13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34"/>
          <p:cNvSpPr txBox="1"/>
          <p:nvPr>
            <p:ph type="title"/>
          </p:nvPr>
        </p:nvSpPr>
        <p:spPr>
          <a:xfrm>
            <a:off x="639763" y="5032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 Program Forking Separate Process</a:t>
            </a:r>
            <a:endParaRPr/>
          </a:p>
        </p:txBody>
      </p:sp>
      <p:pic>
        <p:nvPicPr>
          <p:cNvPr descr="Screen Shot 2012-12-04 at 11.21.10 AM.png" id="1534" name="Google Shape;1534;p134"/>
          <p:cNvPicPr preferRelativeResize="0"/>
          <p:nvPr/>
        </p:nvPicPr>
        <p:blipFill rotWithShape="1">
          <a:blip r:embed="rId3">
            <a:alphaModFix/>
          </a:blip>
          <a:srcRect b="0" l="15385" r="0" t="0"/>
          <a:stretch/>
        </p:blipFill>
        <p:spPr>
          <a:xfrm>
            <a:off x="668338" y="1160463"/>
            <a:ext cx="7751762" cy="5145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13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6" name="Google Shape;1536;p13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7" name="Google Shape;1537;p13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35"/>
          <p:cNvSpPr txBox="1"/>
          <p:nvPr>
            <p:ph type="title"/>
          </p:nvPr>
        </p:nvSpPr>
        <p:spPr>
          <a:xfrm>
            <a:off x="1042988" y="1027113"/>
            <a:ext cx="70246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fork()</a:t>
            </a:r>
            <a:endParaRPr/>
          </a:p>
        </p:txBody>
      </p:sp>
      <p:sp>
        <p:nvSpPr>
          <p:cNvPr id="1543" name="Google Shape;1543;p135"/>
          <p:cNvSpPr txBox="1"/>
          <p:nvPr>
            <p:ph idx="1" type="body"/>
          </p:nvPr>
        </p:nvSpPr>
        <p:spPr>
          <a:xfrm>
            <a:off x="988397" y="1696303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parent can create more children or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it has nothing else to do while the child runs,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it can issue a wait system call to move itself off the ready queue 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until the termination of the child.</a:t>
            </a:r>
            <a:endParaRPr/>
          </a:p>
        </p:txBody>
      </p:sp>
      <p:sp>
        <p:nvSpPr>
          <p:cNvPr id="1544" name="Google Shape;1544;p13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5" name="Google Shape;1545;p13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46" name="Google Shape;1546;p13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3" id="1547" name="Google Shape;1547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753" y="3689697"/>
            <a:ext cx="6419850" cy="16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36"/>
          <p:cNvSpPr txBox="1"/>
          <p:nvPr>
            <p:ph type="title"/>
          </p:nvPr>
        </p:nvSpPr>
        <p:spPr>
          <a:xfrm>
            <a:off x="1084263" y="1158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Creating a Separate Process via Windows API</a:t>
            </a:r>
            <a:endParaRPr/>
          </a:p>
        </p:txBody>
      </p:sp>
      <p:pic>
        <p:nvPicPr>
          <p:cNvPr descr="Screen Shot 2012-12-04 at 11.23.48 AM.png" id="1553" name="Google Shape;1553;p136"/>
          <p:cNvPicPr preferRelativeResize="0"/>
          <p:nvPr/>
        </p:nvPicPr>
        <p:blipFill rotWithShape="1">
          <a:blip r:embed="rId3">
            <a:alphaModFix/>
          </a:blip>
          <a:srcRect b="0" l="8487" r="7869" t="0"/>
          <a:stretch/>
        </p:blipFill>
        <p:spPr>
          <a:xfrm>
            <a:off x="504967" y="717954"/>
            <a:ext cx="8011235" cy="55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3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5" name="Google Shape;1555;p13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6" name="Google Shape;1556;p13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37"/>
          <p:cNvSpPr txBox="1"/>
          <p:nvPr>
            <p:ph type="title"/>
          </p:nvPr>
        </p:nvSpPr>
        <p:spPr>
          <a:xfrm>
            <a:off x="1042988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Tree of Processes in Linux</a:t>
            </a:r>
            <a:endParaRPr/>
          </a:p>
        </p:txBody>
      </p:sp>
      <p:pic>
        <p:nvPicPr>
          <p:cNvPr descr="3_08.pdf" id="1562" name="Google Shape;1562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375" y="955343"/>
            <a:ext cx="8202305" cy="4694829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3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4" name="Google Shape;1564;p13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5" name="Google Shape;1565;p13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38"/>
          <p:cNvSpPr txBox="1"/>
          <p:nvPr>
            <p:ph idx="1" type="body"/>
          </p:nvPr>
        </p:nvSpPr>
        <p:spPr>
          <a:xfrm>
            <a:off x="606425" y="454025"/>
            <a:ext cx="7923213" cy="5824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ISRO | ISRO CS 2018 | Question 63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The following C program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main()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{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fork() ;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fork() ;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printf ("yes");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}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If we execute this core segment, how many times the string yes will be printed ?</a:t>
            </a:r>
            <a:br>
              <a:rPr lang="en-US" sz="1800"/>
            </a:br>
            <a:r>
              <a:rPr b="1" lang="en-US" sz="1800"/>
              <a:t>(A)</a:t>
            </a:r>
            <a:r>
              <a:rPr lang="en-US" sz="1800"/>
              <a:t> Only once</a:t>
            </a:r>
            <a:br>
              <a:rPr lang="en-US" sz="1800"/>
            </a:br>
            <a:r>
              <a:rPr b="1" lang="en-US" sz="1800"/>
              <a:t>(B)</a:t>
            </a:r>
            <a:r>
              <a:rPr lang="en-US" sz="1800"/>
              <a:t> 2 times</a:t>
            </a:r>
            <a:br>
              <a:rPr lang="en-US" sz="1800"/>
            </a:br>
            <a:r>
              <a:rPr b="1" lang="en-US" sz="1800"/>
              <a:t>(C)</a:t>
            </a:r>
            <a:r>
              <a:rPr lang="en-US" sz="1800"/>
              <a:t> 4 times</a:t>
            </a:r>
            <a:br>
              <a:rPr lang="en-US" sz="1800"/>
            </a:br>
            <a:r>
              <a:rPr b="1" lang="en-US" sz="1800"/>
              <a:t>(D)</a:t>
            </a:r>
            <a:r>
              <a:rPr lang="en-US" sz="1800"/>
              <a:t> 8 times</a:t>
            </a:r>
            <a:br>
              <a:rPr lang="en-US" sz="1800"/>
            </a:br>
            <a:endParaRPr sz="1800"/>
          </a:p>
        </p:txBody>
      </p:sp>
      <p:sp>
        <p:nvSpPr>
          <p:cNvPr id="1571" name="Google Shape;1571;p13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2" name="Google Shape;1572;p13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73" name="Google Shape;1573;p13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39"/>
          <p:cNvSpPr txBox="1"/>
          <p:nvPr>
            <p:ph idx="1" type="body"/>
          </p:nvPr>
        </p:nvSpPr>
        <p:spPr>
          <a:xfrm>
            <a:off x="606425" y="454025"/>
            <a:ext cx="8101013" cy="5824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ISRO | ISRO CS 2018 | Question 63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The following C program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main()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{ fork() ; fork() ; printf ("yes"); }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If we execute this core segment, how many times the string yes will be printed ?</a:t>
            </a:r>
            <a:br>
              <a:rPr lang="en-US" sz="1800"/>
            </a:br>
            <a:r>
              <a:rPr b="1" lang="en-US" sz="1800"/>
              <a:t>(A)</a:t>
            </a:r>
            <a:r>
              <a:rPr lang="en-US" sz="1800"/>
              <a:t> Only once</a:t>
            </a:r>
            <a:br>
              <a:rPr lang="en-US" sz="1800"/>
            </a:br>
            <a:r>
              <a:rPr b="1" lang="en-US" sz="1800"/>
              <a:t>(B)</a:t>
            </a:r>
            <a:r>
              <a:rPr lang="en-US" sz="1800"/>
              <a:t> 2 times</a:t>
            </a:r>
            <a:br>
              <a:rPr lang="en-US" sz="1800"/>
            </a:br>
            <a:r>
              <a:rPr b="1" lang="en-US" sz="1800"/>
              <a:t>(C)</a:t>
            </a:r>
            <a:r>
              <a:rPr lang="en-US" sz="1800"/>
              <a:t> 4 times</a:t>
            </a:r>
            <a:br>
              <a:rPr lang="en-US" sz="1800"/>
            </a:br>
            <a:r>
              <a:rPr b="1" lang="en-US" sz="1800"/>
              <a:t>(D)</a:t>
            </a:r>
            <a:r>
              <a:rPr lang="en-US" sz="1800"/>
              <a:t> 8 times</a:t>
            </a:r>
            <a:br>
              <a:rPr lang="en-US" sz="1800"/>
            </a:br>
            <a:endParaRPr sz="1800"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b="1" lang="en-US" sz="1800"/>
              <a:t>Answer:</a:t>
            </a:r>
            <a:r>
              <a:rPr lang="en-US" sz="1800"/>
              <a:t> </a:t>
            </a:r>
            <a:r>
              <a:rPr b="1" lang="en-US" sz="1800"/>
              <a:t>(C)</a:t>
            </a:r>
            <a:r>
              <a:rPr lang="en-US" sz="1800"/>
              <a:t> </a:t>
            </a:r>
            <a:br>
              <a:rPr lang="en-US" sz="1800"/>
            </a:br>
            <a:br>
              <a:rPr lang="en-US" sz="1800"/>
            </a:br>
            <a:r>
              <a:rPr b="1" lang="en-US" sz="1800"/>
              <a:t>Explanation:</a:t>
            </a:r>
            <a:r>
              <a:rPr lang="en-US" sz="1800"/>
              <a:t> Number of times YES printed is equal to number of process created. 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Total Number of Processes = 2</a:t>
            </a:r>
            <a:r>
              <a:rPr baseline="30000" lang="en-US" sz="1800"/>
              <a:t>n</a:t>
            </a:r>
            <a:r>
              <a:rPr lang="en-US" sz="1800"/>
              <a:t> where n is number of fork system calls. So here n = 2, 2</a:t>
            </a:r>
            <a:r>
              <a:rPr baseline="30000" lang="en-US" sz="1800"/>
              <a:t>4</a:t>
            </a:r>
            <a:r>
              <a:rPr lang="en-US" sz="1800"/>
              <a:t> = 4</a:t>
            </a:r>
            <a:endParaRPr/>
          </a:p>
          <a:p>
            <a:pPr indent="0" lvl="0" marL="6985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rPr lang="en-US" sz="1800"/>
              <a:t>So, there are total 4 processes (3 new child processes and one original process).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579" name="Google Shape;1579;p13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0" name="Google Shape;1580;p13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581" name="Google Shape;1581;p13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82" name="Google Shape;1582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063" y="2316163"/>
            <a:ext cx="2297112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40"/>
          <p:cNvSpPr txBox="1"/>
          <p:nvPr/>
        </p:nvSpPr>
        <p:spPr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8" name="Google Shape;1588;p140"/>
          <p:cNvSpPr txBox="1"/>
          <p:nvPr>
            <p:ph idx="1" type="body"/>
          </p:nvPr>
        </p:nvSpPr>
        <p:spPr>
          <a:xfrm>
            <a:off x="1119188" y="673100"/>
            <a:ext cx="3089275" cy="539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&lt;sys/types.h&gt;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&lt;unistd.h&gt;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// make two process which run same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// program after this instruction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printf("Hello world!\n");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return 0;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} </a:t>
            </a:r>
            <a:endParaRPr/>
          </a:p>
          <a:p>
            <a:pPr indent="-19583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1589" name="Google Shape;1589;p140"/>
          <p:cNvSpPr txBox="1"/>
          <p:nvPr>
            <p:ph idx="2" type="body"/>
          </p:nvPr>
        </p:nvSpPr>
        <p:spPr>
          <a:xfrm>
            <a:off x="4737100" y="736600"/>
            <a:ext cx="3298825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Output ?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41"/>
          <p:cNvSpPr txBox="1"/>
          <p:nvPr/>
        </p:nvSpPr>
        <p:spPr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5" name="Google Shape;1595;p141"/>
          <p:cNvSpPr txBox="1"/>
          <p:nvPr>
            <p:ph idx="1" type="body"/>
          </p:nvPr>
        </p:nvSpPr>
        <p:spPr>
          <a:xfrm>
            <a:off x="1119188" y="673100"/>
            <a:ext cx="3089275" cy="539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&lt;sys/types.h&gt;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&lt;unistd.h&gt;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// make two process which run same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// program after this instruction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printf("Hello world!\n");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    return 0;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} </a:t>
            </a:r>
            <a:endParaRPr/>
          </a:p>
          <a:p>
            <a:pPr indent="-19583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1596" name="Google Shape;1596;p141"/>
          <p:cNvSpPr txBox="1"/>
          <p:nvPr>
            <p:ph idx="2" type="body"/>
          </p:nvPr>
        </p:nvSpPr>
        <p:spPr>
          <a:xfrm>
            <a:off x="4737100" y="736600"/>
            <a:ext cx="3298825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US"/>
              <a:t>Output: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world! Hello world!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After a new child process is created, both processes will execute the next instruction following the fork() system call.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42"/>
          <p:cNvSpPr txBox="1"/>
          <p:nvPr/>
        </p:nvSpPr>
        <p:spPr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2" name="Google Shape;1602;p142"/>
          <p:cNvSpPr txBox="1"/>
          <p:nvPr>
            <p:ph idx="1" type="body"/>
          </p:nvPr>
        </p:nvSpPr>
        <p:spPr>
          <a:xfrm>
            <a:off x="1119188" y="673100"/>
            <a:ext cx="3089275" cy="539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&lt;sys/types.h&gt;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printf("hello\n");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return 0;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} </a:t>
            </a:r>
            <a:endParaRPr/>
          </a:p>
          <a:p>
            <a:pPr indent="-19583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1603" name="Google Shape;1603;p142"/>
          <p:cNvSpPr txBox="1"/>
          <p:nvPr>
            <p:ph idx="2" type="body"/>
          </p:nvPr>
        </p:nvSpPr>
        <p:spPr>
          <a:xfrm>
            <a:off x="4737100" y="736600"/>
            <a:ext cx="3298825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US"/>
              <a:t>Output: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?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43"/>
          <p:cNvSpPr txBox="1"/>
          <p:nvPr/>
        </p:nvSpPr>
        <p:spPr>
          <a:xfrm>
            <a:off x="5857875" y="0"/>
            <a:ext cx="3178175" cy="674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9" name="Google Shape;1609;p143"/>
          <p:cNvSpPr txBox="1"/>
          <p:nvPr>
            <p:ph idx="1" type="body"/>
          </p:nvPr>
        </p:nvSpPr>
        <p:spPr>
          <a:xfrm>
            <a:off x="1119188" y="673100"/>
            <a:ext cx="3089275" cy="539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#include &lt;sys/types.h&gt;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fork();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printf("hello\n");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	return 0;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Font typeface="Arial"/>
              <a:buNone/>
            </a:pPr>
            <a:r>
              <a:rPr lang="en-US" sz="1600"/>
              <a:t>} </a:t>
            </a:r>
            <a:endParaRPr/>
          </a:p>
          <a:p>
            <a:pPr indent="-19583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1610" name="Google Shape;1610;p143"/>
          <p:cNvSpPr txBox="1"/>
          <p:nvPr>
            <p:ph idx="2" type="body"/>
          </p:nvPr>
        </p:nvSpPr>
        <p:spPr>
          <a:xfrm>
            <a:off x="4737100" y="736600"/>
            <a:ext cx="3298825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US"/>
              <a:t>Output: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The number of times ‘hello’ is printed is equal to number of process created. Total Number of Processes = 2</a:t>
            </a:r>
            <a:r>
              <a:rPr baseline="30000" lang="en-US"/>
              <a:t>n</a:t>
            </a:r>
            <a:r>
              <a:rPr lang="en-US"/>
              <a:t>, where n is number of fork system calls. So here n = 3, 2</a:t>
            </a:r>
            <a:r>
              <a:rPr baseline="30000" lang="en-US"/>
              <a:t>3</a:t>
            </a:r>
            <a:r>
              <a:rPr lang="en-US"/>
              <a:t> = 8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44"/>
          <p:cNvSpPr txBox="1"/>
          <p:nvPr>
            <p:ph idx="1" type="body"/>
          </p:nvPr>
        </p:nvSpPr>
        <p:spPr>
          <a:xfrm>
            <a:off x="1042988" y="491319"/>
            <a:ext cx="7295794" cy="60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#include &lt;stdio.h&gt;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#include &lt;sys/types.h&gt;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#include &lt;unistd.h&gt;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void forkexample()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{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// child process because return value zero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if (fork() == 0)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    printf("Hello from Child!\n");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// parent process because return value non-zero.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else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    printf("Hello from Parent!\n");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}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int main()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{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forkexample();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    return 0;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SzPts val="1444"/>
              <a:buFont typeface="Noto Sans Symbols"/>
              <a:buNone/>
            </a:pPr>
            <a:r>
              <a:rPr b="1" lang="en-US" sz="1900"/>
              <a:t>} </a:t>
            </a:r>
            <a:endParaRPr/>
          </a:p>
          <a:p>
            <a:pPr indent="-15722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145"/>
          <p:cNvSpPr txBox="1"/>
          <p:nvPr>
            <p:ph idx="1" type="body"/>
          </p:nvPr>
        </p:nvSpPr>
        <p:spPr>
          <a:xfrm>
            <a:off x="968375" y="857250"/>
            <a:ext cx="3452813" cy="514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#include &lt;stdio.h&gt;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#include &lt;sys/types.h&gt;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#include &lt;unistd.h&gt;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void forkexample()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{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// child process because return value zero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if (fork() == 0)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    printf("Hello from Child!\n");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// parent process because return value non-zero.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else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    printf("Hello from Parent!\n");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}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int main()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{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forkexample();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    return 0;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ct val="76000"/>
              <a:buFont typeface="Noto Sans Symbols"/>
              <a:buNone/>
            </a:pPr>
            <a:r>
              <a:rPr lang="en-US"/>
              <a:t>} </a:t>
            </a:r>
            <a:endParaRPr/>
          </a:p>
          <a:p>
            <a:pPr indent="-200660" lvl="0" marL="34290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1621" name="Google Shape;1621;p145"/>
          <p:cNvSpPr txBox="1"/>
          <p:nvPr>
            <p:ph idx="2" type="body"/>
          </p:nvPr>
        </p:nvSpPr>
        <p:spPr>
          <a:xfrm>
            <a:off x="4737100" y="763588"/>
            <a:ext cx="3298825" cy="48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US"/>
              <a:t>Output-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1. Hello from Child!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from Parent!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(or)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2. Hello from Parent!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Hello from Child!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Here, two outputs are possible because </a:t>
            </a:r>
            <a:r>
              <a:rPr b="1" lang="en-US"/>
              <a:t>the parent process and child process are running concurrently.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US"/>
              <a:t>So we don’t know </a:t>
            </a:r>
            <a:r>
              <a:rPr b="1" lang="en-US"/>
              <a:t>whether the OS will first give control to the parent process or the child process.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46"/>
          <p:cNvSpPr txBox="1"/>
          <p:nvPr>
            <p:ph idx="1" type="body"/>
          </p:nvPr>
        </p:nvSpPr>
        <p:spPr>
          <a:xfrm>
            <a:off x="819150" y="600075"/>
            <a:ext cx="3738563" cy="540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#include &lt;stdio.h&gt;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#include &lt;sys/types.h&gt;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#include &lt;unistd.h&gt;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void forkexample()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{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int x = 1;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if (fork() == 0)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    printf("Child has x = %d\n", ++x);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else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    printf("Parent has x = %d\n", --x);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}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int main()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{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forkexample();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return 0;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} </a:t>
            </a:r>
            <a:endParaRPr/>
          </a:p>
        </p:txBody>
      </p:sp>
      <p:sp>
        <p:nvSpPr>
          <p:cNvPr id="1627" name="Google Shape;1627;p146"/>
          <p:cNvSpPr txBox="1"/>
          <p:nvPr>
            <p:ph idx="2" type="body"/>
          </p:nvPr>
        </p:nvSpPr>
        <p:spPr>
          <a:xfrm>
            <a:off x="4737100" y="709613"/>
            <a:ext cx="3298825" cy="4945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US"/>
              <a:t>Output?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47"/>
          <p:cNvSpPr txBox="1"/>
          <p:nvPr>
            <p:ph type="title"/>
          </p:nvPr>
        </p:nvSpPr>
        <p:spPr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Point To be Noted….</a:t>
            </a:r>
            <a:endParaRPr b="1"/>
          </a:p>
        </p:txBody>
      </p:sp>
      <p:sp>
        <p:nvSpPr>
          <p:cNvPr id="1634" name="Google Shape;1634;p147"/>
          <p:cNvSpPr txBox="1"/>
          <p:nvPr>
            <p:ph idx="1" type="body"/>
          </p:nvPr>
        </p:nvSpPr>
        <p:spPr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Parent process and child process are running the same program, </a:t>
            </a:r>
            <a:endParaRPr sz="2000"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but it does not mean they are identical. </a:t>
            </a:r>
            <a:endParaRPr b="1" sz="2000"/>
          </a:p>
          <a:p>
            <a:pPr indent="-176529" lvl="1" marL="639763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305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OS allocate </a:t>
            </a:r>
            <a:endParaRPr sz="2000"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different data and states for these two processes, and </a:t>
            </a:r>
            <a:endParaRPr b="1" sz="2000"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control flow of these processes can be different. </a:t>
            </a:r>
            <a:endParaRPr/>
          </a:p>
          <a:p>
            <a:pPr indent="-17653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635" name="Google Shape;1635;p14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8/8/2024</a:t>
            </a:r>
            <a:endParaRPr/>
          </a:p>
        </p:txBody>
      </p:sp>
      <p:sp>
        <p:nvSpPr>
          <p:cNvPr id="1636" name="Google Shape;1636;p14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37" name="Google Shape;1637;p14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48"/>
          <p:cNvSpPr txBox="1"/>
          <p:nvPr>
            <p:ph idx="1" type="body"/>
          </p:nvPr>
        </p:nvSpPr>
        <p:spPr>
          <a:xfrm>
            <a:off x="819150" y="600075"/>
            <a:ext cx="3738563" cy="540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9850" rtl="0" algn="l">
              <a:spcBef>
                <a:spcPts val="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#include &lt;stdio.h&gt;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#include &lt;sys/types.h&gt;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#include &lt;unistd.h&gt;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void forkexample()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{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int x = 1;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if (fork() == 0)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    printf("Child has x = %d\n", ++x);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else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    printf("Parent has x = %d\n", --x);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}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int main()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{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forkexample();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    return 0; </a:t>
            </a:r>
            <a:endParaRPr/>
          </a:p>
          <a:p>
            <a:pPr indent="0" lvl="0" marL="69850" rtl="0" algn="l">
              <a:spcBef>
                <a:spcPts val="320"/>
              </a:spcBef>
              <a:spcAft>
                <a:spcPts val="0"/>
              </a:spcAft>
              <a:buSzPts val="1216"/>
              <a:buFont typeface="Noto Sans Symbols"/>
              <a:buNone/>
            </a:pPr>
            <a:r>
              <a:rPr lang="en-US" sz="1600"/>
              <a:t>} </a:t>
            </a:r>
            <a:endParaRPr/>
          </a:p>
        </p:txBody>
      </p:sp>
      <p:sp>
        <p:nvSpPr>
          <p:cNvPr id="1643" name="Google Shape;1643;p148"/>
          <p:cNvSpPr txBox="1"/>
          <p:nvPr>
            <p:ph idx="2" type="body"/>
          </p:nvPr>
        </p:nvSpPr>
        <p:spPr>
          <a:xfrm>
            <a:off x="4641566" y="559487"/>
            <a:ext cx="3533443" cy="6100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 sz="1800"/>
              <a:t>Output: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1" marL="40005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lang="en-US" sz="1400"/>
              <a:t>Parent has x = 0 </a:t>
            </a:r>
            <a:endParaRPr/>
          </a:p>
          <a:p>
            <a:pPr indent="0" lvl="1" marL="40005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lang="en-US" sz="1400"/>
              <a:t>Child has x = 2 </a:t>
            </a:r>
            <a:endParaRPr/>
          </a:p>
          <a:p>
            <a:pPr indent="0" lvl="1" marL="45720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sz="1400"/>
          </a:p>
          <a:p>
            <a:pPr indent="0" lvl="1" marL="40005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lang="en-US" sz="1400"/>
              <a:t>(or) </a:t>
            </a:r>
            <a:endParaRPr/>
          </a:p>
          <a:p>
            <a:pPr indent="0" lvl="1" marL="45720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sz="1400"/>
          </a:p>
          <a:p>
            <a:pPr indent="0" lvl="1" marL="40005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lang="en-US" sz="1400"/>
              <a:t>Child has x = 2 </a:t>
            </a:r>
            <a:endParaRPr/>
          </a:p>
          <a:p>
            <a:pPr indent="0" lvl="1" marL="40005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lang="en-US" sz="1400"/>
              <a:t>Parent has x = 0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lang="en-US" sz="1800"/>
              <a:t>Here, global variable change in one process does not affected two other processes </a:t>
            </a:r>
            <a:r>
              <a:rPr b="1" lang="en-US" sz="1800"/>
              <a:t>because data/state of two processes are different. </a:t>
            </a:r>
            <a:endParaRPr b="1" sz="1800"/>
          </a:p>
          <a:p>
            <a:pPr indent="-198882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  <a:p>
            <a:pPr indent="-285750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Char char="•"/>
            </a:pPr>
            <a:r>
              <a:rPr lang="en-US" sz="1800"/>
              <a:t>And also parent and child run simultaneously so two outputs are possible. </a:t>
            </a:r>
            <a:endParaRPr/>
          </a:p>
          <a:p>
            <a:pPr indent="-198882" lvl="0" marL="28575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49"/>
          <p:cNvSpPr txBox="1"/>
          <p:nvPr>
            <p:ph type="title"/>
          </p:nvPr>
        </p:nvSpPr>
        <p:spPr>
          <a:xfrm>
            <a:off x="457200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Termination</a:t>
            </a:r>
            <a:endParaRPr/>
          </a:p>
        </p:txBody>
      </p:sp>
      <p:sp>
        <p:nvSpPr>
          <p:cNvPr id="1649" name="Google Shape;1649;p149"/>
          <p:cNvSpPr txBox="1"/>
          <p:nvPr>
            <p:ph idx="1" type="body"/>
          </p:nvPr>
        </p:nvSpPr>
        <p:spPr>
          <a:xfrm>
            <a:off x="806450" y="1233488"/>
            <a:ext cx="7170738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Process executes last statement and then asks the operating system to delete it using the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exit()</a:t>
            </a:r>
            <a:r>
              <a:rPr lang="en-US" sz="2000"/>
              <a:t> system call.</a:t>
            </a:r>
            <a:endParaRPr sz="2000"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Return of  data(output) from child to parent (via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wait()</a:t>
            </a:r>
            <a:r>
              <a:rPr lang="en-US" sz="2000"/>
              <a:t>)</a:t>
            </a:r>
            <a:endParaRPr/>
          </a:p>
          <a:p>
            <a:pPr indent="-273049" lvl="1" marL="639763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Process resources (physical and virtual memory, open files, I/O buffers) are deallocated by operating system</a:t>
            </a:r>
            <a:endParaRPr sz="2000"/>
          </a:p>
        </p:txBody>
      </p:sp>
      <p:sp>
        <p:nvSpPr>
          <p:cNvPr id="1650" name="Google Shape;1650;p149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1" name="Google Shape;1651;p149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2" name="Google Shape;1652;p149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50"/>
          <p:cNvSpPr txBox="1"/>
          <p:nvPr>
            <p:ph type="title"/>
          </p:nvPr>
        </p:nvSpPr>
        <p:spPr>
          <a:xfrm>
            <a:off x="457200" y="62151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Child Process Termination</a:t>
            </a:r>
            <a:endParaRPr/>
          </a:p>
        </p:txBody>
      </p:sp>
      <p:sp>
        <p:nvSpPr>
          <p:cNvPr id="1658" name="Google Shape;1658;p150"/>
          <p:cNvSpPr txBox="1"/>
          <p:nvPr>
            <p:ph idx="1" type="body"/>
          </p:nvPr>
        </p:nvSpPr>
        <p:spPr>
          <a:xfrm>
            <a:off x="806450" y="1233488"/>
            <a:ext cx="7170738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Parent may terminate the execution of children processes  using the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abort()</a:t>
            </a:r>
            <a:r>
              <a:rPr lang="en-US" sz="1800"/>
              <a:t> system call.  </a:t>
            </a:r>
            <a:endParaRPr/>
          </a:p>
          <a:p>
            <a:pPr indent="-18618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305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Some reasons for doing so:</a:t>
            </a:r>
            <a:endParaRPr sz="1800"/>
          </a:p>
          <a:p>
            <a:pPr indent="-457199" lvl="1" marL="8239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Child has exceeded allocated resources</a:t>
            </a:r>
            <a:r>
              <a:rPr lang="en-US" sz="1800"/>
              <a:t>, thus the parent needs a mechanism to inspect the state of its children.</a:t>
            </a:r>
            <a:endParaRPr/>
          </a:p>
          <a:p>
            <a:pPr indent="-370331" lvl="1" marL="8239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None/>
            </a:pPr>
            <a:r>
              <a:t/>
            </a:r>
            <a:endParaRPr sz="1800"/>
          </a:p>
          <a:p>
            <a:pPr indent="-457199" lvl="1" marL="8239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Task assigned to child is no longer required</a:t>
            </a:r>
            <a:endParaRPr/>
          </a:p>
          <a:p>
            <a:pPr indent="-370331" lvl="1" marL="8239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None/>
            </a:pPr>
            <a:r>
              <a:t/>
            </a:r>
            <a:endParaRPr sz="1800"/>
          </a:p>
          <a:p>
            <a:pPr indent="-457199" lvl="1" marL="823913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US" sz="1800"/>
              <a:t>The parent is exiting </a:t>
            </a:r>
            <a:r>
              <a:rPr lang="en-US" sz="1800"/>
              <a:t>and the operating systems does not allow  a child to continue if its parent terminates</a:t>
            </a:r>
            <a:endParaRPr/>
          </a:p>
        </p:txBody>
      </p:sp>
      <p:sp>
        <p:nvSpPr>
          <p:cNvPr id="1659" name="Google Shape;1659;p150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0" name="Google Shape;1660;p150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1" name="Google Shape;1661;p150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51"/>
          <p:cNvSpPr txBox="1"/>
          <p:nvPr>
            <p:ph idx="1" type="body"/>
          </p:nvPr>
        </p:nvSpPr>
        <p:spPr>
          <a:xfrm>
            <a:off x="957263" y="1042988"/>
            <a:ext cx="736917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rtl="0" algn="l">
              <a:spcBef>
                <a:spcPts val="0"/>
              </a:spcBef>
              <a:spcAft>
                <a:spcPts val="0"/>
              </a:spcAft>
              <a:buSzPts val="608"/>
              <a:buNone/>
            </a:pPr>
            <a:r>
              <a:t/>
            </a:r>
            <a:endParaRPr sz="800"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Font typeface="Noto Sans Symbols"/>
              <a:buNone/>
            </a:pPr>
            <a:r>
              <a:rPr b="1" lang="en-US"/>
              <a:t>Cascading termination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Some operating systems </a:t>
            </a:r>
            <a:r>
              <a:rPr b="1" lang="en-US" sz="1800"/>
              <a:t>do not allow child to exists if its parent has terminated.  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If a process terminates, then all its children must also be terminated. </a:t>
            </a:r>
            <a:endParaRPr b="1" sz="1800"/>
          </a:p>
          <a:p>
            <a:pPr indent="-187452" lvl="1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4320" lvl="2" marL="617537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All children, grandchildren</a:t>
            </a:r>
            <a:r>
              <a:rPr lang="en-US" sz="1800"/>
              <a:t>, etc.  are  terminated.</a:t>
            </a:r>
            <a:endParaRPr b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termination is initiated by the operating system.</a:t>
            </a:r>
            <a:endParaRPr b="1" sz="1800"/>
          </a:p>
        </p:txBody>
      </p:sp>
      <p:sp>
        <p:nvSpPr>
          <p:cNvPr id="1667" name="Google Shape;1667;p151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8" name="Google Shape;1668;p151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9" name="Google Shape;1669;p151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670" name="Google Shape;1670;p151"/>
          <p:cNvSpPr txBox="1"/>
          <p:nvPr/>
        </p:nvSpPr>
        <p:spPr>
          <a:xfrm>
            <a:off x="457200" y="62151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Child Process Termination</a:t>
            </a:r>
            <a:endParaRPr b="1" sz="24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52"/>
          <p:cNvSpPr txBox="1"/>
          <p:nvPr>
            <p:ph type="title"/>
          </p:nvPr>
        </p:nvSpPr>
        <p:spPr>
          <a:xfrm>
            <a:off x="457200" y="18256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Termination</a:t>
            </a:r>
            <a:endParaRPr/>
          </a:p>
        </p:txBody>
      </p:sp>
      <p:sp>
        <p:nvSpPr>
          <p:cNvPr id="1676" name="Google Shape;1676;p152"/>
          <p:cNvSpPr txBox="1"/>
          <p:nvPr>
            <p:ph idx="1" type="body"/>
          </p:nvPr>
        </p:nvSpPr>
        <p:spPr>
          <a:xfrm>
            <a:off x="957263" y="1042988"/>
            <a:ext cx="736917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rtl="0" algn="l">
              <a:spcBef>
                <a:spcPts val="0"/>
              </a:spcBef>
              <a:spcAft>
                <a:spcPts val="0"/>
              </a:spcAft>
              <a:buSzPts val="608"/>
              <a:buNone/>
            </a:pPr>
            <a:r>
              <a:t/>
            </a:r>
            <a:endParaRPr sz="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parent process may wait for termination of a child process by using the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wait()</a:t>
            </a:r>
            <a:r>
              <a:rPr lang="en-US" sz="1800"/>
              <a:t>system call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wait system call returns status information and the process identifier (pid) of the terminated process</a:t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pid = wait(&amp;status);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Font typeface="Arial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7" name="Google Shape;1677;p152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8" name="Google Shape;1678;p152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9" name="Google Shape;1679;p152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53"/>
          <p:cNvSpPr txBox="1"/>
          <p:nvPr>
            <p:ph type="title"/>
          </p:nvPr>
        </p:nvSpPr>
        <p:spPr>
          <a:xfrm>
            <a:off x="457200" y="18256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Termination</a:t>
            </a:r>
            <a:endParaRPr/>
          </a:p>
        </p:txBody>
      </p:sp>
      <p:sp>
        <p:nvSpPr>
          <p:cNvPr id="1685" name="Google Shape;1685;p153"/>
          <p:cNvSpPr txBox="1"/>
          <p:nvPr>
            <p:ph idx="1" type="body"/>
          </p:nvPr>
        </p:nvSpPr>
        <p:spPr>
          <a:xfrm>
            <a:off x="957263" y="1042988"/>
            <a:ext cx="736917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rtl="0" algn="l">
              <a:spcBef>
                <a:spcPts val="0"/>
              </a:spcBef>
              <a:spcAft>
                <a:spcPts val="0"/>
              </a:spcAft>
              <a:buSzPts val="608"/>
              <a:buNone/>
            </a:pPr>
            <a:r>
              <a:t/>
            </a:r>
            <a:endParaRPr sz="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If no parent waiting (did not invoke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wait()</a:t>
            </a:r>
            <a:r>
              <a:rPr lang="en-US" sz="1800"/>
              <a:t>) process is a </a:t>
            </a:r>
            <a:r>
              <a:rPr b="1" lang="en-US" sz="1800">
                <a:solidFill>
                  <a:srgbClr val="3366FF"/>
                </a:solidFill>
              </a:rPr>
              <a:t>zombie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If parent terminated without invoking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wait</a:t>
            </a:r>
            <a:r>
              <a:rPr lang="en-US" sz="1800"/>
              <a:t> , process is an </a:t>
            </a:r>
            <a:r>
              <a:rPr b="1" lang="en-US" sz="1800">
                <a:solidFill>
                  <a:srgbClr val="3366FF"/>
                </a:solidFill>
              </a:rPr>
              <a:t>orphan</a:t>
            </a:r>
            <a:endParaRPr/>
          </a:p>
        </p:txBody>
      </p:sp>
      <p:sp>
        <p:nvSpPr>
          <p:cNvPr id="1686" name="Google Shape;1686;p153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87" name="Google Shape;1687;p153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88" name="Google Shape;1688;p153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54"/>
          <p:cNvSpPr txBox="1"/>
          <p:nvPr>
            <p:ph type="title"/>
          </p:nvPr>
        </p:nvSpPr>
        <p:spPr>
          <a:xfrm>
            <a:off x="457200" y="18256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Termination</a:t>
            </a:r>
            <a:endParaRPr/>
          </a:p>
        </p:txBody>
      </p:sp>
      <p:sp>
        <p:nvSpPr>
          <p:cNvPr id="1694" name="Google Shape;1694;p154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5" name="Google Shape;1695;p154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6" name="Google Shape;1696;p154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id="1697" name="Google Shape;1697;p1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8973" l="37683" r="37151" t="8457"/>
          <a:stretch/>
        </p:blipFill>
        <p:spPr>
          <a:xfrm>
            <a:off x="1310185" y="1269243"/>
            <a:ext cx="6018662" cy="405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55"/>
          <p:cNvSpPr txBox="1"/>
          <p:nvPr>
            <p:ph type="title"/>
          </p:nvPr>
        </p:nvSpPr>
        <p:spPr>
          <a:xfrm>
            <a:off x="484496" y="742121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What is the Zombie process?</a:t>
            </a:r>
            <a:endParaRPr/>
          </a:p>
        </p:txBody>
      </p:sp>
      <p:sp>
        <p:nvSpPr>
          <p:cNvPr id="1703" name="Google Shape;1703;p155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4" name="Google Shape;1704;p155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5" name="Google Shape;1705;p155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pic>
        <p:nvPicPr>
          <p:cNvPr id="1706" name="Google Shape;1706;p1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8973" l="37683" r="37151" t="8457"/>
          <a:stretch/>
        </p:blipFill>
        <p:spPr>
          <a:xfrm>
            <a:off x="4436198" y="3099743"/>
            <a:ext cx="4189186" cy="2825797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55"/>
          <p:cNvSpPr txBox="1"/>
          <p:nvPr/>
        </p:nvSpPr>
        <p:spPr>
          <a:xfrm>
            <a:off x="984559" y="1152170"/>
            <a:ext cx="6439824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8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Also known as </a:t>
            </a:r>
            <a:r>
              <a:rPr b="1" i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"dead"</a:t>
            </a: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process. 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653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Ideally when a process completes its execution, </a:t>
            </a: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it's entry from the process table should be removed but this does not happen in case of a zombie process.</a:t>
            </a:r>
            <a:endParaRPr/>
          </a:p>
        </p:txBody>
      </p:sp>
      <p:sp>
        <p:nvSpPr>
          <p:cNvPr descr="zombie process in os" id="1708" name="Google Shape;1708;p15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56"/>
          <p:cNvSpPr txBox="1"/>
          <p:nvPr>
            <p:ph type="title"/>
          </p:nvPr>
        </p:nvSpPr>
        <p:spPr>
          <a:xfrm>
            <a:off x="552734" y="810361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What happens with the zombie processes?</a:t>
            </a:r>
            <a:endParaRPr/>
          </a:p>
        </p:txBody>
      </p:sp>
      <p:sp>
        <p:nvSpPr>
          <p:cNvPr id="1714" name="Google Shape;1714;p156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5" name="Google Shape;1715;p156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6" name="Google Shape;1716;p156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717" name="Google Shape;1717;p156"/>
          <p:cNvSpPr txBox="1"/>
          <p:nvPr/>
        </p:nvSpPr>
        <p:spPr>
          <a:xfrm>
            <a:off x="984558" y="1152170"/>
            <a:ext cx="7135859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8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wait() system call is used for removal of zombie processes.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wait() call ensures that the parent doesn't execute till the child process is completed.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18" name="Google Shape;1718;p156"/>
          <p:cNvPicPr preferRelativeResize="0"/>
          <p:nvPr/>
        </p:nvPicPr>
        <p:blipFill rotWithShape="1">
          <a:blip r:embed="rId3">
            <a:alphaModFix/>
          </a:blip>
          <a:srcRect b="8973" l="37683" r="37151" t="8457"/>
          <a:stretch/>
        </p:blipFill>
        <p:spPr>
          <a:xfrm>
            <a:off x="4436198" y="3099743"/>
            <a:ext cx="4189186" cy="2825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57"/>
          <p:cNvSpPr txBox="1"/>
          <p:nvPr>
            <p:ph type="title"/>
          </p:nvPr>
        </p:nvSpPr>
        <p:spPr>
          <a:xfrm>
            <a:off x="552734" y="810361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Reaping of Child?</a:t>
            </a:r>
            <a:endParaRPr b="1"/>
          </a:p>
        </p:txBody>
      </p:sp>
      <p:sp>
        <p:nvSpPr>
          <p:cNvPr id="1724" name="Google Shape;1724;p157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5" name="Google Shape;1725;p157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6" name="Google Shape;1726;p157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727" name="Google Shape;1727;p157"/>
          <p:cNvSpPr txBox="1"/>
          <p:nvPr/>
        </p:nvSpPr>
        <p:spPr>
          <a:xfrm>
            <a:off x="984558" y="1152170"/>
            <a:ext cx="7135859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8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the child process completes executing ,</a:t>
            </a:r>
            <a:endParaRPr/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b="1"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parent process removes entries of the child process from the process table. 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US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called "reaping of child".</a:t>
            </a:r>
            <a:endParaRPr/>
          </a:p>
        </p:txBody>
      </p:sp>
      <p:pic>
        <p:nvPicPr>
          <p:cNvPr id="1728" name="Google Shape;1728;p157"/>
          <p:cNvPicPr preferRelativeResize="0"/>
          <p:nvPr/>
        </p:nvPicPr>
        <p:blipFill rotWithShape="1">
          <a:blip r:embed="rId3">
            <a:alphaModFix/>
          </a:blip>
          <a:srcRect b="22937" l="37819" r="45390" t="59413"/>
          <a:stretch/>
        </p:blipFill>
        <p:spPr>
          <a:xfrm>
            <a:off x="3829616" y="2779413"/>
            <a:ext cx="4055952" cy="304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58"/>
          <p:cNvSpPr txBox="1"/>
          <p:nvPr>
            <p:ph type="title"/>
          </p:nvPr>
        </p:nvSpPr>
        <p:spPr>
          <a:xfrm>
            <a:off x="460375" y="1603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Zombie process?</a:t>
            </a:r>
            <a:endParaRPr/>
          </a:p>
        </p:txBody>
      </p:sp>
      <p:sp>
        <p:nvSpPr>
          <p:cNvPr id="1734" name="Google Shape;1734;p158"/>
          <p:cNvSpPr txBox="1"/>
          <p:nvPr>
            <p:ph idx="10" type="dt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8/8/2024</a:t>
            </a:r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35" name="Google Shape;1735;p158"/>
          <p:cNvSpPr txBox="1"/>
          <p:nvPr>
            <p:ph idx="12" type="sldNum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EFEFE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200">
              <a:solidFill>
                <a:srgbClr val="FEFEF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36" name="Google Shape;1736;p158"/>
          <p:cNvSpPr txBox="1"/>
          <p:nvPr>
            <p:ph idx="11" type="ftr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Prof. Shweta Dhawan Chachra</a:t>
            </a:r>
            <a:endParaRPr/>
          </a:p>
        </p:txBody>
      </p:sp>
      <p:sp>
        <p:nvSpPr>
          <p:cNvPr id="1737" name="Google Shape;1737;p158"/>
          <p:cNvSpPr txBox="1"/>
          <p:nvPr/>
        </p:nvSpPr>
        <p:spPr>
          <a:xfrm>
            <a:off x="984559" y="1152170"/>
            <a:ext cx="6439824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5712" lvl="1" marL="6400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8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zombie process in os" id="1738" name="Google Shape;1738;p15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39" name="Google Shape;1739;p158"/>
          <p:cNvPicPr preferRelativeResize="0"/>
          <p:nvPr/>
        </p:nvPicPr>
        <p:blipFill rotWithShape="1">
          <a:blip r:embed="rId3">
            <a:alphaModFix/>
          </a:blip>
          <a:srcRect b="12883" l="6771" r="7052" t="5049"/>
          <a:stretch/>
        </p:blipFill>
        <p:spPr>
          <a:xfrm>
            <a:off x="627797" y="660107"/>
            <a:ext cx="7806519" cy="5303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2011-01-13T23:43:38Z</dcterms:created>
  <dc:creator>Lucent End User</dc:creator>
</cp:coreProperties>
</file>
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168.xml"/>
  <Override ContentType="application/vnd.openxmlformats-officedocument.presentationml.notesSlide+xml" PartName="/ppt/notesSlides/notesSlide125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117.xml"/>
  <Override ContentType="application/vnd.openxmlformats-officedocument.presentationml.notesSlide+xml" PartName="/ppt/notesSlides/notesSlide206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33.xml"/>
  <Override ContentType="application/vnd.openxmlformats-officedocument.presentationml.notesSlide+xml" PartName="/ppt/notesSlides/notesSlide176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196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148.xml"/>
  <Override ContentType="application/vnd.openxmlformats-officedocument.presentationml.notesSlide+xml" PartName="/ppt/notesSlides/notesSlide202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137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41.xml"/>
  <Override ContentType="application/vnd.openxmlformats-officedocument.presentationml.notesSlide+xml" PartName="/ppt/notesSlides/notesSlide153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8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180.xml"/>
  <Override ContentType="application/vnd.openxmlformats-officedocument.presentationml.notesSlide+xml" PartName="/ppt/notesSlides/notesSlide17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0.xml"/>
  <Override ContentType="application/vnd.openxmlformats-officedocument.presentationml.notesSlide+xml" PartName="/ppt/notesSlides/notesSlide129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44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57.xml"/>
  <Override ContentType="application/vnd.openxmlformats-officedocument.presentationml.notesSlide+xml" PartName="/ppt/notesSlides/notesSlide114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16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87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24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177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1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0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152.xml"/>
  <Override ContentType="application/vnd.openxmlformats-officedocument.presentationml.notesSlide+xml" PartName="/ppt/notesSlides/notesSlide195.xml"/>
  <Override ContentType="application/vnd.openxmlformats-officedocument.presentationml.notesSlide+xml" PartName="/ppt/notesSlides/notesSlide183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118.xml"/>
  <Override ContentType="application/vnd.openxmlformats-officedocument.presentationml.notesSlide+xml" PartName="/ppt/notesSlides/notesSlide167.xml"/>
  <Override ContentType="application/vnd.openxmlformats-officedocument.presentationml.notesSlide+xml" PartName="/ppt/notesSlides/notesSlide140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149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39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5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199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90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3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73.xml"/>
  <Override ContentType="application/vnd.openxmlformats-officedocument.presentationml.notesSlide+xml" PartName="/ppt/notesSlides/notesSlide128.xml"/>
  <Override ContentType="application/vnd.openxmlformats-officedocument.presentationml.notesSlide+xml" PartName="/ppt/notesSlides/notesSlide162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45.xml"/>
  <Override ContentType="application/vnd.openxmlformats-officedocument.presentationml.notesSlide+xml" PartName="/ppt/notesSlides/notesSlide207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88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86.xml"/>
  <Override ContentType="application/vnd.openxmlformats-officedocument.presentationml.notesSlide+xml" PartName="/ppt/notesSlides/notesSlide143.xml"/>
  <Override ContentType="application/vnd.openxmlformats-officedocument.presentationml.notesSlide+xml" PartName="/ppt/notesSlides/notesSlide151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94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119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166.xml"/>
  <Override ContentType="application/vnd.openxmlformats-officedocument.presentationml.notesSlide+xml" PartName="/ppt/notesSlides/notesSlide182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78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135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204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123.xml"/>
  <Override ContentType="application/vnd.openxmlformats-officedocument.presentationml.notesSlide+xml" PartName="/ppt/notesSlides/notesSlide171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138.xml"/>
  <Override ContentType="application/vnd.openxmlformats-officedocument.presentationml.notesSlide+xml" PartName="/ppt/notesSlides/notesSlide163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98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155.xml"/>
  <Override ContentType="application/vnd.openxmlformats-officedocument.presentationml.notesSlide+xml" PartName="/ppt/notesSlides/notesSlide189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46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0.xml"/>
  <Override ContentType="application/vnd.openxmlformats-officedocument.presentationml.notesSlide+xml" PartName="/ppt/notesSlides/notesSlide201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31.xml"/>
  <Override ContentType="application/vnd.openxmlformats-officedocument.presentationml.notesSlide+xml" PartName="/ppt/notesSlides/notesSlide127.xml"/>
  <Override ContentType="application/vnd.openxmlformats-officedocument.presentationml.notesSlide+xml" PartName="/ppt/notesSlides/notesSlide191.xml"/>
  <Override ContentType="application/vnd.openxmlformats-officedocument.presentationml.notesSlide+xml" PartName="/ppt/notesSlides/notesSlide20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174.xml"/>
  <Override ContentType="application/vnd.openxmlformats-officedocument.presentationml.notesSlide+xml" PartName="/ppt/notesSlides/notesSlide212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193.xml"/>
  <Override ContentType="application/vnd.openxmlformats-officedocument.presentationml.notesSlide+xml" PartName="/ppt/notesSlides/notesSlide150.xml"/>
  <Override ContentType="application/vnd.openxmlformats-officedocument.presentationml.notesSlide+xml" PartName="/ppt/notesSlides/notesSlide142.xml"/>
  <Override ContentType="application/vnd.openxmlformats-officedocument.presentationml.notesSlide+xml" PartName="/ppt/notesSlides/notesSlide116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59.xml"/>
  <Override ContentType="application/vnd.openxmlformats-officedocument.presentationml.notesSlide+xml" PartName="/ppt/notesSlides/notesSlide185.xml"/>
  <Override ContentType="application/vnd.openxmlformats-officedocument.presentationml.notesSlide+xml" PartName="/ppt/notesSlides/notesSlide126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69.xml"/>
  <Override ContentType="application/vnd.openxmlformats-officedocument.presentationml.notesSlide+xml" PartName="/ppt/notesSlides/notesSlide205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60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79.xml"/>
  <Override ContentType="application/vnd.openxmlformats-officedocument.presentationml.notesSlide+xml" PartName="/ppt/notesSlides/notesSlide165.xml"/>
  <Override ContentType="application/vnd.openxmlformats-officedocument.presentationml.notesSlide+xml" PartName="/ppt/notesSlides/notesSlide122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170.xml"/>
  <Override ContentType="application/vnd.openxmlformats-officedocument.presentationml.notesSlide+xml" PartName="/ppt/notesSlides/notesSlide197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154.xml"/>
  <Override ContentType="application/vnd.openxmlformats-officedocument.presentationml.notesSlide+xml" PartName="/ppt/notesSlides/notesSlide136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200.xml"/>
  <Override ContentType="application/vnd.openxmlformats-officedocument.presentationml.notesSlide+xml" PartName="/ppt/notesSlides/notesSlide181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09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1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164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21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211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132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9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15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158.xml"/>
  <Override ContentType="application/vnd.openxmlformats-officedocument.presentationml.notesSlide+xml" PartName="/ppt/notesSlides/notesSlide175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1.xml"/>
  <Override ContentType="application/vnd.openxmlformats-officedocument.presentationml.slide+xml" PartName="/ppt/slides/slide164.xml"/>
  <Override ContentType="application/vnd.openxmlformats-officedocument.presentationml.slide+xml" PartName="/ppt/slides/slide43.xml"/>
  <Override ContentType="application/vnd.openxmlformats-officedocument.presentationml.slide+xml" PartName="/ppt/slides/slide199.xml"/>
  <Override ContentType="application/vnd.openxmlformats-officedocument.presentationml.slide+xml" PartName="/ppt/slides/slide210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202.xml"/>
  <Override ContentType="application/vnd.openxmlformats-officedocument.presentationml.slide+xml" PartName="/ppt/slides/slide105.xml"/>
  <Override ContentType="application/vnd.openxmlformats-officedocument.presentationml.slide+xml" PartName="/ppt/slides/slide148.xml"/>
  <Override ContentType="application/vnd.openxmlformats-officedocument.presentationml.slide+xml" PartName="/ppt/slides/slide172.xml"/>
  <Override ContentType="application/vnd.openxmlformats-officedocument.presentationml.slide+xml" PartName="/ppt/slides/slide19.xml"/>
  <Override ContentType="application/vnd.openxmlformats-officedocument.presentationml.slide+xml" PartName="/ppt/slides/slide5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94.xml"/>
  <Override ContentType="application/vnd.openxmlformats-officedocument.presentationml.slide+xml" PartName="/ppt/slides/slide156.xml"/>
  <Override ContentType="application/vnd.openxmlformats-officedocument.presentationml.slide+xml" PartName="/ppt/slides/slide71.xml"/>
  <Override ContentType="application/vnd.openxmlformats-officedocument.presentationml.slide+xml" PartName="/ppt/slides/slide179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36.xml"/>
  <Override ContentType="application/vnd.openxmlformats-officedocument.presentationml.slide+xml" PartName="/ppt/slides/slide184.xml"/>
  <Override ContentType="application/vnd.openxmlformats-officedocument.presentationml.slide+xml" PartName="/ppt/slides/slide141.xml"/>
  <Override ContentType="application/vnd.openxmlformats-officedocument.presentationml.slide+xml" PartName="/ppt/slides/slide82.xml"/>
  <Override ContentType="application/vnd.openxmlformats-officedocument.presentationml.slide+xml" PartName="/ppt/slides/slide9.xml"/>
  <Override ContentType="application/vnd.openxmlformats-officedocument.presentationml.slide+xml" PartName="/ppt/slides/slide168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187.xml"/>
  <Override ContentType="application/vnd.openxmlformats-officedocument.presentationml.slide+xml" PartName="/ppt/slides/slide98.xml"/>
  <Override ContentType="application/vnd.openxmlformats-officedocument.presentationml.slide+xml" PartName="/ppt/slides/slide152.xml"/>
  <Override ContentType="application/vnd.openxmlformats-officedocument.presentationml.slide+xml" PartName="/ppt/slides/slide125.xml"/>
  <Override ContentType="application/vnd.openxmlformats-officedocument.presentationml.slide+xml" PartName="/ppt/slides/slide20.xml"/>
  <Override ContentType="application/vnd.openxmlformats-officedocument.presentationml.slide+xml" PartName="/ppt/slides/slide16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206.xml"/>
  <Override ContentType="application/vnd.openxmlformats-officedocument.presentationml.slide+xml" PartName="/ppt/slides/slide55.xml"/>
  <Override ContentType="application/vnd.openxmlformats-officedocument.presentationml.slide+xml" PartName="/ppt/slides/slide195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129.xml"/>
  <Override ContentType="application/vnd.openxmlformats-officedocument.presentationml.slide+xml" PartName="/ppt/slides/slide63.xml"/>
  <Override ContentType="application/vnd.openxmlformats-officedocument.presentationml.slide+xml" PartName="/ppt/slides/slide159.xml"/>
  <Override ContentType="application/vnd.openxmlformats-officedocument.presentationml.slide+xml" PartName="/ppt/slides/slide101.xml"/>
  <Override ContentType="application/vnd.openxmlformats-officedocument.presentationml.slide+xml" PartName="/ppt/slides/slide116.xml"/>
  <Override ContentType="application/vnd.openxmlformats-officedocument.presentationml.slide+xml" PartName="/ppt/slides/slide144.xml"/>
  <Override ContentType="application/vnd.openxmlformats-officedocument.presentationml.slide+xml" PartName="/ppt/slides/slide133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74.xml"/>
  <Override ContentType="application/vnd.openxmlformats-officedocument.presentationml.slide+xml" PartName="/ppt/slides/slide176.xml"/>
  <Override ContentType="application/vnd.openxmlformats-officedocument.presentationml.slide+xml" PartName="/ppt/slides/slide27.xml"/>
  <Override ContentType="application/vnd.openxmlformats-officedocument.presentationml.slide+xml" PartName="/ppt/slides/slide2.xml"/>
  <Override ContentType="application/vnd.openxmlformats-officedocument.presentationml.slide+xml" PartName="/ppt/slides/slide180.xml"/>
  <Override ContentType="application/vnd.openxmlformats-officedocument.presentationml.slide+xml" PartName="/ppt/slides/slide18.xml"/>
  <Override ContentType="application/vnd.openxmlformats-officedocument.presentationml.slide+xml" PartName="/ppt/slides/slide201.xml"/>
  <Override ContentType="application/vnd.openxmlformats-officedocument.presentationml.slide+xml" PartName="/ppt/slides/slide52.xml"/>
  <Override ContentType="application/vnd.openxmlformats-officedocument.presentationml.slide+xml" PartName="/ppt/slides/slide95.xml"/>
  <Override ContentType="application/vnd.openxmlformats-officedocument.presentationml.slide+xml" PartName="/ppt/slides/slide181.xml"/>
  <Override ContentType="application/vnd.openxmlformats-officedocument.presentationml.slide+xml" PartName="/ppt/slides/slide157.xml"/>
  <Override ContentType="application/vnd.openxmlformats-officedocument.presentationml.slide+xml" PartName="/ppt/slides/slide211.xml"/>
  <Override ContentType="application/vnd.openxmlformats-officedocument.presentationml.slide+xml" PartName="/ppt/slides/slide77.xml"/>
  <Override ContentType="application/vnd.openxmlformats-officedocument.presentationml.slide+xml" PartName="/ppt/slides/slide165.xml"/>
  <Override ContentType="application/vnd.openxmlformats-officedocument.presentationml.slide+xml" PartName="/ppt/slides/slide34.xml"/>
  <Override ContentType="application/vnd.openxmlformats-officedocument.presentationml.slide+xml" PartName="/ppt/slides/slide122.xml"/>
  <Override ContentType="application/vnd.openxmlformats-officedocument.presentationml.slide+xml" PartName="/ppt/slides/slide147.xml"/>
  <Override ContentType="application/vnd.openxmlformats-officedocument.presentationml.slide+xml" PartName="/ppt/slides/slide191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137.xml"/>
  <Override ContentType="application/vnd.openxmlformats-officedocument.presentationml.slide+xml" PartName="/ppt/slides/slide110.xml"/>
  <Override ContentType="application/vnd.openxmlformats-officedocument.presentationml.slide+xml" PartName="/ppt/slides/slide153.xml"/>
  <Override ContentType="application/vnd.openxmlformats-officedocument.presentationml.slide+xml" PartName="/ppt/slides/slide67.xml"/>
  <Override ContentType="application/vnd.openxmlformats-officedocument.presentationml.slide+xml" PartName="/ppt/slides/slide196.xml"/>
  <Override ContentType="application/vnd.openxmlformats-officedocument.presentationml.slide+xml" PartName="/ppt/slides/slide171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6.xml"/>
  <Override ContentType="application/vnd.openxmlformats-officedocument.presentationml.slide+xml" PartName="/ppt/slides/slide119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169.xml"/>
  <Override ContentType="application/vnd.openxmlformats-officedocument.presentationml.slide+xml" PartName="/ppt/slides/slide30.xml"/>
  <Override ContentType="application/vnd.openxmlformats-officedocument.presentationml.slide+xml" PartName="/ppt/slides/slide126.xml"/>
  <Override ContentType="application/vnd.openxmlformats-officedocument.presentationml.slide+xml" PartName="/ppt/slides/slide186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205.xml"/>
  <Override ContentType="application/vnd.openxmlformats-officedocument.presentationml.slide+xml" PartName="/ppt/slides/slide160.xml"/>
  <Override ContentType="application/vnd.openxmlformats-officedocument.presentationml.slide+xml" PartName="/ppt/slides/slide100.xml"/>
  <Override ContentType="application/vnd.openxmlformats-officedocument.presentationml.slide+xml" PartName="/ppt/slides/slide90.xml"/>
  <Override ContentType="application/vnd.openxmlformats-officedocument.presentationml.slide+xml" PartName="/ppt/slides/slide143.xml"/>
  <Override ContentType="application/vnd.openxmlformats-officedocument.presentationml.slide+xml" PartName="/ppt/slides/slide132.xml"/>
  <Override ContentType="application/vnd.openxmlformats-officedocument.presentationml.slide+xml" PartName="/ppt/slides/slide62.xml"/>
  <Override ContentType="application/vnd.openxmlformats-officedocument.presentationml.slide+xml" PartName="/ppt/slides/slide175.xml"/>
  <Override ContentType="application/vnd.openxmlformats-officedocument.presentationml.slide+xml" PartName="/ppt/slides/slide1.xml"/>
  <Override ContentType="application/vnd.openxmlformats-officedocument.presentationml.slide+xml" PartName="/ppt/slides/slide192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209.xml"/>
  <Override ContentType="application/vnd.openxmlformats-officedocument.presentationml.slide+xml" PartName="/ppt/slides/slide200.xml"/>
  <Override ContentType="application/vnd.openxmlformats-officedocument.presentationml.slide+xml" PartName="/ppt/slides/slide88.xml"/>
  <Override ContentType="application/vnd.openxmlformats-officedocument.presentationml.slide+xml" PartName="/ppt/slides/slide158.xml"/>
  <Override ContentType="application/vnd.openxmlformats-officedocument.presentationml.slide+xml" PartName="/ppt/slides/slide115.xml"/>
  <Override ContentType="application/vnd.openxmlformats-officedocument.presentationml.slide+xml" PartName="/ppt/slides/slide3.xml"/>
  <Override ContentType="application/vnd.openxmlformats-officedocument.presentationml.slide+xml" PartName="/ppt/slides/slide182.xml"/>
  <Override ContentType="application/vnd.openxmlformats-officedocument.presentationml.slide+xml" PartName="/ppt/slides/slide17.xml"/>
  <Override ContentType="application/vnd.openxmlformats-officedocument.presentationml.slide+xml" PartName="/ppt/slides/slide138.xml"/>
  <Override ContentType="application/vnd.openxmlformats-officedocument.presentationml.slide+xml" PartName="/ppt/slides/slide25.xml"/>
  <Override ContentType="application/vnd.openxmlformats-officedocument.presentationml.slide+xml" PartName="/ppt/slides/slide174.xml"/>
  <Override ContentType="application/vnd.openxmlformats-officedocument.presentationml.slide+xml" PartName="/ppt/slides/slide190.xml"/>
  <Override ContentType="application/vnd.openxmlformats-officedocument.presentationml.slide+xml" PartName="/ppt/slides/slide33.xml"/>
  <Override ContentType="application/vnd.openxmlformats-officedocument.presentationml.slide+xml" PartName="/ppt/slides/slide68.xml"/>
  <Override ContentType="application/vnd.openxmlformats-officedocument.presentationml.slide+xml" PartName="/ppt/slides/slide170.xml"/>
  <Override ContentType="application/vnd.openxmlformats-officedocument.presentationml.slide+xml" PartName="/ppt/slides/slide20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123.xml"/>
  <Override ContentType="application/vnd.openxmlformats-officedocument.presentationml.slide+xml" PartName="/ppt/slides/slide166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4.xml"/>
  <Override ContentType="application/vnd.openxmlformats-officedocument.presentationml.slide+xml" PartName="/ppt/slides/slide197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185.xml"/>
  <Override ContentType="application/vnd.openxmlformats-officedocument.presentationml.slide+xml" PartName="/ppt/slides/slide65.xml"/>
  <Override ContentType="application/vnd.openxmlformats-officedocument.presentationml.slide+xml" PartName="/ppt/slides/slide118.xml"/>
  <Override ContentType="application/vnd.openxmlformats-officedocument.presentationml.slide+xml" PartName="/ppt/slides/slide142.xml"/>
  <Override ContentType="application/vnd.openxmlformats-officedocument.presentationml.slide+xml" PartName="/ppt/slides/slide72.xml"/>
  <Override ContentType="application/vnd.openxmlformats-officedocument.presentationml.slide+xml" PartName="/ppt/slides/slide135.xml"/>
  <Override ContentType="application/vnd.openxmlformats-officedocument.presentationml.slide+xml" PartName="/ppt/slides/slide178.xml"/>
  <Override ContentType="application/vnd.openxmlformats-officedocument.presentationml.slide+xml" PartName="/ppt/slides/slide29.xml"/>
  <Override ContentType="application/vnd.openxmlformats-officedocument.presentationml.slide+xml" PartName="/ppt/slides/slide212.xml"/>
  <Override ContentType="application/vnd.openxmlformats-officedocument.presentationml.slide+xml" PartName="/ppt/slides/slide76.xml"/>
  <Override ContentType="application/vnd.openxmlformats-officedocument.presentationml.slide+xml" PartName="/ppt/slides/slide131.xml"/>
  <Override ContentType="application/vnd.openxmlformats-officedocument.presentationml.slide+xml" PartName="/ppt/slides/slide93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114.xml"/>
  <Override ContentType="application/vnd.openxmlformats-officedocument.presentationml.slide+xml" PartName="/ppt/slides/slide163.xml"/>
  <Override ContentType="application/vnd.openxmlformats-officedocument.presentationml.slide+xml" PartName="/ppt/slides/slide127.xml"/>
  <Override ContentType="application/vnd.openxmlformats-officedocument.presentationml.slide+xml" PartName="/ppt/slides/slide146.xml"/>
  <Override ContentType="application/vnd.openxmlformats-officedocument.presentationml.slide+xml" PartName="/ppt/slides/slide150.xml"/>
  <Override ContentType="application/vnd.openxmlformats-officedocument.presentationml.slide+xml" PartName="/ppt/slides/slide189.xml"/>
  <Override ContentType="application/vnd.openxmlformats-officedocument.presentationml.slide+xml" PartName="/ppt/slides/slide120.xml"/>
  <Override ContentType="application/vnd.openxmlformats-officedocument.presentationml.slide+xml" PartName="/ppt/slides/slide87.xml"/>
  <Override ContentType="application/vnd.openxmlformats-officedocument.presentationml.slide+xml" PartName="/ppt/slides/slide57.xml"/>
  <Override ContentType="application/vnd.openxmlformats-officedocument.presentationml.slide+xml" PartName="/ppt/slides/slide44.xml"/>
  <Override ContentType="application/vnd.openxmlformats-officedocument.presentationml.slide+xml" PartName="/ppt/slides/slide193.xml"/>
  <Override ContentType="application/vnd.openxmlformats-officedocument.presentationml.slide+xml" PartName="/ppt/slides/slide208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39.xml"/>
  <Override ContentType="application/vnd.openxmlformats-officedocument.presentationml.slide+xml" PartName="/ppt/slides/slide60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198.xml"/>
  <Override ContentType="application/vnd.openxmlformats-officedocument.presentationml.slide+xml" PartName="/ppt/slides/slide15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130.xml"/>
  <Override ContentType="application/vnd.openxmlformats-officedocument.presentationml.slide+xml" PartName="/ppt/slides/slide173.xml"/>
  <Override ContentType="application/vnd.openxmlformats-officedocument.presentationml.slide+xml" PartName="/ppt/slides/slide16.xml"/>
  <Override ContentType="application/vnd.openxmlformats-officedocument.presentationml.slide+xml" PartName="/ppt/slides/slide97.xml"/>
  <Override ContentType="application/vnd.openxmlformats-officedocument.presentationml.slide+xml" PartName="/ppt/slides/slide140.xml"/>
  <Override ContentType="application/vnd.openxmlformats-officedocument.presentationml.slide+xml" PartName="/ppt/slides/slide11.xml"/>
  <Override ContentType="application/vnd.openxmlformats-officedocument.presentationml.slide+xml" PartName="/ppt/slides/slide183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149.xml"/>
  <Override ContentType="application/vnd.openxmlformats-officedocument.presentationml.slide+xml" PartName="/ppt/slides/slide203.xml"/>
  <Override ContentType="application/vnd.openxmlformats-officedocument.presentationml.slide+xml" PartName="/ppt/slides/slide124.xml"/>
  <Override ContentType="application/vnd.openxmlformats-officedocument.presentationml.slide+xml" PartName="/ppt/slides/slide106.xml"/>
  <Override ContentType="application/vnd.openxmlformats-officedocument.presentationml.slide+xml" PartName="/ppt/slides/slide167.xml"/>
  <Override ContentType="application/vnd.openxmlformats-officedocument.presentationml.slide+xml" PartName="/ppt/slides/slide70.xml"/>
  <Override ContentType="application/vnd.openxmlformats-officedocument.presentationml.slide+xml" PartName="/ppt/slides/slide194.xml"/>
  <Override ContentType="application/vnd.openxmlformats-officedocument.presentationml.slide+xml" PartName="/ppt/slides/slide151.xml"/>
  <Override ContentType="application/vnd.openxmlformats-officedocument.presentationml.slide+xml" PartName="/ppt/slides/slide177.xml"/>
  <Override ContentType="application/vnd.openxmlformats-officedocument.presentationml.slide+xml" PartName="/ppt/slides/slide134.xml"/>
  <Override ContentType="application/vnd.openxmlformats-officedocument.presentationml.slide+xml" PartName="/ppt/slides/slide207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8.xml"/>
  <Override ContentType="application/vnd.openxmlformats-officedocument.presentationml.slide+xml" PartName="/ppt/slides/slide117.xml"/>
  <Override ContentType="application/vnd.openxmlformats-officedocument.presentationml.slide+xml" PartName="/ppt/slides/slide145.xml"/>
  <Override ContentType="application/vnd.openxmlformats-officedocument.presentationml.slide+xml" PartName="/ppt/slides/slide188.xml"/>
  <Override ContentType="application/vnd.openxmlformats-officedocument.presentationml.slide+xml" PartName="/ppt/slides/slide162.xml"/>
  <Override ContentType="application/vnd.openxmlformats-officedocument.presentationml.slide+xml" PartName="/ppt/slides/slide32.xml"/>
  <Override ContentType="application/vnd.openxmlformats-officedocument.presentationml.slide+xml" PartName="/ppt/slides/slide75.xml"/>
  <Override ContentType="application/vnd.openxmlformats-officedocument.presentationml.slide+xml" PartName="/ppt/slides/slide58.xml"/>
  <Override ContentType="application/vnd.openxmlformats-officedocument.presentationml.slide+xml" PartName="/ppt/slides/slide15.xml"/>
  <Override ContentType="application/vnd.openxmlformats-officedocument.presentationml.slide+xml" PartName="/ppt/slides/slide12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</p:sldIdLst>
  <p:sldSz cy="6858000" cx="9144000"/>
  <p:notesSz cx="6858000" cy="9144000"/>
  <p:embeddedFontLst>
    <p:embeddedFont>
      <p:font typeface="Helvetica Neue"/>
      <p:regular r:id="rId220"/>
      <p:bold r:id="rId221"/>
      <p:italic r:id="rId222"/>
      <p:boldItalic r:id="rId223"/>
    </p:embeddedFont>
    <p:embeddedFont>
      <p:font typeface="Noto Sans Symbols"/>
      <p:regular r:id="rId224"/>
      <p:bold r:id="rId2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26" roundtripDataSignature="AMtx7mj+jd4+AMexjfWcymhD9eALHLL+2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075DE67-CFB0-49B5-8B34-57FB0829FB07}">
  <a:tblStyle styleId="{5075DE67-CFB0-49B5-8B34-57FB0829FB0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FA6D0A4-F6BB-4391-8986-4E308C462F3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fill>
          <a:solidFill>
            <a:schemeClr val="accent1">
              <a:alpha val="40000"/>
            </a:schemeClr>
          </a:solidFill>
        </a:fill>
      </a:tcStyle>
    </a:band1H>
    <a:band2H>
      <a:tcTxStyle/>
    </a:band2H>
    <a:band1V>
      <a:tcTxStyle/>
      <a:tcStyle>
        <a:tcBdr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TxStyle/>
    </a:band2V>
    <a:la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lastCol>
    <a:firstCol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firstCol>
    <a:lastRow>
      <a:tcTxStyle b="on" i="off"/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lef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190" Type="http://schemas.openxmlformats.org/officeDocument/2006/relationships/slide" Target="slides/slide18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194" Type="http://schemas.openxmlformats.org/officeDocument/2006/relationships/slide" Target="slides/slide187.xml"/><Relationship Id="rId43" Type="http://schemas.openxmlformats.org/officeDocument/2006/relationships/slide" Target="slides/slide36.xml"/><Relationship Id="rId193" Type="http://schemas.openxmlformats.org/officeDocument/2006/relationships/slide" Target="slides/slide186.xml"/><Relationship Id="rId46" Type="http://schemas.openxmlformats.org/officeDocument/2006/relationships/slide" Target="slides/slide39.xml"/><Relationship Id="rId192" Type="http://schemas.openxmlformats.org/officeDocument/2006/relationships/slide" Target="slides/slide185.xml"/><Relationship Id="rId45" Type="http://schemas.openxmlformats.org/officeDocument/2006/relationships/slide" Target="slides/slide38.xml"/><Relationship Id="rId191" Type="http://schemas.openxmlformats.org/officeDocument/2006/relationships/slide" Target="slides/slide184.xml"/><Relationship Id="rId48" Type="http://schemas.openxmlformats.org/officeDocument/2006/relationships/slide" Target="slides/slide41.xml"/><Relationship Id="rId187" Type="http://schemas.openxmlformats.org/officeDocument/2006/relationships/slide" Target="slides/slide180.xml"/><Relationship Id="rId47" Type="http://schemas.openxmlformats.org/officeDocument/2006/relationships/slide" Target="slides/slide40.xml"/><Relationship Id="rId186" Type="http://schemas.openxmlformats.org/officeDocument/2006/relationships/slide" Target="slides/slide179.xml"/><Relationship Id="rId185" Type="http://schemas.openxmlformats.org/officeDocument/2006/relationships/slide" Target="slides/slide178.xml"/><Relationship Id="rId49" Type="http://schemas.openxmlformats.org/officeDocument/2006/relationships/slide" Target="slides/slide42.xml"/><Relationship Id="rId184" Type="http://schemas.openxmlformats.org/officeDocument/2006/relationships/slide" Target="slides/slide177.xml"/><Relationship Id="rId189" Type="http://schemas.openxmlformats.org/officeDocument/2006/relationships/slide" Target="slides/slide182.xml"/><Relationship Id="rId188" Type="http://schemas.openxmlformats.org/officeDocument/2006/relationships/slide" Target="slides/slide18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183" Type="http://schemas.openxmlformats.org/officeDocument/2006/relationships/slide" Target="slides/slide176.xml"/><Relationship Id="rId32" Type="http://schemas.openxmlformats.org/officeDocument/2006/relationships/slide" Target="slides/slide25.xml"/><Relationship Id="rId182" Type="http://schemas.openxmlformats.org/officeDocument/2006/relationships/slide" Target="slides/slide175.xml"/><Relationship Id="rId35" Type="http://schemas.openxmlformats.org/officeDocument/2006/relationships/slide" Target="slides/slide28.xml"/><Relationship Id="rId181" Type="http://schemas.openxmlformats.org/officeDocument/2006/relationships/slide" Target="slides/slide174.xml"/><Relationship Id="rId34" Type="http://schemas.openxmlformats.org/officeDocument/2006/relationships/slide" Target="slides/slide27.xml"/><Relationship Id="rId180" Type="http://schemas.openxmlformats.org/officeDocument/2006/relationships/slide" Target="slides/slide173.xml"/><Relationship Id="rId37" Type="http://schemas.openxmlformats.org/officeDocument/2006/relationships/slide" Target="slides/slide30.xml"/><Relationship Id="rId176" Type="http://schemas.openxmlformats.org/officeDocument/2006/relationships/slide" Target="slides/slide169.xml"/><Relationship Id="rId36" Type="http://schemas.openxmlformats.org/officeDocument/2006/relationships/slide" Target="slides/slide29.xml"/><Relationship Id="rId175" Type="http://schemas.openxmlformats.org/officeDocument/2006/relationships/slide" Target="slides/slide168.xml"/><Relationship Id="rId39" Type="http://schemas.openxmlformats.org/officeDocument/2006/relationships/slide" Target="slides/slide32.xml"/><Relationship Id="rId174" Type="http://schemas.openxmlformats.org/officeDocument/2006/relationships/slide" Target="slides/slide167.xml"/><Relationship Id="rId38" Type="http://schemas.openxmlformats.org/officeDocument/2006/relationships/slide" Target="slides/slide31.xml"/><Relationship Id="rId173" Type="http://schemas.openxmlformats.org/officeDocument/2006/relationships/slide" Target="slides/slide166.xml"/><Relationship Id="rId179" Type="http://schemas.openxmlformats.org/officeDocument/2006/relationships/slide" Target="slides/slide172.xml"/><Relationship Id="rId178" Type="http://schemas.openxmlformats.org/officeDocument/2006/relationships/slide" Target="slides/slide171.xml"/><Relationship Id="rId177" Type="http://schemas.openxmlformats.org/officeDocument/2006/relationships/slide" Target="slides/slide170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98" Type="http://schemas.openxmlformats.org/officeDocument/2006/relationships/slide" Target="slides/slide191.xml"/><Relationship Id="rId14" Type="http://schemas.openxmlformats.org/officeDocument/2006/relationships/slide" Target="slides/slide7.xml"/><Relationship Id="rId197" Type="http://schemas.openxmlformats.org/officeDocument/2006/relationships/slide" Target="slides/slide190.xml"/><Relationship Id="rId17" Type="http://schemas.openxmlformats.org/officeDocument/2006/relationships/slide" Target="slides/slide10.xml"/><Relationship Id="rId196" Type="http://schemas.openxmlformats.org/officeDocument/2006/relationships/slide" Target="slides/slide189.xml"/><Relationship Id="rId16" Type="http://schemas.openxmlformats.org/officeDocument/2006/relationships/slide" Target="slides/slide9.xml"/><Relationship Id="rId195" Type="http://schemas.openxmlformats.org/officeDocument/2006/relationships/slide" Target="slides/slide188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99" Type="http://schemas.openxmlformats.org/officeDocument/2006/relationships/slide" Target="slides/slide192.xml"/><Relationship Id="rId84" Type="http://schemas.openxmlformats.org/officeDocument/2006/relationships/slide" Target="slides/slide77.xml"/><Relationship Id="rId83" Type="http://schemas.openxmlformats.org/officeDocument/2006/relationships/slide" Target="slides/slide76.xml"/><Relationship Id="rId86" Type="http://schemas.openxmlformats.org/officeDocument/2006/relationships/slide" Target="slides/slide79.xml"/><Relationship Id="rId85" Type="http://schemas.openxmlformats.org/officeDocument/2006/relationships/slide" Target="slides/slide78.xml"/><Relationship Id="rId88" Type="http://schemas.openxmlformats.org/officeDocument/2006/relationships/slide" Target="slides/slide81.xml"/><Relationship Id="rId150" Type="http://schemas.openxmlformats.org/officeDocument/2006/relationships/slide" Target="slides/slide143.xml"/><Relationship Id="rId87" Type="http://schemas.openxmlformats.org/officeDocument/2006/relationships/slide" Target="slides/slide80.xml"/><Relationship Id="rId89" Type="http://schemas.openxmlformats.org/officeDocument/2006/relationships/slide" Target="slides/slide82.xml"/><Relationship Id="rId80" Type="http://schemas.openxmlformats.org/officeDocument/2006/relationships/slide" Target="slides/slide73.xml"/><Relationship Id="rId82" Type="http://schemas.openxmlformats.org/officeDocument/2006/relationships/slide" Target="slides/slide75.xml"/><Relationship Id="rId81" Type="http://schemas.openxmlformats.org/officeDocument/2006/relationships/slide" Target="slides/slide74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149" Type="http://schemas.openxmlformats.org/officeDocument/2006/relationships/slide" Target="slides/slide142.xml"/><Relationship Id="rId4" Type="http://schemas.openxmlformats.org/officeDocument/2006/relationships/tableStyles" Target="tableStyles.xml"/><Relationship Id="rId148" Type="http://schemas.openxmlformats.org/officeDocument/2006/relationships/slide" Target="slides/slide141.xml"/><Relationship Id="rId9" Type="http://schemas.openxmlformats.org/officeDocument/2006/relationships/slide" Target="slides/slide2.xml"/><Relationship Id="rId143" Type="http://schemas.openxmlformats.org/officeDocument/2006/relationships/slide" Target="slides/slide136.xml"/><Relationship Id="rId142" Type="http://schemas.openxmlformats.org/officeDocument/2006/relationships/slide" Target="slides/slide135.xml"/><Relationship Id="rId141" Type="http://schemas.openxmlformats.org/officeDocument/2006/relationships/slide" Target="slides/slide134.xml"/><Relationship Id="rId140" Type="http://schemas.openxmlformats.org/officeDocument/2006/relationships/slide" Target="slides/slide133.xml"/><Relationship Id="rId5" Type="http://schemas.openxmlformats.org/officeDocument/2006/relationships/slideMaster" Target="slideMasters/slideMaster1.xml"/><Relationship Id="rId147" Type="http://schemas.openxmlformats.org/officeDocument/2006/relationships/slide" Target="slides/slide140.xml"/><Relationship Id="rId6" Type="http://schemas.openxmlformats.org/officeDocument/2006/relationships/slideMaster" Target="slideMasters/slideMaster2.xml"/><Relationship Id="rId146" Type="http://schemas.openxmlformats.org/officeDocument/2006/relationships/slide" Target="slides/slide139.xml"/><Relationship Id="rId7" Type="http://schemas.openxmlformats.org/officeDocument/2006/relationships/notesMaster" Target="notesMasters/notesMaster1.xml"/><Relationship Id="rId145" Type="http://schemas.openxmlformats.org/officeDocument/2006/relationships/slide" Target="slides/slide138.xml"/><Relationship Id="rId8" Type="http://schemas.openxmlformats.org/officeDocument/2006/relationships/slide" Target="slides/slide1.xml"/><Relationship Id="rId144" Type="http://schemas.openxmlformats.org/officeDocument/2006/relationships/slide" Target="slides/slide137.xml"/><Relationship Id="rId73" Type="http://schemas.openxmlformats.org/officeDocument/2006/relationships/slide" Target="slides/slide66.xml"/><Relationship Id="rId72" Type="http://schemas.openxmlformats.org/officeDocument/2006/relationships/slide" Target="slides/slide65.xml"/><Relationship Id="rId75" Type="http://schemas.openxmlformats.org/officeDocument/2006/relationships/slide" Target="slides/slide68.xml"/><Relationship Id="rId74" Type="http://schemas.openxmlformats.org/officeDocument/2006/relationships/slide" Target="slides/slide67.xml"/><Relationship Id="rId77" Type="http://schemas.openxmlformats.org/officeDocument/2006/relationships/slide" Target="slides/slide70.xml"/><Relationship Id="rId76" Type="http://schemas.openxmlformats.org/officeDocument/2006/relationships/slide" Target="slides/slide69.xml"/><Relationship Id="rId79" Type="http://schemas.openxmlformats.org/officeDocument/2006/relationships/slide" Target="slides/slide72.xml"/><Relationship Id="rId78" Type="http://schemas.openxmlformats.org/officeDocument/2006/relationships/slide" Target="slides/slide71.xml"/><Relationship Id="rId71" Type="http://schemas.openxmlformats.org/officeDocument/2006/relationships/slide" Target="slides/slide64.xml"/><Relationship Id="rId70" Type="http://schemas.openxmlformats.org/officeDocument/2006/relationships/slide" Target="slides/slide63.xml"/><Relationship Id="rId139" Type="http://schemas.openxmlformats.org/officeDocument/2006/relationships/slide" Target="slides/slide132.xml"/><Relationship Id="rId138" Type="http://schemas.openxmlformats.org/officeDocument/2006/relationships/slide" Target="slides/slide131.xml"/><Relationship Id="rId137" Type="http://schemas.openxmlformats.org/officeDocument/2006/relationships/slide" Target="slides/slide130.xml"/><Relationship Id="rId132" Type="http://schemas.openxmlformats.org/officeDocument/2006/relationships/slide" Target="slides/slide125.xml"/><Relationship Id="rId131" Type="http://schemas.openxmlformats.org/officeDocument/2006/relationships/slide" Target="slides/slide124.xml"/><Relationship Id="rId130" Type="http://schemas.openxmlformats.org/officeDocument/2006/relationships/slide" Target="slides/slide123.xml"/><Relationship Id="rId136" Type="http://schemas.openxmlformats.org/officeDocument/2006/relationships/slide" Target="slides/slide129.xml"/><Relationship Id="rId135" Type="http://schemas.openxmlformats.org/officeDocument/2006/relationships/slide" Target="slides/slide128.xml"/><Relationship Id="rId134" Type="http://schemas.openxmlformats.org/officeDocument/2006/relationships/slide" Target="slides/slide127.xml"/><Relationship Id="rId133" Type="http://schemas.openxmlformats.org/officeDocument/2006/relationships/slide" Target="slides/slide126.xml"/><Relationship Id="rId62" Type="http://schemas.openxmlformats.org/officeDocument/2006/relationships/slide" Target="slides/slide55.xml"/><Relationship Id="rId61" Type="http://schemas.openxmlformats.org/officeDocument/2006/relationships/slide" Target="slides/slide54.xml"/><Relationship Id="rId64" Type="http://schemas.openxmlformats.org/officeDocument/2006/relationships/slide" Target="slides/slide57.xml"/><Relationship Id="rId63" Type="http://schemas.openxmlformats.org/officeDocument/2006/relationships/slide" Target="slides/slide56.xml"/><Relationship Id="rId66" Type="http://schemas.openxmlformats.org/officeDocument/2006/relationships/slide" Target="slides/slide59.xml"/><Relationship Id="rId172" Type="http://schemas.openxmlformats.org/officeDocument/2006/relationships/slide" Target="slides/slide165.xml"/><Relationship Id="rId65" Type="http://schemas.openxmlformats.org/officeDocument/2006/relationships/slide" Target="slides/slide58.xml"/><Relationship Id="rId171" Type="http://schemas.openxmlformats.org/officeDocument/2006/relationships/slide" Target="slides/slide164.xml"/><Relationship Id="rId68" Type="http://schemas.openxmlformats.org/officeDocument/2006/relationships/slide" Target="slides/slide61.xml"/><Relationship Id="rId170" Type="http://schemas.openxmlformats.org/officeDocument/2006/relationships/slide" Target="slides/slide163.xml"/><Relationship Id="rId67" Type="http://schemas.openxmlformats.org/officeDocument/2006/relationships/slide" Target="slides/slide60.xml"/><Relationship Id="rId60" Type="http://schemas.openxmlformats.org/officeDocument/2006/relationships/slide" Target="slides/slide53.xml"/><Relationship Id="rId165" Type="http://schemas.openxmlformats.org/officeDocument/2006/relationships/slide" Target="slides/slide158.xml"/><Relationship Id="rId69" Type="http://schemas.openxmlformats.org/officeDocument/2006/relationships/slide" Target="slides/slide62.xml"/><Relationship Id="rId164" Type="http://schemas.openxmlformats.org/officeDocument/2006/relationships/slide" Target="slides/slide157.xml"/><Relationship Id="rId163" Type="http://schemas.openxmlformats.org/officeDocument/2006/relationships/slide" Target="slides/slide156.xml"/><Relationship Id="rId162" Type="http://schemas.openxmlformats.org/officeDocument/2006/relationships/slide" Target="slides/slide155.xml"/><Relationship Id="rId169" Type="http://schemas.openxmlformats.org/officeDocument/2006/relationships/slide" Target="slides/slide162.xml"/><Relationship Id="rId168" Type="http://schemas.openxmlformats.org/officeDocument/2006/relationships/slide" Target="slides/slide161.xml"/><Relationship Id="rId167" Type="http://schemas.openxmlformats.org/officeDocument/2006/relationships/slide" Target="slides/slide160.xml"/><Relationship Id="rId166" Type="http://schemas.openxmlformats.org/officeDocument/2006/relationships/slide" Target="slides/slide159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55" Type="http://schemas.openxmlformats.org/officeDocument/2006/relationships/slide" Target="slides/slide48.xml"/><Relationship Id="rId161" Type="http://schemas.openxmlformats.org/officeDocument/2006/relationships/slide" Target="slides/slide154.xml"/><Relationship Id="rId54" Type="http://schemas.openxmlformats.org/officeDocument/2006/relationships/slide" Target="slides/slide47.xml"/><Relationship Id="rId160" Type="http://schemas.openxmlformats.org/officeDocument/2006/relationships/slide" Target="slides/slide153.xml"/><Relationship Id="rId57" Type="http://schemas.openxmlformats.org/officeDocument/2006/relationships/slide" Target="slides/slide50.xml"/><Relationship Id="rId56" Type="http://schemas.openxmlformats.org/officeDocument/2006/relationships/slide" Target="slides/slide49.xml"/><Relationship Id="rId159" Type="http://schemas.openxmlformats.org/officeDocument/2006/relationships/slide" Target="slides/slide152.xml"/><Relationship Id="rId59" Type="http://schemas.openxmlformats.org/officeDocument/2006/relationships/slide" Target="slides/slide52.xml"/><Relationship Id="rId154" Type="http://schemas.openxmlformats.org/officeDocument/2006/relationships/slide" Target="slides/slide147.xml"/><Relationship Id="rId58" Type="http://schemas.openxmlformats.org/officeDocument/2006/relationships/slide" Target="slides/slide51.xml"/><Relationship Id="rId153" Type="http://schemas.openxmlformats.org/officeDocument/2006/relationships/slide" Target="slides/slide146.xml"/><Relationship Id="rId152" Type="http://schemas.openxmlformats.org/officeDocument/2006/relationships/slide" Target="slides/slide145.xml"/><Relationship Id="rId151" Type="http://schemas.openxmlformats.org/officeDocument/2006/relationships/slide" Target="slides/slide144.xml"/><Relationship Id="rId158" Type="http://schemas.openxmlformats.org/officeDocument/2006/relationships/slide" Target="slides/slide151.xml"/><Relationship Id="rId157" Type="http://schemas.openxmlformats.org/officeDocument/2006/relationships/slide" Target="slides/slide150.xml"/><Relationship Id="rId156" Type="http://schemas.openxmlformats.org/officeDocument/2006/relationships/slide" Target="slides/slide149.xml"/><Relationship Id="rId155" Type="http://schemas.openxmlformats.org/officeDocument/2006/relationships/slide" Target="slides/slide148.xml"/><Relationship Id="rId107" Type="http://schemas.openxmlformats.org/officeDocument/2006/relationships/slide" Target="slides/slide100.xml"/><Relationship Id="rId106" Type="http://schemas.openxmlformats.org/officeDocument/2006/relationships/slide" Target="slides/slide99.xml"/><Relationship Id="rId105" Type="http://schemas.openxmlformats.org/officeDocument/2006/relationships/slide" Target="slides/slide98.xml"/><Relationship Id="rId226" Type="http://customschemas.google.com/relationships/presentationmetadata" Target="metadata"/><Relationship Id="rId104" Type="http://schemas.openxmlformats.org/officeDocument/2006/relationships/slide" Target="slides/slide97.xml"/><Relationship Id="rId225" Type="http://schemas.openxmlformats.org/officeDocument/2006/relationships/font" Target="fonts/NotoSansSymbols-bold.fntdata"/><Relationship Id="rId109" Type="http://schemas.openxmlformats.org/officeDocument/2006/relationships/slide" Target="slides/slide102.xml"/><Relationship Id="rId108" Type="http://schemas.openxmlformats.org/officeDocument/2006/relationships/slide" Target="slides/slide101.xml"/><Relationship Id="rId220" Type="http://schemas.openxmlformats.org/officeDocument/2006/relationships/font" Target="fonts/HelveticaNeue-regular.fntdata"/><Relationship Id="rId103" Type="http://schemas.openxmlformats.org/officeDocument/2006/relationships/slide" Target="slides/slide96.xml"/><Relationship Id="rId224" Type="http://schemas.openxmlformats.org/officeDocument/2006/relationships/font" Target="fonts/NotoSansSymbols-regular.fntdata"/><Relationship Id="rId102" Type="http://schemas.openxmlformats.org/officeDocument/2006/relationships/slide" Target="slides/slide95.xml"/><Relationship Id="rId223" Type="http://schemas.openxmlformats.org/officeDocument/2006/relationships/font" Target="fonts/HelveticaNeue-boldItalic.fntdata"/><Relationship Id="rId101" Type="http://schemas.openxmlformats.org/officeDocument/2006/relationships/slide" Target="slides/slide94.xml"/><Relationship Id="rId222" Type="http://schemas.openxmlformats.org/officeDocument/2006/relationships/font" Target="fonts/HelveticaNeue-italic.fntdata"/><Relationship Id="rId100" Type="http://schemas.openxmlformats.org/officeDocument/2006/relationships/slide" Target="slides/slide93.xml"/><Relationship Id="rId221" Type="http://schemas.openxmlformats.org/officeDocument/2006/relationships/font" Target="fonts/HelveticaNeue-bold.fntdata"/><Relationship Id="rId217" Type="http://schemas.openxmlformats.org/officeDocument/2006/relationships/slide" Target="slides/slide210.xml"/><Relationship Id="rId216" Type="http://schemas.openxmlformats.org/officeDocument/2006/relationships/slide" Target="slides/slide209.xml"/><Relationship Id="rId215" Type="http://schemas.openxmlformats.org/officeDocument/2006/relationships/slide" Target="slides/slide208.xml"/><Relationship Id="rId214" Type="http://schemas.openxmlformats.org/officeDocument/2006/relationships/slide" Target="slides/slide207.xml"/><Relationship Id="rId219" Type="http://schemas.openxmlformats.org/officeDocument/2006/relationships/slide" Target="slides/slide212.xml"/><Relationship Id="rId218" Type="http://schemas.openxmlformats.org/officeDocument/2006/relationships/slide" Target="slides/slide211.xml"/><Relationship Id="rId213" Type="http://schemas.openxmlformats.org/officeDocument/2006/relationships/slide" Target="slides/slide206.xml"/><Relationship Id="rId212" Type="http://schemas.openxmlformats.org/officeDocument/2006/relationships/slide" Target="slides/slide205.xml"/><Relationship Id="rId211" Type="http://schemas.openxmlformats.org/officeDocument/2006/relationships/slide" Target="slides/slide204.xml"/><Relationship Id="rId210" Type="http://schemas.openxmlformats.org/officeDocument/2006/relationships/slide" Target="slides/slide203.xml"/><Relationship Id="rId129" Type="http://schemas.openxmlformats.org/officeDocument/2006/relationships/slide" Target="slides/slide122.xml"/><Relationship Id="rId128" Type="http://schemas.openxmlformats.org/officeDocument/2006/relationships/slide" Target="slides/slide121.xml"/><Relationship Id="rId127" Type="http://schemas.openxmlformats.org/officeDocument/2006/relationships/slide" Target="slides/slide120.xml"/><Relationship Id="rId126" Type="http://schemas.openxmlformats.org/officeDocument/2006/relationships/slide" Target="slides/slide119.xml"/><Relationship Id="rId121" Type="http://schemas.openxmlformats.org/officeDocument/2006/relationships/slide" Target="slides/slide114.xml"/><Relationship Id="rId120" Type="http://schemas.openxmlformats.org/officeDocument/2006/relationships/slide" Target="slides/slide113.xml"/><Relationship Id="rId125" Type="http://schemas.openxmlformats.org/officeDocument/2006/relationships/slide" Target="slides/slide118.xml"/><Relationship Id="rId124" Type="http://schemas.openxmlformats.org/officeDocument/2006/relationships/slide" Target="slides/slide117.xml"/><Relationship Id="rId123" Type="http://schemas.openxmlformats.org/officeDocument/2006/relationships/slide" Target="slides/slide116.xml"/><Relationship Id="rId122" Type="http://schemas.openxmlformats.org/officeDocument/2006/relationships/slide" Target="slides/slide115.xml"/><Relationship Id="rId95" Type="http://schemas.openxmlformats.org/officeDocument/2006/relationships/slide" Target="slides/slide88.xml"/><Relationship Id="rId94" Type="http://schemas.openxmlformats.org/officeDocument/2006/relationships/slide" Target="slides/slide87.xml"/><Relationship Id="rId97" Type="http://schemas.openxmlformats.org/officeDocument/2006/relationships/slide" Target="slides/slide90.xml"/><Relationship Id="rId96" Type="http://schemas.openxmlformats.org/officeDocument/2006/relationships/slide" Target="slides/slide89.xml"/><Relationship Id="rId99" Type="http://schemas.openxmlformats.org/officeDocument/2006/relationships/slide" Target="slides/slide92.xml"/><Relationship Id="rId98" Type="http://schemas.openxmlformats.org/officeDocument/2006/relationships/slide" Target="slides/slide91.xml"/><Relationship Id="rId91" Type="http://schemas.openxmlformats.org/officeDocument/2006/relationships/slide" Target="slides/slide84.xml"/><Relationship Id="rId90" Type="http://schemas.openxmlformats.org/officeDocument/2006/relationships/slide" Target="slides/slide83.xml"/><Relationship Id="rId93" Type="http://schemas.openxmlformats.org/officeDocument/2006/relationships/slide" Target="slides/slide86.xml"/><Relationship Id="rId92" Type="http://schemas.openxmlformats.org/officeDocument/2006/relationships/slide" Target="slides/slide85.xml"/><Relationship Id="rId118" Type="http://schemas.openxmlformats.org/officeDocument/2006/relationships/slide" Target="slides/slide111.xml"/><Relationship Id="rId117" Type="http://schemas.openxmlformats.org/officeDocument/2006/relationships/slide" Target="slides/slide110.xml"/><Relationship Id="rId116" Type="http://schemas.openxmlformats.org/officeDocument/2006/relationships/slide" Target="slides/slide109.xml"/><Relationship Id="rId115" Type="http://schemas.openxmlformats.org/officeDocument/2006/relationships/slide" Target="slides/slide108.xml"/><Relationship Id="rId119" Type="http://schemas.openxmlformats.org/officeDocument/2006/relationships/slide" Target="slides/slide112.xml"/><Relationship Id="rId110" Type="http://schemas.openxmlformats.org/officeDocument/2006/relationships/slide" Target="slides/slide103.xml"/><Relationship Id="rId114" Type="http://schemas.openxmlformats.org/officeDocument/2006/relationships/slide" Target="slides/slide107.xml"/><Relationship Id="rId113" Type="http://schemas.openxmlformats.org/officeDocument/2006/relationships/slide" Target="slides/slide106.xml"/><Relationship Id="rId112" Type="http://schemas.openxmlformats.org/officeDocument/2006/relationships/slide" Target="slides/slide105.xml"/><Relationship Id="rId111" Type="http://schemas.openxmlformats.org/officeDocument/2006/relationships/slide" Target="slides/slide104.xml"/><Relationship Id="rId206" Type="http://schemas.openxmlformats.org/officeDocument/2006/relationships/slide" Target="slides/slide199.xml"/><Relationship Id="rId205" Type="http://schemas.openxmlformats.org/officeDocument/2006/relationships/slide" Target="slides/slide198.xml"/><Relationship Id="rId204" Type="http://schemas.openxmlformats.org/officeDocument/2006/relationships/slide" Target="slides/slide197.xml"/><Relationship Id="rId203" Type="http://schemas.openxmlformats.org/officeDocument/2006/relationships/slide" Target="slides/slide196.xml"/><Relationship Id="rId209" Type="http://schemas.openxmlformats.org/officeDocument/2006/relationships/slide" Target="slides/slide202.xml"/><Relationship Id="rId208" Type="http://schemas.openxmlformats.org/officeDocument/2006/relationships/slide" Target="slides/slide201.xml"/><Relationship Id="rId207" Type="http://schemas.openxmlformats.org/officeDocument/2006/relationships/slide" Target="slides/slide200.xml"/><Relationship Id="rId202" Type="http://schemas.openxmlformats.org/officeDocument/2006/relationships/slide" Target="slides/slide195.xml"/><Relationship Id="rId201" Type="http://schemas.openxmlformats.org/officeDocument/2006/relationships/slide" Target="slides/slide194.xml"/><Relationship Id="rId200" Type="http://schemas.openxmlformats.org/officeDocument/2006/relationships/slide" Target="slides/slide19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" name="Google Shape;17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1" name="Google Shape;17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0" name="Google Shape;180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" name="Google Shape;18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4" name="Google Shape;1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" name="Google Shape;21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" name="Google Shape;22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" name="Google Shape;2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4" name="Google Shape;2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3" name="Google Shape;263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6" name="Google Shape;27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5" name="Google Shape;285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6" name="Google Shape;28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5" name="Google Shape;295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6" name="Google Shape;29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5" name="Google Shape;305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6" name="Google Shape;30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5" name="Google Shape;315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6" name="Google Shape;31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5" name="Google Shape;325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6" name="Google Shape;336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4" name="Google Shape;34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5" name="Google Shape;345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5" name="Google Shape;355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6" name="Google Shape;35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67" name="Google Shape;36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8" name="Google Shape;36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7" name="Google Shape;377;p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86" name="Google Shape;386;p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7" name="Google Shape;387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97" name="Google Shape;397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8" name="Google Shape;408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2" name="Google Shape;42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31" name="Google Shape;431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2" name="Google Shape;432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2" name="Google Shape;442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3" name="Google Shape;44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7" name="Google Shape;527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28" name="Google Shape;52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7" name="Google Shape;537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8" name="Google Shape;53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8" name="Google Shape;548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9" name="Google Shape;549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8" name="Google Shape;558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59" name="Google Shape;55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6" name="Shape 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7" name="Google Shape;567;p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68" name="Google Shape;568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9" name="Google Shape;569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78" name="Google Shape;578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9" name="Google Shape;57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89" name="Google Shape;589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0" name="Google Shape;59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99" name="Google Shape;599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0" name="Google Shape;60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3" name="Google Shape;623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4" name="Google Shape;62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3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Google Shape;664;p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5" name="Google Shape;665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6" name="Google Shape;666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p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75" name="Google Shape;675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6" name="Google Shape;676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6" name="Google Shape;686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7" name="Google Shape;687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6" name="Google Shape;696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7" name="Google Shape;697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5" name="Google Shape;705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3" name="Shape 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Google Shape;714;p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5" name="Google Shape;715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16" name="Google Shape;71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5" name="Google Shape;725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6" name="Google Shape;726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4" name="Shape 7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5" name="Google Shape;735;p5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36" name="Google Shape;736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37" name="Google Shape;737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6" name="Google Shape;746;p5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7" name="Google Shape;747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48" name="Google Shape;748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6" name="Shape 7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" name="Google Shape;757;p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8" name="Google Shape;758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9" name="Google Shape;759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7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p5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69" name="Google Shape;769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70" name="Google Shape;770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0" name="Google Shape;780;p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1" name="Google Shape;781;p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p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92" name="Google Shape;792;p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93" name="Google Shape;793;p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1" name="Shape 8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2" name="Google Shape;802;p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03" name="Google Shape;803;p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04" name="Google Shape;804;p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1" name="Shape 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Google Shape;812;p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13" name="Google Shape;813;p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14" name="Google Shape;814;p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2" name="Google Shape;822;p6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3" name="Google Shape;823;p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24" name="Google Shape;824;p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p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3" name="Google Shape;833;p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4" name="Google Shape;834;p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2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3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55" name="Google Shape;855;p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56" name="Google Shape;856;p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9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" name="Google Shape;870;p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71" name="Google Shape;871;p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2" name="Google Shape;872;p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p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1" name="Google Shape;891;p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8" name="Shape 8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9" name="Google Shape;899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0" name="Google Shape;900;p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8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0" name="Google Shape;910;p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7" name="Shape 9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8" name="Google Shape;918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9" name="Google Shape;919;p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7" name="Google Shape;927;p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4" name="Shape 9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5" name="Google Shape;935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6" name="Google Shape;936;p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3" name="Google Shape;943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4" name="Google Shape;944;p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2" name="Shape 9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Google Shape;953;p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4" name="Google Shape;954;p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55" name="Google Shape;955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2" name="Shape 9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3" name="Google Shape;963;p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4" name="Google Shape;964;p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5" name="Google Shape;965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8" name="Google Shape;998;p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9" name="Google Shape;999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62" name="Google Shape;1062;p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63" name="Google Shape;1063;p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5" name="Shape 1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" name="Google Shape;1126;p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7" name="Google Shape;1127;p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28" name="Google Shape;1128;p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5" name="Shape 1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" name="Google Shape;1136;p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7" name="Google Shape;1137;p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8" name="Google Shape;1138;p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6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7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48" name="Google Shape;1148;p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9" name="Google Shape;1149;p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6" name="Shape 1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Google Shape;1157;p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58" name="Google Shape;1158;p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59" name="Google Shape;1159;p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6" name="Shape 1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" name="Google Shape;1167;p8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8" name="Google Shape;1168;p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69" name="Google Shape;1169;p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6" name="Shape 1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" name="Google Shape;1177;p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78" name="Google Shape;1178;p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9" name="Google Shape;1179;p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4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p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6" name="Google Shape;1186;p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87" name="Google Shape;1187;p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4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p8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96" name="Google Shape;1196;p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7" name="Google Shape;1197;p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p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3" name="Google Shape;1203;p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4" name="Google Shape;1204;p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5" name="Google Shape;1215;p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16" name="Google Shape;1216;p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3" name="Shape 1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4" name="Google Shape;1224;p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5" name="Google Shape;1225;p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26" name="Google Shape;1226;p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4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8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6" name="Google Shape;1236;p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7" name="Google Shape;1237;p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4" name="Shape 1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5" name="Google Shape;1245;p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46" name="Google Shape;1246;p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47" name="Google Shape;1247;p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4" name="Shape 1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5" name="Google Shape;1255;p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56" name="Google Shape;1256;p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57" name="Google Shape;1257;p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9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6" name="Google Shape;1266;p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7" name="Google Shape;1267;p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6" name="Shape 1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7" name="Google Shape;1277;p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8" name="Google Shape;1278;p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9" name="Google Shape;1279;p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8" name="Google Shape;1288;p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89" name="Google Shape;1289;p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90" name="Google Shape;1290;p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9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99" name="Google Shape;1299;p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00" name="Google Shape;1300;p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8" name="Google Shape;1308;p9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9" name="Google Shape;1309;p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10" name="Google Shape;1310;p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8" name="Shape 1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9" name="Google Shape;1319;p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20" name="Google Shape;1320;p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1" name="Google Shape;1321;p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8" name="Shape 1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9" name="Google Shape;1329;p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0" name="Google Shape;1330;p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31" name="Google Shape;1331;p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2" name="Shape 1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3" name="Google Shape;1343;p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2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p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4" name="Google Shape;1354;p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p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5" name="Google Shape;1365;p1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1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75" name="Google Shape;1375;p1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76" name="Google Shape;1376;p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3" name="Shape 1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4" name="Google Shape;1384;p1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5" name="Google Shape;1385;p1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86" name="Google Shape;1386;p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1" name="Google Shape;1401;p1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02" name="Google Shape;1402;p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3" name="Shape 1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4" name="Google Shape;1414;p10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15" name="Google Shape;1415;p1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6" name="Google Shape;1416;p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8" name="Shape 1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9" name="Google Shape;1429;p10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30" name="Google Shape;1430;p1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1" name="Google Shape;1431;p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5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p10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47" name="Google Shape;1447;p1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48" name="Google Shape;1448;p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3" name="Shape 1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4" name="Google Shape;1464;p10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5" name="Google Shape;1465;p1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66" name="Google Shape;1466;p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4" name="Shape 1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5" name="Google Shape;1485;p10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6" name="Google Shape;1486;p1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87" name="Google Shape;1487;p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p10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9" name="Google Shape;1499;p1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0" name="Google Shape;1500;p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p1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9" name="Google Shape;1509;p1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10" name="Google Shape;1510;p1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1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0" name="Google Shape;1520;p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21" name="Google Shape;1521;p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9" name="Shape 1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0" name="Google Shape;1530;p1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31" name="Google Shape;1531;p1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2" name="Google Shape;1532;p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9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p1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41" name="Google Shape;1541;p1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42" name="Google Shape;1542;p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0" name="Shape 1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1" name="Google Shape;1551;p1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52" name="Google Shape;1552;p1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53" name="Google Shape;1553;p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0" name="Shape 1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1" name="Google Shape;1561;p1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62" name="Google Shape;1562;p1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63" name="Google Shape;1563;p1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0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11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72" name="Google Shape;1572;p1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73" name="Google Shape;1573;p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p1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3" name="Google Shape;1583;p1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84" name="Google Shape;1584;p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2" name="Shape 1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3" name="Google Shape;1593;p1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4" name="Google Shape;1594;p1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5" name="Google Shape;1595;p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2" name="Shape 1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3" name="Google Shape;1603;p1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4" name="Google Shape;1604;p1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05" name="Google Shape;1605;p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2" name="Shape 1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3" name="Google Shape;1613;p1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4" name="Google Shape;1614;p1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15" name="Google Shape;1615;p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2" name="Shape 1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Google Shape;1623;p1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24" name="Google Shape;1624;p1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25" name="Google Shape;1625;p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2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p1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34" name="Google Shape;1634;p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35" name="Google Shape;1635;p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2" name="Shape 1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3" name="Google Shape;1643;p1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4" name="Google Shape;1644;p12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45" name="Google Shape;1645;p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3" name="Shape 1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4" name="Google Shape;1654;p1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5" name="Google Shape;1655;p1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56" name="Google Shape;1656;p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6" name="Shape 1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7" name="Google Shape;1667;p1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8" name="Google Shape;1668;p1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69" name="Google Shape;1669;p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7" name="Shape 1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8" name="Google Shape;1678;p1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9" name="Google Shape;1679;p1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80" name="Google Shape;1680;p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8" name="Shape 1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9" name="Google Shape;1689;p1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90" name="Google Shape;1690;p1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691" name="Google Shape;1691;p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9" name="Shape 1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0" name="Google Shape;1700;p1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01" name="Google Shape;1701;p1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02" name="Google Shape;1702;p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0" name="Shape 17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1" name="Google Shape;1711;p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2" name="Google Shape;1712;p1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1" name="Google Shape;1721;p1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8" name="Shape 1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9" name="Google Shape;1729;p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1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7" name="Shape 1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8" name="Google Shape;1738;p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9" name="Google Shape;1739;p1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6" name="Shape 1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7" name="Google Shape;1747;p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8" name="Google Shape;1748;p1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5" name="Shape 17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6" name="Google Shape;1756;p1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57" name="Google Shape;1757;p1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58" name="Google Shape;1758;p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4" name="Shape 1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5" name="Google Shape;1765;p1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66" name="Google Shape;1766;p1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67" name="Google Shape;1767;p1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5" name="Shape 1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6" name="Google Shape;1776;p13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7" name="Google Shape;1777;p1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8" name="Google Shape;1778;p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5" name="Shape 1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Google Shape;1786;p1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7" name="Google Shape;1787;p1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88" name="Google Shape;1788;p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5" name="Shape 1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6" name="Google Shape;1796;p1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7" name="Google Shape;1797;p1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98" name="Google Shape;1798;p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1" name="Shape 18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" name="Google Shape;1812;p1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13" name="Google Shape;1813;p1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14" name="Google Shape;1814;p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14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29" name="Google Shape;1829;p1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30" name="Google Shape;1830;p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0" name="Shape 1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1" name="Google Shape;1841;p1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2" name="Google Shape;1842;p1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43" name="Google Shape;1843;p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0" name="Shape 1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1" name="Google Shape;1851;p14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52" name="Google Shape;1852;p1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3" name="Google Shape;1853;p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1" name="Shape 18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2" name="Google Shape;1862;p1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63" name="Google Shape;1863;p1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64" name="Google Shape;1864;p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1" name="Shape 18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2" name="Google Shape;1872;p14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73" name="Google Shape;1873;p1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4" name="Google Shape;1874;p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2" name="Shape 1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Google Shape;1883;p14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4" name="Google Shape;1884;p1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85" name="Google Shape;1885;p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3" name="Shape 18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4" name="Google Shape;1894;p14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5" name="Google Shape;1895;p1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96" name="Google Shape;1896;p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4" name="Shape 19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5" name="Google Shape;1905;p14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06" name="Google Shape;1906;p1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07" name="Google Shape;1907;p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14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7" name="Google Shape;1917;p1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18" name="Google Shape;1918;p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5" name="Shape 1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6" name="Google Shape;1926;p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7" name="Google Shape;1927;p1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8" name="Shape 1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9" name="Google Shape;1939;p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0" name="Google Shape;1940;p1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7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9" name="Google Shape;1949;p1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7" name="Shape 1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8" name="Google Shape;1958;p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9" name="Google Shape;1959;p1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7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p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9" name="Google Shape;1969;p1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6" name="Shape 1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7" name="Google Shape;1977;p15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78" name="Google Shape;1978;p1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79" name="Google Shape;1979;p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15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88" name="Google Shape;1988;p1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89" name="Google Shape;1989;p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6" name="Shape 1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7" name="Google Shape;1997;p15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8" name="Google Shape;1998;p15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99" name="Google Shape;1999;p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6" name="Shape 20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7" name="Google Shape;2007;p15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08" name="Google Shape;2008;p15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09" name="Google Shape;2009;p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7" name="Shape 20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8" name="Google Shape;2018;p15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9" name="Google Shape;2019;p15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20" name="Google Shape;2020;p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7" name="Shape 2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8" name="Google Shape;2028;p15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9" name="Google Shape;2029;p15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30" name="Google Shape;2030;p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7" name="Shape 2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8" name="Google Shape;2038;p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9" name="Google Shape;2039;p16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6" name="Shape 20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7" name="Google Shape;2047;p16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8" name="Google Shape;2048;p16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9" name="Google Shape;2049;p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6" name="Shape 2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Google Shape;2057;p16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8" name="Google Shape;2058;p16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59" name="Google Shape;2059;p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7" name="Shape 2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8" name="Google Shape;2068;p16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69" name="Google Shape;2069;p16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70" name="Google Shape;2070;p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8" name="Shape 20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9" name="Google Shape;2079;p16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80" name="Google Shape;2080;p16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1" name="Google Shape;2081;p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8" name="Shape 2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9" name="Google Shape;2089;p16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90" name="Google Shape;2090;p16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91" name="Google Shape;2091;p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9" name="Shape 2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0" name="Google Shape;2100;p16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01" name="Google Shape;2101;p16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02" name="Google Shape;2102;p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9" name="Shape 2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0" name="Google Shape;2110;p16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1" name="Google Shape;2111;p16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12" name="Google Shape;2112;p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16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21" name="Google Shape;2121;p16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22" name="Google Shape;2122;p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9" name="Shape 2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0" name="Google Shape;2130;p16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1" name="Google Shape;2131;p16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2" name="Google Shape;2132;p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9" name="Shape 2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0" name="Google Shape;2140;p1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41" name="Google Shape;2141;p1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42" name="Google Shape;2142;p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9" name="Shape 2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" name="Google Shape;2150;p17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51" name="Google Shape;2151;p17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52" name="Google Shape;2152;p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9" name="Shape 2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0" name="Google Shape;2160;p17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1" name="Google Shape;2161;p17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62" name="Google Shape;2162;p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9" name="Shape 2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0" name="Google Shape;2170;p17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1" name="Google Shape;2171;p17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72" name="Google Shape;2172;p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9" name="Shape 2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0" name="Google Shape;2180;p17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1" name="Google Shape;2181;p17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82" name="Google Shape;2182;p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9" name="Shape 2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0" name="Google Shape;2190;p17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1" name="Google Shape;2191;p17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92" name="Google Shape;2192;p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0" name="Shape 2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1" name="Google Shape;2201;p17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2" name="Google Shape;2202;p17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03" name="Google Shape;2203;p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1" name="Shape 2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2" name="Google Shape;2212;p17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13" name="Google Shape;2213;p17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14" name="Google Shape;2214;p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2" name="Shape 2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3" name="Google Shape;2223;p17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4" name="Google Shape;2224;p17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5" name="Google Shape;2225;p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3" name="Shape 2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4" name="Google Shape;2234;p17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5" name="Google Shape;2235;p17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36" name="Google Shape;2236;p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4" name="Shape 2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5" name="Google Shape;2245;p18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46" name="Google Shape;2246;p18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47" name="Google Shape;2247;p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5" name="Shape 2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Google Shape;2256;p18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7" name="Google Shape;2257;p18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58" name="Google Shape;2258;p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6" name="Shape 2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7" name="Google Shape;2267;p1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8" name="Google Shape;2268;p1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69" name="Google Shape;2269;p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7" name="Shape 2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8" name="Google Shape;2278;p18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9" name="Google Shape;2279;p18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0" name="Google Shape;2280;p1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8" name="Shape 2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9" name="Google Shape;2289;p18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0" name="Google Shape;2290;p18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91" name="Google Shape;2291;p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8" name="Shape 2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9" name="Google Shape;2299;p18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0" name="Google Shape;2300;p18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1" name="Google Shape;2301;p1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9" name="Shape 2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0" name="Google Shape;2310;p18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1" name="Google Shape;2311;p18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2" name="Google Shape;2312;p1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0" name="Shape 2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1" name="Google Shape;2321;p18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2" name="Google Shape;2322;p18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23" name="Google Shape;2323;p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18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3" name="Google Shape;2333;p18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34" name="Google Shape;2334;p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2" name="Shape 2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" name="Google Shape;2343;p18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44" name="Google Shape;2344;p18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45" name="Google Shape;2345;p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2" name="Shape 2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3" name="Google Shape;2353;p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1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1" name="Shape 2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2" name="Google Shape;2362;p19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63" name="Google Shape;2363;p1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64" name="Google Shape;2364;p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1" name="Shape 2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2" name="Google Shape;2372;p19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3" name="Google Shape;2373;p19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74" name="Google Shape;2374;p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2" name="Shape 2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3" name="Google Shape;2383;p19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84" name="Google Shape;2384;p19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5" name="Google Shape;2385;p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3" name="Shape 2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4" name="Google Shape;2394;p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5" name="Google Shape;2395;p19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9" name="Shape 2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0" name="Google Shape;2400;p19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01" name="Google Shape;2401;p19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2" name="Google Shape;2402;p1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0" name="Shape 2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1" name="Google Shape;2411;p19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2" name="Google Shape;2412;p19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13" name="Google Shape;2413;p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2" name="Shape 2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3" name="Google Shape;2423;p19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24" name="Google Shape;2424;p19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25" name="Google Shape;2425;p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2" name="Shape 2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3" name="Google Shape;2433;p19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4" name="Google Shape;2434;p19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35" name="Google Shape;2435;p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3" name="Shape 2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4" name="Google Shape;2444;p1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45" name="Google Shape;2445;p1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6" name="Google Shape;2446;p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3" name="Shape 2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4" name="Google Shape;2454;p20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55" name="Google Shape;2455;p20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56" name="Google Shape;2456;p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3" name="Shape 2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4" name="Google Shape;2464;p20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65" name="Google Shape;2465;p20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6" name="Google Shape;2466;p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4" name="Shape 2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5" name="Google Shape;2475;p20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76" name="Google Shape;2476;p20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7" name="Google Shape;2477;p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5" name="Shape 2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6" name="Google Shape;2486;p20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87" name="Google Shape;2487;p20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8" name="Google Shape;2488;p2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5" name="Shape 2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6" name="Google Shape;2496;p20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97" name="Google Shape;2497;p20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98" name="Google Shape;2498;p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5" name="Shape 2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6" name="Google Shape;2506;p20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07" name="Google Shape;2507;p20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508" name="Google Shape;2508;p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6" name="Shape 2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7" name="Google Shape;2517;p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8" name="Google Shape;2518;p20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2" name="Shape 2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3" name="Google Shape;2523;p2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4" name="Google Shape;2524;p20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8" name="Shape 2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9" name="Google Shape;2529;p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0" name="Google Shape;2530;p20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5" name="Shape 2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6" name="Google Shape;2536;p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7" name="Google Shape;2537;p20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2" name="Shape 2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3" name="Google Shape;2543;p2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4" name="Google Shape;2544;p2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1" name="Shape 2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2" name="Google Shape;2552;p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3" name="Google Shape;2553;p2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7" name="Shape 2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8" name="Google Shape;2558;p2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9" name="Google Shape;2559;p2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2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2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2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20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20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2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2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2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2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2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2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3" name="Google Shape;93;p2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2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2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99" name="Google Shape;99;p2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8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28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5" name="Google Shape;105;p2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2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229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1" name="Google Shape;111;p229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112" name="Google Shape;112;p2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2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4" name="Google Shape;114;p2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0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8" name="Google Shape;118;p230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19" name="Google Shape;119;p230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20" name="Google Shape;120;p230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121" name="Google Shape;121;p2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2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2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2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2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2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2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3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23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6" name="Google Shape;136;p23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37" name="Google Shape;137;p2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2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2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23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3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44" name="Google Shape;144;p2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5" name="Google Shape;145;p2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2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23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0" name="Google Shape;150;p2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2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2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5" name="Google Shape;155;p23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56" name="Google Shape;156;p2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2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2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2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2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2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2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6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7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7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8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4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5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1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13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13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1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11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16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25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22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2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8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26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6.xml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30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24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9.xml"/><Relationship Id="rId3" Type="http://schemas.openxmlformats.org/officeDocument/2006/relationships/image" Target="../media/image24.png"/><Relationship Id="rId4" Type="http://schemas.openxmlformats.org/officeDocument/2006/relationships/image" Target="../media/image31.png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33.pn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2.xml"/><Relationship Id="rId3" Type="http://schemas.openxmlformats.org/officeDocument/2006/relationships/image" Target="../media/image42.png"/><Relationship Id="rId4" Type="http://schemas.openxmlformats.org/officeDocument/2006/relationships/image" Target="../media/image44.png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38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35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Relationship Id="rId3" Type="http://schemas.openxmlformats.org/officeDocument/2006/relationships/image" Target="../media/image46.png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6.xml"/><Relationship Id="rId3" Type="http://schemas.openxmlformats.org/officeDocument/2006/relationships/image" Target="../media/image43.png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7.xml"/><Relationship Id="rId3" Type="http://schemas.openxmlformats.org/officeDocument/2006/relationships/image" Target="../media/image36.png"/><Relationship Id="rId4" Type="http://schemas.openxmlformats.org/officeDocument/2006/relationships/image" Target="../media/image37.png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8.xml"/><Relationship Id="rId3" Type="http://schemas.openxmlformats.org/officeDocument/2006/relationships/image" Target="../media/image36.png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2.xml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4.xml"/></Relationships>
</file>

<file path=ppt/slides/_rels/slide1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5.xml"/><Relationship Id="rId3" Type="http://schemas.openxmlformats.org/officeDocument/2006/relationships/image" Target="../media/image41.jpg"/></Relationships>
</file>

<file path=ppt/slides/_rels/slide1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6.xml"/><Relationship Id="rId3" Type="http://schemas.openxmlformats.org/officeDocument/2006/relationships/image" Target="../media/image41.jpg"/></Relationships>
</file>

<file path=ppt/slides/_rels/slide1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Relationship Id="rId3" Type="http://schemas.openxmlformats.org/officeDocument/2006/relationships/image" Target="../media/image41.jpg"/></Relationships>
</file>

<file path=ppt/slides/_rels/slide1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8.xml"/></Relationships>
</file>

<file path=ppt/slides/_rels/slide1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9.xml"/></Relationships>
</file>

<file path=ppt/slides/_rels/slide1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_rels/slide1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2.xml"/></Relationships>
</file>

<file path=ppt/slides/_rels/slide1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3.xml"/><Relationship Id="rId3" Type="http://schemas.openxmlformats.org/officeDocument/2006/relationships/image" Target="../media/image47.jpg"/></Relationships>
</file>

<file path=ppt/slides/_rels/slide1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4.xml"/><Relationship Id="rId3" Type="http://schemas.openxmlformats.org/officeDocument/2006/relationships/image" Target="../media/image47.jpg"/></Relationships>
</file>

<file path=ppt/slides/_rels/slide1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5.xml"/><Relationship Id="rId3" Type="http://schemas.openxmlformats.org/officeDocument/2006/relationships/image" Target="../media/image47.jpg"/></Relationships>
</file>

<file path=ppt/slides/_rels/slide1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6.xml"/><Relationship Id="rId3" Type="http://schemas.openxmlformats.org/officeDocument/2006/relationships/image" Target="../media/image47.jpg"/></Relationships>
</file>

<file path=ppt/slides/_rels/slide1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7.xml"/><Relationship Id="rId3" Type="http://schemas.openxmlformats.org/officeDocument/2006/relationships/image" Target="../media/image47.jpg"/></Relationships>
</file>

<file path=ppt/slides/_rels/slide1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8.xml"/><Relationship Id="rId3" Type="http://schemas.openxmlformats.org/officeDocument/2006/relationships/image" Target="../media/image47.jpg"/></Relationships>
</file>

<file path=ppt/slides/_rels/slide1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9.xml"/></Relationships>
</file>

<file path=ppt/slides/_rels/slide1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0.xml"/></Relationships>
</file>

<file path=ppt/slides/_rels/slide1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1.xml"/></Relationships>
</file>

<file path=ppt/slides/_rels/slide1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2.xml"/></Relationships>
</file>

<file path=ppt/slides/_rels/slide1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3.xml"/><Relationship Id="rId3" Type="http://schemas.openxmlformats.org/officeDocument/2006/relationships/image" Target="../media/image61.png"/></Relationships>
</file>

<file path=ppt/slides/_rels/slide1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4.xml"/></Relationships>
</file>

<file path=ppt/slides/_rels/slide1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5.xml"/></Relationships>
</file>

<file path=ppt/slides/_rels/slide1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6.xml"/></Relationships>
</file>

<file path=ppt/slides/_rels/slide1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7.xml"/></Relationships>
</file>

<file path=ppt/slides/_rels/slide1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8.xml"/><Relationship Id="rId3" Type="http://schemas.openxmlformats.org/officeDocument/2006/relationships/image" Target="../media/image50.png"/></Relationships>
</file>

<file path=ppt/slides/_rels/slide1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9.xml"/><Relationship Id="rId3" Type="http://schemas.openxmlformats.org/officeDocument/2006/relationships/image" Target="../media/image50.png"/></Relationships>
</file>

<file path=ppt/slides/_rels/slide1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0.xml"/><Relationship Id="rId3" Type="http://schemas.openxmlformats.org/officeDocument/2006/relationships/image" Target="../media/image50.png"/></Relationships>
</file>

<file path=ppt/slides/_rels/slide1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1.xml"/></Relationships>
</file>

<file path=ppt/slides/_rels/slide1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2.xml"/></Relationships>
</file>

<file path=ppt/slides/_rels/slide1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3.xml"/></Relationships>
</file>

<file path=ppt/slides/_rels/slide1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4.xml"/></Relationships>
</file>

<file path=ppt/slides/_rels/slide1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5.xml"/><Relationship Id="rId3" Type="http://schemas.openxmlformats.org/officeDocument/2006/relationships/image" Target="../media/image52.png"/></Relationships>
</file>

<file path=ppt/slides/_rels/slide1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6.xml"/><Relationship Id="rId3" Type="http://schemas.openxmlformats.org/officeDocument/2006/relationships/image" Target="../media/image52.png"/></Relationships>
</file>

<file path=ppt/slides/_rels/slide1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7.xml"/><Relationship Id="rId3" Type="http://schemas.openxmlformats.org/officeDocument/2006/relationships/image" Target="../media/image52.png"/></Relationships>
</file>

<file path=ppt/slides/_rels/slide1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8.xml"/></Relationships>
</file>

<file path=ppt/slides/_rels/slide1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9.xml"/><Relationship Id="rId3" Type="http://schemas.openxmlformats.org/officeDocument/2006/relationships/image" Target="../media/image45.png"/><Relationship Id="rId4" Type="http://schemas.openxmlformats.org/officeDocument/2006/relationships/image" Target="../media/image62.png"/></Relationships>
</file>

<file path=ppt/slides/_rels/slide1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0.xml"/></Relationships>
</file>

<file path=ppt/slides/_rels/slide1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1.xml"/><Relationship Id="rId3" Type="http://schemas.openxmlformats.org/officeDocument/2006/relationships/image" Target="../media/image45.png"/></Relationships>
</file>

<file path=ppt/slides/_rels/slide1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2.xml"/><Relationship Id="rId3" Type="http://schemas.openxmlformats.org/officeDocument/2006/relationships/image" Target="../media/image45.png"/></Relationships>
</file>

<file path=ppt/slides/_rels/slide1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3.xml"/></Relationships>
</file>

<file path=ppt/slides/_rels/slide1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4.xml"/></Relationships>
</file>

<file path=ppt/slides/_rels/slide1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5.xml"/></Relationships>
</file>

<file path=ppt/slides/_rels/slide1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6.xml"/></Relationships>
</file>

<file path=ppt/slides/_rels/slide1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7.xml"/><Relationship Id="rId3" Type="http://schemas.openxmlformats.org/officeDocument/2006/relationships/image" Target="../media/image57.png"/></Relationships>
</file>

<file path=ppt/slides/_rels/slide1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8.xml"/></Relationships>
</file>

<file path=ppt/slides/_rels/slide1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9.xml"/><Relationship Id="rId3" Type="http://schemas.openxmlformats.org/officeDocument/2006/relationships/image" Target="../media/image57.png"/></Relationships>
</file>

<file path=ppt/slides/_rels/slide1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0.xml"/></Relationships>
</file>

<file path=ppt/slides/_rels/slide1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1.xml"/></Relationships>
</file>

<file path=ppt/slides/_rels/slide1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2.xml"/><Relationship Id="rId3" Type="http://schemas.openxmlformats.org/officeDocument/2006/relationships/image" Target="../media/image60.png"/></Relationships>
</file>

<file path=ppt/slides/_rels/slide1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3.xml"/><Relationship Id="rId3" Type="http://schemas.openxmlformats.org/officeDocument/2006/relationships/image" Target="../media/image60.png"/></Relationships>
</file>

<file path=ppt/slides/_rels/slide1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4.xml"/></Relationships>
</file>

<file path=ppt/slides/_rels/slide1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5.xml"/><Relationship Id="rId3" Type="http://schemas.openxmlformats.org/officeDocument/2006/relationships/image" Target="../media/image60.png"/></Relationships>
</file>

<file path=ppt/slides/_rels/slide1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6.xml"/></Relationships>
</file>

<file path=ppt/slides/_rels/slide1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7.xml"/></Relationships>
</file>

<file path=ppt/slides/_rels/slide1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8.xml"/></Relationships>
</file>

<file path=ppt/slides/_rels/slide1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9.xml"/></Relationships>
</file>

<file path=ppt/slides/_rels/slide1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0.xml"/></Relationships>
</file>

<file path=ppt/slides/_rels/slide1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1.xml"/></Relationships>
</file>

<file path=ppt/slides/_rels/slide1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2.xml"/></Relationships>
</file>

<file path=ppt/slides/_rels/slide1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3.xml"/></Relationships>
</file>

<file path=ppt/slides/_rels/slide1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4.xml"/></Relationships>
</file>

<file path=ppt/slides/_rels/slide1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5.xml"/></Relationships>
</file>

<file path=ppt/slides/_rels/slide1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6.xml"/></Relationships>
</file>

<file path=ppt/slides/_rels/slide1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7.xml"/></Relationships>
</file>

<file path=ppt/slides/_rels/slide1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8.xml"/></Relationships>
</file>

<file path=ppt/slides/_rels/slide1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9.xml"/></Relationships>
</file>

<file path=ppt/slides/_rels/slide1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0.xml"/></Relationships>
</file>

<file path=ppt/slides/_rels/slide1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1.xml"/></Relationships>
</file>

<file path=ppt/slides/_rels/slide1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2.xml"/><Relationship Id="rId3" Type="http://schemas.openxmlformats.org/officeDocument/2006/relationships/image" Target="../media/image55.png"/></Relationships>
</file>

<file path=ppt/slides/_rels/slide1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3.xml"/><Relationship Id="rId3" Type="http://schemas.openxmlformats.org/officeDocument/2006/relationships/image" Target="../media/image55.png"/></Relationships>
</file>

<file path=ppt/slides/_rels/slide1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4.xml"/></Relationships>
</file>

<file path=ppt/slides/_rels/slide1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5.xml"/></Relationships>
</file>

<file path=ppt/slides/_rels/slide1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6.xml"/></Relationships>
</file>

<file path=ppt/slides/_rels/slide1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7.xml"/></Relationships>
</file>

<file path=ppt/slides/_rels/slide1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8.xml"/></Relationships>
</file>

<file path=ppt/slides/_rels/slide1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9.xml"/></Relationships>
</file>

<file path=ppt/slides/_rels/slide1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0.xml"/></Relationships>
</file>

<file path=ppt/slides/_rels/slide1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1.xml"/><Relationship Id="rId3" Type="http://schemas.openxmlformats.org/officeDocument/2006/relationships/hyperlink" Target="http://www.qnx.com/developers/docs/qnxcar2/topic/com.qnx.doc.neutrino.lib_ref/topic/p/pthread_attr_init.html" TargetMode="External"/></Relationships>
</file>

<file path=ppt/slides/_rels/slide1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2.xml"/></Relationships>
</file>

<file path=ppt/slides/_rels/slide1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3.xml"/></Relationships>
</file>

<file path=ppt/slides/_rels/slide1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4.xml"/></Relationships>
</file>

<file path=ppt/slides/_rels/slide1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5.xml"/></Relationships>
</file>

<file path=ppt/slides/_rels/slide1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6.xml"/></Relationships>
</file>

<file path=ppt/slides/_rels/slide1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7.xml"/><Relationship Id="rId3" Type="http://schemas.openxmlformats.org/officeDocument/2006/relationships/hyperlink" Target="http://www.qnx.com/developers/docs/qnxcar2/topic/com.qnx.doc.neutrino.lib_ref/topic/p/pthread_join.html" TargetMode="External"/></Relationships>
</file>

<file path=ppt/slides/_rels/slide1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8.xml"/><Relationship Id="rId3" Type="http://schemas.openxmlformats.org/officeDocument/2006/relationships/image" Target="../media/image56.png"/></Relationships>
</file>

<file path=ppt/slides/_rels/slide1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9.xml"/><Relationship Id="rId3" Type="http://schemas.openxmlformats.org/officeDocument/2006/relationships/hyperlink" Target="http://www.qnx.com/developers/docs/qnxcar2/topic/com.qnx.doc.neutrino.lib_ref/topic/p/pthread_exit.html" TargetMode="External"/></Relationships>
</file>

<file path=ppt/slides/_rels/slide2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0.xml"/></Relationships>
</file>

<file path=ppt/slides/_rels/slide2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1.xml"/></Relationships>
</file>

<file path=ppt/slides/_rels/slide2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2.xml"/></Relationships>
</file>

<file path=ppt/slides/_rels/slide2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3.xml"/></Relationships>
</file>

<file path=ppt/slides/_rels/slide2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4.xml"/></Relationships>
</file>

<file path=ppt/slides/_rels/slide2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5.xml"/></Relationships>
</file>

<file path=ppt/slides/_rels/slide2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6.xml"/></Relationships>
</file>

<file path=ppt/slides/_rels/slide2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7.xml"/></Relationships>
</file>

<file path=ppt/slides/_rels/slide2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8.xml"/></Relationships>
</file>

<file path=ppt/slides/_rels/slide2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9.xml"/></Relationships>
</file>

<file path=ppt/slides/_rels/slide2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0.xml"/><Relationship Id="rId3" Type="http://schemas.openxmlformats.org/officeDocument/2006/relationships/image" Target="../media/image65.png"/><Relationship Id="rId4" Type="http://schemas.openxmlformats.org/officeDocument/2006/relationships/image" Target="../media/image59.png"/><Relationship Id="rId5" Type="http://schemas.openxmlformats.org/officeDocument/2006/relationships/image" Target="../media/image67.png"/></Relationships>
</file>

<file path=ppt/slides/_rels/slide2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1.xml"/><Relationship Id="rId3" Type="http://schemas.openxmlformats.org/officeDocument/2006/relationships/image" Target="../media/image66.png"/></Relationships>
</file>

<file path=ppt/slides/_rels/slide2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2.xml"/><Relationship Id="rId3" Type="http://schemas.openxmlformats.org/officeDocument/2006/relationships/image" Target="../media/image6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Scheduling Algorithms</a:t>
            </a:r>
            <a:endParaRPr/>
          </a:p>
        </p:txBody>
      </p:sp>
      <p:sp>
        <p:nvSpPr>
          <p:cNvPr id="164" name="Google Shape;164;p1"/>
          <p:cNvSpPr txBox="1"/>
          <p:nvPr>
            <p:ph idx="1" type="subTitle"/>
          </p:nvPr>
        </p:nvSpPr>
        <p:spPr>
          <a:xfrm>
            <a:off x="1371600" y="3886200"/>
            <a:ext cx="6872808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</a:pPr>
            <a:r>
              <a:rPr lang="en-US" sz="2200"/>
              <a:t>Prof. Shweta Dhawan Chachra</a:t>
            </a:r>
            <a:endParaRPr/>
          </a:p>
          <a:p>
            <a:pPr indent="0" lvl="0" marL="0" rtl="0" algn="l">
              <a:spcBef>
                <a:spcPts val="440"/>
              </a:spcBef>
              <a:spcAft>
                <a:spcPts val="0"/>
              </a:spcAft>
              <a:buClr>
                <a:srgbClr val="888888"/>
              </a:buClr>
              <a:buSzPts val="2200"/>
              <a:buNone/>
            </a:pPr>
            <a:r>
              <a:rPr lang="en-US" sz="2200"/>
              <a:t>Some material © Silberschatz, Galvin, and Gagne, 2002</a:t>
            </a:r>
            <a:endParaRPr sz="2200"/>
          </a:p>
          <a:p>
            <a:pPr indent="0" lvl="0" marL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65" name="Google Shape;165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66" name="Google Shape;166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7" name="Google Shape;167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"/>
          <p:cNvSpPr txBox="1"/>
          <p:nvPr>
            <p:ph type="title"/>
          </p:nvPr>
        </p:nvSpPr>
        <p:spPr>
          <a:xfrm>
            <a:off x="457200" y="2047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Scheduling Algorithms</a:t>
            </a:r>
            <a:br>
              <a:rPr lang="en-US"/>
            </a:br>
            <a:r>
              <a:rPr lang="en-US"/>
              <a:t>Why??</a:t>
            </a:r>
            <a:endParaRPr/>
          </a:p>
        </p:txBody>
      </p:sp>
      <p:sp>
        <p:nvSpPr>
          <p:cNvPr id="174" name="Google Shape;174;p2"/>
          <p:cNvSpPr txBox="1"/>
          <p:nvPr>
            <p:ph idx="1" type="body"/>
          </p:nvPr>
        </p:nvSpPr>
        <p:spPr>
          <a:xfrm>
            <a:off x="841375" y="1274763"/>
            <a:ext cx="7259017" cy="5057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 u="sng"/>
              <a:t>Maximum CPU utilization obtained with multiprogramming:-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en-US" sz="2000" u="sng"/>
              <a:t>Switching CPU among processes to make the OS more productive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Several processes kept in memory at one time.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When one process has to wait, the OS takes CPU away from that process and gives it to another process.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Scheduling is fundamental OS function.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175" name="Google Shape;175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76" name="Google Shape;176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7" name="Google Shape;177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"/>
          <p:cNvSpPr txBox="1"/>
          <p:nvPr>
            <p:ph type="title"/>
          </p:nvPr>
        </p:nvSpPr>
        <p:spPr>
          <a:xfrm>
            <a:off x="457200" y="2047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CPU–I/O Burst Cycle –</a:t>
            </a:r>
            <a:endParaRPr/>
          </a:p>
        </p:txBody>
      </p:sp>
      <p:sp>
        <p:nvSpPr>
          <p:cNvPr id="184" name="Google Shape;184;p3"/>
          <p:cNvSpPr txBox="1"/>
          <p:nvPr>
            <p:ph idx="1" type="body"/>
          </p:nvPr>
        </p:nvSpPr>
        <p:spPr>
          <a:xfrm>
            <a:off x="841375" y="1274763"/>
            <a:ext cx="3978275" cy="5057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Process execution consists of a </a:t>
            </a:r>
            <a:r>
              <a:rPr b="1" lang="en-US" sz="2000">
                <a:solidFill>
                  <a:srgbClr val="3366FF"/>
                </a:solidFill>
              </a:rPr>
              <a:t>cycle</a:t>
            </a:r>
            <a:r>
              <a:rPr lang="en-US" sz="2000"/>
              <a:t> of CPU execution and I/O wait.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Processes alternate between these 2 states.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en-US" sz="2000"/>
              <a:t>Process execution begins with CPU burst,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en-US" sz="2000"/>
              <a:t>then followed by </a:t>
            </a:r>
            <a:r>
              <a:rPr b="1" lang="en-US" sz="2000">
                <a:solidFill>
                  <a:srgbClr val="3366FF"/>
                </a:solidFill>
              </a:rPr>
              <a:t>I/O burst and so on.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en-US" sz="2000"/>
              <a:t>Last CPU burst </a:t>
            </a:r>
            <a:r>
              <a:rPr lang="en-US" sz="2000"/>
              <a:t>will end with a system request to terminate execution.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b="1" lang="en-US" sz="2000" u="sng"/>
              <a:t>CPU burst distribution is of main concern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pic>
        <p:nvPicPr>
          <p:cNvPr descr="6_01.pdf" id="185" name="Google Shape;185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81625" y="1143000"/>
            <a:ext cx="2360613" cy="496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87" name="Google Shape;187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8" name="Google Shape;188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9" name="Google Shape;189;p3"/>
          <p:cNvSpPr/>
          <p:nvPr/>
        </p:nvSpPr>
        <p:spPr>
          <a:xfrm>
            <a:off x="7742238" y="1844824"/>
            <a:ext cx="430162" cy="100811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"/>
          <p:cNvSpPr/>
          <p:nvPr/>
        </p:nvSpPr>
        <p:spPr>
          <a:xfrm>
            <a:off x="7957319" y="2757956"/>
            <a:ext cx="430162" cy="792088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"/>
          <p:cNvSpPr txBox="1"/>
          <p:nvPr>
            <p:ph type="title"/>
          </p:nvPr>
        </p:nvSpPr>
        <p:spPr>
          <a:xfrm>
            <a:off x="1554163" y="138113"/>
            <a:ext cx="75136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Scheduling Algorithm Optimization Criteria</a:t>
            </a:r>
            <a:endParaRPr/>
          </a:p>
        </p:txBody>
      </p:sp>
      <p:sp>
        <p:nvSpPr>
          <p:cNvPr id="197" name="Google Shape;197;p4"/>
          <p:cNvSpPr txBox="1"/>
          <p:nvPr>
            <p:ph idx="1" type="body"/>
          </p:nvPr>
        </p:nvSpPr>
        <p:spPr>
          <a:xfrm>
            <a:off x="852488" y="1174750"/>
            <a:ext cx="6115050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CPU utilization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Throughput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Turnaround time 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Waiting time 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Response time</a:t>
            </a:r>
            <a:endParaRPr/>
          </a:p>
        </p:txBody>
      </p:sp>
      <p:sp>
        <p:nvSpPr>
          <p:cNvPr id="198" name="Google Shape;198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99" name="Google Shape;199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0" name="Google Shape;200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5"/>
          <p:cNvSpPr txBox="1"/>
          <p:nvPr>
            <p:ph type="title"/>
          </p:nvPr>
        </p:nvSpPr>
        <p:spPr>
          <a:xfrm>
            <a:off x="990600" y="214313"/>
            <a:ext cx="76962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Scheduling Criteria</a:t>
            </a:r>
            <a:endParaRPr/>
          </a:p>
        </p:txBody>
      </p:sp>
      <p:sp>
        <p:nvSpPr>
          <p:cNvPr id="207" name="Google Shape;207;p5"/>
          <p:cNvSpPr txBox="1"/>
          <p:nvPr>
            <p:ph idx="1" type="body"/>
          </p:nvPr>
        </p:nvSpPr>
        <p:spPr>
          <a:xfrm>
            <a:off x="933450" y="1246188"/>
            <a:ext cx="7156450" cy="495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CPU utilization </a:t>
            </a:r>
            <a:r>
              <a:rPr lang="en-US" sz="2400"/>
              <a:t>–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keep the CPU as busy as possible,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May vary from 0 to 100%.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In a real system, it should range from 40% (lightly loaded) to 90% (for a heavily used).</a:t>
            </a:r>
            <a:endParaRPr/>
          </a:p>
        </p:txBody>
      </p:sp>
      <p:sp>
        <p:nvSpPr>
          <p:cNvPr id="208" name="Google Shape;208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09" name="Google Shape;209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0" name="Google Shape;210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6"/>
          <p:cNvSpPr txBox="1"/>
          <p:nvPr>
            <p:ph type="title"/>
          </p:nvPr>
        </p:nvSpPr>
        <p:spPr>
          <a:xfrm>
            <a:off x="990600" y="214313"/>
            <a:ext cx="76962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Scheduling Criteria</a:t>
            </a:r>
            <a:endParaRPr/>
          </a:p>
        </p:txBody>
      </p:sp>
      <p:sp>
        <p:nvSpPr>
          <p:cNvPr id="217" name="Google Shape;217;p6"/>
          <p:cNvSpPr txBox="1"/>
          <p:nvPr>
            <p:ph idx="1" type="body"/>
          </p:nvPr>
        </p:nvSpPr>
        <p:spPr>
          <a:xfrm>
            <a:off x="933450" y="1246188"/>
            <a:ext cx="7156450" cy="495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Throughput</a:t>
            </a:r>
            <a:r>
              <a:rPr lang="en-US" sz="2400"/>
              <a:t> –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No of processes that complete their execution per time unit</a:t>
            </a:r>
            <a:endParaRPr/>
          </a:p>
        </p:txBody>
      </p:sp>
      <p:sp>
        <p:nvSpPr>
          <p:cNvPr id="218" name="Google Shape;218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19" name="Google Shape;219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0" name="Google Shape;220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7"/>
          <p:cNvSpPr txBox="1"/>
          <p:nvPr>
            <p:ph type="title"/>
          </p:nvPr>
        </p:nvSpPr>
        <p:spPr>
          <a:xfrm>
            <a:off x="990600" y="214313"/>
            <a:ext cx="76962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Scheduling Criteria</a:t>
            </a:r>
            <a:endParaRPr/>
          </a:p>
        </p:txBody>
      </p:sp>
      <p:sp>
        <p:nvSpPr>
          <p:cNvPr id="227" name="Google Shape;227;p7"/>
          <p:cNvSpPr txBox="1"/>
          <p:nvPr>
            <p:ph idx="1" type="body"/>
          </p:nvPr>
        </p:nvSpPr>
        <p:spPr>
          <a:xfrm>
            <a:off x="933450" y="1246188"/>
            <a:ext cx="7156450" cy="495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Turnaround time </a:t>
            </a:r>
            <a:r>
              <a:rPr lang="en-US" sz="2400"/>
              <a:t>–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amount of time to execute a particular process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/>
              <a:t>The interval from the time of submission of a process to the time of completion</a:t>
            </a:r>
            <a:endParaRPr/>
          </a:p>
        </p:txBody>
      </p:sp>
      <p:sp>
        <p:nvSpPr>
          <p:cNvPr id="228" name="Google Shape;228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29" name="Google Shape;229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0" name="Google Shape;230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8"/>
          <p:cNvSpPr txBox="1"/>
          <p:nvPr>
            <p:ph type="title"/>
          </p:nvPr>
        </p:nvSpPr>
        <p:spPr>
          <a:xfrm>
            <a:off x="990600" y="214313"/>
            <a:ext cx="76962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Scheduling Criteria</a:t>
            </a:r>
            <a:endParaRPr/>
          </a:p>
        </p:txBody>
      </p:sp>
      <p:sp>
        <p:nvSpPr>
          <p:cNvPr id="237" name="Google Shape;237;p8"/>
          <p:cNvSpPr txBox="1"/>
          <p:nvPr>
            <p:ph idx="1" type="body"/>
          </p:nvPr>
        </p:nvSpPr>
        <p:spPr>
          <a:xfrm>
            <a:off x="933450" y="1246188"/>
            <a:ext cx="7156450" cy="495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Waiting time </a:t>
            </a:r>
            <a:r>
              <a:rPr lang="en-US" sz="2400"/>
              <a:t>–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amount of time a process has been waiting in the ready queue/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Sum of periods spent waiting in ready queue</a:t>
            </a:r>
            <a:endParaRPr/>
          </a:p>
        </p:txBody>
      </p:sp>
      <p:sp>
        <p:nvSpPr>
          <p:cNvPr id="238" name="Google Shape;238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39" name="Google Shape;239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0" name="Google Shape;240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"/>
          <p:cNvSpPr txBox="1"/>
          <p:nvPr>
            <p:ph type="title"/>
          </p:nvPr>
        </p:nvSpPr>
        <p:spPr>
          <a:xfrm>
            <a:off x="990600" y="214313"/>
            <a:ext cx="76962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Scheduling Criteria</a:t>
            </a:r>
            <a:endParaRPr/>
          </a:p>
        </p:txBody>
      </p:sp>
      <p:sp>
        <p:nvSpPr>
          <p:cNvPr id="247" name="Google Shape;247;p9"/>
          <p:cNvSpPr txBox="1"/>
          <p:nvPr>
            <p:ph idx="1" type="body"/>
          </p:nvPr>
        </p:nvSpPr>
        <p:spPr>
          <a:xfrm>
            <a:off x="933450" y="1246188"/>
            <a:ext cx="7156450" cy="4959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Response time </a:t>
            </a:r>
            <a:r>
              <a:rPr lang="en-US" sz="2400"/>
              <a:t>–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amount of time it takes from when a request was submitted until the first response is produced, not output  (for time-sharing environment)</a:t>
            </a:r>
            <a:endParaRPr/>
          </a:p>
        </p:txBody>
      </p:sp>
      <p:sp>
        <p:nvSpPr>
          <p:cNvPr id="248" name="Google Shape;24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49" name="Google Shape;24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50" name="Google Shape;25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0"/>
          <p:cNvSpPr txBox="1"/>
          <p:nvPr>
            <p:ph type="title"/>
          </p:nvPr>
        </p:nvSpPr>
        <p:spPr>
          <a:xfrm>
            <a:off x="1554163" y="138113"/>
            <a:ext cx="75136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Scheduling Algorithm Optimization Criteria</a:t>
            </a:r>
            <a:endParaRPr/>
          </a:p>
        </p:txBody>
      </p:sp>
      <p:sp>
        <p:nvSpPr>
          <p:cNvPr id="257" name="Google Shape;257;p10"/>
          <p:cNvSpPr txBox="1"/>
          <p:nvPr>
            <p:ph idx="1" type="body"/>
          </p:nvPr>
        </p:nvSpPr>
        <p:spPr>
          <a:xfrm>
            <a:off x="852488" y="1174750"/>
            <a:ext cx="6115050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CPU utilization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Throughput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Turnaround time 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Waiting time </a:t>
            </a:r>
            <a:endParaRPr/>
          </a:p>
          <a:p>
            <a:pPr indent="-5143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arenR"/>
            </a:pPr>
            <a:r>
              <a:rPr b="1" lang="en-US" sz="2800"/>
              <a:t>Response time</a:t>
            </a:r>
            <a:endParaRPr/>
          </a:p>
          <a:p>
            <a:pPr indent="-3365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/>
          </a:p>
          <a:p>
            <a:pPr indent="-336550" lvl="0" marL="5143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1"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??</a:t>
            </a:r>
            <a:endParaRPr/>
          </a:p>
        </p:txBody>
      </p:sp>
      <p:sp>
        <p:nvSpPr>
          <p:cNvPr id="258" name="Google Shape;258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59" name="Google Shape;259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60" name="Google Shape;260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1"/>
          <p:cNvSpPr txBox="1"/>
          <p:nvPr>
            <p:ph type="title"/>
          </p:nvPr>
        </p:nvSpPr>
        <p:spPr>
          <a:xfrm>
            <a:off x="1554163" y="138113"/>
            <a:ext cx="75136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Scheduling Algorithm Optimization Criteria</a:t>
            </a:r>
            <a:endParaRPr/>
          </a:p>
        </p:txBody>
      </p:sp>
      <p:sp>
        <p:nvSpPr>
          <p:cNvPr id="267" name="Google Shape;267;p11"/>
          <p:cNvSpPr txBox="1"/>
          <p:nvPr>
            <p:ph idx="1" type="body"/>
          </p:nvPr>
        </p:nvSpPr>
        <p:spPr>
          <a:xfrm>
            <a:off x="852488" y="1174750"/>
            <a:ext cx="6115050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Max CPU utilization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Max throughput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Min turnaround time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Min waiting time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Min response time</a:t>
            </a:r>
            <a:endParaRPr/>
          </a:p>
        </p:txBody>
      </p:sp>
      <p:sp>
        <p:nvSpPr>
          <p:cNvPr id="268" name="Google Shape;268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69" name="Google Shape;269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1" name="Google Shape;271;p11"/>
          <p:cNvSpPr/>
          <p:nvPr/>
        </p:nvSpPr>
        <p:spPr>
          <a:xfrm>
            <a:off x="5148064" y="1340768"/>
            <a:ext cx="432048" cy="648072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1"/>
          <p:cNvSpPr/>
          <p:nvPr/>
        </p:nvSpPr>
        <p:spPr>
          <a:xfrm>
            <a:off x="5148064" y="2276872"/>
            <a:ext cx="432048" cy="1368152"/>
          </a:xfrm>
          <a:prstGeom prst="down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2"/>
          <p:cNvSpPr txBox="1"/>
          <p:nvPr>
            <p:ph type="title"/>
          </p:nvPr>
        </p:nvSpPr>
        <p:spPr>
          <a:xfrm>
            <a:off x="838200" y="2016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CPU Scheduler</a:t>
            </a:r>
            <a:endParaRPr/>
          </a:p>
        </p:txBody>
      </p:sp>
      <p:sp>
        <p:nvSpPr>
          <p:cNvPr id="279" name="Google Shape;279;p12"/>
          <p:cNvSpPr txBox="1"/>
          <p:nvPr>
            <p:ph idx="1" type="body"/>
          </p:nvPr>
        </p:nvSpPr>
        <p:spPr>
          <a:xfrm>
            <a:off x="933450" y="1169988"/>
            <a:ext cx="7067550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</a:pPr>
            <a:r>
              <a:rPr b="1" lang="en-US" sz="2400">
                <a:solidFill>
                  <a:srgbClr val="3366FF"/>
                </a:solidFill>
              </a:rPr>
              <a:t>Short-term scheduler </a:t>
            </a:r>
            <a:r>
              <a:rPr lang="en-US" sz="2400"/>
              <a:t>selects from among the processes in ready queue, and allocates the CPU to one of them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Queue may be ordered in various ways</a:t>
            </a:r>
            <a:endParaRPr/>
          </a:p>
        </p:txBody>
      </p:sp>
      <p:sp>
        <p:nvSpPr>
          <p:cNvPr id="280" name="Google Shape;280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81" name="Google Shape;281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82" name="Google Shape;282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3"/>
          <p:cNvSpPr txBox="1"/>
          <p:nvPr>
            <p:ph type="title"/>
          </p:nvPr>
        </p:nvSpPr>
        <p:spPr>
          <a:xfrm>
            <a:off x="838200" y="2016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CPU Scheduler</a:t>
            </a:r>
            <a:endParaRPr/>
          </a:p>
        </p:txBody>
      </p:sp>
      <p:sp>
        <p:nvSpPr>
          <p:cNvPr id="289" name="Google Shape;289;p13"/>
          <p:cNvSpPr txBox="1"/>
          <p:nvPr>
            <p:ph idx="1" type="body"/>
          </p:nvPr>
        </p:nvSpPr>
        <p:spPr>
          <a:xfrm>
            <a:off x="933450" y="1169988"/>
            <a:ext cx="7067550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CPU scheduling decisions may take place when a process: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Switches from running to waiting state</a:t>
            </a:r>
            <a:endParaRPr/>
          </a:p>
          <a:p>
            <a:pPr indent="0" lvl="2" marL="85713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Eg- I/O request, Invocation of wait for the termination of one of the child processes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Switches from running to ready state</a:t>
            </a:r>
            <a:endParaRPr/>
          </a:p>
          <a:p>
            <a:pPr indent="0" lvl="2" marL="85713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Eg- When an interrupt occurs or timer expires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Switches from waiting to ready</a:t>
            </a:r>
            <a:endParaRPr/>
          </a:p>
          <a:p>
            <a:pPr indent="0" lvl="1" marL="4570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	Eg-Completion of I/O</a:t>
            </a:r>
            <a:endParaRPr sz="2400"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 startAt="4"/>
            </a:pPr>
            <a:r>
              <a:rPr b="1" lang="en-US" sz="2400"/>
              <a:t>Terminates</a:t>
            </a:r>
            <a:endParaRPr/>
          </a:p>
        </p:txBody>
      </p:sp>
      <p:sp>
        <p:nvSpPr>
          <p:cNvPr id="290" name="Google Shape;290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91" name="Google Shape;291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92" name="Google Shape;292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"/>
          <p:cNvSpPr txBox="1"/>
          <p:nvPr>
            <p:ph type="title"/>
          </p:nvPr>
        </p:nvSpPr>
        <p:spPr>
          <a:xfrm>
            <a:off x="838200" y="2016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CPU Scheduler</a:t>
            </a:r>
            <a:endParaRPr/>
          </a:p>
        </p:txBody>
      </p:sp>
      <p:sp>
        <p:nvSpPr>
          <p:cNvPr id="299" name="Google Shape;299;p14"/>
          <p:cNvSpPr txBox="1"/>
          <p:nvPr>
            <p:ph idx="1" type="body"/>
          </p:nvPr>
        </p:nvSpPr>
        <p:spPr>
          <a:xfrm>
            <a:off x="933450" y="1169988"/>
            <a:ext cx="7067550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Scheduling under 1 and 4 is </a:t>
            </a:r>
            <a:r>
              <a:rPr b="1" lang="en-US" sz="2400">
                <a:solidFill>
                  <a:srgbClr val="3366FF"/>
                </a:solidFill>
              </a:rPr>
              <a:t>nonpreemptive</a:t>
            </a:r>
            <a:endParaRPr b="1" sz="2400">
              <a:solidFill>
                <a:srgbClr val="3366FF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All other scheduling is </a:t>
            </a:r>
            <a:r>
              <a:rPr b="1" lang="en-US" sz="2400">
                <a:solidFill>
                  <a:srgbClr val="3366FF"/>
                </a:solidFill>
              </a:rPr>
              <a:t>preemptive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Consider access to shared data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Consider preemption while in kernel mode</a:t>
            </a:r>
            <a:endParaRPr/>
          </a:p>
          <a:p>
            <a:pPr indent="-457200" lvl="1" marL="914285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Consider interrupts occurring during crucial OS activities</a:t>
            </a:r>
            <a:endParaRPr sz="2400"/>
          </a:p>
        </p:txBody>
      </p:sp>
      <p:sp>
        <p:nvSpPr>
          <p:cNvPr id="300" name="Google Shape;300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301" name="Google Shape;301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02" name="Google Shape;302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"/>
          <p:cNvSpPr txBox="1"/>
          <p:nvPr>
            <p:ph type="title"/>
          </p:nvPr>
        </p:nvSpPr>
        <p:spPr>
          <a:xfrm>
            <a:off x="838200" y="2016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Non-Preemptive Scheduling</a:t>
            </a:r>
            <a:endParaRPr/>
          </a:p>
        </p:txBody>
      </p:sp>
      <p:sp>
        <p:nvSpPr>
          <p:cNvPr id="309" name="Google Shape;309;p15"/>
          <p:cNvSpPr txBox="1"/>
          <p:nvPr>
            <p:ph idx="1" type="body"/>
          </p:nvPr>
        </p:nvSpPr>
        <p:spPr>
          <a:xfrm>
            <a:off x="933450" y="1169988"/>
            <a:ext cx="7067550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Under non-preemptive scheduling, 	</a:t>
            </a:r>
            <a:endParaRPr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once the CPU has been allocated to a process, </a:t>
            </a:r>
            <a:endParaRPr sz="22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the process keeps the CPU </a:t>
            </a:r>
            <a:endParaRPr sz="22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it releases the CPU either by terminating or by switching to the waiting state. </a:t>
            </a:r>
            <a:endParaRPr sz="22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This scheduling method was used by Microsoft Windows 3.x; </a:t>
            </a:r>
            <a:endParaRPr sz="2000"/>
          </a:p>
        </p:txBody>
      </p:sp>
      <p:sp>
        <p:nvSpPr>
          <p:cNvPr id="310" name="Google Shape;310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311" name="Google Shape;311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12" name="Google Shape;312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6"/>
          <p:cNvSpPr txBox="1"/>
          <p:nvPr>
            <p:ph type="title"/>
          </p:nvPr>
        </p:nvSpPr>
        <p:spPr>
          <a:xfrm>
            <a:off x="838200" y="2016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Preemptive Scheduling</a:t>
            </a:r>
            <a:endParaRPr/>
          </a:p>
        </p:txBody>
      </p:sp>
      <p:sp>
        <p:nvSpPr>
          <p:cNvPr id="319" name="Google Shape;319;p16"/>
          <p:cNvSpPr txBox="1"/>
          <p:nvPr>
            <p:ph idx="1" type="body"/>
          </p:nvPr>
        </p:nvSpPr>
        <p:spPr>
          <a:xfrm>
            <a:off x="933450" y="1169988"/>
            <a:ext cx="7067550" cy="4786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Windows 95 introduced preemptive scheduling, </a:t>
            </a:r>
            <a:endParaRPr sz="2200"/>
          </a:p>
          <a:p>
            <a:pPr indent="-285750" lvl="1" marL="74295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–"/>
            </a:pPr>
            <a:r>
              <a:rPr lang="en-US" sz="2200"/>
              <a:t>All subsequent versions of Windows operating systems have used preemptive scheduling.</a:t>
            </a:r>
            <a:endParaRPr sz="2200"/>
          </a:p>
        </p:txBody>
      </p:sp>
      <p:sp>
        <p:nvSpPr>
          <p:cNvPr id="320" name="Google Shape;32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321" name="Google Shape;32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22" name="Google Shape;32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7"/>
          <p:cNvSpPr txBox="1"/>
          <p:nvPr>
            <p:ph type="title"/>
          </p:nvPr>
        </p:nvSpPr>
        <p:spPr>
          <a:xfrm>
            <a:off x="457200" y="133350"/>
            <a:ext cx="8229600" cy="5762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Dispatcher</a:t>
            </a:r>
            <a:endParaRPr/>
          </a:p>
        </p:txBody>
      </p:sp>
      <p:sp>
        <p:nvSpPr>
          <p:cNvPr id="329" name="Google Shape;329;p17"/>
          <p:cNvSpPr txBox="1"/>
          <p:nvPr>
            <p:ph idx="1" type="body"/>
          </p:nvPr>
        </p:nvSpPr>
        <p:spPr>
          <a:xfrm>
            <a:off x="827584" y="823913"/>
            <a:ext cx="6724650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Dispatcher module gives control of the CPU to the process selected by the short-term scheduler; this involves: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switching context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switching to user mode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jumping to the proper location in the user program to restart that program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</a:pPr>
            <a:r>
              <a:rPr b="1" lang="en-US" sz="2400">
                <a:solidFill>
                  <a:srgbClr val="3366FF"/>
                </a:solidFill>
              </a:rPr>
              <a:t>Dispatch latency </a:t>
            </a:r>
            <a:r>
              <a:rPr lang="en-US" sz="2400"/>
              <a:t>– time it takes for the dispatcher to stop one process and start another running</a:t>
            </a:r>
            <a:endParaRPr/>
          </a:p>
        </p:txBody>
      </p:sp>
      <p:sp>
        <p:nvSpPr>
          <p:cNvPr id="330" name="Google Shape;3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331" name="Google Shape;3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32" name="Google Shape;3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33" name="Google Shape;33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0500" y="4325938"/>
            <a:ext cx="6635750" cy="1962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Non Pre-emptive Algorithms</a:t>
            </a:r>
            <a:endParaRPr/>
          </a:p>
        </p:txBody>
      </p:sp>
      <p:sp>
        <p:nvSpPr>
          <p:cNvPr id="339" name="Google Shape;339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340" name="Google Shape;340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41" name="Google Shape;341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9"/>
          <p:cNvSpPr txBox="1"/>
          <p:nvPr>
            <p:ph type="title"/>
          </p:nvPr>
        </p:nvSpPr>
        <p:spPr>
          <a:xfrm>
            <a:off x="457200" y="274638"/>
            <a:ext cx="8229600" cy="70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First- Come, First-Served (FCFS) Scheduling</a:t>
            </a:r>
            <a:endParaRPr/>
          </a:p>
        </p:txBody>
      </p:sp>
      <p:sp>
        <p:nvSpPr>
          <p:cNvPr id="348" name="Google Shape;348;p1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		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>
            <a:off x="827584" y="1700808"/>
            <a:ext cx="7560840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Simplest CPU scheduling Algorithm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that requests CPU first, is allocated CPU first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351" name="Google Shape;3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52" name="Google Shape;3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0"/>
          <p:cNvSpPr txBox="1"/>
          <p:nvPr>
            <p:ph type="title"/>
          </p:nvPr>
        </p:nvSpPr>
        <p:spPr>
          <a:xfrm>
            <a:off x="457200" y="274638"/>
            <a:ext cx="8229600" cy="70609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/>
              <a:t>First- Come, First-Served (FCFS) Scheduling</a:t>
            </a:r>
            <a:endParaRPr/>
          </a:p>
        </p:txBody>
      </p:sp>
      <p:sp>
        <p:nvSpPr>
          <p:cNvPr id="359" name="Google Shape;359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		</a:t>
            </a:r>
            <a:endParaRPr/>
          </a:p>
        </p:txBody>
      </p:sp>
      <p:sp>
        <p:nvSpPr>
          <p:cNvPr id="360" name="Google Shape;360;p20"/>
          <p:cNvSpPr txBox="1"/>
          <p:nvPr/>
        </p:nvSpPr>
        <p:spPr>
          <a:xfrm>
            <a:off x="827584" y="1700808"/>
            <a:ext cx="7560840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Implemented using FIFO Queue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enters the ready queue, its PCB is linked onto the tail of the queue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CPU is free, it is allocated to the process at the head of the queue.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Average Waiting time for FCFS is often quite long.</a:t>
            </a:r>
            <a:endParaRPr b="1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362" name="Google Shape;36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63" name="Google Shape;36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4" name="Google Shape;364;p20"/>
          <p:cNvSpPr/>
          <p:nvPr/>
        </p:nvSpPr>
        <p:spPr>
          <a:xfrm>
            <a:off x="539552" y="3789040"/>
            <a:ext cx="8136904" cy="792088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21"/>
          <p:cNvSpPr txBox="1"/>
          <p:nvPr>
            <p:ph type="title"/>
          </p:nvPr>
        </p:nvSpPr>
        <p:spPr>
          <a:xfrm>
            <a:off x="1150938" y="268288"/>
            <a:ext cx="7997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First- Come, First-Served (FCFS) Scheduling</a:t>
            </a:r>
            <a:endParaRPr/>
          </a:p>
        </p:txBody>
      </p:sp>
      <p:sp>
        <p:nvSpPr>
          <p:cNvPr id="371" name="Google Shape;371;p21"/>
          <p:cNvSpPr txBox="1"/>
          <p:nvPr>
            <p:ph idx="1" type="body"/>
          </p:nvPr>
        </p:nvSpPr>
        <p:spPr>
          <a:xfrm>
            <a:off x="833438" y="1250950"/>
            <a:ext cx="756602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	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 </a:t>
            </a:r>
            <a:r>
              <a:rPr lang="en-US"/>
              <a:t>3</a:t>
            </a:r>
            <a:r>
              <a:rPr baseline="-25000" i="1" lang="en-US"/>
              <a:t> </a:t>
            </a:r>
            <a:endParaRPr/>
          </a:p>
        </p:txBody>
      </p:sp>
      <p:sp>
        <p:nvSpPr>
          <p:cNvPr id="372" name="Google Shape;37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373" name="Google Shape;37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74" name="Google Shape;37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Gantt Chart</a:t>
            </a:r>
            <a:endParaRPr/>
          </a:p>
        </p:txBody>
      </p:sp>
      <p:sp>
        <p:nvSpPr>
          <p:cNvPr id="380" name="Google Shape;380;p2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Generalized Activity Normalization Time Table (GANTT)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Horizontal bar chart developed by Henry L. Gantt (American engineer and social scientist) in 1917 as production control tool.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Series of horizontal lines are present that show the amount of work done or production completed in given period of time in relation to amount planned for those projects. 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381" name="Google Shape;38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382" name="Google Shape;38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83" name="Google Shape;38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3"/>
          <p:cNvSpPr txBox="1"/>
          <p:nvPr>
            <p:ph type="title"/>
          </p:nvPr>
        </p:nvSpPr>
        <p:spPr>
          <a:xfrm>
            <a:off x="1150938" y="268288"/>
            <a:ext cx="7997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First- Come, First-Served (FCFS) Scheduling</a:t>
            </a:r>
            <a:endParaRPr/>
          </a:p>
        </p:txBody>
      </p:sp>
      <p:sp>
        <p:nvSpPr>
          <p:cNvPr id="390" name="Google Shape;390;p23"/>
          <p:cNvSpPr txBox="1"/>
          <p:nvPr>
            <p:ph idx="1" type="body"/>
          </p:nvPr>
        </p:nvSpPr>
        <p:spPr>
          <a:xfrm>
            <a:off x="833438" y="1250950"/>
            <a:ext cx="756602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	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 </a:t>
            </a:r>
            <a:r>
              <a:rPr lang="en-US"/>
              <a:t>3</a:t>
            </a:r>
            <a:r>
              <a:rPr baseline="-25000" i="1" lang="en-US"/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200000"/>
              <a:buChar char="•"/>
            </a:pPr>
            <a:r>
              <a:rPr lang="en-US"/>
              <a:t>Suppose that the processes arrive in the order: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3  </a:t>
            </a:r>
            <a:br>
              <a:rPr baseline="-25000" i="1" lang="en-US"/>
            </a:br>
            <a:r>
              <a:rPr lang="en-US"/>
              <a:t>The Gantt Chart for the schedule is:</a:t>
            </a:r>
            <a:br>
              <a:rPr lang="en-US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2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600"/>
          </a:p>
        </p:txBody>
      </p:sp>
      <p:pic>
        <p:nvPicPr>
          <p:cNvPr id="391" name="Google Shape;3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575" y="4653136"/>
            <a:ext cx="6954838" cy="801688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393" name="Google Shape;393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394" name="Google Shape;394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4"/>
          <p:cNvSpPr txBox="1"/>
          <p:nvPr>
            <p:ph type="title"/>
          </p:nvPr>
        </p:nvSpPr>
        <p:spPr>
          <a:xfrm>
            <a:off x="1150938" y="268288"/>
            <a:ext cx="7997825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First- Come, First-Served (FCFS) Scheduling</a:t>
            </a:r>
            <a:endParaRPr/>
          </a:p>
        </p:txBody>
      </p:sp>
      <p:sp>
        <p:nvSpPr>
          <p:cNvPr id="401" name="Google Shape;401;p24"/>
          <p:cNvSpPr txBox="1"/>
          <p:nvPr>
            <p:ph idx="1" type="body"/>
          </p:nvPr>
        </p:nvSpPr>
        <p:spPr>
          <a:xfrm>
            <a:off x="833438" y="1250950"/>
            <a:ext cx="7566025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sz="1600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	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 </a:t>
            </a:r>
            <a:r>
              <a:rPr lang="en-US"/>
              <a:t>3</a:t>
            </a:r>
            <a:r>
              <a:rPr baseline="-25000" i="1" lang="en-US"/>
              <a:t>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200000"/>
              <a:buChar char="•"/>
            </a:pPr>
            <a:r>
              <a:rPr lang="en-US"/>
              <a:t>Suppose that the processes arrive in the order: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3  </a:t>
            </a:r>
            <a:br>
              <a:rPr baseline="-25000" i="1" lang="en-US"/>
            </a:br>
            <a:r>
              <a:rPr lang="en-US"/>
              <a:t>The Gantt Chart for the schedule is:</a:t>
            </a:r>
            <a:br>
              <a:rPr lang="en-US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br>
              <a:rPr lang="en-US" sz="1600"/>
            </a:b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2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600"/>
          </a:p>
          <a:p>
            <a:pPr indent="-342900" lvl="0" marL="3429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Waiting time for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  = 0;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 = 24; </a:t>
            </a:r>
            <a:r>
              <a:rPr i="1" lang="en-US"/>
              <a:t>P</a:t>
            </a:r>
            <a:r>
              <a:rPr baseline="-25000" i="1" lang="en-US"/>
              <a:t>3 </a:t>
            </a:r>
            <a:r>
              <a:rPr lang="en-US"/>
              <a:t>= 27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Average waiting time:  (0 + 24 + 27)/3 = 51/3=17</a:t>
            </a:r>
            <a:endParaRPr/>
          </a:p>
        </p:txBody>
      </p:sp>
      <p:pic>
        <p:nvPicPr>
          <p:cNvPr id="402" name="Google Shape;40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1575" y="3479800"/>
            <a:ext cx="6954838" cy="801688"/>
          </a:xfrm>
          <a:prstGeom prst="rect">
            <a:avLst/>
          </a:prstGeom>
          <a:noFill/>
          <a:ln>
            <a:noFill/>
          </a:ln>
        </p:spPr>
      </p:pic>
      <p:sp>
        <p:nvSpPr>
          <p:cNvPr id="403" name="Google Shape;403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404" name="Google Shape;404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05" name="Google Shape;405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5"/>
          <p:cNvSpPr txBox="1"/>
          <p:nvPr>
            <p:ph type="title"/>
          </p:nvPr>
        </p:nvSpPr>
        <p:spPr>
          <a:xfrm>
            <a:off x="982663" y="2778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FCFS Scheduling (Cont.)</a:t>
            </a:r>
            <a:endParaRPr/>
          </a:p>
        </p:txBody>
      </p:sp>
      <p:sp>
        <p:nvSpPr>
          <p:cNvPr id="412" name="Google Shape;412;p25"/>
          <p:cNvSpPr txBox="1"/>
          <p:nvPr>
            <p:ph idx="1" type="body"/>
          </p:nvPr>
        </p:nvSpPr>
        <p:spPr>
          <a:xfrm>
            <a:off x="908050" y="1233488"/>
            <a:ext cx="7651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FCFS is Non-preemptive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Once the CPU is allocated to a process, that process keeps the CPU until it releases the CPU either by terminating or by requesting I/o.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Not good for Time sharing system </a:t>
            </a:r>
            <a:endParaRPr/>
          </a:p>
        </p:txBody>
      </p:sp>
      <p:sp>
        <p:nvSpPr>
          <p:cNvPr id="413" name="Google Shape;413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414" name="Google Shape;414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15" name="Google Shape;415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6" name="Google Shape;416;p25"/>
          <p:cNvSpPr/>
          <p:nvPr/>
        </p:nvSpPr>
        <p:spPr>
          <a:xfrm>
            <a:off x="611560" y="1124744"/>
            <a:ext cx="7056784" cy="64807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5"/>
          <p:cNvSpPr/>
          <p:nvPr/>
        </p:nvSpPr>
        <p:spPr>
          <a:xfrm>
            <a:off x="611560" y="3645024"/>
            <a:ext cx="7056784" cy="64807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7452320" y="1448780"/>
            <a:ext cx="792088" cy="2628292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"/>
          <p:cNvSpPr txBox="1"/>
          <p:nvPr>
            <p:ph type="title"/>
          </p:nvPr>
        </p:nvSpPr>
        <p:spPr>
          <a:xfrm>
            <a:off x="982663" y="2778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FCFS Scheduling (Cont.)</a:t>
            </a:r>
            <a:endParaRPr/>
          </a:p>
        </p:txBody>
      </p:sp>
      <p:sp>
        <p:nvSpPr>
          <p:cNvPr id="425" name="Google Shape;425;p26"/>
          <p:cNvSpPr txBox="1"/>
          <p:nvPr>
            <p:ph idx="1" type="body"/>
          </p:nvPr>
        </p:nvSpPr>
        <p:spPr>
          <a:xfrm>
            <a:off x="908050" y="1233488"/>
            <a:ext cx="7651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 u="sng"/>
              <a:t>Process</a:t>
            </a:r>
            <a:r>
              <a:rPr lang="en-US" sz="2800"/>
              <a:t>	</a:t>
            </a:r>
            <a:r>
              <a:rPr lang="en-US" sz="2800" u="sng"/>
              <a:t>Burst Time</a:t>
            </a:r>
            <a:endParaRPr sz="2800" u="sng"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 </a:t>
            </a:r>
            <a:r>
              <a:rPr i="1" lang="en-US" sz="2800"/>
              <a:t>P</a:t>
            </a:r>
            <a:r>
              <a:rPr baseline="-25000" i="1" lang="en-US" sz="2800"/>
              <a:t>1</a:t>
            </a:r>
            <a:r>
              <a:rPr lang="en-US" sz="2800"/>
              <a:t>	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 </a:t>
            </a:r>
            <a:r>
              <a:rPr i="1" lang="en-US" sz="2800"/>
              <a:t>P</a:t>
            </a:r>
            <a:r>
              <a:rPr baseline="-25000" i="1" lang="en-US" sz="2800"/>
              <a:t>2</a:t>
            </a:r>
            <a:r>
              <a:rPr lang="en-US" sz="2800"/>
              <a:t> 	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 </a:t>
            </a:r>
            <a:r>
              <a:rPr i="1" lang="en-US" sz="2800"/>
              <a:t>P</a:t>
            </a:r>
            <a:r>
              <a:rPr baseline="-25000" i="1" lang="en-US" sz="2800"/>
              <a:t>3	 </a:t>
            </a:r>
            <a:r>
              <a:rPr lang="en-US" sz="2800"/>
              <a:t>3</a:t>
            </a:r>
            <a:r>
              <a:rPr baseline="-25000" i="1" lang="en-US" sz="2800"/>
              <a:t>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Suppose that the processes arrive in the order: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	 </a:t>
            </a:r>
            <a:r>
              <a:rPr i="1" lang="en-US" sz="2800"/>
              <a:t>P</a:t>
            </a:r>
            <a:r>
              <a:rPr baseline="-25000" i="1" lang="en-US" sz="2800"/>
              <a:t>2</a:t>
            </a:r>
            <a:r>
              <a:rPr lang="en-US" sz="2800"/>
              <a:t> , </a:t>
            </a:r>
            <a:r>
              <a:rPr i="1" lang="en-US" sz="2800"/>
              <a:t>P</a:t>
            </a:r>
            <a:r>
              <a:rPr baseline="-25000" i="1" lang="en-US" sz="2800"/>
              <a:t>3</a:t>
            </a:r>
            <a:r>
              <a:rPr lang="en-US" sz="2800"/>
              <a:t> , </a:t>
            </a:r>
            <a:r>
              <a:rPr i="1" lang="en-US" sz="2800"/>
              <a:t>P</a:t>
            </a:r>
            <a:r>
              <a:rPr baseline="-25000" i="1" lang="en-US" sz="2800"/>
              <a:t>1</a:t>
            </a:r>
            <a:r>
              <a:rPr lang="en-US" sz="2800"/>
              <a:t> </a:t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26" name="Google Shape;426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427" name="Google Shape;427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28" name="Google Shape;428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7"/>
          <p:cNvSpPr txBox="1"/>
          <p:nvPr>
            <p:ph type="title"/>
          </p:nvPr>
        </p:nvSpPr>
        <p:spPr>
          <a:xfrm>
            <a:off x="982663" y="2778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FCFS Scheduling (Cont.)</a:t>
            </a:r>
            <a:endParaRPr/>
          </a:p>
        </p:txBody>
      </p:sp>
      <p:sp>
        <p:nvSpPr>
          <p:cNvPr id="435" name="Google Shape;435;p27"/>
          <p:cNvSpPr txBox="1"/>
          <p:nvPr>
            <p:ph idx="1" type="body"/>
          </p:nvPr>
        </p:nvSpPr>
        <p:spPr>
          <a:xfrm>
            <a:off x="908050" y="1233488"/>
            <a:ext cx="7651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 u="sng"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	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</a:t>
            </a:r>
            <a:r>
              <a:rPr i="1" lang="en-US"/>
              <a:t>P</a:t>
            </a:r>
            <a:r>
              <a:rPr baseline="-25000" i="1" lang="en-US"/>
              <a:t>3	 </a:t>
            </a:r>
            <a:r>
              <a:rPr lang="en-US"/>
              <a:t>3</a:t>
            </a:r>
            <a:r>
              <a:rPr baseline="-25000" i="1" lang="en-US"/>
              <a:t>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Suppose that the processes arrive in the order: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3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Gantt chart for the schedule is:</a:t>
            </a:r>
            <a:br>
              <a:rPr lang="en-US"/>
            </a:b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436" name="Google Shape;436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437" name="Google Shape;437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38" name="Google Shape;438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39" name="Google Shape;439;p27"/>
          <p:cNvPicPr preferRelativeResize="0"/>
          <p:nvPr/>
        </p:nvPicPr>
        <p:blipFill rotWithShape="1">
          <a:blip r:embed="rId3">
            <a:alphaModFix/>
          </a:blip>
          <a:srcRect b="44054" l="21187" r="32894" t="46983"/>
          <a:stretch/>
        </p:blipFill>
        <p:spPr>
          <a:xfrm>
            <a:off x="1187624" y="5339319"/>
            <a:ext cx="6840760" cy="792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8"/>
          <p:cNvSpPr txBox="1"/>
          <p:nvPr>
            <p:ph type="title"/>
          </p:nvPr>
        </p:nvSpPr>
        <p:spPr>
          <a:xfrm>
            <a:off x="982663" y="2778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FCFS Scheduling (Cont.)</a:t>
            </a:r>
            <a:endParaRPr/>
          </a:p>
        </p:txBody>
      </p:sp>
      <p:sp>
        <p:nvSpPr>
          <p:cNvPr id="446" name="Google Shape;446;p28"/>
          <p:cNvSpPr txBox="1"/>
          <p:nvPr>
            <p:ph idx="1" type="body"/>
          </p:nvPr>
        </p:nvSpPr>
        <p:spPr>
          <a:xfrm>
            <a:off x="908050" y="1233488"/>
            <a:ext cx="7651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 u="sng"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	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</a:t>
            </a:r>
            <a:r>
              <a:rPr i="1" lang="en-US"/>
              <a:t>P</a:t>
            </a:r>
            <a:r>
              <a:rPr baseline="-25000" i="1" lang="en-US"/>
              <a:t>3	 </a:t>
            </a:r>
            <a:r>
              <a:rPr lang="en-US"/>
              <a:t>3</a:t>
            </a:r>
            <a:r>
              <a:rPr baseline="-25000" i="1" lang="en-US"/>
              <a:t>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Suppose that the processes arrive in the order: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3</a:t>
            </a:r>
            <a:r>
              <a:rPr lang="en-US"/>
              <a:t> ,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Gantt chart for the schedule is:</a:t>
            </a:r>
            <a:br>
              <a:rPr lang="en-US"/>
            </a:b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Waiting time for </a:t>
            </a:r>
            <a:r>
              <a:rPr i="1" lang="en-US"/>
              <a:t>P</a:t>
            </a:r>
            <a:r>
              <a:rPr baseline="-25000" i="1" lang="en-US"/>
              <a:t>1 </a:t>
            </a:r>
            <a:r>
              <a:rPr i="1" lang="en-US"/>
              <a:t>=</a:t>
            </a:r>
            <a:r>
              <a:rPr lang="en-US"/>
              <a:t> 6</a:t>
            </a:r>
            <a:r>
              <a:rPr i="1" lang="en-US"/>
              <a:t>;</a:t>
            </a:r>
            <a:r>
              <a:rPr baseline="-25000" i="1" lang="en-US"/>
              <a:t> </a:t>
            </a:r>
            <a:r>
              <a:rPr i="1" lang="en-US"/>
              <a:t>P</a:t>
            </a:r>
            <a:r>
              <a:rPr baseline="-25000" i="1" lang="en-US"/>
              <a:t>2</a:t>
            </a:r>
            <a:r>
              <a:rPr lang="en-US"/>
              <a:t> = 0</a:t>
            </a:r>
            <a:r>
              <a:rPr baseline="-25000" i="1" lang="en-US"/>
              <a:t>; </a:t>
            </a:r>
            <a:r>
              <a:rPr i="1" lang="en-US"/>
              <a:t>P</a:t>
            </a:r>
            <a:r>
              <a:rPr baseline="-25000" i="1" lang="en-US"/>
              <a:t>3 </a:t>
            </a:r>
            <a:r>
              <a:rPr i="1" lang="en-US"/>
              <a:t>= </a:t>
            </a:r>
            <a:r>
              <a:rPr lang="en-US"/>
              <a:t>3</a:t>
            </a:r>
            <a:endParaRPr i="1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Average waiting time:   (6 + 0 + 3)/3 = 3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Much better than previous case</a:t>
            </a:r>
            <a:endParaRPr/>
          </a:p>
        </p:txBody>
      </p:sp>
      <p:sp>
        <p:nvSpPr>
          <p:cNvPr id="447" name="Google Shape;44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448" name="Google Shape;448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49" name="Google Shape;449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50" name="Google Shape;450;p28"/>
          <p:cNvPicPr preferRelativeResize="0"/>
          <p:nvPr/>
        </p:nvPicPr>
        <p:blipFill rotWithShape="1">
          <a:blip r:embed="rId3">
            <a:alphaModFix/>
          </a:blip>
          <a:srcRect b="44054" l="21187" r="32894" t="46983"/>
          <a:stretch/>
        </p:blipFill>
        <p:spPr>
          <a:xfrm>
            <a:off x="1043608" y="3501008"/>
            <a:ext cx="6840760" cy="7920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3366FF"/>
                </a:solidFill>
              </a:rPr>
              <a:t>Convoy effect</a:t>
            </a:r>
            <a:endParaRPr sz="3200"/>
          </a:p>
        </p:txBody>
      </p:sp>
      <p:sp>
        <p:nvSpPr>
          <p:cNvPr id="456" name="Google Shape;456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2400"/>
              <a:buChar char="•"/>
            </a:pPr>
            <a:r>
              <a:rPr b="1" lang="en-US" sz="2400">
                <a:solidFill>
                  <a:srgbClr val="3366FF"/>
                </a:solidFill>
              </a:rPr>
              <a:t>Convoy effect </a:t>
            </a:r>
            <a:r>
              <a:rPr lang="en-US" sz="2400"/>
              <a:t>- short process behind long process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Phenomenon associated with the First Come First Serve (FCFS) algorithm,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which the whole Operating System slows down due to few large processes.</a:t>
            </a:r>
            <a:endParaRPr/>
          </a:p>
        </p:txBody>
      </p:sp>
      <p:sp>
        <p:nvSpPr>
          <p:cNvPr id="457" name="Google Shape;457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458" name="Google Shape;458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59" name="Google Shape;459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60" name="Google Shape;46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026" y="4221088"/>
            <a:ext cx="660082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3366FF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rgbClr val="3366FF"/>
                </a:solidFill>
              </a:rPr>
              <a:t>Convoy effect</a:t>
            </a:r>
            <a:endParaRPr sz="3200"/>
          </a:p>
        </p:txBody>
      </p:sp>
      <p:sp>
        <p:nvSpPr>
          <p:cNvPr id="466" name="Google Shape;466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Convoy Effect is a phenomenon where </a:t>
            </a:r>
            <a:r>
              <a:rPr b="1" lang="en-US" sz="2400"/>
              <a:t>a large or resource-intensive process ties up system resources and causes a backlog of other processes waiting to use those same resources.</a:t>
            </a:r>
            <a:endParaRPr b="1" sz="2400"/>
          </a:p>
        </p:txBody>
      </p:sp>
      <p:sp>
        <p:nvSpPr>
          <p:cNvPr id="467" name="Google Shape;467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468" name="Google Shape;468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69" name="Google Shape;469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70" name="Google Shape;470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7026" y="4221088"/>
            <a:ext cx="6600825" cy="1809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Formulae-</a:t>
            </a:r>
            <a:endParaRPr sz="3200"/>
          </a:p>
        </p:txBody>
      </p:sp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Turn Around Time = Completion Time - Arrival Time   </a:t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Waiting Time = Turn Around Time - Burst Time or Sum of times spent waiting in Ready queue-Arrival Time</a:t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Average waiting time = Total_waiting_time / no_of_processes</a:t>
            </a:r>
            <a:endParaRPr b="1" sz="2400"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b="1" lang="en-US" sz="2400"/>
              <a:t>Average turnaround time = Total_turn_around_time / no_of_processes</a:t>
            </a:r>
            <a:endParaRPr b="1" sz="2400"/>
          </a:p>
          <a:p>
            <a:pPr indent="-3048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t/>
            </a:r>
            <a:endParaRPr b="1" sz="2400"/>
          </a:p>
        </p:txBody>
      </p:sp>
      <p:sp>
        <p:nvSpPr>
          <p:cNvPr id="477" name="Google Shape;477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478" name="Google Shape;478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79" name="Google Shape;479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2"/>
          <p:cNvSpPr txBox="1"/>
          <p:nvPr>
            <p:ph type="title"/>
          </p:nvPr>
        </p:nvSpPr>
        <p:spPr>
          <a:xfrm>
            <a:off x="467544" y="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Exercise</a:t>
            </a:r>
            <a:endParaRPr b="1" sz="3200"/>
          </a:p>
        </p:txBody>
      </p:sp>
      <p:sp>
        <p:nvSpPr>
          <p:cNvPr id="485" name="Google Shape;485;p32"/>
          <p:cNvSpPr txBox="1"/>
          <p:nvPr>
            <p:ph idx="1" type="body"/>
          </p:nvPr>
        </p:nvSpPr>
        <p:spPr>
          <a:xfrm>
            <a:off x="467544" y="476672"/>
            <a:ext cx="8229600" cy="48574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Consider 5 processes with process ID </a:t>
            </a:r>
            <a:r>
              <a:rPr b="1" lang="en-US" sz="2400"/>
              <a:t>P0, P1, P2, P3 and P4. </a:t>
            </a:r>
            <a:r>
              <a:rPr lang="en-US" sz="2400"/>
              <a:t>The processes and their respective Arrival and Burst time are given in the following table. Apply FCFS Scheduling algorithm and calculate the following: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US" sz="2400"/>
              <a:t>Turnaround time 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US" sz="2400"/>
              <a:t>Waiting time for all processes</a:t>
            </a:r>
            <a:endParaRPr/>
          </a:p>
          <a:p>
            <a:pPr indent="-457200" lvl="0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arenR"/>
            </a:pPr>
            <a:r>
              <a:rPr lang="en-US" sz="2400"/>
              <a:t>Average Waiting Time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486" name="Google Shape;486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487" name="Google Shape;487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88" name="Google Shape;488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89" name="Google Shape;48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16794" y="1628800"/>
            <a:ext cx="4025039" cy="38164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33"/>
          <p:cNvSpPr txBox="1"/>
          <p:nvPr>
            <p:ph type="title"/>
          </p:nvPr>
        </p:nvSpPr>
        <p:spPr>
          <a:xfrm>
            <a:off x="467544" y="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Exercise</a:t>
            </a:r>
            <a:endParaRPr b="1" sz="3200"/>
          </a:p>
        </p:txBody>
      </p:sp>
      <p:sp>
        <p:nvSpPr>
          <p:cNvPr id="495" name="Google Shape;495;p33"/>
          <p:cNvSpPr txBox="1"/>
          <p:nvPr>
            <p:ph idx="1" type="body"/>
          </p:nvPr>
        </p:nvSpPr>
        <p:spPr>
          <a:xfrm>
            <a:off x="467544" y="476672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400"/>
              <a:t>Gantt Chart-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400"/>
              <a:t>Waiting Time=Sum of time spent in Ready Queue-Arrival Time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 sz="2400"/>
              <a:t>Turnaround Time=Completion Time-Arrival Time</a:t>
            </a:r>
            <a:endParaRPr/>
          </a:p>
          <a:p>
            <a:pPr indent="0" lvl="0" marL="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400"/>
          </a:p>
        </p:txBody>
      </p:sp>
      <p:sp>
        <p:nvSpPr>
          <p:cNvPr id="496" name="Google Shape;496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497" name="Google Shape;497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498" name="Google Shape;498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99" name="Google Shape;49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4227265"/>
            <a:ext cx="6192688" cy="1048423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560" y="692696"/>
            <a:ext cx="7553325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p34"/>
          <p:cNvSpPr txBox="1"/>
          <p:nvPr>
            <p:ph type="title"/>
          </p:nvPr>
        </p:nvSpPr>
        <p:spPr>
          <a:xfrm>
            <a:off x="467544" y="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Exercise</a:t>
            </a:r>
            <a:endParaRPr b="1" sz="3200"/>
          </a:p>
        </p:txBody>
      </p:sp>
      <p:sp>
        <p:nvSpPr>
          <p:cNvPr id="506" name="Google Shape;506;p34"/>
          <p:cNvSpPr txBox="1"/>
          <p:nvPr>
            <p:ph idx="1" type="body"/>
          </p:nvPr>
        </p:nvSpPr>
        <p:spPr>
          <a:xfrm>
            <a:off x="467544" y="476672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Gantt Chart-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07" name="Google Shape;507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508" name="Google Shape;508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09" name="Google Shape;509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10" name="Google Shape;510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47664" y="4875337"/>
            <a:ext cx="6768753" cy="114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47846" y="620688"/>
            <a:ext cx="3720799" cy="3527953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4"/>
          <p:cNvSpPr txBox="1"/>
          <p:nvPr/>
        </p:nvSpPr>
        <p:spPr>
          <a:xfrm>
            <a:off x="5868144" y="980728"/>
            <a:ext cx="2808312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WT(P0)=0-0=0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WT(P1)=2-1=1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WT(P2)=8-2=6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WT(P3)=12-3=9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WT(P4)=21-6=15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4"/>
          <p:cNvSpPr txBox="1"/>
          <p:nvPr/>
        </p:nvSpPr>
        <p:spPr>
          <a:xfrm>
            <a:off x="619944" y="629072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sz="24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5"/>
          <p:cNvSpPr txBox="1"/>
          <p:nvPr>
            <p:ph type="title"/>
          </p:nvPr>
        </p:nvSpPr>
        <p:spPr>
          <a:xfrm>
            <a:off x="467544" y="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 sz="3200"/>
              <a:t>Exercise</a:t>
            </a:r>
            <a:endParaRPr b="1" sz="3200"/>
          </a:p>
        </p:txBody>
      </p:sp>
      <p:sp>
        <p:nvSpPr>
          <p:cNvPr id="519" name="Google Shape;519;p35"/>
          <p:cNvSpPr txBox="1"/>
          <p:nvPr>
            <p:ph idx="1" type="body"/>
          </p:nvPr>
        </p:nvSpPr>
        <p:spPr>
          <a:xfrm>
            <a:off x="467544" y="476672"/>
            <a:ext cx="8229600" cy="59766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Gantt Chart-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Avg Waiting Time=31/5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Avg Turnaround Time=66/5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20" name="Google Shape;52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521" name="Google Shape;52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22" name="Google Shape;52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23" name="Google Shape;52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5" y="4041487"/>
            <a:ext cx="6768753" cy="1145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24" name="Google Shape;52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568" y="548680"/>
            <a:ext cx="7553325" cy="314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6"/>
          <p:cNvSpPr txBox="1"/>
          <p:nvPr>
            <p:ph type="title"/>
          </p:nvPr>
        </p:nvSpPr>
        <p:spPr>
          <a:xfrm>
            <a:off x="1058863" y="1889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Shortest-Job-First (SJF) Scheduling</a:t>
            </a:r>
            <a:endParaRPr/>
          </a:p>
        </p:txBody>
      </p:sp>
      <p:sp>
        <p:nvSpPr>
          <p:cNvPr id="531" name="Google Shape;531;p36"/>
          <p:cNvSpPr txBox="1"/>
          <p:nvPr>
            <p:ph idx="1" type="body"/>
          </p:nvPr>
        </p:nvSpPr>
        <p:spPr>
          <a:xfrm>
            <a:off x="908050" y="1233488"/>
            <a:ext cx="7143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 algorithm in which the process having the smallest execution time is chosen for the next execution. 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Associate with each process the length of its next CPU burst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 </a:t>
            </a:r>
            <a:r>
              <a:rPr b="1" lang="en-US" sz="2400" u="sng"/>
              <a:t>Use these lengths to schedule the process with the shortest time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532" name="Google Shape;532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533" name="Google Shape;533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34" name="Google Shape;534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37"/>
          <p:cNvSpPr txBox="1"/>
          <p:nvPr>
            <p:ph type="title"/>
          </p:nvPr>
        </p:nvSpPr>
        <p:spPr>
          <a:xfrm>
            <a:off x="1058863" y="1889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Shortest-Job-First (SJF) Scheduling</a:t>
            </a:r>
            <a:endParaRPr/>
          </a:p>
        </p:txBody>
      </p:sp>
      <p:sp>
        <p:nvSpPr>
          <p:cNvPr id="541" name="Google Shape;541;p37"/>
          <p:cNvSpPr txBox="1"/>
          <p:nvPr>
            <p:ph idx="1" type="body"/>
          </p:nvPr>
        </p:nvSpPr>
        <p:spPr>
          <a:xfrm>
            <a:off x="908050" y="1233488"/>
            <a:ext cx="7143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SJF is optimal –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gives minimum average waiting time for a given set of processes</a:t>
            </a:r>
            <a:endParaRPr/>
          </a:p>
          <a:p>
            <a:pPr indent="0" lvl="1" marL="4572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542" name="Google Shape;542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543" name="Google Shape;543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44" name="Google Shape;544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45" name="Google Shape;545;p37"/>
          <p:cNvSpPr/>
          <p:nvPr/>
        </p:nvSpPr>
        <p:spPr>
          <a:xfrm>
            <a:off x="971600" y="1916832"/>
            <a:ext cx="7128792" cy="864096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8"/>
          <p:cNvSpPr txBox="1"/>
          <p:nvPr>
            <p:ph type="title"/>
          </p:nvPr>
        </p:nvSpPr>
        <p:spPr>
          <a:xfrm>
            <a:off x="1058863" y="1889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Shortest-Job-First (SJF) Scheduling</a:t>
            </a:r>
            <a:endParaRPr/>
          </a:p>
        </p:txBody>
      </p:sp>
      <p:sp>
        <p:nvSpPr>
          <p:cNvPr id="552" name="Google Shape;552;p38"/>
          <p:cNvSpPr txBox="1"/>
          <p:nvPr>
            <p:ph idx="1" type="body"/>
          </p:nvPr>
        </p:nvSpPr>
        <p:spPr>
          <a:xfrm>
            <a:off x="908050" y="1233488"/>
            <a:ext cx="7143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Two schemes: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Non-preemptive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preemptive –  Also known  as the </a:t>
            </a:r>
            <a:br>
              <a:rPr lang="en-US" sz="2400"/>
            </a:br>
            <a:r>
              <a:rPr lang="en-US" sz="2400"/>
              <a:t>Shortest-Remaining-Time-First (SRTF).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53" name="Google Shape;553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554" name="Google Shape;554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55" name="Google Shape;555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9"/>
          <p:cNvSpPr txBox="1"/>
          <p:nvPr>
            <p:ph type="title"/>
          </p:nvPr>
        </p:nvSpPr>
        <p:spPr>
          <a:xfrm>
            <a:off x="1058863" y="188913"/>
            <a:ext cx="770413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Shortest-Job-First (SJF) Scheduling</a:t>
            </a:r>
            <a:endParaRPr/>
          </a:p>
        </p:txBody>
      </p:sp>
      <p:sp>
        <p:nvSpPr>
          <p:cNvPr id="562" name="Google Shape;562;p39"/>
          <p:cNvSpPr txBox="1"/>
          <p:nvPr>
            <p:ph idx="1" type="body"/>
          </p:nvPr>
        </p:nvSpPr>
        <p:spPr>
          <a:xfrm>
            <a:off x="908050" y="1233488"/>
            <a:ext cx="71437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b="1" lang="en-US" sz="2400">
                <a:solidFill>
                  <a:schemeClr val="accent1"/>
                </a:solidFill>
              </a:rPr>
              <a:t>Non-preemptive SJF is </a:t>
            </a:r>
            <a:r>
              <a:rPr b="1" i="1" lang="en-US" sz="2400">
                <a:solidFill>
                  <a:schemeClr val="accent1"/>
                </a:solidFill>
              </a:rPr>
              <a:t>optimal </a:t>
            </a:r>
            <a:endParaRPr b="1" i="1" sz="2400">
              <a:solidFill>
                <a:schemeClr val="accent1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–"/>
            </a:pPr>
            <a:r>
              <a:rPr b="1" lang="en-US" sz="2400">
                <a:solidFill>
                  <a:schemeClr val="accent1"/>
                </a:solidFill>
              </a:rPr>
              <a:t>if all the processes are ready simultaneously– gives minimum average waiting time for a given set of processes.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chemeClr val="accent1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b="1" lang="en-US" sz="2400">
                <a:solidFill>
                  <a:schemeClr val="accent1"/>
                </a:solidFill>
              </a:rPr>
              <a:t>SRTF is </a:t>
            </a:r>
            <a:r>
              <a:rPr b="1" i="1" lang="en-US" sz="2400">
                <a:solidFill>
                  <a:schemeClr val="accent1"/>
                </a:solidFill>
              </a:rPr>
              <a:t>optimal</a:t>
            </a:r>
            <a:r>
              <a:rPr b="1" lang="en-US" sz="2400">
                <a:solidFill>
                  <a:schemeClr val="accent1"/>
                </a:solidFill>
              </a:rPr>
              <a:t> </a:t>
            </a:r>
            <a:endParaRPr b="1" sz="2400">
              <a:solidFill>
                <a:schemeClr val="accent1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–"/>
            </a:pPr>
            <a:r>
              <a:rPr b="1" lang="en-US" sz="2400">
                <a:solidFill>
                  <a:schemeClr val="accent1"/>
                </a:solidFill>
              </a:rPr>
              <a:t>if the processes may arrive at different times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563" name="Google Shape;563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564" name="Google Shape;564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65" name="Google Shape;565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p40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Non-preemptive SJF</a:t>
            </a:r>
            <a:endParaRPr/>
          </a:p>
        </p:txBody>
      </p:sp>
      <p:sp>
        <p:nvSpPr>
          <p:cNvPr id="572" name="Google Shape;572;p4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      	    </a:t>
            </a:r>
            <a:r>
              <a:rPr lang="en-US" u="sng"/>
              <a:t>Process</a:t>
            </a:r>
            <a:r>
              <a:rPr lang="en-US" u="sng">
                <a:solidFill>
                  <a:schemeClr val="lt1"/>
                </a:solidFill>
              </a:rPr>
              <a:t>Arriva	l Time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           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</a:t>
            </a:r>
            <a:r>
              <a:rPr lang="en-US">
                <a:solidFill>
                  <a:schemeClr val="lt1"/>
                </a:solidFill>
              </a:rPr>
              <a:t>0.0</a:t>
            </a:r>
            <a:r>
              <a:rPr lang="en-US"/>
              <a:t>	6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           </a:t>
            </a:r>
            <a:r>
              <a:rPr i="1" lang="en-US"/>
              <a:t>P</a:t>
            </a:r>
            <a:r>
              <a:rPr baseline="-25000" i="1" lang="en-US"/>
              <a:t>2 	</a:t>
            </a:r>
            <a:r>
              <a:rPr lang="en-US">
                <a:solidFill>
                  <a:schemeClr val="lt1"/>
                </a:solidFill>
              </a:rPr>
              <a:t>2.0</a:t>
            </a:r>
            <a:r>
              <a:rPr lang="en-US"/>
              <a:t>	8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           </a:t>
            </a:r>
            <a:r>
              <a:rPr i="1" lang="en-US"/>
              <a:t>P</a:t>
            </a:r>
            <a:r>
              <a:rPr baseline="-25000" i="1" lang="en-US"/>
              <a:t>3</a:t>
            </a:r>
            <a:r>
              <a:rPr lang="en-US"/>
              <a:t>	</a:t>
            </a:r>
            <a:r>
              <a:rPr lang="en-US">
                <a:solidFill>
                  <a:schemeClr val="lt1"/>
                </a:solidFill>
              </a:rPr>
              <a:t>4.0</a:t>
            </a:r>
            <a:r>
              <a:rPr lang="en-US"/>
              <a:t>	7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           </a:t>
            </a:r>
            <a:r>
              <a:rPr i="1" lang="en-US"/>
              <a:t>P</a:t>
            </a:r>
            <a:r>
              <a:rPr baseline="-25000" i="1" lang="en-US"/>
              <a:t>4</a:t>
            </a:r>
            <a:r>
              <a:rPr lang="en-US"/>
              <a:t>	</a:t>
            </a:r>
            <a:r>
              <a:rPr lang="en-US">
                <a:solidFill>
                  <a:schemeClr val="lt1"/>
                </a:solidFill>
              </a:rPr>
              <a:t>5.0</a:t>
            </a:r>
            <a:r>
              <a:rPr lang="en-US"/>
              <a:t>	3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573" name="Google Shape;573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574" name="Google Shape;574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75" name="Google Shape;575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0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41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Non-preemptive SJF</a:t>
            </a:r>
            <a:endParaRPr/>
          </a:p>
        </p:txBody>
      </p:sp>
      <p:sp>
        <p:nvSpPr>
          <p:cNvPr id="582" name="Google Shape;582;p4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      	                </a:t>
            </a:r>
            <a:r>
              <a:rPr lang="en-US" u="sng"/>
              <a:t>Process</a:t>
            </a:r>
            <a:r>
              <a:rPr lang="en-US" u="sng">
                <a:solidFill>
                  <a:schemeClr val="lt1"/>
                </a:solidFill>
              </a:rPr>
              <a:t>Arriva	l Time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           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</a:t>
            </a:r>
            <a:r>
              <a:rPr lang="en-US">
                <a:solidFill>
                  <a:schemeClr val="lt1"/>
                </a:solidFill>
              </a:rPr>
              <a:t>0.0</a:t>
            </a:r>
            <a:r>
              <a:rPr lang="en-US"/>
              <a:t>	6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           </a:t>
            </a:r>
            <a:r>
              <a:rPr i="1" lang="en-US"/>
              <a:t>P</a:t>
            </a:r>
            <a:r>
              <a:rPr baseline="-25000" i="1" lang="en-US"/>
              <a:t>2 	</a:t>
            </a:r>
            <a:r>
              <a:rPr lang="en-US">
                <a:solidFill>
                  <a:schemeClr val="lt1"/>
                </a:solidFill>
              </a:rPr>
              <a:t>2.0</a:t>
            </a:r>
            <a:r>
              <a:rPr lang="en-US"/>
              <a:t>	8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           </a:t>
            </a:r>
            <a:r>
              <a:rPr i="1" lang="en-US"/>
              <a:t>P</a:t>
            </a:r>
            <a:r>
              <a:rPr baseline="-25000" i="1" lang="en-US"/>
              <a:t>3</a:t>
            </a:r>
            <a:r>
              <a:rPr lang="en-US"/>
              <a:t>	</a:t>
            </a:r>
            <a:r>
              <a:rPr lang="en-US">
                <a:solidFill>
                  <a:schemeClr val="lt1"/>
                </a:solidFill>
              </a:rPr>
              <a:t>4.0</a:t>
            </a:r>
            <a:r>
              <a:rPr lang="en-US"/>
              <a:t>	7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           </a:t>
            </a:r>
            <a:r>
              <a:rPr i="1" lang="en-US"/>
              <a:t>P</a:t>
            </a:r>
            <a:r>
              <a:rPr baseline="-25000" i="1" lang="en-US"/>
              <a:t>4</a:t>
            </a:r>
            <a:r>
              <a:rPr lang="en-US"/>
              <a:t>	</a:t>
            </a:r>
            <a:r>
              <a:rPr lang="en-US">
                <a:solidFill>
                  <a:schemeClr val="lt1"/>
                </a:solidFill>
              </a:rPr>
              <a:t>5.0</a:t>
            </a:r>
            <a:r>
              <a:rPr lang="en-US"/>
              <a:t>	3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SJF scheduling chart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Average waiting time = (3 + 16 + 9 + 0) / 4 = 28/4=7</a:t>
            </a:r>
            <a:endParaRPr baseline="-25000" i="1"/>
          </a:p>
        </p:txBody>
      </p:sp>
      <p:pic>
        <p:nvPicPr>
          <p:cNvPr id="583" name="Google Shape;58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7463" y="4076700"/>
            <a:ext cx="6796087" cy="895350"/>
          </a:xfrm>
          <a:prstGeom prst="rect">
            <a:avLst/>
          </a:prstGeom>
          <a:noFill/>
          <a:ln>
            <a:noFill/>
          </a:ln>
        </p:spPr>
      </p:pic>
      <p:sp>
        <p:nvSpPr>
          <p:cNvPr id="584" name="Google Shape;584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585" name="Google Shape;585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586" name="Google Shape;586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2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Prof. Shweta Dhawan Chachra</a:t>
            </a:r>
            <a:endParaRPr b="0" sz="12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593" name="Google Shape;593;p42"/>
          <p:cNvSpPr txBox="1"/>
          <p:nvPr>
            <p:ph idx="1" type="body"/>
          </p:nvPr>
        </p:nvSpPr>
        <p:spPr>
          <a:xfrm>
            <a:off x="1023938" y="1295400"/>
            <a:ext cx="7029450" cy="5085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/>
              <a:t>	        </a:t>
            </a:r>
            <a:r>
              <a:rPr lang="en-US" sz="2000"/>
              <a:t>	</a:t>
            </a:r>
            <a:r>
              <a:rPr lang="en-US" sz="2000" u="sng"/>
              <a:t>Process </a:t>
            </a:r>
            <a:r>
              <a:rPr lang="en-US" sz="2000"/>
              <a:t>      </a:t>
            </a:r>
            <a:r>
              <a:rPr lang="en-US" sz="2000" u="sng"/>
              <a:t>Arrival Time</a:t>
            </a:r>
            <a:r>
              <a:rPr lang="en-US" sz="2000"/>
              <a:t>	</a:t>
            </a:r>
            <a:r>
              <a:rPr lang="en-US" sz="2000" u="sng"/>
              <a:t>Burst Time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</a:t>
            </a:r>
            <a:r>
              <a:rPr i="1" lang="en-US" sz="2000"/>
              <a:t>P</a:t>
            </a:r>
            <a:r>
              <a:rPr baseline="-25000" i="1" lang="en-US" sz="2000"/>
              <a:t>1</a:t>
            </a:r>
            <a:r>
              <a:rPr lang="en-US" sz="2000"/>
              <a:t>	0.0	7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2	</a:t>
            </a:r>
            <a:r>
              <a:rPr lang="en-US" sz="2000"/>
              <a:t>2.0	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3</a:t>
            </a:r>
            <a:r>
              <a:rPr lang="en-US" sz="2000"/>
              <a:t>	4.0	1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4</a:t>
            </a:r>
            <a:r>
              <a:rPr lang="en-US" sz="2000"/>
              <a:t>	5.0	4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aseline="-25000" i="1"/>
          </a:p>
        </p:txBody>
      </p:sp>
      <p:sp>
        <p:nvSpPr>
          <p:cNvPr id="594" name="Google Shape;594;p4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for Non-Preemptive SJF with different arrival times</a:t>
            </a:r>
            <a:endParaRPr/>
          </a:p>
        </p:txBody>
      </p:sp>
      <p:sp>
        <p:nvSpPr>
          <p:cNvPr id="595" name="Google Shape;595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596" name="Google Shape;596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3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Prof. Shweta Dhawan Chachra</a:t>
            </a:r>
            <a:endParaRPr b="0" sz="12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3" name="Google Shape;603;p43"/>
          <p:cNvSpPr/>
          <p:nvPr/>
        </p:nvSpPr>
        <p:spPr>
          <a:xfrm>
            <a:off x="1524000" y="3962400"/>
            <a:ext cx="2286000" cy="609600"/>
          </a:xfrm>
          <a:prstGeom prst="rect">
            <a:avLst/>
          </a:prstGeom>
          <a:solidFill>
            <a:srgbClr val="CCEC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04" name="Google Shape;604;p43"/>
          <p:cNvSpPr txBox="1"/>
          <p:nvPr>
            <p:ph idx="1" type="body"/>
          </p:nvPr>
        </p:nvSpPr>
        <p:spPr>
          <a:xfrm>
            <a:off x="1023938" y="1295400"/>
            <a:ext cx="7029450" cy="5085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/>
              <a:t>	        </a:t>
            </a:r>
            <a:r>
              <a:rPr lang="en-US" sz="2000"/>
              <a:t>	</a:t>
            </a:r>
            <a:r>
              <a:rPr lang="en-US" sz="2000" u="sng"/>
              <a:t>Process </a:t>
            </a:r>
            <a:r>
              <a:rPr lang="en-US" sz="2000"/>
              <a:t>      </a:t>
            </a:r>
            <a:r>
              <a:rPr lang="en-US" sz="2000" u="sng"/>
              <a:t>Arrival Time</a:t>
            </a:r>
            <a:r>
              <a:rPr lang="en-US" sz="2000"/>
              <a:t>	</a:t>
            </a:r>
            <a:r>
              <a:rPr lang="en-US" sz="2000" u="sng"/>
              <a:t>Burst Time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</a:t>
            </a:r>
            <a:r>
              <a:rPr i="1" lang="en-US" sz="2000"/>
              <a:t>P</a:t>
            </a:r>
            <a:r>
              <a:rPr baseline="-25000" i="1" lang="en-US" sz="2000"/>
              <a:t>1</a:t>
            </a:r>
            <a:r>
              <a:rPr lang="en-US" sz="2000"/>
              <a:t>	0.0	7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2	</a:t>
            </a:r>
            <a:r>
              <a:rPr lang="en-US" sz="2000"/>
              <a:t>2.0	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3</a:t>
            </a:r>
            <a:r>
              <a:rPr lang="en-US" sz="2000"/>
              <a:t>	4.0	1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4</a:t>
            </a:r>
            <a:r>
              <a:rPr lang="en-US" sz="2000"/>
              <a:t>	5.0	4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SJF (non-preemptive)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At time 0, </a:t>
            </a:r>
            <a:r>
              <a:rPr i="1" lang="en-US" sz="2400"/>
              <a:t>P</a:t>
            </a:r>
            <a:r>
              <a:rPr baseline="-25000" i="1" lang="en-US" sz="2400"/>
              <a:t>1</a:t>
            </a:r>
            <a:r>
              <a:rPr lang="en-US" sz="2400"/>
              <a:t> is the only process, so it gets the CPU and runs to completion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aseline="-25000" i="1"/>
          </a:p>
        </p:txBody>
      </p:sp>
      <p:sp>
        <p:nvSpPr>
          <p:cNvPr id="605" name="Google Shape;605;p4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for Non-Preemptive SJF with different arrival times</a:t>
            </a:r>
            <a:endParaRPr/>
          </a:p>
        </p:txBody>
      </p:sp>
      <p:sp>
        <p:nvSpPr>
          <p:cNvPr id="606" name="Google Shape;606;p43"/>
          <p:cNvSpPr txBox="1"/>
          <p:nvPr/>
        </p:nvSpPr>
        <p:spPr>
          <a:xfrm flipH="1">
            <a:off x="2203450" y="4024313"/>
            <a:ext cx="4460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1"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07" name="Google Shape;607;p43"/>
          <p:cNvCxnSpPr/>
          <p:nvPr/>
        </p:nvCxnSpPr>
        <p:spPr>
          <a:xfrm>
            <a:off x="1524000" y="45720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8" name="Google Shape;608;p43"/>
          <p:cNvCxnSpPr/>
          <p:nvPr/>
        </p:nvCxnSpPr>
        <p:spPr>
          <a:xfrm>
            <a:off x="3810000" y="3962400"/>
            <a:ext cx="0" cy="60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9" name="Google Shape;609;p43"/>
          <p:cNvCxnSpPr/>
          <p:nvPr/>
        </p:nvCxnSpPr>
        <p:spPr>
          <a:xfrm>
            <a:off x="3810000" y="4495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0" name="Google Shape;610;p43"/>
          <p:cNvCxnSpPr/>
          <p:nvPr/>
        </p:nvCxnSpPr>
        <p:spPr>
          <a:xfrm>
            <a:off x="2133600" y="4459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1" name="Google Shape;611;p43"/>
          <p:cNvSpPr txBox="1"/>
          <p:nvPr/>
        </p:nvSpPr>
        <p:spPr>
          <a:xfrm flipH="1">
            <a:off x="3651250" y="4710113"/>
            <a:ext cx="325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612" name="Google Shape;612;p43"/>
          <p:cNvSpPr txBox="1"/>
          <p:nvPr/>
        </p:nvSpPr>
        <p:spPr>
          <a:xfrm flipH="1">
            <a:off x="2362200" y="4710113"/>
            <a:ext cx="325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13" name="Google Shape;613;p43"/>
          <p:cNvSpPr txBox="1"/>
          <p:nvPr/>
        </p:nvSpPr>
        <p:spPr>
          <a:xfrm flipH="1">
            <a:off x="1365250" y="4710113"/>
            <a:ext cx="325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cxnSp>
        <p:nvCxnSpPr>
          <p:cNvPr id="614" name="Google Shape;614;p43"/>
          <p:cNvCxnSpPr/>
          <p:nvPr/>
        </p:nvCxnSpPr>
        <p:spPr>
          <a:xfrm>
            <a:off x="1828800" y="4459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5" name="Google Shape;615;p43"/>
          <p:cNvCxnSpPr/>
          <p:nvPr/>
        </p:nvCxnSpPr>
        <p:spPr>
          <a:xfrm>
            <a:off x="2514600" y="4459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6" name="Google Shape;616;p43"/>
          <p:cNvCxnSpPr/>
          <p:nvPr/>
        </p:nvCxnSpPr>
        <p:spPr>
          <a:xfrm>
            <a:off x="2895600" y="4459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7" name="Google Shape;617;p43"/>
          <p:cNvCxnSpPr/>
          <p:nvPr/>
        </p:nvCxnSpPr>
        <p:spPr>
          <a:xfrm>
            <a:off x="3200400" y="4459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18" name="Google Shape;618;p43"/>
          <p:cNvCxnSpPr/>
          <p:nvPr/>
        </p:nvCxnSpPr>
        <p:spPr>
          <a:xfrm>
            <a:off x="3505200" y="4459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9" name="Google Shape;619;p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620" name="Google Shape;620;p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44"/>
          <p:cNvSpPr txBox="1"/>
          <p:nvPr>
            <p:ph idx="11" type="ftr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Prof. Shweta Dhawan Chachra</a:t>
            </a:r>
            <a:endParaRPr b="0" sz="12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7" name="Google Shape;627;p44"/>
          <p:cNvSpPr/>
          <p:nvPr/>
        </p:nvSpPr>
        <p:spPr>
          <a:xfrm>
            <a:off x="1524000" y="3581400"/>
            <a:ext cx="2286000" cy="609600"/>
          </a:xfrm>
          <a:prstGeom prst="rect">
            <a:avLst/>
          </a:prstGeom>
          <a:solidFill>
            <a:srgbClr val="CCEC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28" name="Google Shape;628;p44"/>
          <p:cNvSpPr txBox="1"/>
          <p:nvPr>
            <p:ph idx="1" type="body"/>
          </p:nvPr>
        </p:nvSpPr>
        <p:spPr>
          <a:xfrm>
            <a:off x="1023938" y="914400"/>
            <a:ext cx="7029450" cy="5322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/>
              <a:t>	        </a:t>
            </a:r>
            <a:r>
              <a:rPr lang="en-US" sz="2000"/>
              <a:t>	</a:t>
            </a:r>
            <a:r>
              <a:rPr lang="en-US" sz="2000" u="sng"/>
              <a:t>Process </a:t>
            </a:r>
            <a:r>
              <a:rPr lang="en-US" sz="2000"/>
              <a:t>      </a:t>
            </a:r>
            <a:r>
              <a:rPr lang="en-US" sz="2000" u="sng"/>
              <a:t>Arrival Time</a:t>
            </a:r>
            <a:r>
              <a:rPr lang="en-US" sz="2000"/>
              <a:t>	</a:t>
            </a:r>
            <a:r>
              <a:rPr lang="en-US" sz="2000" u="sng"/>
              <a:t>Burst Time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</a:t>
            </a:r>
            <a:r>
              <a:rPr i="1" lang="en-US" sz="2000"/>
              <a:t>P</a:t>
            </a:r>
            <a:r>
              <a:rPr baseline="-25000" i="1" lang="en-US" sz="2000"/>
              <a:t>1</a:t>
            </a:r>
            <a:r>
              <a:rPr lang="en-US" sz="2000"/>
              <a:t>	0.0	7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2	</a:t>
            </a:r>
            <a:r>
              <a:rPr lang="en-US" sz="2000"/>
              <a:t>2.0	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3</a:t>
            </a:r>
            <a:r>
              <a:rPr lang="en-US" sz="2000"/>
              <a:t>	4.0	1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4</a:t>
            </a:r>
            <a:r>
              <a:rPr lang="en-US" sz="2000"/>
              <a:t>	5.0	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Once </a:t>
            </a:r>
            <a:r>
              <a:rPr i="1" lang="en-US" sz="2000"/>
              <a:t>P</a:t>
            </a:r>
            <a:r>
              <a:rPr baseline="-25000" i="1" lang="en-US" sz="2000"/>
              <a:t>1</a:t>
            </a:r>
            <a:r>
              <a:rPr lang="en-US" sz="2000"/>
              <a:t> has completed the queue now holds </a:t>
            </a:r>
            <a:r>
              <a:rPr i="1" lang="en-US" sz="2000"/>
              <a:t>P</a:t>
            </a:r>
            <a:r>
              <a:rPr baseline="-25000" i="1" lang="en-US" sz="2000"/>
              <a:t>2</a:t>
            </a:r>
            <a:r>
              <a:rPr lang="en-US" sz="2000"/>
              <a:t>, </a:t>
            </a:r>
            <a:r>
              <a:rPr i="1" lang="en-US" sz="2000"/>
              <a:t>P</a:t>
            </a:r>
            <a:r>
              <a:rPr baseline="-25000" i="1" lang="en-US" sz="2000"/>
              <a:t>3</a:t>
            </a:r>
            <a:r>
              <a:rPr lang="en-US" sz="2000"/>
              <a:t> and </a:t>
            </a:r>
            <a:r>
              <a:rPr i="1" lang="en-US" sz="2000"/>
              <a:t>P</a:t>
            </a:r>
            <a:r>
              <a:rPr baseline="-25000" i="1" lang="en-US" sz="2000"/>
              <a:t>4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i="1" lang="en-US" sz="2000"/>
              <a:t>P</a:t>
            </a:r>
            <a:r>
              <a:rPr baseline="-25000" i="1" lang="en-US" sz="2000"/>
              <a:t>3</a:t>
            </a:r>
            <a:r>
              <a:rPr lang="en-US" sz="2000"/>
              <a:t> gets the CPU first since it is the shortest. </a:t>
            </a:r>
            <a:r>
              <a:rPr i="1" lang="en-US" sz="2000"/>
              <a:t>P</a:t>
            </a:r>
            <a:r>
              <a:rPr baseline="-25000" i="1" lang="en-US" sz="2000"/>
              <a:t>2</a:t>
            </a:r>
            <a:r>
              <a:rPr lang="en-US" sz="2000"/>
              <a:t> then </a:t>
            </a:r>
            <a:r>
              <a:rPr i="1" lang="en-US" sz="2000"/>
              <a:t>P</a:t>
            </a:r>
            <a:r>
              <a:rPr baseline="-25000" i="1" lang="en-US" sz="2000"/>
              <a:t>4</a:t>
            </a:r>
            <a:r>
              <a:rPr lang="en-US" sz="2000"/>
              <a:t> get the CPU in turn (based on arrival time)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aseline="-25000" i="1"/>
          </a:p>
        </p:txBody>
      </p:sp>
      <p:sp>
        <p:nvSpPr>
          <p:cNvPr id="629" name="Google Shape;629;p44"/>
          <p:cNvSpPr txBox="1"/>
          <p:nvPr>
            <p:ph type="title"/>
          </p:nvPr>
        </p:nvSpPr>
        <p:spPr>
          <a:xfrm>
            <a:off x="838200" y="76200"/>
            <a:ext cx="77724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for Non-Preemptive SJF</a:t>
            </a:r>
            <a:endParaRPr/>
          </a:p>
        </p:txBody>
      </p:sp>
      <p:sp>
        <p:nvSpPr>
          <p:cNvPr id="630" name="Google Shape;630;p44"/>
          <p:cNvSpPr txBox="1"/>
          <p:nvPr/>
        </p:nvSpPr>
        <p:spPr>
          <a:xfrm flipH="1">
            <a:off x="2203450" y="3643313"/>
            <a:ext cx="44608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</a:t>
            </a:r>
            <a:endParaRPr b="1"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31" name="Google Shape;631;p44"/>
          <p:cNvCxnSpPr/>
          <p:nvPr/>
        </p:nvCxnSpPr>
        <p:spPr>
          <a:xfrm>
            <a:off x="1524000" y="41910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2" name="Google Shape;632;p44"/>
          <p:cNvCxnSpPr/>
          <p:nvPr/>
        </p:nvCxnSpPr>
        <p:spPr>
          <a:xfrm>
            <a:off x="3810000" y="3581400"/>
            <a:ext cx="0" cy="609600"/>
          </a:xfrm>
          <a:prstGeom prst="straightConnector1">
            <a:avLst/>
          </a:prstGeom>
          <a:noFill/>
          <a:ln cap="flat" cmpd="sng" w="2857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3" name="Google Shape;633;p44"/>
          <p:cNvCxnSpPr/>
          <p:nvPr/>
        </p:nvCxnSpPr>
        <p:spPr>
          <a:xfrm>
            <a:off x="38100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4" name="Google Shape;634;p44"/>
          <p:cNvCxnSpPr/>
          <p:nvPr/>
        </p:nvCxnSpPr>
        <p:spPr>
          <a:xfrm>
            <a:off x="21336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35" name="Google Shape;635;p44"/>
          <p:cNvSpPr txBox="1"/>
          <p:nvPr/>
        </p:nvSpPr>
        <p:spPr>
          <a:xfrm flipH="1">
            <a:off x="3651250" y="4329113"/>
            <a:ext cx="325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636" name="Google Shape;636;p44"/>
          <p:cNvSpPr txBox="1"/>
          <p:nvPr/>
        </p:nvSpPr>
        <p:spPr>
          <a:xfrm flipH="1">
            <a:off x="2362200" y="4329113"/>
            <a:ext cx="325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/>
          </a:p>
        </p:txBody>
      </p:sp>
      <p:sp>
        <p:nvSpPr>
          <p:cNvPr id="637" name="Google Shape;637;p44"/>
          <p:cNvSpPr txBox="1"/>
          <p:nvPr/>
        </p:nvSpPr>
        <p:spPr>
          <a:xfrm flipH="1">
            <a:off x="1365250" y="4329113"/>
            <a:ext cx="325438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</p:txBody>
      </p:sp>
      <p:cxnSp>
        <p:nvCxnSpPr>
          <p:cNvPr id="638" name="Google Shape;638;p44"/>
          <p:cNvCxnSpPr/>
          <p:nvPr/>
        </p:nvCxnSpPr>
        <p:spPr>
          <a:xfrm>
            <a:off x="18288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9" name="Google Shape;639;p44"/>
          <p:cNvCxnSpPr/>
          <p:nvPr/>
        </p:nvCxnSpPr>
        <p:spPr>
          <a:xfrm>
            <a:off x="25146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0" name="Google Shape;640;p44"/>
          <p:cNvCxnSpPr/>
          <p:nvPr/>
        </p:nvCxnSpPr>
        <p:spPr>
          <a:xfrm>
            <a:off x="28956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1" name="Google Shape;641;p44"/>
          <p:cNvCxnSpPr/>
          <p:nvPr/>
        </p:nvCxnSpPr>
        <p:spPr>
          <a:xfrm>
            <a:off x="32004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2" name="Google Shape;642;p44"/>
          <p:cNvCxnSpPr/>
          <p:nvPr/>
        </p:nvCxnSpPr>
        <p:spPr>
          <a:xfrm>
            <a:off x="35052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3" name="Google Shape;643;p44"/>
          <p:cNvSpPr/>
          <p:nvPr/>
        </p:nvSpPr>
        <p:spPr>
          <a:xfrm>
            <a:off x="4114800" y="3581400"/>
            <a:ext cx="1371600" cy="609600"/>
          </a:xfrm>
          <a:prstGeom prst="rect">
            <a:avLst/>
          </a:prstGeom>
          <a:solidFill>
            <a:srgbClr val="CCEC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4" name="Google Shape;644;p44"/>
          <p:cNvSpPr txBox="1"/>
          <p:nvPr/>
        </p:nvSpPr>
        <p:spPr>
          <a:xfrm flipH="1">
            <a:off x="4430713" y="3657600"/>
            <a:ext cx="4460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 b="1"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5" name="Google Shape;645;p44"/>
          <p:cNvSpPr/>
          <p:nvPr/>
        </p:nvSpPr>
        <p:spPr>
          <a:xfrm>
            <a:off x="3810000" y="3581400"/>
            <a:ext cx="304800" cy="609600"/>
          </a:xfrm>
          <a:prstGeom prst="rect">
            <a:avLst/>
          </a:prstGeom>
          <a:solidFill>
            <a:srgbClr val="CCEC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46" name="Google Shape;646;p44"/>
          <p:cNvSpPr txBox="1"/>
          <p:nvPr/>
        </p:nvSpPr>
        <p:spPr>
          <a:xfrm flipH="1">
            <a:off x="3744913" y="3657600"/>
            <a:ext cx="4460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</a:t>
            </a:r>
            <a:endParaRPr b="1"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47" name="Google Shape;647;p44"/>
          <p:cNvCxnSpPr/>
          <p:nvPr/>
        </p:nvCxnSpPr>
        <p:spPr>
          <a:xfrm>
            <a:off x="41148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8" name="Google Shape;648;p44"/>
          <p:cNvCxnSpPr/>
          <p:nvPr/>
        </p:nvCxnSpPr>
        <p:spPr>
          <a:xfrm>
            <a:off x="54864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9" name="Google Shape;649;p44"/>
          <p:cNvCxnSpPr/>
          <p:nvPr/>
        </p:nvCxnSpPr>
        <p:spPr>
          <a:xfrm>
            <a:off x="48006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0" name="Google Shape;650;p44"/>
          <p:cNvCxnSpPr/>
          <p:nvPr/>
        </p:nvCxnSpPr>
        <p:spPr>
          <a:xfrm>
            <a:off x="44196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1" name="Google Shape;651;p44"/>
          <p:cNvCxnSpPr/>
          <p:nvPr/>
        </p:nvCxnSpPr>
        <p:spPr>
          <a:xfrm>
            <a:off x="5181600" y="4078288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2" name="Google Shape;652;p44"/>
          <p:cNvSpPr txBox="1"/>
          <p:nvPr/>
        </p:nvSpPr>
        <p:spPr>
          <a:xfrm flipH="1">
            <a:off x="3941763" y="4343400"/>
            <a:ext cx="325437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8</a:t>
            </a:r>
            <a:endParaRPr/>
          </a:p>
        </p:txBody>
      </p:sp>
      <p:sp>
        <p:nvSpPr>
          <p:cNvPr id="653" name="Google Shape;653;p44"/>
          <p:cNvSpPr txBox="1"/>
          <p:nvPr/>
        </p:nvSpPr>
        <p:spPr>
          <a:xfrm flipH="1">
            <a:off x="5245100" y="4343400"/>
            <a:ext cx="4667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12</a:t>
            </a:r>
            <a:endParaRPr/>
          </a:p>
        </p:txBody>
      </p:sp>
      <p:sp>
        <p:nvSpPr>
          <p:cNvPr id="654" name="Google Shape;654;p44"/>
          <p:cNvSpPr/>
          <p:nvPr/>
        </p:nvSpPr>
        <p:spPr>
          <a:xfrm>
            <a:off x="5486400" y="3581400"/>
            <a:ext cx="1371600" cy="609600"/>
          </a:xfrm>
          <a:prstGeom prst="rect">
            <a:avLst/>
          </a:prstGeom>
          <a:solidFill>
            <a:srgbClr val="CCECFF"/>
          </a:solidFill>
          <a:ln cap="flat" cmpd="sng" w="285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655" name="Google Shape;655;p44"/>
          <p:cNvSpPr txBox="1"/>
          <p:nvPr/>
        </p:nvSpPr>
        <p:spPr>
          <a:xfrm flipH="1">
            <a:off x="6030913" y="3657600"/>
            <a:ext cx="446087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 b="1" sz="20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656" name="Google Shape;656;p44"/>
          <p:cNvCxnSpPr/>
          <p:nvPr/>
        </p:nvCxnSpPr>
        <p:spPr>
          <a:xfrm>
            <a:off x="68580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7" name="Google Shape;657;p44"/>
          <p:cNvCxnSpPr/>
          <p:nvPr/>
        </p:nvCxnSpPr>
        <p:spPr>
          <a:xfrm>
            <a:off x="61722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8" name="Google Shape;658;p44"/>
          <p:cNvCxnSpPr/>
          <p:nvPr/>
        </p:nvCxnSpPr>
        <p:spPr>
          <a:xfrm>
            <a:off x="58674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44"/>
          <p:cNvCxnSpPr/>
          <p:nvPr/>
        </p:nvCxnSpPr>
        <p:spPr>
          <a:xfrm>
            <a:off x="6477000" y="4114800"/>
            <a:ext cx="0" cy="2286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0" name="Google Shape;660;p44"/>
          <p:cNvSpPr txBox="1"/>
          <p:nvPr/>
        </p:nvSpPr>
        <p:spPr>
          <a:xfrm flipH="1">
            <a:off x="6543675" y="4343400"/>
            <a:ext cx="4667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/>
          </a:p>
        </p:txBody>
      </p:sp>
      <p:sp>
        <p:nvSpPr>
          <p:cNvPr id="661" name="Google Shape;661;p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662" name="Google Shape;662;p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45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Round Robin (RR)</a:t>
            </a:r>
            <a:endParaRPr/>
          </a:p>
        </p:txBody>
      </p:sp>
      <p:sp>
        <p:nvSpPr>
          <p:cNvPr id="669" name="Google Shape;669;p45"/>
          <p:cNvSpPr txBox="1"/>
          <p:nvPr>
            <p:ph idx="1" type="body"/>
          </p:nvPr>
        </p:nvSpPr>
        <p:spPr>
          <a:xfrm>
            <a:off x="539552" y="1231900"/>
            <a:ext cx="8064896" cy="507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b="1" lang="en-US">
                <a:solidFill>
                  <a:schemeClr val="dk2"/>
                </a:solidFill>
              </a:rPr>
              <a:t>What 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Designed for time sharing systems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Similar to FCFS but preemption is added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Time Quantum/Time Slice-small unit of time is defined, usually 10-100 milliseconds</a:t>
            </a:r>
            <a:endParaRPr sz="2400"/>
          </a:p>
        </p:txBody>
      </p:sp>
      <p:sp>
        <p:nvSpPr>
          <p:cNvPr id="670" name="Google Shape;670;p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671" name="Google Shape;671;p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72" name="Google Shape;672;p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p46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Round Robin (RR)</a:t>
            </a:r>
            <a:endParaRPr/>
          </a:p>
        </p:txBody>
      </p:sp>
      <p:sp>
        <p:nvSpPr>
          <p:cNvPr id="679" name="Google Shape;679;p46"/>
          <p:cNvSpPr txBox="1"/>
          <p:nvPr>
            <p:ph idx="1" type="body"/>
          </p:nvPr>
        </p:nvSpPr>
        <p:spPr>
          <a:xfrm>
            <a:off x="539552" y="1231900"/>
            <a:ext cx="8064896" cy="507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b="1" lang="en-US">
                <a:solidFill>
                  <a:schemeClr val="dk2"/>
                </a:solidFill>
              </a:rPr>
              <a:t>What 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Ready queue is treated as Circular Queue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CPU scheduler goes around the ready queue, allocating CPU to each process for time interval of upto 1 time Quantum</a:t>
            </a:r>
            <a:endParaRPr/>
          </a:p>
        </p:txBody>
      </p:sp>
      <p:sp>
        <p:nvSpPr>
          <p:cNvPr id="680" name="Google Shape;680;p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681" name="Google Shape;681;p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82" name="Google Shape;682;p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83" name="Google Shape;683;p46"/>
          <p:cNvSpPr/>
          <p:nvPr/>
        </p:nvSpPr>
        <p:spPr>
          <a:xfrm rot="5400000">
            <a:off x="6233113" y="3050958"/>
            <a:ext cx="2304256" cy="133214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8" name="Shape 6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Google Shape;689;p47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Round Robin (RR)</a:t>
            </a:r>
            <a:endParaRPr/>
          </a:p>
        </p:txBody>
      </p:sp>
      <p:sp>
        <p:nvSpPr>
          <p:cNvPr id="690" name="Google Shape;690;p47"/>
          <p:cNvSpPr txBox="1"/>
          <p:nvPr>
            <p:ph idx="1" type="body"/>
          </p:nvPr>
        </p:nvSpPr>
        <p:spPr>
          <a:xfrm>
            <a:off x="539552" y="1231900"/>
            <a:ext cx="8064896" cy="5077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</a:pPr>
            <a:r>
              <a:rPr b="1" lang="en-US">
                <a:solidFill>
                  <a:schemeClr val="dk2"/>
                </a:solidFill>
              </a:rPr>
              <a:t>How?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Ready Queue uses FIFO order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New processes added to the tail of the ready queue.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CPU scheduler picks the first process from the ready queue, sets a timer to interrupt after 1 time quantum and dispatches the process.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691" name="Google Shape;691;p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692" name="Google Shape;692;p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693" name="Google Shape;693;p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8" name="Shape 6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9" name="Google Shape;699;p48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Round Robin (RR)</a:t>
            </a:r>
            <a:endParaRPr/>
          </a:p>
        </p:txBody>
      </p:sp>
      <p:sp>
        <p:nvSpPr>
          <p:cNvPr id="700" name="Google Shape;700;p48"/>
          <p:cNvSpPr txBox="1"/>
          <p:nvPr>
            <p:ph idx="1" type="body"/>
          </p:nvPr>
        </p:nvSpPr>
        <p:spPr>
          <a:xfrm>
            <a:off x="889000" y="1231900"/>
            <a:ext cx="7150100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None/>
            </a:pPr>
            <a:r>
              <a:rPr b="1" lang="en-US" sz="2800">
                <a:solidFill>
                  <a:schemeClr val="dk2"/>
                </a:solidFill>
              </a:rPr>
              <a:t>How?(contd.)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Two scenarios: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The process may have CPU burst &lt; 1 TQ , 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process will itself release the CPU voluntarily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CPU burst&gt;1 TQ, 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timer will go off, 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 u="sng"/>
              <a:t>causing an interrupt to the OS, 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Context switch will be done, process will be put at the tail of the ready queue.</a:t>
            </a:r>
            <a:endParaRPr sz="2800"/>
          </a:p>
        </p:txBody>
      </p:sp>
      <p:sp>
        <p:nvSpPr>
          <p:cNvPr id="701" name="Google Shape;701;p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702" name="Google Shape;702;p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03" name="Google Shape;703;p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7" name="Shape 7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8" name="Google Shape;708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709" name="Google Shape;709;p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710" name="Google Shape;710;p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11" name="Google Shape;711;p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12" name="Google Shape;712;p4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260648"/>
            <a:ext cx="8064896" cy="58086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50"/>
          <p:cNvSpPr txBox="1"/>
          <p:nvPr>
            <p:ph type="title"/>
          </p:nvPr>
        </p:nvSpPr>
        <p:spPr>
          <a:xfrm>
            <a:off x="841895" y="332656"/>
            <a:ext cx="7750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of RR with Time Quantum = 4</a:t>
            </a:r>
            <a:endParaRPr/>
          </a:p>
        </p:txBody>
      </p:sp>
      <p:sp>
        <p:nvSpPr>
          <p:cNvPr id="719" name="Google Shape;719;p50"/>
          <p:cNvSpPr txBox="1"/>
          <p:nvPr>
            <p:ph idx="1" type="body"/>
          </p:nvPr>
        </p:nvSpPr>
        <p:spPr>
          <a:xfrm>
            <a:off x="954088" y="11938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i="1" lang="en-US"/>
              <a:t>		P</a:t>
            </a:r>
            <a:r>
              <a:rPr baseline="-25000" i="1" lang="en-US"/>
              <a:t>1	</a:t>
            </a:r>
            <a:r>
              <a:rPr lang="en-US"/>
              <a:t>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	 </a:t>
            </a:r>
            <a:r>
              <a:rPr lang="en-US"/>
              <a:t>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</a:t>
            </a:r>
            <a:r>
              <a:rPr lang="en-US"/>
              <a:t>3	</a:t>
            </a:r>
            <a:endParaRPr/>
          </a:p>
        </p:txBody>
      </p:sp>
      <p:sp>
        <p:nvSpPr>
          <p:cNvPr id="720" name="Google Shape;720;p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721" name="Google Shape;721;p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22" name="Google Shape;722;p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51"/>
          <p:cNvSpPr txBox="1"/>
          <p:nvPr>
            <p:ph type="title"/>
          </p:nvPr>
        </p:nvSpPr>
        <p:spPr>
          <a:xfrm>
            <a:off x="841895" y="332656"/>
            <a:ext cx="7750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of RR with Time Quantum = 4</a:t>
            </a:r>
            <a:endParaRPr/>
          </a:p>
        </p:txBody>
      </p:sp>
      <p:sp>
        <p:nvSpPr>
          <p:cNvPr id="729" name="Google Shape;729;p51"/>
          <p:cNvSpPr txBox="1"/>
          <p:nvPr>
            <p:ph idx="1" type="body"/>
          </p:nvPr>
        </p:nvSpPr>
        <p:spPr>
          <a:xfrm>
            <a:off x="954088" y="11938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i="1" lang="en-US"/>
              <a:t>		P</a:t>
            </a:r>
            <a:r>
              <a:rPr baseline="-25000" i="1" lang="en-US"/>
              <a:t>1	</a:t>
            </a:r>
            <a:r>
              <a:rPr lang="en-US"/>
              <a:t>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	 </a:t>
            </a:r>
            <a:r>
              <a:rPr lang="en-US"/>
              <a:t>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</a:t>
            </a:r>
            <a:r>
              <a:rPr lang="en-US"/>
              <a:t>3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Gantt chart is: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730" name="Google Shape;730;p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731" name="Google Shape;731;p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32" name="Google Shape;732;p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33" name="Google Shape;733;p51"/>
          <p:cNvPicPr preferRelativeResize="0"/>
          <p:nvPr/>
        </p:nvPicPr>
        <p:blipFill rotWithShape="1">
          <a:blip r:embed="rId3">
            <a:alphaModFix/>
          </a:blip>
          <a:srcRect b="0" l="0" r="85352" t="0"/>
          <a:stretch/>
        </p:blipFill>
        <p:spPr>
          <a:xfrm>
            <a:off x="827584" y="4005064"/>
            <a:ext cx="1107542" cy="86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8" name="Shape 7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Google Shape;739;p52"/>
          <p:cNvSpPr txBox="1"/>
          <p:nvPr>
            <p:ph type="title"/>
          </p:nvPr>
        </p:nvSpPr>
        <p:spPr>
          <a:xfrm>
            <a:off x="841895" y="332656"/>
            <a:ext cx="7750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of RR with Time Quantum = 4</a:t>
            </a:r>
            <a:endParaRPr/>
          </a:p>
        </p:txBody>
      </p:sp>
      <p:sp>
        <p:nvSpPr>
          <p:cNvPr id="740" name="Google Shape;740;p52"/>
          <p:cNvSpPr txBox="1"/>
          <p:nvPr>
            <p:ph idx="1" type="body"/>
          </p:nvPr>
        </p:nvSpPr>
        <p:spPr>
          <a:xfrm>
            <a:off x="954088" y="11938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i="1" lang="en-US"/>
              <a:t>		P</a:t>
            </a:r>
            <a:r>
              <a:rPr baseline="-25000" i="1" lang="en-US"/>
              <a:t>1	</a:t>
            </a:r>
            <a:r>
              <a:rPr lang="en-US"/>
              <a:t>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	 </a:t>
            </a:r>
            <a:r>
              <a:rPr lang="en-US"/>
              <a:t>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</a:t>
            </a:r>
            <a:r>
              <a:rPr lang="en-US"/>
              <a:t>3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Gantt chart is: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741" name="Google Shape;741;p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742" name="Google Shape;742;p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43" name="Google Shape;743;p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44" name="Google Shape;744;p52"/>
          <p:cNvPicPr preferRelativeResize="0"/>
          <p:nvPr/>
        </p:nvPicPr>
        <p:blipFill rotWithShape="1">
          <a:blip r:embed="rId3">
            <a:alphaModFix/>
          </a:blip>
          <a:srcRect b="0" l="0" r="75508" t="0"/>
          <a:stretch/>
        </p:blipFill>
        <p:spPr>
          <a:xfrm>
            <a:off x="827584" y="4005064"/>
            <a:ext cx="1851821" cy="86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p53"/>
          <p:cNvSpPr txBox="1"/>
          <p:nvPr>
            <p:ph type="title"/>
          </p:nvPr>
        </p:nvSpPr>
        <p:spPr>
          <a:xfrm>
            <a:off x="841895" y="332656"/>
            <a:ext cx="7750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of RR with Time Quantum = 4</a:t>
            </a:r>
            <a:endParaRPr/>
          </a:p>
        </p:txBody>
      </p:sp>
      <p:sp>
        <p:nvSpPr>
          <p:cNvPr id="751" name="Google Shape;751;p53"/>
          <p:cNvSpPr txBox="1"/>
          <p:nvPr>
            <p:ph idx="1" type="body"/>
          </p:nvPr>
        </p:nvSpPr>
        <p:spPr>
          <a:xfrm>
            <a:off x="954088" y="11938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i="1" lang="en-US"/>
              <a:t>		P</a:t>
            </a:r>
            <a:r>
              <a:rPr baseline="-25000" i="1" lang="en-US"/>
              <a:t>1	</a:t>
            </a:r>
            <a:r>
              <a:rPr lang="en-US"/>
              <a:t>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	 </a:t>
            </a:r>
            <a:r>
              <a:rPr lang="en-US"/>
              <a:t>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</a:t>
            </a:r>
            <a:r>
              <a:rPr lang="en-US"/>
              <a:t>3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Gantt chart is: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752" name="Google Shape;752;p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753" name="Google Shape;753;p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54" name="Google Shape;754;p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55" name="Google Shape;755;p53"/>
          <p:cNvPicPr preferRelativeResize="0"/>
          <p:nvPr/>
        </p:nvPicPr>
        <p:blipFill rotWithShape="1">
          <a:blip r:embed="rId3">
            <a:alphaModFix/>
          </a:blip>
          <a:srcRect b="0" l="0" r="65101" t="0"/>
          <a:stretch/>
        </p:blipFill>
        <p:spPr>
          <a:xfrm>
            <a:off x="827584" y="4005064"/>
            <a:ext cx="2638630" cy="86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54"/>
          <p:cNvSpPr txBox="1"/>
          <p:nvPr>
            <p:ph type="title"/>
          </p:nvPr>
        </p:nvSpPr>
        <p:spPr>
          <a:xfrm>
            <a:off x="841895" y="332656"/>
            <a:ext cx="7750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of RR with Time Quantum = 4</a:t>
            </a:r>
            <a:endParaRPr/>
          </a:p>
        </p:txBody>
      </p:sp>
      <p:sp>
        <p:nvSpPr>
          <p:cNvPr id="762" name="Google Shape;762;p54"/>
          <p:cNvSpPr txBox="1"/>
          <p:nvPr>
            <p:ph idx="1" type="body"/>
          </p:nvPr>
        </p:nvSpPr>
        <p:spPr>
          <a:xfrm>
            <a:off x="954088" y="11938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i="1" lang="en-US"/>
              <a:t>		P</a:t>
            </a:r>
            <a:r>
              <a:rPr baseline="-25000" i="1" lang="en-US"/>
              <a:t>1	</a:t>
            </a:r>
            <a:r>
              <a:rPr lang="en-US"/>
              <a:t>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	 </a:t>
            </a:r>
            <a:r>
              <a:rPr lang="en-US"/>
              <a:t>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</a:t>
            </a:r>
            <a:r>
              <a:rPr lang="en-US"/>
              <a:t>3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Gantt chart is: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</p:txBody>
      </p:sp>
      <p:sp>
        <p:nvSpPr>
          <p:cNvPr id="763" name="Google Shape;763;p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764" name="Google Shape;764;p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65" name="Google Shape;765;p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6" name="Google Shape;76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4005064"/>
            <a:ext cx="7560840" cy="86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55"/>
          <p:cNvSpPr txBox="1"/>
          <p:nvPr>
            <p:ph type="title"/>
          </p:nvPr>
        </p:nvSpPr>
        <p:spPr>
          <a:xfrm>
            <a:off x="841895" y="332656"/>
            <a:ext cx="7750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of RR with Time Quantum = 4</a:t>
            </a:r>
            <a:endParaRPr/>
          </a:p>
        </p:txBody>
      </p:sp>
      <p:sp>
        <p:nvSpPr>
          <p:cNvPr id="773" name="Google Shape;773;p55"/>
          <p:cNvSpPr txBox="1"/>
          <p:nvPr>
            <p:ph idx="1" type="body"/>
          </p:nvPr>
        </p:nvSpPr>
        <p:spPr>
          <a:xfrm>
            <a:off x="954088" y="11938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i="1" lang="en-US"/>
              <a:t>		P</a:t>
            </a:r>
            <a:r>
              <a:rPr baseline="-25000" i="1" lang="en-US"/>
              <a:t>1	</a:t>
            </a:r>
            <a:r>
              <a:rPr lang="en-US"/>
              <a:t>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	 </a:t>
            </a:r>
            <a:r>
              <a:rPr lang="en-US"/>
              <a:t>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</a:t>
            </a:r>
            <a:r>
              <a:rPr lang="en-US"/>
              <a:t>3	</a:t>
            </a:r>
            <a:endParaRPr/>
          </a:p>
          <a:p>
            <a:pPr indent="-17018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Waiting Time –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P1=( 0 + (10-4) )=6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P2=4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P3=7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AWT=6+4+7/3=17/3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The Gantt chart is:</a:t>
            </a:r>
            <a:br>
              <a:rPr lang="en-US"/>
            </a:br>
            <a:endParaRPr/>
          </a:p>
        </p:txBody>
      </p:sp>
      <p:sp>
        <p:nvSpPr>
          <p:cNvPr id="774" name="Google Shape;774;p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775" name="Google Shape;775;p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76" name="Google Shape;776;p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77" name="Google Shape;777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5229200"/>
            <a:ext cx="7560840" cy="86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2" name="Shape 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3" name="Google Shape;783;p56"/>
          <p:cNvSpPr txBox="1"/>
          <p:nvPr>
            <p:ph type="title"/>
          </p:nvPr>
        </p:nvSpPr>
        <p:spPr>
          <a:xfrm>
            <a:off x="841895" y="332656"/>
            <a:ext cx="7750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of RR with Time Quantum = 4</a:t>
            </a:r>
            <a:endParaRPr/>
          </a:p>
        </p:txBody>
      </p:sp>
      <p:sp>
        <p:nvSpPr>
          <p:cNvPr id="784" name="Google Shape;784;p56"/>
          <p:cNvSpPr txBox="1"/>
          <p:nvPr>
            <p:ph idx="1" type="body"/>
          </p:nvPr>
        </p:nvSpPr>
        <p:spPr>
          <a:xfrm>
            <a:off x="954088" y="1193800"/>
            <a:ext cx="735171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i="1" lang="en-US"/>
              <a:t>		P</a:t>
            </a:r>
            <a:r>
              <a:rPr baseline="-25000" i="1" lang="en-US"/>
              <a:t>1	</a:t>
            </a:r>
            <a:r>
              <a:rPr lang="en-US"/>
              <a:t>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	 </a:t>
            </a:r>
            <a:r>
              <a:rPr lang="en-US"/>
              <a:t>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</a:t>
            </a:r>
            <a:r>
              <a:rPr lang="en-US"/>
              <a:t>3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Gantt chart is: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Typically, higher average turnaround than SJF, but better </a:t>
            </a:r>
            <a:r>
              <a:rPr b="1" i="1" lang="en-US"/>
              <a:t>response</a:t>
            </a:r>
            <a:endParaRPr/>
          </a:p>
        </p:txBody>
      </p:sp>
      <p:sp>
        <p:nvSpPr>
          <p:cNvPr id="785" name="Google Shape;785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786" name="Google Shape;786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87" name="Google Shape;787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88" name="Google Shape;788;p56"/>
          <p:cNvSpPr/>
          <p:nvPr/>
        </p:nvSpPr>
        <p:spPr>
          <a:xfrm>
            <a:off x="611560" y="4653136"/>
            <a:ext cx="7920880" cy="100811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89" name="Google Shape;789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3429000"/>
            <a:ext cx="7560840" cy="86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57"/>
          <p:cNvSpPr txBox="1"/>
          <p:nvPr>
            <p:ph type="title"/>
          </p:nvPr>
        </p:nvSpPr>
        <p:spPr>
          <a:xfrm>
            <a:off x="841895" y="332656"/>
            <a:ext cx="7750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of RR with Time Quantum = 4</a:t>
            </a:r>
            <a:endParaRPr/>
          </a:p>
        </p:txBody>
      </p:sp>
      <p:sp>
        <p:nvSpPr>
          <p:cNvPr id="796" name="Google Shape;796;p57"/>
          <p:cNvSpPr txBox="1"/>
          <p:nvPr>
            <p:ph idx="1" type="body"/>
          </p:nvPr>
        </p:nvSpPr>
        <p:spPr>
          <a:xfrm>
            <a:off x="954088" y="1193799"/>
            <a:ext cx="7351712" cy="521763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</a:t>
            </a:r>
            <a:r>
              <a:rPr lang="en-US" u="sng"/>
              <a:t>Process</a:t>
            </a:r>
            <a:r>
              <a:rPr lang="en-US"/>
              <a:t>	</a:t>
            </a:r>
            <a:r>
              <a:rPr lang="en-US" u="sng"/>
              <a:t>Burst Time  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i="1" lang="en-US"/>
              <a:t>		P</a:t>
            </a:r>
            <a:r>
              <a:rPr baseline="-25000" i="1" lang="en-US"/>
              <a:t>1	</a:t>
            </a:r>
            <a:r>
              <a:rPr lang="en-US"/>
              <a:t>24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	 </a:t>
            </a:r>
            <a:r>
              <a:rPr lang="en-US"/>
              <a:t>3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	</a:t>
            </a:r>
            <a:r>
              <a:rPr lang="en-US"/>
              <a:t>3	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The Gantt chart is: </a:t>
            </a: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br>
              <a:rPr lang="en-US"/>
            </a:b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Typically, higher average turnaround than SJF, but better </a:t>
            </a:r>
            <a:r>
              <a:rPr b="1" i="1" lang="en-US"/>
              <a:t>response</a:t>
            </a:r>
            <a:endParaRPr/>
          </a:p>
          <a:p>
            <a:pPr indent="-200660" lvl="0" marL="342900" rtl="0" algn="l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i="1"/>
          </a:p>
          <a:p>
            <a:pPr indent="0" lvl="0" marL="0" rtl="0" algn="l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i="1" lang="en-US"/>
              <a:t>Response Time, Turnaround Time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i="1" lang="en-US"/>
              <a:t>P1 =0 ms,30 ms</a:t>
            </a:r>
            <a:endParaRPr b="1" i="1"/>
          </a:p>
          <a:p>
            <a:pPr indent="-342900" lvl="0" marL="342900" rtl="0" algn="l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i="1" lang="en-US"/>
              <a:t>P2=4 ms,7ms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i="1" lang="en-US"/>
              <a:t>P3=7 ms,10 ms</a:t>
            </a:r>
            <a:endParaRPr b="1" i="1"/>
          </a:p>
        </p:txBody>
      </p:sp>
      <p:sp>
        <p:nvSpPr>
          <p:cNvPr id="797" name="Google Shape;797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798" name="Google Shape;798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799" name="Google Shape;799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00" name="Google Shape;800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2996952"/>
            <a:ext cx="7560840" cy="8640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5" name="Shape 8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6" name="Google Shape;806;p58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Round Robin (RR)</a:t>
            </a:r>
            <a:endParaRPr/>
          </a:p>
        </p:txBody>
      </p:sp>
      <p:sp>
        <p:nvSpPr>
          <p:cNvPr id="807" name="Google Shape;807;p58"/>
          <p:cNvSpPr txBox="1"/>
          <p:nvPr>
            <p:ph idx="1" type="body"/>
          </p:nvPr>
        </p:nvSpPr>
        <p:spPr>
          <a:xfrm>
            <a:off x="889000" y="1231900"/>
            <a:ext cx="7150100" cy="4483100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RR is preemptive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there are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processes in the ready queue and the time quantum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endParaRPr sz="2800"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then each process gets 1/</a:t>
            </a:r>
            <a:r>
              <a:rPr b="1" i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the CPU time in chunks of at most </a:t>
            </a:r>
            <a:r>
              <a:rPr b="1" i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</a:t>
            </a:r>
            <a:r>
              <a:rPr b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time units at once. 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C00000"/>
              </a:buClr>
              <a:buSzPts val="2800"/>
              <a:buChar char="–"/>
            </a:pPr>
            <a:r>
              <a:rPr b="1" lang="en-US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 process waits more than (</a:t>
            </a:r>
            <a:r>
              <a:rPr b="1" i="1" lang="en-US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lang="en-US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-1)</a:t>
            </a:r>
            <a:r>
              <a:rPr b="1" i="1" lang="en-US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b="1" lang="en-US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time units.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808" name="Google Shape;808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809" name="Google Shape;809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10" name="Google Shape;810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5" name="Shape 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6" name="Google Shape;816;p59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Round Robin (RR)</a:t>
            </a:r>
            <a:endParaRPr/>
          </a:p>
        </p:txBody>
      </p:sp>
      <p:sp>
        <p:nvSpPr>
          <p:cNvPr id="817" name="Google Shape;817;p59"/>
          <p:cNvSpPr txBox="1"/>
          <p:nvPr>
            <p:ph idx="1" type="body"/>
          </p:nvPr>
        </p:nvSpPr>
        <p:spPr>
          <a:xfrm>
            <a:off x="889000" y="1231900"/>
            <a:ext cx="7150100" cy="4483100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Performance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i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Tq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large ⇒ RR is same as FIFO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i="1"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Tq </a:t>
            </a: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small ⇒ RR is called processor sharing, appears to user as if each of n processes has its own processor running at 1/n the speed of real processor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b="1" i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 </a:t>
            </a:r>
            <a:r>
              <a:rPr b="1" lang="en-US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be large with respect to context switch, otherwise overhead is too high</a:t>
            </a:r>
            <a:endParaRPr/>
          </a:p>
        </p:txBody>
      </p:sp>
      <p:sp>
        <p:nvSpPr>
          <p:cNvPr id="818" name="Google Shape;818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819" name="Google Shape;819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20" name="Google Shape;820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5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60"/>
          <p:cNvSpPr txBox="1"/>
          <p:nvPr>
            <p:ph type="title"/>
          </p:nvPr>
        </p:nvSpPr>
        <p:spPr>
          <a:xfrm>
            <a:off x="1063625" y="182563"/>
            <a:ext cx="7829550" cy="525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Time Quantum and Context Switch Time</a:t>
            </a:r>
            <a:endParaRPr/>
          </a:p>
        </p:txBody>
      </p:sp>
      <p:pic>
        <p:nvPicPr>
          <p:cNvPr id="827" name="Google Shape;827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449388"/>
            <a:ext cx="6527800" cy="2903537"/>
          </a:xfrm>
          <a:prstGeom prst="rect">
            <a:avLst/>
          </a:prstGeom>
          <a:noFill/>
          <a:ln>
            <a:noFill/>
          </a:ln>
        </p:spPr>
      </p:pic>
      <p:sp>
        <p:nvSpPr>
          <p:cNvPr id="828" name="Google Shape;828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829" name="Google Shape;829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30" name="Google Shape;830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5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61"/>
          <p:cNvSpPr txBox="1"/>
          <p:nvPr>
            <p:ph type="title"/>
          </p:nvPr>
        </p:nvSpPr>
        <p:spPr>
          <a:xfrm>
            <a:off x="1063625" y="182563"/>
            <a:ext cx="7829550" cy="5254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Time Quantum and Context Switch Time</a:t>
            </a:r>
            <a:endParaRPr/>
          </a:p>
        </p:txBody>
      </p:sp>
      <p:pic>
        <p:nvPicPr>
          <p:cNvPr id="837" name="Google Shape;837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449388"/>
            <a:ext cx="6527800" cy="2903537"/>
          </a:xfrm>
          <a:prstGeom prst="rect">
            <a:avLst/>
          </a:prstGeom>
          <a:noFill/>
          <a:ln>
            <a:noFill/>
          </a:ln>
        </p:spPr>
      </p:pic>
      <p:sp>
        <p:nvSpPr>
          <p:cNvPr id="838" name="Google Shape;838;p61"/>
          <p:cNvSpPr txBox="1"/>
          <p:nvPr/>
        </p:nvSpPr>
        <p:spPr>
          <a:xfrm>
            <a:off x="971600" y="4509120"/>
            <a:ext cx="7088832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TQ should be large with respect to the context switch time.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Tq usually 10ms to 100ms, context switch &lt; 10 usec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Else much time will be wasted in Context switching.</a:t>
            </a:r>
            <a:endParaRPr sz="2400" u="sng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840" name="Google Shape;840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41" name="Google Shape;841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5" name="Shape 8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6" name="Google Shape;846;p62"/>
          <p:cNvSpPr txBox="1"/>
          <p:nvPr>
            <p:ph idx="1" type="body"/>
          </p:nvPr>
        </p:nvSpPr>
        <p:spPr>
          <a:xfrm>
            <a:off x="457200" y="1639341"/>
            <a:ext cx="8229600" cy="4525963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Typically, higher average turnaround than SJF, but better </a:t>
            </a:r>
            <a:r>
              <a:rPr b="1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response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Average turnaround time of a set of processes does not necessarily improve as the time quantum increases.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 u="sng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ATT can be improved if most processes finish their next CPU burst in single TQ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Thumb Rule- “80% of CPU bursts should be shorter than Tq”</a:t>
            </a:r>
            <a:endParaRPr sz="24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847" name="Google Shape;847;p62"/>
          <p:cNvSpPr txBox="1"/>
          <p:nvPr>
            <p:ph type="title"/>
          </p:nvPr>
        </p:nvSpPr>
        <p:spPr>
          <a:xfrm>
            <a:off x="830263" y="266700"/>
            <a:ext cx="85359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Turnaround Time Varies With The Time Quantum</a:t>
            </a:r>
            <a:endParaRPr/>
          </a:p>
        </p:txBody>
      </p:sp>
      <p:sp>
        <p:nvSpPr>
          <p:cNvPr id="848" name="Google Shape;848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849" name="Google Shape;849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50" name="Google Shape;850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1" name="Google Shape;851;p62"/>
          <p:cNvSpPr/>
          <p:nvPr/>
        </p:nvSpPr>
        <p:spPr>
          <a:xfrm>
            <a:off x="395536" y="1484784"/>
            <a:ext cx="8280920" cy="100811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62"/>
          <p:cNvSpPr/>
          <p:nvPr/>
        </p:nvSpPr>
        <p:spPr>
          <a:xfrm>
            <a:off x="323528" y="4581128"/>
            <a:ext cx="8352928" cy="100811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p63"/>
          <p:cNvSpPr txBox="1"/>
          <p:nvPr>
            <p:ph type="title"/>
          </p:nvPr>
        </p:nvSpPr>
        <p:spPr>
          <a:xfrm>
            <a:off x="830263" y="266700"/>
            <a:ext cx="8535987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Turnaround Time Varies With The Time Quantum</a:t>
            </a:r>
            <a:endParaRPr/>
          </a:p>
        </p:txBody>
      </p:sp>
      <p:pic>
        <p:nvPicPr>
          <p:cNvPr id="859" name="Google Shape;859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1600" y="1379538"/>
            <a:ext cx="7278638" cy="4122737"/>
          </a:xfrm>
          <a:prstGeom prst="rect">
            <a:avLst/>
          </a:prstGeom>
          <a:noFill/>
          <a:ln>
            <a:noFill/>
          </a:ln>
        </p:spPr>
      </p:pic>
      <p:sp>
        <p:nvSpPr>
          <p:cNvPr id="860" name="Google Shape;860;p63"/>
          <p:cNvSpPr txBox="1"/>
          <p:nvPr/>
        </p:nvSpPr>
        <p:spPr>
          <a:xfrm>
            <a:off x="5937250" y="3744913"/>
            <a:ext cx="2312988" cy="492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80% of CPU bursts should be shorter than q</a:t>
            </a:r>
            <a:endParaRPr/>
          </a:p>
        </p:txBody>
      </p:sp>
      <p:sp>
        <p:nvSpPr>
          <p:cNvPr id="861" name="Google Shape;861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862" name="Google Shape;862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63" name="Google Shape;863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64" name="Google Shape;864;p63"/>
          <p:cNvSpPr/>
          <p:nvPr/>
        </p:nvSpPr>
        <p:spPr>
          <a:xfrm>
            <a:off x="4283968" y="5033871"/>
            <a:ext cx="506971" cy="360040"/>
          </a:xfrm>
          <a:prstGeom prst="ellipse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5" name="Google Shape;865;p63"/>
          <p:cNvSpPr/>
          <p:nvPr/>
        </p:nvSpPr>
        <p:spPr>
          <a:xfrm>
            <a:off x="4807436" y="5033871"/>
            <a:ext cx="506971" cy="360040"/>
          </a:xfrm>
          <a:prstGeom prst="ellipse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6" name="Google Shape;866;p63"/>
          <p:cNvSpPr/>
          <p:nvPr/>
        </p:nvSpPr>
        <p:spPr>
          <a:xfrm>
            <a:off x="272691" y="5741421"/>
            <a:ext cx="8676456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sng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ATT can be improved if most processes finish their next CPU burst in single TQ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Thumb Rule- “80% of CPU bursts should be shorter than Tq”</a:t>
            </a:r>
            <a:endParaRPr/>
          </a:p>
        </p:txBody>
      </p:sp>
      <p:sp>
        <p:nvSpPr>
          <p:cNvPr id="867" name="Google Shape;867;p63"/>
          <p:cNvSpPr/>
          <p:nvPr/>
        </p:nvSpPr>
        <p:spPr>
          <a:xfrm rot="-2714779">
            <a:off x="5105620" y="3487510"/>
            <a:ext cx="4740723" cy="1247684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8" name="Google Shape;868;p63"/>
          <p:cNvSpPr/>
          <p:nvPr/>
        </p:nvSpPr>
        <p:spPr>
          <a:xfrm>
            <a:off x="3908793" y="2823540"/>
            <a:ext cx="2304256" cy="659979"/>
          </a:xfrm>
          <a:prstGeom prst="ellipse">
            <a:avLst/>
          </a:prstGeom>
          <a:noFill/>
          <a:ln cap="flat" cmpd="sng" w="571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64"/>
          <p:cNvSpPr txBox="1"/>
          <p:nvPr>
            <p:ph type="title"/>
          </p:nvPr>
        </p:nvSpPr>
        <p:spPr>
          <a:xfrm>
            <a:off x="827584" y="24312"/>
            <a:ext cx="7750175" cy="64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Exercise 2</a:t>
            </a:r>
            <a:endParaRPr/>
          </a:p>
        </p:txBody>
      </p:sp>
      <p:sp>
        <p:nvSpPr>
          <p:cNvPr id="875" name="Google Shape;875;p64"/>
          <p:cNvSpPr txBox="1"/>
          <p:nvPr>
            <p:ph idx="1" type="body"/>
          </p:nvPr>
        </p:nvSpPr>
        <p:spPr>
          <a:xfrm>
            <a:off x="827584" y="764704"/>
            <a:ext cx="7351712" cy="60932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/>
              <a:t>Consider a set of 6 processes whose arrival time, CPU time needed are given below:</a:t>
            </a:r>
            <a:endParaRPr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/>
              <a:t>If the CPU scheduling policy is Round Robin. Illustrate the scheduling policy with the help of Gantt chart. </a:t>
            </a:r>
            <a:endParaRPr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2800"/>
              <a:t>What will be the Average Waiting Time and Average Turnaround time if the scheduling policy is Round Robin. Assume quantum time for Round-Robin as 2 ms.</a:t>
            </a:r>
            <a:endParaRPr sz="2800"/>
          </a:p>
          <a:p>
            <a:pPr indent="0" lvl="0" marL="0" rtl="0" algn="l">
              <a:spcBef>
                <a:spcPts val="47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876" name="Google Shape;876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877" name="Google Shape;877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78" name="Google Shape;878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aphicFrame>
        <p:nvGraphicFramePr>
          <p:cNvPr id="879" name="Google Shape;879;p64"/>
          <p:cNvGraphicFramePr/>
          <p:nvPr/>
        </p:nvGraphicFramePr>
        <p:xfrm>
          <a:off x="1115616" y="134076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{5075DE67-CFB0-49B5-8B34-57FB0829FB07}</a:tableStyleId>
              </a:tblPr>
              <a:tblGrid>
                <a:gridCol w="1508475"/>
                <a:gridCol w="2209400"/>
                <a:gridCol w="1417050"/>
              </a:tblGrid>
              <a:tr h="7303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Process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Arrival Time (ms)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Burst Time (ms)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</a:tr>
              <a:tr h="35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0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8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</a:tr>
              <a:tr h="35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4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</a:tr>
              <a:tr h="35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</a:tr>
              <a:tr h="35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P4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1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</a:tr>
              <a:tr h="35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4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3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</a:tr>
              <a:tr h="3541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P6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5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2</a:t>
                      </a:r>
                      <a:endParaRPr sz="2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0" marB="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65"/>
          <p:cNvSpPr txBox="1"/>
          <p:nvPr>
            <p:ph type="title"/>
          </p:nvPr>
        </p:nvSpPr>
        <p:spPr>
          <a:xfrm>
            <a:off x="539552" y="260648"/>
            <a:ext cx="8229600" cy="508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Soln</a:t>
            </a:r>
            <a:endParaRPr/>
          </a:p>
        </p:txBody>
      </p:sp>
      <p:sp>
        <p:nvSpPr>
          <p:cNvPr id="885" name="Google Shape;885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886" name="Google Shape;886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87" name="Google Shape;887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88" name="Google Shape;888;p6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908720"/>
            <a:ext cx="8280920" cy="54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2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66"/>
          <p:cNvSpPr txBox="1"/>
          <p:nvPr>
            <p:ph type="title"/>
          </p:nvPr>
        </p:nvSpPr>
        <p:spPr>
          <a:xfrm>
            <a:off x="539552" y="260648"/>
            <a:ext cx="8229600" cy="508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Soln</a:t>
            </a:r>
            <a:endParaRPr/>
          </a:p>
        </p:txBody>
      </p:sp>
      <p:sp>
        <p:nvSpPr>
          <p:cNvPr id="894" name="Google Shape;894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895" name="Google Shape;895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896" name="Google Shape;896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97" name="Google Shape;897;p6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528" y="908720"/>
            <a:ext cx="8496944" cy="54726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67"/>
          <p:cNvSpPr txBox="1"/>
          <p:nvPr>
            <p:ph type="title"/>
          </p:nvPr>
        </p:nvSpPr>
        <p:spPr>
          <a:xfrm>
            <a:off x="539552" y="260648"/>
            <a:ext cx="8229600" cy="5089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Soln</a:t>
            </a:r>
            <a:endParaRPr/>
          </a:p>
        </p:txBody>
      </p:sp>
      <p:sp>
        <p:nvSpPr>
          <p:cNvPr id="903" name="Google Shape;903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904" name="Google Shape;904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05" name="Google Shape;905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06" name="Google Shape;906;p6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907" name="Google Shape;907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980728"/>
            <a:ext cx="8280920" cy="52565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2" name="Google Shape;912;p6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Breakup</a:t>
            </a:r>
            <a:endParaRPr/>
          </a:p>
        </p:txBody>
      </p:sp>
      <p:sp>
        <p:nvSpPr>
          <p:cNvPr id="913" name="Google Shape;913;p6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Gantt Chart=1 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Average Waiting Time=2 M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b="1" lang="en-US"/>
              <a:t>Average Turnaround time=2 M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914" name="Google Shape;914;p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915" name="Google Shape;915;p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16" name="Google Shape;916;p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p6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Pre-emptive Algorithms</a:t>
            </a:r>
            <a:endParaRPr/>
          </a:p>
        </p:txBody>
      </p:sp>
      <p:sp>
        <p:nvSpPr>
          <p:cNvPr id="922" name="Google Shape;922;p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923" name="Google Shape;923;p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24" name="Google Shape;924;p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7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Shortest Remaining Time First (SRTF)</a:t>
            </a:r>
            <a:endParaRPr/>
          </a:p>
        </p:txBody>
      </p:sp>
      <p:sp>
        <p:nvSpPr>
          <p:cNvPr id="930" name="Google Shape;930;p7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 the Shortest Remaining Time First (SRTF) scheduling algorithm, </a:t>
            </a:r>
            <a:endParaRPr sz="24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The process with the smallest amount of time remaining until completion is selected to execute.</a:t>
            </a:r>
            <a:endParaRPr/>
          </a:p>
        </p:txBody>
      </p:sp>
      <p:sp>
        <p:nvSpPr>
          <p:cNvPr id="931" name="Google Shape;931;p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932" name="Google Shape;932;p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33" name="Google Shape;933;p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939" name="Google Shape;939;p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40" name="Google Shape;940;p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41" name="Google Shape;941;p7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572" y="548680"/>
            <a:ext cx="7596844" cy="34563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5" name="Shape 9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6" name="Google Shape;946;p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947" name="Google Shape;947;p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48" name="Google Shape;948;p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949" name="Google Shape;949;p7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9572" y="548680"/>
            <a:ext cx="7596844" cy="3456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950" name="Google Shape;950;p7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7624" y="4149080"/>
            <a:ext cx="5904656" cy="792088"/>
          </a:xfrm>
          <a:prstGeom prst="rect">
            <a:avLst/>
          </a:prstGeom>
          <a:noFill/>
          <a:ln>
            <a:noFill/>
          </a:ln>
        </p:spPr>
      </p:pic>
      <p:sp>
        <p:nvSpPr>
          <p:cNvPr id="951" name="Google Shape;951;p72"/>
          <p:cNvSpPr/>
          <p:nvPr/>
        </p:nvSpPr>
        <p:spPr>
          <a:xfrm>
            <a:off x="719572" y="5175643"/>
            <a:ext cx="6840760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 waiting time: 0 + (4-2-0) = 2</a:t>
            </a:r>
            <a:b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 waiting time: (2-2)=0</a:t>
            </a:r>
            <a:b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average waiting time(AWT): (0 + 2) / 2 = 1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6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73"/>
          <p:cNvSpPr txBox="1"/>
          <p:nvPr>
            <p:ph type="title"/>
          </p:nvPr>
        </p:nvSpPr>
        <p:spPr>
          <a:xfrm>
            <a:off x="457200" y="116632"/>
            <a:ext cx="8229600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for Preemptive SJF (SRTF)</a:t>
            </a:r>
            <a:endParaRPr/>
          </a:p>
        </p:txBody>
      </p:sp>
      <p:sp>
        <p:nvSpPr>
          <p:cNvPr id="958" name="Google Shape;958;p73"/>
          <p:cNvSpPr txBox="1"/>
          <p:nvPr>
            <p:ph idx="1" type="body"/>
          </p:nvPr>
        </p:nvSpPr>
        <p:spPr>
          <a:xfrm>
            <a:off x="683568" y="701080"/>
            <a:ext cx="7992888" cy="509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/>
              <a:t>	        </a:t>
            </a:r>
            <a:r>
              <a:rPr lang="en-US" sz="1800"/>
              <a:t>	</a:t>
            </a:r>
            <a:r>
              <a:rPr lang="en-US" sz="1800" u="sng"/>
              <a:t>Process </a:t>
            </a:r>
            <a:r>
              <a:rPr lang="en-US" sz="1800"/>
              <a:t>     	</a:t>
            </a:r>
            <a:r>
              <a:rPr lang="en-US" sz="1800" u="sng"/>
              <a:t>Arrival Time</a:t>
            </a:r>
            <a:r>
              <a:rPr lang="en-US" sz="1800"/>
              <a:t>	</a:t>
            </a:r>
            <a:r>
              <a:rPr lang="en-US" sz="1800" u="sng"/>
              <a:t>Burst Time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</a:t>
            </a:r>
            <a:r>
              <a:rPr i="1" lang="en-US" sz="1800"/>
              <a:t>P</a:t>
            </a:r>
            <a:r>
              <a:rPr baseline="-25000" i="1" lang="en-US" sz="1800"/>
              <a:t>1</a:t>
            </a:r>
            <a:r>
              <a:rPr lang="en-US" sz="1800"/>
              <a:t>	0.0	7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2	</a:t>
            </a:r>
            <a:r>
              <a:rPr lang="en-US" sz="1800"/>
              <a:t>2.0	4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3</a:t>
            </a:r>
            <a:r>
              <a:rPr lang="en-US" sz="1800"/>
              <a:t>	4.0	1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4</a:t>
            </a:r>
            <a:r>
              <a:rPr lang="en-US" sz="1800"/>
              <a:t>	5.0	4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</p:txBody>
      </p:sp>
      <p:sp>
        <p:nvSpPr>
          <p:cNvPr id="959" name="Google Shape;959;p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960" name="Google Shape;960;p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61" name="Google Shape;961;p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7" name="Google Shape;967;p74"/>
          <p:cNvSpPr txBox="1"/>
          <p:nvPr>
            <p:ph type="title"/>
          </p:nvPr>
        </p:nvSpPr>
        <p:spPr>
          <a:xfrm>
            <a:off x="457200" y="116632"/>
            <a:ext cx="8229600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Example for Preemptive SJF (SRTF)</a:t>
            </a:r>
            <a:endParaRPr/>
          </a:p>
        </p:txBody>
      </p:sp>
      <p:sp>
        <p:nvSpPr>
          <p:cNvPr id="968" name="Google Shape;968;p74"/>
          <p:cNvSpPr txBox="1"/>
          <p:nvPr>
            <p:ph idx="1" type="body"/>
          </p:nvPr>
        </p:nvSpPr>
        <p:spPr>
          <a:xfrm>
            <a:off x="552040" y="404664"/>
            <a:ext cx="7992888" cy="531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/>
              <a:t>	        </a:t>
            </a:r>
            <a:r>
              <a:rPr lang="en-US" sz="1800"/>
              <a:t>	</a:t>
            </a:r>
            <a:r>
              <a:rPr lang="en-US" sz="1800" u="sng"/>
              <a:t>Process </a:t>
            </a:r>
            <a:r>
              <a:rPr lang="en-US" sz="1800"/>
              <a:t>     	</a:t>
            </a:r>
            <a:r>
              <a:rPr lang="en-US" sz="1800" u="sng"/>
              <a:t>Arrival Time</a:t>
            </a:r>
            <a:r>
              <a:rPr lang="en-US" sz="1800"/>
              <a:t>	</a:t>
            </a:r>
            <a:r>
              <a:rPr lang="en-US" sz="1800" u="sng"/>
              <a:t>Burst Time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</a:t>
            </a:r>
            <a:r>
              <a:rPr i="1" lang="en-US" sz="1800"/>
              <a:t>P</a:t>
            </a:r>
            <a:r>
              <a:rPr baseline="-25000" i="1" lang="en-US" sz="1800"/>
              <a:t>1</a:t>
            </a:r>
            <a:r>
              <a:rPr lang="en-US" sz="1800"/>
              <a:t>	0.0	7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2	</a:t>
            </a:r>
            <a:r>
              <a:rPr lang="en-US" sz="1800"/>
              <a:t>2.0	4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3</a:t>
            </a:r>
            <a:r>
              <a:rPr lang="en-US" sz="1800"/>
              <a:t>	4.0	1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4</a:t>
            </a:r>
            <a:r>
              <a:rPr lang="en-US" sz="1800"/>
              <a:t>	5.0	4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Time 0 – P</a:t>
            </a:r>
            <a:r>
              <a:rPr baseline="-25000" lang="en-US" sz="2000"/>
              <a:t>1</a:t>
            </a:r>
            <a:r>
              <a:rPr lang="en-US" sz="2000"/>
              <a:t> gets the CPU      Ready = [(P</a:t>
            </a:r>
            <a:r>
              <a:rPr baseline="-25000" lang="en-US" sz="2000"/>
              <a:t>1</a:t>
            </a:r>
            <a:r>
              <a:rPr lang="en-US" sz="2000"/>
              <a:t>,7)}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Time 2 – P</a:t>
            </a:r>
            <a:r>
              <a:rPr baseline="-25000" lang="en-US" sz="2000"/>
              <a:t>2</a:t>
            </a:r>
            <a:r>
              <a:rPr lang="en-US" sz="2000"/>
              <a:t> arrives –  CPU has </a:t>
            </a:r>
            <a:r>
              <a:rPr b="1" lang="en-US" sz="2000"/>
              <a:t>P</a:t>
            </a:r>
            <a:r>
              <a:rPr b="1" baseline="-25000" lang="en-US" sz="2000"/>
              <a:t>1</a:t>
            </a:r>
            <a:r>
              <a:rPr b="1" lang="en-US" sz="2000"/>
              <a:t> with rem. time=5</a:t>
            </a:r>
            <a:r>
              <a:rPr lang="en-US" sz="2000"/>
              <a:t>,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2</a:t>
            </a:r>
            <a:r>
              <a:rPr lang="en-US" sz="2000"/>
              <a:t>,4)]    -P</a:t>
            </a:r>
            <a:r>
              <a:rPr baseline="-25000" lang="en-US" sz="2000"/>
              <a:t>2</a:t>
            </a:r>
            <a:r>
              <a:rPr lang="en-US" sz="2000"/>
              <a:t> gets the CPU, P1 is preempted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1</a:t>
            </a:r>
            <a:r>
              <a:rPr lang="en-US" sz="2000"/>
              <a:t>,5)]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Time 4 – P</a:t>
            </a:r>
            <a:r>
              <a:rPr baseline="-25000" lang="en-US" sz="2000"/>
              <a:t>3</a:t>
            </a:r>
            <a:r>
              <a:rPr lang="en-US" sz="2000"/>
              <a:t> arrives – CPU has </a:t>
            </a:r>
            <a:r>
              <a:rPr b="1" lang="en-US" sz="2000"/>
              <a:t>P</a:t>
            </a:r>
            <a:r>
              <a:rPr b="1" baseline="-25000" lang="en-US" sz="2000"/>
              <a:t>2</a:t>
            </a:r>
            <a:r>
              <a:rPr b="1" lang="en-US" sz="2000"/>
              <a:t> with rem. time = 2</a:t>
            </a:r>
            <a:r>
              <a:rPr lang="en-US" sz="2000"/>
              <a:t>,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1</a:t>
            </a:r>
            <a:r>
              <a:rPr lang="en-US" sz="2000"/>
              <a:t>,5),(P</a:t>
            </a:r>
            <a:r>
              <a:rPr baseline="-25000" lang="en-US" sz="2000"/>
              <a:t>3</a:t>
            </a:r>
            <a:r>
              <a:rPr lang="en-US" sz="2000"/>
              <a:t>,1)] – P</a:t>
            </a:r>
            <a:r>
              <a:rPr baseline="-25000" lang="en-US" sz="2000"/>
              <a:t>3</a:t>
            </a:r>
            <a:r>
              <a:rPr lang="en-US" sz="2000"/>
              <a:t> gets the CPU, P2 is preempted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1</a:t>
            </a:r>
            <a:r>
              <a:rPr lang="en-US" sz="2000"/>
              <a:t>,5),(P2,2)}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969" name="Google Shape;969;p74"/>
          <p:cNvSpPr/>
          <p:nvPr/>
        </p:nvSpPr>
        <p:spPr>
          <a:xfrm>
            <a:off x="1447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0" name="Google Shape;970;p74"/>
          <p:cNvSpPr/>
          <p:nvPr/>
        </p:nvSpPr>
        <p:spPr>
          <a:xfrm>
            <a:off x="1828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1" name="Google Shape;971;p74"/>
          <p:cNvSpPr/>
          <p:nvPr/>
        </p:nvSpPr>
        <p:spPr>
          <a:xfrm>
            <a:off x="2209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2" name="Google Shape;972;p74"/>
          <p:cNvSpPr/>
          <p:nvPr/>
        </p:nvSpPr>
        <p:spPr>
          <a:xfrm>
            <a:off x="2590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73" name="Google Shape;973;p74"/>
          <p:cNvSpPr/>
          <p:nvPr/>
        </p:nvSpPr>
        <p:spPr>
          <a:xfrm>
            <a:off x="2971800" y="5410200"/>
            <a:ext cx="381000" cy="609600"/>
          </a:xfrm>
          <a:prstGeom prst="rect">
            <a:avLst/>
          </a:prstGeom>
          <a:solidFill>
            <a:srgbClr val="CCEC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974" name="Google Shape;974;p74"/>
          <p:cNvCxnSpPr/>
          <p:nvPr/>
        </p:nvCxnSpPr>
        <p:spPr>
          <a:xfrm>
            <a:off x="1447800" y="5410200"/>
            <a:ext cx="3581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5" name="Google Shape;975;p74"/>
          <p:cNvCxnSpPr/>
          <p:nvPr/>
        </p:nvCxnSpPr>
        <p:spPr>
          <a:xfrm>
            <a:off x="1447800" y="6019800"/>
            <a:ext cx="35814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6" name="Google Shape;976;p74"/>
          <p:cNvCxnSpPr/>
          <p:nvPr/>
        </p:nvCxnSpPr>
        <p:spPr>
          <a:xfrm>
            <a:off x="1447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7" name="Google Shape;977;p74"/>
          <p:cNvCxnSpPr/>
          <p:nvPr/>
        </p:nvCxnSpPr>
        <p:spPr>
          <a:xfrm>
            <a:off x="2209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8" name="Google Shape;978;p74"/>
          <p:cNvCxnSpPr/>
          <p:nvPr/>
        </p:nvCxnSpPr>
        <p:spPr>
          <a:xfrm>
            <a:off x="1828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79" name="Google Shape;979;p74"/>
          <p:cNvCxnSpPr/>
          <p:nvPr/>
        </p:nvCxnSpPr>
        <p:spPr>
          <a:xfrm>
            <a:off x="2209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0" name="Google Shape;980;p74"/>
          <p:cNvCxnSpPr/>
          <p:nvPr/>
        </p:nvCxnSpPr>
        <p:spPr>
          <a:xfrm>
            <a:off x="2590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1" name="Google Shape;981;p74"/>
          <p:cNvCxnSpPr/>
          <p:nvPr/>
        </p:nvCxnSpPr>
        <p:spPr>
          <a:xfrm>
            <a:off x="2971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2" name="Google Shape;982;p74"/>
          <p:cNvCxnSpPr/>
          <p:nvPr/>
        </p:nvCxnSpPr>
        <p:spPr>
          <a:xfrm>
            <a:off x="3352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983" name="Google Shape;983;p74"/>
          <p:cNvCxnSpPr/>
          <p:nvPr/>
        </p:nvCxnSpPr>
        <p:spPr>
          <a:xfrm>
            <a:off x="2971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4" name="Google Shape;984;p74"/>
          <p:cNvSpPr txBox="1"/>
          <p:nvPr/>
        </p:nvSpPr>
        <p:spPr>
          <a:xfrm>
            <a:off x="16367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985" name="Google Shape;985;p74"/>
          <p:cNvSpPr txBox="1"/>
          <p:nvPr/>
        </p:nvSpPr>
        <p:spPr>
          <a:xfrm>
            <a:off x="23987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86" name="Google Shape;986;p74"/>
          <p:cNvSpPr txBox="1"/>
          <p:nvPr/>
        </p:nvSpPr>
        <p:spPr>
          <a:xfrm>
            <a:off x="29321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987" name="Google Shape;987;p74"/>
          <p:cNvCxnSpPr/>
          <p:nvPr/>
        </p:nvCxnSpPr>
        <p:spPr>
          <a:xfrm>
            <a:off x="3352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8" name="Google Shape;988;p74"/>
          <p:cNvSpPr txBox="1"/>
          <p:nvPr/>
        </p:nvSpPr>
        <p:spPr>
          <a:xfrm>
            <a:off x="2051050" y="620871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989" name="Google Shape;989;p74"/>
          <p:cNvSpPr txBox="1"/>
          <p:nvPr/>
        </p:nvSpPr>
        <p:spPr>
          <a:xfrm>
            <a:off x="2813050" y="618648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990" name="Google Shape;990;p74"/>
          <p:cNvSpPr txBox="1"/>
          <p:nvPr/>
        </p:nvSpPr>
        <p:spPr>
          <a:xfrm>
            <a:off x="3194050" y="61722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991" name="Google Shape;991;p74"/>
          <p:cNvSpPr/>
          <p:nvPr/>
        </p:nvSpPr>
        <p:spPr>
          <a:xfrm>
            <a:off x="6300192" y="2924944"/>
            <a:ext cx="2232248" cy="43204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2" name="Google Shape;992;p74"/>
          <p:cNvSpPr/>
          <p:nvPr/>
        </p:nvSpPr>
        <p:spPr>
          <a:xfrm>
            <a:off x="6444208" y="3717032"/>
            <a:ext cx="2232248" cy="432048"/>
          </a:xfrm>
          <a:prstGeom prst="curvedDown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3" name="Google Shape;993;p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994" name="Google Shape;994;p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995" name="Google Shape;995;p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8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75"/>
          <p:cNvSpPr/>
          <p:nvPr/>
        </p:nvSpPr>
        <p:spPr>
          <a:xfrm>
            <a:off x="6019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2" name="Google Shape;1002;p75"/>
          <p:cNvSpPr/>
          <p:nvPr/>
        </p:nvSpPr>
        <p:spPr>
          <a:xfrm>
            <a:off x="5638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3" name="Google Shape;1003;p75"/>
          <p:cNvSpPr/>
          <p:nvPr/>
        </p:nvSpPr>
        <p:spPr>
          <a:xfrm>
            <a:off x="5257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4" name="Google Shape;1004;p75"/>
          <p:cNvSpPr/>
          <p:nvPr/>
        </p:nvSpPr>
        <p:spPr>
          <a:xfrm>
            <a:off x="4876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5" name="Google Shape;1005;p75"/>
          <p:cNvSpPr/>
          <p:nvPr/>
        </p:nvSpPr>
        <p:spPr>
          <a:xfrm>
            <a:off x="4495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6" name="Google Shape;1006;p75"/>
          <p:cNvSpPr/>
          <p:nvPr/>
        </p:nvSpPr>
        <p:spPr>
          <a:xfrm>
            <a:off x="4114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7" name="Google Shape;1007;p75"/>
          <p:cNvSpPr/>
          <p:nvPr/>
        </p:nvSpPr>
        <p:spPr>
          <a:xfrm>
            <a:off x="3352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8" name="Google Shape;1008;p75"/>
          <p:cNvSpPr/>
          <p:nvPr/>
        </p:nvSpPr>
        <p:spPr>
          <a:xfrm>
            <a:off x="3733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9" name="Google Shape;1009;p75"/>
          <p:cNvSpPr txBox="1"/>
          <p:nvPr>
            <p:ph idx="1" type="body"/>
          </p:nvPr>
        </p:nvSpPr>
        <p:spPr>
          <a:xfrm>
            <a:off x="1066800" y="620687"/>
            <a:ext cx="7029450" cy="5588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/>
              <a:t>	        </a:t>
            </a:r>
            <a:r>
              <a:rPr lang="en-US" sz="1800"/>
              <a:t>	</a:t>
            </a:r>
            <a:r>
              <a:rPr lang="en-US" sz="1800" u="sng"/>
              <a:t>Process </a:t>
            </a:r>
            <a:r>
              <a:rPr lang="en-US" sz="1800"/>
              <a:t>     	</a:t>
            </a:r>
            <a:r>
              <a:rPr lang="en-US" sz="1800" u="sng"/>
              <a:t>Arrival Time</a:t>
            </a:r>
            <a:r>
              <a:rPr lang="en-US" sz="1800"/>
              <a:t>	</a:t>
            </a:r>
            <a:r>
              <a:rPr lang="en-US" sz="1800" u="sng"/>
              <a:t>Burst Time</a:t>
            </a:r>
            <a:endParaRPr sz="1800"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</a:t>
            </a:r>
            <a:r>
              <a:rPr i="1" lang="en-US" sz="1800"/>
              <a:t>P</a:t>
            </a:r>
            <a:r>
              <a:rPr baseline="-25000" i="1" lang="en-US" sz="1800"/>
              <a:t>1</a:t>
            </a:r>
            <a:r>
              <a:rPr lang="en-US" sz="1800"/>
              <a:t>	0.0	7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2	</a:t>
            </a:r>
            <a:r>
              <a:rPr lang="en-US" sz="1800"/>
              <a:t>2.0	4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3</a:t>
            </a:r>
            <a:r>
              <a:rPr lang="en-US" sz="1800"/>
              <a:t>	4.0	1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/>
              <a:t>		 </a:t>
            </a:r>
            <a:r>
              <a:rPr i="1" lang="en-US" sz="1800"/>
              <a:t>P</a:t>
            </a:r>
            <a:r>
              <a:rPr baseline="-25000" i="1" lang="en-US" sz="1800"/>
              <a:t>4</a:t>
            </a:r>
            <a:r>
              <a:rPr lang="en-US" sz="1800"/>
              <a:t>	5.0	4</a:t>
            </a:r>
            <a:endParaRPr/>
          </a:p>
          <a:p>
            <a:pPr indent="-342900" lvl="0" marL="34290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1</a:t>
            </a:r>
            <a:r>
              <a:rPr lang="en-US" sz="2000"/>
              <a:t>,5),(P2,2)]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Time 5 – P</a:t>
            </a:r>
            <a:r>
              <a:rPr baseline="-25000" lang="en-US" sz="2000"/>
              <a:t>3</a:t>
            </a:r>
            <a:r>
              <a:rPr lang="en-US" sz="2000"/>
              <a:t> completes and P</a:t>
            </a:r>
            <a:r>
              <a:rPr baseline="-25000" lang="en-US" sz="2000"/>
              <a:t>4</a:t>
            </a:r>
            <a:r>
              <a:rPr lang="en-US" sz="2000"/>
              <a:t> arrives –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1</a:t>
            </a:r>
            <a:r>
              <a:rPr lang="en-US" sz="2000"/>
              <a:t>,5),(P</a:t>
            </a:r>
            <a:r>
              <a:rPr baseline="-25000" lang="en-US" sz="2000"/>
              <a:t>2</a:t>
            </a:r>
            <a:r>
              <a:rPr lang="en-US" sz="2000"/>
              <a:t>,2),(P</a:t>
            </a:r>
            <a:r>
              <a:rPr baseline="-25000" lang="en-US" sz="2000"/>
              <a:t>4</a:t>
            </a:r>
            <a:r>
              <a:rPr lang="en-US" sz="2000"/>
              <a:t>,4)] – P</a:t>
            </a:r>
            <a:r>
              <a:rPr baseline="-25000" lang="en-US" sz="2000"/>
              <a:t>2</a:t>
            </a:r>
            <a:r>
              <a:rPr lang="en-US" sz="2000"/>
              <a:t> gets the CPU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Time 7 – P</a:t>
            </a:r>
            <a:r>
              <a:rPr baseline="-25000" lang="en-US" sz="2000"/>
              <a:t>2</a:t>
            </a:r>
            <a:r>
              <a:rPr lang="en-US" sz="2000"/>
              <a:t> completes – 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Ready = [(P</a:t>
            </a:r>
            <a:r>
              <a:rPr baseline="-25000" lang="en-US" sz="2000"/>
              <a:t>1</a:t>
            </a:r>
            <a:r>
              <a:rPr lang="en-US" sz="2000"/>
              <a:t>,5),(P</a:t>
            </a:r>
            <a:r>
              <a:rPr baseline="-25000" lang="en-US" sz="2000"/>
              <a:t>4</a:t>
            </a:r>
            <a:r>
              <a:rPr lang="en-US" sz="2000"/>
              <a:t>,4)] – P</a:t>
            </a:r>
            <a:r>
              <a:rPr baseline="-25000" lang="en-US" sz="2000"/>
              <a:t>4</a:t>
            </a:r>
            <a:r>
              <a:rPr lang="en-US" sz="2000"/>
              <a:t> gets the CPU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Time 11 – P</a:t>
            </a:r>
            <a:r>
              <a:rPr baseline="-25000" lang="en-US" sz="2000"/>
              <a:t>4</a:t>
            </a:r>
            <a:r>
              <a:rPr lang="en-US" sz="2000"/>
              <a:t> completes, P</a:t>
            </a:r>
            <a:r>
              <a:rPr baseline="-25000" lang="en-US" sz="2000"/>
              <a:t>1</a:t>
            </a:r>
            <a:r>
              <a:rPr lang="en-US" sz="2000"/>
              <a:t> gets the CPU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1010" name="Google Shape;1010;p75"/>
          <p:cNvSpPr/>
          <p:nvPr/>
        </p:nvSpPr>
        <p:spPr>
          <a:xfrm>
            <a:off x="1447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1" name="Google Shape;1011;p75"/>
          <p:cNvSpPr/>
          <p:nvPr/>
        </p:nvSpPr>
        <p:spPr>
          <a:xfrm>
            <a:off x="1828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2" name="Google Shape;1012;p75"/>
          <p:cNvSpPr/>
          <p:nvPr/>
        </p:nvSpPr>
        <p:spPr>
          <a:xfrm>
            <a:off x="2209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3" name="Google Shape;1013;p75"/>
          <p:cNvSpPr/>
          <p:nvPr/>
        </p:nvSpPr>
        <p:spPr>
          <a:xfrm>
            <a:off x="2590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14" name="Google Shape;1014;p75"/>
          <p:cNvSpPr/>
          <p:nvPr/>
        </p:nvSpPr>
        <p:spPr>
          <a:xfrm>
            <a:off x="2971800" y="5410200"/>
            <a:ext cx="381000" cy="609600"/>
          </a:xfrm>
          <a:prstGeom prst="rect">
            <a:avLst/>
          </a:prstGeom>
          <a:solidFill>
            <a:srgbClr val="CCEC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15" name="Google Shape;1015;p75"/>
          <p:cNvCxnSpPr/>
          <p:nvPr/>
        </p:nvCxnSpPr>
        <p:spPr>
          <a:xfrm>
            <a:off x="1447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6" name="Google Shape;1016;p75"/>
          <p:cNvCxnSpPr/>
          <p:nvPr/>
        </p:nvCxnSpPr>
        <p:spPr>
          <a:xfrm>
            <a:off x="2209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7" name="Google Shape;1017;p75"/>
          <p:cNvCxnSpPr/>
          <p:nvPr/>
        </p:nvCxnSpPr>
        <p:spPr>
          <a:xfrm>
            <a:off x="1828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8" name="Google Shape;1018;p75"/>
          <p:cNvCxnSpPr/>
          <p:nvPr/>
        </p:nvCxnSpPr>
        <p:spPr>
          <a:xfrm>
            <a:off x="2209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19" name="Google Shape;1019;p75"/>
          <p:cNvCxnSpPr/>
          <p:nvPr/>
        </p:nvCxnSpPr>
        <p:spPr>
          <a:xfrm>
            <a:off x="2590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0" name="Google Shape;1020;p75"/>
          <p:cNvCxnSpPr/>
          <p:nvPr/>
        </p:nvCxnSpPr>
        <p:spPr>
          <a:xfrm>
            <a:off x="2971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1" name="Google Shape;1021;p75"/>
          <p:cNvCxnSpPr/>
          <p:nvPr/>
        </p:nvCxnSpPr>
        <p:spPr>
          <a:xfrm>
            <a:off x="3352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2" name="Google Shape;1022;p75"/>
          <p:cNvCxnSpPr/>
          <p:nvPr/>
        </p:nvCxnSpPr>
        <p:spPr>
          <a:xfrm>
            <a:off x="3733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3" name="Google Shape;1023;p75"/>
          <p:cNvCxnSpPr/>
          <p:nvPr/>
        </p:nvCxnSpPr>
        <p:spPr>
          <a:xfrm>
            <a:off x="2971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4" name="Google Shape;1024;p75"/>
          <p:cNvSpPr txBox="1"/>
          <p:nvPr/>
        </p:nvSpPr>
        <p:spPr>
          <a:xfrm>
            <a:off x="16367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25" name="Google Shape;1025;p75"/>
          <p:cNvSpPr txBox="1"/>
          <p:nvPr/>
        </p:nvSpPr>
        <p:spPr>
          <a:xfrm>
            <a:off x="23987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26" name="Google Shape;1026;p75"/>
          <p:cNvSpPr txBox="1"/>
          <p:nvPr/>
        </p:nvSpPr>
        <p:spPr>
          <a:xfrm>
            <a:off x="29321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1027" name="Google Shape;1027;p75"/>
          <p:cNvCxnSpPr/>
          <p:nvPr/>
        </p:nvCxnSpPr>
        <p:spPr>
          <a:xfrm>
            <a:off x="3352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28" name="Google Shape;1028;p75"/>
          <p:cNvCxnSpPr/>
          <p:nvPr/>
        </p:nvCxnSpPr>
        <p:spPr>
          <a:xfrm>
            <a:off x="4114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9" name="Google Shape;1029;p75"/>
          <p:cNvSpPr txBox="1"/>
          <p:nvPr/>
        </p:nvSpPr>
        <p:spPr>
          <a:xfrm>
            <a:off x="35417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030" name="Google Shape;1030;p75"/>
          <p:cNvCxnSpPr/>
          <p:nvPr/>
        </p:nvCxnSpPr>
        <p:spPr>
          <a:xfrm>
            <a:off x="5638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1" name="Google Shape;1031;p75"/>
          <p:cNvCxnSpPr/>
          <p:nvPr/>
        </p:nvCxnSpPr>
        <p:spPr>
          <a:xfrm>
            <a:off x="4114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2" name="Google Shape;1032;p75"/>
          <p:cNvCxnSpPr/>
          <p:nvPr/>
        </p:nvCxnSpPr>
        <p:spPr>
          <a:xfrm>
            <a:off x="4495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3" name="Google Shape;1033;p75"/>
          <p:cNvCxnSpPr/>
          <p:nvPr/>
        </p:nvCxnSpPr>
        <p:spPr>
          <a:xfrm>
            <a:off x="4876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4" name="Google Shape;1034;p75"/>
          <p:cNvCxnSpPr/>
          <p:nvPr/>
        </p:nvCxnSpPr>
        <p:spPr>
          <a:xfrm>
            <a:off x="5257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5" name="Google Shape;1035;p75"/>
          <p:cNvCxnSpPr/>
          <p:nvPr/>
        </p:nvCxnSpPr>
        <p:spPr>
          <a:xfrm>
            <a:off x="5638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6" name="Google Shape;1036;p75"/>
          <p:cNvSpPr txBox="1"/>
          <p:nvPr/>
        </p:nvSpPr>
        <p:spPr>
          <a:xfrm>
            <a:off x="4724400" y="5424488"/>
            <a:ext cx="420688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037" name="Google Shape;1037;p75"/>
          <p:cNvSpPr txBox="1"/>
          <p:nvPr/>
        </p:nvSpPr>
        <p:spPr>
          <a:xfrm>
            <a:off x="3194050" y="61722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1038" name="Google Shape;1038;p75"/>
          <p:cNvSpPr txBox="1"/>
          <p:nvPr/>
        </p:nvSpPr>
        <p:spPr>
          <a:xfrm>
            <a:off x="3956050" y="61722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1039" name="Google Shape;1039;p75"/>
          <p:cNvSpPr txBox="1"/>
          <p:nvPr/>
        </p:nvSpPr>
        <p:spPr>
          <a:xfrm>
            <a:off x="5416550" y="6172200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/>
          </a:p>
        </p:txBody>
      </p:sp>
      <p:sp>
        <p:nvSpPr>
          <p:cNvPr id="1040" name="Google Shape;1040;p75"/>
          <p:cNvSpPr/>
          <p:nvPr/>
        </p:nvSpPr>
        <p:spPr>
          <a:xfrm>
            <a:off x="6400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1" name="Google Shape;1041;p75"/>
          <p:cNvSpPr/>
          <p:nvPr/>
        </p:nvSpPr>
        <p:spPr>
          <a:xfrm>
            <a:off x="6781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42" name="Google Shape;1042;p75"/>
          <p:cNvSpPr/>
          <p:nvPr/>
        </p:nvSpPr>
        <p:spPr>
          <a:xfrm>
            <a:off x="7162800" y="54102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43" name="Google Shape;1043;p75"/>
          <p:cNvCxnSpPr/>
          <p:nvPr/>
        </p:nvCxnSpPr>
        <p:spPr>
          <a:xfrm>
            <a:off x="5638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4" name="Google Shape;1044;p75"/>
          <p:cNvCxnSpPr/>
          <p:nvPr/>
        </p:nvCxnSpPr>
        <p:spPr>
          <a:xfrm>
            <a:off x="6019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5" name="Google Shape;1045;p75"/>
          <p:cNvCxnSpPr/>
          <p:nvPr/>
        </p:nvCxnSpPr>
        <p:spPr>
          <a:xfrm>
            <a:off x="6400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6" name="Google Shape;1046;p75"/>
          <p:cNvCxnSpPr/>
          <p:nvPr/>
        </p:nvCxnSpPr>
        <p:spPr>
          <a:xfrm>
            <a:off x="6781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7" name="Google Shape;1047;p75"/>
          <p:cNvCxnSpPr/>
          <p:nvPr/>
        </p:nvCxnSpPr>
        <p:spPr>
          <a:xfrm>
            <a:off x="7162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8" name="Google Shape;1048;p75"/>
          <p:cNvCxnSpPr/>
          <p:nvPr/>
        </p:nvCxnSpPr>
        <p:spPr>
          <a:xfrm>
            <a:off x="7543800" y="5867400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49" name="Google Shape;1049;p75"/>
          <p:cNvCxnSpPr/>
          <p:nvPr/>
        </p:nvCxnSpPr>
        <p:spPr>
          <a:xfrm>
            <a:off x="1447800" y="5410200"/>
            <a:ext cx="6324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0" name="Google Shape;1050;p75"/>
          <p:cNvCxnSpPr/>
          <p:nvPr/>
        </p:nvCxnSpPr>
        <p:spPr>
          <a:xfrm>
            <a:off x="1447800" y="6019800"/>
            <a:ext cx="640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51" name="Google Shape;1051;p75"/>
          <p:cNvCxnSpPr/>
          <p:nvPr/>
        </p:nvCxnSpPr>
        <p:spPr>
          <a:xfrm>
            <a:off x="7543800" y="5410200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52" name="Google Shape;1052;p75"/>
          <p:cNvSpPr txBox="1"/>
          <p:nvPr/>
        </p:nvSpPr>
        <p:spPr>
          <a:xfrm>
            <a:off x="6437313" y="5424488"/>
            <a:ext cx="420687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53" name="Google Shape;1053;p75"/>
          <p:cNvSpPr txBox="1"/>
          <p:nvPr/>
        </p:nvSpPr>
        <p:spPr>
          <a:xfrm>
            <a:off x="7334250" y="6172200"/>
            <a:ext cx="438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/>
          </a:p>
        </p:txBody>
      </p:sp>
      <p:sp>
        <p:nvSpPr>
          <p:cNvPr id="1054" name="Google Shape;1054;p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055" name="Google Shape;1055;p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056" name="Google Shape;1056;p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57" name="Google Shape;1057;p75"/>
          <p:cNvSpPr txBox="1"/>
          <p:nvPr/>
        </p:nvSpPr>
        <p:spPr>
          <a:xfrm>
            <a:off x="2051050" y="6208713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1058" name="Google Shape;1058;p75"/>
          <p:cNvSpPr txBox="1"/>
          <p:nvPr/>
        </p:nvSpPr>
        <p:spPr>
          <a:xfrm>
            <a:off x="2813050" y="618648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1059" name="Google Shape;1059;p75"/>
          <p:cNvSpPr txBox="1"/>
          <p:nvPr/>
        </p:nvSpPr>
        <p:spPr>
          <a:xfrm>
            <a:off x="457200" y="116632"/>
            <a:ext cx="8229600" cy="432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 for Preemptive SJF (SRTF)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9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4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p76"/>
          <p:cNvSpPr txBox="1"/>
          <p:nvPr>
            <p:ph idx="1" type="body"/>
          </p:nvPr>
        </p:nvSpPr>
        <p:spPr>
          <a:xfrm>
            <a:off x="1066800" y="980728"/>
            <a:ext cx="7029450" cy="576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3225"/>
              <a:buFont typeface="Noto Sans Symbols"/>
              <a:buNone/>
            </a:pPr>
            <a:r>
              <a:rPr lang="en-US"/>
              <a:t>	        </a:t>
            </a:r>
            <a:r>
              <a:rPr lang="en-US" sz="1800"/>
              <a:t>	</a:t>
            </a:r>
            <a:r>
              <a:rPr lang="en-US" sz="3100" u="sng"/>
              <a:t>Process </a:t>
            </a:r>
            <a:r>
              <a:rPr lang="en-US" sz="3100"/>
              <a:t>     	</a:t>
            </a:r>
            <a:r>
              <a:rPr lang="en-US" sz="3100" u="sng"/>
              <a:t>Arrival Time</a:t>
            </a:r>
            <a:r>
              <a:rPr lang="en-US" sz="3100"/>
              <a:t>	</a:t>
            </a:r>
            <a:r>
              <a:rPr lang="en-US" sz="3100" u="sng"/>
              <a:t>Burst Time</a:t>
            </a:r>
            <a:endParaRPr sz="3100"/>
          </a:p>
          <a:p>
            <a:pPr indent="-342900" lvl="0" marL="3429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3100"/>
              <a:t>		</a:t>
            </a:r>
            <a:r>
              <a:rPr i="1" lang="en-US" sz="3100"/>
              <a:t>P</a:t>
            </a:r>
            <a:r>
              <a:rPr baseline="-25000" i="1" lang="en-US" sz="3100"/>
              <a:t>1</a:t>
            </a:r>
            <a:r>
              <a:rPr lang="en-US" sz="3100"/>
              <a:t>	0.0	7</a:t>
            </a:r>
            <a:endParaRPr/>
          </a:p>
          <a:p>
            <a:pPr indent="-342900" lvl="0" marL="3429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3100"/>
              <a:t>		 </a:t>
            </a:r>
            <a:r>
              <a:rPr i="1" lang="en-US" sz="3100"/>
              <a:t>P</a:t>
            </a:r>
            <a:r>
              <a:rPr baseline="-25000" i="1" lang="en-US" sz="3100"/>
              <a:t>2	</a:t>
            </a:r>
            <a:r>
              <a:rPr lang="en-US" sz="3100"/>
              <a:t>2.0	4</a:t>
            </a:r>
            <a:endParaRPr/>
          </a:p>
          <a:p>
            <a:pPr indent="-342900" lvl="0" marL="3429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3100"/>
              <a:t>		 </a:t>
            </a:r>
            <a:r>
              <a:rPr i="1" lang="en-US" sz="3100"/>
              <a:t>P</a:t>
            </a:r>
            <a:r>
              <a:rPr baseline="-25000" i="1" lang="en-US" sz="3100"/>
              <a:t>3</a:t>
            </a:r>
            <a:r>
              <a:rPr lang="en-US" sz="3100"/>
              <a:t>	4.0	1</a:t>
            </a:r>
            <a:endParaRPr/>
          </a:p>
          <a:p>
            <a:pPr indent="-342900" lvl="0" marL="342900" rtl="0" algn="l">
              <a:spcBef>
                <a:spcPts val="434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rPr lang="en-US" sz="3100"/>
              <a:t>		 </a:t>
            </a:r>
            <a:r>
              <a:rPr i="1" lang="en-US" sz="3100"/>
              <a:t>P</a:t>
            </a:r>
            <a:r>
              <a:rPr baseline="-25000" i="1" lang="en-US" sz="3100"/>
              <a:t>4</a:t>
            </a:r>
            <a:r>
              <a:rPr lang="en-US" sz="3100"/>
              <a:t>	5.0	4</a:t>
            </a:r>
            <a:endParaRPr sz="1800"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SJF (preemptive)</a:t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0066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Waiting Time for Processes: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P1=(0+(11-2))=9,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P2=((2-2)+(5-4))=1,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P3=(4-4)=0, 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P4=(7-5)=2</a:t>
            </a:r>
            <a:endParaRPr/>
          </a:p>
          <a:p>
            <a:pPr indent="-342900" lvl="0" marL="342900" rtl="0" algn="l">
              <a:spcBef>
                <a:spcPts val="44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Average waiting time = (9 + 1 + 0 +2)/4 = 3</a:t>
            </a:r>
            <a:endParaRPr baseline="-25000" i="1"/>
          </a:p>
        </p:txBody>
      </p:sp>
      <p:sp>
        <p:nvSpPr>
          <p:cNvPr id="1066" name="Google Shape;1066;p76"/>
          <p:cNvSpPr/>
          <p:nvPr/>
        </p:nvSpPr>
        <p:spPr>
          <a:xfrm>
            <a:off x="1219200" y="3733800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7" name="Google Shape;1067;p7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for Preemptive SJF (SRTF)</a:t>
            </a:r>
            <a:endParaRPr/>
          </a:p>
        </p:txBody>
      </p:sp>
      <p:sp>
        <p:nvSpPr>
          <p:cNvPr id="1068" name="Google Shape;1068;p76"/>
          <p:cNvSpPr/>
          <p:nvPr/>
        </p:nvSpPr>
        <p:spPr>
          <a:xfrm>
            <a:off x="5791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69" name="Google Shape;1069;p76"/>
          <p:cNvSpPr/>
          <p:nvPr/>
        </p:nvSpPr>
        <p:spPr>
          <a:xfrm>
            <a:off x="5410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0" name="Google Shape;1070;p76"/>
          <p:cNvSpPr/>
          <p:nvPr/>
        </p:nvSpPr>
        <p:spPr>
          <a:xfrm>
            <a:off x="5029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1" name="Google Shape;1071;p76"/>
          <p:cNvSpPr/>
          <p:nvPr/>
        </p:nvSpPr>
        <p:spPr>
          <a:xfrm>
            <a:off x="4648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2" name="Google Shape;1072;p76"/>
          <p:cNvSpPr/>
          <p:nvPr/>
        </p:nvSpPr>
        <p:spPr>
          <a:xfrm>
            <a:off x="4267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3" name="Google Shape;1073;p76"/>
          <p:cNvSpPr/>
          <p:nvPr/>
        </p:nvSpPr>
        <p:spPr>
          <a:xfrm>
            <a:off x="3886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4" name="Google Shape;1074;p76"/>
          <p:cNvSpPr/>
          <p:nvPr/>
        </p:nvSpPr>
        <p:spPr>
          <a:xfrm>
            <a:off x="3124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5" name="Google Shape;1075;p76"/>
          <p:cNvSpPr/>
          <p:nvPr/>
        </p:nvSpPr>
        <p:spPr>
          <a:xfrm>
            <a:off x="3505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6" name="Google Shape;1076;p76"/>
          <p:cNvSpPr/>
          <p:nvPr/>
        </p:nvSpPr>
        <p:spPr>
          <a:xfrm>
            <a:off x="1317625" y="3868738"/>
            <a:ext cx="184150" cy="366712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7" name="Google Shape;1077;p76"/>
          <p:cNvSpPr/>
          <p:nvPr/>
        </p:nvSpPr>
        <p:spPr>
          <a:xfrm>
            <a:off x="1600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8" name="Google Shape;1078;p76"/>
          <p:cNvSpPr/>
          <p:nvPr/>
        </p:nvSpPr>
        <p:spPr>
          <a:xfrm>
            <a:off x="1981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79" name="Google Shape;1079;p76"/>
          <p:cNvSpPr/>
          <p:nvPr/>
        </p:nvSpPr>
        <p:spPr>
          <a:xfrm>
            <a:off x="2362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0" name="Google Shape;1080;p76"/>
          <p:cNvSpPr/>
          <p:nvPr/>
        </p:nvSpPr>
        <p:spPr>
          <a:xfrm>
            <a:off x="2743200" y="3748088"/>
            <a:ext cx="381000" cy="609600"/>
          </a:xfrm>
          <a:prstGeom prst="rect">
            <a:avLst/>
          </a:prstGeom>
          <a:solidFill>
            <a:srgbClr val="CCECFF"/>
          </a:solidFill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081" name="Google Shape;1081;p76"/>
          <p:cNvCxnSpPr/>
          <p:nvPr/>
        </p:nvCxnSpPr>
        <p:spPr>
          <a:xfrm>
            <a:off x="1219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2" name="Google Shape;1082;p76"/>
          <p:cNvCxnSpPr/>
          <p:nvPr/>
        </p:nvCxnSpPr>
        <p:spPr>
          <a:xfrm>
            <a:off x="1981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3" name="Google Shape;1083;p76"/>
          <p:cNvCxnSpPr/>
          <p:nvPr/>
        </p:nvCxnSpPr>
        <p:spPr>
          <a:xfrm>
            <a:off x="1600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4" name="Google Shape;1084;p76"/>
          <p:cNvCxnSpPr/>
          <p:nvPr/>
        </p:nvCxnSpPr>
        <p:spPr>
          <a:xfrm>
            <a:off x="1981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5" name="Google Shape;1085;p76"/>
          <p:cNvCxnSpPr/>
          <p:nvPr/>
        </p:nvCxnSpPr>
        <p:spPr>
          <a:xfrm>
            <a:off x="2362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6" name="Google Shape;1086;p76"/>
          <p:cNvCxnSpPr/>
          <p:nvPr/>
        </p:nvCxnSpPr>
        <p:spPr>
          <a:xfrm>
            <a:off x="2743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7" name="Google Shape;1087;p76"/>
          <p:cNvCxnSpPr/>
          <p:nvPr/>
        </p:nvCxnSpPr>
        <p:spPr>
          <a:xfrm>
            <a:off x="3124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8" name="Google Shape;1088;p76"/>
          <p:cNvCxnSpPr/>
          <p:nvPr/>
        </p:nvCxnSpPr>
        <p:spPr>
          <a:xfrm>
            <a:off x="3505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89" name="Google Shape;1089;p76"/>
          <p:cNvCxnSpPr/>
          <p:nvPr/>
        </p:nvCxnSpPr>
        <p:spPr>
          <a:xfrm>
            <a:off x="2743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0" name="Google Shape;1090;p76"/>
          <p:cNvSpPr txBox="1"/>
          <p:nvPr/>
        </p:nvSpPr>
        <p:spPr>
          <a:xfrm>
            <a:off x="1408113" y="3762375"/>
            <a:ext cx="4206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091" name="Google Shape;1091;p76"/>
          <p:cNvSpPr txBox="1"/>
          <p:nvPr/>
        </p:nvSpPr>
        <p:spPr>
          <a:xfrm>
            <a:off x="2170113" y="3762375"/>
            <a:ext cx="4206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092" name="Google Shape;1092;p76"/>
          <p:cNvSpPr txBox="1"/>
          <p:nvPr/>
        </p:nvSpPr>
        <p:spPr>
          <a:xfrm>
            <a:off x="2703513" y="3762375"/>
            <a:ext cx="4206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cxnSp>
        <p:nvCxnSpPr>
          <p:cNvPr id="1093" name="Google Shape;1093;p76"/>
          <p:cNvCxnSpPr/>
          <p:nvPr/>
        </p:nvCxnSpPr>
        <p:spPr>
          <a:xfrm>
            <a:off x="3124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4" name="Google Shape;1094;p76"/>
          <p:cNvCxnSpPr/>
          <p:nvPr/>
        </p:nvCxnSpPr>
        <p:spPr>
          <a:xfrm>
            <a:off x="3886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95" name="Google Shape;1095;p76"/>
          <p:cNvSpPr txBox="1"/>
          <p:nvPr/>
        </p:nvSpPr>
        <p:spPr>
          <a:xfrm>
            <a:off x="3313113" y="3762375"/>
            <a:ext cx="4206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cxnSp>
        <p:nvCxnSpPr>
          <p:cNvPr id="1096" name="Google Shape;1096;p76"/>
          <p:cNvCxnSpPr/>
          <p:nvPr/>
        </p:nvCxnSpPr>
        <p:spPr>
          <a:xfrm>
            <a:off x="5410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7" name="Google Shape;1097;p76"/>
          <p:cNvCxnSpPr/>
          <p:nvPr/>
        </p:nvCxnSpPr>
        <p:spPr>
          <a:xfrm>
            <a:off x="3886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8" name="Google Shape;1098;p76"/>
          <p:cNvCxnSpPr/>
          <p:nvPr/>
        </p:nvCxnSpPr>
        <p:spPr>
          <a:xfrm>
            <a:off x="4267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99" name="Google Shape;1099;p76"/>
          <p:cNvCxnSpPr/>
          <p:nvPr/>
        </p:nvCxnSpPr>
        <p:spPr>
          <a:xfrm>
            <a:off x="4648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0" name="Google Shape;1100;p76"/>
          <p:cNvCxnSpPr/>
          <p:nvPr/>
        </p:nvCxnSpPr>
        <p:spPr>
          <a:xfrm>
            <a:off x="5029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01" name="Google Shape;1101;p76"/>
          <p:cNvCxnSpPr/>
          <p:nvPr/>
        </p:nvCxnSpPr>
        <p:spPr>
          <a:xfrm>
            <a:off x="5410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2" name="Google Shape;1102;p76"/>
          <p:cNvSpPr txBox="1"/>
          <p:nvPr/>
        </p:nvSpPr>
        <p:spPr>
          <a:xfrm>
            <a:off x="4495800" y="3762375"/>
            <a:ext cx="420688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103" name="Google Shape;1103;p76"/>
          <p:cNvSpPr txBox="1"/>
          <p:nvPr/>
        </p:nvSpPr>
        <p:spPr>
          <a:xfrm>
            <a:off x="2965450" y="451008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5</a:t>
            </a:r>
            <a:endParaRPr/>
          </a:p>
        </p:txBody>
      </p:sp>
      <p:sp>
        <p:nvSpPr>
          <p:cNvPr id="1104" name="Google Shape;1104;p76"/>
          <p:cNvSpPr txBox="1"/>
          <p:nvPr/>
        </p:nvSpPr>
        <p:spPr>
          <a:xfrm>
            <a:off x="3727450" y="4510088"/>
            <a:ext cx="311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7</a:t>
            </a:r>
            <a:endParaRPr/>
          </a:p>
        </p:txBody>
      </p:sp>
      <p:sp>
        <p:nvSpPr>
          <p:cNvPr id="1105" name="Google Shape;1105;p76"/>
          <p:cNvSpPr txBox="1"/>
          <p:nvPr/>
        </p:nvSpPr>
        <p:spPr>
          <a:xfrm>
            <a:off x="5187950" y="4510088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11</a:t>
            </a:r>
            <a:endParaRPr/>
          </a:p>
        </p:txBody>
      </p:sp>
      <p:sp>
        <p:nvSpPr>
          <p:cNvPr id="1106" name="Google Shape;1106;p76"/>
          <p:cNvSpPr/>
          <p:nvPr/>
        </p:nvSpPr>
        <p:spPr>
          <a:xfrm>
            <a:off x="6172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7" name="Google Shape;1107;p76"/>
          <p:cNvSpPr/>
          <p:nvPr/>
        </p:nvSpPr>
        <p:spPr>
          <a:xfrm>
            <a:off x="6553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08" name="Google Shape;1108;p76"/>
          <p:cNvSpPr/>
          <p:nvPr/>
        </p:nvSpPr>
        <p:spPr>
          <a:xfrm>
            <a:off x="6934200" y="3748088"/>
            <a:ext cx="381000" cy="609600"/>
          </a:xfrm>
          <a:prstGeom prst="rect">
            <a:avLst/>
          </a:prstGeom>
          <a:solidFill>
            <a:srgbClr val="CCECFF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00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1109" name="Google Shape;1109;p76"/>
          <p:cNvCxnSpPr/>
          <p:nvPr/>
        </p:nvCxnSpPr>
        <p:spPr>
          <a:xfrm>
            <a:off x="5410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0" name="Google Shape;1110;p76"/>
          <p:cNvCxnSpPr/>
          <p:nvPr/>
        </p:nvCxnSpPr>
        <p:spPr>
          <a:xfrm>
            <a:off x="5791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1" name="Google Shape;1111;p76"/>
          <p:cNvCxnSpPr/>
          <p:nvPr/>
        </p:nvCxnSpPr>
        <p:spPr>
          <a:xfrm>
            <a:off x="6172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2" name="Google Shape;1112;p76"/>
          <p:cNvCxnSpPr/>
          <p:nvPr/>
        </p:nvCxnSpPr>
        <p:spPr>
          <a:xfrm>
            <a:off x="6553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3" name="Google Shape;1113;p76"/>
          <p:cNvCxnSpPr/>
          <p:nvPr/>
        </p:nvCxnSpPr>
        <p:spPr>
          <a:xfrm>
            <a:off x="6934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4" name="Google Shape;1114;p76"/>
          <p:cNvCxnSpPr/>
          <p:nvPr/>
        </p:nvCxnSpPr>
        <p:spPr>
          <a:xfrm>
            <a:off x="7315200" y="4205288"/>
            <a:ext cx="0" cy="304800"/>
          </a:xfrm>
          <a:prstGeom prst="straightConnector1">
            <a:avLst/>
          </a:prstGeom>
          <a:noFill/>
          <a:ln cap="flat" cmpd="sng" w="127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5" name="Google Shape;1115;p76"/>
          <p:cNvCxnSpPr/>
          <p:nvPr/>
        </p:nvCxnSpPr>
        <p:spPr>
          <a:xfrm>
            <a:off x="1219200" y="3748088"/>
            <a:ext cx="63246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6" name="Google Shape;1116;p76"/>
          <p:cNvCxnSpPr/>
          <p:nvPr/>
        </p:nvCxnSpPr>
        <p:spPr>
          <a:xfrm>
            <a:off x="1219200" y="4357688"/>
            <a:ext cx="64008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17" name="Google Shape;1117;p76"/>
          <p:cNvCxnSpPr/>
          <p:nvPr/>
        </p:nvCxnSpPr>
        <p:spPr>
          <a:xfrm>
            <a:off x="7315200" y="3748088"/>
            <a:ext cx="0" cy="6096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18" name="Google Shape;1118;p76"/>
          <p:cNvSpPr txBox="1"/>
          <p:nvPr/>
        </p:nvSpPr>
        <p:spPr>
          <a:xfrm>
            <a:off x="6208713" y="3762375"/>
            <a:ext cx="420687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</a:t>
            </a:r>
            <a:r>
              <a:rPr b="1" baseline="-25000" i="1"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119" name="Google Shape;1119;p76"/>
          <p:cNvSpPr txBox="1"/>
          <p:nvPr/>
        </p:nvSpPr>
        <p:spPr>
          <a:xfrm>
            <a:off x="7105650" y="4510088"/>
            <a:ext cx="43815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16</a:t>
            </a:r>
            <a:endParaRPr/>
          </a:p>
        </p:txBody>
      </p:sp>
      <p:sp>
        <p:nvSpPr>
          <p:cNvPr id="1120" name="Google Shape;1120;p76"/>
          <p:cNvSpPr txBox="1"/>
          <p:nvPr/>
        </p:nvSpPr>
        <p:spPr>
          <a:xfrm>
            <a:off x="1828800" y="44958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</a:t>
            </a:r>
            <a:endParaRPr/>
          </a:p>
        </p:txBody>
      </p:sp>
      <p:sp>
        <p:nvSpPr>
          <p:cNvPr id="1121" name="Google Shape;1121;p76"/>
          <p:cNvSpPr txBox="1"/>
          <p:nvPr/>
        </p:nvSpPr>
        <p:spPr>
          <a:xfrm>
            <a:off x="2514600" y="4495800"/>
            <a:ext cx="311150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4</a:t>
            </a:r>
            <a:endParaRPr/>
          </a:p>
        </p:txBody>
      </p:sp>
      <p:sp>
        <p:nvSpPr>
          <p:cNvPr id="1122" name="Google Shape;1122;p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123" name="Google Shape;1123;p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24" name="Google Shape;1124;p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77"/>
          <p:cNvSpPr txBox="1"/>
          <p:nvPr>
            <p:ph type="title"/>
          </p:nvPr>
        </p:nvSpPr>
        <p:spPr>
          <a:xfrm>
            <a:off x="971600" y="0"/>
            <a:ext cx="7594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Example of Shortest-remaining-time-first</a:t>
            </a:r>
            <a:endParaRPr/>
          </a:p>
        </p:txBody>
      </p:sp>
      <p:sp>
        <p:nvSpPr>
          <p:cNvPr id="1131" name="Google Shape;1131;p77"/>
          <p:cNvSpPr txBox="1"/>
          <p:nvPr>
            <p:ph idx="1" type="body"/>
          </p:nvPr>
        </p:nvSpPr>
        <p:spPr>
          <a:xfrm>
            <a:off x="612006" y="656009"/>
            <a:ext cx="7975004" cy="5653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		         </a:t>
            </a:r>
            <a:r>
              <a:rPr lang="en-US" sz="2000" u="sng"/>
              <a:t>Process</a:t>
            </a:r>
            <a:r>
              <a:rPr lang="en-US" sz="2000" u="sng">
                <a:solidFill>
                  <a:schemeClr val="lt1"/>
                </a:solidFill>
              </a:rPr>
              <a:t>A	arri </a:t>
            </a:r>
            <a:r>
              <a:rPr i="1" lang="en-US" sz="2000" u="sng"/>
              <a:t>Arrival </a:t>
            </a:r>
            <a:r>
              <a:rPr lang="en-US" sz="2000" u="sng"/>
              <a:t>Time</a:t>
            </a:r>
            <a:r>
              <a:rPr lang="en-US" sz="2000" u="sng">
                <a:solidFill>
                  <a:schemeClr val="lt1"/>
                </a:solidFill>
              </a:rPr>
              <a:t>T</a:t>
            </a:r>
            <a:r>
              <a:rPr lang="en-US" sz="2000"/>
              <a:t>	</a:t>
            </a:r>
            <a:r>
              <a:rPr lang="en-US" sz="2000" u="sng"/>
              <a:t>Burst Time</a:t>
            </a:r>
            <a:endParaRPr sz="2000"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1</a:t>
            </a:r>
            <a:r>
              <a:rPr lang="en-US" sz="2000"/>
              <a:t>	</a:t>
            </a:r>
            <a:r>
              <a:rPr lang="en-US" sz="2000">
                <a:solidFill>
                  <a:srgbClr val="000000"/>
                </a:solidFill>
              </a:rPr>
              <a:t>0</a:t>
            </a:r>
            <a:r>
              <a:rPr lang="en-US" sz="2000"/>
              <a:t>	8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2 	</a:t>
            </a:r>
            <a:r>
              <a:rPr lang="en-US" sz="2000">
                <a:solidFill>
                  <a:srgbClr val="000000"/>
                </a:solidFill>
              </a:rPr>
              <a:t>1</a:t>
            </a:r>
            <a:r>
              <a:rPr lang="en-US" sz="2000"/>
              <a:t>	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3</a:t>
            </a:r>
            <a:r>
              <a:rPr lang="en-US" sz="2000"/>
              <a:t>	</a:t>
            </a:r>
            <a:r>
              <a:rPr lang="en-US" sz="2000">
                <a:solidFill>
                  <a:srgbClr val="000000"/>
                </a:solidFill>
              </a:rPr>
              <a:t>2</a:t>
            </a:r>
            <a:r>
              <a:rPr lang="en-US" sz="2000"/>
              <a:t>	9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/>
              <a:t>		 </a:t>
            </a:r>
            <a:r>
              <a:rPr i="1" lang="en-US" sz="2000"/>
              <a:t>P</a:t>
            </a:r>
            <a:r>
              <a:rPr baseline="-25000" i="1" lang="en-US" sz="2000"/>
              <a:t>4</a:t>
            </a:r>
            <a:r>
              <a:rPr lang="en-US" sz="2000"/>
              <a:t>	</a:t>
            </a:r>
            <a:r>
              <a:rPr lang="en-US" sz="2000">
                <a:solidFill>
                  <a:srgbClr val="000000"/>
                </a:solidFill>
              </a:rPr>
              <a:t>3</a:t>
            </a:r>
            <a:r>
              <a:rPr lang="en-US" sz="2000"/>
              <a:t>	5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????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b="1" lang="en-US" sz="2800"/>
              <a:t>Try solving this…………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aseline="-25000" i="1"/>
          </a:p>
        </p:txBody>
      </p:sp>
      <p:sp>
        <p:nvSpPr>
          <p:cNvPr id="1132" name="Google Shape;1132;p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133" name="Google Shape;1133;p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34" name="Google Shape;1134;p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9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p78"/>
          <p:cNvSpPr txBox="1"/>
          <p:nvPr>
            <p:ph type="title"/>
          </p:nvPr>
        </p:nvSpPr>
        <p:spPr>
          <a:xfrm>
            <a:off x="971600" y="0"/>
            <a:ext cx="7594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Example of Shortest-remaining-time-first</a:t>
            </a:r>
            <a:endParaRPr/>
          </a:p>
        </p:txBody>
      </p:sp>
      <p:sp>
        <p:nvSpPr>
          <p:cNvPr id="1141" name="Google Shape;1141;p78"/>
          <p:cNvSpPr txBox="1"/>
          <p:nvPr>
            <p:ph idx="1" type="body"/>
          </p:nvPr>
        </p:nvSpPr>
        <p:spPr>
          <a:xfrm>
            <a:off x="387263" y="620688"/>
            <a:ext cx="8424490" cy="56533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        </a:t>
            </a:r>
            <a:r>
              <a:rPr lang="en-US" u="sng"/>
              <a:t>Process</a:t>
            </a:r>
            <a:r>
              <a:rPr lang="en-US" u="sng">
                <a:solidFill>
                  <a:schemeClr val="lt1"/>
                </a:solidFill>
              </a:rPr>
              <a:t>A	arri </a:t>
            </a:r>
            <a:r>
              <a:rPr i="1" lang="en-US" u="sng"/>
              <a:t>Arrival </a:t>
            </a:r>
            <a:r>
              <a:rPr lang="en-US" u="sng"/>
              <a:t>Time</a:t>
            </a:r>
            <a:r>
              <a:rPr lang="en-US" u="sng">
                <a:solidFill>
                  <a:schemeClr val="lt1"/>
                </a:solidFill>
              </a:rPr>
              <a:t>T</a:t>
            </a:r>
            <a:r>
              <a:rPr lang="en-US"/>
              <a:t>	</a:t>
            </a:r>
            <a:r>
              <a:rPr lang="en-US" u="sng"/>
              <a:t>Burst Time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0</a:t>
            </a:r>
            <a:r>
              <a:rPr lang="en-US"/>
              <a:t>	8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 	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/>
              <a:t>	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2</a:t>
            </a:r>
            <a:r>
              <a:rPr lang="en-US"/>
              <a:t>	9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4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3</a:t>
            </a:r>
            <a:r>
              <a:rPr lang="en-US"/>
              <a:t>	5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Time 0 – P</a:t>
            </a:r>
            <a:r>
              <a:rPr baseline="-25000" lang="en-US"/>
              <a:t>1</a:t>
            </a:r>
            <a:r>
              <a:rPr lang="en-US"/>
              <a:t> gets the CPU      Ready = [(P</a:t>
            </a:r>
            <a:r>
              <a:rPr baseline="-25000" lang="en-US"/>
              <a:t>1</a:t>
            </a:r>
            <a:r>
              <a:rPr lang="en-US"/>
              <a:t>,8)]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Time 1 – P</a:t>
            </a:r>
            <a:r>
              <a:rPr baseline="-25000" lang="en-US"/>
              <a:t>2</a:t>
            </a:r>
            <a:r>
              <a:rPr lang="en-US"/>
              <a:t> arrives –  CPU has P</a:t>
            </a:r>
            <a:r>
              <a:rPr baseline="-25000" lang="en-US"/>
              <a:t>1</a:t>
            </a:r>
            <a:r>
              <a:rPr lang="en-US"/>
              <a:t> with rem. time=7, Ready = [(P</a:t>
            </a:r>
            <a:r>
              <a:rPr baseline="-25000" lang="en-US"/>
              <a:t>2</a:t>
            </a:r>
            <a:r>
              <a:rPr lang="en-US"/>
              <a:t>,4)] – P</a:t>
            </a:r>
            <a:r>
              <a:rPr baseline="-25000" lang="en-US"/>
              <a:t>2</a:t>
            </a:r>
            <a:r>
              <a:rPr lang="en-US"/>
              <a:t> gets the CPU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Time 2 – P</a:t>
            </a:r>
            <a:r>
              <a:rPr baseline="-25000" lang="en-US"/>
              <a:t>3</a:t>
            </a:r>
            <a:r>
              <a:rPr lang="en-US"/>
              <a:t> arrives – CPU has P</a:t>
            </a:r>
            <a:r>
              <a:rPr baseline="-25000" lang="en-US"/>
              <a:t>2</a:t>
            </a:r>
            <a:r>
              <a:rPr lang="en-US"/>
              <a:t> with rem. time = 3, Ready = [(P</a:t>
            </a:r>
            <a:r>
              <a:rPr baseline="-25000" lang="en-US"/>
              <a:t>1</a:t>
            </a:r>
            <a:r>
              <a:rPr lang="en-US"/>
              <a:t>,7)(P</a:t>
            </a:r>
            <a:r>
              <a:rPr baseline="-25000" lang="en-US"/>
              <a:t>3</a:t>
            </a:r>
            <a:r>
              <a:rPr lang="en-US"/>
              <a:t>,9)]     – P2 continues with the CPU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Time 3- P4 arrives- CPU has P2 with rem. time=2, Ready =[(P</a:t>
            </a:r>
            <a:r>
              <a:rPr baseline="-25000" lang="en-US"/>
              <a:t>1</a:t>
            </a:r>
            <a:r>
              <a:rPr lang="en-US"/>
              <a:t>,7)(P</a:t>
            </a:r>
            <a:r>
              <a:rPr baseline="-25000" lang="en-US"/>
              <a:t>3</a:t>
            </a:r>
            <a:r>
              <a:rPr lang="en-US"/>
              <a:t>,9)(P4,5)] – P2 continues with the CPU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After P2 finishes, then  P4 executes , then P1 , finally P3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i="1" lang="en-US"/>
              <a:t>Preemptive </a:t>
            </a:r>
            <a:r>
              <a:rPr lang="en-US"/>
              <a:t>SJF Gantt Chart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Average waiting time = [(10-1)+(1-1)+(17-2)+(5-3)]/4 = 26/4 = 6.5 msec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aseline="-25000" i="1"/>
          </a:p>
        </p:txBody>
      </p:sp>
      <p:sp>
        <p:nvSpPr>
          <p:cNvPr id="1142" name="Google Shape;1142;p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143" name="Google Shape;1143;p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44" name="Google Shape;1144;p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145" name="Google Shape;1145;p7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4797152"/>
            <a:ext cx="7164288" cy="88049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14" st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15" st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16" st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1">
                                            <p:txEl>
                                              <p:pRg end="17" st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0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1" name="Google Shape;1151;p79"/>
          <p:cNvSpPr txBox="1"/>
          <p:nvPr>
            <p:ph type="title"/>
          </p:nvPr>
        </p:nvSpPr>
        <p:spPr>
          <a:xfrm>
            <a:off x="685800" y="152400"/>
            <a:ext cx="81534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Estimating the Length of Next CPU Burst</a:t>
            </a:r>
            <a:endParaRPr/>
          </a:p>
        </p:txBody>
      </p:sp>
      <p:sp>
        <p:nvSpPr>
          <p:cNvPr id="1152" name="Google Shape;1152;p79"/>
          <p:cNvSpPr txBox="1"/>
          <p:nvPr>
            <p:ph idx="1" type="body"/>
          </p:nvPr>
        </p:nvSpPr>
        <p:spPr>
          <a:xfrm>
            <a:off x="1023938" y="990600"/>
            <a:ext cx="7029450" cy="503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Problem with SJF: It is very difficult to know exactly the length of the next CPU burst.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Idea:</a:t>
            </a:r>
            <a:r>
              <a:rPr lang="en-US" sz="2400"/>
              <a:t> Based on the observations in the recent past, we can try to </a:t>
            </a:r>
            <a:r>
              <a:rPr i="1" lang="en-US" sz="2400"/>
              <a:t>predict</a:t>
            </a:r>
            <a:r>
              <a:rPr lang="en-US" sz="2400"/>
              <a:t>.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i="1" sz="2400"/>
          </a:p>
        </p:txBody>
      </p:sp>
      <p:sp>
        <p:nvSpPr>
          <p:cNvPr id="1153" name="Google Shape;1153;p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154" name="Google Shape;1154;p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55" name="Google Shape;1155;p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80"/>
          <p:cNvSpPr txBox="1"/>
          <p:nvPr>
            <p:ph type="title"/>
          </p:nvPr>
        </p:nvSpPr>
        <p:spPr>
          <a:xfrm>
            <a:off x="685800" y="152400"/>
            <a:ext cx="81534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Estimating the Length of Next CPU Burst</a:t>
            </a:r>
            <a:endParaRPr/>
          </a:p>
        </p:txBody>
      </p:sp>
      <p:sp>
        <p:nvSpPr>
          <p:cNvPr id="1162" name="Google Shape;1162;p80"/>
          <p:cNvSpPr txBox="1"/>
          <p:nvPr>
            <p:ph idx="1" type="body"/>
          </p:nvPr>
        </p:nvSpPr>
        <p:spPr>
          <a:xfrm>
            <a:off x="1023938" y="990600"/>
            <a:ext cx="7029450" cy="503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i="1" lang="en-US" sz="2400"/>
              <a:t>Exponential averaging: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 u="sng"/>
              <a:t>n</a:t>
            </a:r>
            <a:r>
              <a:rPr lang="en-US" sz="2400" u="sng"/>
              <a:t>th CPU burst = </a:t>
            </a:r>
            <a:r>
              <a:rPr i="1" lang="en-US" sz="2400" u="sng"/>
              <a:t>t</a:t>
            </a:r>
            <a:r>
              <a:rPr baseline="-25000" i="1" lang="en-US" sz="2400" u="sng"/>
              <a:t>n</a:t>
            </a:r>
            <a:endParaRPr sz="2400"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the average of all past bursts </a:t>
            </a:r>
            <a:r>
              <a:rPr i="1"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/>
              <a:t>n</a:t>
            </a:r>
            <a:r>
              <a:rPr lang="en-US" sz="2400"/>
              <a:t>,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using a weighting factor 0&lt;=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/>
              <a:t>&lt;=1, </a:t>
            </a:r>
            <a:endParaRPr/>
          </a:p>
          <a:p>
            <a:pPr indent="-342900" lvl="0" marL="342900" rtl="0" algn="l">
              <a:spcBef>
                <a:spcPts val="66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next CPU burst is: </a:t>
            </a:r>
            <a:r>
              <a:rPr i="1"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>
                <a:solidFill>
                  <a:schemeClr val="folHlink"/>
                </a:solidFill>
              </a:rPr>
              <a:t>n+1</a:t>
            </a:r>
            <a:r>
              <a:rPr lang="en-US" sz="2400">
                <a:solidFill>
                  <a:schemeClr val="folHlink"/>
                </a:solidFill>
              </a:rPr>
              <a:t> = </a:t>
            </a:r>
            <a:r>
              <a:rPr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>
                <a:solidFill>
                  <a:schemeClr val="folHlink"/>
                </a:solidFill>
              </a:rPr>
              <a:t> </a:t>
            </a:r>
            <a:r>
              <a:rPr i="1" lang="en-US" sz="2400">
                <a:solidFill>
                  <a:schemeClr val="folHlink"/>
                </a:solidFill>
              </a:rPr>
              <a:t>t</a:t>
            </a:r>
            <a:r>
              <a:rPr baseline="-25000" i="1" lang="en-US" sz="2400">
                <a:solidFill>
                  <a:schemeClr val="folHlink"/>
                </a:solidFill>
              </a:rPr>
              <a:t>n</a:t>
            </a:r>
            <a:r>
              <a:rPr lang="en-US" sz="2400">
                <a:solidFill>
                  <a:schemeClr val="folHlink"/>
                </a:solidFill>
              </a:rPr>
              <a:t> + (1- </a:t>
            </a:r>
            <a:r>
              <a:rPr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>
                <a:solidFill>
                  <a:schemeClr val="folHlink"/>
                </a:solidFill>
              </a:rPr>
              <a:t>) </a:t>
            </a:r>
            <a:r>
              <a:rPr i="1" lang="en-US" sz="33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3300">
                <a:solidFill>
                  <a:schemeClr val="folHlink"/>
                </a:solidFill>
              </a:rPr>
              <a:t>n</a:t>
            </a:r>
            <a:r>
              <a:rPr i="1" lang="en-US" sz="3300"/>
              <a:t>.</a:t>
            </a:r>
            <a:endParaRPr sz="33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</p:txBody>
      </p:sp>
      <p:sp>
        <p:nvSpPr>
          <p:cNvPr id="1163" name="Google Shape;1163;p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164" name="Google Shape;1164;p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65" name="Google Shape;1165;p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0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p81"/>
          <p:cNvSpPr txBox="1"/>
          <p:nvPr>
            <p:ph type="title"/>
          </p:nvPr>
        </p:nvSpPr>
        <p:spPr>
          <a:xfrm>
            <a:off x="611560" y="-29206"/>
            <a:ext cx="81534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Estimating the Length of Next CPU Burst</a:t>
            </a:r>
            <a:endParaRPr/>
          </a:p>
        </p:txBody>
      </p:sp>
      <p:sp>
        <p:nvSpPr>
          <p:cNvPr id="1172" name="Google Shape;1172;p81"/>
          <p:cNvSpPr txBox="1"/>
          <p:nvPr>
            <p:ph idx="1" type="body"/>
          </p:nvPr>
        </p:nvSpPr>
        <p:spPr>
          <a:xfrm>
            <a:off x="1023938" y="990600"/>
            <a:ext cx="7029450" cy="503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i="1" lang="en-US" sz="2200"/>
              <a:t>This formula defines an Exponential average of the measured lengths of previous CPU bursts.</a:t>
            </a:r>
            <a:endParaRPr i="1"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i="1" lang="en-US" sz="2200"/>
              <a:t>t</a:t>
            </a:r>
            <a:r>
              <a:rPr baseline="-25000" i="1" lang="en-US" sz="2200"/>
              <a:t>n</a:t>
            </a:r>
            <a:r>
              <a:rPr i="1" lang="en-US" sz="2200"/>
              <a:t>=</a:t>
            </a:r>
            <a:r>
              <a:rPr lang="en-US" sz="2200"/>
              <a:t> nth CPU burst , contains most recent information, </a:t>
            </a:r>
            <a:endParaRPr sz="2200"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i="1"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200"/>
              <a:t>n </a:t>
            </a:r>
            <a:r>
              <a:rPr i="1" lang="en-US" sz="2200"/>
              <a:t>=</a:t>
            </a:r>
            <a:r>
              <a:rPr lang="en-US" sz="2200"/>
              <a:t>the average of all past bursts</a:t>
            </a:r>
            <a:r>
              <a:rPr baseline="-25000" i="1" lang="en-US" sz="2200"/>
              <a:t>, </a:t>
            </a:r>
            <a:r>
              <a:rPr lang="en-US" sz="2200"/>
              <a:t>contains past history, 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α </a:t>
            </a:r>
            <a:r>
              <a:rPr lang="en-US" sz="2200"/>
              <a:t>controls the relative weight of recent and past history in our prediction.</a:t>
            </a:r>
            <a:endParaRPr/>
          </a:p>
          <a:p>
            <a:pPr indent="-342900" lvl="0" marL="3429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We expect that the next CPU burst will be similar in length to the previous ones.</a:t>
            </a:r>
            <a:endParaRPr sz="22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folHlink"/>
              </a:buClr>
              <a:buSzPts val="2600"/>
              <a:buChar char="•"/>
            </a:pPr>
            <a:r>
              <a:rPr i="1"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600">
                <a:solidFill>
                  <a:schemeClr val="folHlink"/>
                </a:solidFill>
              </a:rPr>
              <a:t>n+1</a:t>
            </a:r>
            <a:r>
              <a:rPr lang="en-US" sz="2600">
                <a:solidFill>
                  <a:schemeClr val="folHlink"/>
                </a:solidFill>
              </a:rPr>
              <a:t> = </a:t>
            </a:r>
            <a:r>
              <a:rPr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600">
                <a:solidFill>
                  <a:schemeClr val="folHlink"/>
                </a:solidFill>
              </a:rPr>
              <a:t> </a:t>
            </a:r>
            <a:r>
              <a:rPr i="1" lang="en-US" sz="2600">
                <a:solidFill>
                  <a:schemeClr val="folHlink"/>
                </a:solidFill>
              </a:rPr>
              <a:t>t</a:t>
            </a:r>
            <a:r>
              <a:rPr baseline="-25000" i="1" lang="en-US" sz="2600">
                <a:solidFill>
                  <a:schemeClr val="folHlink"/>
                </a:solidFill>
              </a:rPr>
              <a:t>n</a:t>
            </a:r>
            <a:r>
              <a:rPr lang="en-US" sz="2600">
                <a:solidFill>
                  <a:schemeClr val="folHlink"/>
                </a:solidFill>
              </a:rPr>
              <a:t> + (1- </a:t>
            </a:r>
            <a:r>
              <a:rPr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600">
                <a:solidFill>
                  <a:schemeClr val="folHlink"/>
                </a:solidFill>
              </a:rPr>
              <a:t>) </a:t>
            </a:r>
            <a:r>
              <a:rPr i="1"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600">
                <a:solidFill>
                  <a:schemeClr val="folHlink"/>
                </a:solidFill>
              </a:rPr>
              <a:t>n</a:t>
            </a:r>
            <a:r>
              <a:rPr i="1" lang="en-US" sz="2600"/>
              <a:t>.</a:t>
            </a:r>
            <a:endParaRPr sz="26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</p:txBody>
      </p:sp>
      <p:sp>
        <p:nvSpPr>
          <p:cNvPr id="1173" name="Google Shape;1173;p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174" name="Google Shape;1174;p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75" name="Google Shape;1175;p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0" name="Shape 1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1" name="Google Shape;1181;p82"/>
          <p:cNvSpPr txBox="1"/>
          <p:nvPr>
            <p:ph type="title"/>
          </p:nvPr>
        </p:nvSpPr>
        <p:spPr>
          <a:xfrm>
            <a:off x="1362075" y="201613"/>
            <a:ext cx="7451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Examples of Exponential Averaging</a:t>
            </a:r>
            <a:endParaRPr/>
          </a:p>
        </p:txBody>
      </p:sp>
      <p:sp>
        <p:nvSpPr>
          <p:cNvPr id="1182" name="Google Shape;1182;p82"/>
          <p:cNvSpPr txBox="1"/>
          <p:nvPr>
            <p:ph idx="1" type="body"/>
          </p:nvPr>
        </p:nvSpPr>
        <p:spPr>
          <a:xfrm>
            <a:off x="908050" y="1233488"/>
            <a:ext cx="72453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α =0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τ</a:t>
            </a:r>
            <a:r>
              <a:rPr baseline="-25000" lang="en-US"/>
              <a:t>n+1</a:t>
            </a:r>
            <a:r>
              <a:rPr lang="en-US"/>
              <a:t> = τ</a:t>
            </a:r>
            <a:r>
              <a:rPr baseline="-25000" lang="en-US"/>
              <a:t>n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Recent history does not matter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α =1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 τ</a:t>
            </a:r>
            <a:r>
              <a:rPr baseline="-25000" lang="en-US"/>
              <a:t>n+1</a:t>
            </a:r>
            <a:r>
              <a:rPr lang="en-US"/>
              <a:t> =  </a:t>
            </a:r>
            <a:r>
              <a:rPr i="1" lang="en-US"/>
              <a:t>t</a:t>
            </a:r>
            <a:r>
              <a:rPr baseline="-25000" lang="en-US"/>
              <a:t>n</a:t>
            </a:r>
            <a:endParaRPr baseline="-25000"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Only the most recent CPU burst matters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history is assumed to be old and irrevelant.</a:t>
            </a:r>
            <a:endParaRPr/>
          </a:p>
          <a:p>
            <a:pPr indent="-107950" lvl="1" marL="74295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183" name="Google Shape;1183;p82"/>
          <p:cNvSpPr/>
          <p:nvPr/>
        </p:nvSpPr>
        <p:spPr>
          <a:xfrm>
            <a:off x="1371122" y="4725144"/>
            <a:ext cx="420898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n+1</a:t>
            </a:r>
            <a:r>
              <a:rPr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= </a:t>
            </a:r>
            <a:r>
              <a:rPr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baseline="-25000" i="1"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 + (1- </a:t>
            </a:r>
            <a:r>
              <a:rPr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) </a:t>
            </a:r>
            <a:r>
              <a:rPr i="1"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>
                <a:solidFill>
                  <a:schemeClr val="folHlink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8" name="Shape 1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9" name="Google Shape;1189;p83"/>
          <p:cNvSpPr txBox="1"/>
          <p:nvPr>
            <p:ph type="title"/>
          </p:nvPr>
        </p:nvSpPr>
        <p:spPr>
          <a:xfrm>
            <a:off x="611560" y="-29206"/>
            <a:ext cx="81534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Estimating the Length of Next CPU Burst</a:t>
            </a:r>
            <a:endParaRPr/>
          </a:p>
        </p:txBody>
      </p:sp>
      <p:sp>
        <p:nvSpPr>
          <p:cNvPr id="1190" name="Google Shape;1190;p83"/>
          <p:cNvSpPr txBox="1"/>
          <p:nvPr>
            <p:ph idx="1" type="body"/>
          </p:nvPr>
        </p:nvSpPr>
        <p:spPr>
          <a:xfrm>
            <a:off x="1023938" y="990600"/>
            <a:ext cx="7029450" cy="503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More commonly </a:t>
            </a:r>
            <a:r>
              <a:rPr lang="en-US" sz="2400">
                <a:latin typeface="Noto Sans Symbols"/>
                <a:ea typeface="Noto Sans Symbols"/>
                <a:cs typeface="Noto Sans Symbols"/>
                <a:sym typeface="Noto Sans Symbols"/>
              </a:rPr>
              <a:t>α=1/2,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so recent history and past history is equally weighted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The initial </a:t>
            </a:r>
            <a:r>
              <a:rPr i="1"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>
                <a:solidFill>
                  <a:schemeClr val="folHlink"/>
                </a:solidFill>
              </a:rPr>
              <a:t>0</a:t>
            </a:r>
            <a:r>
              <a:rPr i="1" lang="en-US" sz="2400">
                <a:solidFill>
                  <a:schemeClr val="folHlink"/>
                </a:solidFill>
              </a:rPr>
              <a:t> </a:t>
            </a:r>
            <a:r>
              <a:rPr lang="en-US" sz="2400"/>
              <a:t>can be defined as a constant or as an overall system average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alibri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folHlink"/>
              </a:buClr>
              <a:buSzPts val="2600"/>
              <a:buChar char="•"/>
            </a:pPr>
            <a:r>
              <a:rPr i="1"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600">
                <a:solidFill>
                  <a:schemeClr val="folHlink"/>
                </a:solidFill>
              </a:rPr>
              <a:t>n+1</a:t>
            </a:r>
            <a:r>
              <a:rPr lang="en-US" sz="2600">
                <a:solidFill>
                  <a:schemeClr val="folHlink"/>
                </a:solidFill>
              </a:rPr>
              <a:t> = </a:t>
            </a:r>
            <a:r>
              <a:rPr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600">
                <a:solidFill>
                  <a:schemeClr val="folHlink"/>
                </a:solidFill>
              </a:rPr>
              <a:t> </a:t>
            </a:r>
            <a:r>
              <a:rPr i="1" lang="en-US" sz="2600">
                <a:solidFill>
                  <a:schemeClr val="folHlink"/>
                </a:solidFill>
              </a:rPr>
              <a:t>t</a:t>
            </a:r>
            <a:r>
              <a:rPr baseline="-25000" i="1" lang="en-US" sz="2600">
                <a:solidFill>
                  <a:schemeClr val="folHlink"/>
                </a:solidFill>
              </a:rPr>
              <a:t>n</a:t>
            </a:r>
            <a:r>
              <a:rPr lang="en-US" sz="2600">
                <a:solidFill>
                  <a:schemeClr val="folHlink"/>
                </a:solidFill>
              </a:rPr>
              <a:t> + (1- </a:t>
            </a:r>
            <a:r>
              <a:rPr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600">
                <a:solidFill>
                  <a:schemeClr val="folHlink"/>
                </a:solidFill>
              </a:rPr>
              <a:t>) </a:t>
            </a:r>
            <a:r>
              <a:rPr i="1" lang="en-US" sz="26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600">
                <a:solidFill>
                  <a:schemeClr val="folHlink"/>
                </a:solidFill>
              </a:rPr>
              <a:t>n</a:t>
            </a:r>
            <a:r>
              <a:rPr i="1" lang="en-US" sz="2600"/>
              <a:t>.</a:t>
            </a:r>
            <a:endParaRPr sz="26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</p:txBody>
      </p:sp>
      <p:sp>
        <p:nvSpPr>
          <p:cNvPr id="1191" name="Google Shape;1191;p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192" name="Google Shape;1192;p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193" name="Google Shape;1193;p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8" name="Shape 1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9" name="Google Shape;1199;p84"/>
          <p:cNvSpPr txBox="1"/>
          <p:nvPr>
            <p:ph type="title"/>
          </p:nvPr>
        </p:nvSpPr>
        <p:spPr>
          <a:xfrm>
            <a:off x="1362075" y="201613"/>
            <a:ext cx="74517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Examples of Exponential Averaging</a:t>
            </a:r>
            <a:endParaRPr/>
          </a:p>
        </p:txBody>
      </p:sp>
      <p:sp>
        <p:nvSpPr>
          <p:cNvPr id="1200" name="Google Shape;1200;p84"/>
          <p:cNvSpPr txBox="1"/>
          <p:nvPr>
            <p:ph idx="1" type="body"/>
          </p:nvPr>
        </p:nvSpPr>
        <p:spPr>
          <a:xfrm>
            <a:off x="908050" y="1233488"/>
            <a:ext cx="72453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 Understand the behavior of the exponential average,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We can expand the formula for </a:t>
            </a:r>
            <a:r>
              <a:rPr i="1"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>
                <a:solidFill>
                  <a:schemeClr val="folHlink"/>
                </a:solidFill>
              </a:rPr>
              <a:t>n+1</a:t>
            </a:r>
            <a:r>
              <a:rPr lang="en-US" sz="2400"/>
              <a:t> by substituting for </a:t>
            </a:r>
            <a:r>
              <a:rPr i="1" lang="en-US" sz="24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400">
                <a:solidFill>
                  <a:schemeClr val="folHlink"/>
                </a:solidFill>
              </a:rPr>
              <a:t>n</a:t>
            </a:r>
            <a:r>
              <a:rPr i="1" lang="en-US" sz="2400"/>
              <a:t> ,</a:t>
            </a:r>
            <a:r>
              <a:rPr lang="en-US" sz="2400"/>
              <a:t>If we expand the formula, we get: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lang="en-US"/>
              <a:t>τ</a:t>
            </a:r>
            <a:r>
              <a:rPr baseline="-25000" i="1" lang="en-US"/>
              <a:t>n</a:t>
            </a:r>
            <a:r>
              <a:rPr baseline="-25000" lang="en-US"/>
              <a:t>+1</a:t>
            </a:r>
            <a:r>
              <a:rPr lang="en-US"/>
              <a:t> = α t</a:t>
            </a:r>
            <a:r>
              <a:rPr baseline="-25000" i="1" lang="en-US"/>
              <a:t>n</a:t>
            </a:r>
            <a:r>
              <a:rPr lang="en-US"/>
              <a:t>+(1</a:t>
            </a:r>
            <a:r>
              <a:rPr i="1" lang="en-US"/>
              <a:t> - </a:t>
            </a:r>
            <a:r>
              <a:rPr lang="en-US"/>
              <a:t>α</a:t>
            </a:r>
            <a:r>
              <a:rPr i="1" lang="en-US"/>
              <a:t>)</a:t>
            </a:r>
            <a:r>
              <a:rPr lang="en-US"/>
              <a:t>α </a:t>
            </a:r>
            <a:r>
              <a:rPr i="1" lang="en-US"/>
              <a:t>t</a:t>
            </a:r>
            <a:r>
              <a:rPr baseline="-25000" i="1" lang="en-US"/>
              <a:t>n</a:t>
            </a:r>
            <a:r>
              <a:rPr i="1" lang="en-US"/>
              <a:t> </a:t>
            </a:r>
            <a:r>
              <a:rPr baseline="-25000" lang="en-US"/>
              <a:t>-1</a:t>
            </a:r>
            <a:r>
              <a:rPr baseline="-25000" i="1" lang="en-US"/>
              <a:t> </a:t>
            </a:r>
            <a:r>
              <a:rPr lang="en-US"/>
              <a:t>+ …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lang="en-US"/>
              <a:t>            </a:t>
            </a:r>
            <a:r>
              <a:rPr i="1" lang="en-US"/>
              <a:t>+(</a:t>
            </a:r>
            <a:r>
              <a:rPr lang="en-US"/>
              <a:t>1 - α </a:t>
            </a:r>
            <a:r>
              <a:rPr i="1" lang="en-US"/>
              <a:t>)</a:t>
            </a:r>
            <a:r>
              <a:rPr baseline="30000" i="1" lang="en-US"/>
              <a:t>j</a:t>
            </a:r>
            <a:r>
              <a:rPr baseline="30000" lang="en-US"/>
              <a:t> </a:t>
            </a:r>
            <a:r>
              <a:rPr lang="en-US"/>
              <a:t>α </a:t>
            </a:r>
            <a:r>
              <a:rPr i="1" lang="en-US"/>
              <a:t>t</a:t>
            </a:r>
            <a:r>
              <a:rPr baseline="-25000" i="1" lang="en-US"/>
              <a:t>n</a:t>
            </a:r>
            <a:r>
              <a:rPr lang="en-US"/>
              <a:t> </a:t>
            </a:r>
            <a:r>
              <a:rPr baseline="-25000" lang="en-US"/>
              <a:t>-</a:t>
            </a:r>
            <a:r>
              <a:rPr baseline="-25000" i="1" lang="en-US"/>
              <a:t>j</a:t>
            </a:r>
            <a:r>
              <a:rPr i="1" lang="en-US"/>
              <a:t> </a:t>
            </a:r>
            <a:r>
              <a:rPr lang="en-US"/>
              <a:t>+ …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mo"/>
              <a:buNone/>
            </a:pPr>
            <a:r>
              <a:rPr lang="en-US"/>
              <a:t>            </a:t>
            </a:r>
            <a:r>
              <a:rPr i="1" lang="en-US"/>
              <a:t>+(</a:t>
            </a:r>
            <a:r>
              <a:rPr lang="en-US"/>
              <a:t>1 - α </a:t>
            </a:r>
            <a:r>
              <a:rPr i="1" lang="en-US"/>
              <a:t>)</a:t>
            </a:r>
            <a:r>
              <a:rPr baseline="30000" i="1" lang="en-US"/>
              <a:t>n</a:t>
            </a:r>
            <a:r>
              <a:rPr baseline="30000" lang="en-US"/>
              <a:t> +1 </a:t>
            </a:r>
            <a:r>
              <a:rPr lang="en-US"/>
              <a:t>τ</a:t>
            </a:r>
            <a:r>
              <a:rPr baseline="-25000" lang="en-US"/>
              <a:t>0</a:t>
            </a:r>
            <a:br>
              <a:rPr baseline="-25000" lang="en-US"/>
            </a:br>
            <a:endParaRPr baseline="-250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Since both α and (1 - α) are less than or equal to 1, each successive term has less weight than its predecessor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5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85"/>
          <p:cNvSpPr txBox="1"/>
          <p:nvPr>
            <p:ph type="title"/>
          </p:nvPr>
        </p:nvSpPr>
        <p:spPr>
          <a:xfrm>
            <a:off x="611560" y="-29206"/>
            <a:ext cx="8153400" cy="8445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Estimating the Length of Next CPU Burst</a:t>
            </a:r>
            <a:endParaRPr/>
          </a:p>
        </p:txBody>
      </p:sp>
      <p:sp>
        <p:nvSpPr>
          <p:cNvPr id="1207" name="Google Shape;1207;p85"/>
          <p:cNvSpPr txBox="1"/>
          <p:nvPr>
            <p:ph idx="1" type="body"/>
          </p:nvPr>
        </p:nvSpPr>
        <p:spPr>
          <a:xfrm>
            <a:off x="949263" y="836712"/>
            <a:ext cx="7029450" cy="50306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i="1" lang="en-US" sz="2200"/>
              <a:t>Figure shows exponential average with </a:t>
            </a:r>
            <a:r>
              <a:rPr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α=1/2 </a:t>
            </a:r>
            <a:r>
              <a:rPr lang="en-US" sz="2200">
                <a:latin typeface="Times New Roman"/>
                <a:ea typeface="Times New Roman"/>
                <a:cs typeface="Times New Roman"/>
                <a:sym typeface="Times New Roman"/>
              </a:rPr>
              <a:t>and</a:t>
            </a:r>
            <a:r>
              <a:rPr lang="en-US" sz="2200"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i="1" lang="en-US" sz="2000">
                <a:solidFill>
                  <a:schemeClr val="folHlink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τ</a:t>
            </a:r>
            <a:r>
              <a:rPr baseline="-25000" i="1" lang="en-US" sz="2000">
                <a:solidFill>
                  <a:schemeClr val="folHlink"/>
                </a:solidFill>
              </a:rPr>
              <a:t>0</a:t>
            </a:r>
            <a:r>
              <a:rPr i="1" lang="en-US" sz="2000">
                <a:solidFill>
                  <a:schemeClr val="folHlink"/>
                </a:solidFill>
              </a:rPr>
              <a:t>=10</a:t>
            </a:r>
            <a:r>
              <a:rPr i="1" lang="en-US" sz="2200"/>
              <a:t> </a:t>
            </a:r>
            <a:endParaRPr sz="26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  <a:p>
            <a:pPr indent="-285750" lvl="1" marL="74295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sz="1800"/>
          </a:p>
        </p:txBody>
      </p:sp>
      <p:pic>
        <p:nvPicPr>
          <p:cNvPr id="1208" name="Google Shape;1208;p8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428" y="4005063"/>
            <a:ext cx="7031964" cy="1406054"/>
          </a:xfrm>
          <a:prstGeom prst="rect">
            <a:avLst/>
          </a:prstGeom>
          <a:noFill/>
          <a:ln>
            <a:noFill/>
          </a:ln>
        </p:spPr>
      </p:pic>
      <p:sp>
        <p:nvSpPr>
          <p:cNvPr id="1209" name="Google Shape;1209;p8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210" name="Google Shape;1210;p8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11" name="Google Shape;1211;p8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212" name="Google Shape;1212;p85"/>
          <p:cNvPicPr preferRelativeResize="0"/>
          <p:nvPr/>
        </p:nvPicPr>
        <p:blipFill rotWithShape="1">
          <a:blip r:embed="rId4">
            <a:alphaModFix/>
          </a:blip>
          <a:srcRect b="18225" l="23914" r="39404" t="30224"/>
          <a:stretch/>
        </p:blipFill>
        <p:spPr>
          <a:xfrm>
            <a:off x="1309936" y="1268760"/>
            <a:ext cx="6768752" cy="2509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p86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219" name="Google Shape;1219;p86"/>
          <p:cNvSpPr txBox="1"/>
          <p:nvPr>
            <p:ph idx="1" type="body"/>
          </p:nvPr>
        </p:nvSpPr>
        <p:spPr>
          <a:xfrm>
            <a:off x="882650" y="1233488"/>
            <a:ext cx="74231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priority number (integer) is associated with each process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The CPU is allocated to the process with the highest priority</a:t>
            </a:r>
            <a:r>
              <a:rPr lang="en-US" sz="2400"/>
              <a:t> (smallest integer ≡ highest priority)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220" name="Google Shape;1220;p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221" name="Google Shape;1221;p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22" name="Google Shape;1222;p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p87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229" name="Google Shape;1229;p87"/>
          <p:cNvSpPr txBox="1"/>
          <p:nvPr>
            <p:ph idx="1" type="body"/>
          </p:nvPr>
        </p:nvSpPr>
        <p:spPr>
          <a:xfrm>
            <a:off x="882650" y="1233488"/>
            <a:ext cx="74231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15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SJF is a special case of priority scheduling: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process priority = the </a:t>
            </a:r>
            <a:r>
              <a:rPr i="1" lang="en-US" sz="2400"/>
              <a:t>inverse of remaining CPU time </a:t>
            </a:r>
            <a:endParaRPr i="1"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The larger the CPU burst, the lower the priority and vice versa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Equal priority processes are scheduled in FCFS order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FCFS can be used to break ties.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3366FF"/>
              </a:solidFill>
            </a:endParaRPr>
          </a:p>
        </p:txBody>
      </p:sp>
      <p:sp>
        <p:nvSpPr>
          <p:cNvPr id="1230" name="Google Shape;1230;p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231" name="Google Shape;1231;p8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32" name="Google Shape;1232;p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33" name="Google Shape;1233;p87"/>
          <p:cNvSpPr/>
          <p:nvPr/>
        </p:nvSpPr>
        <p:spPr>
          <a:xfrm>
            <a:off x="899592" y="3717032"/>
            <a:ext cx="7056784" cy="576064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88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240" name="Google Shape;1240;p88"/>
          <p:cNvSpPr txBox="1"/>
          <p:nvPr>
            <p:ph idx="1" type="body"/>
          </p:nvPr>
        </p:nvSpPr>
        <p:spPr>
          <a:xfrm>
            <a:off x="882650" y="1233488"/>
            <a:ext cx="7423150" cy="507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We discuss in terms of High, low priority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Priority are fixed range of numbers such as 0 to 7 or 0 to 4,095.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No agreement on whether 0 is highest /lowest.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Some systems use lower numbers to represent low priority other use low numbers for high priority.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Here , we use low numbers for high priority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>
              <a:solidFill>
                <a:srgbClr val="3366FF"/>
              </a:solidFill>
            </a:endParaRPr>
          </a:p>
        </p:txBody>
      </p:sp>
      <p:sp>
        <p:nvSpPr>
          <p:cNvPr id="1241" name="Google Shape;1241;p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242" name="Google Shape;1242;p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43" name="Google Shape;1243;p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89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250" name="Google Shape;1250;p89"/>
          <p:cNvSpPr txBox="1"/>
          <p:nvPr>
            <p:ph idx="1" type="body"/>
          </p:nvPr>
        </p:nvSpPr>
        <p:spPr>
          <a:xfrm>
            <a:off x="882650" y="836712"/>
            <a:ext cx="7423150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Priorities can be defined: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Internally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externally</a:t>
            </a:r>
            <a:endParaRPr/>
          </a:p>
          <a:p>
            <a:pPr indent="0" lvl="1" marL="74295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t/>
            </a:r>
            <a:endParaRPr sz="8000"/>
          </a:p>
          <a:p>
            <a:pPr indent="0" lvl="0" marL="34290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8000"/>
              <a:buNone/>
            </a:pPr>
            <a:r>
              <a:t/>
            </a:r>
            <a:endParaRPr b="1" sz="8000">
              <a:solidFill>
                <a:srgbClr val="3366FF"/>
              </a:solidFill>
            </a:endParaRPr>
          </a:p>
        </p:txBody>
      </p:sp>
      <p:sp>
        <p:nvSpPr>
          <p:cNvPr id="1251" name="Google Shape;1251;p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252" name="Google Shape;1252;p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53" name="Google Shape;1253;p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8" name="Shape 1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" name="Google Shape;1259;p90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260" name="Google Shape;1260;p90"/>
          <p:cNvSpPr txBox="1"/>
          <p:nvPr>
            <p:ph idx="1" type="body"/>
          </p:nvPr>
        </p:nvSpPr>
        <p:spPr>
          <a:xfrm>
            <a:off x="882650" y="836712"/>
            <a:ext cx="7423150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32500" lnSpcReduction="20000"/>
          </a:bodyPr>
          <a:lstStyle/>
          <a:p>
            <a:pPr indent="-32639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8000"/>
              <a:t>Internally defined-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8000"/>
              <a:t>Use Some measurable quantities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8000"/>
              <a:t>Eg- </a:t>
            </a:r>
            <a:r>
              <a:rPr b="1" lang="en-US" sz="8000"/>
              <a:t>time limits, memory requirements, the number of open files, ratio of average I/O burst to average CPU burst have been used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80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8000"/>
              <a:t>Externally defined-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8000"/>
              <a:t>Set by criteria that are external to the OS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en-US" sz="8000"/>
              <a:t>Importance of the process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en-US" sz="8000"/>
              <a:t>Type and amount of fund being paid for computer use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en-US" sz="8000"/>
              <a:t>The Department sponsoring the work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b="1" lang="en-US" sz="8000"/>
              <a:t>Often political factors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sz="8000">
              <a:solidFill>
                <a:srgbClr val="3366FF"/>
              </a:solidFill>
            </a:endParaRPr>
          </a:p>
        </p:txBody>
      </p:sp>
      <p:sp>
        <p:nvSpPr>
          <p:cNvPr id="1261" name="Google Shape;1261;p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262" name="Google Shape;1262;p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63" name="Google Shape;1263;p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8" name="Shape 1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" name="Google Shape;1269;p91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270" name="Google Shape;1270;p91"/>
          <p:cNvSpPr txBox="1"/>
          <p:nvPr>
            <p:ph idx="1" type="body"/>
          </p:nvPr>
        </p:nvSpPr>
        <p:spPr>
          <a:xfrm>
            <a:off x="882650" y="1233488"/>
            <a:ext cx="74231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>
              <a:solidFill>
                <a:srgbClr val="3366FF"/>
              </a:solidFill>
            </a:endParaRPr>
          </a:p>
        </p:txBody>
      </p:sp>
      <p:sp>
        <p:nvSpPr>
          <p:cNvPr id="1271" name="Google Shape;1271;p91"/>
          <p:cNvSpPr txBox="1"/>
          <p:nvPr/>
        </p:nvSpPr>
        <p:spPr>
          <a:xfrm>
            <a:off x="683568" y="1340768"/>
            <a:ext cx="7416824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Priority can be :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pre-emptive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 pre-emptive</a:t>
            </a:r>
            <a:endParaRPr/>
          </a:p>
          <a:p>
            <a:pPr indent="0" lvl="1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a process arrives at the ready queue,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priority is compared with priority of the current running process.</a:t>
            </a:r>
            <a:endParaRPr/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2" name="Google Shape;1272;p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273" name="Google Shape;1273;p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74" name="Google Shape;1274;p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75" name="Google Shape;1275;p91"/>
          <p:cNvSpPr/>
          <p:nvPr/>
        </p:nvSpPr>
        <p:spPr>
          <a:xfrm>
            <a:off x="251520" y="2636912"/>
            <a:ext cx="8748464" cy="1606828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92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282" name="Google Shape;1282;p92"/>
          <p:cNvSpPr txBox="1"/>
          <p:nvPr>
            <p:ph idx="1" type="body"/>
          </p:nvPr>
        </p:nvSpPr>
        <p:spPr>
          <a:xfrm>
            <a:off x="882650" y="1233488"/>
            <a:ext cx="74231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>
              <a:solidFill>
                <a:srgbClr val="3366FF"/>
              </a:solidFill>
            </a:endParaRPr>
          </a:p>
        </p:txBody>
      </p:sp>
      <p:sp>
        <p:nvSpPr>
          <p:cNvPr id="1283" name="Google Shape;1283;p92"/>
          <p:cNvSpPr txBox="1"/>
          <p:nvPr/>
        </p:nvSpPr>
        <p:spPr>
          <a:xfrm>
            <a:off x="683568" y="1340768"/>
            <a:ext cx="7416824" cy="4401205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1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Scenario:</a:t>
            </a:r>
            <a:endParaRPr/>
          </a:p>
          <a:p>
            <a:pPr indent="-285750" lvl="1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the priority of the newly arrived process is higher than the priority of the currently running process.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Characteristics: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preemptive priority scheduling algorithm will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preempt the CPU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333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lang="en-US"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A non-preemptive priority scheduling algorithm will 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Arial"/>
              <a:buChar char="•"/>
            </a:pPr>
            <a:r>
              <a:rPr b="1" i="0" lang="en-US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simply put the new process at the head of the ready queue , </a:t>
            </a:r>
            <a:endParaRPr b="1" i="0" sz="2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4" name="Google Shape;1284;p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285" name="Google Shape;1285;p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86" name="Google Shape;1286;p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93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293" name="Google Shape;1293;p93"/>
          <p:cNvSpPr txBox="1"/>
          <p:nvPr>
            <p:ph idx="1" type="body"/>
          </p:nvPr>
        </p:nvSpPr>
        <p:spPr>
          <a:xfrm>
            <a:off x="467544" y="1233488"/>
            <a:ext cx="8352928" cy="507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Problem ≡ </a:t>
            </a:r>
            <a:r>
              <a:rPr b="1" lang="en-US">
                <a:solidFill>
                  <a:srgbClr val="3366FF"/>
                </a:solidFill>
              </a:rPr>
              <a:t>Starvatio</a:t>
            </a:r>
            <a:r>
              <a:rPr b="1" lang="en-US">
                <a:solidFill>
                  <a:schemeClr val="accent1"/>
                </a:solidFill>
              </a:rPr>
              <a:t>n/Indefinite blocking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2921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Solution ≡ </a:t>
            </a:r>
            <a:r>
              <a:rPr b="1" lang="en-US">
                <a:solidFill>
                  <a:srgbClr val="3366FF"/>
                </a:solidFill>
              </a:rPr>
              <a:t>Aging</a:t>
            </a:r>
            <a:r>
              <a:rPr b="1" lang="en-US"/>
              <a:t>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t/>
            </a:r>
            <a:endParaRPr b="1">
              <a:solidFill>
                <a:srgbClr val="3366FF"/>
              </a:solidFill>
            </a:endParaRPr>
          </a:p>
        </p:txBody>
      </p:sp>
      <p:sp>
        <p:nvSpPr>
          <p:cNvPr id="1294" name="Google Shape;1294;p9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295" name="Google Shape;1295;p9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296" name="Google Shape;1296;p9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94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303" name="Google Shape;1303;p94"/>
          <p:cNvSpPr txBox="1"/>
          <p:nvPr>
            <p:ph idx="1" type="body"/>
          </p:nvPr>
        </p:nvSpPr>
        <p:spPr>
          <a:xfrm>
            <a:off x="467544" y="1233488"/>
            <a:ext cx="8352928" cy="507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Problem ≡ </a:t>
            </a:r>
            <a:r>
              <a:rPr b="1" lang="en-US" sz="2800">
                <a:solidFill>
                  <a:srgbClr val="3366FF"/>
                </a:solidFill>
              </a:rPr>
              <a:t>Starvatio</a:t>
            </a:r>
            <a:r>
              <a:rPr b="1" lang="en-US" sz="2800">
                <a:solidFill>
                  <a:schemeClr val="accent1"/>
                </a:solidFill>
              </a:rPr>
              <a:t>n/Indefinite blocking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Low priority processes may never execute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Leave some low priority processes waiting indefinitely for the CPU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298450" lvl="0" marL="342900" rtl="0" algn="l">
              <a:spcBef>
                <a:spcPts val="14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</a:pPr>
            <a:r>
              <a:t/>
            </a:r>
            <a:endParaRPr sz="7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sz="2800">
              <a:solidFill>
                <a:srgbClr val="3366FF"/>
              </a:solidFill>
            </a:endParaRPr>
          </a:p>
        </p:txBody>
      </p:sp>
      <p:sp>
        <p:nvSpPr>
          <p:cNvPr id="1304" name="Google Shape;1304;p9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305" name="Google Shape;1305;p9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06" name="Google Shape;1306;p9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p95"/>
          <p:cNvSpPr txBox="1"/>
          <p:nvPr>
            <p:ph type="title"/>
          </p:nvPr>
        </p:nvSpPr>
        <p:spPr>
          <a:xfrm>
            <a:off x="963613" y="201613"/>
            <a:ext cx="7723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Priority Scheduling</a:t>
            </a:r>
            <a:endParaRPr/>
          </a:p>
        </p:txBody>
      </p:sp>
      <p:sp>
        <p:nvSpPr>
          <p:cNvPr id="1313" name="Google Shape;1313;p95"/>
          <p:cNvSpPr txBox="1"/>
          <p:nvPr>
            <p:ph idx="1" type="body"/>
          </p:nvPr>
        </p:nvSpPr>
        <p:spPr>
          <a:xfrm>
            <a:off x="467544" y="1233488"/>
            <a:ext cx="8352928" cy="50758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921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292100" lvl="0" marL="342900" rtl="0" algn="l">
              <a:spcBef>
                <a:spcPts val="16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</a:pPr>
            <a:r>
              <a:t/>
            </a:r>
            <a:endParaRPr sz="8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Solution ≡ </a:t>
            </a:r>
            <a:r>
              <a:rPr b="1" lang="en-US" sz="2400">
                <a:solidFill>
                  <a:srgbClr val="3366FF"/>
                </a:solidFill>
              </a:rPr>
              <a:t>Aging</a:t>
            </a:r>
            <a:r>
              <a:rPr b="1" lang="en-US" sz="2400"/>
              <a:t> </a:t>
            </a:r>
            <a:r>
              <a:rPr lang="en-US" sz="2400"/>
              <a:t>– as time progresses increase the priority of the process that wait in the system for a long time.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For eg- If priorities range from 127 (low) to 0 (high), decrement the priority of a waiting process by 1 every 15 minutes.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1" sz="2400">
              <a:solidFill>
                <a:srgbClr val="3366FF"/>
              </a:solidFill>
            </a:endParaRPr>
          </a:p>
        </p:txBody>
      </p:sp>
      <p:sp>
        <p:nvSpPr>
          <p:cNvPr id="1314" name="Google Shape;1314;p95"/>
          <p:cNvSpPr/>
          <p:nvPr/>
        </p:nvSpPr>
        <p:spPr>
          <a:xfrm>
            <a:off x="575048" y="1484784"/>
            <a:ext cx="8568952" cy="1152128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5" name="Google Shape;1315;p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316" name="Google Shape;1316;p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17" name="Google Shape;1317;p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2" name="Shape 1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3" name="Google Shape;1323;p96"/>
          <p:cNvSpPr txBox="1"/>
          <p:nvPr>
            <p:ph type="title"/>
          </p:nvPr>
        </p:nvSpPr>
        <p:spPr>
          <a:xfrm>
            <a:off x="467544" y="0"/>
            <a:ext cx="8147248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lang="en-US" sz="2400"/>
              <a:t>Example of Non Pre-emptive Priority Scheduling</a:t>
            </a:r>
            <a:endParaRPr b="1" sz="2400"/>
          </a:p>
        </p:txBody>
      </p:sp>
      <p:sp>
        <p:nvSpPr>
          <p:cNvPr id="1324" name="Google Shape;1324;p96"/>
          <p:cNvSpPr txBox="1"/>
          <p:nvPr>
            <p:ph idx="1" type="body"/>
          </p:nvPr>
        </p:nvSpPr>
        <p:spPr>
          <a:xfrm>
            <a:off x="806450" y="620688"/>
            <a:ext cx="8337550" cy="576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</a:pPr>
            <a:r>
              <a:rPr lang="en-US"/>
              <a:t>		         </a:t>
            </a:r>
            <a:r>
              <a:rPr lang="en-US" sz="2800" u="sng"/>
              <a:t>Process        Burst Time</a:t>
            </a:r>
            <a:r>
              <a:rPr lang="en-US" sz="2800" u="sng">
                <a:solidFill>
                  <a:schemeClr val="lt1"/>
                </a:solidFill>
              </a:rPr>
              <a:t>T</a:t>
            </a:r>
            <a:r>
              <a:rPr lang="en-US" sz="2800"/>
              <a:t>	</a:t>
            </a:r>
            <a:r>
              <a:rPr lang="en-US" sz="2800" u="sng"/>
              <a:t>Priority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	 </a:t>
            </a:r>
            <a:r>
              <a:rPr i="1" lang="en-US" sz="2800"/>
              <a:t>P</a:t>
            </a:r>
            <a:r>
              <a:rPr baseline="-25000" i="1" lang="en-US" sz="2800"/>
              <a:t>1</a:t>
            </a:r>
            <a:r>
              <a:rPr lang="en-US" sz="2800"/>
              <a:t>	1</a:t>
            </a:r>
            <a:r>
              <a:rPr lang="en-US" sz="2800">
                <a:solidFill>
                  <a:srgbClr val="000000"/>
                </a:solidFill>
              </a:rPr>
              <a:t>0</a:t>
            </a:r>
            <a:r>
              <a:rPr lang="en-US" sz="2800"/>
              <a:t>	3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	 </a:t>
            </a:r>
            <a:r>
              <a:rPr i="1" lang="en-US" sz="2800"/>
              <a:t>P</a:t>
            </a:r>
            <a:r>
              <a:rPr baseline="-25000" i="1" lang="en-US" sz="2800"/>
              <a:t>2 	</a:t>
            </a:r>
            <a:r>
              <a:rPr lang="en-US" sz="2800">
                <a:solidFill>
                  <a:srgbClr val="000000"/>
                </a:solidFill>
              </a:rPr>
              <a:t>1</a:t>
            </a:r>
            <a:r>
              <a:rPr lang="en-US" sz="2800"/>
              <a:t>	1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	 </a:t>
            </a:r>
            <a:r>
              <a:rPr i="1" lang="en-US" sz="2800"/>
              <a:t>P</a:t>
            </a:r>
            <a:r>
              <a:rPr baseline="-25000" i="1" lang="en-US" sz="2800"/>
              <a:t>3</a:t>
            </a:r>
            <a:r>
              <a:rPr lang="en-US" sz="2800"/>
              <a:t>	</a:t>
            </a:r>
            <a:r>
              <a:rPr lang="en-US" sz="2800">
                <a:solidFill>
                  <a:srgbClr val="000000"/>
                </a:solidFill>
              </a:rPr>
              <a:t>2</a:t>
            </a:r>
            <a:r>
              <a:rPr lang="en-US" sz="2800"/>
              <a:t>	4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	 </a:t>
            </a:r>
            <a:r>
              <a:rPr i="1" lang="en-US" sz="2800"/>
              <a:t>P</a:t>
            </a:r>
            <a:r>
              <a:rPr baseline="-25000" i="1" lang="en-US" sz="2800"/>
              <a:t>4</a:t>
            </a:r>
            <a:r>
              <a:rPr lang="en-US" sz="2800"/>
              <a:t>	</a:t>
            </a:r>
            <a:r>
              <a:rPr lang="en-US" sz="2800">
                <a:solidFill>
                  <a:srgbClr val="000000"/>
                </a:solidFill>
              </a:rPr>
              <a:t>1</a:t>
            </a:r>
            <a:r>
              <a:rPr lang="en-US" sz="2800"/>
              <a:t>	5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sz="2800"/>
              <a:t>		</a:t>
            </a:r>
            <a:r>
              <a:rPr i="1" lang="en-US" sz="2800"/>
              <a:t>P</a:t>
            </a:r>
            <a:r>
              <a:rPr baseline="-25000" i="1" lang="en-US" sz="2800"/>
              <a:t>5	</a:t>
            </a:r>
            <a:r>
              <a:rPr lang="en-US" sz="2800"/>
              <a:t>5	2</a:t>
            </a:r>
            <a:endParaRPr/>
          </a:p>
        </p:txBody>
      </p:sp>
      <p:sp>
        <p:nvSpPr>
          <p:cNvPr id="1325" name="Google Shape;1325;p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326" name="Google Shape;1326;p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27" name="Google Shape;1327;p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p97"/>
          <p:cNvSpPr txBox="1"/>
          <p:nvPr>
            <p:ph type="title"/>
          </p:nvPr>
        </p:nvSpPr>
        <p:spPr>
          <a:xfrm>
            <a:off x="467544" y="0"/>
            <a:ext cx="8147248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Example of Non Pre-emptive Priority Scheduling</a:t>
            </a:r>
            <a:endParaRPr sz="2400"/>
          </a:p>
        </p:txBody>
      </p:sp>
      <p:sp>
        <p:nvSpPr>
          <p:cNvPr id="1334" name="Google Shape;1334;p97"/>
          <p:cNvSpPr txBox="1"/>
          <p:nvPr>
            <p:ph idx="1" type="body"/>
          </p:nvPr>
        </p:nvSpPr>
        <p:spPr>
          <a:xfrm>
            <a:off x="806450" y="620688"/>
            <a:ext cx="8337550" cy="5760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        </a:t>
            </a:r>
            <a:r>
              <a:rPr lang="en-US" u="sng"/>
              <a:t>Process                  Burst Time</a:t>
            </a:r>
            <a:r>
              <a:rPr lang="en-US" u="sng">
                <a:solidFill>
                  <a:schemeClr val="lt1"/>
                </a:solidFill>
              </a:rPr>
              <a:t>T</a:t>
            </a:r>
            <a:r>
              <a:rPr lang="en-US"/>
              <a:t>	</a:t>
            </a:r>
            <a:r>
              <a:rPr lang="en-US" u="sng"/>
              <a:t>Priority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1</a:t>
            </a:r>
            <a:r>
              <a:rPr lang="en-US"/>
              <a:t>	1</a:t>
            </a:r>
            <a:r>
              <a:rPr lang="en-US">
                <a:solidFill>
                  <a:srgbClr val="000000"/>
                </a:solidFill>
              </a:rPr>
              <a:t>0</a:t>
            </a:r>
            <a:r>
              <a:rPr lang="en-US"/>
              <a:t>	3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2 	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/>
              <a:t>	1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3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2</a:t>
            </a:r>
            <a:r>
              <a:rPr lang="en-US"/>
              <a:t>	4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 </a:t>
            </a:r>
            <a:r>
              <a:rPr i="1" lang="en-US"/>
              <a:t>P</a:t>
            </a:r>
            <a:r>
              <a:rPr baseline="-25000" i="1" lang="en-US"/>
              <a:t>4</a:t>
            </a:r>
            <a:r>
              <a:rPr lang="en-US"/>
              <a:t>	</a:t>
            </a:r>
            <a:r>
              <a:rPr lang="en-US">
                <a:solidFill>
                  <a:srgbClr val="000000"/>
                </a:solidFill>
              </a:rPr>
              <a:t>1</a:t>
            </a:r>
            <a:r>
              <a:rPr lang="en-US"/>
              <a:t>	5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		</a:t>
            </a:r>
            <a:r>
              <a:rPr i="1" lang="en-US"/>
              <a:t>P</a:t>
            </a:r>
            <a:r>
              <a:rPr baseline="-25000" i="1" lang="en-US"/>
              <a:t>5	</a:t>
            </a:r>
            <a:r>
              <a:rPr lang="en-US"/>
              <a:t>5	2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Priority scheduling Gantt Chart</a:t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15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Waiting Time of Processes-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P1=6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P2=0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P3=16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P4=18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/>
              <a:t>P5=1</a:t>
            </a:r>
            <a:endParaRPr/>
          </a:p>
          <a:p>
            <a:pPr indent="-342900" lvl="0" marL="34290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Average waiting time = =(6+0+16+18+1)/5=41/5=8.2 msec</a:t>
            </a:r>
            <a:endParaRPr baseline="-25000" i="1"/>
          </a:p>
        </p:txBody>
      </p:sp>
      <p:grpSp>
        <p:nvGrpSpPr>
          <p:cNvPr id="1335" name="Google Shape;1335;p97"/>
          <p:cNvGrpSpPr/>
          <p:nvPr/>
        </p:nvGrpSpPr>
        <p:grpSpPr>
          <a:xfrm>
            <a:off x="1153577" y="2780928"/>
            <a:ext cx="6134721" cy="986015"/>
            <a:chOff x="1187624" y="3212976"/>
            <a:chExt cx="6134721" cy="986015"/>
          </a:xfrm>
        </p:grpSpPr>
        <p:pic>
          <p:nvPicPr>
            <p:cNvPr id="1336" name="Google Shape;1336;p97"/>
            <p:cNvPicPr preferRelativeResize="0"/>
            <p:nvPr/>
          </p:nvPicPr>
          <p:blipFill rotWithShape="1">
            <a:blip r:embed="rId3">
              <a:alphaModFix/>
            </a:blip>
            <a:srcRect b="68076" l="0" r="52849" t="18445"/>
            <a:stretch/>
          </p:blipFill>
          <p:spPr>
            <a:xfrm>
              <a:off x="1187624" y="3212976"/>
              <a:ext cx="6134721" cy="98601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37" name="Google Shape;1337;p97"/>
            <p:cNvSpPr txBox="1"/>
            <p:nvPr/>
          </p:nvSpPr>
          <p:spPr>
            <a:xfrm>
              <a:off x="1409115" y="3560274"/>
              <a:ext cx="36004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38" name="Google Shape;1338;p97"/>
          <p:cNvSpPr txBox="1"/>
          <p:nvPr/>
        </p:nvSpPr>
        <p:spPr>
          <a:xfrm>
            <a:off x="2231740" y="3128226"/>
            <a:ext cx="36004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9" name="Google Shape;1339;p9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340" name="Google Shape;1340;p9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41" name="Google Shape;1341;p9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9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Pre-emptive Priority Algorithm</a:t>
            </a:r>
            <a:endParaRPr/>
          </a:p>
        </p:txBody>
      </p:sp>
      <p:sp>
        <p:nvSpPr>
          <p:cNvPr id="1347" name="Google Shape;1347;p9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348" name="Google Shape;1348;p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349" name="Google Shape;1349;p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50" name="Google Shape;1350;p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51" name="Google Shape;1351;p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1628800"/>
            <a:ext cx="4663901" cy="39695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5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99"/>
          <p:cNvSpPr txBox="1"/>
          <p:nvPr>
            <p:ph type="title"/>
          </p:nvPr>
        </p:nvSpPr>
        <p:spPr>
          <a:xfrm>
            <a:off x="427284" y="0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Pre-emptive Priority Algorithm</a:t>
            </a:r>
            <a:endParaRPr/>
          </a:p>
        </p:txBody>
      </p:sp>
      <p:sp>
        <p:nvSpPr>
          <p:cNvPr id="1357" name="Google Shape;1357;p9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358" name="Google Shape;1358;p9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359" name="Google Shape;1359;p9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60" name="Google Shape;1360;p9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61" name="Google Shape;1361;p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7668" y="908720"/>
            <a:ext cx="4350396" cy="3702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2" name="Google Shape;1362;p9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58930" y="4653135"/>
            <a:ext cx="7297446" cy="14037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100"/>
          <p:cNvSpPr txBox="1"/>
          <p:nvPr>
            <p:ph type="title"/>
          </p:nvPr>
        </p:nvSpPr>
        <p:spPr>
          <a:xfrm>
            <a:off x="427284" y="0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Pre-emptive Priority Algorithm</a:t>
            </a:r>
            <a:endParaRPr/>
          </a:p>
        </p:txBody>
      </p:sp>
      <p:sp>
        <p:nvSpPr>
          <p:cNvPr id="1368" name="Google Shape;1368;p10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369" name="Google Shape;1369;p10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370" name="Google Shape;1370;p10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71" name="Google Shape;1371;p10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72" name="Google Shape;1372;p10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980728"/>
            <a:ext cx="8554578" cy="51845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p101"/>
          <p:cNvSpPr txBox="1"/>
          <p:nvPr>
            <p:ph type="title"/>
          </p:nvPr>
        </p:nvSpPr>
        <p:spPr>
          <a:xfrm>
            <a:off x="457200" y="1762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Preemptive Priority Scheduling</a:t>
            </a:r>
            <a:endParaRPr/>
          </a:p>
        </p:txBody>
      </p:sp>
      <p:graphicFrame>
        <p:nvGraphicFramePr>
          <p:cNvPr id="1379" name="Google Shape;1379;p101"/>
          <p:cNvGraphicFramePr/>
          <p:nvPr/>
        </p:nvGraphicFramePr>
        <p:xfrm>
          <a:off x="539552" y="1484784"/>
          <a:ext cx="3000000" cy="3000000"/>
        </p:xfrm>
        <a:graphic>
          <a:graphicData uri="http://schemas.openxmlformats.org/drawingml/2006/table">
            <a:tbl>
              <a:tblPr>
                <a:gradFill>
                  <a:gsLst>
                    <a:gs pos="0">
                      <a:srgbClr val="9FC3FF"/>
                    </a:gs>
                    <a:gs pos="35000">
                      <a:srgbClr val="BDD5FF"/>
                    </a:gs>
                    <a:gs pos="100000">
                      <a:srgbClr val="E4EEFF"/>
                    </a:gs>
                  </a:gsLst>
                  <a:lin ang="16200000" scaled="0"/>
                </a:gradFill>
                <a:tableStyleId>{5FA6D0A4-F6BB-4391-8986-4E308C462F38}</a:tableStyleId>
              </a:tblPr>
              <a:tblGrid>
                <a:gridCol w="2016125"/>
                <a:gridCol w="2016125"/>
                <a:gridCol w="2016125"/>
                <a:gridCol w="2016125"/>
              </a:tblGrid>
              <a:tr h="3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Process Id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Priority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Arrival Time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Burst Time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</a:t>
                      </a:r>
                      <a:endParaRPr sz="18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8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9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8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</a:tbl>
          </a:graphicData>
        </a:graphic>
      </p:graphicFrame>
      <p:sp>
        <p:nvSpPr>
          <p:cNvPr id="1380" name="Google Shape;1380;p10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381" name="Google Shape;1381;p10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82" name="Google Shape;1382;p10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02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graphicFrame>
        <p:nvGraphicFramePr>
          <p:cNvPr id="1389" name="Google Shape;1389;p102"/>
          <p:cNvGraphicFramePr/>
          <p:nvPr/>
        </p:nvGraphicFramePr>
        <p:xfrm>
          <a:off x="323528" y="62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{5FA6D0A4-F6BB-4391-8986-4E308C462F38}</a:tableStyleId>
              </a:tblPr>
              <a:tblGrid>
                <a:gridCol w="873575"/>
                <a:gridCol w="782600"/>
                <a:gridCol w="720075"/>
                <a:gridCol w="769475"/>
              </a:tblGrid>
              <a:tr h="662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Process Id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Priority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Arrival Time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Burst Time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 sz="16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10</a:t>
                      </a:r>
                      <a:endParaRPr sz="16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888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8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</a:tbl>
          </a:graphicData>
        </a:graphic>
      </p:graphicFrame>
      <p:sp>
        <p:nvSpPr>
          <p:cNvPr id="1390" name="Google Shape;1390;p10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391" name="Google Shape;1391;p10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392" name="Google Shape;1392;p10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93" name="Google Shape;1393;p102"/>
          <p:cNvSpPr/>
          <p:nvPr/>
        </p:nvSpPr>
        <p:spPr>
          <a:xfrm>
            <a:off x="3525285" y="548680"/>
            <a:ext cx="5616624" cy="2246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time=0, P1 arrives with the burst time of 1 units and priority 2.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no other process is available hence this will be scheduled till next job arrives or its completion (whichever is lesser).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Queue={(P1,BT=1,PR=2)}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4" name="Google Shape;1394;p10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9912" y="3102124"/>
            <a:ext cx="8763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395" name="Google Shape;1395;p102"/>
          <p:cNvSpPr/>
          <p:nvPr/>
        </p:nvSpPr>
        <p:spPr>
          <a:xfrm>
            <a:off x="321726" y="4005064"/>
            <a:ext cx="835292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time=1, P2 arrives.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P1 terminates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other process is available at this time hence the Operating system has to schedule P2 regardless of the priority assigned to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Queue={(P2,BT=7,PR=6)}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96" name="Google Shape;1396;p10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65658" y="5754282"/>
            <a:ext cx="1762125" cy="6477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102"/>
          <p:cNvSpPr/>
          <p:nvPr/>
        </p:nvSpPr>
        <p:spPr>
          <a:xfrm>
            <a:off x="1927150" y="476672"/>
            <a:ext cx="700633" cy="1584176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8" name="Google Shape;1398;p102"/>
          <p:cNvSpPr/>
          <p:nvPr/>
        </p:nvSpPr>
        <p:spPr>
          <a:xfrm>
            <a:off x="3059832" y="119675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103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graphicFrame>
        <p:nvGraphicFramePr>
          <p:cNvPr id="1405" name="Google Shape;1405;p103"/>
          <p:cNvGraphicFramePr/>
          <p:nvPr/>
        </p:nvGraphicFramePr>
        <p:xfrm>
          <a:off x="323528" y="62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{5FA6D0A4-F6BB-4391-8986-4E308C462F38}</a:tableStyleId>
              </a:tblPr>
              <a:tblGrid>
                <a:gridCol w="873575"/>
                <a:gridCol w="782600"/>
                <a:gridCol w="720075"/>
                <a:gridCol w="769475"/>
              </a:tblGrid>
              <a:tr h="719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Process Id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Priority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Arrival Time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Burst Time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 sz="16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10</a:t>
                      </a:r>
                      <a:endParaRPr sz="16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1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8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</a:tbl>
          </a:graphicData>
        </a:graphic>
      </p:graphicFrame>
      <p:sp>
        <p:nvSpPr>
          <p:cNvPr id="1406" name="Google Shape;1406;p10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407" name="Google Shape;1407;p10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08" name="Google Shape;1408;p10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09" name="Google Shape;1409;p103"/>
          <p:cNvSpPr/>
          <p:nvPr/>
        </p:nvSpPr>
        <p:spPr>
          <a:xfrm>
            <a:off x="3851920" y="950530"/>
            <a:ext cx="5040560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Time=2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P3 arrives , the priority of P3 is higher to P2. 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Queue={(P3,BT=3,PR=3)}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 with Remaining Time=6,PR=6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 is Pre-empted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P3 is selected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Queue={(P2,Rem BT=6,PR=6)}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10" name="Google Shape;1410;p10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5680670"/>
            <a:ext cx="23431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103"/>
          <p:cNvSpPr/>
          <p:nvPr/>
        </p:nvSpPr>
        <p:spPr>
          <a:xfrm>
            <a:off x="107504" y="1746394"/>
            <a:ext cx="3134429" cy="818510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2" name="Google Shape;1412;p103"/>
          <p:cNvSpPr/>
          <p:nvPr/>
        </p:nvSpPr>
        <p:spPr>
          <a:xfrm>
            <a:off x="3059832" y="119675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7" name="Shape 1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8" name="Google Shape;1418;p104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graphicFrame>
        <p:nvGraphicFramePr>
          <p:cNvPr id="1419" name="Google Shape;1419;p104"/>
          <p:cNvGraphicFramePr/>
          <p:nvPr/>
        </p:nvGraphicFramePr>
        <p:xfrm>
          <a:off x="323528" y="62068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{5FA6D0A4-F6BB-4391-8986-4E308C462F38}</a:tableStyleId>
              </a:tblPr>
              <a:tblGrid>
                <a:gridCol w="999850"/>
                <a:gridCol w="895725"/>
                <a:gridCol w="824150"/>
                <a:gridCol w="880675"/>
              </a:tblGrid>
              <a:tr h="603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Process Id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Priority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Arrival Time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Burst Time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 sz="16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0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10</a:t>
                      </a:r>
                      <a:endParaRPr sz="16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353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9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/>
                        <a:t>8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</a:tbl>
          </a:graphicData>
        </a:graphic>
      </p:graphicFrame>
      <p:sp>
        <p:nvSpPr>
          <p:cNvPr id="1420" name="Google Shape;1420;p10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421" name="Google Shape;1421;p10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22" name="Google Shape;1422;p10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3" name="Google Shape;1423;p104"/>
          <p:cNvSpPr/>
          <p:nvPr/>
        </p:nvSpPr>
        <p:spPr>
          <a:xfrm>
            <a:off x="323528" y="3803795"/>
            <a:ext cx="8496944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the execution of P3, three more processes P4, P5 and P6 becomes available.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Queue={(P2,Rem BT=6,PR=6), (P4, BT=6,PR=5), (P5,BT=5,PR=4), (P6,BT=15,PR=10)}</a:t>
            </a:r>
            <a:endParaRPr b="1"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Since, all these three have the priority lower to P3,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pre-emption, P3 continues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t=5, P3 terminates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4" name="Google Shape;1424;p10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32040" y="2010358"/>
            <a:ext cx="3114675" cy="5905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5" name="Google Shape;1425;p104"/>
          <p:cNvSpPr/>
          <p:nvPr/>
        </p:nvSpPr>
        <p:spPr>
          <a:xfrm>
            <a:off x="127138" y="1916832"/>
            <a:ext cx="2520279" cy="136815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6" name="Google Shape;1426;p104"/>
          <p:cNvSpPr/>
          <p:nvPr/>
        </p:nvSpPr>
        <p:spPr>
          <a:xfrm>
            <a:off x="3454784" y="1124744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7" name="Google Shape;1427;p104"/>
          <p:cNvSpPr/>
          <p:nvPr/>
        </p:nvSpPr>
        <p:spPr>
          <a:xfrm>
            <a:off x="3454784" y="191683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2" name="Shape 1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" name="Google Shape;1433;p105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graphicFrame>
        <p:nvGraphicFramePr>
          <p:cNvPr id="1434" name="Google Shape;1434;p105"/>
          <p:cNvGraphicFramePr/>
          <p:nvPr/>
        </p:nvGraphicFramePr>
        <p:xfrm>
          <a:off x="323528" y="62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{5FA6D0A4-F6BB-4391-8986-4E308C462F38}</a:tableStyleId>
              </a:tblPr>
              <a:tblGrid>
                <a:gridCol w="873575"/>
                <a:gridCol w="782600"/>
                <a:gridCol w="720075"/>
                <a:gridCol w="769475"/>
              </a:tblGrid>
              <a:tr h="77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Process Id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Priority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Arrival Time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Burst Time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10</a:t>
                      </a:r>
                      <a:endParaRPr sz="14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9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8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</a:tbl>
          </a:graphicData>
        </a:graphic>
      </p:graphicFrame>
      <p:sp>
        <p:nvSpPr>
          <p:cNvPr id="1435" name="Google Shape;1435;p10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436" name="Google Shape;1436;p10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37" name="Google Shape;1437;p10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38" name="Google Shape;1438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5229200"/>
            <a:ext cx="3384376" cy="538806"/>
          </a:xfrm>
          <a:prstGeom prst="rect">
            <a:avLst/>
          </a:prstGeom>
          <a:noFill/>
          <a:ln>
            <a:noFill/>
          </a:ln>
        </p:spPr>
      </p:pic>
      <p:sp>
        <p:nvSpPr>
          <p:cNvPr id="1439" name="Google Shape;1439;p105"/>
          <p:cNvSpPr/>
          <p:nvPr/>
        </p:nvSpPr>
        <p:spPr>
          <a:xfrm>
            <a:off x="3635896" y="439876"/>
            <a:ext cx="5508104" cy="64633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Queue={(P2,Rem BT=6,PR=6), (P4, BT=6,PR=5), (P5,BT=5,PR=4), (P6,BT=15,PR=10)}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P5 will be scheduled with the priority highest among the available processes.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During the execution of P5, all the processes got available in the ready queue. At this point, the algorithm will start behaving as Non Preemptive Priority Scheduling.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Queue={(P2,Rem BT=6,PR=6), (P4, BT=6,PR=5), (P6,BT=15,PR=10)}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t=10, P5 terminates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P4 selected with highest priority in ready queue and will be executed till the completion.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Queue={(P2,Rem BT=6,PR=6), (P6,BT=15,PR=10)}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t=15, P7 arrives, with lower priority, P4 continues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t=16, P4 terminates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0" name="Google Shape;1440;p105"/>
          <p:cNvSpPr/>
          <p:nvPr/>
        </p:nvSpPr>
        <p:spPr>
          <a:xfrm>
            <a:off x="251520" y="2749654"/>
            <a:ext cx="2520279" cy="136815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1" name="Google Shape;1441;p105"/>
          <p:cNvSpPr/>
          <p:nvPr/>
        </p:nvSpPr>
        <p:spPr>
          <a:xfrm>
            <a:off x="3059832" y="1249596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2" name="Google Shape;1442;p105"/>
          <p:cNvSpPr/>
          <p:nvPr/>
        </p:nvSpPr>
        <p:spPr>
          <a:xfrm>
            <a:off x="3059832" y="227687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3" name="Google Shape;1443;p105"/>
          <p:cNvSpPr/>
          <p:nvPr/>
        </p:nvSpPr>
        <p:spPr>
          <a:xfrm>
            <a:off x="3059832" y="3121804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4" name="Google Shape;1444;p105"/>
          <p:cNvSpPr/>
          <p:nvPr/>
        </p:nvSpPr>
        <p:spPr>
          <a:xfrm>
            <a:off x="3059832" y="2708920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9" name="Shape 1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0" name="Google Shape;1450;p106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graphicFrame>
        <p:nvGraphicFramePr>
          <p:cNvPr id="1451" name="Google Shape;1451;p106"/>
          <p:cNvGraphicFramePr/>
          <p:nvPr/>
        </p:nvGraphicFramePr>
        <p:xfrm>
          <a:off x="323528" y="62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{5FA6D0A4-F6BB-4391-8986-4E308C462F38}</a:tableStyleId>
              </a:tblPr>
              <a:tblGrid>
                <a:gridCol w="873575"/>
                <a:gridCol w="782600"/>
                <a:gridCol w="720075"/>
                <a:gridCol w="769475"/>
              </a:tblGrid>
              <a:tr h="7754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Process Id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Priority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Arrival Time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Burst Time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28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10</a:t>
                      </a:r>
                      <a:endParaRPr sz="14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45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9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8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</a:tbl>
          </a:graphicData>
        </a:graphic>
      </p:graphicFrame>
      <p:sp>
        <p:nvSpPr>
          <p:cNvPr id="1452" name="Google Shape;1452;p10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453" name="Google Shape;1453;p10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54" name="Google Shape;1454;p10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455" name="Google Shape;1455;p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566997" y="3419754"/>
            <a:ext cx="5616624" cy="676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6" name="Google Shape;1456;p106"/>
          <p:cNvSpPr/>
          <p:nvPr/>
        </p:nvSpPr>
        <p:spPr>
          <a:xfrm>
            <a:off x="3635897" y="476671"/>
            <a:ext cx="5372176" cy="3416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 t=16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Queue={(P2,Rem BT=6,PR=6), (P6,BT=15,PR=10) (P7,BT=8,PR=9)}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 is selected,</a:t>
            </a: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as it has highest priority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P2 terminates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Queue={(P6,BT=15,PR=10),(P7,BT=8,PR=9)}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7" name="Google Shape;1457;p106"/>
          <p:cNvSpPr/>
          <p:nvPr/>
        </p:nvSpPr>
        <p:spPr>
          <a:xfrm>
            <a:off x="251520" y="2749654"/>
            <a:ext cx="2520279" cy="136815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8" name="Google Shape;1458;p106"/>
          <p:cNvSpPr/>
          <p:nvPr/>
        </p:nvSpPr>
        <p:spPr>
          <a:xfrm>
            <a:off x="3059832" y="1340768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9" name="Google Shape;1459;p106"/>
          <p:cNvSpPr/>
          <p:nvPr/>
        </p:nvSpPr>
        <p:spPr>
          <a:xfrm>
            <a:off x="3059832" y="227687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0" name="Google Shape;1460;p106"/>
          <p:cNvSpPr/>
          <p:nvPr/>
        </p:nvSpPr>
        <p:spPr>
          <a:xfrm>
            <a:off x="3059832" y="2761764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1" name="Google Shape;1461;p106"/>
          <p:cNvSpPr/>
          <p:nvPr/>
        </p:nvSpPr>
        <p:spPr>
          <a:xfrm>
            <a:off x="3059832" y="319381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2" name="Google Shape;1462;p106"/>
          <p:cNvSpPr/>
          <p:nvPr/>
        </p:nvSpPr>
        <p:spPr>
          <a:xfrm>
            <a:off x="3059832" y="1844824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p107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graphicFrame>
        <p:nvGraphicFramePr>
          <p:cNvPr id="1469" name="Google Shape;1469;p107"/>
          <p:cNvGraphicFramePr/>
          <p:nvPr/>
        </p:nvGraphicFramePr>
        <p:xfrm>
          <a:off x="323528" y="620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{5FA6D0A4-F6BB-4391-8986-4E308C462F38}</a:tableStyleId>
              </a:tblPr>
              <a:tblGrid>
                <a:gridCol w="873575"/>
                <a:gridCol w="782600"/>
                <a:gridCol w="720075"/>
                <a:gridCol w="769475"/>
              </a:tblGrid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Process Id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Priority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Arrival Time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Burst Time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 sz="14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0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2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3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4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6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10</a:t>
                      </a:r>
                      <a:endParaRPr sz="1400"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  <a:tr h="2430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7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9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15</a:t>
                      </a:r>
                      <a:endParaRPr/>
                    </a:p>
                  </a:txBody>
                  <a:tcPr marT="44800" marB="44800" marR="89600" marL="8960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/>
                        <a:t>8</a:t>
                      </a:r>
                      <a:endParaRPr/>
                    </a:p>
                  </a:txBody>
                  <a:tcPr marT="44800" marB="44800" marR="89600" marL="89600" anchor="ctr"/>
                </a:tc>
              </a:tr>
            </a:tbl>
          </a:graphicData>
        </a:graphic>
      </p:graphicFrame>
      <p:sp>
        <p:nvSpPr>
          <p:cNvPr id="1470" name="Google Shape;1470;p10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471" name="Google Shape;1471;p10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72" name="Google Shape;1472;p10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73" name="Google Shape;1473;p107"/>
          <p:cNvSpPr/>
          <p:nvPr/>
        </p:nvSpPr>
        <p:spPr>
          <a:xfrm>
            <a:off x="323528" y="3501008"/>
            <a:ext cx="828092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only remaining process is P6 with the least priority, will be executed at the last.</a:t>
            </a:r>
            <a:endParaRPr/>
          </a:p>
        </p:txBody>
      </p:sp>
      <p:pic>
        <p:nvPicPr>
          <p:cNvPr id="1474" name="Google Shape;1474;p10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87624" y="4581128"/>
            <a:ext cx="60102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5" name="Google Shape;1475;p107"/>
          <p:cNvSpPr/>
          <p:nvPr/>
        </p:nvSpPr>
        <p:spPr>
          <a:xfrm>
            <a:off x="3635896" y="692696"/>
            <a:ext cx="525658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Ready Queue={(P6,BT=15,PR=10),(P7,BT=8,PR=9}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P7 will be selected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6" name="Google Shape;1476;p10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03920" y="2708920"/>
            <a:ext cx="52768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77" name="Google Shape;1477;p107"/>
          <p:cNvSpPr/>
          <p:nvPr/>
        </p:nvSpPr>
        <p:spPr>
          <a:xfrm>
            <a:off x="3059832" y="1045271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8" name="Google Shape;1478;p107"/>
          <p:cNvSpPr/>
          <p:nvPr/>
        </p:nvSpPr>
        <p:spPr>
          <a:xfrm>
            <a:off x="3059832" y="1568491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9" name="Google Shape;1479;p107"/>
          <p:cNvSpPr/>
          <p:nvPr/>
        </p:nvSpPr>
        <p:spPr>
          <a:xfrm>
            <a:off x="3059832" y="1857632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0" name="Google Shape;1480;p107"/>
          <p:cNvSpPr/>
          <p:nvPr/>
        </p:nvSpPr>
        <p:spPr>
          <a:xfrm>
            <a:off x="3059832" y="2165586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1" name="Google Shape;1481;p107"/>
          <p:cNvSpPr/>
          <p:nvPr/>
        </p:nvSpPr>
        <p:spPr>
          <a:xfrm>
            <a:off x="3059832" y="1306881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2" name="Google Shape;1482;p107"/>
          <p:cNvSpPr/>
          <p:nvPr/>
        </p:nvSpPr>
        <p:spPr>
          <a:xfrm>
            <a:off x="3059832" y="2545740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3" name="Google Shape;1483;p107"/>
          <p:cNvSpPr/>
          <p:nvPr/>
        </p:nvSpPr>
        <p:spPr>
          <a:xfrm>
            <a:off x="3059832" y="2852936"/>
            <a:ext cx="36420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8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√</a:t>
            </a:r>
            <a:endParaRPr b="1" sz="180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8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108"/>
          <p:cNvSpPr txBox="1"/>
          <p:nvPr>
            <p:ph type="title"/>
          </p:nvPr>
        </p:nvSpPr>
        <p:spPr>
          <a:xfrm>
            <a:off x="446856" y="-169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Preemptive Priority Scheduling</a:t>
            </a:r>
            <a:endParaRPr/>
          </a:p>
        </p:txBody>
      </p:sp>
      <p:sp>
        <p:nvSpPr>
          <p:cNvPr id="1490" name="Google Shape;1490;p10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491" name="Google Shape;1491;p10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492" name="Google Shape;1492;p10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3" name="Google Shape;1493;p108"/>
          <p:cNvSpPr/>
          <p:nvPr/>
        </p:nvSpPr>
        <p:spPr>
          <a:xfrm>
            <a:off x="323528" y="3501008"/>
            <a:ext cx="828092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Turnaround Time = Completion Time - Arrival Time   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Waiting Time = Turn Around Time - Burst Time  or Sum of times spent in Ready queue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    Avg Waiting Time = (0+14+0+7+1+25+16)/7 = 63/7 = 9 units </a:t>
            </a:r>
            <a:endParaRPr/>
          </a:p>
        </p:txBody>
      </p:sp>
      <p:graphicFrame>
        <p:nvGraphicFramePr>
          <p:cNvPr id="1494" name="Google Shape;1494;p108"/>
          <p:cNvGraphicFramePr/>
          <p:nvPr/>
        </p:nvGraphicFramePr>
        <p:xfrm>
          <a:off x="374849" y="83671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{5FA6D0A4-F6BB-4391-8986-4E308C462F38}</a:tableStyleId>
              </a:tblPr>
              <a:tblGrid>
                <a:gridCol w="1175650"/>
                <a:gridCol w="1175650"/>
                <a:gridCol w="1175650"/>
                <a:gridCol w="1175650"/>
                <a:gridCol w="1175650"/>
                <a:gridCol w="1175650"/>
                <a:gridCol w="1175650"/>
              </a:tblGrid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Process Id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Priority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Arrival Time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Burst Time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Completion Time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Turn around Time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Waiting Time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21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14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0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13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45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40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25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  <a:tr h="152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7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9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6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8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30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24</a:t>
                      </a:r>
                      <a:endParaRPr/>
                    </a:p>
                  </a:txBody>
                  <a:tcPr marT="45725" marB="45725" marR="91450" marL="91450" anchor="ctr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/>
                        <a:t>16</a:t>
                      </a:r>
                      <a:endParaRPr/>
                    </a:p>
                  </a:txBody>
                  <a:tcPr marT="45725" marB="45725" marR="91450" marL="91450" anchor="ctr"/>
                </a:tc>
              </a:tr>
            </a:tbl>
          </a:graphicData>
        </a:graphic>
      </p:graphicFrame>
      <p:pic>
        <p:nvPicPr>
          <p:cNvPr id="1495" name="Google Shape;1495;p10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4234988"/>
            <a:ext cx="601027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96" name="Google Shape;1496;p108"/>
          <p:cNvSpPr/>
          <p:nvPr/>
        </p:nvSpPr>
        <p:spPr>
          <a:xfrm>
            <a:off x="354717" y="6031160"/>
            <a:ext cx="8136904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https://www.javatpoint.com/os-preemptive-priority-scheduling</a:t>
            </a:r>
            <a:endParaRPr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109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</a:t>
            </a:r>
            <a:endParaRPr/>
          </a:p>
        </p:txBody>
      </p:sp>
      <p:sp>
        <p:nvSpPr>
          <p:cNvPr id="1503" name="Google Shape;1503;p109"/>
          <p:cNvSpPr txBox="1"/>
          <p:nvPr>
            <p:ph idx="1" type="body"/>
          </p:nvPr>
        </p:nvSpPr>
        <p:spPr>
          <a:xfrm>
            <a:off x="844550" y="1068388"/>
            <a:ext cx="7537450" cy="5168924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What?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are classified into different groups.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Common division is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3366FF"/>
              </a:buClr>
              <a:buSzPts val="2000"/>
              <a:buChar char="–"/>
            </a:pPr>
            <a:r>
              <a:rPr b="1" lang="en-US" sz="2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foreground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(interactive)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3366FF"/>
              </a:buClr>
              <a:buSzPts val="2000"/>
              <a:buChar char="–"/>
            </a:pPr>
            <a:r>
              <a:rPr b="1" lang="en-US" sz="2000">
                <a:solidFill>
                  <a:srgbClr val="3366FF"/>
                </a:solidFill>
                <a:latin typeface="Calibri"/>
                <a:ea typeface="Calibri"/>
                <a:cs typeface="Calibri"/>
                <a:sym typeface="Calibri"/>
              </a:rPr>
              <a:t>background</a:t>
            </a: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(batch)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504" name="Google Shape;1504;p10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505" name="Google Shape;1505;p10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06" name="Google Shape;1506;p10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1" name="Shape 1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2" name="Google Shape;1512;p110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</a:t>
            </a:r>
            <a:endParaRPr/>
          </a:p>
        </p:txBody>
      </p:sp>
      <p:sp>
        <p:nvSpPr>
          <p:cNvPr id="1513" name="Google Shape;1513;p110"/>
          <p:cNvSpPr txBox="1"/>
          <p:nvPr>
            <p:ph idx="1" type="body"/>
          </p:nvPr>
        </p:nvSpPr>
        <p:spPr>
          <a:xfrm>
            <a:off x="844550" y="1068388"/>
            <a:ext cx="7537450" cy="5168924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 sz="24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These Processes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have different response time requirements ,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 have different scheduling needs.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Foreground process have higher priority over background processes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1514" name="Google Shape;1514;p1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515" name="Google Shape;1515;p1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16" name="Google Shape;1516;p1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17" name="Google Shape;1517;p110"/>
          <p:cNvSpPr/>
          <p:nvPr/>
        </p:nvSpPr>
        <p:spPr>
          <a:xfrm>
            <a:off x="971600" y="3140968"/>
            <a:ext cx="7344816" cy="720080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2" name="Shape 1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3" name="Google Shape;1523;p111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</a:t>
            </a:r>
            <a:endParaRPr/>
          </a:p>
        </p:txBody>
      </p:sp>
      <p:sp>
        <p:nvSpPr>
          <p:cNvPr id="1524" name="Google Shape;1524;p111"/>
          <p:cNvSpPr txBox="1"/>
          <p:nvPr>
            <p:ph idx="1" type="body"/>
          </p:nvPr>
        </p:nvSpPr>
        <p:spPr>
          <a:xfrm>
            <a:off x="844550" y="1068388"/>
            <a:ext cx="7537450" cy="522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None/>
            </a:pPr>
            <a:r>
              <a:rPr lang="en-US" sz="2400">
                <a:solidFill>
                  <a:schemeClr val="dk2"/>
                </a:solidFill>
              </a:rPr>
              <a:t>How?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Multi Level Queue Scheduling Algorithm(MQSA) partitions </a:t>
            </a:r>
            <a:r>
              <a:rPr b="1" lang="en-US" sz="2400" u="sng"/>
              <a:t>Ready queue into separate queues</a:t>
            </a:r>
            <a:r>
              <a:rPr lang="en-US" sz="2400"/>
              <a:t>, eg: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FF0000"/>
              </a:buClr>
              <a:buSzPts val="2400"/>
              <a:buChar char="•"/>
            </a:pPr>
            <a:r>
              <a:rPr b="1" lang="en-US" sz="2400">
                <a:solidFill>
                  <a:srgbClr val="FF0000"/>
                </a:solidFill>
              </a:rPr>
              <a:t>Process permanently assigned to a given queue based on some property as: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Process priority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Process type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Memory size</a:t>
            </a:r>
            <a:endParaRPr/>
          </a:p>
          <a:p>
            <a:pPr indent="-273050" lvl="1" marL="742950" rtl="0" algn="l">
              <a:spcBef>
                <a:spcPts val="40"/>
              </a:spcBef>
              <a:spcAft>
                <a:spcPts val="0"/>
              </a:spcAft>
              <a:buClr>
                <a:schemeClr val="dk1"/>
              </a:buClr>
              <a:buSzPts val="200"/>
              <a:buNone/>
            </a:pPr>
            <a:r>
              <a:t/>
            </a:r>
            <a:endParaRPr sz="200"/>
          </a:p>
        </p:txBody>
      </p:sp>
      <p:sp>
        <p:nvSpPr>
          <p:cNvPr id="1525" name="Google Shape;1525;p1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526" name="Google Shape;1526;p1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27" name="Google Shape;1527;p1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28" name="Google Shape;1528;p111"/>
          <p:cNvSpPr/>
          <p:nvPr/>
        </p:nvSpPr>
        <p:spPr>
          <a:xfrm>
            <a:off x="683568" y="1412776"/>
            <a:ext cx="7056784" cy="1152128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3" name="Shape 1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4" name="Google Shape;1534;p112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</a:t>
            </a:r>
            <a:endParaRPr/>
          </a:p>
        </p:txBody>
      </p:sp>
      <p:sp>
        <p:nvSpPr>
          <p:cNvPr id="1535" name="Google Shape;1535;p112"/>
          <p:cNvSpPr txBox="1"/>
          <p:nvPr>
            <p:ph idx="1" type="body"/>
          </p:nvPr>
        </p:nvSpPr>
        <p:spPr>
          <a:xfrm>
            <a:off x="844550" y="1068388"/>
            <a:ext cx="7537450" cy="522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Each queue has its own scheduling algorithm: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–"/>
            </a:pPr>
            <a:r>
              <a:rPr b="1" lang="en-US" sz="3200">
                <a:solidFill>
                  <a:schemeClr val="dk2"/>
                </a:solidFill>
              </a:rPr>
              <a:t>foreground – RR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–"/>
            </a:pPr>
            <a:r>
              <a:rPr b="1" lang="en-US" sz="3200">
                <a:solidFill>
                  <a:schemeClr val="dk2"/>
                </a:solidFill>
              </a:rPr>
              <a:t>background – FCFS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Scheduling must be done between the queues: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–"/>
            </a:pPr>
            <a:r>
              <a:rPr b="1" lang="en-US" sz="3200">
                <a:solidFill>
                  <a:schemeClr val="dk2"/>
                </a:solidFill>
              </a:rPr>
              <a:t>Fixed priority scheduling; </a:t>
            </a:r>
            <a:endParaRPr/>
          </a:p>
          <a:p>
            <a:pPr indent="-285750" lvl="1" marL="742950" rtl="0" algn="l">
              <a:spcBef>
                <a:spcPts val="640"/>
              </a:spcBef>
              <a:spcAft>
                <a:spcPts val="0"/>
              </a:spcAft>
              <a:buClr>
                <a:schemeClr val="dk2"/>
              </a:buClr>
              <a:buSzPts val="3200"/>
              <a:buChar char="–"/>
            </a:pPr>
            <a:r>
              <a:rPr b="1" lang="en-US" sz="3200">
                <a:solidFill>
                  <a:schemeClr val="dk2"/>
                </a:solidFill>
              </a:rPr>
              <a:t>Time Slicing</a:t>
            </a:r>
            <a:endParaRPr/>
          </a:p>
        </p:txBody>
      </p:sp>
      <p:sp>
        <p:nvSpPr>
          <p:cNvPr id="1536" name="Google Shape;1536;p1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537" name="Google Shape;1537;p1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38" name="Google Shape;1538;p1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3" name="Shape 1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4" name="Google Shape;1544;p113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</a:t>
            </a:r>
            <a:endParaRPr/>
          </a:p>
        </p:txBody>
      </p:sp>
      <p:sp>
        <p:nvSpPr>
          <p:cNvPr id="1545" name="Google Shape;1545;p113"/>
          <p:cNvSpPr txBox="1"/>
          <p:nvPr>
            <p:ph idx="1" type="body"/>
          </p:nvPr>
        </p:nvSpPr>
        <p:spPr>
          <a:xfrm>
            <a:off x="844550" y="1068388"/>
            <a:ext cx="7537450" cy="522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</a:pPr>
            <a:r>
              <a:rPr lang="en-US">
                <a:solidFill>
                  <a:schemeClr val="dk2"/>
                </a:solidFill>
              </a:rPr>
              <a:t>Fixed priority scheduling;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Foreground Queue has absolute priority over Background queue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Serve all from foreground then from background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Possibility of starvation.</a:t>
            </a:r>
            <a:endParaRPr/>
          </a:p>
        </p:txBody>
      </p:sp>
      <p:sp>
        <p:nvSpPr>
          <p:cNvPr id="1546" name="Google Shape;1546;p1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547" name="Google Shape;1547;p1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48" name="Google Shape;1548;p1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9" name="Google Shape;1549;p113"/>
          <p:cNvSpPr/>
          <p:nvPr/>
        </p:nvSpPr>
        <p:spPr>
          <a:xfrm>
            <a:off x="1115616" y="3501008"/>
            <a:ext cx="6696744" cy="576064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4" name="Shape 1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5" name="Google Shape;1555;p114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</a:t>
            </a:r>
            <a:endParaRPr/>
          </a:p>
        </p:txBody>
      </p:sp>
      <p:sp>
        <p:nvSpPr>
          <p:cNvPr id="1556" name="Google Shape;1556;p114"/>
          <p:cNvSpPr txBox="1"/>
          <p:nvPr>
            <p:ph idx="1" type="body"/>
          </p:nvPr>
        </p:nvSpPr>
        <p:spPr>
          <a:xfrm>
            <a:off x="844550" y="1068388"/>
            <a:ext cx="7537450" cy="52212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Char char="•"/>
            </a:pPr>
            <a:r>
              <a:rPr lang="en-US">
                <a:solidFill>
                  <a:schemeClr val="dk2"/>
                </a:solidFill>
              </a:rPr>
              <a:t>Time slice between the queue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each queue gets a certain amount of CPU time which it can schedule amongst its processes;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For eg, 80% of CPU time to foreground in RR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20% to background in FCFS 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57" name="Google Shape;1557;p1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558" name="Google Shape;1558;p1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59" name="Google Shape;1559;p1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4" name="Shape 1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5" name="Google Shape;1565;p115"/>
          <p:cNvSpPr txBox="1"/>
          <p:nvPr>
            <p:ph type="title"/>
          </p:nvPr>
        </p:nvSpPr>
        <p:spPr>
          <a:xfrm>
            <a:off x="1090613" y="188913"/>
            <a:ext cx="7596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Queue Scheduling</a:t>
            </a:r>
            <a:endParaRPr/>
          </a:p>
        </p:txBody>
      </p:sp>
      <p:pic>
        <p:nvPicPr>
          <p:cNvPr descr="5" id="1566" name="Google Shape;1566;p1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0000" y="1484784"/>
            <a:ext cx="6686550" cy="44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7" name="Google Shape;1567;p1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568" name="Google Shape;1568;p1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69" name="Google Shape;1569;p1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4" name="Shape 1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5" name="Google Shape;1575;p116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Multilevel Queue- Possibility of starvation</a:t>
            </a:r>
            <a:endParaRPr sz="3200"/>
          </a:p>
        </p:txBody>
      </p:sp>
      <p:sp>
        <p:nvSpPr>
          <p:cNvPr id="1576" name="Google Shape;1576;p116"/>
          <p:cNvSpPr txBox="1"/>
          <p:nvPr>
            <p:ph idx="1" type="body"/>
          </p:nvPr>
        </p:nvSpPr>
        <p:spPr>
          <a:xfrm>
            <a:off x="251520" y="1068388"/>
            <a:ext cx="4392488" cy="5221287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MQSA with 5 queues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2800"/>
              <a:buChar char="•"/>
            </a:pPr>
            <a:r>
              <a:rPr b="1"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Each queue has absolute priority over lower priority queues.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process in batch queue could run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unless the queues from system, interactive, interactive editing queue were all empty.</a:t>
            </a:r>
            <a:endParaRPr/>
          </a:p>
        </p:txBody>
      </p:sp>
      <p:pic>
        <p:nvPicPr>
          <p:cNvPr descr="5" id="1577" name="Google Shape;1577;p1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64" y="1415761"/>
            <a:ext cx="3816598" cy="44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8" name="Google Shape;1578;p1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579" name="Google Shape;1579;p1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80" name="Google Shape;1580;p1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5" name="Shape 1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6" name="Google Shape;1586;p117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Multilevel Queue- Possibility of starvation</a:t>
            </a:r>
            <a:endParaRPr sz="3200"/>
          </a:p>
        </p:txBody>
      </p:sp>
      <p:sp>
        <p:nvSpPr>
          <p:cNvPr id="1587" name="Google Shape;1587;p117"/>
          <p:cNvSpPr txBox="1"/>
          <p:nvPr>
            <p:ph idx="1" type="body"/>
          </p:nvPr>
        </p:nvSpPr>
        <p:spPr>
          <a:xfrm>
            <a:off x="251520" y="1068388"/>
            <a:ext cx="4392488" cy="5221287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an interacting editing process entered the ready queue while a batch process was running,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batch process would be preempted.</a:t>
            </a:r>
            <a:endParaRPr/>
          </a:p>
        </p:txBody>
      </p:sp>
      <p:pic>
        <p:nvPicPr>
          <p:cNvPr descr="5" id="1588" name="Google Shape;1588;p1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48064" y="1415761"/>
            <a:ext cx="3816598" cy="4425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9" name="Google Shape;1589;p1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590" name="Google Shape;1590;p1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591" name="Google Shape;1591;p1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6" name="Shape 1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" name="Google Shape;1597;p118"/>
          <p:cNvSpPr txBox="1"/>
          <p:nvPr>
            <p:ph type="title"/>
          </p:nvPr>
        </p:nvSpPr>
        <p:spPr>
          <a:xfrm>
            <a:off x="973138" y="153988"/>
            <a:ext cx="771366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Multilevel Queue</a:t>
            </a:r>
            <a:endParaRPr/>
          </a:p>
        </p:txBody>
      </p:sp>
      <p:sp>
        <p:nvSpPr>
          <p:cNvPr id="1598" name="Google Shape;1598;p118"/>
          <p:cNvSpPr txBox="1"/>
          <p:nvPr>
            <p:ph idx="1" type="body"/>
          </p:nvPr>
        </p:nvSpPr>
        <p:spPr>
          <a:xfrm>
            <a:off x="251520" y="1068388"/>
            <a:ext cx="8424936" cy="5221287"/>
          </a:xfrm>
          <a:prstGeom prst="rect">
            <a:avLst/>
          </a:prstGeom>
          <a:gradFill>
            <a:gsLst>
              <a:gs pos="0">
                <a:srgbClr val="9BE9FF"/>
              </a:gs>
              <a:gs pos="35000">
                <a:srgbClr val="B8F1FF"/>
              </a:gs>
              <a:gs pos="100000">
                <a:srgbClr val="E2FBFF"/>
              </a:gs>
            </a:gsLst>
            <a:lin ang="16200000" scaled="0"/>
          </a:gradFill>
          <a:ln cap="flat" cmpd="sng" w="9525">
            <a:solidFill>
              <a:srgbClr val="45A9C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 do not move between queues.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Since processes do not change their foreground or background nature.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Advantage-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Low scheduling overhead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Disadvantage –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Being Inflexible</a:t>
            </a:r>
            <a:endParaRPr/>
          </a:p>
        </p:txBody>
      </p:sp>
      <p:sp>
        <p:nvSpPr>
          <p:cNvPr id="1599" name="Google Shape;1599;p1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600" name="Google Shape;1600;p1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01" name="Google Shape;1601;p1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19"/>
          <p:cNvSpPr txBox="1"/>
          <p:nvPr>
            <p:ph type="title"/>
          </p:nvPr>
        </p:nvSpPr>
        <p:spPr>
          <a:xfrm>
            <a:off x="660400" y="239713"/>
            <a:ext cx="8026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Feedback Queue</a:t>
            </a:r>
            <a:endParaRPr/>
          </a:p>
        </p:txBody>
      </p:sp>
      <p:sp>
        <p:nvSpPr>
          <p:cNvPr id="1608" name="Google Shape;1608;p119"/>
          <p:cNvSpPr txBox="1"/>
          <p:nvPr>
            <p:ph idx="1" type="body"/>
          </p:nvPr>
        </p:nvSpPr>
        <p:spPr>
          <a:xfrm>
            <a:off x="899592" y="1340768"/>
            <a:ext cx="7351712" cy="497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800">
                <a:solidFill>
                  <a:srgbClr val="0070C0"/>
                </a:solidFill>
              </a:rPr>
              <a:t>A process can move between the various queues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How?</a:t>
            </a:r>
            <a:endParaRPr sz="2800" u="sng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609" name="Google Shape;1609;p1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610" name="Google Shape;1610;p1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11" name="Google Shape;1611;p1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6" name="Shape 1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" name="Google Shape;1617;p120"/>
          <p:cNvSpPr txBox="1"/>
          <p:nvPr>
            <p:ph type="title"/>
          </p:nvPr>
        </p:nvSpPr>
        <p:spPr>
          <a:xfrm>
            <a:off x="660400" y="239713"/>
            <a:ext cx="8026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Feedback Queue</a:t>
            </a:r>
            <a:endParaRPr/>
          </a:p>
        </p:txBody>
      </p:sp>
      <p:sp>
        <p:nvSpPr>
          <p:cNvPr id="1618" name="Google Shape;1618;p120"/>
          <p:cNvSpPr txBox="1"/>
          <p:nvPr>
            <p:ph idx="1" type="body"/>
          </p:nvPr>
        </p:nvSpPr>
        <p:spPr>
          <a:xfrm>
            <a:off x="899592" y="1340768"/>
            <a:ext cx="7351712" cy="497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800"/>
              <a:buNone/>
            </a:pPr>
            <a:r>
              <a:rPr lang="en-US" sz="2800">
                <a:solidFill>
                  <a:srgbClr val="0070C0"/>
                </a:solidFill>
              </a:rPr>
              <a:t>How?</a:t>
            </a:r>
            <a:endParaRPr sz="2800"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The idea is to Separate Processes with different </a:t>
            </a:r>
            <a:r>
              <a:rPr b="1" lang="en-US" sz="2800" u="sng"/>
              <a:t>CPU burst characteristic.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–"/>
            </a:pPr>
            <a:r>
              <a:rPr b="1" lang="en-US" u="sng">
                <a:solidFill>
                  <a:srgbClr val="0070C0"/>
                </a:solidFill>
              </a:rPr>
              <a:t>Process uses too much CPU time, 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 sz="2800" u="sng">
                <a:solidFill>
                  <a:srgbClr val="0070C0"/>
                </a:solidFill>
              </a:rPr>
              <a:t>will be moved to a lower priority queue.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–"/>
            </a:pPr>
            <a:r>
              <a:rPr b="1" lang="en-US" u="sng">
                <a:solidFill>
                  <a:srgbClr val="0070C0"/>
                </a:solidFill>
              </a:rPr>
              <a:t>This scheme leaves I/O bound and interactive processes </a:t>
            </a:r>
            <a:endParaRPr/>
          </a:p>
          <a:p>
            <a:pPr indent="-228600" lvl="2" marL="11430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b="1" lang="en-US" sz="2800" u="sng">
                <a:solidFill>
                  <a:srgbClr val="0070C0"/>
                </a:solidFill>
              </a:rPr>
              <a:t>in the higher priority queues.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 u="sng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619" name="Google Shape;1619;p1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620" name="Google Shape;1620;p1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21" name="Google Shape;1621;p1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6" name="Shape 1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7" name="Google Shape;1627;p121"/>
          <p:cNvSpPr txBox="1"/>
          <p:nvPr>
            <p:ph type="title"/>
          </p:nvPr>
        </p:nvSpPr>
        <p:spPr>
          <a:xfrm>
            <a:off x="660400" y="239713"/>
            <a:ext cx="8026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Feedback Queue</a:t>
            </a:r>
            <a:endParaRPr/>
          </a:p>
        </p:txBody>
      </p:sp>
      <p:sp>
        <p:nvSpPr>
          <p:cNvPr id="1628" name="Google Shape;1628;p121"/>
          <p:cNvSpPr txBox="1"/>
          <p:nvPr>
            <p:ph idx="1" type="body"/>
          </p:nvPr>
        </p:nvSpPr>
        <p:spPr>
          <a:xfrm>
            <a:off x="899592" y="1340768"/>
            <a:ext cx="7351712" cy="4970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Starvation=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0070C0"/>
              </a:buClr>
              <a:buSzPts val="2800"/>
              <a:buChar char="•"/>
            </a:pPr>
            <a:r>
              <a:rPr lang="en-US" sz="2800">
                <a:solidFill>
                  <a:srgbClr val="0070C0"/>
                </a:solidFill>
              </a:rPr>
              <a:t>A process that waits too long in a lower priority queue </a:t>
            </a:r>
            <a:endParaRPr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US" sz="2800"/>
              <a:t>Solution=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Aging can be implemented this way to prevent starvation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70C0"/>
              </a:buClr>
              <a:buSzPts val="2400"/>
              <a:buChar char="–"/>
            </a:pPr>
            <a:r>
              <a:rPr lang="en-US" sz="2400">
                <a:solidFill>
                  <a:srgbClr val="0070C0"/>
                </a:solidFill>
              </a:rPr>
              <a:t>may be moved to a higher priority queue.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629" name="Google Shape;1629;p1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630" name="Google Shape;1630;p1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31" name="Google Shape;1631;p1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6" name="Shape 1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7" name="Google Shape;1637;p122"/>
          <p:cNvSpPr txBox="1"/>
          <p:nvPr>
            <p:ph type="title"/>
          </p:nvPr>
        </p:nvSpPr>
        <p:spPr>
          <a:xfrm>
            <a:off x="611560" y="0"/>
            <a:ext cx="80264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Multilevel Feedback Queue</a:t>
            </a:r>
            <a:endParaRPr/>
          </a:p>
        </p:txBody>
      </p:sp>
      <p:sp>
        <p:nvSpPr>
          <p:cNvPr id="1638" name="Google Shape;1638;p122"/>
          <p:cNvSpPr txBox="1"/>
          <p:nvPr>
            <p:ph idx="1" type="body"/>
          </p:nvPr>
        </p:nvSpPr>
        <p:spPr>
          <a:xfrm>
            <a:off x="107504" y="1196752"/>
            <a:ext cx="8820472" cy="44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Multilevel-feedback-queue scheduler defined by the following parameters: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number of queues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scheduling algorithms for each queue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u="sng"/>
              <a:t>method used to determine when to upgrade a process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u="sng"/>
              <a:t>method used to determine when to demote a process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 u="sng"/>
              <a:t>method used to determine which queue a process will enter when that process needs service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Most general scheme but most complex</a:t>
            </a:r>
            <a:endParaRPr/>
          </a:p>
        </p:txBody>
      </p:sp>
      <p:sp>
        <p:nvSpPr>
          <p:cNvPr id="1639" name="Google Shape;1639;p1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640" name="Google Shape;1640;p1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41" name="Google Shape;1641;p1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123"/>
          <p:cNvSpPr txBox="1"/>
          <p:nvPr>
            <p:ph type="title"/>
          </p:nvPr>
        </p:nvSpPr>
        <p:spPr>
          <a:xfrm>
            <a:off x="755576" y="620688"/>
            <a:ext cx="77104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1648" name="Google Shape;1648;p123"/>
          <p:cNvSpPr txBox="1"/>
          <p:nvPr>
            <p:ph idx="1" type="body"/>
          </p:nvPr>
        </p:nvSpPr>
        <p:spPr>
          <a:xfrm>
            <a:off x="683568" y="1418555"/>
            <a:ext cx="418847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Three queues: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i="1" lang="en-US" sz="2400"/>
              <a:t>Q</a:t>
            </a:r>
            <a:r>
              <a:rPr baseline="-25000" lang="en-US" sz="2400"/>
              <a:t>0</a:t>
            </a:r>
            <a:r>
              <a:rPr lang="en-US" sz="2400"/>
              <a:t> – RR with time quantum 8 milliseconds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i="1" lang="en-US" sz="2400"/>
              <a:t>Q</a:t>
            </a:r>
            <a:r>
              <a:rPr baseline="-25000" lang="en-US" sz="2400"/>
              <a:t>1</a:t>
            </a:r>
            <a:r>
              <a:rPr lang="en-US" sz="2400"/>
              <a:t> – RR time quantum 16 milliseconds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i="1" lang="en-US" sz="2400"/>
              <a:t>Q</a:t>
            </a:r>
            <a:r>
              <a:rPr baseline="-25000" lang="en-US" sz="2400"/>
              <a:t>2</a:t>
            </a:r>
            <a:r>
              <a:rPr lang="en-US" sz="2400"/>
              <a:t> – FCFS</a:t>
            </a:r>
            <a:endParaRPr/>
          </a:p>
          <a:p>
            <a:pPr indent="-1968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</p:txBody>
      </p:sp>
      <p:pic>
        <p:nvPicPr>
          <p:cNvPr descr="5" id="1649" name="Google Shape;1649;p1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50" name="Google Shape;1650;p1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651" name="Google Shape;1651;p1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52" name="Google Shape;1652;p1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7" name="Shape 1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" name="Google Shape;1658;p124"/>
          <p:cNvSpPr txBox="1"/>
          <p:nvPr>
            <p:ph type="title"/>
          </p:nvPr>
        </p:nvSpPr>
        <p:spPr>
          <a:xfrm>
            <a:off x="755576" y="620688"/>
            <a:ext cx="77104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1659" name="Google Shape;1659;p124"/>
          <p:cNvSpPr txBox="1"/>
          <p:nvPr>
            <p:ph idx="1" type="body"/>
          </p:nvPr>
        </p:nvSpPr>
        <p:spPr>
          <a:xfrm>
            <a:off x="323528" y="1233488"/>
            <a:ext cx="454851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590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Scheduler first executes all processes in Queue 0, 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en-US" sz="2600"/>
              <a:t>Only when Queue0 is empty, 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will it execute processes in Queue1.</a:t>
            </a:r>
            <a:endParaRPr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en-US" sz="2600"/>
              <a:t> Queue2 will be executed </a:t>
            </a:r>
            <a:endParaRPr/>
          </a:p>
          <a:p>
            <a:pPr indent="-228600" lvl="2" marL="1143000" rtl="0" algn="l"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/>
              <a:t>only when Queue 0 and Queue 1 is empty</a:t>
            </a:r>
            <a:endParaRPr sz="2200"/>
          </a:p>
        </p:txBody>
      </p:sp>
      <p:pic>
        <p:nvPicPr>
          <p:cNvPr descr="5" id="1660" name="Google Shape;1660;p1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61" name="Google Shape;1661;p1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662" name="Google Shape;1662;p1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63" name="Google Shape;1663;p1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4" name="Google Shape;1664;p124"/>
          <p:cNvSpPr/>
          <p:nvPr/>
        </p:nvSpPr>
        <p:spPr>
          <a:xfrm>
            <a:off x="8244408" y="2159000"/>
            <a:ext cx="360040" cy="1053976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5" name="Google Shape;1665;p124"/>
          <p:cNvSpPr/>
          <p:nvPr/>
        </p:nvSpPr>
        <p:spPr>
          <a:xfrm>
            <a:off x="8396808" y="3861048"/>
            <a:ext cx="360040" cy="1053976"/>
          </a:xfrm>
          <a:prstGeom prst="curvedLeft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125"/>
          <p:cNvSpPr txBox="1"/>
          <p:nvPr>
            <p:ph type="title"/>
          </p:nvPr>
        </p:nvSpPr>
        <p:spPr>
          <a:xfrm>
            <a:off x="755576" y="620688"/>
            <a:ext cx="77104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1672" name="Google Shape;1672;p125"/>
          <p:cNvSpPr txBox="1"/>
          <p:nvPr>
            <p:ph idx="1" type="body"/>
          </p:nvPr>
        </p:nvSpPr>
        <p:spPr>
          <a:xfrm>
            <a:off x="906462" y="1556792"/>
            <a:ext cx="4065588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process that arrives for Q1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will preempt a process in Q2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 process that arrives for Q0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will preempt a process in Q1</a:t>
            </a:r>
            <a:endParaRPr/>
          </a:p>
        </p:txBody>
      </p:sp>
      <p:pic>
        <p:nvPicPr>
          <p:cNvPr descr="5" id="1673" name="Google Shape;1673;p1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4" name="Google Shape;1674;p1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675" name="Google Shape;1675;p1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76" name="Google Shape;1676;p1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1" name="Shape 1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2" name="Google Shape;1682;p126"/>
          <p:cNvSpPr txBox="1"/>
          <p:nvPr>
            <p:ph type="title"/>
          </p:nvPr>
        </p:nvSpPr>
        <p:spPr>
          <a:xfrm>
            <a:off x="755576" y="620688"/>
            <a:ext cx="77104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1683" name="Google Shape;1683;p126"/>
          <p:cNvSpPr txBox="1"/>
          <p:nvPr>
            <p:ph idx="1" type="body"/>
          </p:nvPr>
        </p:nvSpPr>
        <p:spPr>
          <a:xfrm>
            <a:off x="251520" y="1233488"/>
            <a:ext cx="4620518" cy="536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Scheduling</a:t>
            </a:r>
            <a:endParaRPr/>
          </a:p>
          <a:p>
            <a:pPr indent="-196850" lvl="1" marL="74295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–"/>
            </a:pPr>
            <a:r>
              <a:rPr lang="en-US" sz="2600"/>
              <a:t>A new job enters queue </a:t>
            </a:r>
            <a:r>
              <a:rPr i="1" lang="en-US" sz="2600"/>
              <a:t>Q</a:t>
            </a:r>
            <a:r>
              <a:rPr baseline="-25000" i="1" lang="en-US" sz="2600"/>
              <a:t>0</a:t>
            </a:r>
            <a:r>
              <a:rPr i="1" lang="en-US" sz="2600"/>
              <a:t> </a:t>
            </a:r>
            <a:r>
              <a:rPr lang="en-US" sz="2600"/>
              <a:t>which is served</a:t>
            </a:r>
            <a:r>
              <a:rPr i="1" lang="en-US" sz="2600"/>
              <a:t> </a:t>
            </a:r>
            <a:r>
              <a:rPr lang="en-US" sz="2600"/>
              <a:t>RR</a:t>
            </a:r>
            <a:endParaRPr/>
          </a:p>
          <a:p>
            <a:pPr indent="-228600" lvl="2" marL="11430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When it gains CPU, job receives 8 milliseconds</a:t>
            </a:r>
            <a:endParaRPr/>
          </a:p>
          <a:p>
            <a:pPr indent="-228600" lvl="2" marL="1143000" rtl="0" algn="l">
              <a:spcBef>
                <a:spcPts val="520"/>
              </a:spcBef>
              <a:spcAft>
                <a:spcPts val="0"/>
              </a:spcAft>
              <a:buClr>
                <a:srgbClr val="00B0F0"/>
              </a:buClr>
              <a:buSzPts val="2600"/>
              <a:buChar char="•"/>
            </a:pPr>
            <a:r>
              <a:rPr lang="en-US" sz="2600">
                <a:solidFill>
                  <a:srgbClr val="00B0F0"/>
                </a:solidFill>
              </a:rPr>
              <a:t>If it does not finish in 8 milliseconds, job is moved to tail of  queue </a:t>
            </a:r>
            <a:r>
              <a:rPr i="1" lang="en-US" sz="2600">
                <a:solidFill>
                  <a:srgbClr val="00B0F0"/>
                </a:solidFill>
              </a:rPr>
              <a:t>Q</a:t>
            </a:r>
            <a:r>
              <a:rPr baseline="-25000" lang="en-US" sz="2600">
                <a:solidFill>
                  <a:srgbClr val="00B0F0"/>
                </a:solidFill>
              </a:rPr>
              <a:t>1</a:t>
            </a:r>
            <a:endParaRPr/>
          </a:p>
          <a:p>
            <a:pPr indent="0" lvl="2" marL="9144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</p:txBody>
      </p:sp>
      <p:pic>
        <p:nvPicPr>
          <p:cNvPr descr="5" id="1684" name="Google Shape;1684;p1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85" name="Google Shape;1685;p1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686" name="Google Shape;1686;p1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87" name="Google Shape;1687;p1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2" name="Shape 1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3" name="Google Shape;1693;p127"/>
          <p:cNvSpPr txBox="1"/>
          <p:nvPr>
            <p:ph type="title"/>
          </p:nvPr>
        </p:nvSpPr>
        <p:spPr>
          <a:xfrm>
            <a:off x="755576" y="620688"/>
            <a:ext cx="77104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1694" name="Google Shape;1694;p127"/>
          <p:cNvSpPr txBox="1"/>
          <p:nvPr>
            <p:ph idx="1" type="body"/>
          </p:nvPr>
        </p:nvSpPr>
        <p:spPr>
          <a:xfrm>
            <a:off x="251520" y="1340768"/>
            <a:ext cx="4620518" cy="536386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Scheduling</a:t>
            </a:r>
            <a:endParaRPr/>
          </a:p>
          <a:p>
            <a:pPr indent="-209550" lvl="1" marL="74295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If Q0 is empty, the process at the head of Q1 is given time quantum of 16 milliseconds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At </a:t>
            </a:r>
            <a:r>
              <a:rPr i="1" lang="en-US"/>
              <a:t>Q</a:t>
            </a:r>
            <a:r>
              <a:rPr baseline="-25000" lang="en-US"/>
              <a:t>1</a:t>
            </a:r>
            <a:r>
              <a:rPr lang="en-US"/>
              <a:t> job again receives 16 additional milliseconds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 it still does not complete, it is preempted and moved to queue </a:t>
            </a:r>
            <a:r>
              <a:rPr i="1" lang="en-US"/>
              <a:t>Q</a:t>
            </a:r>
            <a:r>
              <a:rPr baseline="-25000" lang="en-US"/>
              <a:t>2</a:t>
            </a:r>
            <a:endParaRPr/>
          </a:p>
        </p:txBody>
      </p:sp>
      <p:pic>
        <p:nvPicPr>
          <p:cNvPr descr="5" id="1695" name="Google Shape;1695;p1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696" name="Google Shape;1696;p1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697" name="Google Shape;1697;p1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698" name="Google Shape;1698;p1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3" name="Shape 1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4" name="Google Shape;1704;p128"/>
          <p:cNvSpPr txBox="1"/>
          <p:nvPr>
            <p:ph type="title"/>
          </p:nvPr>
        </p:nvSpPr>
        <p:spPr>
          <a:xfrm>
            <a:off x="755576" y="620688"/>
            <a:ext cx="7710488" cy="67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of Multilevel Feedback Queue</a:t>
            </a:r>
            <a:endParaRPr/>
          </a:p>
        </p:txBody>
      </p:sp>
      <p:sp>
        <p:nvSpPr>
          <p:cNvPr id="1705" name="Google Shape;1705;p128"/>
          <p:cNvSpPr txBox="1"/>
          <p:nvPr>
            <p:ph idx="1" type="body"/>
          </p:nvPr>
        </p:nvSpPr>
        <p:spPr>
          <a:xfrm>
            <a:off x="323528" y="1706587"/>
            <a:ext cx="454851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Scheduling</a:t>
            </a:r>
            <a:endParaRPr/>
          </a:p>
          <a:p>
            <a:pPr indent="-203517" lvl="1" marL="742950" rtl="0" algn="l">
              <a:spcBef>
                <a:spcPts val="259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1400"/>
          </a:p>
          <a:p>
            <a:pPr indent="-285750" lvl="1" marL="74295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600"/>
              <a:t>Processes with CPU burst of 8 ms or less are given high priority</a:t>
            </a:r>
            <a:endParaRPr/>
          </a:p>
          <a:p>
            <a:pPr indent="-285750" lvl="1" marL="74295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600"/>
              <a:t>Processes with CPU burst &gt;8 but &lt;24 ms are also served quickly with less priority</a:t>
            </a:r>
            <a:endParaRPr/>
          </a:p>
          <a:p>
            <a:pPr indent="-285750" lvl="1" marL="74295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sz="2600"/>
              <a:t>Long processes automatically sink to Queue 2</a:t>
            </a:r>
            <a:endParaRPr/>
          </a:p>
        </p:txBody>
      </p:sp>
      <p:pic>
        <p:nvPicPr>
          <p:cNvPr descr="5" id="1706" name="Google Shape;1706;p1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2050" y="2159000"/>
            <a:ext cx="3862388" cy="2574925"/>
          </a:xfrm>
          <a:prstGeom prst="rect">
            <a:avLst/>
          </a:prstGeom>
          <a:noFill/>
          <a:ln>
            <a:noFill/>
          </a:ln>
        </p:spPr>
      </p:pic>
      <p:sp>
        <p:nvSpPr>
          <p:cNvPr id="1707" name="Google Shape;1707;p1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708" name="Google Shape;1708;p1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09" name="Google Shape;1709;p1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3" name="Shape 17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4" name="Google Shape;1714;p1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Advantages of Multilevel Scheduling:</a:t>
            </a:r>
            <a:endParaRPr/>
          </a:p>
        </p:txBody>
      </p:sp>
      <p:sp>
        <p:nvSpPr>
          <p:cNvPr id="1715" name="Google Shape;1715;p1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You can use multilevel queue scheduling to apply different scheduling methods to distinct processes.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It will have low overhead in terms of scheduling.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  <p:sp>
        <p:nvSpPr>
          <p:cNvPr id="1716" name="Google Shape;1716;p1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717" name="Google Shape;1717;p1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18" name="Google Shape;1718;p1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2" name="Shape 1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3" name="Google Shape;1723;p1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Disadvantages of Multilevel Scheduling:</a:t>
            </a:r>
            <a:endParaRPr/>
          </a:p>
        </p:txBody>
      </p:sp>
      <p:sp>
        <p:nvSpPr>
          <p:cNvPr id="1724" name="Google Shape;1724;p1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There is a risk of starvation for lower priority processes.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It is rigid in nature.</a:t>
            </a:r>
            <a:endParaRPr/>
          </a:p>
          <a:p>
            <a:pPr indent="-3111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 b="1"/>
          </a:p>
        </p:txBody>
      </p:sp>
      <p:sp>
        <p:nvSpPr>
          <p:cNvPr id="1725" name="Google Shape;1725;p1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726" name="Google Shape;1726;p1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27" name="Google Shape;1727;p1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1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Advantages of Multilevel Feedback Queue Scheduling:</a:t>
            </a:r>
            <a:endParaRPr/>
          </a:p>
        </p:txBody>
      </p:sp>
      <p:sp>
        <p:nvSpPr>
          <p:cNvPr id="1733" name="Google Shape;1733;p1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It is more flexible.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It allows different processes to move between different queues.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b="1" lang="en-US"/>
              <a:t>It prevents starvation by moving a process that waits too long for the lower priority queue to the higher priority queue.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 b="1"/>
          </a:p>
        </p:txBody>
      </p:sp>
      <p:sp>
        <p:nvSpPr>
          <p:cNvPr id="1734" name="Google Shape;1734;p1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735" name="Google Shape;1735;p1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36" name="Google Shape;1736;p1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0" name="Shape 17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" name="Google Shape;1741;p13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Disadvantages of Multilevel Feedback Queue Scheduling:</a:t>
            </a:r>
            <a:endParaRPr/>
          </a:p>
        </p:txBody>
      </p:sp>
      <p:sp>
        <p:nvSpPr>
          <p:cNvPr id="1742" name="Google Shape;1742;p13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It produces more CPU overheads.</a:t>
            </a:r>
            <a:endParaRPr/>
          </a:p>
          <a:p>
            <a:pPr indent="-5143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AutoNum type="arabicParenR"/>
            </a:pPr>
            <a:r>
              <a:rPr lang="en-US"/>
              <a:t>It is the most complex algorithm.</a:t>
            </a:r>
            <a:endParaRPr/>
          </a:p>
          <a:p>
            <a:pPr indent="-311150" lvl="0" marL="51435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743" name="Google Shape;1743;p1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744" name="Google Shape;1744;p1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45" name="Google Shape;1745;p1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9" name="Shape 1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0" name="Google Shape;1750;p133"/>
          <p:cNvSpPr txBox="1"/>
          <p:nvPr>
            <p:ph type="title"/>
          </p:nvPr>
        </p:nvSpPr>
        <p:spPr>
          <a:xfrm>
            <a:off x="457200" y="274638"/>
            <a:ext cx="8229600" cy="49006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Difference b/w MLQ and MLFQ</a:t>
            </a:r>
            <a:endParaRPr/>
          </a:p>
        </p:txBody>
      </p:sp>
      <p:sp>
        <p:nvSpPr>
          <p:cNvPr id="1751" name="Google Shape;1751;p1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752" name="Google Shape;1752;p1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53" name="Google Shape;1753;p1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54" name="Google Shape;1754;p133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355750"/>
            <a:ext cx="8352928" cy="4953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9" name="Shape 1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Google Shape;1760;p134"/>
          <p:cNvSpPr txBox="1"/>
          <p:nvPr>
            <p:ph type="title"/>
          </p:nvPr>
        </p:nvSpPr>
        <p:spPr>
          <a:xfrm>
            <a:off x="971600" y="2204864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</a:t>
            </a:r>
            <a:endParaRPr/>
          </a:p>
        </p:txBody>
      </p:sp>
      <p:sp>
        <p:nvSpPr>
          <p:cNvPr id="1761" name="Google Shape;1761;p1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762" name="Google Shape;1762;p1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63" name="Google Shape;1763;p1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8" name="Shape 1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9" name="Google Shape;1769;p135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Prior to kernel Version 2.5</a:t>
            </a:r>
            <a:endParaRPr/>
          </a:p>
        </p:txBody>
      </p:sp>
      <p:sp>
        <p:nvSpPr>
          <p:cNvPr id="1770" name="Google Shape;1770;p135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Prior to kernel version 2.5, ran variation of traditional UNIX scheduling algorithm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Two problems with the traditional UNIX scheduler are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it does not provide adequate support for SMP systems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it does not scale well as the number of tasks on the system grows.</a:t>
            </a:r>
            <a:endParaRPr b="1" sz="2400" u="sng"/>
          </a:p>
        </p:txBody>
      </p:sp>
      <p:sp>
        <p:nvSpPr>
          <p:cNvPr id="1771" name="Google Shape;1771;p1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772" name="Google Shape;1772;p1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73" name="Google Shape;1773;p1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74" name="Google Shape;1774;p135"/>
          <p:cNvSpPr/>
          <p:nvPr/>
        </p:nvSpPr>
        <p:spPr>
          <a:xfrm>
            <a:off x="8388424" y="3429000"/>
            <a:ext cx="288032" cy="936104"/>
          </a:xfrm>
          <a:prstGeom prst="up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136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781" name="Google Shape;1781;p136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Version 2.5 moved to constant order </a:t>
            </a:r>
            <a:r>
              <a:rPr i="1" lang="en-US" sz="2400"/>
              <a:t>O</a:t>
            </a:r>
            <a:r>
              <a:rPr lang="en-US" sz="2400"/>
              <a:t>(1) scheduling time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Regardless of the number of tasks on the system.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new scheduler also provides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increased support for SMP,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including processor affinity and load balancing,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as well as providing fairness and support for interactive tasks.</a:t>
            </a:r>
            <a:endParaRPr b="1" sz="2400" u="sng"/>
          </a:p>
        </p:txBody>
      </p:sp>
      <p:sp>
        <p:nvSpPr>
          <p:cNvPr id="1782" name="Google Shape;1782;p1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783" name="Google Shape;1783;p1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84" name="Google Shape;1784;p1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9" name="Shape 1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0" name="Google Shape;1790;p137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791" name="Google Shape;1791;p137"/>
          <p:cNvSpPr txBox="1"/>
          <p:nvPr>
            <p:ph idx="1" type="body"/>
          </p:nvPr>
        </p:nvSpPr>
        <p:spPr>
          <a:xfrm>
            <a:off x="467544" y="908720"/>
            <a:ext cx="8280920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Linux scheduler is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preemptive priority-based algorithm</a:t>
            </a:r>
            <a:endParaRPr/>
          </a:p>
        </p:txBody>
      </p:sp>
      <p:sp>
        <p:nvSpPr>
          <p:cNvPr id="1792" name="Google Shape;1792;p1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793" name="Google Shape;1793;p1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794" name="Google Shape;1794;p1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9" name="Shape 17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0" name="Google Shape;1800;p138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801" name="Google Shape;1801;p138"/>
          <p:cNvSpPr txBox="1"/>
          <p:nvPr>
            <p:ph idx="1" type="body"/>
          </p:nvPr>
        </p:nvSpPr>
        <p:spPr>
          <a:xfrm>
            <a:off x="467544" y="908720"/>
            <a:ext cx="8280920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Linux scheduler is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preemptive priority-based algorithm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with two separate priority ranges: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real-time range from 0 to 99 and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nice value ranging from 100 to 140. </a:t>
            </a:r>
            <a:endParaRPr sz="2400"/>
          </a:p>
        </p:txBody>
      </p:sp>
      <p:grpSp>
        <p:nvGrpSpPr>
          <p:cNvPr id="1802" name="Google Shape;1802;p138"/>
          <p:cNvGrpSpPr/>
          <p:nvPr/>
        </p:nvGrpSpPr>
        <p:grpSpPr>
          <a:xfrm>
            <a:off x="683568" y="3429000"/>
            <a:ext cx="7452320" cy="2507776"/>
            <a:chOff x="0" y="3501008"/>
            <a:chExt cx="7452320" cy="2507776"/>
          </a:xfrm>
        </p:grpSpPr>
        <p:pic>
          <p:nvPicPr>
            <p:cNvPr id="1803" name="Google Shape;1803;p138"/>
            <p:cNvPicPr preferRelativeResize="0"/>
            <p:nvPr/>
          </p:nvPicPr>
          <p:blipFill rotWithShape="1">
            <a:blip r:embed="rId3">
              <a:alphaModFix/>
            </a:blip>
            <a:srcRect b="15717" l="28182" r="39825" t="50000"/>
            <a:stretch/>
          </p:blipFill>
          <p:spPr>
            <a:xfrm>
              <a:off x="1115616" y="3501008"/>
              <a:ext cx="6336704" cy="2507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04" name="Google Shape;1804;p138"/>
            <p:cNvSpPr/>
            <p:nvPr/>
          </p:nvSpPr>
          <p:spPr>
            <a:xfrm>
              <a:off x="1115616" y="3916339"/>
              <a:ext cx="792088" cy="83855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5" name="Google Shape;1805;p138"/>
            <p:cNvSpPr/>
            <p:nvPr/>
          </p:nvSpPr>
          <p:spPr>
            <a:xfrm>
              <a:off x="1115616" y="4762647"/>
              <a:ext cx="792088" cy="762970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6" name="Google Shape;1806;p138"/>
            <p:cNvSpPr/>
            <p:nvPr/>
          </p:nvSpPr>
          <p:spPr>
            <a:xfrm>
              <a:off x="0" y="4959466"/>
              <a:ext cx="11799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nice value </a:t>
              </a:r>
              <a:endParaRPr/>
            </a:p>
          </p:txBody>
        </p:sp>
        <p:sp>
          <p:nvSpPr>
            <p:cNvPr id="1807" name="Google Shape;1807;p138"/>
            <p:cNvSpPr/>
            <p:nvPr/>
          </p:nvSpPr>
          <p:spPr>
            <a:xfrm>
              <a:off x="43088" y="4012451"/>
              <a:ext cx="109376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real-time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8" name="Google Shape;1808;p1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809" name="Google Shape;1809;p1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10" name="Google Shape;1810;p1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5" name="Shape 18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6" name="Google Shape;1816;p139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817" name="Google Shape;1817;p139"/>
          <p:cNvSpPr txBox="1"/>
          <p:nvPr>
            <p:ph idx="1" type="body"/>
          </p:nvPr>
        </p:nvSpPr>
        <p:spPr>
          <a:xfrm>
            <a:off x="467544" y="908720"/>
            <a:ext cx="8280920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These two ranges map into a global priority scheme wherein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numerically lower values indicate higher priorities.</a:t>
            </a:r>
            <a:endParaRPr sz="2400"/>
          </a:p>
        </p:txBody>
      </p:sp>
      <p:grpSp>
        <p:nvGrpSpPr>
          <p:cNvPr id="1818" name="Google Shape;1818;p139"/>
          <p:cNvGrpSpPr/>
          <p:nvPr/>
        </p:nvGrpSpPr>
        <p:grpSpPr>
          <a:xfrm>
            <a:off x="683568" y="2708920"/>
            <a:ext cx="7452320" cy="2507776"/>
            <a:chOff x="0" y="3501008"/>
            <a:chExt cx="7452320" cy="2507776"/>
          </a:xfrm>
        </p:grpSpPr>
        <p:pic>
          <p:nvPicPr>
            <p:cNvPr id="1819" name="Google Shape;1819;p139"/>
            <p:cNvPicPr preferRelativeResize="0"/>
            <p:nvPr/>
          </p:nvPicPr>
          <p:blipFill rotWithShape="1">
            <a:blip r:embed="rId3">
              <a:alphaModFix/>
            </a:blip>
            <a:srcRect b="15717" l="28182" r="39825" t="50000"/>
            <a:stretch/>
          </p:blipFill>
          <p:spPr>
            <a:xfrm>
              <a:off x="1115616" y="3501008"/>
              <a:ext cx="6336704" cy="250777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20" name="Google Shape;1820;p139"/>
            <p:cNvSpPr/>
            <p:nvPr/>
          </p:nvSpPr>
          <p:spPr>
            <a:xfrm>
              <a:off x="1115616" y="3916339"/>
              <a:ext cx="792088" cy="838557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1" name="Google Shape;1821;p139"/>
            <p:cNvSpPr/>
            <p:nvPr/>
          </p:nvSpPr>
          <p:spPr>
            <a:xfrm>
              <a:off x="1115616" y="4762647"/>
              <a:ext cx="792088" cy="762970"/>
            </a:xfrm>
            <a:prstGeom prst="leftBrace">
              <a:avLst>
                <a:gd fmla="val 8333" name="adj1"/>
                <a:gd fmla="val 50000" name="adj2"/>
              </a:avLst>
            </a:prstGeom>
            <a:noFill/>
            <a:ln cap="flat" cmpd="sng" w="9525">
              <a:solidFill>
                <a:srgbClr val="4A7DB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2" name="Google Shape;1822;p139"/>
            <p:cNvSpPr/>
            <p:nvPr/>
          </p:nvSpPr>
          <p:spPr>
            <a:xfrm>
              <a:off x="0" y="4959466"/>
              <a:ext cx="117993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nice value </a:t>
              </a:r>
              <a:endParaRPr/>
            </a:p>
          </p:txBody>
        </p:sp>
        <p:sp>
          <p:nvSpPr>
            <p:cNvPr id="1823" name="Google Shape;1823;p139"/>
            <p:cNvSpPr/>
            <p:nvPr/>
          </p:nvSpPr>
          <p:spPr>
            <a:xfrm>
              <a:off x="43088" y="4012451"/>
              <a:ext cx="1093761" cy="6463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real-time 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value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4" name="Google Shape;1824;p1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825" name="Google Shape;1825;p1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26" name="Google Shape;1826;p1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140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833" name="Google Shape;1833;p140"/>
          <p:cNvSpPr txBox="1"/>
          <p:nvPr>
            <p:ph idx="1" type="body"/>
          </p:nvPr>
        </p:nvSpPr>
        <p:spPr>
          <a:xfrm>
            <a:off x="467544" y="908720"/>
            <a:ext cx="8280920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Unlike schedulers for many other systems, including </a:t>
            </a:r>
            <a:endParaRPr sz="28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Solaris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Windows XP 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b="1" lang="en-US" sz="2800" u="sng"/>
              <a:t>Linux assigns </a:t>
            </a:r>
            <a:endParaRPr b="1" sz="2800" u="sng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en-US" sz="2000" u="sng"/>
              <a:t>higher-priority tasks longer time quanta and </a:t>
            </a:r>
            <a:endParaRPr b="1" sz="2000" u="sng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b="1" lang="en-US" sz="2000" u="sng"/>
              <a:t>lower-priority tasks shorter time quanta. </a:t>
            </a:r>
            <a:endParaRPr b="1" sz="2000" u="sng"/>
          </a:p>
        </p:txBody>
      </p:sp>
      <p:pic>
        <p:nvPicPr>
          <p:cNvPr id="1834" name="Google Shape;1834;p140"/>
          <p:cNvPicPr preferRelativeResize="0"/>
          <p:nvPr/>
        </p:nvPicPr>
        <p:blipFill rotWithShape="1">
          <a:blip r:embed="rId3">
            <a:alphaModFix/>
          </a:blip>
          <a:srcRect b="15717" l="28182" r="39825" t="50000"/>
          <a:stretch/>
        </p:blipFill>
        <p:spPr>
          <a:xfrm>
            <a:off x="1115616" y="3501008"/>
            <a:ext cx="6336704" cy="250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835" name="Google Shape;1835;p140"/>
          <p:cNvSpPr/>
          <p:nvPr/>
        </p:nvSpPr>
        <p:spPr>
          <a:xfrm>
            <a:off x="5652120" y="3501008"/>
            <a:ext cx="1656184" cy="864096"/>
          </a:xfrm>
          <a:prstGeom prst="ellipse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6" name="Google Shape;1836;p140"/>
          <p:cNvSpPr/>
          <p:nvPr/>
        </p:nvSpPr>
        <p:spPr>
          <a:xfrm>
            <a:off x="5580112" y="4941168"/>
            <a:ext cx="1656184" cy="864096"/>
          </a:xfrm>
          <a:prstGeom prst="ellipse">
            <a:avLst/>
          </a:prstGeom>
          <a:noFill/>
          <a:ln cap="flat" cmpd="sng" w="5715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1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838" name="Google Shape;1838;p1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39" name="Google Shape;1839;p1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4" name="Shape 1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5" name="Google Shape;1845;p141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846" name="Google Shape;1846;p141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runnable task is considered eligible for execution on the CPU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as long as it has time remaining in its time slice. 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a task has exhausted its time slice,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it is considered expired and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is not eligible for execution again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until all other tasks have also exhausted their time quanta. 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847" name="Google Shape;1847;p1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848" name="Google Shape;1848;p1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49" name="Google Shape;1849;p1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4" name="Shape 1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5" name="Google Shape;1855;p142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856" name="Google Shape;1856;p142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kernel maintains a list of all runnable tasks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in a runqueue data structure. </a:t>
            </a:r>
            <a:endParaRPr sz="2400"/>
          </a:p>
        </p:txBody>
      </p:sp>
      <p:sp>
        <p:nvSpPr>
          <p:cNvPr id="1857" name="Google Shape;1857;p142"/>
          <p:cNvSpPr/>
          <p:nvPr/>
        </p:nvSpPr>
        <p:spPr>
          <a:xfrm>
            <a:off x="767277" y="1340768"/>
            <a:ext cx="7056784" cy="1368152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8" name="Google Shape;1858;p1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859" name="Google Shape;1859;p1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60" name="Google Shape;1860;p1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5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143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867" name="Google Shape;1867;p143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Because of its support for SMP, </a:t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Each processor maintains </a:t>
            </a:r>
            <a:endParaRPr sz="2400"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its own runqueue and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schedules itself independently.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868" name="Google Shape;1868;p14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869" name="Google Shape;1869;p14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70" name="Google Shape;1870;p14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144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877" name="Google Shape;1877;p144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Each runqueue contains </a:t>
            </a:r>
            <a:r>
              <a:rPr b="1" lang="en-US" sz="2400" u="sng"/>
              <a:t>two priority arrays</a:t>
            </a:r>
            <a:r>
              <a:rPr lang="en-US" sz="2400"/>
              <a:t>: </a:t>
            </a:r>
            <a:endParaRPr sz="2400"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/>
              <a:t>Active </a:t>
            </a:r>
            <a:endParaRPr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u="sng"/>
              <a:t>Expired</a:t>
            </a:r>
            <a:endParaRPr/>
          </a:p>
        </p:txBody>
      </p:sp>
      <p:sp>
        <p:nvSpPr>
          <p:cNvPr id="1878" name="Google Shape;1878;p144"/>
          <p:cNvSpPr/>
          <p:nvPr/>
        </p:nvSpPr>
        <p:spPr>
          <a:xfrm>
            <a:off x="796520" y="980728"/>
            <a:ext cx="7317520" cy="1656184"/>
          </a:xfrm>
          <a:prstGeom prst="frame">
            <a:avLst>
              <a:gd fmla="val 12500" name="adj1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9" name="Google Shape;1879;p14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880" name="Google Shape;1880;p14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81" name="Google Shape;1881;p14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6" name="Shape 1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7" name="Google Shape;1887;p145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888" name="Google Shape;1888;p145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active array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contains all tasks with </a:t>
            </a:r>
            <a:r>
              <a:rPr b="1" lang="en-US" sz="2400" u="sng"/>
              <a:t>time remaining in their time slices,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expired array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contains all expired tasks. </a:t>
            </a:r>
            <a:endParaRPr sz="2400"/>
          </a:p>
        </p:txBody>
      </p:sp>
      <p:pic>
        <p:nvPicPr>
          <p:cNvPr id="1889" name="Google Shape;1889;p145"/>
          <p:cNvPicPr preferRelativeResize="0"/>
          <p:nvPr/>
        </p:nvPicPr>
        <p:blipFill rotWithShape="1">
          <a:blip r:embed="rId3">
            <a:alphaModFix/>
          </a:blip>
          <a:srcRect b="16522" l="31468" r="42730" t="56716"/>
          <a:stretch/>
        </p:blipFill>
        <p:spPr>
          <a:xfrm>
            <a:off x="1043608" y="3645024"/>
            <a:ext cx="6408712" cy="2304256"/>
          </a:xfrm>
          <a:prstGeom prst="rect">
            <a:avLst/>
          </a:prstGeom>
          <a:noFill/>
          <a:ln>
            <a:noFill/>
          </a:ln>
        </p:spPr>
      </p:pic>
      <p:sp>
        <p:nvSpPr>
          <p:cNvPr id="1890" name="Google Shape;1890;p14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891" name="Google Shape;1891;p14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892" name="Google Shape;1892;p14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7" name="Shape 1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8" name="Google Shape;1898;p146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899" name="Google Shape;1899;p146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Each of these priority arrays contains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list of tasks indexed according to priority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</p:txBody>
      </p:sp>
      <p:pic>
        <p:nvPicPr>
          <p:cNvPr id="1900" name="Google Shape;1900;p146"/>
          <p:cNvPicPr preferRelativeResize="0"/>
          <p:nvPr/>
        </p:nvPicPr>
        <p:blipFill rotWithShape="1">
          <a:blip r:embed="rId3">
            <a:alphaModFix/>
          </a:blip>
          <a:srcRect b="16522" l="31468" r="42730" t="56716"/>
          <a:stretch/>
        </p:blipFill>
        <p:spPr>
          <a:xfrm>
            <a:off x="1043608" y="3645024"/>
            <a:ext cx="6408712" cy="2304256"/>
          </a:xfrm>
          <a:prstGeom prst="rect">
            <a:avLst/>
          </a:prstGeom>
          <a:noFill/>
          <a:ln>
            <a:noFill/>
          </a:ln>
        </p:spPr>
      </p:pic>
      <p:sp>
        <p:nvSpPr>
          <p:cNvPr id="1901" name="Google Shape;1901;p14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902" name="Google Shape;1902;p14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03" name="Google Shape;1903;p14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8" name="Shape 1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9" name="Google Shape;1909;p147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910" name="Google Shape;1910;p147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scheduler chooses the task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with the highest priority from the active array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 for execution on the CPU. 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</p:txBody>
      </p:sp>
      <p:pic>
        <p:nvPicPr>
          <p:cNvPr id="1911" name="Google Shape;1911;p147"/>
          <p:cNvPicPr preferRelativeResize="0"/>
          <p:nvPr/>
        </p:nvPicPr>
        <p:blipFill rotWithShape="1">
          <a:blip r:embed="rId3">
            <a:alphaModFix/>
          </a:blip>
          <a:srcRect b="16522" l="31468" r="42730" t="56716"/>
          <a:stretch/>
        </p:blipFill>
        <p:spPr>
          <a:xfrm>
            <a:off x="1043608" y="3645024"/>
            <a:ext cx="6408712" cy="2304256"/>
          </a:xfrm>
          <a:prstGeom prst="rect">
            <a:avLst/>
          </a:prstGeom>
          <a:noFill/>
          <a:ln>
            <a:noFill/>
          </a:ln>
        </p:spPr>
      </p:pic>
      <p:sp>
        <p:nvSpPr>
          <p:cNvPr id="1912" name="Google Shape;1912;p14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913" name="Google Shape;1913;p14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14" name="Google Shape;1914;p14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148"/>
          <p:cNvSpPr txBox="1"/>
          <p:nvPr>
            <p:ph type="title"/>
          </p:nvPr>
        </p:nvSpPr>
        <p:spPr>
          <a:xfrm>
            <a:off x="1231900" y="138113"/>
            <a:ext cx="7848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Through Version 2.5</a:t>
            </a:r>
            <a:endParaRPr/>
          </a:p>
        </p:txBody>
      </p:sp>
      <p:sp>
        <p:nvSpPr>
          <p:cNvPr id="1921" name="Google Shape;1921;p148"/>
          <p:cNvSpPr txBox="1"/>
          <p:nvPr>
            <p:ph idx="1" type="body"/>
          </p:nvPr>
        </p:nvSpPr>
        <p:spPr>
          <a:xfrm>
            <a:off x="903288" y="1123950"/>
            <a:ext cx="7402512" cy="489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On multiprocessor machines,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each processor is scheduling the highest-priority task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from its own runqueue structure. 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all tasks have exhausted their time slices (that is, the active array is empty),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the two priority arrays are exchanged;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the expired array becomes the active array, and vice versa.</a:t>
            </a:r>
            <a:endParaRPr b="1" sz="2400" u="sng"/>
          </a:p>
        </p:txBody>
      </p:sp>
      <p:sp>
        <p:nvSpPr>
          <p:cNvPr id="1922" name="Google Shape;1922;p14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923" name="Google Shape;1923;p14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24" name="Google Shape;1924;p14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8" name="Shape 1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Google Shape;1929;p149"/>
          <p:cNvSpPr txBox="1"/>
          <p:nvPr>
            <p:ph type="title"/>
          </p:nvPr>
        </p:nvSpPr>
        <p:spPr>
          <a:xfrm>
            <a:off x="457200" y="1635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Linux Scheduling (Cont.)</a:t>
            </a:r>
            <a:endParaRPr/>
          </a:p>
        </p:txBody>
      </p:sp>
      <p:sp>
        <p:nvSpPr>
          <p:cNvPr id="1930" name="Google Shape;1930;p149"/>
          <p:cNvSpPr txBox="1"/>
          <p:nvPr>
            <p:ph idx="1" type="body"/>
          </p:nvPr>
        </p:nvSpPr>
        <p:spPr>
          <a:xfrm>
            <a:off x="699476" y="716129"/>
            <a:ext cx="77914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Real-time scheduling according to POSIX.1b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Real-time tasks are assigned static priorities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Other tasks have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dynamic priorities</a:t>
            </a:r>
            <a:r>
              <a:rPr lang="en-US" sz="2400"/>
              <a:t> that are based on their </a:t>
            </a:r>
            <a:r>
              <a:rPr i="1" lang="en-US" sz="2400"/>
              <a:t>nice </a:t>
            </a:r>
            <a:r>
              <a:rPr lang="en-US" sz="2400"/>
              <a:t>values plus or minus the value 5.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interactivity of a task determines whether </a:t>
            </a:r>
            <a:endParaRPr sz="2400"/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value 5 will be added to or subtracted from the </a:t>
            </a:r>
            <a:r>
              <a:rPr i="1" lang="en-US"/>
              <a:t>nice </a:t>
            </a:r>
            <a:r>
              <a:rPr lang="en-US"/>
              <a:t>value. </a:t>
            </a:r>
            <a:endParaRPr/>
          </a:p>
        </p:txBody>
      </p:sp>
      <p:pic>
        <p:nvPicPr>
          <p:cNvPr descr="Screen Shot 2012-12-17 at 9.28.34 PM.png" id="1931" name="Google Shape;1931;p1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779912" y="4489046"/>
            <a:ext cx="5145609" cy="1703387"/>
          </a:xfrm>
          <a:prstGeom prst="rect">
            <a:avLst/>
          </a:prstGeom>
          <a:noFill/>
          <a:ln>
            <a:noFill/>
          </a:ln>
        </p:spPr>
      </p:pic>
      <p:sp>
        <p:nvSpPr>
          <p:cNvPr id="1932" name="Google Shape;1932;p149"/>
          <p:cNvSpPr/>
          <p:nvPr/>
        </p:nvSpPr>
        <p:spPr>
          <a:xfrm>
            <a:off x="6335688" y="4308281"/>
            <a:ext cx="2808312" cy="730862"/>
          </a:xfrm>
          <a:prstGeom prst="ellipse">
            <a:avLst/>
          </a:prstGeom>
          <a:noFill/>
          <a:ln cap="flat" cmpd="sng" w="7620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3" name="Google Shape;1933;p149"/>
          <p:cNvSpPr/>
          <p:nvPr/>
        </p:nvSpPr>
        <p:spPr>
          <a:xfrm>
            <a:off x="7236296" y="3797609"/>
            <a:ext cx="12697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nice values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4" name="Google Shape;1934;p14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935" name="Google Shape;1935;p14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36" name="Google Shape;1936;p14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937" name="Google Shape;1937;p149"/>
          <p:cNvPicPr preferRelativeResize="0"/>
          <p:nvPr/>
        </p:nvPicPr>
        <p:blipFill rotWithShape="1">
          <a:blip r:embed="rId4">
            <a:alphaModFix/>
          </a:blip>
          <a:srcRect b="16254" l="0" r="26325" t="7698"/>
          <a:stretch/>
        </p:blipFill>
        <p:spPr>
          <a:xfrm>
            <a:off x="100956" y="4166940"/>
            <a:ext cx="3678956" cy="2025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1" name="Shape 1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2" name="Google Shape;1942;p150"/>
          <p:cNvSpPr txBox="1"/>
          <p:nvPr>
            <p:ph type="title"/>
          </p:nvPr>
        </p:nvSpPr>
        <p:spPr>
          <a:xfrm>
            <a:off x="443552" y="133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Linux Scheduling (Cont.)</a:t>
            </a:r>
            <a:endParaRPr/>
          </a:p>
        </p:txBody>
      </p:sp>
      <p:sp>
        <p:nvSpPr>
          <p:cNvPr id="1943" name="Google Shape;1943;p150"/>
          <p:cNvSpPr txBox="1"/>
          <p:nvPr>
            <p:ph idx="1" type="body"/>
          </p:nvPr>
        </p:nvSpPr>
        <p:spPr>
          <a:xfrm>
            <a:off x="692795" y="692696"/>
            <a:ext cx="77914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 task's interactivity is determined by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how long it has been sleeping while waiting for I/0. </a:t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944" name="Google Shape;1944;p15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945" name="Google Shape;1945;p15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46" name="Google Shape;1946;p15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0" name="Shape 1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1" name="Google Shape;1951;p151"/>
          <p:cNvSpPr txBox="1"/>
          <p:nvPr>
            <p:ph type="title"/>
          </p:nvPr>
        </p:nvSpPr>
        <p:spPr>
          <a:xfrm>
            <a:off x="443552" y="133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Linux Scheduling (Cont.)</a:t>
            </a:r>
            <a:endParaRPr/>
          </a:p>
        </p:txBody>
      </p:sp>
      <p:sp>
        <p:nvSpPr>
          <p:cNvPr id="1952" name="Google Shape;1952;p151"/>
          <p:cNvSpPr txBox="1"/>
          <p:nvPr>
            <p:ph idx="1" type="body"/>
          </p:nvPr>
        </p:nvSpPr>
        <p:spPr>
          <a:xfrm>
            <a:off x="692795" y="692696"/>
            <a:ext cx="77914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Tasks that are more interactive typically have longer sleep times and therefore are more likely to have adjustments closer to -5, </a:t>
            </a:r>
            <a:endParaRPr b="1" sz="2400"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As the scheduler favors interactive tasks, The result of such adjustments will be higher priorities for these tasks.</a:t>
            </a:r>
            <a:endParaRPr sz="2400"/>
          </a:p>
        </p:txBody>
      </p:sp>
      <p:pic>
        <p:nvPicPr>
          <p:cNvPr descr="Screen Shot 2012-12-17 at 9.28.34 PM.png" id="1953" name="Google Shape;1953;p1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5301208"/>
            <a:ext cx="6081713" cy="1044533"/>
          </a:xfrm>
          <a:prstGeom prst="rect">
            <a:avLst/>
          </a:prstGeom>
          <a:noFill/>
          <a:ln>
            <a:noFill/>
          </a:ln>
        </p:spPr>
      </p:pic>
      <p:sp>
        <p:nvSpPr>
          <p:cNvPr id="1954" name="Google Shape;1954;p15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955" name="Google Shape;1955;p15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56" name="Google Shape;1956;p15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0" name="Shape 1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1" name="Google Shape;1961;p152"/>
          <p:cNvSpPr txBox="1"/>
          <p:nvPr>
            <p:ph type="title"/>
          </p:nvPr>
        </p:nvSpPr>
        <p:spPr>
          <a:xfrm>
            <a:off x="443552" y="133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Linux Scheduling (Cont.)</a:t>
            </a:r>
            <a:endParaRPr/>
          </a:p>
        </p:txBody>
      </p:sp>
      <p:sp>
        <p:nvSpPr>
          <p:cNvPr id="1962" name="Google Shape;1962;p152"/>
          <p:cNvSpPr txBox="1"/>
          <p:nvPr>
            <p:ph idx="1" type="body"/>
          </p:nvPr>
        </p:nvSpPr>
        <p:spPr>
          <a:xfrm>
            <a:off x="692795" y="692696"/>
            <a:ext cx="779145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Conversely, tasks with shorter sleep times are often more CPU-bound and thus will have their priorities lowered.</a:t>
            </a:r>
            <a:endParaRPr sz="2400"/>
          </a:p>
        </p:txBody>
      </p:sp>
      <p:pic>
        <p:nvPicPr>
          <p:cNvPr descr="Screen Shot 2012-12-17 at 9.28.34 PM.png" id="1963" name="Google Shape;1963;p1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3648" y="5301208"/>
            <a:ext cx="6081713" cy="1044533"/>
          </a:xfrm>
          <a:prstGeom prst="rect">
            <a:avLst/>
          </a:prstGeom>
          <a:noFill/>
          <a:ln>
            <a:noFill/>
          </a:ln>
        </p:spPr>
      </p:pic>
      <p:sp>
        <p:nvSpPr>
          <p:cNvPr id="1964" name="Google Shape;1964;p15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965" name="Google Shape;1965;p15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66" name="Google Shape;1966;p15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0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p153"/>
          <p:cNvSpPr txBox="1"/>
          <p:nvPr>
            <p:ph type="title"/>
          </p:nvPr>
        </p:nvSpPr>
        <p:spPr>
          <a:xfrm>
            <a:off x="443552" y="13388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Linux Scheduling (Cont.)</a:t>
            </a:r>
            <a:endParaRPr/>
          </a:p>
        </p:txBody>
      </p:sp>
      <p:sp>
        <p:nvSpPr>
          <p:cNvPr id="1972" name="Google Shape;1972;p153"/>
          <p:cNvSpPr txBox="1"/>
          <p:nvPr>
            <p:ph idx="1" type="body"/>
          </p:nvPr>
        </p:nvSpPr>
        <p:spPr>
          <a:xfrm>
            <a:off x="692795" y="692696"/>
            <a:ext cx="779145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Interactive Processes ?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–"/>
            </a:pPr>
            <a:r>
              <a:rPr b="1" lang="en-US" u="sng">
                <a:solidFill>
                  <a:schemeClr val="accent1"/>
                </a:solidFill>
              </a:rPr>
              <a:t>These interact constantly with their users, and therefore spend a lot of time waiting for keypresses and mouse operations. </a:t>
            </a:r>
            <a:endParaRPr b="1" u="sng">
              <a:solidFill>
                <a:schemeClr val="accent1"/>
              </a:solidFill>
            </a:endParaRPr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accent1"/>
              </a:buClr>
              <a:buSzPct val="100000"/>
              <a:buChar char="–"/>
            </a:pPr>
            <a:r>
              <a:rPr b="1" lang="en-US" u="sng">
                <a:solidFill>
                  <a:schemeClr val="accent1"/>
                </a:solidFill>
              </a:rPr>
              <a:t>When input is received, the process must be woken up quickly, or the user will find the system to be unresponsive. </a:t>
            </a:r>
            <a:endParaRPr b="1" u="sng">
              <a:solidFill>
                <a:schemeClr val="accent1"/>
              </a:solidFill>
            </a:endParaRPr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Typically, the average delay must fall between 50 and 150 ms. 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/>
              <a:t>The variance of such delay must also be bounded, or the user will find the system to be erratic. </a:t>
            </a:r>
            <a:endParaRPr/>
          </a:p>
          <a:p>
            <a:pPr indent="-285750" lvl="1" marL="742950" rtl="0" algn="l"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ct val="100000"/>
              <a:buChar char="–"/>
            </a:pPr>
            <a:r>
              <a:rPr lang="en-US" u="sng"/>
              <a:t>Typical interactive programs are command shells, text editors, and graphical applications.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b="1" u="sng"/>
          </a:p>
        </p:txBody>
      </p:sp>
      <p:sp>
        <p:nvSpPr>
          <p:cNvPr id="1973" name="Google Shape;1973;p15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974" name="Google Shape;1974;p15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75" name="Google Shape;1975;p15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0" name="Shape 1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1" name="Google Shape;1981;p154"/>
          <p:cNvSpPr txBox="1"/>
          <p:nvPr>
            <p:ph type="title"/>
          </p:nvPr>
        </p:nvSpPr>
        <p:spPr>
          <a:xfrm>
            <a:off x="1092200" y="176213"/>
            <a:ext cx="7594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in Version 2.6.23 +</a:t>
            </a:r>
            <a:endParaRPr/>
          </a:p>
        </p:txBody>
      </p:sp>
      <p:sp>
        <p:nvSpPr>
          <p:cNvPr id="1982" name="Google Shape;1982;p154"/>
          <p:cNvSpPr txBox="1"/>
          <p:nvPr>
            <p:ph idx="1" type="body"/>
          </p:nvPr>
        </p:nvSpPr>
        <p:spPr>
          <a:xfrm>
            <a:off x="827088" y="1123950"/>
            <a:ext cx="7516812" cy="518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i="1" lang="en-US" sz="2400"/>
              <a:t>Completely Fair Scheduler </a:t>
            </a:r>
            <a:r>
              <a:rPr lang="en-US" sz="2400"/>
              <a:t>(CFS)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is default scheduling process since version 2.6.23.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Elegant handling of I/O and CPU bound process.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•"/>
            </a:pPr>
            <a:r>
              <a:rPr b="1" lang="en-US" sz="2400" u="sng">
                <a:solidFill>
                  <a:schemeClr val="accent1"/>
                </a:solidFill>
              </a:rPr>
              <a:t>Each runnable process have a virtual time associated with it in PCB (process control block).</a:t>
            </a:r>
            <a:endParaRPr/>
          </a:p>
          <a:p>
            <a:pPr indent="-1905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3366FF"/>
              </a:solidFill>
            </a:endParaRPr>
          </a:p>
        </p:txBody>
      </p:sp>
      <p:sp>
        <p:nvSpPr>
          <p:cNvPr id="1983" name="Google Shape;1983;p15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984" name="Google Shape;1984;p15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85" name="Google Shape;1985;p15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0" name="Shape 19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1" name="Google Shape;1991;p155"/>
          <p:cNvSpPr txBox="1"/>
          <p:nvPr>
            <p:ph type="title"/>
          </p:nvPr>
        </p:nvSpPr>
        <p:spPr>
          <a:xfrm>
            <a:off x="1092200" y="176213"/>
            <a:ext cx="7594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in Version 2.6.23 +</a:t>
            </a:r>
            <a:endParaRPr/>
          </a:p>
        </p:txBody>
      </p:sp>
      <p:sp>
        <p:nvSpPr>
          <p:cNvPr id="1992" name="Google Shape;1992;p155"/>
          <p:cNvSpPr txBox="1"/>
          <p:nvPr>
            <p:ph idx="1" type="body"/>
          </p:nvPr>
        </p:nvSpPr>
        <p:spPr>
          <a:xfrm>
            <a:off x="827088" y="1123950"/>
            <a:ext cx="7516812" cy="518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Whenever a context switch happens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then current running process virtual time is increased by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virtualruntime_currprocess+=T.</a:t>
            </a:r>
            <a:br>
              <a:rPr b="1" lang="en-US" sz="2400"/>
            </a:br>
            <a:r>
              <a:rPr b="1" lang="en-US" sz="2400"/>
              <a:t>where </a:t>
            </a:r>
            <a:r>
              <a:rPr b="1" lang="en-US" sz="2400" u="sng"/>
              <a:t>T is time for which it is executed recently.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Runtime for the process therefore monotonically </a:t>
            </a:r>
            <a:r>
              <a:rPr b="1" lang="en-US" sz="2400" u="sng"/>
              <a:t>increases.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So initially every process have some starting virtual time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1993" name="Google Shape;1993;p15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1994" name="Google Shape;1994;p15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1995" name="Google Shape;1995;p15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0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p156"/>
          <p:cNvSpPr txBox="1"/>
          <p:nvPr>
            <p:ph type="title"/>
          </p:nvPr>
        </p:nvSpPr>
        <p:spPr>
          <a:xfrm>
            <a:off x="1092200" y="176213"/>
            <a:ext cx="7594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in Version 2.6.23 +</a:t>
            </a:r>
            <a:endParaRPr/>
          </a:p>
        </p:txBody>
      </p:sp>
      <p:sp>
        <p:nvSpPr>
          <p:cNvPr id="2002" name="Google Shape;2002;p156"/>
          <p:cNvSpPr txBox="1"/>
          <p:nvPr>
            <p:ph idx="1" type="body"/>
          </p:nvPr>
        </p:nvSpPr>
        <p:spPr>
          <a:xfrm>
            <a:off x="827088" y="1123950"/>
            <a:ext cx="7516812" cy="518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CFS is quite simple algorithm for the process scheduling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is implemented </a:t>
            </a:r>
            <a:r>
              <a:rPr b="1" lang="en-US" sz="2400" u="sng"/>
              <a:t>using RED BLACK Trees and not queues.</a:t>
            </a:r>
            <a:br>
              <a:rPr lang="en-US" sz="2400"/>
            </a:b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So all the process which are on main memory are inserted into Red Black trees and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whenever a new process comes it is inserted into the tree.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As we know that Red Black trees are self Balancing binary Search trees.</a:t>
            </a:r>
            <a:endParaRPr/>
          </a:p>
        </p:txBody>
      </p:sp>
      <p:sp>
        <p:nvSpPr>
          <p:cNvPr id="2003" name="Google Shape;2003;p1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004" name="Google Shape;2004;p1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05" name="Google Shape;2005;p1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0" name="Shape 2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1" name="Google Shape;2011;p157"/>
          <p:cNvSpPr txBox="1"/>
          <p:nvPr>
            <p:ph type="title"/>
          </p:nvPr>
        </p:nvSpPr>
        <p:spPr>
          <a:xfrm>
            <a:off x="1092200" y="176213"/>
            <a:ext cx="7594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in Version 2.6.23 +</a:t>
            </a:r>
            <a:endParaRPr/>
          </a:p>
        </p:txBody>
      </p:sp>
      <p:sp>
        <p:nvSpPr>
          <p:cNvPr id="2012" name="Google Shape;2012;p157"/>
          <p:cNvSpPr txBox="1"/>
          <p:nvPr>
            <p:ph idx="1" type="body"/>
          </p:nvPr>
        </p:nvSpPr>
        <p:spPr>
          <a:xfrm>
            <a:off x="683568" y="908720"/>
            <a:ext cx="7516812" cy="518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</a:t>
            </a:r>
            <a:r>
              <a:rPr b="1" lang="en-US" sz="2400"/>
              <a:t>context switch</a:t>
            </a:r>
            <a:r>
              <a:rPr lang="en-US" sz="2400"/>
              <a:t> occurs –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virtual time for the current process which was executing is updated 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 u="sng">
                <a:solidFill>
                  <a:srgbClr val="00B0F0"/>
                </a:solidFill>
              </a:rPr>
              <a:t>The new process is decided </a:t>
            </a:r>
            <a:endParaRPr b="1" sz="2400" u="sng">
              <a:solidFill>
                <a:srgbClr val="00B0F0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en-US" u="sng">
                <a:solidFill>
                  <a:srgbClr val="00B0F0"/>
                </a:solidFill>
              </a:rPr>
              <a:t>which has lowest virtual time and </a:t>
            </a:r>
            <a:endParaRPr b="1" u="sng">
              <a:solidFill>
                <a:srgbClr val="00B0F0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en-US" u="sng">
                <a:solidFill>
                  <a:srgbClr val="00B0F0"/>
                </a:solidFill>
              </a:rPr>
              <a:t>that we know that is left most node of Red Black tree.</a:t>
            </a:r>
            <a:endParaRPr b="1" u="sng">
              <a:solidFill>
                <a:srgbClr val="00B0F0"/>
              </a:solidFill>
            </a:endParaRPr>
          </a:p>
        </p:txBody>
      </p:sp>
      <p:pic>
        <p:nvPicPr>
          <p:cNvPr descr="Screen Shot 2012-12-17 at 9.25.06 PM.png" id="2013" name="Google Shape;2013;p157"/>
          <p:cNvPicPr preferRelativeResize="0"/>
          <p:nvPr/>
        </p:nvPicPr>
        <p:blipFill rotWithShape="1">
          <a:blip r:embed="rId3">
            <a:alphaModFix/>
          </a:blip>
          <a:srcRect b="41564" l="6238" r="7718" t="16772"/>
          <a:stretch/>
        </p:blipFill>
        <p:spPr>
          <a:xfrm>
            <a:off x="1691680" y="4365105"/>
            <a:ext cx="5688632" cy="1800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4" name="Google Shape;2014;p1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015" name="Google Shape;2015;p1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16" name="Google Shape;2016;p1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1" name="Shape 2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2" name="Google Shape;2022;p158"/>
          <p:cNvSpPr txBox="1"/>
          <p:nvPr>
            <p:ph type="title"/>
          </p:nvPr>
        </p:nvSpPr>
        <p:spPr>
          <a:xfrm>
            <a:off x="1092200" y="176213"/>
            <a:ext cx="7594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Linux Scheduling in Version 2.6.23 +</a:t>
            </a:r>
            <a:endParaRPr/>
          </a:p>
        </p:txBody>
      </p:sp>
      <p:sp>
        <p:nvSpPr>
          <p:cNvPr id="2023" name="Google Shape;2023;p158"/>
          <p:cNvSpPr txBox="1"/>
          <p:nvPr>
            <p:ph idx="1" type="body"/>
          </p:nvPr>
        </p:nvSpPr>
        <p:spPr>
          <a:xfrm>
            <a:off x="683568" y="908720"/>
            <a:ext cx="7516812" cy="51879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1" marL="7429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If the current process still has some burst time then it is inserted into the Red Black tree.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 u="sng">
                <a:solidFill>
                  <a:srgbClr val="00B0F0"/>
                </a:solidFill>
              </a:rPr>
              <a:t>So this way each process gets fair time for the execution as </a:t>
            </a:r>
            <a:endParaRPr b="1" sz="2400" u="sng">
              <a:solidFill>
                <a:srgbClr val="00B0F0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en-US" u="sng">
                <a:solidFill>
                  <a:srgbClr val="00B0F0"/>
                </a:solidFill>
              </a:rPr>
              <a:t>after every context switch the virtual time of a process increases and </a:t>
            </a:r>
            <a:endParaRPr b="1" u="sng">
              <a:solidFill>
                <a:srgbClr val="00B0F0"/>
              </a:solidFill>
            </a:endParaRPr>
          </a:p>
          <a:p>
            <a:pPr indent="-228600" lvl="2" marL="114300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b="1" lang="en-US" u="sng">
                <a:solidFill>
                  <a:srgbClr val="00B0F0"/>
                </a:solidFill>
              </a:rPr>
              <a:t>thus priority shuffles.</a:t>
            </a:r>
            <a:endParaRPr/>
          </a:p>
          <a:p>
            <a:pPr indent="-1651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b="1" sz="2800" u="sng">
              <a:solidFill>
                <a:srgbClr val="3366FF"/>
              </a:solidFill>
            </a:endParaRPr>
          </a:p>
        </p:txBody>
      </p:sp>
      <p:sp>
        <p:nvSpPr>
          <p:cNvPr id="2024" name="Google Shape;2024;p1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025" name="Google Shape;2025;p1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26" name="Google Shape;2026;p1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1" name="Shape 20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2" name="Google Shape;2032;p159"/>
          <p:cNvSpPr txBox="1"/>
          <p:nvPr>
            <p:ph type="title"/>
          </p:nvPr>
        </p:nvSpPr>
        <p:spPr>
          <a:xfrm>
            <a:off x="827088" y="138113"/>
            <a:ext cx="7859712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CFS Performance</a:t>
            </a:r>
            <a:endParaRPr/>
          </a:p>
        </p:txBody>
      </p:sp>
      <p:pic>
        <p:nvPicPr>
          <p:cNvPr descr="Screen Shot 2012-12-17 at 9.25.06 PM.png" id="2033" name="Google Shape;2033;p1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1561" y="1077913"/>
            <a:ext cx="8136903" cy="537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4" name="Google Shape;2034;p1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035" name="Google Shape;2035;p1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36" name="Google Shape;2036;p1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0" name="Shape 2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1" name="Google Shape;2041;p1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Thread Scheduling</a:t>
            </a:r>
            <a:endParaRPr/>
          </a:p>
        </p:txBody>
      </p:sp>
      <p:sp>
        <p:nvSpPr>
          <p:cNvPr id="2042" name="Google Shape;2042;p16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2043" name="Google Shape;2043;p1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044" name="Google Shape;2044;p1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45" name="Google Shape;2045;p1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0" name="Shape 2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Google Shape;2051;p161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Thread Scheduling</a:t>
            </a:r>
            <a:endParaRPr/>
          </a:p>
        </p:txBody>
      </p:sp>
      <p:sp>
        <p:nvSpPr>
          <p:cNvPr id="2052" name="Google Shape;2052;p161"/>
          <p:cNvSpPr txBox="1"/>
          <p:nvPr>
            <p:ph idx="1" type="body"/>
          </p:nvPr>
        </p:nvSpPr>
        <p:spPr>
          <a:xfrm>
            <a:off x="844550" y="1273175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Distinction between user-level and kernel-level threads</a:t>
            </a:r>
            <a:endParaRPr/>
          </a:p>
          <a:p>
            <a:pPr indent="-1778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sz="2600"/>
          </a:p>
          <a:p>
            <a:pPr indent="-342900" lvl="0" marL="34290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Char char="•"/>
            </a:pPr>
            <a:r>
              <a:rPr lang="en-US" sz="2600"/>
              <a:t>On operating systems that support them, </a:t>
            </a:r>
            <a:endParaRPr sz="2600"/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rgbClr val="00B0F0"/>
              </a:buClr>
              <a:buSzPts val="2600"/>
              <a:buChar char="–"/>
            </a:pPr>
            <a:r>
              <a:rPr b="1" lang="en-US" sz="2600" u="sng">
                <a:solidFill>
                  <a:srgbClr val="00B0F0"/>
                </a:solidFill>
              </a:rPr>
              <a:t>it is kernel-level threads-not processes-that are being scheduled by the operating system. </a:t>
            </a:r>
            <a:endParaRPr b="1" sz="2600" u="sng">
              <a:solidFill>
                <a:srgbClr val="00B0F0"/>
              </a:solidFill>
            </a:endParaRPr>
          </a:p>
          <a:p>
            <a:pPr indent="-120650" lvl="1" marL="74295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</a:pPr>
            <a:r>
              <a:t/>
            </a:r>
            <a:endParaRPr b="1" sz="2600" u="sng">
              <a:solidFill>
                <a:srgbClr val="00B0F0"/>
              </a:solidFill>
            </a:endParaRPr>
          </a:p>
          <a:p>
            <a:pPr indent="-285750" lvl="1" marL="742950" rtl="0" algn="l">
              <a:spcBef>
                <a:spcPts val="520"/>
              </a:spcBef>
              <a:spcAft>
                <a:spcPts val="0"/>
              </a:spcAft>
              <a:buClr>
                <a:srgbClr val="00B0F0"/>
              </a:buClr>
              <a:buSzPts val="2600"/>
              <a:buChar char="–"/>
            </a:pPr>
            <a:r>
              <a:rPr b="1" lang="en-US" sz="2600" u="sng">
                <a:solidFill>
                  <a:srgbClr val="00B0F0"/>
                </a:solidFill>
              </a:rPr>
              <a:t>User-level threads are managed by a thread library, and the kernel is unaware of them.</a:t>
            </a:r>
            <a:endParaRPr b="1" sz="2600" u="sng">
              <a:solidFill>
                <a:srgbClr val="00B0F0"/>
              </a:solidFill>
            </a:endParaRPr>
          </a:p>
        </p:txBody>
      </p:sp>
      <p:sp>
        <p:nvSpPr>
          <p:cNvPr id="2053" name="Google Shape;2053;p1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054" name="Google Shape;2054;p1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55" name="Google Shape;2055;p1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0" name="Shape 2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1" name="Google Shape;2061;p162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Thread Scheduling</a:t>
            </a:r>
            <a:endParaRPr/>
          </a:p>
        </p:txBody>
      </p:sp>
      <p:sp>
        <p:nvSpPr>
          <p:cNvPr id="2062" name="Google Shape;2062;p162"/>
          <p:cNvSpPr txBox="1"/>
          <p:nvPr>
            <p:ph idx="1" type="body"/>
          </p:nvPr>
        </p:nvSpPr>
        <p:spPr>
          <a:xfrm>
            <a:off x="755576" y="980728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To run on a CPU, user-level threads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 u="sng">
                <a:solidFill>
                  <a:srgbClr val="00B0F0"/>
                </a:solidFill>
              </a:rPr>
              <a:t>must ultimately be mapped to an associated kernel-level thread, </a:t>
            </a:r>
            <a:endParaRPr b="1" sz="2400" u="sng">
              <a:solidFill>
                <a:srgbClr val="00B0F0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Although this mapping may be indirect and may use a lightweight process (LWP).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063" name="Google Shape;2063;p1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064" name="Google Shape;2064;p1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65" name="Google Shape;2065;p1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66" name="Google Shape;2066;p1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43808" y="3140968"/>
            <a:ext cx="2743200" cy="32403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1" name="Shape 2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2" name="Google Shape;2072;p163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Thread Scheduling</a:t>
            </a:r>
            <a:endParaRPr/>
          </a:p>
        </p:txBody>
      </p:sp>
      <p:sp>
        <p:nvSpPr>
          <p:cNvPr id="2073" name="Google Shape;2073;p163"/>
          <p:cNvSpPr txBox="1"/>
          <p:nvPr>
            <p:ph idx="1" type="body"/>
          </p:nvPr>
        </p:nvSpPr>
        <p:spPr>
          <a:xfrm>
            <a:off x="251520" y="764704"/>
            <a:ext cx="5445613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LWP-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Light-weight process are threads in the user space that acts as an interface for the ULT to access the physical CPU resources. </a:t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074" name="Google Shape;2074;p1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075" name="Google Shape;2075;p1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76" name="Google Shape;2076;p1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77" name="Google Shape;2077;p1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6936" y="1340768"/>
            <a:ext cx="3291840" cy="4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2" name="Shape 2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3" name="Google Shape;2083;p165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Thread Scheduling</a:t>
            </a:r>
            <a:endParaRPr/>
          </a:p>
        </p:txBody>
      </p:sp>
      <p:sp>
        <p:nvSpPr>
          <p:cNvPr id="2084" name="Google Shape;2084;p165"/>
          <p:cNvSpPr txBox="1"/>
          <p:nvPr>
            <p:ph idx="1" type="body"/>
          </p:nvPr>
        </p:nvSpPr>
        <p:spPr>
          <a:xfrm>
            <a:off x="755576" y="980728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we say the thread library </a:t>
            </a:r>
            <a:r>
              <a:rPr i="1" lang="en-US" sz="2400"/>
              <a:t>schedules </a:t>
            </a:r>
            <a:r>
              <a:rPr lang="en-US" sz="2400"/>
              <a:t>user threads onto available LWPs,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 u="sng">
                <a:solidFill>
                  <a:srgbClr val="00B0F0"/>
                </a:solidFill>
              </a:rPr>
              <a:t>we do not mean that the thread is actually running on a CPU;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 u="sng">
                <a:solidFill>
                  <a:srgbClr val="00B0F0"/>
                </a:solidFill>
              </a:rPr>
              <a:t>this would require the operating system to schedule the kernel thread onto a physical CPU.</a:t>
            </a:r>
            <a:endParaRPr/>
          </a:p>
        </p:txBody>
      </p:sp>
      <p:sp>
        <p:nvSpPr>
          <p:cNvPr id="2085" name="Google Shape;2085;p1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086" name="Google Shape;2086;p1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87" name="Google Shape;2087;p1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2" name="Shape 20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3" name="Google Shape;2093;p164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Thread Scheduling</a:t>
            </a:r>
            <a:endParaRPr/>
          </a:p>
        </p:txBody>
      </p:sp>
      <p:sp>
        <p:nvSpPr>
          <p:cNvPr id="2094" name="Google Shape;2094;p164"/>
          <p:cNvSpPr txBox="1"/>
          <p:nvPr>
            <p:ph idx="1" type="body"/>
          </p:nvPr>
        </p:nvSpPr>
        <p:spPr>
          <a:xfrm>
            <a:off x="251520" y="764704"/>
            <a:ext cx="5445613" cy="53285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LWP-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Thread library schedules which thread of a process to run on which LWP and how long. </a:t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number of LWP created by the thread library depends on the type of application</a:t>
            </a:r>
            <a:endParaRPr b="1" sz="2400" u="sng">
              <a:solidFill>
                <a:srgbClr val="00B0F0"/>
              </a:solidFill>
            </a:endParaRPr>
          </a:p>
        </p:txBody>
      </p:sp>
      <p:sp>
        <p:nvSpPr>
          <p:cNvPr id="2095" name="Google Shape;2095;p1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096" name="Google Shape;2096;p1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097" name="Google Shape;2097;p1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98" name="Google Shape;2098;p1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26936" y="1340768"/>
            <a:ext cx="3291840" cy="46085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3" name="Shape 2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4" name="Google Shape;2104;p166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Process Contention Scope (PCS) </a:t>
            </a:r>
            <a:endParaRPr sz="3600"/>
          </a:p>
        </p:txBody>
      </p:sp>
      <p:sp>
        <p:nvSpPr>
          <p:cNvPr id="2105" name="Google Shape;2105;p166"/>
          <p:cNvSpPr txBox="1"/>
          <p:nvPr>
            <p:ph idx="1" type="body"/>
          </p:nvPr>
        </p:nvSpPr>
        <p:spPr>
          <a:xfrm>
            <a:off x="844550" y="1273175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Many-to-one and many-to-many models,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400"/>
              <a:buChar char="–"/>
            </a:pPr>
            <a:r>
              <a:rPr b="1" lang="en-US" sz="2400" u="sng">
                <a:solidFill>
                  <a:schemeClr val="accent1"/>
                </a:solidFill>
              </a:rPr>
              <a:t>thread library schedules user-level threads to run on LWP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Known as </a:t>
            </a:r>
            <a:r>
              <a:rPr b="1" lang="en-US" sz="2400" u="sng">
                <a:solidFill>
                  <a:srgbClr val="3366FF"/>
                </a:solidFill>
              </a:rPr>
              <a:t>process-contention scope </a:t>
            </a:r>
            <a:r>
              <a:rPr b="1" lang="en-US" sz="2400" u="sng"/>
              <a:t>(</a:t>
            </a:r>
            <a:r>
              <a:rPr b="1" lang="en-US" sz="2400" u="sng">
                <a:solidFill>
                  <a:srgbClr val="3366FF"/>
                </a:solidFill>
              </a:rPr>
              <a:t>PCS</a:t>
            </a:r>
            <a:r>
              <a:rPr b="1" lang="en-US" sz="2400" u="sng"/>
              <a:t>) since scheduling competition is within the process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Typically done via priority set by programmer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 u="sng"/>
              <a:t>The contention takes place among threads </a:t>
            </a:r>
            <a:r>
              <a:rPr b="1" lang="en-US" sz="2400" u="sng"/>
              <a:t>within a same process</a:t>
            </a:r>
            <a:r>
              <a:rPr lang="en-US" sz="2400" u="sng"/>
              <a:t>. </a:t>
            </a:r>
            <a:endParaRPr sz="2400" u="sng"/>
          </a:p>
        </p:txBody>
      </p:sp>
      <p:sp>
        <p:nvSpPr>
          <p:cNvPr id="2106" name="Google Shape;2106;p1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107" name="Google Shape;2107;p1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08" name="Google Shape;2108;p1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3" name="Shape 2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4" name="Google Shape;2114;p167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 sz="3600"/>
              <a:t>System Contention Scope (SCS) </a:t>
            </a:r>
            <a:endParaRPr sz="3600"/>
          </a:p>
        </p:txBody>
      </p:sp>
      <p:sp>
        <p:nvSpPr>
          <p:cNvPr id="2115" name="Google Shape;2115;p167"/>
          <p:cNvSpPr txBox="1"/>
          <p:nvPr>
            <p:ph idx="1" type="body"/>
          </p:nvPr>
        </p:nvSpPr>
        <p:spPr>
          <a:xfrm>
            <a:off x="844550" y="1273175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Kernel thread scheduled onto available CPU is </a:t>
            </a:r>
            <a:r>
              <a:rPr b="1" lang="en-US" sz="2400" u="sng">
                <a:solidFill>
                  <a:srgbClr val="3366FF"/>
                </a:solidFill>
              </a:rPr>
              <a:t>system-contention scope</a:t>
            </a:r>
            <a:r>
              <a:rPr b="1" lang="en-US" sz="2400" u="sng"/>
              <a:t> (</a:t>
            </a:r>
            <a:r>
              <a:rPr b="1" lang="en-US" sz="2400" u="sng">
                <a:solidFill>
                  <a:srgbClr val="3366FF"/>
                </a:solidFill>
              </a:rPr>
              <a:t>SCS</a:t>
            </a:r>
            <a:r>
              <a:rPr b="1" lang="en-US" sz="2400" u="sng"/>
              <a:t>)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i.e. Decide which Kernel thread to execute on the CPU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Competition for the CPU with SCS scheduling takes place among all kernel threads in system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contention takes place among </a:t>
            </a:r>
            <a:r>
              <a:rPr b="1" lang="en-US" sz="2400"/>
              <a:t>all kernel threads in the system</a:t>
            </a:r>
            <a:endParaRPr b="1" sz="2400" u="sng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</p:txBody>
      </p:sp>
      <p:sp>
        <p:nvSpPr>
          <p:cNvPr id="2116" name="Google Shape;2116;p1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117" name="Google Shape;2117;p1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18" name="Google Shape;2118;p1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4" name="Google Shape;2124;p168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PCS Scheduling</a:t>
            </a:r>
            <a:endParaRPr/>
          </a:p>
        </p:txBody>
      </p:sp>
      <p:sp>
        <p:nvSpPr>
          <p:cNvPr id="2125" name="Google Shape;2125;p168"/>
          <p:cNvSpPr txBox="1"/>
          <p:nvPr>
            <p:ph idx="1" type="body"/>
          </p:nvPr>
        </p:nvSpPr>
        <p:spPr>
          <a:xfrm>
            <a:off x="844550" y="1273175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PCS is done according to priority-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scheduler selects the runnable thread with the highest priority to run. 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User-level thread priorities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are set by the programmer and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are not adjusted by the thread library,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Although some thread libraries may allow the programmer to change the priority of a thread. </a:t>
            </a:r>
            <a:endParaRPr b="1" sz="2400" u="sng"/>
          </a:p>
        </p:txBody>
      </p:sp>
      <p:sp>
        <p:nvSpPr>
          <p:cNvPr id="2126" name="Google Shape;2126;p16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127" name="Google Shape;2127;p16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28" name="Google Shape;2128;p16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3" name="Shape 2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4" name="Google Shape;2134;p169"/>
          <p:cNvSpPr txBox="1"/>
          <p:nvPr>
            <p:ph type="title"/>
          </p:nvPr>
        </p:nvSpPr>
        <p:spPr>
          <a:xfrm>
            <a:off x="457200" y="201613"/>
            <a:ext cx="8229600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PCS Scheduling</a:t>
            </a:r>
            <a:endParaRPr/>
          </a:p>
        </p:txBody>
      </p:sp>
      <p:sp>
        <p:nvSpPr>
          <p:cNvPr id="2135" name="Google Shape;2135;p169"/>
          <p:cNvSpPr txBox="1"/>
          <p:nvPr>
            <p:ph idx="1" type="body"/>
          </p:nvPr>
        </p:nvSpPr>
        <p:spPr>
          <a:xfrm>
            <a:off x="844550" y="1273175"/>
            <a:ext cx="7661275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571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PCS will typically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preempt the thread currently running in favor of a higher-priority thread; </a:t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However, there is no guarantee of time slicing among threads of equal priority.</a:t>
            </a:r>
            <a:endParaRPr b="1" sz="2400" u="sng"/>
          </a:p>
        </p:txBody>
      </p:sp>
      <p:sp>
        <p:nvSpPr>
          <p:cNvPr id="2136" name="Google Shape;2136;p16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137" name="Google Shape;2137;p16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38" name="Google Shape;2138;p16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3" name="Shape 2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4" name="Google Shape;2144;p170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</a:t>
            </a:r>
            <a:endParaRPr/>
          </a:p>
        </p:txBody>
      </p:sp>
      <p:sp>
        <p:nvSpPr>
          <p:cNvPr id="2145" name="Google Shape;2145;p170"/>
          <p:cNvSpPr txBox="1"/>
          <p:nvPr>
            <p:ph idx="1" type="body"/>
          </p:nvPr>
        </p:nvSpPr>
        <p:spPr>
          <a:xfrm>
            <a:off x="395536" y="1268760"/>
            <a:ext cx="8496944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POSIX Threads, </a:t>
            </a:r>
            <a:endParaRPr b="1" sz="2400"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Referred to as pthreads, </a:t>
            </a:r>
            <a:endParaRPr b="1" sz="2400" u="sng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An execution model that exists independently from a language,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As a parallel execution model.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 u="sng"/>
              <a:t>POSIX Threads is an API defined by the standard POSIX.1c</a:t>
            </a:r>
            <a:endParaRPr b="1" sz="2400" u="sng"/>
          </a:p>
        </p:txBody>
      </p:sp>
      <p:sp>
        <p:nvSpPr>
          <p:cNvPr id="2146" name="Google Shape;2146;p17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147" name="Google Shape;2147;p17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48" name="Google Shape;2148;p17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3" name="Shape 2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4" name="Google Shape;2154;p171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</a:t>
            </a:r>
            <a:endParaRPr/>
          </a:p>
        </p:txBody>
      </p:sp>
      <p:sp>
        <p:nvSpPr>
          <p:cNvPr id="2155" name="Google Shape;2155;p171"/>
          <p:cNvSpPr txBox="1"/>
          <p:nvPr>
            <p:ph idx="1" type="body"/>
          </p:nvPr>
        </p:nvSpPr>
        <p:spPr>
          <a:xfrm>
            <a:off x="395536" y="1268760"/>
            <a:ext cx="8496944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allows a program to control multiple different flows of work that overlap in time.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Each flow of work is referred to as a thread.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Creation and control over these flows is achieved by making calls to the POSIX Threads API. </a:t>
            </a:r>
            <a:endParaRPr sz="2400"/>
          </a:p>
        </p:txBody>
      </p:sp>
      <p:sp>
        <p:nvSpPr>
          <p:cNvPr id="2156" name="Google Shape;2156;p17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157" name="Google Shape;2157;p17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58" name="Google Shape;2158;p17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3" name="Shape 2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4" name="Google Shape;2164;p172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165" name="Google Shape;2165;p172"/>
          <p:cNvSpPr txBox="1"/>
          <p:nvPr>
            <p:ph idx="1" type="body"/>
          </p:nvPr>
        </p:nvSpPr>
        <p:spPr>
          <a:xfrm>
            <a:off x="958850" y="1336675"/>
            <a:ext cx="697865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 sz="2800"/>
              <a:t>API allows specifying –</a:t>
            </a:r>
            <a:endParaRPr/>
          </a:p>
          <a:p>
            <a:pPr indent="-342900" lvl="0" marL="342900" rtl="0" algn="l">
              <a:spcBef>
                <a:spcPts val="560"/>
              </a:spcBef>
              <a:spcAft>
                <a:spcPts val="0"/>
              </a:spcAft>
              <a:buClr>
                <a:srgbClr val="FF0000"/>
              </a:buClr>
              <a:buSzPts val="2800"/>
              <a:buChar char="•"/>
            </a:pPr>
            <a:r>
              <a:rPr b="1" lang="en-US" sz="2800">
                <a:solidFill>
                  <a:srgbClr val="FF0000"/>
                </a:solidFill>
              </a:rPr>
              <a:t>Either PCS or SCS during thread creation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>
                <a:solidFill>
                  <a:srgbClr val="00B0F0"/>
                </a:solidFill>
              </a:rPr>
              <a:t>PTHREAD_SCOPE_PROCESS schedules threads using PCS scheduling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–"/>
            </a:pPr>
            <a:r>
              <a:rPr b="1" lang="en-US" sz="2400">
                <a:solidFill>
                  <a:srgbClr val="00B0F0"/>
                </a:solidFill>
              </a:rPr>
              <a:t>PTHREAD_SCOPE_SYSTEM schedules threads using SCS scheduling</a:t>
            </a:r>
            <a:endParaRPr/>
          </a:p>
          <a:p>
            <a:pPr indent="-165100" lvl="0" marL="34290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2166" name="Google Shape;2166;p17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167" name="Google Shape;2167;p17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68" name="Google Shape;2168;p17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3" name="Shape 2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4" name="Google Shape;2174;p173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175" name="Google Shape;2175;p173"/>
          <p:cNvSpPr txBox="1"/>
          <p:nvPr>
            <p:ph idx="1" type="body"/>
          </p:nvPr>
        </p:nvSpPr>
        <p:spPr>
          <a:xfrm>
            <a:off x="958850" y="1336675"/>
            <a:ext cx="697865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Systems using the </a:t>
            </a:r>
            <a:r>
              <a:rPr lang="en-US" sz="2400">
                <a:solidFill>
                  <a:srgbClr val="00B0F0"/>
                </a:solidFill>
              </a:rPr>
              <a:t>one-to-one model </a:t>
            </a:r>
            <a:endParaRPr sz="2400">
              <a:solidFill>
                <a:srgbClr val="00B0F0"/>
              </a:solidFill>
            </a:endParaRPr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such as Windows XP, Solaris, and Linux,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schedule threads </a:t>
            </a:r>
            <a:r>
              <a:rPr lang="en-US" sz="2400">
                <a:solidFill>
                  <a:srgbClr val="00B0F0"/>
                </a:solidFill>
              </a:rPr>
              <a:t>using only SCS.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Can be limited by OS – Linux and Mac OS X only allow PTHREAD_SCOPE_SYSTEM</a:t>
            </a:r>
            <a:endParaRPr/>
          </a:p>
        </p:txBody>
      </p:sp>
      <p:sp>
        <p:nvSpPr>
          <p:cNvPr id="2176" name="Google Shape;2176;p17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177" name="Google Shape;2177;p17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78" name="Google Shape;2178;p17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3" name="Shape 2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4" name="Google Shape;2184;p174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185" name="Google Shape;2185;p174"/>
          <p:cNvSpPr txBox="1"/>
          <p:nvPr>
            <p:ph idx="1" type="body"/>
          </p:nvPr>
        </p:nvSpPr>
        <p:spPr>
          <a:xfrm>
            <a:off x="539552" y="1340768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Pthread IPC provides two functions </a:t>
            </a:r>
            <a:r>
              <a:rPr b="1" lang="en-US" sz="2400" u="sng"/>
              <a:t>for getting-and setting-the contention scope policy: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pthread_attr_setscope(pthread_attr_t *attr, int scope)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b="1" lang="en-US" sz="2400" u="sng"/>
              <a:t>pthread_attr_getscope(pthread_attr_t *attr, int *scope)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B0F0"/>
              </a:solidFill>
            </a:endParaRPr>
          </a:p>
        </p:txBody>
      </p:sp>
      <p:sp>
        <p:nvSpPr>
          <p:cNvPr id="2186" name="Google Shape;2186;p17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187" name="Google Shape;2187;p17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88" name="Google Shape;2188;p17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3" name="Shape 2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4" name="Google Shape;2194;p175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195" name="Google Shape;2195;p175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/>
              <a:t>pthread_attr_setscope(pthread_attr_t *attr, int scope)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Description: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Sets the thread contention scope attribute in the thread attribute object attr to the value specified in scope.</a:t>
            </a:r>
            <a:endParaRPr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Sets the scope attribute in the </a:t>
            </a:r>
            <a:r>
              <a:rPr b="1" lang="en-US" sz="2400"/>
              <a:t>attr</a:t>
            </a:r>
            <a:r>
              <a:rPr lang="en-US" sz="2400"/>
              <a:t> object.</a:t>
            </a:r>
            <a:endParaRPr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B0F0"/>
              </a:solidFill>
            </a:endParaRPr>
          </a:p>
        </p:txBody>
      </p:sp>
      <p:sp>
        <p:nvSpPr>
          <p:cNvPr id="2196" name="Google Shape;2196;p17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197" name="Google Shape;2197;p17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198" name="Google Shape;2198;p17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99" name="Google Shape;2199;p175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4" name="Shape 2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Google Shape;2205;p176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206" name="Google Shape;2206;p176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/>
              <a:t>pthread_attr_setscope(pthread_attr_t *attr, int scope)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1</a:t>
            </a:r>
            <a:r>
              <a:rPr baseline="30000" lang="en-US" sz="2400"/>
              <a:t>st</a:t>
            </a:r>
            <a:r>
              <a:rPr lang="en-US" sz="2400"/>
              <a:t> parameter for both functions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attr -Specifies the thread attributes object.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pointer to the pthread_attr_t structure that defines the attributes to use when creating new threads</a:t>
            </a:r>
            <a:endParaRPr b="1" sz="2400">
              <a:solidFill>
                <a:srgbClr val="00B0F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B0F0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solidFill>
                <a:srgbClr val="00B0F0"/>
              </a:solidFill>
            </a:endParaRPr>
          </a:p>
        </p:txBody>
      </p:sp>
      <p:sp>
        <p:nvSpPr>
          <p:cNvPr id="2207" name="Google Shape;2207;p17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208" name="Google Shape;2208;p17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09" name="Google Shape;2209;p17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0" name="Google Shape;2210;p176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5" name="Shape 2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6" name="Google Shape;2216;p177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217" name="Google Shape;2217;p177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/>
              <a:t>pthread_attr_setscope(pthread_attr_t *attr, int scope)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2</a:t>
            </a:r>
            <a:r>
              <a:rPr baseline="30000" lang="en-US" sz="2400"/>
              <a:t>nd</a:t>
            </a:r>
            <a:r>
              <a:rPr lang="en-US" sz="2400"/>
              <a:t> parameter 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u="sng"/>
              <a:t>The new value for the contention scope attribute</a:t>
            </a:r>
            <a:endParaRPr sz="2400" u="sng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 The second parameter defines the scope of contention for the thread pointed.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It takes two values.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PTHREAD_SCOPE_SYSTEM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PTHREAD_SCOPE_PROCESS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indicating how the contention scope is to be set.</a:t>
            </a:r>
            <a:endParaRPr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solidFill>
                <a:srgbClr val="00B0F0"/>
              </a:solidFill>
            </a:endParaRPr>
          </a:p>
        </p:txBody>
      </p:sp>
      <p:sp>
        <p:nvSpPr>
          <p:cNvPr id="2218" name="Google Shape;2218;p17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219" name="Google Shape;2219;p17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20" name="Google Shape;2220;p17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1" name="Google Shape;2221;p177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6" name="Shape 2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7" name="Google Shape;2227;p178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228" name="Google Shape;2228;p178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/>
              <a:t>pthread_attr_setscope(pthread_attr_t *attr, int scope)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Return Values-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Upon successful completion, the pthread_attr_getscope and pthread_attr_setscope subroutines return a value of 0.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Otherwise, an error number is returned to indicate the error.</a:t>
            </a:r>
            <a:endParaRPr/>
          </a:p>
          <a:p>
            <a:pPr indent="0" lvl="1" marL="4572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b="1" sz="2000">
              <a:solidFill>
                <a:srgbClr val="00B0F0"/>
              </a:solidFill>
            </a:endParaRPr>
          </a:p>
        </p:txBody>
      </p:sp>
      <p:sp>
        <p:nvSpPr>
          <p:cNvPr id="2229" name="Google Shape;2229;p17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230" name="Google Shape;2230;p17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31" name="Google Shape;2231;p17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32" name="Google Shape;2232;p178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https://www.ibm.com/docs/en/aix/7.2?topic=p-pthread-attr-getscope-pthread-attr-setscope-subroutines</a:t>
            </a:r>
            <a:endParaRPr/>
          </a:p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7" name="Shape 2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Google Shape;2238;p179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239" name="Google Shape;2239;p179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/>
              <a:t>pthread_attr_getscope(pthread_attr_t *attr, int *scope)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Description: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Gets the thread contention scope attribute from the thread attribute object </a:t>
            </a:r>
            <a:r>
              <a:rPr i="1" lang="en-US" sz="2400"/>
              <a:t>attr</a:t>
            </a:r>
            <a:r>
              <a:rPr lang="en-US" sz="2400"/>
              <a:t> and returns it in </a:t>
            </a:r>
            <a:r>
              <a:rPr i="1" lang="en-US" sz="2400"/>
              <a:t>scope</a:t>
            </a:r>
            <a:r>
              <a:rPr lang="en-US" sz="2400"/>
              <a:t>. </a:t>
            </a:r>
            <a:endParaRPr/>
          </a:p>
          <a:p>
            <a:pPr indent="-1079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240" name="Google Shape;2240;p17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241" name="Google Shape;2241;p17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42" name="Google Shape;2242;p17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43" name="Google Shape;2243;p179"/>
          <p:cNvSpPr/>
          <p:nvPr/>
        </p:nvSpPr>
        <p:spPr>
          <a:xfrm>
            <a:off x="0" y="6242828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8" name="Shape 2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9" name="Google Shape;2249;p180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250" name="Google Shape;2250;p180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 u="sng"/>
              <a:t>pthread_attr_getscope(pthread_attr_t *attr, int *scope)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1</a:t>
            </a:r>
            <a:r>
              <a:rPr baseline="30000" lang="en-US" sz="2400"/>
              <a:t>st</a:t>
            </a:r>
            <a:r>
              <a:rPr lang="en-US" sz="2400"/>
              <a:t> parameter for both functions 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attr -Specifies the thread attributes object.</a:t>
            </a:r>
            <a:endParaRPr sz="2400"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u="sng"/>
              <a:t>A pointer to the pthread_attr_t structure that defines the attributes to use when creating new threads</a:t>
            </a:r>
            <a:endParaRPr b="1" sz="2400" u="sng">
              <a:solidFill>
                <a:srgbClr val="00B0F0"/>
              </a:solidFill>
            </a:endParaRPr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B0F0"/>
              </a:solidFill>
            </a:endParaRPr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2</a:t>
            </a:r>
            <a:r>
              <a:rPr baseline="30000" lang="en-US" sz="2400"/>
              <a:t>nd</a:t>
            </a:r>
            <a:r>
              <a:rPr lang="en-US" sz="2400"/>
              <a:t> parameter :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 u="sng"/>
              <a:t>A pointer to a location where the function can store the current contention scope. </a:t>
            </a:r>
            <a:endParaRPr sz="2400" u="sng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-1333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251" name="Google Shape;2251;p18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252" name="Google Shape;2252;p18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53" name="Google Shape;2253;p18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54" name="Google Shape;2254;p180"/>
          <p:cNvSpPr/>
          <p:nvPr/>
        </p:nvSpPr>
        <p:spPr>
          <a:xfrm>
            <a:off x="0" y="6242828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9" name="Shape 2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0" name="Google Shape;2260;p181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pthread_attr_t *attr</a:t>
            </a:r>
            <a:endParaRPr sz="2800"/>
          </a:p>
        </p:txBody>
      </p:sp>
      <p:sp>
        <p:nvSpPr>
          <p:cNvPr id="2261" name="Google Shape;2261;p181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b="1" lang="en-US" sz="2400"/>
              <a:t>The thread attributes structure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When you start a new thread, it can assume some well-defined defaults, or you can explicitly specify its characteristics. </a:t>
            </a:r>
            <a:endParaRPr/>
          </a:p>
          <a:p>
            <a:pPr indent="-158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/>
          </a:p>
        </p:txBody>
      </p:sp>
      <p:sp>
        <p:nvSpPr>
          <p:cNvPr id="2262" name="Google Shape;2262;p18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263" name="Google Shape;2263;p18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64" name="Google Shape;2264;p18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65" name="Google Shape;2265;p181"/>
          <p:cNvSpPr/>
          <p:nvPr/>
        </p:nvSpPr>
        <p:spPr>
          <a:xfrm>
            <a:off x="0" y="6242828"/>
            <a:ext cx="9144000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http://www.qnx.com/developers/docs/qnxcar2/index.jsp?topic=%2Fcom.qnx.doc.neutrino.getting_started%2Ftopic%2Fs1_procs_thread_attr.html</a:t>
            </a:r>
            <a:endParaRPr/>
          </a:p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0" name="Shape 2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1" name="Google Shape;2271;p182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pthread_attr_t *attr</a:t>
            </a:r>
            <a:endParaRPr sz="2800"/>
          </a:p>
        </p:txBody>
      </p:sp>
      <p:sp>
        <p:nvSpPr>
          <p:cNvPr id="2272" name="Google Shape;2272;p182"/>
          <p:cNvSpPr txBox="1"/>
          <p:nvPr>
            <p:ph idx="1" type="body"/>
          </p:nvPr>
        </p:nvSpPr>
        <p:spPr>
          <a:xfrm>
            <a:off x="251520" y="90872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Let's look at the pthread_attr_t data type: </a:t>
            </a:r>
            <a:endParaRPr sz="2000"/>
          </a:p>
        </p:txBody>
      </p:sp>
      <p:sp>
        <p:nvSpPr>
          <p:cNvPr id="2273" name="Google Shape;2273;p18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274" name="Google Shape;2274;p18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75" name="Google Shape;2275;p18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76" name="Google Shape;2276;p18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5123" y="1772817"/>
            <a:ext cx="6821213" cy="35722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1" name="Shape 2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2" name="Google Shape;2282;p183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1" lang="en-US" sz="2800"/>
              <a:t>pthread_attr_t *attr</a:t>
            </a:r>
            <a:endParaRPr sz="2800"/>
          </a:p>
        </p:txBody>
      </p:sp>
      <p:sp>
        <p:nvSpPr>
          <p:cNvPr id="2283" name="Google Shape;2283;p183"/>
          <p:cNvSpPr txBox="1"/>
          <p:nvPr>
            <p:ph idx="1" type="body"/>
          </p:nvPr>
        </p:nvSpPr>
        <p:spPr>
          <a:xfrm>
            <a:off x="395536" y="3068960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905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Basically, the fields are used as follows: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__flags -Non-numerical (Boolean) characteristics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__stacksize, __stackaddr, and __guardsize-Stack specifications.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__exitfunc-    Function to execute at thread exit.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__policy and __param- Scheduling parameters. </a:t>
            </a:r>
            <a:endParaRPr sz="2000"/>
          </a:p>
        </p:txBody>
      </p:sp>
      <p:sp>
        <p:nvSpPr>
          <p:cNvPr id="2284" name="Google Shape;2284;p18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285" name="Google Shape;2285;p18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86" name="Google Shape;2286;p18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87" name="Google Shape;2287;p1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908720"/>
            <a:ext cx="7992888" cy="2592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2" name="Shape 2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3" name="Google Shape;2293;p184"/>
          <p:cNvSpPr txBox="1"/>
          <p:nvPr>
            <p:ph type="title"/>
          </p:nvPr>
        </p:nvSpPr>
        <p:spPr>
          <a:xfrm>
            <a:off x="493204" y="-334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Example</a:t>
            </a:r>
            <a:endParaRPr/>
          </a:p>
        </p:txBody>
      </p:sp>
      <p:sp>
        <p:nvSpPr>
          <p:cNvPr id="2294" name="Google Shape;2294;p184"/>
          <p:cNvSpPr/>
          <p:nvPr/>
        </p:nvSpPr>
        <p:spPr>
          <a:xfrm>
            <a:off x="539552" y="1261502"/>
            <a:ext cx="7704856" cy="2677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program first determines the existing contention scope and sets it to PTHREAD_SCOPE_SYSTEM. </a:t>
            </a:r>
            <a:endParaRPr/>
          </a:p>
          <a:p>
            <a:pPr indent="-1651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 then creates five separate threads that will run using the SCS scheduling policy.</a:t>
            </a:r>
            <a:endParaRPr/>
          </a:p>
        </p:txBody>
      </p:sp>
      <p:sp>
        <p:nvSpPr>
          <p:cNvPr id="2295" name="Google Shape;2295;p18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296" name="Google Shape;2296;p18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297" name="Google Shape;2297;p18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2" name="Shape 2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3" name="Google Shape;2303;p185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304" name="Google Shape;2304;p185"/>
          <p:cNvSpPr txBox="1"/>
          <p:nvPr>
            <p:ph idx="1" type="body"/>
          </p:nvPr>
        </p:nvSpPr>
        <p:spPr>
          <a:xfrm>
            <a:off x="251520" y="1052736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pthread_attr_init()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Initialize a thread-attribute object</a:t>
            </a:r>
            <a:r>
              <a:rPr lang="en-US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Synopsis: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#include &lt;pthread.h&gt;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pthread_attr_init( pthread_attr_t *</a:t>
            </a:r>
            <a:r>
              <a:rPr i="1" lang="en-US" sz="2400"/>
              <a:t>attr</a:t>
            </a:r>
            <a:r>
              <a:rPr lang="en-US" sz="2400"/>
              <a:t> );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attr</a:t>
            </a:r>
            <a:r>
              <a:rPr lang="en-US" sz="2400"/>
              <a:t> -A pointer to the pthread_attr_t structure that you want to initialize.</a:t>
            </a:r>
            <a:endParaRPr/>
          </a:p>
        </p:txBody>
      </p:sp>
      <p:sp>
        <p:nvSpPr>
          <p:cNvPr id="2305" name="Google Shape;2305;p18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306" name="Google Shape;2306;p18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07" name="Google Shape;2307;p18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8" name="Google Shape;2308;p185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3" name="Shape 2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" name="Google Shape;2314;p186"/>
          <p:cNvSpPr txBox="1"/>
          <p:nvPr>
            <p:ph type="title"/>
          </p:nvPr>
        </p:nvSpPr>
        <p:spPr>
          <a:xfrm>
            <a:off x="493204" y="-3340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Example</a:t>
            </a:r>
            <a:endParaRPr/>
          </a:p>
        </p:txBody>
      </p:sp>
      <p:sp>
        <p:nvSpPr>
          <p:cNvPr id="2315" name="Google Shape;2315;p186"/>
          <p:cNvSpPr txBox="1"/>
          <p:nvPr>
            <p:ph idx="1" type="body"/>
          </p:nvPr>
        </p:nvSpPr>
        <p:spPr>
          <a:xfrm>
            <a:off x="899592" y="836712"/>
            <a:ext cx="6818312" cy="571175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#include &lt;pthread.h&gt;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#include &lt;stdio.h&gt;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#define NUM_THREADS 5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int main(int argc, char *argv[]) {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int i, scope;</a:t>
            </a:r>
            <a:br>
              <a:rPr lang="en-US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pthread_t tid[NUM THREADS];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pthread_attr_t attr;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/* get the default attributes */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pthread_attr_init(&amp;attr);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/* first inquire on the current scope */</a:t>
            </a:r>
            <a:br>
              <a:rPr lang="en-US" sz="14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if (</a:t>
            </a:r>
            <a:r>
              <a:rPr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pthread_attr_getscope(&amp;attr, &amp;scope) != 0)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fprintf(stderr, "Unable to get scheduling scope\n");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else {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if (scope == PTHREAD_SCOPE_PROCESS)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printf("PTHREAD_SCOPE_PROCESS");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else if (scope == PTHREAD_SCOPE_SYSTEM)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printf("PTHREAD_SCOPE_SYSTEM");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rgbClr val="00B0F0"/>
              </a:buClr>
              <a:buSzPts val="1400"/>
              <a:buFont typeface="Arial"/>
              <a:buNone/>
            </a:pPr>
            <a: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else</a:t>
            </a:r>
            <a:b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fprintf(stderr, "Illegal scope value.\n"); 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en-US" sz="1400">
                <a:latin typeface="Courier New"/>
                <a:ea typeface="Courier New"/>
                <a:cs typeface="Courier New"/>
                <a:sym typeface="Courier New"/>
              </a:rPr>
              <a:t>   } </a:t>
            </a:r>
            <a:endParaRPr/>
          </a:p>
        </p:txBody>
      </p:sp>
      <p:sp>
        <p:nvSpPr>
          <p:cNvPr id="2316" name="Google Shape;2316;p18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317" name="Google Shape;2317;p18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18" name="Google Shape;2318;p18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9" name="Google Shape;2319;p186"/>
          <p:cNvSpPr/>
          <p:nvPr/>
        </p:nvSpPr>
        <p:spPr>
          <a:xfrm>
            <a:off x="715937" y="2852936"/>
            <a:ext cx="4824536" cy="28803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4" name="Shape 2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5" name="Google Shape;2325;p187"/>
          <p:cNvSpPr txBox="1"/>
          <p:nvPr>
            <p:ph type="title"/>
          </p:nvPr>
        </p:nvSpPr>
        <p:spPr>
          <a:xfrm>
            <a:off x="899592" y="116632"/>
            <a:ext cx="77819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 API</a:t>
            </a:r>
            <a:endParaRPr/>
          </a:p>
        </p:txBody>
      </p:sp>
      <p:sp>
        <p:nvSpPr>
          <p:cNvPr id="2326" name="Google Shape;2326;p187"/>
          <p:cNvSpPr txBox="1"/>
          <p:nvPr>
            <p:ph idx="1" type="body"/>
          </p:nvPr>
        </p:nvSpPr>
        <p:spPr>
          <a:xfrm>
            <a:off x="973138" y="1193800"/>
            <a:ext cx="7321550" cy="476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/* set the scheduling algorithm to PCS or SCS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pthread_attr_setscope(&amp;attr, PTHREAD_SCOPE_SYSTEM);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create the threads */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pthread_create(&amp;tid[i],&amp;attr,runner,NULL);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now join on each thread */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  pthread_join(tid[i],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/* Each thread will begin control in this function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void *runner(void *param)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do some work ...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pthread_exit(0);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</p:txBody>
      </p:sp>
      <p:sp>
        <p:nvSpPr>
          <p:cNvPr id="2327" name="Google Shape;2327;p18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328" name="Google Shape;2328;p18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29" name="Google Shape;2329;p18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0" name="Google Shape;2330;p187"/>
          <p:cNvSpPr/>
          <p:nvPr/>
        </p:nvSpPr>
        <p:spPr>
          <a:xfrm>
            <a:off x="1043608" y="2295754"/>
            <a:ext cx="6840760" cy="28803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188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337" name="Google Shape;2337;p188"/>
          <p:cNvSpPr txBox="1"/>
          <p:nvPr>
            <p:ph idx="1" type="body"/>
          </p:nvPr>
        </p:nvSpPr>
        <p:spPr>
          <a:xfrm>
            <a:off x="251520" y="1052736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pthread_create()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Create a thread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Synopsis: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#include &lt;pthread.h&gt;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pthread_create( pthread_t* </a:t>
            </a:r>
            <a:r>
              <a:rPr i="1" lang="en-US" sz="2400"/>
              <a:t>thread</a:t>
            </a:r>
            <a:r>
              <a:rPr lang="en-US" sz="2400"/>
              <a:t>, const pthread_attr_t* </a:t>
            </a:r>
            <a:r>
              <a:rPr i="1" lang="en-US" sz="2400"/>
              <a:t>attr</a:t>
            </a:r>
            <a:r>
              <a:rPr lang="en-US" sz="2400"/>
              <a:t>, void* (*</a:t>
            </a:r>
            <a:r>
              <a:rPr i="1" lang="en-US" sz="2400"/>
              <a:t>start_routine</a:t>
            </a:r>
            <a:r>
              <a:rPr lang="en-US" sz="2400"/>
              <a:t>)(void* ), void* </a:t>
            </a:r>
            <a:r>
              <a:rPr i="1" lang="en-US" sz="2400"/>
              <a:t>arg</a:t>
            </a:r>
            <a:r>
              <a:rPr lang="en-US" sz="2400"/>
              <a:t> ); </a:t>
            </a:r>
            <a:endParaRPr/>
          </a:p>
        </p:txBody>
      </p:sp>
      <p:sp>
        <p:nvSpPr>
          <p:cNvPr id="2338" name="Google Shape;2338;p18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339" name="Google Shape;2339;p18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40" name="Google Shape;2340;p18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1" name="Google Shape;2341;p188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6" name="Shape 2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7" name="Google Shape;2347;p189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348" name="Google Shape;2348;p189"/>
          <p:cNvSpPr txBox="1"/>
          <p:nvPr>
            <p:ph idx="1" type="body"/>
          </p:nvPr>
        </p:nvSpPr>
        <p:spPr>
          <a:xfrm>
            <a:off x="251520" y="836712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pthread_create( pthread_t* </a:t>
            </a:r>
            <a:r>
              <a:rPr i="1" lang="en-US" sz="2400"/>
              <a:t>thread</a:t>
            </a:r>
            <a:r>
              <a:rPr lang="en-US" sz="2400"/>
              <a:t>, const pthread_attr_t* </a:t>
            </a:r>
            <a:r>
              <a:rPr i="1" lang="en-US" sz="2400"/>
              <a:t>attr</a:t>
            </a:r>
            <a:r>
              <a:rPr lang="en-US" sz="2400"/>
              <a:t>, void* (*</a:t>
            </a:r>
            <a:r>
              <a:rPr i="1" lang="en-US" sz="2400"/>
              <a:t>start_routine</a:t>
            </a:r>
            <a:r>
              <a:rPr lang="en-US" sz="2400"/>
              <a:t>)(void* ), void* </a:t>
            </a:r>
            <a:r>
              <a:rPr i="1" lang="en-US" sz="2400"/>
              <a:t>arg</a:t>
            </a:r>
            <a:r>
              <a:rPr lang="en-US" sz="2400"/>
              <a:t> );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thread</a:t>
            </a:r>
            <a:r>
              <a:rPr lang="en-US" sz="2400"/>
              <a:t> –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pointer to a pthread_t object where the function can store the thread ID of the new thread. </a:t>
            </a:r>
            <a:endParaRPr sz="2400"/>
          </a:p>
        </p:txBody>
      </p:sp>
      <p:sp>
        <p:nvSpPr>
          <p:cNvPr id="2349" name="Google Shape;2349;p18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350" name="Google Shape;2350;p18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51" name="Google Shape;2351;p18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19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pthread_t</a:t>
            </a:r>
            <a:endParaRPr/>
          </a:p>
        </p:txBody>
      </p:sp>
      <p:sp>
        <p:nvSpPr>
          <p:cNvPr id="2357" name="Google Shape;2357;p19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pthread_t is the data type used to uniquely identify a thread.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Used by the application in function calls that require a thread identifier.</a:t>
            </a:r>
            <a:endParaRPr/>
          </a:p>
        </p:txBody>
      </p:sp>
      <p:sp>
        <p:nvSpPr>
          <p:cNvPr id="2358" name="Google Shape;2358;p19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359" name="Google Shape;2359;p19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60" name="Google Shape;2360;p19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5" name="Shape 2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6" name="Google Shape;2366;p191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367" name="Google Shape;2367;p191"/>
          <p:cNvSpPr txBox="1"/>
          <p:nvPr>
            <p:ph idx="1" type="body"/>
          </p:nvPr>
        </p:nvSpPr>
        <p:spPr>
          <a:xfrm>
            <a:off x="251520" y="836712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pthread_create( pthread_t* </a:t>
            </a:r>
            <a:r>
              <a:rPr i="1" lang="en-US" sz="2400"/>
              <a:t>thread</a:t>
            </a:r>
            <a:r>
              <a:rPr lang="en-US" sz="2400"/>
              <a:t>, const pthread_attr_t* </a:t>
            </a:r>
            <a:r>
              <a:rPr i="1" lang="en-US" sz="2400"/>
              <a:t>attr</a:t>
            </a:r>
            <a:r>
              <a:rPr lang="en-US" sz="2400"/>
              <a:t>, void* (*</a:t>
            </a:r>
            <a:r>
              <a:rPr i="1" lang="en-US" sz="2400"/>
              <a:t>start_routine</a:t>
            </a:r>
            <a:r>
              <a:rPr lang="en-US" sz="2400"/>
              <a:t>)(void* ), void* </a:t>
            </a:r>
            <a:r>
              <a:rPr i="1" lang="en-US" sz="2400"/>
              <a:t>arg</a:t>
            </a:r>
            <a:r>
              <a:rPr lang="en-US" sz="2400"/>
              <a:t> );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attr</a:t>
            </a:r>
            <a:r>
              <a:rPr lang="en-US" sz="2400"/>
              <a:t> -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A pointer to a pthread_attr_t structure that specifies the attributes of the new thread.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 Instead of manipulating the members of this structure directly, use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pthread_attr_init()</a:t>
            </a:r>
            <a:r>
              <a:rPr lang="en-US" sz="2400"/>
              <a:t> and the pthread_attr_set_* functions. 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If you modify the attributes in </a:t>
            </a:r>
            <a:r>
              <a:rPr i="1" lang="en-US" sz="2400"/>
              <a:t>attr</a:t>
            </a:r>
            <a:r>
              <a:rPr lang="en-US" sz="2400"/>
              <a:t> after creating the thread, the thread's attributes aren't affected. </a:t>
            </a:r>
            <a:endParaRPr sz="2400"/>
          </a:p>
        </p:txBody>
      </p:sp>
      <p:sp>
        <p:nvSpPr>
          <p:cNvPr id="2368" name="Google Shape;2368;p19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369" name="Google Shape;2369;p19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70" name="Google Shape;2370;p19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5" name="Shape 2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6" name="Google Shape;2376;p192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377" name="Google Shape;2377;p192"/>
          <p:cNvSpPr txBox="1"/>
          <p:nvPr>
            <p:ph idx="1" type="body"/>
          </p:nvPr>
        </p:nvSpPr>
        <p:spPr>
          <a:xfrm>
            <a:off x="251520" y="1052736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pthread_create( pthread_t* </a:t>
            </a:r>
            <a:r>
              <a:rPr i="1" lang="en-US" sz="2400"/>
              <a:t>thread</a:t>
            </a:r>
            <a:r>
              <a:rPr lang="en-US" sz="2400"/>
              <a:t>, const pthread_attr_t* </a:t>
            </a:r>
            <a:r>
              <a:rPr i="1" lang="en-US" sz="2400"/>
              <a:t>attr</a:t>
            </a:r>
            <a:r>
              <a:rPr lang="en-US" sz="2400"/>
              <a:t>, void* (*</a:t>
            </a:r>
            <a:r>
              <a:rPr i="1" lang="en-US" sz="2400"/>
              <a:t>start_routine</a:t>
            </a:r>
            <a:r>
              <a:rPr lang="en-US" sz="2400"/>
              <a:t>)(void* ), void* </a:t>
            </a:r>
            <a:r>
              <a:rPr i="1" lang="en-US" sz="2400"/>
              <a:t>arg</a:t>
            </a:r>
            <a:r>
              <a:rPr lang="en-US" sz="2400"/>
              <a:t> );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start_routine</a:t>
            </a:r>
            <a:r>
              <a:rPr lang="en-US" sz="2400"/>
              <a:t>-</a:t>
            </a:r>
            <a:endParaRPr/>
          </a:p>
          <a:p>
            <a:pPr indent="-285750" lvl="1" marL="74295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</a:pPr>
            <a:r>
              <a:rPr lang="en-US" sz="2400"/>
              <a:t>The routine where the thread begins, with </a:t>
            </a:r>
            <a:r>
              <a:rPr i="1" lang="en-US" sz="2400"/>
              <a:t>arg</a:t>
            </a:r>
            <a:r>
              <a:rPr lang="en-US" sz="2400"/>
              <a:t> as its only argument. </a:t>
            </a:r>
            <a:endParaRPr/>
          </a:p>
        </p:txBody>
      </p:sp>
      <p:sp>
        <p:nvSpPr>
          <p:cNvPr id="2378" name="Google Shape;2378;p19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379" name="Google Shape;2379;p19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80" name="Google Shape;2380;p19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81" name="Google Shape;2381;p192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6" name="Shape 2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7" name="Google Shape;2387;p193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388" name="Google Shape;2388;p193"/>
          <p:cNvSpPr txBox="1"/>
          <p:nvPr>
            <p:ph idx="1" type="body"/>
          </p:nvPr>
        </p:nvSpPr>
        <p:spPr>
          <a:xfrm>
            <a:off x="251520" y="1052736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pthread_create( pthread_t* </a:t>
            </a:r>
            <a:r>
              <a:rPr i="1" lang="en-US" sz="2400"/>
              <a:t>thread</a:t>
            </a:r>
            <a:r>
              <a:rPr lang="en-US" sz="2400"/>
              <a:t>, const pthread_attr_t* </a:t>
            </a:r>
            <a:r>
              <a:rPr i="1" lang="en-US" sz="2400"/>
              <a:t>attr</a:t>
            </a:r>
            <a:r>
              <a:rPr lang="en-US" sz="2400"/>
              <a:t>, void* (*</a:t>
            </a:r>
            <a:r>
              <a:rPr i="1" lang="en-US" sz="2400"/>
              <a:t>start_routine</a:t>
            </a:r>
            <a:r>
              <a:rPr lang="en-US" sz="2400"/>
              <a:t>)(void* ), void* </a:t>
            </a:r>
            <a:r>
              <a:rPr i="1" lang="en-US" sz="2400"/>
              <a:t>arg</a:t>
            </a:r>
            <a:r>
              <a:rPr lang="en-US" sz="2400"/>
              <a:t> );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arg</a:t>
            </a:r>
            <a:r>
              <a:rPr lang="en-US" sz="2400"/>
              <a:t> The argument to pass to </a:t>
            </a:r>
            <a:r>
              <a:rPr i="1" lang="en-US" sz="2400"/>
              <a:t>start_routine</a:t>
            </a:r>
            <a:r>
              <a:rPr lang="en-US" sz="2400"/>
              <a:t>. </a:t>
            </a:r>
            <a:endParaRPr/>
          </a:p>
        </p:txBody>
      </p:sp>
      <p:sp>
        <p:nvSpPr>
          <p:cNvPr id="2389" name="Google Shape;2389;p19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390" name="Google Shape;2390;p19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391" name="Google Shape;2391;p19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2" name="Google Shape;2392;p193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6" name="Shape 2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7" name="Google Shape;2397;p194"/>
          <p:cNvSpPr txBox="1"/>
          <p:nvPr>
            <p:ph type="title"/>
          </p:nvPr>
        </p:nvSpPr>
        <p:spPr>
          <a:xfrm>
            <a:off x="457200" y="274638"/>
            <a:ext cx="8229600" cy="411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pthread_create()</a:t>
            </a:r>
            <a:endParaRPr/>
          </a:p>
        </p:txBody>
      </p:sp>
      <p:sp>
        <p:nvSpPr>
          <p:cNvPr id="2398" name="Google Shape;2398;p194"/>
          <p:cNvSpPr txBox="1"/>
          <p:nvPr>
            <p:ph idx="1" type="body"/>
          </p:nvPr>
        </p:nvSpPr>
        <p:spPr>
          <a:xfrm>
            <a:off x="457200" y="11430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int pthread_create(pthread_t *</a:t>
            </a:r>
            <a:r>
              <a:rPr i="1" lang="en-US" sz="2400"/>
              <a:t>thread</a:t>
            </a:r>
            <a:r>
              <a:rPr b="1" lang="en-US" sz="2400"/>
              <a:t>, const pthread_attr_t *</a:t>
            </a:r>
            <a:r>
              <a:rPr i="1" lang="en-US" sz="2400"/>
              <a:t>attr</a:t>
            </a:r>
            <a:r>
              <a:rPr b="1" lang="en-US" sz="2400"/>
              <a:t>,</a:t>
            </a:r>
            <a:r>
              <a:rPr lang="en-US" sz="2400"/>
              <a:t> </a:t>
            </a:r>
            <a:r>
              <a:rPr b="1" lang="en-US" sz="2400"/>
              <a:t>void *(*</a:t>
            </a:r>
            <a:r>
              <a:rPr i="1" lang="en-US" sz="2400"/>
              <a:t>start_routine</a:t>
            </a:r>
            <a:r>
              <a:rPr b="1" lang="en-US" sz="2400"/>
              <a:t>) (void *), void *</a:t>
            </a:r>
            <a:r>
              <a:rPr i="1" lang="en-US" sz="2400"/>
              <a:t>arg</a:t>
            </a:r>
            <a:r>
              <a:rPr b="1" lang="en-US" sz="2400"/>
              <a:t>);</a:t>
            </a:r>
            <a:r>
              <a:rPr lang="en-US" sz="2400"/>
              <a:t>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70C0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RETURN VALUE        </a:t>
            </a:r>
            <a:endParaRPr b="1"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On success, </a:t>
            </a:r>
            <a:r>
              <a:rPr b="1" lang="en-US" sz="2400"/>
              <a:t>pthread_create</a:t>
            </a:r>
            <a:r>
              <a:rPr lang="en-US" sz="2400"/>
              <a:t>() returns 0; 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On error, it returns an error number, and the contents of </a:t>
            </a:r>
            <a:r>
              <a:rPr i="1" lang="en-US" sz="2400"/>
              <a:t>*thread</a:t>
            </a:r>
            <a:r>
              <a:rPr lang="en-US" sz="2400"/>
              <a:t> are undefined.</a:t>
            </a:r>
            <a:endParaRPr sz="2400"/>
          </a:p>
        </p:txBody>
      </p:sp>
    </p:spTree>
  </p:cSld>
  <p:clrMapOvr>
    <a:masterClrMapping/>
  </p:clrMapOvr>
</p:sld>
</file>

<file path=ppt/slides/slide1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3" name="Shape 2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Google Shape;2404;p195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405" name="Google Shape;2405;p195"/>
          <p:cNvSpPr txBox="1"/>
          <p:nvPr>
            <p:ph idx="1" type="body"/>
          </p:nvPr>
        </p:nvSpPr>
        <p:spPr>
          <a:xfrm>
            <a:off x="251520" y="1052736"/>
            <a:ext cx="8280920" cy="3546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int pthread_create( pthread_t* </a:t>
            </a:r>
            <a:r>
              <a:rPr i="1" lang="en-US" sz="2400"/>
              <a:t>thread</a:t>
            </a:r>
            <a:r>
              <a:rPr lang="en-US" sz="2400"/>
              <a:t>, const pthread_attr_t* </a:t>
            </a:r>
            <a:r>
              <a:rPr i="1" lang="en-US" sz="2400"/>
              <a:t>attr</a:t>
            </a:r>
            <a:r>
              <a:rPr lang="en-US" sz="2400"/>
              <a:t>, void* (*</a:t>
            </a:r>
            <a:r>
              <a:rPr i="1" lang="en-US" sz="2400"/>
              <a:t>start_routine</a:t>
            </a:r>
            <a:r>
              <a:rPr lang="en-US" sz="2400"/>
              <a:t>)(void* ), void* </a:t>
            </a:r>
            <a:r>
              <a:rPr i="1" lang="en-US" sz="2400"/>
              <a:t>arg</a:t>
            </a:r>
            <a:r>
              <a:rPr lang="en-US" sz="2400"/>
              <a:t> );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Char char="•"/>
            </a:pPr>
            <a:r>
              <a:rPr lang="en-US" sz="2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pthread_create(&amp;tid[i],&amp;attr,runner,NULL);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406" name="Google Shape;2406;p19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407" name="Google Shape;2407;p19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08" name="Google Shape;2408;p19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09" name="Google Shape;2409;p195"/>
          <p:cNvSpPr/>
          <p:nvPr/>
        </p:nvSpPr>
        <p:spPr>
          <a:xfrm>
            <a:off x="0" y="6104329"/>
            <a:ext cx="9144000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http://www.qnx.com/developers/docs/qnxcar2/index.jsp?topic=%2Fcom.qnx.doc.neutrino.lib_ref%2Ftopic%2Fp%2Fpthread_attr_setscope.html</a:t>
            </a:r>
            <a:endParaRPr/>
          </a:p>
        </p:txBody>
      </p:sp>
    </p:spTree>
  </p:cSld>
  <p:clrMapOvr>
    <a:masterClrMapping/>
  </p:clrMapOvr>
</p:sld>
</file>

<file path=ppt/slides/slide1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4" name="Shape 2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Google Shape;2415;p196"/>
          <p:cNvSpPr txBox="1"/>
          <p:nvPr>
            <p:ph type="title"/>
          </p:nvPr>
        </p:nvSpPr>
        <p:spPr>
          <a:xfrm>
            <a:off x="899592" y="116632"/>
            <a:ext cx="77819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 API</a:t>
            </a:r>
            <a:endParaRPr/>
          </a:p>
        </p:txBody>
      </p:sp>
      <p:sp>
        <p:nvSpPr>
          <p:cNvPr id="2416" name="Google Shape;2416;p196"/>
          <p:cNvSpPr txBox="1"/>
          <p:nvPr>
            <p:ph idx="1" type="body"/>
          </p:nvPr>
        </p:nvSpPr>
        <p:spPr>
          <a:xfrm>
            <a:off x="973138" y="1193800"/>
            <a:ext cx="7321550" cy="476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/* set the scheduling algorithm to PCS or SCS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pthread_attr_setscope(&amp;attr, PTHREAD_SCOPE_SYSTEM);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create the threads */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pthread_create(&amp;tid[i],&amp;attr,runner,NULL);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now join on each thread */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  pthread_join(tid[i],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/* Each thread will begin control in this function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void *runner(void *param)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do some work ...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pthread_exit(0);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</p:txBody>
      </p:sp>
      <p:sp>
        <p:nvSpPr>
          <p:cNvPr id="2417" name="Google Shape;2417;p19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418" name="Google Shape;2418;p19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19" name="Google Shape;2419;p19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0" name="Google Shape;2420;p196"/>
          <p:cNvSpPr/>
          <p:nvPr/>
        </p:nvSpPr>
        <p:spPr>
          <a:xfrm>
            <a:off x="1043608" y="2295754"/>
            <a:ext cx="6840760" cy="28803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1" name="Google Shape;2421;p196"/>
          <p:cNvSpPr/>
          <p:nvPr/>
        </p:nvSpPr>
        <p:spPr>
          <a:xfrm>
            <a:off x="1196008" y="3212976"/>
            <a:ext cx="6840760" cy="288032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p197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428" name="Google Shape;2428;p197"/>
          <p:cNvSpPr txBox="1"/>
          <p:nvPr>
            <p:ph idx="1" type="body"/>
          </p:nvPr>
        </p:nvSpPr>
        <p:spPr>
          <a:xfrm>
            <a:off x="251520" y="836712"/>
            <a:ext cx="8280920" cy="5112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Joining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simplest method of synchronization is to </a:t>
            </a:r>
            <a:r>
              <a:rPr i="1" lang="en-US" sz="2400"/>
              <a:t>join</a:t>
            </a:r>
            <a:r>
              <a:rPr lang="en-US" sz="2400"/>
              <a:t> the threads as they terminate. </a:t>
            </a:r>
            <a:endParaRPr sz="24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Joining really means waiting for termination.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Joining is accomplished by one thread waiting for the termination of another thread. The waiting thread calls </a:t>
            </a:r>
            <a:r>
              <a:rPr lang="en-US" sz="2400" u="sng">
                <a:solidFill>
                  <a:schemeClr val="hlink"/>
                </a:solidFill>
                <a:hlinkClick r:id="rId3"/>
              </a:rPr>
              <a:t>pthread_join()</a:t>
            </a:r>
            <a:endParaRPr sz="2400"/>
          </a:p>
        </p:txBody>
      </p:sp>
      <p:sp>
        <p:nvSpPr>
          <p:cNvPr id="2429" name="Google Shape;2429;p19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430" name="Google Shape;2430;p19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31" name="Google Shape;2431;p19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6" name="Shape 2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7" name="Google Shape;2437;p198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438" name="Google Shape;2438;p198"/>
          <p:cNvSpPr txBox="1"/>
          <p:nvPr>
            <p:ph idx="1" type="body"/>
          </p:nvPr>
        </p:nvSpPr>
        <p:spPr>
          <a:xfrm>
            <a:off x="251520" y="836712"/>
            <a:ext cx="8280920" cy="51125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Joining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/>
          </a:p>
        </p:txBody>
      </p:sp>
      <p:sp>
        <p:nvSpPr>
          <p:cNvPr id="2439" name="Google Shape;2439;p19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440" name="Google Shape;2440;p19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41" name="Google Shape;2441;p19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442" name="Google Shape;2442;p19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6313" y="2200275"/>
            <a:ext cx="7191375" cy="2457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7" name="Shape 2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8" name="Google Shape;2448;p199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449" name="Google Shape;2449;p199"/>
          <p:cNvSpPr txBox="1"/>
          <p:nvPr>
            <p:ph idx="1" type="body"/>
          </p:nvPr>
        </p:nvSpPr>
        <p:spPr>
          <a:xfrm>
            <a:off x="251520" y="836712"/>
            <a:ext cx="828092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int pthread_join( pthread_t </a:t>
            </a:r>
            <a:r>
              <a:rPr i="1" lang="en-US" sz="2400"/>
              <a:t>thread</a:t>
            </a:r>
            <a:r>
              <a:rPr lang="en-US" sz="2400"/>
              <a:t>, void** </a:t>
            </a:r>
            <a:r>
              <a:rPr i="1" lang="en-US" sz="2400"/>
              <a:t>value_ptr</a:t>
            </a:r>
            <a:r>
              <a:rPr lang="en-US" sz="2400"/>
              <a:t> );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rgbClr val="00B0F0"/>
              </a:buClr>
              <a:buSzPts val="2400"/>
              <a:buNone/>
            </a:pPr>
            <a:r>
              <a:rPr b="1" lang="en-US" sz="24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Eg-pthread_join(tid[i], NULL); </a:t>
            </a:r>
            <a:endParaRPr b="1" sz="2400">
              <a:solidFill>
                <a:srgbClr val="00B0F0"/>
              </a:solidFill>
            </a:endParaRPr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thread</a:t>
            </a:r>
            <a:r>
              <a:rPr lang="en-US" sz="2400"/>
              <a:t> –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The target thread whose termination you're waiting for, 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Pass it the thread ID of the thread that you wish to join</a:t>
            </a:r>
            <a:endParaRPr sz="2000"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i="1"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value_ptr –</a:t>
            </a:r>
            <a:endParaRPr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An optional </a:t>
            </a:r>
            <a:r>
              <a:rPr i="1" lang="en-US" sz="2000"/>
              <a:t>value_ptr</a:t>
            </a:r>
            <a:r>
              <a:rPr lang="en-US" sz="2000"/>
              <a:t>, which can be used to store the termination return value from the joined thread. </a:t>
            </a:r>
            <a:endParaRPr sz="20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NULL, or a pointer to a location where the function can store the value passed to </a:t>
            </a:r>
            <a:r>
              <a:rPr lang="en-US" sz="2000" u="sng">
                <a:solidFill>
                  <a:schemeClr val="hlink"/>
                </a:solidFill>
                <a:hlinkClick r:id="rId3"/>
              </a:rPr>
              <a:t>pthread_exit()</a:t>
            </a:r>
            <a:r>
              <a:rPr lang="en-US" sz="2000"/>
              <a:t> by the target thread. </a:t>
            </a:r>
            <a:endParaRPr sz="2000"/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</a:pPr>
            <a:r>
              <a:rPr lang="en-US" sz="2000"/>
              <a:t>You can pass in a NULL if you aren't interested in this value</a:t>
            </a:r>
            <a:endParaRPr sz="2000"/>
          </a:p>
        </p:txBody>
      </p:sp>
      <p:sp>
        <p:nvSpPr>
          <p:cNvPr id="2450" name="Google Shape;2450;p19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451" name="Google Shape;2451;p19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52" name="Google Shape;2452;p19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7" name="Shape 2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8" name="Google Shape;2458;p200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459" name="Google Shape;2459;p200"/>
          <p:cNvSpPr txBox="1"/>
          <p:nvPr>
            <p:ph idx="1" type="body"/>
          </p:nvPr>
        </p:nvSpPr>
        <p:spPr>
          <a:xfrm>
            <a:off x="251520" y="836712"/>
            <a:ext cx="828092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The pthread_join function returns an integer value that also indicates different error codes. 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Return Value-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0 if the call was successful and this guarantees the given thread has terminated.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EDEADLK- a deadlock was detected.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EINVAL- the given thread is not joinable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ESRCH- the given thread ID can’t be found. </a:t>
            </a:r>
            <a:endParaRPr sz="2000"/>
          </a:p>
        </p:txBody>
      </p:sp>
      <p:sp>
        <p:nvSpPr>
          <p:cNvPr id="2460" name="Google Shape;2460;p20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461" name="Google Shape;2461;p20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62" name="Google Shape;2462;p20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7" name="Shape 2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8" name="Google Shape;2468;p201"/>
          <p:cNvSpPr txBox="1"/>
          <p:nvPr>
            <p:ph type="title"/>
          </p:nvPr>
        </p:nvSpPr>
        <p:spPr>
          <a:xfrm>
            <a:off x="899592" y="116632"/>
            <a:ext cx="7781925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 API</a:t>
            </a:r>
            <a:endParaRPr/>
          </a:p>
        </p:txBody>
      </p:sp>
      <p:sp>
        <p:nvSpPr>
          <p:cNvPr id="2469" name="Google Shape;2469;p201"/>
          <p:cNvSpPr txBox="1"/>
          <p:nvPr>
            <p:ph idx="1" type="body"/>
          </p:nvPr>
        </p:nvSpPr>
        <p:spPr>
          <a:xfrm>
            <a:off x="973138" y="1193800"/>
            <a:ext cx="7321550" cy="4765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None/>
            </a:pPr>
            <a:r>
              <a:rPr lang="en-US" sz="17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/* set the scheduling algorithm to PCS or SCS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pthread_attr_setscope(&amp;attr, PTHREAD_SCOPE_SYSTEM);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create the threads */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rgbClr val="00B0F0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pthread_create(&amp;tid[i],&amp;attr,runner,NULL);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now join on each thread */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   pthread_join(tid[i],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/* Each thread will begin control in this function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void *runner(void *param)</a:t>
            </a:r>
            <a:br>
              <a:rPr lang="en-US" sz="16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/* do some work ... */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   pthread_exit(0);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/>
              <a:t>The calling thread waits for every thread with the pthread_join call in the loop</a:t>
            </a:r>
            <a:r>
              <a:rPr lang="en-US" sz="2400"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  <p:sp>
        <p:nvSpPr>
          <p:cNvPr id="2470" name="Google Shape;2470;p20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471" name="Google Shape;2471;p20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72" name="Google Shape;2472;p20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3" name="Google Shape;2473;p201"/>
          <p:cNvSpPr/>
          <p:nvPr/>
        </p:nvSpPr>
        <p:spPr>
          <a:xfrm>
            <a:off x="976539" y="2780928"/>
            <a:ext cx="6840760" cy="792088"/>
          </a:xfrm>
          <a:prstGeom prst="rect">
            <a:avLst/>
          </a:prstGeom>
          <a:noFill/>
          <a:ln cap="flat" cmpd="sng" w="38100">
            <a:solidFill>
              <a:srgbClr val="F5913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8" name="Shape 2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9" name="Google Shape;2479;p202"/>
          <p:cNvSpPr txBox="1"/>
          <p:nvPr>
            <p:ph type="title"/>
          </p:nvPr>
        </p:nvSpPr>
        <p:spPr>
          <a:xfrm>
            <a:off x="467544" y="28243"/>
            <a:ext cx="8229600" cy="3044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lang="en-US" sz="3200"/>
              <a:t>Pthread Scheduling API</a:t>
            </a:r>
            <a:endParaRPr/>
          </a:p>
        </p:txBody>
      </p:sp>
      <p:sp>
        <p:nvSpPr>
          <p:cNvPr id="2480" name="Google Shape;2480;p202"/>
          <p:cNvSpPr txBox="1"/>
          <p:nvPr>
            <p:ph idx="1" type="body"/>
          </p:nvPr>
        </p:nvSpPr>
        <p:spPr>
          <a:xfrm>
            <a:off x="323528" y="620688"/>
            <a:ext cx="4172272" cy="5505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#include &lt;pthread.h&gt;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#include &lt;stdio.h&gt;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#define NUM_THREADS 5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int main(int argc, char *argv[]) {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int i, scope;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pthread_t tid[NUM THREADS];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pthread_attr_t attr;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/* get the default attributes */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pthread_attr_init(&amp;attr);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/* first inquire on the current scope */</a:t>
            </a:r>
            <a:br>
              <a:rPr lang="en-US" sz="1200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if (</a:t>
            </a:r>
            <a:r>
              <a:rPr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pthread_attr_getscope(&amp;attr, &amp;scope) != 0)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fprintf(stderr, "Unable to get scheduling scope\n");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else {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   </a:t>
            </a:r>
            <a: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if (scope == PTHREAD_SCOPE_PROCESS)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printf("PTHREAD_SCOPE_PROCESS");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else if (scope == PTHREAD_SCOPE_SYSTEM)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printf("PTHREAD_SCOPE_SYSTEM");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rgbClr val="00B0F0"/>
              </a:buClr>
              <a:buSzPts val="1200"/>
              <a:buFont typeface="Arial"/>
              <a:buNone/>
            </a:pPr>
            <a: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else</a:t>
            </a:r>
            <a:b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lang="en-US" sz="1200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   fprintf(stderr, "Illegal scope value.\n"); </a:t>
            </a:r>
            <a:endParaRPr/>
          </a:p>
          <a:p>
            <a:pPr indent="0" lvl="0" marL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en-US" sz="1200">
                <a:latin typeface="Courier New"/>
                <a:ea typeface="Courier New"/>
                <a:cs typeface="Courier New"/>
                <a:sym typeface="Courier New"/>
              </a:rPr>
              <a:t>   }</a:t>
            </a:r>
            <a:endParaRPr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481" name="Google Shape;2481;p202"/>
          <p:cNvSpPr txBox="1"/>
          <p:nvPr>
            <p:ph idx="2" type="body"/>
          </p:nvPr>
        </p:nvSpPr>
        <p:spPr>
          <a:xfrm>
            <a:off x="4644008" y="764704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/* set the scheduling algorithm to PCS or SCS */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</a:t>
            </a:r>
            <a:r>
              <a:rPr lang="en-US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pthread_attr_setscope(&amp;attr, PTHREAD_SCOPE_SYSTEM);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/* create the threads */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rgbClr val="00B0F0"/>
              </a:buClr>
              <a:buSzPct val="100000"/>
              <a:buFont typeface="Arial"/>
              <a:buNone/>
            </a:pPr>
            <a:r>
              <a:rPr lang="en-US">
                <a:solidFill>
                  <a:srgbClr val="00B0F0"/>
                </a:solidFill>
                <a:latin typeface="Courier New"/>
                <a:ea typeface="Courier New"/>
                <a:cs typeface="Courier New"/>
                <a:sym typeface="Courier New"/>
              </a:rPr>
              <a:t>      pthread_create(&amp;tid[i],&amp;attr,runner,NULL);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/* now join on each thread */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for (i = 0; i &lt; NUM_THREADS; i++)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   pthread_join(tid[i], NULL);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/* Each thread will begin control in this function */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void *runner(void *param)</a:t>
            </a:r>
            <a:br>
              <a:rPr lang="en-US"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{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/* do some work ... */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   pthread_exit(0); 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/>
          </a:p>
          <a:p>
            <a:pPr indent="0" lvl="0" marL="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58445" lvl="0" marL="342900" rtl="0" algn="l">
              <a:spcBef>
                <a:spcPts val="26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482" name="Google Shape;2482;p20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483" name="Google Shape;2483;p20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84" name="Google Shape;2484;p20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9" name="Shape 2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0" name="Google Shape;2490;p203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491" name="Google Shape;2491;p203"/>
          <p:cNvSpPr txBox="1"/>
          <p:nvPr>
            <p:ph idx="1" type="body"/>
          </p:nvPr>
        </p:nvSpPr>
        <p:spPr>
          <a:xfrm>
            <a:off x="251520" y="836712"/>
            <a:ext cx="828092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pthread_exit()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Terminate a thread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Synopsis: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#include &lt;pthread.h&gt; </a:t>
            </a:r>
            <a:endParaRPr sz="2400"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pthread_exit( void* </a:t>
            </a:r>
            <a:r>
              <a:rPr i="1" lang="en-US" sz="2400"/>
              <a:t>value_ptr</a:t>
            </a:r>
            <a:r>
              <a:rPr lang="en-US" sz="2400"/>
              <a:t> ); </a:t>
            </a:r>
            <a:endParaRPr/>
          </a:p>
        </p:txBody>
      </p:sp>
      <p:sp>
        <p:nvSpPr>
          <p:cNvPr id="2492" name="Google Shape;2492;p20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493" name="Google Shape;2493;p20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494" name="Google Shape;2494;p20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9" name="Shape 2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0" name="Google Shape;2500;p204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Pthread Scheduling</a:t>
            </a:r>
            <a:endParaRPr/>
          </a:p>
        </p:txBody>
      </p:sp>
      <p:sp>
        <p:nvSpPr>
          <p:cNvPr id="2501" name="Google Shape;2501;p204"/>
          <p:cNvSpPr txBox="1"/>
          <p:nvPr>
            <p:ph idx="1" type="body"/>
          </p:nvPr>
        </p:nvSpPr>
        <p:spPr>
          <a:xfrm>
            <a:off x="251520" y="836712"/>
            <a:ext cx="828092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/>
              <a:t>void pthread_exit( void* </a:t>
            </a:r>
            <a:r>
              <a:rPr i="1" lang="en-US" sz="2400"/>
              <a:t>value_ptr</a:t>
            </a:r>
            <a:r>
              <a:rPr lang="en-US" sz="2400"/>
              <a:t> );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Arguments: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i="1" lang="en-US" sz="2400"/>
              <a:t>value_ptr</a:t>
            </a:r>
            <a:r>
              <a:rPr lang="en-US" sz="2400"/>
              <a:t> -A pointer to a value that you want to be made available to any thread joining the thread that you're terminating. </a:t>
            </a:r>
            <a:endParaRPr/>
          </a:p>
          <a:p>
            <a:pPr indent="0" lvl="0" marL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 sz="2400"/>
              <a:t>Description:</a:t>
            </a:r>
            <a:endParaRPr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Terminates the calling thread.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This routine kills the thread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the thread is joinable, the value </a:t>
            </a:r>
            <a:r>
              <a:rPr i="1" lang="en-US" sz="2400"/>
              <a:t>value_ptr</a:t>
            </a:r>
            <a:r>
              <a:rPr lang="en-US" sz="2400"/>
              <a:t> is made available to any thread joining the terminating thread (only one thread can get the return status).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the thread is detached, all system resources allocated to the thread are immediately reclaimed. </a:t>
            </a:r>
            <a:endParaRPr/>
          </a:p>
        </p:txBody>
      </p:sp>
      <p:sp>
        <p:nvSpPr>
          <p:cNvPr id="2502" name="Google Shape;2502;p20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503" name="Google Shape;2503;p20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504" name="Google Shape;2504;p20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9" name="Shape 2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Google Shape;2510;p205"/>
          <p:cNvSpPr txBox="1"/>
          <p:nvPr>
            <p:ph type="title"/>
          </p:nvPr>
        </p:nvSpPr>
        <p:spPr>
          <a:xfrm>
            <a:off x="709613" y="188913"/>
            <a:ext cx="7977187" cy="5762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Diff between exit and joining?</a:t>
            </a:r>
            <a:endParaRPr/>
          </a:p>
        </p:txBody>
      </p:sp>
      <p:sp>
        <p:nvSpPr>
          <p:cNvPr id="2511" name="Google Shape;2511;p205"/>
          <p:cNvSpPr txBox="1"/>
          <p:nvPr>
            <p:ph idx="1" type="body"/>
          </p:nvPr>
        </p:nvSpPr>
        <p:spPr>
          <a:xfrm>
            <a:off x="251520" y="836712"/>
            <a:ext cx="8280920" cy="55446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pthread_exit is called from the thread itself to terminate its execution (and return a result) early.</a:t>
            </a:r>
            <a:endParaRPr/>
          </a:p>
          <a:p>
            <a:pPr indent="-1905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pthread_join is called from another thread (usually the thread that created it) to wait for a thread to terminate and obtain its return value.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It can be called before or after the thread you're waiting for calls pthread_exit.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before, it will wait for the exit to occur. </a:t>
            </a:r>
            <a:endParaRPr sz="2400"/>
          </a:p>
          <a:p>
            <a:pPr indent="-342900" lvl="0" marL="34290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If after, it simply obtains the return value and releases the pthread_t resources.</a:t>
            </a:r>
            <a:endParaRPr/>
          </a:p>
        </p:txBody>
      </p:sp>
      <p:sp>
        <p:nvSpPr>
          <p:cNvPr id="2512" name="Google Shape;2512;p20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26-08-2024</a:t>
            </a:r>
            <a:endParaRPr/>
          </a:p>
        </p:txBody>
      </p:sp>
      <p:sp>
        <p:nvSpPr>
          <p:cNvPr id="2513" name="Google Shape;2513;p20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Prof. Shweta Dhawan Chachra</a:t>
            </a:r>
            <a:endParaRPr/>
          </a:p>
        </p:txBody>
      </p:sp>
      <p:sp>
        <p:nvSpPr>
          <p:cNvPr id="2514" name="Google Shape;2514;p20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5" name="Google Shape;2515;p205"/>
          <p:cNvSpPr/>
          <p:nvPr/>
        </p:nvSpPr>
        <p:spPr>
          <a:xfrm>
            <a:off x="323528" y="6021288"/>
            <a:ext cx="840668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https://codehunter.cc/a/c/difference-between-pthread-exit-pthread-join-and-pthread-detach</a:t>
            </a:r>
            <a:endParaRPr/>
          </a:p>
        </p:txBody>
      </p:sp>
    </p:spTree>
  </p:cSld>
  <p:clrMapOvr>
    <a:masterClrMapping/>
  </p:clrMapOvr>
</p:sld>
</file>

<file path=ppt/slides/slide2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9" name="Shape 2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Google Shape;2520;p206"/>
          <p:cNvSpPr txBox="1"/>
          <p:nvPr>
            <p:ph idx="1" type="body"/>
          </p:nvPr>
        </p:nvSpPr>
        <p:spPr>
          <a:xfrm>
            <a:off x="457200" y="0"/>
            <a:ext cx="43434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&lt;stdio.h&gt;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&lt;stdlib.h&gt;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&lt;unistd.h&gt;  //Header file for sleep()</a:t>
            </a:r>
            <a:endParaRPr sz="40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&lt;pthread.h&gt;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// A normal C function that is executed as a thread 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// when its name is specified in pthread_create()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void *myThreadFun(void *vargp)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sleep(1);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printf("Printing Hello from Thread 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return NULL;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}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int main()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pthread_t thread_id;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printf("Before Thread\n");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pthread_create(&amp;thread_id, NULL, myThreadFun,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pthread_join(thread_id,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printf("After Thread\n");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exit(0);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}</a:t>
            </a:r>
            <a:endParaRPr/>
          </a:p>
          <a:p>
            <a:pPr indent="-26162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521" name="Google Shape;2521;p206"/>
          <p:cNvSpPr txBox="1"/>
          <p:nvPr/>
        </p:nvSpPr>
        <p:spPr>
          <a:xfrm>
            <a:off x="5580112" y="1556792"/>
            <a:ext cx="1800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?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5" name="Shape 2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6" name="Google Shape;2526;p207"/>
          <p:cNvSpPr txBox="1"/>
          <p:nvPr>
            <p:ph idx="1" type="body"/>
          </p:nvPr>
        </p:nvSpPr>
        <p:spPr>
          <a:xfrm>
            <a:off x="457200" y="0"/>
            <a:ext cx="43434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4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&lt;stdio.h&gt;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&lt;stdlib.h&gt;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&lt;unistd.h&gt;  //Header file for sleep()</a:t>
            </a:r>
            <a:endParaRPr sz="40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#include &lt;pthread.h&gt;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// A normal C function that is executed as a thread 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// when its name is specified in pthread_create()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void *myThreadFun(void *vargp)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sleep(1);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printf("Printing Hello from Thread 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return NULL;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}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int main()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{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pthread_t thread_id;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printf("Before Thread\n");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pthread_create(&amp;thread_id, NULL, myThreadFun,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pthread_join(thread_id, NULL);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printf("After Thread\n");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    exit(0); </a:t>
            </a:r>
            <a:endParaRPr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sz="4000"/>
              <a:t>}</a:t>
            </a:r>
            <a:endParaRPr/>
          </a:p>
          <a:p>
            <a:pPr indent="-261620" lvl="0" marL="342900" rtl="0" algn="l">
              <a:spcBef>
                <a:spcPts val="25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2527" name="Google Shape;2527;p207"/>
          <p:cNvSpPr/>
          <p:nvPr/>
        </p:nvSpPr>
        <p:spPr>
          <a:xfrm>
            <a:off x="5029200" y="1183215"/>
            <a:ext cx="3733800" cy="1736345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8885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Output-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Before Thread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Printing Hello from Thread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onsolas"/>
                <a:ea typeface="Consolas"/>
                <a:cs typeface="Consolas"/>
                <a:sym typeface="Consolas"/>
              </a:rPr>
              <a:t>After Thread</a:t>
            </a:r>
            <a:r>
              <a:rPr lang="en-US" sz="105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2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1" name="Shape 2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2" name="Google Shape;2532;p208"/>
          <p:cNvSpPr txBox="1"/>
          <p:nvPr>
            <p:ph idx="1" type="body"/>
          </p:nvPr>
        </p:nvSpPr>
        <p:spPr>
          <a:xfrm>
            <a:off x="0" y="0"/>
            <a:ext cx="4283968" cy="6705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&lt;iostream&gt;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&lt;stdlib&gt;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#include &lt;pthread.h&gt;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using namespace std;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#define NUM_THREADS 5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void *PrintHello(void *threadid) {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long tid;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tid = (long)threadid;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printf("Hello World! Thread ID, %d\n", tid);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pthread_exit(NULL);</a:t>
            </a:r>
            <a:endParaRPr/>
          </a:p>
          <a:p>
            <a:pPr indent="0" lvl="0" marL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800"/>
          </a:p>
        </p:txBody>
      </p:sp>
      <p:sp>
        <p:nvSpPr>
          <p:cNvPr id="2533" name="Google Shape;2533;p208"/>
          <p:cNvSpPr txBox="1"/>
          <p:nvPr/>
        </p:nvSpPr>
        <p:spPr>
          <a:xfrm>
            <a:off x="4341628" y="0"/>
            <a:ext cx="4800600" cy="6705600"/>
          </a:xfrm>
          <a:prstGeom prst="rect">
            <a:avLst/>
          </a:prstGeom>
          <a:solidFill>
            <a:schemeClr val="lt1"/>
          </a:solidFill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 main () {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pthread_t threads[NUM_THREADS];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int rc;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int i;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for( i = 0; i &lt; NUM_THREADS; i++ ) {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cout &lt;&lt; "main() : creating thread, " &lt;&lt; i &lt;&lt; endl;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rc = pthread_create(&amp;threads[i], NULL, PrintHello, (void *)i);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if (rc) {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printf("Error:unable to create thread, %d\n", rc);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exit(-1);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}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}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pthread_exit(NULL);</a:t>
            </a:r>
            <a:endParaRPr/>
          </a:p>
          <a:p>
            <a:pPr indent="0" lvl="0" marL="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4" name="Google Shape;2534;p208"/>
          <p:cNvSpPr txBox="1"/>
          <p:nvPr/>
        </p:nvSpPr>
        <p:spPr>
          <a:xfrm>
            <a:off x="4910194" y="5877272"/>
            <a:ext cx="18002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Output ?</a:t>
            </a:r>
            <a:endParaRPr b="1"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8" name="Shape 2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9" name="Google Shape;2539;p209"/>
          <p:cNvSpPr txBox="1"/>
          <p:nvPr>
            <p:ph idx="1" type="body"/>
          </p:nvPr>
        </p:nvSpPr>
        <p:spPr>
          <a:xfrm>
            <a:off x="0" y="0"/>
            <a:ext cx="4800600" cy="6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#include &lt;iostream&gt;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#include &lt;stdlib&gt;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#include &lt;pthread.h&gt;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using namespace std;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#define NUM_THREADS 5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void *PrintHello(void *threadid) {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long tid;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tid = (long)threadid;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printf("Hello World! Thread ID, %d\n", tid);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pthread_exit(NULL);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}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int main () {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pthread_t threads[NUM_THREADS];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int rc;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int i;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for( i = 0; i &lt; NUM_THREADS; i++ ) {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cout &lt;&lt; "main() : creating thread, " &lt;&lt; i &lt;&lt; endl;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rc = pthread_create(&amp;threads[i], NULL, PrintHello, (void *)i);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if (rc) {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printf("Error:unable to create thread, %d\n", rc);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   exit(-1);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   }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}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   pthread_exit(NULL);</a:t>
            </a:r>
            <a:endParaRPr/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rPr lang="en-US" sz="1400"/>
              <a:t>}</a:t>
            </a:r>
            <a:endParaRPr sz="1100"/>
          </a:p>
        </p:txBody>
      </p:sp>
      <p:sp>
        <p:nvSpPr>
          <p:cNvPr id="2540" name="Google Shape;2540;p209"/>
          <p:cNvSpPr/>
          <p:nvPr/>
        </p:nvSpPr>
        <p:spPr>
          <a:xfrm>
            <a:off x="5022273" y="914400"/>
            <a:ext cx="3733800" cy="3459893"/>
          </a:xfrm>
          <a:prstGeom prst="rect">
            <a:avLst/>
          </a:prstGeom>
          <a:solidFill>
            <a:srgbClr val="E0E0E0"/>
          </a:solidFill>
          <a:ln>
            <a:noFill/>
          </a:ln>
        </p:spPr>
        <p:txBody>
          <a:bodyPr anchorCtr="0" anchor="ctr" bIns="8885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Output-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sz="16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main() : creating thread,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main() : creating thread,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main() : creating thread,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main() : creating thread,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main() : creating thread,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Hello World! Thread ID, 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Hello World! Thread ID, 1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Hello World! Thread ID, 2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Hello World! Thread ID, 3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Hello World! Thread ID, 4</a:t>
            </a:r>
            <a:endParaRPr b="0" i="0" sz="2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1" name="Google Shape;2541;p209"/>
          <p:cNvSpPr txBox="1"/>
          <p:nvPr/>
        </p:nvSpPr>
        <p:spPr>
          <a:xfrm>
            <a:off x="5022273" y="260648"/>
            <a:ext cx="293410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IDEAL?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5" name="Shape 2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6" name="Google Shape;2546;p210"/>
          <p:cNvSpPr txBox="1"/>
          <p:nvPr>
            <p:ph type="title"/>
          </p:nvPr>
        </p:nvSpPr>
        <p:spPr>
          <a:xfrm>
            <a:off x="2895600" y="-11987"/>
            <a:ext cx="6069360" cy="56066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US"/>
              <a:t>Sequence/No Sequence?</a:t>
            </a:r>
            <a:endParaRPr b="1"/>
          </a:p>
        </p:txBody>
      </p:sp>
      <p:sp>
        <p:nvSpPr>
          <p:cNvPr id="2547" name="Google Shape;2547;p2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548" name="Google Shape;2548;p2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0"/>
            <a:ext cx="2571750" cy="3573016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9" name="Google Shape;2549;p2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895600" y="980728"/>
            <a:ext cx="3200400" cy="3456384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0" name="Google Shape;2550;p2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2636912"/>
            <a:ext cx="3048000" cy="3652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4" name="Shape 2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5" name="Google Shape;2555;p211"/>
          <p:cNvSpPr txBox="1"/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Playing around with the Code</a:t>
            </a:r>
            <a:endParaRPr/>
          </a:p>
        </p:txBody>
      </p:sp>
      <p:pic>
        <p:nvPicPr>
          <p:cNvPr id="2556" name="Google Shape;2556;p211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14437" l="20380" r="34218" t="14701"/>
          <a:stretch/>
        </p:blipFill>
        <p:spPr>
          <a:xfrm>
            <a:off x="179512" y="836712"/>
            <a:ext cx="8712968" cy="5711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0" name="Shape 2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1" name="Google Shape;2561;p212"/>
          <p:cNvSpPr txBox="1"/>
          <p:nvPr>
            <p:ph type="title"/>
          </p:nvPr>
        </p:nvSpPr>
        <p:spPr>
          <a:xfrm>
            <a:off x="457200" y="274638"/>
            <a:ext cx="8229600" cy="41805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Playing around with the Code</a:t>
            </a:r>
            <a:endParaRPr/>
          </a:p>
        </p:txBody>
      </p:sp>
      <p:sp>
        <p:nvSpPr>
          <p:cNvPr id="2562" name="Google Shape;2562;p2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563" name="Google Shape;2563;p2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536" y="1556792"/>
            <a:ext cx="8424936" cy="4662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2020-06-30T15:25:15Z</dcterms:created>
  <dc:creator>Admin</dc:creator>
</cp:coreProperties>
</file>
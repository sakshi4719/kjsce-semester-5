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141"/>
  </p:notesMasterIdLst>
  <p:sldIdLst>
    <p:sldId id="256" r:id="rId3"/>
    <p:sldId id="261" r:id="rId4"/>
    <p:sldId id="287" r:id="rId5"/>
    <p:sldId id="262" r:id="rId6"/>
    <p:sldId id="267" r:id="rId7"/>
    <p:sldId id="268" r:id="rId8"/>
    <p:sldId id="271" r:id="rId9"/>
    <p:sldId id="288" r:id="rId10"/>
    <p:sldId id="277" r:id="rId11"/>
    <p:sldId id="279" r:id="rId12"/>
    <p:sldId id="278" r:id="rId13"/>
    <p:sldId id="281" r:id="rId14"/>
    <p:sldId id="516" r:id="rId15"/>
    <p:sldId id="282" r:id="rId16"/>
    <p:sldId id="295" r:id="rId17"/>
    <p:sldId id="285" r:id="rId18"/>
    <p:sldId id="520" r:id="rId19"/>
    <p:sldId id="521" r:id="rId20"/>
    <p:sldId id="522" r:id="rId21"/>
    <p:sldId id="350" r:id="rId22"/>
    <p:sldId id="340" r:id="rId23"/>
    <p:sldId id="517" r:id="rId24"/>
    <p:sldId id="518" r:id="rId25"/>
    <p:sldId id="519" r:id="rId26"/>
    <p:sldId id="562" r:id="rId27"/>
    <p:sldId id="559" r:id="rId28"/>
    <p:sldId id="560" r:id="rId29"/>
    <p:sldId id="561" r:id="rId30"/>
    <p:sldId id="349" r:id="rId31"/>
    <p:sldId id="523" r:id="rId32"/>
    <p:sldId id="524" r:id="rId33"/>
    <p:sldId id="542" r:id="rId34"/>
    <p:sldId id="543" r:id="rId35"/>
    <p:sldId id="525" r:id="rId36"/>
    <p:sldId id="544" r:id="rId37"/>
    <p:sldId id="528" r:id="rId38"/>
    <p:sldId id="529" r:id="rId39"/>
    <p:sldId id="534" r:id="rId40"/>
    <p:sldId id="535" r:id="rId41"/>
    <p:sldId id="530" r:id="rId42"/>
    <p:sldId id="531" r:id="rId43"/>
    <p:sldId id="532" r:id="rId44"/>
    <p:sldId id="533" r:id="rId45"/>
    <p:sldId id="536" r:id="rId46"/>
    <p:sldId id="537" r:id="rId47"/>
    <p:sldId id="538" r:id="rId48"/>
    <p:sldId id="539" r:id="rId49"/>
    <p:sldId id="540" r:id="rId50"/>
    <p:sldId id="541" r:id="rId51"/>
    <p:sldId id="526" r:id="rId52"/>
    <p:sldId id="545" r:id="rId53"/>
    <p:sldId id="546" r:id="rId54"/>
    <p:sldId id="548" r:id="rId55"/>
    <p:sldId id="549" r:id="rId56"/>
    <p:sldId id="556" r:id="rId57"/>
    <p:sldId id="557" r:id="rId58"/>
    <p:sldId id="558" r:id="rId59"/>
    <p:sldId id="550" r:id="rId60"/>
    <p:sldId id="551" r:id="rId61"/>
    <p:sldId id="552" r:id="rId62"/>
    <p:sldId id="563" r:id="rId63"/>
    <p:sldId id="564" r:id="rId64"/>
    <p:sldId id="565" r:id="rId65"/>
    <p:sldId id="566" r:id="rId66"/>
    <p:sldId id="553" r:id="rId67"/>
    <p:sldId id="554" r:id="rId68"/>
    <p:sldId id="555" r:id="rId69"/>
    <p:sldId id="392" r:id="rId70"/>
    <p:sldId id="382" r:id="rId71"/>
    <p:sldId id="380" r:id="rId72"/>
    <p:sldId id="398" r:id="rId73"/>
    <p:sldId id="400" r:id="rId74"/>
    <p:sldId id="399" r:id="rId75"/>
    <p:sldId id="401" r:id="rId76"/>
    <p:sldId id="394" r:id="rId77"/>
    <p:sldId id="403" r:id="rId78"/>
    <p:sldId id="404" r:id="rId79"/>
    <p:sldId id="567" r:id="rId80"/>
    <p:sldId id="574" r:id="rId81"/>
    <p:sldId id="575" r:id="rId82"/>
    <p:sldId id="576" r:id="rId83"/>
    <p:sldId id="577" r:id="rId84"/>
    <p:sldId id="578" r:id="rId85"/>
    <p:sldId id="579" r:id="rId86"/>
    <p:sldId id="580" r:id="rId87"/>
    <p:sldId id="581" r:id="rId88"/>
    <p:sldId id="582" r:id="rId89"/>
    <p:sldId id="568" r:id="rId90"/>
    <p:sldId id="569" r:id="rId91"/>
    <p:sldId id="570" r:id="rId92"/>
    <p:sldId id="571" r:id="rId93"/>
    <p:sldId id="583" r:id="rId94"/>
    <p:sldId id="572" r:id="rId95"/>
    <p:sldId id="573" r:id="rId96"/>
    <p:sldId id="584" r:id="rId97"/>
    <p:sldId id="430" r:id="rId98"/>
    <p:sldId id="505" r:id="rId99"/>
    <p:sldId id="587" r:id="rId100"/>
    <p:sldId id="588" r:id="rId101"/>
    <p:sldId id="585" r:id="rId102"/>
    <p:sldId id="586" r:id="rId103"/>
    <p:sldId id="431" r:id="rId104"/>
    <p:sldId id="511" r:id="rId105"/>
    <p:sldId id="512" r:id="rId106"/>
    <p:sldId id="513" r:id="rId107"/>
    <p:sldId id="514" r:id="rId108"/>
    <p:sldId id="589" r:id="rId109"/>
    <p:sldId id="435" r:id="rId110"/>
    <p:sldId id="591" r:id="rId111"/>
    <p:sldId id="590" r:id="rId112"/>
    <p:sldId id="593" r:id="rId113"/>
    <p:sldId id="462" r:id="rId114"/>
    <p:sldId id="465" r:id="rId115"/>
    <p:sldId id="468" r:id="rId116"/>
    <p:sldId id="515" r:id="rId117"/>
    <p:sldId id="469" r:id="rId118"/>
    <p:sldId id="486" r:id="rId119"/>
    <p:sldId id="492" r:id="rId120"/>
    <p:sldId id="466" r:id="rId121"/>
    <p:sldId id="470" r:id="rId122"/>
    <p:sldId id="487" r:id="rId123"/>
    <p:sldId id="471" r:id="rId124"/>
    <p:sldId id="482" r:id="rId125"/>
    <p:sldId id="473" r:id="rId126"/>
    <p:sldId id="474" r:id="rId127"/>
    <p:sldId id="594" r:id="rId128"/>
    <p:sldId id="595" r:id="rId129"/>
    <p:sldId id="597" r:id="rId130"/>
    <p:sldId id="598" r:id="rId131"/>
    <p:sldId id="504" r:id="rId132"/>
    <p:sldId id="478" r:id="rId133"/>
    <p:sldId id="479" r:id="rId134"/>
    <p:sldId id="475" r:id="rId135"/>
    <p:sldId id="488" r:id="rId136"/>
    <p:sldId id="476" r:id="rId137"/>
    <p:sldId id="480" r:id="rId138"/>
    <p:sldId id="477" r:id="rId139"/>
    <p:sldId id="481" r:id="rId1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412" autoAdjust="0"/>
    <p:restoredTop sz="94671" autoAdjust="0"/>
  </p:normalViewPr>
  <p:slideViewPr>
    <p:cSldViewPr snapToGrid="0">
      <p:cViewPr varScale="1">
        <p:scale>
          <a:sx n="61" d="100"/>
          <a:sy n="61" d="100"/>
        </p:scale>
        <p:origin x="-424"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124" Type="http://schemas.openxmlformats.org/officeDocument/2006/relationships/slide" Target="slides/slide122.xml"/><Relationship Id="rId129" Type="http://schemas.openxmlformats.org/officeDocument/2006/relationships/slide" Target="slides/slide127.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slide" Target="slides/slide138.xml"/><Relationship Id="rId14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C1B97F0-4B34-4CDC-A359-84A279ED7BAC}" type="datetimeFigureOut">
              <a:rPr lang="en-IN" smtClean="0"/>
              <a:t>11-11-2024</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E777D-BC6B-427D-9DEF-338C5E89032C}" type="slidenum">
              <a:rPr lang="en-IN" smtClean="0"/>
              <a:t>‹#›</a:t>
            </a:fld>
            <a:endParaRPr lang="en-IN"/>
          </a:p>
        </p:txBody>
      </p:sp>
    </p:spTree>
    <p:extLst>
      <p:ext uri="{BB962C8B-B14F-4D97-AF65-F5344CB8AC3E}">
        <p14:creationId xmlns:p14="http://schemas.microsoft.com/office/powerpoint/2010/main" val="3280404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4" name="Google Shape;644;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2" name="Google Shape;652;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0" name="Google Shape;660;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8" name="Google Shape;668;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8" name="Google Shape;668;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8" name="Google Shape;668;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8" name="Google Shape;668;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6" name="Google Shape;676;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6" name="Google Shape;676;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6" name="Google Shape;676;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4" name="Google Shape;684;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4" name="Google Shape;684;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2" name="Google Shape;692;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2" name="Google Shape;692;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8" name="Google Shape;708;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0" name="Google Shape;740;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6" name="Google Shape;716;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8" name="Google Shape;748;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6" name="Google Shape;756;p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4" name="Google Shape;764;p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2" name="Google Shape;772;p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5" name="Google Shape;785;p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p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E7A7C6-F1EC-4948-8DF5-52A8BE13A065}" type="datetime1">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382304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689816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EC32FF-4CFE-411C-9904-0068D10FB962}" type="datetime1">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191694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D2B755D-C9D9-4C1B-A028-28E61F2BD8E4}" type="datetime1">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892962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332A81-1D9E-4BC0-828D-51E4907279E0}" type="datetime1">
              <a:rPr lang="en-US" smtClean="0"/>
              <a:t>11/11/2024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4246048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2336C2-C583-47D9-BCD4-E904E9AB0FCF}" type="datetime1">
              <a:rPr lang="en-US" smtClean="0"/>
              <a:t>11/11/2024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3156709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429508-CB4A-4B5E-B70D-77FDF68B95C6}" type="datetime1">
              <a:rPr lang="en-US" smtClean="0"/>
              <a:t>11/11/2024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747013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C8A2D4-0847-4BBC-A12D-443E4E113A73}" type="datetime1">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695381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4E31E2-4323-4E22-91EF-781EBCC3EEAE}" type="datetime1">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352868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8C5043-46C1-431E-8FDD-991DCA02833D}" type="datetime1">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2666676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CE6BD0-54DB-4255-A620-D7B953755CCD}" type="datetime1">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5E5CB-9241-4665-889D-78B918CC363E}" type="slidenum">
              <a:rPr lang="en-US" smtClean="0"/>
              <a:t>‹#›</a:t>
            </a:fld>
            <a:endParaRPr lang="en-US"/>
          </a:p>
        </p:txBody>
      </p:sp>
    </p:spTree>
    <p:extLst>
      <p:ext uri="{BB962C8B-B14F-4D97-AF65-F5344CB8AC3E}">
        <p14:creationId xmlns:p14="http://schemas.microsoft.com/office/powerpoint/2010/main" val="1025960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7"/>
        <p:cNvGrpSpPr/>
        <p:nvPr/>
      </p:nvGrpSpPr>
      <p:grpSpPr>
        <a:xfrm>
          <a:off x="0" y="0"/>
          <a:ext cx="0" cy="0"/>
          <a:chOff x="0" y="0"/>
          <a:chExt cx="0" cy="0"/>
        </a:xfrm>
      </p:grpSpPr>
      <p:sp>
        <p:nvSpPr>
          <p:cNvPr id="28" name="Google Shape;28;p120"/>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CC949D6E-1829-4C27-8A8A-8E9EEC709A2E}" type="datetime1">
              <a:rPr lang="en-US" smtClean="0"/>
              <a:t>11/11/2024</a:t>
            </a:fld>
            <a:endParaRPr/>
          </a:p>
        </p:txBody>
      </p:sp>
      <p:sp>
        <p:nvSpPr>
          <p:cNvPr id="29" name="Google Shape;29;p120"/>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rgbClr val="000000"/>
                </a:solidFill>
                <a:latin typeface="Calibri"/>
                <a:ea typeface="Calibri"/>
                <a:cs typeface="Calibri"/>
                <a:sym typeface="Calibri"/>
              </a:defRPr>
            </a:lvl1pPr>
            <a:lvl2pPr marL="0" marR="0" lvl="1" indent="0" algn="l" rtl="0">
              <a:spcBef>
                <a:spcPts val="0"/>
              </a:spcBef>
              <a:buNone/>
              <a:defRPr sz="1800" b="0" i="0" u="none" strike="noStrike" cap="none">
                <a:solidFill>
                  <a:srgbClr val="000000"/>
                </a:solidFill>
                <a:latin typeface="Calibri"/>
                <a:ea typeface="Calibri"/>
                <a:cs typeface="Calibri"/>
                <a:sym typeface="Calibri"/>
              </a:defRPr>
            </a:lvl2pPr>
            <a:lvl3pPr marL="0" marR="0" lvl="2" indent="0" algn="l" rtl="0">
              <a:spcBef>
                <a:spcPts val="0"/>
              </a:spcBef>
              <a:buNone/>
              <a:defRPr sz="1800" b="0" i="0" u="none" strike="noStrike" cap="none">
                <a:solidFill>
                  <a:srgbClr val="000000"/>
                </a:solidFill>
                <a:latin typeface="Calibri"/>
                <a:ea typeface="Calibri"/>
                <a:cs typeface="Calibri"/>
                <a:sym typeface="Calibri"/>
              </a:defRPr>
            </a:lvl3pPr>
            <a:lvl4pPr marL="0" marR="0" lvl="3" indent="0" algn="l" rtl="0">
              <a:spcBef>
                <a:spcPts val="0"/>
              </a:spcBef>
              <a:buNone/>
              <a:defRPr sz="1800" b="0" i="0" u="none" strike="noStrike" cap="none">
                <a:solidFill>
                  <a:srgbClr val="000000"/>
                </a:solidFill>
                <a:latin typeface="Calibri"/>
                <a:ea typeface="Calibri"/>
                <a:cs typeface="Calibri"/>
                <a:sym typeface="Calibri"/>
              </a:defRPr>
            </a:lvl4pPr>
            <a:lvl5pPr marL="0" marR="0" lvl="4" indent="0" algn="l" rtl="0">
              <a:spcBef>
                <a:spcPts val="0"/>
              </a:spcBef>
              <a:buNone/>
              <a:defRPr sz="1800" b="0" i="0" u="none" strike="noStrike" cap="none">
                <a:solidFill>
                  <a:srgbClr val="000000"/>
                </a:solidFill>
                <a:latin typeface="Calibri"/>
                <a:ea typeface="Calibri"/>
                <a:cs typeface="Calibri"/>
                <a:sym typeface="Calibri"/>
              </a:defRPr>
            </a:lvl5pPr>
            <a:lvl6pPr marL="0" marR="0" lvl="5" indent="0" algn="l" rtl="0">
              <a:spcBef>
                <a:spcPts val="0"/>
              </a:spcBef>
              <a:buNone/>
              <a:defRPr sz="1800" b="0" i="0" u="none" strike="noStrike" cap="none">
                <a:solidFill>
                  <a:srgbClr val="000000"/>
                </a:solidFill>
                <a:latin typeface="Calibri"/>
                <a:ea typeface="Calibri"/>
                <a:cs typeface="Calibri"/>
                <a:sym typeface="Calibri"/>
              </a:defRPr>
            </a:lvl6pPr>
            <a:lvl7pPr marL="0" marR="0" lvl="6" indent="0" algn="l" rtl="0">
              <a:spcBef>
                <a:spcPts val="0"/>
              </a:spcBef>
              <a:buNone/>
              <a:defRPr sz="1800" b="0" i="0" u="none" strike="noStrike" cap="none">
                <a:solidFill>
                  <a:srgbClr val="000000"/>
                </a:solidFill>
                <a:latin typeface="Calibri"/>
                <a:ea typeface="Calibri"/>
                <a:cs typeface="Calibri"/>
                <a:sym typeface="Calibri"/>
              </a:defRPr>
            </a:lvl7pPr>
            <a:lvl8pPr marL="0" marR="0" lvl="7" indent="0" algn="l" rtl="0">
              <a:spcBef>
                <a:spcPts val="0"/>
              </a:spcBef>
              <a:buNone/>
              <a:defRPr sz="1800" b="0" i="0" u="none" strike="noStrike" cap="none">
                <a:solidFill>
                  <a:srgbClr val="000000"/>
                </a:solidFill>
                <a:latin typeface="Calibri"/>
                <a:ea typeface="Calibri"/>
                <a:cs typeface="Calibri"/>
                <a:sym typeface="Calibri"/>
              </a:defRPr>
            </a:lvl8pPr>
            <a:lvl9pPr marL="0" marR="0" lvl="8" indent="0" algn="l" rtl="0">
              <a:spcBef>
                <a:spcPts val="0"/>
              </a:spcBef>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30" name="Google Shape;30;p120"/>
          <p:cNvSpPr txBox="1">
            <a:spLocks noGrp="1"/>
          </p:cNvSpPr>
          <p:nvPr>
            <p:ph type="title"/>
          </p:nvPr>
        </p:nvSpPr>
        <p:spPr>
          <a:xfrm>
            <a:off x="1089765" y="214818"/>
            <a:ext cx="9870511" cy="87495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930B0B"/>
              </a:buClr>
              <a:buSzPts val="3600"/>
              <a:buFont typeface="Times New Roman"/>
              <a:buNone/>
              <a:defRPr sz="3600" b="0" i="0" u="none" strike="noStrike" cap="non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120"/>
          <p:cNvSpPr txBox="1">
            <a:spLocks noGrp="1"/>
          </p:cNvSpPr>
          <p:nvPr>
            <p:ph type="body" idx="1"/>
          </p:nvPr>
        </p:nvSpPr>
        <p:spPr>
          <a:xfrm>
            <a:off x="933339" y="1324630"/>
            <a:ext cx="109728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Calibri"/>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4231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Title Slide" type="title">
  <p:cSld name="1_Title Slide">
    <p:spTree>
      <p:nvGrpSpPr>
        <p:cNvPr id="1" name="Shape 24"/>
        <p:cNvGrpSpPr/>
        <p:nvPr/>
      </p:nvGrpSpPr>
      <p:grpSpPr>
        <a:xfrm>
          <a:off x="0" y="0"/>
          <a:ext cx="0" cy="0"/>
          <a:chOff x="0" y="0"/>
          <a:chExt cx="0" cy="0"/>
        </a:xfrm>
      </p:grpSpPr>
      <p:sp>
        <p:nvSpPr>
          <p:cNvPr id="25" name="Google Shape;25;p119"/>
          <p:cNvSpPr txBox="1">
            <a:spLocks noGrp="1"/>
          </p:cNvSpPr>
          <p:nvPr>
            <p:ph type="ctrTitle"/>
          </p:nvPr>
        </p:nvSpPr>
        <p:spPr>
          <a:xfrm>
            <a:off x="914400" y="2130432"/>
            <a:ext cx="10363200" cy="14700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119"/>
          <p:cNvSpPr txBox="1">
            <a:spLocks noGrp="1"/>
          </p:cNvSpPr>
          <p:nvPr>
            <p:ph type="subTitle" idx="1"/>
          </p:nvPr>
        </p:nvSpPr>
        <p:spPr>
          <a:xfrm>
            <a:off x="914400" y="3886200"/>
            <a:ext cx="9448800" cy="17526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Noto Sans Symbols"/>
              <a:buNone/>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376738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7"/>
        <p:cNvGrpSpPr/>
        <p:nvPr/>
      </p:nvGrpSpPr>
      <p:grpSpPr>
        <a:xfrm>
          <a:off x="0" y="0"/>
          <a:ext cx="0" cy="0"/>
          <a:chOff x="0" y="0"/>
          <a:chExt cx="0" cy="0"/>
        </a:xfrm>
      </p:grpSpPr>
      <p:sp>
        <p:nvSpPr>
          <p:cNvPr id="28" name="Google Shape;28;p120"/>
          <p:cNvSpPr txBox="1">
            <a:spLocks noGrp="1"/>
          </p:cNvSpPr>
          <p:nvPr>
            <p:ph type="dt" idx="10"/>
          </p:nvPr>
        </p:nvSpPr>
        <p:spPr>
          <a:xfrm>
            <a:off x="838200" y="6356358"/>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fld id="{379673E8-7C99-4AFB-B0B9-E3C384C0DA1E}" type="datetime1">
              <a:rPr lang="en-US" kern="0" smtClean="0">
                <a:solidFill>
                  <a:srgbClr val="000000"/>
                </a:solidFill>
              </a:rPr>
              <a:t>11/11/2024</a:t>
            </a:fld>
            <a:endParaRPr kern="0">
              <a:solidFill>
                <a:srgbClr val="000000"/>
              </a:solidFill>
            </a:endParaRPr>
          </a:p>
        </p:txBody>
      </p:sp>
      <p:sp>
        <p:nvSpPr>
          <p:cNvPr id="29" name="Google Shape;29;p120"/>
          <p:cNvSpPr txBox="1">
            <a:spLocks noGrp="1"/>
          </p:cNvSpPr>
          <p:nvPr>
            <p:ph type="sldNum" idx="12"/>
          </p:nvPr>
        </p:nvSpPr>
        <p:spPr>
          <a:xfrm>
            <a:off x="8610600" y="6356358"/>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rgbClr val="000000"/>
                </a:solidFill>
                <a:latin typeface="Calibri"/>
                <a:ea typeface="Calibri"/>
                <a:cs typeface="Calibri"/>
                <a:sym typeface="Calibri"/>
              </a:defRPr>
            </a:lvl1pPr>
            <a:lvl2pPr marL="0" marR="0" lvl="1" indent="0" algn="l" rtl="0">
              <a:spcBef>
                <a:spcPts val="0"/>
              </a:spcBef>
              <a:buNone/>
              <a:defRPr sz="1800" b="0" i="0" u="none" strike="noStrike" cap="none">
                <a:solidFill>
                  <a:srgbClr val="000000"/>
                </a:solidFill>
                <a:latin typeface="Calibri"/>
                <a:ea typeface="Calibri"/>
                <a:cs typeface="Calibri"/>
                <a:sym typeface="Calibri"/>
              </a:defRPr>
            </a:lvl2pPr>
            <a:lvl3pPr marL="0" marR="0" lvl="2" indent="0" algn="l" rtl="0">
              <a:spcBef>
                <a:spcPts val="0"/>
              </a:spcBef>
              <a:buNone/>
              <a:defRPr sz="1800" b="0" i="0" u="none" strike="noStrike" cap="none">
                <a:solidFill>
                  <a:srgbClr val="000000"/>
                </a:solidFill>
                <a:latin typeface="Calibri"/>
                <a:ea typeface="Calibri"/>
                <a:cs typeface="Calibri"/>
                <a:sym typeface="Calibri"/>
              </a:defRPr>
            </a:lvl3pPr>
            <a:lvl4pPr marL="0" marR="0" lvl="3" indent="0" algn="l" rtl="0">
              <a:spcBef>
                <a:spcPts val="0"/>
              </a:spcBef>
              <a:buNone/>
              <a:defRPr sz="1800" b="0" i="0" u="none" strike="noStrike" cap="none">
                <a:solidFill>
                  <a:srgbClr val="000000"/>
                </a:solidFill>
                <a:latin typeface="Calibri"/>
                <a:ea typeface="Calibri"/>
                <a:cs typeface="Calibri"/>
                <a:sym typeface="Calibri"/>
              </a:defRPr>
            </a:lvl4pPr>
            <a:lvl5pPr marL="0" marR="0" lvl="4" indent="0" algn="l" rtl="0">
              <a:spcBef>
                <a:spcPts val="0"/>
              </a:spcBef>
              <a:buNone/>
              <a:defRPr sz="1800" b="0" i="0" u="none" strike="noStrike" cap="none">
                <a:solidFill>
                  <a:srgbClr val="000000"/>
                </a:solidFill>
                <a:latin typeface="Calibri"/>
                <a:ea typeface="Calibri"/>
                <a:cs typeface="Calibri"/>
                <a:sym typeface="Calibri"/>
              </a:defRPr>
            </a:lvl5pPr>
            <a:lvl6pPr marL="0" marR="0" lvl="5" indent="0" algn="l" rtl="0">
              <a:spcBef>
                <a:spcPts val="0"/>
              </a:spcBef>
              <a:buNone/>
              <a:defRPr sz="1800" b="0" i="0" u="none" strike="noStrike" cap="none">
                <a:solidFill>
                  <a:srgbClr val="000000"/>
                </a:solidFill>
                <a:latin typeface="Calibri"/>
                <a:ea typeface="Calibri"/>
                <a:cs typeface="Calibri"/>
                <a:sym typeface="Calibri"/>
              </a:defRPr>
            </a:lvl6pPr>
            <a:lvl7pPr marL="0" marR="0" lvl="6" indent="0" algn="l" rtl="0">
              <a:spcBef>
                <a:spcPts val="0"/>
              </a:spcBef>
              <a:buNone/>
              <a:defRPr sz="1800" b="0" i="0" u="none" strike="noStrike" cap="none">
                <a:solidFill>
                  <a:srgbClr val="000000"/>
                </a:solidFill>
                <a:latin typeface="Calibri"/>
                <a:ea typeface="Calibri"/>
                <a:cs typeface="Calibri"/>
                <a:sym typeface="Calibri"/>
              </a:defRPr>
            </a:lvl7pPr>
            <a:lvl8pPr marL="0" marR="0" lvl="7" indent="0" algn="l" rtl="0">
              <a:spcBef>
                <a:spcPts val="0"/>
              </a:spcBef>
              <a:buNone/>
              <a:defRPr sz="1800" b="0" i="0" u="none" strike="noStrike" cap="none">
                <a:solidFill>
                  <a:srgbClr val="000000"/>
                </a:solidFill>
                <a:latin typeface="Calibri"/>
                <a:ea typeface="Calibri"/>
                <a:cs typeface="Calibri"/>
                <a:sym typeface="Calibri"/>
              </a:defRPr>
            </a:lvl8pPr>
            <a:lvl9pPr marL="0" marR="0" lvl="8" indent="0" algn="l" rtl="0">
              <a:spcBef>
                <a:spcPts val="0"/>
              </a:spcBef>
              <a:buNone/>
              <a:defRPr sz="1800" b="0" i="0" u="none" strike="noStrike" cap="none">
                <a:solidFill>
                  <a:srgbClr val="000000"/>
                </a:solidFill>
                <a:latin typeface="Calibri"/>
                <a:ea typeface="Calibri"/>
                <a:cs typeface="Calibri"/>
                <a:sym typeface="Calibri"/>
              </a:defRPr>
            </a:lvl9pPr>
          </a:lstStyle>
          <a:p>
            <a:pPr defTabSz="914400">
              <a:buClr>
                <a:srgbClr val="000000"/>
              </a:buClr>
              <a:buFont typeface="Arial"/>
              <a:buNone/>
            </a:pPr>
            <a:fld id="{00000000-1234-1234-1234-123412341234}" type="slidenum">
              <a:rPr lang="en-US" kern="0"/>
              <a:pPr defTabSz="914400">
                <a:buClr>
                  <a:srgbClr val="000000"/>
                </a:buClr>
                <a:buFont typeface="Arial"/>
                <a:buNone/>
              </a:pPr>
              <a:t>‹#›</a:t>
            </a:fld>
            <a:endParaRPr kern="0"/>
          </a:p>
        </p:txBody>
      </p:sp>
      <p:sp>
        <p:nvSpPr>
          <p:cNvPr id="30" name="Google Shape;30;p120"/>
          <p:cNvSpPr txBox="1">
            <a:spLocks noGrp="1"/>
          </p:cNvSpPr>
          <p:nvPr>
            <p:ph type="title"/>
          </p:nvPr>
        </p:nvSpPr>
        <p:spPr>
          <a:xfrm>
            <a:off x="1089769" y="214824"/>
            <a:ext cx="9870511" cy="87495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930B0B"/>
              </a:buClr>
              <a:buSzPts val="3600"/>
              <a:buFont typeface="Times New Roman"/>
              <a:buNone/>
              <a:defRPr sz="3600" b="0" i="0" u="none" strike="noStrike" cap="non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120"/>
          <p:cNvSpPr txBox="1">
            <a:spLocks noGrp="1"/>
          </p:cNvSpPr>
          <p:nvPr>
            <p:ph type="body" idx="1"/>
          </p:nvPr>
        </p:nvSpPr>
        <p:spPr>
          <a:xfrm>
            <a:off x="933339" y="1324633"/>
            <a:ext cx="109728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Calibri"/>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0329454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2"/>
        <p:cNvGrpSpPr/>
        <p:nvPr/>
      </p:nvGrpSpPr>
      <p:grpSpPr>
        <a:xfrm>
          <a:off x="0" y="0"/>
          <a:ext cx="0" cy="0"/>
          <a:chOff x="0" y="0"/>
          <a:chExt cx="0" cy="0"/>
        </a:xfrm>
      </p:grpSpPr>
      <p:sp>
        <p:nvSpPr>
          <p:cNvPr id="33" name="Google Shape;33;p121"/>
          <p:cNvSpPr txBox="1">
            <a:spLocks noGrp="1"/>
          </p:cNvSpPr>
          <p:nvPr>
            <p:ph type="title"/>
          </p:nvPr>
        </p:nvSpPr>
        <p:spPr>
          <a:xfrm>
            <a:off x="838200" y="365129"/>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4" name="Google Shape;34;p121"/>
          <p:cNvSpPr txBox="1">
            <a:spLocks noGrp="1"/>
          </p:cNvSpPr>
          <p:nvPr>
            <p:ph type="dt" idx="10"/>
          </p:nvPr>
        </p:nvSpPr>
        <p:spPr>
          <a:xfrm>
            <a:off x="838200" y="6356358"/>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fld id="{BFB16A5E-1B99-4B22-8881-8C56B70CA062}" type="datetime1">
              <a:rPr lang="en-US" kern="0" smtClean="0">
                <a:solidFill>
                  <a:srgbClr val="000000"/>
                </a:solidFill>
              </a:rPr>
              <a:t>11/11/2024</a:t>
            </a:fld>
            <a:endParaRPr kern="0">
              <a:solidFill>
                <a:srgbClr val="000000"/>
              </a:solidFill>
            </a:endParaRPr>
          </a:p>
        </p:txBody>
      </p:sp>
      <p:sp>
        <p:nvSpPr>
          <p:cNvPr id="35" name="Google Shape;35;p121"/>
          <p:cNvSpPr txBox="1">
            <a:spLocks noGrp="1"/>
          </p:cNvSpPr>
          <p:nvPr>
            <p:ph type="ftr" idx="11"/>
          </p:nvPr>
        </p:nvSpPr>
        <p:spPr>
          <a:xfrm>
            <a:off x="4038600" y="6356358"/>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endParaRPr kern="0">
              <a:solidFill>
                <a:srgbClr val="000000"/>
              </a:solidFill>
            </a:endParaRPr>
          </a:p>
        </p:txBody>
      </p:sp>
      <p:sp>
        <p:nvSpPr>
          <p:cNvPr id="36" name="Google Shape;36;p121"/>
          <p:cNvSpPr txBox="1">
            <a:spLocks noGrp="1"/>
          </p:cNvSpPr>
          <p:nvPr>
            <p:ph type="sldNum" idx="12"/>
          </p:nvPr>
        </p:nvSpPr>
        <p:spPr>
          <a:xfrm>
            <a:off x="8610600" y="6356358"/>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000000"/>
                </a:solidFill>
                <a:latin typeface="Calibri"/>
                <a:ea typeface="Calibri"/>
                <a:cs typeface="Calibri"/>
                <a:sym typeface="Calibri"/>
              </a:defRPr>
            </a:lvl1pPr>
            <a:lvl2pPr marL="0" marR="0" lvl="1" indent="0" algn="l" rtl="0">
              <a:spcBef>
                <a:spcPts val="0"/>
              </a:spcBef>
              <a:buNone/>
              <a:defRPr sz="1800">
                <a:solidFill>
                  <a:srgbClr val="000000"/>
                </a:solidFill>
                <a:latin typeface="Calibri"/>
                <a:ea typeface="Calibri"/>
                <a:cs typeface="Calibri"/>
                <a:sym typeface="Calibri"/>
              </a:defRPr>
            </a:lvl2pPr>
            <a:lvl3pPr marL="0" marR="0" lvl="2" indent="0" algn="l" rtl="0">
              <a:spcBef>
                <a:spcPts val="0"/>
              </a:spcBef>
              <a:buNone/>
              <a:defRPr sz="1800">
                <a:solidFill>
                  <a:srgbClr val="000000"/>
                </a:solidFill>
                <a:latin typeface="Calibri"/>
                <a:ea typeface="Calibri"/>
                <a:cs typeface="Calibri"/>
                <a:sym typeface="Calibri"/>
              </a:defRPr>
            </a:lvl3pPr>
            <a:lvl4pPr marL="0" marR="0" lvl="3" indent="0" algn="l" rtl="0">
              <a:spcBef>
                <a:spcPts val="0"/>
              </a:spcBef>
              <a:buNone/>
              <a:defRPr sz="1800">
                <a:solidFill>
                  <a:srgbClr val="000000"/>
                </a:solidFill>
                <a:latin typeface="Calibri"/>
                <a:ea typeface="Calibri"/>
                <a:cs typeface="Calibri"/>
                <a:sym typeface="Calibri"/>
              </a:defRPr>
            </a:lvl4pPr>
            <a:lvl5pPr marL="0" marR="0" lvl="4" indent="0" algn="l" rtl="0">
              <a:spcBef>
                <a:spcPts val="0"/>
              </a:spcBef>
              <a:buNone/>
              <a:defRPr sz="1800">
                <a:solidFill>
                  <a:srgbClr val="000000"/>
                </a:solidFill>
                <a:latin typeface="Calibri"/>
                <a:ea typeface="Calibri"/>
                <a:cs typeface="Calibri"/>
                <a:sym typeface="Calibri"/>
              </a:defRPr>
            </a:lvl5pPr>
            <a:lvl6pPr marL="0" marR="0" lvl="5" indent="0" algn="l" rtl="0">
              <a:spcBef>
                <a:spcPts val="0"/>
              </a:spcBef>
              <a:buNone/>
              <a:defRPr sz="1800">
                <a:solidFill>
                  <a:srgbClr val="000000"/>
                </a:solidFill>
                <a:latin typeface="Calibri"/>
                <a:ea typeface="Calibri"/>
                <a:cs typeface="Calibri"/>
                <a:sym typeface="Calibri"/>
              </a:defRPr>
            </a:lvl6pPr>
            <a:lvl7pPr marL="0" marR="0" lvl="6" indent="0" algn="l" rtl="0">
              <a:spcBef>
                <a:spcPts val="0"/>
              </a:spcBef>
              <a:buNone/>
              <a:defRPr sz="1800">
                <a:solidFill>
                  <a:srgbClr val="000000"/>
                </a:solidFill>
                <a:latin typeface="Calibri"/>
                <a:ea typeface="Calibri"/>
                <a:cs typeface="Calibri"/>
                <a:sym typeface="Calibri"/>
              </a:defRPr>
            </a:lvl7pPr>
            <a:lvl8pPr marL="0" marR="0" lvl="7" indent="0" algn="l" rtl="0">
              <a:spcBef>
                <a:spcPts val="0"/>
              </a:spcBef>
              <a:buNone/>
              <a:defRPr sz="1800">
                <a:solidFill>
                  <a:srgbClr val="000000"/>
                </a:solidFill>
                <a:latin typeface="Calibri"/>
                <a:ea typeface="Calibri"/>
                <a:cs typeface="Calibri"/>
                <a:sym typeface="Calibri"/>
              </a:defRPr>
            </a:lvl8pPr>
            <a:lvl9pPr marL="0" marR="0" lvl="8" indent="0" algn="l" rtl="0">
              <a:spcBef>
                <a:spcPts val="0"/>
              </a:spcBef>
              <a:buNone/>
              <a:defRPr sz="1800">
                <a:solidFill>
                  <a:srgbClr val="000000"/>
                </a:solidFill>
                <a:latin typeface="Calibri"/>
                <a:ea typeface="Calibri"/>
                <a:cs typeface="Calibri"/>
                <a:sym typeface="Calibri"/>
              </a:defRPr>
            </a:lvl9pPr>
          </a:lstStyle>
          <a:p>
            <a:pPr defTabSz="914400">
              <a:buClr>
                <a:srgbClr val="000000"/>
              </a:buClr>
              <a:buFont typeface="Arial"/>
              <a:buNone/>
            </a:pPr>
            <a:fld id="{00000000-1234-1234-1234-123412341234}" type="slidenum">
              <a:rPr lang="en-US" kern="0"/>
              <a:pPr defTabSz="914400">
                <a:buClr>
                  <a:srgbClr val="000000"/>
                </a:buClr>
                <a:buFont typeface="Arial"/>
                <a:buNone/>
              </a:pPr>
              <a:t>‹#›</a:t>
            </a:fld>
            <a:endParaRPr kern="0"/>
          </a:p>
        </p:txBody>
      </p:sp>
    </p:spTree>
    <p:extLst>
      <p:ext uri="{BB962C8B-B14F-4D97-AF65-F5344CB8AC3E}">
        <p14:creationId xmlns:p14="http://schemas.microsoft.com/office/powerpoint/2010/main" val="34881252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wo Content" type="twoObj">
  <p:cSld name="1_Two Content">
    <p:spTree>
      <p:nvGrpSpPr>
        <p:cNvPr id="1" name="Shape 37"/>
        <p:cNvGrpSpPr/>
        <p:nvPr/>
      </p:nvGrpSpPr>
      <p:grpSpPr>
        <a:xfrm>
          <a:off x="0" y="0"/>
          <a:ext cx="0" cy="0"/>
          <a:chOff x="0" y="0"/>
          <a:chExt cx="0" cy="0"/>
        </a:xfrm>
      </p:grpSpPr>
      <p:sp>
        <p:nvSpPr>
          <p:cNvPr id="38" name="Google Shape;38;p12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9" name="Google Shape;39;p122"/>
          <p:cNvSpPr txBox="1">
            <a:spLocks noGrp="1"/>
          </p:cNvSpPr>
          <p:nvPr>
            <p:ph type="body" idx="1"/>
          </p:nvPr>
        </p:nvSpPr>
        <p:spPr>
          <a:xfrm>
            <a:off x="609600" y="1600206"/>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 name="Google Shape;40;p122"/>
          <p:cNvSpPr txBox="1">
            <a:spLocks noGrp="1"/>
          </p:cNvSpPr>
          <p:nvPr>
            <p:ph type="body" idx="2"/>
          </p:nvPr>
        </p:nvSpPr>
        <p:spPr>
          <a:xfrm>
            <a:off x="6197600" y="1600206"/>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1" name="Google Shape;41;p122"/>
          <p:cNvSpPr txBox="1">
            <a:spLocks noGrp="1"/>
          </p:cNvSpPr>
          <p:nvPr>
            <p:ph type="dt" idx="10"/>
          </p:nvPr>
        </p:nvSpPr>
        <p:spPr>
          <a:xfrm>
            <a:off x="609600" y="6356357"/>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fld id="{FE66D699-31BA-4A89-873D-3C9FB0493742}" type="datetime1">
              <a:rPr lang="en-US" kern="0" smtClean="0">
                <a:solidFill>
                  <a:srgbClr val="000000"/>
                </a:solidFill>
              </a:rPr>
              <a:t>11/11/2024</a:t>
            </a:fld>
            <a:endParaRPr kern="0">
              <a:solidFill>
                <a:srgbClr val="000000"/>
              </a:solidFill>
            </a:endParaRPr>
          </a:p>
        </p:txBody>
      </p:sp>
      <p:sp>
        <p:nvSpPr>
          <p:cNvPr id="42" name="Google Shape;42;p122"/>
          <p:cNvSpPr txBox="1">
            <a:spLocks noGrp="1"/>
          </p:cNvSpPr>
          <p:nvPr>
            <p:ph type="ftr" idx="11"/>
          </p:nvPr>
        </p:nvSpPr>
        <p:spPr>
          <a:xfrm>
            <a:off x="4165600" y="6356357"/>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endParaRPr kern="0">
              <a:solidFill>
                <a:srgbClr val="000000"/>
              </a:solidFill>
            </a:endParaRPr>
          </a:p>
        </p:txBody>
      </p:sp>
      <p:sp>
        <p:nvSpPr>
          <p:cNvPr id="43" name="Google Shape;43;p122"/>
          <p:cNvSpPr txBox="1">
            <a:spLocks noGrp="1"/>
          </p:cNvSpPr>
          <p:nvPr>
            <p:ph type="sldNum" idx="12"/>
          </p:nvPr>
        </p:nvSpPr>
        <p:spPr>
          <a:xfrm>
            <a:off x="8737600" y="6356357"/>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defTabSz="914400">
              <a:buClr>
                <a:srgbClr val="000000"/>
              </a:buClr>
              <a:buFont typeface="Arial"/>
              <a:buNone/>
            </a:pPr>
            <a:fld id="{00000000-1234-1234-1234-123412341234}" type="slidenum">
              <a:rPr lang="en-US" kern="0">
                <a:solidFill>
                  <a:srgbClr val="000000"/>
                </a:solidFill>
              </a:rPr>
              <a:pPr defTabSz="914400">
                <a:buClr>
                  <a:srgbClr val="000000"/>
                </a:buClr>
                <a:buFont typeface="Arial"/>
                <a:buNone/>
              </a:pPr>
              <a:t>‹#›</a:t>
            </a:fld>
            <a:endParaRPr kern="0">
              <a:solidFill>
                <a:srgbClr val="000000"/>
              </a:solidFill>
            </a:endParaRPr>
          </a:p>
        </p:txBody>
      </p:sp>
    </p:spTree>
    <p:extLst>
      <p:ext uri="{BB962C8B-B14F-4D97-AF65-F5344CB8AC3E}">
        <p14:creationId xmlns:p14="http://schemas.microsoft.com/office/powerpoint/2010/main" val="2741525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4"/>
        <p:cNvGrpSpPr/>
        <p:nvPr/>
      </p:nvGrpSpPr>
      <p:grpSpPr>
        <a:xfrm>
          <a:off x="0" y="0"/>
          <a:ext cx="0" cy="0"/>
          <a:chOff x="0" y="0"/>
          <a:chExt cx="0" cy="0"/>
        </a:xfrm>
      </p:grpSpPr>
      <p:sp>
        <p:nvSpPr>
          <p:cNvPr id="45" name="Google Shape;45;p123"/>
          <p:cNvSpPr txBox="1">
            <a:spLocks noGrp="1"/>
          </p:cNvSpPr>
          <p:nvPr>
            <p:ph type="title"/>
          </p:nvPr>
        </p:nvSpPr>
        <p:spPr>
          <a:xfrm>
            <a:off x="831851" y="1709746"/>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6" name="Google Shape;46;p123"/>
          <p:cNvSpPr txBox="1">
            <a:spLocks noGrp="1"/>
          </p:cNvSpPr>
          <p:nvPr>
            <p:ph type="body" idx="1"/>
          </p:nvPr>
        </p:nvSpPr>
        <p:spPr>
          <a:xfrm>
            <a:off x="831851" y="4589471"/>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47" name="Google Shape;47;p123"/>
          <p:cNvSpPr txBox="1">
            <a:spLocks noGrp="1"/>
          </p:cNvSpPr>
          <p:nvPr>
            <p:ph type="dt" idx="10"/>
          </p:nvPr>
        </p:nvSpPr>
        <p:spPr>
          <a:xfrm>
            <a:off x="838200" y="6356358"/>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fld id="{0D4366C3-CD87-486D-BDFF-C5EFB3D1F862}" type="datetime1">
              <a:rPr lang="en-US" kern="0" smtClean="0">
                <a:solidFill>
                  <a:srgbClr val="000000"/>
                </a:solidFill>
              </a:rPr>
              <a:t>11/11/2024</a:t>
            </a:fld>
            <a:endParaRPr kern="0">
              <a:solidFill>
                <a:srgbClr val="000000"/>
              </a:solidFill>
            </a:endParaRPr>
          </a:p>
        </p:txBody>
      </p:sp>
      <p:sp>
        <p:nvSpPr>
          <p:cNvPr id="48" name="Google Shape;48;p123"/>
          <p:cNvSpPr txBox="1">
            <a:spLocks noGrp="1"/>
          </p:cNvSpPr>
          <p:nvPr>
            <p:ph type="ftr" idx="11"/>
          </p:nvPr>
        </p:nvSpPr>
        <p:spPr>
          <a:xfrm>
            <a:off x="4038600" y="6356358"/>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endParaRPr kern="0">
              <a:solidFill>
                <a:srgbClr val="000000"/>
              </a:solidFill>
            </a:endParaRPr>
          </a:p>
        </p:txBody>
      </p:sp>
      <p:sp>
        <p:nvSpPr>
          <p:cNvPr id="49" name="Google Shape;49;p123"/>
          <p:cNvSpPr txBox="1">
            <a:spLocks noGrp="1"/>
          </p:cNvSpPr>
          <p:nvPr>
            <p:ph type="sldNum" idx="12"/>
          </p:nvPr>
        </p:nvSpPr>
        <p:spPr>
          <a:xfrm>
            <a:off x="8610600" y="6356358"/>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000000"/>
                </a:solidFill>
                <a:latin typeface="Calibri"/>
                <a:ea typeface="Calibri"/>
                <a:cs typeface="Calibri"/>
                <a:sym typeface="Calibri"/>
              </a:defRPr>
            </a:lvl1pPr>
            <a:lvl2pPr marL="0" marR="0" lvl="1" indent="0" algn="l" rtl="0">
              <a:spcBef>
                <a:spcPts val="0"/>
              </a:spcBef>
              <a:buNone/>
              <a:defRPr sz="1800">
                <a:solidFill>
                  <a:srgbClr val="000000"/>
                </a:solidFill>
                <a:latin typeface="Calibri"/>
                <a:ea typeface="Calibri"/>
                <a:cs typeface="Calibri"/>
                <a:sym typeface="Calibri"/>
              </a:defRPr>
            </a:lvl2pPr>
            <a:lvl3pPr marL="0" marR="0" lvl="2" indent="0" algn="l" rtl="0">
              <a:spcBef>
                <a:spcPts val="0"/>
              </a:spcBef>
              <a:buNone/>
              <a:defRPr sz="1800">
                <a:solidFill>
                  <a:srgbClr val="000000"/>
                </a:solidFill>
                <a:latin typeface="Calibri"/>
                <a:ea typeface="Calibri"/>
                <a:cs typeface="Calibri"/>
                <a:sym typeface="Calibri"/>
              </a:defRPr>
            </a:lvl3pPr>
            <a:lvl4pPr marL="0" marR="0" lvl="3" indent="0" algn="l" rtl="0">
              <a:spcBef>
                <a:spcPts val="0"/>
              </a:spcBef>
              <a:buNone/>
              <a:defRPr sz="1800">
                <a:solidFill>
                  <a:srgbClr val="000000"/>
                </a:solidFill>
                <a:latin typeface="Calibri"/>
                <a:ea typeface="Calibri"/>
                <a:cs typeface="Calibri"/>
                <a:sym typeface="Calibri"/>
              </a:defRPr>
            </a:lvl4pPr>
            <a:lvl5pPr marL="0" marR="0" lvl="4" indent="0" algn="l" rtl="0">
              <a:spcBef>
                <a:spcPts val="0"/>
              </a:spcBef>
              <a:buNone/>
              <a:defRPr sz="1800">
                <a:solidFill>
                  <a:srgbClr val="000000"/>
                </a:solidFill>
                <a:latin typeface="Calibri"/>
                <a:ea typeface="Calibri"/>
                <a:cs typeface="Calibri"/>
                <a:sym typeface="Calibri"/>
              </a:defRPr>
            </a:lvl5pPr>
            <a:lvl6pPr marL="0" marR="0" lvl="5" indent="0" algn="l" rtl="0">
              <a:spcBef>
                <a:spcPts val="0"/>
              </a:spcBef>
              <a:buNone/>
              <a:defRPr sz="1800">
                <a:solidFill>
                  <a:srgbClr val="000000"/>
                </a:solidFill>
                <a:latin typeface="Calibri"/>
                <a:ea typeface="Calibri"/>
                <a:cs typeface="Calibri"/>
                <a:sym typeface="Calibri"/>
              </a:defRPr>
            </a:lvl6pPr>
            <a:lvl7pPr marL="0" marR="0" lvl="6" indent="0" algn="l" rtl="0">
              <a:spcBef>
                <a:spcPts val="0"/>
              </a:spcBef>
              <a:buNone/>
              <a:defRPr sz="1800">
                <a:solidFill>
                  <a:srgbClr val="000000"/>
                </a:solidFill>
                <a:latin typeface="Calibri"/>
                <a:ea typeface="Calibri"/>
                <a:cs typeface="Calibri"/>
                <a:sym typeface="Calibri"/>
              </a:defRPr>
            </a:lvl7pPr>
            <a:lvl8pPr marL="0" marR="0" lvl="7" indent="0" algn="l" rtl="0">
              <a:spcBef>
                <a:spcPts val="0"/>
              </a:spcBef>
              <a:buNone/>
              <a:defRPr sz="1800">
                <a:solidFill>
                  <a:srgbClr val="000000"/>
                </a:solidFill>
                <a:latin typeface="Calibri"/>
                <a:ea typeface="Calibri"/>
                <a:cs typeface="Calibri"/>
                <a:sym typeface="Calibri"/>
              </a:defRPr>
            </a:lvl8pPr>
            <a:lvl9pPr marL="0" marR="0" lvl="8" indent="0" algn="l" rtl="0">
              <a:spcBef>
                <a:spcPts val="0"/>
              </a:spcBef>
              <a:buNone/>
              <a:defRPr sz="1800">
                <a:solidFill>
                  <a:srgbClr val="000000"/>
                </a:solidFill>
                <a:latin typeface="Calibri"/>
                <a:ea typeface="Calibri"/>
                <a:cs typeface="Calibri"/>
                <a:sym typeface="Calibri"/>
              </a:defRPr>
            </a:lvl9pPr>
          </a:lstStyle>
          <a:p>
            <a:pPr defTabSz="914400">
              <a:buClr>
                <a:srgbClr val="000000"/>
              </a:buClr>
              <a:buFont typeface="Arial"/>
              <a:buNone/>
            </a:pPr>
            <a:fld id="{00000000-1234-1234-1234-123412341234}" type="slidenum">
              <a:rPr lang="en-US" kern="0"/>
              <a:pPr defTabSz="914400">
                <a:buClr>
                  <a:srgbClr val="000000"/>
                </a:buClr>
                <a:buFont typeface="Arial"/>
                <a:buNone/>
              </a:pPr>
              <a:t>‹#›</a:t>
            </a:fld>
            <a:endParaRPr kern="0"/>
          </a:p>
        </p:txBody>
      </p:sp>
    </p:spTree>
    <p:extLst>
      <p:ext uri="{BB962C8B-B14F-4D97-AF65-F5344CB8AC3E}">
        <p14:creationId xmlns:p14="http://schemas.microsoft.com/office/powerpoint/2010/main" val="18442401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0"/>
        <p:cNvGrpSpPr/>
        <p:nvPr/>
      </p:nvGrpSpPr>
      <p:grpSpPr>
        <a:xfrm>
          <a:off x="0" y="0"/>
          <a:ext cx="0" cy="0"/>
          <a:chOff x="0" y="0"/>
          <a:chExt cx="0" cy="0"/>
        </a:xfrm>
      </p:grpSpPr>
      <p:sp>
        <p:nvSpPr>
          <p:cNvPr id="51" name="Google Shape;51;p124"/>
          <p:cNvSpPr txBox="1">
            <a:spLocks noGrp="1"/>
          </p:cNvSpPr>
          <p:nvPr>
            <p:ph type="dt" idx="10"/>
          </p:nvPr>
        </p:nvSpPr>
        <p:spPr>
          <a:xfrm>
            <a:off x="838200" y="6356358"/>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fld id="{CAE6EE26-2DF1-4644-9C20-E6CA51934B7A}" type="datetime1">
              <a:rPr lang="en-US" kern="0" smtClean="0">
                <a:solidFill>
                  <a:srgbClr val="000000"/>
                </a:solidFill>
              </a:rPr>
              <a:t>11/11/2024</a:t>
            </a:fld>
            <a:endParaRPr kern="0">
              <a:solidFill>
                <a:srgbClr val="000000"/>
              </a:solidFill>
            </a:endParaRPr>
          </a:p>
        </p:txBody>
      </p:sp>
      <p:sp>
        <p:nvSpPr>
          <p:cNvPr id="52" name="Google Shape;52;p124"/>
          <p:cNvSpPr txBox="1">
            <a:spLocks noGrp="1"/>
          </p:cNvSpPr>
          <p:nvPr>
            <p:ph type="ftr" idx="11"/>
          </p:nvPr>
        </p:nvSpPr>
        <p:spPr>
          <a:xfrm>
            <a:off x="4038600" y="6356358"/>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endParaRPr kern="0">
              <a:solidFill>
                <a:srgbClr val="000000"/>
              </a:solidFill>
            </a:endParaRPr>
          </a:p>
        </p:txBody>
      </p:sp>
      <p:sp>
        <p:nvSpPr>
          <p:cNvPr id="53" name="Google Shape;53;p124"/>
          <p:cNvSpPr txBox="1">
            <a:spLocks noGrp="1"/>
          </p:cNvSpPr>
          <p:nvPr>
            <p:ph type="sldNum" idx="12"/>
          </p:nvPr>
        </p:nvSpPr>
        <p:spPr>
          <a:xfrm>
            <a:off x="8610600" y="6356358"/>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000000"/>
                </a:solidFill>
                <a:latin typeface="Calibri"/>
                <a:ea typeface="Calibri"/>
                <a:cs typeface="Calibri"/>
                <a:sym typeface="Calibri"/>
              </a:defRPr>
            </a:lvl1pPr>
            <a:lvl2pPr marL="0" marR="0" lvl="1" indent="0" algn="l" rtl="0">
              <a:spcBef>
                <a:spcPts val="0"/>
              </a:spcBef>
              <a:buNone/>
              <a:defRPr sz="1800">
                <a:solidFill>
                  <a:srgbClr val="000000"/>
                </a:solidFill>
                <a:latin typeface="Calibri"/>
                <a:ea typeface="Calibri"/>
                <a:cs typeface="Calibri"/>
                <a:sym typeface="Calibri"/>
              </a:defRPr>
            </a:lvl2pPr>
            <a:lvl3pPr marL="0" marR="0" lvl="2" indent="0" algn="l" rtl="0">
              <a:spcBef>
                <a:spcPts val="0"/>
              </a:spcBef>
              <a:buNone/>
              <a:defRPr sz="1800">
                <a:solidFill>
                  <a:srgbClr val="000000"/>
                </a:solidFill>
                <a:latin typeface="Calibri"/>
                <a:ea typeface="Calibri"/>
                <a:cs typeface="Calibri"/>
                <a:sym typeface="Calibri"/>
              </a:defRPr>
            </a:lvl3pPr>
            <a:lvl4pPr marL="0" marR="0" lvl="3" indent="0" algn="l" rtl="0">
              <a:spcBef>
                <a:spcPts val="0"/>
              </a:spcBef>
              <a:buNone/>
              <a:defRPr sz="1800">
                <a:solidFill>
                  <a:srgbClr val="000000"/>
                </a:solidFill>
                <a:latin typeface="Calibri"/>
                <a:ea typeface="Calibri"/>
                <a:cs typeface="Calibri"/>
                <a:sym typeface="Calibri"/>
              </a:defRPr>
            </a:lvl4pPr>
            <a:lvl5pPr marL="0" marR="0" lvl="4" indent="0" algn="l" rtl="0">
              <a:spcBef>
                <a:spcPts val="0"/>
              </a:spcBef>
              <a:buNone/>
              <a:defRPr sz="1800">
                <a:solidFill>
                  <a:srgbClr val="000000"/>
                </a:solidFill>
                <a:latin typeface="Calibri"/>
                <a:ea typeface="Calibri"/>
                <a:cs typeface="Calibri"/>
                <a:sym typeface="Calibri"/>
              </a:defRPr>
            </a:lvl5pPr>
            <a:lvl6pPr marL="0" marR="0" lvl="5" indent="0" algn="l" rtl="0">
              <a:spcBef>
                <a:spcPts val="0"/>
              </a:spcBef>
              <a:buNone/>
              <a:defRPr sz="1800">
                <a:solidFill>
                  <a:srgbClr val="000000"/>
                </a:solidFill>
                <a:latin typeface="Calibri"/>
                <a:ea typeface="Calibri"/>
                <a:cs typeface="Calibri"/>
                <a:sym typeface="Calibri"/>
              </a:defRPr>
            </a:lvl6pPr>
            <a:lvl7pPr marL="0" marR="0" lvl="6" indent="0" algn="l" rtl="0">
              <a:spcBef>
                <a:spcPts val="0"/>
              </a:spcBef>
              <a:buNone/>
              <a:defRPr sz="1800">
                <a:solidFill>
                  <a:srgbClr val="000000"/>
                </a:solidFill>
                <a:latin typeface="Calibri"/>
                <a:ea typeface="Calibri"/>
                <a:cs typeface="Calibri"/>
                <a:sym typeface="Calibri"/>
              </a:defRPr>
            </a:lvl7pPr>
            <a:lvl8pPr marL="0" marR="0" lvl="7" indent="0" algn="l" rtl="0">
              <a:spcBef>
                <a:spcPts val="0"/>
              </a:spcBef>
              <a:buNone/>
              <a:defRPr sz="1800">
                <a:solidFill>
                  <a:srgbClr val="000000"/>
                </a:solidFill>
                <a:latin typeface="Calibri"/>
                <a:ea typeface="Calibri"/>
                <a:cs typeface="Calibri"/>
                <a:sym typeface="Calibri"/>
              </a:defRPr>
            </a:lvl8pPr>
            <a:lvl9pPr marL="0" marR="0" lvl="8" indent="0" algn="l" rtl="0">
              <a:spcBef>
                <a:spcPts val="0"/>
              </a:spcBef>
              <a:buNone/>
              <a:defRPr sz="1800">
                <a:solidFill>
                  <a:srgbClr val="000000"/>
                </a:solidFill>
                <a:latin typeface="Calibri"/>
                <a:ea typeface="Calibri"/>
                <a:cs typeface="Calibri"/>
                <a:sym typeface="Calibri"/>
              </a:defRPr>
            </a:lvl9pPr>
          </a:lstStyle>
          <a:p>
            <a:pPr defTabSz="914400">
              <a:buClr>
                <a:srgbClr val="000000"/>
              </a:buClr>
              <a:buFont typeface="Arial"/>
              <a:buNone/>
            </a:pPr>
            <a:fld id="{00000000-1234-1234-1234-123412341234}" type="slidenum">
              <a:rPr lang="en-US" kern="0"/>
              <a:pPr defTabSz="914400">
                <a:buClr>
                  <a:srgbClr val="000000"/>
                </a:buClr>
                <a:buFont typeface="Arial"/>
                <a:buNone/>
              </a:pPr>
              <a:t>‹#›</a:t>
            </a:fld>
            <a:endParaRPr kern="0"/>
          </a:p>
        </p:txBody>
      </p:sp>
      <p:sp>
        <p:nvSpPr>
          <p:cNvPr id="54" name="Google Shape;54;p124"/>
          <p:cNvSpPr txBox="1">
            <a:spLocks noGrp="1"/>
          </p:cNvSpPr>
          <p:nvPr>
            <p:ph type="body" idx="1"/>
          </p:nvPr>
        </p:nvSpPr>
        <p:spPr>
          <a:xfrm>
            <a:off x="971977" y="1324633"/>
            <a:ext cx="109728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Calibri"/>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6660463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55"/>
        <p:cNvGrpSpPr/>
        <p:nvPr/>
      </p:nvGrpSpPr>
      <p:grpSpPr>
        <a:xfrm>
          <a:off x="0" y="0"/>
          <a:ext cx="0" cy="0"/>
          <a:chOff x="0" y="0"/>
          <a:chExt cx="0" cy="0"/>
        </a:xfrm>
      </p:grpSpPr>
    </p:spTree>
    <p:extLst>
      <p:ext uri="{BB962C8B-B14F-4D97-AF65-F5344CB8AC3E}">
        <p14:creationId xmlns:p14="http://schemas.microsoft.com/office/powerpoint/2010/main" val="34230305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6"/>
        <p:cNvGrpSpPr/>
        <p:nvPr/>
      </p:nvGrpSpPr>
      <p:grpSpPr>
        <a:xfrm>
          <a:off x="0" y="0"/>
          <a:ext cx="0" cy="0"/>
          <a:chOff x="0" y="0"/>
          <a:chExt cx="0" cy="0"/>
        </a:xfrm>
      </p:grpSpPr>
      <p:sp>
        <p:nvSpPr>
          <p:cNvPr id="57" name="Google Shape;57;p126"/>
          <p:cNvSpPr txBox="1">
            <a:spLocks noGrp="1"/>
          </p:cNvSpPr>
          <p:nvPr>
            <p:ph type="title"/>
          </p:nvPr>
        </p:nvSpPr>
        <p:spPr>
          <a:xfrm>
            <a:off x="1089769" y="214824"/>
            <a:ext cx="9870511" cy="87495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930B0B"/>
              </a:buClr>
              <a:buSzPts val="3600"/>
              <a:buFont typeface="Times New Roman"/>
              <a:buNone/>
              <a:defRPr sz="3600" b="0" i="0" u="none" strike="noStrike" cap="non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8" name="Google Shape;58;p126"/>
          <p:cNvSpPr txBox="1">
            <a:spLocks noGrp="1"/>
          </p:cNvSpPr>
          <p:nvPr>
            <p:ph type="body" idx="1"/>
          </p:nvPr>
        </p:nvSpPr>
        <p:spPr>
          <a:xfrm>
            <a:off x="873827" y="1189973"/>
            <a:ext cx="10997852" cy="489930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35280" algn="l" rtl="0">
              <a:lnSpc>
                <a:spcPct val="90000"/>
              </a:lnSpc>
              <a:spcBef>
                <a:spcPts val="500"/>
              </a:spcBef>
              <a:spcAft>
                <a:spcPts val="0"/>
              </a:spcAft>
              <a:buClr>
                <a:srgbClr val="C55A11"/>
              </a:buClr>
              <a:buSzPts val="168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17500" algn="l" rtl="0">
              <a:lnSpc>
                <a:spcPct val="90000"/>
              </a:lnSpc>
              <a:spcBef>
                <a:spcPts val="500"/>
              </a:spcBef>
              <a:spcAft>
                <a:spcPts val="0"/>
              </a:spcAft>
              <a:buClr>
                <a:srgbClr val="8D4427"/>
              </a:buClr>
              <a:buSzPts val="14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2439694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59"/>
        <p:cNvGrpSpPr/>
        <p:nvPr/>
      </p:nvGrpSpPr>
      <p:grpSpPr>
        <a:xfrm>
          <a:off x="0" y="0"/>
          <a:ext cx="0" cy="0"/>
          <a:chOff x="0" y="0"/>
          <a:chExt cx="0" cy="0"/>
        </a:xfrm>
      </p:grpSpPr>
      <p:sp>
        <p:nvSpPr>
          <p:cNvPr id="60" name="Google Shape;60;p127"/>
          <p:cNvSpPr txBox="1">
            <a:spLocks noGrp="1"/>
          </p:cNvSpPr>
          <p:nvPr>
            <p:ph type="title"/>
          </p:nvPr>
        </p:nvSpPr>
        <p:spPr>
          <a:xfrm>
            <a:off x="839788" y="365129"/>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1" name="Google Shape;61;p127"/>
          <p:cNvSpPr txBox="1">
            <a:spLocks noGrp="1"/>
          </p:cNvSpPr>
          <p:nvPr>
            <p:ph type="body" idx="1"/>
          </p:nvPr>
        </p:nvSpPr>
        <p:spPr>
          <a:xfrm>
            <a:off x="908769" y="1606006"/>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2" name="Google Shape;62;p127"/>
          <p:cNvSpPr txBox="1">
            <a:spLocks noGrp="1"/>
          </p:cNvSpPr>
          <p:nvPr>
            <p:ph type="body" idx="2"/>
          </p:nvPr>
        </p:nvSpPr>
        <p:spPr>
          <a:xfrm>
            <a:off x="1071605"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3" name="Google Shape;63;p127"/>
          <p:cNvSpPr txBox="1">
            <a:spLocks noGrp="1"/>
          </p:cNvSpPr>
          <p:nvPr>
            <p:ph type="body" idx="3"/>
          </p:nvPr>
        </p:nvSpPr>
        <p:spPr>
          <a:xfrm>
            <a:off x="6404019"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4" name="Google Shape;64;p127"/>
          <p:cNvSpPr txBox="1">
            <a:spLocks noGrp="1"/>
          </p:cNvSpPr>
          <p:nvPr>
            <p:ph type="body" idx="4"/>
          </p:nvPr>
        </p:nvSpPr>
        <p:spPr>
          <a:xfrm>
            <a:off x="6404019"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5" name="Google Shape;65;p127"/>
          <p:cNvSpPr txBox="1">
            <a:spLocks noGrp="1"/>
          </p:cNvSpPr>
          <p:nvPr>
            <p:ph type="dt" idx="10"/>
          </p:nvPr>
        </p:nvSpPr>
        <p:spPr>
          <a:xfrm>
            <a:off x="838200" y="6356358"/>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fld id="{ABA9B3BA-4954-440F-807F-F98A6A78D0DF}" type="datetime1">
              <a:rPr lang="en-US" kern="0" smtClean="0">
                <a:solidFill>
                  <a:srgbClr val="000000"/>
                </a:solidFill>
              </a:rPr>
              <a:t>11/11/2024</a:t>
            </a:fld>
            <a:endParaRPr kern="0">
              <a:solidFill>
                <a:srgbClr val="000000"/>
              </a:solidFill>
            </a:endParaRPr>
          </a:p>
        </p:txBody>
      </p:sp>
      <p:sp>
        <p:nvSpPr>
          <p:cNvPr id="66" name="Google Shape;66;p127"/>
          <p:cNvSpPr txBox="1">
            <a:spLocks noGrp="1"/>
          </p:cNvSpPr>
          <p:nvPr>
            <p:ph type="ftr" idx="11"/>
          </p:nvPr>
        </p:nvSpPr>
        <p:spPr>
          <a:xfrm>
            <a:off x="4038600" y="6356358"/>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endParaRPr kern="0">
              <a:solidFill>
                <a:srgbClr val="000000"/>
              </a:solidFill>
            </a:endParaRPr>
          </a:p>
        </p:txBody>
      </p:sp>
      <p:sp>
        <p:nvSpPr>
          <p:cNvPr id="67" name="Google Shape;67;p127"/>
          <p:cNvSpPr txBox="1">
            <a:spLocks noGrp="1"/>
          </p:cNvSpPr>
          <p:nvPr>
            <p:ph type="sldNum" idx="12"/>
          </p:nvPr>
        </p:nvSpPr>
        <p:spPr>
          <a:xfrm>
            <a:off x="8610600" y="6356358"/>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000000"/>
                </a:solidFill>
                <a:latin typeface="Calibri"/>
                <a:ea typeface="Calibri"/>
                <a:cs typeface="Calibri"/>
                <a:sym typeface="Calibri"/>
              </a:defRPr>
            </a:lvl1pPr>
            <a:lvl2pPr marL="0" marR="0" lvl="1" indent="0" algn="l" rtl="0">
              <a:spcBef>
                <a:spcPts val="0"/>
              </a:spcBef>
              <a:buNone/>
              <a:defRPr sz="1800">
                <a:solidFill>
                  <a:srgbClr val="000000"/>
                </a:solidFill>
                <a:latin typeface="Calibri"/>
                <a:ea typeface="Calibri"/>
                <a:cs typeface="Calibri"/>
                <a:sym typeface="Calibri"/>
              </a:defRPr>
            </a:lvl2pPr>
            <a:lvl3pPr marL="0" marR="0" lvl="2" indent="0" algn="l" rtl="0">
              <a:spcBef>
                <a:spcPts val="0"/>
              </a:spcBef>
              <a:buNone/>
              <a:defRPr sz="1800">
                <a:solidFill>
                  <a:srgbClr val="000000"/>
                </a:solidFill>
                <a:latin typeface="Calibri"/>
                <a:ea typeface="Calibri"/>
                <a:cs typeface="Calibri"/>
                <a:sym typeface="Calibri"/>
              </a:defRPr>
            </a:lvl3pPr>
            <a:lvl4pPr marL="0" marR="0" lvl="3" indent="0" algn="l" rtl="0">
              <a:spcBef>
                <a:spcPts val="0"/>
              </a:spcBef>
              <a:buNone/>
              <a:defRPr sz="1800">
                <a:solidFill>
                  <a:srgbClr val="000000"/>
                </a:solidFill>
                <a:latin typeface="Calibri"/>
                <a:ea typeface="Calibri"/>
                <a:cs typeface="Calibri"/>
                <a:sym typeface="Calibri"/>
              </a:defRPr>
            </a:lvl4pPr>
            <a:lvl5pPr marL="0" marR="0" lvl="4" indent="0" algn="l" rtl="0">
              <a:spcBef>
                <a:spcPts val="0"/>
              </a:spcBef>
              <a:buNone/>
              <a:defRPr sz="1800">
                <a:solidFill>
                  <a:srgbClr val="000000"/>
                </a:solidFill>
                <a:latin typeface="Calibri"/>
                <a:ea typeface="Calibri"/>
                <a:cs typeface="Calibri"/>
                <a:sym typeface="Calibri"/>
              </a:defRPr>
            </a:lvl5pPr>
            <a:lvl6pPr marL="0" marR="0" lvl="5" indent="0" algn="l" rtl="0">
              <a:spcBef>
                <a:spcPts val="0"/>
              </a:spcBef>
              <a:buNone/>
              <a:defRPr sz="1800">
                <a:solidFill>
                  <a:srgbClr val="000000"/>
                </a:solidFill>
                <a:latin typeface="Calibri"/>
                <a:ea typeface="Calibri"/>
                <a:cs typeface="Calibri"/>
                <a:sym typeface="Calibri"/>
              </a:defRPr>
            </a:lvl6pPr>
            <a:lvl7pPr marL="0" marR="0" lvl="6" indent="0" algn="l" rtl="0">
              <a:spcBef>
                <a:spcPts val="0"/>
              </a:spcBef>
              <a:buNone/>
              <a:defRPr sz="1800">
                <a:solidFill>
                  <a:srgbClr val="000000"/>
                </a:solidFill>
                <a:latin typeface="Calibri"/>
                <a:ea typeface="Calibri"/>
                <a:cs typeface="Calibri"/>
                <a:sym typeface="Calibri"/>
              </a:defRPr>
            </a:lvl7pPr>
            <a:lvl8pPr marL="0" marR="0" lvl="7" indent="0" algn="l" rtl="0">
              <a:spcBef>
                <a:spcPts val="0"/>
              </a:spcBef>
              <a:buNone/>
              <a:defRPr sz="1800">
                <a:solidFill>
                  <a:srgbClr val="000000"/>
                </a:solidFill>
                <a:latin typeface="Calibri"/>
                <a:ea typeface="Calibri"/>
                <a:cs typeface="Calibri"/>
                <a:sym typeface="Calibri"/>
              </a:defRPr>
            </a:lvl8pPr>
            <a:lvl9pPr marL="0" marR="0" lvl="8" indent="0" algn="l" rtl="0">
              <a:spcBef>
                <a:spcPts val="0"/>
              </a:spcBef>
              <a:buNone/>
              <a:defRPr sz="1800">
                <a:solidFill>
                  <a:srgbClr val="000000"/>
                </a:solidFill>
                <a:latin typeface="Calibri"/>
                <a:ea typeface="Calibri"/>
                <a:cs typeface="Calibri"/>
                <a:sym typeface="Calibri"/>
              </a:defRPr>
            </a:lvl9pPr>
          </a:lstStyle>
          <a:p>
            <a:pPr defTabSz="914400">
              <a:buClr>
                <a:srgbClr val="000000"/>
              </a:buClr>
              <a:buFont typeface="Arial"/>
              <a:buNone/>
            </a:pPr>
            <a:fld id="{00000000-1234-1234-1234-123412341234}" type="slidenum">
              <a:rPr lang="en-US" kern="0"/>
              <a:pPr defTabSz="914400">
                <a:buClr>
                  <a:srgbClr val="000000"/>
                </a:buClr>
                <a:buFont typeface="Arial"/>
                <a:buNone/>
              </a:pPr>
              <a:t>‹#›</a:t>
            </a:fld>
            <a:endParaRPr kern="0"/>
          </a:p>
        </p:txBody>
      </p:sp>
    </p:spTree>
    <p:extLst>
      <p:ext uri="{BB962C8B-B14F-4D97-AF65-F5344CB8AC3E}">
        <p14:creationId xmlns:p14="http://schemas.microsoft.com/office/powerpoint/2010/main" val="37719528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8"/>
        <p:cNvGrpSpPr/>
        <p:nvPr/>
      </p:nvGrpSpPr>
      <p:grpSpPr>
        <a:xfrm>
          <a:off x="0" y="0"/>
          <a:ext cx="0" cy="0"/>
          <a:chOff x="0" y="0"/>
          <a:chExt cx="0" cy="0"/>
        </a:xfrm>
      </p:grpSpPr>
      <p:sp>
        <p:nvSpPr>
          <p:cNvPr id="69" name="Google Shape;69;p128"/>
          <p:cNvSpPr txBox="1">
            <a:spLocks noGrp="1"/>
          </p:cNvSpPr>
          <p:nvPr>
            <p:ph type="dt" idx="10"/>
          </p:nvPr>
        </p:nvSpPr>
        <p:spPr>
          <a:xfrm>
            <a:off x="838200" y="6356358"/>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fld id="{747522AE-8C95-4430-8145-281AE9ECE570}" type="datetime1">
              <a:rPr lang="en-US" kern="0" smtClean="0">
                <a:solidFill>
                  <a:srgbClr val="000000"/>
                </a:solidFill>
              </a:rPr>
              <a:t>11/11/2024</a:t>
            </a:fld>
            <a:endParaRPr kern="0">
              <a:solidFill>
                <a:srgbClr val="000000"/>
              </a:solidFill>
            </a:endParaRPr>
          </a:p>
        </p:txBody>
      </p:sp>
      <p:sp>
        <p:nvSpPr>
          <p:cNvPr id="70" name="Google Shape;70;p128"/>
          <p:cNvSpPr txBox="1">
            <a:spLocks noGrp="1"/>
          </p:cNvSpPr>
          <p:nvPr>
            <p:ph type="ftr" idx="11"/>
          </p:nvPr>
        </p:nvSpPr>
        <p:spPr>
          <a:xfrm>
            <a:off x="4038600" y="6356358"/>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endParaRPr kern="0">
              <a:solidFill>
                <a:srgbClr val="000000"/>
              </a:solidFill>
            </a:endParaRPr>
          </a:p>
        </p:txBody>
      </p:sp>
      <p:sp>
        <p:nvSpPr>
          <p:cNvPr id="71" name="Google Shape;71;p128"/>
          <p:cNvSpPr txBox="1">
            <a:spLocks noGrp="1"/>
          </p:cNvSpPr>
          <p:nvPr>
            <p:ph type="sldNum" idx="12"/>
          </p:nvPr>
        </p:nvSpPr>
        <p:spPr>
          <a:xfrm>
            <a:off x="8610600" y="6356358"/>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000000"/>
                </a:solidFill>
                <a:latin typeface="Calibri"/>
                <a:ea typeface="Calibri"/>
                <a:cs typeface="Calibri"/>
                <a:sym typeface="Calibri"/>
              </a:defRPr>
            </a:lvl1pPr>
            <a:lvl2pPr marL="0" marR="0" lvl="1" indent="0" algn="l" rtl="0">
              <a:spcBef>
                <a:spcPts val="0"/>
              </a:spcBef>
              <a:buNone/>
              <a:defRPr sz="1800">
                <a:solidFill>
                  <a:srgbClr val="000000"/>
                </a:solidFill>
                <a:latin typeface="Calibri"/>
                <a:ea typeface="Calibri"/>
                <a:cs typeface="Calibri"/>
                <a:sym typeface="Calibri"/>
              </a:defRPr>
            </a:lvl2pPr>
            <a:lvl3pPr marL="0" marR="0" lvl="2" indent="0" algn="l" rtl="0">
              <a:spcBef>
                <a:spcPts val="0"/>
              </a:spcBef>
              <a:buNone/>
              <a:defRPr sz="1800">
                <a:solidFill>
                  <a:srgbClr val="000000"/>
                </a:solidFill>
                <a:latin typeface="Calibri"/>
                <a:ea typeface="Calibri"/>
                <a:cs typeface="Calibri"/>
                <a:sym typeface="Calibri"/>
              </a:defRPr>
            </a:lvl3pPr>
            <a:lvl4pPr marL="0" marR="0" lvl="3" indent="0" algn="l" rtl="0">
              <a:spcBef>
                <a:spcPts val="0"/>
              </a:spcBef>
              <a:buNone/>
              <a:defRPr sz="1800">
                <a:solidFill>
                  <a:srgbClr val="000000"/>
                </a:solidFill>
                <a:latin typeface="Calibri"/>
                <a:ea typeface="Calibri"/>
                <a:cs typeface="Calibri"/>
                <a:sym typeface="Calibri"/>
              </a:defRPr>
            </a:lvl4pPr>
            <a:lvl5pPr marL="0" marR="0" lvl="4" indent="0" algn="l" rtl="0">
              <a:spcBef>
                <a:spcPts val="0"/>
              </a:spcBef>
              <a:buNone/>
              <a:defRPr sz="1800">
                <a:solidFill>
                  <a:srgbClr val="000000"/>
                </a:solidFill>
                <a:latin typeface="Calibri"/>
                <a:ea typeface="Calibri"/>
                <a:cs typeface="Calibri"/>
                <a:sym typeface="Calibri"/>
              </a:defRPr>
            </a:lvl5pPr>
            <a:lvl6pPr marL="0" marR="0" lvl="5" indent="0" algn="l" rtl="0">
              <a:spcBef>
                <a:spcPts val="0"/>
              </a:spcBef>
              <a:buNone/>
              <a:defRPr sz="1800">
                <a:solidFill>
                  <a:srgbClr val="000000"/>
                </a:solidFill>
                <a:latin typeface="Calibri"/>
                <a:ea typeface="Calibri"/>
                <a:cs typeface="Calibri"/>
                <a:sym typeface="Calibri"/>
              </a:defRPr>
            </a:lvl6pPr>
            <a:lvl7pPr marL="0" marR="0" lvl="6" indent="0" algn="l" rtl="0">
              <a:spcBef>
                <a:spcPts val="0"/>
              </a:spcBef>
              <a:buNone/>
              <a:defRPr sz="1800">
                <a:solidFill>
                  <a:srgbClr val="000000"/>
                </a:solidFill>
                <a:latin typeface="Calibri"/>
                <a:ea typeface="Calibri"/>
                <a:cs typeface="Calibri"/>
                <a:sym typeface="Calibri"/>
              </a:defRPr>
            </a:lvl7pPr>
            <a:lvl8pPr marL="0" marR="0" lvl="7" indent="0" algn="l" rtl="0">
              <a:spcBef>
                <a:spcPts val="0"/>
              </a:spcBef>
              <a:buNone/>
              <a:defRPr sz="1800">
                <a:solidFill>
                  <a:srgbClr val="000000"/>
                </a:solidFill>
                <a:latin typeface="Calibri"/>
                <a:ea typeface="Calibri"/>
                <a:cs typeface="Calibri"/>
                <a:sym typeface="Calibri"/>
              </a:defRPr>
            </a:lvl8pPr>
            <a:lvl9pPr marL="0" marR="0" lvl="8" indent="0" algn="l" rtl="0">
              <a:spcBef>
                <a:spcPts val="0"/>
              </a:spcBef>
              <a:buNone/>
              <a:defRPr sz="1800">
                <a:solidFill>
                  <a:srgbClr val="000000"/>
                </a:solidFill>
                <a:latin typeface="Calibri"/>
                <a:ea typeface="Calibri"/>
                <a:cs typeface="Calibri"/>
                <a:sym typeface="Calibri"/>
              </a:defRPr>
            </a:lvl9pPr>
          </a:lstStyle>
          <a:p>
            <a:pPr defTabSz="914400">
              <a:buClr>
                <a:srgbClr val="000000"/>
              </a:buClr>
              <a:buFont typeface="Arial"/>
              <a:buNone/>
            </a:pPr>
            <a:fld id="{00000000-1234-1234-1234-123412341234}" type="slidenum">
              <a:rPr lang="en-US" kern="0"/>
              <a:pPr defTabSz="914400">
                <a:buClr>
                  <a:srgbClr val="000000"/>
                </a:buClr>
                <a:buFont typeface="Arial"/>
                <a:buNone/>
              </a:pPr>
              <a:t>‹#›</a:t>
            </a:fld>
            <a:endParaRPr kern="0"/>
          </a:p>
        </p:txBody>
      </p:sp>
    </p:spTree>
    <p:extLst>
      <p:ext uri="{BB962C8B-B14F-4D97-AF65-F5344CB8AC3E}">
        <p14:creationId xmlns:p14="http://schemas.microsoft.com/office/powerpoint/2010/main" val="219369894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72"/>
        <p:cNvGrpSpPr/>
        <p:nvPr/>
      </p:nvGrpSpPr>
      <p:grpSpPr>
        <a:xfrm>
          <a:off x="0" y="0"/>
          <a:ext cx="0" cy="0"/>
          <a:chOff x="0" y="0"/>
          <a:chExt cx="0" cy="0"/>
        </a:xfrm>
      </p:grpSpPr>
      <p:sp>
        <p:nvSpPr>
          <p:cNvPr id="73" name="Google Shape;73;p1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29"/>
          <p:cNvSpPr txBox="1">
            <a:spLocks noGrp="1"/>
          </p:cNvSpPr>
          <p:nvPr>
            <p:ph type="body" idx="1"/>
          </p:nvPr>
        </p:nvSpPr>
        <p:spPr>
          <a:xfrm>
            <a:off x="5183188" y="987433"/>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5" name="Google Shape;75;p1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6" name="Google Shape;76;p129"/>
          <p:cNvSpPr txBox="1">
            <a:spLocks noGrp="1"/>
          </p:cNvSpPr>
          <p:nvPr>
            <p:ph type="dt" idx="10"/>
          </p:nvPr>
        </p:nvSpPr>
        <p:spPr>
          <a:xfrm>
            <a:off x="838200" y="6356358"/>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fld id="{B5D543D5-1EA9-44E0-B206-939C521F276C}" type="datetime1">
              <a:rPr lang="en-US" kern="0" smtClean="0">
                <a:solidFill>
                  <a:srgbClr val="000000"/>
                </a:solidFill>
              </a:rPr>
              <a:t>11/11/2024</a:t>
            </a:fld>
            <a:endParaRPr kern="0">
              <a:solidFill>
                <a:srgbClr val="000000"/>
              </a:solidFill>
            </a:endParaRPr>
          </a:p>
        </p:txBody>
      </p:sp>
      <p:sp>
        <p:nvSpPr>
          <p:cNvPr id="77" name="Google Shape;77;p129"/>
          <p:cNvSpPr txBox="1">
            <a:spLocks noGrp="1"/>
          </p:cNvSpPr>
          <p:nvPr>
            <p:ph type="ftr" idx="11"/>
          </p:nvPr>
        </p:nvSpPr>
        <p:spPr>
          <a:xfrm>
            <a:off x="4038600" y="6356358"/>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endParaRPr kern="0">
              <a:solidFill>
                <a:srgbClr val="000000"/>
              </a:solidFill>
            </a:endParaRPr>
          </a:p>
        </p:txBody>
      </p:sp>
      <p:sp>
        <p:nvSpPr>
          <p:cNvPr id="78" name="Google Shape;78;p129"/>
          <p:cNvSpPr txBox="1">
            <a:spLocks noGrp="1"/>
          </p:cNvSpPr>
          <p:nvPr>
            <p:ph type="sldNum" idx="12"/>
          </p:nvPr>
        </p:nvSpPr>
        <p:spPr>
          <a:xfrm>
            <a:off x="8610600" y="6356358"/>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000000"/>
                </a:solidFill>
                <a:latin typeface="Calibri"/>
                <a:ea typeface="Calibri"/>
                <a:cs typeface="Calibri"/>
                <a:sym typeface="Calibri"/>
              </a:defRPr>
            </a:lvl1pPr>
            <a:lvl2pPr marL="0" marR="0" lvl="1" indent="0" algn="l" rtl="0">
              <a:spcBef>
                <a:spcPts val="0"/>
              </a:spcBef>
              <a:buNone/>
              <a:defRPr sz="1800">
                <a:solidFill>
                  <a:srgbClr val="000000"/>
                </a:solidFill>
                <a:latin typeface="Calibri"/>
                <a:ea typeface="Calibri"/>
                <a:cs typeface="Calibri"/>
                <a:sym typeface="Calibri"/>
              </a:defRPr>
            </a:lvl2pPr>
            <a:lvl3pPr marL="0" marR="0" lvl="2" indent="0" algn="l" rtl="0">
              <a:spcBef>
                <a:spcPts val="0"/>
              </a:spcBef>
              <a:buNone/>
              <a:defRPr sz="1800">
                <a:solidFill>
                  <a:srgbClr val="000000"/>
                </a:solidFill>
                <a:latin typeface="Calibri"/>
                <a:ea typeface="Calibri"/>
                <a:cs typeface="Calibri"/>
                <a:sym typeface="Calibri"/>
              </a:defRPr>
            </a:lvl3pPr>
            <a:lvl4pPr marL="0" marR="0" lvl="3" indent="0" algn="l" rtl="0">
              <a:spcBef>
                <a:spcPts val="0"/>
              </a:spcBef>
              <a:buNone/>
              <a:defRPr sz="1800">
                <a:solidFill>
                  <a:srgbClr val="000000"/>
                </a:solidFill>
                <a:latin typeface="Calibri"/>
                <a:ea typeface="Calibri"/>
                <a:cs typeface="Calibri"/>
                <a:sym typeface="Calibri"/>
              </a:defRPr>
            </a:lvl4pPr>
            <a:lvl5pPr marL="0" marR="0" lvl="4" indent="0" algn="l" rtl="0">
              <a:spcBef>
                <a:spcPts val="0"/>
              </a:spcBef>
              <a:buNone/>
              <a:defRPr sz="1800">
                <a:solidFill>
                  <a:srgbClr val="000000"/>
                </a:solidFill>
                <a:latin typeface="Calibri"/>
                <a:ea typeface="Calibri"/>
                <a:cs typeface="Calibri"/>
                <a:sym typeface="Calibri"/>
              </a:defRPr>
            </a:lvl5pPr>
            <a:lvl6pPr marL="0" marR="0" lvl="5" indent="0" algn="l" rtl="0">
              <a:spcBef>
                <a:spcPts val="0"/>
              </a:spcBef>
              <a:buNone/>
              <a:defRPr sz="1800">
                <a:solidFill>
                  <a:srgbClr val="000000"/>
                </a:solidFill>
                <a:latin typeface="Calibri"/>
                <a:ea typeface="Calibri"/>
                <a:cs typeface="Calibri"/>
                <a:sym typeface="Calibri"/>
              </a:defRPr>
            </a:lvl6pPr>
            <a:lvl7pPr marL="0" marR="0" lvl="6" indent="0" algn="l" rtl="0">
              <a:spcBef>
                <a:spcPts val="0"/>
              </a:spcBef>
              <a:buNone/>
              <a:defRPr sz="1800">
                <a:solidFill>
                  <a:srgbClr val="000000"/>
                </a:solidFill>
                <a:latin typeface="Calibri"/>
                <a:ea typeface="Calibri"/>
                <a:cs typeface="Calibri"/>
                <a:sym typeface="Calibri"/>
              </a:defRPr>
            </a:lvl7pPr>
            <a:lvl8pPr marL="0" marR="0" lvl="7" indent="0" algn="l" rtl="0">
              <a:spcBef>
                <a:spcPts val="0"/>
              </a:spcBef>
              <a:buNone/>
              <a:defRPr sz="1800">
                <a:solidFill>
                  <a:srgbClr val="000000"/>
                </a:solidFill>
                <a:latin typeface="Calibri"/>
                <a:ea typeface="Calibri"/>
                <a:cs typeface="Calibri"/>
                <a:sym typeface="Calibri"/>
              </a:defRPr>
            </a:lvl8pPr>
            <a:lvl9pPr marL="0" marR="0" lvl="8" indent="0" algn="l" rtl="0">
              <a:spcBef>
                <a:spcPts val="0"/>
              </a:spcBef>
              <a:buNone/>
              <a:defRPr sz="1800">
                <a:solidFill>
                  <a:srgbClr val="000000"/>
                </a:solidFill>
                <a:latin typeface="Calibri"/>
                <a:ea typeface="Calibri"/>
                <a:cs typeface="Calibri"/>
                <a:sym typeface="Calibri"/>
              </a:defRPr>
            </a:lvl9pPr>
          </a:lstStyle>
          <a:p>
            <a:pPr defTabSz="914400">
              <a:buClr>
                <a:srgbClr val="000000"/>
              </a:buClr>
              <a:buFont typeface="Arial"/>
              <a:buNone/>
            </a:pPr>
            <a:fld id="{00000000-1234-1234-1234-123412341234}" type="slidenum">
              <a:rPr lang="en-US" kern="0"/>
              <a:pPr defTabSz="914400">
                <a:buClr>
                  <a:srgbClr val="000000"/>
                </a:buClr>
                <a:buFont typeface="Arial"/>
                <a:buNone/>
              </a:pPr>
              <a:t>‹#›</a:t>
            </a:fld>
            <a:endParaRPr kern="0"/>
          </a:p>
        </p:txBody>
      </p:sp>
    </p:spTree>
    <p:extLst>
      <p:ext uri="{BB962C8B-B14F-4D97-AF65-F5344CB8AC3E}">
        <p14:creationId xmlns:p14="http://schemas.microsoft.com/office/powerpoint/2010/main" val="18778695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9"/>
        <p:cNvGrpSpPr/>
        <p:nvPr/>
      </p:nvGrpSpPr>
      <p:grpSpPr>
        <a:xfrm>
          <a:off x="0" y="0"/>
          <a:ext cx="0" cy="0"/>
          <a:chOff x="0" y="0"/>
          <a:chExt cx="0" cy="0"/>
        </a:xfrm>
      </p:grpSpPr>
      <p:sp>
        <p:nvSpPr>
          <p:cNvPr id="80" name="Google Shape;80;p1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1" name="Google Shape;81;p130"/>
          <p:cNvSpPr>
            <a:spLocks noGrp="1"/>
          </p:cNvSpPr>
          <p:nvPr>
            <p:ph type="pic" idx="2"/>
          </p:nvPr>
        </p:nvSpPr>
        <p:spPr>
          <a:xfrm>
            <a:off x="5183188" y="987433"/>
            <a:ext cx="6172200" cy="4873625"/>
          </a:xfrm>
          <a:prstGeom prst="rect">
            <a:avLst/>
          </a:prstGeom>
          <a:noFill/>
          <a:ln>
            <a:noFill/>
          </a:ln>
        </p:spPr>
      </p:sp>
      <p:sp>
        <p:nvSpPr>
          <p:cNvPr id="82" name="Google Shape;82;p1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83" name="Google Shape;83;p130"/>
          <p:cNvSpPr txBox="1">
            <a:spLocks noGrp="1"/>
          </p:cNvSpPr>
          <p:nvPr>
            <p:ph type="dt" idx="10"/>
          </p:nvPr>
        </p:nvSpPr>
        <p:spPr>
          <a:xfrm>
            <a:off x="838200" y="6356358"/>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fld id="{6B8DD85F-FF5D-4879-B088-F5E36F36F57A}" type="datetime1">
              <a:rPr lang="en-US" kern="0" smtClean="0">
                <a:solidFill>
                  <a:srgbClr val="000000"/>
                </a:solidFill>
              </a:rPr>
              <a:t>11/11/2024</a:t>
            </a:fld>
            <a:endParaRPr kern="0">
              <a:solidFill>
                <a:srgbClr val="000000"/>
              </a:solidFill>
            </a:endParaRPr>
          </a:p>
        </p:txBody>
      </p:sp>
      <p:sp>
        <p:nvSpPr>
          <p:cNvPr id="84" name="Google Shape;84;p130"/>
          <p:cNvSpPr txBox="1">
            <a:spLocks noGrp="1"/>
          </p:cNvSpPr>
          <p:nvPr>
            <p:ph type="ftr" idx="11"/>
          </p:nvPr>
        </p:nvSpPr>
        <p:spPr>
          <a:xfrm>
            <a:off x="4038600" y="6356358"/>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endParaRPr kern="0">
              <a:solidFill>
                <a:srgbClr val="000000"/>
              </a:solidFill>
            </a:endParaRPr>
          </a:p>
        </p:txBody>
      </p:sp>
      <p:sp>
        <p:nvSpPr>
          <p:cNvPr id="85" name="Google Shape;85;p130"/>
          <p:cNvSpPr txBox="1">
            <a:spLocks noGrp="1"/>
          </p:cNvSpPr>
          <p:nvPr>
            <p:ph type="sldNum" idx="12"/>
          </p:nvPr>
        </p:nvSpPr>
        <p:spPr>
          <a:xfrm>
            <a:off x="8610600" y="6356358"/>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000000"/>
                </a:solidFill>
                <a:latin typeface="Calibri"/>
                <a:ea typeface="Calibri"/>
                <a:cs typeface="Calibri"/>
                <a:sym typeface="Calibri"/>
              </a:defRPr>
            </a:lvl1pPr>
            <a:lvl2pPr marL="0" marR="0" lvl="1" indent="0" algn="l" rtl="0">
              <a:spcBef>
                <a:spcPts val="0"/>
              </a:spcBef>
              <a:buNone/>
              <a:defRPr sz="1800">
                <a:solidFill>
                  <a:srgbClr val="000000"/>
                </a:solidFill>
                <a:latin typeface="Calibri"/>
                <a:ea typeface="Calibri"/>
                <a:cs typeface="Calibri"/>
                <a:sym typeface="Calibri"/>
              </a:defRPr>
            </a:lvl2pPr>
            <a:lvl3pPr marL="0" marR="0" lvl="2" indent="0" algn="l" rtl="0">
              <a:spcBef>
                <a:spcPts val="0"/>
              </a:spcBef>
              <a:buNone/>
              <a:defRPr sz="1800">
                <a:solidFill>
                  <a:srgbClr val="000000"/>
                </a:solidFill>
                <a:latin typeface="Calibri"/>
                <a:ea typeface="Calibri"/>
                <a:cs typeface="Calibri"/>
                <a:sym typeface="Calibri"/>
              </a:defRPr>
            </a:lvl3pPr>
            <a:lvl4pPr marL="0" marR="0" lvl="3" indent="0" algn="l" rtl="0">
              <a:spcBef>
                <a:spcPts val="0"/>
              </a:spcBef>
              <a:buNone/>
              <a:defRPr sz="1800">
                <a:solidFill>
                  <a:srgbClr val="000000"/>
                </a:solidFill>
                <a:latin typeface="Calibri"/>
                <a:ea typeface="Calibri"/>
                <a:cs typeface="Calibri"/>
                <a:sym typeface="Calibri"/>
              </a:defRPr>
            </a:lvl4pPr>
            <a:lvl5pPr marL="0" marR="0" lvl="4" indent="0" algn="l" rtl="0">
              <a:spcBef>
                <a:spcPts val="0"/>
              </a:spcBef>
              <a:buNone/>
              <a:defRPr sz="1800">
                <a:solidFill>
                  <a:srgbClr val="000000"/>
                </a:solidFill>
                <a:latin typeface="Calibri"/>
                <a:ea typeface="Calibri"/>
                <a:cs typeface="Calibri"/>
                <a:sym typeface="Calibri"/>
              </a:defRPr>
            </a:lvl5pPr>
            <a:lvl6pPr marL="0" marR="0" lvl="5" indent="0" algn="l" rtl="0">
              <a:spcBef>
                <a:spcPts val="0"/>
              </a:spcBef>
              <a:buNone/>
              <a:defRPr sz="1800">
                <a:solidFill>
                  <a:srgbClr val="000000"/>
                </a:solidFill>
                <a:latin typeface="Calibri"/>
                <a:ea typeface="Calibri"/>
                <a:cs typeface="Calibri"/>
                <a:sym typeface="Calibri"/>
              </a:defRPr>
            </a:lvl6pPr>
            <a:lvl7pPr marL="0" marR="0" lvl="6" indent="0" algn="l" rtl="0">
              <a:spcBef>
                <a:spcPts val="0"/>
              </a:spcBef>
              <a:buNone/>
              <a:defRPr sz="1800">
                <a:solidFill>
                  <a:srgbClr val="000000"/>
                </a:solidFill>
                <a:latin typeface="Calibri"/>
                <a:ea typeface="Calibri"/>
                <a:cs typeface="Calibri"/>
                <a:sym typeface="Calibri"/>
              </a:defRPr>
            </a:lvl7pPr>
            <a:lvl8pPr marL="0" marR="0" lvl="7" indent="0" algn="l" rtl="0">
              <a:spcBef>
                <a:spcPts val="0"/>
              </a:spcBef>
              <a:buNone/>
              <a:defRPr sz="1800">
                <a:solidFill>
                  <a:srgbClr val="000000"/>
                </a:solidFill>
                <a:latin typeface="Calibri"/>
                <a:ea typeface="Calibri"/>
                <a:cs typeface="Calibri"/>
                <a:sym typeface="Calibri"/>
              </a:defRPr>
            </a:lvl8pPr>
            <a:lvl9pPr marL="0" marR="0" lvl="8" indent="0" algn="l" rtl="0">
              <a:spcBef>
                <a:spcPts val="0"/>
              </a:spcBef>
              <a:buNone/>
              <a:defRPr sz="1800">
                <a:solidFill>
                  <a:srgbClr val="000000"/>
                </a:solidFill>
                <a:latin typeface="Calibri"/>
                <a:ea typeface="Calibri"/>
                <a:cs typeface="Calibri"/>
                <a:sym typeface="Calibri"/>
              </a:defRPr>
            </a:lvl9pPr>
          </a:lstStyle>
          <a:p>
            <a:pPr defTabSz="914400">
              <a:buClr>
                <a:srgbClr val="000000"/>
              </a:buClr>
              <a:buFont typeface="Arial"/>
              <a:buNone/>
            </a:pPr>
            <a:fld id="{00000000-1234-1234-1234-123412341234}" type="slidenum">
              <a:rPr lang="en-US" kern="0"/>
              <a:pPr defTabSz="914400">
                <a:buClr>
                  <a:srgbClr val="000000"/>
                </a:buClr>
                <a:buFont typeface="Arial"/>
                <a:buNone/>
              </a:pPr>
              <a:t>‹#›</a:t>
            </a:fld>
            <a:endParaRPr kern="0"/>
          </a:p>
        </p:txBody>
      </p:sp>
    </p:spTree>
    <p:extLst>
      <p:ext uri="{BB962C8B-B14F-4D97-AF65-F5344CB8AC3E}">
        <p14:creationId xmlns:p14="http://schemas.microsoft.com/office/powerpoint/2010/main" val="26100827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86"/>
        <p:cNvGrpSpPr/>
        <p:nvPr/>
      </p:nvGrpSpPr>
      <p:grpSpPr>
        <a:xfrm>
          <a:off x="0" y="0"/>
          <a:ext cx="0" cy="0"/>
          <a:chOff x="0" y="0"/>
          <a:chExt cx="0" cy="0"/>
        </a:xfrm>
      </p:grpSpPr>
      <p:sp>
        <p:nvSpPr>
          <p:cNvPr id="87" name="Google Shape;87;p131"/>
          <p:cNvSpPr txBox="1">
            <a:spLocks noGrp="1"/>
          </p:cNvSpPr>
          <p:nvPr>
            <p:ph type="title"/>
          </p:nvPr>
        </p:nvSpPr>
        <p:spPr>
          <a:xfrm>
            <a:off x="838200" y="365129"/>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8" name="Google Shape;88;p1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9" name="Google Shape;89;p131"/>
          <p:cNvSpPr txBox="1">
            <a:spLocks noGrp="1"/>
          </p:cNvSpPr>
          <p:nvPr>
            <p:ph type="dt" idx="10"/>
          </p:nvPr>
        </p:nvSpPr>
        <p:spPr>
          <a:xfrm>
            <a:off x="838200" y="6356358"/>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fld id="{8C0EA228-88BE-41C1-93D3-A6B3C82E54D9}" type="datetime1">
              <a:rPr lang="en-US" kern="0" smtClean="0">
                <a:solidFill>
                  <a:srgbClr val="000000"/>
                </a:solidFill>
              </a:rPr>
              <a:t>11/11/2024</a:t>
            </a:fld>
            <a:endParaRPr kern="0">
              <a:solidFill>
                <a:srgbClr val="000000"/>
              </a:solidFill>
            </a:endParaRPr>
          </a:p>
        </p:txBody>
      </p:sp>
      <p:sp>
        <p:nvSpPr>
          <p:cNvPr id="90" name="Google Shape;90;p131"/>
          <p:cNvSpPr txBox="1">
            <a:spLocks noGrp="1"/>
          </p:cNvSpPr>
          <p:nvPr>
            <p:ph type="ftr" idx="11"/>
          </p:nvPr>
        </p:nvSpPr>
        <p:spPr>
          <a:xfrm>
            <a:off x="4038600" y="6356358"/>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endParaRPr kern="0">
              <a:solidFill>
                <a:srgbClr val="000000"/>
              </a:solidFill>
            </a:endParaRPr>
          </a:p>
        </p:txBody>
      </p:sp>
      <p:sp>
        <p:nvSpPr>
          <p:cNvPr id="91" name="Google Shape;91;p131"/>
          <p:cNvSpPr txBox="1">
            <a:spLocks noGrp="1"/>
          </p:cNvSpPr>
          <p:nvPr>
            <p:ph type="sldNum" idx="12"/>
          </p:nvPr>
        </p:nvSpPr>
        <p:spPr>
          <a:xfrm>
            <a:off x="8610600" y="6356358"/>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000000"/>
                </a:solidFill>
                <a:latin typeface="Calibri"/>
                <a:ea typeface="Calibri"/>
                <a:cs typeface="Calibri"/>
                <a:sym typeface="Calibri"/>
              </a:defRPr>
            </a:lvl1pPr>
            <a:lvl2pPr marL="0" marR="0" lvl="1" indent="0" algn="l" rtl="0">
              <a:spcBef>
                <a:spcPts val="0"/>
              </a:spcBef>
              <a:buNone/>
              <a:defRPr sz="1800">
                <a:solidFill>
                  <a:srgbClr val="000000"/>
                </a:solidFill>
                <a:latin typeface="Calibri"/>
                <a:ea typeface="Calibri"/>
                <a:cs typeface="Calibri"/>
                <a:sym typeface="Calibri"/>
              </a:defRPr>
            </a:lvl2pPr>
            <a:lvl3pPr marL="0" marR="0" lvl="2" indent="0" algn="l" rtl="0">
              <a:spcBef>
                <a:spcPts val="0"/>
              </a:spcBef>
              <a:buNone/>
              <a:defRPr sz="1800">
                <a:solidFill>
                  <a:srgbClr val="000000"/>
                </a:solidFill>
                <a:latin typeface="Calibri"/>
                <a:ea typeface="Calibri"/>
                <a:cs typeface="Calibri"/>
                <a:sym typeface="Calibri"/>
              </a:defRPr>
            </a:lvl3pPr>
            <a:lvl4pPr marL="0" marR="0" lvl="3" indent="0" algn="l" rtl="0">
              <a:spcBef>
                <a:spcPts val="0"/>
              </a:spcBef>
              <a:buNone/>
              <a:defRPr sz="1800">
                <a:solidFill>
                  <a:srgbClr val="000000"/>
                </a:solidFill>
                <a:latin typeface="Calibri"/>
                <a:ea typeface="Calibri"/>
                <a:cs typeface="Calibri"/>
                <a:sym typeface="Calibri"/>
              </a:defRPr>
            </a:lvl4pPr>
            <a:lvl5pPr marL="0" marR="0" lvl="4" indent="0" algn="l" rtl="0">
              <a:spcBef>
                <a:spcPts val="0"/>
              </a:spcBef>
              <a:buNone/>
              <a:defRPr sz="1800">
                <a:solidFill>
                  <a:srgbClr val="000000"/>
                </a:solidFill>
                <a:latin typeface="Calibri"/>
                <a:ea typeface="Calibri"/>
                <a:cs typeface="Calibri"/>
                <a:sym typeface="Calibri"/>
              </a:defRPr>
            </a:lvl5pPr>
            <a:lvl6pPr marL="0" marR="0" lvl="5" indent="0" algn="l" rtl="0">
              <a:spcBef>
                <a:spcPts val="0"/>
              </a:spcBef>
              <a:buNone/>
              <a:defRPr sz="1800">
                <a:solidFill>
                  <a:srgbClr val="000000"/>
                </a:solidFill>
                <a:latin typeface="Calibri"/>
                <a:ea typeface="Calibri"/>
                <a:cs typeface="Calibri"/>
                <a:sym typeface="Calibri"/>
              </a:defRPr>
            </a:lvl6pPr>
            <a:lvl7pPr marL="0" marR="0" lvl="6" indent="0" algn="l" rtl="0">
              <a:spcBef>
                <a:spcPts val="0"/>
              </a:spcBef>
              <a:buNone/>
              <a:defRPr sz="1800">
                <a:solidFill>
                  <a:srgbClr val="000000"/>
                </a:solidFill>
                <a:latin typeface="Calibri"/>
                <a:ea typeface="Calibri"/>
                <a:cs typeface="Calibri"/>
                <a:sym typeface="Calibri"/>
              </a:defRPr>
            </a:lvl7pPr>
            <a:lvl8pPr marL="0" marR="0" lvl="7" indent="0" algn="l" rtl="0">
              <a:spcBef>
                <a:spcPts val="0"/>
              </a:spcBef>
              <a:buNone/>
              <a:defRPr sz="1800">
                <a:solidFill>
                  <a:srgbClr val="000000"/>
                </a:solidFill>
                <a:latin typeface="Calibri"/>
                <a:ea typeface="Calibri"/>
                <a:cs typeface="Calibri"/>
                <a:sym typeface="Calibri"/>
              </a:defRPr>
            </a:lvl8pPr>
            <a:lvl9pPr marL="0" marR="0" lvl="8" indent="0" algn="l" rtl="0">
              <a:spcBef>
                <a:spcPts val="0"/>
              </a:spcBef>
              <a:buNone/>
              <a:defRPr sz="1800">
                <a:solidFill>
                  <a:srgbClr val="000000"/>
                </a:solidFill>
                <a:latin typeface="Calibri"/>
                <a:ea typeface="Calibri"/>
                <a:cs typeface="Calibri"/>
                <a:sym typeface="Calibri"/>
              </a:defRPr>
            </a:lvl9pPr>
          </a:lstStyle>
          <a:p>
            <a:pPr defTabSz="914400">
              <a:buClr>
                <a:srgbClr val="000000"/>
              </a:buClr>
              <a:buFont typeface="Arial"/>
              <a:buNone/>
            </a:pPr>
            <a:fld id="{00000000-1234-1234-1234-123412341234}" type="slidenum">
              <a:rPr lang="en-US" kern="0"/>
              <a:pPr defTabSz="914400">
                <a:buClr>
                  <a:srgbClr val="000000"/>
                </a:buClr>
                <a:buFont typeface="Arial"/>
                <a:buNone/>
              </a:pPr>
              <a:t>‹#›</a:t>
            </a:fld>
            <a:endParaRPr kern="0"/>
          </a:p>
        </p:txBody>
      </p:sp>
    </p:spTree>
    <p:extLst>
      <p:ext uri="{BB962C8B-B14F-4D97-AF65-F5344CB8AC3E}">
        <p14:creationId xmlns:p14="http://schemas.microsoft.com/office/powerpoint/2010/main" val="20553364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92"/>
        <p:cNvGrpSpPr/>
        <p:nvPr/>
      </p:nvGrpSpPr>
      <p:grpSpPr>
        <a:xfrm>
          <a:off x="0" y="0"/>
          <a:ext cx="0" cy="0"/>
          <a:chOff x="0" y="0"/>
          <a:chExt cx="0" cy="0"/>
        </a:xfrm>
      </p:grpSpPr>
      <p:sp>
        <p:nvSpPr>
          <p:cNvPr id="93" name="Google Shape;93;p132"/>
          <p:cNvSpPr txBox="1">
            <a:spLocks noGrp="1"/>
          </p:cNvSpPr>
          <p:nvPr>
            <p:ph type="title"/>
          </p:nvPr>
        </p:nvSpPr>
        <p:spPr>
          <a:xfrm rot="5400000">
            <a:off x="7133432" y="1956598"/>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4" name="Google Shape;94;p132"/>
          <p:cNvSpPr txBox="1">
            <a:spLocks noGrp="1"/>
          </p:cNvSpPr>
          <p:nvPr>
            <p:ph type="body" idx="1"/>
          </p:nvPr>
        </p:nvSpPr>
        <p:spPr>
          <a:xfrm rot="5400000">
            <a:off x="1799432" y="-596103"/>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5" name="Google Shape;95;p132"/>
          <p:cNvSpPr txBox="1">
            <a:spLocks noGrp="1"/>
          </p:cNvSpPr>
          <p:nvPr>
            <p:ph type="dt" idx="10"/>
          </p:nvPr>
        </p:nvSpPr>
        <p:spPr>
          <a:xfrm>
            <a:off x="838200" y="6356358"/>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fld id="{C7CEB7BE-17FD-45C0-9BF3-6B03BA78DCE3}" type="datetime1">
              <a:rPr lang="en-US" kern="0" smtClean="0">
                <a:solidFill>
                  <a:srgbClr val="000000"/>
                </a:solidFill>
              </a:rPr>
              <a:t>11/11/2024</a:t>
            </a:fld>
            <a:endParaRPr kern="0">
              <a:solidFill>
                <a:srgbClr val="000000"/>
              </a:solidFill>
            </a:endParaRPr>
          </a:p>
        </p:txBody>
      </p:sp>
      <p:sp>
        <p:nvSpPr>
          <p:cNvPr id="96" name="Google Shape;96;p132"/>
          <p:cNvSpPr txBox="1">
            <a:spLocks noGrp="1"/>
          </p:cNvSpPr>
          <p:nvPr>
            <p:ph type="ftr" idx="11"/>
          </p:nvPr>
        </p:nvSpPr>
        <p:spPr>
          <a:xfrm>
            <a:off x="4038600" y="6356358"/>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endParaRPr kern="0">
              <a:solidFill>
                <a:srgbClr val="000000"/>
              </a:solidFill>
            </a:endParaRPr>
          </a:p>
        </p:txBody>
      </p:sp>
      <p:sp>
        <p:nvSpPr>
          <p:cNvPr id="97" name="Google Shape;97;p132"/>
          <p:cNvSpPr txBox="1">
            <a:spLocks noGrp="1"/>
          </p:cNvSpPr>
          <p:nvPr>
            <p:ph type="sldNum" idx="12"/>
          </p:nvPr>
        </p:nvSpPr>
        <p:spPr>
          <a:xfrm>
            <a:off x="8610600" y="6356358"/>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000000"/>
                </a:solidFill>
                <a:latin typeface="Calibri"/>
                <a:ea typeface="Calibri"/>
                <a:cs typeface="Calibri"/>
                <a:sym typeface="Calibri"/>
              </a:defRPr>
            </a:lvl1pPr>
            <a:lvl2pPr marL="0" marR="0" lvl="1" indent="0" algn="l" rtl="0">
              <a:spcBef>
                <a:spcPts val="0"/>
              </a:spcBef>
              <a:buNone/>
              <a:defRPr sz="1800">
                <a:solidFill>
                  <a:srgbClr val="000000"/>
                </a:solidFill>
                <a:latin typeface="Calibri"/>
                <a:ea typeface="Calibri"/>
                <a:cs typeface="Calibri"/>
                <a:sym typeface="Calibri"/>
              </a:defRPr>
            </a:lvl2pPr>
            <a:lvl3pPr marL="0" marR="0" lvl="2" indent="0" algn="l" rtl="0">
              <a:spcBef>
                <a:spcPts val="0"/>
              </a:spcBef>
              <a:buNone/>
              <a:defRPr sz="1800">
                <a:solidFill>
                  <a:srgbClr val="000000"/>
                </a:solidFill>
                <a:latin typeface="Calibri"/>
                <a:ea typeface="Calibri"/>
                <a:cs typeface="Calibri"/>
                <a:sym typeface="Calibri"/>
              </a:defRPr>
            </a:lvl3pPr>
            <a:lvl4pPr marL="0" marR="0" lvl="3" indent="0" algn="l" rtl="0">
              <a:spcBef>
                <a:spcPts val="0"/>
              </a:spcBef>
              <a:buNone/>
              <a:defRPr sz="1800">
                <a:solidFill>
                  <a:srgbClr val="000000"/>
                </a:solidFill>
                <a:latin typeface="Calibri"/>
                <a:ea typeface="Calibri"/>
                <a:cs typeface="Calibri"/>
                <a:sym typeface="Calibri"/>
              </a:defRPr>
            </a:lvl4pPr>
            <a:lvl5pPr marL="0" marR="0" lvl="4" indent="0" algn="l" rtl="0">
              <a:spcBef>
                <a:spcPts val="0"/>
              </a:spcBef>
              <a:buNone/>
              <a:defRPr sz="1800">
                <a:solidFill>
                  <a:srgbClr val="000000"/>
                </a:solidFill>
                <a:latin typeface="Calibri"/>
                <a:ea typeface="Calibri"/>
                <a:cs typeface="Calibri"/>
                <a:sym typeface="Calibri"/>
              </a:defRPr>
            </a:lvl5pPr>
            <a:lvl6pPr marL="0" marR="0" lvl="5" indent="0" algn="l" rtl="0">
              <a:spcBef>
                <a:spcPts val="0"/>
              </a:spcBef>
              <a:buNone/>
              <a:defRPr sz="1800">
                <a:solidFill>
                  <a:srgbClr val="000000"/>
                </a:solidFill>
                <a:latin typeface="Calibri"/>
                <a:ea typeface="Calibri"/>
                <a:cs typeface="Calibri"/>
                <a:sym typeface="Calibri"/>
              </a:defRPr>
            </a:lvl6pPr>
            <a:lvl7pPr marL="0" marR="0" lvl="6" indent="0" algn="l" rtl="0">
              <a:spcBef>
                <a:spcPts val="0"/>
              </a:spcBef>
              <a:buNone/>
              <a:defRPr sz="1800">
                <a:solidFill>
                  <a:srgbClr val="000000"/>
                </a:solidFill>
                <a:latin typeface="Calibri"/>
                <a:ea typeface="Calibri"/>
                <a:cs typeface="Calibri"/>
                <a:sym typeface="Calibri"/>
              </a:defRPr>
            </a:lvl7pPr>
            <a:lvl8pPr marL="0" marR="0" lvl="7" indent="0" algn="l" rtl="0">
              <a:spcBef>
                <a:spcPts val="0"/>
              </a:spcBef>
              <a:buNone/>
              <a:defRPr sz="1800">
                <a:solidFill>
                  <a:srgbClr val="000000"/>
                </a:solidFill>
                <a:latin typeface="Calibri"/>
                <a:ea typeface="Calibri"/>
                <a:cs typeface="Calibri"/>
                <a:sym typeface="Calibri"/>
              </a:defRPr>
            </a:lvl8pPr>
            <a:lvl9pPr marL="0" marR="0" lvl="8" indent="0" algn="l" rtl="0">
              <a:spcBef>
                <a:spcPts val="0"/>
              </a:spcBef>
              <a:buNone/>
              <a:defRPr sz="1800">
                <a:solidFill>
                  <a:srgbClr val="000000"/>
                </a:solidFill>
                <a:latin typeface="Calibri"/>
                <a:ea typeface="Calibri"/>
                <a:cs typeface="Calibri"/>
                <a:sym typeface="Calibri"/>
              </a:defRPr>
            </a:lvl9pPr>
          </a:lstStyle>
          <a:p>
            <a:pPr defTabSz="914400">
              <a:buClr>
                <a:srgbClr val="000000"/>
              </a:buClr>
              <a:buFont typeface="Arial"/>
              <a:buNone/>
            </a:pPr>
            <a:fld id="{00000000-1234-1234-1234-123412341234}" type="slidenum">
              <a:rPr lang="en-US" kern="0"/>
              <a:pPr defTabSz="914400">
                <a:buClr>
                  <a:srgbClr val="000000"/>
                </a:buClr>
                <a:buFont typeface="Arial"/>
                <a:buNone/>
              </a:pPr>
              <a:t>‹#›</a:t>
            </a:fld>
            <a:endParaRPr kern="0"/>
          </a:p>
        </p:txBody>
      </p:sp>
    </p:spTree>
    <p:extLst>
      <p:ext uri="{BB962C8B-B14F-4D97-AF65-F5344CB8AC3E}">
        <p14:creationId xmlns:p14="http://schemas.microsoft.com/office/powerpoint/2010/main" val="16466055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8"/>
        <p:cNvGrpSpPr/>
        <p:nvPr/>
      </p:nvGrpSpPr>
      <p:grpSpPr>
        <a:xfrm>
          <a:off x="0" y="0"/>
          <a:ext cx="0" cy="0"/>
          <a:chOff x="0" y="0"/>
          <a:chExt cx="0" cy="0"/>
        </a:xfrm>
      </p:grpSpPr>
      <p:sp>
        <p:nvSpPr>
          <p:cNvPr id="99" name="Google Shape;99;p13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extLst>
      <p:ext uri="{BB962C8B-B14F-4D97-AF65-F5344CB8AC3E}">
        <p14:creationId xmlns:p14="http://schemas.microsoft.com/office/powerpoint/2010/main" val="16187141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100"/>
        <p:cNvGrpSpPr/>
        <p:nvPr/>
      </p:nvGrpSpPr>
      <p:grpSpPr>
        <a:xfrm>
          <a:off x="0" y="0"/>
          <a:ext cx="0" cy="0"/>
          <a:chOff x="0" y="0"/>
          <a:chExt cx="0" cy="0"/>
        </a:xfrm>
      </p:grpSpPr>
      <p:sp>
        <p:nvSpPr>
          <p:cNvPr id="101" name="Google Shape;101;p13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extLst>
      <p:ext uri="{BB962C8B-B14F-4D97-AF65-F5344CB8AC3E}">
        <p14:creationId xmlns:p14="http://schemas.microsoft.com/office/powerpoint/2010/main" val="29617030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Title and Content" type="obj">
  <p:cSld name="1_Title and Content">
    <p:spTree>
      <p:nvGrpSpPr>
        <p:cNvPr id="1" name="Shape 102"/>
        <p:cNvGrpSpPr/>
        <p:nvPr/>
      </p:nvGrpSpPr>
      <p:grpSpPr>
        <a:xfrm>
          <a:off x="0" y="0"/>
          <a:ext cx="0" cy="0"/>
          <a:chOff x="0" y="0"/>
          <a:chExt cx="0" cy="0"/>
        </a:xfrm>
      </p:grpSpPr>
      <p:sp>
        <p:nvSpPr>
          <p:cNvPr id="103" name="Google Shape;103;p135"/>
          <p:cNvSpPr txBox="1">
            <a:spLocks noGrp="1"/>
          </p:cNvSpPr>
          <p:nvPr>
            <p:ph type="title"/>
          </p:nvPr>
        </p:nvSpPr>
        <p:spPr>
          <a:xfrm>
            <a:off x="0" y="0"/>
            <a:ext cx="4000000" cy="3000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4" name="Google Shape;104;p135"/>
          <p:cNvSpPr txBox="1">
            <a:spLocks noGrp="1"/>
          </p:cNvSpPr>
          <p:nvPr>
            <p:ph type="body" idx="1"/>
          </p:nvPr>
        </p:nvSpPr>
        <p:spPr>
          <a:xfrm>
            <a:off x="0" y="0"/>
            <a:ext cx="4000000" cy="30000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5" name="Google Shape;105;p135"/>
          <p:cNvSpPr txBox="1">
            <a:spLocks noGrp="1"/>
          </p:cNvSpPr>
          <p:nvPr>
            <p:ph type="ftr" idx="11"/>
          </p:nvPr>
        </p:nvSpPr>
        <p:spPr>
          <a:xfrm>
            <a:off x="0" y="0"/>
            <a:ext cx="4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defTabSz="914400">
              <a:buClr>
                <a:srgbClr val="000000"/>
              </a:buClr>
              <a:buFont typeface="Arial"/>
              <a:buNone/>
            </a:pPr>
            <a:endParaRPr kern="0">
              <a:solidFill>
                <a:srgbClr val="000000"/>
              </a:solidFill>
            </a:endParaRPr>
          </a:p>
        </p:txBody>
      </p:sp>
      <p:sp>
        <p:nvSpPr>
          <p:cNvPr id="106" name="Google Shape;106;p135"/>
          <p:cNvSpPr txBox="1">
            <a:spLocks noGrp="1"/>
          </p:cNvSpPr>
          <p:nvPr>
            <p:ph type="sldNum" idx="12"/>
          </p:nvPr>
        </p:nvSpPr>
        <p:spPr>
          <a:xfrm>
            <a:off x="0" y="0"/>
            <a:ext cx="4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000000"/>
                </a:solidFill>
                <a:latin typeface="Calibri"/>
                <a:ea typeface="Calibri"/>
                <a:cs typeface="Calibri"/>
                <a:sym typeface="Calibri"/>
              </a:defRPr>
            </a:lvl1pPr>
            <a:lvl2pPr marL="0" marR="0" lvl="1" indent="0" algn="l" rtl="0">
              <a:spcBef>
                <a:spcPts val="0"/>
              </a:spcBef>
              <a:buNone/>
              <a:defRPr sz="1800">
                <a:solidFill>
                  <a:srgbClr val="000000"/>
                </a:solidFill>
                <a:latin typeface="Calibri"/>
                <a:ea typeface="Calibri"/>
                <a:cs typeface="Calibri"/>
                <a:sym typeface="Calibri"/>
              </a:defRPr>
            </a:lvl2pPr>
            <a:lvl3pPr marL="0" marR="0" lvl="2" indent="0" algn="l" rtl="0">
              <a:spcBef>
                <a:spcPts val="0"/>
              </a:spcBef>
              <a:buNone/>
              <a:defRPr sz="1800">
                <a:solidFill>
                  <a:srgbClr val="000000"/>
                </a:solidFill>
                <a:latin typeface="Calibri"/>
                <a:ea typeface="Calibri"/>
                <a:cs typeface="Calibri"/>
                <a:sym typeface="Calibri"/>
              </a:defRPr>
            </a:lvl3pPr>
            <a:lvl4pPr marL="0" marR="0" lvl="3" indent="0" algn="l" rtl="0">
              <a:spcBef>
                <a:spcPts val="0"/>
              </a:spcBef>
              <a:buNone/>
              <a:defRPr sz="1800">
                <a:solidFill>
                  <a:srgbClr val="000000"/>
                </a:solidFill>
                <a:latin typeface="Calibri"/>
                <a:ea typeface="Calibri"/>
                <a:cs typeface="Calibri"/>
                <a:sym typeface="Calibri"/>
              </a:defRPr>
            </a:lvl4pPr>
            <a:lvl5pPr marL="0" marR="0" lvl="4" indent="0" algn="l" rtl="0">
              <a:spcBef>
                <a:spcPts val="0"/>
              </a:spcBef>
              <a:buNone/>
              <a:defRPr sz="1800">
                <a:solidFill>
                  <a:srgbClr val="000000"/>
                </a:solidFill>
                <a:latin typeface="Calibri"/>
                <a:ea typeface="Calibri"/>
                <a:cs typeface="Calibri"/>
                <a:sym typeface="Calibri"/>
              </a:defRPr>
            </a:lvl5pPr>
            <a:lvl6pPr marL="0" marR="0" lvl="5" indent="0" algn="l" rtl="0">
              <a:spcBef>
                <a:spcPts val="0"/>
              </a:spcBef>
              <a:buNone/>
              <a:defRPr sz="1800">
                <a:solidFill>
                  <a:srgbClr val="000000"/>
                </a:solidFill>
                <a:latin typeface="Calibri"/>
                <a:ea typeface="Calibri"/>
                <a:cs typeface="Calibri"/>
                <a:sym typeface="Calibri"/>
              </a:defRPr>
            </a:lvl6pPr>
            <a:lvl7pPr marL="0" marR="0" lvl="6" indent="0" algn="l" rtl="0">
              <a:spcBef>
                <a:spcPts val="0"/>
              </a:spcBef>
              <a:buNone/>
              <a:defRPr sz="1800">
                <a:solidFill>
                  <a:srgbClr val="000000"/>
                </a:solidFill>
                <a:latin typeface="Calibri"/>
                <a:ea typeface="Calibri"/>
                <a:cs typeface="Calibri"/>
                <a:sym typeface="Calibri"/>
              </a:defRPr>
            </a:lvl7pPr>
            <a:lvl8pPr marL="0" marR="0" lvl="7" indent="0" algn="l" rtl="0">
              <a:spcBef>
                <a:spcPts val="0"/>
              </a:spcBef>
              <a:buNone/>
              <a:defRPr sz="1800">
                <a:solidFill>
                  <a:srgbClr val="000000"/>
                </a:solidFill>
                <a:latin typeface="Calibri"/>
                <a:ea typeface="Calibri"/>
                <a:cs typeface="Calibri"/>
                <a:sym typeface="Calibri"/>
              </a:defRPr>
            </a:lvl8pPr>
            <a:lvl9pPr marL="0" marR="0" lvl="8" indent="0" algn="l" rtl="0">
              <a:spcBef>
                <a:spcPts val="0"/>
              </a:spcBef>
              <a:buNone/>
              <a:defRPr sz="1800">
                <a:solidFill>
                  <a:srgbClr val="000000"/>
                </a:solidFill>
                <a:latin typeface="Calibri"/>
                <a:ea typeface="Calibri"/>
                <a:cs typeface="Calibri"/>
                <a:sym typeface="Calibri"/>
              </a:defRPr>
            </a:lvl9pPr>
          </a:lstStyle>
          <a:p>
            <a:pPr defTabSz="914400">
              <a:buClr>
                <a:srgbClr val="000000"/>
              </a:buClr>
              <a:buFont typeface="Arial"/>
              <a:buNone/>
            </a:pPr>
            <a:r>
              <a:rPr lang="en-US" kern="0"/>
              <a:t>1-</a:t>
            </a:r>
            <a:fld id="{00000000-1234-1234-1234-123412341234}" type="slidenum">
              <a:rPr lang="en-US" kern="0"/>
              <a:pPr defTabSz="914400">
                <a:buClr>
                  <a:srgbClr val="000000"/>
                </a:buClr>
                <a:buFont typeface="Arial"/>
                <a:buNone/>
              </a:pPr>
              <a:t>‹#›</a:t>
            </a:fld>
            <a:endParaRPr kern="0"/>
          </a:p>
        </p:txBody>
      </p:sp>
    </p:spTree>
    <p:extLst>
      <p:ext uri="{BB962C8B-B14F-4D97-AF65-F5344CB8AC3E}">
        <p14:creationId xmlns:p14="http://schemas.microsoft.com/office/powerpoint/2010/main" val="2729308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theme" Target="../theme/theme2.xml"/><Relationship Id="rId3" Type="http://schemas.openxmlformats.org/officeDocument/2006/relationships/slideLayout" Target="../slideLayouts/slideLayout15.xml"/><Relationship Id="rId21" Type="http://schemas.openxmlformats.org/officeDocument/2006/relationships/image" Target="../media/image3.png"/><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image" Target="../media/image1.png"/><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CB026D-A296-4D8B-B7BF-FAA91C6FE161}" type="datetime1">
              <a:rPr lang="en-US" smtClean="0"/>
              <a:t>11/11/2024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5E5CB-9241-4665-889D-78B918CC363E}" type="slidenum">
              <a:rPr lang="en-US" smtClean="0"/>
              <a:t>‹#›</a:t>
            </a:fld>
            <a:endParaRPr lang="en-US"/>
          </a:p>
        </p:txBody>
      </p:sp>
    </p:spTree>
    <p:extLst>
      <p:ext uri="{BB962C8B-B14F-4D97-AF65-F5344CB8AC3E}">
        <p14:creationId xmlns:p14="http://schemas.microsoft.com/office/powerpoint/2010/main" val="34730061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8"/>
          <p:cNvSpPr txBox="1"/>
          <p:nvPr/>
        </p:nvSpPr>
        <p:spPr>
          <a:xfrm>
            <a:off x="1531262" y="294320"/>
            <a:ext cx="9129487" cy="737960"/>
          </a:xfrm>
          <a:prstGeom prst="rect">
            <a:avLst/>
          </a:prstGeom>
          <a:noFill/>
          <a:ln>
            <a:noFill/>
          </a:ln>
        </p:spPr>
        <p:txBody>
          <a:bodyPr spcFirstLastPara="1" wrap="square" lIns="91425" tIns="45700" rIns="91425" bIns="45700" anchor="t" anchorCtr="0">
            <a:noAutofit/>
          </a:bodyPr>
          <a:lstStyle/>
          <a:p>
            <a:pPr algn="ctr" defTabSz="914400">
              <a:lnSpc>
                <a:spcPct val="90000"/>
              </a:lnSpc>
              <a:buClr>
                <a:srgbClr val="000000"/>
              </a:buClr>
              <a:buSzPts val="4400"/>
              <a:buFont typeface="Calibri"/>
              <a:buNone/>
            </a:pPr>
            <a:endParaRPr sz="4400" kern="0">
              <a:solidFill>
                <a:srgbClr val="000000"/>
              </a:solidFill>
              <a:latin typeface="Calibri"/>
              <a:ea typeface="Calibri"/>
              <a:cs typeface="Calibri"/>
              <a:sym typeface="Calibri"/>
            </a:endParaRPr>
          </a:p>
        </p:txBody>
      </p:sp>
      <p:sp>
        <p:nvSpPr>
          <p:cNvPr id="11" name="Google Shape;11;p118"/>
          <p:cNvSpPr txBox="1"/>
          <p:nvPr/>
        </p:nvSpPr>
        <p:spPr>
          <a:xfrm>
            <a:off x="432525" y="6373661"/>
            <a:ext cx="1941287" cy="365125"/>
          </a:xfrm>
          <a:prstGeom prst="rect">
            <a:avLst/>
          </a:prstGeom>
          <a:noFill/>
          <a:ln>
            <a:noFill/>
          </a:ln>
        </p:spPr>
        <p:txBody>
          <a:bodyPr spcFirstLastPara="1" wrap="square" lIns="91425" tIns="45700" rIns="91425" bIns="45700" anchor="t" anchorCtr="0">
            <a:noAutofit/>
          </a:bodyPr>
          <a:lstStyle/>
          <a:p>
            <a:pPr algn="ctr" defTabSz="914400">
              <a:buClr>
                <a:srgbClr val="000000"/>
              </a:buClr>
              <a:buFont typeface="Arial"/>
              <a:buNone/>
            </a:pPr>
            <a:r>
              <a:rPr lang="en-US" sz="1400" b="1" kern="0">
                <a:solidFill>
                  <a:srgbClr val="FFFFFF"/>
                </a:solidFill>
                <a:latin typeface="Times New Roman"/>
                <a:ea typeface="Times New Roman"/>
                <a:cs typeface="Times New Roman"/>
                <a:sym typeface="Times New Roman"/>
              </a:rPr>
              <a:t>12/5/2022</a:t>
            </a:r>
            <a:endParaRPr sz="1400" b="1" kern="0">
              <a:solidFill>
                <a:srgbClr val="FFFFFF"/>
              </a:solidFill>
              <a:latin typeface="Times New Roman"/>
              <a:ea typeface="Times New Roman"/>
              <a:cs typeface="Times New Roman"/>
              <a:sym typeface="Times New Roman"/>
            </a:endParaRPr>
          </a:p>
        </p:txBody>
      </p:sp>
      <p:sp>
        <p:nvSpPr>
          <p:cNvPr id="12" name="Google Shape;12;p118"/>
          <p:cNvSpPr txBox="1"/>
          <p:nvPr/>
        </p:nvSpPr>
        <p:spPr>
          <a:xfrm>
            <a:off x="10986933" y="6347058"/>
            <a:ext cx="801915" cy="365125"/>
          </a:xfrm>
          <a:prstGeom prst="rect">
            <a:avLst/>
          </a:prstGeom>
          <a:noFill/>
          <a:ln>
            <a:noFill/>
          </a:ln>
        </p:spPr>
        <p:txBody>
          <a:bodyPr spcFirstLastPara="1" wrap="square" lIns="91425" tIns="45700" rIns="91425" bIns="45700" anchor="t" anchorCtr="0">
            <a:noAutofit/>
          </a:bodyPr>
          <a:lstStyle/>
          <a:p>
            <a:pPr algn="ctr" defTabSz="914400">
              <a:buClr>
                <a:srgbClr val="000000"/>
              </a:buClr>
              <a:buFont typeface="Arial"/>
              <a:buNone/>
            </a:pPr>
            <a:fld id="{00000000-1234-1234-1234-123412341234}" type="slidenum">
              <a:rPr lang="en-US" sz="1400" b="1" kern="0">
                <a:solidFill>
                  <a:srgbClr val="FFFFFF"/>
                </a:solidFill>
                <a:latin typeface="Times New Roman"/>
                <a:ea typeface="Times New Roman"/>
                <a:cs typeface="Times New Roman"/>
                <a:sym typeface="Times New Roman"/>
              </a:rPr>
              <a:pPr algn="ctr" defTabSz="914400">
                <a:buClr>
                  <a:srgbClr val="000000"/>
                </a:buClr>
                <a:buFont typeface="Arial"/>
                <a:buNone/>
              </a:pPr>
              <a:t>‹#›</a:t>
            </a:fld>
            <a:endParaRPr sz="1400" b="1" kern="0">
              <a:solidFill>
                <a:srgbClr val="FFFFFF"/>
              </a:solidFill>
              <a:latin typeface="Times New Roman"/>
              <a:ea typeface="Times New Roman"/>
              <a:cs typeface="Times New Roman"/>
              <a:sym typeface="Times New Roman"/>
            </a:endParaRPr>
          </a:p>
        </p:txBody>
      </p:sp>
      <p:cxnSp>
        <p:nvCxnSpPr>
          <p:cNvPr id="13" name="Google Shape;13;p118"/>
          <p:cNvCxnSpPr/>
          <p:nvPr/>
        </p:nvCxnSpPr>
        <p:spPr>
          <a:xfrm>
            <a:off x="231905" y="524448"/>
            <a:ext cx="20027" cy="5873873"/>
          </a:xfrm>
          <a:prstGeom prst="straightConnector1">
            <a:avLst/>
          </a:prstGeom>
          <a:noFill/>
          <a:ln w="9525" cap="flat" cmpd="sng">
            <a:solidFill>
              <a:schemeClr val="accent2"/>
            </a:solidFill>
            <a:prstDash val="solid"/>
            <a:miter lim="800000"/>
            <a:headEnd type="none" w="sm" len="sm"/>
            <a:tailEnd type="none" w="sm" len="sm"/>
          </a:ln>
        </p:spPr>
      </p:cxnSp>
      <p:cxnSp>
        <p:nvCxnSpPr>
          <p:cNvPr id="14" name="Google Shape;14;p118"/>
          <p:cNvCxnSpPr/>
          <p:nvPr/>
        </p:nvCxnSpPr>
        <p:spPr>
          <a:xfrm>
            <a:off x="11945044" y="135448"/>
            <a:ext cx="19165" cy="6100958"/>
          </a:xfrm>
          <a:prstGeom prst="straightConnector1">
            <a:avLst/>
          </a:prstGeom>
          <a:noFill/>
          <a:ln w="9525" cap="flat" cmpd="sng">
            <a:solidFill>
              <a:schemeClr val="accent2"/>
            </a:solidFill>
            <a:prstDash val="solid"/>
            <a:miter lim="800000"/>
            <a:headEnd type="none" w="sm" len="sm"/>
            <a:tailEnd type="none" w="sm" len="sm"/>
          </a:ln>
        </p:spPr>
      </p:cxnSp>
      <p:cxnSp>
        <p:nvCxnSpPr>
          <p:cNvPr id="15" name="Google Shape;15;p118"/>
          <p:cNvCxnSpPr/>
          <p:nvPr/>
        </p:nvCxnSpPr>
        <p:spPr>
          <a:xfrm>
            <a:off x="572365" y="135448"/>
            <a:ext cx="11382259" cy="0"/>
          </a:xfrm>
          <a:prstGeom prst="straightConnector1">
            <a:avLst/>
          </a:prstGeom>
          <a:noFill/>
          <a:ln w="9525" cap="flat" cmpd="sng">
            <a:solidFill>
              <a:schemeClr val="accent2"/>
            </a:solidFill>
            <a:prstDash val="solid"/>
            <a:miter lim="800000"/>
            <a:headEnd type="none" w="sm" len="sm"/>
            <a:tailEnd type="none" w="sm" len="sm"/>
          </a:ln>
        </p:spPr>
      </p:cxnSp>
      <p:cxnSp>
        <p:nvCxnSpPr>
          <p:cNvPr id="16" name="Google Shape;16;p118"/>
          <p:cNvCxnSpPr/>
          <p:nvPr/>
        </p:nvCxnSpPr>
        <p:spPr>
          <a:xfrm rot="-5400000" flipH="1">
            <a:off x="265582" y="6384665"/>
            <a:ext cx="293100" cy="320400"/>
          </a:xfrm>
          <a:prstGeom prst="curvedConnector3">
            <a:avLst>
              <a:gd name="adj1" fmla="val 50000"/>
            </a:avLst>
          </a:prstGeom>
          <a:noFill/>
          <a:ln w="9525" cap="flat" cmpd="sng">
            <a:solidFill>
              <a:schemeClr val="accent2"/>
            </a:solidFill>
            <a:prstDash val="solid"/>
            <a:miter lim="800000"/>
            <a:headEnd type="none" w="sm" len="sm"/>
            <a:tailEnd type="none" w="sm" len="sm"/>
          </a:ln>
        </p:spPr>
      </p:cxnSp>
      <p:cxnSp>
        <p:nvCxnSpPr>
          <p:cNvPr id="17" name="Google Shape;17;p118"/>
          <p:cNvCxnSpPr/>
          <p:nvPr/>
        </p:nvCxnSpPr>
        <p:spPr>
          <a:xfrm rot="5400000">
            <a:off x="11558409" y="6285407"/>
            <a:ext cx="454800" cy="356800"/>
          </a:xfrm>
          <a:prstGeom prst="curvedConnector3">
            <a:avLst>
              <a:gd name="adj1" fmla="val 50000"/>
            </a:avLst>
          </a:prstGeom>
          <a:noFill/>
          <a:ln w="9525" cap="flat" cmpd="sng">
            <a:solidFill>
              <a:schemeClr val="accent2"/>
            </a:solidFill>
            <a:prstDash val="solid"/>
            <a:miter lim="800000"/>
            <a:headEnd type="none" w="sm" len="sm"/>
            <a:tailEnd type="none" w="sm" len="sm"/>
          </a:ln>
        </p:spPr>
      </p:cxnSp>
      <p:pic>
        <p:nvPicPr>
          <p:cNvPr id="18" name="Google Shape;18;p118"/>
          <p:cNvPicPr preferRelativeResize="0"/>
          <p:nvPr/>
        </p:nvPicPr>
        <p:blipFill rotWithShape="1">
          <a:blip r:embed="rId19">
            <a:alphaModFix/>
          </a:blip>
          <a:srcRect/>
          <a:stretch/>
        </p:blipFill>
        <p:spPr>
          <a:xfrm>
            <a:off x="610" y="135448"/>
            <a:ext cx="566959" cy="6722552"/>
          </a:xfrm>
          <a:prstGeom prst="rect">
            <a:avLst/>
          </a:prstGeom>
          <a:noFill/>
          <a:ln>
            <a:noFill/>
          </a:ln>
        </p:spPr>
      </p:pic>
      <p:pic>
        <p:nvPicPr>
          <p:cNvPr id="19" name="Google Shape;19;p118"/>
          <p:cNvPicPr preferRelativeResize="0"/>
          <p:nvPr/>
        </p:nvPicPr>
        <p:blipFill rotWithShape="1">
          <a:blip r:embed="rId20">
            <a:alphaModFix/>
          </a:blip>
          <a:srcRect/>
          <a:stretch/>
        </p:blipFill>
        <p:spPr>
          <a:xfrm>
            <a:off x="572789" y="135448"/>
            <a:ext cx="204457" cy="5305232"/>
          </a:xfrm>
          <a:prstGeom prst="rect">
            <a:avLst/>
          </a:prstGeom>
          <a:noFill/>
          <a:ln>
            <a:noFill/>
          </a:ln>
        </p:spPr>
      </p:pic>
      <p:pic>
        <p:nvPicPr>
          <p:cNvPr id="20" name="Google Shape;20;p118" descr="A close up of a sign&#10;&#10;Description automatically generated"/>
          <p:cNvPicPr preferRelativeResize="0"/>
          <p:nvPr/>
        </p:nvPicPr>
        <p:blipFill rotWithShape="1">
          <a:blip r:embed="rId21">
            <a:alphaModFix/>
          </a:blip>
          <a:srcRect/>
          <a:stretch/>
        </p:blipFill>
        <p:spPr>
          <a:xfrm>
            <a:off x="11095529" y="6043832"/>
            <a:ext cx="868683" cy="647487"/>
          </a:xfrm>
          <a:prstGeom prst="rect">
            <a:avLst/>
          </a:prstGeom>
          <a:noFill/>
          <a:ln>
            <a:noFill/>
          </a:ln>
        </p:spPr>
      </p:pic>
      <p:pic>
        <p:nvPicPr>
          <p:cNvPr id="21" name="Google Shape;21;p118" descr="A picture containing drawing&#10;&#10;Description automatically generated"/>
          <p:cNvPicPr preferRelativeResize="0"/>
          <p:nvPr/>
        </p:nvPicPr>
        <p:blipFill rotWithShape="1">
          <a:blip r:embed="rId22">
            <a:alphaModFix/>
          </a:blip>
          <a:srcRect/>
          <a:stretch/>
        </p:blipFill>
        <p:spPr>
          <a:xfrm>
            <a:off x="605" y="6214968"/>
            <a:ext cx="2655568" cy="663892"/>
          </a:xfrm>
          <a:prstGeom prst="rect">
            <a:avLst/>
          </a:prstGeom>
          <a:noFill/>
          <a:ln>
            <a:noFill/>
          </a:ln>
        </p:spPr>
      </p:pic>
      <p:pic>
        <p:nvPicPr>
          <p:cNvPr id="22" name="Google Shape;22;p118"/>
          <p:cNvPicPr preferRelativeResize="0"/>
          <p:nvPr/>
        </p:nvPicPr>
        <p:blipFill rotWithShape="1">
          <a:blip r:embed="rId19">
            <a:alphaModFix/>
          </a:blip>
          <a:srcRect/>
          <a:stretch/>
        </p:blipFill>
        <p:spPr>
          <a:xfrm rot="5400000">
            <a:off x="6714495" y="2503271"/>
            <a:ext cx="385984" cy="8376080"/>
          </a:xfrm>
          <a:prstGeom prst="rect">
            <a:avLst/>
          </a:prstGeom>
          <a:noFill/>
          <a:ln>
            <a:noFill/>
          </a:ln>
        </p:spPr>
      </p:pic>
      <p:pic>
        <p:nvPicPr>
          <p:cNvPr id="23" name="Google Shape;23;p118"/>
          <p:cNvPicPr preferRelativeResize="0"/>
          <p:nvPr/>
        </p:nvPicPr>
        <p:blipFill rotWithShape="1">
          <a:blip r:embed="rId20">
            <a:alphaModFix/>
          </a:blip>
          <a:srcRect/>
          <a:stretch/>
        </p:blipFill>
        <p:spPr>
          <a:xfrm rot="5400000">
            <a:off x="6820535" y="2236946"/>
            <a:ext cx="173904" cy="8376079"/>
          </a:xfrm>
          <a:prstGeom prst="rect">
            <a:avLst/>
          </a:prstGeom>
          <a:noFill/>
          <a:ln>
            <a:noFill/>
          </a:ln>
        </p:spPr>
      </p:pic>
    </p:spTree>
    <p:extLst>
      <p:ext uri="{BB962C8B-B14F-4D97-AF65-F5344CB8AC3E}">
        <p14:creationId xmlns:p14="http://schemas.microsoft.com/office/powerpoint/2010/main" val="4149022540"/>
      </p:ext>
    </p:extLst>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7.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5" Type="http://schemas.openxmlformats.org/officeDocument/2006/relationships/image" Target="../media/image7.jp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5" Type="http://schemas.openxmlformats.org/officeDocument/2006/relationships/image" Target="../media/image7.jp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5" Type="http://schemas.openxmlformats.org/officeDocument/2006/relationships/image" Target="../media/image7.jp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5" Type="http://schemas.openxmlformats.org/officeDocument/2006/relationships/image" Target="../media/image7.jpg"/><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6" Type="http://schemas.openxmlformats.org/officeDocument/2006/relationships/image" Target="../media/image11.png"/><Relationship Id="rId5" Type="http://schemas.openxmlformats.org/officeDocument/2006/relationships/image" Target="../media/image7.jp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6" Type="http://schemas.openxmlformats.org/officeDocument/2006/relationships/image" Target="../media/image12.png"/><Relationship Id="rId5" Type="http://schemas.openxmlformats.org/officeDocument/2006/relationships/image" Target="../media/image7.jp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5" Type="http://schemas.openxmlformats.org/officeDocument/2006/relationships/image" Target="../media/image7.jpg"/><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6" Type="http://schemas.openxmlformats.org/officeDocument/2006/relationships/image" Target="../media/image13.png"/><Relationship Id="rId5" Type="http://schemas.openxmlformats.org/officeDocument/2006/relationships/image" Target="../media/image7.jpg"/><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6" Type="http://schemas.openxmlformats.org/officeDocument/2006/relationships/image" Target="../media/image13.png"/><Relationship Id="rId5" Type="http://schemas.openxmlformats.org/officeDocument/2006/relationships/image" Target="../media/image7.jpg"/><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6" Type="http://schemas.openxmlformats.org/officeDocument/2006/relationships/image" Target="../media/image13.png"/><Relationship Id="rId5" Type="http://schemas.openxmlformats.org/officeDocument/2006/relationships/image" Target="../media/image7.jpg"/><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6" Type="http://schemas.openxmlformats.org/officeDocument/2006/relationships/image" Target="../media/image14.png"/><Relationship Id="rId5" Type="http://schemas.openxmlformats.org/officeDocument/2006/relationships/image" Target="../media/image7.jpg"/><Relationship Id="rId4" Type="http://schemas.openxmlformats.org/officeDocument/2006/relationships/image" Target="../media/image6.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6" Type="http://schemas.openxmlformats.org/officeDocument/2006/relationships/image" Target="../media/image14.png"/><Relationship Id="rId5" Type="http://schemas.openxmlformats.org/officeDocument/2006/relationships/image" Target="../media/image7.jpg"/><Relationship Id="rId4" Type="http://schemas.openxmlformats.org/officeDocument/2006/relationships/image" Target="../media/image6.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5" Type="http://schemas.openxmlformats.org/officeDocument/2006/relationships/image" Target="../media/image7.jpg"/><Relationship Id="rId4" Type="http://schemas.openxmlformats.org/officeDocument/2006/relationships/image" Target="../media/image6.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9.xml"/><Relationship Id="rId5" Type="http://schemas.openxmlformats.org/officeDocument/2006/relationships/image" Target="../media/image7.jpg"/><Relationship Id="rId4" Type="http://schemas.openxmlformats.org/officeDocument/2006/relationships/image" Target="../media/image6.png"/></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4.xml"/><Relationship Id="rId6" Type="http://schemas.openxmlformats.org/officeDocument/2006/relationships/image" Target="../media/image15.jpg"/><Relationship Id="rId5" Type="http://schemas.openxmlformats.org/officeDocument/2006/relationships/image" Target="../media/image6.png"/><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15.jpg"/><Relationship Id="rId5" Type="http://schemas.openxmlformats.org/officeDocument/2006/relationships/image" Target="../media/image6.png"/><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4.xml"/><Relationship Id="rId6" Type="http://schemas.openxmlformats.org/officeDocument/2006/relationships/image" Target="../media/image15.jpg"/><Relationship Id="rId5" Type="http://schemas.openxmlformats.org/officeDocument/2006/relationships/image" Target="../media/image6.png"/><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7.jpg"/><Relationship Id="rId4" Type="http://schemas.openxmlformats.org/officeDocument/2006/relationships/image" Target="../media/image6.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7.jpg"/><Relationship Id="rId4" Type="http://schemas.openxmlformats.org/officeDocument/2006/relationships/image" Target="../media/image6.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7.jpg"/><Relationship Id="rId4" Type="http://schemas.openxmlformats.org/officeDocument/2006/relationships/image" Target="../media/image6.png"/></Relationships>
</file>

<file path=ppt/slides/_rels/slide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7.jpg"/><Relationship Id="rId4" Type="http://schemas.openxmlformats.org/officeDocument/2006/relationships/image" Target="../media/image6.png"/></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0.gi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7.jpg"/><Relationship Id="rId4" Type="http://schemas.openxmlformats.org/officeDocument/2006/relationships/image" Target="../media/image6.pn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7.jpg"/><Relationship Id="rId4" Type="http://schemas.openxmlformats.org/officeDocument/2006/relationships/image" Target="../media/image6.png"/></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7.jpg"/><Relationship Id="rId4" Type="http://schemas.openxmlformats.org/officeDocument/2006/relationships/image" Target="../media/image6.png"/></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7.jpg"/><Relationship Id="rId4" Type="http://schemas.openxmlformats.org/officeDocument/2006/relationships/image" Target="../media/image6.png"/></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7.jpg"/><Relationship Id="rId4" Type="http://schemas.openxmlformats.org/officeDocument/2006/relationships/image" Target="../media/image6.png"/></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7.jpg"/><Relationship Id="rId4" Type="http://schemas.openxmlformats.org/officeDocument/2006/relationships/image" Target="../media/image6.png"/></Relationships>
</file>

<file path=ppt/slides/_rels/slide8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7.jpg"/><Relationship Id="rId4" Type="http://schemas.openxmlformats.org/officeDocument/2006/relationships/image" Target="../media/image6.png"/></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7.jpg"/><Relationship Id="rId4" Type="http://schemas.openxmlformats.org/officeDocument/2006/relationships/image" Target="../media/image6.png"/></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5" Type="http://schemas.openxmlformats.org/officeDocument/2006/relationships/image" Target="../media/image7.jpg"/><Relationship Id="rId4" Type="http://schemas.openxmlformats.org/officeDocument/2006/relationships/image" Target="../media/image6.png"/></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5" Type="http://schemas.openxmlformats.org/officeDocument/2006/relationships/image" Target="../media/image7.jpg"/><Relationship Id="rId4" Type="http://schemas.openxmlformats.org/officeDocument/2006/relationships/image" Target="../media/image6.png"/></Relationships>
</file>

<file path=ppt/slides/_rels/slide9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2.png"/></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0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0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0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5" Type="http://schemas.openxmlformats.org/officeDocument/2006/relationships/image" Target="../media/image7.jpg"/><Relationship Id="rId4" Type="http://schemas.openxmlformats.org/officeDocument/2006/relationships/image" Target="../media/image6.png"/></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7.jpg"/><Relationship Id="rId4" Type="http://schemas.openxmlformats.org/officeDocument/2006/relationships/image" Target="../media/image6.png"/></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7.jpg"/><Relationship Id="rId4" Type="http://schemas.openxmlformats.org/officeDocument/2006/relationships/image" Target="../media/image6.png"/></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2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7.jpg"/><Relationship Id="rId4" Type="http://schemas.openxmlformats.org/officeDocument/2006/relationships/image" Target="../media/image6.png"/></Relationships>
</file>

<file path=ppt/slides/_rels/slide1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 xmlns:a16="http://schemas.microsoft.com/office/drawing/2014/main" id="{98058B23-DDE2-4F62-9A2E-46739C3C685F}"/>
              </a:ext>
            </a:extLst>
          </p:cNvPr>
          <p:cNvSpPr>
            <a:spLocks noGrp="1"/>
          </p:cNvSpPr>
          <p:nvPr>
            <p:ph type="title"/>
          </p:nvPr>
        </p:nvSpPr>
        <p:spPr/>
        <p:txBody>
          <a:bodyPr/>
          <a:lstStyle/>
          <a:p>
            <a:pPr algn="ctr"/>
            <a:r>
              <a:rPr lang="en-US" dirty="0">
                <a:solidFill>
                  <a:srgbClr val="C00000"/>
                </a:solidFill>
                <a:latin typeface="Marcellus" panose="020E0602050203020307" pitchFamily="34" charset="0"/>
              </a:rPr>
              <a:t>Process Synchronization</a:t>
            </a:r>
            <a:endParaRPr lang="en-US" dirty="0"/>
          </a:p>
        </p:txBody>
      </p:sp>
      <p:pic>
        <p:nvPicPr>
          <p:cNvPr id="4" name="Picture 3">
            <a:extLst>
              <a:ext uri="{FF2B5EF4-FFF2-40B4-BE49-F238E27FC236}">
                <a16:creationId xmlns="" xmlns:a16="http://schemas.microsoft.com/office/drawing/2014/main" id="{8026AED6-E793-48A3-96AF-36A0D1FE2D70}"/>
              </a:ext>
            </a:extLst>
          </p:cNvPr>
          <p:cNvPicPr>
            <a:picLocks noChangeAspect="1"/>
          </p:cNvPicPr>
          <p:nvPr/>
        </p:nvPicPr>
        <p:blipFill>
          <a:blip r:embed="rId2"/>
          <a:stretch>
            <a:fillRect/>
          </a:stretch>
        </p:blipFill>
        <p:spPr>
          <a:xfrm>
            <a:off x="605" y="2219"/>
            <a:ext cx="566958" cy="6855781"/>
          </a:xfrm>
          <a:prstGeom prst="rect">
            <a:avLst/>
          </a:prstGeom>
        </p:spPr>
      </p:pic>
      <p:pic>
        <p:nvPicPr>
          <p:cNvPr id="5" name="Picture 4">
            <a:extLst>
              <a:ext uri="{FF2B5EF4-FFF2-40B4-BE49-F238E27FC236}">
                <a16:creationId xmlns="" xmlns:a16="http://schemas.microsoft.com/office/drawing/2014/main" id="{98F5ADD7-F579-4B31-B088-24730AEA76C9}"/>
              </a:ext>
            </a:extLst>
          </p:cNvPr>
          <p:cNvPicPr>
            <a:picLocks noChangeAspect="1"/>
          </p:cNvPicPr>
          <p:nvPr/>
        </p:nvPicPr>
        <p:blipFill>
          <a:blip r:embed="rId3"/>
          <a:stretch>
            <a:fillRect/>
          </a:stretch>
        </p:blipFill>
        <p:spPr>
          <a:xfrm>
            <a:off x="567563" y="0"/>
            <a:ext cx="209677" cy="5440680"/>
          </a:xfrm>
          <a:prstGeom prst="rect">
            <a:avLst/>
          </a:prstGeom>
        </p:spPr>
      </p:pic>
      <p:pic>
        <p:nvPicPr>
          <p:cNvPr id="11" name="Picture 10" descr="A close up of a sign&#10;&#10;Description automatically generated">
            <a:extLst>
              <a:ext uri="{FF2B5EF4-FFF2-40B4-BE49-F238E27FC236}">
                <a16:creationId xmlns=""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39" y="5830821"/>
            <a:ext cx="868683" cy="647487"/>
          </a:xfrm>
          <a:prstGeom prst="rect">
            <a:avLst/>
          </a:prstGeom>
        </p:spPr>
      </p:pic>
      <p:pic>
        <p:nvPicPr>
          <p:cNvPr id="6" name="Picture 5" descr="A picture containing drawing&#10;&#10;Description automatically generated">
            <a:extLst>
              <a:ext uri="{FF2B5EF4-FFF2-40B4-BE49-F238E27FC236}">
                <a16:creationId xmlns=""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
        <p:nvSpPr>
          <p:cNvPr id="7" name="Date Placeholder 6"/>
          <p:cNvSpPr>
            <a:spLocks noGrp="1"/>
          </p:cNvSpPr>
          <p:nvPr>
            <p:ph type="dt" sz="half" idx="10"/>
          </p:nvPr>
        </p:nvSpPr>
        <p:spPr/>
        <p:txBody>
          <a:bodyPr/>
          <a:lstStyle/>
          <a:p>
            <a:fld id="{51C0C432-DC90-415B-8456-EA8E8B551FE7}" type="datetime1">
              <a:rPr lang="en-US" smtClean="0"/>
              <a:t>11/11/2024</a:t>
            </a:fld>
            <a:endParaRPr lang="en-US"/>
          </a:p>
        </p:txBody>
      </p:sp>
      <p:sp>
        <p:nvSpPr>
          <p:cNvPr id="2" name="TextBox 1"/>
          <p:cNvSpPr txBox="1"/>
          <p:nvPr/>
        </p:nvSpPr>
        <p:spPr>
          <a:xfrm>
            <a:off x="3823855" y="2628900"/>
            <a:ext cx="4339650" cy="1200329"/>
          </a:xfrm>
          <a:prstGeom prst="rect">
            <a:avLst/>
          </a:prstGeom>
          <a:noFill/>
        </p:spPr>
        <p:txBody>
          <a:bodyPr wrap="none" rtlCol="0">
            <a:spAutoFit/>
          </a:bodyPr>
          <a:lstStyle/>
          <a:p>
            <a:r>
              <a:rPr lang="en-IN" sz="3600" dirty="0" err="1" smtClean="0">
                <a:solidFill>
                  <a:srgbClr val="C00000"/>
                </a:solidFill>
                <a:latin typeface="Fira Sans" panose="020B0604020202020204" charset="0"/>
              </a:rPr>
              <a:t>Ms.swati</a:t>
            </a:r>
            <a:r>
              <a:rPr lang="en-IN" sz="3600" dirty="0" smtClean="0">
                <a:solidFill>
                  <a:srgbClr val="C00000"/>
                </a:solidFill>
                <a:latin typeface="Fira Sans" panose="020B0604020202020204" charset="0"/>
              </a:rPr>
              <a:t> Mali</a:t>
            </a:r>
          </a:p>
          <a:p>
            <a:r>
              <a:rPr lang="en-IN" sz="3600" dirty="0" smtClean="0">
                <a:solidFill>
                  <a:srgbClr val="C00000"/>
                </a:solidFill>
                <a:latin typeface="Fira Sans" panose="020B0604020202020204" charset="0"/>
              </a:rPr>
              <a:t>Ms. Nirmala </a:t>
            </a:r>
            <a:r>
              <a:rPr lang="en-IN" sz="3600" dirty="0" err="1" smtClean="0">
                <a:solidFill>
                  <a:srgbClr val="C00000"/>
                </a:solidFill>
                <a:latin typeface="Fira Sans" panose="020B0604020202020204" charset="0"/>
              </a:rPr>
              <a:t>Shinde</a:t>
            </a:r>
            <a:r>
              <a:rPr lang="en-IN" sz="3600" dirty="0" smtClean="0">
                <a:solidFill>
                  <a:srgbClr val="C00000"/>
                </a:solidFill>
                <a:latin typeface="Fira Sans" panose="020B0604020202020204" charset="0"/>
              </a:rPr>
              <a:t> </a:t>
            </a:r>
            <a:endParaRPr lang="en-IN" sz="3600" dirty="0">
              <a:solidFill>
                <a:srgbClr val="C00000"/>
              </a:solidFill>
              <a:latin typeface="Fira Sans" panose="020B0604020202020204" charset="0"/>
            </a:endParaRPr>
          </a:p>
        </p:txBody>
      </p:sp>
    </p:spTree>
    <p:extLst>
      <p:ext uri="{BB962C8B-B14F-4D97-AF65-F5344CB8AC3E}">
        <p14:creationId xmlns:p14="http://schemas.microsoft.com/office/powerpoint/2010/main" val="18557038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2886143" y="539226"/>
            <a:ext cx="7231533" cy="1325563"/>
          </a:xfrm>
        </p:spPr>
        <p:txBody>
          <a:bodyPr>
            <a:normAutofit/>
          </a:bodyPr>
          <a:lstStyle/>
          <a:p>
            <a:r>
              <a:rPr lang="en-US" sz="3200" dirty="0">
                <a:solidFill>
                  <a:srgbClr val="C00000"/>
                </a:solidFill>
                <a:latin typeface="Marcellus" panose="020E0602050203020307" pitchFamily="34" charset="0"/>
              </a:rPr>
              <a:t>Process Synchronization</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sp>
        <p:nvSpPr>
          <p:cNvPr id="10" name="Subtitle 2">
            <a:extLst>
              <a:ext uri="{FF2B5EF4-FFF2-40B4-BE49-F238E27FC236}">
                <a16:creationId xmlns="" xmlns:a16="http://schemas.microsoft.com/office/drawing/2014/main" id="{EC8EF798-510F-46B5-9E56-690162E17571}"/>
              </a:ext>
            </a:extLst>
          </p:cNvPr>
          <p:cNvSpPr txBox="1">
            <a:spLocks/>
          </p:cNvSpPr>
          <p:nvPr/>
        </p:nvSpPr>
        <p:spPr>
          <a:xfrm>
            <a:off x="550832" y="1709788"/>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Processes can execute </a:t>
            </a:r>
            <a:r>
              <a:rPr lang="en-US" altLang="en-US" dirty="0" smtClean="0"/>
              <a:t>concurrently but </a:t>
            </a:r>
            <a:r>
              <a:rPr lang="en-US" altLang="en-US" dirty="0" smtClean="0">
                <a:solidFill>
                  <a:srgbClr val="C00000"/>
                </a:solidFill>
              </a:rPr>
              <a:t>May </a:t>
            </a:r>
            <a:r>
              <a:rPr lang="en-US" altLang="en-US" dirty="0">
                <a:solidFill>
                  <a:srgbClr val="C00000"/>
                </a:solidFill>
              </a:rPr>
              <a:t>be interrupted at any time, partially completing execution</a:t>
            </a:r>
          </a:p>
          <a:p>
            <a:r>
              <a:rPr lang="en-US" altLang="en-US" dirty="0" smtClean="0"/>
              <a:t>Concurrent </a:t>
            </a:r>
            <a:r>
              <a:rPr lang="en-US" altLang="en-US" dirty="0"/>
              <a:t>access to shared data may result in data inconsistency</a:t>
            </a:r>
          </a:p>
          <a:p>
            <a:r>
              <a:rPr lang="en-US" altLang="en-US" dirty="0" smtClean="0"/>
              <a:t>Maintaining </a:t>
            </a:r>
            <a:r>
              <a:rPr lang="en-US" altLang="en-US" dirty="0"/>
              <a:t>data consistency requires </a:t>
            </a:r>
            <a:r>
              <a:rPr lang="en-US" altLang="en-US" dirty="0">
                <a:solidFill>
                  <a:schemeClr val="accent4">
                    <a:lumMod val="60000"/>
                    <a:lumOff val="40000"/>
                  </a:schemeClr>
                </a:solidFill>
              </a:rPr>
              <a:t>mechanisms to ensure the orderly execution of cooperating processes</a:t>
            </a:r>
          </a:p>
          <a:p>
            <a:endParaRPr lang="en-US" dirty="0">
              <a:solidFill>
                <a:schemeClr val="tx1">
                  <a:lumMod val="85000"/>
                  <a:lumOff val="15000"/>
                </a:schemeClr>
              </a:solidFill>
              <a:latin typeface="Marcellus" panose="020E0602050203020307" pitchFamily="34" charset="0"/>
            </a:endParaRPr>
          </a:p>
        </p:txBody>
      </p:sp>
      <p:pic>
        <p:nvPicPr>
          <p:cNvPr id="11" name="Picture 10" descr="A picture containing drawing&#10;&#10;Description automatically generated">
            <a:extLst>
              <a:ext uri="{FF2B5EF4-FFF2-40B4-BE49-F238E27FC236}">
                <a16:creationId xmlns=""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sp>
        <p:nvSpPr>
          <p:cNvPr id="5" name="Date Placeholder 4"/>
          <p:cNvSpPr>
            <a:spLocks noGrp="1"/>
          </p:cNvSpPr>
          <p:nvPr>
            <p:ph type="dt" sz="half" idx="10"/>
          </p:nvPr>
        </p:nvSpPr>
        <p:spPr/>
        <p:txBody>
          <a:bodyPr/>
          <a:lstStyle/>
          <a:p>
            <a:fld id="{40BB4A55-8984-4D74-BE19-107419E324D1}" type="datetime1">
              <a:rPr lang="en-US" smtClean="0"/>
              <a:t>11/11/2024</a:t>
            </a:fld>
            <a:endParaRPr lang="en-US"/>
          </a:p>
        </p:txBody>
      </p:sp>
    </p:spTree>
    <p:extLst>
      <p:ext uri="{BB962C8B-B14F-4D97-AF65-F5344CB8AC3E}">
        <p14:creationId xmlns:p14="http://schemas.microsoft.com/office/powerpoint/2010/main" val="20605620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2886143" y="539226"/>
            <a:ext cx="7231533" cy="1325563"/>
          </a:xfrm>
        </p:spPr>
        <p:txBody>
          <a:bodyPr>
            <a:normAutofit/>
          </a:bodyPr>
          <a:lstStyle/>
          <a:p>
            <a:r>
              <a:rPr lang="en-US" sz="3200" dirty="0" smtClean="0">
                <a:solidFill>
                  <a:srgbClr val="C00000"/>
                </a:solidFill>
                <a:latin typeface="Marcellus" panose="020E0602050203020307" pitchFamily="34" charset="0"/>
              </a:rPr>
              <a:t>Producer Consumer Problem Revisited</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sp>
        <p:nvSpPr>
          <p:cNvPr id="10" name="Subtitle 2">
            <a:extLst>
              <a:ext uri="{FF2B5EF4-FFF2-40B4-BE49-F238E27FC236}">
                <a16:creationId xmlns="" xmlns:a16="http://schemas.microsoft.com/office/drawing/2014/main" id="{EC8EF798-510F-46B5-9E56-690162E17571}"/>
              </a:ext>
            </a:extLst>
          </p:cNvPr>
          <p:cNvSpPr txBox="1">
            <a:spLocks/>
          </p:cNvSpPr>
          <p:nvPr/>
        </p:nvSpPr>
        <p:spPr>
          <a:xfrm>
            <a:off x="550832" y="1709788"/>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Modifying the Bounded Buffer Approach for Producer and Consumer Problem.</a:t>
            </a:r>
          </a:p>
          <a:p>
            <a:endParaRPr lang="en-IN" dirty="0">
              <a:solidFill>
                <a:schemeClr val="tx1">
                  <a:lumMod val="85000"/>
                  <a:lumOff val="15000"/>
                </a:schemeClr>
              </a:solidFill>
              <a:latin typeface="Marcellus" panose="020E0602050203020307" pitchFamily="34" charset="0"/>
            </a:endParaRPr>
          </a:p>
          <a:p>
            <a:r>
              <a:rPr lang="en-US" altLang="en-US" dirty="0" smtClean="0"/>
              <a:t>Having a </a:t>
            </a:r>
            <a:r>
              <a:rPr lang="en-US" altLang="en-US" b="1" dirty="0">
                <a:latin typeface="Courier" pitchFamily="-84" charset="0"/>
              </a:rPr>
              <a:t>counter</a:t>
            </a:r>
            <a:r>
              <a:rPr lang="en-US" altLang="en-US" b="1" dirty="0">
                <a:solidFill>
                  <a:srgbClr val="0000FF"/>
                </a:solidFill>
              </a:rPr>
              <a:t> </a:t>
            </a:r>
            <a:r>
              <a:rPr lang="en-US" altLang="en-US" dirty="0"/>
              <a:t>that keeps track of the number of full buffers</a:t>
            </a:r>
            <a:r>
              <a:rPr lang="en-US" altLang="en-US" dirty="0" smtClean="0"/>
              <a:t>.</a:t>
            </a:r>
          </a:p>
          <a:p>
            <a:pPr lvl="1"/>
            <a:r>
              <a:rPr lang="en-IN" sz="2800" dirty="0"/>
              <a:t>incremented every time  </a:t>
            </a:r>
            <a:r>
              <a:rPr lang="en-IN" sz="2800" dirty="0" smtClean="0"/>
              <a:t>on addition of a </a:t>
            </a:r>
            <a:r>
              <a:rPr lang="en-IN" sz="2800" dirty="0"/>
              <a:t>new item to the buffer </a:t>
            </a:r>
          </a:p>
          <a:p>
            <a:pPr lvl="1"/>
            <a:r>
              <a:rPr lang="en-IN" sz="2800" dirty="0"/>
              <a:t>decremented every time </a:t>
            </a:r>
            <a:r>
              <a:rPr lang="en-IN" sz="2800" dirty="0" smtClean="0"/>
              <a:t>on removal of one </a:t>
            </a:r>
            <a:r>
              <a:rPr lang="en-IN" sz="2800" dirty="0"/>
              <a:t>item from the buffer. </a:t>
            </a:r>
            <a:endParaRPr lang="en-US" sz="2800" dirty="0">
              <a:solidFill>
                <a:schemeClr val="tx1">
                  <a:lumMod val="85000"/>
                  <a:lumOff val="15000"/>
                </a:schemeClr>
              </a:solidFill>
              <a:latin typeface="Marcellus" panose="020E0602050203020307" pitchFamily="34" charset="0"/>
            </a:endParaRPr>
          </a:p>
          <a:p>
            <a:pPr lvl="1"/>
            <a:endParaRPr lang="en-US" dirty="0">
              <a:solidFill>
                <a:schemeClr val="tx1">
                  <a:lumMod val="85000"/>
                  <a:lumOff val="15000"/>
                </a:schemeClr>
              </a:solidFill>
              <a:latin typeface="Marcellus" panose="020E0602050203020307" pitchFamily="34" charset="0"/>
            </a:endParaRPr>
          </a:p>
        </p:txBody>
      </p:sp>
      <p:pic>
        <p:nvPicPr>
          <p:cNvPr id="11" name="Picture 10" descr="A picture containing drawing&#10;&#10;Description automatically generated">
            <a:extLst>
              <a:ext uri="{FF2B5EF4-FFF2-40B4-BE49-F238E27FC236}">
                <a16:creationId xmlns=""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sp>
        <p:nvSpPr>
          <p:cNvPr id="5" name="Date Placeholder 4"/>
          <p:cNvSpPr>
            <a:spLocks noGrp="1"/>
          </p:cNvSpPr>
          <p:nvPr>
            <p:ph type="dt" sz="half" idx="10"/>
          </p:nvPr>
        </p:nvSpPr>
        <p:spPr/>
        <p:txBody>
          <a:bodyPr/>
          <a:lstStyle/>
          <a:p>
            <a:fld id="{66C74A9B-0C38-446A-A450-32DF355AAA43}" type="datetime1">
              <a:rPr lang="en-US" smtClean="0"/>
              <a:t>11/11/2024</a:t>
            </a:fld>
            <a:endParaRPr lang="en-US"/>
          </a:p>
        </p:txBody>
      </p:sp>
    </p:spTree>
    <p:extLst>
      <p:ext uri="{BB962C8B-B14F-4D97-AF65-F5344CB8AC3E}">
        <p14:creationId xmlns:p14="http://schemas.microsoft.com/office/powerpoint/2010/main" val="32228761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2886143" y="539226"/>
            <a:ext cx="7231533" cy="1325563"/>
          </a:xfrm>
        </p:spPr>
        <p:txBody>
          <a:bodyPr>
            <a:normAutofit/>
          </a:bodyPr>
          <a:lstStyle/>
          <a:p>
            <a:r>
              <a:rPr lang="en-US" sz="3200" dirty="0">
                <a:solidFill>
                  <a:srgbClr val="C00000"/>
                </a:solidFill>
                <a:latin typeface="Marcellus" panose="020E0602050203020307" pitchFamily="34" charset="0"/>
              </a:rPr>
              <a:t>Producer Consumer </a:t>
            </a:r>
            <a:r>
              <a:rPr lang="en-US" sz="3200" dirty="0" smtClean="0">
                <a:solidFill>
                  <a:srgbClr val="C00000"/>
                </a:solidFill>
                <a:latin typeface="Marcellus" panose="020E0602050203020307" pitchFamily="34" charset="0"/>
              </a:rPr>
              <a:t>Problem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sp>
        <p:nvSpPr>
          <p:cNvPr id="10" name="Subtitle 2">
            <a:extLst>
              <a:ext uri="{FF2B5EF4-FFF2-40B4-BE49-F238E27FC236}">
                <a16:creationId xmlns="" xmlns:a16="http://schemas.microsoft.com/office/drawing/2014/main" id="{EC8EF798-510F-46B5-9E56-690162E17571}"/>
              </a:ext>
            </a:extLst>
          </p:cNvPr>
          <p:cNvSpPr txBox="1">
            <a:spLocks/>
          </p:cNvSpPr>
          <p:nvPr/>
        </p:nvSpPr>
        <p:spPr>
          <a:xfrm>
            <a:off x="550832" y="1709788"/>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The code for </a:t>
            </a:r>
            <a:r>
              <a:rPr lang="en-IN" dirty="0" smtClean="0"/>
              <a:t>the producer-consumer  </a:t>
            </a:r>
            <a:r>
              <a:rPr lang="en-IN" dirty="0"/>
              <a:t>process can be modified as follows:</a:t>
            </a:r>
            <a:endParaRPr lang="en-US" dirty="0">
              <a:solidFill>
                <a:schemeClr val="tx1">
                  <a:lumMod val="85000"/>
                  <a:lumOff val="15000"/>
                </a:schemeClr>
              </a:solidFill>
              <a:latin typeface="Marcellus" panose="020E0602050203020307" pitchFamily="34" charset="0"/>
            </a:endParaRPr>
          </a:p>
        </p:txBody>
      </p:sp>
      <p:pic>
        <p:nvPicPr>
          <p:cNvPr id="11" name="Picture 10" descr="A picture containing drawing&#10;&#10;Description automatically generated">
            <a:extLst>
              <a:ext uri="{FF2B5EF4-FFF2-40B4-BE49-F238E27FC236}">
                <a16:creationId xmlns=""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pic>
        <p:nvPicPr>
          <p:cNvPr id="1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9239" y="2801175"/>
            <a:ext cx="5304234" cy="2304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76C37F6F-CED9-431D-BBD1-5652AA82B9B4}" type="datetime1">
              <a:rPr lang="en-US" smtClean="0"/>
              <a:t>11/11/2024</a:t>
            </a:fld>
            <a:endParaRPr lang="en-US"/>
          </a:p>
        </p:txBody>
      </p:sp>
      <p:pic>
        <p:nvPicPr>
          <p:cNvPr id="14"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10357" y="2801175"/>
            <a:ext cx="5644653" cy="2304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47679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634373" y="73982"/>
            <a:ext cx="7231533" cy="1325563"/>
          </a:xfrm>
        </p:spPr>
        <p:txBody>
          <a:bodyPr>
            <a:normAutofit/>
          </a:bodyPr>
          <a:lstStyle/>
          <a:p>
            <a:r>
              <a:rPr lang="en-US" sz="3200" dirty="0" smtClean="0">
                <a:solidFill>
                  <a:srgbClr val="C00000"/>
                </a:solidFill>
                <a:latin typeface="Marcellus" panose="020E0602050203020307" pitchFamily="34" charset="0"/>
              </a:rPr>
              <a:t>Issue?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a:off x="11755010" y="4869"/>
            <a:ext cx="560709" cy="6853131"/>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50832" y="5835859"/>
            <a:ext cx="968545" cy="721920"/>
          </a:xfrm>
          <a:prstGeom prst="rect">
            <a:avLst/>
          </a:prstGeom>
        </p:spPr>
      </p:pic>
      <p:pic>
        <p:nvPicPr>
          <p:cNvPr id="8" name="Picture 7">
            <a:extLst>
              <a:ext uri="{FF2B5EF4-FFF2-40B4-BE49-F238E27FC236}">
                <a16:creationId xmlns="" xmlns:a16="http://schemas.microsoft.com/office/drawing/2014/main" id="{B53D81E5-1798-492B-BD49-E2908F8554DF}"/>
              </a:ext>
            </a:extLst>
          </p:cNvPr>
          <p:cNvPicPr>
            <a:picLocks noChangeAspect="1"/>
          </p:cNvPicPr>
          <p:nvPr/>
        </p:nvPicPr>
        <p:blipFill>
          <a:blip r:embed="rId2"/>
          <a:stretch>
            <a:fillRect/>
          </a:stretch>
        </p:blipFill>
        <p:spPr>
          <a:xfrm rot="5400000">
            <a:off x="10586431" y="-909706"/>
            <a:ext cx="558950" cy="2338913"/>
          </a:xfrm>
          <a:prstGeom prst="rect">
            <a:avLst/>
          </a:prstGeom>
        </p:spPr>
      </p:pic>
      <p:pic>
        <p:nvPicPr>
          <p:cNvPr id="9" name="Picture 8">
            <a:extLst>
              <a:ext uri="{FF2B5EF4-FFF2-40B4-BE49-F238E27FC236}">
                <a16:creationId xmlns="" xmlns:a16="http://schemas.microsoft.com/office/drawing/2014/main" id="{8F7EF18E-8E2B-4217-8FBA-E64C4DA5AB5E}"/>
              </a:ext>
            </a:extLst>
          </p:cNvPr>
          <p:cNvPicPr>
            <a:picLocks noChangeAspect="1"/>
          </p:cNvPicPr>
          <p:nvPr/>
        </p:nvPicPr>
        <p:blipFill>
          <a:blip r:embed="rId4"/>
          <a:stretch>
            <a:fillRect/>
          </a:stretch>
        </p:blipFill>
        <p:spPr>
          <a:xfrm>
            <a:off x="9135739" y="-19725"/>
            <a:ext cx="560710" cy="558951"/>
          </a:xfrm>
          <a:prstGeom prst="rect">
            <a:avLst/>
          </a:prstGeom>
        </p:spPr>
      </p:pic>
      <p:sp>
        <p:nvSpPr>
          <p:cNvPr id="10" name="Subtitle 2">
            <a:extLst>
              <a:ext uri="{FF2B5EF4-FFF2-40B4-BE49-F238E27FC236}">
                <a16:creationId xmlns="" xmlns:a16="http://schemas.microsoft.com/office/drawing/2014/main" id="{EC8EF798-510F-46B5-9E56-690162E17571}"/>
              </a:ext>
            </a:extLst>
          </p:cNvPr>
          <p:cNvSpPr txBox="1">
            <a:spLocks/>
          </p:cNvSpPr>
          <p:nvPr/>
        </p:nvSpPr>
        <p:spPr>
          <a:xfrm>
            <a:off x="926389" y="989861"/>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400" dirty="0">
                <a:solidFill>
                  <a:schemeClr val="tx1">
                    <a:lumMod val="85000"/>
                    <a:lumOff val="15000"/>
                  </a:schemeClr>
                </a:solidFill>
                <a:latin typeface="Marcellus" panose="020E0602050203020307" pitchFamily="34" charset="0"/>
              </a:rPr>
              <a:t>" counter++" may be implemented in machine language as –</a:t>
            </a:r>
          </a:p>
          <a:p>
            <a:pPr marL="3657600" lvl="8" indent="0">
              <a:buNone/>
            </a:pPr>
            <a:r>
              <a:rPr lang="en-IN" sz="2400" dirty="0">
                <a:solidFill>
                  <a:schemeClr val="tx1">
                    <a:lumMod val="85000"/>
                    <a:lumOff val="15000"/>
                  </a:schemeClr>
                </a:solidFill>
                <a:latin typeface="Marcellus" panose="020E0602050203020307" pitchFamily="34" charset="0"/>
              </a:rPr>
              <a:t>register1 = counter</a:t>
            </a:r>
          </a:p>
          <a:p>
            <a:pPr marL="3657600" lvl="8" indent="0">
              <a:buNone/>
            </a:pPr>
            <a:r>
              <a:rPr lang="en-IN" sz="2400" dirty="0">
                <a:solidFill>
                  <a:schemeClr val="tx1">
                    <a:lumMod val="85000"/>
                    <a:lumOff val="15000"/>
                  </a:schemeClr>
                </a:solidFill>
                <a:latin typeface="Marcellus" panose="020E0602050203020307" pitchFamily="34" charset="0"/>
              </a:rPr>
              <a:t>register1 = register1 + 1</a:t>
            </a:r>
          </a:p>
          <a:p>
            <a:pPr marL="3657600" lvl="8" indent="0">
              <a:buNone/>
            </a:pPr>
            <a:r>
              <a:rPr lang="en-IN" sz="2400" dirty="0">
                <a:solidFill>
                  <a:schemeClr val="tx1">
                    <a:lumMod val="85000"/>
                    <a:lumOff val="15000"/>
                  </a:schemeClr>
                </a:solidFill>
                <a:latin typeface="Marcellus" panose="020E0602050203020307" pitchFamily="34" charset="0"/>
              </a:rPr>
              <a:t>counter= register1</a:t>
            </a:r>
          </a:p>
          <a:p>
            <a:r>
              <a:rPr lang="en-IN" sz="2400" dirty="0">
                <a:solidFill>
                  <a:schemeClr val="tx1">
                    <a:lumMod val="85000"/>
                    <a:lumOff val="15000"/>
                  </a:schemeClr>
                </a:solidFill>
                <a:latin typeface="Marcellus" panose="020E0602050203020307" pitchFamily="34" charset="0"/>
              </a:rPr>
              <a:t>register1 is one of the local CPU registers. </a:t>
            </a:r>
          </a:p>
          <a:p>
            <a:endParaRPr lang="en-IN" sz="2400" dirty="0">
              <a:solidFill>
                <a:schemeClr val="tx1">
                  <a:lumMod val="85000"/>
                  <a:lumOff val="15000"/>
                </a:schemeClr>
              </a:solidFill>
              <a:latin typeface="Marcellus" panose="020E0602050203020307" pitchFamily="34" charset="0"/>
            </a:endParaRPr>
          </a:p>
          <a:p>
            <a:r>
              <a:rPr lang="en-IN" sz="2400" dirty="0">
                <a:solidFill>
                  <a:schemeClr val="tx1">
                    <a:lumMod val="85000"/>
                    <a:lumOff val="15000"/>
                  </a:schemeClr>
                </a:solidFill>
                <a:latin typeface="Marcellus" panose="020E0602050203020307" pitchFamily="34" charset="0"/>
              </a:rPr>
              <a:t>"counter--" is implemented as follows:</a:t>
            </a:r>
          </a:p>
          <a:p>
            <a:pPr marL="0" indent="0">
              <a:buNone/>
            </a:pPr>
            <a:r>
              <a:rPr lang="en-IN" sz="2400" dirty="0">
                <a:solidFill>
                  <a:schemeClr val="tx1">
                    <a:lumMod val="85000"/>
                    <a:lumOff val="15000"/>
                  </a:schemeClr>
                </a:solidFill>
                <a:latin typeface="Marcellus" panose="020E0602050203020307" pitchFamily="34" charset="0"/>
              </a:rPr>
              <a:t>			register2 = counter</a:t>
            </a:r>
          </a:p>
          <a:p>
            <a:pPr marL="0" indent="0">
              <a:buNone/>
            </a:pPr>
            <a:r>
              <a:rPr lang="en-IN" sz="2400" dirty="0">
                <a:solidFill>
                  <a:schemeClr val="tx1">
                    <a:lumMod val="85000"/>
                    <a:lumOff val="15000"/>
                  </a:schemeClr>
                </a:solidFill>
                <a:latin typeface="Marcellus" panose="020E0602050203020307" pitchFamily="34" charset="0"/>
              </a:rPr>
              <a:t>			register2 = register2 ~ 1</a:t>
            </a:r>
          </a:p>
          <a:p>
            <a:pPr marL="0" indent="0">
              <a:buNone/>
            </a:pPr>
            <a:r>
              <a:rPr lang="en-IN" sz="2400" dirty="0">
                <a:solidFill>
                  <a:schemeClr val="tx1">
                    <a:lumMod val="85000"/>
                    <a:lumOff val="15000"/>
                  </a:schemeClr>
                </a:solidFill>
                <a:latin typeface="Marcellus" panose="020E0602050203020307" pitchFamily="34" charset="0"/>
              </a:rPr>
              <a:t>			counter= register2</a:t>
            </a:r>
          </a:p>
          <a:p>
            <a:r>
              <a:rPr lang="en-IN" sz="2400" dirty="0">
                <a:solidFill>
                  <a:schemeClr val="tx1">
                    <a:lumMod val="85000"/>
                    <a:lumOff val="15000"/>
                  </a:schemeClr>
                </a:solidFill>
                <a:latin typeface="Marcellus" panose="020E0602050203020307" pitchFamily="34" charset="0"/>
              </a:rPr>
              <a:t>register2 is one </a:t>
            </a:r>
            <a:r>
              <a:rPr lang="en-IN" sz="2400" dirty="0" smtClean="0">
                <a:solidFill>
                  <a:schemeClr val="tx1">
                    <a:lumMod val="85000"/>
                    <a:lumOff val="15000"/>
                  </a:schemeClr>
                </a:solidFill>
                <a:latin typeface="Marcellus" panose="020E0602050203020307" pitchFamily="34" charset="0"/>
              </a:rPr>
              <a:t>of </a:t>
            </a:r>
            <a:r>
              <a:rPr lang="en-IN" sz="2400" dirty="0">
                <a:solidFill>
                  <a:schemeClr val="tx1">
                    <a:lumMod val="85000"/>
                    <a:lumOff val="15000"/>
                  </a:schemeClr>
                </a:solidFill>
                <a:latin typeface="Marcellus" panose="020E0602050203020307" pitchFamily="34" charset="0"/>
              </a:rPr>
              <a:t>the local CPU registers.</a:t>
            </a:r>
          </a:p>
        </p:txBody>
      </p:sp>
      <p:pic>
        <p:nvPicPr>
          <p:cNvPr id="11" name="Picture 10" descr="A picture containing drawing&#10;&#10;Description automatically generated">
            <a:extLst>
              <a:ext uri="{FF2B5EF4-FFF2-40B4-BE49-F238E27FC236}">
                <a16:creationId xmlns="" xmlns:a16="http://schemas.microsoft.com/office/drawing/2014/main" id="{91911E14-6F71-46DE-B764-680C8341266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620" y="133509"/>
            <a:ext cx="3245736" cy="811434"/>
          </a:xfrm>
          <a:prstGeom prst="rect">
            <a:avLst/>
          </a:prstGeom>
        </p:spPr>
      </p:pic>
      <p:sp>
        <p:nvSpPr>
          <p:cNvPr id="3" name="Date Placeholder 2"/>
          <p:cNvSpPr>
            <a:spLocks noGrp="1"/>
          </p:cNvSpPr>
          <p:nvPr>
            <p:ph type="dt" sz="half" idx="10"/>
          </p:nvPr>
        </p:nvSpPr>
        <p:spPr/>
        <p:txBody>
          <a:bodyPr/>
          <a:lstStyle/>
          <a:p>
            <a:fld id="{1AE42CD7-72F2-4F8C-BE70-BD7F3CEDF589}" type="datetime1">
              <a:rPr lang="en-US" smtClean="0"/>
              <a:t>11/11/2024</a:t>
            </a:fld>
            <a:endParaRPr lang="en-US"/>
          </a:p>
        </p:txBody>
      </p:sp>
    </p:spTree>
    <p:extLst>
      <p:ext uri="{BB962C8B-B14F-4D97-AF65-F5344CB8AC3E}">
        <p14:creationId xmlns:p14="http://schemas.microsoft.com/office/powerpoint/2010/main" val="12973981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Producer Consumer Problem Revisited</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solidFill>
                  <a:schemeClr val="tx1">
                    <a:lumMod val="85000"/>
                    <a:lumOff val="15000"/>
                  </a:schemeClr>
                </a:solidFill>
                <a:latin typeface="Marcellus" panose="020E0602050203020307" pitchFamily="34" charset="0"/>
              </a:rPr>
              <a:t>What if counter and registers are not protected against data inconsistency? </a:t>
            </a:r>
            <a:endParaRPr lang="en-US"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02229" y="1975757"/>
            <a:ext cx="8278585" cy="30207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29EE27AB-9D81-4961-B50B-9B09D8A42839}" type="datetime1">
              <a:rPr lang="en-US" smtClean="0"/>
              <a:t>11/11/2024</a:t>
            </a:fld>
            <a:endParaRPr lang="en-US"/>
          </a:p>
        </p:txBody>
      </p:sp>
    </p:spTree>
    <p:extLst>
      <p:ext uri="{BB962C8B-B14F-4D97-AF65-F5344CB8AC3E}">
        <p14:creationId xmlns:p14="http://schemas.microsoft.com/office/powerpoint/2010/main" val="26228714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Producer Consumer Problem Revisited</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If the order </a:t>
            </a:r>
            <a:r>
              <a:rPr lang="en-IN" dirty="0"/>
              <a:t>of the statements at T4 and </a:t>
            </a:r>
            <a:r>
              <a:rPr lang="en-IN" i="1" dirty="0" smtClean="0"/>
              <a:t>T5</a:t>
            </a:r>
            <a:r>
              <a:rPr lang="en-IN" dirty="0"/>
              <a:t> </a:t>
            </a:r>
            <a:r>
              <a:rPr lang="en-IN" dirty="0" smtClean="0"/>
              <a:t>is </a:t>
            </a:r>
            <a:r>
              <a:rPr lang="en-IN" dirty="0"/>
              <a:t>reversed</a:t>
            </a:r>
            <a:r>
              <a:rPr lang="en-IN" i="1" dirty="0" smtClean="0"/>
              <a:t>, </a:t>
            </a:r>
            <a:r>
              <a:rPr lang="en-IN" dirty="0"/>
              <a:t>we would arrive at the incorrect state</a:t>
            </a:r>
          </a:p>
          <a:p>
            <a:pPr lvl="1"/>
            <a:r>
              <a:rPr lang="en-IN" sz="2800" dirty="0"/>
              <a:t>Result=&gt;  "counter == </a:t>
            </a:r>
            <a:r>
              <a:rPr lang="en-IN" sz="2800" dirty="0" smtClean="0"/>
              <a:t>6“, </a:t>
            </a:r>
            <a:r>
              <a:rPr lang="en-IN" sz="2800" dirty="0"/>
              <a:t>incorrect state </a:t>
            </a:r>
          </a:p>
          <a:p>
            <a:endParaRPr lang="en-IN" dirty="0" smtClean="0"/>
          </a:p>
          <a:p>
            <a:endParaRPr lang="en-IN" dirty="0"/>
          </a:p>
          <a:p>
            <a:endParaRPr lang="en-IN" dirty="0" smtClean="0"/>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pic>
        <p:nvPicPr>
          <p:cNvPr id="1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9621" y="2508001"/>
            <a:ext cx="6384471" cy="1894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ate Placeholder 2"/>
          <p:cNvSpPr>
            <a:spLocks noGrp="1"/>
          </p:cNvSpPr>
          <p:nvPr>
            <p:ph type="dt" sz="half" idx="10"/>
          </p:nvPr>
        </p:nvSpPr>
        <p:spPr/>
        <p:txBody>
          <a:bodyPr/>
          <a:lstStyle/>
          <a:p>
            <a:fld id="{E9772A7C-EC60-4EEF-B58F-E7B41634C80E}" type="datetime1">
              <a:rPr lang="en-US" smtClean="0"/>
              <a:t>11/11/2024</a:t>
            </a:fld>
            <a:endParaRPr lang="en-US"/>
          </a:p>
        </p:txBody>
      </p:sp>
      <p:sp>
        <p:nvSpPr>
          <p:cNvPr id="12" name="Rectangle 11"/>
          <p:cNvSpPr/>
          <p:nvPr/>
        </p:nvSpPr>
        <p:spPr>
          <a:xfrm>
            <a:off x="669758" y="4402114"/>
            <a:ext cx="10848952" cy="954107"/>
          </a:xfrm>
          <a:prstGeom prst="rect">
            <a:avLst/>
          </a:prstGeom>
        </p:spPr>
        <p:txBody>
          <a:bodyPr wrap="square">
            <a:spAutoFit/>
          </a:bodyPr>
          <a:lstStyle/>
          <a:p>
            <a:pPr lvl="1"/>
            <a:r>
              <a:rPr lang="en-IN" sz="2800" dirty="0" smtClean="0">
                <a:solidFill>
                  <a:srgbClr val="C00000"/>
                </a:solidFill>
              </a:rPr>
              <a:t>we </a:t>
            </a:r>
            <a:r>
              <a:rPr lang="en-IN" sz="2800" dirty="0">
                <a:solidFill>
                  <a:srgbClr val="C00000"/>
                </a:solidFill>
              </a:rPr>
              <a:t>allowed both processes to manipulate the variable counter concurrently. </a:t>
            </a:r>
            <a:r>
              <a:rPr lang="en-IN" sz="2800" dirty="0" smtClean="0">
                <a:solidFill>
                  <a:srgbClr val="C00000"/>
                </a:solidFill>
              </a:rPr>
              <a:t>– Race Condition</a:t>
            </a:r>
          </a:p>
        </p:txBody>
      </p:sp>
    </p:spTree>
    <p:extLst>
      <p:ext uri="{BB962C8B-B14F-4D97-AF65-F5344CB8AC3E}">
        <p14:creationId xmlns:p14="http://schemas.microsoft.com/office/powerpoint/2010/main" val="1854579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 xmlns:a16="http://schemas.microsoft.com/office/drawing/2014/main" id="{98058B23-DDE2-4F62-9A2E-46739C3C685F}"/>
              </a:ext>
            </a:extLst>
          </p:cNvPr>
          <p:cNvSpPr>
            <a:spLocks noGrp="1"/>
          </p:cNvSpPr>
          <p:nvPr>
            <p:ph type="ctrTitle"/>
          </p:nvPr>
        </p:nvSpPr>
        <p:spPr/>
        <p:txBody>
          <a:bodyPr/>
          <a:lstStyle/>
          <a:p>
            <a:pPr algn="ctr"/>
            <a:r>
              <a:rPr lang="en-US" dirty="0">
                <a:solidFill>
                  <a:srgbClr val="C00000"/>
                </a:solidFill>
                <a:latin typeface="Marcellus" panose="020E0602050203020307" pitchFamily="34" charset="0"/>
              </a:rPr>
              <a:t>The Critical Section Problem</a:t>
            </a:r>
            <a:endParaRPr lang="en-US" dirty="0"/>
          </a:p>
        </p:txBody>
      </p:sp>
      <p:sp>
        <p:nvSpPr>
          <p:cNvPr id="2" name="Subtitle 1"/>
          <p:cNvSpPr>
            <a:spLocks noGrp="1"/>
          </p:cNvSpPr>
          <p:nvPr>
            <p:ph type="subTitle" idx="1"/>
          </p:nvPr>
        </p:nvSpPr>
        <p:spPr/>
        <p:txBody>
          <a:bodyPr/>
          <a:lstStyle/>
          <a:p>
            <a:endParaRPr lang="en-IN"/>
          </a:p>
        </p:txBody>
      </p:sp>
      <p:sp>
        <p:nvSpPr>
          <p:cNvPr id="7" name="Date Placeholder 6"/>
          <p:cNvSpPr>
            <a:spLocks noGrp="1"/>
          </p:cNvSpPr>
          <p:nvPr>
            <p:ph type="dt" sz="half" idx="10"/>
          </p:nvPr>
        </p:nvSpPr>
        <p:spPr/>
        <p:txBody>
          <a:bodyPr/>
          <a:lstStyle/>
          <a:p>
            <a:fld id="{35973A18-0433-4655-B696-026A985B272C}" type="datetime1">
              <a:rPr lang="en-US" smtClean="0"/>
              <a:t>11/11/2024</a:t>
            </a:fld>
            <a:endParaRPr lang="en-US"/>
          </a:p>
        </p:txBody>
      </p:sp>
      <p:pic>
        <p:nvPicPr>
          <p:cNvPr id="4" name="Picture 3">
            <a:extLst>
              <a:ext uri="{FF2B5EF4-FFF2-40B4-BE49-F238E27FC236}">
                <a16:creationId xmlns="" xmlns:a16="http://schemas.microsoft.com/office/drawing/2014/main" id="{8026AED6-E793-48A3-96AF-36A0D1FE2D70}"/>
              </a:ext>
            </a:extLst>
          </p:cNvPr>
          <p:cNvPicPr>
            <a:picLocks noChangeAspect="1"/>
          </p:cNvPicPr>
          <p:nvPr/>
        </p:nvPicPr>
        <p:blipFill>
          <a:blip r:embed="rId2"/>
          <a:stretch>
            <a:fillRect/>
          </a:stretch>
        </p:blipFill>
        <p:spPr>
          <a:xfrm>
            <a:off x="605" y="2219"/>
            <a:ext cx="566958" cy="6855781"/>
          </a:xfrm>
          <a:prstGeom prst="rect">
            <a:avLst/>
          </a:prstGeom>
        </p:spPr>
      </p:pic>
      <p:pic>
        <p:nvPicPr>
          <p:cNvPr id="5" name="Picture 4">
            <a:extLst>
              <a:ext uri="{FF2B5EF4-FFF2-40B4-BE49-F238E27FC236}">
                <a16:creationId xmlns="" xmlns:a16="http://schemas.microsoft.com/office/drawing/2014/main" id="{98F5ADD7-F579-4B31-B088-24730AEA76C9}"/>
              </a:ext>
            </a:extLst>
          </p:cNvPr>
          <p:cNvPicPr>
            <a:picLocks noChangeAspect="1"/>
          </p:cNvPicPr>
          <p:nvPr/>
        </p:nvPicPr>
        <p:blipFill>
          <a:blip r:embed="rId3"/>
          <a:stretch>
            <a:fillRect/>
          </a:stretch>
        </p:blipFill>
        <p:spPr>
          <a:xfrm>
            <a:off x="567563" y="0"/>
            <a:ext cx="209677" cy="5440680"/>
          </a:xfrm>
          <a:prstGeom prst="rect">
            <a:avLst/>
          </a:prstGeom>
        </p:spPr>
      </p:pic>
      <p:pic>
        <p:nvPicPr>
          <p:cNvPr id="11" name="Picture 10" descr="A close up of a sign&#10;&#10;Description automatically generated">
            <a:extLst>
              <a:ext uri="{FF2B5EF4-FFF2-40B4-BE49-F238E27FC236}">
                <a16:creationId xmlns=""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39" y="5830821"/>
            <a:ext cx="868683" cy="647487"/>
          </a:xfrm>
          <a:prstGeom prst="rect">
            <a:avLst/>
          </a:prstGeom>
        </p:spPr>
      </p:pic>
      <p:pic>
        <p:nvPicPr>
          <p:cNvPr id="6" name="Picture 5" descr="A picture containing drawing&#10;&#10;Description automatically generated">
            <a:extLst>
              <a:ext uri="{FF2B5EF4-FFF2-40B4-BE49-F238E27FC236}">
                <a16:creationId xmlns=""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Tree>
    <p:extLst>
      <p:ext uri="{BB962C8B-B14F-4D97-AF65-F5344CB8AC3E}">
        <p14:creationId xmlns:p14="http://schemas.microsoft.com/office/powerpoint/2010/main" val="33608225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smtClean="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Consider a system consisting of </a:t>
            </a:r>
            <a:r>
              <a:rPr lang="en-IN" i="1" dirty="0"/>
              <a:t>n </a:t>
            </a:r>
            <a:r>
              <a:rPr lang="en-IN" dirty="0"/>
              <a:t>processes {Po, P1 , ... , </a:t>
            </a:r>
            <a:r>
              <a:rPr lang="en-IN" i="1" dirty="0" smtClean="0"/>
              <a:t>Pn-1</a:t>
            </a:r>
            <a:r>
              <a:rPr lang="en-IN" dirty="0" smtClean="0"/>
              <a:t>}. </a:t>
            </a:r>
          </a:p>
          <a:p>
            <a:endParaRPr lang="en-IN" dirty="0" smtClean="0"/>
          </a:p>
          <a:p>
            <a:pPr marL="0" indent="0">
              <a:buNone/>
            </a:pPr>
            <a:r>
              <a:rPr lang="en-IN" b="1" dirty="0" smtClean="0"/>
              <a:t>Critical Section-</a:t>
            </a:r>
          </a:p>
          <a:p>
            <a:r>
              <a:rPr lang="en-IN" dirty="0" smtClean="0"/>
              <a:t>Each process has </a:t>
            </a:r>
            <a:r>
              <a:rPr lang="en-IN" dirty="0"/>
              <a:t>a segment of code, called a </a:t>
            </a:r>
            <a:r>
              <a:rPr lang="en-IN" dirty="0" smtClean="0"/>
              <a:t>critical section </a:t>
            </a:r>
            <a:r>
              <a:rPr lang="en-IN" dirty="0"/>
              <a:t>in which the process </a:t>
            </a:r>
            <a:r>
              <a:rPr lang="en-IN" dirty="0" smtClean="0"/>
              <a:t>may be </a:t>
            </a:r>
          </a:p>
          <a:p>
            <a:pPr lvl="1"/>
            <a:r>
              <a:rPr lang="en-IN" sz="2800" dirty="0" smtClean="0"/>
              <a:t>changing </a:t>
            </a:r>
            <a:r>
              <a:rPr lang="en-IN" sz="2800" dirty="0"/>
              <a:t>common variables, </a:t>
            </a:r>
            <a:endParaRPr lang="en-IN" sz="2800" dirty="0" smtClean="0"/>
          </a:p>
          <a:p>
            <a:pPr lvl="1"/>
            <a:r>
              <a:rPr lang="en-IN" sz="2800" dirty="0" smtClean="0"/>
              <a:t>updating </a:t>
            </a:r>
            <a:r>
              <a:rPr lang="en-IN" sz="2800" dirty="0"/>
              <a:t>a table, </a:t>
            </a:r>
            <a:endParaRPr lang="en-IN" sz="2800" dirty="0" smtClean="0"/>
          </a:p>
          <a:p>
            <a:pPr lvl="1"/>
            <a:r>
              <a:rPr lang="en-IN" sz="2800" dirty="0" smtClean="0"/>
              <a:t>writing </a:t>
            </a:r>
            <a:r>
              <a:rPr lang="en-IN" sz="2800" dirty="0"/>
              <a:t>a file, and so on</a:t>
            </a:r>
            <a:r>
              <a:rPr lang="en-IN" sz="2800" dirty="0" smtClean="0"/>
              <a:t>.</a:t>
            </a:r>
            <a:endParaRPr lang="en-IN" sz="2800" dirty="0"/>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2CCD03B6-0618-4D75-8D80-0C87C7CD414F}" type="datetime1">
              <a:rPr lang="en-US" smtClean="0"/>
              <a:t>11/11/2024</a:t>
            </a:fld>
            <a:endParaRPr lang="en-US"/>
          </a:p>
        </p:txBody>
      </p:sp>
    </p:spTree>
    <p:extLst>
      <p:ext uri="{BB962C8B-B14F-4D97-AF65-F5344CB8AC3E}">
        <p14:creationId xmlns:p14="http://schemas.microsoft.com/office/powerpoint/2010/main" val="10827957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t>When one process is executing in its critical section, </a:t>
            </a:r>
          </a:p>
          <a:p>
            <a:pPr lvl="1"/>
            <a:r>
              <a:rPr lang="en-IN" dirty="0"/>
              <a:t>N</a:t>
            </a:r>
            <a:r>
              <a:rPr lang="en-IN" dirty="0" smtClean="0"/>
              <a:t>o other process is to be allowed to execute in its critical section. </a:t>
            </a:r>
          </a:p>
          <a:p>
            <a:pPr lvl="1"/>
            <a:r>
              <a:rPr lang="en-IN" dirty="0" smtClean="0"/>
              <a:t>Execution of Critical Sections by the processes is mutually exclusive</a:t>
            </a:r>
            <a:endParaRPr lang="en-IN" dirty="0"/>
          </a:p>
          <a:p>
            <a:pPr lvl="1"/>
            <a:endParaRPr lang="en-IN" dirty="0" smtClean="0"/>
          </a:p>
          <a:p>
            <a:r>
              <a:rPr lang="en-IN" i="1" dirty="0" smtClean="0"/>
              <a:t>Critical-section problem </a:t>
            </a:r>
            <a:r>
              <a:rPr lang="en-IN" dirty="0" smtClean="0"/>
              <a:t>is to design a protocol that the processes can use to cooperate. </a:t>
            </a: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FD783AA5-02C2-4BA2-B5B7-DA9F980A061E}" type="datetime1">
              <a:rPr lang="en-US" smtClean="0"/>
              <a:t>11/11/2024</a:t>
            </a:fld>
            <a:endParaRPr lang="en-US"/>
          </a:p>
        </p:txBody>
      </p:sp>
    </p:spTree>
    <p:extLst>
      <p:ext uri="{BB962C8B-B14F-4D97-AF65-F5344CB8AC3E}">
        <p14:creationId xmlns:p14="http://schemas.microsoft.com/office/powerpoint/2010/main" val="3937933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b="1"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smtClean="0"/>
              <a:t>Entry </a:t>
            </a:r>
            <a:r>
              <a:rPr lang="en-IN" b="1" dirty="0"/>
              <a:t>section </a:t>
            </a:r>
            <a:endParaRPr lang="en-IN" b="1" dirty="0" smtClean="0"/>
          </a:p>
          <a:p>
            <a:pPr lvl="1"/>
            <a:r>
              <a:rPr lang="en-IN" dirty="0" smtClean="0"/>
              <a:t>Each </a:t>
            </a:r>
            <a:r>
              <a:rPr lang="en-IN" dirty="0"/>
              <a:t>process must request permission to enter its </a:t>
            </a:r>
            <a:r>
              <a:rPr lang="en-IN" dirty="0" smtClean="0"/>
              <a:t>critical section</a:t>
            </a:r>
            <a:r>
              <a:rPr lang="en-IN" dirty="0"/>
              <a:t>. </a:t>
            </a:r>
            <a:r>
              <a:rPr lang="en-IN" dirty="0" smtClean="0"/>
              <a:t>The </a:t>
            </a:r>
            <a:r>
              <a:rPr lang="en-IN" dirty="0"/>
              <a:t>section of code implementing this request is the </a:t>
            </a:r>
            <a:r>
              <a:rPr lang="en-IN" dirty="0" smtClean="0"/>
              <a:t>entry section.</a:t>
            </a:r>
          </a:p>
          <a:p>
            <a:r>
              <a:rPr lang="en-IN" b="1" dirty="0" smtClean="0"/>
              <a:t>Exit Section</a:t>
            </a:r>
          </a:p>
          <a:p>
            <a:pPr lvl="1"/>
            <a:r>
              <a:rPr lang="en-IN" dirty="0" smtClean="0"/>
              <a:t>The critical </a:t>
            </a:r>
            <a:r>
              <a:rPr lang="en-IN" dirty="0"/>
              <a:t>section may be followed by an exit </a:t>
            </a:r>
            <a:r>
              <a:rPr lang="en-IN" dirty="0" smtClean="0"/>
              <a:t>section.</a:t>
            </a:r>
          </a:p>
          <a:p>
            <a:r>
              <a:rPr lang="en-IN" b="1" dirty="0" smtClean="0"/>
              <a:t>Remaining Section</a:t>
            </a:r>
          </a:p>
          <a:p>
            <a:pPr lvl="1"/>
            <a:r>
              <a:rPr lang="en-IN" dirty="0" smtClean="0"/>
              <a:t>The </a:t>
            </a:r>
            <a:r>
              <a:rPr lang="en-IN" dirty="0"/>
              <a:t>remaining code is </a:t>
            </a:r>
            <a:r>
              <a:rPr lang="en-IN" dirty="0" smtClean="0"/>
              <a:t>the remaining section.</a:t>
            </a:r>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BA054D17-26DF-406F-A444-73010C0DC1CE}" type="datetime1">
              <a:rPr lang="en-US" smtClean="0"/>
              <a:t>11/11/2024</a:t>
            </a:fld>
            <a:endParaRPr lang="en-US"/>
          </a:p>
        </p:txBody>
      </p:sp>
    </p:spTree>
    <p:extLst>
      <p:ext uri="{BB962C8B-B14F-4D97-AF65-F5344CB8AC3E}">
        <p14:creationId xmlns:p14="http://schemas.microsoft.com/office/powerpoint/2010/main" val="41189435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9ECE29DB-B422-42E9-A150-21ECB3C7FDF0}"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822158" y="13639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smtClean="0"/>
              <a:t>Solution must Satisfy three requirements-</a:t>
            </a:r>
          </a:p>
          <a:p>
            <a:pPr marL="514350" indent="-514350">
              <a:buFont typeface="+mj-lt"/>
              <a:buAutoNum type="arabicParenR"/>
            </a:pPr>
            <a:r>
              <a:rPr lang="en-IN" b="1" dirty="0" smtClean="0"/>
              <a:t>Mutual Exclusion</a:t>
            </a:r>
          </a:p>
          <a:p>
            <a:pPr marL="514350" indent="-514350">
              <a:buFont typeface="+mj-lt"/>
              <a:buAutoNum type="arabicParenR"/>
            </a:pPr>
            <a:r>
              <a:rPr lang="en-IN" b="1" dirty="0" smtClean="0"/>
              <a:t>Progress</a:t>
            </a:r>
          </a:p>
          <a:p>
            <a:pPr marL="514350" indent="-514350">
              <a:buFont typeface="+mj-lt"/>
              <a:buAutoNum type="arabicParenR"/>
            </a:pPr>
            <a:r>
              <a:rPr lang="en-IN" b="1" dirty="0" smtClean="0"/>
              <a:t>Bounded Waiting</a:t>
            </a:r>
          </a:p>
          <a:p>
            <a:pPr marL="514350" indent="-514350">
              <a:buFont typeface="+mj-lt"/>
              <a:buAutoNum type="arabicParenR"/>
            </a:pPr>
            <a:endParaRPr lang="en-IN" b="1" dirty="0" smtClean="0"/>
          </a:p>
        </p:txBody>
      </p:sp>
    </p:spTree>
    <p:extLst>
      <p:ext uri="{BB962C8B-B14F-4D97-AF65-F5344CB8AC3E}">
        <p14:creationId xmlns:p14="http://schemas.microsoft.com/office/powerpoint/2010/main" val="32792112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smtClean="0">
                <a:solidFill>
                  <a:srgbClr val="C00000"/>
                </a:solidFill>
                <a:latin typeface="Marcellus" panose="020E0602050203020307" pitchFamily="34" charset="0"/>
              </a:rPr>
              <a:t>Reading Assignment; why bounded waiting?</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79D21AEE-855D-4542-A04A-FB9B54A9963C}"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822157" y="953778"/>
            <a:ext cx="10996803" cy="474479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a:t>Bounded Waiting</a:t>
            </a:r>
            <a:r>
              <a:rPr lang="en-IN" dirty="0"/>
              <a:t>: Guarantees fairness by limiting wait times</a:t>
            </a:r>
            <a:r>
              <a:rPr lang="en-IN" dirty="0" smtClean="0"/>
              <a:t>.</a:t>
            </a:r>
          </a:p>
          <a:p>
            <a:r>
              <a:rPr lang="en-IN" b="1" dirty="0" smtClean="0"/>
              <a:t>Busy </a:t>
            </a:r>
            <a:r>
              <a:rPr lang="en-IN" b="1" dirty="0"/>
              <a:t>Waiting</a:t>
            </a:r>
            <a:r>
              <a:rPr lang="en-IN" dirty="0"/>
              <a:t>: Continuous polling, wastes CPU cycles</a:t>
            </a:r>
            <a:r>
              <a:rPr lang="en-IN" dirty="0" smtClean="0"/>
              <a:t>.</a:t>
            </a:r>
          </a:p>
          <a:p>
            <a:r>
              <a:rPr lang="en-IN" b="1" dirty="0" smtClean="0"/>
              <a:t>Unbounded </a:t>
            </a:r>
            <a:r>
              <a:rPr lang="en-IN" b="1" dirty="0"/>
              <a:t>Waiting</a:t>
            </a:r>
            <a:r>
              <a:rPr lang="en-IN" dirty="0"/>
              <a:t>: No guarantees on wait time, leads to starvation</a:t>
            </a:r>
            <a:r>
              <a:rPr lang="en-IN" dirty="0" smtClean="0"/>
              <a:t>.</a:t>
            </a:r>
          </a:p>
          <a:p>
            <a:r>
              <a:rPr lang="en-IN" b="1" dirty="0" smtClean="0"/>
              <a:t>Blocking </a:t>
            </a:r>
            <a:r>
              <a:rPr lang="en-IN" b="1" dirty="0"/>
              <a:t>(Sleep Waiting)</a:t>
            </a:r>
            <a:r>
              <a:rPr lang="en-IN" dirty="0"/>
              <a:t>: Process sleeps until a condition is met, saves CPU cycles</a:t>
            </a:r>
            <a:r>
              <a:rPr lang="en-IN" dirty="0" smtClean="0"/>
              <a:t>.</a:t>
            </a:r>
          </a:p>
          <a:p>
            <a:r>
              <a:rPr lang="en-IN" b="1" dirty="0" smtClean="0"/>
              <a:t>Starvation</a:t>
            </a:r>
            <a:r>
              <a:rPr lang="en-IN" dirty="0"/>
              <a:t>: Indefinite waiting due to unfair resource allocation</a:t>
            </a:r>
            <a:r>
              <a:rPr lang="en-IN" dirty="0" smtClean="0"/>
              <a:t>.</a:t>
            </a:r>
          </a:p>
          <a:p>
            <a:r>
              <a:rPr lang="en-IN" b="1" dirty="0" smtClean="0"/>
              <a:t>Priority </a:t>
            </a:r>
            <a:r>
              <a:rPr lang="en-IN" b="1" dirty="0"/>
              <a:t>Inversion</a:t>
            </a:r>
            <a:r>
              <a:rPr lang="en-IN" dirty="0"/>
              <a:t>: High-priority process waits on a lower-priority process</a:t>
            </a:r>
            <a:r>
              <a:rPr lang="en-IN" dirty="0" smtClean="0"/>
              <a:t>.</a:t>
            </a:r>
          </a:p>
          <a:p>
            <a:r>
              <a:rPr lang="en-IN" b="1" dirty="0" smtClean="0"/>
              <a:t>Conditional </a:t>
            </a:r>
            <a:r>
              <a:rPr lang="en-IN" b="1" dirty="0"/>
              <a:t>Waiting</a:t>
            </a:r>
            <a:r>
              <a:rPr lang="en-IN" dirty="0"/>
              <a:t>: Waits for a condition to become true</a:t>
            </a:r>
            <a:r>
              <a:rPr lang="en-IN" dirty="0" smtClean="0"/>
              <a:t>.</a:t>
            </a:r>
          </a:p>
          <a:p>
            <a:r>
              <a:rPr lang="en-IN" b="1" dirty="0" smtClean="0"/>
              <a:t>Voluntary </a:t>
            </a:r>
            <a:r>
              <a:rPr lang="en-IN" b="1" dirty="0"/>
              <a:t>Waiting</a:t>
            </a:r>
            <a:r>
              <a:rPr lang="en-IN" dirty="0"/>
              <a:t>: A process yields control voluntarily</a:t>
            </a:r>
            <a:r>
              <a:rPr lang="en-IN" dirty="0" smtClean="0"/>
              <a:t>.</a:t>
            </a:r>
          </a:p>
          <a:p>
            <a:r>
              <a:rPr lang="en-IN" b="1" dirty="0" smtClean="0"/>
              <a:t>Preemptive </a:t>
            </a:r>
            <a:r>
              <a:rPr lang="en-IN" b="1" dirty="0"/>
              <a:t>Waiting</a:t>
            </a:r>
            <a:r>
              <a:rPr lang="en-IN" dirty="0"/>
              <a:t>: Process is forcibly removed from the CPU.</a:t>
            </a:r>
            <a:endParaRPr lang="en-IN" b="1" dirty="0" smtClean="0"/>
          </a:p>
        </p:txBody>
      </p:sp>
    </p:spTree>
    <p:extLst>
      <p:ext uri="{BB962C8B-B14F-4D97-AF65-F5344CB8AC3E}">
        <p14:creationId xmlns:p14="http://schemas.microsoft.com/office/powerpoint/2010/main" val="61622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a:solidFill>
                  <a:srgbClr val="C00000"/>
                </a:solidFill>
                <a:latin typeface="Marcellus" panose="020E0602050203020307" pitchFamily="34" charset="0"/>
              </a:rPr>
              <a:t>The Critical Section Problem</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0421B7C7-C883-43C8-970B-66867A85E0AE}"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822158" y="13639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smtClean="0"/>
              <a:t>Mutual Exclusion: </a:t>
            </a:r>
            <a:r>
              <a:rPr lang="en-IN" dirty="0" smtClean="0"/>
              <a:t>If Process P</a:t>
            </a:r>
            <a:r>
              <a:rPr lang="en-IN" baseline="-25000" dirty="0" smtClean="0"/>
              <a:t>i</a:t>
            </a:r>
            <a:r>
              <a:rPr lang="en-IN" dirty="0" smtClean="0"/>
              <a:t> is executing in its critical section, then no other processes can be executing in their critical sections</a:t>
            </a:r>
          </a:p>
          <a:p>
            <a:r>
              <a:rPr lang="en-IN" b="1" dirty="0" smtClean="0"/>
              <a:t>Progress </a:t>
            </a:r>
            <a:r>
              <a:rPr lang="en-IN" b="1" dirty="0"/>
              <a:t>: </a:t>
            </a:r>
            <a:endParaRPr lang="en-IN" b="1" dirty="0" smtClean="0"/>
          </a:p>
          <a:p>
            <a:pPr lvl="1"/>
            <a:r>
              <a:rPr lang="en-IN" dirty="0" smtClean="0"/>
              <a:t>Only </a:t>
            </a:r>
            <a:r>
              <a:rPr lang="en-IN" dirty="0"/>
              <a:t>those processes interested in entering CS , should compete to enter CS.</a:t>
            </a:r>
          </a:p>
          <a:p>
            <a:r>
              <a:rPr lang="en-IN" b="1" dirty="0" smtClean="0"/>
              <a:t>Bounded Waiting : </a:t>
            </a:r>
          </a:p>
          <a:p>
            <a:pPr lvl="1"/>
            <a:r>
              <a:rPr lang="en-IN" dirty="0" smtClean="0"/>
              <a:t>After a max </a:t>
            </a:r>
            <a:r>
              <a:rPr lang="en-IN" dirty="0"/>
              <a:t>bound/time limit , </a:t>
            </a:r>
            <a:r>
              <a:rPr lang="en-IN" dirty="0" smtClean="0"/>
              <a:t> </a:t>
            </a:r>
            <a:r>
              <a:rPr lang="en-IN" dirty="0"/>
              <a:t>the process definitely will get a chance to enter CS</a:t>
            </a:r>
          </a:p>
          <a:p>
            <a:pPr marL="0" indent="0">
              <a:buNone/>
            </a:pPr>
            <a:endParaRPr lang="en-IN" dirty="0" smtClean="0"/>
          </a:p>
          <a:p>
            <a:pPr marL="0" indent="0">
              <a:buNone/>
            </a:pPr>
            <a:endParaRPr lang="en-IN" dirty="0" smtClean="0"/>
          </a:p>
          <a:p>
            <a:pPr marL="0" indent="0">
              <a:buNone/>
            </a:pPr>
            <a:endParaRPr lang="en-IN" b="1" dirty="0" smtClean="0"/>
          </a:p>
        </p:txBody>
      </p:sp>
    </p:spTree>
    <p:extLst>
      <p:ext uri="{BB962C8B-B14F-4D97-AF65-F5344CB8AC3E}">
        <p14:creationId xmlns:p14="http://schemas.microsoft.com/office/powerpoint/2010/main" val="2180522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smtClean="0">
                <a:solidFill>
                  <a:srgbClr val="C00000"/>
                </a:solidFill>
                <a:latin typeface="Marcellus" panose="020E0602050203020307" pitchFamily="34" charset="0"/>
              </a:rPr>
              <a:t>Reading slides: Critical-Section </a:t>
            </a:r>
            <a:r>
              <a:rPr lang="en-US" sz="3600" dirty="0">
                <a:solidFill>
                  <a:srgbClr val="C00000"/>
                </a:solidFill>
                <a:latin typeface="Marcellus" panose="020E0602050203020307" pitchFamily="34" charset="0"/>
              </a:rPr>
              <a:t>Handling in OS </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81182"/>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67782"/>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24181"/>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54457"/>
            <a:ext cx="3245736" cy="811434"/>
          </a:xfrm>
          <a:prstGeom prst="rect">
            <a:avLst/>
          </a:prstGeom>
        </p:spPr>
      </p:pic>
      <p:sp>
        <p:nvSpPr>
          <p:cNvPr id="3" name="Date Placeholder 2"/>
          <p:cNvSpPr>
            <a:spLocks noGrp="1"/>
          </p:cNvSpPr>
          <p:nvPr>
            <p:ph type="dt" sz="half" idx="10"/>
          </p:nvPr>
        </p:nvSpPr>
        <p:spPr/>
        <p:txBody>
          <a:bodyPr/>
          <a:lstStyle/>
          <a:p>
            <a:fld id="{38792554-4448-43E7-B1FC-1840D085BD0E}"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smtClean="0">
                <a:latin typeface="Fira sans"/>
              </a:rPr>
              <a:t>Why would </a:t>
            </a:r>
            <a:r>
              <a:rPr lang="en-IN" dirty="0">
                <a:latin typeface="Fira sans"/>
              </a:rPr>
              <a:t>anyone </a:t>
            </a:r>
            <a:r>
              <a:rPr lang="en-IN" dirty="0" smtClean="0">
                <a:latin typeface="Fira sans"/>
              </a:rPr>
              <a:t>favour </a:t>
            </a:r>
            <a:r>
              <a:rPr lang="en-IN" dirty="0">
                <a:latin typeface="Fira sans"/>
              </a:rPr>
              <a:t>a preemptive kernel over a </a:t>
            </a:r>
            <a:r>
              <a:rPr lang="en-IN" dirty="0" smtClean="0">
                <a:latin typeface="Fira sans"/>
              </a:rPr>
              <a:t>non-preemptive one</a:t>
            </a:r>
            <a:r>
              <a:rPr lang="en-IN" dirty="0">
                <a:latin typeface="Fira sans"/>
              </a:rPr>
              <a:t>? </a:t>
            </a:r>
            <a:endParaRPr lang="en-IN" dirty="0" smtClean="0">
              <a:latin typeface="Fira sans"/>
            </a:endParaRPr>
          </a:p>
          <a:p>
            <a:endParaRPr lang="en-IN" dirty="0" smtClean="0">
              <a:latin typeface="Fira sans"/>
            </a:endParaRPr>
          </a:p>
          <a:p>
            <a:r>
              <a:rPr lang="en-IN" dirty="0" smtClean="0">
                <a:latin typeface="Fira sans"/>
              </a:rPr>
              <a:t>A </a:t>
            </a:r>
            <a:r>
              <a:rPr lang="en-IN" dirty="0">
                <a:latin typeface="Fira sans"/>
              </a:rPr>
              <a:t>preemptive kernel </a:t>
            </a:r>
            <a:endParaRPr lang="en-IN" dirty="0" smtClean="0">
              <a:latin typeface="Fira sans"/>
            </a:endParaRPr>
          </a:p>
          <a:p>
            <a:pPr lvl="1"/>
            <a:r>
              <a:rPr lang="en-IN" dirty="0" smtClean="0">
                <a:latin typeface="Fira sans"/>
              </a:rPr>
              <a:t>is </a:t>
            </a:r>
            <a:r>
              <a:rPr lang="en-IN" dirty="0">
                <a:latin typeface="Fira sans"/>
              </a:rPr>
              <a:t>more suitable for real-time programming, as it </a:t>
            </a:r>
            <a:r>
              <a:rPr lang="en-IN" dirty="0" smtClean="0">
                <a:latin typeface="Fira sans"/>
              </a:rPr>
              <a:t>will allow </a:t>
            </a:r>
            <a:r>
              <a:rPr lang="en-IN" dirty="0">
                <a:latin typeface="Fira sans"/>
              </a:rPr>
              <a:t>a real-time process to preempt a process currently running in the kernel.</a:t>
            </a:r>
          </a:p>
          <a:p>
            <a:pPr lvl="1"/>
            <a:endParaRPr lang="en-IN" dirty="0" smtClean="0">
              <a:latin typeface="Fira sans"/>
            </a:endParaRPr>
          </a:p>
          <a:p>
            <a:pPr lvl="1"/>
            <a:r>
              <a:rPr lang="en-IN" dirty="0" smtClean="0">
                <a:latin typeface="Fira sans"/>
              </a:rPr>
              <a:t>may </a:t>
            </a:r>
            <a:r>
              <a:rPr lang="en-IN" dirty="0">
                <a:latin typeface="Fira sans"/>
              </a:rPr>
              <a:t>be more responsive, since there is </a:t>
            </a:r>
            <a:r>
              <a:rPr lang="en-IN" dirty="0" smtClean="0">
                <a:latin typeface="Fira sans"/>
              </a:rPr>
              <a:t>less risk </a:t>
            </a:r>
            <a:r>
              <a:rPr lang="en-IN" dirty="0">
                <a:latin typeface="Fira sans"/>
              </a:rPr>
              <a:t>that a kernel-mode process will run for an arbitrarily long period </a:t>
            </a:r>
            <a:r>
              <a:rPr lang="en-IN" dirty="0" smtClean="0">
                <a:latin typeface="Fira sans"/>
              </a:rPr>
              <a:t>before relinquishing </a:t>
            </a:r>
            <a:r>
              <a:rPr lang="en-IN" dirty="0">
                <a:latin typeface="Fira sans"/>
              </a:rPr>
              <a:t>the processor to waiting processes. </a:t>
            </a:r>
          </a:p>
        </p:txBody>
      </p:sp>
    </p:spTree>
    <p:extLst>
      <p:ext uri="{BB962C8B-B14F-4D97-AF65-F5344CB8AC3E}">
        <p14:creationId xmlns:p14="http://schemas.microsoft.com/office/powerpoint/2010/main" val="2152272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smtClean="0">
                <a:solidFill>
                  <a:srgbClr val="C00000"/>
                </a:solidFill>
                <a:latin typeface="Marcellus" panose="020E0602050203020307" pitchFamily="34" charset="0"/>
              </a:rPr>
              <a:t>Solutions to Mutual exclusion problems</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12D425BC-56C8-4510-868E-9667F39A992D}"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b="1" dirty="0" smtClean="0">
                <a:solidFill>
                  <a:srgbClr val="FF0000"/>
                </a:solidFill>
              </a:rPr>
              <a:t>Software support</a:t>
            </a:r>
          </a:p>
          <a:p>
            <a:r>
              <a:rPr lang="en-IN" b="1" dirty="0" smtClean="0"/>
              <a:t>Hardware support</a:t>
            </a:r>
          </a:p>
          <a:p>
            <a:r>
              <a:rPr lang="en-IN" b="1" dirty="0" smtClean="0"/>
              <a:t>Support from Programming languages</a:t>
            </a:r>
          </a:p>
          <a:p>
            <a:r>
              <a:rPr lang="en-IN" b="1" dirty="0" smtClean="0"/>
              <a:t>Support from OS</a:t>
            </a:r>
          </a:p>
        </p:txBody>
      </p:sp>
    </p:spTree>
    <p:extLst>
      <p:ext uri="{BB962C8B-B14F-4D97-AF65-F5344CB8AC3E}">
        <p14:creationId xmlns:p14="http://schemas.microsoft.com/office/powerpoint/2010/main" val="112815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63"/>
          <p:cNvSpPr txBox="1">
            <a:spLocks noGrp="1"/>
          </p:cNvSpPr>
          <p:nvPr>
            <p:ph type="title"/>
          </p:nvPr>
        </p:nvSpPr>
        <p:spPr>
          <a:xfrm>
            <a:off x="1089765" y="214818"/>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solution mechanisms to achieve concurrency</a:t>
            </a:r>
            <a:endParaRPr/>
          </a:p>
        </p:txBody>
      </p:sp>
      <p:sp>
        <p:nvSpPr>
          <p:cNvPr id="647" name="Google Shape;647;p63"/>
          <p:cNvSpPr txBox="1">
            <a:spLocks noGrp="1"/>
          </p:cNvSpPr>
          <p:nvPr>
            <p:ph type="body" idx="1"/>
          </p:nvPr>
        </p:nvSpPr>
        <p:spPr>
          <a:xfrm>
            <a:off x="933339" y="1324630"/>
            <a:ext cx="10972800" cy="4525963"/>
          </a:xfrm>
          <a:prstGeom prst="rect">
            <a:avLst/>
          </a:prstGeom>
          <a:noFill/>
          <a:ln>
            <a:noFill/>
          </a:ln>
        </p:spPr>
        <p:txBody>
          <a:bodyPr spcFirstLastPara="1" wrap="square" lIns="91425" tIns="45700" rIns="91425" bIns="45700" anchor="t" anchorCtr="0">
            <a:normAutofit fontScale="92500" lnSpcReduction="10000"/>
          </a:bodyPr>
          <a:lstStyle/>
          <a:p>
            <a:pPr marL="285750" lvl="0" indent="-285750" algn="l" rtl="0">
              <a:lnSpc>
                <a:spcPct val="90000"/>
              </a:lnSpc>
              <a:spcBef>
                <a:spcPts val="0"/>
              </a:spcBef>
              <a:spcAft>
                <a:spcPts val="0"/>
              </a:spcAft>
              <a:buClr>
                <a:schemeClr val="dk1"/>
              </a:buClr>
              <a:buSzPct val="100000"/>
              <a:buChar char="•"/>
            </a:pPr>
            <a:r>
              <a:rPr lang="en-US" b="1"/>
              <a:t>Software approach:</a:t>
            </a:r>
            <a:r>
              <a:rPr lang="en-US"/>
              <a:t> </a:t>
            </a:r>
            <a:endParaRPr/>
          </a:p>
          <a:p>
            <a:pPr marL="742950" lvl="1" indent="-285750" algn="l" rtl="0">
              <a:lnSpc>
                <a:spcPct val="90000"/>
              </a:lnSpc>
              <a:spcBef>
                <a:spcPts val="500"/>
              </a:spcBef>
              <a:spcAft>
                <a:spcPts val="0"/>
              </a:spcAft>
              <a:buClr>
                <a:schemeClr val="dk1"/>
              </a:buClr>
              <a:buSzPct val="100000"/>
              <a:buChar char="o"/>
            </a:pPr>
            <a:r>
              <a:rPr lang="en-US"/>
              <a:t>Here no hardware, OS, or programming language level supported is assumed.  </a:t>
            </a:r>
            <a:endParaRPr/>
          </a:p>
          <a:p>
            <a:pPr marL="742950" lvl="1" indent="-285750" algn="l" rtl="0">
              <a:lnSpc>
                <a:spcPct val="90000"/>
              </a:lnSpc>
              <a:spcBef>
                <a:spcPts val="500"/>
              </a:spcBef>
              <a:spcAft>
                <a:spcPts val="0"/>
              </a:spcAft>
              <a:buClr>
                <a:schemeClr val="dk1"/>
              </a:buClr>
              <a:buSzPct val="100000"/>
              <a:buChar char="o"/>
            </a:pPr>
            <a:r>
              <a:rPr lang="en-US"/>
              <a:t>Burdens programmers to write the programs (which when executed becomes processes) to achieve concurrency themselves. </a:t>
            </a:r>
            <a:endParaRPr/>
          </a:p>
          <a:p>
            <a:pPr marL="742950" lvl="1" indent="-285750" algn="l" rtl="0">
              <a:lnSpc>
                <a:spcPct val="90000"/>
              </a:lnSpc>
              <a:spcBef>
                <a:spcPts val="500"/>
              </a:spcBef>
              <a:spcAft>
                <a:spcPts val="0"/>
              </a:spcAft>
              <a:buClr>
                <a:schemeClr val="dk1"/>
              </a:buClr>
              <a:buSzPct val="100000"/>
              <a:buChar char="o"/>
            </a:pPr>
            <a:r>
              <a:rPr lang="en-US"/>
              <a:t>Dekker’s or Peterson’s algorithms are known for the software approach solutions to mutual exclusion. </a:t>
            </a:r>
            <a:endParaRPr/>
          </a:p>
          <a:p>
            <a:pPr marL="285750" lvl="0" indent="-285750" algn="l" rtl="0">
              <a:lnSpc>
                <a:spcPct val="90000"/>
              </a:lnSpc>
              <a:spcBef>
                <a:spcPts val="1000"/>
              </a:spcBef>
              <a:spcAft>
                <a:spcPts val="0"/>
              </a:spcAft>
              <a:buClr>
                <a:schemeClr val="dk1"/>
              </a:buClr>
              <a:buSzPct val="100000"/>
              <a:buChar char="•"/>
            </a:pPr>
            <a:r>
              <a:rPr lang="en-US" b="1"/>
              <a:t>Hardware approach</a:t>
            </a:r>
            <a:r>
              <a:rPr lang="en-US"/>
              <a:t> : </a:t>
            </a:r>
            <a:endParaRPr/>
          </a:p>
          <a:p>
            <a:pPr marL="742950" lvl="1" indent="-285750" algn="l" rtl="0">
              <a:lnSpc>
                <a:spcPct val="90000"/>
              </a:lnSpc>
              <a:spcBef>
                <a:spcPts val="500"/>
              </a:spcBef>
              <a:spcAft>
                <a:spcPts val="0"/>
              </a:spcAft>
              <a:buClr>
                <a:schemeClr val="dk1"/>
              </a:buClr>
              <a:buSzPct val="100000"/>
              <a:buChar char="o"/>
            </a:pPr>
            <a:r>
              <a:rPr lang="en-US"/>
              <a:t>Use of special hardware instructions and control over the hardware such as disabling the interrupts.</a:t>
            </a:r>
            <a:endParaRPr/>
          </a:p>
          <a:p>
            <a:pPr marL="285750" lvl="0" indent="-285750" algn="l" rtl="0">
              <a:lnSpc>
                <a:spcPct val="90000"/>
              </a:lnSpc>
              <a:spcBef>
                <a:spcPts val="1000"/>
              </a:spcBef>
              <a:spcAft>
                <a:spcPts val="0"/>
              </a:spcAft>
              <a:buClr>
                <a:schemeClr val="dk1"/>
              </a:buClr>
              <a:buSzPct val="100000"/>
              <a:buChar char="•"/>
            </a:pPr>
            <a:r>
              <a:rPr lang="en-US" b="1"/>
              <a:t>Support from operating systems and programming languages</a:t>
            </a:r>
            <a:r>
              <a:rPr lang="en-US"/>
              <a:t>: </a:t>
            </a:r>
            <a:endParaRPr/>
          </a:p>
          <a:p>
            <a:pPr marL="742950" lvl="1" indent="-285750" algn="l" rtl="0">
              <a:lnSpc>
                <a:spcPct val="90000"/>
              </a:lnSpc>
              <a:spcBef>
                <a:spcPts val="500"/>
              </a:spcBef>
              <a:spcAft>
                <a:spcPts val="0"/>
              </a:spcAft>
              <a:buClr>
                <a:schemeClr val="dk1"/>
              </a:buClr>
              <a:buSzPct val="100000"/>
              <a:buChar char="o"/>
            </a:pPr>
            <a:r>
              <a:rPr lang="en-US"/>
              <a:t>Here, the operating system offers support to some signals</a:t>
            </a:r>
            <a:endParaRPr/>
          </a:p>
          <a:p>
            <a:pPr marL="742950" lvl="1" indent="-285750" algn="l" rtl="0">
              <a:lnSpc>
                <a:spcPct val="90000"/>
              </a:lnSpc>
              <a:spcBef>
                <a:spcPts val="500"/>
              </a:spcBef>
              <a:spcAft>
                <a:spcPts val="0"/>
              </a:spcAft>
              <a:buClr>
                <a:schemeClr val="dk1"/>
              </a:buClr>
              <a:buSzPct val="100000"/>
              <a:buChar char="o"/>
            </a:pPr>
            <a:r>
              <a:rPr lang="en-US"/>
              <a:t>the programmers can be provided with language constructs or library with which they can easily write the code for the process synchronize with each other. </a:t>
            </a:r>
            <a:endParaRPr/>
          </a:p>
          <a:p>
            <a:pPr marL="285750" lvl="0" indent="-134620" algn="l" rtl="0">
              <a:lnSpc>
                <a:spcPct val="90000"/>
              </a:lnSpc>
              <a:spcBef>
                <a:spcPts val="1000"/>
              </a:spcBef>
              <a:spcAft>
                <a:spcPts val="0"/>
              </a:spcAft>
              <a:buClr>
                <a:schemeClr val="dk1"/>
              </a:buClr>
              <a:buSzPct val="100000"/>
              <a:buFont typeface="Arial"/>
              <a:buNone/>
            </a:pPr>
            <a:endParaRPr/>
          </a:p>
        </p:txBody>
      </p:sp>
      <p:sp>
        <p:nvSpPr>
          <p:cNvPr id="648" name="Google Shape;648;p63"/>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5681E609-9A5D-4215-8223-30BDEF53746C}" type="datetime1">
              <a:rPr lang="en-US" smtClean="0">
                <a:solidFill>
                  <a:srgbClr val="000000"/>
                </a:solidFill>
              </a:rPr>
              <a:t>11/11/2024</a:t>
            </a:fld>
            <a:endParaRPr>
              <a:solidFill>
                <a:srgbClr val="000000"/>
              </a:solidFill>
            </a:endParaRPr>
          </a:p>
        </p:txBody>
      </p:sp>
      <p:pic>
        <p:nvPicPr>
          <p:cNvPr id="6" name="Picture 5">
            <a:extLst>
              <a:ext uri="{FF2B5EF4-FFF2-40B4-BE49-F238E27FC236}">
                <a16:creationId xmlns="" xmlns:a16="http://schemas.microsoft.com/office/drawing/2014/main" id="{1547C2F5-D0C4-4329-8DC2-48B66EE4F515}"/>
              </a:ext>
            </a:extLst>
          </p:cNvPr>
          <p:cNvPicPr>
            <a:picLocks noChangeAspect="1"/>
          </p:cNvPicPr>
          <p:nvPr/>
        </p:nvPicPr>
        <p:blipFill>
          <a:blip r:embed="rId3"/>
          <a:stretch>
            <a:fillRect/>
          </a:stretch>
        </p:blipFill>
        <p:spPr>
          <a:xfrm rot="5400000">
            <a:off x="5880674" y="567534"/>
            <a:ext cx="385984" cy="12236665"/>
          </a:xfrm>
          <a:prstGeom prst="rect">
            <a:avLst/>
          </a:prstGeom>
        </p:spPr>
      </p:pic>
      <p:pic>
        <p:nvPicPr>
          <p:cNvPr id="7" name="Picture 6">
            <a:extLst>
              <a:ext uri="{FF2B5EF4-FFF2-40B4-BE49-F238E27FC236}">
                <a16:creationId xmlns="" xmlns:a16="http://schemas.microsoft.com/office/drawing/2014/main" id="{B15A553C-6E56-4E14-9B40-3D70033DB61F}"/>
              </a:ext>
            </a:extLst>
          </p:cNvPr>
          <p:cNvPicPr>
            <a:picLocks noChangeAspect="1"/>
          </p:cNvPicPr>
          <p:nvPr/>
        </p:nvPicPr>
        <p:blipFill>
          <a:blip r:embed="rId4"/>
          <a:stretch>
            <a:fillRect/>
          </a:stretch>
        </p:blipFill>
        <p:spPr>
          <a:xfrm rot="5400000">
            <a:off x="4533653" y="1754134"/>
            <a:ext cx="176409" cy="9333048"/>
          </a:xfrm>
          <a:prstGeom prst="rect">
            <a:avLst/>
          </a:prstGeom>
        </p:spPr>
      </p:pic>
      <p:pic>
        <p:nvPicPr>
          <p:cNvPr id="8"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23454" y="6131914"/>
            <a:ext cx="968545" cy="721920"/>
          </a:xfrm>
          <a:prstGeom prst="rect">
            <a:avLst/>
          </a:prstGeom>
          <a:noFill/>
          <a:ln>
            <a:noFill/>
          </a:ln>
        </p:spPr>
      </p:pic>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0014" y="5846526"/>
            <a:ext cx="3245736" cy="811434"/>
          </a:xfrm>
          <a:prstGeom prst="rect">
            <a:avLst/>
          </a:prstGeom>
        </p:spPr>
      </p:pic>
    </p:spTree>
    <p:extLst>
      <p:ext uri="{BB962C8B-B14F-4D97-AF65-F5344CB8AC3E}">
        <p14:creationId xmlns:p14="http://schemas.microsoft.com/office/powerpoint/2010/main" val="2384132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4" name="Google Shape;654;p64"/>
          <p:cNvSpPr txBox="1">
            <a:spLocks noGrp="1"/>
          </p:cNvSpPr>
          <p:nvPr>
            <p:ph type="title"/>
          </p:nvPr>
        </p:nvSpPr>
        <p:spPr>
          <a:xfrm>
            <a:off x="1089765" y="214818"/>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a:t>Requirements for mutual exclusion</a:t>
            </a:r>
            <a:endParaRPr/>
          </a:p>
        </p:txBody>
      </p:sp>
      <p:sp>
        <p:nvSpPr>
          <p:cNvPr id="655" name="Google Shape;655;p64"/>
          <p:cNvSpPr txBox="1">
            <a:spLocks noGrp="1"/>
          </p:cNvSpPr>
          <p:nvPr>
            <p:ph type="body" idx="1"/>
          </p:nvPr>
        </p:nvSpPr>
        <p:spPr>
          <a:xfrm>
            <a:off x="974902" y="1084570"/>
            <a:ext cx="10972800" cy="4525963"/>
          </a:xfrm>
          <a:prstGeom prst="rect">
            <a:avLst/>
          </a:prstGeom>
          <a:noFill/>
          <a:ln>
            <a:noFill/>
          </a:ln>
        </p:spPr>
        <p:txBody>
          <a:bodyPr spcFirstLastPara="1" wrap="square" lIns="91425" tIns="45700" rIns="91425" bIns="45700" anchor="t" anchorCtr="0">
            <a:normAutofit fontScale="92500" lnSpcReduction="20000"/>
          </a:bodyPr>
          <a:lstStyle/>
          <a:p>
            <a:pPr marL="285750" lvl="0" indent="-285750" algn="l" rtl="0">
              <a:lnSpc>
                <a:spcPct val="90000"/>
              </a:lnSpc>
              <a:spcBef>
                <a:spcPts val="0"/>
              </a:spcBef>
              <a:spcAft>
                <a:spcPts val="0"/>
              </a:spcAft>
              <a:buClr>
                <a:schemeClr val="dk1"/>
              </a:buClr>
              <a:buSzPct val="100000"/>
              <a:buChar char="•"/>
            </a:pPr>
            <a:r>
              <a:rPr lang="en-US" dirty="0"/>
              <a:t>Mutual exclusion must be enforced: Only one process at a time is allowed into its critical section </a:t>
            </a:r>
            <a:endParaRPr dirty="0"/>
          </a:p>
          <a:p>
            <a:pPr marL="285750" lvl="0" indent="-285750" algn="l" rtl="0">
              <a:lnSpc>
                <a:spcPct val="90000"/>
              </a:lnSpc>
              <a:spcBef>
                <a:spcPts val="1000"/>
              </a:spcBef>
              <a:spcAft>
                <a:spcPts val="0"/>
              </a:spcAft>
              <a:buClr>
                <a:schemeClr val="dk1"/>
              </a:buClr>
              <a:buSzPct val="100000"/>
              <a:buChar char="•"/>
            </a:pPr>
            <a:r>
              <a:rPr lang="en-US" dirty="0"/>
              <a:t> A process that halts in its noncritical section must do so without interfering with other processes.</a:t>
            </a:r>
            <a:endParaRPr dirty="0"/>
          </a:p>
          <a:p>
            <a:pPr marL="285750" lvl="0" indent="-285750" algn="l" rtl="0">
              <a:lnSpc>
                <a:spcPct val="90000"/>
              </a:lnSpc>
              <a:spcBef>
                <a:spcPts val="1000"/>
              </a:spcBef>
              <a:spcAft>
                <a:spcPts val="0"/>
              </a:spcAft>
              <a:buClr>
                <a:schemeClr val="dk1"/>
              </a:buClr>
              <a:buSzPct val="100000"/>
              <a:buChar char="•"/>
            </a:pPr>
            <a:r>
              <a:rPr lang="en-US" dirty="0"/>
              <a:t>The solution must ensure </a:t>
            </a:r>
            <a:r>
              <a:rPr lang="en-US" dirty="0" smtClean="0"/>
              <a:t>that there is no </a:t>
            </a:r>
            <a:r>
              <a:rPr lang="en-US" dirty="0"/>
              <a:t>deadlock or starvation.</a:t>
            </a:r>
            <a:endParaRPr dirty="0"/>
          </a:p>
          <a:p>
            <a:pPr marL="285750" lvl="0" indent="-285750" algn="l" rtl="0">
              <a:lnSpc>
                <a:spcPct val="90000"/>
              </a:lnSpc>
              <a:spcBef>
                <a:spcPts val="1000"/>
              </a:spcBef>
              <a:spcAft>
                <a:spcPts val="0"/>
              </a:spcAft>
              <a:buClr>
                <a:schemeClr val="dk1"/>
              </a:buClr>
              <a:buSzPct val="100000"/>
              <a:buChar char="•"/>
            </a:pPr>
            <a:r>
              <a:rPr lang="en-US" dirty="0"/>
              <a:t>When no process is in a critical section, any process that requests entry to its critical section must be permitted to enter without delay.</a:t>
            </a:r>
            <a:endParaRPr dirty="0"/>
          </a:p>
          <a:p>
            <a:pPr marL="285750" lvl="0" indent="-285750" algn="l" rtl="0">
              <a:lnSpc>
                <a:spcPct val="90000"/>
              </a:lnSpc>
              <a:spcBef>
                <a:spcPts val="1000"/>
              </a:spcBef>
              <a:spcAft>
                <a:spcPts val="0"/>
              </a:spcAft>
              <a:buClr>
                <a:schemeClr val="dk1"/>
              </a:buClr>
              <a:buSzPct val="100000"/>
              <a:buChar char="•"/>
            </a:pPr>
            <a:r>
              <a:rPr lang="en-US" dirty="0"/>
              <a:t>No assumptions are made about relative process speeds or number of processors.</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 A process remains inside its critical section for a finite time only</a:t>
            </a:r>
            <a:endParaRPr dirty="0"/>
          </a:p>
          <a:p>
            <a:pPr marL="285750" lvl="0" indent="-285750" algn="l" rtl="0">
              <a:lnSpc>
                <a:spcPct val="90000"/>
              </a:lnSpc>
              <a:spcBef>
                <a:spcPts val="1000"/>
              </a:spcBef>
              <a:spcAft>
                <a:spcPts val="0"/>
              </a:spcAft>
              <a:buClr>
                <a:srgbClr val="0070C0"/>
              </a:buClr>
              <a:buSzPct val="100000"/>
              <a:buFont typeface="Arial"/>
              <a:buChar char="•"/>
            </a:pPr>
            <a:r>
              <a:rPr lang="en-US" u="sng" dirty="0">
                <a:solidFill>
                  <a:srgbClr val="0070C0"/>
                </a:solidFill>
              </a:rPr>
              <a:t>Mutual exclusion techniques can be used to resolve conflicts, such as competition for resources, and to synchronize processes so that they can cooperate</a:t>
            </a:r>
            <a:endParaRPr dirty="0"/>
          </a:p>
        </p:txBody>
      </p:sp>
      <p:sp>
        <p:nvSpPr>
          <p:cNvPr id="656" name="Google Shape;656;p64"/>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D393EC9C-0A46-4898-9105-9830BA8F384F}" type="datetime1">
              <a:rPr lang="en-US" smtClean="0">
                <a:solidFill>
                  <a:srgbClr val="000000"/>
                </a:solidFill>
              </a:rPr>
              <a:t>11/11/2024</a:t>
            </a:fld>
            <a:endParaRPr>
              <a:solidFill>
                <a:srgbClr val="000000"/>
              </a:solidFill>
            </a:endParaRPr>
          </a:p>
        </p:txBody>
      </p:sp>
      <p:pic>
        <p:nvPicPr>
          <p:cNvPr id="6" name="Picture 5">
            <a:extLst>
              <a:ext uri="{FF2B5EF4-FFF2-40B4-BE49-F238E27FC236}">
                <a16:creationId xmlns="" xmlns:a16="http://schemas.microsoft.com/office/drawing/2014/main" id="{1547C2F5-D0C4-4329-8DC2-48B66EE4F515}"/>
              </a:ext>
            </a:extLst>
          </p:cNvPr>
          <p:cNvPicPr>
            <a:picLocks noChangeAspect="1"/>
          </p:cNvPicPr>
          <p:nvPr/>
        </p:nvPicPr>
        <p:blipFill>
          <a:blip r:embed="rId3"/>
          <a:stretch>
            <a:fillRect/>
          </a:stretch>
        </p:blipFill>
        <p:spPr>
          <a:xfrm rot="5400000">
            <a:off x="5880674" y="567534"/>
            <a:ext cx="385984" cy="12236665"/>
          </a:xfrm>
          <a:prstGeom prst="rect">
            <a:avLst/>
          </a:prstGeom>
        </p:spPr>
      </p:pic>
      <p:pic>
        <p:nvPicPr>
          <p:cNvPr id="7" name="Picture 6">
            <a:extLst>
              <a:ext uri="{FF2B5EF4-FFF2-40B4-BE49-F238E27FC236}">
                <a16:creationId xmlns="" xmlns:a16="http://schemas.microsoft.com/office/drawing/2014/main" id="{B15A553C-6E56-4E14-9B40-3D70033DB61F}"/>
              </a:ext>
            </a:extLst>
          </p:cNvPr>
          <p:cNvPicPr>
            <a:picLocks noChangeAspect="1"/>
          </p:cNvPicPr>
          <p:nvPr/>
        </p:nvPicPr>
        <p:blipFill>
          <a:blip r:embed="rId4"/>
          <a:stretch>
            <a:fillRect/>
          </a:stretch>
        </p:blipFill>
        <p:spPr>
          <a:xfrm rot="5400000">
            <a:off x="4533653" y="1754134"/>
            <a:ext cx="176409" cy="9333048"/>
          </a:xfrm>
          <a:prstGeom prst="rect">
            <a:avLst/>
          </a:prstGeom>
        </p:spPr>
      </p:pic>
      <p:pic>
        <p:nvPicPr>
          <p:cNvPr id="8"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57021" y="6057451"/>
            <a:ext cx="968545" cy="721920"/>
          </a:xfrm>
          <a:prstGeom prst="rect">
            <a:avLst/>
          </a:prstGeom>
          <a:noFill/>
          <a:ln>
            <a:noFill/>
          </a:ln>
        </p:spPr>
      </p:pic>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5967937"/>
            <a:ext cx="3245736" cy="811434"/>
          </a:xfrm>
          <a:prstGeom prst="rect">
            <a:avLst/>
          </a:prstGeom>
        </p:spPr>
      </p:pic>
    </p:spTree>
    <p:extLst>
      <p:ext uri="{BB962C8B-B14F-4D97-AF65-F5344CB8AC3E}">
        <p14:creationId xmlns:p14="http://schemas.microsoft.com/office/powerpoint/2010/main" val="36463102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65"/>
          <p:cNvSpPr txBox="1">
            <a:spLocks noGrp="1"/>
          </p:cNvSpPr>
          <p:nvPr>
            <p:ph type="title"/>
          </p:nvPr>
        </p:nvSpPr>
        <p:spPr>
          <a:xfrm>
            <a:off x="1089765" y="214818"/>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Illustration of Mutual Exclusion</a:t>
            </a:r>
            <a:endParaRPr/>
          </a:p>
        </p:txBody>
      </p:sp>
      <p:graphicFrame>
        <p:nvGraphicFramePr>
          <p:cNvPr id="663" name="Google Shape;663;p65"/>
          <p:cNvGraphicFramePr/>
          <p:nvPr/>
        </p:nvGraphicFramePr>
        <p:xfrm>
          <a:off x="911424" y="1340768"/>
          <a:ext cx="11041267" cy="4608500"/>
        </p:xfrm>
        <a:graphic>
          <a:graphicData uri="http://schemas.openxmlformats.org/drawingml/2006/table">
            <a:tbl>
              <a:tblPr firstRow="1" firstCol="1" bandRow="1" bandCol="1">
                <a:noFill/>
              </a:tblPr>
              <a:tblGrid>
                <a:gridCol w="3270200"/>
                <a:gridCol w="3270200"/>
                <a:gridCol w="1230667"/>
                <a:gridCol w="3270200"/>
              </a:tblGrid>
              <a:tr h="4608500">
                <a:tc>
                  <a:txBody>
                    <a:bodyPr/>
                    <a:lstStyle/>
                    <a:p>
                      <a:pPr marL="0" marR="0" lvl="0" indent="0" algn="l" rtl="0">
                        <a:spcBef>
                          <a:spcPts val="0"/>
                        </a:spcBef>
                        <a:spcAft>
                          <a:spcPts val="0"/>
                        </a:spcAft>
                        <a:buNone/>
                      </a:pPr>
                      <a:r>
                        <a:rPr lang="en-US" sz="1800" u="none" strike="noStrike" cap="none"/>
                        <a:t>/* PROCESS 1 */</a:t>
                      </a:r>
                      <a:br>
                        <a:rPr lang="en-US" sz="1800" u="none" strike="noStrike" cap="none"/>
                      </a:br>
                      <a:r>
                        <a:rPr lang="en-US" sz="1800" u="none" strike="noStrike" cap="none"/>
                        <a:t/>
                      </a:r>
                      <a:br>
                        <a:rPr lang="en-US" sz="1800" u="none" strike="noStrike" cap="none"/>
                      </a:br>
                      <a:r>
                        <a:rPr lang="en-US" sz="1800" u="none" strike="noStrike" cap="none"/>
                        <a:t>void P1</a:t>
                      </a:r>
                      <a:br>
                        <a:rPr lang="en-US" sz="1800" u="none" strike="noStrike" cap="none"/>
                      </a:br>
                      <a:r>
                        <a:rPr lang="en-US" sz="1800" u="none" strike="noStrike" cap="none"/>
                        <a:t>{</a:t>
                      </a:r>
                      <a:br>
                        <a:rPr lang="en-US" sz="1800" u="none" strike="noStrike" cap="none"/>
                      </a:br>
                      <a:r>
                        <a:rPr lang="en-US" sz="1800" u="none" strike="noStrike" cap="none"/>
                        <a:t>while (true) {</a:t>
                      </a:r>
                      <a:br>
                        <a:rPr lang="en-US" sz="1800" u="none" strike="noStrike" cap="none"/>
                      </a:br>
                      <a:r>
                        <a:rPr lang="en-US" sz="1800" u="none" strike="noStrike" cap="none"/>
                        <a:t>/* preceding code /;</a:t>
                      </a:r>
                      <a:br>
                        <a:rPr lang="en-US" sz="1800" u="none" strike="noStrike" cap="none"/>
                      </a:br>
                      <a:r>
                        <a:rPr lang="en-US" sz="1800" u="none" strike="noStrike" cap="none"/>
                        <a:t>EnterCriticalSection (Ra);</a:t>
                      </a:r>
                      <a:br>
                        <a:rPr lang="en-US" sz="1800" u="none" strike="noStrike" cap="none"/>
                      </a:br>
                      <a:r>
                        <a:rPr lang="en-US" sz="1800" u="none" strike="noStrike" cap="none"/>
                        <a:t>/* Execute Critical Section */;</a:t>
                      </a:r>
                      <a:br>
                        <a:rPr lang="en-US" sz="1800" u="none" strike="noStrike" cap="none"/>
                      </a:br>
                      <a:r>
                        <a:rPr lang="en-US" sz="1800" u="none" strike="noStrike" cap="none"/>
                        <a:t>ExitCriticalSection (Ra);</a:t>
                      </a:r>
                      <a:br>
                        <a:rPr lang="en-US" sz="1800" u="none" strike="noStrike" cap="none"/>
                      </a:br>
                      <a:r>
                        <a:rPr lang="en-US" sz="1800" u="none" strike="noStrike" cap="none"/>
                        <a:t>/* remaining code */;</a:t>
                      </a:r>
                      <a:br>
                        <a:rPr lang="en-US" sz="1800" u="none" strike="noStrike" cap="none"/>
                      </a:br>
                      <a:r>
                        <a:rPr lang="en-US" sz="1800" u="none" strike="noStrike" cap="none"/>
                        <a:t>}</a:t>
                      </a:r>
                      <a:br>
                        <a:rPr lang="en-US" sz="1800" u="none" strike="noStrike" cap="none"/>
                      </a:br>
                      <a:r>
                        <a:rPr lang="en-US" sz="1800" u="none" strike="noStrike" cap="none"/>
                        <a:t>}</a:t>
                      </a:r>
                      <a:endParaRPr sz="1800" u="none" strike="noStrike" cap="none">
                        <a:latin typeface="Times New Roman"/>
                        <a:ea typeface="Times New Roman"/>
                        <a:cs typeface="Times New Roman"/>
                        <a:sym typeface="Times New Roman"/>
                      </a:endParaRPr>
                    </a:p>
                  </a:txBody>
                  <a:tcPr marL="91433" marR="91433" marT="0" marB="0"/>
                </a:tc>
                <a:tc>
                  <a:txBody>
                    <a:bodyPr/>
                    <a:lstStyle/>
                    <a:p>
                      <a:pPr marL="0" marR="0" lvl="0" indent="0" algn="l" rtl="0">
                        <a:spcBef>
                          <a:spcPts val="0"/>
                        </a:spcBef>
                        <a:spcAft>
                          <a:spcPts val="0"/>
                        </a:spcAft>
                        <a:buNone/>
                      </a:pPr>
                      <a:r>
                        <a:rPr lang="en-US" sz="1800" u="none" strike="noStrike" cap="none"/>
                        <a:t>/* PROCESS 2 */</a:t>
                      </a:r>
                      <a:br>
                        <a:rPr lang="en-US" sz="1800" u="none" strike="noStrike" cap="none"/>
                      </a:br>
                      <a:r>
                        <a:rPr lang="en-US" sz="1800" u="none" strike="noStrike" cap="none"/>
                        <a:t/>
                      </a:r>
                      <a:br>
                        <a:rPr lang="en-US" sz="1800" u="none" strike="noStrike" cap="none"/>
                      </a:br>
                      <a:r>
                        <a:rPr lang="en-US" sz="1800" u="none" strike="noStrike" cap="none"/>
                        <a:t>void P2</a:t>
                      </a:r>
                      <a:br>
                        <a:rPr lang="en-US" sz="1800" u="none" strike="noStrike" cap="none"/>
                      </a:br>
                      <a:r>
                        <a:rPr lang="en-US" sz="1800" u="none" strike="noStrike" cap="none"/>
                        <a:t>{</a:t>
                      </a:r>
                      <a:br>
                        <a:rPr lang="en-US" sz="1800" u="none" strike="noStrike" cap="none"/>
                      </a:br>
                      <a:r>
                        <a:rPr lang="en-US" sz="1800" u="none" strike="noStrike" cap="none"/>
                        <a:t>while (true) {</a:t>
                      </a:r>
                      <a:br>
                        <a:rPr lang="en-US" sz="1800" u="none" strike="noStrike" cap="none"/>
                      </a:br>
                      <a:r>
                        <a:rPr lang="en-US" sz="1800" u="none" strike="noStrike" cap="none"/>
                        <a:t>/* preceding code */;</a:t>
                      </a:r>
                      <a:br>
                        <a:rPr lang="en-US" sz="1800" u="none" strike="noStrike" cap="none"/>
                      </a:br>
                      <a:r>
                        <a:rPr lang="en-US" sz="1800" u="none" strike="noStrike" cap="none"/>
                        <a:t>EnterCriticalSection (Ra);</a:t>
                      </a:r>
                      <a:br>
                        <a:rPr lang="en-US" sz="1800" u="none" strike="noStrike" cap="none"/>
                      </a:br>
                      <a:r>
                        <a:rPr lang="en-US" sz="1800" u="none" strike="noStrike" cap="none"/>
                        <a:t>/* Execute Critical Section */;</a:t>
                      </a:r>
                      <a:br>
                        <a:rPr lang="en-US" sz="1800" u="none" strike="noStrike" cap="none"/>
                      </a:br>
                      <a:r>
                        <a:rPr lang="en-US" sz="1800" u="none" strike="noStrike" cap="none"/>
                        <a:t>ExitCriticalSection (Ra);</a:t>
                      </a:r>
                      <a:br>
                        <a:rPr lang="en-US" sz="1800" u="none" strike="noStrike" cap="none"/>
                      </a:br>
                      <a:r>
                        <a:rPr lang="en-US" sz="1800" u="none" strike="noStrike" cap="none"/>
                        <a:t>/* remaining code */;</a:t>
                      </a:r>
                      <a:br>
                        <a:rPr lang="en-US" sz="1800" u="none" strike="noStrike" cap="none"/>
                      </a:br>
                      <a:r>
                        <a:rPr lang="en-US" sz="1800" u="none" strike="noStrike" cap="none"/>
                        <a:t>}</a:t>
                      </a:r>
                      <a:br>
                        <a:rPr lang="en-US" sz="1800" u="none" strike="noStrike" cap="none"/>
                      </a:br>
                      <a:r>
                        <a:rPr lang="en-US" sz="1800" u="none" strike="noStrike" cap="none"/>
                        <a:t>}</a:t>
                      </a:r>
                      <a:endParaRPr sz="1800" u="none" strike="noStrike" cap="none">
                        <a:latin typeface="Times New Roman"/>
                        <a:ea typeface="Times New Roman"/>
                        <a:cs typeface="Times New Roman"/>
                        <a:sym typeface="Times New Roman"/>
                      </a:endParaRPr>
                    </a:p>
                  </a:txBody>
                  <a:tcPr marL="91433" marR="91433" marT="0" marB="0"/>
                </a:tc>
                <a:tc>
                  <a:txBody>
                    <a:bodyPr/>
                    <a:lstStyle/>
                    <a:p>
                      <a:pPr marL="0" marR="0" lvl="0" indent="0" algn="ctr" rtl="0">
                        <a:spcBef>
                          <a:spcPts val="0"/>
                        </a:spcBef>
                        <a:spcAft>
                          <a:spcPts val="0"/>
                        </a:spcAft>
                        <a:buNone/>
                      </a:pPr>
                      <a:r>
                        <a:rPr lang="en-US" sz="3200" u="none" strike="noStrike" cap="none"/>
                        <a:t>…</a:t>
                      </a:r>
                      <a:endParaRPr sz="1800" u="none" strike="noStrike" cap="none">
                        <a:latin typeface="Times New Roman"/>
                        <a:ea typeface="Times New Roman"/>
                        <a:cs typeface="Times New Roman"/>
                        <a:sym typeface="Times New Roman"/>
                      </a:endParaRPr>
                    </a:p>
                  </a:txBody>
                  <a:tcPr marL="91433" marR="91433" marT="0" marB="0" anchor="ctr"/>
                </a:tc>
                <a:tc>
                  <a:txBody>
                    <a:bodyPr/>
                    <a:lstStyle/>
                    <a:p>
                      <a:pPr marL="0" marR="0" lvl="0" indent="0" algn="l" rtl="0">
                        <a:spcBef>
                          <a:spcPts val="0"/>
                        </a:spcBef>
                        <a:spcAft>
                          <a:spcPts val="0"/>
                        </a:spcAft>
                        <a:buNone/>
                      </a:pPr>
                      <a:r>
                        <a:rPr lang="en-US" sz="1800" u="none" strike="noStrike" cap="none"/>
                        <a:t>/* PROCESS n */</a:t>
                      </a:r>
                      <a:br>
                        <a:rPr lang="en-US" sz="1800" u="none" strike="noStrike" cap="none"/>
                      </a:br>
                      <a:r>
                        <a:rPr lang="en-US" sz="1800" u="none" strike="noStrike" cap="none"/>
                        <a:t/>
                      </a:r>
                      <a:br>
                        <a:rPr lang="en-US" sz="1800" u="none" strike="noStrike" cap="none"/>
                      </a:br>
                      <a:r>
                        <a:rPr lang="en-US" sz="1800" u="none" strike="noStrike" cap="none"/>
                        <a:t>void Pn</a:t>
                      </a:r>
                      <a:br>
                        <a:rPr lang="en-US" sz="1800" u="none" strike="noStrike" cap="none"/>
                      </a:br>
                      <a:r>
                        <a:rPr lang="en-US" sz="1800" u="none" strike="noStrike" cap="none"/>
                        <a:t>{</a:t>
                      </a:r>
                      <a:br>
                        <a:rPr lang="en-US" sz="1800" u="none" strike="noStrike" cap="none"/>
                      </a:br>
                      <a:r>
                        <a:rPr lang="en-US" sz="1800" u="none" strike="noStrike" cap="none"/>
                        <a:t>while (true) {</a:t>
                      </a:r>
                      <a:br>
                        <a:rPr lang="en-US" sz="1800" u="none" strike="noStrike" cap="none"/>
                      </a:br>
                      <a:r>
                        <a:rPr lang="en-US" sz="1800" u="none" strike="noStrike" cap="none"/>
                        <a:t>/* preceding code */;</a:t>
                      </a:r>
                      <a:br>
                        <a:rPr lang="en-US" sz="1800" u="none" strike="noStrike" cap="none"/>
                      </a:br>
                      <a:r>
                        <a:rPr lang="en-US" sz="1800" u="none" strike="noStrike" cap="none"/>
                        <a:t>EnterCriticalSection (Ra);</a:t>
                      </a:r>
                      <a:br>
                        <a:rPr lang="en-US" sz="1800" u="none" strike="noStrike" cap="none"/>
                      </a:br>
                      <a:r>
                        <a:rPr lang="en-US" sz="1800" u="none" strike="noStrike" cap="none"/>
                        <a:t>/* Execute Critical Section */;</a:t>
                      </a:r>
                      <a:br>
                        <a:rPr lang="en-US" sz="1800" u="none" strike="noStrike" cap="none"/>
                      </a:br>
                      <a:r>
                        <a:rPr lang="en-US" sz="1800" u="none" strike="noStrike" cap="none"/>
                        <a:t>ExitCriticalSection (Ra);</a:t>
                      </a:r>
                      <a:br>
                        <a:rPr lang="en-US" sz="1800" u="none" strike="noStrike" cap="none"/>
                      </a:br>
                      <a:r>
                        <a:rPr lang="en-US" sz="1800" u="none" strike="noStrike" cap="none"/>
                        <a:t>/* remaining code */;</a:t>
                      </a:r>
                      <a:br>
                        <a:rPr lang="en-US" sz="1800" u="none" strike="noStrike" cap="none"/>
                      </a:br>
                      <a:r>
                        <a:rPr lang="en-US" sz="1800" u="none" strike="noStrike" cap="none"/>
                        <a:t>}</a:t>
                      </a:r>
                      <a:br>
                        <a:rPr lang="en-US" sz="1800" u="none" strike="noStrike" cap="none"/>
                      </a:br>
                      <a:r>
                        <a:rPr lang="en-US" sz="1800" u="none" strike="noStrike" cap="none"/>
                        <a:t>}</a:t>
                      </a:r>
                      <a:endParaRPr sz="1800" u="none" strike="noStrike" cap="none">
                        <a:latin typeface="Times New Roman"/>
                        <a:ea typeface="Times New Roman"/>
                        <a:cs typeface="Times New Roman"/>
                        <a:sym typeface="Times New Roman"/>
                      </a:endParaRPr>
                    </a:p>
                  </a:txBody>
                  <a:tcPr marL="91433" marR="91433" marT="0" marB="0"/>
                </a:tc>
              </a:tr>
            </a:tbl>
          </a:graphicData>
        </a:graphic>
      </p:graphicFrame>
      <p:sp>
        <p:nvSpPr>
          <p:cNvPr id="664" name="Google Shape;664;p65"/>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8C5AC469-9250-4AEA-B19D-1D28A6979925}" type="datetime1">
              <a:rPr lang="en-US" smtClean="0">
                <a:solidFill>
                  <a:srgbClr val="000000"/>
                </a:solidFill>
              </a:rPr>
              <a:t>11/11/2024</a:t>
            </a:fld>
            <a:endParaRPr>
              <a:solidFill>
                <a:srgbClr val="000000"/>
              </a:solidFill>
            </a:endParaRPr>
          </a:p>
        </p:txBody>
      </p:sp>
      <p:pic>
        <p:nvPicPr>
          <p:cNvPr id="6" name="Picture 5">
            <a:extLst>
              <a:ext uri="{FF2B5EF4-FFF2-40B4-BE49-F238E27FC236}">
                <a16:creationId xmlns="" xmlns:a16="http://schemas.microsoft.com/office/drawing/2014/main" id="{1547C2F5-D0C4-4329-8DC2-48B66EE4F515}"/>
              </a:ext>
            </a:extLst>
          </p:cNvPr>
          <p:cNvPicPr>
            <a:picLocks noChangeAspect="1"/>
          </p:cNvPicPr>
          <p:nvPr/>
        </p:nvPicPr>
        <p:blipFill>
          <a:blip r:embed="rId3"/>
          <a:stretch>
            <a:fillRect/>
          </a:stretch>
        </p:blipFill>
        <p:spPr>
          <a:xfrm rot="5400000">
            <a:off x="5880674" y="567534"/>
            <a:ext cx="385984" cy="12236665"/>
          </a:xfrm>
          <a:prstGeom prst="rect">
            <a:avLst/>
          </a:prstGeom>
        </p:spPr>
      </p:pic>
      <p:pic>
        <p:nvPicPr>
          <p:cNvPr id="7" name="Picture 6">
            <a:extLst>
              <a:ext uri="{FF2B5EF4-FFF2-40B4-BE49-F238E27FC236}">
                <a16:creationId xmlns="" xmlns:a16="http://schemas.microsoft.com/office/drawing/2014/main" id="{B15A553C-6E56-4E14-9B40-3D70033DB61F}"/>
              </a:ext>
            </a:extLst>
          </p:cNvPr>
          <p:cNvPicPr>
            <a:picLocks noChangeAspect="1"/>
          </p:cNvPicPr>
          <p:nvPr/>
        </p:nvPicPr>
        <p:blipFill>
          <a:blip r:embed="rId4"/>
          <a:stretch>
            <a:fillRect/>
          </a:stretch>
        </p:blipFill>
        <p:spPr>
          <a:xfrm rot="5400000">
            <a:off x="4533653" y="1754134"/>
            <a:ext cx="176409" cy="9333048"/>
          </a:xfrm>
          <a:prstGeom prst="rect">
            <a:avLst/>
          </a:prstGeom>
        </p:spPr>
      </p:pic>
      <p:pic>
        <p:nvPicPr>
          <p:cNvPr id="8"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a:noFill/>
          <a:ln>
            <a:noFill/>
          </a:ln>
        </p:spPr>
      </p:pic>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Tree>
    <p:extLst>
      <p:ext uri="{BB962C8B-B14F-4D97-AF65-F5344CB8AC3E}">
        <p14:creationId xmlns:p14="http://schemas.microsoft.com/office/powerpoint/2010/main" val="268987974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 xmlns:a16="http://schemas.microsoft.com/office/drawing/2014/main" id="{98058B23-DDE2-4F62-9A2E-46739C3C685F}"/>
              </a:ext>
            </a:extLst>
          </p:cNvPr>
          <p:cNvSpPr>
            <a:spLocks noGrp="1"/>
          </p:cNvSpPr>
          <p:nvPr>
            <p:ph type="title"/>
          </p:nvPr>
        </p:nvSpPr>
        <p:spPr/>
        <p:txBody>
          <a:bodyPr/>
          <a:lstStyle/>
          <a:p>
            <a:pPr algn="ctr"/>
            <a:r>
              <a:rPr lang="en-US" dirty="0" smtClean="0">
                <a:solidFill>
                  <a:srgbClr val="C00000"/>
                </a:solidFill>
                <a:latin typeface="Marcellus" panose="020E0602050203020307" pitchFamily="34" charset="0"/>
              </a:rPr>
              <a:t>Software support</a:t>
            </a:r>
            <a:endParaRPr lang="en-US" dirty="0"/>
          </a:p>
        </p:txBody>
      </p:sp>
      <p:pic>
        <p:nvPicPr>
          <p:cNvPr id="4" name="Picture 3">
            <a:extLst>
              <a:ext uri="{FF2B5EF4-FFF2-40B4-BE49-F238E27FC236}">
                <a16:creationId xmlns="" xmlns:a16="http://schemas.microsoft.com/office/drawing/2014/main" id="{8026AED6-E793-48A3-96AF-36A0D1FE2D70}"/>
              </a:ext>
            </a:extLst>
          </p:cNvPr>
          <p:cNvPicPr>
            <a:picLocks noChangeAspect="1"/>
          </p:cNvPicPr>
          <p:nvPr/>
        </p:nvPicPr>
        <p:blipFill>
          <a:blip r:embed="rId2"/>
          <a:stretch>
            <a:fillRect/>
          </a:stretch>
        </p:blipFill>
        <p:spPr>
          <a:xfrm>
            <a:off x="605" y="2219"/>
            <a:ext cx="566958" cy="6855781"/>
          </a:xfrm>
          <a:prstGeom prst="rect">
            <a:avLst/>
          </a:prstGeom>
        </p:spPr>
      </p:pic>
      <p:pic>
        <p:nvPicPr>
          <p:cNvPr id="5" name="Picture 4">
            <a:extLst>
              <a:ext uri="{FF2B5EF4-FFF2-40B4-BE49-F238E27FC236}">
                <a16:creationId xmlns="" xmlns:a16="http://schemas.microsoft.com/office/drawing/2014/main" id="{98F5ADD7-F579-4B31-B088-24730AEA76C9}"/>
              </a:ext>
            </a:extLst>
          </p:cNvPr>
          <p:cNvPicPr>
            <a:picLocks noChangeAspect="1"/>
          </p:cNvPicPr>
          <p:nvPr/>
        </p:nvPicPr>
        <p:blipFill>
          <a:blip r:embed="rId3"/>
          <a:stretch>
            <a:fillRect/>
          </a:stretch>
        </p:blipFill>
        <p:spPr>
          <a:xfrm>
            <a:off x="567563" y="0"/>
            <a:ext cx="209677" cy="5440680"/>
          </a:xfrm>
          <a:prstGeom prst="rect">
            <a:avLst/>
          </a:prstGeom>
        </p:spPr>
      </p:pic>
      <p:pic>
        <p:nvPicPr>
          <p:cNvPr id="11" name="Picture 10" descr="A close up of a sign&#10;&#10;Description automatically generated">
            <a:extLst>
              <a:ext uri="{FF2B5EF4-FFF2-40B4-BE49-F238E27FC236}">
                <a16:creationId xmlns=""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39" y="5830821"/>
            <a:ext cx="868683" cy="647487"/>
          </a:xfrm>
          <a:prstGeom prst="rect">
            <a:avLst/>
          </a:prstGeom>
        </p:spPr>
      </p:pic>
      <p:pic>
        <p:nvPicPr>
          <p:cNvPr id="6" name="Picture 5" descr="A picture containing drawing&#10;&#10;Description automatically generated">
            <a:extLst>
              <a:ext uri="{FF2B5EF4-FFF2-40B4-BE49-F238E27FC236}">
                <a16:creationId xmlns=""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
        <p:nvSpPr>
          <p:cNvPr id="7" name="Date Placeholder 6"/>
          <p:cNvSpPr>
            <a:spLocks noGrp="1"/>
          </p:cNvSpPr>
          <p:nvPr>
            <p:ph type="dt" sz="half" idx="10"/>
          </p:nvPr>
        </p:nvSpPr>
        <p:spPr/>
        <p:txBody>
          <a:bodyPr/>
          <a:lstStyle/>
          <a:p>
            <a:fld id="{6D90BF62-557A-4A57-83EC-3AD7D0FC698E}" type="datetime1">
              <a:rPr lang="en-US" smtClean="0"/>
              <a:t>11/11/2024</a:t>
            </a:fld>
            <a:endParaRPr lang="en-US"/>
          </a:p>
        </p:txBody>
      </p:sp>
    </p:spTree>
    <p:extLst>
      <p:ext uri="{BB962C8B-B14F-4D97-AF65-F5344CB8AC3E}">
        <p14:creationId xmlns:p14="http://schemas.microsoft.com/office/powerpoint/2010/main" val="22294247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BAEE860B-E59E-4B72-87CE-22B39241DC2B}" type="datetime1">
              <a:rPr lang="en-US" smtClean="0"/>
              <a:t>11/11/2024</a:t>
            </a:fld>
            <a:endParaRPr lang="en-US"/>
          </a:p>
        </p:txBody>
      </p:sp>
      <p:sp>
        <p:nvSpPr>
          <p:cNvPr id="11" name="Title 10"/>
          <p:cNvSpPr>
            <a:spLocks noGrp="1"/>
          </p:cNvSpPr>
          <p:nvPr>
            <p:ph type="title"/>
          </p:nvPr>
        </p:nvSpPr>
        <p:spPr>
          <a:xfrm>
            <a:off x="815866" y="119465"/>
            <a:ext cx="10515600" cy="576571"/>
          </a:xfrm>
        </p:spPr>
        <p:txBody>
          <a:bodyPr>
            <a:normAutofit fontScale="90000"/>
          </a:bodyPr>
          <a:lstStyle/>
          <a:p>
            <a:pPr algn="ctr"/>
            <a:r>
              <a:rPr lang="en-IN" b="1" dirty="0" smtClean="0">
                <a:solidFill>
                  <a:srgbClr val="C00000"/>
                </a:solidFill>
              </a:rPr>
              <a:t>Reading Assignment</a:t>
            </a:r>
            <a:endParaRPr lang="en-IN" b="1" dirty="0">
              <a:solidFill>
                <a:srgbClr val="C00000"/>
              </a:solidFill>
            </a:endParaRPr>
          </a:p>
        </p:txBody>
      </p:sp>
      <p:graphicFrame>
        <p:nvGraphicFramePr>
          <p:cNvPr id="13" name="Table 12"/>
          <p:cNvGraphicFramePr>
            <a:graphicFrameLocks noGrp="1"/>
          </p:cNvGraphicFramePr>
          <p:nvPr>
            <p:extLst>
              <p:ext uri="{D42A27DB-BD31-4B8C-83A1-F6EECF244321}">
                <p14:modId xmlns:p14="http://schemas.microsoft.com/office/powerpoint/2010/main" val="2400918776"/>
              </p:ext>
            </p:extLst>
          </p:nvPr>
        </p:nvGraphicFramePr>
        <p:xfrm>
          <a:off x="625438" y="669108"/>
          <a:ext cx="10896456" cy="6190480"/>
        </p:xfrm>
        <a:graphic>
          <a:graphicData uri="http://schemas.openxmlformats.org/drawingml/2006/table">
            <a:tbl>
              <a:tblPr firstRow="1" firstCol="1" lastRow="1" lastCol="1" bandRow="1" bandCol="1">
                <a:tableStyleId>{5C22544A-7EE6-4342-B048-85BDC9FD1C3A}</a:tableStyleId>
              </a:tblPr>
              <a:tblGrid>
                <a:gridCol w="2724114"/>
                <a:gridCol w="2724114"/>
                <a:gridCol w="2724114"/>
                <a:gridCol w="2724114"/>
              </a:tblGrid>
              <a:tr h="192644">
                <a:tc gridSpan="4">
                  <a:txBody>
                    <a:bodyPr/>
                    <a:lstStyle/>
                    <a:p>
                      <a:pPr>
                        <a:spcAft>
                          <a:spcPts val="0"/>
                        </a:spcAft>
                      </a:pPr>
                      <a:r>
                        <a:rPr lang="en-US" sz="1100" dirty="0">
                          <a:effectLst/>
                        </a:rPr>
                        <a:t> </a:t>
                      </a:r>
                      <a:endParaRPr lang="en-IN" sz="1100" dirty="0">
                        <a:effectLst/>
                        <a:latin typeface="Times New Roman"/>
                        <a:ea typeface="Times New Roman"/>
                        <a:cs typeface="Times New Roman"/>
                      </a:endParaRPr>
                    </a:p>
                  </a:txBody>
                  <a:tcPr marL="58277" marR="58277" marT="0" marB="0" anchor="b"/>
                </a:tc>
                <a:tc hMerge="1">
                  <a:txBody>
                    <a:bodyPr/>
                    <a:lstStyle/>
                    <a:p>
                      <a:endParaRPr lang="en-IN"/>
                    </a:p>
                  </a:txBody>
                  <a:tcPr/>
                </a:tc>
                <a:tc hMerge="1">
                  <a:txBody>
                    <a:bodyPr/>
                    <a:lstStyle/>
                    <a:p>
                      <a:endParaRPr lang="en-IN"/>
                    </a:p>
                  </a:txBody>
                  <a:tcPr/>
                </a:tc>
                <a:tc hMerge="1">
                  <a:txBody>
                    <a:bodyPr/>
                    <a:lstStyle/>
                    <a:p>
                      <a:endParaRPr lang="en-IN"/>
                    </a:p>
                  </a:txBody>
                  <a:tcPr/>
                </a:tc>
              </a:tr>
              <a:tr h="192644">
                <a:tc gridSpan="2">
                  <a:txBody>
                    <a:bodyPr/>
                    <a:lstStyle/>
                    <a:p>
                      <a:pPr>
                        <a:spcAft>
                          <a:spcPts val="0"/>
                        </a:spcAft>
                      </a:pPr>
                      <a:r>
                        <a:rPr lang="en-US" sz="1800" dirty="0">
                          <a:effectLst/>
                        </a:rPr>
                        <a:t>Attempt One</a:t>
                      </a:r>
                      <a:endParaRPr lang="en-IN" sz="1800" dirty="0">
                        <a:effectLst/>
                        <a:latin typeface="Times New Roman"/>
                        <a:ea typeface="Times New Roman"/>
                        <a:cs typeface="Times New Roman"/>
                      </a:endParaRPr>
                    </a:p>
                  </a:txBody>
                  <a:tcPr marL="58277" marR="58277" marT="0" marB="0" anchor="b"/>
                </a:tc>
                <a:tc hMerge="1">
                  <a:txBody>
                    <a:bodyPr/>
                    <a:lstStyle/>
                    <a:p>
                      <a:endParaRPr lang="en-IN"/>
                    </a:p>
                  </a:txBody>
                  <a:tcPr/>
                </a:tc>
                <a:tc gridSpan="2">
                  <a:txBody>
                    <a:bodyPr/>
                    <a:lstStyle/>
                    <a:p>
                      <a:pPr>
                        <a:spcAft>
                          <a:spcPts val="0"/>
                        </a:spcAft>
                      </a:pPr>
                      <a:r>
                        <a:rPr lang="en-US" sz="1800">
                          <a:effectLst/>
                        </a:rPr>
                        <a:t>Attempt Two</a:t>
                      </a:r>
                      <a:endParaRPr lang="en-IN" sz="1800">
                        <a:effectLst/>
                        <a:latin typeface="Times New Roman"/>
                        <a:ea typeface="Times New Roman"/>
                        <a:cs typeface="Times New Roman"/>
                      </a:endParaRPr>
                    </a:p>
                  </a:txBody>
                  <a:tcPr marL="58277" marR="58277" marT="0" marB="0" anchor="b"/>
                </a:tc>
                <a:tc hMerge="1">
                  <a:txBody>
                    <a:bodyPr/>
                    <a:lstStyle/>
                    <a:p>
                      <a:endParaRPr lang="en-IN"/>
                    </a:p>
                  </a:txBody>
                  <a:tcPr/>
                </a:tc>
              </a:tr>
              <a:tr h="3026495">
                <a:tc>
                  <a:txBody>
                    <a:bodyPr/>
                    <a:lstStyle/>
                    <a:p>
                      <a:pPr>
                        <a:spcAft>
                          <a:spcPts val="0"/>
                        </a:spcAft>
                      </a:pPr>
                      <a:r>
                        <a:rPr lang="en-US" sz="1800" dirty="0">
                          <a:effectLst/>
                        </a:rPr>
                        <a:t>/*  Process 0*/</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while(turn!=0) </a:t>
                      </a:r>
                      <a:br>
                        <a:rPr lang="en-US" sz="1800" dirty="0">
                          <a:effectLst/>
                        </a:rPr>
                      </a:br>
                      <a:r>
                        <a:rPr lang="en-US" sz="1800" dirty="0">
                          <a:effectLst/>
                        </a:rPr>
                        <a:t>/* do nothing */;</a:t>
                      </a:r>
                      <a:br>
                        <a:rPr lang="en-US" sz="1800" dirty="0">
                          <a:effectLst/>
                        </a:rPr>
                      </a:br>
                      <a:r>
                        <a:rPr lang="en-US" sz="1800" dirty="0">
                          <a:effectLst/>
                        </a:rPr>
                        <a:t>/*critical section*/;</a:t>
                      </a:r>
                      <a:br>
                        <a:rPr lang="en-US" sz="1800" dirty="0">
                          <a:effectLst/>
                        </a:rPr>
                      </a:br>
                      <a:r>
                        <a:rPr lang="en-US" sz="1800" dirty="0">
                          <a:effectLst/>
                        </a:rPr>
                        <a:t>turn =1;</a:t>
                      </a:r>
                      <a:br>
                        <a:rPr lang="en-US" sz="1800" dirty="0">
                          <a:effectLst/>
                        </a:rPr>
                      </a:br>
                      <a:r>
                        <a:rPr lang="en-US" sz="1800" dirty="0">
                          <a:effectLst/>
                        </a:rPr>
                        <a:t>.</a:t>
                      </a:r>
                      <a:br>
                        <a:rPr lang="en-US" sz="1800" dirty="0">
                          <a:effectLst/>
                        </a:rPr>
                      </a:br>
                      <a:r>
                        <a:rPr lang="en-US" sz="1800" dirty="0">
                          <a:effectLst/>
                        </a:rPr>
                        <a:t>.</a:t>
                      </a:r>
                      <a:endParaRPr lang="en-IN" sz="1800" dirty="0">
                        <a:effectLst/>
                        <a:latin typeface="Times New Roman"/>
                        <a:ea typeface="Times New Roman"/>
                        <a:cs typeface="Times New Roman"/>
                      </a:endParaRPr>
                    </a:p>
                  </a:txBody>
                  <a:tcPr marL="58277" marR="58277" marT="0" marB="0"/>
                </a:tc>
                <a:tc>
                  <a:txBody>
                    <a:bodyPr/>
                    <a:lstStyle/>
                    <a:p>
                      <a:pPr>
                        <a:spcAft>
                          <a:spcPts val="0"/>
                        </a:spcAft>
                      </a:pPr>
                      <a:r>
                        <a:rPr lang="en-US" sz="1800" dirty="0">
                          <a:effectLst/>
                        </a:rPr>
                        <a:t>/*  Process 1*/</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while(turn!=1) </a:t>
                      </a:r>
                      <a:br>
                        <a:rPr lang="en-US" sz="1800" dirty="0">
                          <a:effectLst/>
                        </a:rPr>
                      </a:br>
                      <a:r>
                        <a:rPr lang="en-US" sz="1800" dirty="0">
                          <a:effectLst/>
                        </a:rPr>
                        <a:t>/* do nothing */;</a:t>
                      </a:r>
                      <a:br>
                        <a:rPr lang="en-US" sz="1800" dirty="0">
                          <a:effectLst/>
                        </a:rPr>
                      </a:br>
                      <a:r>
                        <a:rPr lang="en-US" sz="1800" dirty="0">
                          <a:effectLst/>
                        </a:rPr>
                        <a:t>/*critical section*/;</a:t>
                      </a:r>
                      <a:br>
                        <a:rPr lang="en-US" sz="1800" dirty="0">
                          <a:effectLst/>
                        </a:rPr>
                      </a:br>
                      <a:r>
                        <a:rPr lang="en-US" sz="1800" dirty="0">
                          <a:effectLst/>
                        </a:rPr>
                        <a:t>turn =0;</a:t>
                      </a:r>
                      <a:br>
                        <a:rPr lang="en-US" sz="1800" dirty="0">
                          <a:effectLst/>
                        </a:rPr>
                      </a:br>
                      <a:r>
                        <a:rPr lang="en-US" sz="1800" dirty="0">
                          <a:effectLst/>
                        </a:rPr>
                        <a:t>.</a:t>
                      </a:r>
                      <a:br>
                        <a:rPr lang="en-US" sz="1800" dirty="0">
                          <a:effectLst/>
                        </a:rPr>
                      </a:br>
                      <a:r>
                        <a:rPr lang="en-US" sz="1800" dirty="0">
                          <a:effectLst/>
                        </a:rPr>
                        <a:t>.</a:t>
                      </a:r>
                      <a:endParaRPr lang="en-IN" sz="1800" dirty="0">
                        <a:effectLst/>
                        <a:latin typeface="Times New Roman"/>
                        <a:ea typeface="Times New Roman"/>
                        <a:cs typeface="Times New Roman"/>
                      </a:endParaRPr>
                    </a:p>
                  </a:txBody>
                  <a:tcPr marL="58277" marR="58277" marT="0" marB="0"/>
                </a:tc>
                <a:tc>
                  <a:txBody>
                    <a:bodyPr/>
                    <a:lstStyle/>
                    <a:p>
                      <a:pPr>
                        <a:spcAft>
                          <a:spcPts val="0"/>
                        </a:spcAft>
                      </a:pPr>
                      <a:r>
                        <a:rPr lang="en-US" sz="1800" dirty="0">
                          <a:effectLst/>
                        </a:rPr>
                        <a:t>/*  Process 0*/</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while(flag[1]) </a:t>
                      </a:r>
                      <a:br>
                        <a:rPr lang="en-US" sz="1800" dirty="0">
                          <a:effectLst/>
                        </a:rPr>
                      </a:br>
                      <a:r>
                        <a:rPr lang="en-US" sz="1800" dirty="0">
                          <a:effectLst/>
                        </a:rPr>
                        <a:t>/* do nothing */;</a:t>
                      </a:r>
                      <a:br>
                        <a:rPr lang="en-US" sz="1800" dirty="0">
                          <a:effectLst/>
                        </a:rPr>
                      </a:br>
                      <a:r>
                        <a:rPr lang="en-US" sz="1800" dirty="0">
                          <a:effectLst/>
                        </a:rPr>
                        <a:t>flag[0]=true;</a:t>
                      </a:r>
                      <a:br>
                        <a:rPr lang="en-US" sz="1800" dirty="0">
                          <a:effectLst/>
                        </a:rPr>
                      </a:br>
                      <a:r>
                        <a:rPr lang="en-US" sz="1800" dirty="0">
                          <a:effectLst/>
                        </a:rPr>
                        <a:t>/*critical section*/;</a:t>
                      </a:r>
                      <a:br>
                        <a:rPr lang="en-US" sz="1800" dirty="0">
                          <a:effectLst/>
                        </a:rPr>
                      </a:br>
                      <a:r>
                        <a:rPr lang="en-US" sz="1800" dirty="0">
                          <a:effectLst/>
                        </a:rPr>
                        <a:t>flag[0]=false;</a:t>
                      </a:r>
                      <a:br>
                        <a:rPr lang="en-US" sz="1800" dirty="0">
                          <a:effectLst/>
                        </a:rPr>
                      </a:br>
                      <a:r>
                        <a:rPr lang="en-US" sz="1800" dirty="0">
                          <a:effectLst/>
                        </a:rPr>
                        <a:t>.</a:t>
                      </a:r>
                      <a:br>
                        <a:rPr lang="en-US" sz="1800" dirty="0">
                          <a:effectLst/>
                        </a:rPr>
                      </a:br>
                      <a:r>
                        <a:rPr lang="en-US" sz="1800" dirty="0" smtClean="0">
                          <a:effectLst/>
                        </a:rPr>
                        <a:t>.</a:t>
                      </a:r>
                      <a:endParaRPr lang="en-IN" sz="1800" dirty="0">
                        <a:effectLst/>
                        <a:latin typeface="Times New Roman"/>
                        <a:ea typeface="Times New Roman"/>
                        <a:cs typeface="Times New Roman"/>
                      </a:endParaRPr>
                    </a:p>
                  </a:txBody>
                  <a:tcPr marL="58277" marR="58277" marT="0" marB="0"/>
                </a:tc>
                <a:tc>
                  <a:txBody>
                    <a:bodyPr/>
                    <a:lstStyle/>
                    <a:p>
                      <a:pPr>
                        <a:spcAft>
                          <a:spcPts val="0"/>
                        </a:spcAft>
                      </a:pPr>
                      <a:r>
                        <a:rPr lang="en-US" sz="1800" dirty="0">
                          <a:effectLst/>
                        </a:rPr>
                        <a:t>/*  Process 1*/</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while(flag[0]) </a:t>
                      </a:r>
                      <a:br>
                        <a:rPr lang="en-US" sz="1800" dirty="0">
                          <a:effectLst/>
                        </a:rPr>
                      </a:br>
                      <a:r>
                        <a:rPr lang="en-US" sz="1800" dirty="0">
                          <a:effectLst/>
                        </a:rPr>
                        <a:t>/* do nothing */;</a:t>
                      </a:r>
                      <a:br>
                        <a:rPr lang="en-US" sz="1800" dirty="0">
                          <a:effectLst/>
                        </a:rPr>
                      </a:br>
                      <a:r>
                        <a:rPr lang="en-US" sz="1800" dirty="0">
                          <a:effectLst/>
                        </a:rPr>
                        <a:t>flag[1]=true;</a:t>
                      </a:r>
                      <a:br>
                        <a:rPr lang="en-US" sz="1800" dirty="0">
                          <a:effectLst/>
                        </a:rPr>
                      </a:br>
                      <a:r>
                        <a:rPr lang="en-US" sz="1800" dirty="0">
                          <a:effectLst/>
                        </a:rPr>
                        <a:t>/*critical section*/;</a:t>
                      </a:r>
                      <a:br>
                        <a:rPr lang="en-US" sz="1800" dirty="0">
                          <a:effectLst/>
                        </a:rPr>
                      </a:br>
                      <a:r>
                        <a:rPr lang="en-US" sz="1800" dirty="0">
                          <a:effectLst/>
                        </a:rPr>
                        <a:t>flag[1]=false;</a:t>
                      </a:r>
                      <a:br>
                        <a:rPr lang="en-US" sz="1800" dirty="0">
                          <a:effectLst/>
                        </a:rPr>
                      </a:br>
                      <a:r>
                        <a:rPr lang="en-US" sz="1800" dirty="0">
                          <a:effectLst/>
                        </a:rPr>
                        <a:t>.</a:t>
                      </a:r>
                      <a:br>
                        <a:rPr lang="en-US" sz="1800" dirty="0">
                          <a:effectLst/>
                        </a:rPr>
                      </a:br>
                      <a:r>
                        <a:rPr lang="en-US" sz="1800" dirty="0" smtClean="0">
                          <a:effectLst/>
                        </a:rPr>
                        <a:t>.</a:t>
                      </a:r>
                      <a:endParaRPr lang="en-IN" sz="1800" dirty="0">
                        <a:effectLst/>
                        <a:latin typeface="Times New Roman"/>
                        <a:ea typeface="Times New Roman"/>
                        <a:cs typeface="Times New Roman"/>
                      </a:endParaRPr>
                    </a:p>
                  </a:txBody>
                  <a:tcPr marL="58277" marR="58277" marT="0" marB="0" anchor="b"/>
                </a:tc>
              </a:tr>
              <a:tr h="2697021">
                <a:tc gridSpan="2">
                  <a:txBody>
                    <a:bodyPr/>
                    <a:lstStyle/>
                    <a:p>
                      <a:pPr>
                        <a:spcAft>
                          <a:spcPts val="0"/>
                        </a:spcAft>
                      </a:pPr>
                      <a:r>
                        <a:rPr lang="en-US" sz="1800" dirty="0">
                          <a:effectLst/>
                        </a:rPr>
                        <a:t>First Attempt:</a:t>
                      </a:r>
                      <a:endParaRPr lang="en-IN" sz="1800" dirty="0">
                        <a:effectLst/>
                      </a:endParaRPr>
                    </a:p>
                    <a:p>
                      <a:pPr marL="342900" lvl="0" indent="-342900">
                        <a:spcAft>
                          <a:spcPts val="0"/>
                        </a:spcAft>
                        <a:buFont typeface="Symbol"/>
                        <a:buChar char=""/>
                        <a:tabLst>
                          <a:tab pos="457200" algn="l"/>
                        </a:tabLst>
                      </a:pPr>
                      <a:r>
                        <a:rPr lang="en-US" sz="1800" dirty="0">
                          <a:effectLst/>
                        </a:rPr>
                        <a:t>Succeeds in enforcing mutual exclusion</a:t>
                      </a:r>
                      <a:endParaRPr lang="en-IN" sz="1800" dirty="0">
                        <a:effectLst/>
                      </a:endParaRPr>
                    </a:p>
                    <a:p>
                      <a:pPr marL="342900" lvl="0" indent="-342900">
                        <a:spcAft>
                          <a:spcPts val="0"/>
                        </a:spcAft>
                        <a:buFont typeface="Symbol"/>
                        <a:buChar char=""/>
                        <a:tabLst>
                          <a:tab pos="457200" algn="l"/>
                        </a:tabLst>
                      </a:pPr>
                      <a:r>
                        <a:rPr lang="en-US" sz="1800" dirty="0">
                          <a:effectLst/>
                        </a:rPr>
                        <a:t>Uses variable to control which thread can execute</a:t>
                      </a:r>
                      <a:endParaRPr lang="en-IN" sz="1800" dirty="0">
                        <a:effectLst/>
                      </a:endParaRPr>
                    </a:p>
                    <a:p>
                      <a:pPr marL="342900" lvl="0" indent="-342900">
                        <a:spcAft>
                          <a:spcPts val="0"/>
                        </a:spcAft>
                        <a:buFont typeface="Symbol"/>
                        <a:buChar char=""/>
                        <a:tabLst>
                          <a:tab pos="457200" algn="l"/>
                        </a:tabLst>
                      </a:pPr>
                      <a:r>
                        <a:rPr lang="en-US" sz="1800" dirty="0">
                          <a:effectLst/>
                        </a:rPr>
                        <a:t>Constantly tests whether critical section is available</a:t>
                      </a:r>
                      <a:endParaRPr lang="en-IN" sz="1800" dirty="0">
                        <a:effectLst/>
                      </a:endParaRPr>
                    </a:p>
                    <a:p>
                      <a:pPr marL="742950" lvl="1" indent="-285750">
                        <a:spcAft>
                          <a:spcPts val="0"/>
                        </a:spcAft>
                        <a:buFont typeface="Courier New"/>
                        <a:buChar char="o"/>
                        <a:tabLst>
                          <a:tab pos="914400" algn="l"/>
                        </a:tabLst>
                      </a:pPr>
                      <a:r>
                        <a:rPr lang="en-US" sz="1800" dirty="0">
                          <a:effectLst/>
                        </a:rPr>
                        <a:t>Busy waiting</a:t>
                      </a:r>
                      <a:endParaRPr lang="en-IN" sz="1800" dirty="0">
                        <a:effectLst/>
                      </a:endParaRPr>
                    </a:p>
                    <a:p>
                      <a:pPr marL="742950" lvl="1" indent="-285750">
                        <a:spcAft>
                          <a:spcPts val="0"/>
                        </a:spcAft>
                        <a:buFont typeface="Courier New"/>
                        <a:buChar char="o"/>
                        <a:tabLst>
                          <a:tab pos="914400" algn="l"/>
                        </a:tabLst>
                      </a:pPr>
                      <a:r>
                        <a:rPr lang="en-US" sz="1800" dirty="0">
                          <a:effectLst/>
                        </a:rPr>
                        <a:t>Wastes significant processor time</a:t>
                      </a:r>
                      <a:endParaRPr lang="en-IN" sz="1800" dirty="0">
                        <a:effectLst/>
                      </a:endParaRPr>
                    </a:p>
                    <a:p>
                      <a:pPr marL="342900" lvl="0" indent="-342900">
                        <a:spcAft>
                          <a:spcPts val="0"/>
                        </a:spcAft>
                        <a:buFont typeface="Symbol"/>
                        <a:buChar char=""/>
                        <a:tabLst>
                          <a:tab pos="457200" algn="l"/>
                        </a:tabLst>
                      </a:pPr>
                      <a:r>
                        <a:rPr lang="en-US" sz="1800" dirty="0">
                          <a:effectLst/>
                        </a:rPr>
                        <a:t>Problem known as strict alternation  synchronization</a:t>
                      </a:r>
                      <a:endParaRPr lang="en-IN" sz="1800" dirty="0">
                        <a:effectLst/>
                      </a:endParaRPr>
                    </a:p>
                    <a:p>
                      <a:pPr marL="742950" lvl="1" indent="-285750">
                        <a:spcAft>
                          <a:spcPts val="0"/>
                        </a:spcAft>
                        <a:buFont typeface="Courier New"/>
                        <a:buChar char="o"/>
                        <a:tabLst>
                          <a:tab pos="914400" algn="l"/>
                        </a:tabLst>
                      </a:pPr>
                      <a:r>
                        <a:rPr lang="en-US" sz="1800" dirty="0">
                          <a:effectLst/>
                        </a:rPr>
                        <a:t>Each thread can execute only in strict alternation</a:t>
                      </a:r>
                      <a:endParaRPr lang="en-IN" sz="1800" dirty="0">
                        <a:effectLst/>
                        <a:latin typeface="Times New Roman"/>
                        <a:ea typeface="Times New Roman"/>
                        <a:cs typeface="Times New Roman"/>
                      </a:endParaRPr>
                    </a:p>
                  </a:txBody>
                  <a:tcPr marL="58277" marR="58277" marT="0" marB="0"/>
                </a:tc>
                <a:tc hMerge="1">
                  <a:txBody>
                    <a:bodyPr/>
                    <a:lstStyle/>
                    <a:p>
                      <a:endParaRPr lang="en-IN"/>
                    </a:p>
                  </a:txBody>
                  <a:tcPr/>
                </a:tc>
                <a:tc gridSpan="2">
                  <a:txBody>
                    <a:bodyPr/>
                    <a:lstStyle/>
                    <a:p>
                      <a:pPr>
                        <a:spcAft>
                          <a:spcPts val="0"/>
                        </a:spcAft>
                      </a:pPr>
                      <a:r>
                        <a:rPr lang="en-US" sz="2000" dirty="0">
                          <a:effectLst/>
                        </a:rPr>
                        <a:t>Second Attempt:</a:t>
                      </a:r>
                      <a:endParaRPr lang="en-IN" sz="2000" dirty="0">
                        <a:effectLst/>
                      </a:endParaRPr>
                    </a:p>
                    <a:p>
                      <a:pPr marL="342900" lvl="0" indent="-342900">
                        <a:spcAft>
                          <a:spcPts val="0"/>
                        </a:spcAft>
                        <a:buFont typeface="Symbol"/>
                        <a:buChar char=""/>
                        <a:tabLst>
                          <a:tab pos="495300" algn="l"/>
                        </a:tabLst>
                      </a:pPr>
                      <a:r>
                        <a:rPr lang="en-US" sz="2000" dirty="0">
                          <a:effectLst/>
                        </a:rPr>
                        <a:t>Removes strict alternation synchronization</a:t>
                      </a:r>
                      <a:endParaRPr lang="en-IN" sz="2000" dirty="0">
                        <a:effectLst/>
                      </a:endParaRPr>
                    </a:p>
                    <a:p>
                      <a:pPr marL="342900" lvl="0" indent="-342900">
                        <a:spcAft>
                          <a:spcPts val="0"/>
                        </a:spcAft>
                        <a:buFont typeface="Symbol"/>
                        <a:buChar char=""/>
                        <a:tabLst>
                          <a:tab pos="495300" algn="l"/>
                        </a:tabLst>
                      </a:pPr>
                      <a:r>
                        <a:rPr lang="en-US" sz="2000" dirty="0">
                          <a:effectLst/>
                        </a:rPr>
                        <a:t>Violates mutual exclusion</a:t>
                      </a:r>
                      <a:endParaRPr lang="en-IN" sz="2000" dirty="0">
                        <a:effectLst/>
                      </a:endParaRPr>
                    </a:p>
                    <a:p>
                      <a:pPr marL="742950" lvl="1" indent="-285750">
                        <a:spcAft>
                          <a:spcPts val="0"/>
                        </a:spcAft>
                        <a:buFont typeface="Courier New"/>
                        <a:buChar char="o"/>
                        <a:tabLst>
                          <a:tab pos="952500" algn="l"/>
                        </a:tabLst>
                      </a:pPr>
                      <a:r>
                        <a:rPr lang="en-US" sz="2000" dirty="0">
                          <a:effectLst/>
                        </a:rPr>
                        <a:t>Thread could be preempted while updating flag variable</a:t>
                      </a:r>
                      <a:endParaRPr lang="en-IN" sz="2000" dirty="0">
                        <a:effectLst/>
                      </a:endParaRPr>
                    </a:p>
                    <a:p>
                      <a:pPr marL="1143000" lvl="2" indent="-228600">
                        <a:spcAft>
                          <a:spcPts val="0"/>
                        </a:spcAft>
                        <a:buFont typeface="Symbol"/>
                        <a:buChar char=""/>
                        <a:tabLst>
                          <a:tab pos="503555" algn="l"/>
                        </a:tabLst>
                      </a:pPr>
                      <a:r>
                        <a:rPr lang="en-US" sz="2000" dirty="0">
                          <a:effectLst/>
                        </a:rPr>
                        <a:t>Not an appropriate solution</a:t>
                      </a:r>
                      <a:endParaRPr lang="en-IN" sz="2000" dirty="0">
                        <a:effectLst/>
                        <a:latin typeface="Times New Roman"/>
                        <a:ea typeface="Times New Roman"/>
                        <a:cs typeface="Symbol"/>
                      </a:endParaRPr>
                    </a:p>
                  </a:txBody>
                  <a:tcPr marL="58277" marR="58277" marT="0" marB="0"/>
                </a:tc>
                <a:tc hMerge="1">
                  <a:txBody>
                    <a:bodyPr/>
                    <a:lstStyle/>
                    <a:p>
                      <a:endParaRPr lang="en-IN"/>
                    </a:p>
                  </a:txBody>
                  <a:tcPr/>
                </a:tc>
              </a:tr>
            </a:tbl>
          </a:graphicData>
        </a:graphic>
      </p:graphicFrame>
    </p:spTree>
    <p:extLst>
      <p:ext uri="{BB962C8B-B14F-4D97-AF65-F5344CB8AC3E}">
        <p14:creationId xmlns:p14="http://schemas.microsoft.com/office/powerpoint/2010/main" val="3226311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90143A0E-6C63-4472-8DFA-6B36E3884D2F}" type="datetime1">
              <a:rPr lang="en-US" smtClean="0"/>
              <a:t>11/11/2024</a:t>
            </a:fld>
            <a:endParaRPr lang="en-US"/>
          </a:p>
        </p:txBody>
      </p:sp>
      <p:sp>
        <p:nvSpPr>
          <p:cNvPr id="11" name="Title 10"/>
          <p:cNvSpPr>
            <a:spLocks noGrp="1"/>
          </p:cNvSpPr>
          <p:nvPr>
            <p:ph type="title"/>
          </p:nvPr>
        </p:nvSpPr>
        <p:spPr>
          <a:xfrm>
            <a:off x="815866" y="119465"/>
            <a:ext cx="10515600" cy="576571"/>
          </a:xfrm>
        </p:spPr>
        <p:txBody>
          <a:bodyPr>
            <a:normAutofit fontScale="90000"/>
          </a:bodyPr>
          <a:lstStyle/>
          <a:p>
            <a:pPr algn="ctr"/>
            <a:r>
              <a:rPr lang="en-IN" b="1" dirty="0" smtClean="0">
                <a:solidFill>
                  <a:srgbClr val="C00000"/>
                </a:solidFill>
              </a:rPr>
              <a:t>Reading Assignment</a:t>
            </a:r>
            <a:endParaRPr lang="en-IN" b="1" dirty="0">
              <a:solidFill>
                <a:srgbClr val="C0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4246380721"/>
              </p:ext>
            </p:extLst>
          </p:nvPr>
        </p:nvGraphicFramePr>
        <p:xfrm>
          <a:off x="522236" y="689438"/>
          <a:ext cx="11310372" cy="6182210"/>
        </p:xfrm>
        <a:graphic>
          <a:graphicData uri="http://schemas.openxmlformats.org/drawingml/2006/table">
            <a:tbl>
              <a:tblPr firstRow="1" firstCol="1" lastRow="1" lastCol="1" bandRow="1" bandCol="1">
                <a:tableStyleId>{5C22544A-7EE6-4342-B048-85BDC9FD1C3A}</a:tableStyleId>
              </a:tblPr>
              <a:tblGrid>
                <a:gridCol w="2827593"/>
                <a:gridCol w="2827593"/>
                <a:gridCol w="2827593"/>
                <a:gridCol w="2827593"/>
              </a:tblGrid>
              <a:tr h="216893">
                <a:tc gridSpan="2">
                  <a:txBody>
                    <a:bodyPr/>
                    <a:lstStyle/>
                    <a:p>
                      <a:pPr>
                        <a:spcAft>
                          <a:spcPts val="0"/>
                        </a:spcAft>
                      </a:pPr>
                      <a:r>
                        <a:rPr lang="en-US" sz="1800" dirty="0">
                          <a:effectLst/>
                        </a:rPr>
                        <a:t>Attempt Three</a:t>
                      </a:r>
                      <a:endParaRPr lang="en-IN" sz="1800" dirty="0">
                        <a:effectLst/>
                        <a:latin typeface="Times New Roman"/>
                        <a:ea typeface="Times New Roman"/>
                        <a:cs typeface="Times New Roman"/>
                      </a:endParaRPr>
                    </a:p>
                  </a:txBody>
                  <a:tcPr marL="54392" marR="54392" marT="0" marB="0" anchor="b"/>
                </a:tc>
                <a:tc hMerge="1">
                  <a:txBody>
                    <a:bodyPr/>
                    <a:lstStyle/>
                    <a:p>
                      <a:endParaRPr lang="en-IN"/>
                    </a:p>
                  </a:txBody>
                  <a:tcPr/>
                </a:tc>
                <a:tc gridSpan="2">
                  <a:txBody>
                    <a:bodyPr/>
                    <a:lstStyle/>
                    <a:p>
                      <a:pPr>
                        <a:spcAft>
                          <a:spcPts val="0"/>
                        </a:spcAft>
                      </a:pPr>
                      <a:r>
                        <a:rPr lang="en-US" sz="1800">
                          <a:effectLst/>
                        </a:rPr>
                        <a:t>Attempt Four</a:t>
                      </a:r>
                      <a:endParaRPr lang="en-IN" sz="1800">
                        <a:effectLst/>
                        <a:latin typeface="Times New Roman"/>
                        <a:ea typeface="Times New Roman"/>
                        <a:cs typeface="Times New Roman"/>
                      </a:endParaRPr>
                    </a:p>
                  </a:txBody>
                  <a:tcPr marL="54392" marR="54392" marT="0" marB="0" anchor="b"/>
                </a:tc>
                <a:tc hMerge="1">
                  <a:txBody>
                    <a:bodyPr/>
                    <a:lstStyle/>
                    <a:p>
                      <a:endParaRPr lang="en-IN"/>
                    </a:p>
                  </a:txBody>
                  <a:tcPr/>
                </a:tc>
              </a:tr>
              <a:tr h="3036502">
                <a:tc>
                  <a:txBody>
                    <a:bodyPr/>
                    <a:lstStyle/>
                    <a:p>
                      <a:pPr>
                        <a:spcAft>
                          <a:spcPts val="0"/>
                        </a:spcAft>
                      </a:pPr>
                      <a:r>
                        <a:rPr lang="en-US" sz="1800" dirty="0">
                          <a:effectLst/>
                        </a:rPr>
                        <a:t>/*  Process 0*/</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flag[0]=true;</a:t>
                      </a:r>
                      <a:br>
                        <a:rPr lang="en-US" sz="1800" dirty="0">
                          <a:effectLst/>
                        </a:rPr>
                      </a:br>
                      <a:r>
                        <a:rPr lang="en-US" sz="1800" dirty="0">
                          <a:effectLst/>
                        </a:rPr>
                        <a:t>while(flag[1]) </a:t>
                      </a:r>
                      <a:br>
                        <a:rPr lang="en-US" sz="1800" dirty="0">
                          <a:effectLst/>
                        </a:rPr>
                      </a:br>
                      <a:r>
                        <a:rPr lang="en-US" sz="1800" dirty="0">
                          <a:effectLst/>
                        </a:rPr>
                        <a:t>/* do nothing */;</a:t>
                      </a:r>
                      <a:br>
                        <a:rPr lang="en-US" sz="1800" dirty="0">
                          <a:effectLst/>
                        </a:rPr>
                      </a:br>
                      <a:r>
                        <a:rPr lang="en-US" sz="1800" dirty="0">
                          <a:effectLst/>
                        </a:rPr>
                        <a:t>/*critical section*/;</a:t>
                      </a:r>
                      <a:br>
                        <a:rPr lang="en-US" sz="1800" dirty="0">
                          <a:effectLst/>
                        </a:rPr>
                      </a:br>
                      <a:r>
                        <a:rPr lang="en-US" sz="1800" dirty="0">
                          <a:effectLst/>
                        </a:rPr>
                        <a:t>flag[0]=false;</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a:t>
                      </a:r>
                      <a:endParaRPr lang="en-IN" sz="1800" dirty="0">
                        <a:effectLst/>
                        <a:latin typeface="Times New Roman"/>
                        <a:ea typeface="Times New Roman"/>
                        <a:cs typeface="Times New Roman"/>
                      </a:endParaRPr>
                    </a:p>
                  </a:txBody>
                  <a:tcPr marL="54392" marR="54392" marT="0" marB="0"/>
                </a:tc>
                <a:tc>
                  <a:txBody>
                    <a:bodyPr/>
                    <a:lstStyle/>
                    <a:p>
                      <a:pPr>
                        <a:spcAft>
                          <a:spcPts val="0"/>
                        </a:spcAft>
                      </a:pPr>
                      <a:r>
                        <a:rPr lang="en-US" sz="1800" dirty="0">
                          <a:effectLst/>
                        </a:rPr>
                        <a:t>/*  Process 1*/</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flag[1]=true;</a:t>
                      </a:r>
                      <a:br>
                        <a:rPr lang="en-US" sz="1800" dirty="0">
                          <a:effectLst/>
                        </a:rPr>
                      </a:br>
                      <a:r>
                        <a:rPr lang="en-US" sz="1800" dirty="0">
                          <a:effectLst/>
                        </a:rPr>
                        <a:t>while(flag[0]) </a:t>
                      </a:r>
                      <a:br>
                        <a:rPr lang="en-US" sz="1800" dirty="0">
                          <a:effectLst/>
                        </a:rPr>
                      </a:br>
                      <a:r>
                        <a:rPr lang="en-US" sz="1800" dirty="0">
                          <a:effectLst/>
                        </a:rPr>
                        <a:t>/* do nothing */;</a:t>
                      </a:r>
                      <a:br>
                        <a:rPr lang="en-US" sz="1800" dirty="0">
                          <a:effectLst/>
                        </a:rPr>
                      </a:br>
                      <a:r>
                        <a:rPr lang="en-US" sz="1800" dirty="0">
                          <a:effectLst/>
                        </a:rPr>
                        <a:t>/*critical section*/;</a:t>
                      </a:r>
                      <a:br>
                        <a:rPr lang="en-US" sz="1800" dirty="0">
                          <a:effectLst/>
                        </a:rPr>
                      </a:br>
                      <a:r>
                        <a:rPr lang="en-US" sz="1800" dirty="0">
                          <a:effectLst/>
                        </a:rPr>
                        <a:t>flag[1]=false;</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a:t>
                      </a:r>
                      <a:endParaRPr lang="en-IN" sz="1800" dirty="0">
                        <a:effectLst/>
                        <a:latin typeface="Times New Roman"/>
                        <a:ea typeface="Times New Roman"/>
                        <a:cs typeface="Times New Roman"/>
                      </a:endParaRPr>
                    </a:p>
                  </a:txBody>
                  <a:tcPr marL="54392" marR="54392" marT="0" marB="0"/>
                </a:tc>
                <a:tc>
                  <a:txBody>
                    <a:bodyPr/>
                    <a:lstStyle/>
                    <a:p>
                      <a:pPr>
                        <a:spcAft>
                          <a:spcPts val="0"/>
                        </a:spcAft>
                      </a:pPr>
                      <a:r>
                        <a:rPr lang="en-US" sz="1800" dirty="0">
                          <a:effectLst/>
                        </a:rPr>
                        <a:t>/*  Process 0*/</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flag[0]=true;</a:t>
                      </a:r>
                      <a:br>
                        <a:rPr lang="en-US" sz="1800" dirty="0">
                          <a:effectLst/>
                        </a:rPr>
                      </a:br>
                      <a:r>
                        <a:rPr lang="en-US" sz="1800" dirty="0">
                          <a:effectLst/>
                        </a:rPr>
                        <a:t>while(flag[1]) </a:t>
                      </a:r>
                      <a:br>
                        <a:rPr lang="en-US" sz="1800" dirty="0">
                          <a:effectLst/>
                        </a:rPr>
                      </a:br>
                      <a:r>
                        <a:rPr lang="en-US" sz="1800" dirty="0">
                          <a:effectLst/>
                        </a:rPr>
                        <a:t>{ flag[0]=false;</a:t>
                      </a:r>
                      <a:br>
                        <a:rPr lang="en-US" sz="1800" dirty="0">
                          <a:effectLst/>
                        </a:rPr>
                      </a:br>
                      <a:r>
                        <a:rPr lang="en-US" sz="1800" dirty="0">
                          <a:effectLst/>
                        </a:rPr>
                        <a:t>/*delay*/</a:t>
                      </a:r>
                      <a:br>
                        <a:rPr lang="en-US" sz="1800" dirty="0">
                          <a:effectLst/>
                        </a:rPr>
                      </a:br>
                      <a:r>
                        <a:rPr lang="en-US" sz="1800" dirty="0">
                          <a:effectLst/>
                        </a:rPr>
                        <a:t>flag[0]=true;</a:t>
                      </a:r>
                      <a:br>
                        <a:rPr lang="en-US" sz="1800" dirty="0">
                          <a:effectLst/>
                        </a:rPr>
                      </a:br>
                      <a:r>
                        <a:rPr lang="en-US" sz="1800" dirty="0">
                          <a:effectLst/>
                        </a:rPr>
                        <a:t>}</a:t>
                      </a:r>
                      <a:br>
                        <a:rPr lang="en-US" sz="1800" dirty="0">
                          <a:effectLst/>
                        </a:rPr>
                      </a:br>
                      <a:r>
                        <a:rPr lang="en-US" sz="1800" dirty="0">
                          <a:effectLst/>
                        </a:rPr>
                        <a:t> /*critical section*/;</a:t>
                      </a:r>
                      <a:br>
                        <a:rPr lang="en-US" sz="1800" dirty="0">
                          <a:effectLst/>
                        </a:rPr>
                      </a:br>
                      <a:r>
                        <a:rPr lang="en-US" sz="1800" dirty="0">
                          <a:effectLst/>
                        </a:rPr>
                        <a:t>flag[0]=false;</a:t>
                      </a:r>
                      <a:br>
                        <a:rPr lang="en-US" sz="1800" dirty="0">
                          <a:effectLst/>
                        </a:rPr>
                      </a:br>
                      <a:r>
                        <a:rPr lang="en-US" sz="1800" dirty="0">
                          <a:effectLst/>
                        </a:rPr>
                        <a:t>.</a:t>
                      </a:r>
                      <a:br>
                        <a:rPr lang="en-US" sz="1800" dirty="0">
                          <a:effectLst/>
                        </a:rPr>
                      </a:br>
                      <a:r>
                        <a:rPr lang="en-US" sz="1800" dirty="0">
                          <a:effectLst/>
                        </a:rPr>
                        <a:t>.</a:t>
                      </a:r>
                      <a:endParaRPr lang="en-IN" sz="1800" dirty="0">
                        <a:effectLst/>
                        <a:latin typeface="Times New Roman"/>
                        <a:ea typeface="Times New Roman"/>
                        <a:cs typeface="Times New Roman"/>
                      </a:endParaRPr>
                    </a:p>
                  </a:txBody>
                  <a:tcPr marL="54392" marR="54392" marT="0" marB="0"/>
                </a:tc>
                <a:tc>
                  <a:txBody>
                    <a:bodyPr/>
                    <a:lstStyle/>
                    <a:p>
                      <a:pPr>
                        <a:spcAft>
                          <a:spcPts val="0"/>
                        </a:spcAft>
                      </a:pPr>
                      <a:r>
                        <a:rPr lang="en-US" sz="1800" dirty="0">
                          <a:effectLst/>
                        </a:rPr>
                        <a:t>/*  Process 1*/</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a:t>
                      </a:r>
                      <a:br>
                        <a:rPr lang="en-US" sz="1800" dirty="0">
                          <a:effectLst/>
                        </a:rPr>
                      </a:br>
                      <a:r>
                        <a:rPr lang="en-US" sz="1800" dirty="0">
                          <a:effectLst/>
                        </a:rPr>
                        <a:t>flag[1]=true;</a:t>
                      </a:r>
                      <a:br>
                        <a:rPr lang="en-US" sz="1800" dirty="0">
                          <a:effectLst/>
                        </a:rPr>
                      </a:br>
                      <a:r>
                        <a:rPr lang="en-US" sz="1800" dirty="0">
                          <a:effectLst/>
                        </a:rPr>
                        <a:t>while(flag[0]) </a:t>
                      </a:r>
                      <a:br>
                        <a:rPr lang="en-US" sz="1800" dirty="0">
                          <a:effectLst/>
                        </a:rPr>
                      </a:br>
                      <a:r>
                        <a:rPr lang="en-US" sz="1800" dirty="0">
                          <a:effectLst/>
                        </a:rPr>
                        <a:t>{ flag[1]=false;</a:t>
                      </a:r>
                      <a:br>
                        <a:rPr lang="en-US" sz="1800" dirty="0">
                          <a:effectLst/>
                        </a:rPr>
                      </a:br>
                      <a:r>
                        <a:rPr lang="en-US" sz="1800" dirty="0">
                          <a:effectLst/>
                        </a:rPr>
                        <a:t>/*delay*/</a:t>
                      </a:r>
                      <a:br>
                        <a:rPr lang="en-US" sz="1800" dirty="0">
                          <a:effectLst/>
                        </a:rPr>
                      </a:br>
                      <a:r>
                        <a:rPr lang="en-US" sz="1800" dirty="0">
                          <a:effectLst/>
                        </a:rPr>
                        <a:t>flag[1]=true;</a:t>
                      </a:r>
                      <a:br>
                        <a:rPr lang="en-US" sz="1800" dirty="0">
                          <a:effectLst/>
                        </a:rPr>
                      </a:br>
                      <a:r>
                        <a:rPr lang="en-US" sz="1800" dirty="0">
                          <a:effectLst/>
                        </a:rPr>
                        <a:t>}</a:t>
                      </a:r>
                      <a:br>
                        <a:rPr lang="en-US" sz="1800" dirty="0">
                          <a:effectLst/>
                        </a:rPr>
                      </a:br>
                      <a:r>
                        <a:rPr lang="en-US" sz="1800" dirty="0">
                          <a:effectLst/>
                        </a:rPr>
                        <a:t> /*critical section*/;</a:t>
                      </a:r>
                      <a:br>
                        <a:rPr lang="en-US" sz="1800" dirty="0">
                          <a:effectLst/>
                        </a:rPr>
                      </a:br>
                      <a:r>
                        <a:rPr lang="en-US" sz="1800" dirty="0">
                          <a:effectLst/>
                        </a:rPr>
                        <a:t>flag[1]=false;</a:t>
                      </a:r>
                      <a:br>
                        <a:rPr lang="en-US" sz="1800" dirty="0">
                          <a:effectLst/>
                        </a:rPr>
                      </a:br>
                      <a:r>
                        <a:rPr lang="en-US" sz="1800" dirty="0">
                          <a:effectLst/>
                        </a:rPr>
                        <a:t>.</a:t>
                      </a:r>
                      <a:br>
                        <a:rPr lang="en-US" sz="1800" dirty="0">
                          <a:effectLst/>
                        </a:rPr>
                      </a:br>
                      <a:r>
                        <a:rPr lang="en-US" sz="1800" dirty="0">
                          <a:effectLst/>
                        </a:rPr>
                        <a:t>.</a:t>
                      </a:r>
                      <a:endParaRPr lang="en-IN" sz="1800" dirty="0">
                        <a:effectLst/>
                        <a:latin typeface="Times New Roman"/>
                        <a:ea typeface="Times New Roman"/>
                        <a:cs typeface="Times New Roman"/>
                      </a:endParaRPr>
                    </a:p>
                  </a:txBody>
                  <a:tcPr marL="54392" marR="54392" marT="0" marB="0"/>
                </a:tc>
              </a:tr>
              <a:tr h="2067410">
                <a:tc gridSpan="2">
                  <a:txBody>
                    <a:bodyPr/>
                    <a:lstStyle/>
                    <a:p>
                      <a:pPr>
                        <a:spcAft>
                          <a:spcPts val="0"/>
                        </a:spcAft>
                      </a:pPr>
                      <a:r>
                        <a:rPr lang="en-US" sz="1600" dirty="0">
                          <a:effectLst/>
                        </a:rPr>
                        <a:t>Third Attempt:</a:t>
                      </a:r>
                      <a:endParaRPr lang="en-IN" sz="1600" dirty="0">
                        <a:effectLst/>
                      </a:endParaRPr>
                    </a:p>
                    <a:p>
                      <a:pPr marL="342900" lvl="0" indent="-342900">
                        <a:spcAft>
                          <a:spcPts val="0"/>
                        </a:spcAft>
                        <a:buFont typeface="Symbol"/>
                        <a:buChar char=""/>
                        <a:tabLst>
                          <a:tab pos="457200" algn="l"/>
                        </a:tabLst>
                      </a:pPr>
                      <a:r>
                        <a:rPr lang="en-US" sz="1600" dirty="0">
                          <a:effectLst/>
                        </a:rPr>
                        <a:t>Set critical section flag before entering critical section test</a:t>
                      </a:r>
                      <a:endParaRPr lang="en-IN" sz="1600" dirty="0">
                        <a:effectLst/>
                      </a:endParaRPr>
                    </a:p>
                    <a:p>
                      <a:pPr marL="742950" lvl="1" indent="-285750">
                        <a:spcAft>
                          <a:spcPts val="0"/>
                        </a:spcAft>
                        <a:buFont typeface="Courier New"/>
                        <a:buChar char="o"/>
                        <a:tabLst>
                          <a:tab pos="914400" algn="l"/>
                        </a:tabLst>
                      </a:pPr>
                      <a:r>
                        <a:rPr lang="en-US" sz="1600" dirty="0">
                          <a:effectLst/>
                        </a:rPr>
                        <a:t>Once again guarantees mutual exclusion</a:t>
                      </a:r>
                      <a:endParaRPr lang="en-IN" sz="1600" dirty="0">
                        <a:effectLst/>
                      </a:endParaRPr>
                    </a:p>
                    <a:p>
                      <a:pPr marL="342900" lvl="0" indent="-342900">
                        <a:spcAft>
                          <a:spcPts val="0"/>
                        </a:spcAft>
                        <a:buFont typeface="Symbol"/>
                        <a:buChar char=""/>
                        <a:tabLst>
                          <a:tab pos="457200" algn="l"/>
                        </a:tabLst>
                      </a:pPr>
                      <a:r>
                        <a:rPr lang="en-US" sz="1600" dirty="0">
                          <a:effectLst/>
                        </a:rPr>
                        <a:t>Introduces possibility of deadlock</a:t>
                      </a:r>
                      <a:endParaRPr lang="en-IN" sz="1600" dirty="0">
                        <a:effectLst/>
                      </a:endParaRPr>
                    </a:p>
                    <a:p>
                      <a:pPr marL="742950" lvl="1" indent="-285750">
                        <a:spcAft>
                          <a:spcPts val="0"/>
                        </a:spcAft>
                        <a:buFont typeface="Courier New"/>
                        <a:buChar char="o"/>
                        <a:tabLst>
                          <a:tab pos="914400" algn="l"/>
                        </a:tabLst>
                      </a:pPr>
                      <a:r>
                        <a:rPr lang="en-US" sz="1600" dirty="0">
                          <a:effectLst/>
                        </a:rPr>
                        <a:t>Both threads could set flag simultaneously</a:t>
                      </a:r>
                      <a:endParaRPr lang="en-IN" sz="1600" dirty="0">
                        <a:effectLst/>
                      </a:endParaRPr>
                    </a:p>
                    <a:p>
                      <a:pPr marL="742950" lvl="1" indent="-285750">
                        <a:spcAft>
                          <a:spcPts val="0"/>
                        </a:spcAft>
                        <a:buFont typeface="Courier New"/>
                        <a:buChar char="o"/>
                        <a:tabLst>
                          <a:tab pos="914400" algn="l"/>
                        </a:tabLst>
                      </a:pPr>
                      <a:r>
                        <a:rPr lang="en-US" sz="1600" dirty="0">
                          <a:effectLst/>
                        </a:rPr>
                        <a:t>Neither would ever be able to break out of loop</a:t>
                      </a:r>
                      <a:endParaRPr lang="en-IN" sz="1600" dirty="0">
                        <a:effectLst/>
                      </a:endParaRPr>
                    </a:p>
                    <a:p>
                      <a:pPr marL="342900" lvl="0" indent="-342900">
                        <a:spcAft>
                          <a:spcPts val="0"/>
                        </a:spcAft>
                        <a:buFont typeface="Symbol"/>
                        <a:buChar char=""/>
                        <a:tabLst>
                          <a:tab pos="457200" algn="l"/>
                        </a:tabLst>
                      </a:pPr>
                      <a:r>
                        <a:rPr lang="en-US" sz="1600" dirty="0">
                          <a:effectLst/>
                        </a:rPr>
                        <a:t>Not a solution to the mutual exclusion</a:t>
                      </a:r>
                      <a:endParaRPr lang="en-IN" sz="1600" dirty="0">
                        <a:solidFill>
                          <a:srgbClr val="000000"/>
                        </a:solidFill>
                        <a:effectLst/>
                        <a:latin typeface="Times New Roman"/>
                        <a:ea typeface="Times New Roman"/>
                        <a:cs typeface="Symbol"/>
                      </a:endParaRPr>
                    </a:p>
                  </a:txBody>
                  <a:tcPr marL="54392" marR="54392" marT="0" marB="0"/>
                </a:tc>
                <a:tc hMerge="1">
                  <a:txBody>
                    <a:bodyPr/>
                    <a:lstStyle/>
                    <a:p>
                      <a:endParaRPr lang="en-IN"/>
                    </a:p>
                  </a:txBody>
                  <a:tcPr/>
                </a:tc>
                <a:tc gridSpan="2">
                  <a:txBody>
                    <a:bodyPr/>
                    <a:lstStyle/>
                    <a:p>
                      <a:pPr>
                        <a:spcAft>
                          <a:spcPts val="0"/>
                        </a:spcAft>
                      </a:pPr>
                      <a:r>
                        <a:rPr lang="en-US" sz="1600" dirty="0">
                          <a:effectLst/>
                        </a:rPr>
                        <a:t>Fourth Attempt:</a:t>
                      </a:r>
                      <a:endParaRPr lang="en-IN" sz="1600" dirty="0">
                        <a:effectLst/>
                      </a:endParaRPr>
                    </a:p>
                    <a:p>
                      <a:pPr marL="342900" lvl="0" indent="-342900">
                        <a:spcAft>
                          <a:spcPts val="0"/>
                        </a:spcAft>
                        <a:buFont typeface="Symbol"/>
                        <a:buChar char=""/>
                        <a:tabLst>
                          <a:tab pos="457200" algn="l"/>
                        </a:tabLst>
                      </a:pPr>
                      <a:r>
                        <a:rPr lang="en-US" sz="1600" dirty="0">
                          <a:effectLst/>
                        </a:rPr>
                        <a:t>Sets flag to false for small periods of time to yield control</a:t>
                      </a:r>
                      <a:endParaRPr lang="en-IN" sz="1600" dirty="0">
                        <a:effectLst/>
                      </a:endParaRPr>
                    </a:p>
                    <a:p>
                      <a:pPr marL="342900" lvl="0" indent="-342900">
                        <a:spcAft>
                          <a:spcPts val="0"/>
                        </a:spcAft>
                        <a:buFont typeface="Symbol"/>
                        <a:buChar char=""/>
                        <a:tabLst>
                          <a:tab pos="457200" algn="l"/>
                        </a:tabLst>
                      </a:pPr>
                      <a:r>
                        <a:rPr lang="en-US" sz="1600" dirty="0">
                          <a:effectLst/>
                        </a:rPr>
                        <a:t>Solves previous problems, introduces indefinite postponement</a:t>
                      </a:r>
                      <a:endParaRPr lang="en-IN" sz="1600" dirty="0">
                        <a:effectLst/>
                      </a:endParaRPr>
                    </a:p>
                    <a:p>
                      <a:pPr marL="742950" lvl="1" indent="-285750">
                        <a:spcAft>
                          <a:spcPts val="0"/>
                        </a:spcAft>
                        <a:buFont typeface="Courier New"/>
                        <a:buChar char="o"/>
                        <a:tabLst>
                          <a:tab pos="914400" algn="l"/>
                        </a:tabLst>
                      </a:pPr>
                      <a:r>
                        <a:rPr lang="en-US" sz="1600" dirty="0">
                          <a:effectLst/>
                        </a:rPr>
                        <a:t>Both threads could set flags to same values at same time</a:t>
                      </a:r>
                      <a:endParaRPr lang="en-IN" sz="1600" dirty="0">
                        <a:effectLst/>
                      </a:endParaRPr>
                    </a:p>
                    <a:p>
                      <a:pPr marL="742950" lvl="1" indent="-285750">
                        <a:spcAft>
                          <a:spcPts val="0"/>
                        </a:spcAft>
                        <a:buFont typeface="Courier New"/>
                        <a:buChar char="o"/>
                        <a:tabLst>
                          <a:tab pos="914400" algn="l"/>
                        </a:tabLst>
                      </a:pPr>
                      <a:r>
                        <a:rPr lang="en-US" sz="1600" dirty="0">
                          <a:effectLst/>
                        </a:rPr>
                        <a:t>Would require both threads to execute in tandem (unlikely but possible)</a:t>
                      </a:r>
                      <a:endParaRPr lang="en-IN" sz="1600" dirty="0">
                        <a:effectLst/>
                      </a:endParaRPr>
                    </a:p>
                    <a:p>
                      <a:pPr marL="342900" lvl="0" indent="-342900">
                        <a:spcAft>
                          <a:spcPts val="0"/>
                        </a:spcAft>
                        <a:buFont typeface="Symbol"/>
                        <a:buChar char=""/>
                        <a:tabLst>
                          <a:tab pos="457200" algn="l"/>
                        </a:tabLst>
                      </a:pPr>
                      <a:r>
                        <a:rPr lang="en-US" sz="1600" dirty="0">
                          <a:effectLst/>
                        </a:rPr>
                        <a:t>Unacceptable in mission- or business-critical systems</a:t>
                      </a:r>
                      <a:endParaRPr lang="en-IN" sz="1600" dirty="0">
                        <a:solidFill>
                          <a:srgbClr val="000000"/>
                        </a:solidFill>
                        <a:effectLst/>
                        <a:latin typeface="Times New Roman"/>
                        <a:ea typeface="Times New Roman"/>
                        <a:cs typeface="Symbol"/>
                      </a:endParaRPr>
                    </a:p>
                  </a:txBody>
                  <a:tcPr marL="54392" marR="54392" marT="0" marB="0"/>
                </a:tc>
                <a:tc hMerge="1">
                  <a:txBody>
                    <a:bodyPr/>
                    <a:lstStyle/>
                    <a:p>
                      <a:endParaRPr lang="en-IN"/>
                    </a:p>
                  </a:txBody>
                  <a:tcPr/>
                </a:tc>
              </a:tr>
            </a:tbl>
          </a:graphicData>
        </a:graphic>
      </p:graphicFrame>
    </p:spTree>
    <p:extLst>
      <p:ext uri="{BB962C8B-B14F-4D97-AF65-F5344CB8AC3E}">
        <p14:creationId xmlns:p14="http://schemas.microsoft.com/office/powerpoint/2010/main" val="27493005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8C2669E1-C78F-4E2C-98C7-881DD198E311}" type="datetime1">
              <a:rPr lang="en-US" smtClean="0"/>
              <a:t>11/11/2024</a:t>
            </a:fld>
            <a:endParaRPr lang="en-US"/>
          </a:p>
        </p:txBody>
      </p:sp>
      <p:graphicFrame>
        <p:nvGraphicFramePr>
          <p:cNvPr id="13" name="Table 12"/>
          <p:cNvGraphicFramePr>
            <a:graphicFrameLocks noGrp="1"/>
          </p:cNvGraphicFramePr>
          <p:nvPr>
            <p:extLst>
              <p:ext uri="{D42A27DB-BD31-4B8C-83A1-F6EECF244321}">
                <p14:modId xmlns:p14="http://schemas.microsoft.com/office/powerpoint/2010/main" val="637303626"/>
              </p:ext>
            </p:extLst>
          </p:nvPr>
        </p:nvGraphicFramePr>
        <p:xfrm>
          <a:off x="492337" y="159449"/>
          <a:ext cx="6154123" cy="6526417"/>
        </p:xfrm>
        <a:graphic>
          <a:graphicData uri="http://schemas.openxmlformats.org/drawingml/2006/table">
            <a:tbl>
              <a:tblPr>
                <a:tableStyleId>{5C22544A-7EE6-4342-B048-85BDC9FD1C3A}</a:tableStyleId>
              </a:tblPr>
              <a:tblGrid>
                <a:gridCol w="3019595"/>
                <a:gridCol w="3134528"/>
              </a:tblGrid>
              <a:tr h="1359671">
                <a:tc>
                  <a:txBody>
                    <a:bodyPr/>
                    <a:lstStyle/>
                    <a:p>
                      <a:pPr>
                        <a:spcAft>
                          <a:spcPts val="0"/>
                        </a:spcAft>
                      </a:pPr>
                      <a:r>
                        <a:rPr lang="en-IN" sz="1600" dirty="0">
                          <a:effectLst/>
                        </a:rPr>
                        <a:t> </a:t>
                      </a:r>
                      <a:r>
                        <a:rPr lang="en-US" sz="1600" dirty="0" err="1">
                          <a:effectLst/>
                        </a:rPr>
                        <a:t>boolean</a:t>
                      </a:r>
                      <a:r>
                        <a:rPr lang="en-US" sz="1600" dirty="0">
                          <a:effectLst/>
                        </a:rPr>
                        <a:t> flag [2];</a:t>
                      </a:r>
                      <a:endParaRPr lang="en-IN" sz="1600" dirty="0">
                        <a:effectLst/>
                      </a:endParaRPr>
                    </a:p>
                    <a:p>
                      <a:pPr>
                        <a:spcAft>
                          <a:spcPts val="0"/>
                        </a:spcAft>
                      </a:pPr>
                      <a:r>
                        <a:rPr lang="en-US" sz="1600" dirty="0" err="1">
                          <a:effectLst/>
                        </a:rPr>
                        <a:t>int</a:t>
                      </a:r>
                      <a:r>
                        <a:rPr lang="en-US" sz="1600" dirty="0">
                          <a:effectLst/>
                        </a:rPr>
                        <a:t> turn;</a:t>
                      </a:r>
                      <a:endParaRPr lang="en-IN" sz="1600" dirty="0">
                        <a:effectLst/>
                      </a:endParaRPr>
                    </a:p>
                    <a:p>
                      <a:pPr>
                        <a:spcAft>
                          <a:spcPts val="0"/>
                        </a:spcAft>
                      </a:pPr>
                      <a:r>
                        <a:rPr lang="en-US" sz="1600" dirty="0">
                          <a:effectLst/>
                        </a:rPr>
                        <a:t> </a:t>
                      </a:r>
                      <a:endParaRPr lang="en-IN" sz="1600" dirty="0">
                        <a:effectLst/>
                        <a:latin typeface="Times New Roman"/>
                        <a:ea typeface="Times New Roman"/>
                        <a:cs typeface="Times New Roman"/>
                      </a:endParaRPr>
                    </a:p>
                  </a:txBody>
                  <a:tcPr marL="67990" marR="67990" marT="0" marB="0" anchor="ctr"/>
                </a:tc>
                <a:tc>
                  <a:txBody>
                    <a:bodyPr/>
                    <a:lstStyle/>
                    <a:p>
                      <a:pPr>
                        <a:spcAft>
                          <a:spcPts val="0"/>
                        </a:spcAft>
                      </a:pPr>
                      <a:r>
                        <a:rPr lang="en-US" sz="1600" dirty="0">
                          <a:effectLst/>
                        </a:rPr>
                        <a:t> void main()</a:t>
                      </a:r>
                      <a:endParaRPr lang="en-IN" sz="1600" dirty="0">
                        <a:effectLst/>
                      </a:endParaRPr>
                    </a:p>
                    <a:p>
                      <a:pPr>
                        <a:spcAft>
                          <a:spcPts val="0"/>
                        </a:spcAft>
                      </a:pPr>
                      <a:r>
                        <a:rPr lang="en-US" sz="1600" dirty="0">
                          <a:effectLst/>
                        </a:rPr>
                        <a:t>{ flag[0]=flag[1]=false;</a:t>
                      </a:r>
                      <a:endParaRPr lang="en-IN" sz="1600" dirty="0">
                        <a:effectLst/>
                      </a:endParaRPr>
                    </a:p>
                    <a:p>
                      <a:pPr>
                        <a:spcAft>
                          <a:spcPts val="0"/>
                        </a:spcAft>
                      </a:pPr>
                      <a:r>
                        <a:rPr lang="en-US" sz="1600" dirty="0">
                          <a:effectLst/>
                        </a:rPr>
                        <a:t>turn=1;</a:t>
                      </a:r>
                      <a:endParaRPr lang="en-IN" sz="1600" dirty="0">
                        <a:effectLst/>
                      </a:endParaRPr>
                    </a:p>
                    <a:p>
                      <a:pPr>
                        <a:spcAft>
                          <a:spcPts val="0"/>
                        </a:spcAft>
                      </a:pPr>
                      <a:r>
                        <a:rPr lang="en-US" sz="1600" dirty="0" err="1">
                          <a:effectLst/>
                        </a:rPr>
                        <a:t>parbegin</a:t>
                      </a:r>
                      <a:r>
                        <a:rPr lang="en-US" sz="1600" dirty="0">
                          <a:effectLst/>
                        </a:rPr>
                        <a:t>(P0,P1);</a:t>
                      </a:r>
                      <a:endParaRPr lang="en-IN" sz="1600" dirty="0">
                        <a:effectLst/>
                      </a:endParaRPr>
                    </a:p>
                    <a:p>
                      <a:pPr>
                        <a:spcAft>
                          <a:spcPts val="0"/>
                        </a:spcAft>
                      </a:pPr>
                      <a:r>
                        <a:rPr lang="en-US" sz="1600" dirty="0">
                          <a:effectLst/>
                        </a:rPr>
                        <a:t>}</a:t>
                      </a:r>
                      <a:endParaRPr lang="en-IN" sz="1600" dirty="0">
                        <a:effectLst/>
                        <a:latin typeface="Times New Roman"/>
                        <a:ea typeface="Times New Roman"/>
                        <a:cs typeface="Times New Roman"/>
                      </a:endParaRPr>
                    </a:p>
                  </a:txBody>
                  <a:tcPr marL="67990" marR="67990" marT="0" marB="0" anchor="ctr"/>
                </a:tc>
              </a:tr>
              <a:tr h="5166746">
                <a:tc>
                  <a:txBody>
                    <a:bodyPr/>
                    <a:lstStyle/>
                    <a:p>
                      <a:pPr>
                        <a:spcAft>
                          <a:spcPts val="0"/>
                        </a:spcAft>
                      </a:pPr>
                      <a:r>
                        <a:rPr lang="en-US" sz="1600" dirty="0">
                          <a:effectLst/>
                        </a:rPr>
                        <a:t>void P0()</a:t>
                      </a:r>
                      <a:br>
                        <a:rPr lang="en-US" sz="1600" dirty="0">
                          <a:effectLst/>
                        </a:rPr>
                      </a:br>
                      <a:r>
                        <a:rPr lang="en-US" sz="1600" dirty="0">
                          <a:effectLst/>
                        </a:rPr>
                        <a:t>{</a:t>
                      </a:r>
                      <a:br>
                        <a:rPr lang="en-US" sz="1600" dirty="0">
                          <a:effectLst/>
                        </a:rPr>
                      </a:br>
                      <a:r>
                        <a:rPr lang="en-US" sz="1600" dirty="0">
                          <a:effectLst/>
                        </a:rPr>
                        <a:t>   while (true)</a:t>
                      </a:r>
                      <a:br>
                        <a:rPr lang="en-US" sz="1600" dirty="0">
                          <a:effectLst/>
                        </a:rPr>
                      </a:br>
                      <a:r>
                        <a:rPr lang="en-US" sz="1600" dirty="0">
                          <a:effectLst/>
                        </a:rPr>
                        <a:t>    {</a:t>
                      </a:r>
                      <a:br>
                        <a:rPr lang="en-US" sz="1600" dirty="0">
                          <a:effectLst/>
                        </a:rPr>
                      </a:br>
                      <a:r>
                        <a:rPr lang="en-US" sz="1600" dirty="0">
                          <a:effectLst/>
                        </a:rPr>
                        <a:t>       flag[0]=true;</a:t>
                      </a:r>
                      <a:br>
                        <a:rPr lang="en-US" sz="1600" dirty="0">
                          <a:effectLst/>
                        </a:rPr>
                      </a:br>
                      <a:r>
                        <a:rPr lang="en-US" sz="1600" dirty="0">
                          <a:effectLst/>
                        </a:rPr>
                        <a:t>        while (flag[1])</a:t>
                      </a:r>
                      <a:br>
                        <a:rPr lang="en-US" sz="1600" dirty="0">
                          <a:effectLst/>
                        </a:rPr>
                      </a:br>
                      <a:r>
                        <a:rPr lang="en-US" sz="1600" dirty="0">
                          <a:effectLst/>
                        </a:rPr>
                        <a:t>                  if (turn==1)</a:t>
                      </a:r>
                      <a:br>
                        <a:rPr lang="en-US" sz="1600" dirty="0">
                          <a:effectLst/>
                        </a:rPr>
                      </a:br>
                      <a:r>
                        <a:rPr lang="en-US" sz="1600" dirty="0">
                          <a:effectLst/>
                        </a:rPr>
                        <a:t>                     {</a:t>
                      </a:r>
                      <a:br>
                        <a:rPr lang="en-US" sz="1600" dirty="0">
                          <a:effectLst/>
                        </a:rPr>
                      </a:br>
                      <a:r>
                        <a:rPr lang="en-US" sz="1600" dirty="0">
                          <a:effectLst/>
                        </a:rPr>
                        <a:t>                        flag[0]=false;</a:t>
                      </a:r>
                      <a:br>
                        <a:rPr lang="en-US" sz="1600" dirty="0">
                          <a:effectLst/>
                        </a:rPr>
                      </a:br>
                      <a:r>
                        <a:rPr lang="en-US" sz="1600" dirty="0">
                          <a:effectLst/>
                        </a:rPr>
                        <a:t>                                 while (turn==1)</a:t>
                      </a:r>
                      <a:br>
                        <a:rPr lang="en-US" sz="1600" dirty="0">
                          <a:effectLst/>
                        </a:rPr>
                      </a:br>
                      <a:r>
                        <a:rPr lang="en-US" sz="1600" dirty="0">
                          <a:effectLst/>
                        </a:rPr>
                        <a:t>                                     /* Do Nothing*/</a:t>
                      </a:r>
                      <a:br>
                        <a:rPr lang="en-US" sz="1600" dirty="0">
                          <a:effectLst/>
                        </a:rPr>
                      </a:br>
                      <a:r>
                        <a:rPr lang="en-US" sz="1600" dirty="0">
                          <a:effectLst/>
                        </a:rPr>
                        <a:t>                         flag[0]=true;</a:t>
                      </a:r>
                      <a:br>
                        <a:rPr lang="en-US" sz="1600" dirty="0">
                          <a:effectLst/>
                        </a:rPr>
                      </a:br>
                      <a:r>
                        <a:rPr lang="en-US" sz="1600" dirty="0">
                          <a:effectLst/>
                        </a:rPr>
                        <a:t>                        }</a:t>
                      </a:r>
                      <a:br>
                        <a:rPr lang="en-US" sz="1600" dirty="0">
                          <a:effectLst/>
                        </a:rPr>
                      </a:br>
                      <a:r>
                        <a:rPr lang="en-US" sz="1600" dirty="0">
                          <a:effectLst/>
                        </a:rPr>
                        <a:t>           /*Critical Section */</a:t>
                      </a:r>
                      <a:br>
                        <a:rPr lang="en-US" sz="1600" dirty="0">
                          <a:effectLst/>
                        </a:rPr>
                      </a:br>
                      <a:r>
                        <a:rPr lang="en-US" sz="1600" dirty="0">
                          <a:effectLst/>
                        </a:rPr>
                        <a:t>           turn=1;</a:t>
                      </a:r>
                      <a:br>
                        <a:rPr lang="en-US" sz="1600" dirty="0">
                          <a:effectLst/>
                        </a:rPr>
                      </a:br>
                      <a:r>
                        <a:rPr lang="en-US" sz="1600" dirty="0">
                          <a:effectLst/>
                        </a:rPr>
                        <a:t>            flag[0]=false;</a:t>
                      </a:r>
                      <a:br>
                        <a:rPr lang="en-US" sz="1600" dirty="0">
                          <a:effectLst/>
                        </a:rPr>
                      </a:br>
                      <a:r>
                        <a:rPr lang="en-US" sz="1600" dirty="0">
                          <a:effectLst/>
                        </a:rPr>
                        <a:t>             /*Remainder Code*/</a:t>
                      </a:r>
                      <a:br>
                        <a:rPr lang="en-US" sz="1600" dirty="0">
                          <a:effectLst/>
                        </a:rPr>
                      </a:br>
                      <a:r>
                        <a:rPr lang="en-US" sz="1600" dirty="0">
                          <a:effectLst/>
                        </a:rPr>
                        <a:t>     }</a:t>
                      </a:r>
                      <a:br>
                        <a:rPr lang="en-US" sz="1600" dirty="0">
                          <a:effectLst/>
                        </a:rPr>
                      </a:br>
                      <a:r>
                        <a:rPr lang="en-US" sz="1600" dirty="0">
                          <a:effectLst/>
                        </a:rPr>
                        <a:t>}</a:t>
                      </a:r>
                      <a:endParaRPr lang="en-IN" sz="1600" dirty="0">
                        <a:effectLst/>
                        <a:latin typeface="Times New Roman"/>
                        <a:ea typeface="Times New Roman"/>
                        <a:cs typeface="Times New Roman"/>
                      </a:endParaRPr>
                    </a:p>
                  </a:txBody>
                  <a:tcPr marL="67990" marR="67990" marT="0" marB="0" anchor="ctr"/>
                </a:tc>
                <a:tc>
                  <a:txBody>
                    <a:bodyPr/>
                    <a:lstStyle/>
                    <a:p>
                      <a:pPr>
                        <a:spcAft>
                          <a:spcPts val="0"/>
                        </a:spcAft>
                      </a:pPr>
                      <a:r>
                        <a:rPr lang="en-US" sz="1600" dirty="0">
                          <a:effectLst/>
                        </a:rPr>
                        <a:t>void P1()</a:t>
                      </a:r>
                      <a:br>
                        <a:rPr lang="en-US" sz="1600" dirty="0">
                          <a:effectLst/>
                        </a:rPr>
                      </a:br>
                      <a:r>
                        <a:rPr lang="en-US" sz="1600" dirty="0">
                          <a:effectLst/>
                        </a:rPr>
                        <a:t>{</a:t>
                      </a:r>
                      <a:br>
                        <a:rPr lang="en-US" sz="1600" dirty="0">
                          <a:effectLst/>
                        </a:rPr>
                      </a:br>
                      <a:r>
                        <a:rPr lang="en-US" sz="1600" dirty="0">
                          <a:effectLst/>
                        </a:rPr>
                        <a:t>   while (true)</a:t>
                      </a:r>
                      <a:br>
                        <a:rPr lang="en-US" sz="1600" dirty="0">
                          <a:effectLst/>
                        </a:rPr>
                      </a:br>
                      <a:r>
                        <a:rPr lang="en-US" sz="1600" dirty="0">
                          <a:effectLst/>
                        </a:rPr>
                        <a:t>    {</a:t>
                      </a:r>
                      <a:br>
                        <a:rPr lang="en-US" sz="1600" dirty="0">
                          <a:effectLst/>
                        </a:rPr>
                      </a:br>
                      <a:r>
                        <a:rPr lang="en-US" sz="1600" dirty="0">
                          <a:effectLst/>
                        </a:rPr>
                        <a:t>       flag[1]=true;</a:t>
                      </a:r>
                      <a:br>
                        <a:rPr lang="en-US" sz="1600" dirty="0">
                          <a:effectLst/>
                        </a:rPr>
                      </a:br>
                      <a:r>
                        <a:rPr lang="en-US" sz="1600" dirty="0">
                          <a:effectLst/>
                        </a:rPr>
                        <a:t>        while (flag[0])</a:t>
                      </a:r>
                      <a:br>
                        <a:rPr lang="en-US" sz="1600" dirty="0">
                          <a:effectLst/>
                        </a:rPr>
                      </a:br>
                      <a:r>
                        <a:rPr lang="en-US" sz="1600" dirty="0">
                          <a:effectLst/>
                        </a:rPr>
                        <a:t>                  if (turn==0)</a:t>
                      </a:r>
                      <a:br>
                        <a:rPr lang="en-US" sz="1600" dirty="0">
                          <a:effectLst/>
                        </a:rPr>
                      </a:br>
                      <a:r>
                        <a:rPr lang="en-US" sz="1600" dirty="0">
                          <a:effectLst/>
                        </a:rPr>
                        <a:t>                     {</a:t>
                      </a:r>
                      <a:br>
                        <a:rPr lang="en-US" sz="1600" dirty="0">
                          <a:effectLst/>
                        </a:rPr>
                      </a:br>
                      <a:r>
                        <a:rPr lang="en-US" sz="1600" dirty="0">
                          <a:effectLst/>
                        </a:rPr>
                        <a:t>                        flag[1]=false;</a:t>
                      </a:r>
                      <a:br>
                        <a:rPr lang="en-US" sz="1600" dirty="0">
                          <a:effectLst/>
                        </a:rPr>
                      </a:br>
                      <a:r>
                        <a:rPr lang="en-US" sz="1600" dirty="0">
                          <a:effectLst/>
                        </a:rPr>
                        <a:t>                                 while (turn==0)</a:t>
                      </a:r>
                      <a:br>
                        <a:rPr lang="en-US" sz="1600" dirty="0">
                          <a:effectLst/>
                        </a:rPr>
                      </a:br>
                      <a:r>
                        <a:rPr lang="en-US" sz="1600" dirty="0">
                          <a:effectLst/>
                        </a:rPr>
                        <a:t>                                        /* Do Nothing*/</a:t>
                      </a:r>
                      <a:br>
                        <a:rPr lang="en-US" sz="1600" dirty="0">
                          <a:effectLst/>
                        </a:rPr>
                      </a:br>
                      <a:r>
                        <a:rPr lang="en-US" sz="1600" dirty="0">
                          <a:effectLst/>
                        </a:rPr>
                        <a:t>                         flag[1]=true;</a:t>
                      </a:r>
                      <a:br>
                        <a:rPr lang="en-US" sz="1600" dirty="0">
                          <a:effectLst/>
                        </a:rPr>
                      </a:br>
                      <a:r>
                        <a:rPr lang="en-US" sz="1600" dirty="0">
                          <a:effectLst/>
                        </a:rPr>
                        <a:t>                        }</a:t>
                      </a:r>
                      <a:br>
                        <a:rPr lang="en-US" sz="1600" dirty="0">
                          <a:effectLst/>
                        </a:rPr>
                      </a:br>
                      <a:r>
                        <a:rPr lang="en-US" sz="1600" dirty="0">
                          <a:effectLst/>
                        </a:rPr>
                        <a:t>           /*Critical Section */</a:t>
                      </a:r>
                      <a:br>
                        <a:rPr lang="en-US" sz="1600" dirty="0">
                          <a:effectLst/>
                        </a:rPr>
                      </a:br>
                      <a:r>
                        <a:rPr lang="en-US" sz="1600" dirty="0">
                          <a:effectLst/>
                        </a:rPr>
                        <a:t>           turn=0;</a:t>
                      </a:r>
                      <a:br>
                        <a:rPr lang="en-US" sz="1600" dirty="0">
                          <a:effectLst/>
                        </a:rPr>
                      </a:br>
                      <a:r>
                        <a:rPr lang="en-US" sz="1600" dirty="0">
                          <a:effectLst/>
                        </a:rPr>
                        <a:t>            flag[1]=false;</a:t>
                      </a:r>
                      <a:br>
                        <a:rPr lang="en-US" sz="1600" dirty="0">
                          <a:effectLst/>
                        </a:rPr>
                      </a:br>
                      <a:r>
                        <a:rPr lang="en-US" sz="1600" dirty="0">
                          <a:effectLst/>
                        </a:rPr>
                        <a:t>             /*Remainder Code*/</a:t>
                      </a:r>
                      <a:br>
                        <a:rPr lang="en-US" sz="1600" dirty="0">
                          <a:effectLst/>
                        </a:rPr>
                      </a:br>
                      <a:r>
                        <a:rPr lang="en-US" sz="1600" dirty="0">
                          <a:effectLst/>
                        </a:rPr>
                        <a:t>     }</a:t>
                      </a:r>
                      <a:br>
                        <a:rPr lang="en-US" sz="1600" dirty="0">
                          <a:effectLst/>
                        </a:rPr>
                      </a:br>
                      <a:r>
                        <a:rPr lang="en-US" sz="1600" dirty="0">
                          <a:effectLst/>
                        </a:rPr>
                        <a:t>}</a:t>
                      </a:r>
                      <a:endParaRPr lang="en-IN" sz="1600" dirty="0">
                        <a:effectLst/>
                        <a:latin typeface="Times New Roman"/>
                        <a:ea typeface="Times New Roman"/>
                        <a:cs typeface="Times New Roman"/>
                      </a:endParaRPr>
                    </a:p>
                  </a:txBody>
                  <a:tcPr marL="67990" marR="67990" marT="0" marB="0" anchor="ctr"/>
                </a:tc>
              </a:tr>
            </a:tbl>
          </a:graphicData>
        </a:graphic>
      </p:graphicFrame>
      <p:sp>
        <p:nvSpPr>
          <p:cNvPr id="14" name="TextBox 13"/>
          <p:cNvSpPr txBox="1"/>
          <p:nvPr/>
        </p:nvSpPr>
        <p:spPr>
          <a:xfrm>
            <a:off x="7192370" y="724330"/>
            <a:ext cx="4203511" cy="5355312"/>
          </a:xfrm>
          <a:prstGeom prst="rect">
            <a:avLst/>
          </a:prstGeom>
          <a:noFill/>
        </p:spPr>
        <p:txBody>
          <a:bodyPr wrap="square" rtlCol="0">
            <a:spAutoFit/>
          </a:bodyPr>
          <a:lstStyle/>
          <a:p>
            <a:r>
              <a:rPr lang="en-US" b="1" dirty="0"/>
              <a:t>The </a:t>
            </a:r>
            <a:r>
              <a:rPr lang="en-US" b="1" dirty="0" smtClean="0"/>
              <a:t>characteristics:</a:t>
            </a:r>
            <a:endParaRPr lang="en-IN" sz="1600" dirty="0"/>
          </a:p>
          <a:p>
            <a:pPr marL="285750" lvl="0" indent="-285750">
              <a:buFont typeface="Arial" panose="020B0604020202020204" pitchFamily="34" charset="0"/>
              <a:buChar char="•"/>
            </a:pPr>
            <a:r>
              <a:rPr lang="en-US" dirty="0"/>
              <a:t>Proper solution</a:t>
            </a:r>
            <a:endParaRPr lang="en-IN" dirty="0"/>
          </a:p>
          <a:p>
            <a:pPr marL="285750" lvl="0" indent="-285750">
              <a:buFont typeface="Arial" panose="020B0604020202020204" pitchFamily="34" charset="0"/>
              <a:buChar char="•"/>
            </a:pPr>
            <a:r>
              <a:rPr lang="en-US" dirty="0"/>
              <a:t>Guarantees mutual exclusion</a:t>
            </a:r>
            <a:endParaRPr lang="en-IN" dirty="0"/>
          </a:p>
          <a:p>
            <a:pPr marL="285750" lvl="0" indent="-285750">
              <a:buFont typeface="Arial" panose="020B0604020202020204" pitchFamily="34" charset="0"/>
              <a:buChar char="•"/>
            </a:pPr>
            <a:r>
              <a:rPr lang="en-US" dirty="0"/>
              <a:t>Avoids previous problems of deadlock, indefinite postponement</a:t>
            </a:r>
            <a:endParaRPr lang="en-IN" dirty="0"/>
          </a:p>
          <a:p>
            <a:pPr marL="285750" lvl="0" indent="-285750">
              <a:buFont typeface="Arial" panose="020B0604020202020204" pitchFamily="34" charset="0"/>
              <a:buChar char="•"/>
            </a:pPr>
            <a:r>
              <a:rPr lang="en-US" dirty="0"/>
              <a:t>Uses notion of favored threads to determine entry into critical sections</a:t>
            </a:r>
            <a:endParaRPr lang="en-IN" dirty="0"/>
          </a:p>
          <a:p>
            <a:pPr marL="742950" lvl="1" indent="-285750">
              <a:buFont typeface="Courier New" panose="02070309020205020404" pitchFamily="49" charset="0"/>
              <a:buChar char="o"/>
            </a:pPr>
            <a:r>
              <a:rPr lang="en-US" dirty="0"/>
              <a:t> </a:t>
            </a:r>
            <a:r>
              <a:rPr lang="en-US" dirty="0" smtClean="0"/>
              <a:t>Resolves </a:t>
            </a:r>
            <a:r>
              <a:rPr lang="en-US" dirty="0"/>
              <a:t>conflict over which thread should execute first</a:t>
            </a:r>
            <a:endParaRPr lang="en-IN" dirty="0"/>
          </a:p>
          <a:p>
            <a:pPr marL="742950" lvl="1" indent="-285750">
              <a:buFont typeface="Courier New" panose="02070309020205020404" pitchFamily="49" charset="0"/>
              <a:buChar char="o"/>
            </a:pPr>
            <a:r>
              <a:rPr lang="en-US" dirty="0"/>
              <a:t>Each thread temporarily unsets critical section request flag</a:t>
            </a:r>
            <a:endParaRPr lang="en-IN" dirty="0"/>
          </a:p>
          <a:p>
            <a:pPr marL="742950" lvl="1" indent="-285750">
              <a:buFont typeface="Courier New" panose="02070309020205020404" pitchFamily="49" charset="0"/>
              <a:buChar char="o"/>
            </a:pPr>
            <a:r>
              <a:rPr lang="en-US" dirty="0"/>
              <a:t>Favored status alternates between threads</a:t>
            </a:r>
            <a:endParaRPr lang="en-IN" dirty="0"/>
          </a:p>
          <a:p>
            <a:r>
              <a:rPr lang="en-US" dirty="0"/>
              <a:t> </a:t>
            </a:r>
            <a:endParaRPr lang="en-IN" dirty="0"/>
          </a:p>
          <a:p>
            <a:pPr marL="285750" indent="-285750">
              <a:buFont typeface="Arial" panose="020B0604020202020204" pitchFamily="34" charset="0"/>
              <a:buChar char="•"/>
            </a:pPr>
            <a:r>
              <a:rPr lang="en-US" dirty="0" smtClean="0">
                <a:solidFill>
                  <a:srgbClr val="C00000"/>
                </a:solidFill>
              </a:rPr>
              <a:t>wasn’t </a:t>
            </a:r>
            <a:r>
              <a:rPr lang="en-US" dirty="0">
                <a:solidFill>
                  <a:srgbClr val="C00000"/>
                </a:solidFill>
              </a:rPr>
              <a:t>accepted as a solution to mutual exclusion as it could support only two processes and in the real scenario system has many processes to handle</a:t>
            </a:r>
            <a:r>
              <a:rPr lang="en-US" dirty="0"/>
              <a:t>. </a:t>
            </a:r>
            <a:endParaRPr lang="en-IN" dirty="0"/>
          </a:p>
          <a:p>
            <a:endParaRPr lang="en-IN" dirty="0"/>
          </a:p>
        </p:txBody>
      </p:sp>
      <p:sp>
        <p:nvSpPr>
          <p:cNvPr id="11" name="Title 10"/>
          <p:cNvSpPr>
            <a:spLocks noGrp="1"/>
          </p:cNvSpPr>
          <p:nvPr>
            <p:ph type="title"/>
          </p:nvPr>
        </p:nvSpPr>
        <p:spPr>
          <a:xfrm>
            <a:off x="4840225" y="51225"/>
            <a:ext cx="7570142" cy="576571"/>
          </a:xfrm>
        </p:spPr>
        <p:txBody>
          <a:bodyPr>
            <a:normAutofit fontScale="90000"/>
          </a:bodyPr>
          <a:lstStyle/>
          <a:p>
            <a:pPr algn="ctr"/>
            <a:r>
              <a:rPr lang="en-IN" b="1" dirty="0" smtClean="0">
                <a:solidFill>
                  <a:srgbClr val="C00000"/>
                </a:solidFill>
              </a:rPr>
              <a:t>Correct solutions: Dekker’s </a:t>
            </a:r>
            <a:r>
              <a:rPr lang="en-IN" b="1" dirty="0">
                <a:solidFill>
                  <a:srgbClr val="C00000"/>
                </a:solidFill>
              </a:rPr>
              <a:t>solution</a:t>
            </a:r>
          </a:p>
        </p:txBody>
      </p:sp>
    </p:spTree>
    <p:extLst>
      <p:ext uri="{BB962C8B-B14F-4D97-AF65-F5344CB8AC3E}">
        <p14:creationId xmlns:p14="http://schemas.microsoft.com/office/powerpoint/2010/main" val="21703928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DF8923B3-6DE1-40E5-98D0-2C1C2D7B8C1F}" type="datetime1">
              <a:rPr lang="en-US" smtClean="0"/>
              <a:t>11/11/2024</a:t>
            </a:fld>
            <a:endParaRPr lang="en-US"/>
          </a:p>
        </p:txBody>
      </p:sp>
      <p:sp>
        <p:nvSpPr>
          <p:cNvPr id="14" name="TextBox 13"/>
          <p:cNvSpPr txBox="1"/>
          <p:nvPr/>
        </p:nvSpPr>
        <p:spPr>
          <a:xfrm>
            <a:off x="7192370" y="724330"/>
            <a:ext cx="4203511" cy="4247317"/>
          </a:xfrm>
          <a:prstGeom prst="rect">
            <a:avLst/>
          </a:prstGeom>
          <a:noFill/>
        </p:spPr>
        <p:txBody>
          <a:bodyPr wrap="square" rtlCol="0">
            <a:spAutoFit/>
          </a:bodyPr>
          <a:lstStyle/>
          <a:p>
            <a:r>
              <a:rPr lang="en-US" b="1" dirty="0"/>
              <a:t>The </a:t>
            </a:r>
            <a:r>
              <a:rPr lang="en-US" b="1" dirty="0" smtClean="0"/>
              <a:t>characteristics:</a:t>
            </a:r>
            <a:endParaRPr lang="en-IN" sz="1600" dirty="0"/>
          </a:p>
          <a:p>
            <a:pPr marL="285750" lvl="0" indent="-285750">
              <a:buFont typeface="Arial" panose="020B0604020202020204" pitchFamily="34" charset="0"/>
              <a:buChar char="•"/>
            </a:pPr>
            <a:r>
              <a:rPr lang="en-US" dirty="0"/>
              <a:t>Proper solution</a:t>
            </a:r>
            <a:endParaRPr lang="en-IN" dirty="0"/>
          </a:p>
          <a:p>
            <a:pPr marL="285750" lvl="0" indent="-285750">
              <a:buFont typeface="Arial" panose="020B0604020202020204" pitchFamily="34" charset="0"/>
              <a:buChar char="•"/>
            </a:pPr>
            <a:r>
              <a:rPr lang="en-US" dirty="0"/>
              <a:t>Guarantees mutual exclusion</a:t>
            </a:r>
            <a:endParaRPr lang="en-IN" dirty="0"/>
          </a:p>
          <a:p>
            <a:pPr marL="285750" lvl="0" indent="-285750">
              <a:buFont typeface="Arial" panose="020B0604020202020204" pitchFamily="34" charset="0"/>
              <a:buChar char="•"/>
            </a:pPr>
            <a:r>
              <a:rPr lang="en-US" dirty="0"/>
              <a:t>Avoids </a:t>
            </a:r>
            <a:r>
              <a:rPr lang="en-US" dirty="0" smtClean="0"/>
              <a:t>problems </a:t>
            </a:r>
            <a:r>
              <a:rPr lang="en-US" dirty="0"/>
              <a:t>of deadlock, indefinite postponement</a:t>
            </a:r>
            <a:endParaRPr lang="en-IN" dirty="0"/>
          </a:p>
          <a:p>
            <a:pPr marL="285750" lvl="0" indent="-285750">
              <a:buFont typeface="Arial" panose="020B0604020202020204" pitchFamily="34" charset="0"/>
              <a:buChar char="•"/>
            </a:pPr>
            <a:r>
              <a:rPr lang="en-US" dirty="0"/>
              <a:t>Uses notion of favored threads to determine entry into critical sections</a:t>
            </a:r>
            <a:endParaRPr lang="en-IN" dirty="0"/>
          </a:p>
          <a:p>
            <a:pPr marL="742950" lvl="1" indent="-285750">
              <a:buFont typeface="Courier New" panose="02070309020205020404" pitchFamily="49" charset="0"/>
              <a:buChar char="o"/>
            </a:pPr>
            <a:r>
              <a:rPr lang="en-US" dirty="0"/>
              <a:t> </a:t>
            </a:r>
            <a:r>
              <a:rPr lang="en-US" dirty="0" smtClean="0"/>
              <a:t>Resolves </a:t>
            </a:r>
            <a:r>
              <a:rPr lang="en-US" dirty="0"/>
              <a:t>conflict over which thread should execute first</a:t>
            </a:r>
            <a:endParaRPr lang="en-IN" dirty="0"/>
          </a:p>
          <a:p>
            <a:pPr marL="742950" lvl="1" indent="-285750">
              <a:buFont typeface="Courier New" panose="02070309020205020404" pitchFamily="49" charset="0"/>
              <a:buChar char="o"/>
            </a:pPr>
            <a:r>
              <a:rPr lang="en-US" dirty="0"/>
              <a:t>Each thread temporarily unsets critical section request flag</a:t>
            </a:r>
            <a:endParaRPr lang="en-IN" dirty="0"/>
          </a:p>
          <a:p>
            <a:pPr marL="742950" lvl="1" indent="-285750">
              <a:buFont typeface="Courier New" panose="02070309020205020404" pitchFamily="49" charset="0"/>
              <a:buChar char="o"/>
            </a:pPr>
            <a:r>
              <a:rPr lang="en-US" dirty="0"/>
              <a:t>Favored status alternates between </a:t>
            </a:r>
            <a:r>
              <a:rPr lang="en-US" dirty="0" smtClean="0"/>
              <a:t>threads</a:t>
            </a:r>
            <a:endParaRPr lang="en-IN" dirty="0"/>
          </a:p>
          <a:p>
            <a:pPr marL="742950" lvl="1" indent="-285750">
              <a:buFont typeface="Courier New" panose="02070309020205020404" pitchFamily="49" charset="0"/>
              <a:buChar char="o"/>
            </a:pPr>
            <a:r>
              <a:rPr lang="en-IN" dirty="0" smtClean="0"/>
              <a:t>Can be applied to any number of processes</a:t>
            </a:r>
            <a:endParaRPr lang="en-IN" dirty="0"/>
          </a:p>
        </p:txBody>
      </p:sp>
      <p:sp>
        <p:nvSpPr>
          <p:cNvPr id="11" name="Title 10"/>
          <p:cNvSpPr>
            <a:spLocks noGrp="1"/>
          </p:cNvSpPr>
          <p:nvPr>
            <p:ph type="title"/>
          </p:nvPr>
        </p:nvSpPr>
        <p:spPr>
          <a:xfrm>
            <a:off x="4203510" y="51225"/>
            <a:ext cx="8206857" cy="576571"/>
          </a:xfrm>
        </p:spPr>
        <p:txBody>
          <a:bodyPr>
            <a:normAutofit fontScale="90000"/>
          </a:bodyPr>
          <a:lstStyle/>
          <a:p>
            <a:pPr algn="ctr"/>
            <a:r>
              <a:rPr lang="en-IN" b="1" dirty="0" smtClean="0">
                <a:solidFill>
                  <a:srgbClr val="C00000"/>
                </a:solidFill>
              </a:rPr>
              <a:t>Correct solutions: Peterson’s solution</a:t>
            </a:r>
            <a:endParaRPr lang="en-IN" b="1" dirty="0">
              <a:solidFill>
                <a:srgbClr val="C0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605466523"/>
              </p:ext>
            </p:extLst>
          </p:nvPr>
        </p:nvGraphicFramePr>
        <p:xfrm>
          <a:off x="202313" y="724330"/>
          <a:ext cx="6730750" cy="5120640"/>
        </p:xfrm>
        <a:graphic>
          <a:graphicData uri="http://schemas.openxmlformats.org/drawingml/2006/table">
            <a:tbl>
              <a:tblPr>
                <a:tableStyleId>{5C22544A-7EE6-4342-B048-85BDC9FD1C3A}</a:tableStyleId>
              </a:tblPr>
              <a:tblGrid>
                <a:gridCol w="4032868"/>
                <a:gridCol w="2697882"/>
              </a:tblGrid>
              <a:tr h="4066034">
                <a:tc>
                  <a:txBody>
                    <a:bodyPr/>
                    <a:lstStyle/>
                    <a:p>
                      <a:pPr>
                        <a:spcAft>
                          <a:spcPts val="0"/>
                        </a:spcAft>
                      </a:pPr>
                      <a:r>
                        <a:rPr lang="en-US" sz="2400" dirty="0">
                          <a:effectLst/>
                        </a:rPr>
                        <a:t>void Pi()</a:t>
                      </a:r>
                      <a:endParaRPr lang="en-IN" sz="2400" dirty="0">
                        <a:effectLst/>
                      </a:endParaRPr>
                    </a:p>
                    <a:p>
                      <a:pPr>
                        <a:spcAft>
                          <a:spcPts val="0"/>
                        </a:spcAft>
                      </a:pPr>
                      <a:r>
                        <a:rPr lang="en-US" sz="2400" dirty="0">
                          <a:effectLst/>
                        </a:rPr>
                        <a:t>{</a:t>
                      </a:r>
                      <a:endParaRPr lang="en-IN" sz="2400" dirty="0">
                        <a:effectLst/>
                      </a:endParaRPr>
                    </a:p>
                    <a:p>
                      <a:pPr>
                        <a:spcAft>
                          <a:spcPts val="0"/>
                        </a:spcAft>
                      </a:pPr>
                      <a:r>
                        <a:rPr lang="en-US" sz="2400" dirty="0">
                          <a:effectLst/>
                        </a:rPr>
                        <a:t>     While (true)</a:t>
                      </a:r>
                      <a:endParaRPr lang="en-IN" sz="2400" dirty="0">
                        <a:effectLst/>
                      </a:endParaRPr>
                    </a:p>
                    <a:p>
                      <a:pPr>
                        <a:spcAft>
                          <a:spcPts val="0"/>
                        </a:spcAft>
                      </a:pPr>
                      <a:r>
                        <a:rPr lang="en-US" sz="2400" dirty="0">
                          <a:effectLst/>
                        </a:rPr>
                        <a:t>     {</a:t>
                      </a:r>
                      <a:br>
                        <a:rPr lang="en-US" sz="2400" dirty="0">
                          <a:effectLst/>
                        </a:rPr>
                      </a:br>
                      <a:r>
                        <a:rPr lang="en-US" sz="2400" dirty="0">
                          <a:effectLst/>
                        </a:rPr>
                        <a:t>         flag[</a:t>
                      </a:r>
                      <a:r>
                        <a:rPr lang="en-US" sz="2400" dirty="0" err="1">
                          <a:effectLst/>
                        </a:rPr>
                        <a:t>i</a:t>
                      </a:r>
                      <a:r>
                        <a:rPr lang="en-US" sz="2400" dirty="0">
                          <a:effectLst/>
                        </a:rPr>
                        <a:t>] := true;</a:t>
                      </a:r>
                      <a:br>
                        <a:rPr lang="en-US" sz="2400" dirty="0">
                          <a:effectLst/>
                        </a:rPr>
                      </a:br>
                      <a:r>
                        <a:rPr lang="en-US" sz="2400" dirty="0">
                          <a:effectLst/>
                        </a:rPr>
                        <a:t>          turn := j;</a:t>
                      </a:r>
                      <a:br>
                        <a:rPr lang="en-US" sz="2400" dirty="0">
                          <a:effectLst/>
                        </a:rPr>
                      </a:br>
                      <a:r>
                        <a:rPr lang="en-US" sz="2400" dirty="0">
                          <a:effectLst/>
                        </a:rPr>
                        <a:t>                while (flag[ j] and turn = j )</a:t>
                      </a:r>
                      <a:endParaRPr lang="en-IN" sz="2400" dirty="0">
                        <a:effectLst/>
                      </a:endParaRPr>
                    </a:p>
                    <a:p>
                      <a:pPr>
                        <a:spcAft>
                          <a:spcPts val="0"/>
                        </a:spcAft>
                      </a:pPr>
                      <a:r>
                        <a:rPr lang="en-US" sz="2400" dirty="0">
                          <a:effectLst/>
                        </a:rPr>
                        <a:t>                      /*Do Nothing*/ ;</a:t>
                      </a:r>
                      <a:br>
                        <a:rPr lang="en-US" sz="2400" dirty="0">
                          <a:effectLst/>
                        </a:rPr>
                      </a:br>
                      <a:r>
                        <a:rPr lang="en-US" sz="2400" dirty="0">
                          <a:effectLst/>
                        </a:rPr>
                        <a:t>        /*Critical Section */  </a:t>
                      </a:r>
                      <a:endParaRPr lang="en-IN" sz="2400" dirty="0">
                        <a:effectLst/>
                      </a:endParaRPr>
                    </a:p>
                    <a:p>
                      <a:pPr>
                        <a:spcAft>
                          <a:spcPts val="0"/>
                        </a:spcAft>
                      </a:pPr>
                      <a:r>
                        <a:rPr lang="en-US" sz="2400" dirty="0">
                          <a:effectLst/>
                        </a:rPr>
                        <a:t>        flag[</a:t>
                      </a:r>
                      <a:r>
                        <a:rPr lang="en-US" sz="2400" dirty="0" err="1">
                          <a:effectLst/>
                        </a:rPr>
                        <a:t>i</a:t>
                      </a:r>
                      <a:r>
                        <a:rPr lang="en-US" sz="2400" dirty="0">
                          <a:effectLst/>
                        </a:rPr>
                        <a:t>] := false;</a:t>
                      </a:r>
                      <a:br>
                        <a:rPr lang="en-US" sz="2400" dirty="0">
                          <a:effectLst/>
                        </a:rPr>
                      </a:br>
                      <a:r>
                        <a:rPr lang="en-US" sz="2400" dirty="0">
                          <a:effectLst/>
                        </a:rPr>
                        <a:t>        /*Remainder Section*/</a:t>
                      </a:r>
                      <a:endParaRPr lang="en-IN" sz="2400" dirty="0">
                        <a:effectLst/>
                      </a:endParaRPr>
                    </a:p>
                    <a:p>
                      <a:pPr algn="just">
                        <a:spcAft>
                          <a:spcPts val="0"/>
                        </a:spcAft>
                      </a:pPr>
                      <a:r>
                        <a:rPr lang="en-US" sz="2400" dirty="0">
                          <a:effectLst/>
                        </a:rPr>
                        <a:t>    }</a:t>
                      </a:r>
                      <a:endParaRPr lang="en-IN" sz="2400" dirty="0">
                        <a:effectLst/>
                      </a:endParaRPr>
                    </a:p>
                    <a:p>
                      <a:pPr algn="just">
                        <a:spcAft>
                          <a:spcPts val="0"/>
                        </a:spcAft>
                      </a:pPr>
                      <a:r>
                        <a:rPr lang="en-US" sz="2400" dirty="0">
                          <a:effectLst/>
                        </a:rPr>
                        <a:t>}</a:t>
                      </a:r>
                      <a:endParaRPr lang="en-IN" sz="2400" dirty="0">
                        <a:effectLst/>
                        <a:latin typeface="Times New Roman"/>
                        <a:ea typeface="Times New Roman"/>
                        <a:cs typeface="Times New Roman"/>
                      </a:endParaRPr>
                    </a:p>
                  </a:txBody>
                  <a:tcPr marL="68580" marR="68580" marT="0" marB="0" anchor="b"/>
                </a:tc>
                <a:tc>
                  <a:txBody>
                    <a:bodyPr/>
                    <a:lstStyle/>
                    <a:p>
                      <a:pPr>
                        <a:spcAft>
                          <a:spcPts val="0"/>
                        </a:spcAft>
                      </a:pPr>
                      <a:r>
                        <a:rPr lang="en-US" sz="2400" dirty="0" err="1">
                          <a:effectLst/>
                        </a:rPr>
                        <a:t>boolean</a:t>
                      </a:r>
                      <a:r>
                        <a:rPr lang="en-US" sz="2400" dirty="0">
                          <a:effectLst/>
                        </a:rPr>
                        <a:t> flag[n];</a:t>
                      </a:r>
                      <a:endParaRPr lang="en-IN" sz="2400" dirty="0">
                        <a:effectLst/>
                      </a:endParaRPr>
                    </a:p>
                    <a:p>
                      <a:pPr>
                        <a:spcAft>
                          <a:spcPts val="0"/>
                        </a:spcAft>
                      </a:pPr>
                      <a:r>
                        <a:rPr lang="en-US" sz="2400" dirty="0" err="1">
                          <a:effectLst/>
                        </a:rPr>
                        <a:t>Int</a:t>
                      </a:r>
                      <a:r>
                        <a:rPr lang="en-US" sz="2400" dirty="0">
                          <a:effectLst/>
                        </a:rPr>
                        <a:t> turn;</a:t>
                      </a:r>
                      <a:endParaRPr lang="en-IN" sz="2400" dirty="0">
                        <a:effectLst/>
                      </a:endParaRPr>
                    </a:p>
                    <a:p>
                      <a:pPr>
                        <a:spcAft>
                          <a:spcPts val="0"/>
                        </a:spcAft>
                      </a:pPr>
                      <a:r>
                        <a:rPr lang="en-US" sz="2400" dirty="0">
                          <a:effectLst/>
                        </a:rPr>
                        <a:t> </a:t>
                      </a:r>
                      <a:endParaRPr lang="en-IN" sz="2400" dirty="0">
                        <a:effectLst/>
                      </a:endParaRPr>
                    </a:p>
                    <a:p>
                      <a:pPr>
                        <a:spcAft>
                          <a:spcPts val="0"/>
                        </a:spcAft>
                      </a:pPr>
                      <a:r>
                        <a:rPr lang="en-US" sz="2400" dirty="0">
                          <a:effectLst/>
                        </a:rPr>
                        <a:t>void main()</a:t>
                      </a:r>
                      <a:br>
                        <a:rPr lang="en-US" sz="2400" dirty="0">
                          <a:effectLst/>
                        </a:rPr>
                      </a:br>
                      <a:r>
                        <a:rPr lang="en-US" sz="2400" dirty="0">
                          <a:effectLst/>
                        </a:rPr>
                        <a:t>{</a:t>
                      </a:r>
                      <a:br>
                        <a:rPr lang="en-US" sz="2400" dirty="0">
                          <a:effectLst/>
                        </a:rPr>
                      </a:br>
                      <a:r>
                        <a:rPr lang="en-US" sz="2400" dirty="0">
                          <a:effectLst/>
                        </a:rPr>
                        <a:t>      flag[</a:t>
                      </a:r>
                      <a:r>
                        <a:rPr lang="en-US" sz="2400" dirty="0" err="1">
                          <a:effectLst/>
                        </a:rPr>
                        <a:t>i</a:t>
                      </a:r>
                      <a:r>
                        <a:rPr lang="en-US" sz="2400" dirty="0">
                          <a:effectLst/>
                        </a:rPr>
                        <a:t>] := false;</a:t>
                      </a:r>
                      <a:br>
                        <a:rPr lang="en-US" sz="2400" dirty="0">
                          <a:effectLst/>
                        </a:rPr>
                      </a:br>
                      <a:r>
                        <a:rPr lang="en-US" sz="2400" dirty="0">
                          <a:effectLst/>
                        </a:rPr>
                        <a:t>      flag[ j] := false;</a:t>
                      </a:r>
                      <a:br>
                        <a:rPr lang="en-US" sz="2400" dirty="0">
                          <a:effectLst/>
                        </a:rPr>
                      </a:br>
                      <a:r>
                        <a:rPr lang="en-US" sz="2400" dirty="0">
                          <a:effectLst/>
                        </a:rPr>
                        <a:t>      </a:t>
                      </a:r>
                      <a:r>
                        <a:rPr lang="en-US" sz="2400" dirty="0" err="1" smtClean="0">
                          <a:effectLst/>
                        </a:rPr>
                        <a:t>parbegin</a:t>
                      </a:r>
                      <a:r>
                        <a:rPr lang="en-US" sz="2400" dirty="0" smtClean="0">
                          <a:effectLst/>
                        </a:rPr>
                        <a:t>(</a:t>
                      </a:r>
                      <a:r>
                        <a:rPr lang="en-US" sz="2400" dirty="0" err="1" smtClean="0">
                          <a:effectLst/>
                        </a:rPr>
                        <a:t>Pi,Pj</a:t>
                      </a:r>
                      <a:r>
                        <a:rPr lang="en-US" sz="2400" dirty="0">
                          <a:effectLst/>
                        </a:rPr>
                        <a:t>,….</a:t>
                      </a:r>
                      <a:r>
                        <a:rPr lang="en-US" sz="2400" dirty="0" err="1">
                          <a:effectLst/>
                        </a:rPr>
                        <a:t>Pn</a:t>
                      </a:r>
                      <a:r>
                        <a:rPr lang="en-US" sz="2400" dirty="0">
                          <a:effectLst/>
                        </a:rPr>
                        <a:t>);</a:t>
                      </a:r>
                      <a:br>
                        <a:rPr lang="en-US" sz="2400" dirty="0">
                          <a:effectLst/>
                        </a:rPr>
                      </a:br>
                      <a:r>
                        <a:rPr lang="en-US" sz="2400" dirty="0">
                          <a:effectLst/>
                        </a:rPr>
                        <a:t>}</a:t>
                      </a:r>
                      <a:endParaRPr lang="en-IN" sz="2400" dirty="0">
                        <a:effectLst/>
                        <a:latin typeface="Times New Roman"/>
                        <a:ea typeface="Times New Roman"/>
                        <a:cs typeface="Times New Roman"/>
                      </a:endParaRPr>
                    </a:p>
                  </a:txBody>
                  <a:tcPr marL="68580" marR="68580" marT="0" marB="0" anchor="ctr"/>
                </a:tc>
              </a:tr>
            </a:tbl>
          </a:graphicData>
        </a:graphic>
      </p:graphicFrame>
    </p:spTree>
    <p:extLst>
      <p:ext uri="{BB962C8B-B14F-4D97-AF65-F5344CB8AC3E}">
        <p14:creationId xmlns:p14="http://schemas.microsoft.com/office/powerpoint/2010/main" val="6071582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 xmlns:a16="http://schemas.microsoft.com/office/drawing/2014/main" id="{98058B23-DDE2-4F62-9A2E-46739C3C685F}"/>
              </a:ext>
            </a:extLst>
          </p:cNvPr>
          <p:cNvSpPr>
            <a:spLocks noGrp="1"/>
          </p:cNvSpPr>
          <p:nvPr>
            <p:ph type="title"/>
          </p:nvPr>
        </p:nvSpPr>
        <p:spPr>
          <a:xfrm>
            <a:off x="910937" y="2848552"/>
            <a:ext cx="10515600" cy="1325563"/>
          </a:xfrm>
        </p:spPr>
        <p:txBody>
          <a:bodyPr>
            <a:normAutofit fontScale="90000"/>
          </a:bodyPr>
          <a:lstStyle/>
          <a:p>
            <a:r>
              <a:rPr lang="en-US" dirty="0" smtClean="0">
                <a:solidFill>
                  <a:srgbClr val="C00000"/>
                </a:solidFill>
                <a:latin typeface="Marcellus" panose="020E0602050203020307" pitchFamily="34" charset="0"/>
              </a:rPr>
              <a:t>Expected outcome of reading assignment:</a:t>
            </a:r>
            <a:br>
              <a:rPr lang="en-US" dirty="0" smtClean="0">
                <a:solidFill>
                  <a:srgbClr val="C00000"/>
                </a:solidFill>
                <a:latin typeface="Marcellus" panose="020E0602050203020307" pitchFamily="34" charset="0"/>
              </a:rPr>
            </a:br>
            <a:r>
              <a:rPr lang="en-US" dirty="0" smtClean="0">
                <a:solidFill>
                  <a:srgbClr val="C00000"/>
                </a:solidFill>
                <a:latin typeface="Marcellus" panose="020E0602050203020307" pitchFamily="34" charset="0"/>
              </a:rPr>
              <a:t/>
            </a:r>
            <a:br>
              <a:rPr lang="en-US" dirty="0" smtClean="0">
                <a:solidFill>
                  <a:srgbClr val="C00000"/>
                </a:solidFill>
                <a:latin typeface="Marcellus" panose="020E0602050203020307" pitchFamily="34" charset="0"/>
              </a:rPr>
            </a:br>
            <a:r>
              <a:rPr lang="en-US" sz="3600" dirty="0" smtClean="0">
                <a:solidFill>
                  <a:srgbClr val="C00000"/>
                </a:solidFill>
                <a:latin typeface="Fira sans"/>
              </a:rPr>
              <a:t>Detect </a:t>
            </a:r>
            <a:r>
              <a:rPr lang="en-US" sz="3600" dirty="0" err="1" smtClean="0">
                <a:solidFill>
                  <a:srgbClr val="C00000"/>
                </a:solidFill>
                <a:latin typeface="Fira sans"/>
              </a:rPr>
              <a:t>Livelock</a:t>
            </a:r>
            <a:r>
              <a:rPr lang="en-US" sz="3600" dirty="0" smtClean="0">
                <a:solidFill>
                  <a:srgbClr val="C00000"/>
                </a:solidFill>
                <a:latin typeface="Fira sans"/>
              </a:rPr>
              <a:t/>
            </a:r>
            <a:br>
              <a:rPr lang="en-US" sz="3600" dirty="0" smtClean="0">
                <a:solidFill>
                  <a:srgbClr val="C00000"/>
                </a:solidFill>
                <a:latin typeface="Fira sans"/>
              </a:rPr>
            </a:br>
            <a:r>
              <a:rPr lang="en-US" sz="3600" dirty="0" smtClean="0">
                <a:solidFill>
                  <a:srgbClr val="C00000"/>
                </a:solidFill>
                <a:latin typeface="Fira sans"/>
              </a:rPr>
              <a:t>Detect Deadlock</a:t>
            </a:r>
            <a:br>
              <a:rPr lang="en-US" sz="3600" dirty="0" smtClean="0">
                <a:solidFill>
                  <a:srgbClr val="C00000"/>
                </a:solidFill>
                <a:latin typeface="Fira sans"/>
              </a:rPr>
            </a:br>
            <a:r>
              <a:rPr lang="en-US" sz="3600" dirty="0" smtClean="0">
                <a:solidFill>
                  <a:srgbClr val="C00000"/>
                </a:solidFill>
                <a:latin typeface="Fira sans"/>
              </a:rPr>
              <a:t>Detect bounded waiting</a:t>
            </a:r>
            <a:br>
              <a:rPr lang="en-US" sz="3600" dirty="0" smtClean="0">
                <a:solidFill>
                  <a:srgbClr val="C00000"/>
                </a:solidFill>
                <a:latin typeface="Fira sans"/>
              </a:rPr>
            </a:br>
            <a:r>
              <a:rPr lang="en-US" sz="3600" dirty="0" smtClean="0">
                <a:solidFill>
                  <a:srgbClr val="C00000"/>
                </a:solidFill>
                <a:latin typeface="Fira sans"/>
              </a:rPr>
              <a:t>Detect Progress</a:t>
            </a:r>
            <a:br>
              <a:rPr lang="en-US" sz="3600" dirty="0" smtClean="0">
                <a:solidFill>
                  <a:srgbClr val="C00000"/>
                </a:solidFill>
                <a:latin typeface="Fira sans"/>
              </a:rPr>
            </a:br>
            <a:endParaRPr lang="en-US" sz="3600" dirty="0">
              <a:latin typeface="Fira sans"/>
            </a:endParaRPr>
          </a:p>
        </p:txBody>
      </p:sp>
      <p:pic>
        <p:nvPicPr>
          <p:cNvPr id="4" name="Picture 3">
            <a:extLst>
              <a:ext uri="{FF2B5EF4-FFF2-40B4-BE49-F238E27FC236}">
                <a16:creationId xmlns="" xmlns:a16="http://schemas.microsoft.com/office/drawing/2014/main" id="{8026AED6-E793-48A3-96AF-36A0D1FE2D70}"/>
              </a:ext>
            </a:extLst>
          </p:cNvPr>
          <p:cNvPicPr>
            <a:picLocks noChangeAspect="1"/>
          </p:cNvPicPr>
          <p:nvPr/>
        </p:nvPicPr>
        <p:blipFill>
          <a:blip r:embed="rId2"/>
          <a:stretch>
            <a:fillRect/>
          </a:stretch>
        </p:blipFill>
        <p:spPr>
          <a:xfrm>
            <a:off x="605" y="2219"/>
            <a:ext cx="566958" cy="6855781"/>
          </a:xfrm>
          <a:prstGeom prst="rect">
            <a:avLst/>
          </a:prstGeom>
        </p:spPr>
      </p:pic>
      <p:pic>
        <p:nvPicPr>
          <p:cNvPr id="5" name="Picture 4">
            <a:extLst>
              <a:ext uri="{FF2B5EF4-FFF2-40B4-BE49-F238E27FC236}">
                <a16:creationId xmlns="" xmlns:a16="http://schemas.microsoft.com/office/drawing/2014/main" id="{98F5ADD7-F579-4B31-B088-24730AEA76C9}"/>
              </a:ext>
            </a:extLst>
          </p:cNvPr>
          <p:cNvPicPr>
            <a:picLocks noChangeAspect="1"/>
          </p:cNvPicPr>
          <p:nvPr/>
        </p:nvPicPr>
        <p:blipFill>
          <a:blip r:embed="rId3"/>
          <a:stretch>
            <a:fillRect/>
          </a:stretch>
        </p:blipFill>
        <p:spPr>
          <a:xfrm>
            <a:off x="567563" y="0"/>
            <a:ext cx="209677" cy="5440680"/>
          </a:xfrm>
          <a:prstGeom prst="rect">
            <a:avLst/>
          </a:prstGeom>
        </p:spPr>
      </p:pic>
      <p:pic>
        <p:nvPicPr>
          <p:cNvPr id="11" name="Picture 10" descr="A close up of a sign&#10;&#10;Description automatically generated">
            <a:extLst>
              <a:ext uri="{FF2B5EF4-FFF2-40B4-BE49-F238E27FC236}">
                <a16:creationId xmlns=""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39" y="5830821"/>
            <a:ext cx="868683" cy="647487"/>
          </a:xfrm>
          <a:prstGeom prst="rect">
            <a:avLst/>
          </a:prstGeom>
        </p:spPr>
      </p:pic>
      <p:pic>
        <p:nvPicPr>
          <p:cNvPr id="6" name="Picture 5" descr="A picture containing drawing&#10;&#10;Description automatically generated">
            <a:extLst>
              <a:ext uri="{FF2B5EF4-FFF2-40B4-BE49-F238E27FC236}">
                <a16:creationId xmlns=""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
        <p:nvSpPr>
          <p:cNvPr id="7" name="Date Placeholder 6"/>
          <p:cNvSpPr>
            <a:spLocks noGrp="1"/>
          </p:cNvSpPr>
          <p:nvPr>
            <p:ph type="dt" sz="half" idx="10"/>
          </p:nvPr>
        </p:nvSpPr>
        <p:spPr/>
        <p:txBody>
          <a:bodyPr/>
          <a:lstStyle/>
          <a:p>
            <a:fld id="{4FC844E8-8B31-4835-925B-D423316F4819}" type="datetime1">
              <a:rPr lang="en-US" smtClean="0"/>
              <a:t>11/11/2024</a:t>
            </a:fld>
            <a:endParaRPr lang="en-US"/>
          </a:p>
        </p:txBody>
      </p:sp>
    </p:spTree>
    <p:extLst>
      <p:ext uri="{BB962C8B-B14F-4D97-AF65-F5344CB8AC3E}">
        <p14:creationId xmlns:p14="http://schemas.microsoft.com/office/powerpoint/2010/main" val="31800967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66"/>
          <p:cNvSpPr txBox="1">
            <a:spLocks noGrp="1"/>
          </p:cNvSpPr>
          <p:nvPr>
            <p:ph type="title"/>
          </p:nvPr>
        </p:nvSpPr>
        <p:spPr>
          <a:xfrm>
            <a:off x="166255" y="274638"/>
            <a:ext cx="11856027" cy="1143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dirty="0" err="1" smtClean="0"/>
              <a:t>Livelock</a:t>
            </a:r>
            <a:r>
              <a:rPr lang="en-US" b="1" dirty="0" smtClean="0"/>
              <a:t> situation while inserting a node in BST</a:t>
            </a:r>
            <a:endParaRPr dirty="0"/>
          </a:p>
        </p:txBody>
      </p:sp>
      <p:sp>
        <p:nvSpPr>
          <p:cNvPr id="6" name="Text Placeholder 5"/>
          <p:cNvSpPr>
            <a:spLocks noGrp="1"/>
          </p:cNvSpPr>
          <p:nvPr>
            <p:ph type="body" idx="1"/>
          </p:nvPr>
        </p:nvSpPr>
        <p:spPr>
          <a:xfrm>
            <a:off x="661554" y="1444342"/>
            <a:ext cx="5384800" cy="4525963"/>
          </a:xfrm>
        </p:spPr>
        <p:txBody>
          <a:bodyPr/>
          <a:lstStyle/>
          <a:p>
            <a:pPr marL="50800" indent="0">
              <a:buNone/>
            </a:pPr>
            <a:r>
              <a:rPr lang="en-US" sz="2000" dirty="0"/>
              <a:t>Process P1:    </a:t>
            </a:r>
            <a:endParaRPr lang="en-US" sz="2000" dirty="0" smtClean="0"/>
          </a:p>
          <a:p>
            <a:pPr marL="50800" indent="0">
              <a:buNone/>
            </a:pPr>
            <a:r>
              <a:rPr lang="en-US" sz="2000" dirty="0" smtClean="0"/>
              <a:t>while </a:t>
            </a:r>
            <a:r>
              <a:rPr lang="en-US" sz="2000" dirty="0"/>
              <a:t>True:        </a:t>
            </a:r>
            <a:endParaRPr lang="en-US" sz="2000" dirty="0" smtClean="0"/>
          </a:p>
          <a:p>
            <a:pPr marL="50800" indent="0">
              <a:buNone/>
            </a:pPr>
            <a:r>
              <a:rPr lang="en-US" sz="2000" dirty="0"/>
              <a:t>	</a:t>
            </a:r>
            <a:r>
              <a:rPr lang="en-US" sz="2000" dirty="0" smtClean="0"/>
              <a:t>Lock </a:t>
            </a:r>
            <a:r>
              <a:rPr lang="en-US" sz="2000" dirty="0"/>
              <a:t>tree for insertion        </a:t>
            </a:r>
            <a:endParaRPr lang="en-US" sz="2000" dirty="0" smtClean="0"/>
          </a:p>
          <a:p>
            <a:pPr marL="50800" indent="0">
              <a:buNone/>
            </a:pPr>
            <a:r>
              <a:rPr lang="en-US" sz="2000" dirty="0"/>
              <a:t>	</a:t>
            </a:r>
            <a:r>
              <a:rPr lang="en-US" sz="2000" dirty="0" smtClean="0"/>
              <a:t>if </a:t>
            </a:r>
            <a:r>
              <a:rPr lang="en-US" sz="2000" dirty="0"/>
              <a:t>P2 is waiting to insert a </a:t>
            </a:r>
            <a:r>
              <a:rPr lang="en-US" sz="2000" dirty="0" smtClean="0"/>
              <a:t>node:       			Release </a:t>
            </a:r>
            <a:r>
              <a:rPr lang="en-US" sz="2000" dirty="0"/>
              <a:t>tree lock            </a:t>
            </a:r>
            <a:endParaRPr lang="en-US" sz="2000" dirty="0" smtClean="0"/>
          </a:p>
          <a:p>
            <a:pPr marL="50800" indent="0">
              <a:buNone/>
            </a:pPr>
            <a:r>
              <a:rPr lang="en-US" sz="2000" dirty="0"/>
              <a:t>	</a:t>
            </a:r>
            <a:r>
              <a:rPr lang="en-US" sz="2000" dirty="0" smtClean="0"/>
              <a:t>	Wait </a:t>
            </a:r>
            <a:r>
              <a:rPr lang="en-US" sz="2000" dirty="0"/>
              <a:t>for P2 to finish its </a:t>
            </a:r>
            <a:r>
              <a:rPr lang="en-US" sz="2000" dirty="0" smtClean="0"/>
              <a:t>			operation        </a:t>
            </a:r>
          </a:p>
          <a:p>
            <a:pPr marL="50800" indent="0">
              <a:buNone/>
            </a:pPr>
            <a:r>
              <a:rPr lang="en-US" sz="2000" dirty="0"/>
              <a:t>	</a:t>
            </a:r>
            <a:r>
              <a:rPr lang="en-US" sz="2000" dirty="0" smtClean="0"/>
              <a:t>else</a:t>
            </a:r>
            <a:r>
              <a:rPr lang="en-US" sz="2000" dirty="0"/>
              <a:t>:           </a:t>
            </a:r>
            <a:endParaRPr lang="en-US" sz="2000" dirty="0" smtClean="0"/>
          </a:p>
          <a:p>
            <a:pPr marL="50800" indent="0">
              <a:buNone/>
            </a:pPr>
            <a:r>
              <a:rPr lang="en-US" sz="2000" dirty="0"/>
              <a:t>	</a:t>
            </a:r>
            <a:r>
              <a:rPr lang="en-US" sz="2000" dirty="0" smtClean="0"/>
              <a:t>	Insert </a:t>
            </a:r>
            <a:r>
              <a:rPr lang="en-US" sz="2000" dirty="0"/>
              <a:t>node A            </a:t>
            </a:r>
            <a:endParaRPr lang="en-US" sz="2000" dirty="0" smtClean="0"/>
          </a:p>
          <a:p>
            <a:pPr marL="50800" indent="0">
              <a:buNone/>
            </a:pPr>
            <a:r>
              <a:rPr lang="en-US" sz="2000" dirty="0"/>
              <a:t>	</a:t>
            </a:r>
            <a:r>
              <a:rPr lang="en-US" sz="2000" dirty="0" smtClean="0"/>
              <a:t>	Release </a:t>
            </a:r>
            <a:r>
              <a:rPr lang="en-US" sz="2000" dirty="0"/>
              <a:t>tree lock            </a:t>
            </a:r>
            <a:endParaRPr lang="en-US" sz="2000" dirty="0" smtClean="0"/>
          </a:p>
          <a:p>
            <a:pPr marL="50800" indent="0">
              <a:buNone/>
            </a:pPr>
            <a:r>
              <a:rPr lang="en-US" sz="2000" dirty="0"/>
              <a:t>	</a:t>
            </a:r>
            <a:r>
              <a:rPr lang="en-US" sz="2000" dirty="0" smtClean="0"/>
              <a:t>	break  </a:t>
            </a:r>
          </a:p>
          <a:p>
            <a:pPr marL="50800" indent="0">
              <a:buNone/>
            </a:pPr>
            <a:r>
              <a:rPr lang="en-US" sz="2000" dirty="0" smtClean="0"/>
              <a:t># </a:t>
            </a:r>
            <a:r>
              <a:rPr lang="en-US" sz="2000" dirty="0"/>
              <a:t>Exit loop when insertion is successful</a:t>
            </a:r>
            <a:endParaRPr lang="en-IN" sz="2000" dirty="0"/>
          </a:p>
        </p:txBody>
      </p:sp>
      <p:sp>
        <p:nvSpPr>
          <p:cNvPr id="7" name="Text Placeholder 6"/>
          <p:cNvSpPr>
            <a:spLocks noGrp="1"/>
          </p:cNvSpPr>
          <p:nvPr>
            <p:ph type="body" idx="2"/>
          </p:nvPr>
        </p:nvSpPr>
        <p:spPr>
          <a:xfrm>
            <a:off x="6135255" y="1330041"/>
            <a:ext cx="5384800" cy="4525963"/>
          </a:xfrm>
        </p:spPr>
        <p:txBody>
          <a:bodyPr/>
          <a:lstStyle/>
          <a:p>
            <a:pPr marL="50800" indent="0">
              <a:buNone/>
            </a:pPr>
            <a:r>
              <a:rPr lang="en-US" sz="2000" dirty="0"/>
              <a:t>Process P2</a:t>
            </a:r>
            <a:r>
              <a:rPr lang="en-US" sz="2000" dirty="0" smtClean="0"/>
              <a:t>:</a:t>
            </a:r>
          </a:p>
          <a:p>
            <a:pPr marL="50800" indent="0">
              <a:buNone/>
            </a:pPr>
            <a:r>
              <a:rPr lang="en-US" sz="2000" dirty="0" smtClean="0"/>
              <a:t> </a:t>
            </a:r>
            <a:r>
              <a:rPr lang="en-US" sz="2000" dirty="0"/>
              <a:t>while True: </a:t>
            </a:r>
            <a:endParaRPr lang="en-US" sz="2000" dirty="0" smtClean="0"/>
          </a:p>
          <a:p>
            <a:pPr marL="50800" indent="0">
              <a:buNone/>
            </a:pPr>
            <a:r>
              <a:rPr lang="en-US" sz="2000" dirty="0"/>
              <a:t>	</a:t>
            </a:r>
            <a:r>
              <a:rPr lang="en-US" sz="2000" dirty="0" smtClean="0"/>
              <a:t>Lock </a:t>
            </a:r>
            <a:r>
              <a:rPr lang="en-US" sz="2000" dirty="0"/>
              <a:t>tree for insertion </a:t>
            </a:r>
            <a:endParaRPr lang="en-US" sz="2000" dirty="0" smtClean="0"/>
          </a:p>
          <a:p>
            <a:pPr marL="50800" indent="0">
              <a:buNone/>
            </a:pPr>
            <a:r>
              <a:rPr lang="en-US" sz="2000" dirty="0"/>
              <a:t>	</a:t>
            </a:r>
            <a:r>
              <a:rPr lang="en-US" sz="2000" dirty="0" smtClean="0"/>
              <a:t>if </a:t>
            </a:r>
            <a:r>
              <a:rPr lang="en-US" sz="2000" dirty="0"/>
              <a:t>P1 is waiting to insert a node: </a:t>
            </a:r>
            <a:endParaRPr lang="en-US" sz="2000" dirty="0" smtClean="0"/>
          </a:p>
          <a:p>
            <a:pPr marL="50800" indent="0">
              <a:buNone/>
            </a:pPr>
            <a:r>
              <a:rPr lang="en-US" sz="2000" dirty="0"/>
              <a:t>	</a:t>
            </a:r>
            <a:r>
              <a:rPr lang="en-US" sz="2000" dirty="0" smtClean="0"/>
              <a:t>	Release </a:t>
            </a:r>
            <a:r>
              <a:rPr lang="en-US" sz="2000" dirty="0"/>
              <a:t>tree lock </a:t>
            </a:r>
            <a:endParaRPr lang="en-US" sz="2000" dirty="0" smtClean="0"/>
          </a:p>
          <a:p>
            <a:pPr marL="50800" indent="0">
              <a:buNone/>
            </a:pPr>
            <a:r>
              <a:rPr lang="en-US" sz="2000" dirty="0"/>
              <a:t>	</a:t>
            </a:r>
            <a:r>
              <a:rPr lang="en-US" sz="2000" dirty="0" smtClean="0"/>
              <a:t>	Wait </a:t>
            </a:r>
            <a:r>
              <a:rPr lang="en-US" sz="2000" dirty="0"/>
              <a:t>for P1 to finish its </a:t>
            </a:r>
            <a:r>
              <a:rPr lang="en-US" sz="2000" dirty="0" smtClean="0"/>
              <a:t>			operation </a:t>
            </a:r>
          </a:p>
          <a:p>
            <a:pPr marL="50800" indent="0">
              <a:buNone/>
            </a:pPr>
            <a:r>
              <a:rPr lang="en-US" sz="2000" dirty="0"/>
              <a:t>	</a:t>
            </a:r>
            <a:r>
              <a:rPr lang="en-US" sz="2000" dirty="0" smtClean="0"/>
              <a:t>else</a:t>
            </a:r>
            <a:r>
              <a:rPr lang="en-US" sz="2000" dirty="0"/>
              <a:t>: </a:t>
            </a:r>
            <a:endParaRPr lang="en-US" sz="2000" dirty="0" smtClean="0"/>
          </a:p>
          <a:p>
            <a:pPr marL="50800" indent="0">
              <a:buNone/>
            </a:pPr>
            <a:r>
              <a:rPr lang="en-US" sz="2000" dirty="0"/>
              <a:t>	</a:t>
            </a:r>
            <a:r>
              <a:rPr lang="en-US" sz="2000" dirty="0" smtClean="0"/>
              <a:t>	Insert </a:t>
            </a:r>
            <a:r>
              <a:rPr lang="en-US" sz="2000" dirty="0"/>
              <a:t>node B </a:t>
            </a:r>
            <a:endParaRPr lang="en-US" sz="2000" dirty="0" smtClean="0"/>
          </a:p>
          <a:p>
            <a:pPr marL="50800" indent="0">
              <a:buNone/>
            </a:pPr>
            <a:r>
              <a:rPr lang="en-US" sz="2000" dirty="0"/>
              <a:t>	</a:t>
            </a:r>
            <a:r>
              <a:rPr lang="en-US" sz="2000" dirty="0" smtClean="0"/>
              <a:t>	Release </a:t>
            </a:r>
            <a:r>
              <a:rPr lang="en-US" sz="2000" dirty="0"/>
              <a:t>tree lock </a:t>
            </a:r>
            <a:endParaRPr lang="en-US" sz="2000" dirty="0" smtClean="0"/>
          </a:p>
          <a:p>
            <a:pPr marL="50800" indent="0">
              <a:buNone/>
            </a:pPr>
            <a:r>
              <a:rPr lang="en-US" sz="2000" dirty="0"/>
              <a:t>	</a:t>
            </a:r>
            <a:r>
              <a:rPr lang="en-US" sz="2000" dirty="0" smtClean="0"/>
              <a:t>	break </a:t>
            </a:r>
          </a:p>
          <a:p>
            <a:pPr marL="50800" indent="0">
              <a:buNone/>
            </a:pPr>
            <a:r>
              <a:rPr lang="en-US" sz="2000" dirty="0" smtClean="0"/>
              <a:t># </a:t>
            </a:r>
            <a:r>
              <a:rPr lang="en-US" sz="2000" dirty="0"/>
              <a:t>Exit loop when insertion is successful</a:t>
            </a:r>
            <a:endParaRPr lang="en-IN" sz="2000" dirty="0"/>
          </a:p>
        </p:txBody>
      </p:sp>
      <p:sp>
        <p:nvSpPr>
          <p:cNvPr id="672" name="Google Shape;672;p66"/>
          <p:cNvSpPr txBox="1">
            <a:spLocks noGrp="1"/>
          </p:cNvSpPr>
          <p:nvPr>
            <p:ph type="dt" idx="10"/>
          </p:nvPr>
        </p:nvSpPr>
        <p:spPr>
          <a:prstGeom prst="rect">
            <a:avLst/>
          </a:prstGeom>
          <a:noFill/>
          <a:ln>
            <a:noFill/>
          </a:ln>
        </p:spPr>
        <p:txBody>
          <a:bodyPr spcFirstLastPara="1" wrap="square" lIns="91425" tIns="45700" rIns="91425" bIns="45700" anchor="t" anchorCtr="0">
            <a:noAutofit/>
          </a:bodyPr>
          <a:lstStyle/>
          <a:p>
            <a:fld id="{3543BDD8-7068-454C-AC23-3E21BC55173D}" type="datetime1">
              <a:rPr lang="en-US" smtClean="0">
                <a:solidFill>
                  <a:srgbClr val="000000"/>
                </a:solidFill>
              </a:rPr>
              <a:pPr/>
              <a:t>11/11/2024</a:t>
            </a:fld>
            <a:endParaRPr>
              <a:solidFill>
                <a:srgbClr val="000000"/>
              </a:solidFill>
            </a:endParaRPr>
          </a:p>
        </p:txBody>
      </p:sp>
    </p:spTree>
    <p:extLst>
      <p:ext uri="{BB962C8B-B14F-4D97-AF65-F5344CB8AC3E}">
        <p14:creationId xmlns:p14="http://schemas.microsoft.com/office/powerpoint/2010/main" val="10136866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66"/>
          <p:cNvSpPr txBox="1">
            <a:spLocks noGrp="1"/>
          </p:cNvSpPr>
          <p:nvPr>
            <p:ph type="title"/>
          </p:nvPr>
        </p:nvSpPr>
        <p:spPr>
          <a:xfrm>
            <a:off x="166255" y="274638"/>
            <a:ext cx="11856027" cy="1143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dirty="0" smtClean="0"/>
              <a:t>Deadlock situation</a:t>
            </a:r>
            <a:endParaRPr dirty="0"/>
          </a:p>
        </p:txBody>
      </p:sp>
      <p:sp>
        <p:nvSpPr>
          <p:cNvPr id="6" name="Text Placeholder 5"/>
          <p:cNvSpPr>
            <a:spLocks noGrp="1"/>
          </p:cNvSpPr>
          <p:nvPr>
            <p:ph type="body" idx="1"/>
          </p:nvPr>
        </p:nvSpPr>
        <p:spPr>
          <a:xfrm>
            <a:off x="661554" y="1444342"/>
            <a:ext cx="5384800" cy="4525963"/>
          </a:xfrm>
        </p:spPr>
        <p:txBody>
          <a:bodyPr/>
          <a:lstStyle/>
          <a:p>
            <a:pPr marL="50800" indent="0">
              <a:buNone/>
            </a:pPr>
            <a:r>
              <a:rPr lang="en-US" sz="2000" dirty="0"/>
              <a:t>Process P1: </a:t>
            </a:r>
            <a:endParaRPr lang="en-US" sz="2000" dirty="0" smtClean="0"/>
          </a:p>
          <a:p>
            <a:pPr marL="50800" indent="0">
              <a:buNone/>
            </a:pPr>
            <a:r>
              <a:rPr lang="en-US" sz="2000" dirty="0"/>
              <a:t>	</a:t>
            </a:r>
            <a:r>
              <a:rPr lang="en-US" sz="2000" dirty="0" smtClean="0"/>
              <a:t>Lock </a:t>
            </a:r>
            <a:r>
              <a:rPr lang="en-US" sz="2000" dirty="0"/>
              <a:t>R1 </a:t>
            </a:r>
            <a:endParaRPr lang="en-US" sz="2000" dirty="0" smtClean="0"/>
          </a:p>
          <a:p>
            <a:pPr marL="50800" indent="0">
              <a:buNone/>
            </a:pPr>
            <a:r>
              <a:rPr lang="en-US" sz="2000" dirty="0"/>
              <a:t>	</a:t>
            </a:r>
            <a:r>
              <a:rPr lang="en-US" sz="2000" dirty="0" smtClean="0"/>
              <a:t>Wait(100 </a:t>
            </a:r>
            <a:r>
              <a:rPr lang="en-US" sz="2000" dirty="0" err="1"/>
              <a:t>ms</a:t>
            </a:r>
            <a:r>
              <a:rPr lang="en-US" sz="2000" dirty="0"/>
              <a:t>) </a:t>
            </a:r>
            <a:r>
              <a:rPr lang="en-US" sz="2000" dirty="0" smtClean="0"/>
              <a:t>  # some </a:t>
            </a:r>
            <a:r>
              <a:rPr lang="en-US" sz="2000" dirty="0"/>
              <a:t>work with R1 </a:t>
            </a:r>
            <a:endParaRPr lang="en-US" sz="2000" dirty="0" smtClean="0"/>
          </a:p>
          <a:p>
            <a:pPr marL="50800" indent="0">
              <a:buNone/>
            </a:pPr>
            <a:r>
              <a:rPr lang="en-US" sz="2000" dirty="0"/>
              <a:t>	</a:t>
            </a:r>
            <a:r>
              <a:rPr lang="en-US" sz="2000" dirty="0" smtClean="0"/>
              <a:t>Lock </a:t>
            </a:r>
            <a:r>
              <a:rPr lang="en-US" sz="2000" dirty="0"/>
              <a:t>R2 </a:t>
            </a:r>
            <a:r>
              <a:rPr lang="en-US" sz="2000" dirty="0" smtClean="0"/>
              <a:t>             # </a:t>
            </a:r>
            <a:r>
              <a:rPr lang="en-US" sz="2000" dirty="0"/>
              <a:t>Trying to lock R2 </a:t>
            </a:r>
            <a:endParaRPr lang="en-US" sz="2000" dirty="0" smtClean="0"/>
          </a:p>
          <a:p>
            <a:pPr marL="50800" indent="0">
              <a:buNone/>
            </a:pPr>
            <a:r>
              <a:rPr lang="en-US" sz="2000" dirty="0"/>
              <a:t>	</a:t>
            </a:r>
            <a:r>
              <a:rPr lang="en-US" sz="2000" dirty="0" smtClean="0"/>
              <a:t>	</a:t>
            </a:r>
            <a:r>
              <a:rPr lang="en-US" sz="1400" dirty="0" smtClean="0"/>
              <a:t>(</a:t>
            </a:r>
            <a:r>
              <a:rPr lang="en-US" sz="1400" dirty="0"/>
              <a:t>but P2 may have already locked R2)</a:t>
            </a:r>
            <a:r>
              <a:rPr lang="en-US" sz="2000" dirty="0"/>
              <a:t> </a:t>
            </a:r>
            <a:endParaRPr lang="en-US" sz="2000" dirty="0" smtClean="0"/>
          </a:p>
          <a:p>
            <a:pPr marL="50800" indent="0">
              <a:buNone/>
            </a:pPr>
            <a:r>
              <a:rPr lang="en-US" sz="2000" dirty="0"/>
              <a:t>	</a:t>
            </a:r>
            <a:r>
              <a:rPr lang="en-US" sz="2000" dirty="0" smtClean="0"/>
              <a:t>// </a:t>
            </a:r>
            <a:r>
              <a:rPr lang="en-US" sz="2000" dirty="0"/>
              <a:t>Critical section using R1 and R2 </a:t>
            </a:r>
            <a:endParaRPr lang="en-US" sz="2000" dirty="0" smtClean="0"/>
          </a:p>
          <a:p>
            <a:pPr marL="50800" indent="0">
              <a:buNone/>
            </a:pPr>
            <a:r>
              <a:rPr lang="en-US" sz="2000" dirty="0"/>
              <a:t>	</a:t>
            </a:r>
            <a:endParaRPr lang="en-US" sz="2000" dirty="0" smtClean="0"/>
          </a:p>
          <a:p>
            <a:pPr marL="50800" indent="0">
              <a:buNone/>
            </a:pPr>
            <a:r>
              <a:rPr lang="en-US" sz="2000" dirty="0"/>
              <a:t>	</a:t>
            </a:r>
            <a:r>
              <a:rPr lang="en-US" sz="2000" dirty="0" smtClean="0"/>
              <a:t>Unlock </a:t>
            </a:r>
            <a:r>
              <a:rPr lang="en-US" sz="2000" dirty="0"/>
              <a:t>R2 </a:t>
            </a:r>
            <a:endParaRPr lang="en-US" sz="2000" dirty="0" smtClean="0"/>
          </a:p>
          <a:p>
            <a:pPr marL="50800" indent="0">
              <a:buNone/>
            </a:pPr>
            <a:r>
              <a:rPr lang="en-US" sz="2000" dirty="0"/>
              <a:t>	</a:t>
            </a:r>
            <a:r>
              <a:rPr lang="en-US" sz="2000" dirty="0" smtClean="0"/>
              <a:t>Unlock </a:t>
            </a:r>
            <a:r>
              <a:rPr lang="en-US" sz="2000" dirty="0"/>
              <a:t>R1</a:t>
            </a:r>
            <a:endParaRPr lang="en-IN" sz="2000" dirty="0"/>
          </a:p>
        </p:txBody>
      </p:sp>
      <p:sp>
        <p:nvSpPr>
          <p:cNvPr id="7" name="Text Placeholder 6"/>
          <p:cNvSpPr>
            <a:spLocks noGrp="1"/>
          </p:cNvSpPr>
          <p:nvPr>
            <p:ph type="body" idx="2"/>
          </p:nvPr>
        </p:nvSpPr>
        <p:spPr>
          <a:xfrm>
            <a:off x="6135255" y="1330041"/>
            <a:ext cx="5384800" cy="4525963"/>
          </a:xfrm>
        </p:spPr>
        <p:txBody>
          <a:bodyPr/>
          <a:lstStyle/>
          <a:p>
            <a:pPr marL="50800" indent="0">
              <a:buNone/>
            </a:pPr>
            <a:r>
              <a:rPr lang="en-US" sz="2000" dirty="0"/>
              <a:t>Process </a:t>
            </a:r>
            <a:r>
              <a:rPr lang="en-US" sz="2000" dirty="0" smtClean="0"/>
              <a:t>P2: </a:t>
            </a:r>
            <a:endParaRPr lang="en-US" sz="2000" dirty="0"/>
          </a:p>
          <a:p>
            <a:pPr marL="50800" indent="0">
              <a:buNone/>
            </a:pPr>
            <a:r>
              <a:rPr lang="en-US" sz="2000" dirty="0"/>
              <a:t>	Lock </a:t>
            </a:r>
            <a:r>
              <a:rPr lang="en-US" sz="2000" dirty="0" smtClean="0"/>
              <a:t>R2 </a:t>
            </a:r>
            <a:endParaRPr lang="en-US" sz="2000" dirty="0"/>
          </a:p>
          <a:p>
            <a:pPr marL="50800" indent="0">
              <a:buNone/>
            </a:pPr>
            <a:r>
              <a:rPr lang="en-US" sz="2000" dirty="0"/>
              <a:t>	Wait(100 </a:t>
            </a:r>
            <a:r>
              <a:rPr lang="en-US" sz="2000" dirty="0" err="1"/>
              <a:t>ms</a:t>
            </a:r>
            <a:r>
              <a:rPr lang="en-US" sz="2000" dirty="0"/>
              <a:t>)   # some work with </a:t>
            </a:r>
            <a:r>
              <a:rPr lang="en-US" sz="2000" dirty="0" smtClean="0"/>
              <a:t>R2 </a:t>
            </a:r>
            <a:endParaRPr lang="en-US" sz="2000" dirty="0"/>
          </a:p>
          <a:p>
            <a:pPr marL="50800" indent="0">
              <a:buNone/>
            </a:pPr>
            <a:r>
              <a:rPr lang="en-US" sz="2000" dirty="0"/>
              <a:t>	Lock </a:t>
            </a:r>
            <a:r>
              <a:rPr lang="en-US" sz="2000" dirty="0" smtClean="0"/>
              <a:t>R1              </a:t>
            </a:r>
            <a:r>
              <a:rPr lang="en-US" sz="2000" dirty="0"/>
              <a:t># Trying to lock </a:t>
            </a:r>
            <a:r>
              <a:rPr lang="en-US" sz="2000" dirty="0" smtClean="0"/>
              <a:t>R1 </a:t>
            </a:r>
            <a:endParaRPr lang="en-US" sz="2000" dirty="0"/>
          </a:p>
          <a:p>
            <a:pPr marL="50800" indent="0">
              <a:buNone/>
            </a:pPr>
            <a:r>
              <a:rPr lang="en-US" sz="2000" dirty="0"/>
              <a:t>		</a:t>
            </a:r>
            <a:r>
              <a:rPr lang="en-US" sz="1400" dirty="0"/>
              <a:t>(but </a:t>
            </a:r>
            <a:r>
              <a:rPr lang="en-US" sz="1400" dirty="0" smtClean="0"/>
              <a:t>P1 </a:t>
            </a:r>
            <a:r>
              <a:rPr lang="en-US" sz="1400" dirty="0"/>
              <a:t>may have already locked </a:t>
            </a:r>
            <a:r>
              <a:rPr lang="en-US" sz="1400" dirty="0" smtClean="0"/>
              <a:t>R1)</a:t>
            </a:r>
            <a:r>
              <a:rPr lang="en-US" sz="2000" dirty="0" smtClean="0"/>
              <a:t> </a:t>
            </a:r>
            <a:endParaRPr lang="en-US" sz="2000" dirty="0"/>
          </a:p>
          <a:p>
            <a:pPr marL="50800" indent="0">
              <a:buNone/>
            </a:pPr>
            <a:r>
              <a:rPr lang="en-US" sz="2000" dirty="0"/>
              <a:t>	// Critical section using </a:t>
            </a:r>
            <a:r>
              <a:rPr lang="en-US" sz="2000" dirty="0" smtClean="0"/>
              <a:t>R2 </a:t>
            </a:r>
            <a:r>
              <a:rPr lang="en-US" sz="2000" dirty="0"/>
              <a:t>and </a:t>
            </a:r>
            <a:r>
              <a:rPr lang="en-US" sz="2000" dirty="0" smtClean="0"/>
              <a:t>R1 </a:t>
            </a:r>
            <a:endParaRPr lang="en-US" sz="2000" dirty="0"/>
          </a:p>
          <a:p>
            <a:pPr marL="50800" indent="0">
              <a:buNone/>
            </a:pPr>
            <a:r>
              <a:rPr lang="en-US" sz="2000" dirty="0"/>
              <a:t>	</a:t>
            </a:r>
          </a:p>
          <a:p>
            <a:pPr marL="50800" indent="0">
              <a:buNone/>
            </a:pPr>
            <a:r>
              <a:rPr lang="en-US" sz="2000" dirty="0"/>
              <a:t>	Unlock </a:t>
            </a:r>
            <a:r>
              <a:rPr lang="en-US" sz="2000" dirty="0" smtClean="0"/>
              <a:t>R1 </a:t>
            </a:r>
            <a:endParaRPr lang="en-US" sz="2000" dirty="0"/>
          </a:p>
          <a:p>
            <a:pPr marL="50800" indent="0">
              <a:buNone/>
            </a:pPr>
            <a:r>
              <a:rPr lang="en-US" sz="2000" dirty="0"/>
              <a:t>	Unlock </a:t>
            </a:r>
            <a:r>
              <a:rPr lang="en-US" sz="2000" dirty="0" smtClean="0"/>
              <a:t>R2</a:t>
            </a:r>
            <a:endParaRPr lang="en-IN" sz="2000" dirty="0"/>
          </a:p>
          <a:p>
            <a:pPr marL="50800" indent="0">
              <a:buNone/>
            </a:pPr>
            <a:endParaRPr lang="en-IN" sz="2000" dirty="0"/>
          </a:p>
        </p:txBody>
      </p:sp>
      <p:sp>
        <p:nvSpPr>
          <p:cNvPr id="672" name="Google Shape;672;p66"/>
          <p:cNvSpPr txBox="1">
            <a:spLocks noGrp="1"/>
          </p:cNvSpPr>
          <p:nvPr>
            <p:ph type="dt" idx="10"/>
          </p:nvPr>
        </p:nvSpPr>
        <p:spPr>
          <a:prstGeom prst="rect">
            <a:avLst/>
          </a:prstGeom>
          <a:noFill/>
          <a:ln>
            <a:noFill/>
          </a:ln>
        </p:spPr>
        <p:txBody>
          <a:bodyPr spcFirstLastPara="1" wrap="square" lIns="91425" tIns="45700" rIns="91425" bIns="45700" anchor="t" anchorCtr="0">
            <a:noAutofit/>
          </a:bodyPr>
          <a:lstStyle/>
          <a:p>
            <a:fld id="{3543BDD8-7068-454C-AC23-3E21BC55173D}" type="datetime1">
              <a:rPr lang="en-US" smtClean="0">
                <a:solidFill>
                  <a:srgbClr val="000000"/>
                </a:solidFill>
              </a:rPr>
              <a:pPr/>
              <a:t>11/11/2024</a:t>
            </a:fld>
            <a:endParaRPr>
              <a:solidFill>
                <a:srgbClr val="000000"/>
              </a:solidFill>
            </a:endParaRPr>
          </a:p>
        </p:txBody>
      </p:sp>
    </p:spTree>
    <p:extLst>
      <p:ext uri="{BB962C8B-B14F-4D97-AF65-F5344CB8AC3E}">
        <p14:creationId xmlns:p14="http://schemas.microsoft.com/office/powerpoint/2010/main" val="27977262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66"/>
          <p:cNvSpPr txBox="1">
            <a:spLocks noGrp="1"/>
          </p:cNvSpPr>
          <p:nvPr>
            <p:ph type="title"/>
          </p:nvPr>
        </p:nvSpPr>
        <p:spPr>
          <a:xfrm>
            <a:off x="166255" y="274638"/>
            <a:ext cx="11856027" cy="11430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dirty="0" err="1" smtClean="0"/>
              <a:t>Busywait</a:t>
            </a:r>
            <a:r>
              <a:rPr lang="en-US" b="1" dirty="0" smtClean="0"/>
              <a:t> situation while inserting a node in BST</a:t>
            </a:r>
            <a:endParaRPr dirty="0"/>
          </a:p>
        </p:txBody>
      </p:sp>
      <p:sp>
        <p:nvSpPr>
          <p:cNvPr id="672" name="Google Shape;672;p66"/>
          <p:cNvSpPr txBox="1">
            <a:spLocks noGrp="1"/>
          </p:cNvSpPr>
          <p:nvPr>
            <p:ph type="dt" idx="10"/>
          </p:nvPr>
        </p:nvSpPr>
        <p:spPr>
          <a:prstGeom prst="rect">
            <a:avLst/>
          </a:prstGeom>
          <a:noFill/>
          <a:ln>
            <a:noFill/>
          </a:ln>
        </p:spPr>
        <p:txBody>
          <a:bodyPr spcFirstLastPara="1" wrap="square" lIns="91425" tIns="45700" rIns="91425" bIns="45700" anchor="t" anchorCtr="0">
            <a:noAutofit/>
          </a:bodyPr>
          <a:lstStyle/>
          <a:p>
            <a:fld id="{3543BDD8-7068-454C-AC23-3E21BC55173D}" type="datetime1">
              <a:rPr lang="en-US" smtClean="0">
                <a:solidFill>
                  <a:srgbClr val="000000"/>
                </a:solidFill>
              </a:rPr>
              <a:pPr/>
              <a:t>11/11/2024</a:t>
            </a:fld>
            <a:endParaRPr>
              <a:solidFill>
                <a:srgbClr val="000000"/>
              </a:solidFill>
            </a:endParaRPr>
          </a:p>
        </p:txBody>
      </p:sp>
      <p:sp>
        <p:nvSpPr>
          <p:cNvPr id="2" name="Text Placeholder 1"/>
          <p:cNvSpPr>
            <a:spLocks noGrp="1"/>
          </p:cNvSpPr>
          <p:nvPr>
            <p:ph type="body" idx="1"/>
          </p:nvPr>
        </p:nvSpPr>
        <p:spPr>
          <a:xfrm>
            <a:off x="682336" y="935188"/>
            <a:ext cx="10654145" cy="5112321"/>
          </a:xfrm>
        </p:spPr>
        <p:txBody>
          <a:bodyPr/>
          <a:lstStyle/>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Shared Variable:</a:t>
            </a:r>
          </a:p>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is_inserting</a:t>
            </a:r>
            <a:r>
              <a:rPr lang="en-US" sz="1800" dirty="0">
                <a:solidFill>
                  <a:schemeClr val="tx1"/>
                </a:solidFill>
                <a:latin typeface="Times New Roman" panose="02020603050405020304" pitchFamily="18" charset="0"/>
                <a:cs typeface="Times New Roman" panose="02020603050405020304" pitchFamily="18" charset="0"/>
              </a:rPr>
              <a:t> = False  // Flag to indicate if insertion is in progress</a:t>
            </a:r>
          </a:p>
          <a:p>
            <a:pPr marL="50800" indent="0">
              <a:lnSpc>
                <a:spcPct val="100000"/>
              </a:lnSpc>
              <a:spcBef>
                <a:spcPts val="0"/>
              </a:spcBef>
              <a:buNone/>
            </a:pPr>
            <a:endParaRPr lang="en-US" sz="1800" dirty="0">
              <a:solidFill>
                <a:schemeClr val="tx1"/>
              </a:solidFill>
              <a:latin typeface="Times New Roman" panose="02020603050405020304" pitchFamily="18" charset="0"/>
              <a:cs typeface="Times New Roman" panose="02020603050405020304" pitchFamily="18" charset="0"/>
            </a:endParaRPr>
          </a:p>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Algorithm </a:t>
            </a:r>
            <a:r>
              <a:rPr lang="en-US" sz="1800" dirty="0" err="1">
                <a:solidFill>
                  <a:schemeClr val="tx1"/>
                </a:solidFill>
                <a:latin typeface="Times New Roman" panose="02020603050405020304" pitchFamily="18" charset="0"/>
                <a:cs typeface="Times New Roman" panose="02020603050405020304" pitchFamily="18" charset="0"/>
              </a:rPr>
              <a:t>InsertNode</a:t>
            </a:r>
            <a:r>
              <a:rPr lang="en-US" sz="1800" dirty="0">
                <a:solidFill>
                  <a:schemeClr val="tx1"/>
                </a:solidFill>
                <a:latin typeface="Times New Roman" panose="02020603050405020304" pitchFamily="18" charset="0"/>
                <a:cs typeface="Times New Roman" panose="02020603050405020304" pitchFamily="18" charset="0"/>
              </a:rPr>
              <a:t>(root, key):</a:t>
            </a:r>
          </a:p>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    while </a:t>
            </a:r>
            <a:r>
              <a:rPr lang="en-US" sz="1800" dirty="0" err="1">
                <a:solidFill>
                  <a:schemeClr val="tx1"/>
                </a:solidFill>
                <a:latin typeface="Times New Roman" panose="02020603050405020304" pitchFamily="18" charset="0"/>
                <a:cs typeface="Times New Roman" panose="02020603050405020304" pitchFamily="18" charset="0"/>
              </a:rPr>
              <a:t>is_inserting</a:t>
            </a:r>
            <a:r>
              <a:rPr lang="en-US" sz="1800" dirty="0">
                <a:solidFill>
                  <a:schemeClr val="tx1"/>
                </a:solidFill>
                <a:latin typeface="Times New Roman" panose="02020603050405020304" pitchFamily="18" charset="0"/>
                <a:cs typeface="Times New Roman" panose="02020603050405020304" pitchFamily="18" charset="0"/>
              </a:rPr>
              <a:t> == True:  // Busy waiting loop</a:t>
            </a:r>
          </a:p>
          <a:p>
            <a:pPr marL="50800" indent="0">
              <a:lnSpc>
                <a:spcPct val="100000"/>
              </a:lnSpc>
              <a:spcBef>
                <a:spcPts val="0"/>
              </a:spcBef>
              <a:buNone/>
            </a:pPr>
            <a:r>
              <a:rPr lang="en-US" sz="1800" dirty="0">
                <a:solidFill>
                  <a:schemeClr val="bg1">
                    <a:lumMod val="65000"/>
                  </a:schemeClr>
                </a:solidFill>
                <a:latin typeface="Times New Roman" panose="02020603050405020304" pitchFamily="18" charset="0"/>
                <a:cs typeface="Times New Roman" panose="02020603050405020304" pitchFamily="18" charset="0"/>
              </a:rPr>
              <a:t>        // Do nothing, just wait until </a:t>
            </a:r>
            <a:r>
              <a:rPr lang="en-US" sz="1800" dirty="0" err="1">
                <a:solidFill>
                  <a:schemeClr val="bg1">
                    <a:lumMod val="65000"/>
                  </a:schemeClr>
                </a:solidFill>
                <a:latin typeface="Times New Roman" panose="02020603050405020304" pitchFamily="18" charset="0"/>
                <a:cs typeface="Times New Roman" panose="02020603050405020304" pitchFamily="18" charset="0"/>
              </a:rPr>
              <a:t>is_inserting</a:t>
            </a:r>
            <a:r>
              <a:rPr lang="en-US" sz="1800" dirty="0">
                <a:solidFill>
                  <a:schemeClr val="bg1">
                    <a:lumMod val="65000"/>
                  </a:schemeClr>
                </a:solidFill>
                <a:latin typeface="Times New Roman" panose="02020603050405020304" pitchFamily="18" charset="0"/>
                <a:cs typeface="Times New Roman" panose="02020603050405020304" pitchFamily="18" charset="0"/>
              </a:rPr>
              <a:t> becomes False</a:t>
            </a:r>
          </a:p>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        continue</a:t>
            </a:r>
          </a:p>
          <a:p>
            <a:pPr marL="50800" indent="0">
              <a:lnSpc>
                <a:spcPct val="100000"/>
              </a:lnSpc>
              <a:spcBef>
                <a:spcPts val="0"/>
              </a:spcBef>
              <a:buNone/>
            </a:pPr>
            <a:r>
              <a:rPr lang="en-US" sz="1800" dirty="0" smtClean="0">
                <a:solidFill>
                  <a:schemeClr val="bg1">
                    <a:lumMod val="65000"/>
                  </a:schemeClr>
                </a:solidFill>
                <a:latin typeface="Times New Roman" panose="02020603050405020304" pitchFamily="18" charset="0"/>
                <a:cs typeface="Times New Roman" panose="02020603050405020304" pitchFamily="18" charset="0"/>
              </a:rPr>
              <a:t>       </a:t>
            </a:r>
            <a:r>
              <a:rPr lang="en-US" sz="1800" dirty="0">
                <a:solidFill>
                  <a:schemeClr val="bg1">
                    <a:lumMod val="65000"/>
                  </a:schemeClr>
                </a:solidFill>
                <a:latin typeface="Times New Roman" panose="02020603050405020304" pitchFamily="18" charset="0"/>
                <a:cs typeface="Times New Roman" panose="02020603050405020304" pitchFamily="18" charset="0"/>
              </a:rPr>
              <a:t>// Set </a:t>
            </a:r>
            <a:r>
              <a:rPr lang="en-US" sz="1800" dirty="0" err="1">
                <a:solidFill>
                  <a:schemeClr val="bg1">
                    <a:lumMod val="65000"/>
                  </a:schemeClr>
                </a:solidFill>
                <a:latin typeface="Times New Roman" panose="02020603050405020304" pitchFamily="18" charset="0"/>
                <a:cs typeface="Times New Roman" panose="02020603050405020304" pitchFamily="18" charset="0"/>
              </a:rPr>
              <a:t>is_inserting</a:t>
            </a:r>
            <a:r>
              <a:rPr lang="en-US" sz="1800" dirty="0">
                <a:solidFill>
                  <a:schemeClr val="bg1">
                    <a:lumMod val="65000"/>
                  </a:schemeClr>
                </a:solidFill>
                <a:latin typeface="Times New Roman" panose="02020603050405020304" pitchFamily="18" charset="0"/>
                <a:cs typeface="Times New Roman" panose="02020603050405020304" pitchFamily="18" charset="0"/>
              </a:rPr>
              <a:t> to True to indicate this process is inserting</a:t>
            </a:r>
          </a:p>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is_inserting</a:t>
            </a:r>
            <a:r>
              <a:rPr lang="en-US" sz="1800" dirty="0">
                <a:solidFill>
                  <a:schemeClr val="tx1"/>
                </a:solidFill>
                <a:latin typeface="Times New Roman" panose="02020603050405020304" pitchFamily="18" charset="0"/>
                <a:cs typeface="Times New Roman" panose="02020603050405020304" pitchFamily="18" charset="0"/>
              </a:rPr>
              <a:t> = True</a:t>
            </a:r>
          </a:p>
          <a:p>
            <a:pPr marL="50800" indent="0">
              <a:lnSpc>
                <a:spcPct val="100000"/>
              </a:lnSpc>
              <a:spcBef>
                <a:spcPts val="0"/>
              </a:spcBef>
              <a:buNone/>
            </a:pP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if root is NULL:</a:t>
            </a:r>
          </a:p>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        root = </a:t>
            </a:r>
            <a:r>
              <a:rPr lang="en-US" sz="1800" dirty="0" err="1">
                <a:solidFill>
                  <a:schemeClr val="tx1"/>
                </a:solidFill>
                <a:latin typeface="Times New Roman" panose="02020603050405020304" pitchFamily="18" charset="0"/>
                <a:cs typeface="Times New Roman" panose="02020603050405020304" pitchFamily="18" charset="0"/>
              </a:rPr>
              <a:t>CreateNewNode</a:t>
            </a:r>
            <a:r>
              <a:rPr lang="en-US" sz="1800" dirty="0">
                <a:solidFill>
                  <a:schemeClr val="tx1"/>
                </a:solidFill>
                <a:latin typeface="Times New Roman" panose="02020603050405020304" pitchFamily="18" charset="0"/>
                <a:cs typeface="Times New Roman" panose="02020603050405020304" pitchFamily="18" charset="0"/>
              </a:rPr>
              <a:t>(key)</a:t>
            </a:r>
          </a:p>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    else if key &lt; </a:t>
            </a:r>
            <a:r>
              <a:rPr lang="en-US" sz="1800" dirty="0" err="1">
                <a:solidFill>
                  <a:schemeClr val="tx1"/>
                </a:solidFill>
                <a:latin typeface="Times New Roman" panose="02020603050405020304" pitchFamily="18" charset="0"/>
                <a:cs typeface="Times New Roman" panose="02020603050405020304" pitchFamily="18" charset="0"/>
              </a:rPr>
              <a:t>root.value</a:t>
            </a:r>
            <a:r>
              <a:rPr lang="en-US" sz="1800" dirty="0">
                <a:solidFill>
                  <a:schemeClr val="tx1"/>
                </a:solidFill>
                <a:latin typeface="Times New Roman" panose="02020603050405020304" pitchFamily="18" charset="0"/>
                <a:cs typeface="Times New Roman" panose="02020603050405020304" pitchFamily="18" charset="0"/>
              </a:rPr>
              <a:t>:</a:t>
            </a:r>
          </a:p>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root.left</a:t>
            </a:r>
            <a:r>
              <a:rPr lang="en-US" sz="1800" dirty="0">
                <a:solidFill>
                  <a:schemeClr val="tx1"/>
                </a:solidFill>
                <a:latin typeface="Times New Roman" panose="02020603050405020304" pitchFamily="18" charset="0"/>
                <a:cs typeface="Times New Roman" panose="02020603050405020304" pitchFamily="18" charset="0"/>
              </a:rPr>
              <a:t> = </a:t>
            </a:r>
            <a:r>
              <a:rPr lang="en-US" sz="1800" dirty="0" err="1">
                <a:solidFill>
                  <a:schemeClr val="tx1"/>
                </a:solidFill>
                <a:latin typeface="Times New Roman" panose="02020603050405020304" pitchFamily="18" charset="0"/>
                <a:cs typeface="Times New Roman" panose="02020603050405020304" pitchFamily="18" charset="0"/>
              </a:rPr>
              <a:t>InsertNode</a:t>
            </a:r>
            <a:r>
              <a:rPr lang="en-US" sz="1800" dirty="0">
                <a:solidFill>
                  <a:schemeClr val="tx1"/>
                </a:solidFill>
                <a:latin typeface="Times New Roman" panose="02020603050405020304" pitchFamily="18" charset="0"/>
                <a:cs typeface="Times New Roman" panose="02020603050405020304" pitchFamily="18" charset="0"/>
              </a:rPr>
              <a:t>(</a:t>
            </a:r>
            <a:r>
              <a:rPr lang="en-US" sz="1800" dirty="0" err="1">
                <a:solidFill>
                  <a:schemeClr val="tx1"/>
                </a:solidFill>
                <a:latin typeface="Times New Roman" panose="02020603050405020304" pitchFamily="18" charset="0"/>
                <a:cs typeface="Times New Roman" panose="02020603050405020304" pitchFamily="18" charset="0"/>
              </a:rPr>
              <a:t>root.left</a:t>
            </a:r>
            <a:r>
              <a:rPr lang="en-US" sz="1800" dirty="0">
                <a:solidFill>
                  <a:schemeClr val="tx1"/>
                </a:solidFill>
                <a:latin typeface="Times New Roman" panose="02020603050405020304" pitchFamily="18" charset="0"/>
                <a:cs typeface="Times New Roman" panose="02020603050405020304" pitchFamily="18" charset="0"/>
              </a:rPr>
              <a:t>, key)</a:t>
            </a:r>
          </a:p>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    else if key &gt; </a:t>
            </a:r>
            <a:r>
              <a:rPr lang="en-US" sz="1800" dirty="0" err="1">
                <a:solidFill>
                  <a:schemeClr val="tx1"/>
                </a:solidFill>
                <a:latin typeface="Times New Roman" panose="02020603050405020304" pitchFamily="18" charset="0"/>
                <a:cs typeface="Times New Roman" panose="02020603050405020304" pitchFamily="18" charset="0"/>
              </a:rPr>
              <a:t>root.value</a:t>
            </a:r>
            <a:r>
              <a:rPr lang="en-US" sz="1800" dirty="0">
                <a:solidFill>
                  <a:schemeClr val="tx1"/>
                </a:solidFill>
                <a:latin typeface="Times New Roman" panose="02020603050405020304" pitchFamily="18" charset="0"/>
                <a:cs typeface="Times New Roman" panose="02020603050405020304" pitchFamily="18" charset="0"/>
              </a:rPr>
              <a:t>:</a:t>
            </a:r>
          </a:p>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root.right</a:t>
            </a:r>
            <a:r>
              <a:rPr lang="en-US" sz="1800" dirty="0">
                <a:solidFill>
                  <a:schemeClr val="tx1"/>
                </a:solidFill>
                <a:latin typeface="Times New Roman" panose="02020603050405020304" pitchFamily="18" charset="0"/>
                <a:cs typeface="Times New Roman" panose="02020603050405020304" pitchFamily="18" charset="0"/>
              </a:rPr>
              <a:t> = </a:t>
            </a:r>
            <a:r>
              <a:rPr lang="en-US" sz="1800" dirty="0" err="1">
                <a:solidFill>
                  <a:schemeClr val="tx1"/>
                </a:solidFill>
                <a:latin typeface="Times New Roman" panose="02020603050405020304" pitchFamily="18" charset="0"/>
                <a:cs typeface="Times New Roman" panose="02020603050405020304" pitchFamily="18" charset="0"/>
              </a:rPr>
              <a:t>InsertNode</a:t>
            </a:r>
            <a:r>
              <a:rPr lang="en-US" sz="1800" dirty="0">
                <a:solidFill>
                  <a:schemeClr val="tx1"/>
                </a:solidFill>
                <a:latin typeface="Times New Roman" panose="02020603050405020304" pitchFamily="18" charset="0"/>
                <a:cs typeface="Times New Roman" panose="02020603050405020304" pitchFamily="18" charset="0"/>
              </a:rPr>
              <a:t>(</a:t>
            </a:r>
            <a:r>
              <a:rPr lang="en-US" sz="1800" dirty="0" err="1">
                <a:solidFill>
                  <a:schemeClr val="tx1"/>
                </a:solidFill>
                <a:latin typeface="Times New Roman" panose="02020603050405020304" pitchFamily="18" charset="0"/>
                <a:cs typeface="Times New Roman" panose="02020603050405020304" pitchFamily="18" charset="0"/>
              </a:rPr>
              <a:t>root.right</a:t>
            </a:r>
            <a:r>
              <a:rPr lang="en-US" sz="1800" dirty="0">
                <a:solidFill>
                  <a:schemeClr val="tx1"/>
                </a:solidFill>
                <a:latin typeface="Times New Roman" panose="02020603050405020304" pitchFamily="18" charset="0"/>
                <a:cs typeface="Times New Roman" panose="02020603050405020304" pitchFamily="18" charset="0"/>
              </a:rPr>
              <a:t>, key)</a:t>
            </a:r>
          </a:p>
          <a:p>
            <a:pPr marL="50800" indent="0">
              <a:lnSpc>
                <a:spcPct val="100000"/>
              </a:lnSpc>
              <a:spcBef>
                <a:spcPts val="0"/>
              </a:spcBef>
              <a:buNone/>
            </a:pPr>
            <a:r>
              <a:rPr lang="en-US" sz="1800" dirty="0" smtClean="0">
                <a:solidFill>
                  <a:schemeClr val="bg1">
                    <a:lumMod val="65000"/>
                  </a:schemeClr>
                </a:solidFill>
                <a:latin typeface="Times New Roman" panose="02020603050405020304" pitchFamily="18" charset="0"/>
                <a:cs typeface="Times New Roman" panose="02020603050405020304" pitchFamily="18" charset="0"/>
              </a:rPr>
              <a:t>    </a:t>
            </a:r>
            <a:r>
              <a:rPr lang="en-US" sz="1800" dirty="0">
                <a:solidFill>
                  <a:schemeClr val="bg1">
                    <a:lumMod val="65000"/>
                  </a:schemeClr>
                </a:solidFill>
                <a:latin typeface="Times New Roman" panose="02020603050405020304" pitchFamily="18" charset="0"/>
                <a:cs typeface="Times New Roman" panose="02020603050405020304" pitchFamily="18" charset="0"/>
              </a:rPr>
              <a:t>// Insertion is done, set </a:t>
            </a:r>
            <a:r>
              <a:rPr lang="en-US" sz="1800" dirty="0" err="1">
                <a:solidFill>
                  <a:schemeClr val="bg1">
                    <a:lumMod val="65000"/>
                  </a:schemeClr>
                </a:solidFill>
                <a:latin typeface="Times New Roman" panose="02020603050405020304" pitchFamily="18" charset="0"/>
                <a:cs typeface="Times New Roman" panose="02020603050405020304" pitchFamily="18" charset="0"/>
              </a:rPr>
              <a:t>is_inserting</a:t>
            </a:r>
            <a:r>
              <a:rPr lang="en-US" sz="1800" dirty="0">
                <a:solidFill>
                  <a:schemeClr val="bg1">
                    <a:lumMod val="65000"/>
                  </a:schemeClr>
                </a:solidFill>
                <a:latin typeface="Times New Roman" panose="02020603050405020304" pitchFamily="18" charset="0"/>
                <a:cs typeface="Times New Roman" panose="02020603050405020304" pitchFamily="18" charset="0"/>
              </a:rPr>
              <a:t> to False</a:t>
            </a:r>
          </a:p>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is_inserting</a:t>
            </a:r>
            <a:r>
              <a:rPr lang="en-US" sz="1800" dirty="0">
                <a:solidFill>
                  <a:schemeClr val="tx1"/>
                </a:solidFill>
                <a:latin typeface="Times New Roman" panose="02020603050405020304" pitchFamily="18" charset="0"/>
                <a:cs typeface="Times New Roman" panose="02020603050405020304" pitchFamily="18" charset="0"/>
              </a:rPr>
              <a:t> = False</a:t>
            </a:r>
          </a:p>
          <a:p>
            <a:pPr marL="50800" indent="0">
              <a:lnSpc>
                <a:spcPct val="100000"/>
              </a:lnSpc>
              <a:spcBef>
                <a:spcPts val="0"/>
              </a:spcBef>
              <a:buNone/>
            </a:pPr>
            <a:endParaRPr lang="en-US" sz="1800" dirty="0">
              <a:solidFill>
                <a:schemeClr val="tx1"/>
              </a:solidFill>
              <a:latin typeface="Times New Roman" panose="02020603050405020304" pitchFamily="18" charset="0"/>
              <a:cs typeface="Times New Roman" panose="02020603050405020304" pitchFamily="18" charset="0"/>
            </a:endParaRPr>
          </a:p>
          <a:p>
            <a:pPr marL="50800" indent="0">
              <a:lnSpc>
                <a:spcPct val="100000"/>
              </a:lnSpc>
              <a:spcBef>
                <a:spcPts val="0"/>
              </a:spcBef>
              <a:buNone/>
            </a:pPr>
            <a:r>
              <a:rPr lang="en-US" sz="1800" dirty="0">
                <a:solidFill>
                  <a:schemeClr val="tx1"/>
                </a:solidFill>
                <a:latin typeface="Times New Roman" panose="02020603050405020304" pitchFamily="18" charset="0"/>
                <a:cs typeface="Times New Roman" panose="02020603050405020304" pitchFamily="18" charset="0"/>
              </a:rPr>
              <a:t>    return </a:t>
            </a:r>
            <a:r>
              <a:rPr lang="en-US" sz="1800" dirty="0" smtClean="0">
                <a:solidFill>
                  <a:schemeClr val="tx1"/>
                </a:solidFill>
                <a:latin typeface="Times New Roman" panose="02020603050405020304" pitchFamily="18" charset="0"/>
                <a:cs typeface="Times New Roman" panose="02020603050405020304" pitchFamily="18" charset="0"/>
              </a:rPr>
              <a:t>root</a:t>
            </a:r>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02297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 xmlns:a16="http://schemas.microsoft.com/office/drawing/2014/main" id="{98058B23-DDE2-4F62-9A2E-46739C3C685F}"/>
              </a:ext>
            </a:extLst>
          </p:cNvPr>
          <p:cNvSpPr>
            <a:spLocks noGrp="1"/>
          </p:cNvSpPr>
          <p:nvPr>
            <p:ph type="title"/>
          </p:nvPr>
        </p:nvSpPr>
        <p:spPr/>
        <p:txBody>
          <a:bodyPr/>
          <a:lstStyle/>
          <a:p>
            <a:pPr algn="ctr"/>
            <a:r>
              <a:rPr lang="en-US" dirty="0" smtClean="0">
                <a:solidFill>
                  <a:srgbClr val="C00000"/>
                </a:solidFill>
                <a:latin typeface="Marcellus" panose="020E0602050203020307" pitchFamily="34" charset="0"/>
              </a:rPr>
              <a:t>Hardware </a:t>
            </a:r>
            <a:r>
              <a:rPr lang="en-US" dirty="0">
                <a:solidFill>
                  <a:srgbClr val="C00000"/>
                </a:solidFill>
                <a:latin typeface="Marcellus" panose="020E0602050203020307" pitchFamily="34" charset="0"/>
              </a:rPr>
              <a:t>Synchronization</a:t>
            </a:r>
            <a:endParaRPr lang="en-US" dirty="0"/>
          </a:p>
        </p:txBody>
      </p:sp>
      <p:pic>
        <p:nvPicPr>
          <p:cNvPr id="4" name="Picture 3">
            <a:extLst>
              <a:ext uri="{FF2B5EF4-FFF2-40B4-BE49-F238E27FC236}">
                <a16:creationId xmlns="" xmlns:a16="http://schemas.microsoft.com/office/drawing/2014/main" id="{8026AED6-E793-48A3-96AF-36A0D1FE2D70}"/>
              </a:ext>
            </a:extLst>
          </p:cNvPr>
          <p:cNvPicPr>
            <a:picLocks noChangeAspect="1"/>
          </p:cNvPicPr>
          <p:nvPr/>
        </p:nvPicPr>
        <p:blipFill>
          <a:blip r:embed="rId2"/>
          <a:stretch>
            <a:fillRect/>
          </a:stretch>
        </p:blipFill>
        <p:spPr>
          <a:xfrm>
            <a:off x="605" y="2219"/>
            <a:ext cx="566958" cy="6855781"/>
          </a:xfrm>
          <a:prstGeom prst="rect">
            <a:avLst/>
          </a:prstGeom>
        </p:spPr>
      </p:pic>
      <p:pic>
        <p:nvPicPr>
          <p:cNvPr id="5" name="Picture 4">
            <a:extLst>
              <a:ext uri="{FF2B5EF4-FFF2-40B4-BE49-F238E27FC236}">
                <a16:creationId xmlns="" xmlns:a16="http://schemas.microsoft.com/office/drawing/2014/main" id="{98F5ADD7-F579-4B31-B088-24730AEA76C9}"/>
              </a:ext>
            </a:extLst>
          </p:cNvPr>
          <p:cNvPicPr>
            <a:picLocks noChangeAspect="1"/>
          </p:cNvPicPr>
          <p:nvPr/>
        </p:nvPicPr>
        <p:blipFill>
          <a:blip r:embed="rId3"/>
          <a:stretch>
            <a:fillRect/>
          </a:stretch>
        </p:blipFill>
        <p:spPr>
          <a:xfrm>
            <a:off x="567563" y="0"/>
            <a:ext cx="209677" cy="5440680"/>
          </a:xfrm>
          <a:prstGeom prst="rect">
            <a:avLst/>
          </a:prstGeom>
        </p:spPr>
      </p:pic>
      <p:pic>
        <p:nvPicPr>
          <p:cNvPr id="11" name="Picture 10" descr="A close up of a sign&#10;&#10;Description automatically generated">
            <a:extLst>
              <a:ext uri="{FF2B5EF4-FFF2-40B4-BE49-F238E27FC236}">
                <a16:creationId xmlns="" xmlns:a16="http://schemas.microsoft.com/office/drawing/2014/main" id="{C8EA3854-8902-4417-899A-DE9CBF528C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35239" y="5830821"/>
            <a:ext cx="868683" cy="647487"/>
          </a:xfrm>
          <a:prstGeom prst="rect">
            <a:avLst/>
          </a:prstGeom>
        </p:spPr>
      </p:pic>
      <p:pic>
        <p:nvPicPr>
          <p:cNvPr id="6" name="Picture 5" descr="A picture containing drawing&#10;&#10;Description automatically generated">
            <a:extLst>
              <a:ext uri="{FF2B5EF4-FFF2-40B4-BE49-F238E27FC236}">
                <a16:creationId xmlns="" xmlns:a16="http://schemas.microsoft.com/office/drawing/2014/main" id="{DA3B82F8-7F36-4AE6-A785-76BCA479C67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7240" y="5828983"/>
            <a:ext cx="2655568" cy="663892"/>
          </a:xfrm>
          <a:prstGeom prst="rect">
            <a:avLst/>
          </a:prstGeom>
        </p:spPr>
      </p:pic>
      <p:sp>
        <p:nvSpPr>
          <p:cNvPr id="7" name="Date Placeholder 6"/>
          <p:cNvSpPr>
            <a:spLocks noGrp="1"/>
          </p:cNvSpPr>
          <p:nvPr>
            <p:ph type="dt" sz="half" idx="10"/>
          </p:nvPr>
        </p:nvSpPr>
        <p:spPr/>
        <p:txBody>
          <a:bodyPr/>
          <a:lstStyle/>
          <a:p>
            <a:fld id="{4FC844E8-8B31-4835-925B-D423316F4819}" type="datetime1">
              <a:rPr lang="en-US" smtClean="0"/>
              <a:t>11/11/2024</a:t>
            </a:fld>
            <a:endParaRPr lang="en-US"/>
          </a:p>
        </p:txBody>
      </p:sp>
    </p:spTree>
    <p:extLst>
      <p:ext uri="{BB962C8B-B14F-4D97-AF65-F5344CB8AC3E}">
        <p14:creationId xmlns:p14="http://schemas.microsoft.com/office/powerpoint/2010/main" val="7505053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66"/>
          <p:cNvSpPr txBox="1">
            <a:spLocks noGrp="1"/>
          </p:cNvSpPr>
          <p:nvPr>
            <p:ph type="title"/>
          </p:nvPr>
        </p:nvSpPr>
        <p:spPr>
          <a:xfrm>
            <a:off x="1089770" y="214826"/>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a:t>Hardware approaches to enforce mutual exclusion</a:t>
            </a:r>
            <a:endParaRPr/>
          </a:p>
        </p:txBody>
      </p:sp>
      <p:sp>
        <p:nvSpPr>
          <p:cNvPr id="671" name="Google Shape;671;p66"/>
          <p:cNvSpPr txBox="1">
            <a:spLocks noGrp="1"/>
          </p:cNvSpPr>
          <p:nvPr>
            <p:ph type="body" idx="1"/>
          </p:nvPr>
        </p:nvSpPr>
        <p:spPr>
          <a:xfrm>
            <a:off x="933339" y="1324633"/>
            <a:ext cx="109728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b="1"/>
              <a:t>Disabling interrupt</a:t>
            </a:r>
            <a:r>
              <a:rPr lang="en-US"/>
              <a:t> and </a:t>
            </a:r>
            <a:endParaRPr/>
          </a:p>
          <a:p>
            <a:pPr marL="285750" lvl="0" indent="-285750" algn="l" rtl="0">
              <a:lnSpc>
                <a:spcPct val="90000"/>
              </a:lnSpc>
              <a:spcBef>
                <a:spcPts val="1000"/>
              </a:spcBef>
              <a:spcAft>
                <a:spcPts val="0"/>
              </a:spcAft>
              <a:buClr>
                <a:schemeClr val="dk1"/>
              </a:buClr>
              <a:buSzPts val="2800"/>
              <a:buFont typeface="Arial"/>
              <a:buChar char="•"/>
            </a:pPr>
            <a:r>
              <a:rPr lang="en-US" b="1"/>
              <a:t>Use of special instructions</a:t>
            </a:r>
            <a:r>
              <a:rPr lang="en-US"/>
              <a:t>.</a:t>
            </a:r>
            <a:endParaRPr/>
          </a:p>
        </p:txBody>
      </p:sp>
      <p:sp>
        <p:nvSpPr>
          <p:cNvPr id="672" name="Google Shape;672;p66"/>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t" anchorCtr="0">
            <a:noAutofit/>
          </a:bodyPr>
          <a:lstStyle/>
          <a:p>
            <a:fld id="{3543BDD8-7068-454C-AC23-3E21BC55173D}" type="datetime1">
              <a:rPr lang="en-US" smtClean="0">
                <a:solidFill>
                  <a:srgbClr val="000000"/>
                </a:solidFill>
              </a:rPr>
              <a:t>11/11/2024</a:t>
            </a:fld>
            <a:endParaRPr>
              <a:solidFill>
                <a:srgbClr val="000000"/>
              </a:solidFill>
            </a:endParaRPr>
          </a:p>
        </p:txBody>
      </p:sp>
    </p:spTree>
    <p:extLst>
      <p:ext uri="{BB962C8B-B14F-4D97-AF65-F5344CB8AC3E}">
        <p14:creationId xmlns:p14="http://schemas.microsoft.com/office/powerpoint/2010/main" val="8799712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67"/>
          <p:cNvSpPr txBox="1">
            <a:spLocks noGrp="1"/>
          </p:cNvSpPr>
          <p:nvPr>
            <p:ph type="title"/>
          </p:nvPr>
        </p:nvSpPr>
        <p:spPr>
          <a:xfrm>
            <a:off x="1089770" y="214826"/>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a:t>Disabling interrupt</a:t>
            </a:r>
            <a:endParaRPr/>
          </a:p>
        </p:txBody>
      </p:sp>
      <p:sp>
        <p:nvSpPr>
          <p:cNvPr id="679" name="Google Shape;679;p67"/>
          <p:cNvSpPr txBox="1">
            <a:spLocks noGrp="1"/>
          </p:cNvSpPr>
          <p:nvPr>
            <p:ph type="body" idx="1"/>
          </p:nvPr>
        </p:nvSpPr>
        <p:spPr>
          <a:xfrm>
            <a:off x="933339" y="908727"/>
            <a:ext cx="10972800" cy="5328591"/>
          </a:xfrm>
          <a:prstGeom prst="rect">
            <a:avLst/>
          </a:prstGeom>
          <a:noFill/>
          <a:ln>
            <a:noFill/>
          </a:ln>
        </p:spPr>
        <p:txBody>
          <a:bodyPr spcFirstLastPara="1" wrap="square" lIns="91425" tIns="45700" rIns="91425" bIns="45700" anchor="t" anchorCtr="0">
            <a:normAutofit/>
          </a:bodyPr>
          <a:lstStyle/>
          <a:p>
            <a:pPr marL="285750" lvl="0" indent="-285750" algn="l" rtl="0">
              <a:lnSpc>
                <a:spcPct val="120000"/>
              </a:lnSpc>
              <a:spcBef>
                <a:spcPts val="0"/>
              </a:spcBef>
              <a:spcAft>
                <a:spcPts val="0"/>
              </a:spcAft>
              <a:buClr>
                <a:schemeClr val="dk1"/>
              </a:buClr>
              <a:buSzPct val="100000"/>
              <a:buChar char="•"/>
            </a:pPr>
            <a:r>
              <a:rPr lang="en-US" dirty="0"/>
              <a:t>In a uniprocessor system, concurrent processes are not overlapped but they can only be interleaved. </a:t>
            </a:r>
            <a:endParaRPr dirty="0"/>
          </a:p>
          <a:p>
            <a:pPr marL="285750" lvl="0" indent="-285750" algn="l" rtl="0">
              <a:lnSpc>
                <a:spcPct val="120000"/>
              </a:lnSpc>
              <a:spcBef>
                <a:spcPts val="0"/>
              </a:spcBef>
              <a:spcAft>
                <a:spcPts val="0"/>
              </a:spcAft>
              <a:buClr>
                <a:schemeClr val="dk1"/>
              </a:buClr>
              <a:buSzPct val="100000"/>
              <a:buChar char="•"/>
            </a:pPr>
            <a:r>
              <a:rPr lang="en-US" dirty="0"/>
              <a:t>Furthermore, a process executes until it calls an OS service or until it is interrupted. </a:t>
            </a:r>
            <a:endParaRPr dirty="0"/>
          </a:p>
          <a:p>
            <a:pPr marL="285750" lvl="0" indent="-285750" algn="l" rtl="0">
              <a:lnSpc>
                <a:spcPct val="120000"/>
              </a:lnSpc>
              <a:spcBef>
                <a:spcPts val="0"/>
              </a:spcBef>
              <a:spcAft>
                <a:spcPts val="0"/>
              </a:spcAft>
              <a:buClr>
                <a:schemeClr val="dk1"/>
              </a:buClr>
              <a:buSzPct val="100000"/>
              <a:buChar char="•"/>
            </a:pPr>
            <a:r>
              <a:rPr lang="en-US" dirty="0"/>
              <a:t>Thus, it is sufficient to prevent a process from being interrupted to guarantee mutual exclusion, This capability can be provided in the form of primitives defined by the OS kernel for disabling and enabling interrupts</a:t>
            </a:r>
            <a:r>
              <a:rPr lang="en-US" dirty="0" smtClean="0"/>
              <a:t>.</a:t>
            </a:r>
            <a:endParaRPr dirty="0"/>
          </a:p>
        </p:txBody>
      </p:sp>
      <p:sp>
        <p:nvSpPr>
          <p:cNvPr id="680" name="Google Shape;680;p67"/>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t" anchorCtr="0">
            <a:noAutofit/>
          </a:bodyPr>
          <a:lstStyle/>
          <a:p>
            <a:fld id="{EAF79489-B9B0-4BB1-9DE6-B1ED8DCB7720}" type="datetime1">
              <a:rPr lang="en-US" smtClean="0">
                <a:solidFill>
                  <a:srgbClr val="000000"/>
                </a:solidFill>
              </a:rPr>
              <a:t>11/11/2024</a:t>
            </a:fld>
            <a:endParaRPr>
              <a:solidFill>
                <a:srgbClr val="000000"/>
              </a:solidFill>
            </a:endParaRPr>
          </a:p>
        </p:txBody>
      </p:sp>
    </p:spTree>
    <p:extLst>
      <p:ext uri="{BB962C8B-B14F-4D97-AF65-F5344CB8AC3E}">
        <p14:creationId xmlns:p14="http://schemas.microsoft.com/office/powerpoint/2010/main" val="412815081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67"/>
          <p:cNvSpPr txBox="1">
            <a:spLocks noGrp="1"/>
          </p:cNvSpPr>
          <p:nvPr>
            <p:ph type="title"/>
          </p:nvPr>
        </p:nvSpPr>
        <p:spPr>
          <a:xfrm>
            <a:off x="1089770" y="214826"/>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a:t>Disabling interrupt</a:t>
            </a:r>
            <a:endParaRPr/>
          </a:p>
        </p:txBody>
      </p:sp>
      <p:sp>
        <p:nvSpPr>
          <p:cNvPr id="679" name="Google Shape;679;p67"/>
          <p:cNvSpPr txBox="1">
            <a:spLocks noGrp="1"/>
          </p:cNvSpPr>
          <p:nvPr>
            <p:ph type="body" idx="1"/>
          </p:nvPr>
        </p:nvSpPr>
        <p:spPr>
          <a:xfrm>
            <a:off x="933339" y="908727"/>
            <a:ext cx="10972800" cy="5328591"/>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Clr>
                <a:schemeClr val="dk1"/>
              </a:buClr>
              <a:buSzPct val="100000"/>
              <a:buNone/>
            </a:pPr>
            <a:endParaRPr dirty="0"/>
          </a:p>
          <a:p>
            <a:pPr marL="0" lvl="0" indent="0" algn="l" rtl="0">
              <a:lnSpc>
                <a:spcPct val="120000"/>
              </a:lnSpc>
              <a:spcBef>
                <a:spcPts val="0"/>
              </a:spcBef>
              <a:spcAft>
                <a:spcPts val="0"/>
              </a:spcAft>
              <a:buClr>
                <a:schemeClr val="dk1"/>
              </a:buClr>
              <a:buSzPct val="100000"/>
              <a:buNone/>
            </a:pPr>
            <a:r>
              <a:rPr lang="en-US" i="1" u="sng" dirty="0"/>
              <a:t>The pseudo code:</a:t>
            </a:r>
            <a:endParaRPr dirty="0"/>
          </a:p>
          <a:p>
            <a:pPr marL="0" lvl="0" indent="0" algn="l" rtl="0">
              <a:lnSpc>
                <a:spcPct val="120000"/>
              </a:lnSpc>
              <a:spcBef>
                <a:spcPts val="0"/>
              </a:spcBef>
              <a:spcAft>
                <a:spcPts val="0"/>
              </a:spcAft>
              <a:buClr>
                <a:schemeClr val="dk1"/>
              </a:buClr>
              <a:buSzPct val="100000"/>
              <a:buNone/>
            </a:pPr>
            <a:r>
              <a:rPr lang="en-US" dirty="0"/>
              <a:t>while (true) {</a:t>
            </a:r>
            <a:endParaRPr dirty="0"/>
          </a:p>
          <a:p>
            <a:pPr marL="0" lvl="0" indent="0" algn="l" rtl="0">
              <a:lnSpc>
                <a:spcPct val="120000"/>
              </a:lnSpc>
              <a:spcBef>
                <a:spcPts val="0"/>
              </a:spcBef>
              <a:spcAft>
                <a:spcPts val="0"/>
              </a:spcAft>
              <a:buClr>
                <a:schemeClr val="dk1"/>
              </a:buClr>
              <a:buSzPct val="100000"/>
              <a:buNone/>
            </a:pPr>
            <a:r>
              <a:rPr lang="en-US" dirty="0"/>
              <a:t>/* disable interrupts */;</a:t>
            </a:r>
            <a:endParaRPr dirty="0"/>
          </a:p>
          <a:p>
            <a:pPr marL="0" lvl="0" indent="0" algn="l" rtl="0">
              <a:lnSpc>
                <a:spcPct val="120000"/>
              </a:lnSpc>
              <a:spcBef>
                <a:spcPts val="0"/>
              </a:spcBef>
              <a:spcAft>
                <a:spcPts val="0"/>
              </a:spcAft>
              <a:buClr>
                <a:schemeClr val="dk1"/>
              </a:buClr>
              <a:buSzPct val="100000"/>
              <a:buNone/>
            </a:pPr>
            <a:r>
              <a:rPr lang="en-US" dirty="0"/>
              <a:t>/* critical section */;</a:t>
            </a:r>
            <a:endParaRPr dirty="0"/>
          </a:p>
          <a:p>
            <a:pPr marL="0" lvl="0" indent="0" algn="l" rtl="0">
              <a:lnSpc>
                <a:spcPct val="120000"/>
              </a:lnSpc>
              <a:spcBef>
                <a:spcPts val="0"/>
              </a:spcBef>
              <a:spcAft>
                <a:spcPts val="0"/>
              </a:spcAft>
              <a:buClr>
                <a:schemeClr val="dk1"/>
              </a:buClr>
              <a:buSzPct val="100000"/>
              <a:buNone/>
            </a:pPr>
            <a:r>
              <a:rPr lang="en-US" dirty="0"/>
              <a:t>/* enable interrupts */;</a:t>
            </a:r>
            <a:endParaRPr dirty="0"/>
          </a:p>
          <a:p>
            <a:pPr marL="0" lvl="0" indent="0" algn="l" rtl="0">
              <a:lnSpc>
                <a:spcPct val="120000"/>
              </a:lnSpc>
              <a:spcBef>
                <a:spcPts val="0"/>
              </a:spcBef>
              <a:spcAft>
                <a:spcPts val="0"/>
              </a:spcAft>
              <a:buClr>
                <a:schemeClr val="dk1"/>
              </a:buClr>
              <a:buSzPct val="100000"/>
              <a:buNone/>
            </a:pPr>
            <a:r>
              <a:rPr lang="en-US" dirty="0"/>
              <a:t>/* remainder */;</a:t>
            </a:r>
            <a:endParaRPr dirty="0"/>
          </a:p>
          <a:p>
            <a:pPr marL="0" lvl="0" indent="0" algn="l" rtl="0">
              <a:lnSpc>
                <a:spcPct val="120000"/>
              </a:lnSpc>
              <a:spcBef>
                <a:spcPts val="0"/>
              </a:spcBef>
              <a:spcAft>
                <a:spcPts val="0"/>
              </a:spcAft>
              <a:buClr>
                <a:schemeClr val="dk1"/>
              </a:buClr>
              <a:buSzPct val="100000"/>
              <a:buNone/>
            </a:pPr>
            <a:r>
              <a:rPr lang="en-US" dirty="0" smtClean="0"/>
              <a:t>}</a:t>
            </a:r>
            <a:endParaRPr dirty="0"/>
          </a:p>
        </p:txBody>
      </p:sp>
      <p:sp>
        <p:nvSpPr>
          <p:cNvPr id="680" name="Google Shape;680;p67"/>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t" anchorCtr="0">
            <a:noAutofit/>
          </a:bodyPr>
          <a:lstStyle/>
          <a:p>
            <a:fld id="{EAF79489-B9B0-4BB1-9DE6-B1ED8DCB7720}" type="datetime1">
              <a:rPr lang="en-US" smtClean="0">
                <a:solidFill>
                  <a:srgbClr val="000000"/>
                </a:solidFill>
              </a:rPr>
              <a:t>11/11/2024</a:t>
            </a:fld>
            <a:endParaRPr>
              <a:solidFill>
                <a:srgbClr val="000000"/>
              </a:solidFill>
            </a:endParaRPr>
          </a:p>
        </p:txBody>
      </p:sp>
    </p:spTree>
    <p:extLst>
      <p:ext uri="{BB962C8B-B14F-4D97-AF65-F5344CB8AC3E}">
        <p14:creationId xmlns:p14="http://schemas.microsoft.com/office/powerpoint/2010/main" val="11303796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67"/>
          <p:cNvSpPr txBox="1">
            <a:spLocks noGrp="1"/>
          </p:cNvSpPr>
          <p:nvPr>
            <p:ph type="title"/>
          </p:nvPr>
        </p:nvSpPr>
        <p:spPr>
          <a:xfrm>
            <a:off x="1089770" y="214826"/>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dirty="0" smtClean="0"/>
              <a:t>Analysis: Disabling </a:t>
            </a:r>
            <a:r>
              <a:rPr lang="en-US" b="1" dirty="0"/>
              <a:t>interrupt</a:t>
            </a:r>
            <a:endParaRPr dirty="0"/>
          </a:p>
        </p:txBody>
      </p:sp>
      <p:sp>
        <p:nvSpPr>
          <p:cNvPr id="679" name="Google Shape;679;p67"/>
          <p:cNvSpPr txBox="1">
            <a:spLocks noGrp="1"/>
          </p:cNvSpPr>
          <p:nvPr>
            <p:ph type="body" idx="1"/>
          </p:nvPr>
        </p:nvSpPr>
        <p:spPr>
          <a:xfrm>
            <a:off x="933339" y="908727"/>
            <a:ext cx="10972800" cy="5328591"/>
          </a:xfrm>
          <a:prstGeom prst="rect">
            <a:avLst/>
          </a:prstGeom>
          <a:noFill/>
          <a:ln>
            <a:noFill/>
          </a:ln>
        </p:spPr>
        <p:txBody>
          <a:bodyPr spcFirstLastPara="1" wrap="square" lIns="91425" tIns="45700" rIns="91425" bIns="45700" anchor="t" anchorCtr="0">
            <a:normAutofit/>
          </a:bodyPr>
          <a:lstStyle/>
          <a:p>
            <a:pPr marL="285750" lvl="0" indent="-285750" algn="l" rtl="0">
              <a:lnSpc>
                <a:spcPct val="120000"/>
              </a:lnSpc>
              <a:spcBef>
                <a:spcPts val="0"/>
              </a:spcBef>
              <a:spcAft>
                <a:spcPts val="0"/>
              </a:spcAft>
              <a:buClr>
                <a:schemeClr val="dk1"/>
              </a:buClr>
              <a:buSzPct val="100000"/>
              <a:buChar char="•"/>
            </a:pPr>
            <a:r>
              <a:rPr lang="en-US" dirty="0" smtClean="0"/>
              <a:t>As </a:t>
            </a:r>
            <a:r>
              <a:rPr lang="en-US" dirty="0"/>
              <a:t>the processes are not interrupted, the mutual exclusion is guaranteed. </a:t>
            </a:r>
            <a:endParaRPr dirty="0"/>
          </a:p>
          <a:p>
            <a:pPr marL="285750" lvl="0" indent="-285750" algn="l" rtl="0">
              <a:lnSpc>
                <a:spcPct val="120000"/>
              </a:lnSpc>
              <a:spcBef>
                <a:spcPts val="0"/>
              </a:spcBef>
              <a:spcAft>
                <a:spcPts val="0"/>
              </a:spcAft>
              <a:buClr>
                <a:schemeClr val="dk1"/>
              </a:buClr>
              <a:buSzPct val="100000"/>
              <a:buChar char="•"/>
            </a:pPr>
            <a:r>
              <a:rPr lang="en-US" dirty="0"/>
              <a:t>seems simple, </a:t>
            </a:r>
            <a:r>
              <a:rPr lang="en-US" dirty="0">
                <a:solidFill>
                  <a:srgbClr val="C00000"/>
                </a:solidFill>
              </a:rPr>
              <a:t>the price paid for the same is very high</a:t>
            </a:r>
            <a:r>
              <a:rPr lang="en-US" dirty="0"/>
              <a:t>. </a:t>
            </a:r>
            <a:endParaRPr dirty="0"/>
          </a:p>
          <a:p>
            <a:pPr marL="285750" lvl="0" indent="-285750" algn="l" rtl="0">
              <a:lnSpc>
                <a:spcPct val="120000"/>
              </a:lnSpc>
              <a:spcBef>
                <a:spcPts val="0"/>
              </a:spcBef>
              <a:spcAft>
                <a:spcPts val="0"/>
              </a:spcAft>
              <a:buClr>
                <a:schemeClr val="dk1"/>
              </a:buClr>
              <a:buSzPct val="100000"/>
              <a:buChar char="•"/>
            </a:pPr>
            <a:r>
              <a:rPr lang="en-US" dirty="0"/>
              <a:t>As the processor is not allowed to interleave the processes, the </a:t>
            </a:r>
            <a:r>
              <a:rPr lang="en-US" dirty="0">
                <a:solidFill>
                  <a:srgbClr val="C00000"/>
                </a:solidFill>
              </a:rPr>
              <a:t>efficiency and overall system performance degrades significantly.  </a:t>
            </a:r>
            <a:endParaRPr dirty="0">
              <a:solidFill>
                <a:srgbClr val="C00000"/>
              </a:solidFill>
            </a:endParaRPr>
          </a:p>
          <a:p>
            <a:pPr marL="285750" lvl="0" indent="-285750" algn="l" rtl="0">
              <a:lnSpc>
                <a:spcPct val="120000"/>
              </a:lnSpc>
              <a:spcBef>
                <a:spcPts val="0"/>
              </a:spcBef>
              <a:spcAft>
                <a:spcPts val="0"/>
              </a:spcAft>
              <a:buClr>
                <a:schemeClr val="dk1"/>
              </a:buClr>
              <a:buSzPct val="100000"/>
              <a:buChar char="•"/>
            </a:pPr>
            <a:r>
              <a:rPr lang="en-US" dirty="0"/>
              <a:t>Also, this particular solution will </a:t>
            </a:r>
            <a:r>
              <a:rPr lang="en-US" dirty="0">
                <a:solidFill>
                  <a:srgbClr val="C00000"/>
                </a:solidFill>
              </a:rPr>
              <a:t>not work with multiprocessor architecture. </a:t>
            </a:r>
            <a:endParaRPr dirty="0">
              <a:solidFill>
                <a:srgbClr val="C00000"/>
              </a:solidFill>
            </a:endParaRPr>
          </a:p>
          <a:p>
            <a:pPr marL="285750" lvl="0" indent="-285750" algn="l" rtl="0">
              <a:lnSpc>
                <a:spcPct val="120000"/>
              </a:lnSpc>
              <a:spcBef>
                <a:spcPts val="0"/>
              </a:spcBef>
              <a:spcAft>
                <a:spcPts val="0"/>
              </a:spcAft>
              <a:buClr>
                <a:schemeClr val="dk1"/>
              </a:buClr>
              <a:buSzPct val="100000"/>
              <a:buChar char="•"/>
            </a:pPr>
            <a:r>
              <a:rPr lang="en-US" dirty="0"/>
              <a:t>When the computer includes more than one processor, it is possible (and typical) for more than one process to be executing at a time. In this case, </a:t>
            </a:r>
            <a:r>
              <a:rPr lang="en-US" dirty="0">
                <a:solidFill>
                  <a:srgbClr val="C00000"/>
                </a:solidFill>
              </a:rPr>
              <a:t>disabled interrupts do not guarantee mutual exclusion.</a:t>
            </a:r>
            <a:endParaRPr dirty="0">
              <a:solidFill>
                <a:srgbClr val="C00000"/>
              </a:solidFill>
            </a:endParaRPr>
          </a:p>
        </p:txBody>
      </p:sp>
      <p:sp>
        <p:nvSpPr>
          <p:cNvPr id="680" name="Google Shape;680;p67"/>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t" anchorCtr="0">
            <a:noAutofit/>
          </a:bodyPr>
          <a:lstStyle/>
          <a:p>
            <a:fld id="{EAF79489-B9B0-4BB1-9DE6-B1ED8DCB7720}" type="datetime1">
              <a:rPr lang="en-US" smtClean="0">
                <a:solidFill>
                  <a:srgbClr val="000000"/>
                </a:solidFill>
              </a:rPr>
              <a:t>11/11/2024</a:t>
            </a:fld>
            <a:endParaRPr>
              <a:solidFill>
                <a:srgbClr val="000000"/>
              </a:solidFill>
            </a:endParaRPr>
          </a:p>
        </p:txBody>
      </p:sp>
    </p:spTree>
    <p:extLst>
      <p:ext uri="{BB962C8B-B14F-4D97-AF65-F5344CB8AC3E}">
        <p14:creationId xmlns:p14="http://schemas.microsoft.com/office/powerpoint/2010/main" val="172799680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68"/>
          <p:cNvSpPr txBox="1">
            <a:spLocks noGrp="1"/>
          </p:cNvSpPr>
          <p:nvPr>
            <p:ph type="title"/>
          </p:nvPr>
        </p:nvSpPr>
        <p:spPr>
          <a:xfrm>
            <a:off x="1089770" y="214826"/>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a:t>Special Machine Instructions: </a:t>
            </a:r>
            <a:r>
              <a:rPr lang="en-US"/>
              <a:t/>
            </a:r>
            <a:br>
              <a:rPr lang="en-US"/>
            </a:br>
            <a:endParaRPr/>
          </a:p>
        </p:txBody>
      </p:sp>
      <p:sp>
        <p:nvSpPr>
          <p:cNvPr id="687" name="Google Shape;687;p68"/>
          <p:cNvSpPr txBox="1">
            <a:spLocks noGrp="1"/>
          </p:cNvSpPr>
          <p:nvPr>
            <p:ph type="body" idx="1"/>
          </p:nvPr>
        </p:nvSpPr>
        <p:spPr>
          <a:xfrm>
            <a:off x="933339" y="1324633"/>
            <a:ext cx="109728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ct val="100000"/>
              <a:buFont typeface="Arial"/>
              <a:buChar char="•"/>
            </a:pPr>
            <a:r>
              <a:rPr lang="en-US" dirty="0"/>
              <a:t>In a multiprocessor systems, several processors share main memory.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Moreover, the interrupt disabling cannot help the mutual exclusion. </a:t>
            </a:r>
            <a:endParaRPr lang="en-US" dirty="0" smtClean="0"/>
          </a:p>
          <a:p>
            <a:r>
              <a:rPr lang="en-IN" sz="2400" dirty="0"/>
              <a:t>Special Atomic Hardware Instructions-</a:t>
            </a:r>
          </a:p>
          <a:p>
            <a:pPr lvl="1"/>
            <a:r>
              <a:rPr lang="en-IN" sz="2000" dirty="0">
                <a:latin typeface="Marcellus"/>
              </a:rPr>
              <a:t>Atomic = </a:t>
            </a:r>
            <a:r>
              <a:rPr lang="en-IN" sz="2000" dirty="0" smtClean="0">
                <a:latin typeface="Marcellus"/>
              </a:rPr>
              <a:t>Non-Interruptible</a:t>
            </a:r>
            <a:endParaRPr lang="en-IN" sz="2000" dirty="0">
              <a:latin typeface="Marcellus"/>
            </a:endParaRPr>
          </a:p>
          <a:p>
            <a:pPr marL="285750" lvl="0" indent="-285750" algn="l" rtl="0">
              <a:lnSpc>
                <a:spcPct val="90000"/>
              </a:lnSpc>
              <a:spcBef>
                <a:spcPts val="1000"/>
              </a:spcBef>
              <a:spcAft>
                <a:spcPts val="0"/>
              </a:spcAft>
              <a:buClr>
                <a:schemeClr val="dk1"/>
              </a:buClr>
              <a:buSzPct val="100000"/>
              <a:buFont typeface="Arial"/>
              <a:buChar char="•"/>
            </a:pPr>
            <a:r>
              <a:rPr lang="en-US" dirty="0" smtClean="0"/>
              <a:t>So </a:t>
            </a:r>
            <a:r>
              <a:rPr lang="en-US" dirty="0"/>
              <a:t>to give mutually exclusive access to any memory location the processor designers have proposed several machine instructions that carry out some actions atomically, with one instruction fetch cycle.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 Examples: </a:t>
            </a:r>
            <a:r>
              <a:rPr lang="en-US" dirty="0" err="1"/>
              <a:t>compare&amp;Swap</a:t>
            </a:r>
            <a:r>
              <a:rPr lang="en-US" dirty="0"/>
              <a:t>, </a:t>
            </a:r>
            <a:r>
              <a:rPr lang="en-US" dirty="0" err="1"/>
              <a:t>test&amp;set</a:t>
            </a:r>
            <a:r>
              <a:rPr lang="en-US" dirty="0"/>
              <a:t>, Exchange, </a:t>
            </a:r>
            <a:r>
              <a:rPr lang="en-US" dirty="0" err="1" smtClean="0"/>
              <a:t>etc</a:t>
            </a:r>
            <a:endParaRPr dirty="0"/>
          </a:p>
        </p:txBody>
      </p:sp>
      <p:sp>
        <p:nvSpPr>
          <p:cNvPr id="688" name="Google Shape;688;p68"/>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t" anchorCtr="0">
            <a:noAutofit/>
          </a:bodyPr>
          <a:lstStyle/>
          <a:p>
            <a:fld id="{8287827F-029D-4E16-8005-021836448D0F}" type="datetime1">
              <a:rPr lang="en-US" smtClean="0">
                <a:solidFill>
                  <a:srgbClr val="000000"/>
                </a:solidFill>
              </a:rPr>
              <a:t>11/11/2024</a:t>
            </a:fld>
            <a:endParaRPr>
              <a:solidFill>
                <a:srgbClr val="000000"/>
              </a:solidFill>
            </a:endParaRPr>
          </a:p>
        </p:txBody>
      </p:sp>
    </p:spTree>
    <p:extLst>
      <p:ext uri="{BB962C8B-B14F-4D97-AF65-F5344CB8AC3E}">
        <p14:creationId xmlns:p14="http://schemas.microsoft.com/office/powerpoint/2010/main" val="14854599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68"/>
          <p:cNvSpPr txBox="1">
            <a:spLocks noGrp="1"/>
          </p:cNvSpPr>
          <p:nvPr>
            <p:ph type="title"/>
          </p:nvPr>
        </p:nvSpPr>
        <p:spPr>
          <a:xfrm>
            <a:off x="1089770" y="214826"/>
            <a:ext cx="9870511" cy="874951"/>
          </a:xfrm>
          <a:prstGeom prst="rect">
            <a:avLst/>
          </a:prstGeom>
          <a:noFill/>
          <a:ln>
            <a:noFill/>
          </a:ln>
        </p:spPr>
        <p:txBody>
          <a:bodyPr spcFirstLastPara="1" wrap="square" lIns="91425" tIns="45700" rIns="91425" bIns="45700" anchor="t" anchorCtr="0">
            <a:noAutofit/>
          </a:bodyPr>
          <a:lstStyle/>
          <a:p>
            <a:r>
              <a:rPr lang="en-US" b="1" dirty="0"/>
              <a:t>Special Machine Instructions: Compare &amp; Swap </a:t>
            </a:r>
            <a:r>
              <a:rPr lang="en-US" dirty="0"/>
              <a:t/>
            </a:r>
            <a:br>
              <a:rPr lang="en-US" dirty="0"/>
            </a:br>
            <a:endParaRPr dirty="0"/>
          </a:p>
        </p:txBody>
      </p:sp>
      <p:sp>
        <p:nvSpPr>
          <p:cNvPr id="687" name="Google Shape;687;p68"/>
          <p:cNvSpPr txBox="1">
            <a:spLocks noGrp="1"/>
          </p:cNvSpPr>
          <p:nvPr>
            <p:ph type="body" idx="1"/>
          </p:nvPr>
        </p:nvSpPr>
        <p:spPr>
          <a:xfrm>
            <a:off x="933339" y="1324633"/>
            <a:ext cx="10972800" cy="45259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ct val="100000"/>
              <a:buNone/>
            </a:pPr>
            <a:r>
              <a:rPr lang="en-US" b="1" dirty="0" smtClean="0"/>
              <a:t>Compare </a:t>
            </a:r>
            <a:r>
              <a:rPr lang="en-US" b="1" dirty="0"/>
              <a:t>&amp; Swap Instruction </a:t>
            </a:r>
            <a:endParaRPr dirty="0"/>
          </a:p>
          <a:p>
            <a:pPr marL="0" lvl="0" indent="0" algn="l" rtl="0">
              <a:lnSpc>
                <a:spcPct val="90000"/>
              </a:lnSpc>
              <a:spcBef>
                <a:spcPts val="1000"/>
              </a:spcBef>
              <a:spcAft>
                <a:spcPts val="0"/>
              </a:spcAft>
              <a:buClr>
                <a:schemeClr val="dk1"/>
              </a:buClr>
              <a:buSzPct val="100000"/>
              <a:buNone/>
            </a:pPr>
            <a:r>
              <a:rPr lang="en-US" b="1" dirty="0" err="1"/>
              <a:t>int</a:t>
            </a:r>
            <a:r>
              <a:rPr lang="en-US" b="1" dirty="0"/>
              <a:t> </a:t>
            </a:r>
            <a:r>
              <a:rPr lang="en-US" dirty="0" err="1"/>
              <a:t>compare_and_swap</a:t>
            </a:r>
            <a:r>
              <a:rPr lang="en-US" dirty="0"/>
              <a:t> (</a:t>
            </a:r>
            <a:r>
              <a:rPr lang="en-US" b="1" dirty="0" err="1"/>
              <a:t>int</a:t>
            </a:r>
            <a:r>
              <a:rPr lang="en-US" b="1" dirty="0"/>
              <a:t> </a:t>
            </a:r>
            <a:r>
              <a:rPr lang="en-US" dirty="0"/>
              <a:t>*word, </a:t>
            </a:r>
            <a:r>
              <a:rPr lang="en-US" b="1" dirty="0" err="1"/>
              <a:t>int</a:t>
            </a:r>
            <a:r>
              <a:rPr lang="en-US" b="1" dirty="0"/>
              <a:t> </a:t>
            </a:r>
            <a:r>
              <a:rPr lang="en-US" dirty="0" err="1"/>
              <a:t>testvalue</a:t>
            </a:r>
            <a:r>
              <a:rPr lang="en-US" dirty="0"/>
              <a:t>, </a:t>
            </a:r>
            <a:r>
              <a:rPr lang="en-US" b="1" dirty="0" err="1"/>
              <a:t>int</a:t>
            </a:r>
            <a:r>
              <a:rPr lang="en-US" b="1" dirty="0"/>
              <a:t> </a:t>
            </a:r>
            <a:r>
              <a:rPr lang="en-US" dirty="0" err="1"/>
              <a:t>newvalue</a:t>
            </a:r>
            <a:r>
              <a:rPr lang="en-US" dirty="0"/>
              <a:t>)</a:t>
            </a:r>
            <a:endParaRPr dirty="0"/>
          </a:p>
          <a:p>
            <a:pPr marL="0" lvl="0" indent="0" algn="l" rtl="0">
              <a:lnSpc>
                <a:spcPct val="90000"/>
              </a:lnSpc>
              <a:spcBef>
                <a:spcPts val="1000"/>
              </a:spcBef>
              <a:spcAft>
                <a:spcPts val="0"/>
              </a:spcAft>
              <a:buClr>
                <a:schemeClr val="dk1"/>
              </a:buClr>
              <a:buSzPct val="100000"/>
              <a:buNone/>
            </a:pPr>
            <a:r>
              <a:rPr lang="en-US" dirty="0"/>
              <a:t>{</a:t>
            </a:r>
            <a:endParaRPr dirty="0"/>
          </a:p>
          <a:p>
            <a:pPr marL="0" lvl="0" indent="0" algn="l" rtl="0">
              <a:lnSpc>
                <a:spcPct val="90000"/>
              </a:lnSpc>
              <a:spcBef>
                <a:spcPts val="1000"/>
              </a:spcBef>
              <a:spcAft>
                <a:spcPts val="0"/>
              </a:spcAft>
              <a:buClr>
                <a:schemeClr val="dk1"/>
              </a:buClr>
              <a:buSzPct val="100000"/>
              <a:buNone/>
            </a:pPr>
            <a:r>
              <a:rPr lang="en-US" b="1" dirty="0" err="1"/>
              <a:t>int</a:t>
            </a:r>
            <a:r>
              <a:rPr lang="en-US" b="1" dirty="0"/>
              <a:t> </a:t>
            </a:r>
            <a:r>
              <a:rPr lang="en-US" dirty="0" err="1"/>
              <a:t>oldvalue</a:t>
            </a:r>
            <a:r>
              <a:rPr lang="en-US" dirty="0"/>
              <a:t>;</a:t>
            </a:r>
            <a:endParaRPr dirty="0"/>
          </a:p>
          <a:p>
            <a:pPr marL="0" lvl="0" indent="0" algn="l" rtl="0">
              <a:lnSpc>
                <a:spcPct val="90000"/>
              </a:lnSpc>
              <a:spcBef>
                <a:spcPts val="1000"/>
              </a:spcBef>
              <a:spcAft>
                <a:spcPts val="0"/>
              </a:spcAft>
              <a:buClr>
                <a:schemeClr val="dk1"/>
              </a:buClr>
              <a:buSzPct val="100000"/>
              <a:buNone/>
            </a:pPr>
            <a:r>
              <a:rPr lang="en-US" dirty="0" err="1"/>
              <a:t>oldvalue</a:t>
            </a:r>
            <a:r>
              <a:rPr lang="en-US" dirty="0"/>
              <a:t> = *word;</a:t>
            </a:r>
            <a:endParaRPr dirty="0"/>
          </a:p>
          <a:p>
            <a:pPr marL="0" lvl="0" indent="0" algn="l" rtl="0">
              <a:lnSpc>
                <a:spcPct val="90000"/>
              </a:lnSpc>
              <a:spcBef>
                <a:spcPts val="1000"/>
              </a:spcBef>
              <a:spcAft>
                <a:spcPts val="0"/>
              </a:spcAft>
              <a:buClr>
                <a:schemeClr val="dk1"/>
              </a:buClr>
              <a:buSzPct val="100000"/>
              <a:buNone/>
            </a:pPr>
            <a:r>
              <a:rPr lang="en-US" b="1" dirty="0"/>
              <a:t>if </a:t>
            </a:r>
            <a:r>
              <a:rPr lang="en-US" dirty="0"/>
              <a:t>(</a:t>
            </a:r>
            <a:r>
              <a:rPr lang="en-US" dirty="0" err="1"/>
              <a:t>oldvalue</a:t>
            </a:r>
            <a:r>
              <a:rPr lang="en-US" dirty="0"/>
              <a:t> == </a:t>
            </a:r>
            <a:r>
              <a:rPr lang="en-US" dirty="0" err="1"/>
              <a:t>testvalue</a:t>
            </a:r>
            <a:r>
              <a:rPr lang="en-US" dirty="0"/>
              <a:t>) *word = </a:t>
            </a:r>
            <a:r>
              <a:rPr lang="en-US" dirty="0" err="1"/>
              <a:t>newvalue</a:t>
            </a:r>
            <a:r>
              <a:rPr lang="en-US" dirty="0"/>
              <a:t>;</a:t>
            </a:r>
            <a:endParaRPr dirty="0"/>
          </a:p>
          <a:p>
            <a:pPr marL="0" lvl="0" indent="0" algn="l" rtl="0">
              <a:lnSpc>
                <a:spcPct val="90000"/>
              </a:lnSpc>
              <a:spcBef>
                <a:spcPts val="1000"/>
              </a:spcBef>
              <a:spcAft>
                <a:spcPts val="0"/>
              </a:spcAft>
              <a:buClr>
                <a:schemeClr val="dk1"/>
              </a:buClr>
              <a:buSzPct val="100000"/>
              <a:buNone/>
            </a:pPr>
            <a:r>
              <a:rPr lang="en-US" b="1" dirty="0"/>
              <a:t>return </a:t>
            </a:r>
            <a:r>
              <a:rPr lang="en-US" dirty="0" err="1"/>
              <a:t>oldvalue</a:t>
            </a:r>
            <a:r>
              <a:rPr lang="en-US" dirty="0"/>
              <a:t>;</a:t>
            </a:r>
            <a:endParaRPr dirty="0"/>
          </a:p>
          <a:p>
            <a:pPr marL="0" lvl="0" indent="0" algn="l" rtl="0">
              <a:lnSpc>
                <a:spcPct val="90000"/>
              </a:lnSpc>
              <a:spcBef>
                <a:spcPts val="1000"/>
              </a:spcBef>
              <a:spcAft>
                <a:spcPts val="0"/>
              </a:spcAft>
              <a:buClr>
                <a:schemeClr val="dk1"/>
              </a:buClr>
              <a:buSzPct val="100000"/>
              <a:buNone/>
            </a:pPr>
            <a:r>
              <a:rPr lang="en-US" dirty="0"/>
              <a:t>}</a:t>
            </a:r>
            <a:endParaRPr dirty="0"/>
          </a:p>
          <a:p>
            <a:pPr marL="285750" lvl="0" indent="-161290" algn="l" rtl="0">
              <a:lnSpc>
                <a:spcPct val="90000"/>
              </a:lnSpc>
              <a:spcBef>
                <a:spcPts val="1000"/>
              </a:spcBef>
              <a:spcAft>
                <a:spcPts val="0"/>
              </a:spcAft>
              <a:buClr>
                <a:schemeClr val="dk1"/>
              </a:buClr>
              <a:buSzPct val="100000"/>
              <a:buFont typeface="Arial"/>
              <a:buNone/>
            </a:pPr>
            <a:endParaRPr dirty="0"/>
          </a:p>
        </p:txBody>
      </p:sp>
      <p:sp>
        <p:nvSpPr>
          <p:cNvPr id="688" name="Google Shape;688;p68"/>
          <p:cNvSpPr txBox="1">
            <a:spLocks noGrp="1"/>
          </p:cNvSpPr>
          <p:nvPr>
            <p:ph type="dt" idx="10"/>
          </p:nvPr>
        </p:nvSpPr>
        <p:spPr>
          <a:xfrm>
            <a:off x="838200" y="6356360"/>
            <a:ext cx="2743200" cy="365125"/>
          </a:xfrm>
          <a:prstGeom prst="rect">
            <a:avLst/>
          </a:prstGeom>
          <a:noFill/>
          <a:ln>
            <a:noFill/>
          </a:ln>
        </p:spPr>
        <p:txBody>
          <a:bodyPr spcFirstLastPara="1" wrap="square" lIns="91425" tIns="45700" rIns="91425" bIns="45700" anchor="t" anchorCtr="0">
            <a:noAutofit/>
          </a:bodyPr>
          <a:lstStyle/>
          <a:p>
            <a:fld id="{8287827F-029D-4E16-8005-021836448D0F}" type="datetime1">
              <a:rPr lang="en-US" smtClean="0">
                <a:solidFill>
                  <a:srgbClr val="000000"/>
                </a:solidFill>
              </a:rPr>
              <a:t>11/11/2024</a:t>
            </a:fld>
            <a:endParaRPr>
              <a:solidFill>
                <a:srgbClr val="000000"/>
              </a:solidFill>
            </a:endParaRPr>
          </a:p>
        </p:txBody>
      </p:sp>
    </p:spTree>
    <p:extLst>
      <p:ext uri="{BB962C8B-B14F-4D97-AF65-F5344CB8AC3E}">
        <p14:creationId xmlns:p14="http://schemas.microsoft.com/office/powerpoint/2010/main" val="34423133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err="1">
                <a:solidFill>
                  <a:srgbClr val="C00000"/>
                </a:solidFill>
                <a:latin typeface="Marcellus" panose="020E0602050203020307" pitchFamily="34" charset="0"/>
              </a:rPr>
              <a:t>test_and_set</a:t>
            </a:r>
            <a:r>
              <a:rPr lang="en-US" sz="3600" dirty="0">
                <a:solidFill>
                  <a:srgbClr val="C00000"/>
                </a:solidFill>
                <a:latin typeface="Marcellus" panose="020E0602050203020307" pitchFamily="34" charset="0"/>
              </a:rPr>
              <a:t>  Instruction </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1223455" y="0"/>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sp>
        <p:nvSpPr>
          <p:cNvPr id="3" name="Date Placeholder 2"/>
          <p:cNvSpPr>
            <a:spLocks noGrp="1"/>
          </p:cNvSpPr>
          <p:nvPr>
            <p:ph type="dt" sz="half" idx="4294967295"/>
          </p:nvPr>
        </p:nvSpPr>
        <p:spPr>
          <a:xfrm>
            <a:off x="838200" y="6356350"/>
            <a:ext cx="2743200" cy="365125"/>
          </a:xfrm>
          <a:prstGeom prst="rect">
            <a:avLst/>
          </a:prstGeom>
        </p:spPr>
        <p:txBody>
          <a:bodyPr/>
          <a:lstStyle/>
          <a:p>
            <a:fld id="{F82697C3-C124-4F37-B018-7A734B9E5928}"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dirty="0">
                <a:latin typeface="Marcellus"/>
              </a:rPr>
              <a:t>Definition:</a:t>
            </a:r>
          </a:p>
          <a:p>
            <a:pPr marL="0" indent="0">
              <a:buNone/>
            </a:pPr>
            <a:r>
              <a:rPr lang="en-IN" sz="2400" dirty="0">
                <a:latin typeface="Marcellus"/>
              </a:rPr>
              <a:t>       </a:t>
            </a:r>
            <a:r>
              <a:rPr lang="en-IN" sz="2400" dirty="0" err="1">
                <a:latin typeface="Marcellus"/>
              </a:rPr>
              <a:t>boolean</a:t>
            </a:r>
            <a:r>
              <a:rPr lang="en-IN" sz="2400" dirty="0">
                <a:latin typeface="Marcellus"/>
              </a:rPr>
              <a:t> </a:t>
            </a:r>
            <a:r>
              <a:rPr lang="en-IN" sz="2400" dirty="0" err="1">
                <a:latin typeface="Marcellus"/>
              </a:rPr>
              <a:t>test_and_set</a:t>
            </a:r>
            <a:r>
              <a:rPr lang="en-IN" sz="2400" dirty="0">
                <a:latin typeface="Marcellus"/>
              </a:rPr>
              <a:t> (</a:t>
            </a:r>
            <a:r>
              <a:rPr lang="en-IN" sz="2400" dirty="0" err="1">
                <a:latin typeface="Marcellus"/>
              </a:rPr>
              <a:t>boolean</a:t>
            </a:r>
            <a:r>
              <a:rPr lang="en-IN" sz="2400" dirty="0">
                <a:latin typeface="Marcellus"/>
              </a:rPr>
              <a:t> *target)</a:t>
            </a:r>
          </a:p>
          <a:p>
            <a:pPr marL="0" indent="0">
              <a:buNone/>
            </a:pPr>
            <a:r>
              <a:rPr lang="en-IN" sz="2400" dirty="0">
                <a:latin typeface="Marcellus"/>
              </a:rPr>
              <a:t>          {</a:t>
            </a:r>
          </a:p>
          <a:p>
            <a:pPr marL="0" indent="0">
              <a:buNone/>
            </a:pPr>
            <a:r>
              <a:rPr lang="en-IN" sz="2400" dirty="0">
                <a:latin typeface="Marcellus"/>
              </a:rPr>
              <a:t>               </a:t>
            </a:r>
            <a:r>
              <a:rPr lang="en-IN" sz="2400" dirty="0" err="1">
                <a:latin typeface="Marcellus"/>
              </a:rPr>
              <a:t>boolean</a:t>
            </a:r>
            <a:r>
              <a:rPr lang="en-IN" sz="2400" dirty="0">
                <a:latin typeface="Marcellus"/>
              </a:rPr>
              <a:t> </a:t>
            </a:r>
            <a:r>
              <a:rPr lang="en-IN" sz="2400" dirty="0" err="1">
                <a:latin typeface="Marcellus"/>
              </a:rPr>
              <a:t>rv</a:t>
            </a:r>
            <a:r>
              <a:rPr lang="en-IN" sz="2400" dirty="0">
                <a:latin typeface="Marcellus"/>
              </a:rPr>
              <a:t> = *target;</a:t>
            </a:r>
          </a:p>
          <a:p>
            <a:pPr marL="0" indent="0">
              <a:buNone/>
            </a:pPr>
            <a:r>
              <a:rPr lang="en-IN" sz="2400" dirty="0">
                <a:latin typeface="Marcellus"/>
              </a:rPr>
              <a:t>               *target = TRUE;</a:t>
            </a:r>
          </a:p>
          <a:p>
            <a:pPr marL="0" indent="0">
              <a:buNone/>
            </a:pPr>
            <a:r>
              <a:rPr lang="en-IN" sz="2400" dirty="0">
                <a:latin typeface="Marcellus"/>
              </a:rPr>
              <a:t>               return </a:t>
            </a:r>
            <a:r>
              <a:rPr lang="en-IN" sz="2400" dirty="0" err="1">
                <a:latin typeface="Marcellus"/>
              </a:rPr>
              <a:t>rv</a:t>
            </a:r>
            <a:r>
              <a:rPr lang="en-IN" sz="2400" dirty="0">
                <a:latin typeface="Marcellus"/>
              </a:rPr>
              <a:t>:</a:t>
            </a:r>
          </a:p>
          <a:p>
            <a:pPr marL="0" indent="0">
              <a:buNone/>
            </a:pPr>
            <a:r>
              <a:rPr lang="en-IN" sz="2400" dirty="0">
                <a:latin typeface="Marcellus"/>
              </a:rPr>
              <a:t>          }</a:t>
            </a:r>
          </a:p>
          <a:p>
            <a:r>
              <a:rPr lang="en-IN" sz="2400" dirty="0">
                <a:solidFill>
                  <a:srgbClr val="C00000"/>
                </a:solidFill>
                <a:latin typeface="Marcellus"/>
              </a:rPr>
              <a:t>Executed </a:t>
            </a:r>
            <a:r>
              <a:rPr lang="en-IN" sz="2400" dirty="0" smtClean="0">
                <a:solidFill>
                  <a:srgbClr val="C00000"/>
                </a:solidFill>
                <a:latin typeface="Marcellus"/>
              </a:rPr>
              <a:t>atomically</a:t>
            </a:r>
          </a:p>
          <a:p>
            <a:pPr lvl="1"/>
            <a:r>
              <a:rPr lang="en-IN" sz="2000" dirty="0">
                <a:latin typeface="Marcellus"/>
              </a:rPr>
              <a:t>If 2 test and set instructions are executed simultaneously , they will be executed sequentially in some </a:t>
            </a:r>
            <a:r>
              <a:rPr lang="en-IN" sz="2000" dirty="0" err="1">
                <a:latin typeface="Marcellus"/>
              </a:rPr>
              <a:t>arbitary</a:t>
            </a:r>
            <a:r>
              <a:rPr lang="en-IN" sz="2000" dirty="0">
                <a:latin typeface="Marcellus"/>
              </a:rPr>
              <a:t> order</a:t>
            </a:r>
            <a:r>
              <a:rPr lang="en-IN" sz="2000" dirty="0" smtClean="0">
                <a:latin typeface="Marcellus"/>
              </a:rPr>
              <a:t>.</a:t>
            </a:r>
          </a:p>
          <a:p>
            <a:r>
              <a:rPr lang="en-IN" sz="2400" dirty="0">
                <a:solidFill>
                  <a:srgbClr val="C00000"/>
                </a:solidFill>
                <a:latin typeface="Marcellus"/>
              </a:rPr>
              <a:t>Returns the original value </a:t>
            </a:r>
            <a:r>
              <a:rPr lang="en-IN" sz="2400" dirty="0">
                <a:latin typeface="Marcellus"/>
              </a:rPr>
              <a:t>of passed parameter </a:t>
            </a:r>
            <a:r>
              <a:rPr lang="en-IN" sz="2400" dirty="0" err="1">
                <a:latin typeface="Marcellus"/>
              </a:rPr>
              <a:t>i.e</a:t>
            </a:r>
            <a:r>
              <a:rPr lang="en-IN" sz="2400" dirty="0">
                <a:latin typeface="Marcellus"/>
              </a:rPr>
              <a:t> False</a:t>
            </a:r>
          </a:p>
          <a:p>
            <a:r>
              <a:rPr lang="en-IN" sz="2400" dirty="0">
                <a:solidFill>
                  <a:srgbClr val="C00000"/>
                </a:solidFill>
                <a:latin typeface="Marcellus"/>
              </a:rPr>
              <a:t>Set the new value</a:t>
            </a:r>
            <a:r>
              <a:rPr lang="en-IN" sz="2400" dirty="0">
                <a:latin typeface="Marcellus"/>
              </a:rPr>
              <a:t> of passed parameter to </a:t>
            </a:r>
            <a:r>
              <a:rPr lang="en-IN" sz="2400" dirty="0">
                <a:solidFill>
                  <a:srgbClr val="C00000"/>
                </a:solidFill>
                <a:latin typeface="Marcellus"/>
              </a:rPr>
              <a:t>“TRUE”.</a:t>
            </a:r>
          </a:p>
          <a:p>
            <a:pPr lvl="1"/>
            <a:endParaRPr lang="en-IN" sz="2000" dirty="0">
              <a:latin typeface="Marcellus"/>
            </a:endParaRPr>
          </a:p>
          <a:p>
            <a:pPr lvl="1"/>
            <a:endParaRPr lang="en-IN" sz="2000" dirty="0" smtClean="0">
              <a:latin typeface="Marcellus"/>
            </a:endParaRPr>
          </a:p>
        </p:txBody>
      </p:sp>
      <p:pic>
        <p:nvPicPr>
          <p:cNvPr id="13" name="Picture 12"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87171"/>
            <a:ext cx="3245736" cy="811434"/>
          </a:xfrm>
          <a:prstGeom prst="rect">
            <a:avLst/>
          </a:prstGeom>
        </p:spPr>
      </p:pic>
    </p:spTree>
    <p:extLst>
      <p:ext uri="{BB962C8B-B14F-4D97-AF65-F5344CB8AC3E}">
        <p14:creationId xmlns:p14="http://schemas.microsoft.com/office/powerpoint/2010/main" val="32803109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err="1">
                <a:solidFill>
                  <a:srgbClr val="C00000"/>
                </a:solidFill>
                <a:latin typeface="Marcellus" panose="020E0602050203020307" pitchFamily="34" charset="0"/>
              </a:rPr>
              <a:t>test_and_set</a:t>
            </a:r>
            <a:r>
              <a:rPr lang="en-US" sz="3600" dirty="0">
                <a:solidFill>
                  <a:srgbClr val="C00000"/>
                </a:solidFill>
                <a:latin typeface="Marcellus" panose="020E0602050203020307" pitchFamily="34" charset="0"/>
              </a:rPr>
              <a:t>  Instruction </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1223455" y="0"/>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sp>
        <p:nvSpPr>
          <p:cNvPr id="3" name="Date Placeholder 2"/>
          <p:cNvSpPr>
            <a:spLocks noGrp="1"/>
          </p:cNvSpPr>
          <p:nvPr>
            <p:ph type="dt" sz="half" idx="4294967295"/>
          </p:nvPr>
        </p:nvSpPr>
        <p:spPr>
          <a:xfrm>
            <a:off x="838200" y="6356350"/>
            <a:ext cx="2743200" cy="365125"/>
          </a:xfrm>
          <a:prstGeom prst="rect">
            <a:avLst/>
          </a:prstGeom>
        </p:spPr>
        <p:txBody>
          <a:bodyPr/>
          <a:lstStyle/>
          <a:p>
            <a:fld id="{DF77B86F-341B-420C-BDF2-CDD8E5D5DC09}"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dirty="0">
                <a:latin typeface="Marcellus"/>
              </a:rPr>
              <a:t>Definition:</a:t>
            </a:r>
          </a:p>
          <a:p>
            <a:pPr marL="0" indent="0">
              <a:buNone/>
            </a:pPr>
            <a:r>
              <a:rPr lang="en-IN" sz="2400" dirty="0">
                <a:latin typeface="Marcellus"/>
              </a:rPr>
              <a:t>       </a:t>
            </a:r>
            <a:r>
              <a:rPr lang="en-IN" sz="2400" dirty="0" err="1">
                <a:latin typeface="Marcellus"/>
              </a:rPr>
              <a:t>boolean</a:t>
            </a:r>
            <a:r>
              <a:rPr lang="en-IN" sz="2400" dirty="0">
                <a:latin typeface="Marcellus"/>
              </a:rPr>
              <a:t> </a:t>
            </a:r>
            <a:r>
              <a:rPr lang="en-IN" sz="2400" dirty="0" err="1">
                <a:latin typeface="Marcellus"/>
              </a:rPr>
              <a:t>test_and_set</a:t>
            </a:r>
            <a:r>
              <a:rPr lang="en-IN" sz="2400" dirty="0">
                <a:latin typeface="Marcellus"/>
              </a:rPr>
              <a:t> (</a:t>
            </a:r>
            <a:r>
              <a:rPr lang="en-IN" sz="2400" dirty="0" err="1">
                <a:latin typeface="Marcellus"/>
              </a:rPr>
              <a:t>boolean</a:t>
            </a:r>
            <a:r>
              <a:rPr lang="en-IN" sz="2400" dirty="0">
                <a:latin typeface="Marcellus"/>
              </a:rPr>
              <a:t> *target)</a:t>
            </a:r>
          </a:p>
          <a:p>
            <a:pPr marL="0" indent="0">
              <a:buNone/>
            </a:pPr>
            <a:r>
              <a:rPr lang="en-IN" sz="2400" dirty="0">
                <a:latin typeface="Marcellus"/>
              </a:rPr>
              <a:t>          {</a:t>
            </a:r>
          </a:p>
          <a:p>
            <a:pPr marL="0" indent="0">
              <a:buNone/>
            </a:pPr>
            <a:r>
              <a:rPr lang="en-IN" sz="2400" dirty="0">
                <a:latin typeface="Marcellus"/>
              </a:rPr>
              <a:t>               </a:t>
            </a:r>
            <a:r>
              <a:rPr lang="en-IN" sz="2400" dirty="0" err="1">
                <a:latin typeface="Marcellus"/>
              </a:rPr>
              <a:t>boolean</a:t>
            </a:r>
            <a:r>
              <a:rPr lang="en-IN" sz="2400" dirty="0">
                <a:latin typeface="Marcellus"/>
              </a:rPr>
              <a:t> </a:t>
            </a:r>
            <a:r>
              <a:rPr lang="en-IN" sz="2400" dirty="0" err="1">
                <a:latin typeface="Marcellus"/>
              </a:rPr>
              <a:t>rv</a:t>
            </a:r>
            <a:r>
              <a:rPr lang="en-IN" sz="2400" dirty="0">
                <a:latin typeface="Marcellus"/>
              </a:rPr>
              <a:t> = *target;</a:t>
            </a:r>
          </a:p>
          <a:p>
            <a:pPr marL="0" indent="0">
              <a:buNone/>
            </a:pPr>
            <a:r>
              <a:rPr lang="en-IN" sz="2400" dirty="0">
                <a:latin typeface="Marcellus"/>
              </a:rPr>
              <a:t>               *target = TRUE;</a:t>
            </a:r>
          </a:p>
          <a:p>
            <a:pPr marL="0" indent="0">
              <a:buNone/>
            </a:pPr>
            <a:r>
              <a:rPr lang="en-IN" sz="2400" dirty="0">
                <a:latin typeface="Marcellus"/>
              </a:rPr>
              <a:t>               return </a:t>
            </a:r>
            <a:r>
              <a:rPr lang="en-IN" sz="2400" dirty="0" err="1">
                <a:latin typeface="Marcellus"/>
              </a:rPr>
              <a:t>rv</a:t>
            </a:r>
            <a:r>
              <a:rPr lang="en-IN" sz="2400" dirty="0">
                <a:latin typeface="Marcellus"/>
              </a:rPr>
              <a:t>:</a:t>
            </a:r>
          </a:p>
          <a:p>
            <a:pPr marL="0" indent="0">
              <a:buNone/>
            </a:pPr>
            <a:r>
              <a:rPr lang="en-IN" sz="2400" dirty="0">
                <a:latin typeface="Marcellus"/>
              </a:rPr>
              <a:t>          }</a:t>
            </a:r>
          </a:p>
          <a:p>
            <a:r>
              <a:rPr lang="en-IN" sz="2400" dirty="0">
                <a:solidFill>
                  <a:srgbClr val="C00000"/>
                </a:solidFill>
                <a:latin typeface="Marcellus"/>
              </a:rPr>
              <a:t>Executed </a:t>
            </a:r>
            <a:r>
              <a:rPr lang="en-IN" sz="2400" dirty="0" smtClean="0">
                <a:solidFill>
                  <a:srgbClr val="C00000"/>
                </a:solidFill>
                <a:latin typeface="Marcellus"/>
              </a:rPr>
              <a:t>atomically</a:t>
            </a:r>
          </a:p>
          <a:p>
            <a:pPr lvl="1"/>
            <a:r>
              <a:rPr lang="en-IN" sz="2000" dirty="0">
                <a:latin typeface="Marcellus"/>
              </a:rPr>
              <a:t>If 2 test and set instructions are executed simultaneously , they will be executed sequentially in some </a:t>
            </a:r>
            <a:r>
              <a:rPr lang="en-IN" sz="2000" dirty="0" err="1">
                <a:latin typeface="Marcellus"/>
              </a:rPr>
              <a:t>arbitary</a:t>
            </a:r>
            <a:r>
              <a:rPr lang="en-IN" sz="2000" dirty="0">
                <a:latin typeface="Marcellus"/>
              </a:rPr>
              <a:t> order</a:t>
            </a:r>
            <a:r>
              <a:rPr lang="en-IN" sz="2000" dirty="0" smtClean="0">
                <a:latin typeface="Marcellus"/>
              </a:rPr>
              <a:t>.</a:t>
            </a:r>
          </a:p>
          <a:p>
            <a:r>
              <a:rPr lang="en-IN" sz="2400" dirty="0">
                <a:solidFill>
                  <a:srgbClr val="C00000"/>
                </a:solidFill>
                <a:latin typeface="Marcellus"/>
              </a:rPr>
              <a:t>Returns the original value </a:t>
            </a:r>
            <a:r>
              <a:rPr lang="en-IN" sz="2400" dirty="0">
                <a:latin typeface="Marcellus"/>
              </a:rPr>
              <a:t>of passed parameter </a:t>
            </a:r>
            <a:r>
              <a:rPr lang="en-IN" sz="2400" dirty="0" err="1">
                <a:latin typeface="Marcellus"/>
              </a:rPr>
              <a:t>i.e</a:t>
            </a:r>
            <a:r>
              <a:rPr lang="en-IN" sz="2400" dirty="0">
                <a:latin typeface="Marcellus"/>
              </a:rPr>
              <a:t> False</a:t>
            </a:r>
          </a:p>
          <a:p>
            <a:r>
              <a:rPr lang="en-IN" sz="2400" dirty="0">
                <a:solidFill>
                  <a:srgbClr val="C00000"/>
                </a:solidFill>
                <a:latin typeface="Marcellus"/>
              </a:rPr>
              <a:t>Set the new value</a:t>
            </a:r>
            <a:r>
              <a:rPr lang="en-IN" sz="2400" dirty="0">
                <a:latin typeface="Marcellus"/>
              </a:rPr>
              <a:t> of passed parameter to </a:t>
            </a:r>
            <a:r>
              <a:rPr lang="en-IN" sz="2400" dirty="0">
                <a:solidFill>
                  <a:srgbClr val="C00000"/>
                </a:solidFill>
                <a:latin typeface="Marcellus"/>
              </a:rPr>
              <a:t>“TRUE”.</a:t>
            </a:r>
          </a:p>
          <a:p>
            <a:pPr lvl="1"/>
            <a:endParaRPr lang="en-IN" sz="2000" dirty="0">
              <a:latin typeface="Marcellus"/>
            </a:endParaRPr>
          </a:p>
          <a:p>
            <a:pPr lvl="1"/>
            <a:endParaRPr lang="en-IN" sz="2000" dirty="0" smtClean="0">
              <a:latin typeface="Marcellus"/>
            </a:endParaRPr>
          </a:p>
        </p:txBody>
      </p:sp>
      <p:pic>
        <p:nvPicPr>
          <p:cNvPr id="13" name="Picture 12"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87171"/>
            <a:ext cx="3245736" cy="811434"/>
          </a:xfrm>
          <a:prstGeom prst="rect">
            <a:avLst/>
          </a:prstGeom>
        </p:spPr>
      </p:pic>
    </p:spTree>
    <p:extLst>
      <p:ext uri="{BB962C8B-B14F-4D97-AF65-F5344CB8AC3E}">
        <p14:creationId xmlns:p14="http://schemas.microsoft.com/office/powerpoint/2010/main" val="328031090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0"/>
            <a:ext cx="11395912" cy="721920"/>
          </a:xfrm>
        </p:spPr>
        <p:txBody>
          <a:bodyPr>
            <a:noAutofit/>
          </a:bodyPr>
          <a:lstStyle/>
          <a:p>
            <a:r>
              <a:rPr lang="en-US" sz="2800" dirty="0">
                <a:solidFill>
                  <a:srgbClr val="C00000"/>
                </a:solidFill>
                <a:latin typeface="Marcellus" panose="020E0602050203020307" pitchFamily="34" charset="0"/>
              </a:rPr>
              <a:t>Mutual-exclusion implementation with </a:t>
            </a:r>
            <a:r>
              <a:rPr lang="en-US" sz="2800" dirty="0" err="1">
                <a:solidFill>
                  <a:srgbClr val="C00000"/>
                </a:solidFill>
                <a:latin typeface="Marcellus" panose="020E0602050203020307" pitchFamily="34" charset="0"/>
              </a:rPr>
              <a:t>TestAndSet</a:t>
            </a:r>
            <a:r>
              <a:rPr lang="en-US" sz="2800" dirty="0">
                <a:solidFill>
                  <a:srgbClr val="C00000"/>
                </a:solidFill>
                <a:latin typeface="Marcellus" panose="020E0602050203020307" pitchFamily="34" charset="0"/>
              </a:rPr>
              <a:t> ()</a:t>
            </a:r>
            <a:endParaRPr lang="en-US" sz="28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4294967295"/>
          </p:nvPr>
        </p:nvSpPr>
        <p:spPr>
          <a:xfrm>
            <a:off x="838200" y="6356350"/>
            <a:ext cx="2743200" cy="365125"/>
          </a:xfrm>
          <a:prstGeom prst="rect">
            <a:avLst/>
          </a:prstGeom>
        </p:spPr>
        <p:txBody>
          <a:bodyPr/>
          <a:lstStyle/>
          <a:p>
            <a:fld id="{E0979FA6-4190-4259-872D-2499DD65ABA8}"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508260" y="656542"/>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smtClean="0"/>
          </a:p>
          <a:p>
            <a:pPr marL="0" indent="0">
              <a:buNone/>
            </a:pPr>
            <a:endParaRPr lang="en-IN" b="1" dirty="0"/>
          </a:p>
        </p:txBody>
      </p:sp>
      <p:sp>
        <p:nvSpPr>
          <p:cNvPr id="16" name="TextBox 15"/>
          <p:cNvSpPr txBox="1"/>
          <p:nvPr/>
        </p:nvSpPr>
        <p:spPr>
          <a:xfrm>
            <a:off x="4567728" y="854316"/>
            <a:ext cx="2098636" cy="2800767"/>
          </a:xfrm>
          <a:prstGeom prst="rect">
            <a:avLst/>
          </a:prstGeom>
          <a:noFill/>
        </p:spPr>
        <p:txBody>
          <a:bodyPr wrap="square" rtlCol="0">
            <a:spAutoFit/>
          </a:bodyPr>
          <a:lstStyle/>
          <a:p>
            <a:pPr marL="285750" indent="-285750">
              <a:buFont typeface="Arial" panose="020B0604020202020204" pitchFamily="34" charset="0"/>
              <a:buChar char="•"/>
            </a:pPr>
            <a:r>
              <a:rPr lang="en-IN" sz="1600" dirty="0" smtClean="0">
                <a:latin typeface="Marcellus"/>
              </a:rPr>
              <a:t>P0 tries to enter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T&amp;S returns False and set lock=True</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While(False);</a:t>
            </a:r>
          </a:p>
          <a:p>
            <a:pPr marL="285750" indent="-285750">
              <a:buFont typeface="Arial" panose="020B0604020202020204" pitchFamily="34" charset="0"/>
              <a:buChar char="•"/>
            </a:pPr>
            <a:r>
              <a:rPr lang="en-IN" sz="1600" dirty="0" smtClean="0">
                <a:latin typeface="Marcellus"/>
              </a:rPr>
              <a:t>P0 comes out of while </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Enter CS</a:t>
            </a:r>
          </a:p>
          <a:p>
            <a:pPr marL="285750" indent="-285750">
              <a:buFont typeface="Arial" panose="020B0604020202020204" pitchFamily="34" charset="0"/>
              <a:buChar char="•"/>
            </a:pPr>
            <a:endParaRPr lang="en-IN" sz="1600" dirty="0">
              <a:latin typeface="Marcellus"/>
            </a:endParaRPr>
          </a:p>
        </p:txBody>
      </p:sp>
      <p:sp>
        <p:nvSpPr>
          <p:cNvPr id="17" name="TextBox 16"/>
          <p:cNvSpPr txBox="1"/>
          <p:nvPr/>
        </p:nvSpPr>
        <p:spPr>
          <a:xfrm>
            <a:off x="9005248" y="722986"/>
            <a:ext cx="2868304" cy="4524315"/>
          </a:xfrm>
          <a:prstGeom prst="rect">
            <a:avLst/>
          </a:prstGeom>
          <a:noFill/>
        </p:spPr>
        <p:txBody>
          <a:bodyPr wrap="square" rtlCol="0">
            <a:spAutoFit/>
          </a:bodyPr>
          <a:lstStyle/>
          <a:p>
            <a:pPr marL="285750" indent="-285750">
              <a:buFont typeface="Arial" panose="020B0604020202020204" pitchFamily="34" charset="0"/>
              <a:buChar char="•"/>
            </a:pPr>
            <a:r>
              <a:rPr lang="en-IN" sz="1600" dirty="0" smtClean="0">
                <a:latin typeface="Marcellus"/>
              </a:rPr>
              <a:t>Now P1 tries to enter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P0 is still inside CS and lock=true </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err="1" smtClean="0">
                <a:latin typeface="Marcellus"/>
              </a:rPr>
              <a:t>Test&amp;Set</a:t>
            </a:r>
            <a:r>
              <a:rPr lang="en-IN" sz="1600" dirty="0" smtClean="0">
                <a:latin typeface="Marcellus"/>
              </a:rPr>
              <a:t> Returns </a:t>
            </a:r>
            <a:r>
              <a:rPr lang="en-IN" sz="1600" dirty="0">
                <a:latin typeface="Marcellus"/>
              </a:rPr>
              <a:t>the original value of passed parameter </a:t>
            </a:r>
            <a:r>
              <a:rPr lang="en-IN" sz="1600" dirty="0" smtClean="0">
                <a:latin typeface="Marcellus"/>
              </a:rPr>
              <a:t>i.e. True</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While(True);</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Goes in </a:t>
            </a:r>
            <a:r>
              <a:rPr lang="en-IN" sz="1600" dirty="0" err="1" smtClean="0">
                <a:latin typeface="Marcellus"/>
              </a:rPr>
              <a:t>Infinte</a:t>
            </a:r>
            <a:r>
              <a:rPr lang="en-IN" sz="1600" dirty="0" smtClean="0">
                <a:latin typeface="Marcellus"/>
              </a:rPr>
              <a:t> Loop/Do Nothing</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so P1 cannot enter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smtClean="0">
              <a:latin typeface="Marcellus"/>
            </a:endParaRPr>
          </a:p>
          <a:p>
            <a:endParaRPr lang="en-IN" sz="1600" dirty="0">
              <a:latin typeface="Marcellus"/>
            </a:endParaRPr>
          </a:p>
        </p:txBody>
      </p:sp>
      <p:graphicFrame>
        <p:nvGraphicFramePr>
          <p:cNvPr id="19" name="Table 18"/>
          <p:cNvGraphicFramePr>
            <a:graphicFrameLocks noGrp="1"/>
          </p:cNvGraphicFramePr>
          <p:nvPr>
            <p:extLst>
              <p:ext uri="{D42A27DB-BD31-4B8C-83A1-F6EECF244321}">
                <p14:modId xmlns:p14="http://schemas.microsoft.com/office/powerpoint/2010/main" val="1124982529"/>
              </p:ext>
            </p:extLst>
          </p:nvPr>
        </p:nvGraphicFramePr>
        <p:xfrm>
          <a:off x="669758" y="722987"/>
          <a:ext cx="3631821" cy="4272094"/>
        </p:xfrm>
        <a:graphic>
          <a:graphicData uri="http://schemas.openxmlformats.org/drawingml/2006/table">
            <a:tbl>
              <a:tblPr firstRow="1" bandRow="1">
                <a:tableStyleId>{7DF18680-E054-41AD-8BC1-D1AEF772440D}</a:tableStyleId>
              </a:tblPr>
              <a:tblGrid>
                <a:gridCol w="3631821"/>
              </a:tblGrid>
              <a:tr h="645781">
                <a:tc>
                  <a:txBody>
                    <a:bodyPr/>
                    <a:lstStyle/>
                    <a:p>
                      <a:r>
                        <a:rPr lang="en-IN" sz="2000" dirty="0" smtClean="0"/>
                        <a:t>P0</a:t>
                      </a:r>
                      <a:endParaRPr lang="en-IN" sz="2000" dirty="0"/>
                    </a:p>
                  </a:txBody>
                  <a:tcPr/>
                </a:tc>
              </a:tr>
              <a:tr h="3626313">
                <a:tc>
                  <a:txBody>
                    <a:bodyPr/>
                    <a:lstStyle/>
                    <a:p>
                      <a:r>
                        <a:rPr lang="en-IN" sz="2000" dirty="0" smtClean="0"/>
                        <a:t>do{</a:t>
                      </a:r>
                    </a:p>
                    <a:p>
                      <a:r>
                        <a:rPr lang="en-IN" sz="2000" dirty="0" smtClean="0"/>
                        <a:t>        while(</a:t>
                      </a:r>
                      <a:r>
                        <a:rPr lang="en-IN" sz="2000" dirty="0" err="1" smtClean="0"/>
                        <a:t>TestAndSet</a:t>
                      </a:r>
                      <a:r>
                        <a:rPr lang="en-IN" sz="2000" dirty="0" smtClean="0"/>
                        <a:t>(&amp;lock));</a:t>
                      </a:r>
                    </a:p>
                    <a:p>
                      <a:r>
                        <a:rPr lang="en-IN" sz="2000" dirty="0" smtClean="0"/>
                        <a:t>         critical</a:t>
                      </a:r>
                      <a:r>
                        <a:rPr lang="en-IN" sz="2000" baseline="0" dirty="0" smtClean="0"/>
                        <a:t> section</a:t>
                      </a:r>
                    </a:p>
                    <a:p>
                      <a:r>
                        <a:rPr lang="en-IN" sz="2000" baseline="0" dirty="0" smtClean="0"/>
                        <a:t>         lock=FALSE;</a:t>
                      </a:r>
                    </a:p>
                    <a:p>
                      <a:r>
                        <a:rPr lang="en-IN" sz="2000" baseline="0" dirty="0" smtClean="0"/>
                        <a:t>         remainder section</a:t>
                      </a:r>
                      <a:endParaRPr lang="en-IN" sz="2000" dirty="0" smtClean="0"/>
                    </a:p>
                    <a:p>
                      <a:r>
                        <a:rPr lang="en-IN" sz="2000" dirty="0" smtClean="0"/>
                        <a:t>}while(1);</a:t>
                      </a:r>
                    </a:p>
                  </a:txBody>
                  <a:tcPr/>
                </a:tc>
              </a:tr>
            </a:tbl>
          </a:graphicData>
        </a:graphic>
      </p:graphicFrame>
      <p:sp>
        <p:nvSpPr>
          <p:cNvPr id="15" name="Right Arrow 14"/>
          <p:cNvSpPr/>
          <p:nvPr/>
        </p:nvSpPr>
        <p:spPr>
          <a:xfrm rot="20619845" flipV="1">
            <a:off x="5817618" y="2530851"/>
            <a:ext cx="3167980" cy="3858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89051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0"/>
            <a:ext cx="11395912" cy="721920"/>
          </a:xfrm>
        </p:spPr>
        <p:txBody>
          <a:bodyPr>
            <a:noAutofit/>
          </a:bodyPr>
          <a:lstStyle/>
          <a:p>
            <a:r>
              <a:rPr lang="en-US" sz="2800" dirty="0">
                <a:solidFill>
                  <a:srgbClr val="C00000"/>
                </a:solidFill>
                <a:latin typeface="Marcellus" panose="020E0602050203020307" pitchFamily="34" charset="0"/>
              </a:rPr>
              <a:t>Mutual-exclusion implementation with </a:t>
            </a:r>
            <a:r>
              <a:rPr lang="en-US" sz="2800" dirty="0" err="1">
                <a:solidFill>
                  <a:srgbClr val="C00000"/>
                </a:solidFill>
                <a:latin typeface="Marcellus" panose="020E0602050203020307" pitchFamily="34" charset="0"/>
              </a:rPr>
              <a:t>TestAndSet</a:t>
            </a:r>
            <a:r>
              <a:rPr lang="en-US" sz="2800" dirty="0">
                <a:solidFill>
                  <a:srgbClr val="C00000"/>
                </a:solidFill>
                <a:latin typeface="Marcellus" panose="020E0602050203020307" pitchFamily="34" charset="0"/>
              </a:rPr>
              <a:t> ()</a:t>
            </a:r>
            <a:endParaRPr lang="en-US" sz="28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4294967295"/>
          </p:nvPr>
        </p:nvSpPr>
        <p:spPr>
          <a:xfrm>
            <a:off x="838200" y="6356350"/>
            <a:ext cx="2743200" cy="365125"/>
          </a:xfrm>
          <a:prstGeom prst="rect">
            <a:avLst/>
          </a:prstGeom>
        </p:spPr>
        <p:txBody>
          <a:bodyPr/>
          <a:lstStyle/>
          <a:p>
            <a:fld id="{89D15981-2E75-439E-A30B-3F573CDB02E3}"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508260" y="656542"/>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IN" b="1" dirty="0" smtClean="0"/>
          </a:p>
          <a:p>
            <a:pPr marL="0" indent="0">
              <a:buNone/>
            </a:pPr>
            <a:endParaRPr lang="en-IN" b="1" dirty="0"/>
          </a:p>
        </p:txBody>
      </p:sp>
      <p:sp>
        <p:nvSpPr>
          <p:cNvPr id="16" name="TextBox 15"/>
          <p:cNvSpPr txBox="1"/>
          <p:nvPr/>
        </p:nvSpPr>
        <p:spPr>
          <a:xfrm>
            <a:off x="4567728" y="854316"/>
            <a:ext cx="2098636" cy="3046988"/>
          </a:xfrm>
          <a:prstGeom prst="rect">
            <a:avLst/>
          </a:prstGeom>
          <a:noFill/>
        </p:spPr>
        <p:txBody>
          <a:bodyPr wrap="square" rtlCol="0">
            <a:spAutoFit/>
          </a:bodyPr>
          <a:lstStyle/>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After completing CS</a:t>
            </a:r>
          </a:p>
          <a:p>
            <a:pPr marL="285750" indent="-285750">
              <a:buFont typeface="Arial" panose="020B0604020202020204" pitchFamily="34" charset="0"/>
              <a:buChar char="•"/>
            </a:pPr>
            <a:endParaRPr lang="en-IN" sz="1600" dirty="0" smtClean="0">
              <a:latin typeface="Marcellus"/>
            </a:endParaRPr>
          </a:p>
          <a:p>
            <a:pPr marL="285750" indent="-285750">
              <a:buFont typeface="Arial" panose="020B0604020202020204" pitchFamily="34" charset="0"/>
              <a:buChar char="•"/>
            </a:pPr>
            <a:r>
              <a:rPr lang="en-IN" sz="1600" dirty="0" smtClean="0">
                <a:latin typeface="Marcellus"/>
              </a:rPr>
              <a:t>P0 makes lock=false </a:t>
            </a:r>
          </a:p>
          <a:p>
            <a:pPr marL="285750" indent="-285750">
              <a:buFont typeface="Arial" panose="020B0604020202020204" pitchFamily="34" charset="0"/>
              <a:buChar char="•"/>
            </a:pPr>
            <a:endParaRPr lang="en-IN" sz="1600" dirty="0" smtClean="0">
              <a:latin typeface="Marcellus"/>
            </a:endParaRPr>
          </a:p>
          <a:p>
            <a:pPr marL="285750" indent="-285750">
              <a:buFont typeface="Arial" panose="020B0604020202020204" pitchFamily="34" charset="0"/>
              <a:buChar char="•"/>
            </a:pPr>
            <a:r>
              <a:rPr lang="en-IN" sz="1600" dirty="0" smtClean="0">
                <a:latin typeface="Marcellus"/>
              </a:rPr>
              <a:t>Exits CS</a:t>
            </a:r>
          </a:p>
          <a:p>
            <a:pPr marL="285750" indent="-285750">
              <a:buFont typeface="Arial" panose="020B0604020202020204" pitchFamily="34" charset="0"/>
              <a:buChar char="•"/>
            </a:pPr>
            <a:endParaRPr lang="en-IN" sz="1600" dirty="0" smtClean="0">
              <a:latin typeface="Marcellus"/>
            </a:endParaRPr>
          </a:p>
          <a:p>
            <a:pPr marL="285750" indent="-285750">
              <a:buFont typeface="Arial" panose="020B0604020202020204" pitchFamily="34" charset="0"/>
              <a:buChar char="•"/>
            </a:pPr>
            <a:r>
              <a:rPr lang="en-IN" sz="1600" dirty="0" smtClean="0">
                <a:latin typeface="Marcellus"/>
              </a:rPr>
              <a:t>Enters RS</a:t>
            </a:r>
          </a:p>
          <a:p>
            <a:pPr marL="285750" indent="-285750">
              <a:buFont typeface="Arial" panose="020B0604020202020204" pitchFamily="34" charset="0"/>
              <a:buChar char="•"/>
            </a:pPr>
            <a:endParaRPr lang="en-IN" sz="1600" dirty="0" smtClean="0">
              <a:latin typeface="Marcellus"/>
            </a:endParaRPr>
          </a:p>
          <a:p>
            <a:pPr marL="285750" indent="-285750">
              <a:buFont typeface="Arial" panose="020B0604020202020204" pitchFamily="34" charset="0"/>
              <a:buChar char="•"/>
            </a:pPr>
            <a:endParaRPr lang="en-IN" sz="1600" dirty="0" smtClean="0">
              <a:latin typeface="Marcellus"/>
            </a:endParaRPr>
          </a:p>
        </p:txBody>
      </p:sp>
      <p:sp>
        <p:nvSpPr>
          <p:cNvPr id="17" name="TextBox 16"/>
          <p:cNvSpPr txBox="1"/>
          <p:nvPr/>
        </p:nvSpPr>
        <p:spPr>
          <a:xfrm>
            <a:off x="9758809" y="1338540"/>
            <a:ext cx="2129050" cy="2062103"/>
          </a:xfrm>
          <a:prstGeom prst="rect">
            <a:avLst/>
          </a:prstGeom>
          <a:noFill/>
        </p:spPr>
        <p:txBody>
          <a:bodyPr wrap="square" rtlCol="0">
            <a:spAutoFit/>
          </a:bodyPr>
          <a:lstStyle/>
          <a:p>
            <a:pPr marL="285750" indent="-285750">
              <a:buFont typeface="Arial" panose="020B0604020202020204" pitchFamily="34" charset="0"/>
              <a:buChar char="•"/>
            </a:pPr>
            <a:r>
              <a:rPr lang="en-IN" sz="1600" dirty="0" smtClean="0">
                <a:latin typeface="Marcellus"/>
              </a:rPr>
              <a:t>Now P1 can enter CS as lock is false now</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Comes out of while loop</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Executes CS</a:t>
            </a:r>
          </a:p>
        </p:txBody>
      </p:sp>
      <p:graphicFrame>
        <p:nvGraphicFramePr>
          <p:cNvPr id="19" name="Table 18"/>
          <p:cNvGraphicFramePr>
            <a:graphicFrameLocks noGrp="1"/>
          </p:cNvGraphicFramePr>
          <p:nvPr>
            <p:extLst>
              <p:ext uri="{D42A27DB-BD31-4B8C-83A1-F6EECF244321}">
                <p14:modId xmlns:p14="http://schemas.microsoft.com/office/powerpoint/2010/main" val="1548192789"/>
              </p:ext>
            </p:extLst>
          </p:nvPr>
        </p:nvGraphicFramePr>
        <p:xfrm>
          <a:off x="669758" y="1556780"/>
          <a:ext cx="3631821" cy="2621280"/>
        </p:xfrm>
        <a:graphic>
          <a:graphicData uri="http://schemas.openxmlformats.org/drawingml/2006/table">
            <a:tbl>
              <a:tblPr firstRow="1" bandRow="1">
                <a:tableStyleId>{7DF18680-E054-41AD-8BC1-D1AEF772440D}</a:tableStyleId>
              </a:tblPr>
              <a:tblGrid>
                <a:gridCol w="3631821"/>
              </a:tblGrid>
              <a:tr h="370840">
                <a:tc>
                  <a:txBody>
                    <a:bodyPr/>
                    <a:lstStyle/>
                    <a:p>
                      <a:r>
                        <a:rPr lang="en-IN" sz="2000" dirty="0" smtClean="0"/>
                        <a:t>P0</a:t>
                      </a:r>
                      <a:endParaRPr lang="en-IN" sz="2000" dirty="0"/>
                    </a:p>
                  </a:txBody>
                  <a:tcPr/>
                </a:tc>
              </a:tr>
              <a:tr h="370840">
                <a:tc>
                  <a:txBody>
                    <a:bodyPr/>
                    <a:lstStyle/>
                    <a:p>
                      <a:r>
                        <a:rPr lang="en-IN" sz="2000" dirty="0" smtClean="0"/>
                        <a:t>do{</a:t>
                      </a:r>
                    </a:p>
                    <a:p>
                      <a:r>
                        <a:rPr lang="en-IN" sz="2000" dirty="0" smtClean="0"/>
                        <a:t>        while(</a:t>
                      </a:r>
                      <a:r>
                        <a:rPr lang="en-IN" sz="2000" dirty="0" err="1" smtClean="0"/>
                        <a:t>TestAndSet</a:t>
                      </a:r>
                      <a:r>
                        <a:rPr lang="en-IN" sz="2000" dirty="0" smtClean="0"/>
                        <a:t>(&amp;lock));</a:t>
                      </a:r>
                    </a:p>
                    <a:p>
                      <a:r>
                        <a:rPr lang="en-IN" sz="2000" dirty="0" smtClean="0"/>
                        <a:t>         critical</a:t>
                      </a:r>
                      <a:r>
                        <a:rPr lang="en-IN" sz="2000" baseline="0" dirty="0" smtClean="0"/>
                        <a:t> section</a:t>
                      </a:r>
                    </a:p>
                    <a:p>
                      <a:r>
                        <a:rPr lang="en-IN" sz="2000" baseline="0" dirty="0" smtClean="0"/>
                        <a:t>         lock=FALSE;</a:t>
                      </a:r>
                    </a:p>
                    <a:p>
                      <a:r>
                        <a:rPr lang="en-IN" sz="2000" baseline="0" dirty="0" smtClean="0"/>
                        <a:t>         remainder section</a:t>
                      </a:r>
                      <a:endParaRPr lang="en-IN" sz="2000" dirty="0" smtClean="0"/>
                    </a:p>
                    <a:p>
                      <a:r>
                        <a:rPr lang="en-IN" sz="2000" dirty="0" smtClean="0"/>
                        <a:t>}while(1);</a:t>
                      </a:r>
                    </a:p>
                  </a:txBody>
                  <a:tcPr/>
                </a:tc>
              </a:tr>
            </a:tbl>
          </a:graphicData>
        </a:graphic>
      </p:graphicFrame>
      <p:sp>
        <p:nvSpPr>
          <p:cNvPr id="15" name="Right Arrow 14"/>
          <p:cNvSpPr/>
          <p:nvPr/>
        </p:nvSpPr>
        <p:spPr>
          <a:xfrm rot="20619845" flipV="1">
            <a:off x="5794608" y="2370547"/>
            <a:ext cx="4307851" cy="3858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490868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smtClean="0">
                <a:solidFill>
                  <a:srgbClr val="C00000"/>
                </a:solidFill>
                <a:latin typeface="Marcellus" panose="020E0602050203020307" pitchFamily="34" charset="0"/>
              </a:rPr>
              <a:t>swap  </a:t>
            </a:r>
            <a:r>
              <a:rPr lang="en-US" sz="3600" dirty="0">
                <a:solidFill>
                  <a:srgbClr val="C00000"/>
                </a:solidFill>
                <a:latin typeface="Marcellus" panose="020E0602050203020307" pitchFamily="34" charset="0"/>
              </a:rPr>
              <a:t>Instruction </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4294967295"/>
          </p:nvPr>
        </p:nvSpPr>
        <p:spPr>
          <a:xfrm>
            <a:off x="838200" y="6356350"/>
            <a:ext cx="2743200" cy="365125"/>
          </a:xfrm>
          <a:prstGeom prst="rect">
            <a:avLst/>
          </a:prstGeom>
        </p:spPr>
        <p:txBody>
          <a:bodyPr/>
          <a:lstStyle/>
          <a:p>
            <a:fld id="{E69D4926-7CFC-44A1-A457-0C39D51C7503}"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dirty="0">
                <a:latin typeface="Marcellus"/>
              </a:rPr>
              <a:t>Definition:</a:t>
            </a:r>
          </a:p>
          <a:p>
            <a:endParaRPr lang="en-IN" sz="2400" dirty="0" smtClean="0">
              <a:latin typeface="Marcellus"/>
            </a:endParaRPr>
          </a:p>
          <a:p>
            <a:endParaRPr lang="en-IN" sz="2400" dirty="0">
              <a:latin typeface="Marcellus"/>
            </a:endParaRPr>
          </a:p>
          <a:p>
            <a:endParaRPr lang="en-IN" sz="2400" dirty="0" smtClean="0">
              <a:latin typeface="Marcellus"/>
            </a:endParaRPr>
          </a:p>
          <a:p>
            <a:endParaRPr lang="en-IN" sz="2400" dirty="0">
              <a:latin typeface="Marcellus"/>
            </a:endParaRPr>
          </a:p>
          <a:p>
            <a:endParaRPr lang="en-IN" sz="2400" dirty="0" smtClean="0">
              <a:latin typeface="Marcellus"/>
            </a:endParaRPr>
          </a:p>
          <a:p>
            <a:endParaRPr lang="en-IN" sz="2400" dirty="0">
              <a:latin typeface="Marcellus"/>
            </a:endParaRPr>
          </a:p>
          <a:p>
            <a:r>
              <a:rPr lang="en-IN" sz="2400" dirty="0" smtClean="0">
                <a:latin typeface="Marcellus"/>
              </a:rPr>
              <a:t>Swaps the contents of 2 memory word</a:t>
            </a:r>
          </a:p>
          <a:p>
            <a:r>
              <a:rPr lang="en-IN" sz="2400" dirty="0" smtClean="0">
                <a:latin typeface="Marcellus"/>
              </a:rPr>
              <a:t>Executed atomically=Non-</a:t>
            </a:r>
            <a:r>
              <a:rPr lang="en-IN" sz="2400" dirty="0" err="1" smtClean="0">
                <a:latin typeface="Marcellus"/>
              </a:rPr>
              <a:t>interruptable</a:t>
            </a:r>
            <a:endParaRPr lang="en-IN" sz="2400" dirty="0">
              <a:latin typeface="Marcellus"/>
            </a:endParaRPr>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5801" y="1433442"/>
            <a:ext cx="6129850" cy="17638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370583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Mutual-exclusion implementation with </a:t>
            </a:r>
            <a:r>
              <a:rPr lang="en-US" sz="3200" dirty="0" smtClean="0">
                <a:solidFill>
                  <a:srgbClr val="C00000"/>
                </a:solidFill>
                <a:latin typeface="Marcellus" panose="020E0602050203020307" pitchFamily="34" charset="0"/>
              </a:rPr>
              <a:t>swap ()</a:t>
            </a:r>
            <a:endParaRPr lang="en-US" sz="3200" dirty="0"/>
          </a:p>
        </p:txBody>
      </p:sp>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sp>
        <p:nvSpPr>
          <p:cNvPr id="3" name="Date Placeholder 2"/>
          <p:cNvSpPr>
            <a:spLocks noGrp="1"/>
          </p:cNvSpPr>
          <p:nvPr>
            <p:ph type="dt" sz="half" idx="4294967295"/>
          </p:nvPr>
        </p:nvSpPr>
        <p:spPr>
          <a:xfrm>
            <a:off x="3990833" y="6369998"/>
            <a:ext cx="2743200" cy="365125"/>
          </a:xfrm>
          <a:prstGeom prst="rect">
            <a:avLst/>
          </a:prstGeom>
        </p:spPr>
        <p:txBody>
          <a:bodyPr/>
          <a:lstStyle/>
          <a:p>
            <a:fld id="{2976A529-5D4E-4F06-82E0-AE55A6254CE6}" type="datetime1">
              <a:rPr lang="en-US" smtClean="0"/>
              <a:t>11/11/2024</a:t>
            </a:fld>
            <a:endParaRPr lang="en-US" dirty="0"/>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5467404" y="953777"/>
            <a:ext cx="6724595"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2400" dirty="0" smtClean="0">
                <a:latin typeface="Marcellus"/>
                <a:ea typeface="ＭＳ Ｐゴシック" charset="0"/>
                <a:cs typeface="ＭＳ Ｐゴシック" charset="0"/>
              </a:rPr>
              <a:t>Solution:</a:t>
            </a:r>
          </a:p>
          <a:p>
            <a:pPr>
              <a:tabLst>
                <a:tab pos="742278" algn="l"/>
                <a:tab pos="1023411" algn="l"/>
                <a:tab pos="1258984" algn="l"/>
              </a:tabLst>
              <a:defRPr/>
            </a:pPr>
            <a:r>
              <a:rPr lang="en-US" sz="2400" dirty="0" smtClean="0">
                <a:latin typeface="Marcellus"/>
                <a:ea typeface="ＭＳ Ｐゴシック" charset="0"/>
                <a:cs typeface="Courier New"/>
              </a:rPr>
              <a:t>Key</a:t>
            </a:r>
            <a:r>
              <a:rPr lang="en-US" sz="2400" dirty="0">
                <a:latin typeface="Marcellus"/>
                <a:ea typeface="ＭＳ Ｐゴシック" charset="0"/>
                <a:cs typeface="Courier New"/>
              </a:rPr>
              <a:t>=Local Variable</a:t>
            </a:r>
            <a:r>
              <a:rPr lang="en-US" sz="2400" dirty="0" smtClean="0">
                <a:latin typeface="Marcellus"/>
                <a:ea typeface="ＭＳ Ｐゴシック" charset="0"/>
                <a:cs typeface="Courier New"/>
              </a:rPr>
              <a:t>=Each process has its own Key</a:t>
            </a:r>
          </a:p>
          <a:p>
            <a:pPr>
              <a:tabLst>
                <a:tab pos="742278" algn="l"/>
                <a:tab pos="1023411" algn="l"/>
                <a:tab pos="1258984" algn="l"/>
              </a:tabLst>
              <a:defRPr/>
            </a:pPr>
            <a:r>
              <a:rPr lang="en-US" sz="2400" dirty="0" smtClean="0">
                <a:latin typeface="Marcellus"/>
                <a:ea typeface="ＭＳ Ｐゴシック" charset="0"/>
                <a:cs typeface="Courier New"/>
              </a:rPr>
              <a:t>Lock=Global Variable=Common for all Processes</a:t>
            </a:r>
          </a:p>
          <a:p>
            <a:pPr>
              <a:tabLst>
                <a:tab pos="742278" algn="l"/>
                <a:tab pos="1023411" algn="l"/>
                <a:tab pos="1258984" algn="l"/>
              </a:tabLst>
              <a:defRPr/>
            </a:pPr>
            <a:r>
              <a:rPr lang="en-US" sz="2400" dirty="0" smtClean="0">
                <a:latin typeface="Marcellus"/>
                <a:ea typeface="ＭＳ Ｐゴシック" charset="0"/>
                <a:cs typeface="Courier New"/>
              </a:rPr>
              <a:t>Both Initialized to False</a:t>
            </a:r>
          </a:p>
          <a:p>
            <a:pPr>
              <a:tabLst>
                <a:tab pos="742278" algn="l"/>
                <a:tab pos="1023411" algn="l"/>
                <a:tab pos="1258984" algn="l"/>
              </a:tabLst>
              <a:defRPr/>
            </a:pPr>
            <a:endParaRPr lang="en-US" sz="2000" dirty="0">
              <a:latin typeface="Marcellus"/>
              <a:ea typeface="ＭＳ Ｐゴシック" charset="0"/>
              <a:cs typeface="Courier New"/>
            </a:endParaRP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4539" y="1588562"/>
            <a:ext cx="5347390" cy="3447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541816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Mutual-exclusion implementation with </a:t>
            </a:r>
            <a:r>
              <a:rPr lang="en-US" sz="3200" dirty="0" smtClean="0">
                <a:solidFill>
                  <a:srgbClr val="C00000"/>
                </a:solidFill>
                <a:latin typeface="Marcellus" panose="020E0602050203020307" pitchFamily="34" charset="0"/>
              </a:rPr>
              <a:t>swap ()</a:t>
            </a:r>
            <a:endParaRPr lang="en-US" sz="3200" dirty="0"/>
          </a:p>
        </p:txBody>
      </p:sp>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2400" dirty="0" smtClean="0">
                <a:latin typeface="Marcellus"/>
                <a:ea typeface="ＭＳ Ｐゴシック" charset="0"/>
                <a:cs typeface="ＭＳ Ｐゴシック" charset="0"/>
              </a:rPr>
              <a:t>Solution:</a:t>
            </a:r>
            <a:endParaRPr lang="en-US" sz="2000" dirty="0">
              <a:latin typeface="Marcellus"/>
              <a:ea typeface="ＭＳ Ｐゴシック" charset="0"/>
              <a:cs typeface="Courier New"/>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546" y="1293535"/>
            <a:ext cx="4189864" cy="38522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4567727" y="854316"/>
            <a:ext cx="3511747" cy="5509200"/>
          </a:xfrm>
          <a:prstGeom prst="rect">
            <a:avLst/>
          </a:prstGeom>
          <a:noFill/>
        </p:spPr>
        <p:txBody>
          <a:bodyPr wrap="square" rtlCol="0">
            <a:spAutoFit/>
          </a:bodyPr>
          <a:lstStyle/>
          <a:p>
            <a:pPr marL="285750" indent="-285750">
              <a:buFont typeface="Arial" panose="020B0604020202020204" pitchFamily="34" charset="0"/>
              <a:buChar char="•"/>
            </a:pPr>
            <a:r>
              <a:rPr lang="en-IN" sz="1600" dirty="0" err="1" smtClean="0">
                <a:latin typeface="Marcellus"/>
              </a:rPr>
              <a:t>Initilally</a:t>
            </a:r>
            <a:r>
              <a:rPr lang="en-IN" sz="1600" dirty="0" smtClean="0">
                <a:latin typeface="Marcellus"/>
              </a:rPr>
              <a:t> (L,K)=(F,F)</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 P0 makes key=true so</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(L,K)=(F,T)</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While key is true</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Swap values of Key and Lock so</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(L,K)=(T,F)</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Key becomes false, exits while loop</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Enters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smtClean="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smtClean="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smtClean="0">
              <a:latin typeface="Marcellus"/>
            </a:endParaRPr>
          </a:p>
          <a:p>
            <a:pPr marL="285750" indent="-285750">
              <a:buFont typeface="Arial" panose="020B0604020202020204" pitchFamily="34" charset="0"/>
              <a:buChar char="•"/>
            </a:pPr>
            <a:endParaRPr lang="en-IN" sz="1600" dirty="0" smtClean="0">
              <a:latin typeface="Marcellus"/>
            </a:endParaRPr>
          </a:p>
        </p:txBody>
      </p:sp>
      <p:sp>
        <p:nvSpPr>
          <p:cNvPr id="14" name="TextBox 13"/>
          <p:cNvSpPr txBox="1"/>
          <p:nvPr/>
        </p:nvSpPr>
        <p:spPr>
          <a:xfrm>
            <a:off x="9130352" y="852751"/>
            <a:ext cx="2866029" cy="3785652"/>
          </a:xfrm>
          <a:prstGeom prst="rect">
            <a:avLst/>
          </a:prstGeom>
          <a:noFill/>
        </p:spPr>
        <p:txBody>
          <a:bodyPr wrap="square" rtlCol="0">
            <a:spAutoFit/>
          </a:bodyPr>
          <a:lstStyle/>
          <a:p>
            <a:pPr marL="285750" indent="-285750">
              <a:buFont typeface="Arial" panose="020B0604020202020204" pitchFamily="34" charset="0"/>
              <a:buChar char="•"/>
            </a:pPr>
            <a:r>
              <a:rPr lang="en-IN" sz="1600" dirty="0" smtClean="0">
                <a:latin typeface="Marcellus"/>
              </a:rPr>
              <a:t>Now P1 tries to enter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P1’s own key is False Initially</a:t>
            </a:r>
          </a:p>
          <a:p>
            <a:pPr marL="285750" indent="-285750">
              <a:buFont typeface="Arial" panose="020B0604020202020204" pitchFamily="34" charset="0"/>
              <a:buChar char="•"/>
            </a:pPr>
            <a:r>
              <a:rPr lang="en-IN" sz="1600" dirty="0" smtClean="0">
                <a:latin typeface="Marcellus"/>
              </a:rPr>
              <a:t>Global  Lock is True as P0 is in CS</a:t>
            </a:r>
            <a:endParaRPr lang="en-IN" sz="1600" dirty="0">
              <a:latin typeface="Marcellus"/>
            </a:endParaRPr>
          </a:p>
          <a:p>
            <a:pPr marL="285750" indent="-285750">
              <a:buFont typeface="Arial" panose="020B0604020202020204" pitchFamily="34" charset="0"/>
              <a:buChar char="•"/>
            </a:pPr>
            <a:endParaRPr lang="en-IN" sz="1600" dirty="0" smtClean="0">
              <a:latin typeface="Marcellus"/>
            </a:endParaRPr>
          </a:p>
          <a:p>
            <a:pPr marL="285750" indent="-285750">
              <a:buFont typeface="Arial" panose="020B0604020202020204" pitchFamily="34" charset="0"/>
              <a:buChar char="•"/>
            </a:pPr>
            <a:r>
              <a:rPr lang="en-IN" sz="1600" dirty="0" smtClean="0">
                <a:latin typeface="Marcellus"/>
              </a:rPr>
              <a:t>Key=true so</a:t>
            </a:r>
          </a:p>
          <a:p>
            <a:pPr marL="285750" indent="-285750">
              <a:buFont typeface="Arial" panose="020B0604020202020204" pitchFamily="34" charset="0"/>
              <a:buChar char="•"/>
            </a:pPr>
            <a:r>
              <a:rPr lang="en-IN" sz="1600" dirty="0" smtClean="0">
                <a:latin typeface="Marcellus"/>
              </a:rPr>
              <a:t>(L,K)=(T,T)</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After Swapping also,</a:t>
            </a:r>
          </a:p>
          <a:p>
            <a:pPr marL="285750" indent="-285750">
              <a:buFont typeface="Arial" panose="020B0604020202020204" pitchFamily="34" charset="0"/>
              <a:buChar char="•"/>
            </a:pPr>
            <a:r>
              <a:rPr lang="en-IN" sz="1600" dirty="0" smtClean="0">
                <a:latin typeface="Marcellus"/>
              </a:rPr>
              <a:t>Key will always be True, So trapped in while loop</a:t>
            </a:r>
          </a:p>
          <a:p>
            <a:pPr marL="285750" indent="-285750">
              <a:buFont typeface="Arial" panose="020B0604020202020204" pitchFamily="34" charset="0"/>
              <a:buChar char="•"/>
            </a:pPr>
            <a:r>
              <a:rPr lang="en-IN" sz="1600" dirty="0" smtClean="0">
                <a:latin typeface="Marcellus"/>
              </a:rPr>
              <a:t>P1 will not be able to enter CS</a:t>
            </a:r>
            <a:endParaRPr lang="en-IN" sz="1600" dirty="0">
              <a:latin typeface="Marcellus"/>
            </a:endParaRPr>
          </a:p>
          <a:p>
            <a:pPr marL="285750" indent="-285750">
              <a:buFont typeface="Arial" panose="020B0604020202020204" pitchFamily="34" charset="0"/>
              <a:buChar char="•"/>
            </a:pPr>
            <a:endParaRPr lang="en-IN" sz="1600" dirty="0" smtClean="0">
              <a:latin typeface="Marcellus"/>
            </a:endParaRPr>
          </a:p>
        </p:txBody>
      </p:sp>
      <p:sp>
        <p:nvSpPr>
          <p:cNvPr id="15" name="Right Arrow 14"/>
          <p:cNvSpPr/>
          <p:nvPr/>
        </p:nvSpPr>
        <p:spPr>
          <a:xfrm rot="17502918" flipV="1">
            <a:off x="6880556" y="2666928"/>
            <a:ext cx="3235845" cy="4117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 Placeholder 10"/>
          <p:cNvSpPr>
            <a:spLocks noGrp="1"/>
          </p:cNvSpPr>
          <p:nvPr>
            <p:ph type="body" idx="1"/>
          </p:nvPr>
        </p:nvSpPr>
        <p:spPr/>
        <p:txBody>
          <a:bodyPr/>
          <a:lstStyle/>
          <a:p>
            <a:endParaRPr lang="en-IN"/>
          </a:p>
        </p:txBody>
      </p:sp>
    </p:spTree>
    <p:extLst>
      <p:ext uri="{BB962C8B-B14F-4D97-AF65-F5344CB8AC3E}">
        <p14:creationId xmlns:p14="http://schemas.microsoft.com/office/powerpoint/2010/main" val="25487901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Mutual-exclusion implementation with </a:t>
            </a:r>
            <a:r>
              <a:rPr lang="en-US" sz="3200" dirty="0" smtClean="0">
                <a:solidFill>
                  <a:srgbClr val="C00000"/>
                </a:solidFill>
                <a:latin typeface="Marcellus" panose="020E0602050203020307" pitchFamily="34" charset="0"/>
              </a:rPr>
              <a:t>swap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4294967295"/>
          </p:nvPr>
        </p:nvSpPr>
        <p:spPr>
          <a:xfrm>
            <a:off x="838200" y="6356350"/>
            <a:ext cx="2743200" cy="365125"/>
          </a:xfrm>
          <a:prstGeom prst="rect">
            <a:avLst/>
          </a:prstGeom>
        </p:spPr>
        <p:txBody>
          <a:bodyPr/>
          <a:lstStyle/>
          <a:p>
            <a:fld id="{7FA9F31A-2A3C-4E89-BE98-4028C03F7D88}"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2400" dirty="0" smtClean="0">
                <a:latin typeface="Marcellus"/>
                <a:ea typeface="ＭＳ Ｐゴシック" charset="0"/>
                <a:cs typeface="ＭＳ Ｐゴシック" charset="0"/>
              </a:rPr>
              <a:t>Solution:</a:t>
            </a:r>
            <a:endParaRPr lang="en-US" sz="2000" dirty="0">
              <a:latin typeface="Marcellus"/>
              <a:ea typeface="ＭＳ Ｐゴシック" charset="0"/>
              <a:cs typeface="Courier New"/>
            </a:endParaRPr>
          </a:p>
        </p:txBody>
      </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546" y="1293535"/>
            <a:ext cx="4189864" cy="38522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4567727" y="854316"/>
            <a:ext cx="3511747" cy="3046988"/>
          </a:xfrm>
          <a:prstGeom prst="rect">
            <a:avLst/>
          </a:prstGeom>
          <a:noFill/>
        </p:spPr>
        <p:txBody>
          <a:bodyPr wrap="square" rtlCol="0">
            <a:spAutoFit/>
          </a:bodyPr>
          <a:lstStyle/>
          <a:p>
            <a:pPr marL="285750" indent="-285750">
              <a:buFont typeface="Arial" panose="020B0604020202020204" pitchFamily="34" charset="0"/>
              <a:buChar char="•"/>
            </a:pPr>
            <a:r>
              <a:rPr lang="en-IN" sz="1600" dirty="0" smtClean="0">
                <a:latin typeface="Marcellus"/>
              </a:rPr>
              <a:t>P0</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Now, Lock=False and P0 exits CS</a:t>
            </a:r>
          </a:p>
          <a:p>
            <a:pPr marL="285750" indent="-285750">
              <a:buFont typeface="Arial" panose="020B0604020202020204" pitchFamily="34" charset="0"/>
              <a:buChar char="•"/>
            </a:pPr>
            <a:endParaRPr lang="en-IN" sz="1600" dirty="0" smtClean="0">
              <a:latin typeface="Marcellus"/>
            </a:endParaRPr>
          </a:p>
          <a:p>
            <a:pPr marL="285750" indent="-285750">
              <a:buFont typeface="Arial" panose="020B0604020202020204" pitchFamily="34" charset="0"/>
              <a:buChar char="•"/>
            </a:pPr>
            <a:r>
              <a:rPr lang="en-IN" sz="1600" dirty="0" smtClean="0">
                <a:latin typeface="Marcellus"/>
              </a:rPr>
              <a:t>P0 enters RS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smtClean="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smtClean="0">
              <a:latin typeface="Marcellus"/>
            </a:endParaRP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endParaRPr lang="en-IN" sz="1600" dirty="0" smtClean="0">
              <a:latin typeface="Marcellus"/>
            </a:endParaRPr>
          </a:p>
          <a:p>
            <a:pPr marL="285750" indent="-285750">
              <a:buFont typeface="Arial" panose="020B0604020202020204" pitchFamily="34" charset="0"/>
              <a:buChar char="•"/>
            </a:pPr>
            <a:endParaRPr lang="en-IN" sz="1600" dirty="0" smtClean="0">
              <a:latin typeface="Marcellus"/>
            </a:endParaRPr>
          </a:p>
        </p:txBody>
      </p:sp>
      <p:sp>
        <p:nvSpPr>
          <p:cNvPr id="14" name="TextBox 13"/>
          <p:cNvSpPr txBox="1"/>
          <p:nvPr/>
        </p:nvSpPr>
        <p:spPr>
          <a:xfrm>
            <a:off x="9130352" y="852751"/>
            <a:ext cx="2866029" cy="3293209"/>
          </a:xfrm>
          <a:prstGeom prst="rect">
            <a:avLst/>
          </a:prstGeom>
          <a:noFill/>
        </p:spPr>
        <p:txBody>
          <a:bodyPr wrap="square" rtlCol="0">
            <a:spAutoFit/>
          </a:bodyPr>
          <a:lstStyle/>
          <a:p>
            <a:pPr marL="285750" indent="-285750">
              <a:buFont typeface="Arial" panose="020B0604020202020204" pitchFamily="34" charset="0"/>
              <a:buChar char="•"/>
            </a:pPr>
            <a:r>
              <a:rPr lang="en-IN" sz="1600" dirty="0" smtClean="0">
                <a:latin typeface="Marcellus"/>
              </a:rPr>
              <a:t>Now P1 tries to enter CS</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So Pair (L,K)=(F,T)</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The value will be swapped</a:t>
            </a:r>
          </a:p>
          <a:p>
            <a:pPr marL="285750" indent="-285750">
              <a:buFont typeface="Arial" panose="020B0604020202020204" pitchFamily="34" charset="0"/>
              <a:buChar char="•"/>
            </a:pPr>
            <a:r>
              <a:rPr lang="en-IN" sz="1600" dirty="0" smtClean="0">
                <a:latin typeface="Marcellus"/>
              </a:rPr>
              <a:t>Key will become False</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Pair(L,K)=(T,F)</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Control comes out of while </a:t>
            </a:r>
          </a:p>
          <a:p>
            <a:pPr marL="285750" indent="-285750">
              <a:buFont typeface="Arial" panose="020B0604020202020204" pitchFamily="34" charset="0"/>
              <a:buChar char="•"/>
            </a:pPr>
            <a:endParaRPr lang="en-IN" sz="1600" dirty="0">
              <a:latin typeface="Marcellus"/>
            </a:endParaRPr>
          </a:p>
          <a:p>
            <a:pPr marL="285750" indent="-285750">
              <a:buFont typeface="Arial" panose="020B0604020202020204" pitchFamily="34" charset="0"/>
              <a:buChar char="•"/>
            </a:pPr>
            <a:r>
              <a:rPr lang="en-IN" sz="1600" dirty="0" smtClean="0">
                <a:latin typeface="Marcellus"/>
              </a:rPr>
              <a:t>Enters CS</a:t>
            </a:r>
            <a:endParaRPr lang="en-IN" sz="1600" dirty="0">
              <a:latin typeface="Marcellus"/>
            </a:endParaRPr>
          </a:p>
          <a:p>
            <a:pPr marL="285750" indent="-285750">
              <a:buFont typeface="Arial" panose="020B0604020202020204" pitchFamily="34" charset="0"/>
              <a:buChar char="•"/>
            </a:pPr>
            <a:endParaRPr lang="en-IN" sz="1600" dirty="0" smtClean="0">
              <a:latin typeface="Marcellus"/>
            </a:endParaRPr>
          </a:p>
        </p:txBody>
      </p:sp>
      <p:sp>
        <p:nvSpPr>
          <p:cNvPr id="15" name="Right Arrow 14"/>
          <p:cNvSpPr/>
          <p:nvPr/>
        </p:nvSpPr>
        <p:spPr>
          <a:xfrm flipV="1">
            <a:off x="6782934" y="1945519"/>
            <a:ext cx="2210937" cy="4322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389420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600" dirty="0" smtClean="0">
                <a:solidFill>
                  <a:srgbClr val="C00000"/>
                </a:solidFill>
                <a:latin typeface="Marcellus" panose="020E0602050203020307" pitchFamily="34" charset="0"/>
              </a:rPr>
              <a:t>Reading Assignment: Hardware Synchronization</a:t>
            </a:r>
            <a:endParaRPr lang="en-US" sz="36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211543"/>
            <a:ext cx="10315074" cy="448703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4294967295"/>
          </p:nvPr>
        </p:nvSpPr>
        <p:spPr>
          <a:xfrm>
            <a:off x="838200" y="6356350"/>
            <a:ext cx="2743200" cy="365125"/>
          </a:xfrm>
          <a:prstGeom prst="rect">
            <a:avLst/>
          </a:prstGeom>
        </p:spPr>
        <p:txBody>
          <a:bodyPr/>
          <a:lstStyle/>
          <a:p>
            <a:fld id="{FAE70193-4DE0-4641-96C9-03602A486AF2}"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822158" y="1211543"/>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IN" sz="2000" dirty="0" smtClean="0"/>
          </a:p>
          <a:p>
            <a:pPr marL="457200" indent="-457200">
              <a:buFont typeface="+mj-lt"/>
              <a:buAutoNum type="arabicParenR"/>
            </a:pPr>
            <a:r>
              <a:rPr lang="en-IN" sz="2400" b="1" dirty="0" smtClean="0">
                <a:solidFill>
                  <a:srgbClr val="C00000"/>
                </a:solidFill>
              </a:rPr>
              <a:t>Test Memory word and Set value-Test and Set()</a:t>
            </a:r>
          </a:p>
          <a:p>
            <a:pPr marL="457200" indent="-457200">
              <a:buFont typeface="+mj-lt"/>
              <a:buAutoNum type="arabicParenR"/>
            </a:pPr>
            <a:r>
              <a:rPr lang="en-IN" sz="2400" b="1" dirty="0" smtClean="0">
                <a:solidFill>
                  <a:srgbClr val="C00000"/>
                </a:solidFill>
              </a:rPr>
              <a:t>Swap contents of two memory words-Swap() </a:t>
            </a:r>
          </a:p>
          <a:p>
            <a:pPr marL="457200" indent="-457200">
              <a:buFont typeface="+mj-lt"/>
              <a:buAutoNum type="arabicParenR"/>
            </a:pPr>
            <a:endParaRPr lang="en-IN" sz="2400" b="1" dirty="0">
              <a:solidFill>
                <a:srgbClr val="C00000"/>
              </a:solidFill>
            </a:endParaRPr>
          </a:p>
          <a:p>
            <a:pPr marL="0" indent="0">
              <a:buNone/>
            </a:pPr>
            <a:r>
              <a:rPr lang="en-IN" sz="2400" b="1" dirty="0" smtClean="0">
                <a:solidFill>
                  <a:srgbClr val="C00000"/>
                </a:solidFill>
              </a:rPr>
              <a:t>These algorithms do not satisfy the bounded waiting requirement</a:t>
            </a:r>
            <a:endParaRPr lang="en-IN" b="1" dirty="0">
              <a:solidFill>
                <a:srgbClr val="C00000"/>
              </a:solidFill>
            </a:endParaRPr>
          </a:p>
        </p:txBody>
      </p:sp>
    </p:spTree>
    <p:extLst>
      <p:ext uri="{BB962C8B-B14F-4D97-AF65-F5344CB8AC3E}">
        <p14:creationId xmlns:p14="http://schemas.microsoft.com/office/powerpoint/2010/main" val="304229061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1064524" y="191861"/>
            <a:ext cx="10732441" cy="721920"/>
          </a:xfrm>
        </p:spPr>
        <p:txBody>
          <a:bodyPr>
            <a:normAutofit fontScale="90000"/>
          </a:bodyPr>
          <a:lstStyle/>
          <a:p>
            <a:pPr algn="ctr"/>
            <a:r>
              <a:rPr lang="en-US" sz="3200" dirty="0">
                <a:solidFill>
                  <a:srgbClr val="C00000"/>
                </a:solidFill>
                <a:latin typeface="Marcellus" panose="020E0602050203020307" pitchFamily="34" charset="0"/>
              </a:rPr>
              <a:t>Reading Assignment: Bounded </a:t>
            </a:r>
            <a:r>
              <a:rPr lang="en-US" sz="3200" dirty="0" smtClean="0">
                <a:solidFill>
                  <a:srgbClr val="C00000"/>
                </a:solidFill>
                <a:latin typeface="Marcellus" panose="020E0602050203020307" pitchFamily="34" charset="0"/>
              </a:rPr>
              <a:t>Waiting </a:t>
            </a:r>
            <a:r>
              <a:rPr lang="en-US" sz="3200" dirty="0">
                <a:solidFill>
                  <a:srgbClr val="C00000"/>
                </a:solidFill>
                <a:latin typeface="Marcellus" panose="020E0602050203020307" pitchFamily="34" charset="0"/>
              </a:rPr>
              <a:t>implementation with </a:t>
            </a:r>
            <a:r>
              <a:rPr lang="en-US" sz="3200" dirty="0" smtClean="0">
                <a:solidFill>
                  <a:srgbClr val="C00000"/>
                </a:solidFill>
                <a:latin typeface="Marcellus" panose="020E0602050203020307" pitchFamily="34" charset="0"/>
              </a:rPr>
              <a:t>test and set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4294967295"/>
          </p:nvPr>
        </p:nvSpPr>
        <p:spPr>
          <a:xfrm>
            <a:off x="838200" y="6356350"/>
            <a:ext cx="2743200" cy="365125"/>
          </a:xfrm>
          <a:prstGeom prst="rect">
            <a:avLst/>
          </a:prstGeom>
        </p:spPr>
        <p:txBody>
          <a:bodyPr/>
          <a:lstStyle/>
          <a:p>
            <a:fld id="{634D78CC-48E5-4BE2-B1F6-4A380D656DA2}"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822158" y="953778"/>
            <a:ext cx="103150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2400" dirty="0" smtClean="0">
                <a:latin typeface="Marcellus"/>
                <a:ea typeface="ＭＳ Ｐゴシック" charset="0"/>
                <a:cs typeface="ＭＳ Ｐゴシック" charset="0"/>
              </a:rPr>
              <a:t>Solution:</a:t>
            </a:r>
          </a:p>
          <a:p>
            <a:pPr>
              <a:tabLst>
                <a:tab pos="742278" algn="l"/>
                <a:tab pos="1023411" algn="l"/>
                <a:tab pos="1258984" algn="l"/>
              </a:tabLst>
              <a:defRPr/>
            </a:pPr>
            <a:endParaRPr lang="en-US" sz="2000" dirty="0">
              <a:latin typeface="Marcellus"/>
              <a:ea typeface="ＭＳ Ｐゴシック" charset="0"/>
              <a:cs typeface="Courier New"/>
            </a:endParaRP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158" y="1569492"/>
            <a:ext cx="5919872" cy="3575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ight Arrow 12"/>
          <p:cNvSpPr/>
          <p:nvPr/>
        </p:nvSpPr>
        <p:spPr>
          <a:xfrm>
            <a:off x="6037861" y="2183642"/>
            <a:ext cx="2483893" cy="259308"/>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14" name="TextBox 13"/>
          <p:cNvSpPr txBox="1"/>
          <p:nvPr/>
        </p:nvSpPr>
        <p:spPr>
          <a:xfrm>
            <a:off x="9508388" y="3161620"/>
            <a:ext cx="2524977" cy="523220"/>
          </a:xfrm>
          <a:prstGeom prst="rect">
            <a:avLst/>
          </a:prstGeom>
          <a:noFill/>
        </p:spPr>
        <p:txBody>
          <a:bodyPr wrap="square" rtlCol="0">
            <a:spAutoFit/>
          </a:bodyPr>
          <a:lstStyle/>
          <a:p>
            <a:r>
              <a:rPr lang="en-IN" sz="2800" b="1" dirty="0" smtClean="0">
                <a:solidFill>
                  <a:schemeClr val="accent5"/>
                </a:solidFill>
              </a:rPr>
              <a:t>Exit Code</a:t>
            </a:r>
            <a:endParaRPr lang="en-IN" sz="2800" b="1" dirty="0">
              <a:solidFill>
                <a:schemeClr val="accent5"/>
              </a:solidFill>
            </a:endParaRPr>
          </a:p>
        </p:txBody>
      </p:sp>
      <p:sp>
        <p:nvSpPr>
          <p:cNvPr id="15" name="Right Arrow 14"/>
          <p:cNvSpPr/>
          <p:nvPr/>
        </p:nvSpPr>
        <p:spPr>
          <a:xfrm>
            <a:off x="6742030" y="3295189"/>
            <a:ext cx="2483893" cy="259308"/>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16" name="TextBox 15"/>
          <p:cNvSpPr txBox="1"/>
          <p:nvPr/>
        </p:nvSpPr>
        <p:spPr>
          <a:xfrm>
            <a:off x="8612255" y="2044863"/>
            <a:ext cx="2524977" cy="523220"/>
          </a:xfrm>
          <a:prstGeom prst="rect">
            <a:avLst/>
          </a:prstGeom>
          <a:noFill/>
        </p:spPr>
        <p:txBody>
          <a:bodyPr wrap="square" rtlCol="0">
            <a:spAutoFit/>
          </a:bodyPr>
          <a:lstStyle/>
          <a:p>
            <a:r>
              <a:rPr lang="en-IN" sz="2800" b="1" dirty="0" smtClean="0">
                <a:solidFill>
                  <a:schemeClr val="accent5"/>
                </a:solidFill>
              </a:rPr>
              <a:t>Entry Code</a:t>
            </a:r>
            <a:endParaRPr lang="en-IN" sz="2800" b="1" dirty="0">
              <a:solidFill>
                <a:schemeClr val="accent5"/>
              </a:solidFill>
            </a:endParaRPr>
          </a:p>
        </p:txBody>
      </p:sp>
    </p:spTree>
    <p:extLst>
      <p:ext uri="{BB962C8B-B14F-4D97-AF65-F5344CB8AC3E}">
        <p14:creationId xmlns:p14="http://schemas.microsoft.com/office/powerpoint/2010/main" val="117627080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1119116" y="191861"/>
            <a:ext cx="10677850" cy="721920"/>
          </a:xfrm>
        </p:spPr>
        <p:txBody>
          <a:bodyPr>
            <a:normAutofit fontScale="90000"/>
          </a:bodyPr>
          <a:lstStyle/>
          <a:p>
            <a:pPr algn="ctr"/>
            <a:r>
              <a:rPr lang="en-US" sz="3200" dirty="0">
                <a:solidFill>
                  <a:srgbClr val="C00000"/>
                </a:solidFill>
                <a:latin typeface="Marcellus" panose="020E0602050203020307" pitchFamily="34" charset="0"/>
              </a:rPr>
              <a:t>Reading Assignment: Bounded </a:t>
            </a:r>
            <a:r>
              <a:rPr lang="en-US" sz="3200" dirty="0" smtClean="0">
                <a:solidFill>
                  <a:srgbClr val="C00000"/>
                </a:solidFill>
                <a:latin typeface="Marcellus" panose="020E0602050203020307" pitchFamily="34" charset="0"/>
              </a:rPr>
              <a:t>Waiting </a:t>
            </a:r>
            <a:r>
              <a:rPr lang="en-US" sz="3200" dirty="0">
                <a:solidFill>
                  <a:srgbClr val="C00000"/>
                </a:solidFill>
                <a:latin typeface="Marcellus" panose="020E0602050203020307" pitchFamily="34" charset="0"/>
              </a:rPr>
              <a:t>implementation with </a:t>
            </a:r>
            <a:r>
              <a:rPr lang="en-US" sz="3200" dirty="0" smtClean="0">
                <a:solidFill>
                  <a:srgbClr val="C00000"/>
                </a:solidFill>
                <a:latin typeface="Marcellus" panose="020E0602050203020307" pitchFamily="34" charset="0"/>
              </a:rPr>
              <a:t>test and set ()</a:t>
            </a:r>
            <a:endParaRPr lang="en-US" sz="3200" dirty="0"/>
          </a:p>
        </p:txBody>
      </p:sp>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6605516" y="953778"/>
            <a:ext cx="4531716"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2400" dirty="0" smtClean="0">
                <a:latin typeface="Marcellus"/>
                <a:ea typeface="ＭＳ Ｐゴシック" charset="0"/>
                <a:cs typeface="ＭＳ Ｐゴシック" charset="0"/>
              </a:rPr>
              <a:t>Solution:</a:t>
            </a:r>
            <a:r>
              <a:rPr lang="en-US" sz="2000" dirty="0">
                <a:latin typeface="Marcellus"/>
                <a:ea typeface="ＭＳ Ｐゴシック" charset="0"/>
                <a:cs typeface="Courier New"/>
              </a:rPr>
              <a:t> </a:t>
            </a:r>
            <a:r>
              <a:rPr lang="en-US" sz="2000" dirty="0" smtClean="0">
                <a:latin typeface="Marcellus"/>
                <a:ea typeface="ＭＳ Ｐゴシック" charset="0"/>
                <a:cs typeface="Courier New"/>
              </a:rPr>
              <a:t>Satisfies all 3 critical section requirements</a:t>
            </a:r>
          </a:p>
          <a:p>
            <a:pPr>
              <a:tabLst>
                <a:tab pos="742278" algn="l"/>
                <a:tab pos="1023411" algn="l"/>
                <a:tab pos="1258984" algn="l"/>
              </a:tabLst>
              <a:defRPr/>
            </a:pPr>
            <a:endParaRPr lang="en-US" sz="2000" dirty="0">
              <a:latin typeface="Marcellus"/>
              <a:ea typeface="ＭＳ Ｐゴシック" charset="0"/>
              <a:cs typeface="Courier New"/>
            </a:endParaRPr>
          </a:p>
          <a:p>
            <a:pPr>
              <a:tabLst>
                <a:tab pos="742278" algn="l"/>
                <a:tab pos="1023411" algn="l"/>
                <a:tab pos="1258984" algn="l"/>
              </a:tabLst>
              <a:defRPr/>
            </a:pPr>
            <a:r>
              <a:rPr lang="en-US" sz="2000" dirty="0" smtClean="0">
                <a:latin typeface="Marcellus"/>
                <a:ea typeface="ＭＳ Ｐゴシック" charset="0"/>
                <a:cs typeface="Courier New"/>
              </a:rPr>
              <a:t>Shared Data </a:t>
            </a:r>
            <a:r>
              <a:rPr lang="en-US" sz="2000" dirty="0" err="1" smtClean="0">
                <a:latin typeface="Marcellus"/>
                <a:ea typeface="ＭＳ Ｐゴシック" charset="0"/>
                <a:cs typeface="Courier New"/>
              </a:rPr>
              <a:t>strcutures</a:t>
            </a:r>
            <a:r>
              <a:rPr lang="en-US" sz="2000" dirty="0" smtClean="0">
                <a:latin typeface="Marcellus"/>
                <a:ea typeface="ＭＳ Ｐゴシック" charset="0"/>
                <a:cs typeface="Courier New"/>
              </a:rPr>
              <a:t>/Global variables</a:t>
            </a:r>
          </a:p>
          <a:p>
            <a:pPr lvl="1">
              <a:tabLst>
                <a:tab pos="742278" algn="l"/>
                <a:tab pos="1023411" algn="l"/>
                <a:tab pos="1258984" algn="l"/>
              </a:tabLst>
              <a:defRPr/>
            </a:pPr>
            <a:r>
              <a:rPr lang="en-US" sz="2000" dirty="0" err="1">
                <a:latin typeface="Marcellus"/>
                <a:ea typeface="ＭＳ Ｐゴシック" charset="0"/>
                <a:cs typeface="Courier New"/>
              </a:rPr>
              <a:t>boolean</a:t>
            </a:r>
            <a:r>
              <a:rPr lang="en-US" sz="2000" dirty="0">
                <a:latin typeface="Marcellus"/>
                <a:ea typeface="ＭＳ Ｐゴシック" charset="0"/>
                <a:cs typeface="Courier New"/>
              </a:rPr>
              <a:t> waiting[n</a:t>
            </a:r>
            <a:r>
              <a:rPr lang="en-US" sz="2000" dirty="0" smtClean="0">
                <a:latin typeface="Marcellus"/>
                <a:ea typeface="ＭＳ Ｐゴシック" charset="0"/>
                <a:cs typeface="Courier New"/>
              </a:rPr>
              <a:t>];</a:t>
            </a:r>
          </a:p>
          <a:p>
            <a:pPr lvl="1">
              <a:tabLst>
                <a:tab pos="742278" algn="l"/>
                <a:tab pos="1023411" algn="l"/>
                <a:tab pos="1258984" algn="l"/>
              </a:tabLst>
              <a:defRPr/>
            </a:pPr>
            <a:r>
              <a:rPr lang="en-US" sz="2000" dirty="0" err="1" smtClean="0">
                <a:latin typeface="Marcellus"/>
                <a:ea typeface="ＭＳ Ｐゴシック" charset="0"/>
                <a:cs typeface="Courier New"/>
              </a:rPr>
              <a:t>boolean</a:t>
            </a:r>
            <a:r>
              <a:rPr lang="en-US" sz="2000" dirty="0" smtClean="0">
                <a:latin typeface="Marcellus"/>
                <a:ea typeface="ＭＳ Ｐゴシック" charset="0"/>
                <a:cs typeface="Courier New"/>
              </a:rPr>
              <a:t> lock;</a:t>
            </a:r>
          </a:p>
          <a:p>
            <a:pPr lvl="1">
              <a:tabLst>
                <a:tab pos="742278" algn="l"/>
                <a:tab pos="1023411" algn="l"/>
                <a:tab pos="1258984" algn="l"/>
              </a:tabLst>
              <a:defRPr/>
            </a:pPr>
            <a:endParaRPr lang="en-US" sz="2000" dirty="0">
              <a:latin typeface="Marcellus"/>
              <a:ea typeface="ＭＳ Ｐゴシック" charset="0"/>
              <a:cs typeface="Courier New"/>
            </a:endParaRPr>
          </a:p>
          <a:p>
            <a:pPr>
              <a:tabLst>
                <a:tab pos="742278" algn="l"/>
                <a:tab pos="1023411" algn="l"/>
                <a:tab pos="1258984" algn="l"/>
              </a:tabLst>
              <a:defRPr/>
            </a:pPr>
            <a:r>
              <a:rPr lang="en-US" sz="2000" dirty="0" smtClean="0">
                <a:latin typeface="Marcellus"/>
                <a:ea typeface="ＭＳ Ｐゴシック" charset="0"/>
                <a:cs typeface="Courier New"/>
              </a:rPr>
              <a:t>Both initialized to false</a:t>
            </a:r>
          </a:p>
          <a:p>
            <a:pPr lvl="1">
              <a:tabLst>
                <a:tab pos="742278" algn="l"/>
                <a:tab pos="1023411" algn="l"/>
                <a:tab pos="1258984" algn="l"/>
              </a:tabLst>
              <a:defRPr/>
            </a:pPr>
            <a:endParaRPr lang="en-US" sz="2000" dirty="0" smtClean="0">
              <a:latin typeface="Marcellus"/>
              <a:ea typeface="ＭＳ Ｐゴシック" charset="0"/>
              <a:cs typeface="ＭＳ Ｐゴシック"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259" y="1132764"/>
            <a:ext cx="5919872" cy="35757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Placeholder 5"/>
          <p:cNvSpPr>
            <a:spLocks noGrp="1"/>
          </p:cNvSpPr>
          <p:nvPr>
            <p:ph type="body" idx="1"/>
          </p:nvPr>
        </p:nvSpPr>
        <p:spPr/>
        <p:txBody>
          <a:bodyPr/>
          <a:lstStyle/>
          <a:p>
            <a:endParaRPr lang="en-IN"/>
          </a:p>
        </p:txBody>
      </p:sp>
    </p:spTree>
    <p:extLst>
      <p:ext uri="{BB962C8B-B14F-4D97-AF65-F5344CB8AC3E}">
        <p14:creationId xmlns:p14="http://schemas.microsoft.com/office/powerpoint/2010/main" val="197021511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1050878" y="191861"/>
            <a:ext cx="10746088" cy="721920"/>
          </a:xfrm>
        </p:spPr>
        <p:txBody>
          <a:bodyPr>
            <a:normAutofit fontScale="90000"/>
          </a:bodyPr>
          <a:lstStyle/>
          <a:p>
            <a:pPr algn="ctr"/>
            <a:r>
              <a:rPr lang="en-US" sz="3200" dirty="0">
                <a:solidFill>
                  <a:srgbClr val="C00000"/>
                </a:solidFill>
                <a:latin typeface="Marcellus" panose="020E0602050203020307" pitchFamily="34" charset="0"/>
              </a:rPr>
              <a:t>Reading Assignment: Bounded </a:t>
            </a:r>
            <a:r>
              <a:rPr lang="en-US" sz="3200" dirty="0" smtClean="0">
                <a:solidFill>
                  <a:srgbClr val="C00000"/>
                </a:solidFill>
                <a:latin typeface="Marcellus" panose="020E0602050203020307" pitchFamily="34" charset="0"/>
              </a:rPr>
              <a:t>Waiting </a:t>
            </a:r>
            <a:r>
              <a:rPr lang="en-US" sz="3200" dirty="0">
                <a:solidFill>
                  <a:srgbClr val="C00000"/>
                </a:solidFill>
                <a:latin typeface="Marcellus" panose="020E0602050203020307" pitchFamily="34" charset="0"/>
              </a:rPr>
              <a:t>implementation with </a:t>
            </a:r>
            <a:r>
              <a:rPr lang="en-US" sz="3200" dirty="0" smtClean="0">
                <a:solidFill>
                  <a:srgbClr val="C00000"/>
                </a:solidFill>
                <a:latin typeface="Marcellus" panose="020E0602050203020307" pitchFamily="34" charset="0"/>
              </a:rPr>
              <a:t>test and set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4294967295"/>
          </p:nvPr>
        </p:nvSpPr>
        <p:spPr>
          <a:xfrm>
            <a:off x="838200" y="6356350"/>
            <a:ext cx="2743200" cy="365125"/>
          </a:xfrm>
          <a:prstGeom prst="rect">
            <a:avLst/>
          </a:prstGeom>
        </p:spPr>
        <p:txBody>
          <a:bodyPr/>
          <a:lstStyle/>
          <a:p>
            <a:fld id="{8A93B03C-81BF-4F2E-A70D-0C8B2B0C6579}"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6428131" y="953778"/>
            <a:ext cx="552730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2200" dirty="0" smtClean="0">
                <a:latin typeface="Marcellus"/>
                <a:ea typeface="ＭＳ Ｐゴシック" charset="0"/>
                <a:cs typeface="ＭＳ Ｐゴシック" charset="0"/>
              </a:rPr>
              <a:t>Lock is initialized to False</a:t>
            </a:r>
          </a:p>
          <a:p>
            <a:pPr>
              <a:tabLst>
                <a:tab pos="742278" algn="l"/>
                <a:tab pos="1023411" algn="l"/>
                <a:tab pos="1258984" algn="l"/>
              </a:tabLst>
              <a:defRPr/>
            </a:pPr>
            <a:r>
              <a:rPr lang="en-US" sz="2200" dirty="0" smtClean="0">
                <a:latin typeface="Marcellus"/>
                <a:ea typeface="ＭＳ Ｐゴシック" charset="0"/>
                <a:cs typeface="ＭＳ Ｐゴシック" charset="0"/>
              </a:rPr>
              <a:t>Pi can enter its critical section only if either waiting[</a:t>
            </a:r>
            <a:r>
              <a:rPr lang="en-US" sz="2200" dirty="0" err="1" smtClean="0">
                <a:latin typeface="Marcellus"/>
                <a:ea typeface="ＭＳ Ｐゴシック" charset="0"/>
                <a:cs typeface="ＭＳ Ｐゴシック" charset="0"/>
              </a:rPr>
              <a:t>i</a:t>
            </a:r>
            <a:r>
              <a:rPr lang="en-US" sz="2200" dirty="0" smtClean="0">
                <a:latin typeface="Marcellus"/>
                <a:ea typeface="ＭＳ Ｐゴシック" charset="0"/>
                <a:cs typeface="ＭＳ Ｐゴシック" charset="0"/>
              </a:rPr>
              <a:t>]==false or key==false</a:t>
            </a:r>
          </a:p>
          <a:p>
            <a:pPr>
              <a:tabLst>
                <a:tab pos="742278" algn="l"/>
                <a:tab pos="1023411" algn="l"/>
                <a:tab pos="1258984" algn="l"/>
              </a:tabLst>
              <a:defRPr/>
            </a:pPr>
            <a:endParaRPr lang="en-US" sz="2200" dirty="0">
              <a:latin typeface="Marcellus"/>
              <a:ea typeface="ＭＳ Ｐゴシック" charset="0"/>
              <a:cs typeface="Courier New"/>
            </a:endParaRPr>
          </a:p>
          <a:p>
            <a:pPr>
              <a:tabLst>
                <a:tab pos="742278" algn="l"/>
                <a:tab pos="1023411" algn="l"/>
                <a:tab pos="1258984" algn="l"/>
              </a:tabLst>
              <a:defRPr/>
            </a:pPr>
            <a:r>
              <a:rPr lang="en-US" sz="2200" dirty="0" smtClean="0">
                <a:latin typeface="Marcellus"/>
                <a:ea typeface="ＭＳ Ｐゴシック" charset="0"/>
                <a:cs typeface="Courier New"/>
              </a:rPr>
              <a:t>The value of Key can become false only if </a:t>
            </a:r>
            <a:r>
              <a:rPr lang="en-US" sz="2200" dirty="0" err="1" smtClean="0">
                <a:latin typeface="Marcellus"/>
                <a:ea typeface="ＭＳ Ｐゴシック" charset="0"/>
                <a:cs typeface="Courier New"/>
              </a:rPr>
              <a:t>Test&amp;Set</a:t>
            </a:r>
            <a:r>
              <a:rPr lang="en-US" sz="2200" dirty="0" smtClean="0">
                <a:latin typeface="Marcellus"/>
                <a:ea typeface="ＭＳ Ｐゴシック" charset="0"/>
                <a:cs typeface="Courier New"/>
              </a:rPr>
              <a:t>() is executed</a:t>
            </a:r>
          </a:p>
          <a:p>
            <a:pPr>
              <a:tabLst>
                <a:tab pos="742278" algn="l"/>
                <a:tab pos="1023411" algn="l"/>
                <a:tab pos="1258984" algn="l"/>
              </a:tabLst>
              <a:defRPr/>
            </a:pPr>
            <a:endParaRPr lang="en-US" sz="2200" dirty="0">
              <a:latin typeface="Marcellus"/>
              <a:ea typeface="ＭＳ Ｐゴシック" charset="0"/>
              <a:cs typeface="Courier New"/>
            </a:endParaRPr>
          </a:p>
          <a:p>
            <a:pPr>
              <a:tabLst>
                <a:tab pos="742278" algn="l"/>
                <a:tab pos="1023411" algn="l"/>
                <a:tab pos="1258984" algn="l"/>
              </a:tabLst>
              <a:defRPr/>
            </a:pPr>
            <a:r>
              <a:rPr lang="en-US" sz="2200" dirty="0" smtClean="0">
                <a:latin typeface="Marcellus"/>
                <a:ea typeface="ＭＳ Ｐゴシック" charset="0"/>
                <a:cs typeface="Courier New"/>
              </a:rPr>
              <a:t>The 1</a:t>
            </a:r>
            <a:r>
              <a:rPr lang="en-US" sz="2200" baseline="30000" dirty="0" smtClean="0">
                <a:latin typeface="Marcellus"/>
                <a:ea typeface="ＭＳ Ｐゴシック" charset="0"/>
                <a:cs typeface="Courier New"/>
              </a:rPr>
              <a:t>st</a:t>
            </a:r>
            <a:r>
              <a:rPr lang="en-US" sz="2200" dirty="0" smtClean="0">
                <a:latin typeface="Marcellus"/>
                <a:ea typeface="ＭＳ Ｐゴシック" charset="0"/>
                <a:cs typeface="Courier New"/>
              </a:rPr>
              <a:t> process to execute the </a:t>
            </a:r>
            <a:r>
              <a:rPr lang="en-US" sz="2200" dirty="0" err="1" smtClean="0">
                <a:latin typeface="Marcellus"/>
                <a:ea typeface="ＭＳ Ｐゴシック" charset="0"/>
                <a:cs typeface="Courier New"/>
              </a:rPr>
              <a:t>Test&amp;Set</a:t>
            </a:r>
            <a:r>
              <a:rPr lang="en-US" sz="2200" dirty="0" smtClean="0">
                <a:latin typeface="Marcellus"/>
                <a:ea typeface="ＭＳ Ｐゴシック" charset="0"/>
                <a:cs typeface="Courier New"/>
              </a:rPr>
              <a:t>() will set key==false and lock to True</a:t>
            </a:r>
          </a:p>
          <a:p>
            <a:pPr>
              <a:tabLst>
                <a:tab pos="742278" algn="l"/>
                <a:tab pos="1023411" algn="l"/>
                <a:tab pos="1258984" algn="l"/>
              </a:tabLst>
              <a:defRPr/>
            </a:pPr>
            <a:r>
              <a:rPr lang="en-US" sz="2200" dirty="0" smtClean="0">
                <a:latin typeface="Marcellus"/>
                <a:ea typeface="ＭＳ Ｐゴシック" charset="0"/>
                <a:cs typeface="Courier New"/>
              </a:rPr>
              <a:t>waiting[</a:t>
            </a:r>
            <a:r>
              <a:rPr lang="en-US" sz="2200" dirty="0" err="1" smtClean="0">
                <a:latin typeface="Marcellus"/>
                <a:ea typeface="ＭＳ Ｐゴシック" charset="0"/>
                <a:cs typeface="Courier New"/>
              </a:rPr>
              <a:t>i</a:t>
            </a:r>
            <a:r>
              <a:rPr lang="en-US" sz="2200" dirty="0" smtClean="0">
                <a:latin typeface="Marcellus"/>
                <a:ea typeface="ＭＳ Ｐゴシック" charset="0"/>
                <a:cs typeface="Courier New"/>
              </a:rPr>
              <a:t>] of Pi=False</a:t>
            </a:r>
            <a:endParaRPr lang="en-US" sz="2200" dirty="0">
              <a:latin typeface="Marcellus"/>
              <a:ea typeface="ＭＳ Ｐゴシック" charset="0"/>
              <a:cs typeface="Courier New"/>
            </a:endParaRPr>
          </a:p>
          <a:p>
            <a:pPr>
              <a:tabLst>
                <a:tab pos="742278" algn="l"/>
                <a:tab pos="1023411" algn="l"/>
                <a:tab pos="1258984" algn="l"/>
              </a:tabLst>
              <a:defRPr/>
            </a:pPr>
            <a:r>
              <a:rPr lang="en-US" sz="2200" dirty="0" smtClean="0">
                <a:latin typeface="Marcellus"/>
                <a:ea typeface="ＭＳ Ｐゴシック" charset="0"/>
                <a:cs typeface="Courier New"/>
              </a:rPr>
              <a:t>All other processes must wait</a:t>
            </a:r>
          </a:p>
          <a:p>
            <a:pPr lvl="1">
              <a:tabLst>
                <a:tab pos="742278" algn="l"/>
                <a:tab pos="1023411" algn="l"/>
                <a:tab pos="1258984" algn="l"/>
              </a:tabLst>
              <a:defRPr/>
            </a:pPr>
            <a:endParaRPr lang="en-US" sz="2000" dirty="0" smtClean="0">
              <a:latin typeface="Marcellus"/>
              <a:ea typeface="ＭＳ Ｐゴシック" charset="0"/>
              <a:cs typeface="ＭＳ Ｐゴシック" charset="0"/>
            </a:endParaRP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014" y="1132764"/>
            <a:ext cx="6308117" cy="4449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3010198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6027077" cy="721920"/>
          </a:xfrm>
        </p:spPr>
        <p:txBody>
          <a:bodyPr>
            <a:noAutofit/>
          </a:bodyPr>
          <a:lstStyle/>
          <a:p>
            <a:pPr algn="ctr"/>
            <a:r>
              <a:rPr lang="en-US" sz="2000" dirty="0">
                <a:solidFill>
                  <a:srgbClr val="C00000"/>
                </a:solidFill>
                <a:latin typeface="Marcellus" panose="020E0602050203020307" pitchFamily="34" charset="0"/>
              </a:rPr>
              <a:t>Reading Assignment: Bounded </a:t>
            </a:r>
            <a:r>
              <a:rPr lang="en-US" sz="2000" dirty="0" smtClean="0">
                <a:solidFill>
                  <a:srgbClr val="C00000"/>
                </a:solidFill>
                <a:latin typeface="Marcellus" panose="020E0602050203020307" pitchFamily="34" charset="0"/>
              </a:rPr>
              <a:t>Waiting </a:t>
            </a:r>
            <a:r>
              <a:rPr lang="en-US" sz="2000" dirty="0">
                <a:solidFill>
                  <a:srgbClr val="C00000"/>
                </a:solidFill>
                <a:latin typeface="Marcellus" panose="020E0602050203020307" pitchFamily="34" charset="0"/>
              </a:rPr>
              <a:t>implementation with </a:t>
            </a:r>
            <a:r>
              <a:rPr lang="en-US" sz="2000" dirty="0" smtClean="0">
                <a:solidFill>
                  <a:srgbClr val="C00000"/>
                </a:solidFill>
                <a:latin typeface="Marcellus" panose="020E0602050203020307" pitchFamily="34" charset="0"/>
              </a:rPr>
              <a:t>test and set ()</a:t>
            </a:r>
            <a:endParaRPr lang="en-US" sz="20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4294967295"/>
          </p:nvPr>
        </p:nvSpPr>
        <p:spPr>
          <a:xfrm>
            <a:off x="838200" y="6356350"/>
            <a:ext cx="2743200" cy="365125"/>
          </a:xfrm>
          <a:prstGeom prst="rect">
            <a:avLst/>
          </a:prstGeom>
        </p:spPr>
        <p:txBody>
          <a:bodyPr/>
          <a:lstStyle/>
          <a:p>
            <a:fld id="{48703FB7-DCA3-422D-85A4-97C040184841}"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6496369" y="0"/>
            <a:ext cx="6555474"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742278" algn="l"/>
                <a:tab pos="1023411" algn="l"/>
                <a:tab pos="1258984" algn="l"/>
              </a:tabLst>
              <a:defRPr/>
            </a:pPr>
            <a:r>
              <a:rPr lang="en-US" sz="1800" dirty="0" smtClean="0">
                <a:latin typeface="Marcellus"/>
                <a:ea typeface="ＭＳ Ｐゴシック" charset="0"/>
                <a:cs typeface="ＭＳ Ｐゴシック" charset="0"/>
              </a:rPr>
              <a:t>Lock=false</a:t>
            </a:r>
          </a:p>
          <a:p>
            <a:pPr>
              <a:tabLst>
                <a:tab pos="742278" algn="l"/>
                <a:tab pos="1023411" algn="l"/>
                <a:tab pos="1258984" algn="l"/>
              </a:tabLst>
              <a:defRPr/>
            </a:pPr>
            <a:r>
              <a:rPr lang="en-US" sz="1800" dirty="0" smtClean="0">
                <a:latin typeface="Marcellus"/>
                <a:ea typeface="ＭＳ Ｐゴシック" charset="0"/>
                <a:cs typeface="ＭＳ Ｐゴシック" charset="0"/>
              </a:rPr>
              <a:t>For Pi , waiting and Key both are True</a:t>
            </a:r>
          </a:p>
          <a:p>
            <a:pPr>
              <a:tabLst>
                <a:tab pos="742278" algn="l"/>
                <a:tab pos="1023411" algn="l"/>
                <a:tab pos="1258984" algn="l"/>
              </a:tabLst>
              <a:defRPr/>
            </a:pPr>
            <a:r>
              <a:rPr lang="en-US" sz="1800" dirty="0" smtClean="0">
                <a:latin typeface="Marcellus"/>
                <a:ea typeface="ＭＳ Ｐゴシック" charset="0"/>
                <a:cs typeface="ＭＳ Ｐゴシック" charset="0"/>
              </a:rPr>
              <a:t>while </a:t>
            </a:r>
            <a:r>
              <a:rPr lang="en-US" sz="1800" dirty="0" err="1" smtClean="0">
                <a:latin typeface="Marcellus"/>
                <a:ea typeface="ＭＳ Ｐゴシック" charset="0"/>
                <a:cs typeface="ＭＳ Ｐゴシック" charset="0"/>
              </a:rPr>
              <a:t>Condtn</a:t>
            </a:r>
            <a:r>
              <a:rPr lang="en-US" sz="1800" dirty="0" smtClean="0">
                <a:latin typeface="Marcellus"/>
                <a:ea typeface="ＭＳ Ｐゴシック" charset="0"/>
                <a:cs typeface="ＭＳ Ｐゴシック" charset="0"/>
              </a:rPr>
              <a:t>=True</a:t>
            </a:r>
          </a:p>
          <a:p>
            <a:pPr lvl="1">
              <a:tabLst>
                <a:tab pos="742278" algn="l"/>
                <a:tab pos="1023411" algn="l"/>
                <a:tab pos="1258984" algn="l"/>
              </a:tabLst>
              <a:defRPr/>
            </a:pPr>
            <a:r>
              <a:rPr lang="en-US" sz="1800" dirty="0" smtClean="0">
                <a:latin typeface="Marcellus"/>
                <a:ea typeface="ＭＳ Ｐゴシック" charset="0"/>
                <a:cs typeface="ＭＳ Ｐゴシック" charset="0"/>
              </a:rPr>
              <a:t>Inside While Loop, </a:t>
            </a:r>
          </a:p>
          <a:p>
            <a:pPr lvl="1">
              <a:tabLst>
                <a:tab pos="742278" algn="l"/>
                <a:tab pos="1023411" algn="l"/>
                <a:tab pos="1258984" algn="l"/>
              </a:tabLst>
              <a:defRPr/>
            </a:pPr>
            <a:r>
              <a:rPr lang="en-US" sz="1800" dirty="0" smtClean="0">
                <a:latin typeface="Marcellus"/>
                <a:ea typeface="ＭＳ Ｐゴシック" charset="0"/>
                <a:cs typeface="ＭＳ Ｐゴシック" charset="0"/>
              </a:rPr>
              <a:t>Key=T&amp;S(&amp;Lock)</a:t>
            </a:r>
          </a:p>
          <a:p>
            <a:pPr lvl="1">
              <a:tabLst>
                <a:tab pos="742278" algn="l"/>
                <a:tab pos="1023411" algn="l"/>
                <a:tab pos="1258984" algn="l"/>
              </a:tabLst>
              <a:defRPr/>
            </a:pPr>
            <a:r>
              <a:rPr lang="en-US" sz="1800" dirty="0" smtClean="0">
                <a:latin typeface="Marcellus"/>
                <a:ea typeface="ＭＳ Ｐゴシック" charset="0"/>
                <a:cs typeface="ＭＳ Ｐゴシック" charset="0"/>
              </a:rPr>
              <a:t>So Key=False(Returns Original Value of Lock=False)</a:t>
            </a:r>
          </a:p>
          <a:p>
            <a:pPr lvl="1">
              <a:tabLst>
                <a:tab pos="742278" algn="l"/>
                <a:tab pos="1023411" algn="l"/>
                <a:tab pos="1258984" algn="l"/>
              </a:tabLst>
              <a:defRPr/>
            </a:pPr>
            <a:r>
              <a:rPr lang="en-US" sz="1800" dirty="0" smtClean="0">
                <a:latin typeface="Marcellus"/>
                <a:ea typeface="ＭＳ Ｐゴシック" charset="0"/>
                <a:cs typeface="ＭＳ Ｐゴシック" charset="0"/>
              </a:rPr>
              <a:t>Lock=True</a:t>
            </a:r>
          </a:p>
          <a:p>
            <a:pPr>
              <a:tabLst>
                <a:tab pos="742278" algn="l"/>
                <a:tab pos="1023411" algn="l"/>
                <a:tab pos="1258984" algn="l"/>
              </a:tabLst>
              <a:defRPr/>
            </a:pPr>
            <a:r>
              <a:rPr lang="en-US" sz="1800" dirty="0" smtClean="0">
                <a:latin typeface="Marcellus"/>
                <a:ea typeface="ＭＳ Ｐゴシック" charset="0"/>
                <a:cs typeface="ＭＳ Ｐゴシック" charset="0"/>
              </a:rPr>
              <a:t>exit form While loop as Key=false</a:t>
            </a:r>
          </a:p>
          <a:p>
            <a:pPr>
              <a:tabLst>
                <a:tab pos="742278" algn="l"/>
                <a:tab pos="1023411" algn="l"/>
                <a:tab pos="1258984" algn="l"/>
              </a:tabLst>
              <a:defRPr/>
            </a:pPr>
            <a:r>
              <a:rPr lang="en-US" sz="1800" dirty="0" smtClean="0">
                <a:latin typeface="Marcellus"/>
                <a:ea typeface="ＭＳ Ｐゴシック" charset="0"/>
                <a:cs typeface="ＭＳ Ｐゴシック" charset="0"/>
              </a:rPr>
              <a:t>Waiting of Pi finishes=false</a:t>
            </a:r>
          </a:p>
          <a:p>
            <a:pPr>
              <a:tabLst>
                <a:tab pos="742278" algn="l"/>
                <a:tab pos="1023411" algn="l"/>
                <a:tab pos="1258984" algn="l"/>
              </a:tabLst>
              <a:defRPr/>
            </a:pPr>
            <a:r>
              <a:rPr lang="en-US" sz="1800" dirty="0" smtClean="0">
                <a:latin typeface="Marcellus"/>
                <a:ea typeface="ＭＳ Ｐゴシック" charset="0"/>
                <a:cs typeface="ＭＳ Ｐゴシック" charset="0"/>
              </a:rPr>
              <a:t>Enters Critical Section</a:t>
            </a:r>
          </a:p>
          <a:p>
            <a:pPr>
              <a:tabLst>
                <a:tab pos="742278" algn="l"/>
                <a:tab pos="1023411" algn="l"/>
                <a:tab pos="1258984" algn="l"/>
              </a:tabLst>
              <a:defRPr/>
            </a:pPr>
            <a:r>
              <a:rPr lang="en-US" sz="1800" dirty="0" smtClean="0">
                <a:latin typeface="Marcellus"/>
                <a:ea typeface="ＭＳ Ｐゴシック" charset="0"/>
                <a:cs typeface="ＭＳ Ｐゴシック" charset="0"/>
              </a:rPr>
              <a:t>Now </a:t>
            </a:r>
            <a:r>
              <a:rPr lang="en-US" sz="1800" dirty="0" err="1" smtClean="0">
                <a:latin typeface="Marcellus"/>
                <a:ea typeface="ＭＳ Ｐゴシック" charset="0"/>
                <a:cs typeface="ＭＳ Ｐゴシック" charset="0"/>
              </a:rPr>
              <a:t>Pj</a:t>
            </a:r>
            <a:r>
              <a:rPr lang="en-US" sz="1800" dirty="0" smtClean="0">
                <a:latin typeface="Marcellus"/>
                <a:ea typeface="ＭＳ Ｐゴシック" charset="0"/>
                <a:cs typeface="ＭＳ Ｐゴシック" charset="0"/>
              </a:rPr>
              <a:t> tries to enter Critical Section</a:t>
            </a:r>
          </a:p>
          <a:p>
            <a:pPr>
              <a:tabLst>
                <a:tab pos="742278" algn="l"/>
                <a:tab pos="1023411" algn="l"/>
                <a:tab pos="1258984" algn="l"/>
              </a:tabLst>
              <a:defRPr/>
            </a:pPr>
            <a:r>
              <a:rPr lang="en-US" sz="1800" dirty="0" smtClean="0">
                <a:latin typeface="Marcellus"/>
                <a:ea typeface="ＭＳ Ｐゴシック" charset="0"/>
                <a:cs typeface="ＭＳ Ｐゴシック" charset="0"/>
              </a:rPr>
              <a:t>waiting and key Both are True,</a:t>
            </a:r>
          </a:p>
          <a:p>
            <a:pPr>
              <a:tabLst>
                <a:tab pos="742278" algn="l"/>
                <a:tab pos="1023411" algn="l"/>
                <a:tab pos="1258984" algn="l"/>
              </a:tabLst>
              <a:defRPr/>
            </a:pPr>
            <a:r>
              <a:rPr lang="en-US" sz="1800" dirty="0" smtClean="0">
                <a:latin typeface="Marcellus"/>
                <a:ea typeface="ＭＳ Ｐゴシック" charset="0"/>
                <a:cs typeface="ＭＳ Ｐゴシック" charset="0"/>
              </a:rPr>
              <a:t>Lock=True</a:t>
            </a:r>
          </a:p>
          <a:p>
            <a:pPr>
              <a:tabLst>
                <a:tab pos="742278" algn="l"/>
                <a:tab pos="1023411" algn="l"/>
                <a:tab pos="1258984" algn="l"/>
              </a:tabLst>
              <a:defRPr/>
            </a:pPr>
            <a:r>
              <a:rPr lang="en-US" sz="1800" dirty="0" smtClean="0">
                <a:latin typeface="Marcellus"/>
                <a:ea typeface="ＭＳ Ｐゴシック" charset="0"/>
                <a:cs typeface="ＭＳ Ｐゴシック" charset="0"/>
              </a:rPr>
              <a:t>while </a:t>
            </a:r>
            <a:r>
              <a:rPr lang="en-US" sz="1800" dirty="0" err="1" smtClean="0">
                <a:latin typeface="Marcellus"/>
                <a:ea typeface="ＭＳ Ｐゴシック" charset="0"/>
                <a:cs typeface="ＭＳ Ｐゴシック" charset="0"/>
              </a:rPr>
              <a:t>conditn</a:t>
            </a:r>
            <a:r>
              <a:rPr lang="en-US" sz="1800" dirty="0" smtClean="0">
                <a:latin typeface="Marcellus"/>
                <a:ea typeface="ＭＳ Ｐゴシック" charset="0"/>
                <a:cs typeface="ＭＳ Ｐゴシック" charset="0"/>
              </a:rPr>
              <a:t>=True</a:t>
            </a:r>
          </a:p>
          <a:p>
            <a:pPr lvl="1">
              <a:tabLst>
                <a:tab pos="742278" algn="l"/>
                <a:tab pos="1023411" algn="l"/>
                <a:tab pos="1258984" algn="l"/>
              </a:tabLst>
              <a:defRPr/>
            </a:pPr>
            <a:r>
              <a:rPr lang="en-US" sz="1800" dirty="0" smtClean="0">
                <a:latin typeface="Marcellus"/>
                <a:ea typeface="ＭＳ Ｐゴシック" charset="0"/>
                <a:cs typeface="ＭＳ Ｐゴシック" charset="0"/>
              </a:rPr>
              <a:t>Inside While Loop</a:t>
            </a:r>
          </a:p>
          <a:p>
            <a:pPr lvl="1">
              <a:tabLst>
                <a:tab pos="742278" algn="l"/>
                <a:tab pos="1023411" algn="l"/>
                <a:tab pos="1258984" algn="l"/>
              </a:tabLst>
              <a:defRPr/>
            </a:pPr>
            <a:r>
              <a:rPr lang="en-US" sz="1800" dirty="0" smtClean="0">
                <a:latin typeface="Marcellus"/>
                <a:ea typeface="ＭＳ Ｐゴシック" charset="0"/>
                <a:cs typeface="ＭＳ Ｐゴシック" charset="0"/>
              </a:rPr>
              <a:t>Key=T&amp;S(&amp;Lock)</a:t>
            </a:r>
          </a:p>
          <a:p>
            <a:pPr lvl="1">
              <a:tabLst>
                <a:tab pos="742278" algn="l"/>
                <a:tab pos="1023411" algn="l"/>
                <a:tab pos="1258984" algn="l"/>
              </a:tabLst>
              <a:defRPr/>
            </a:pPr>
            <a:r>
              <a:rPr lang="en-US" sz="1800" dirty="0" smtClean="0">
                <a:latin typeface="Marcellus"/>
                <a:ea typeface="ＭＳ Ｐゴシック" charset="0"/>
                <a:cs typeface="ＭＳ Ｐゴシック" charset="0"/>
              </a:rPr>
              <a:t>Key=True</a:t>
            </a:r>
          </a:p>
          <a:p>
            <a:pPr lvl="1">
              <a:tabLst>
                <a:tab pos="742278" algn="l"/>
                <a:tab pos="1023411" algn="l"/>
                <a:tab pos="1258984" algn="l"/>
              </a:tabLst>
              <a:defRPr/>
            </a:pPr>
            <a:r>
              <a:rPr lang="en-US" sz="1800" dirty="0" smtClean="0">
                <a:latin typeface="Marcellus"/>
                <a:ea typeface="ＭＳ Ｐゴシック" charset="0"/>
                <a:cs typeface="ＭＳ Ｐゴシック" charset="0"/>
              </a:rPr>
              <a:t>Lock=True</a:t>
            </a:r>
          </a:p>
          <a:p>
            <a:pPr lvl="1">
              <a:tabLst>
                <a:tab pos="742278" algn="l"/>
                <a:tab pos="1023411" algn="l"/>
                <a:tab pos="1258984" algn="l"/>
              </a:tabLst>
              <a:defRPr/>
            </a:pPr>
            <a:r>
              <a:rPr lang="en-US" sz="1800" dirty="0" smtClean="0">
                <a:latin typeface="Marcellus"/>
                <a:ea typeface="ＭＳ Ｐゴシック" charset="0"/>
                <a:cs typeface="ＭＳ Ｐゴシック" charset="0"/>
              </a:rPr>
              <a:t>Trapped in while loop</a:t>
            </a:r>
          </a:p>
          <a:p>
            <a:pPr lvl="1">
              <a:tabLst>
                <a:tab pos="742278" algn="l"/>
                <a:tab pos="1023411" algn="l"/>
                <a:tab pos="1258984" algn="l"/>
              </a:tabLst>
              <a:defRPr/>
            </a:pPr>
            <a:endParaRPr lang="en-US" sz="2000" dirty="0" smtClean="0">
              <a:latin typeface="Marcellus"/>
              <a:ea typeface="ＭＳ Ｐゴシック" charset="0"/>
              <a:cs typeface="ＭＳ Ｐゴシック" charset="0"/>
            </a:endParaRPr>
          </a:p>
          <a:p>
            <a:pPr>
              <a:tabLst>
                <a:tab pos="742278" algn="l"/>
                <a:tab pos="1023411" algn="l"/>
                <a:tab pos="1258984" algn="l"/>
              </a:tabLst>
              <a:defRPr/>
            </a:pPr>
            <a:endParaRPr lang="en-US" sz="1400" dirty="0" smtClean="0">
              <a:latin typeface="Marcellus"/>
              <a:ea typeface="ＭＳ Ｐゴシック" charset="0"/>
              <a:cs typeface="ＭＳ Ｐゴシック" charset="0"/>
            </a:endParaRPr>
          </a:p>
        </p:txBody>
      </p:sp>
      <p:pic>
        <p:nvPicPr>
          <p:cNvPr id="409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014" y="1132764"/>
            <a:ext cx="6308117" cy="4449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5297797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1310184" y="191861"/>
            <a:ext cx="10486781" cy="721920"/>
          </a:xfrm>
        </p:spPr>
        <p:txBody>
          <a:bodyPr>
            <a:normAutofit fontScale="90000"/>
          </a:bodyPr>
          <a:lstStyle/>
          <a:p>
            <a:pPr algn="ctr"/>
            <a:r>
              <a:rPr lang="en-US" sz="3200" dirty="0">
                <a:solidFill>
                  <a:srgbClr val="C00000"/>
                </a:solidFill>
                <a:latin typeface="Marcellus" panose="020E0602050203020307" pitchFamily="34" charset="0"/>
              </a:rPr>
              <a:t>Reading Assignment: Bounded </a:t>
            </a:r>
            <a:r>
              <a:rPr lang="en-US" sz="3200" dirty="0" smtClean="0">
                <a:solidFill>
                  <a:srgbClr val="C00000"/>
                </a:solidFill>
                <a:latin typeface="Marcellus" panose="020E0602050203020307" pitchFamily="34" charset="0"/>
              </a:rPr>
              <a:t>Waiting </a:t>
            </a:r>
            <a:r>
              <a:rPr lang="en-US" sz="3200" dirty="0">
                <a:solidFill>
                  <a:srgbClr val="C00000"/>
                </a:solidFill>
                <a:latin typeface="Marcellus" panose="020E0602050203020307" pitchFamily="34" charset="0"/>
              </a:rPr>
              <a:t>implementation with </a:t>
            </a:r>
            <a:r>
              <a:rPr lang="en-US" sz="3200" dirty="0" smtClean="0">
                <a:solidFill>
                  <a:srgbClr val="C00000"/>
                </a:solidFill>
                <a:latin typeface="Marcellus" panose="020E0602050203020307" pitchFamily="34" charset="0"/>
              </a:rPr>
              <a:t>test and set ()</a:t>
            </a:r>
            <a:endParaRPr lang="en-US" sz="3200" dirty="0"/>
          </a:p>
        </p:txBody>
      </p:sp>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smtClean="0"/>
          </a:p>
          <a:p>
            <a:r>
              <a:rPr lang="en-US" sz="2400" dirty="0" smtClean="0"/>
              <a:t>The </a:t>
            </a:r>
            <a:r>
              <a:rPr lang="en-US" sz="2400" dirty="0"/>
              <a:t>hardware-based solutions to the </a:t>
            </a:r>
            <a:r>
              <a:rPr lang="en-US" sz="2400" dirty="0" smtClean="0"/>
              <a:t>CSP are </a:t>
            </a:r>
            <a:r>
              <a:rPr lang="en-US" sz="2400" dirty="0">
                <a:solidFill>
                  <a:srgbClr val="C00000"/>
                </a:solidFill>
              </a:rPr>
              <a:t>complicated for application programmers to use. </a:t>
            </a:r>
            <a:endParaRPr lang="en-US" sz="2400" dirty="0" smtClean="0">
              <a:solidFill>
                <a:srgbClr val="C00000"/>
              </a:solidFill>
            </a:endParaRPr>
          </a:p>
          <a:p>
            <a:endParaRPr lang="en-US" sz="2400" dirty="0" smtClean="0"/>
          </a:p>
          <a:p>
            <a:r>
              <a:rPr lang="en-US" sz="2400" dirty="0" err="1" smtClean="0"/>
              <a:t>Soln</a:t>
            </a:r>
            <a:r>
              <a:rPr lang="en-US" sz="2400" dirty="0" smtClean="0"/>
              <a:t>= Semaphore</a:t>
            </a:r>
          </a:p>
          <a:p>
            <a:endParaRPr lang="en-US" sz="2400" dirty="0" smtClean="0"/>
          </a:p>
        </p:txBody>
      </p:sp>
      <p:sp>
        <p:nvSpPr>
          <p:cNvPr id="6" name="Text Placeholder 5"/>
          <p:cNvSpPr>
            <a:spLocks noGrp="1"/>
          </p:cNvSpPr>
          <p:nvPr>
            <p:ph type="body" idx="1"/>
          </p:nvPr>
        </p:nvSpPr>
        <p:spPr/>
        <p:txBody>
          <a:bodyPr/>
          <a:lstStyle/>
          <a:p>
            <a:endParaRPr lang="en-IN"/>
          </a:p>
        </p:txBody>
      </p:sp>
    </p:spTree>
    <p:extLst>
      <p:ext uri="{BB962C8B-B14F-4D97-AF65-F5344CB8AC3E}">
        <p14:creationId xmlns:p14="http://schemas.microsoft.com/office/powerpoint/2010/main" val="100165450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69"/>
          <p:cNvSpPr txBox="1">
            <a:spLocks noGrp="1"/>
          </p:cNvSpPr>
          <p:nvPr>
            <p:ph type="title"/>
          </p:nvPr>
        </p:nvSpPr>
        <p:spPr>
          <a:xfrm>
            <a:off x="1089770" y="214826"/>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2800"/>
              <a:buFont typeface="Times New Roman"/>
              <a:buNone/>
            </a:pPr>
            <a:r>
              <a:rPr lang="en-US" sz="2800" b="1" dirty="0"/>
              <a:t>Advantages </a:t>
            </a:r>
            <a:r>
              <a:rPr lang="en-US" sz="2800" b="1" dirty="0" smtClean="0"/>
              <a:t>of </a:t>
            </a:r>
            <a:r>
              <a:rPr lang="en-US" sz="2800" b="1" dirty="0"/>
              <a:t>hardware approaches to enforce mutual exclusion.</a:t>
            </a:r>
            <a:endParaRPr sz="2800" dirty="0"/>
          </a:p>
        </p:txBody>
      </p:sp>
      <p:sp>
        <p:nvSpPr>
          <p:cNvPr id="695" name="Google Shape;695;p69"/>
          <p:cNvSpPr txBox="1">
            <a:spLocks noGrp="1"/>
          </p:cNvSpPr>
          <p:nvPr>
            <p:ph type="body" idx="1"/>
          </p:nvPr>
        </p:nvSpPr>
        <p:spPr>
          <a:xfrm>
            <a:off x="933339" y="1324633"/>
            <a:ext cx="10972800" cy="4525963"/>
          </a:xfrm>
          <a:prstGeom prst="rect">
            <a:avLst/>
          </a:prstGeom>
          <a:noFill/>
          <a:ln>
            <a:noFill/>
          </a:ln>
        </p:spPr>
        <p:txBody>
          <a:bodyPr spcFirstLastPara="1" wrap="square" lIns="91425" tIns="45700" rIns="91425" bIns="45700" anchor="t" anchorCtr="0">
            <a:normAutofit/>
          </a:bodyPr>
          <a:lstStyle/>
          <a:p>
            <a:pPr indent="-457200">
              <a:spcBef>
                <a:spcPts val="500"/>
              </a:spcBef>
              <a:buSzPct val="100000"/>
            </a:pPr>
            <a:r>
              <a:rPr lang="en-US" dirty="0" smtClean="0"/>
              <a:t>The </a:t>
            </a:r>
            <a:r>
              <a:rPr lang="en-US" dirty="0"/>
              <a:t>solution works with any number of processes on uniprocessor as well as multiprocessors architectures. </a:t>
            </a:r>
            <a:endParaRPr dirty="0"/>
          </a:p>
          <a:p>
            <a:pPr indent="-457200">
              <a:spcBef>
                <a:spcPts val="500"/>
              </a:spcBef>
              <a:buSzPct val="100000"/>
            </a:pPr>
            <a:r>
              <a:rPr lang="en-US" dirty="0"/>
              <a:t>It is very simple and therefore easy to verify.</a:t>
            </a:r>
            <a:endParaRPr dirty="0"/>
          </a:p>
          <a:p>
            <a:pPr indent="-457200">
              <a:spcBef>
                <a:spcPts val="500"/>
              </a:spcBef>
              <a:buSzPct val="100000"/>
            </a:pPr>
            <a:r>
              <a:rPr lang="en-US" dirty="0"/>
              <a:t>It can also support multiple critical sections; and each critical section can be defined by its own variable</a:t>
            </a:r>
            <a:r>
              <a:rPr lang="en-US" dirty="0" smtClean="0"/>
              <a:t>.</a:t>
            </a:r>
            <a:endParaRPr dirty="0"/>
          </a:p>
        </p:txBody>
      </p:sp>
    </p:spTree>
    <p:extLst>
      <p:ext uri="{BB962C8B-B14F-4D97-AF65-F5344CB8AC3E}">
        <p14:creationId xmlns:p14="http://schemas.microsoft.com/office/powerpoint/2010/main" val="385378260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69"/>
          <p:cNvSpPr txBox="1">
            <a:spLocks noGrp="1"/>
          </p:cNvSpPr>
          <p:nvPr>
            <p:ph type="title"/>
          </p:nvPr>
        </p:nvSpPr>
        <p:spPr>
          <a:xfrm>
            <a:off x="1089770" y="214826"/>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2800"/>
              <a:buFont typeface="Times New Roman"/>
              <a:buNone/>
            </a:pPr>
            <a:r>
              <a:rPr lang="en-US" sz="2800" b="1" dirty="0" smtClean="0"/>
              <a:t>Disadvantages of </a:t>
            </a:r>
            <a:r>
              <a:rPr lang="en-US" sz="2800" b="1" dirty="0"/>
              <a:t>hardware approaches to enforce mutual exclusion.</a:t>
            </a:r>
            <a:endParaRPr sz="2800" dirty="0"/>
          </a:p>
        </p:txBody>
      </p:sp>
      <p:sp>
        <p:nvSpPr>
          <p:cNvPr id="695" name="Google Shape;695;p69"/>
          <p:cNvSpPr txBox="1">
            <a:spLocks noGrp="1"/>
          </p:cNvSpPr>
          <p:nvPr>
            <p:ph type="body" idx="1"/>
          </p:nvPr>
        </p:nvSpPr>
        <p:spPr>
          <a:xfrm>
            <a:off x="933339" y="1324633"/>
            <a:ext cx="10972800" cy="4525963"/>
          </a:xfrm>
          <a:prstGeom prst="rect">
            <a:avLst/>
          </a:prstGeom>
          <a:noFill/>
          <a:ln>
            <a:noFill/>
          </a:ln>
        </p:spPr>
        <p:txBody>
          <a:bodyPr spcFirstLastPara="1" wrap="square" lIns="91425" tIns="45700" rIns="91425" bIns="45700" anchor="t" anchorCtr="0">
            <a:normAutofit fontScale="92500" lnSpcReduction="20000"/>
          </a:bodyPr>
          <a:lstStyle/>
          <a:p>
            <a:pPr marL="285750" indent="-285750">
              <a:spcBef>
                <a:spcPts val="500"/>
              </a:spcBef>
              <a:buSzPct val="100000"/>
              <a:buChar char="o"/>
            </a:pPr>
            <a:r>
              <a:rPr lang="en-US" b="1" dirty="0" smtClean="0"/>
              <a:t>Busy </a:t>
            </a:r>
            <a:r>
              <a:rPr lang="en-US" b="1" dirty="0"/>
              <a:t>waiting is employed. </a:t>
            </a:r>
            <a:endParaRPr b="1" dirty="0"/>
          </a:p>
          <a:p>
            <a:pPr marL="285750" indent="-285750">
              <a:spcBef>
                <a:spcPts val="500"/>
              </a:spcBef>
              <a:buSzPct val="100000"/>
              <a:buChar char="o"/>
            </a:pPr>
            <a:r>
              <a:rPr lang="en-US" b="1" dirty="0"/>
              <a:t>Starvation is possible. </a:t>
            </a:r>
            <a:endParaRPr dirty="0"/>
          </a:p>
          <a:p>
            <a:pPr marL="285750" indent="-285750">
              <a:spcBef>
                <a:spcPts val="500"/>
              </a:spcBef>
              <a:buSzPct val="100000"/>
              <a:buChar char="o"/>
            </a:pPr>
            <a:r>
              <a:rPr lang="en-US" b="1" dirty="0"/>
              <a:t>Deadlock is possible.</a:t>
            </a:r>
            <a:endParaRPr dirty="0"/>
          </a:p>
          <a:p>
            <a:pPr marL="285750" indent="-285750">
              <a:spcBef>
                <a:spcPts val="500"/>
              </a:spcBef>
              <a:buSzPct val="100000"/>
              <a:buChar char="o"/>
            </a:pPr>
            <a:r>
              <a:rPr lang="en-US" dirty="0"/>
              <a:t>Consider the following scenario on a single-processor system. </a:t>
            </a:r>
            <a:endParaRPr lang="en-US" dirty="0" smtClean="0"/>
          </a:p>
          <a:p>
            <a:pPr marL="742950" lvl="1" indent="-285750">
              <a:buSzPct val="100000"/>
            </a:pPr>
            <a:r>
              <a:rPr lang="en-US" dirty="0" smtClean="0"/>
              <a:t>Process </a:t>
            </a:r>
            <a:r>
              <a:rPr lang="en-US" dirty="0"/>
              <a:t>P1 executes the special instruction (e.g., </a:t>
            </a:r>
            <a:r>
              <a:rPr lang="en-US" dirty="0" err="1"/>
              <a:t>compare&amp;swap</a:t>
            </a:r>
            <a:r>
              <a:rPr lang="en-US" dirty="0"/>
              <a:t>, exchange) and enters its critical section. </a:t>
            </a:r>
            <a:endParaRPr lang="en-US" dirty="0" smtClean="0"/>
          </a:p>
          <a:p>
            <a:pPr marL="742950" lvl="1" indent="-285750">
              <a:buSzPct val="100000"/>
            </a:pPr>
            <a:r>
              <a:rPr lang="en-US" dirty="0" smtClean="0"/>
              <a:t>P1 </a:t>
            </a:r>
            <a:r>
              <a:rPr lang="en-US" dirty="0"/>
              <a:t>is then interrupted to give the processor to P2, which has higher priority. </a:t>
            </a:r>
            <a:endParaRPr lang="en-US" dirty="0" smtClean="0"/>
          </a:p>
          <a:p>
            <a:pPr marL="742950" lvl="1" indent="-285750">
              <a:buSzPct val="100000"/>
            </a:pPr>
            <a:r>
              <a:rPr lang="en-US" dirty="0" smtClean="0"/>
              <a:t>If </a:t>
            </a:r>
            <a:r>
              <a:rPr lang="en-US" dirty="0"/>
              <a:t>P2 now attempts to use the same resource as P1, it will be denied access because of the mutual exclusion mechanism. </a:t>
            </a:r>
            <a:endParaRPr lang="en-US" dirty="0" smtClean="0"/>
          </a:p>
          <a:p>
            <a:pPr marL="742950" lvl="1" indent="-285750">
              <a:buSzPct val="100000"/>
            </a:pPr>
            <a:r>
              <a:rPr lang="en-US" dirty="0" smtClean="0"/>
              <a:t>Thus </a:t>
            </a:r>
            <a:r>
              <a:rPr lang="en-US" dirty="0"/>
              <a:t>it will go into a busy waiting loop</a:t>
            </a:r>
            <a:r>
              <a:rPr lang="en-US" dirty="0" smtClean="0"/>
              <a:t>.</a:t>
            </a:r>
          </a:p>
          <a:p>
            <a:pPr marL="742950" lvl="1" indent="-285750">
              <a:buSzPct val="100000"/>
            </a:pPr>
            <a:r>
              <a:rPr lang="en-US" dirty="0" smtClean="0"/>
              <a:t> </a:t>
            </a:r>
            <a:r>
              <a:rPr lang="en-US" dirty="0"/>
              <a:t>However, P1 will never be dispatched because it is of lower priority than another ready process, P2. </a:t>
            </a:r>
            <a:endParaRPr lang="en-US" dirty="0" smtClean="0"/>
          </a:p>
          <a:p>
            <a:pPr marL="742950" lvl="1" indent="-285750">
              <a:buSzPct val="100000"/>
            </a:pPr>
            <a:r>
              <a:rPr lang="en-US" dirty="0" smtClean="0"/>
              <a:t>Because </a:t>
            </a:r>
            <a:r>
              <a:rPr lang="en-US" dirty="0"/>
              <a:t>of the drawbacks of both the software and hardware solutions just outlined, we need to look for other mechanisms</a:t>
            </a:r>
            <a:endParaRPr dirty="0"/>
          </a:p>
        </p:txBody>
      </p:sp>
    </p:spTree>
    <p:extLst>
      <p:ext uri="{BB962C8B-B14F-4D97-AF65-F5344CB8AC3E}">
        <p14:creationId xmlns:p14="http://schemas.microsoft.com/office/powerpoint/2010/main" val="41897368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IN" sz="6000" dirty="0" smtClean="0">
                <a:solidFill>
                  <a:srgbClr val="C00000"/>
                </a:solidFill>
                <a:latin typeface="Marcellus" panose="020B0604020202020204" charset="0"/>
              </a:rPr>
              <a:t>Semaphores</a:t>
            </a:r>
            <a:endParaRPr lang="en-IN" sz="6000" dirty="0">
              <a:solidFill>
                <a:srgbClr val="C00000"/>
              </a:solidFill>
              <a:latin typeface="Marcellus" panose="020B0604020202020204" charset="0"/>
            </a:endParaRPr>
          </a:p>
        </p:txBody>
      </p:sp>
      <p:sp>
        <p:nvSpPr>
          <p:cNvPr id="6" name="Subtitle 5"/>
          <p:cNvSpPr>
            <a:spLocks noGrp="1"/>
          </p:cNvSpPr>
          <p:nvPr>
            <p:ph type="subTitle" idx="1"/>
          </p:nvPr>
        </p:nvSpPr>
        <p:spPr/>
        <p:txBody>
          <a:bodyPr/>
          <a:lstStyle/>
          <a:p>
            <a:endParaRPr lang="en-IN"/>
          </a:p>
        </p:txBody>
      </p:sp>
      <p:sp>
        <p:nvSpPr>
          <p:cNvPr id="2" name="Date Placeholder 1"/>
          <p:cNvSpPr>
            <a:spLocks noGrp="1"/>
          </p:cNvSpPr>
          <p:nvPr>
            <p:ph type="dt" idx="4294967295"/>
          </p:nvPr>
        </p:nvSpPr>
        <p:spPr>
          <a:xfrm>
            <a:off x="0" y="6356350"/>
            <a:ext cx="2743200" cy="365125"/>
          </a:xfrm>
          <a:prstGeom prst="rect">
            <a:avLst/>
          </a:prstGeom>
        </p:spPr>
        <p:txBody>
          <a:bodyPr/>
          <a:lstStyle/>
          <a:p>
            <a:pPr defTabSz="914400">
              <a:buClr>
                <a:srgbClr val="000000"/>
              </a:buClr>
              <a:buFont typeface="Arial"/>
              <a:buNone/>
            </a:pPr>
            <a:fld id="{379673E8-7C99-4AFB-B0B9-E3C384C0DA1E}" type="datetime1">
              <a:rPr lang="en-US" kern="0" smtClean="0">
                <a:solidFill>
                  <a:srgbClr val="000000"/>
                </a:solidFill>
              </a:rPr>
              <a:t>11/11/2024</a:t>
            </a:fld>
            <a:endParaRPr lang="en-US" kern="0">
              <a:solidFill>
                <a:srgbClr val="000000"/>
              </a:solidFill>
            </a:endParaRPr>
          </a:p>
        </p:txBody>
      </p:sp>
    </p:spTree>
    <p:extLst>
      <p:ext uri="{BB962C8B-B14F-4D97-AF65-F5344CB8AC3E}">
        <p14:creationId xmlns:p14="http://schemas.microsoft.com/office/powerpoint/2010/main" val="270203860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71"/>
          <p:cNvSpPr txBox="1">
            <a:spLocks noGrp="1"/>
          </p:cNvSpPr>
          <p:nvPr>
            <p:ph type="title"/>
          </p:nvPr>
        </p:nvSpPr>
        <p:spPr>
          <a:xfrm>
            <a:off x="1089765" y="214818"/>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Semaphore </a:t>
            </a:r>
            <a:endParaRPr/>
          </a:p>
        </p:txBody>
      </p:sp>
      <p:sp>
        <p:nvSpPr>
          <p:cNvPr id="711" name="Google Shape;711;p71"/>
          <p:cNvSpPr txBox="1">
            <a:spLocks noGrp="1"/>
          </p:cNvSpPr>
          <p:nvPr>
            <p:ph type="body" idx="1"/>
          </p:nvPr>
        </p:nvSpPr>
        <p:spPr>
          <a:xfrm>
            <a:off x="933339" y="1324630"/>
            <a:ext cx="10972800" cy="4525963"/>
          </a:xfrm>
          <a:prstGeom prst="rect">
            <a:avLst/>
          </a:prstGeom>
          <a:noFill/>
          <a:ln>
            <a:noFill/>
          </a:ln>
        </p:spPr>
        <p:txBody>
          <a:bodyPr spcFirstLastPara="1" wrap="square" lIns="91425" tIns="45700" rIns="91425" bIns="45700" anchor="t" anchorCtr="0">
            <a:normAutofit fontScale="92500" lnSpcReduction="10000"/>
          </a:bodyPr>
          <a:lstStyle/>
          <a:p>
            <a:pPr marL="285750" lvl="0" indent="-285750" algn="l" rtl="0">
              <a:lnSpc>
                <a:spcPct val="90000"/>
              </a:lnSpc>
              <a:spcBef>
                <a:spcPts val="0"/>
              </a:spcBef>
              <a:spcAft>
                <a:spcPts val="0"/>
              </a:spcAft>
              <a:buClr>
                <a:schemeClr val="dk1"/>
              </a:buClr>
              <a:buSzPct val="100000"/>
              <a:buFont typeface="Arial"/>
              <a:buChar char="•"/>
            </a:pPr>
            <a:r>
              <a:rPr lang="en-US" b="1"/>
              <a:t>Semaphore: </a:t>
            </a:r>
            <a:r>
              <a:rPr lang="en-US"/>
              <a:t>Semaphore is an integer variable that can be initialized to some value. </a:t>
            </a:r>
            <a:endParaRPr/>
          </a:p>
          <a:p>
            <a:pPr marL="285750" lvl="0" indent="-285750" algn="l" rtl="0">
              <a:lnSpc>
                <a:spcPct val="90000"/>
              </a:lnSpc>
              <a:spcBef>
                <a:spcPts val="1000"/>
              </a:spcBef>
              <a:spcAft>
                <a:spcPts val="0"/>
              </a:spcAft>
              <a:buClr>
                <a:schemeClr val="dk1"/>
              </a:buClr>
              <a:buSzPct val="100000"/>
              <a:buFont typeface="Arial"/>
              <a:buChar char="•"/>
            </a:pPr>
            <a:r>
              <a:rPr lang="en-US"/>
              <a:t>The semaphore values are used for signaling the processes for communication. </a:t>
            </a:r>
            <a:endParaRPr/>
          </a:p>
          <a:p>
            <a:pPr marL="285750" lvl="0" indent="-285750" algn="l" rtl="0">
              <a:lnSpc>
                <a:spcPct val="90000"/>
              </a:lnSpc>
              <a:spcBef>
                <a:spcPts val="1000"/>
              </a:spcBef>
              <a:spcAft>
                <a:spcPts val="0"/>
              </a:spcAft>
              <a:buClr>
                <a:schemeClr val="dk1"/>
              </a:buClr>
              <a:buSzPct val="100000"/>
              <a:buFont typeface="Arial"/>
              <a:buChar char="•"/>
            </a:pPr>
            <a:r>
              <a:rPr lang="en-US"/>
              <a:t>The semaphores can be operated upon by three operations viz, initialize, increment and decrement. </a:t>
            </a:r>
            <a:endParaRPr/>
          </a:p>
          <a:p>
            <a:pPr marL="285750" lvl="0" indent="-285750" algn="l" rtl="0">
              <a:lnSpc>
                <a:spcPct val="90000"/>
              </a:lnSpc>
              <a:spcBef>
                <a:spcPts val="1000"/>
              </a:spcBef>
              <a:spcAft>
                <a:spcPts val="0"/>
              </a:spcAft>
              <a:buClr>
                <a:schemeClr val="dk1"/>
              </a:buClr>
              <a:buSzPct val="100000"/>
              <a:buFont typeface="Arial"/>
              <a:buChar char="•"/>
            </a:pPr>
            <a:r>
              <a:rPr lang="en-US"/>
              <a:t>All these operations are atomic </a:t>
            </a:r>
            <a:endParaRPr/>
          </a:p>
          <a:p>
            <a:pPr marL="285750" lvl="0" indent="-285750" algn="l" rtl="0">
              <a:lnSpc>
                <a:spcPct val="90000"/>
              </a:lnSpc>
              <a:spcBef>
                <a:spcPts val="1000"/>
              </a:spcBef>
              <a:spcAft>
                <a:spcPts val="0"/>
              </a:spcAft>
              <a:buClr>
                <a:schemeClr val="dk1"/>
              </a:buClr>
              <a:buSzPct val="100000"/>
              <a:buFont typeface="Arial"/>
              <a:buChar char="•"/>
            </a:pPr>
            <a:r>
              <a:rPr lang="en-US"/>
              <a:t>Depending on exact definition of semaphore, the decrement (wait) operation may block a process and the increment (signal) operation may unblock a process. </a:t>
            </a:r>
            <a:endParaRPr/>
          </a:p>
          <a:p>
            <a:pPr marL="285750" lvl="0" indent="-285750" algn="l" rtl="0">
              <a:lnSpc>
                <a:spcPct val="90000"/>
              </a:lnSpc>
              <a:spcBef>
                <a:spcPts val="1000"/>
              </a:spcBef>
              <a:spcAft>
                <a:spcPts val="0"/>
              </a:spcAft>
              <a:buClr>
                <a:schemeClr val="dk1"/>
              </a:buClr>
              <a:buSzPct val="100000"/>
              <a:buFont typeface="Arial"/>
              <a:buChar char="•"/>
            </a:pPr>
            <a:r>
              <a:rPr lang="en-US"/>
              <a:t> Semaphores are supported by operating system to achieve concurrency and synchronization.</a:t>
            </a:r>
            <a:endParaRPr/>
          </a:p>
        </p:txBody>
      </p:sp>
      <p:sp>
        <p:nvSpPr>
          <p:cNvPr id="712" name="Google Shape;712;p71"/>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000000"/>
                </a:solidFill>
              </a:rPr>
              <a:t>05-12-2022</a:t>
            </a:r>
            <a:endParaRPr>
              <a:solidFill>
                <a:srgbClr val="000000"/>
              </a:solidFill>
            </a:endParaRPr>
          </a:p>
        </p:txBody>
      </p:sp>
      <p:sp>
        <p:nvSpPr>
          <p:cNvPr id="713" name="Google Shape;713;p7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solidFill>
                  <a:srgbClr val="000000"/>
                </a:solidFill>
              </a:rPr>
              <a:t>53</a:t>
            </a:fld>
            <a:endParaRPr>
              <a:solidFill>
                <a:srgbClr val="000000"/>
              </a:solidFill>
            </a:endParaRPr>
          </a:p>
        </p:txBody>
      </p:sp>
    </p:spTree>
    <p:extLst>
      <p:ext uri="{BB962C8B-B14F-4D97-AF65-F5344CB8AC3E}">
        <p14:creationId xmlns:p14="http://schemas.microsoft.com/office/powerpoint/2010/main" val="67629919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75"/>
          <p:cNvSpPr txBox="1">
            <a:spLocks noGrp="1"/>
          </p:cNvSpPr>
          <p:nvPr>
            <p:ph type="title"/>
          </p:nvPr>
        </p:nvSpPr>
        <p:spPr>
          <a:xfrm>
            <a:off x="1089765" y="214818"/>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Semaphores : </a:t>
            </a:r>
            <a:r>
              <a:rPr lang="en-US" b="1"/>
              <a:t>Types of semaphore</a:t>
            </a:r>
            <a:br>
              <a:rPr lang="en-US" b="1"/>
            </a:br>
            <a:endParaRPr/>
          </a:p>
        </p:txBody>
      </p:sp>
      <p:sp>
        <p:nvSpPr>
          <p:cNvPr id="743" name="Google Shape;743;p75"/>
          <p:cNvSpPr txBox="1">
            <a:spLocks noGrp="1"/>
          </p:cNvSpPr>
          <p:nvPr>
            <p:ph type="body" idx="1"/>
          </p:nvPr>
        </p:nvSpPr>
        <p:spPr>
          <a:xfrm>
            <a:off x="933339" y="1324630"/>
            <a:ext cx="10972800" cy="4525963"/>
          </a:xfrm>
          <a:prstGeom prst="rect">
            <a:avLst/>
          </a:prstGeom>
          <a:noFill/>
          <a:ln>
            <a:noFill/>
          </a:ln>
        </p:spPr>
        <p:txBody>
          <a:bodyPr spcFirstLastPara="1" wrap="square" lIns="91425" tIns="45700" rIns="91425" bIns="45700" anchor="t" anchorCtr="0">
            <a:normAutofit fontScale="92500" lnSpcReduction="20000"/>
          </a:bodyPr>
          <a:lstStyle/>
          <a:p>
            <a:pPr marL="285750" lvl="0" indent="-285750" algn="l" rtl="0">
              <a:lnSpc>
                <a:spcPct val="90000"/>
              </a:lnSpc>
              <a:spcBef>
                <a:spcPts val="0"/>
              </a:spcBef>
              <a:spcAft>
                <a:spcPts val="0"/>
              </a:spcAft>
              <a:buClr>
                <a:schemeClr val="dk1"/>
              </a:buClr>
              <a:buSzPct val="100000"/>
              <a:buFont typeface="Arial"/>
              <a:buChar char="•"/>
            </a:pPr>
            <a:r>
              <a:rPr lang="en-US" b="1" dirty="0"/>
              <a:t>Binary Semaphore</a:t>
            </a:r>
            <a:r>
              <a:rPr lang="en-US" dirty="0"/>
              <a:t>: </a:t>
            </a:r>
            <a:endParaRPr dirty="0"/>
          </a:p>
          <a:p>
            <a:pPr marL="742950" lvl="1" indent="-285750" algn="l" rtl="0">
              <a:lnSpc>
                <a:spcPct val="90000"/>
              </a:lnSpc>
              <a:spcBef>
                <a:spcPts val="500"/>
              </a:spcBef>
              <a:spcAft>
                <a:spcPts val="0"/>
              </a:spcAft>
              <a:buClr>
                <a:schemeClr val="dk1"/>
              </a:buClr>
              <a:buSzPct val="100000"/>
              <a:buChar char="o"/>
            </a:pPr>
            <a:r>
              <a:rPr lang="en-US" dirty="0"/>
              <a:t>Binary Semaphore is a semaphore that takes on only the values 0 and 1</a:t>
            </a:r>
            <a:r>
              <a:rPr lang="en-US" dirty="0" smtClean="0"/>
              <a:t>.</a:t>
            </a:r>
          </a:p>
          <a:p>
            <a:pPr marL="285750" lvl="0" indent="-285750" algn="l" rtl="0">
              <a:lnSpc>
                <a:spcPct val="90000"/>
              </a:lnSpc>
              <a:spcBef>
                <a:spcPts val="1000"/>
              </a:spcBef>
              <a:spcAft>
                <a:spcPts val="0"/>
              </a:spcAft>
              <a:buClr>
                <a:schemeClr val="dk1"/>
              </a:buClr>
              <a:buSzPct val="100000"/>
              <a:buFont typeface="Arial"/>
              <a:buChar char="•"/>
            </a:pPr>
            <a:r>
              <a:rPr lang="en-US" dirty="0"/>
              <a:t> </a:t>
            </a:r>
            <a:r>
              <a:rPr lang="en-US" b="1" dirty="0"/>
              <a:t>General or counting Semaphore</a:t>
            </a:r>
            <a:r>
              <a:rPr lang="en-US" dirty="0"/>
              <a:t>: </a:t>
            </a:r>
            <a:endParaRPr dirty="0"/>
          </a:p>
          <a:p>
            <a:pPr marL="742950" lvl="1" indent="-285750" algn="l" rtl="0">
              <a:lnSpc>
                <a:spcPct val="90000"/>
              </a:lnSpc>
              <a:spcBef>
                <a:spcPts val="500"/>
              </a:spcBef>
              <a:spcAft>
                <a:spcPts val="0"/>
              </a:spcAft>
              <a:buClr>
                <a:schemeClr val="dk1"/>
              </a:buClr>
              <a:buSzPct val="100000"/>
              <a:buChar char="o"/>
            </a:pPr>
            <a:r>
              <a:rPr lang="en-US" dirty="0"/>
              <a:t>Any Semaphore that is not restricted to have value only 0 and 1 and can have values &gt;=2 are called general or counting semaphores.</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In other words, the </a:t>
            </a:r>
            <a:r>
              <a:rPr lang="en-US" dirty="0" err="1"/>
              <a:t>nonbinary</a:t>
            </a:r>
            <a:r>
              <a:rPr lang="en-US" dirty="0"/>
              <a:t> semaphore is often referred to as either a counting semaphore or a general semaphore.</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 </a:t>
            </a:r>
            <a:r>
              <a:rPr lang="en-US" b="1" dirty="0"/>
              <a:t>Strong Semaphore</a:t>
            </a:r>
            <a:r>
              <a:rPr lang="en-US" dirty="0"/>
              <a:t>: </a:t>
            </a:r>
            <a:endParaRPr dirty="0"/>
          </a:p>
          <a:p>
            <a:pPr marL="742950" lvl="1" indent="-285750" algn="l" rtl="0">
              <a:lnSpc>
                <a:spcPct val="90000"/>
              </a:lnSpc>
              <a:spcBef>
                <a:spcPts val="500"/>
              </a:spcBef>
              <a:spcAft>
                <a:spcPts val="0"/>
              </a:spcAft>
              <a:buClr>
                <a:schemeClr val="dk1"/>
              </a:buClr>
              <a:buSzPct val="100000"/>
              <a:buChar char="o"/>
            </a:pPr>
            <a:r>
              <a:rPr lang="en-US" dirty="0"/>
              <a:t>A semaphore whose definition includes FCFS policy when it is unblocked from the blocked queue,  is called a Strong Semaphore.</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 </a:t>
            </a:r>
            <a:r>
              <a:rPr lang="en-US" b="1" dirty="0"/>
              <a:t>Weak Semaphore</a:t>
            </a:r>
            <a:r>
              <a:rPr lang="en-US" dirty="0"/>
              <a:t>:  </a:t>
            </a:r>
            <a:endParaRPr dirty="0"/>
          </a:p>
          <a:p>
            <a:pPr marL="742950" lvl="1" indent="-285750" algn="l" rtl="0">
              <a:lnSpc>
                <a:spcPct val="90000"/>
              </a:lnSpc>
              <a:spcBef>
                <a:spcPts val="500"/>
              </a:spcBef>
              <a:spcAft>
                <a:spcPts val="0"/>
              </a:spcAft>
              <a:buClr>
                <a:schemeClr val="dk1"/>
              </a:buClr>
              <a:buSzPct val="100000"/>
              <a:buChar char="o"/>
            </a:pPr>
            <a:r>
              <a:rPr lang="en-US" dirty="0"/>
              <a:t>A semaphore whose definition does not include any policy when it is unblocked from the blocked queue,  is called a Weak Semaphore.</a:t>
            </a:r>
            <a:endParaRPr dirty="0"/>
          </a:p>
        </p:txBody>
      </p:sp>
      <p:sp>
        <p:nvSpPr>
          <p:cNvPr id="744" name="Google Shape;744;p75"/>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000000"/>
                </a:solidFill>
              </a:rPr>
              <a:t>05-12-2022</a:t>
            </a:r>
            <a:endParaRPr>
              <a:solidFill>
                <a:srgbClr val="000000"/>
              </a:solidFill>
            </a:endParaRPr>
          </a:p>
        </p:txBody>
      </p:sp>
      <p:sp>
        <p:nvSpPr>
          <p:cNvPr id="745" name="Google Shape;745;p75"/>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solidFill>
                  <a:srgbClr val="000000"/>
                </a:solidFill>
              </a:rPr>
              <a:t>54</a:t>
            </a:fld>
            <a:endParaRPr>
              <a:solidFill>
                <a:srgbClr val="000000"/>
              </a:solidFill>
            </a:endParaRPr>
          </a:p>
        </p:txBody>
      </p:sp>
    </p:spTree>
    <p:extLst>
      <p:ext uri="{BB962C8B-B14F-4D97-AF65-F5344CB8AC3E}">
        <p14:creationId xmlns:p14="http://schemas.microsoft.com/office/powerpoint/2010/main" val="261487542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72"/>
          <p:cNvSpPr txBox="1">
            <a:spLocks noGrp="1"/>
          </p:cNvSpPr>
          <p:nvPr>
            <p:ph type="title"/>
          </p:nvPr>
        </p:nvSpPr>
        <p:spPr>
          <a:xfrm>
            <a:off x="1089765" y="214818"/>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a:t>Mutex</a:t>
            </a:r>
            <a:endParaRPr/>
          </a:p>
        </p:txBody>
      </p:sp>
      <p:sp>
        <p:nvSpPr>
          <p:cNvPr id="719" name="Google Shape;719;p72"/>
          <p:cNvSpPr txBox="1">
            <a:spLocks noGrp="1"/>
          </p:cNvSpPr>
          <p:nvPr>
            <p:ph type="body" idx="1"/>
          </p:nvPr>
        </p:nvSpPr>
        <p:spPr>
          <a:xfrm>
            <a:off x="933339" y="1324630"/>
            <a:ext cx="10972800" cy="4525963"/>
          </a:xfrm>
          <a:prstGeom prst="rect">
            <a:avLst/>
          </a:prstGeom>
          <a:noFill/>
          <a:ln>
            <a:noFill/>
          </a:ln>
        </p:spPr>
        <p:txBody>
          <a:bodyPr spcFirstLastPara="1" wrap="square" lIns="91425" tIns="45700" rIns="91425" bIns="45700" anchor="t" anchorCtr="0">
            <a:normAutofit fontScale="92500" lnSpcReduction="10000"/>
          </a:bodyPr>
          <a:lstStyle/>
          <a:p>
            <a:pPr marL="285750" lvl="0" indent="-285750" algn="l" rtl="0">
              <a:lnSpc>
                <a:spcPct val="90000"/>
              </a:lnSpc>
              <a:spcBef>
                <a:spcPts val="0"/>
              </a:spcBef>
              <a:spcAft>
                <a:spcPts val="0"/>
              </a:spcAft>
              <a:buClr>
                <a:schemeClr val="dk1"/>
              </a:buClr>
              <a:buSzPct val="100000"/>
              <a:buFont typeface="Arial"/>
              <a:buChar char="•"/>
            </a:pPr>
            <a:r>
              <a:rPr lang="en-US" dirty="0"/>
              <a:t>Short for </a:t>
            </a:r>
            <a:r>
              <a:rPr lang="en-US" b="1" dirty="0"/>
              <a:t>mu</a:t>
            </a:r>
            <a:r>
              <a:rPr lang="en-US" i="1" dirty="0"/>
              <a:t>tual </a:t>
            </a:r>
            <a:r>
              <a:rPr lang="en-US" b="1" dirty="0"/>
              <a:t>ex</a:t>
            </a:r>
            <a:r>
              <a:rPr lang="en-US" i="1" dirty="0"/>
              <a:t>clusion object</a:t>
            </a:r>
            <a:r>
              <a:rPr lang="en-US" dirty="0"/>
              <a:t>.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A </a:t>
            </a:r>
            <a:r>
              <a:rPr lang="en-US" dirty="0" err="1"/>
              <a:t>mutex</a:t>
            </a:r>
            <a:r>
              <a:rPr lang="en-US" dirty="0"/>
              <a:t> is a program object that allows multiple program threads to share the same resource, such as file access, but not simultaneously.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A </a:t>
            </a:r>
            <a:r>
              <a:rPr lang="en-US" dirty="0" err="1"/>
              <a:t>mutex</a:t>
            </a:r>
            <a:r>
              <a:rPr lang="en-US" dirty="0"/>
              <a:t> object only allows one thread into a controlled section, forcing other threads which attempt to gain access to that section to wait until the first thread has exited from that section.</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 When a program is started, a </a:t>
            </a:r>
            <a:r>
              <a:rPr lang="en-US" dirty="0" err="1"/>
              <a:t>mutex</a:t>
            </a:r>
            <a:r>
              <a:rPr lang="en-US" dirty="0"/>
              <a:t> is created with a unique name.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After this stage, any thread that needs the resource must lock the </a:t>
            </a:r>
            <a:r>
              <a:rPr lang="en-US" dirty="0" err="1"/>
              <a:t>mutex</a:t>
            </a:r>
            <a:r>
              <a:rPr lang="en-US" dirty="0"/>
              <a:t> from other threads while it is using the resource.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The </a:t>
            </a:r>
            <a:r>
              <a:rPr lang="en-US" dirty="0" err="1"/>
              <a:t>mutex</a:t>
            </a:r>
            <a:r>
              <a:rPr lang="en-US" dirty="0"/>
              <a:t> is set to unlock when the data is no longer needed or the routine is finished. </a:t>
            </a:r>
            <a:endParaRPr dirty="0"/>
          </a:p>
          <a:p>
            <a:pPr marL="285750" lvl="0" indent="-134620" algn="l" rtl="0">
              <a:lnSpc>
                <a:spcPct val="90000"/>
              </a:lnSpc>
              <a:spcBef>
                <a:spcPts val="1000"/>
              </a:spcBef>
              <a:spcAft>
                <a:spcPts val="0"/>
              </a:spcAft>
              <a:buClr>
                <a:schemeClr val="dk1"/>
              </a:buClr>
              <a:buSzPct val="100000"/>
              <a:buFont typeface="Arial"/>
              <a:buNone/>
            </a:pPr>
            <a:endParaRPr dirty="0"/>
          </a:p>
        </p:txBody>
      </p:sp>
      <p:sp>
        <p:nvSpPr>
          <p:cNvPr id="720" name="Google Shape;720;p72"/>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000000"/>
                </a:solidFill>
              </a:rPr>
              <a:t>05-12-2022</a:t>
            </a:r>
            <a:endParaRPr>
              <a:solidFill>
                <a:srgbClr val="000000"/>
              </a:solidFill>
            </a:endParaRPr>
          </a:p>
        </p:txBody>
      </p:sp>
      <p:sp>
        <p:nvSpPr>
          <p:cNvPr id="721" name="Google Shape;721;p72"/>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solidFill>
                  <a:srgbClr val="000000"/>
                </a:solidFill>
              </a:rPr>
              <a:t>55</a:t>
            </a:fld>
            <a:endParaRPr>
              <a:solidFill>
                <a:srgbClr val="000000"/>
              </a:solidFill>
            </a:endParaRPr>
          </a:p>
        </p:txBody>
      </p:sp>
    </p:spTree>
    <p:extLst>
      <p:ext uri="{BB962C8B-B14F-4D97-AF65-F5344CB8AC3E}">
        <p14:creationId xmlns:p14="http://schemas.microsoft.com/office/powerpoint/2010/main" val="64326826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pPr defTabSz="914400">
              <a:buClr>
                <a:srgbClr val="000000"/>
              </a:buClr>
              <a:buFont typeface="Arial"/>
              <a:buNone/>
            </a:pPr>
            <a:fld id="{379673E8-7C99-4AFB-B0B9-E3C384C0DA1E}" type="datetime1">
              <a:rPr lang="en-US" kern="0" smtClean="0">
                <a:solidFill>
                  <a:srgbClr val="000000"/>
                </a:solidFill>
              </a:rPr>
              <a:t>11/11/2024</a:t>
            </a:fld>
            <a:endParaRPr lang="en-US" kern="0">
              <a:solidFill>
                <a:srgbClr val="000000"/>
              </a:solidFill>
            </a:endParaRPr>
          </a:p>
        </p:txBody>
      </p:sp>
      <p:sp>
        <p:nvSpPr>
          <p:cNvPr id="3" name="Title 2"/>
          <p:cNvSpPr>
            <a:spLocks noGrp="1"/>
          </p:cNvSpPr>
          <p:nvPr>
            <p:ph type="title"/>
          </p:nvPr>
        </p:nvSpPr>
        <p:spPr/>
        <p:txBody>
          <a:bodyPr/>
          <a:lstStyle/>
          <a:p>
            <a:r>
              <a:rPr lang="en-IN" dirty="0" err="1" smtClean="0"/>
              <a:t>Mutex</a:t>
            </a:r>
            <a:r>
              <a:rPr lang="en-IN" dirty="0" smtClean="0"/>
              <a:t> and Binary Semaphores</a:t>
            </a:r>
            <a:endParaRPr lang="en-IN" dirty="0"/>
          </a:p>
        </p:txBody>
      </p:sp>
      <p:sp>
        <p:nvSpPr>
          <p:cNvPr id="4" name="Text Placeholder 3"/>
          <p:cNvSpPr>
            <a:spLocks noGrp="1"/>
          </p:cNvSpPr>
          <p:nvPr>
            <p:ph type="body" idx="1"/>
          </p:nvPr>
        </p:nvSpPr>
        <p:spPr/>
        <p:txBody>
          <a:bodyPr/>
          <a:lstStyle/>
          <a:p>
            <a:r>
              <a:rPr lang="en-US" b="1" dirty="0" err="1"/>
              <a:t>Mutex</a:t>
            </a:r>
            <a:r>
              <a:rPr lang="en-US" dirty="0"/>
              <a:t> is a specialized form of binary semaphore designed specifically for mutual exclusion with the added restriction that only the thread that locks the </a:t>
            </a:r>
            <a:r>
              <a:rPr lang="en-US" dirty="0" err="1"/>
              <a:t>mutex</a:t>
            </a:r>
            <a:r>
              <a:rPr lang="en-US" dirty="0"/>
              <a:t> can unlock it</a:t>
            </a:r>
            <a:r>
              <a:rPr lang="en-US" dirty="0" smtClean="0"/>
              <a:t>.</a:t>
            </a:r>
          </a:p>
          <a:p>
            <a:r>
              <a:rPr lang="en-US" b="1" dirty="0" smtClean="0"/>
              <a:t>Binary </a:t>
            </a:r>
            <a:r>
              <a:rPr lang="en-US" b="1" dirty="0"/>
              <a:t>Semaphore</a:t>
            </a:r>
            <a:r>
              <a:rPr lang="en-US" dirty="0"/>
              <a:t> is more general and can be used for signaling and synchronization, not necessarily tied to ownership of resources.</a:t>
            </a:r>
            <a:endParaRPr lang="en-IN" dirty="0"/>
          </a:p>
        </p:txBody>
      </p:sp>
    </p:spTree>
    <p:extLst>
      <p:ext uri="{BB962C8B-B14F-4D97-AF65-F5344CB8AC3E}">
        <p14:creationId xmlns:p14="http://schemas.microsoft.com/office/powerpoint/2010/main" val="83515791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err="1"/>
              <a:t>Mutex</a:t>
            </a:r>
            <a:r>
              <a:rPr lang="en-IN" dirty="0"/>
              <a:t> and Binary Semaphores</a:t>
            </a:r>
          </a:p>
        </p:txBody>
      </p:sp>
      <p:graphicFrame>
        <p:nvGraphicFramePr>
          <p:cNvPr id="5" name="Table 4"/>
          <p:cNvGraphicFramePr>
            <a:graphicFrameLocks noGrp="1"/>
          </p:cNvGraphicFramePr>
          <p:nvPr>
            <p:extLst>
              <p:ext uri="{D42A27DB-BD31-4B8C-83A1-F6EECF244321}">
                <p14:modId xmlns:p14="http://schemas.microsoft.com/office/powerpoint/2010/main" val="3179961305"/>
              </p:ext>
            </p:extLst>
          </p:nvPr>
        </p:nvGraphicFramePr>
        <p:xfrm>
          <a:off x="751291" y="946813"/>
          <a:ext cx="11204148" cy="5276566"/>
        </p:xfrm>
        <a:graphic>
          <a:graphicData uri="http://schemas.openxmlformats.org/drawingml/2006/table">
            <a:tbl>
              <a:tblPr>
                <a:tableStyleId>{5C22544A-7EE6-4342-B048-85BDC9FD1C3A}</a:tableStyleId>
              </a:tblPr>
              <a:tblGrid>
                <a:gridCol w="1500410"/>
                <a:gridCol w="4501229"/>
                <a:gridCol w="5202509"/>
              </a:tblGrid>
              <a:tr h="338242">
                <a:tc>
                  <a:txBody>
                    <a:bodyPr/>
                    <a:lstStyle/>
                    <a:p>
                      <a:pPr algn="ctr" fontAlgn="ctr"/>
                      <a:r>
                        <a:rPr lang="en-IN" sz="1800" b="1" u="none" strike="noStrike" dirty="0">
                          <a:effectLst/>
                        </a:rPr>
                        <a:t>Aspect</a:t>
                      </a:r>
                      <a:endParaRPr lang="en-IN" sz="1800" b="1" i="0" u="none" strike="noStrike" dirty="0">
                        <a:solidFill>
                          <a:srgbClr val="000000"/>
                        </a:solidFill>
                        <a:effectLst/>
                        <a:latin typeface="Fira sans"/>
                      </a:endParaRPr>
                    </a:p>
                  </a:txBody>
                  <a:tcPr marL="9525" marR="9525" marT="9525" marB="0" anchor="ctr"/>
                </a:tc>
                <a:tc>
                  <a:txBody>
                    <a:bodyPr/>
                    <a:lstStyle/>
                    <a:p>
                      <a:pPr algn="ctr" fontAlgn="ctr"/>
                      <a:r>
                        <a:rPr lang="en-IN" sz="1800" b="1" u="none" strike="noStrike" dirty="0" err="1">
                          <a:effectLst/>
                        </a:rPr>
                        <a:t>Mutex</a:t>
                      </a:r>
                      <a:endParaRPr lang="en-IN" sz="1800" b="1" i="0" u="none" strike="noStrike" dirty="0">
                        <a:solidFill>
                          <a:srgbClr val="000000"/>
                        </a:solidFill>
                        <a:effectLst/>
                        <a:latin typeface="Fira sans"/>
                      </a:endParaRPr>
                    </a:p>
                  </a:txBody>
                  <a:tcPr marL="9525" marR="9525" marT="9525" marB="0" anchor="ctr"/>
                </a:tc>
                <a:tc>
                  <a:txBody>
                    <a:bodyPr/>
                    <a:lstStyle/>
                    <a:p>
                      <a:pPr algn="ctr" fontAlgn="ctr"/>
                      <a:r>
                        <a:rPr lang="en-IN" sz="1800" b="1" u="none" strike="noStrike" dirty="0">
                          <a:effectLst/>
                        </a:rPr>
                        <a:t>Binary Semaphore</a:t>
                      </a:r>
                      <a:endParaRPr lang="en-IN" sz="1800" b="1" i="0" u="none" strike="noStrike" dirty="0">
                        <a:solidFill>
                          <a:srgbClr val="000000"/>
                        </a:solidFill>
                        <a:effectLst/>
                        <a:latin typeface="Fira sans"/>
                      </a:endParaRPr>
                    </a:p>
                  </a:txBody>
                  <a:tcPr marL="9525" marR="9525" marT="9525" marB="0" anchor="ctr"/>
                </a:tc>
              </a:tr>
              <a:tr h="963988">
                <a:tc>
                  <a:txBody>
                    <a:bodyPr/>
                    <a:lstStyle/>
                    <a:p>
                      <a:pPr algn="l" fontAlgn="ctr"/>
                      <a:r>
                        <a:rPr lang="en-IN" sz="1800" u="none" strike="noStrike">
                          <a:effectLst/>
                        </a:rPr>
                        <a:t>Ownership</a:t>
                      </a:r>
                      <a:endParaRPr lang="en-IN" sz="1800" b="1" i="0" u="none" strike="noStrike">
                        <a:solidFill>
                          <a:srgbClr val="000000"/>
                        </a:solidFill>
                        <a:effectLst/>
                        <a:latin typeface="Fira sans"/>
                      </a:endParaRPr>
                    </a:p>
                  </a:txBody>
                  <a:tcPr marL="9525" marR="9525" marT="9525" marB="0" anchor="ctr"/>
                </a:tc>
                <a:tc>
                  <a:txBody>
                    <a:bodyPr/>
                    <a:lstStyle/>
                    <a:p>
                      <a:pPr algn="l" fontAlgn="ctr"/>
                      <a:r>
                        <a:rPr lang="en-US" sz="1800" u="none" strike="noStrike" dirty="0">
                          <a:effectLst/>
                        </a:rPr>
                        <a:t>A </a:t>
                      </a:r>
                      <a:r>
                        <a:rPr lang="en-US" sz="1800" u="none" strike="noStrike" dirty="0" err="1">
                          <a:effectLst/>
                        </a:rPr>
                        <a:t>mutex</a:t>
                      </a:r>
                      <a:r>
                        <a:rPr lang="en-US" sz="1800" u="none" strike="noStrike" dirty="0">
                          <a:effectLst/>
                        </a:rPr>
                        <a:t> can only be released (unlocked) by the thread that acquired (locked) it.</a:t>
                      </a:r>
                      <a:endParaRPr lang="en-US" sz="1800" b="0" i="0" u="none" strike="noStrike" dirty="0">
                        <a:solidFill>
                          <a:srgbClr val="000000"/>
                        </a:solidFill>
                        <a:effectLst/>
                        <a:latin typeface="Fira sans"/>
                      </a:endParaRPr>
                    </a:p>
                  </a:txBody>
                  <a:tcPr marL="9525" marR="9525" marT="9525" marB="0" anchor="ctr"/>
                </a:tc>
                <a:tc>
                  <a:txBody>
                    <a:bodyPr/>
                    <a:lstStyle/>
                    <a:p>
                      <a:pPr algn="l" fontAlgn="ctr"/>
                      <a:r>
                        <a:rPr lang="en-US" sz="1800" u="none" strike="noStrike">
                          <a:effectLst/>
                        </a:rPr>
                        <a:t>A binary semaphore can be signaled (released) by any thread, even one that didn’t wait (acquire) it.</a:t>
                      </a:r>
                      <a:endParaRPr lang="en-US" sz="1800" b="0" i="0" u="none" strike="noStrike">
                        <a:solidFill>
                          <a:srgbClr val="000000"/>
                        </a:solidFill>
                        <a:effectLst/>
                        <a:latin typeface="Fira sans"/>
                      </a:endParaRPr>
                    </a:p>
                  </a:txBody>
                  <a:tcPr marL="9525" marR="9525" marT="9525" marB="0" anchor="ctr"/>
                </a:tc>
              </a:tr>
              <a:tr h="980900">
                <a:tc>
                  <a:txBody>
                    <a:bodyPr/>
                    <a:lstStyle/>
                    <a:p>
                      <a:pPr algn="l" fontAlgn="ctr"/>
                      <a:r>
                        <a:rPr lang="en-IN" sz="1800" u="none" strike="noStrike">
                          <a:effectLst/>
                        </a:rPr>
                        <a:t>Use Case</a:t>
                      </a:r>
                      <a:endParaRPr lang="en-IN" sz="1800" b="1" i="0" u="none" strike="noStrike">
                        <a:solidFill>
                          <a:srgbClr val="000000"/>
                        </a:solidFill>
                        <a:effectLst/>
                        <a:latin typeface="Fira sans"/>
                      </a:endParaRPr>
                    </a:p>
                  </a:txBody>
                  <a:tcPr marL="9525" marR="9525" marT="9525" marB="0" anchor="ctr"/>
                </a:tc>
                <a:tc>
                  <a:txBody>
                    <a:bodyPr/>
                    <a:lstStyle/>
                    <a:p>
                      <a:pPr algn="l" fontAlgn="ctr"/>
                      <a:r>
                        <a:rPr lang="en-US" sz="1800" u="none" strike="noStrike">
                          <a:effectLst/>
                        </a:rPr>
                        <a:t>Typically used for locking a resource or critical section, where ownership is important.</a:t>
                      </a:r>
                      <a:endParaRPr lang="en-US" sz="1800" b="0" i="0" u="none" strike="noStrike">
                        <a:solidFill>
                          <a:srgbClr val="000000"/>
                        </a:solidFill>
                        <a:effectLst/>
                        <a:latin typeface="Fira sans"/>
                      </a:endParaRPr>
                    </a:p>
                  </a:txBody>
                  <a:tcPr marL="9525" marR="9525" marT="9525" marB="0" anchor="ctr"/>
                </a:tc>
                <a:tc>
                  <a:txBody>
                    <a:bodyPr/>
                    <a:lstStyle/>
                    <a:p>
                      <a:pPr algn="l" fontAlgn="ctr"/>
                      <a:r>
                        <a:rPr lang="en-US" sz="1800" u="none" strike="noStrike" dirty="0">
                          <a:effectLst/>
                        </a:rPr>
                        <a:t>Typically used for signaling between processes or threads, not necessarily for resource locking.</a:t>
                      </a:r>
                      <a:endParaRPr lang="en-US" sz="1800" b="0" i="0" u="none" strike="noStrike" dirty="0">
                        <a:solidFill>
                          <a:srgbClr val="000000"/>
                        </a:solidFill>
                        <a:effectLst/>
                        <a:latin typeface="Fira sans"/>
                      </a:endParaRPr>
                    </a:p>
                  </a:txBody>
                  <a:tcPr marL="9525" marR="9525" marT="9525" marB="0" anchor="ctr"/>
                </a:tc>
              </a:tr>
              <a:tr h="676482">
                <a:tc>
                  <a:txBody>
                    <a:bodyPr/>
                    <a:lstStyle/>
                    <a:p>
                      <a:pPr algn="l" fontAlgn="ctr"/>
                      <a:r>
                        <a:rPr lang="en-IN" sz="1800" u="none" strike="noStrike">
                          <a:effectLst/>
                        </a:rPr>
                        <a:t>Purpose</a:t>
                      </a:r>
                      <a:endParaRPr lang="en-IN" sz="1800" b="1" i="0" u="none" strike="noStrike">
                        <a:solidFill>
                          <a:srgbClr val="000000"/>
                        </a:solidFill>
                        <a:effectLst/>
                        <a:latin typeface="Fira sans"/>
                      </a:endParaRPr>
                    </a:p>
                  </a:txBody>
                  <a:tcPr marL="9525" marR="9525" marT="9525" marB="0" anchor="ctr"/>
                </a:tc>
                <a:tc>
                  <a:txBody>
                    <a:bodyPr/>
                    <a:lstStyle/>
                    <a:p>
                      <a:pPr algn="l" fontAlgn="ctr"/>
                      <a:r>
                        <a:rPr lang="en-US" sz="1800" u="none" strike="noStrike">
                          <a:effectLst/>
                        </a:rPr>
                        <a:t>Specifically designed for mutual exclusion.</a:t>
                      </a:r>
                      <a:endParaRPr lang="en-US" sz="1800" b="0" i="0" u="none" strike="noStrike">
                        <a:solidFill>
                          <a:srgbClr val="000000"/>
                        </a:solidFill>
                        <a:effectLst/>
                        <a:latin typeface="Fira sans"/>
                      </a:endParaRPr>
                    </a:p>
                  </a:txBody>
                  <a:tcPr marL="9525" marR="9525" marT="9525" marB="0" anchor="ctr"/>
                </a:tc>
                <a:tc>
                  <a:txBody>
                    <a:bodyPr/>
                    <a:lstStyle/>
                    <a:p>
                      <a:pPr algn="l" fontAlgn="ctr"/>
                      <a:r>
                        <a:rPr lang="en-US" sz="1800" u="none" strike="noStrike">
                          <a:effectLst/>
                        </a:rPr>
                        <a:t>Designed for signaling (can be used for both synchronization and mutual exclusion).</a:t>
                      </a:r>
                      <a:endParaRPr lang="en-US" sz="1800" b="0" i="0" u="none" strike="noStrike">
                        <a:solidFill>
                          <a:srgbClr val="000000"/>
                        </a:solidFill>
                        <a:effectLst/>
                        <a:latin typeface="Fira sans"/>
                      </a:endParaRPr>
                    </a:p>
                  </a:txBody>
                  <a:tcPr marL="9525" marR="9525" marT="9525" marB="0" anchor="ctr"/>
                </a:tc>
              </a:tr>
              <a:tr h="963988">
                <a:tc>
                  <a:txBody>
                    <a:bodyPr/>
                    <a:lstStyle/>
                    <a:p>
                      <a:pPr algn="l" fontAlgn="ctr"/>
                      <a:r>
                        <a:rPr lang="en-IN" sz="1800" u="none" strike="noStrike">
                          <a:effectLst/>
                        </a:rPr>
                        <a:t>Overhead</a:t>
                      </a:r>
                      <a:endParaRPr lang="en-IN" sz="1800" b="1" i="0" u="none" strike="noStrike">
                        <a:solidFill>
                          <a:srgbClr val="000000"/>
                        </a:solidFill>
                        <a:effectLst/>
                        <a:latin typeface="Fira sans"/>
                      </a:endParaRPr>
                    </a:p>
                  </a:txBody>
                  <a:tcPr marL="9525" marR="9525" marT="9525" marB="0" anchor="ctr"/>
                </a:tc>
                <a:tc>
                  <a:txBody>
                    <a:bodyPr/>
                    <a:lstStyle/>
                    <a:p>
                      <a:pPr algn="l" fontAlgn="ctr"/>
                      <a:r>
                        <a:rPr lang="en-US" sz="1800" u="none" strike="noStrike">
                          <a:effectLst/>
                        </a:rPr>
                        <a:t>Generally has lower overhead since it's specifically designed for locking mechanisms.</a:t>
                      </a:r>
                      <a:endParaRPr lang="en-US" sz="1800" b="0" i="0" u="none" strike="noStrike">
                        <a:solidFill>
                          <a:srgbClr val="000000"/>
                        </a:solidFill>
                        <a:effectLst/>
                        <a:latin typeface="Fira sans"/>
                      </a:endParaRPr>
                    </a:p>
                  </a:txBody>
                  <a:tcPr marL="9525" marR="9525" marT="9525" marB="0" anchor="ctr"/>
                </a:tc>
                <a:tc>
                  <a:txBody>
                    <a:bodyPr/>
                    <a:lstStyle/>
                    <a:p>
                      <a:pPr algn="l" fontAlgn="ctr"/>
                      <a:r>
                        <a:rPr lang="en-US" sz="1800" u="none" strike="noStrike" dirty="0">
                          <a:effectLst/>
                        </a:rPr>
                        <a:t>Slightly higher overhead due to its more general-purpose use in synchronization.</a:t>
                      </a:r>
                      <a:endParaRPr lang="en-US" sz="1800" b="0" i="0" u="none" strike="noStrike" dirty="0">
                        <a:solidFill>
                          <a:srgbClr val="000000"/>
                        </a:solidFill>
                        <a:effectLst/>
                        <a:latin typeface="Fira sans"/>
                      </a:endParaRPr>
                    </a:p>
                  </a:txBody>
                  <a:tcPr marL="9525" marR="9525" marT="9525" marB="0" anchor="ctr"/>
                </a:tc>
              </a:tr>
              <a:tr h="1014724">
                <a:tc>
                  <a:txBody>
                    <a:bodyPr/>
                    <a:lstStyle/>
                    <a:p>
                      <a:pPr algn="l" fontAlgn="ctr"/>
                      <a:r>
                        <a:rPr lang="en-IN" sz="1800" u="none" strike="noStrike">
                          <a:effectLst/>
                        </a:rPr>
                        <a:t>Priority Inversion Handling</a:t>
                      </a:r>
                      <a:endParaRPr lang="en-IN" sz="1800" b="1" i="0" u="none" strike="noStrike">
                        <a:solidFill>
                          <a:srgbClr val="000000"/>
                        </a:solidFill>
                        <a:effectLst/>
                        <a:latin typeface="Fira sans"/>
                      </a:endParaRPr>
                    </a:p>
                  </a:txBody>
                  <a:tcPr marL="9525" marR="9525" marT="9525" marB="0" anchor="ctr"/>
                </a:tc>
                <a:tc>
                  <a:txBody>
                    <a:bodyPr/>
                    <a:lstStyle/>
                    <a:p>
                      <a:pPr algn="l" fontAlgn="ctr"/>
                      <a:r>
                        <a:rPr lang="en-US" sz="1800" u="none" strike="noStrike">
                          <a:effectLst/>
                        </a:rPr>
                        <a:t>Mutexes often come with built-in mechanisms to prevent priority inversion (e.g., priority inheritance).</a:t>
                      </a:r>
                      <a:endParaRPr lang="en-US" sz="1800" b="0" i="0" u="none" strike="noStrike">
                        <a:solidFill>
                          <a:srgbClr val="000000"/>
                        </a:solidFill>
                        <a:effectLst/>
                        <a:latin typeface="Fira sans"/>
                      </a:endParaRPr>
                    </a:p>
                  </a:txBody>
                  <a:tcPr marL="9525" marR="9525" marT="9525" marB="0" anchor="ctr"/>
                </a:tc>
                <a:tc>
                  <a:txBody>
                    <a:bodyPr/>
                    <a:lstStyle/>
                    <a:p>
                      <a:pPr algn="l" fontAlgn="ctr"/>
                      <a:r>
                        <a:rPr lang="en-US" sz="1800" u="none" strike="noStrike" dirty="0">
                          <a:effectLst/>
                        </a:rPr>
                        <a:t>Binary semaphores do not typically have built-in mechanisms to handle priority inversion.</a:t>
                      </a:r>
                      <a:endParaRPr lang="en-US" sz="1800" b="0" i="0" u="none" strike="noStrike" dirty="0">
                        <a:solidFill>
                          <a:srgbClr val="000000"/>
                        </a:solidFill>
                        <a:effectLst/>
                        <a:latin typeface="Fira sans"/>
                      </a:endParaRPr>
                    </a:p>
                  </a:txBody>
                  <a:tcPr marL="9525" marR="9525" marT="9525" marB="0" anchor="ctr"/>
                </a:tc>
              </a:tr>
              <a:tr h="338242">
                <a:tc>
                  <a:txBody>
                    <a:bodyPr/>
                    <a:lstStyle/>
                    <a:p>
                      <a:pPr algn="l" fontAlgn="ctr"/>
                      <a:r>
                        <a:rPr lang="en-IN" sz="1800" u="none" strike="noStrike">
                          <a:effectLst/>
                        </a:rPr>
                        <a:t>Typical API</a:t>
                      </a:r>
                      <a:endParaRPr lang="en-IN" sz="1800" b="1" i="0" u="none" strike="noStrike">
                        <a:solidFill>
                          <a:srgbClr val="000000"/>
                        </a:solidFill>
                        <a:effectLst/>
                        <a:latin typeface="Fira sans"/>
                      </a:endParaRPr>
                    </a:p>
                  </a:txBody>
                  <a:tcPr marL="9525" marR="9525" marT="9525" marB="0" anchor="ctr"/>
                </a:tc>
                <a:tc>
                  <a:txBody>
                    <a:bodyPr/>
                    <a:lstStyle/>
                    <a:p>
                      <a:pPr algn="l" fontAlgn="ctr"/>
                      <a:r>
                        <a:rPr lang="en-IN" sz="1400" u="none" strike="noStrike">
                          <a:effectLst/>
                        </a:rPr>
                        <a:t>lock()</a:t>
                      </a:r>
                      <a:r>
                        <a:rPr lang="en-IN" sz="1800" u="none" strike="noStrike">
                          <a:effectLst/>
                        </a:rPr>
                        <a:t> and </a:t>
                      </a:r>
                      <a:r>
                        <a:rPr lang="en-IN" sz="1400" u="none" strike="noStrike">
                          <a:effectLst/>
                        </a:rPr>
                        <a:t>unlock()</a:t>
                      </a:r>
                      <a:r>
                        <a:rPr lang="en-IN" sz="1800" u="none" strike="noStrike">
                          <a:effectLst/>
                        </a:rPr>
                        <a:t>.</a:t>
                      </a:r>
                      <a:endParaRPr lang="en-IN" sz="1400" b="0" i="0" u="none" strike="noStrike">
                        <a:solidFill>
                          <a:srgbClr val="000000"/>
                        </a:solidFill>
                        <a:effectLst/>
                        <a:latin typeface="Fira sans"/>
                      </a:endParaRPr>
                    </a:p>
                  </a:txBody>
                  <a:tcPr marL="9525" marR="9525" marT="9525" marB="0" anchor="ctr"/>
                </a:tc>
                <a:tc>
                  <a:txBody>
                    <a:bodyPr/>
                    <a:lstStyle/>
                    <a:p>
                      <a:pPr algn="l" fontAlgn="ctr"/>
                      <a:r>
                        <a:rPr lang="en-US" sz="1400" u="none" strike="noStrike" dirty="0">
                          <a:effectLst/>
                        </a:rPr>
                        <a:t>wait()</a:t>
                      </a:r>
                      <a:r>
                        <a:rPr lang="en-US" sz="1800" u="none" strike="noStrike" dirty="0">
                          <a:effectLst/>
                        </a:rPr>
                        <a:t> (or </a:t>
                      </a:r>
                      <a:r>
                        <a:rPr lang="en-US" sz="1400" u="none" strike="noStrike" dirty="0">
                          <a:effectLst/>
                        </a:rPr>
                        <a:t>P()</a:t>
                      </a:r>
                      <a:r>
                        <a:rPr lang="en-US" sz="1800" u="none" strike="noStrike" dirty="0">
                          <a:effectLst/>
                        </a:rPr>
                        <a:t>) and </a:t>
                      </a:r>
                      <a:r>
                        <a:rPr lang="en-US" sz="1400" u="none" strike="noStrike" dirty="0">
                          <a:effectLst/>
                        </a:rPr>
                        <a:t>signal()</a:t>
                      </a:r>
                      <a:r>
                        <a:rPr lang="en-US" sz="1800" u="none" strike="noStrike" dirty="0">
                          <a:effectLst/>
                        </a:rPr>
                        <a:t> (or </a:t>
                      </a:r>
                      <a:r>
                        <a:rPr lang="en-US" sz="1400" u="none" strike="noStrike" dirty="0">
                          <a:effectLst/>
                        </a:rPr>
                        <a:t>V()</a:t>
                      </a:r>
                      <a:r>
                        <a:rPr lang="en-US" sz="1800" u="none" strike="noStrike" dirty="0">
                          <a:effectLst/>
                        </a:rPr>
                        <a:t>).</a:t>
                      </a:r>
                      <a:endParaRPr lang="en-US" sz="1400" b="0" i="0" u="none" strike="noStrike" dirty="0">
                        <a:solidFill>
                          <a:srgbClr val="000000"/>
                        </a:solidFill>
                        <a:effectLst/>
                        <a:latin typeface="Fira sans"/>
                      </a:endParaRPr>
                    </a:p>
                  </a:txBody>
                  <a:tcPr marL="9525" marR="9525" marT="9525" marB="0" anchor="ctr"/>
                </a:tc>
              </a:tr>
            </a:tbl>
          </a:graphicData>
        </a:graphic>
      </p:graphicFrame>
    </p:spTree>
    <p:extLst>
      <p:ext uri="{BB962C8B-B14F-4D97-AF65-F5344CB8AC3E}">
        <p14:creationId xmlns:p14="http://schemas.microsoft.com/office/powerpoint/2010/main" val="328043040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76"/>
          <p:cNvSpPr txBox="1">
            <a:spLocks noGrp="1"/>
          </p:cNvSpPr>
          <p:nvPr>
            <p:ph type="title"/>
          </p:nvPr>
        </p:nvSpPr>
        <p:spPr>
          <a:xfrm>
            <a:off x="1089765" y="214818"/>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b="1"/>
              <a:t>semaphore primitives</a:t>
            </a:r>
            <a:endParaRPr/>
          </a:p>
        </p:txBody>
      </p:sp>
      <p:sp>
        <p:nvSpPr>
          <p:cNvPr id="751" name="Google Shape;751;p76"/>
          <p:cNvSpPr txBox="1">
            <a:spLocks noGrp="1"/>
          </p:cNvSpPr>
          <p:nvPr>
            <p:ph type="body" idx="1"/>
          </p:nvPr>
        </p:nvSpPr>
        <p:spPr>
          <a:xfrm>
            <a:off x="933339" y="1324630"/>
            <a:ext cx="10972800" cy="4525963"/>
          </a:xfrm>
          <a:prstGeom prst="rect">
            <a:avLst/>
          </a:prstGeom>
          <a:noFill/>
          <a:ln>
            <a:noFill/>
          </a:ln>
        </p:spPr>
        <p:txBody>
          <a:bodyPr spcFirstLastPara="1" wrap="square" lIns="91425" tIns="45700" rIns="91425" bIns="45700" anchor="t" anchorCtr="0">
            <a:normAutofit lnSpcReduction="10000"/>
          </a:bodyPr>
          <a:lstStyle/>
          <a:p>
            <a:pPr marL="285750" lvl="0" indent="-285750" algn="l" rtl="0">
              <a:lnSpc>
                <a:spcPct val="90000"/>
              </a:lnSpc>
              <a:spcBef>
                <a:spcPts val="0"/>
              </a:spcBef>
              <a:spcAft>
                <a:spcPts val="0"/>
              </a:spcAft>
              <a:buClr>
                <a:schemeClr val="dk1"/>
              </a:buClr>
              <a:buSzPct val="100000"/>
              <a:buFont typeface="Arial"/>
              <a:buChar char="•"/>
            </a:pPr>
            <a:r>
              <a:rPr lang="en-US"/>
              <a:t>Semaphore is an integer variable that can be initialized to some value. </a:t>
            </a:r>
            <a:endParaRPr/>
          </a:p>
          <a:p>
            <a:pPr marL="285750" lvl="0" indent="-285750" algn="l" rtl="0">
              <a:lnSpc>
                <a:spcPct val="90000"/>
              </a:lnSpc>
              <a:spcBef>
                <a:spcPts val="1000"/>
              </a:spcBef>
              <a:spcAft>
                <a:spcPts val="0"/>
              </a:spcAft>
              <a:buClr>
                <a:schemeClr val="dk1"/>
              </a:buClr>
              <a:buSzPct val="100000"/>
              <a:buFont typeface="Arial"/>
              <a:buChar char="•"/>
            </a:pPr>
            <a:r>
              <a:rPr lang="en-US"/>
              <a:t>The semaphore values are used for signaling the processes for communication. </a:t>
            </a:r>
            <a:endParaRPr/>
          </a:p>
          <a:p>
            <a:pPr marL="285750" lvl="0" indent="-285750" algn="l" rtl="0">
              <a:lnSpc>
                <a:spcPct val="90000"/>
              </a:lnSpc>
              <a:spcBef>
                <a:spcPts val="1000"/>
              </a:spcBef>
              <a:spcAft>
                <a:spcPts val="0"/>
              </a:spcAft>
              <a:buClr>
                <a:schemeClr val="dk1"/>
              </a:buClr>
              <a:buSzPct val="100000"/>
              <a:buFont typeface="Arial"/>
              <a:buChar char="•"/>
            </a:pPr>
            <a:r>
              <a:rPr lang="en-US"/>
              <a:t>They can be operated upon by three operations viz,</a:t>
            </a:r>
            <a:endParaRPr/>
          </a:p>
          <a:p>
            <a:pPr marL="742950" lvl="1" indent="-285750" algn="l" rtl="0">
              <a:lnSpc>
                <a:spcPct val="90000"/>
              </a:lnSpc>
              <a:spcBef>
                <a:spcPts val="500"/>
              </a:spcBef>
              <a:spcAft>
                <a:spcPts val="0"/>
              </a:spcAft>
              <a:buClr>
                <a:schemeClr val="dk1"/>
              </a:buClr>
              <a:buSzPct val="100000"/>
              <a:buChar char="o"/>
            </a:pPr>
            <a:r>
              <a:rPr lang="en-US"/>
              <a:t>initialize, </a:t>
            </a:r>
            <a:endParaRPr/>
          </a:p>
          <a:p>
            <a:pPr marL="742950" lvl="1" indent="-285750" algn="l" rtl="0">
              <a:lnSpc>
                <a:spcPct val="90000"/>
              </a:lnSpc>
              <a:spcBef>
                <a:spcPts val="500"/>
              </a:spcBef>
              <a:spcAft>
                <a:spcPts val="0"/>
              </a:spcAft>
              <a:buClr>
                <a:schemeClr val="dk1"/>
              </a:buClr>
              <a:buSzPct val="100000"/>
              <a:buChar char="o"/>
            </a:pPr>
            <a:r>
              <a:rPr lang="en-US"/>
              <a:t>increment and </a:t>
            </a:r>
            <a:endParaRPr/>
          </a:p>
          <a:p>
            <a:pPr marL="742950" lvl="1" indent="-285750" algn="l" rtl="0">
              <a:lnSpc>
                <a:spcPct val="90000"/>
              </a:lnSpc>
              <a:spcBef>
                <a:spcPts val="500"/>
              </a:spcBef>
              <a:spcAft>
                <a:spcPts val="0"/>
              </a:spcAft>
              <a:buClr>
                <a:schemeClr val="dk1"/>
              </a:buClr>
              <a:buSzPct val="100000"/>
              <a:buChar char="o"/>
            </a:pPr>
            <a:r>
              <a:rPr lang="en-US"/>
              <a:t>decrement. </a:t>
            </a:r>
            <a:endParaRPr/>
          </a:p>
          <a:p>
            <a:pPr marL="285750" lvl="0" indent="-285750" algn="l" rtl="0">
              <a:lnSpc>
                <a:spcPct val="90000"/>
              </a:lnSpc>
              <a:spcBef>
                <a:spcPts val="1000"/>
              </a:spcBef>
              <a:spcAft>
                <a:spcPts val="0"/>
              </a:spcAft>
              <a:buClr>
                <a:schemeClr val="dk1"/>
              </a:buClr>
              <a:buSzPct val="100000"/>
              <a:buFont typeface="Arial"/>
              <a:buChar char="•"/>
            </a:pPr>
            <a:r>
              <a:rPr lang="en-US"/>
              <a:t>All these operations are atomic in nature. </a:t>
            </a:r>
            <a:endParaRPr/>
          </a:p>
          <a:p>
            <a:pPr marL="285750" lvl="0" indent="-285750" algn="l" rtl="0">
              <a:lnSpc>
                <a:spcPct val="90000"/>
              </a:lnSpc>
              <a:spcBef>
                <a:spcPts val="1000"/>
              </a:spcBef>
              <a:spcAft>
                <a:spcPts val="0"/>
              </a:spcAft>
              <a:buClr>
                <a:schemeClr val="dk1"/>
              </a:buClr>
              <a:buSzPct val="100000"/>
              <a:buFont typeface="Arial"/>
              <a:buChar char="•"/>
            </a:pPr>
            <a:r>
              <a:rPr lang="en-US"/>
              <a:t>Depending on exact definition of semaphore, the decrement (wait) operation may block a process and the increment (signal) operation may unblock a process. </a:t>
            </a:r>
            <a:endParaRPr/>
          </a:p>
          <a:p>
            <a:pPr marL="285750" lvl="0" indent="-121285" algn="l" rtl="0">
              <a:lnSpc>
                <a:spcPct val="90000"/>
              </a:lnSpc>
              <a:spcBef>
                <a:spcPts val="1000"/>
              </a:spcBef>
              <a:spcAft>
                <a:spcPts val="0"/>
              </a:spcAft>
              <a:buClr>
                <a:schemeClr val="dk1"/>
              </a:buClr>
              <a:buSzPct val="100000"/>
              <a:buFont typeface="Arial"/>
              <a:buNone/>
            </a:pPr>
            <a:endParaRPr/>
          </a:p>
        </p:txBody>
      </p:sp>
      <p:sp>
        <p:nvSpPr>
          <p:cNvPr id="752" name="Google Shape;752;p76"/>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000000"/>
                </a:solidFill>
              </a:rPr>
              <a:t>05-12-2022</a:t>
            </a:r>
            <a:endParaRPr>
              <a:solidFill>
                <a:srgbClr val="000000"/>
              </a:solidFill>
            </a:endParaRPr>
          </a:p>
        </p:txBody>
      </p:sp>
      <p:sp>
        <p:nvSpPr>
          <p:cNvPr id="753" name="Google Shape;753;p7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solidFill>
                  <a:srgbClr val="000000"/>
                </a:solidFill>
              </a:rPr>
              <a:t>58</a:t>
            </a:fld>
            <a:endParaRPr>
              <a:solidFill>
                <a:srgbClr val="000000"/>
              </a:solidFill>
            </a:endParaRPr>
          </a:p>
        </p:txBody>
      </p:sp>
    </p:spTree>
    <p:extLst>
      <p:ext uri="{BB962C8B-B14F-4D97-AF65-F5344CB8AC3E}">
        <p14:creationId xmlns:p14="http://schemas.microsoft.com/office/powerpoint/2010/main" val="217152424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77"/>
          <p:cNvSpPr txBox="1">
            <a:spLocks noGrp="1"/>
          </p:cNvSpPr>
          <p:nvPr>
            <p:ph type="title"/>
          </p:nvPr>
        </p:nvSpPr>
        <p:spPr>
          <a:xfrm>
            <a:off x="1089765" y="214818"/>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Definition of Semaphore Primitives</a:t>
            </a:r>
            <a:endParaRPr/>
          </a:p>
        </p:txBody>
      </p:sp>
      <p:sp>
        <p:nvSpPr>
          <p:cNvPr id="759" name="Google Shape;759;p77"/>
          <p:cNvSpPr txBox="1">
            <a:spLocks noGrp="1"/>
          </p:cNvSpPr>
          <p:nvPr>
            <p:ph type="body" idx="1"/>
          </p:nvPr>
        </p:nvSpPr>
        <p:spPr>
          <a:xfrm>
            <a:off x="933339" y="836713"/>
            <a:ext cx="10972800" cy="5472608"/>
          </a:xfrm>
          <a:prstGeom prst="rect">
            <a:avLst/>
          </a:prstGeom>
          <a:noFill/>
          <a:ln>
            <a:noFill/>
          </a:ln>
        </p:spPr>
        <p:txBody>
          <a:bodyPr spcFirstLastPara="1" wrap="square" lIns="91425" tIns="45700" rIns="91425" bIns="45700" anchor="t" anchorCtr="0">
            <a:noAutofit/>
          </a:bodyPr>
          <a:lstStyle/>
          <a:p>
            <a:pPr marL="0" lvl="0" indent="0" algn="l" rtl="0">
              <a:lnSpc>
                <a:spcPct val="120000"/>
              </a:lnSpc>
              <a:spcBef>
                <a:spcPts val="0"/>
              </a:spcBef>
              <a:spcAft>
                <a:spcPts val="0"/>
              </a:spcAft>
              <a:buClr>
                <a:schemeClr val="dk1"/>
              </a:buClr>
              <a:buSzPts val="1400"/>
              <a:buNone/>
            </a:pPr>
            <a:r>
              <a:rPr lang="en-US" sz="1400" b="1"/>
              <a:t>struct </a:t>
            </a:r>
            <a:r>
              <a:rPr lang="en-US" sz="1400"/>
              <a:t>semaphore {</a:t>
            </a:r>
            <a:endParaRPr/>
          </a:p>
          <a:p>
            <a:pPr marL="0" lvl="0" indent="0" algn="l" rtl="0">
              <a:lnSpc>
                <a:spcPct val="120000"/>
              </a:lnSpc>
              <a:spcBef>
                <a:spcPts val="0"/>
              </a:spcBef>
              <a:spcAft>
                <a:spcPts val="0"/>
              </a:spcAft>
              <a:buClr>
                <a:schemeClr val="dk1"/>
              </a:buClr>
              <a:buSzPts val="1400"/>
              <a:buNone/>
            </a:pPr>
            <a:r>
              <a:rPr lang="en-US" sz="1400" b="1"/>
              <a:t>int </a:t>
            </a:r>
            <a:r>
              <a:rPr lang="en-US" sz="1400"/>
              <a:t>count;</a:t>
            </a:r>
            <a:endParaRPr/>
          </a:p>
          <a:p>
            <a:pPr marL="0" lvl="0" indent="0" algn="l" rtl="0">
              <a:lnSpc>
                <a:spcPct val="120000"/>
              </a:lnSpc>
              <a:spcBef>
                <a:spcPts val="0"/>
              </a:spcBef>
              <a:spcAft>
                <a:spcPts val="0"/>
              </a:spcAft>
              <a:buClr>
                <a:schemeClr val="dk1"/>
              </a:buClr>
              <a:buSzPts val="1400"/>
              <a:buNone/>
            </a:pPr>
            <a:r>
              <a:rPr lang="en-US" sz="1400" b="1"/>
              <a:t>queueType </a:t>
            </a:r>
            <a:r>
              <a:rPr lang="en-US" sz="1400"/>
              <a:t>queue;</a:t>
            </a:r>
            <a:endParaRPr/>
          </a:p>
          <a:p>
            <a:pPr marL="0" lvl="0" indent="0" algn="l" rtl="0">
              <a:lnSpc>
                <a:spcPct val="120000"/>
              </a:lnSpc>
              <a:spcBef>
                <a:spcPts val="0"/>
              </a:spcBef>
              <a:spcAft>
                <a:spcPts val="0"/>
              </a:spcAft>
              <a:buClr>
                <a:schemeClr val="dk1"/>
              </a:buClr>
              <a:buSzPts val="1400"/>
              <a:buNone/>
            </a:pPr>
            <a:r>
              <a:rPr lang="en-US" sz="1400"/>
              <a:t>};</a:t>
            </a:r>
            <a:endParaRPr/>
          </a:p>
          <a:p>
            <a:pPr marL="0" lvl="0" indent="0" algn="l" rtl="0">
              <a:lnSpc>
                <a:spcPct val="120000"/>
              </a:lnSpc>
              <a:spcBef>
                <a:spcPts val="0"/>
              </a:spcBef>
              <a:spcAft>
                <a:spcPts val="0"/>
              </a:spcAft>
              <a:buClr>
                <a:schemeClr val="dk1"/>
              </a:buClr>
              <a:buSzPts val="1400"/>
              <a:buNone/>
            </a:pPr>
            <a:r>
              <a:rPr lang="en-US" sz="1400"/>
              <a:t> </a:t>
            </a:r>
            <a:endParaRPr sz="1400"/>
          </a:p>
          <a:p>
            <a:pPr marL="0" lvl="0" indent="0" algn="l" rtl="0">
              <a:lnSpc>
                <a:spcPct val="120000"/>
              </a:lnSpc>
              <a:spcBef>
                <a:spcPts val="0"/>
              </a:spcBef>
              <a:spcAft>
                <a:spcPts val="0"/>
              </a:spcAft>
              <a:buClr>
                <a:schemeClr val="dk1"/>
              </a:buClr>
              <a:buSzPts val="1400"/>
              <a:buNone/>
            </a:pPr>
            <a:r>
              <a:rPr lang="en-US" sz="1400"/>
              <a:t>void semWait(semaphore s)</a:t>
            </a:r>
            <a:endParaRPr/>
          </a:p>
          <a:p>
            <a:pPr marL="0" lvl="0" indent="0" algn="l" rtl="0">
              <a:lnSpc>
                <a:spcPct val="120000"/>
              </a:lnSpc>
              <a:spcBef>
                <a:spcPts val="0"/>
              </a:spcBef>
              <a:spcAft>
                <a:spcPts val="0"/>
              </a:spcAft>
              <a:buClr>
                <a:schemeClr val="dk1"/>
              </a:buClr>
              <a:buSzPts val="1400"/>
              <a:buNone/>
            </a:pPr>
            <a:r>
              <a:rPr lang="en-US" sz="1400"/>
              <a:t>{</a:t>
            </a:r>
            <a:endParaRPr/>
          </a:p>
          <a:p>
            <a:pPr marL="0" lvl="0" indent="0" algn="l" rtl="0">
              <a:lnSpc>
                <a:spcPct val="120000"/>
              </a:lnSpc>
              <a:spcBef>
                <a:spcPts val="0"/>
              </a:spcBef>
              <a:spcAft>
                <a:spcPts val="0"/>
              </a:spcAft>
              <a:buClr>
                <a:schemeClr val="dk1"/>
              </a:buClr>
              <a:buSzPts val="1400"/>
              <a:buNone/>
            </a:pPr>
            <a:r>
              <a:rPr lang="en-US" sz="1400"/>
              <a:t>s.count--;</a:t>
            </a:r>
            <a:endParaRPr/>
          </a:p>
          <a:p>
            <a:pPr marL="0" lvl="0" indent="0" algn="l" rtl="0">
              <a:lnSpc>
                <a:spcPct val="120000"/>
              </a:lnSpc>
              <a:spcBef>
                <a:spcPts val="0"/>
              </a:spcBef>
              <a:spcAft>
                <a:spcPts val="0"/>
              </a:spcAft>
              <a:buClr>
                <a:schemeClr val="dk1"/>
              </a:buClr>
              <a:buSzPts val="1400"/>
              <a:buNone/>
            </a:pPr>
            <a:r>
              <a:rPr lang="en-US" sz="1400" b="1"/>
              <a:t>if </a:t>
            </a:r>
            <a:r>
              <a:rPr lang="en-US" sz="1400"/>
              <a:t>(s.count &lt; 0) {</a:t>
            </a:r>
            <a:endParaRPr/>
          </a:p>
          <a:p>
            <a:pPr marL="0" lvl="0" indent="0" algn="l" rtl="0">
              <a:lnSpc>
                <a:spcPct val="120000"/>
              </a:lnSpc>
              <a:spcBef>
                <a:spcPts val="0"/>
              </a:spcBef>
              <a:spcAft>
                <a:spcPts val="0"/>
              </a:spcAft>
              <a:buClr>
                <a:schemeClr val="dk1"/>
              </a:buClr>
              <a:buSzPts val="1400"/>
              <a:buNone/>
            </a:pPr>
            <a:r>
              <a:rPr lang="en-US" sz="1400"/>
              <a:t>/* place this process in s.queue */;</a:t>
            </a:r>
            <a:endParaRPr/>
          </a:p>
          <a:p>
            <a:pPr marL="0" lvl="0" indent="0" algn="l" rtl="0">
              <a:lnSpc>
                <a:spcPct val="120000"/>
              </a:lnSpc>
              <a:spcBef>
                <a:spcPts val="0"/>
              </a:spcBef>
              <a:spcAft>
                <a:spcPts val="0"/>
              </a:spcAft>
              <a:buClr>
                <a:schemeClr val="dk1"/>
              </a:buClr>
              <a:buSzPts val="1400"/>
              <a:buNone/>
            </a:pPr>
            <a:r>
              <a:rPr lang="en-US" sz="1400"/>
              <a:t>/* block this process */;</a:t>
            </a:r>
            <a:endParaRPr/>
          </a:p>
          <a:p>
            <a:pPr marL="0" lvl="0" indent="0" algn="l" rtl="0">
              <a:lnSpc>
                <a:spcPct val="120000"/>
              </a:lnSpc>
              <a:spcBef>
                <a:spcPts val="0"/>
              </a:spcBef>
              <a:spcAft>
                <a:spcPts val="0"/>
              </a:spcAft>
              <a:buClr>
                <a:schemeClr val="dk1"/>
              </a:buClr>
              <a:buSzPts val="1400"/>
              <a:buNone/>
            </a:pPr>
            <a:r>
              <a:rPr lang="en-US" sz="1400"/>
              <a:t>}</a:t>
            </a:r>
            <a:endParaRPr/>
          </a:p>
          <a:p>
            <a:pPr marL="0" lvl="0" indent="0" algn="l" rtl="0">
              <a:lnSpc>
                <a:spcPct val="120000"/>
              </a:lnSpc>
              <a:spcBef>
                <a:spcPts val="0"/>
              </a:spcBef>
              <a:spcAft>
                <a:spcPts val="0"/>
              </a:spcAft>
              <a:buClr>
                <a:schemeClr val="dk1"/>
              </a:buClr>
              <a:buSzPts val="1400"/>
              <a:buNone/>
            </a:pPr>
            <a:r>
              <a:rPr lang="en-US" sz="1400"/>
              <a:t>}</a:t>
            </a:r>
            <a:endParaRPr/>
          </a:p>
          <a:p>
            <a:pPr marL="0" lvl="0" indent="0" algn="l" rtl="0">
              <a:lnSpc>
                <a:spcPct val="120000"/>
              </a:lnSpc>
              <a:spcBef>
                <a:spcPts val="0"/>
              </a:spcBef>
              <a:spcAft>
                <a:spcPts val="0"/>
              </a:spcAft>
              <a:buClr>
                <a:schemeClr val="dk1"/>
              </a:buClr>
              <a:buSzPts val="1400"/>
              <a:buNone/>
            </a:pPr>
            <a:r>
              <a:rPr lang="en-US" sz="1400"/>
              <a:t> </a:t>
            </a:r>
            <a:endParaRPr/>
          </a:p>
          <a:p>
            <a:pPr marL="0" lvl="0" indent="0" algn="l" rtl="0">
              <a:lnSpc>
                <a:spcPct val="120000"/>
              </a:lnSpc>
              <a:spcBef>
                <a:spcPts val="0"/>
              </a:spcBef>
              <a:spcAft>
                <a:spcPts val="0"/>
              </a:spcAft>
              <a:buClr>
                <a:schemeClr val="dk1"/>
              </a:buClr>
              <a:buSzPts val="1400"/>
              <a:buNone/>
            </a:pPr>
            <a:r>
              <a:rPr lang="en-US" sz="1400"/>
              <a:t>void semSignal(semaphore s)</a:t>
            </a:r>
            <a:endParaRPr/>
          </a:p>
          <a:p>
            <a:pPr marL="0" lvl="0" indent="0" algn="l" rtl="0">
              <a:lnSpc>
                <a:spcPct val="120000"/>
              </a:lnSpc>
              <a:spcBef>
                <a:spcPts val="0"/>
              </a:spcBef>
              <a:spcAft>
                <a:spcPts val="0"/>
              </a:spcAft>
              <a:buClr>
                <a:schemeClr val="dk1"/>
              </a:buClr>
              <a:buSzPts val="1400"/>
              <a:buNone/>
            </a:pPr>
            <a:r>
              <a:rPr lang="en-US" sz="1400"/>
              <a:t>{</a:t>
            </a:r>
            <a:endParaRPr/>
          </a:p>
          <a:p>
            <a:pPr marL="0" lvl="0" indent="0" algn="l" rtl="0">
              <a:lnSpc>
                <a:spcPct val="120000"/>
              </a:lnSpc>
              <a:spcBef>
                <a:spcPts val="0"/>
              </a:spcBef>
              <a:spcAft>
                <a:spcPts val="0"/>
              </a:spcAft>
              <a:buClr>
                <a:schemeClr val="dk1"/>
              </a:buClr>
              <a:buSzPts val="1400"/>
              <a:buNone/>
            </a:pPr>
            <a:r>
              <a:rPr lang="en-US" sz="1400"/>
              <a:t>s.count++;</a:t>
            </a:r>
            <a:endParaRPr/>
          </a:p>
          <a:p>
            <a:pPr marL="0" lvl="0" indent="0" algn="l" rtl="0">
              <a:lnSpc>
                <a:spcPct val="120000"/>
              </a:lnSpc>
              <a:spcBef>
                <a:spcPts val="0"/>
              </a:spcBef>
              <a:spcAft>
                <a:spcPts val="0"/>
              </a:spcAft>
              <a:buClr>
                <a:schemeClr val="dk1"/>
              </a:buClr>
              <a:buSzPts val="1400"/>
              <a:buNone/>
            </a:pPr>
            <a:r>
              <a:rPr lang="en-US" sz="1400" b="1"/>
              <a:t>if </a:t>
            </a:r>
            <a:r>
              <a:rPr lang="en-US" sz="1400"/>
              <a:t>(s.count &lt;= 0) {</a:t>
            </a:r>
            <a:endParaRPr/>
          </a:p>
          <a:p>
            <a:pPr marL="0" lvl="0" indent="0" algn="l" rtl="0">
              <a:lnSpc>
                <a:spcPct val="120000"/>
              </a:lnSpc>
              <a:spcBef>
                <a:spcPts val="0"/>
              </a:spcBef>
              <a:spcAft>
                <a:spcPts val="0"/>
              </a:spcAft>
              <a:buClr>
                <a:schemeClr val="dk1"/>
              </a:buClr>
              <a:buSzPts val="1400"/>
              <a:buNone/>
            </a:pPr>
            <a:r>
              <a:rPr lang="en-US" sz="1400"/>
              <a:t>/* remove a process P from s.queue */;</a:t>
            </a:r>
            <a:endParaRPr/>
          </a:p>
          <a:p>
            <a:pPr marL="0" lvl="0" indent="0" algn="l" rtl="0">
              <a:lnSpc>
                <a:spcPct val="120000"/>
              </a:lnSpc>
              <a:spcBef>
                <a:spcPts val="0"/>
              </a:spcBef>
              <a:spcAft>
                <a:spcPts val="0"/>
              </a:spcAft>
              <a:buClr>
                <a:schemeClr val="dk1"/>
              </a:buClr>
              <a:buSzPts val="1400"/>
              <a:buNone/>
            </a:pPr>
            <a:r>
              <a:rPr lang="en-US" sz="1400"/>
              <a:t>/* place process P on ready list */;</a:t>
            </a:r>
            <a:endParaRPr/>
          </a:p>
          <a:p>
            <a:pPr marL="0" lvl="0" indent="0" algn="l" rtl="0">
              <a:lnSpc>
                <a:spcPct val="120000"/>
              </a:lnSpc>
              <a:spcBef>
                <a:spcPts val="0"/>
              </a:spcBef>
              <a:spcAft>
                <a:spcPts val="0"/>
              </a:spcAft>
              <a:buClr>
                <a:schemeClr val="dk1"/>
              </a:buClr>
              <a:buSzPts val="1400"/>
              <a:buNone/>
            </a:pPr>
            <a:r>
              <a:rPr lang="en-US" sz="1400"/>
              <a:t>}</a:t>
            </a:r>
            <a:endParaRPr/>
          </a:p>
          <a:p>
            <a:pPr marL="0" lvl="0" indent="0" algn="l" rtl="0">
              <a:lnSpc>
                <a:spcPct val="120000"/>
              </a:lnSpc>
              <a:spcBef>
                <a:spcPts val="0"/>
              </a:spcBef>
              <a:spcAft>
                <a:spcPts val="0"/>
              </a:spcAft>
              <a:buClr>
                <a:schemeClr val="dk1"/>
              </a:buClr>
              <a:buSzPts val="1400"/>
              <a:buNone/>
            </a:pPr>
            <a:r>
              <a:rPr lang="en-US" sz="1400"/>
              <a:t>}</a:t>
            </a:r>
            <a:endParaRPr/>
          </a:p>
          <a:p>
            <a:pPr marL="0" lvl="0" indent="0" algn="l" rtl="0">
              <a:lnSpc>
                <a:spcPct val="120000"/>
              </a:lnSpc>
              <a:spcBef>
                <a:spcPts val="0"/>
              </a:spcBef>
              <a:spcAft>
                <a:spcPts val="0"/>
              </a:spcAft>
              <a:buClr>
                <a:schemeClr val="dk1"/>
              </a:buClr>
              <a:buSzPts val="1400"/>
              <a:buNone/>
            </a:pPr>
            <a:endParaRPr sz="1400"/>
          </a:p>
        </p:txBody>
      </p:sp>
      <p:sp>
        <p:nvSpPr>
          <p:cNvPr id="760" name="Google Shape;760;p77"/>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000000"/>
                </a:solidFill>
              </a:rPr>
              <a:t>05-12-2022</a:t>
            </a:r>
            <a:endParaRPr>
              <a:solidFill>
                <a:srgbClr val="000000"/>
              </a:solidFill>
            </a:endParaRPr>
          </a:p>
        </p:txBody>
      </p:sp>
      <p:sp>
        <p:nvSpPr>
          <p:cNvPr id="761" name="Google Shape;761;p77"/>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solidFill>
                  <a:srgbClr val="000000"/>
                </a:solidFill>
              </a:rPr>
              <a:t>59</a:t>
            </a:fld>
            <a:endParaRPr>
              <a:solidFill>
                <a:srgbClr val="000000"/>
              </a:solidFill>
            </a:endParaRPr>
          </a:p>
        </p:txBody>
      </p:sp>
    </p:spTree>
    <p:extLst>
      <p:ext uri="{BB962C8B-B14F-4D97-AF65-F5344CB8AC3E}">
        <p14:creationId xmlns:p14="http://schemas.microsoft.com/office/powerpoint/2010/main" val="422152576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78"/>
          <p:cNvSpPr txBox="1">
            <a:spLocks noGrp="1"/>
          </p:cNvSpPr>
          <p:nvPr>
            <p:ph type="title"/>
          </p:nvPr>
        </p:nvSpPr>
        <p:spPr>
          <a:xfrm>
            <a:off x="1089765" y="214818"/>
            <a:ext cx="9870511"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endParaRPr/>
          </a:p>
        </p:txBody>
      </p:sp>
      <p:sp>
        <p:nvSpPr>
          <p:cNvPr id="767" name="Google Shape;767;p78"/>
          <p:cNvSpPr txBox="1">
            <a:spLocks noGrp="1"/>
          </p:cNvSpPr>
          <p:nvPr>
            <p:ph type="body" idx="1"/>
          </p:nvPr>
        </p:nvSpPr>
        <p:spPr>
          <a:xfrm>
            <a:off x="933339" y="1324630"/>
            <a:ext cx="10972800" cy="4525963"/>
          </a:xfrm>
          <a:prstGeom prst="rect">
            <a:avLst/>
          </a:prstGeom>
          <a:noFill/>
          <a:ln>
            <a:noFill/>
          </a:ln>
        </p:spPr>
        <p:txBody>
          <a:bodyPr spcFirstLastPara="1" wrap="square" lIns="91425" tIns="45700" rIns="91425" bIns="45700" anchor="t" anchorCtr="0">
            <a:normAutofit fontScale="55000" lnSpcReduction="20000"/>
          </a:bodyPr>
          <a:lstStyle/>
          <a:p>
            <a:pPr marL="0" lvl="0" indent="0" algn="l" rtl="0">
              <a:lnSpc>
                <a:spcPct val="120000"/>
              </a:lnSpc>
              <a:spcBef>
                <a:spcPts val="0"/>
              </a:spcBef>
              <a:spcAft>
                <a:spcPts val="0"/>
              </a:spcAft>
              <a:buClr>
                <a:schemeClr val="dk1"/>
              </a:buClr>
              <a:buSzPct val="100000"/>
              <a:buNone/>
            </a:pPr>
            <a:r>
              <a:rPr lang="en-US"/>
              <a:t>/* program mutualexclusion */</a:t>
            </a:r>
            <a:endParaRPr/>
          </a:p>
          <a:p>
            <a:pPr marL="0" lvl="0" indent="0" algn="l" rtl="0">
              <a:lnSpc>
                <a:spcPct val="120000"/>
              </a:lnSpc>
              <a:spcBef>
                <a:spcPts val="0"/>
              </a:spcBef>
              <a:spcAft>
                <a:spcPts val="0"/>
              </a:spcAft>
              <a:buClr>
                <a:schemeClr val="dk1"/>
              </a:buClr>
              <a:buSzPct val="100000"/>
              <a:buNone/>
            </a:pPr>
            <a:r>
              <a:rPr lang="en-US"/>
              <a:t> </a:t>
            </a:r>
            <a:endParaRPr/>
          </a:p>
          <a:p>
            <a:pPr marL="0" lvl="0" indent="0" algn="l" rtl="0">
              <a:lnSpc>
                <a:spcPct val="120000"/>
              </a:lnSpc>
              <a:spcBef>
                <a:spcPts val="0"/>
              </a:spcBef>
              <a:spcAft>
                <a:spcPts val="0"/>
              </a:spcAft>
              <a:buClr>
                <a:schemeClr val="dk1"/>
              </a:buClr>
              <a:buSzPct val="100000"/>
              <a:buNone/>
            </a:pPr>
            <a:r>
              <a:rPr lang="en-US"/>
              <a:t>const int n = /* number of processes */;</a:t>
            </a:r>
            <a:endParaRPr/>
          </a:p>
          <a:p>
            <a:pPr marL="0" lvl="0" indent="0" algn="l" rtl="0">
              <a:lnSpc>
                <a:spcPct val="120000"/>
              </a:lnSpc>
              <a:spcBef>
                <a:spcPts val="0"/>
              </a:spcBef>
              <a:spcAft>
                <a:spcPts val="0"/>
              </a:spcAft>
              <a:buClr>
                <a:schemeClr val="dk1"/>
              </a:buClr>
              <a:buSzPct val="100000"/>
              <a:buNone/>
            </a:pPr>
            <a:r>
              <a:rPr lang="en-US"/>
              <a:t> </a:t>
            </a:r>
            <a:endParaRPr/>
          </a:p>
          <a:p>
            <a:pPr marL="0" lvl="0" indent="0" algn="l" rtl="0">
              <a:lnSpc>
                <a:spcPct val="120000"/>
              </a:lnSpc>
              <a:spcBef>
                <a:spcPts val="0"/>
              </a:spcBef>
              <a:spcAft>
                <a:spcPts val="0"/>
              </a:spcAft>
              <a:buClr>
                <a:schemeClr val="dk1"/>
              </a:buClr>
              <a:buSzPct val="100000"/>
              <a:buNone/>
            </a:pPr>
            <a:r>
              <a:rPr lang="en-US"/>
              <a:t>semaphore s = 1;</a:t>
            </a:r>
            <a:endParaRPr/>
          </a:p>
          <a:p>
            <a:pPr marL="0" lvl="0" indent="0" algn="l" rtl="0">
              <a:lnSpc>
                <a:spcPct val="120000"/>
              </a:lnSpc>
              <a:spcBef>
                <a:spcPts val="0"/>
              </a:spcBef>
              <a:spcAft>
                <a:spcPts val="0"/>
              </a:spcAft>
              <a:buClr>
                <a:schemeClr val="dk1"/>
              </a:buClr>
              <a:buSzPct val="100000"/>
              <a:buNone/>
            </a:pPr>
            <a:r>
              <a:rPr lang="en-US"/>
              <a:t>void P(int i)</a:t>
            </a:r>
            <a:endParaRPr/>
          </a:p>
          <a:p>
            <a:pPr marL="0" lvl="0" indent="0" algn="l" rtl="0">
              <a:lnSpc>
                <a:spcPct val="120000"/>
              </a:lnSpc>
              <a:spcBef>
                <a:spcPts val="0"/>
              </a:spcBef>
              <a:spcAft>
                <a:spcPts val="0"/>
              </a:spcAft>
              <a:buClr>
                <a:schemeClr val="dk1"/>
              </a:buClr>
              <a:buSzPct val="100000"/>
              <a:buNone/>
            </a:pPr>
            <a:r>
              <a:rPr lang="en-US"/>
              <a:t>{</a:t>
            </a:r>
            <a:endParaRPr/>
          </a:p>
          <a:p>
            <a:pPr marL="0" lvl="0" indent="0" algn="l" rtl="0">
              <a:lnSpc>
                <a:spcPct val="120000"/>
              </a:lnSpc>
              <a:spcBef>
                <a:spcPts val="0"/>
              </a:spcBef>
              <a:spcAft>
                <a:spcPts val="0"/>
              </a:spcAft>
              <a:buClr>
                <a:schemeClr val="dk1"/>
              </a:buClr>
              <a:buSzPct val="100000"/>
              <a:buNone/>
            </a:pPr>
            <a:r>
              <a:rPr lang="en-US"/>
              <a:t>while (true) {</a:t>
            </a:r>
            <a:endParaRPr/>
          </a:p>
          <a:p>
            <a:pPr marL="0" lvl="0" indent="0" algn="l" rtl="0">
              <a:lnSpc>
                <a:spcPct val="120000"/>
              </a:lnSpc>
              <a:spcBef>
                <a:spcPts val="0"/>
              </a:spcBef>
              <a:spcAft>
                <a:spcPts val="0"/>
              </a:spcAft>
              <a:buClr>
                <a:schemeClr val="dk1"/>
              </a:buClr>
              <a:buSzPct val="100000"/>
              <a:buNone/>
            </a:pPr>
            <a:r>
              <a:rPr lang="en-US"/>
              <a:t>semWait(s);</a:t>
            </a:r>
            <a:endParaRPr/>
          </a:p>
          <a:p>
            <a:pPr marL="0" lvl="0" indent="0" algn="l" rtl="0">
              <a:lnSpc>
                <a:spcPct val="120000"/>
              </a:lnSpc>
              <a:spcBef>
                <a:spcPts val="0"/>
              </a:spcBef>
              <a:spcAft>
                <a:spcPts val="0"/>
              </a:spcAft>
              <a:buClr>
                <a:schemeClr val="dk1"/>
              </a:buClr>
              <a:buSzPct val="100000"/>
              <a:buNone/>
            </a:pPr>
            <a:r>
              <a:rPr lang="en-US"/>
              <a:t>/* critical section */;</a:t>
            </a:r>
            <a:endParaRPr/>
          </a:p>
          <a:p>
            <a:pPr marL="0" lvl="0" indent="0" algn="l" rtl="0">
              <a:lnSpc>
                <a:spcPct val="120000"/>
              </a:lnSpc>
              <a:spcBef>
                <a:spcPts val="0"/>
              </a:spcBef>
              <a:spcAft>
                <a:spcPts val="0"/>
              </a:spcAft>
              <a:buClr>
                <a:schemeClr val="dk1"/>
              </a:buClr>
              <a:buSzPct val="100000"/>
              <a:buNone/>
            </a:pPr>
            <a:r>
              <a:rPr lang="en-US"/>
              <a:t>semSignal(s);</a:t>
            </a:r>
            <a:endParaRPr/>
          </a:p>
          <a:p>
            <a:pPr marL="0" lvl="0" indent="0" algn="l" rtl="0">
              <a:lnSpc>
                <a:spcPct val="120000"/>
              </a:lnSpc>
              <a:spcBef>
                <a:spcPts val="0"/>
              </a:spcBef>
              <a:spcAft>
                <a:spcPts val="0"/>
              </a:spcAft>
              <a:buClr>
                <a:schemeClr val="dk1"/>
              </a:buClr>
              <a:buSzPct val="100000"/>
              <a:buNone/>
            </a:pPr>
            <a:r>
              <a:rPr lang="en-US"/>
              <a:t>/* remainder */;</a:t>
            </a:r>
            <a:endParaRPr/>
          </a:p>
          <a:p>
            <a:pPr marL="0" lvl="0" indent="0" algn="l" rtl="0">
              <a:lnSpc>
                <a:spcPct val="120000"/>
              </a:lnSpc>
              <a:spcBef>
                <a:spcPts val="0"/>
              </a:spcBef>
              <a:spcAft>
                <a:spcPts val="0"/>
              </a:spcAft>
              <a:buClr>
                <a:schemeClr val="dk1"/>
              </a:buClr>
              <a:buSzPct val="100000"/>
              <a:buNone/>
            </a:pPr>
            <a:r>
              <a:rPr lang="en-US"/>
              <a:t>}</a:t>
            </a:r>
            <a:endParaRPr/>
          </a:p>
          <a:p>
            <a:pPr marL="0" lvl="0" indent="0" algn="l" rtl="0">
              <a:lnSpc>
                <a:spcPct val="120000"/>
              </a:lnSpc>
              <a:spcBef>
                <a:spcPts val="0"/>
              </a:spcBef>
              <a:spcAft>
                <a:spcPts val="0"/>
              </a:spcAft>
              <a:buClr>
                <a:schemeClr val="dk1"/>
              </a:buClr>
              <a:buSzPct val="100000"/>
              <a:buNone/>
            </a:pPr>
            <a:r>
              <a:rPr lang="en-US"/>
              <a:t>}</a:t>
            </a:r>
            <a:endParaRPr/>
          </a:p>
          <a:p>
            <a:pPr marL="0" lvl="0" indent="0" algn="l" rtl="0">
              <a:lnSpc>
                <a:spcPct val="120000"/>
              </a:lnSpc>
              <a:spcBef>
                <a:spcPts val="0"/>
              </a:spcBef>
              <a:spcAft>
                <a:spcPts val="0"/>
              </a:spcAft>
              <a:buClr>
                <a:schemeClr val="dk1"/>
              </a:buClr>
              <a:buSzPct val="100000"/>
              <a:buNone/>
            </a:pPr>
            <a:r>
              <a:rPr lang="en-US"/>
              <a:t> </a:t>
            </a:r>
            <a:endParaRPr/>
          </a:p>
          <a:p>
            <a:pPr marL="0" lvl="0" indent="0" algn="l" rtl="0">
              <a:lnSpc>
                <a:spcPct val="120000"/>
              </a:lnSpc>
              <a:spcBef>
                <a:spcPts val="0"/>
              </a:spcBef>
              <a:spcAft>
                <a:spcPts val="0"/>
              </a:spcAft>
              <a:buClr>
                <a:schemeClr val="dk1"/>
              </a:buClr>
              <a:buSzPct val="100000"/>
              <a:buNone/>
            </a:pPr>
            <a:r>
              <a:rPr lang="en-US"/>
              <a:t>void main()</a:t>
            </a:r>
            <a:endParaRPr/>
          </a:p>
          <a:p>
            <a:pPr marL="0" lvl="0" indent="0" algn="l" rtl="0">
              <a:lnSpc>
                <a:spcPct val="120000"/>
              </a:lnSpc>
              <a:spcBef>
                <a:spcPts val="0"/>
              </a:spcBef>
              <a:spcAft>
                <a:spcPts val="0"/>
              </a:spcAft>
              <a:buClr>
                <a:schemeClr val="dk1"/>
              </a:buClr>
              <a:buSzPct val="100000"/>
              <a:buNone/>
            </a:pPr>
            <a:r>
              <a:rPr lang="en-US"/>
              <a:t>{</a:t>
            </a:r>
            <a:endParaRPr/>
          </a:p>
          <a:p>
            <a:pPr marL="0" lvl="0" indent="0" algn="l" rtl="0">
              <a:lnSpc>
                <a:spcPct val="120000"/>
              </a:lnSpc>
              <a:spcBef>
                <a:spcPts val="0"/>
              </a:spcBef>
              <a:spcAft>
                <a:spcPts val="0"/>
              </a:spcAft>
              <a:buClr>
                <a:schemeClr val="dk1"/>
              </a:buClr>
              <a:buSzPct val="100000"/>
              <a:buNone/>
            </a:pPr>
            <a:r>
              <a:rPr lang="en-US"/>
              <a:t>parbegin (P(1), P(2), . . ., P(n));</a:t>
            </a:r>
            <a:endParaRPr/>
          </a:p>
          <a:p>
            <a:pPr marL="0" lvl="0" indent="0" algn="l" rtl="0">
              <a:lnSpc>
                <a:spcPct val="120000"/>
              </a:lnSpc>
              <a:spcBef>
                <a:spcPts val="0"/>
              </a:spcBef>
              <a:spcAft>
                <a:spcPts val="0"/>
              </a:spcAft>
              <a:buClr>
                <a:schemeClr val="dk1"/>
              </a:buClr>
              <a:buSzPct val="100000"/>
              <a:buNone/>
            </a:pPr>
            <a:r>
              <a:rPr lang="en-US"/>
              <a:t>}</a:t>
            </a:r>
            <a:endParaRPr/>
          </a:p>
          <a:p>
            <a:pPr marL="0" lvl="0" indent="0" algn="l" rtl="0">
              <a:lnSpc>
                <a:spcPct val="120000"/>
              </a:lnSpc>
              <a:spcBef>
                <a:spcPts val="0"/>
              </a:spcBef>
              <a:spcAft>
                <a:spcPts val="0"/>
              </a:spcAft>
              <a:buClr>
                <a:schemeClr val="dk1"/>
              </a:buClr>
              <a:buSzPct val="100000"/>
              <a:buNone/>
            </a:pPr>
            <a:endParaRPr/>
          </a:p>
        </p:txBody>
      </p:sp>
      <p:sp>
        <p:nvSpPr>
          <p:cNvPr id="768" name="Google Shape;768;p78"/>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solidFill>
                  <a:srgbClr val="000000"/>
                </a:solidFill>
              </a:rPr>
              <a:t>05-12-2022</a:t>
            </a:r>
            <a:endParaRPr>
              <a:solidFill>
                <a:srgbClr val="000000"/>
              </a:solidFill>
            </a:endParaRPr>
          </a:p>
        </p:txBody>
      </p:sp>
      <p:sp>
        <p:nvSpPr>
          <p:cNvPr id="769" name="Google Shape;769;p78"/>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solidFill>
                  <a:srgbClr val="000000"/>
                </a:solidFill>
              </a:rPr>
              <a:t>60</a:t>
            </a:fld>
            <a:endParaRPr>
              <a:solidFill>
                <a:srgbClr val="000000"/>
              </a:solidFill>
            </a:endParaRPr>
          </a:p>
        </p:txBody>
      </p:sp>
    </p:spTree>
    <p:extLst>
      <p:ext uri="{BB962C8B-B14F-4D97-AF65-F5344CB8AC3E}">
        <p14:creationId xmlns:p14="http://schemas.microsoft.com/office/powerpoint/2010/main" val="45734922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smtClean="0">
                <a:solidFill>
                  <a:srgbClr val="C00000"/>
                </a:solidFill>
                <a:latin typeface="Marcellus" panose="020E0602050203020307" pitchFamily="34" charset="0"/>
              </a:rPr>
              <a:t>Binary Semaphore</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4294967295"/>
          </p:nvPr>
        </p:nvSpPr>
        <p:spPr>
          <a:xfrm>
            <a:off x="838200" y="6356350"/>
            <a:ext cx="2743200" cy="365125"/>
          </a:xfrm>
          <a:prstGeom prst="rect">
            <a:avLst/>
          </a:prstGeom>
        </p:spPr>
        <p:txBody>
          <a:bodyPr/>
          <a:lstStyle/>
          <a:p>
            <a:fld id="{0EA52B8D-698E-484E-90DD-BAA12FB7B1C9}"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smtClean="0">
                <a:solidFill>
                  <a:srgbClr val="C00000"/>
                </a:solidFill>
              </a:rPr>
              <a:t>Mutual Exclusion using Binary Semaphore</a:t>
            </a:r>
          </a:p>
          <a:p>
            <a:r>
              <a:rPr lang="en-US" sz="2400" dirty="0" smtClean="0"/>
              <a:t>Used </a:t>
            </a:r>
            <a:r>
              <a:rPr lang="en-US" sz="2400" dirty="0"/>
              <a:t>to deal with the critical-section problem f</a:t>
            </a:r>
            <a:r>
              <a:rPr lang="en-US" sz="2400" dirty="0" smtClean="0"/>
              <a:t>or multiple </a:t>
            </a:r>
            <a:r>
              <a:rPr lang="en-US" sz="2400" dirty="0"/>
              <a:t>processes. </a:t>
            </a:r>
            <a:endParaRPr lang="en-US" sz="2400" dirty="0" smtClean="0"/>
          </a:p>
          <a:p>
            <a:r>
              <a:rPr lang="en-US" sz="2400" dirty="0" smtClean="0"/>
              <a:t>Processes </a:t>
            </a:r>
            <a:r>
              <a:rPr lang="en-US" sz="2400" dirty="0"/>
              <a:t>share a semaphore, </a:t>
            </a:r>
            <a:r>
              <a:rPr lang="en-US" sz="2400" dirty="0" err="1"/>
              <a:t>mutex</a:t>
            </a:r>
            <a:r>
              <a:rPr lang="en-US" sz="2400" dirty="0"/>
              <a:t>, initialized to 1</a:t>
            </a:r>
            <a:r>
              <a:rPr lang="en-US" sz="2400" dirty="0" smtClean="0"/>
              <a:t>.</a:t>
            </a:r>
          </a:p>
          <a:p>
            <a:endParaRPr lang="en-US" dirty="0"/>
          </a:p>
          <a:p>
            <a:endParaRPr lang="en-US" b="1" dirty="0" smtClean="0">
              <a:solidFill>
                <a:srgbClr val="FF0000"/>
              </a:solidFill>
              <a:latin typeface="Marcellus"/>
            </a:endParaRPr>
          </a:p>
        </p:txBody>
      </p:sp>
      <p:pic>
        <p:nvPicPr>
          <p:cNvPr id="1028" name="Picture 4"/>
          <p:cNvPicPr>
            <a:picLocks noChangeAspect="1" noChangeArrowheads="1"/>
          </p:cNvPicPr>
          <p:nvPr/>
        </p:nvPicPr>
        <p:blipFill rotWithShape="1">
          <a:blip r:embed="rId6">
            <a:extLst>
              <a:ext uri="{28A0092B-C50C-407E-A947-70E740481C1C}">
                <a14:useLocalDpi xmlns:a14="http://schemas.microsoft.com/office/drawing/2010/main" val="0"/>
              </a:ext>
            </a:extLst>
          </a:blip>
          <a:srcRect l="33252" t="59467" r="35175" b="11407"/>
          <a:stretch/>
        </p:blipFill>
        <p:spPr bwMode="auto">
          <a:xfrm>
            <a:off x="3192065" y="2784120"/>
            <a:ext cx="4832819" cy="25065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12"/>
          <p:cNvSpPr/>
          <p:nvPr/>
        </p:nvSpPr>
        <p:spPr>
          <a:xfrm>
            <a:off x="9130144" y="2934248"/>
            <a:ext cx="200708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400" dirty="0"/>
              <a:t>wait(S) {</a:t>
            </a:r>
          </a:p>
          <a:p>
            <a:r>
              <a:rPr lang="en-US" sz="2400" dirty="0"/>
              <a:t>while S &lt;= 0</a:t>
            </a:r>
          </a:p>
          <a:p>
            <a:r>
              <a:rPr lang="en-US" sz="2400" i="1" dirty="0"/>
              <a:t>;  II </a:t>
            </a:r>
            <a:r>
              <a:rPr lang="en-US" sz="2400" dirty="0"/>
              <a:t>no-op</a:t>
            </a:r>
          </a:p>
          <a:p>
            <a:r>
              <a:rPr lang="en-US" sz="2400" dirty="0"/>
              <a:t>s--;</a:t>
            </a:r>
          </a:p>
          <a:p>
            <a:r>
              <a:rPr lang="en-US" sz="2400" dirty="0"/>
              <a:t>}</a:t>
            </a:r>
          </a:p>
        </p:txBody>
      </p:sp>
    </p:spTree>
    <p:extLst>
      <p:ext uri="{BB962C8B-B14F-4D97-AF65-F5344CB8AC3E}">
        <p14:creationId xmlns:p14="http://schemas.microsoft.com/office/powerpoint/2010/main" val="21810085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0"/>
            <a:ext cx="11395912" cy="435936"/>
          </a:xfrm>
        </p:spPr>
        <p:txBody>
          <a:bodyPr>
            <a:normAutofit fontScale="90000"/>
          </a:bodyPr>
          <a:lstStyle/>
          <a:p>
            <a:pPr algn="ctr"/>
            <a:r>
              <a:rPr lang="en-IN" sz="3200" dirty="0">
                <a:solidFill>
                  <a:srgbClr val="C00000"/>
                </a:solidFill>
                <a:latin typeface="Marcellus" panose="020E0602050203020307" pitchFamily="34" charset="0"/>
              </a:rPr>
              <a:t>Mutual Exclusion using Binary Semaphore</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4294967295"/>
          </p:nvPr>
        </p:nvSpPr>
        <p:spPr>
          <a:xfrm>
            <a:off x="838200" y="6356350"/>
            <a:ext cx="2743200" cy="365125"/>
          </a:xfrm>
          <a:prstGeom prst="rect">
            <a:avLst/>
          </a:prstGeom>
        </p:spPr>
        <p:txBody>
          <a:bodyPr/>
          <a:lstStyle/>
          <a:p>
            <a:fld id="{3F8E9272-3E74-444E-9DC8-EBF45100DB89}"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286604" y="460906"/>
            <a:ext cx="10850628" cy="4979904"/>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smtClean="0"/>
              <a:t>Process P0 tries to enter the CS</a:t>
            </a:r>
          </a:p>
          <a:p>
            <a:pPr marL="0" indent="0">
              <a:buNone/>
            </a:pPr>
            <a:r>
              <a:rPr lang="en-US" sz="2400" dirty="0" smtClean="0"/>
              <a:t>P0 </a:t>
            </a:r>
          </a:p>
          <a:p>
            <a:pPr marL="0" indent="0">
              <a:buNone/>
            </a:pPr>
            <a:r>
              <a:rPr lang="en-US" sz="2400" dirty="0" smtClean="0"/>
              <a:t>while(</a:t>
            </a:r>
            <a:r>
              <a:rPr lang="en-US" sz="2400" dirty="0" err="1" smtClean="0"/>
              <a:t>mutex</a:t>
            </a:r>
            <a:r>
              <a:rPr lang="en-US" sz="2400" dirty="0" smtClean="0"/>
              <a:t>&lt;=0);                 </a:t>
            </a:r>
            <a:endParaRPr lang="en-US" sz="2400" dirty="0"/>
          </a:p>
          <a:p>
            <a:pPr marL="0" indent="0">
              <a:buNone/>
            </a:pPr>
            <a:r>
              <a:rPr lang="en-US" sz="2400" dirty="0" err="1" smtClean="0"/>
              <a:t>mutex</a:t>
            </a:r>
            <a:r>
              <a:rPr lang="en-US" sz="2400" dirty="0" smtClean="0"/>
              <a:t>=1 so Condition is False</a:t>
            </a:r>
          </a:p>
          <a:p>
            <a:pPr marL="0" indent="0">
              <a:buNone/>
            </a:pPr>
            <a:r>
              <a:rPr lang="en-US" sz="2400" dirty="0" smtClean="0"/>
              <a:t>Comes out of while loop </a:t>
            </a:r>
          </a:p>
          <a:p>
            <a:pPr marL="0" indent="0">
              <a:buNone/>
            </a:pPr>
            <a:r>
              <a:rPr lang="en-US" sz="2400" dirty="0" err="1" smtClean="0"/>
              <a:t>mutex</a:t>
            </a:r>
            <a:r>
              <a:rPr lang="en-US" sz="2400" dirty="0" smtClean="0"/>
              <a:t> - -</a:t>
            </a:r>
          </a:p>
          <a:p>
            <a:pPr marL="0" indent="0">
              <a:buNone/>
            </a:pPr>
            <a:r>
              <a:rPr lang="en-US" sz="2400" dirty="0" smtClean="0"/>
              <a:t>so </a:t>
            </a:r>
            <a:r>
              <a:rPr lang="en-US" sz="2400" dirty="0" err="1" smtClean="0"/>
              <a:t>mutex</a:t>
            </a:r>
            <a:r>
              <a:rPr lang="en-US" sz="2400" dirty="0" smtClean="0"/>
              <a:t>=0</a:t>
            </a:r>
          </a:p>
          <a:p>
            <a:pPr marL="0" indent="0">
              <a:buNone/>
            </a:pPr>
            <a:endParaRPr lang="en-US" sz="2400" dirty="0"/>
          </a:p>
          <a:p>
            <a:pPr marL="0" indent="0">
              <a:buNone/>
            </a:pPr>
            <a:r>
              <a:rPr lang="en-US" sz="2400" dirty="0" smtClean="0"/>
              <a:t>Now P1 tries to enter CS</a:t>
            </a:r>
          </a:p>
          <a:p>
            <a:pPr marL="0" indent="0">
              <a:buNone/>
            </a:pPr>
            <a:r>
              <a:rPr lang="en-US" sz="2400" dirty="0" smtClean="0"/>
              <a:t>while(</a:t>
            </a:r>
            <a:r>
              <a:rPr lang="en-US" sz="2400" dirty="0" err="1" smtClean="0"/>
              <a:t>mutex</a:t>
            </a:r>
            <a:r>
              <a:rPr lang="en-US" sz="2400" dirty="0" smtClean="0"/>
              <a:t>&lt;=0);</a:t>
            </a:r>
          </a:p>
          <a:p>
            <a:pPr marL="0" indent="0">
              <a:buNone/>
            </a:pPr>
            <a:r>
              <a:rPr lang="en-US" sz="2400" dirty="0" smtClean="0"/>
              <a:t>condition is True , so P1 gets trapped in a Do Nothing Loop</a:t>
            </a:r>
          </a:p>
          <a:p>
            <a:pPr marL="0" indent="0">
              <a:buNone/>
            </a:pPr>
            <a:r>
              <a:rPr lang="en-US" sz="2400" dirty="0" smtClean="0"/>
              <a:t>P1 cannot enter CS                                    ============&gt;ME preserved</a:t>
            </a:r>
          </a:p>
        </p:txBody>
      </p:sp>
      <p:pic>
        <p:nvPicPr>
          <p:cNvPr id="1028" name="Picture 4"/>
          <p:cNvPicPr>
            <a:picLocks noChangeAspect="1" noChangeArrowheads="1"/>
          </p:cNvPicPr>
          <p:nvPr/>
        </p:nvPicPr>
        <p:blipFill rotWithShape="1">
          <a:blip r:embed="rId6">
            <a:extLst>
              <a:ext uri="{28A0092B-C50C-407E-A947-70E740481C1C}">
                <a14:useLocalDpi xmlns:a14="http://schemas.microsoft.com/office/drawing/2010/main" val="0"/>
              </a:ext>
            </a:extLst>
          </a:blip>
          <a:srcRect l="33252" t="59467" r="44233" b="11407"/>
          <a:stretch/>
        </p:blipFill>
        <p:spPr bwMode="auto">
          <a:xfrm>
            <a:off x="6032015" y="1078151"/>
            <a:ext cx="3084692" cy="22435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12"/>
          <p:cNvSpPr/>
          <p:nvPr/>
        </p:nvSpPr>
        <p:spPr>
          <a:xfrm>
            <a:off x="9130144" y="1088475"/>
            <a:ext cx="200708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400" dirty="0"/>
              <a:t>wait(S) {</a:t>
            </a:r>
          </a:p>
          <a:p>
            <a:r>
              <a:rPr lang="en-US" sz="2400" dirty="0"/>
              <a:t>while S &lt;= 0</a:t>
            </a:r>
          </a:p>
          <a:p>
            <a:r>
              <a:rPr lang="en-US" sz="2400" i="1" dirty="0"/>
              <a:t>;  II </a:t>
            </a:r>
            <a:r>
              <a:rPr lang="en-US" sz="2400" dirty="0"/>
              <a:t>no-op</a:t>
            </a:r>
          </a:p>
          <a:p>
            <a:r>
              <a:rPr lang="en-US" sz="2400" dirty="0"/>
              <a:t>s--;</a:t>
            </a:r>
          </a:p>
          <a:p>
            <a:r>
              <a:rPr lang="en-US" sz="2400" dirty="0"/>
              <a:t>}</a:t>
            </a:r>
          </a:p>
        </p:txBody>
      </p:sp>
    </p:spTree>
    <p:extLst>
      <p:ext uri="{BB962C8B-B14F-4D97-AF65-F5344CB8AC3E}">
        <p14:creationId xmlns:p14="http://schemas.microsoft.com/office/powerpoint/2010/main" val="2314238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smtClean="0">
                <a:solidFill>
                  <a:srgbClr val="C00000"/>
                </a:solidFill>
                <a:latin typeface="Marcellus" panose="020E0602050203020307" pitchFamily="34" charset="0"/>
              </a:rPr>
              <a:t>Semaphore</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4294967295"/>
          </p:nvPr>
        </p:nvSpPr>
        <p:spPr>
          <a:xfrm>
            <a:off x="838200" y="6356350"/>
            <a:ext cx="2743200" cy="365125"/>
          </a:xfrm>
          <a:prstGeom prst="rect">
            <a:avLst/>
          </a:prstGeom>
        </p:spPr>
        <p:txBody>
          <a:bodyPr/>
          <a:lstStyle/>
          <a:p>
            <a:fld id="{88D94D66-69F9-46CF-BEDF-CF5D47A661BE}"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We can also use semaphores to solve various synchronization problems</a:t>
            </a:r>
            <a:r>
              <a:rPr lang="en-US" sz="2400" dirty="0" smtClean="0"/>
              <a:t>. </a:t>
            </a:r>
          </a:p>
          <a:p>
            <a:r>
              <a:rPr lang="en-US" sz="2400" dirty="0" smtClean="0"/>
              <a:t>Consider </a:t>
            </a:r>
            <a:r>
              <a:rPr lang="en-US" sz="2400" dirty="0"/>
              <a:t>two concurrently </a:t>
            </a:r>
            <a:r>
              <a:rPr lang="en-US" sz="2400" dirty="0" smtClean="0"/>
              <a:t>running </a:t>
            </a:r>
            <a:r>
              <a:rPr lang="en-US" sz="2400" dirty="0"/>
              <a:t>processes: </a:t>
            </a:r>
            <a:endParaRPr lang="en-US" sz="2400" dirty="0" smtClean="0"/>
          </a:p>
          <a:p>
            <a:pPr lvl="1"/>
            <a:r>
              <a:rPr lang="en-US" sz="2000" dirty="0" smtClean="0"/>
              <a:t>P1 </a:t>
            </a:r>
            <a:r>
              <a:rPr lang="en-US" sz="2000" dirty="0"/>
              <a:t>with a </a:t>
            </a:r>
            <a:r>
              <a:rPr lang="en-US" sz="2000" dirty="0" smtClean="0"/>
              <a:t>statement S1 </a:t>
            </a:r>
          </a:p>
          <a:p>
            <a:pPr lvl="1"/>
            <a:r>
              <a:rPr lang="en-US" sz="2000" dirty="0" smtClean="0"/>
              <a:t>P2 with a statement S2 . </a:t>
            </a:r>
          </a:p>
          <a:p>
            <a:pPr lvl="1"/>
            <a:r>
              <a:rPr lang="en-US" sz="2000" dirty="0" smtClean="0"/>
              <a:t>Suppose we require that S2 be executed only after S1 </a:t>
            </a:r>
            <a:r>
              <a:rPr lang="en-US" sz="2000" dirty="0"/>
              <a:t>has completed. </a:t>
            </a:r>
            <a:endParaRPr lang="en-US" sz="2000" dirty="0" smtClean="0"/>
          </a:p>
        </p:txBody>
      </p:sp>
    </p:spTree>
    <p:extLst>
      <p:ext uri="{BB962C8B-B14F-4D97-AF65-F5344CB8AC3E}">
        <p14:creationId xmlns:p14="http://schemas.microsoft.com/office/powerpoint/2010/main" val="414444087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smtClean="0">
                <a:solidFill>
                  <a:srgbClr val="C00000"/>
                </a:solidFill>
                <a:latin typeface="Marcellus" panose="020E0602050203020307" pitchFamily="34" charset="0"/>
              </a:rPr>
              <a:t>Semaphore</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4294967295"/>
          </p:nvPr>
        </p:nvSpPr>
        <p:spPr>
          <a:xfrm>
            <a:off x="838200" y="6356350"/>
            <a:ext cx="2743200" cy="365125"/>
          </a:xfrm>
          <a:prstGeom prst="rect">
            <a:avLst/>
          </a:prstGeom>
        </p:spPr>
        <p:txBody>
          <a:bodyPr/>
          <a:lstStyle/>
          <a:p>
            <a:fld id="{B0991BCB-3CD5-4FD5-98DE-6033848B2D1B}"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7"/>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smtClean="0"/>
              <a:t>Let P1 and </a:t>
            </a:r>
            <a:r>
              <a:rPr lang="en-US" sz="2400" dirty="0"/>
              <a:t>P2 share a </a:t>
            </a:r>
            <a:r>
              <a:rPr lang="en-US" sz="2400" dirty="0">
                <a:solidFill>
                  <a:srgbClr val="C00000"/>
                </a:solidFill>
              </a:rPr>
              <a:t>common semaphore synch, initialized to </a:t>
            </a:r>
            <a:r>
              <a:rPr lang="en-US" sz="2400" dirty="0" smtClean="0">
                <a:solidFill>
                  <a:srgbClr val="C00000"/>
                </a:solidFill>
              </a:rPr>
              <a:t>0</a:t>
            </a:r>
          </a:p>
          <a:p>
            <a:r>
              <a:rPr lang="en-US" sz="2400" dirty="0" smtClean="0"/>
              <a:t>Statements inserted in P1</a:t>
            </a:r>
          </a:p>
          <a:p>
            <a:pPr marL="2286000" lvl="5" indent="0">
              <a:buNone/>
            </a:pPr>
            <a:r>
              <a:rPr lang="en-US" sz="2400" dirty="0"/>
              <a:t>S</a:t>
            </a:r>
            <a:r>
              <a:rPr lang="en-US" sz="2400" dirty="0" smtClean="0"/>
              <a:t>1</a:t>
            </a:r>
            <a:r>
              <a:rPr lang="en-US" sz="2400" dirty="0"/>
              <a:t>;</a:t>
            </a:r>
          </a:p>
          <a:p>
            <a:pPr marL="2286000" lvl="5" indent="0">
              <a:buNone/>
            </a:pPr>
            <a:r>
              <a:rPr lang="en-US" sz="2400" dirty="0"/>
              <a:t>signal(synch) ;</a:t>
            </a:r>
          </a:p>
          <a:p>
            <a:r>
              <a:rPr lang="en-US" sz="2400" dirty="0" smtClean="0"/>
              <a:t>Statements </a:t>
            </a:r>
            <a:r>
              <a:rPr lang="en-US" sz="2400" dirty="0"/>
              <a:t>inserted in </a:t>
            </a:r>
            <a:r>
              <a:rPr lang="en-US" sz="2400" dirty="0" smtClean="0"/>
              <a:t>P2</a:t>
            </a:r>
            <a:endParaRPr lang="en-US" sz="2400" dirty="0"/>
          </a:p>
          <a:p>
            <a:pPr marL="2286000" lvl="5" indent="0">
              <a:buNone/>
            </a:pPr>
            <a:r>
              <a:rPr lang="en-US" sz="2400" dirty="0" smtClean="0"/>
              <a:t>wait(synch</a:t>
            </a:r>
            <a:r>
              <a:rPr lang="en-US" sz="2400" dirty="0"/>
              <a:t>);</a:t>
            </a:r>
          </a:p>
          <a:p>
            <a:pPr marL="2286000" lvl="5" indent="0">
              <a:buNone/>
            </a:pPr>
            <a:r>
              <a:rPr lang="en-US" sz="2400" dirty="0" smtClean="0"/>
              <a:t>S2</a:t>
            </a:r>
            <a:r>
              <a:rPr lang="en-US" sz="2400" dirty="0"/>
              <a:t>;</a:t>
            </a:r>
          </a:p>
          <a:p>
            <a:r>
              <a:rPr lang="en-US" sz="2400" dirty="0"/>
              <a:t>Because synch is initialized to 0, </a:t>
            </a:r>
            <a:endParaRPr lang="en-US" sz="2400" dirty="0" smtClean="0"/>
          </a:p>
          <a:p>
            <a:r>
              <a:rPr lang="en-US" sz="2400" dirty="0" smtClean="0"/>
              <a:t>P2 </a:t>
            </a:r>
            <a:r>
              <a:rPr lang="en-US" sz="2400" dirty="0"/>
              <a:t>will execute </a:t>
            </a:r>
            <a:r>
              <a:rPr lang="en-US" sz="2400" dirty="0" smtClean="0"/>
              <a:t>S2 </a:t>
            </a:r>
            <a:r>
              <a:rPr lang="en-US" sz="2400" dirty="0"/>
              <a:t>only after </a:t>
            </a:r>
            <a:r>
              <a:rPr lang="en-US" sz="2400" dirty="0" smtClean="0"/>
              <a:t>P1 has </a:t>
            </a:r>
            <a:r>
              <a:rPr lang="en-US" sz="2400" dirty="0"/>
              <a:t>invoked signal (synch), which is after statement </a:t>
            </a:r>
            <a:r>
              <a:rPr lang="en-US" sz="2400" dirty="0" smtClean="0"/>
              <a:t>S1 </a:t>
            </a:r>
            <a:r>
              <a:rPr lang="en-US" sz="2400" dirty="0"/>
              <a:t>has been executed</a:t>
            </a:r>
            <a:r>
              <a:rPr lang="en-US" sz="2400" dirty="0" smtClean="0"/>
              <a:t>.</a:t>
            </a:r>
          </a:p>
          <a:p>
            <a:pPr lvl="1"/>
            <a:r>
              <a:rPr lang="en-US" dirty="0" smtClean="0">
                <a:solidFill>
                  <a:srgbClr val="FF0000"/>
                </a:solidFill>
                <a:latin typeface="Marcellus"/>
              </a:rPr>
              <a:t>Else P2 will caught in </a:t>
            </a:r>
            <a:r>
              <a:rPr lang="en-US" dirty="0" err="1" smtClean="0">
                <a:solidFill>
                  <a:srgbClr val="FF0000"/>
                </a:solidFill>
                <a:latin typeface="Marcellus"/>
              </a:rPr>
              <a:t>infinte</a:t>
            </a:r>
            <a:r>
              <a:rPr lang="en-US" dirty="0" smtClean="0">
                <a:solidFill>
                  <a:srgbClr val="FF0000"/>
                </a:solidFill>
                <a:latin typeface="Marcellus"/>
              </a:rPr>
              <a:t> loop inside wait() </a:t>
            </a:r>
            <a:r>
              <a:rPr lang="en-US" dirty="0" err="1" smtClean="0">
                <a:solidFill>
                  <a:srgbClr val="FF0000"/>
                </a:solidFill>
                <a:latin typeface="Marcellus"/>
              </a:rPr>
              <a:t>fn</a:t>
            </a:r>
            <a:endParaRPr lang="en-US" dirty="0" smtClean="0">
              <a:solidFill>
                <a:srgbClr val="FF0000"/>
              </a:solidFill>
              <a:latin typeface="Marcellus"/>
            </a:endParaRPr>
          </a:p>
        </p:txBody>
      </p:sp>
      <p:sp>
        <p:nvSpPr>
          <p:cNvPr id="11" name="Curved Left Arrow 10"/>
          <p:cNvSpPr/>
          <p:nvPr/>
        </p:nvSpPr>
        <p:spPr>
          <a:xfrm>
            <a:off x="5459107" y="2388357"/>
            <a:ext cx="409840" cy="1351129"/>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p:cNvSpPr/>
          <p:nvPr/>
        </p:nvSpPr>
        <p:spPr>
          <a:xfrm>
            <a:off x="9130144" y="2227796"/>
            <a:ext cx="2007088"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en-US" sz="2400" dirty="0"/>
              <a:t>wait(S) {</a:t>
            </a:r>
          </a:p>
          <a:p>
            <a:r>
              <a:rPr lang="en-US" sz="2400" dirty="0"/>
              <a:t>while S &lt;= 0</a:t>
            </a:r>
          </a:p>
          <a:p>
            <a:r>
              <a:rPr lang="en-US" sz="2400" i="1" dirty="0"/>
              <a:t>;  II </a:t>
            </a:r>
            <a:r>
              <a:rPr lang="en-US" sz="2400" dirty="0"/>
              <a:t>no-op</a:t>
            </a:r>
          </a:p>
          <a:p>
            <a:r>
              <a:rPr lang="en-US" sz="2400" dirty="0"/>
              <a:t>s--;</a:t>
            </a:r>
          </a:p>
          <a:p>
            <a:r>
              <a:rPr lang="en-US" sz="2400" dirty="0"/>
              <a:t>}</a:t>
            </a:r>
          </a:p>
        </p:txBody>
      </p:sp>
    </p:spTree>
    <p:extLst>
      <p:ext uri="{BB962C8B-B14F-4D97-AF65-F5344CB8AC3E}">
        <p14:creationId xmlns:p14="http://schemas.microsoft.com/office/powerpoint/2010/main" val="418686533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pic>
        <p:nvPicPr>
          <p:cNvPr id="774" name="Google Shape;774;p79"/>
          <p:cNvPicPr preferRelativeResize="0"/>
          <p:nvPr/>
        </p:nvPicPr>
        <p:blipFill rotWithShape="1">
          <a:blip r:embed="rId3">
            <a:alphaModFix/>
          </a:blip>
          <a:srcRect/>
          <a:stretch/>
        </p:blipFill>
        <p:spPr>
          <a:xfrm rot="5400000">
            <a:off x="5880675" y="567536"/>
            <a:ext cx="385984" cy="12236665"/>
          </a:xfrm>
          <a:prstGeom prst="rect">
            <a:avLst/>
          </a:prstGeom>
          <a:noFill/>
          <a:ln>
            <a:noFill/>
          </a:ln>
        </p:spPr>
      </p:pic>
      <p:pic>
        <p:nvPicPr>
          <p:cNvPr id="775" name="Google Shape;775;p79"/>
          <p:cNvPicPr preferRelativeResize="0"/>
          <p:nvPr/>
        </p:nvPicPr>
        <p:blipFill rotWithShape="1">
          <a:blip r:embed="rId4">
            <a:alphaModFix/>
          </a:blip>
          <a:srcRect/>
          <a:stretch/>
        </p:blipFill>
        <p:spPr>
          <a:xfrm rot="5400000">
            <a:off x="4533654" y="1754134"/>
            <a:ext cx="176409" cy="9333048"/>
          </a:xfrm>
          <a:prstGeom prst="rect">
            <a:avLst/>
          </a:prstGeom>
          <a:noFill/>
          <a:ln>
            <a:noFill/>
          </a:ln>
        </p:spPr>
      </p:pic>
      <p:pic>
        <p:nvPicPr>
          <p:cNvPr id="776" name="Google Shape;776;p79" descr="A close up of a sign&#10;&#10;Description automatically generated"/>
          <p:cNvPicPr preferRelativeResize="0">
            <a:picLocks noGrp="1"/>
          </p:cNvPicPr>
          <p:nvPr>
            <p:ph type="body" idx="1"/>
          </p:nvPr>
        </p:nvPicPr>
        <p:blipFill rotWithShape="1">
          <a:blip r:embed="rId5">
            <a:alphaModFix/>
          </a:blip>
          <a:srcRect/>
          <a:stretch/>
        </p:blipFill>
        <p:spPr>
          <a:xfrm>
            <a:off x="10828422" y="5610533"/>
            <a:ext cx="968545" cy="721920"/>
          </a:xfrm>
          <a:prstGeom prst="rect">
            <a:avLst/>
          </a:prstGeom>
          <a:noFill/>
          <a:ln>
            <a:noFill/>
          </a:ln>
        </p:spPr>
      </p:pic>
      <p:sp>
        <p:nvSpPr>
          <p:cNvPr id="777" name="Google Shape;777;p79"/>
          <p:cNvSpPr txBox="1"/>
          <p:nvPr/>
        </p:nvSpPr>
        <p:spPr>
          <a:xfrm>
            <a:off x="669757" y="1018910"/>
            <a:ext cx="10315075" cy="4017114"/>
          </a:xfrm>
          <a:prstGeom prst="rect">
            <a:avLst/>
          </a:prstGeom>
          <a:noFill/>
          <a:ln>
            <a:noFill/>
          </a:ln>
        </p:spPr>
        <p:txBody>
          <a:bodyPr spcFirstLastPara="1" wrap="square" lIns="91425" tIns="45700" rIns="91425" bIns="45700" anchor="t" anchorCtr="0">
            <a:normAutofit/>
          </a:bodyPr>
          <a:lstStyle/>
          <a:p>
            <a:pPr marL="228600" marR="0" lvl="0" indent="-76200" algn="l" rtl="0">
              <a:lnSpc>
                <a:spcPct val="90000"/>
              </a:lnSpc>
              <a:spcBef>
                <a:spcPts val="0"/>
              </a:spcBef>
              <a:spcAft>
                <a:spcPts val="0"/>
              </a:spcAft>
              <a:buClr>
                <a:schemeClr val="dk1"/>
              </a:buClr>
              <a:buSzPts val="2400"/>
              <a:buFont typeface="Arial"/>
              <a:buNone/>
            </a:pPr>
            <a:endParaRPr sz="2400">
              <a:solidFill>
                <a:srgbClr val="262626"/>
              </a:solidFill>
              <a:latin typeface="Marcellus"/>
              <a:ea typeface="Marcellus"/>
              <a:cs typeface="Marcellus"/>
              <a:sym typeface="Marcellus"/>
            </a:endParaRPr>
          </a:p>
        </p:txBody>
      </p:sp>
      <p:pic>
        <p:nvPicPr>
          <p:cNvPr id="778" name="Google Shape;778;p79" descr="A picture containing drawing&#10;&#10;Description automatically generated"/>
          <p:cNvPicPr preferRelativeResize="0"/>
          <p:nvPr/>
        </p:nvPicPr>
        <p:blipFill rotWithShape="1">
          <a:blip r:embed="rId6">
            <a:alphaModFix/>
          </a:blip>
          <a:srcRect/>
          <a:stretch/>
        </p:blipFill>
        <p:spPr>
          <a:xfrm>
            <a:off x="120015" y="5440809"/>
            <a:ext cx="3245736" cy="811434"/>
          </a:xfrm>
          <a:prstGeom prst="rect">
            <a:avLst/>
          </a:prstGeom>
          <a:noFill/>
          <a:ln>
            <a:noFill/>
          </a:ln>
        </p:spPr>
      </p:pic>
      <p:sp>
        <p:nvSpPr>
          <p:cNvPr id="779" name="Google Shape;779;p79"/>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05-12-2022</a:t>
            </a:r>
            <a:endParaRPr/>
          </a:p>
        </p:txBody>
      </p:sp>
      <p:sp>
        <p:nvSpPr>
          <p:cNvPr id="780" name="Google Shape;780;p79"/>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65</a:t>
            </a:fld>
            <a:endParaRPr/>
          </a:p>
        </p:txBody>
      </p:sp>
      <p:sp>
        <p:nvSpPr>
          <p:cNvPr id="781" name="Google Shape;781;p79"/>
          <p:cNvSpPr txBox="1"/>
          <p:nvPr/>
        </p:nvSpPr>
        <p:spPr>
          <a:xfrm>
            <a:off x="913773" y="548995"/>
            <a:ext cx="9827047" cy="448703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000"/>
              <a:buFont typeface="Arial"/>
              <a:buNone/>
            </a:pPr>
            <a:r>
              <a:rPr lang="en-US" sz="2000">
                <a:solidFill>
                  <a:schemeClr val="dk1"/>
                </a:solidFill>
                <a:latin typeface="Calibri"/>
                <a:ea typeface="Calibri"/>
                <a:cs typeface="Calibri"/>
                <a:sym typeface="Calibri"/>
              </a:rPr>
              <a:t>ISRO | ISRO CS 2017 – May | Question 78</a:t>
            </a:r>
            <a:endParaRPr/>
          </a:p>
          <a:p>
            <a:pPr marL="0" marR="0" lvl="0" indent="0" algn="l" rtl="0">
              <a:lnSpc>
                <a:spcPct val="90000"/>
              </a:lnSpc>
              <a:spcBef>
                <a:spcPts val="1000"/>
              </a:spcBef>
              <a:spcAft>
                <a:spcPts val="0"/>
              </a:spcAft>
              <a:buClr>
                <a:schemeClr val="dk1"/>
              </a:buClr>
              <a:buSzPts val="2000"/>
              <a:buFont typeface="Arial"/>
              <a:buNone/>
            </a:pPr>
            <a:r>
              <a:rPr lang="en-US" sz="2000">
                <a:solidFill>
                  <a:schemeClr val="dk1"/>
                </a:solidFill>
                <a:latin typeface="Calibri"/>
                <a:ea typeface="Calibri"/>
                <a:cs typeface="Calibri"/>
                <a:sym typeface="Calibri"/>
              </a:rPr>
              <a:t>At particular time, the value of a counting semaphore is 10, it will become 7 after:</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(a) 3 V operations</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(b) 3 P operations</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(c) 5 V operations and 2 P operations</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(d) 2 V operations and 5 P operations</a:t>
            </a:r>
            <a:br>
              <a:rPr lang="en-US"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ts val="2000"/>
              <a:buFont typeface="Arial"/>
              <a:buNone/>
            </a:pPr>
            <a:r>
              <a:rPr lang="en-US" sz="2000">
                <a:solidFill>
                  <a:schemeClr val="dk1"/>
                </a:solidFill>
                <a:latin typeface="Calibri"/>
                <a:ea typeface="Calibri"/>
                <a:cs typeface="Calibri"/>
                <a:sym typeface="Calibri"/>
              </a:rPr>
              <a:t>Which of the following option is correct?</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(A)</a:t>
            </a:r>
            <a:r>
              <a:rPr lang="en-US" sz="2000">
                <a:solidFill>
                  <a:schemeClr val="dk1"/>
                </a:solidFill>
                <a:latin typeface="Calibri"/>
                <a:ea typeface="Calibri"/>
                <a:cs typeface="Calibri"/>
                <a:sym typeface="Calibri"/>
              </a:rPr>
              <a:t> Only (b)</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(B)</a:t>
            </a:r>
            <a:r>
              <a:rPr lang="en-US" sz="2000">
                <a:solidFill>
                  <a:schemeClr val="dk1"/>
                </a:solidFill>
                <a:latin typeface="Calibri"/>
                <a:ea typeface="Calibri"/>
                <a:cs typeface="Calibri"/>
                <a:sym typeface="Calibri"/>
              </a:rPr>
              <a:t> Only(d)</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(C)</a:t>
            </a:r>
            <a:r>
              <a:rPr lang="en-US" sz="2000">
                <a:solidFill>
                  <a:schemeClr val="dk1"/>
                </a:solidFill>
                <a:latin typeface="Calibri"/>
                <a:ea typeface="Calibri"/>
                <a:cs typeface="Calibri"/>
                <a:sym typeface="Calibri"/>
              </a:rPr>
              <a:t> Both (b) and (d)</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(D)</a:t>
            </a:r>
            <a:r>
              <a:rPr lang="en-US" sz="2000">
                <a:solidFill>
                  <a:schemeClr val="dk1"/>
                </a:solidFill>
                <a:latin typeface="Calibri"/>
                <a:ea typeface="Calibri"/>
                <a:cs typeface="Calibri"/>
                <a:sym typeface="Calibri"/>
              </a:rPr>
              <a:t> None of these</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
            </a:r>
            <a:br>
              <a:rPr lang="en-US" sz="2000">
                <a:solidFill>
                  <a:schemeClr val="dk1"/>
                </a:solidFill>
                <a:latin typeface="Calibri"/>
                <a:ea typeface="Calibri"/>
                <a:cs typeface="Calibri"/>
                <a:sym typeface="Calibri"/>
              </a:rPr>
            </a:br>
            <a:endParaRPr sz="2000">
              <a:solidFill>
                <a:schemeClr val="dk1"/>
              </a:solidFill>
              <a:latin typeface="Calibri"/>
              <a:ea typeface="Calibri"/>
              <a:cs typeface="Calibri"/>
              <a:sym typeface="Calibri"/>
            </a:endParaRPr>
          </a:p>
        </p:txBody>
      </p:sp>
      <p:sp>
        <p:nvSpPr>
          <p:cNvPr id="782" name="Google Shape;782;p79"/>
          <p:cNvSpPr txBox="1"/>
          <p:nvPr/>
        </p:nvSpPr>
        <p:spPr>
          <a:xfrm>
            <a:off x="6073667" y="1897039"/>
            <a:ext cx="5368885" cy="2492950"/>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None/>
            </a:pPr>
            <a:r>
              <a:rPr lang="en-US" sz="1800" b="0" i="0" u="none" strike="noStrike" cap="none">
                <a:solidFill>
                  <a:srgbClr val="C00000"/>
                </a:solidFill>
                <a:latin typeface="Marcellus"/>
                <a:ea typeface="Marcellus"/>
                <a:cs typeface="Marcellus"/>
                <a:sym typeface="Marcellus"/>
              </a:rPr>
              <a:t>wait () operation = originally termed P </a:t>
            </a:r>
            <a:endParaRPr/>
          </a:p>
          <a:p>
            <a:pPr marL="914400" marR="0" lvl="2" indent="0" algn="l" rtl="0">
              <a:spcBef>
                <a:spcPts val="0"/>
              </a:spcBef>
              <a:spcAft>
                <a:spcPts val="0"/>
              </a:spcAft>
              <a:buNone/>
            </a:pPr>
            <a:r>
              <a:rPr lang="en-US" sz="2400" b="0" i="0" u="none" strike="noStrike" cap="none">
                <a:solidFill>
                  <a:schemeClr val="dk1"/>
                </a:solidFill>
                <a:latin typeface="Marcellus"/>
                <a:ea typeface="Marcellus"/>
                <a:cs typeface="Marcellus"/>
                <a:sym typeface="Marcellus"/>
              </a:rPr>
              <a:t>from the Dutch </a:t>
            </a:r>
            <a:r>
              <a:rPr lang="en-US" sz="2400" b="0" i="1" u="none" strike="noStrike" cap="none">
                <a:solidFill>
                  <a:schemeClr val="dk1"/>
                </a:solidFill>
                <a:latin typeface="Marcellus"/>
                <a:ea typeface="Marcellus"/>
                <a:cs typeface="Marcellus"/>
                <a:sym typeface="Marcellus"/>
              </a:rPr>
              <a:t>proberen,</a:t>
            </a:r>
            <a:endParaRPr/>
          </a:p>
          <a:p>
            <a:pPr marL="914400" marR="0" lvl="2" indent="0" algn="l" rtl="0">
              <a:spcBef>
                <a:spcPts val="0"/>
              </a:spcBef>
              <a:spcAft>
                <a:spcPts val="0"/>
              </a:spcAft>
              <a:buNone/>
            </a:pPr>
            <a:r>
              <a:rPr lang="en-US" sz="2400" b="0" i="1" u="none" strike="noStrike" cap="none">
                <a:solidFill>
                  <a:schemeClr val="dk1"/>
                </a:solidFill>
                <a:latin typeface="Marcellus"/>
                <a:ea typeface="Marcellus"/>
                <a:cs typeface="Marcellus"/>
                <a:sym typeface="Marcellus"/>
              </a:rPr>
              <a:t>Meaning  </a:t>
            </a:r>
            <a:r>
              <a:rPr lang="en-US" sz="2400" b="0" i="0" u="none" strike="noStrike" cap="none">
                <a:solidFill>
                  <a:schemeClr val="dk1"/>
                </a:solidFill>
                <a:latin typeface="Marcellus"/>
                <a:ea typeface="Marcellus"/>
                <a:cs typeface="Marcellus"/>
                <a:sym typeface="Marcellus"/>
              </a:rPr>
              <a:t>"to test“ or “to attempt” </a:t>
            </a:r>
            <a:endParaRPr/>
          </a:p>
          <a:p>
            <a:pPr marL="457200" marR="0" lvl="1" indent="0" algn="l" rtl="0">
              <a:spcBef>
                <a:spcPts val="0"/>
              </a:spcBef>
              <a:spcAft>
                <a:spcPts val="0"/>
              </a:spcAft>
              <a:buNone/>
            </a:pPr>
            <a:r>
              <a:rPr lang="en-US" sz="1800" b="0" i="0" u="none" strike="noStrike" cap="none">
                <a:solidFill>
                  <a:srgbClr val="C00000"/>
                </a:solidFill>
                <a:latin typeface="Marcellus"/>
                <a:ea typeface="Marcellus"/>
                <a:cs typeface="Marcellus"/>
                <a:sym typeface="Marcellus"/>
              </a:rPr>
              <a:t>signal() operation = originally called V </a:t>
            </a:r>
            <a:endParaRPr/>
          </a:p>
          <a:p>
            <a:pPr marL="914400" marR="0" lvl="2" indent="0" algn="l" rtl="0">
              <a:spcBef>
                <a:spcPts val="0"/>
              </a:spcBef>
              <a:spcAft>
                <a:spcPts val="0"/>
              </a:spcAft>
              <a:buNone/>
            </a:pPr>
            <a:r>
              <a:rPr lang="en-US" sz="2400" b="0" i="0" u="none" strike="noStrike" cap="none">
                <a:solidFill>
                  <a:schemeClr val="dk1"/>
                </a:solidFill>
                <a:latin typeface="Marcellus"/>
                <a:ea typeface="Marcellus"/>
                <a:cs typeface="Marcellus"/>
                <a:sym typeface="Marcellus"/>
              </a:rPr>
              <a:t>from </a:t>
            </a:r>
            <a:r>
              <a:rPr lang="en-US" sz="2400" b="0" i="1" u="none" strike="noStrike" cap="none">
                <a:solidFill>
                  <a:schemeClr val="dk1"/>
                </a:solidFill>
                <a:latin typeface="Marcellus"/>
                <a:ea typeface="Marcellus"/>
                <a:cs typeface="Marcellus"/>
                <a:sym typeface="Marcellus"/>
              </a:rPr>
              <a:t>verhogen, </a:t>
            </a:r>
            <a:endParaRPr/>
          </a:p>
          <a:p>
            <a:pPr marL="914400" marR="0" lvl="2" indent="0" algn="l" rtl="0">
              <a:spcBef>
                <a:spcPts val="0"/>
              </a:spcBef>
              <a:spcAft>
                <a:spcPts val="0"/>
              </a:spcAft>
              <a:buNone/>
            </a:pPr>
            <a:r>
              <a:rPr lang="en-US" sz="2400" b="0" i="1" u="none" strike="noStrike" cap="none">
                <a:solidFill>
                  <a:schemeClr val="dk1"/>
                </a:solidFill>
                <a:latin typeface="Marcellus"/>
                <a:ea typeface="Marcellus"/>
                <a:cs typeface="Marcellus"/>
                <a:sym typeface="Marcellus"/>
              </a:rPr>
              <a:t>Meaning  </a:t>
            </a:r>
            <a:r>
              <a:rPr lang="en-US" sz="2400" b="0" i="0" u="none" strike="noStrike" cap="none">
                <a:solidFill>
                  <a:schemeClr val="dk1"/>
                </a:solidFill>
                <a:latin typeface="Marcellus"/>
                <a:ea typeface="Marcellus"/>
                <a:cs typeface="Marcellus"/>
                <a:sym typeface="Marcellus"/>
              </a:rPr>
              <a:t>"to increment</a:t>
            </a: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1821797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pic>
        <p:nvPicPr>
          <p:cNvPr id="787" name="Google Shape;787;p80"/>
          <p:cNvPicPr preferRelativeResize="0"/>
          <p:nvPr/>
        </p:nvPicPr>
        <p:blipFill rotWithShape="1">
          <a:blip r:embed="rId3">
            <a:alphaModFix/>
          </a:blip>
          <a:srcRect/>
          <a:stretch/>
        </p:blipFill>
        <p:spPr>
          <a:xfrm rot="5400000">
            <a:off x="5880675" y="567536"/>
            <a:ext cx="385984" cy="12236665"/>
          </a:xfrm>
          <a:prstGeom prst="rect">
            <a:avLst/>
          </a:prstGeom>
          <a:noFill/>
          <a:ln>
            <a:noFill/>
          </a:ln>
        </p:spPr>
      </p:pic>
      <p:pic>
        <p:nvPicPr>
          <p:cNvPr id="788" name="Google Shape;788;p80"/>
          <p:cNvPicPr preferRelativeResize="0"/>
          <p:nvPr/>
        </p:nvPicPr>
        <p:blipFill rotWithShape="1">
          <a:blip r:embed="rId4">
            <a:alphaModFix/>
          </a:blip>
          <a:srcRect/>
          <a:stretch/>
        </p:blipFill>
        <p:spPr>
          <a:xfrm rot="5400000">
            <a:off x="4533654" y="1754134"/>
            <a:ext cx="176409" cy="9333048"/>
          </a:xfrm>
          <a:prstGeom prst="rect">
            <a:avLst/>
          </a:prstGeom>
          <a:noFill/>
          <a:ln>
            <a:noFill/>
          </a:ln>
        </p:spPr>
      </p:pic>
      <p:pic>
        <p:nvPicPr>
          <p:cNvPr id="789" name="Google Shape;789;p80" descr="A close up of a sign&#10;&#10;Description automatically generated"/>
          <p:cNvPicPr preferRelativeResize="0">
            <a:picLocks noGrp="1"/>
          </p:cNvPicPr>
          <p:nvPr>
            <p:ph type="body" idx="1"/>
          </p:nvPr>
        </p:nvPicPr>
        <p:blipFill rotWithShape="1">
          <a:blip r:embed="rId5">
            <a:alphaModFix/>
          </a:blip>
          <a:srcRect/>
          <a:stretch/>
        </p:blipFill>
        <p:spPr>
          <a:xfrm>
            <a:off x="10828422" y="5610533"/>
            <a:ext cx="968545" cy="721920"/>
          </a:xfrm>
          <a:prstGeom prst="rect">
            <a:avLst/>
          </a:prstGeom>
          <a:noFill/>
          <a:ln>
            <a:noFill/>
          </a:ln>
        </p:spPr>
      </p:pic>
      <p:sp>
        <p:nvSpPr>
          <p:cNvPr id="790" name="Google Shape;790;p80"/>
          <p:cNvSpPr txBox="1"/>
          <p:nvPr/>
        </p:nvSpPr>
        <p:spPr>
          <a:xfrm>
            <a:off x="669757" y="1018910"/>
            <a:ext cx="10315075" cy="4017114"/>
          </a:xfrm>
          <a:prstGeom prst="rect">
            <a:avLst/>
          </a:prstGeom>
          <a:noFill/>
          <a:ln>
            <a:noFill/>
          </a:ln>
        </p:spPr>
        <p:txBody>
          <a:bodyPr spcFirstLastPara="1" wrap="square" lIns="91425" tIns="45700" rIns="91425" bIns="45700" anchor="t" anchorCtr="0">
            <a:normAutofit/>
          </a:bodyPr>
          <a:lstStyle/>
          <a:p>
            <a:pPr marL="228600" marR="0" lvl="0" indent="-76200" algn="l" rtl="0">
              <a:lnSpc>
                <a:spcPct val="90000"/>
              </a:lnSpc>
              <a:spcBef>
                <a:spcPts val="0"/>
              </a:spcBef>
              <a:spcAft>
                <a:spcPts val="0"/>
              </a:spcAft>
              <a:buClr>
                <a:schemeClr val="dk1"/>
              </a:buClr>
              <a:buSzPts val="2400"/>
              <a:buFont typeface="Arial"/>
              <a:buNone/>
            </a:pPr>
            <a:endParaRPr sz="2400">
              <a:solidFill>
                <a:srgbClr val="262626"/>
              </a:solidFill>
              <a:latin typeface="Marcellus"/>
              <a:ea typeface="Marcellus"/>
              <a:cs typeface="Marcellus"/>
              <a:sym typeface="Marcellus"/>
            </a:endParaRPr>
          </a:p>
        </p:txBody>
      </p:sp>
      <p:pic>
        <p:nvPicPr>
          <p:cNvPr id="791" name="Google Shape;791;p80" descr="A picture containing drawing&#10;&#10;Description automatically generated"/>
          <p:cNvPicPr preferRelativeResize="0"/>
          <p:nvPr/>
        </p:nvPicPr>
        <p:blipFill rotWithShape="1">
          <a:blip r:embed="rId6">
            <a:alphaModFix/>
          </a:blip>
          <a:srcRect/>
          <a:stretch/>
        </p:blipFill>
        <p:spPr>
          <a:xfrm>
            <a:off x="120015" y="5440809"/>
            <a:ext cx="3245736" cy="811434"/>
          </a:xfrm>
          <a:prstGeom prst="rect">
            <a:avLst/>
          </a:prstGeom>
          <a:noFill/>
          <a:ln>
            <a:noFill/>
          </a:ln>
        </p:spPr>
      </p:pic>
      <p:sp>
        <p:nvSpPr>
          <p:cNvPr id="792" name="Google Shape;792;p80"/>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05-12-2022</a:t>
            </a:r>
            <a:endParaRPr/>
          </a:p>
        </p:txBody>
      </p:sp>
      <p:sp>
        <p:nvSpPr>
          <p:cNvPr id="793" name="Google Shape;793;p80"/>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66</a:t>
            </a:fld>
            <a:endParaRPr/>
          </a:p>
        </p:txBody>
      </p:sp>
      <p:sp>
        <p:nvSpPr>
          <p:cNvPr id="794" name="Google Shape;794;p80"/>
          <p:cNvSpPr txBox="1"/>
          <p:nvPr/>
        </p:nvSpPr>
        <p:spPr>
          <a:xfrm>
            <a:off x="669759" y="22649"/>
            <a:ext cx="10315075" cy="448703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000"/>
              <a:buFont typeface="Arial"/>
              <a:buNone/>
            </a:pPr>
            <a:r>
              <a:rPr lang="en-US" sz="2000">
                <a:solidFill>
                  <a:schemeClr val="dk1"/>
                </a:solidFill>
                <a:latin typeface="Calibri"/>
                <a:ea typeface="Calibri"/>
                <a:cs typeface="Calibri"/>
                <a:sym typeface="Calibri"/>
              </a:rPr>
              <a:t>ISRO | ISRO CS 2017 – May | Question 78</a:t>
            </a:r>
            <a:endParaRPr/>
          </a:p>
          <a:p>
            <a:pPr marL="0" marR="0" lvl="0" indent="0" algn="l" rtl="0">
              <a:lnSpc>
                <a:spcPct val="90000"/>
              </a:lnSpc>
              <a:spcBef>
                <a:spcPts val="1000"/>
              </a:spcBef>
              <a:spcAft>
                <a:spcPts val="0"/>
              </a:spcAft>
              <a:buClr>
                <a:schemeClr val="dk1"/>
              </a:buClr>
              <a:buSzPts val="2000"/>
              <a:buFont typeface="Arial"/>
              <a:buNone/>
            </a:pPr>
            <a:r>
              <a:rPr lang="en-US" sz="2000">
                <a:solidFill>
                  <a:schemeClr val="dk1"/>
                </a:solidFill>
                <a:latin typeface="Calibri"/>
                <a:ea typeface="Calibri"/>
                <a:cs typeface="Calibri"/>
                <a:sym typeface="Calibri"/>
              </a:rPr>
              <a:t>At particular time, the value of a counting semaphore is 10, it will become 7 after:</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(a) 3 V operations</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(b) 3 P operations</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(c) 5 V operations and 2 P operations</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(d) 2 V operations and 5 P operations</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Which of the following option is correct?</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(A)</a:t>
            </a:r>
            <a:r>
              <a:rPr lang="en-US" sz="2000">
                <a:solidFill>
                  <a:schemeClr val="dk1"/>
                </a:solidFill>
                <a:latin typeface="Calibri"/>
                <a:ea typeface="Calibri"/>
                <a:cs typeface="Calibri"/>
                <a:sym typeface="Calibri"/>
              </a:rPr>
              <a:t> Only (b)</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(B)</a:t>
            </a:r>
            <a:r>
              <a:rPr lang="en-US" sz="2000">
                <a:solidFill>
                  <a:schemeClr val="dk1"/>
                </a:solidFill>
                <a:latin typeface="Calibri"/>
                <a:ea typeface="Calibri"/>
                <a:cs typeface="Calibri"/>
                <a:sym typeface="Calibri"/>
              </a:rPr>
              <a:t> Only(d)</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(C)</a:t>
            </a:r>
            <a:r>
              <a:rPr lang="en-US" sz="2000">
                <a:solidFill>
                  <a:schemeClr val="dk1"/>
                </a:solidFill>
                <a:latin typeface="Calibri"/>
                <a:ea typeface="Calibri"/>
                <a:cs typeface="Calibri"/>
                <a:sym typeface="Calibri"/>
              </a:rPr>
              <a:t> Both (b) and (d)</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(D)</a:t>
            </a:r>
            <a:r>
              <a:rPr lang="en-US" sz="2000">
                <a:solidFill>
                  <a:schemeClr val="dk1"/>
                </a:solidFill>
                <a:latin typeface="Calibri"/>
                <a:ea typeface="Calibri"/>
                <a:cs typeface="Calibri"/>
                <a:sym typeface="Calibri"/>
              </a:rPr>
              <a:t> None of these</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Answer:</a:t>
            </a:r>
            <a:r>
              <a:rPr lang="en-US" sz="2000">
                <a:solidFill>
                  <a:schemeClr val="dk1"/>
                </a:solidFill>
                <a:latin typeface="Calibri"/>
                <a:ea typeface="Calibri"/>
                <a:cs typeface="Calibri"/>
                <a:sym typeface="Calibri"/>
              </a:rPr>
              <a:t> </a:t>
            </a:r>
            <a:r>
              <a:rPr lang="en-US" sz="2000" b="1">
                <a:solidFill>
                  <a:schemeClr val="dk1"/>
                </a:solidFill>
                <a:latin typeface="Calibri"/>
                <a:ea typeface="Calibri"/>
                <a:cs typeface="Calibri"/>
                <a:sym typeface="Calibri"/>
              </a:rPr>
              <a:t>(C)</a:t>
            </a:r>
            <a:r>
              <a:rPr lang="en-US" sz="2000">
                <a:solidFill>
                  <a:schemeClr val="dk1"/>
                </a:solidFill>
                <a:latin typeface="Calibri"/>
                <a:ea typeface="Calibri"/>
                <a:cs typeface="Calibri"/>
                <a:sym typeface="Calibri"/>
              </a:rPr>
              <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Explanation:</a:t>
            </a:r>
            <a:r>
              <a:rPr lang="en-US" sz="2000">
                <a:solidFill>
                  <a:schemeClr val="dk1"/>
                </a:solidFill>
                <a:latin typeface="Calibri"/>
                <a:ea typeface="Calibri"/>
                <a:cs typeface="Calibri"/>
                <a:sym typeface="Calibri"/>
              </a:rPr>
              <a:t> P: Wait operation decrements the value of the counting semaphore by 1.</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V: Signal operation increments the value of counting semaphore by 1.</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Current value of the counting semaphore = 10</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a) after 3 P operations, value of semaphore = 10-3 = 7</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d) after 2 v operations, and 5 operations value of semaphore = 10 + 2 – 5 = 7</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Hence option (C) is correct.</a:t>
            </a:r>
            <a:endParaRPr/>
          </a:p>
        </p:txBody>
      </p:sp>
    </p:spTree>
    <p:extLst>
      <p:ext uri="{BB962C8B-B14F-4D97-AF65-F5344CB8AC3E}">
        <p14:creationId xmlns:p14="http://schemas.microsoft.com/office/powerpoint/2010/main" val="110710610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pic>
        <p:nvPicPr>
          <p:cNvPr id="799" name="Google Shape;799;p81"/>
          <p:cNvPicPr preferRelativeResize="0"/>
          <p:nvPr/>
        </p:nvPicPr>
        <p:blipFill rotWithShape="1">
          <a:blip r:embed="rId3">
            <a:alphaModFix/>
          </a:blip>
          <a:srcRect/>
          <a:stretch/>
        </p:blipFill>
        <p:spPr>
          <a:xfrm rot="5400000">
            <a:off x="5880675" y="567536"/>
            <a:ext cx="385984" cy="12236665"/>
          </a:xfrm>
          <a:prstGeom prst="rect">
            <a:avLst/>
          </a:prstGeom>
          <a:noFill/>
          <a:ln>
            <a:noFill/>
          </a:ln>
        </p:spPr>
      </p:pic>
      <p:pic>
        <p:nvPicPr>
          <p:cNvPr id="800" name="Google Shape;800;p81"/>
          <p:cNvPicPr preferRelativeResize="0"/>
          <p:nvPr/>
        </p:nvPicPr>
        <p:blipFill rotWithShape="1">
          <a:blip r:embed="rId4">
            <a:alphaModFix/>
          </a:blip>
          <a:srcRect/>
          <a:stretch/>
        </p:blipFill>
        <p:spPr>
          <a:xfrm rot="5400000">
            <a:off x="4533654" y="1754134"/>
            <a:ext cx="176409" cy="9333048"/>
          </a:xfrm>
          <a:prstGeom prst="rect">
            <a:avLst/>
          </a:prstGeom>
          <a:noFill/>
          <a:ln>
            <a:noFill/>
          </a:ln>
        </p:spPr>
      </p:pic>
      <p:pic>
        <p:nvPicPr>
          <p:cNvPr id="801" name="Google Shape;801;p81" descr="A close up of a sign&#10;&#10;Description automatically generated"/>
          <p:cNvPicPr preferRelativeResize="0">
            <a:picLocks noGrp="1"/>
          </p:cNvPicPr>
          <p:nvPr>
            <p:ph type="body" idx="1"/>
          </p:nvPr>
        </p:nvPicPr>
        <p:blipFill rotWithShape="1">
          <a:blip r:embed="rId5">
            <a:alphaModFix/>
          </a:blip>
          <a:srcRect/>
          <a:stretch/>
        </p:blipFill>
        <p:spPr>
          <a:xfrm>
            <a:off x="10828422" y="5610533"/>
            <a:ext cx="968545" cy="721920"/>
          </a:xfrm>
          <a:prstGeom prst="rect">
            <a:avLst/>
          </a:prstGeom>
          <a:noFill/>
          <a:ln>
            <a:noFill/>
          </a:ln>
        </p:spPr>
      </p:pic>
      <p:sp>
        <p:nvSpPr>
          <p:cNvPr id="802" name="Google Shape;802;p81"/>
          <p:cNvSpPr txBox="1"/>
          <p:nvPr/>
        </p:nvSpPr>
        <p:spPr>
          <a:xfrm>
            <a:off x="669757" y="1018910"/>
            <a:ext cx="10315075" cy="4017114"/>
          </a:xfrm>
          <a:prstGeom prst="rect">
            <a:avLst/>
          </a:prstGeom>
          <a:noFill/>
          <a:ln>
            <a:noFill/>
          </a:ln>
        </p:spPr>
        <p:txBody>
          <a:bodyPr spcFirstLastPara="1" wrap="square" lIns="91425" tIns="45700" rIns="91425" bIns="45700" anchor="t" anchorCtr="0">
            <a:normAutofit/>
          </a:bodyPr>
          <a:lstStyle/>
          <a:p>
            <a:pPr marL="228600" marR="0" lvl="0" indent="-76200" algn="l" rtl="0">
              <a:lnSpc>
                <a:spcPct val="90000"/>
              </a:lnSpc>
              <a:spcBef>
                <a:spcPts val="0"/>
              </a:spcBef>
              <a:spcAft>
                <a:spcPts val="0"/>
              </a:spcAft>
              <a:buClr>
                <a:schemeClr val="dk1"/>
              </a:buClr>
              <a:buSzPts val="2400"/>
              <a:buFont typeface="Arial"/>
              <a:buNone/>
            </a:pPr>
            <a:endParaRPr sz="2400">
              <a:solidFill>
                <a:srgbClr val="262626"/>
              </a:solidFill>
              <a:latin typeface="Marcellus"/>
              <a:ea typeface="Marcellus"/>
              <a:cs typeface="Marcellus"/>
              <a:sym typeface="Marcellus"/>
            </a:endParaRPr>
          </a:p>
        </p:txBody>
      </p:sp>
      <p:pic>
        <p:nvPicPr>
          <p:cNvPr id="803" name="Google Shape;803;p81" descr="A picture containing drawing&#10;&#10;Description automatically generated"/>
          <p:cNvPicPr preferRelativeResize="0"/>
          <p:nvPr/>
        </p:nvPicPr>
        <p:blipFill rotWithShape="1">
          <a:blip r:embed="rId6">
            <a:alphaModFix/>
          </a:blip>
          <a:srcRect/>
          <a:stretch/>
        </p:blipFill>
        <p:spPr>
          <a:xfrm>
            <a:off x="120015" y="5440809"/>
            <a:ext cx="3245736" cy="811434"/>
          </a:xfrm>
          <a:prstGeom prst="rect">
            <a:avLst/>
          </a:prstGeom>
          <a:noFill/>
          <a:ln>
            <a:noFill/>
          </a:ln>
        </p:spPr>
      </p:pic>
      <p:sp>
        <p:nvSpPr>
          <p:cNvPr id="804" name="Google Shape;804;p81"/>
          <p:cNvSpPr txBox="1">
            <a:spLocks noGrp="1"/>
          </p:cNvSpPr>
          <p:nvPr>
            <p:ph type="dt" idx="10"/>
          </p:nvPr>
        </p:nvSpPr>
        <p:spPr>
          <a:xfrm>
            <a:off x="8382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05-12-2022</a:t>
            </a:r>
            <a:endParaRPr/>
          </a:p>
        </p:txBody>
      </p:sp>
      <p:sp>
        <p:nvSpPr>
          <p:cNvPr id="805" name="Google Shape;805;p81"/>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67</a:t>
            </a:fld>
            <a:endParaRPr/>
          </a:p>
        </p:txBody>
      </p:sp>
      <p:sp>
        <p:nvSpPr>
          <p:cNvPr id="806" name="Google Shape;806;p81"/>
          <p:cNvSpPr txBox="1"/>
          <p:nvPr/>
        </p:nvSpPr>
        <p:spPr>
          <a:xfrm>
            <a:off x="710703" y="289681"/>
            <a:ext cx="10071060" cy="570325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000"/>
              <a:buFont typeface="Arial"/>
              <a:buNone/>
            </a:pPr>
            <a:r>
              <a:rPr lang="en-US" sz="2000">
                <a:solidFill>
                  <a:schemeClr val="dk1"/>
                </a:solidFill>
                <a:latin typeface="Calibri"/>
                <a:ea typeface="Calibri"/>
                <a:cs typeface="Calibri"/>
                <a:sym typeface="Calibri"/>
              </a:rPr>
              <a:t>UGC-NET | UGC NET CS 2018 July – II | Question 51</a:t>
            </a:r>
            <a:endParaRPr/>
          </a:p>
          <a:p>
            <a:pPr marL="0" marR="0" lvl="0" indent="0" algn="l" rtl="0">
              <a:lnSpc>
                <a:spcPct val="90000"/>
              </a:lnSpc>
              <a:spcBef>
                <a:spcPts val="1000"/>
              </a:spcBef>
              <a:spcAft>
                <a:spcPts val="0"/>
              </a:spcAft>
              <a:buClr>
                <a:schemeClr val="dk1"/>
              </a:buClr>
              <a:buSzPts val="2000"/>
              <a:buFont typeface="Arial"/>
              <a:buNone/>
            </a:pPr>
            <a:r>
              <a:rPr lang="en-US" sz="2000">
                <a:solidFill>
                  <a:schemeClr val="dk1"/>
                </a:solidFill>
                <a:latin typeface="Calibri"/>
                <a:ea typeface="Calibri"/>
                <a:cs typeface="Calibri"/>
                <a:sym typeface="Calibri"/>
              </a:rPr>
              <a:t>At a particular time of computation, the value of a counting semaphore is 10. Then 12 P operations and “x” V operations were performed on this semaphore. If the final value of semaphore is 7, x will be:</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(A)</a:t>
            </a:r>
            <a:r>
              <a:rPr lang="en-US" sz="2000">
                <a:solidFill>
                  <a:schemeClr val="dk1"/>
                </a:solidFill>
                <a:latin typeface="Calibri"/>
                <a:ea typeface="Calibri"/>
                <a:cs typeface="Calibri"/>
                <a:sym typeface="Calibri"/>
              </a:rPr>
              <a:t> 8</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(B)</a:t>
            </a:r>
            <a:r>
              <a:rPr lang="en-US" sz="2000">
                <a:solidFill>
                  <a:schemeClr val="dk1"/>
                </a:solidFill>
                <a:latin typeface="Calibri"/>
                <a:ea typeface="Calibri"/>
                <a:cs typeface="Calibri"/>
                <a:sym typeface="Calibri"/>
              </a:rPr>
              <a:t> 9</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(C)</a:t>
            </a:r>
            <a:r>
              <a:rPr lang="en-US" sz="2000">
                <a:solidFill>
                  <a:schemeClr val="dk1"/>
                </a:solidFill>
                <a:latin typeface="Calibri"/>
                <a:ea typeface="Calibri"/>
                <a:cs typeface="Calibri"/>
                <a:sym typeface="Calibri"/>
              </a:rPr>
              <a:t> 10</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(D)</a:t>
            </a:r>
            <a:r>
              <a:rPr lang="en-US" sz="2000">
                <a:solidFill>
                  <a:schemeClr val="dk1"/>
                </a:solidFill>
                <a:latin typeface="Calibri"/>
                <a:ea typeface="Calibri"/>
                <a:cs typeface="Calibri"/>
                <a:sym typeface="Calibri"/>
              </a:rPr>
              <a:t> 11</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Answer:</a:t>
            </a:r>
            <a:r>
              <a:rPr lang="en-US" sz="2000">
                <a:solidFill>
                  <a:schemeClr val="dk1"/>
                </a:solidFill>
                <a:latin typeface="Calibri"/>
                <a:ea typeface="Calibri"/>
                <a:cs typeface="Calibri"/>
                <a:sym typeface="Calibri"/>
              </a:rPr>
              <a:t> </a:t>
            </a:r>
            <a:r>
              <a:rPr lang="en-US" sz="2000" b="1">
                <a:solidFill>
                  <a:schemeClr val="dk1"/>
                </a:solidFill>
                <a:latin typeface="Calibri"/>
                <a:ea typeface="Calibri"/>
                <a:cs typeface="Calibri"/>
                <a:sym typeface="Calibri"/>
              </a:rPr>
              <a:t>(B)</a:t>
            </a:r>
            <a:r>
              <a:rPr lang="en-US" sz="2000">
                <a:solidFill>
                  <a:schemeClr val="dk1"/>
                </a:solidFill>
                <a:latin typeface="Calibri"/>
                <a:ea typeface="Calibri"/>
                <a:cs typeface="Calibri"/>
                <a:sym typeface="Calibri"/>
              </a:rPr>
              <a:t/>
            </a:r>
            <a:br>
              <a:rPr lang="en-US" sz="2000">
                <a:solidFill>
                  <a:schemeClr val="dk1"/>
                </a:solidFill>
                <a:latin typeface="Calibri"/>
                <a:ea typeface="Calibri"/>
                <a:cs typeface="Calibri"/>
                <a:sym typeface="Calibri"/>
              </a:rPr>
            </a:br>
            <a:r>
              <a:rPr lang="en-US" sz="2000" b="1">
                <a:solidFill>
                  <a:schemeClr val="dk1"/>
                </a:solidFill>
                <a:latin typeface="Calibri"/>
                <a:ea typeface="Calibri"/>
                <a:cs typeface="Calibri"/>
                <a:sym typeface="Calibri"/>
              </a:rPr>
              <a:t>Explanation:</a:t>
            </a:r>
            <a:r>
              <a:rPr lang="en-US" sz="2000">
                <a:solidFill>
                  <a:schemeClr val="dk1"/>
                </a:solidFill>
                <a:latin typeface="Calibri"/>
                <a:ea typeface="Calibri"/>
                <a:cs typeface="Calibri"/>
                <a:sym typeface="Calibri"/>
              </a:rPr>
              <a:t> Intially the value of a counting semaphore is 10 Now 12 P operation are performed.</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Now counting semaphore value = -2</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“x” V operations were performed on this semaphore and final value of counting semaphore = 7</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i.e x + (-2) = 7</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x = 9.</a:t>
            </a:r>
            <a:br>
              <a:rPr lang="en-US" sz="2000">
                <a:solidFill>
                  <a:schemeClr val="dk1"/>
                </a:solidFill>
                <a:latin typeface="Calibri"/>
                <a:ea typeface="Calibri"/>
                <a:cs typeface="Calibri"/>
                <a:sym typeface="Calibri"/>
              </a:rPr>
            </a:br>
            <a:r>
              <a:rPr lang="en-US" sz="2000">
                <a:solidFill>
                  <a:schemeClr val="dk1"/>
                </a:solidFill>
                <a:latin typeface="Calibri"/>
                <a:ea typeface="Calibri"/>
                <a:cs typeface="Calibri"/>
                <a:sym typeface="Calibri"/>
              </a:rPr>
              <a:t>So, option (C) is correct.</a:t>
            </a:r>
            <a:endParaRPr/>
          </a:p>
        </p:txBody>
      </p:sp>
    </p:spTree>
    <p:extLst>
      <p:ext uri="{BB962C8B-B14F-4D97-AF65-F5344CB8AC3E}">
        <p14:creationId xmlns:p14="http://schemas.microsoft.com/office/powerpoint/2010/main" val="221973770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smtClean="0">
                <a:solidFill>
                  <a:srgbClr val="C00000"/>
                </a:solidFill>
                <a:latin typeface="Marcellus" panose="020E0602050203020307" pitchFamily="34" charset="0"/>
              </a:rPr>
              <a:t>Semaphore Definition</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EAEB1C24-A588-459C-B6E1-2A0FE0655507}"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With each semaphore there is an associated waiting queue</a:t>
            </a:r>
          </a:p>
          <a:p>
            <a:r>
              <a:rPr lang="en-US" sz="2400" dirty="0"/>
              <a:t>Each entry in a waiting queue has two data items:</a:t>
            </a:r>
          </a:p>
          <a:p>
            <a:pPr lvl="1"/>
            <a:r>
              <a:rPr lang="en-US" sz="2000" dirty="0"/>
              <a:t> </a:t>
            </a:r>
            <a:r>
              <a:rPr lang="en-US" sz="2000" dirty="0" smtClean="0"/>
              <a:t>value </a:t>
            </a:r>
            <a:r>
              <a:rPr lang="en-US" sz="2000" dirty="0"/>
              <a:t>(of type integer)</a:t>
            </a:r>
          </a:p>
          <a:p>
            <a:pPr lvl="1"/>
            <a:r>
              <a:rPr lang="en-US" sz="2000" dirty="0"/>
              <a:t> </a:t>
            </a:r>
            <a:r>
              <a:rPr lang="en-US" sz="2000" dirty="0" smtClean="0"/>
              <a:t>pointer </a:t>
            </a:r>
            <a:r>
              <a:rPr lang="en-US" sz="2000" dirty="0"/>
              <a:t>to next record in the list</a:t>
            </a:r>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5904" y="2872071"/>
            <a:ext cx="4949925" cy="1890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7393432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 Definition</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A7E77045-3DF2-40F4-AA20-F3B64EE817DF}"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smtClean="0"/>
              <a:t>Wait()</a:t>
            </a:r>
          </a:p>
          <a:p>
            <a:pPr lvl="1"/>
            <a:r>
              <a:rPr lang="en-US" sz="2000" dirty="0" smtClean="0"/>
              <a:t>When a </a:t>
            </a:r>
            <a:r>
              <a:rPr lang="en-US" sz="2000" dirty="0"/>
              <a:t>process must wait on a semaphore, it is </a:t>
            </a:r>
            <a:r>
              <a:rPr lang="en-US" sz="2000" dirty="0">
                <a:solidFill>
                  <a:srgbClr val="C00000"/>
                </a:solidFill>
              </a:rPr>
              <a:t>added to the list of processes. </a:t>
            </a:r>
            <a:endParaRPr lang="en-US" sz="2000" dirty="0" smtClean="0">
              <a:solidFill>
                <a:srgbClr val="C00000"/>
              </a:solidFill>
            </a:endParaRPr>
          </a:p>
          <a:p>
            <a:r>
              <a:rPr lang="en-US" sz="2400" dirty="0" smtClean="0"/>
              <a:t>Signal()</a:t>
            </a:r>
          </a:p>
          <a:p>
            <a:pPr lvl="1"/>
            <a:r>
              <a:rPr lang="en-US" sz="2000" dirty="0" smtClean="0"/>
              <a:t>A signal</a:t>
            </a:r>
            <a:r>
              <a:rPr lang="en-US" sz="2000" dirty="0"/>
              <a:t>() operation </a:t>
            </a:r>
            <a:r>
              <a:rPr lang="en-US" sz="2000" dirty="0">
                <a:solidFill>
                  <a:srgbClr val="C00000"/>
                </a:solidFill>
              </a:rPr>
              <a:t>removes one process from the list </a:t>
            </a:r>
            <a:r>
              <a:rPr lang="en-US" sz="2000" dirty="0"/>
              <a:t>of waiting </a:t>
            </a:r>
            <a:r>
              <a:rPr lang="en-US" sz="2000" dirty="0" smtClean="0"/>
              <a:t>processes and </a:t>
            </a:r>
            <a:r>
              <a:rPr lang="en-US" sz="2000" dirty="0"/>
              <a:t>awakens that </a:t>
            </a:r>
            <a:r>
              <a:rPr lang="en-US" sz="2000" dirty="0" smtClean="0"/>
              <a:t>process</a:t>
            </a:r>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5904" y="2872071"/>
            <a:ext cx="4949925" cy="1890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592339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6CF8E717-921D-41EE-989D-A2FA452492F6}"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smtClean="0"/>
              <a:t>We modify </a:t>
            </a:r>
            <a:r>
              <a:rPr lang="en-US" sz="2400" dirty="0"/>
              <a:t>the definition </a:t>
            </a:r>
            <a:r>
              <a:rPr lang="en-US" sz="2400" dirty="0" smtClean="0"/>
              <a:t>of the </a:t>
            </a:r>
            <a:r>
              <a:rPr lang="en-US" sz="2400" dirty="0"/>
              <a:t>wait() and signal() semaphore operations. </a:t>
            </a:r>
            <a:endParaRPr lang="en-US" sz="2400" dirty="0" smtClean="0"/>
          </a:p>
          <a:p>
            <a:endParaRPr lang="en-US" sz="2400" dirty="0" smtClean="0"/>
          </a:p>
          <a:p>
            <a:r>
              <a:rPr lang="en-US" sz="2400" dirty="0" smtClean="0"/>
              <a:t>When </a:t>
            </a:r>
            <a:r>
              <a:rPr lang="en-US" sz="2400" dirty="0"/>
              <a:t>a process executes </a:t>
            </a:r>
            <a:r>
              <a:rPr lang="en-US" sz="2400" dirty="0" smtClean="0"/>
              <a:t>the wait </a:t>
            </a:r>
            <a:r>
              <a:rPr lang="en-US" sz="2400" dirty="0"/>
              <a:t>() operation and </a:t>
            </a:r>
            <a:r>
              <a:rPr lang="en-US" sz="2400" dirty="0">
                <a:solidFill>
                  <a:srgbClr val="C00000"/>
                </a:solidFill>
              </a:rPr>
              <a:t>finds that the semaphore value is not positive</a:t>
            </a:r>
            <a:r>
              <a:rPr lang="en-US" sz="2400" dirty="0"/>
              <a:t>, it </a:t>
            </a:r>
            <a:r>
              <a:rPr lang="en-US" sz="2400" dirty="0" smtClean="0"/>
              <a:t>must wait</a:t>
            </a:r>
            <a:r>
              <a:rPr lang="en-US" sz="2400" dirty="0"/>
              <a:t>. </a:t>
            </a:r>
            <a:endParaRPr lang="en-US" sz="2400" dirty="0" smtClean="0"/>
          </a:p>
          <a:p>
            <a:endParaRPr lang="en-US" sz="2400" dirty="0" smtClean="0">
              <a:solidFill>
                <a:srgbClr val="C00000"/>
              </a:solidFill>
            </a:endParaRPr>
          </a:p>
          <a:p>
            <a:r>
              <a:rPr lang="en-US" sz="2400" dirty="0" smtClean="0">
                <a:solidFill>
                  <a:srgbClr val="C00000"/>
                </a:solidFill>
              </a:rPr>
              <a:t>Rather than busy </a:t>
            </a:r>
            <a:r>
              <a:rPr lang="en-US" sz="2400" dirty="0">
                <a:solidFill>
                  <a:srgbClr val="C00000"/>
                </a:solidFill>
              </a:rPr>
              <a:t>waiting, </a:t>
            </a:r>
            <a:r>
              <a:rPr lang="en-US" sz="2400" dirty="0" smtClean="0">
                <a:solidFill>
                  <a:srgbClr val="C00000"/>
                </a:solidFill>
              </a:rPr>
              <a:t>the </a:t>
            </a:r>
            <a:r>
              <a:rPr lang="en-US" sz="2400" dirty="0">
                <a:solidFill>
                  <a:srgbClr val="C00000"/>
                </a:solidFill>
              </a:rPr>
              <a:t>process can </a:t>
            </a:r>
            <a:r>
              <a:rPr lang="en-US" sz="2400" i="1" dirty="0" smtClean="0">
                <a:solidFill>
                  <a:srgbClr val="C00000"/>
                </a:solidFill>
              </a:rPr>
              <a:t>block </a:t>
            </a:r>
            <a:r>
              <a:rPr lang="en-US" sz="2400" dirty="0" smtClean="0">
                <a:solidFill>
                  <a:srgbClr val="C00000"/>
                </a:solidFill>
              </a:rPr>
              <a:t>itself</a:t>
            </a:r>
            <a:r>
              <a:rPr lang="en-US" sz="2400" dirty="0">
                <a:solidFill>
                  <a:srgbClr val="C00000"/>
                </a:solidFill>
              </a:rPr>
              <a:t>.</a:t>
            </a:r>
            <a:endParaRPr lang="en-US" sz="2000" dirty="0" smtClean="0">
              <a:solidFill>
                <a:srgbClr val="C00000"/>
              </a:solidFill>
            </a:endParaRPr>
          </a:p>
        </p:txBody>
      </p:sp>
      <p:sp>
        <p:nvSpPr>
          <p:cNvPr id="11" name="Rectangle 10"/>
          <p:cNvSpPr/>
          <p:nvPr/>
        </p:nvSpPr>
        <p:spPr>
          <a:xfrm>
            <a:off x="669758" y="1733266"/>
            <a:ext cx="10999078" cy="955343"/>
          </a:xfrm>
          <a:prstGeom prst="rect">
            <a:avLst/>
          </a:prstGeom>
          <a:no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4240798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8EC206CC-7B0A-47F5-A866-BB43BE5377B2}"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smtClean="0"/>
              <a:t>Two </a:t>
            </a:r>
            <a:r>
              <a:rPr lang="en-US" altLang="en-US" dirty="0"/>
              <a:t>operations:</a:t>
            </a:r>
          </a:p>
          <a:p>
            <a:pPr lvl="1"/>
            <a:r>
              <a:rPr lang="en-US" altLang="en-US" b="1" dirty="0">
                <a:solidFill>
                  <a:srgbClr val="3366FF"/>
                </a:solidFill>
              </a:rPr>
              <a:t>block</a:t>
            </a:r>
            <a:r>
              <a:rPr lang="en-US" altLang="en-US" dirty="0">
                <a:solidFill>
                  <a:srgbClr val="3366FF"/>
                </a:solidFill>
              </a:rPr>
              <a:t> </a:t>
            </a:r>
            <a:endParaRPr lang="en-US" altLang="en-US" dirty="0"/>
          </a:p>
          <a:p>
            <a:pPr lvl="1"/>
            <a:r>
              <a:rPr lang="en-US" altLang="en-US" b="1" dirty="0" smtClean="0">
                <a:solidFill>
                  <a:srgbClr val="0070C0"/>
                </a:solidFill>
              </a:rPr>
              <a:t>wakeup</a:t>
            </a:r>
          </a:p>
        </p:txBody>
      </p:sp>
    </p:spTree>
    <p:extLst>
      <p:ext uri="{BB962C8B-B14F-4D97-AF65-F5344CB8AC3E}">
        <p14:creationId xmlns:p14="http://schemas.microsoft.com/office/powerpoint/2010/main" val="217962386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EAC7AFA-56E4-492E-892B-BD100A65BFA1}"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smtClean="0"/>
              <a:t>Two </a:t>
            </a:r>
            <a:r>
              <a:rPr lang="en-US" altLang="en-US" dirty="0"/>
              <a:t>operations:</a:t>
            </a:r>
          </a:p>
          <a:p>
            <a:pPr lvl="1"/>
            <a:r>
              <a:rPr lang="en-US" altLang="en-US" b="1" dirty="0">
                <a:solidFill>
                  <a:srgbClr val="3366FF"/>
                </a:solidFill>
              </a:rPr>
              <a:t>block</a:t>
            </a:r>
            <a:r>
              <a:rPr lang="en-US" altLang="en-US" dirty="0">
                <a:solidFill>
                  <a:srgbClr val="3366FF"/>
                </a:solidFill>
              </a:rPr>
              <a:t> </a:t>
            </a:r>
            <a:r>
              <a:rPr lang="en-US" altLang="en-US" dirty="0"/>
              <a:t>– </a:t>
            </a:r>
            <a:endParaRPr lang="en-US" altLang="en-US" dirty="0" smtClean="0"/>
          </a:p>
          <a:p>
            <a:pPr lvl="1"/>
            <a:r>
              <a:rPr lang="en-US" dirty="0"/>
              <a:t>The block() operation suspends the process that invokes it. </a:t>
            </a:r>
          </a:p>
          <a:p>
            <a:pPr lvl="1"/>
            <a:r>
              <a:rPr lang="en-US" altLang="en-US" dirty="0" smtClean="0">
                <a:solidFill>
                  <a:srgbClr val="C00000"/>
                </a:solidFill>
              </a:rPr>
              <a:t>place </a:t>
            </a:r>
            <a:r>
              <a:rPr lang="en-US" altLang="en-US" dirty="0">
                <a:solidFill>
                  <a:srgbClr val="C00000"/>
                </a:solidFill>
              </a:rPr>
              <a:t>the process </a:t>
            </a:r>
            <a:r>
              <a:rPr lang="en-US" altLang="en-US" dirty="0"/>
              <a:t>invoking the operation </a:t>
            </a:r>
            <a:r>
              <a:rPr lang="en-US" altLang="en-US" dirty="0">
                <a:solidFill>
                  <a:srgbClr val="C00000"/>
                </a:solidFill>
              </a:rPr>
              <a:t>on the </a:t>
            </a:r>
            <a:r>
              <a:rPr lang="en-US" altLang="en-US" dirty="0" smtClean="0">
                <a:solidFill>
                  <a:srgbClr val="C00000"/>
                </a:solidFill>
              </a:rPr>
              <a:t>waiting queue </a:t>
            </a:r>
            <a:r>
              <a:rPr lang="en-US" altLang="en-US" dirty="0" smtClean="0"/>
              <a:t>associated with the semaphore</a:t>
            </a:r>
          </a:p>
          <a:p>
            <a:pPr lvl="1"/>
            <a:r>
              <a:rPr lang="en-US" dirty="0" smtClean="0"/>
              <a:t>The </a:t>
            </a:r>
            <a:r>
              <a:rPr lang="en-US" dirty="0"/>
              <a:t>state of the process is switched to the </a:t>
            </a:r>
            <a:r>
              <a:rPr lang="en-US" dirty="0" smtClean="0">
                <a:solidFill>
                  <a:srgbClr val="C00000"/>
                </a:solidFill>
              </a:rPr>
              <a:t>waiting state</a:t>
            </a:r>
            <a:r>
              <a:rPr lang="en-US" dirty="0">
                <a:solidFill>
                  <a:srgbClr val="C00000"/>
                </a:solidFill>
              </a:rPr>
              <a:t>. </a:t>
            </a:r>
            <a:endParaRPr lang="en-US" dirty="0" smtClean="0">
              <a:solidFill>
                <a:srgbClr val="C00000"/>
              </a:solidFill>
            </a:endParaRPr>
          </a:p>
          <a:p>
            <a:pPr lvl="1"/>
            <a:r>
              <a:rPr lang="en-US" dirty="0" smtClean="0"/>
              <a:t>Control transferred </a:t>
            </a:r>
            <a:r>
              <a:rPr lang="en-US" dirty="0"/>
              <a:t>to the </a:t>
            </a:r>
            <a:r>
              <a:rPr lang="en-US" dirty="0">
                <a:solidFill>
                  <a:srgbClr val="C00000"/>
                </a:solidFill>
              </a:rPr>
              <a:t>CPU scheduler, which selects </a:t>
            </a:r>
            <a:r>
              <a:rPr lang="en-US" dirty="0" smtClean="0">
                <a:solidFill>
                  <a:srgbClr val="C00000"/>
                </a:solidFill>
              </a:rPr>
              <a:t>another process </a:t>
            </a:r>
            <a:r>
              <a:rPr lang="en-US" dirty="0"/>
              <a:t>to execute</a:t>
            </a:r>
            <a:r>
              <a:rPr lang="en-US" dirty="0" smtClean="0"/>
              <a:t>.</a:t>
            </a:r>
            <a:endParaRPr lang="en-US" altLang="en-US" dirty="0"/>
          </a:p>
        </p:txBody>
      </p:sp>
    </p:spTree>
    <p:extLst>
      <p:ext uri="{BB962C8B-B14F-4D97-AF65-F5344CB8AC3E}">
        <p14:creationId xmlns:p14="http://schemas.microsoft.com/office/powerpoint/2010/main" val="284481219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02E7D61D-9C3C-40D1-BF69-82ECBE3C9C00}"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b="1" dirty="0" smtClean="0">
                <a:solidFill>
                  <a:srgbClr val="3366FF"/>
                </a:solidFill>
              </a:rPr>
              <a:t>wakeup</a:t>
            </a:r>
            <a:r>
              <a:rPr lang="en-US" altLang="en-US" dirty="0" smtClean="0">
                <a:solidFill>
                  <a:srgbClr val="3366FF"/>
                </a:solidFill>
              </a:rPr>
              <a:t> </a:t>
            </a:r>
            <a:r>
              <a:rPr lang="en-US" altLang="en-US" dirty="0"/>
              <a:t>– </a:t>
            </a:r>
            <a:endParaRPr lang="en-US" altLang="en-US" dirty="0" smtClean="0"/>
          </a:p>
          <a:p>
            <a:r>
              <a:rPr lang="en-US" sz="2400" dirty="0"/>
              <a:t>A process that is blocked, waiting on a semaphore S, </a:t>
            </a:r>
            <a:r>
              <a:rPr lang="en-US" sz="2400" dirty="0">
                <a:solidFill>
                  <a:srgbClr val="C00000"/>
                </a:solidFill>
              </a:rPr>
              <a:t>should be restarted</a:t>
            </a:r>
          </a:p>
          <a:p>
            <a:pPr marL="0" indent="0">
              <a:buNone/>
            </a:pPr>
            <a:r>
              <a:rPr lang="en-US" sz="2400" dirty="0"/>
              <a:t>when some </a:t>
            </a:r>
            <a:r>
              <a:rPr lang="en-US" sz="2400" dirty="0">
                <a:solidFill>
                  <a:srgbClr val="C00000"/>
                </a:solidFill>
              </a:rPr>
              <a:t>other process executes a signal() </a:t>
            </a:r>
            <a:r>
              <a:rPr lang="en-US" sz="2400" dirty="0"/>
              <a:t>operation. </a:t>
            </a:r>
            <a:endParaRPr lang="en-US" sz="2400" dirty="0" smtClean="0"/>
          </a:p>
          <a:p>
            <a:endParaRPr lang="en-US" sz="2400" dirty="0" smtClean="0"/>
          </a:p>
          <a:p>
            <a:r>
              <a:rPr lang="en-US" sz="2400" dirty="0" smtClean="0"/>
              <a:t>The </a:t>
            </a:r>
            <a:r>
              <a:rPr lang="en-US" sz="2400" dirty="0"/>
              <a:t>process </a:t>
            </a:r>
            <a:r>
              <a:rPr lang="en-US" sz="2400" dirty="0" smtClean="0"/>
              <a:t>is restarted </a:t>
            </a:r>
            <a:r>
              <a:rPr lang="en-US" sz="2400" dirty="0"/>
              <a:t>by a wakeup () </a:t>
            </a:r>
            <a:r>
              <a:rPr lang="en-US" sz="2400" dirty="0" smtClean="0"/>
              <a:t>operation</a:t>
            </a:r>
          </a:p>
        </p:txBody>
      </p:sp>
    </p:spTree>
    <p:extLst>
      <p:ext uri="{BB962C8B-B14F-4D97-AF65-F5344CB8AC3E}">
        <p14:creationId xmlns:p14="http://schemas.microsoft.com/office/powerpoint/2010/main" val="276354249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A31AB6A3-1FFB-43E1-B3F8-D372CC58011E}"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b="1" dirty="0" smtClean="0">
                <a:solidFill>
                  <a:srgbClr val="3366FF"/>
                </a:solidFill>
              </a:rPr>
              <a:t>wakeup</a:t>
            </a:r>
            <a:r>
              <a:rPr lang="en-US" altLang="en-US" dirty="0" smtClean="0">
                <a:solidFill>
                  <a:srgbClr val="3366FF"/>
                </a:solidFill>
              </a:rPr>
              <a:t> </a:t>
            </a:r>
            <a:r>
              <a:rPr lang="en-US" altLang="en-US" dirty="0"/>
              <a:t>– </a:t>
            </a:r>
            <a:endParaRPr lang="en-US" altLang="en-US" dirty="0" smtClean="0"/>
          </a:p>
          <a:p>
            <a:r>
              <a:rPr lang="en-US" sz="2400" dirty="0" smtClean="0"/>
              <a:t>The </a:t>
            </a:r>
            <a:r>
              <a:rPr lang="en-US" sz="2400" dirty="0"/>
              <a:t>wakeup(P) operation </a:t>
            </a:r>
            <a:r>
              <a:rPr lang="en-US" sz="2400" dirty="0">
                <a:solidFill>
                  <a:srgbClr val="C00000"/>
                </a:solidFill>
              </a:rPr>
              <a:t>resumes the execution </a:t>
            </a:r>
            <a:r>
              <a:rPr lang="en-US" sz="2400" dirty="0"/>
              <a:t>of a blocked process P.</a:t>
            </a:r>
          </a:p>
          <a:p>
            <a:r>
              <a:rPr lang="en-US" altLang="en-US" sz="2400" dirty="0" smtClean="0"/>
              <a:t>Remove </a:t>
            </a:r>
            <a:r>
              <a:rPr lang="en-US" altLang="en-US" sz="2400" dirty="0"/>
              <a:t>one of processes in the waiting queue and place it in the ready queue</a:t>
            </a:r>
            <a:r>
              <a:rPr lang="en-US" sz="2400" dirty="0" smtClean="0"/>
              <a:t> </a:t>
            </a:r>
          </a:p>
          <a:p>
            <a:r>
              <a:rPr lang="en-US" sz="2400" dirty="0" smtClean="0"/>
              <a:t>Changes </a:t>
            </a:r>
            <a:r>
              <a:rPr lang="en-US" sz="2400" dirty="0"/>
              <a:t>the process </a:t>
            </a:r>
            <a:r>
              <a:rPr lang="en-US" sz="2400" dirty="0" smtClean="0"/>
              <a:t>state from </a:t>
            </a:r>
            <a:r>
              <a:rPr lang="en-US" sz="2400" dirty="0" smtClean="0">
                <a:solidFill>
                  <a:srgbClr val="C00000"/>
                </a:solidFill>
              </a:rPr>
              <a:t>waiting to ready</a:t>
            </a:r>
          </a:p>
          <a:p>
            <a:r>
              <a:rPr lang="en-US" sz="2400" dirty="0" smtClean="0"/>
              <a:t>These </a:t>
            </a:r>
            <a:r>
              <a:rPr lang="en-US" sz="2400" dirty="0"/>
              <a:t>two </a:t>
            </a:r>
            <a:r>
              <a:rPr lang="en-US" sz="2400" dirty="0" smtClean="0"/>
              <a:t>operations are </a:t>
            </a:r>
            <a:r>
              <a:rPr lang="en-US" sz="2400" dirty="0"/>
              <a:t>provided by the operating system as basic system calls</a:t>
            </a:r>
            <a:r>
              <a:rPr lang="en-US" sz="2400" dirty="0" smtClean="0"/>
              <a:t>.</a:t>
            </a:r>
          </a:p>
        </p:txBody>
      </p:sp>
    </p:spTree>
    <p:extLst>
      <p:ext uri="{BB962C8B-B14F-4D97-AF65-F5344CB8AC3E}">
        <p14:creationId xmlns:p14="http://schemas.microsoft.com/office/powerpoint/2010/main" val="151364496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smtClean="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6AD5858D-A750-4BFA-91E5-C388A1D960EE}"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en-US" sz="2400" dirty="0" smtClean="0"/>
          </a:p>
        </p:txBody>
      </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9565" y="1528549"/>
            <a:ext cx="4794344" cy="32571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10369" y="1705970"/>
            <a:ext cx="4274463" cy="31831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6294697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3089AD4A-CC81-4E10-BDAE-3464EBF7D3D4}"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smtClean="0"/>
              <a:t>Semaphore </a:t>
            </a:r>
            <a:r>
              <a:rPr lang="en-US" sz="2400" dirty="0"/>
              <a:t>values </a:t>
            </a:r>
            <a:r>
              <a:rPr lang="en-US" sz="2400" dirty="0">
                <a:solidFill>
                  <a:srgbClr val="C00000"/>
                </a:solidFill>
              </a:rPr>
              <a:t>may be negative</a:t>
            </a:r>
            <a:r>
              <a:rPr lang="en-US" sz="2400" dirty="0"/>
              <a:t>,</a:t>
            </a:r>
          </a:p>
          <a:p>
            <a:r>
              <a:rPr lang="en-US" sz="2400" dirty="0" smtClean="0"/>
              <a:t>If </a:t>
            </a:r>
            <a:r>
              <a:rPr lang="en-US" sz="2400" dirty="0"/>
              <a:t>a semaphore value is negative, its </a:t>
            </a:r>
            <a:r>
              <a:rPr lang="en-US" sz="2400" dirty="0" smtClean="0"/>
              <a:t>magnitude is </a:t>
            </a:r>
            <a:r>
              <a:rPr lang="en-US" sz="2400" dirty="0"/>
              <a:t>the </a:t>
            </a:r>
            <a:r>
              <a:rPr lang="en-US" sz="2400" dirty="0" smtClean="0">
                <a:solidFill>
                  <a:srgbClr val="C00000"/>
                </a:solidFill>
              </a:rPr>
              <a:t>no </a:t>
            </a:r>
            <a:r>
              <a:rPr lang="en-US" sz="2400" dirty="0">
                <a:solidFill>
                  <a:srgbClr val="C00000"/>
                </a:solidFill>
              </a:rPr>
              <a:t>of processes waiting on that semaphore</a:t>
            </a:r>
            <a:r>
              <a:rPr lang="en-US" sz="2400" dirty="0" smtClean="0">
                <a:solidFill>
                  <a:srgbClr val="C00000"/>
                </a:solidFill>
              </a:rPr>
              <a:t>.</a:t>
            </a:r>
          </a:p>
          <a:p>
            <a:endParaRPr lang="en-US" sz="2400" dirty="0"/>
          </a:p>
          <a:p>
            <a:r>
              <a:rPr lang="en-US" sz="2400" dirty="0"/>
              <a:t>Semaphore values are </a:t>
            </a:r>
            <a:r>
              <a:rPr lang="en-US" sz="2400" dirty="0">
                <a:solidFill>
                  <a:srgbClr val="C00000"/>
                </a:solidFill>
              </a:rPr>
              <a:t>never negative under the classical definition </a:t>
            </a:r>
            <a:r>
              <a:rPr lang="en-US" sz="2400" dirty="0"/>
              <a:t>of semaphores with busy waiting. </a:t>
            </a:r>
          </a:p>
          <a:p>
            <a:endParaRPr lang="en-US" sz="2400" dirty="0" smtClean="0"/>
          </a:p>
        </p:txBody>
      </p:sp>
    </p:spTree>
    <p:extLst>
      <p:ext uri="{BB962C8B-B14F-4D97-AF65-F5344CB8AC3E}">
        <p14:creationId xmlns:p14="http://schemas.microsoft.com/office/powerpoint/2010/main" val="267746925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Implementation with no busy waiting</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1018910"/>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97911879-1E13-49C4-892A-22667B76C76A}" type="datetime1">
              <a:rPr lang="en-US" smtClean="0"/>
              <a:t>11/11/2024</a:t>
            </a:fld>
            <a:endParaRPr lang="en-US"/>
          </a:p>
        </p:txBody>
      </p:sp>
      <p:sp>
        <p:nvSpPr>
          <p:cNvPr id="12" name="Subtitle 2">
            <a:extLst>
              <a:ext uri="{FF2B5EF4-FFF2-40B4-BE49-F238E27FC236}">
                <a16:creationId xmlns="" xmlns:a16="http://schemas.microsoft.com/office/drawing/2014/main" id="{5AB99583-1BD7-4DF1-9DBD-299F1C8E7BF2}"/>
              </a:ext>
            </a:extLst>
          </p:cNvPr>
          <p:cNvSpPr txBox="1">
            <a:spLocks/>
          </p:cNvSpPr>
          <p:nvPr/>
        </p:nvSpPr>
        <p:spPr>
          <a:xfrm>
            <a:off x="1310185" y="953778"/>
            <a:ext cx="9827047" cy="4487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The list of waiting processes can be easily implemented by </a:t>
            </a:r>
            <a:endParaRPr lang="en-US" sz="2400" dirty="0" smtClean="0"/>
          </a:p>
          <a:p>
            <a:pPr lvl="1"/>
            <a:r>
              <a:rPr lang="en-US" dirty="0" smtClean="0">
                <a:solidFill>
                  <a:srgbClr val="C00000"/>
                </a:solidFill>
              </a:rPr>
              <a:t>a </a:t>
            </a:r>
            <a:r>
              <a:rPr lang="en-US" dirty="0">
                <a:solidFill>
                  <a:srgbClr val="C00000"/>
                </a:solidFill>
              </a:rPr>
              <a:t>link field </a:t>
            </a:r>
            <a:r>
              <a:rPr lang="en-US" dirty="0" smtClean="0"/>
              <a:t>in each </a:t>
            </a:r>
            <a:r>
              <a:rPr lang="en-US" dirty="0"/>
              <a:t>process control block </a:t>
            </a:r>
            <a:r>
              <a:rPr lang="en-US" dirty="0">
                <a:solidFill>
                  <a:srgbClr val="C00000"/>
                </a:solidFill>
              </a:rPr>
              <a:t>(PCB). </a:t>
            </a:r>
            <a:endParaRPr lang="en-US" dirty="0" smtClean="0">
              <a:solidFill>
                <a:srgbClr val="C00000"/>
              </a:solidFill>
            </a:endParaRPr>
          </a:p>
          <a:p>
            <a:r>
              <a:rPr lang="en-US" sz="2400" dirty="0" smtClean="0"/>
              <a:t>Each </a:t>
            </a:r>
            <a:r>
              <a:rPr lang="en-US" sz="2400" dirty="0"/>
              <a:t>semaphore contains </a:t>
            </a:r>
            <a:endParaRPr lang="en-US" sz="2400" dirty="0" smtClean="0"/>
          </a:p>
          <a:p>
            <a:pPr lvl="1"/>
            <a:r>
              <a:rPr lang="en-US" dirty="0" smtClean="0"/>
              <a:t>an </a:t>
            </a:r>
            <a:r>
              <a:rPr lang="en-US" dirty="0"/>
              <a:t>integer value and</a:t>
            </a:r>
          </a:p>
          <a:p>
            <a:pPr lvl="1"/>
            <a:r>
              <a:rPr lang="en-US" dirty="0"/>
              <a:t>a pointer to a list of PCBs. </a:t>
            </a:r>
            <a:endParaRPr lang="en-US" dirty="0" smtClean="0"/>
          </a:p>
          <a:p>
            <a:r>
              <a:rPr lang="en-US" sz="2400" dirty="0" smtClean="0"/>
              <a:t>One </a:t>
            </a:r>
            <a:r>
              <a:rPr lang="en-US" sz="2400" dirty="0"/>
              <a:t>way to </a:t>
            </a:r>
            <a:r>
              <a:rPr lang="en-US" sz="2400" dirty="0">
                <a:solidFill>
                  <a:srgbClr val="C00000"/>
                </a:solidFill>
              </a:rPr>
              <a:t>add and </a:t>
            </a:r>
            <a:r>
              <a:rPr lang="en-US" sz="2400" dirty="0" smtClean="0">
                <a:solidFill>
                  <a:srgbClr val="C00000"/>
                </a:solidFill>
              </a:rPr>
              <a:t>remove </a:t>
            </a:r>
            <a:r>
              <a:rPr lang="en-US" sz="2400" dirty="0">
                <a:solidFill>
                  <a:srgbClr val="C00000"/>
                </a:solidFill>
              </a:rPr>
              <a:t>processes from the </a:t>
            </a:r>
            <a:r>
              <a:rPr lang="en-US" sz="2400" dirty="0" smtClean="0">
                <a:solidFill>
                  <a:srgbClr val="C00000"/>
                </a:solidFill>
              </a:rPr>
              <a:t>list </a:t>
            </a:r>
          </a:p>
          <a:p>
            <a:pPr lvl="1"/>
            <a:r>
              <a:rPr lang="en-US" dirty="0" smtClean="0"/>
              <a:t>so </a:t>
            </a:r>
            <a:r>
              <a:rPr lang="en-US" dirty="0"/>
              <a:t>as to ensure bounded waiting is to use a </a:t>
            </a:r>
            <a:r>
              <a:rPr lang="en-US" dirty="0">
                <a:solidFill>
                  <a:srgbClr val="C00000"/>
                </a:solidFill>
              </a:rPr>
              <a:t>FIFO queue, </a:t>
            </a:r>
            <a:endParaRPr lang="en-US" dirty="0" smtClean="0">
              <a:solidFill>
                <a:srgbClr val="C00000"/>
              </a:solidFill>
            </a:endParaRPr>
          </a:p>
          <a:p>
            <a:pPr lvl="1"/>
            <a:r>
              <a:rPr lang="en-US" dirty="0" smtClean="0"/>
              <a:t>where </a:t>
            </a:r>
            <a:r>
              <a:rPr lang="en-US" dirty="0"/>
              <a:t>the </a:t>
            </a:r>
            <a:r>
              <a:rPr lang="en-US" dirty="0" smtClean="0"/>
              <a:t>semaphore contains </a:t>
            </a:r>
            <a:r>
              <a:rPr lang="en-US" dirty="0"/>
              <a:t>both head and tail pointers to the queue. </a:t>
            </a:r>
            <a:endParaRPr lang="en-US" dirty="0" smtClean="0"/>
          </a:p>
          <a:p>
            <a:pPr lvl="1"/>
            <a:r>
              <a:rPr lang="en-US" dirty="0" smtClean="0"/>
              <a:t>In </a:t>
            </a:r>
            <a:r>
              <a:rPr lang="en-US" dirty="0"/>
              <a:t>general</a:t>
            </a:r>
            <a:r>
              <a:rPr lang="en-US" dirty="0" smtClean="0"/>
              <a:t>, </a:t>
            </a:r>
            <a:r>
              <a:rPr lang="en-US" dirty="0"/>
              <a:t>the </a:t>
            </a:r>
            <a:r>
              <a:rPr lang="en-US" dirty="0" smtClean="0"/>
              <a:t>list can </a:t>
            </a:r>
            <a:r>
              <a:rPr lang="en-US" dirty="0"/>
              <a:t>use </a:t>
            </a:r>
            <a:r>
              <a:rPr lang="en-US" i="1" dirty="0"/>
              <a:t>any </a:t>
            </a:r>
            <a:r>
              <a:rPr lang="en-US" dirty="0"/>
              <a:t>queueing strategy.</a:t>
            </a:r>
            <a:endParaRPr lang="en-US" dirty="0" smtClean="0"/>
          </a:p>
        </p:txBody>
      </p:sp>
    </p:spTree>
    <p:extLst>
      <p:ext uri="{BB962C8B-B14F-4D97-AF65-F5344CB8AC3E}">
        <p14:creationId xmlns:p14="http://schemas.microsoft.com/office/powerpoint/2010/main" val="2289160608"/>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IN" dirty="0" smtClean="0"/>
              <a:t>Dining Philosophers problem</a:t>
            </a:r>
            <a:endParaRPr lang="en-IN" dirty="0"/>
          </a:p>
        </p:txBody>
      </p:sp>
      <p:sp>
        <p:nvSpPr>
          <p:cNvPr id="6" name="Subtitle 5"/>
          <p:cNvSpPr>
            <a:spLocks noGrp="1"/>
          </p:cNvSpPr>
          <p:nvPr>
            <p:ph type="subTitle" idx="1"/>
          </p:nvPr>
        </p:nvSpPr>
        <p:spPr/>
        <p:txBody>
          <a:bodyPr/>
          <a:lstStyle/>
          <a:p>
            <a:r>
              <a:rPr lang="en-IN" dirty="0" smtClean="0"/>
              <a:t>A solution of semaphores</a:t>
            </a:r>
          </a:p>
          <a:p>
            <a:endParaRPr lang="en-IN" dirty="0"/>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pic>
        <p:nvPicPr>
          <p:cNvPr id="7" name="Picture 6">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8" name="Picture 7">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9"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pic>
        <p:nvPicPr>
          <p:cNvPr id="10" name="Picture 9"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Tree>
    <p:extLst>
      <p:ext uri="{BB962C8B-B14F-4D97-AF65-F5344CB8AC3E}">
        <p14:creationId xmlns:p14="http://schemas.microsoft.com/office/powerpoint/2010/main" val="53608996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Dining-Philosophers Problem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BE2AA4EB-D503-497B-8238-A35B368E4878}" type="datetime1">
              <a:rPr lang="en-US" smtClean="0"/>
              <a:t>11/11/2024</a:t>
            </a:fld>
            <a:endParaRPr lang="en-US"/>
          </a:p>
        </p:txBody>
      </p:sp>
      <p:sp>
        <p:nvSpPr>
          <p:cNvPr id="12" name="Rectangle 3"/>
          <p:cNvSpPr txBox="1">
            <a:spLocks noChangeArrowheads="1"/>
          </p:cNvSpPr>
          <p:nvPr/>
        </p:nvSpPr>
        <p:spPr>
          <a:xfrm>
            <a:off x="669758" y="2864514"/>
            <a:ext cx="9888686" cy="27654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65250" algn="l"/>
                <a:tab pos="1538288" algn="l"/>
              </a:tabLst>
            </a:pPr>
            <a:r>
              <a:rPr lang="en-US" altLang="en-US" sz="2400" dirty="0" smtClean="0">
                <a:latin typeface="Marcellus"/>
              </a:rPr>
              <a:t>Philosophers spend their lives alternating thinking and eating</a:t>
            </a:r>
          </a:p>
          <a:p>
            <a:pPr>
              <a:tabLst>
                <a:tab pos="1365250" algn="l"/>
                <a:tab pos="1538288" algn="l"/>
              </a:tabLst>
            </a:pPr>
            <a:r>
              <a:rPr lang="en-US" altLang="ja-JP" sz="2400" dirty="0" smtClean="0">
                <a:latin typeface="Marcellus"/>
              </a:rPr>
              <a:t>When </a:t>
            </a:r>
            <a:r>
              <a:rPr lang="en-US" altLang="ja-JP" sz="2400" dirty="0">
                <a:latin typeface="Marcellus"/>
              </a:rPr>
              <a:t>thinking</a:t>
            </a:r>
          </a:p>
          <a:p>
            <a:pPr lvl="1">
              <a:tabLst>
                <a:tab pos="1365250" algn="l"/>
                <a:tab pos="1538288" algn="l"/>
              </a:tabLst>
            </a:pPr>
            <a:r>
              <a:rPr lang="en-US" altLang="en-US" dirty="0" smtClean="0">
                <a:latin typeface="Marcellus"/>
              </a:rPr>
              <a:t>Don’</a:t>
            </a:r>
            <a:r>
              <a:rPr lang="en-US" altLang="ja-JP" dirty="0" smtClean="0">
                <a:latin typeface="Marcellus"/>
              </a:rPr>
              <a:t>t interact with their neighbors </a:t>
            </a:r>
          </a:p>
          <a:p>
            <a:pPr>
              <a:tabLst>
                <a:tab pos="1365250" algn="l"/>
                <a:tab pos="1538288" algn="l"/>
              </a:tabLst>
            </a:pPr>
            <a:r>
              <a:rPr lang="en-US" altLang="ja-JP" sz="2400" dirty="0" smtClean="0">
                <a:latin typeface="Marcellus"/>
              </a:rPr>
              <a:t>When hungry-</a:t>
            </a:r>
          </a:p>
          <a:p>
            <a:pPr lvl="1">
              <a:tabLst>
                <a:tab pos="1365250" algn="l"/>
                <a:tab pos="1538288" algn="l"/>
              </a:tabLst>
            </a:pPr>
            <a:r>
              <a:rPr lang="en-US" altLang="ja-JP" dirty="0">
                <a:latin typeface="Marcellus"/>
              </a:rPr>
              <a:t>A philosopher needs both their right and left chopstick to eat. </a:t>
            </a:r>
            <a:endParaRPr lang="en-US" altLang="ja-JP" dirty="0" smtClean="0">
              <a:latin typeface="Marcellus"/>
            </a:endParaRPr>
          </a:p>
          <a:p>
            <a:pPr lvl="1">
              <a:tabLst>
                <a:tab pos="1365250" algn="l"/>
                <a:tab pos="1538288" algn="l"/>
              </a:tabLst>
            </a:pPr>
            <a:r>
              <a:rPr lang="en-US" altLang="ja-JP" dirty="0" smtClean="0">
                <a:latin typeface="Marcellus"/>
              </a:rPr>
              <a:t>A </a:t>
            </a:r>
            <a:r>
              <a:rPr lang="en-US" altLang="ja-JP" dirty="0">
                <a:latin typeface="Marcellus"/>
              </a:rPr>
              <a:t>hungry philosopher may only eat if there are both chopsticks </a:t>
            </a:r>
            <a:r>
              <a:rPr lang="en-US" altLang="ja-JP" dirty="0" smtClean="0">
                <a:latin typeface="Marcellus"/>
              </a:rPr>
              <a:t>available</a:t>
            </a:r>
          </a:p>
        </p:txBody>
      </p:sp>
      <p:pic>
        <p:nvPicPr>
          <p:cNvPr id="14" name="Picture 5"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7551" y="1079500"/>
            <a:ext cx="2944283"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THE DINING PHILOSOPHERS PROBLEM"/>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67819" y="1022351"/>
            <a:ext cx="23812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761758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Dining-Philosophers Problem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EA7177C6-2EA2-48EB-8309-32FBEDEC08EB}" type="datetime1">
              <a:rPr lang="en-US" smtClean="0"/>
              <a:t>11/11/2024</a:t>
            </a:fld>
            <a:endParaRPr lang="en-US"/>
          </a:p>
        </p:txBody>
      </p:sp>
      <p:sp>
        <p:nvSpPr>
          <p:cNvPr id="12" name="Rectangle 3"/>
          <p:cNvSpPr txBox="1">
            <a:spLocks noChangeArrowheads="1"/>
          </p:cNvSpPr>
          <p:nvPr/>
        </p:nvSpPr>
        <p:spPr>
          <a:xfrm>
            <a:off x="1238251" y="3403601"/>
            <a:ext cx="9211733" cy="27654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65250" algn="l"/>
                <a:tab pos="1538288" algn="l"/>
              </a:tabLst>
            </a:pPr>
            <a:r>
              <a:rPr lang="en-US" altLang="ja-JP" sz="2400" dirty="0" smtClean="0">
                <a:latin typeface="Marcellus"/>
              </a:rPr>
              <a:t>Occasionally try to pick up 2 chopsticks that are closest to her to eat from bowl</a:t>
            </a:r>
          </a:p>
          <a:p>
            <a:pPr lvl="1">
              <a:tabLst>
                <a:tab pos="1365250" algn="l"/>
                <a:tab pos="1538288" algn="l"/>
              </a:tabLst>
            </a:pPr>
            <a:r>
              <a:rPr lang="en-US" altLang="en-US" dirty="0" smtClean="0">
                <a:latin typeface="Marcellus"/>
              </a:rPr>
              <a:t>Chopsticks that are between her and her left and right neighbor</a:t>
            </a:r>
          </a:p>
          <a:p>
            <a:pPr lvl="1">
              <a:tabLst>
                <a:tab pos="1365250" algn="l"/>
                <a:tab pos="1538288" algn="l"/>
              </a:tabLst>
            </a:pPr>
            <a:r>
              <a:rPr lang="en-US" altLang="ja-JP" dirty="0" smtClean="0">
                <a:latin typeface="Marcellus"/>
              </a:rPr>
              <a:t>Pick up only one </a:t>
            </a:r>
            <a:r>
              <a:rPr lang="en-US" altLang="ja-JP" dirty="0">
                <a:latin typeface="Marcellus"/>
              </a:rPr>
              <a:t>at a </a:t>
            </a:r>
            <a:r>
              <a:rPr lang="en-US" altLang="ja-JP" dirty="0" smtClean="0">
                <a:latin typeface="Marcellus"/>
              </a:rPr>
              <a:t>time</a:t>
            </a:r>
            <a:endParaRPr lang="en-US" altLang="en-US" dirty="0" smtClean="0">
              <a:latin typeface="Marcellus"/>
            </a:endParaRPr>
          </a:p>
          <a:p>
            <a:pPr lvl="1">
              <a:tabLst>
                <a:tab pos="1365250" algn="l"/>
                <a:tab pos="1538288" algn="l"/>
              </a:tabLst>
            </a:pPr>
            <a:r>
              <a:rPr lang="en-US" altLang="en-US" dirty="0" smtClean="0">
                <a:latin typeface="Marcellus"/>
              </a:rPr>
              <a:t>Need both to eat, then release both when done</a:t>
            </a:r>
          </a:p>
        </p:txBody>
      </p:sp>
      <p:pic>
        <p:nvPicPr>
          <p:cNvPr id="14" name="Picture 5"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7551" y="1079500"/>
            <a:ext cx="2944283"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00475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Dining-Philosophers Problem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7B09048E-E932-474F-A1EC-5D14E6F1F006}" type="datetime1">
              <a:rPr lang="en-US" smtClean="0"/>
              <a:t>11/11/2024</a:t>
            </a:fld>
            <a:endParaRPr lang="en-US"/>
          </a:p>
        </p:txBody>
      </p:sp>
      <p:sp>
        <p:nvSpPr>
          <p:cNvPr id="12" name="Rectangle 3"/>
          <p:cNvSpPr txBox="1">
            <a:spLocks noChangeArrowheads="1"/>
          </p:cNvSpPr>
          <p:nvPr/>
        </p:nvSpPr>
        <p:spPr>
          <a:xfrm>
            <a:off x="1238251" y="3403601"/>
            <a:ext cx="9211733" cy="27654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65250" algn="l"/>
                <a:tab pos="1538288" algn="l"/>
              </a:tabLst>
            </a:pPr>
            <a:r>
              <a:rPr lang="en-US" altLang="en-US" sz="2400" dirty="0" smtClean="0">
                <a:latin typeface="Marcellus"/>
              </a:rPr>
              <a:t>Classic Synchronization problem</a:t>
            </a:r>
          </a:p>
          <a:p>
            <a:pPr>
              <a:tabLst>
                <a:tab pos="1365250" algn="l"/>
                <a:tab pos="1538288" algn="l"/>
              </a:tabLst>
            </a:pPr>
            <a:r>
              <a:rPr lang="en-US" altLang="en-US" sz="2400" dirty="0" smtClean="0">
                <a:latin typeface="Marcellus"/>
              </a:rPr>
              <a:t>Example of large class of concurrency control problems</a:t>
            </a:r>
          </a:p>
          <a:p>
            <a:pPr>
              <a:tabLst>
                <a:tab pos="1365250" algn="l"/>
                <a:tab pos="1538288" algn="l"/>
              </a:tabLst>
            </a:pPr>
            <a:r>
              <a:rPr lang="en-US" altLang="en-US" sz="2400" dirty="0" smtClean="0">
                <a:latin typeface="Marcellus"/>
              </a:rPr>
              <a:t>Represents the need to allocate several resources among several processes </a:t>
            </a:r>
          </a:p>
          <a:p>
            <a:pPr lvl="1">
              <a:tabLst>
                <a:tab pos="1365250" algn="l"/>
                <a:tab pos="1538288" algn="l"/>
              </a:tabLst>
            </a:pPr>
            <a:r>
              <a:rPr lang="en-US" altLang="en-US" dirty="0" smtClean="0">
                <a:latin typeface="Marcellus"/>
              </a:rPr>
              <a:t>in a deadlock free and starvation free manner</a:t>
            </a:r>
          </a:p>
        </p:txBody>
      </p:sp>
      <p:pic>
        <p:nvPicPr>
          <p:cNvPr id="14" name="Picture 5"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7551" y="1079500"/>
            <a:ext cx="2944283"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852678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Dining-Philosophers Problem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C0B053CF-7DBA-4172-AC8F-D08634542461}" type="datetime1">
              <a:rPr lang="en-US" smtClean="0"/>
              <a:t>11/11/2024</a:t>
            </a:fld>
            <a:endParaRPr lang="en-US"/>
          </a:p>
        </p:txBody>
      </p:sp>
      <p:sp>
        <p:nvSpPr>
          <p:cNvPr id="12" name="Rectangle 3"/>
          <p:cNvSpPr txBox="1">
            <a:spLocks noChangeArrowheads="1"/>
          </p:cNvSpPr>
          <p:nvPr/>
        </p:nvSpPr>
        <p:spPr>
          <a:xfrm>
            <a:off x="1238251" y="3403601"/>
            <a:ext cx="9211733" cy="27654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65250" algn="l"/>
                <a:tab pos="1538288" algn="l"/>
              </a:tabLst>
            </a:pPr>
            <a:r>
              <a:rPr lang="en-US" altLang="en-US" sz="2400" dirty="0" smtClean="0">
                <a:latin typeface="Marcellus"/>
              </a:rPr>
              <a:t>5 Philosophers share a common circular table</a:t>
            </a:r>
          </a:p>
          <a:p>
            <a:pPr lvl="1">
              <a:tabLst>
                <a:tab pos="1365250" algn="l"/>
                <a:tab pos="1538288" algn="l"/>
              </a:tabLst>
            </a:pPr>
            <a:r>
              <a:rPr lang="en-US" altLang="en-US" dirty="0" smtClean="0">
                <a:latin typeface="Marcellus"/>
              </a:rPr>
              <a:t>Surrounded by 5 chairs=each belonging to one philosopher</a:t>
            </a:r>
          </a:p>
          <a:p>
            <a:pPr lvl="1">
              <a:tabLst>
                <a:tab pos="1365250" algn="l"/>
                <a:tab pos="1538288" algn="l"/>
              </a:tabLst>
            </a:pPr>
            <a:r>
              <a:rPr lang="en-US" altLang="en-US" dirty="0" smtClean="0">
                <a:latin typeface="Marcellus"/>
              </a:rPr>
              <a:t>Center of table -&gt;Bowl of rice</a:t>
            </a:r>
          </a:p>
          <a:p>
            <a:pPr lvl="1">
              <a:tabLst>
                <a:tab pos="1365250" algn="l"/>
                <a:tab pos="1538288" algn="l"/>
              </a:tabLst>
            </a:pPr>
            <a:r>
              <a:rPr lang="en-US" altLang="en-US" dirty="0" smtClean="0">
                <a:latin typeface="Marcellus"/>
              </a:rPr>
              <a:t>Five single chopsticks</a:t>
            </a:r>
          </a:p>
          <a:p>
            <a:pPr lvl="1">
              <a:tabLst>
                <a:tab pos="1365250" algn="l"/>
                <a:tab pos="1538288" algn="l"/>
              </a:tabLst>
            </a:pPr>
            <a:r>
              <a:rPr lang="en-US" altLang="en-US" dirty="0" smtClean="0">
                <a:latin typeface="Marcellus"/>
              </a:rPr>
              <a:t>Shared data </a:t>
            </a:r>
          </a:p>
          <a:p>
            <a:pPr lvl="2">
              <a:tabLst>
                <a:tab pos="1365250" algn="l"/>
                <a:tab pos="1538288" algn="l"/>
              </a:tabLst>
            </a:pPr>
            <a:r>
              <a:rPr lang="en-US" altLang="en-US" sz="2400" dirty="0" smtClean="0">
                <a:latin typeface="Marcellus"/>
              </a:rPr>
              <a:t>Bowl of rice (data set)</a:t>
            </a:r>
          </a:p>
          <a:p>
            <a:pPr lvl="2">
              <a:tabLst>
                <a:tab pos="1365250" algn="l"/>
                <a:tab pos="1538288" algn="l"/>
              </a:tabLst>
            </a:pPr>
            <a:r>
              <a:rPr lang="en-US" altLang="en-US" sz="2400" dirty="0" smtClean="0">
                <a:latin typeface="Marcellus"/>
              </a:rPr>
              <a:t>Semaphore </a:t>
            </a:r>
            <a:r>
              <a:rPr lang="en-US" altLang="en-US" sz="2400" dirty="0" smtClean="0">
                <a:solidFill>
                  <a:srgbClr val="FF0000"/>
                </a:solidFill>
                <a:latin typeface="Marcellus"/>
              </a:rPr>
              <a:t>chopstick [5]</a:t>
            </a:r>
            <a:r>
              <a:rPr lang="en-US" altLang="en-US" sz="2400" dirty="0" smtClean="0">
                <a:latin typeface="Marcellus"/>
              </a:rPr>
              <a:t> initialized to 1</a:t>
            </a:r>
          </a:p>
          <a:p>
            <a:pPr lvl="1">
              <a:tabLst>
                <a:tab pos="1365250" algn="l"/>
                <a:tab pos="1538288" algn="l"/>
              </a:tabLst>
            </a:pPr>
            <a:endParaRPr lang="en-US" altLang="en-US" sz="2800" dirty="0" smtClean="0">
              <a:latin typeface="Marcellus"/>
            </a:endParaRPr>
          </a:p>
        </p:txBody>
      </p:sp>
      <p:pic>
        <p:nvPicPr>
          <p:cNvPr id="14" name="Picture 5"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7551" y="1079500"/>
            <a:ext cx="2944283"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descr="https://media.geeksforgeeks.org/wp-content/uploads/dining_philosopher_problem.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78346" y="711200"/>
            <a:ext cx="3343275"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172788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smtClean="0">
                <a:solidFill>
                  <a:srgbClr val="C00000"/>
                </a:solidFill>
                <a:latin typeface="Marcellus" panose="020E0602050203020307" pitchFamily="34" charset="0"/>
              </a:rPr>
              <a:t>Semaphore Solution for Dining-Philosophers </a:t>
            </a:r>
            <a:r>
              <a:rPr lang="en-US" sz="3200" dirty="0">
                <a:solidFill>
                  <a:srgbClr val="C00000"/>
                </a:solidFill>
                <a:latin typeface="Marcellus" panose="020E0602050203020307" pitchFamily="34" charset="0"/>
              </a:rPr>
              <a:t>Problem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164F9432-A4C6-4E81-882A-EAC985707097}" type="datetime1">
              <a:rPr lang="en-US" smtClean="0"/>
              <a:t>11/11/2024</a:t>
            </a:fld>
            <a:endParaRPr lang="en-US"/>
          </a:p>
        </p:txBody>
      </p:sp>
      <p:sp>
        <p:nvSpPr>
          <p:cNvPr id="12" name="Rectangle 3"/>
          <p:cNvSpPr txBox="1">
            <a:spLocks noChangeArrowheads="1"/>
          </p:cNvSpPr>
          <p:nvPr/>
        </p:nvSpPr>
        <p:spPr>
          <a:xfrm>
            <a:off x="1238251" y="3403601"/>
            <a:ext cx="9211733" cy="27654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1365250" algn="l"/>
                <a:tab pos="1538288" algn="l"/>
              </a:tabLst>
            </a:pPr>
            <a:r>
              <a:rPr lang="en-US" altLang="en-US" sz="2400" dirty="0" smtClean="0">
                <a:latin typeface="Marcellus"/>
              </a:rPr>
              <a:t>Grab the chopstick –By Executing wait operation on the semaphore</a:t>
            </a:r>
          </a:p>
          <a:p>
            <a:pPr>
              <a:tabLst>
                <a:tab pos="1365250" algn="l"/>
                <a:tab pos="1538288" algn="l"/>
              </a:tabLst>
            </a:pPr>
            <a:r>
              <a:rPr lang="en-US" altLang="en-US" sz="2400" dirty="0" smtClean="0">
                <a:latin typeface="Marcellus"/>
              </a:rPr>
              <a:t>Release the chopstick-By executing the signal operation on the appropriate semaphore</a:t>
            </a:r>
          </a:p>
          <a:p>
            <a:pPr marL="228600" lvl="2">
              <a:spcBef>
                <a:spcPts val="1000"/>
              </a:spcBef>
              <a:tabLst>
                <a:tab pos="1365250" algn="l"/>
                <a:tab pos="1538288" algn="l"/>
              </a:tabLst>
            </a:pPr>
            <a:r>
              <a:rPr lang="en-US" altLang="en-US" sz="2400" dirty="0">
                <a:latin typeface="Marcellus"/>
              </a:rPr>
              <a:t>Semaphore </a:t>
            </a:r>
            <a:r>
              <a:rPr lang="en-US" altLang="en-US" sz="2400" dirty="0">
                <a:solidFill>
                  <a:srgbClr val="FF0000"/>
                </a:solidFill>
                <a:latin typeface="Marcellus"/>
              </a:rPr>
              <a:t>chopstick [5]</a:t>
            </a:r>
            <a:r>
              <a:rPr lang="en-US" altLang="en-US" sz="2400" dirty="0">
                <a:latin typeface="Marcellus"/>
              </a:rPr>
              <a:t> initialized to 1</a:t>
            </a:r>
          </a:p>
          <a:p>
            <a:pPr>
              <a:tabLst>
                <a:tab pos="1365250" algn="l"/>
                <a:tab pos="1538288" algn="l"/>
              </a:tabLst>
            </a:pPr>
            <a:endParaRPr lang="en-US" altLang="en-US" sz="2400" dirty="0" smtClean="0">
              <a:latin typeface="Marcellus"/>
            </a:endParaRPr>
          </a:p>
        </p:txBody>
      </p:sp>
      <p:pic>
        <p:nvPicPr>
          <p:cNvPr id="14" name="Picture 5"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7551" y="1079500"/>
            <a:ext cx="2944283"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920290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fontScale="90000"/>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310CE64C-D7C3-4BA1-8967-D4092C8E3D61}" type="datetime1">
              <a:rPr lang="en-US" smtClean="0"/>
              <a:t>11/11/2024</a:t>
            </a:fld>
            <a:endParaRPr lang="en-US"/>
          </a:p>
        </p:txBody>
      </p:sp>
      <p:sp>
        <p:nvSpPr>
          <p:cNvPr id="13" name="Rectangle 3"/>
          <p:cNvSpPr txBox="1">
            <a:spLocks noChangeArrowheads="1"/>
          </p:cNvSpPr>
          <p:nvPr/>
        </p:nvSpPr>
        <p:spPr>
          <a:xfrm>
            <a:off x="37638" y="907574"/>
            <a:ext cx="9476316" cy="4784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76238" indent="-376238">
              <a:tabLst>
                <a:tab pos="1709738" algn="l"/>
                <a:tab pos="2001838" algn="l"/>
                <a:tab pos="2227263" algn="l"/>
                <a:tab pos="2454275" algn="l"/>
              </a:tabLst>
            </a:pPr>
            <a:r>
              <a:rPr lang="en-US" altLang="en-US" dirty="0" smtClean="0"/>
              <a:t>The structure of Philosopher</a:t>
            </a:r>
            <a:r>
              <a:rPr lang="en-US" altLang="en-US" i="1" dirty="0" smtClean="0">
                <a:solidFill>
                  <a:srgbClr val="0000FF"/>
                </a:solidFill>
              </a:rPr>
              <a:t> i</a:t>
            </a:r>
            <a:r>
              <a:rPr lang="en-US" altLang="en-US" dirty="0" smtClean="0"/>
              <a:t>:</a:t>
            </a:r>
          </a:p>
          <a:p>
            <a:pPr marL="1195388" lvl="2" indent="-338138">
              <a:buFont typeface="Webdings" pitchFamily="18" charset="2"/>
              <a:buNone/>
              <a:tabLst>
                <a:tab pos="1709738" algn="l"/>
                <a:tab pos="2001838" algn="l"/>
                <a:tab pos="2227263" algn="l"/>
                <a:tab pos="2454275" algn="l"/>
              </a:tabLst>
            </a:pPr>
            <a:r>
              <a:rPr lang="en-US" altLang="en-US" sz="1600" b="1" dirty="0" smtClean="0">
                <a:solidFill>
                  <a:srgbClr val="000000"/>
                </a:solidFill>
                <a:latin typeface="Courier New" pitchFamily="49" charset="0"/>
              </a:rPr>
              <a:t>do { </a:t>
            </a:r>
          </a:p>
          <a:p>
            <a:pPr marL="1195388" lvl="2" indent="-338138">
              <a:buFont typeface="Webdings" pitchFamily="18" charset="2"/>
              <a:buNone/>
              <a:tabLst>
                <a:tab pos="1709738" algn="l"/>
                <a:tab pos="2001838" algn="l"/>
                <a:tab pos="2227263" algn="l"/>
                <a:tab pos="2454275" algn="l"/>
              </a:tabLst>
            </a:pPr>
            <a:r>
              <a:rPr lang="en-US" altLang="en-US" sz="1600" b="1" dirty="0" smtClean="0">
                <a:solidFill>
                  <a:srgbClr val="000000"/>
                </a:solidFill>
                <a:latin typeface="Courier New" pitchFamily="49" charset="0"/>
              </a:rPr>
              <a:t>    wait (chopstick[</a:t>
            </a:r>
            <a:r>
              <a:rPr lang="en-US" altLang="en-US" sz="1600" b="1" dirty="0" err="1" smtClean="0">
                <a:solidFill>
                  <a:srgbClr val="000000"/>
                </a:solidFill>
                <a:latin typeface="Courier New" pitchFamily="49" charset="0"/>
              </a:rPr>
              <a:t>i</a:t>
            </a:r>
            <a:r>
              <a:rPr lang="en-US" altLang="en-US" sz="1600" b="1" dirty="0" smtClean="0">
                <a:solidFill>
                  <a:srgbClr val="000000"/>
                </a:solidFill>
                <a:latin typeface="Courier New" pitchFamily="49" charset="0"/>
              </a:rPr>
              <a:t>] );</a:t>
            </a:r>
          </a:p>
          <a:p>
            <a:pPr marL="1195388" lvl="2" indent="-338138">
              <a:buFont typeface="Webdings" pitchFamily="18" charset="2"/>
              <a:buNone/>
              <a:tabLst>
                <a:tab pos="1709738" algn="l"/>
                <a:tab pos="2001838" algn="l"/>
                <a:tab pos="2227263" algn="l"/>
                <a:tab pos="2454275" algn="l"/>
              </a:tabLst>
            </a:pPr>
            <a:r>
              <a:rPr lang="en-US" altLang="en-US" sz="1600" b="1" dirty="0" smtClean="0">
                <a:solidFill>
                  <a:srgbClr val="000000"/>
                </a:solidFill>
                <a:latin typeface="Courier New" pitchFamily="49" charset="0"/>
              </a:rPr>
              <a:t>	  wait (</a:t>
            </a:r>
            <a:r>
              <a:rPr lang="en-US" altLang="en-US" sz="1600" b="1" dirty="0" err="1" smtClean="0">
                <a:solidFill>
                  <a:srgbClr val="000000"/>
                </a:solidFill>
                <a:latin typeface="Courier New" pitchFamily="49" charset="0"/>
              </a:rPr>
              <a:t>chopStick</a:t>
            </a:r>
            <a:r>
              <a:rPr lang="en-US" altLang="en-US" sz="1600" b="1" dirty="0" smtClean="0">
                <a:solidFill>
                  <a:srgbClr val="000000"/>
                </a:solidFill>
                <a:latin typeface="Courier New" pitchFamily="49" charset="0"/>
              </a:rPr>
              <a:t>[ (</a:t>
            </a:r>
            <a:r>
              <a:rPr lang="en-US" altLang="en-US" sz="1600" b="1" dirty="0" err="1" smtClean="0">
                <a:solidFill>
                  <a:srgbClr val="000000"/>
                </a:solidFill>
                <a:latin typeface="Courier New" pitchFamily="49" charset="0"/>
              </a:rPr>
              <a:t>i</a:t>
            </a:r>
            <a:r>
              <a:rPr lang="en-US" altLang="en-US" sz="1600" b="1" dirty="0" smtClean="0">
                <a:solidFill>
                  <a:srgbClr val="000000"/>
                </a:solidFill>
                <a:latin typeface="Courier New" pitchFamily="49" charset="0"/>
              </a:rPr>
              <a:t> + 1) % 5] );</a:t>
            </a:r>
          </a:p>
          <a:p>
            <a:pPr marL="1195388" lvl="2" indent="-338138">
              <a:buFont typeface="Webdings" pitchFamily="18" charset="2"/>
              <a:buNone/>
              <a:tabLst>
                <a:tab pos="1709738" algn="l"/>
                <a:tab pos="2001838" algn="l"/>
                <a:tab pos="2227263" algn="l"/>
                <a:tab pos="2454275" algn="l"/>
              </a:tabLst>
            </a:pPr>
            <a:r>
              <a:rPr lang="en-US" altLang="en-US" sz="1600" b="1" dirty="0" smtClean="0">
                <a:solidFill>
                  <a:srgbClr val="000000"/>
                </a:solidFill>
                <a:latin typeface="Courier New" pitchFamily="49" charset="0"/>
              </a:rPr>
              <a:t>	</a:t>
            </a:r>
          </a:p>
          <a:p>
            <a:pPr marL="1195388" lvl="2" indent="-338138">
              <a:buFont typeface="Webdings" pitchFamily="18" charset="2"/>
              <a:buNone/>
              <a:tabLst>
                <a:tab pos="1709738" algn="l"/>
                <a:tab pos="2001838" algn="l"/>
                <a:tab pos="2227263" algn="l"/>
                <a:tab pos="2454275" algn="l"/>
              </a:tabLst>
            </a:pPr>
            <a:r>
              <a:rPr lang="en-US" altLang="en-US" sz="1600" b="1" dirty="0" smtClean="0">
                <a:solidFill>
                  <a:srgbClr val="000000"/>
                </a:solidFill>
                <a:latin typeface="Courier New" pitchFamily="49" charset="0"/>
              </a:rPr>
              <a:t>	             //  eat</a:t>
            </a:r>
          </a:p>
          <a:p>
            <a:pPr marL="1195388" lvl="2" indent="-338138">
              <a:buFont typeface="Webdings" pitchFamily="18" charset="2"/>
              <a:buNone/>
              <a:tabLst>
                <a:tab pos="1709738" algn="l"/>
                <a:tab pos="2001838" algn="l"/>
                <a:tab pos="2227263" algn="l"/>
                <a:tab pos="2454275" algn="l"/>
              </a:tabLst>
            </a:pPr>
            <a:endParaRPr lang="en-US" altLang="en-US" sz="1600" b="1" dirty="0" smtClean="0">
              <a:solidFill>
                <a:srgbClr val="000000"/>
              </a:solidFill>
              <a:latin typeface="Courier New" pitchFamily="49" charset="0"/>
            </a:endParaRPr>
          </a:p>
          <a:p>
            <a:pPr marL="1195388" lvl="2" indent="-338138">
              <a:buFont typeface="Webdings" pitchFamily="18" charset="2"/>
              <a:buNone/>
              <a:tabLst>
                <a:tab pos="1709738" algn="l"/>
                <a:tab pos="2001838" algn="l"/>
                <a:tab pos="2227263" algn="l"/>
                <a:tab pos="2454275" algn="l"/>
              </a:tabLst>
            </a:pPr>
            <a:r>
              <a:rPr lang="en-US" altLang="en-US" sz="1600" b="1" dirty="0" smtClean="0">
                <a:solidFill>
                  <a:srgbClr val="000000"/>
                </a:solidFill>
                <a:latin typeface="Courier New" pitchFamily="49" charset="0"/>
              </a:rPr>
              <a:t>	  signal (chopstick[</a:t>
            </a:r>
            <a:r>
              <a:rPr lang="en-US" altLang="en-US" sz="1600" b="1" dirty="0" err="1" smtClean="0">
                <a:solidFill>
                  <a:srgbClr val="000000"/>
                </a:solidFill>
                <a:latin typeface="Courier New" pitchFamily="49" charset="0"/>
              </a:rPr>
              <a:t>i</a:t>
            </a:r>
            <a:r>
              <a:rPr lang="en-US" altLang="en-US" sz="1600" b="1" dirty="0" smtClean="0">
                <a:solidFill>
                  <a:srgbClr val="000000"/>
                </a:solidFill>
                <a:latin typeface="Courier New" pitchFamily="49" charset="0"/>
              </a:rPr>
              <a:t>] );</a:t>
            </a:r>
          </a:p>
          <a:p>
            <a:pPr marL="1195388" lvl="2" indent="-338138">
              <a:buFont typeface="Webdings" pitchFamily="18" charset="2"/>
              <a:buNone/>
              <a:tabLst>
                <a:tab pos="1709738" algn="l"/>
                <a:tab pos="2001838" algn="l"/>
                <a:tab pos="2227263" algn="l"/>
                <a:tab pos="2454275" algn="l"/>
              </a:tabLst>
            </a:pPr>
            <a:r>
              <a:rPr lang="en-US" altLang="en-US" sz="1600" b="1" dirty="0" smtClean="0">
                <a:solidFill>
                  <a:srgbClr val="000000"/>
                </a:solidFill>
                <a:latin typeface="Courier New" pitchFamily="49" charset="0"/>
              </a:rPr>
              <a:t>	  signal (chopstick[ (</a:t>
            </a:r>
            <a:r>
              <a:rPr lang="en-US" altLang="en-US" sz="1600" b="1" dirty="0" err="1" smtClean="0">
                <a:solidFill>
                  <a:srgbClr val="000000"/>
                </a:solidFill>
                <a:latin typeface="Courier New" pitchFamily="49" charset="0"/>
              </a:rPr>
              <a:t>i</a:t>
            </a:r>
            <a:r>
              <a:rPr lang="en-US" altLang="en-US" sz="1600" b="1" dirty="0" smtClean="0">
                <a:solidFill>
                  <a:srgbClr val="000000"/>
                </a:solidFill>
                <a:latin typeface="Courier New" pitchFamily="49" charset="0"/>
              </a:rPr>
              <a:t> + 1) % 5] );</a:t>
            </a:r>
          </a:p>
          <a:p>
            <a:pPr marL="1195388" lvl="2" indent="-338138">
              <a:buFont typeface="Webdings" pitchFamily="18" charset="2"/>
              <a:buNone/>
              <a:tabLst>
                <a:tab pos="1709738" algn="l"/>
                <a:tab pos="2001838" algn="l"/>
                <a:tab pos="2227263" algn="l"/>
                <a:tab pos="2454275" algn="l"/>
              </a:tabLst>
            </a:pPr>
            <a:r>
              <a:rPr lang="en-US" altLang="en-US" sz="1600" b="1" dirty="0" smtClean="0">
                <a:solidFill>
                  <a:srgbClr val="000000"/>
                </a:solidFill>
                <a:latin typeface="Courier New" pitchFamily="49" charset="0"/>
              </a:rPr>
              <a:t>	</a:t>
            </a:r>
          </a:p>
          <a:p>
            <a:pPr marL="1195388" lvl="2" indent="-338138">
              <a:buFont typeface="Webdings" pitchFamily="18" charset="2"/>
              <a:buNone/>
              <a:tabLst>
                <a:tab pos="1709738" algn="l"/>
                <a:tab pos="2001838" algn="l"/>
                <a:tab pos="2227263" algn="l"/>
                <a:tab pos="2454275" algn="l"/>
              </a:tabLst>
            </a:pPr>
            <a:r>
              <a:rPr lang="en-US" altLang="en-US" sz="1600" b="1" dirty="0" smtClean="0">
                <a:solidFill>
                  <a:srgbClr val="000000"/>
                </a:solidFill>
                <a:latin typeface="Courier New" pitchFamily="49" charset="0"/>
              </a:rPr>
              <a:t>                 //  think</a:t>
            </a:r>
          </a:p>
          <a:p>
            <a:pPr marL="1195388" lvl="2" indent="-338138">
              <a:buFont typeface="Webdings" pitchFamily="18" charset="2"/>
              <a:buNone/>
              <a:tabLst>
                <a:tab pos="1709738" algn="l"/>
                <a:tab pos="2001838" algn="l"/>
                <a:tab pos="2227263" algn="l"/>
                <a:tab pos="2454275" algn="l"/>
              </a:tabLst>
            </a:pPr>
            <a:endParaRPr lang="en-US" altLang="en-US" b="1" dirty="0" smtClean="0">
              <a:solidFill>
                <a:srgbClr val="000000"/>
              </a:solidFill>
              <a:latin typeface="Courier New" pitchFamily="49" charset="0"/>
            </a:endParaRPr>
          </a:p>
          <a:p>
            <a:pPr marL="1195388" lvl="2" indent="-338138">
              <a:buFont typeface="Webdings" pitchFamily="18" charset="2"/>
              <a:buNone/>
              <a:tabLst>
                <a:tab pos="1709738" algn="l"/>
                <a:tab pos="2001838" algn="l"/>
                <a:tab pos="2227263" algn="l"/>
                <a:tab pos="2454275" algn="l"/>
              </a:tabLst>
            </a:pPr>
            <a:r>
              <a:rPr lang="en-US" altLang="en-US" sz="1600" b="1" dirty="0" smtClean="0">
                <a:solidFill>
                  <a:srgbClr val="000000"/>
                </a:solidFill>
                <a:latin typeface="Courier New" pitchFamily="49" charset="0"/>
              </a:rPr>
              <a:t>} while (TRUE);</a:t>
            </a:r>
            <a:endParaRPr lang="en-US" altLang="en-US" sz="1600" dirty="0" smtClean="0">
              <a:solidFill>
                <a:srgbClr val="0000FF"/>
              </a:solidFill>
            </a:endParaRPr>
          </a:p>
          <a:p>
            <a:pPr marL="0" indent="0">
              <a:buNone/>
              <a:tabLst>
                <a:tab pos="1709738" algn="l"/>
                <a:tab pos="2001838" algn="l"/>
                <a:tab pos="2227263" algn="l"/>
                <a:tab pos="2454275" algn="l"/>
              </a:tabLst>
            </a:pPr>
            <a:endParaRPr lang="en-US" altLang="en-US" dirty="0" smtClean="0">
              <a:solidFill>
                <a:srgbClr val="0000FF"/>
              </a:solidFill>
            </a:endParaRPr>
          </a:p>
        </p:txBody>
      </p:sp>
      <p:pic>
        <p:nvPicPr>
          <p:cNvPr id="12" name="Picture 2" descr="THE DINING PHILOSOPHERS PROBLE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75923" y="1095314"/>
            <a:ext cx="6216076" cy="37172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88834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fontScale="90000"/>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B8940A0-5CFF-4701-9AB4-764F0C884A62}" type="datetime1">
              <a:rPr lang="en-US" smtClean="0"/>
              <a:t>11/11/2024</a:t>
            </a:fld>
            <a:endParaRPr lang="en-US"/>
          </a:p>
        </p:txBody>
      </p:sp>
      <p:sp>
        <p:nvSpPr>
          <p:cNvPr id="13" name="Rectangle 3"/>
          <p:cNvSpPr txBox="1">
            <a:spLocks noChangeArrowheads="1"/>
          </p:cNvSpPr>
          <p:nvPr/>
        </p:nvSpPr>
        <p:spPr>
          <a:xfrm>
            <a:off x="1102785" y="1119189"/>
            <a:ext cx="9476316" cy="4784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33438" lvl="1" indent="-376238">
              <a:tabLst>
                <a:tab pos="1709738" algn="l"/>
                <a:tab pos="2001838" algn="l"/>
                <a:tab pos="2227263" algn="l"/>
                <a:tab pos="2454275" algn="l"/>
              </a:tabLst>
            </a:pPr>
            <a:endParaRPr lang="en-US" altLang="en-US" dirty="0" smtClean="0"/>
          </a:p>
          <a:p>
            <a:pPr marL="457200" lvl="1" indent="0">
              <a:buNone/>
              <a:tabLst>
                <a:tab pos="1709738" algn="l"/>
                <a:tab pos="2001838" algn="l"/>
                <a:tab pos="2227263" algn="l"/>
                <a:tab pos="2454275" algn="l"/>
              </a:tabLst>
            </a:pPr>
            <a:r>
              <a:rPr lang="en-US" altLang="en-US" dirty="0"/>
              <a:t>What is the problem with this algorithm?</a:t>
            </a:r>
          </a:p>
          <a:p>
            <a:pPr marL="457200" lvl="1" indent="0">
              <a:buNone/>
              <a:tabLst>
                <a:tab pos="1709738" algn="l"/>
                <a:tab pos="2001838" algn="l"/>
                <a:tab pos="2227263" algn="l"/>
                <a:tab pos="2454275" algn="l"/>
              </a:tabLst>
            </a:pPr>
            <a:endParaRPr lang="en-US" altLang="en-US" dirty="0" smtClean="0"/>
          </a:p>
        </p:txBody>
      </p:sp>
    </p:spTree>
    <p:extLst>
      <p:ext uri="{BB962C8B-B14F-4D97-AF65-F5344CB8AC3E}">
        <p14:creationId xmlns:p14="http://schemas.microsoft.com/office/powerpoint/2010/main" val="79007832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fontScale="90000"/>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75A9B3F5-0238-4CBE-B3FE-3660D47735BC}" type="datetime1">
              <a:rPr lang="en-US" smtClean="0"/>
              <a:t>11/11/2024</a:t>
            </a:fld>
            <a:endParaRPr lang="en-US"/>
          </a:p>
        </p:txBody>
      </p:sp>
      <p:sp>
        <p:nvSpPr>
          <p:cNvPr id="13" name="Rectangle 3"/>
          <p:cNvSpPr txBox="1">
            <a:spLocks noChangeArrowheads="1"/>
          </p:cNvSpPr>
          <p:nvPr/>
        </p:nvSpPr>
        <p:spPr>
          <a:xfrm>
            <a:off x="1102785" y="1119189"/>
            <a:ext cx="10593346" cy="4784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33438" lvl="1" indent="-376238">
              <a:tabLst>
                <a:tab pos="1709738" algn="l"/>
                <a:tab pos="2001838" algn="l"/>
                <a:tab pos="2227263" algn="l"/>
                <a:tab pos="2454275" algn="l"/>
              </a:tabLst>
            </a:pPr>
            <a:endParaRPr lang="en-US" altLang="en-US" dirty="0" smtClean="0"/>
          </a:p>
          <a:p>
            <a:pPr marL="457200" lvl="1" indent="0">
              <a:buNone/>
              <a:tabLst>
                <a:tab pos="1709738" algn="l"/>
                <a:tab pos="2001838" algn="l"/>
                <a:tab pos="2227263" algn="l"/>
                <a:tab pos="2454275" algn="l"/>
              </a:tabLst>
            </a:pPr>
            <a:r>
              <a:rPr lang="en-US" altLang="en-US" dirty="0"/>
              <a:t>What is the problem with this algorithm?</a:t>
            </a:r>
          </a:p>
          <a:p>
            <a:pPr marL="833438" lvl="1" indent="-376238">
              <a:tabLst>
                <a:tab pos="1709738" algn="l"/>
                <a:tab pos="2001838" algn="l"/>
                <a:tab pos="2227263" algn="l"/>
                <a:tab pos="2454275" algn="l"/>
              </a:tabLst>
            </a:pPr>
            <a:r>
              <a:rPr lang="en-US" altLang="en-US" dirty="0" smtClean="0"/>
              <a:t>Algorithm Guarantees that No two neighbors are eating simultaneously </a:t>
            </a:r>
          </a:p>
          <a:p>
            <a:pPr marL="833438" lvl="1" indent="-376238">
              <a:tabLst>
                <a:tab pos="1709738" algn="l"/>
                <a:tab pos="2001838" algn="l"/>
                <a:tab pos="2227263" algn="l"/>
                <a:tab pos="2454275" algn="l"/>
              </a:tabLst>
            </a:pPr>
            <a:endParaRPr lang="en-US" altLang="en-US" dirty="0" smtClean="0"/>
          </a:p>
          <a:p>
            <a:pPr marL="833438" lvl="1" indent="-376238">
              <a:tabLst>
                <a:tab pos="1709738" algn="l"/>
                <a:tab pos="2001838" algn="l"/>
                <a:tab pos="2227263" algn="l"/>
                <a:tab pos="2454275" algn="l"/>
              </a:tabLst>
            </a:pPr>
            <a:endParaRPr lang="en-US" altLang="en-US" dirty="0"/>
          </a:p>
          <a:p>
            <a:pPr marL="457200" lvl="1" indent="0">
              <a:buNone/>
              <a:tabLst>
                <a:tab pos="1709738" algn="l"/>
                <a:tab pos="2001838" algn="l"/>
                <a:tab pos="2227263" algn="l"/>
                <a:tab pos="2454275" algn="l"/>
              </a:tabLst>
            </a:pPr>
            <a:r>
              <a:rPr lang="en-US" altLang="en-US" dirty="0" smtClean="0"/>
              <a:t>Still Must be rejected </a:t>
            </a:r>
          </a:p>
          <a:p>
            <a:pPr marL="833438" lvl="1" indent="-376238">
              <a:tabLst>
                <a:tab pos="1709738" algn="l"/>
                <a:tab pos="2001838" algn="l"/>
                <a:tab pos="2227263" algn="l"/>
                <a:tab pos="2454275" algn="l"/>
              </a:tabLst>
            </a:pPr>
            <a:r>
              <a:rPr lang="en-US" altLang="en-US" dirty="0" smtClean="0"/>
              <a:t>Why?</a:t>
            </a:r>
          </a:p>
        </p:txBody>
      </p:sp>
    </p:spTree>
    <p:extLst>
      <p:ext uri="{BB962C8B-B14F-4D97-AF65-F5344CB8AC3E}">
        <p14:creationId xmlns:p14="http://schemas.microsoft.com/office/powerpoint/2010/main" val="38661755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fontScale="90000"/>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45DCD3FF-95AC-493E-B3CB-4CFC719EA8BF}" type="datetime1">
              <a:rPr lang="en-US" smtClean="0"/>
              <a:t>11/11/2024</a:t>
            </a:fld>
            <a:endParaRPr lang="en-US"/>
          </a:p>
        </p:txBody>
      </p:sp>
      <p:sp>
        <p:nvSpPr>
          <p:cNvPr id="13" name="Rectangle 3"/>
          <p:cNvSpPr txBox="1">
            <a:spLocks noChangeArrowheads="1"/>
          </p:cNvSpPr>
          <p:nvPr/>
        </p:nvSpPr>
        <p:spPr>
          <a:xfrm>
            <a:off x="669758" y="1119189"/>
            <a:ext cx="10657884" cy="4784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tabLst>
                <a:tab pos="1709738" algn="l"/>
                <a:tab pos="2001838" algn="l"/>
                <a:tab pos="2227263" algn="l"/>
                <a:tab pos="2454275" algn="l"/>
              </a:tabLst>
            </a:pPr>
            <a:r>
              <a:rPr lang="en-US" altLang="en-US" dirty="0" smtClean="0"/>
              <a:t>Why?</a:t>
            </a:r>
          </a:p>
          <a:p>
            <a:pPr marL="833438" lvl="1" indent="-376238">
              <a:tabLst>
                <a:tab pos="1709738" algn="l"/>
                <a:tab pos="2001838" algn="l"/>
                <a:tab pos="2227263" algn="l"/>
                <a:tab pos="2454275" algn="l"/>
              </a:tabLst>
            </a:pPr>
            <a:r>
              <a:rPr lang="en-US" altLang="en-US" dirty="0" smtClean="0"/>
              <a:t>Possibility of deadlock</a:t>
            </a:r>
          </a:p>
          <a:p>
            <a:pPr marL="833438" lvl="1" indent="-376238">
              <a:tabLst>
                <a:tab pos="1709738" algn="l"/>
                <a:tab pos="2001838" algn="l"/>
                <a:tab pos="2227263" algn="l"/>
                <a:tab pos="2454275" algn="l"/>
              </a:tabLst>
            </a:pPr>
            <a:r>
              <a:rPr lang="en-US" altLang="en-US" dirty="0" smtClean="0"/>
              <a:t>If all 5 philosophers are hungry simultaneously  and each grabs left chopstick</a:t>
            </a:r>
          </a:p>
          <a:p>
            <a:pPr marL="833438" lvl="1" indent="-376238">
              <a:tabLst>
                <a:tab pos="1709738" algn="l"/>
                <a:tab pos="2001838" algn="l"/>
                <a:tab pos="2227263" algn="l"/>
                <a:tab pos="2454275" algn="l"/>
              </a:tabLst>
            </a:pPr>
            <a:r>
              <a:rPr lang="en-US" altLang="en-US" dirty="0" smtClean="0"/>
              <a:t>All elements of chopsticks will be =0</a:t>
            </a:r>
          </a:p>
          <a:p>
            <a:pPr marL="833438" lvl="1" indent="-376238">
              <a:tabLst>
                <a:tab pos="1709738" algn="l"/>
                <a:tab pos="2001838" algn="l"/>
                <a:tab pos="2227263" algn="l"/>
                <a:tab pos="2454275" algn="l"/>
              </a:tabLst>
            </a:pPr>
            <a:r>
              <a:rPr lang="en-US" altLang="en-US" dirty="0" smtClean="0"/>
              <a:t>When each philosopher tries to grab her right chopstick, delayed forever</a:t>
            </a:r>
          </a:p>
          <a:p>
            <a:pPr marL="1195388" lvl="2" indent="-338138">
              <a:buFont typeface="Webdings" pitchFamily="18" charset="2"/>
              <a:buNone/>
              <a:tabLst>
                <a:tab pos="1709738" algn="l"/>
                <a:tab pos="2001838" algn="l"/>
                <a:tab pos="2227263" algn="l"/>
                <a:tab pos="2454275" algn="l"/>
              </a:tabLst>
            </a:pPr>
            <a:endParaRPr lang="en-US" altLang="en-US" dirty="0" smtClean="0">
              <a:solidFill>
                <a:srgbClr val="0000FF"/>
              </a:solidFill>
            </a:endParaRPr>
          </a:p>
        </p:txBody>
      </p:sp>
      <p:pic>
        <p:nvPicPr>
          <p:cNvPr id="12" name="Picture 2" descr="https://media.geeksforgeeks.org/wp-content/uploads/dining_philosopher_problem.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19415" y="3563158"/>
            <a:ext cx="3059507" cy="2614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33394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Dining Philosopher’s problem</a:t>
            </a:r>
            <a:endParaRPr lang="en-IN" dirty="0"/>
          </a:p>
        </p:txBody>
      </p:sp>
      <p:sp>
        <p:nvSpPr>
          <p:cNvPr id="3" name="Content Placeholder 2"/>
          <p:cNvSpPr>
            <a:spLocks noGrp="1"/>
          </p:cNvSpPr>
          <p:nvPr>
            <p:ph idx="1"/>
          </p:nvPr>
        </p:nvSpPr>
        <p:spPr/>
        <p:txBody>
          <a:bodyPr/>
          <a:lstStyle/>
          <a:p>
            <a:r>
              <a:rPr lang="en-US" b="1" dirty="0"/>
              <a:t>Assumptions:</a:t>
            </a:r>
          </a:p>
          <a:p>
            <a:r>
              <a:rPr lang="en-US" dirty="0"/>
              <a:t>There are 5 philosophers (can be generalized to any number).</a:t>
            </a:r>
          </a:p>
          <a:p>
            <a:r>
              <a:rPr lang="en-US" dirty="0"/>
              <a:t>Philosophers alternate between thinking and eating.</a:t>
            </a:r>
          </a:p>
          <a:p>
            <a:r>
              <a:rPr lang="en-US" dirty="0"/>
              <a:t>Philosophers must pick up two chopsticks (left and right) to eat.</a:t>
            </a:r>
          </a:p>
          <a:p>
            <a:r>
              <a:rPr lang="en-US" dirty="0"/>
              <a:t>A semaphore controls access to chopsticks.</a:t>
            </a:r>
          </a:p>
          <a:p>
            <a:pPr marL="0" indent="0">
              <a:buNone/>
            </a:pPr>
            <a:endParaRPr lang="en-IN" dirty="0"/>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pic>
        <p:nvPicPr>
          <p:cNvPr id="5" name="Picture 4">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6" name="Picture 5">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pic>
        <p:nvPicPr>
          <p:cNvPr id="8" name="Picture 7"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Tree>
    <p:extLst>
      <p:ext uri="{BB962C8B-B14F-4D97-AF65-F5344CB8AC3E}">
        <p14:creationId xmlns:p14="http://schemas.microsoft.com/office/powerpoint/2010/main" val="334568992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9" name="Picture 8">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10"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pic>
        <p:nvPicPr>
          <p:cNvPr id="11" name="Picture 10"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Content Placeholder 2"/>
          <p:cNvSpPr>
            <a:spLocks noGrp="1"/>
          </p:cNvSpPr>
          <p:nvPr>
            <p:ph sz="half" idx="1"/>
          </p:nvPr>
        </p:nvSpPr>
        <p:spPr>
          <a:xfrm>
            <a:off x="651163" y="287769"/>
            <a:ext cx="5552210" cy="6185767"/>
          </a:xfrm>
        </p:spPr>
        <p:txBody>
          <a:bodyPr>
            <a:normAutofit fontScale="55000" lnSpcReduction="20000"/>
          </a:bodyPr>
          <a:lstStyle/>
          <a:p>
            <a:pPr marL="0" indent="0">
              <a:buNone/>
            </a:pPr>
            <a:r>
              <a:rPr lang="en-IN" dirty="0" smtClean="0"/>
              <a:t>#</a:t>
            </a:r>
            <a:r>
              <a:rPr lang="en-IN" dirty="0"/>
              <a:t>define N </a:t>
            </a:r>
            <a:r>
              <a:rPr lang="en-IN" dirty="0" smtClean="0"/>
              <a:t>5                            </a:t>
            </a:r>
            <a:r>
              <a:rPr lang="en-IN" dirty="0">
                <a:solidFill>
                  <a:schemeClr val="tx1">
                    <a:lumMod val="50000"/>
                    <a:lumOff val="50000"/>
                  </a:schemeClr>
                </a:solidFill>
              </a:rPr>
              <a:t>// Number of philosophers</a:t>
            </a:r>
          </a:p>
          <a:p>
            <a:pPr marL="0" indent="0">
              <a:buNone/>
            </a:pPr>
            <a:r>
              <a:rPr lang="en-IN" dirty="0" smtClean="0"/>
              <a:t>semaphore </a:t>
            </a:r>
            <a:r>
              <a:rPr lang="en-IN" dirty="0"/>
              <a:t>chopstick[N</a:t>
            </a:r>
            <a:r>
              <a:rPr lang="en-IN" dirty="0" smtClean="0"/>
              <a:t>];                                   </a:t>
            </a:r>
            <a:r>
              <a:rPr lang="en-IN" dirty="0" smtClean="0">
                <a:solidFill>
                  <a:schemeClr val="tx1">
                    <a:lumMod val="50000"/>
                    <a:lumOff val="50000"/>
                  </a:schemeClr>
                </a:solidFill>
              </a:rPr>
              <a:t>// </a:t>
            </a:r>
            <a:r>
              <a:rPr lang="en-IN" dirty="0">
                <a:solidFill>
                  <a:schemeClr val="tx1">
                    <a:lumMod val="50000"/>
                    <a:lumOff val="50000"/>
                  </a:schemeClr>
                </a:solidFill>
              </a:rPr>
              <a:t>Semaphores representing chopsticks (binary semaphores)</a:t>
            </a:r>
          </a:p>
          <a:p>
            <a:pPr marL="0" indent="0">
              <a:buNone/>
            </a:pPr>
            <a:endParaRPr lang="en-IN" dirty="0"/>
          </a:p>
          <a:p>
            <a:pPr marL="0" indent="0">
              <a:buNone/>
            </a:pPr>
            <a:r>
              <a:rPr lang="en-IN" dirty="0" smtClean="0"/>
              <a:t>// </a:t>
            </a:r>
            <a:r>
              <a:rPr lang="en-IN" dirty="0"/>
              <a:t>Philosopher function representing actions of each philosopher</a:t>
            </a:r>
          </a:p>
          <a:p>
            <a:pPr marL="0" indent="0">
              <a:buNone/>
            </a:pPr>
            <a:r>
              <a:rPr lang="en-IN" dirty="0"/>
              <a:t>void philosopher(</a:t>
            </a:r>
            <a:r>
              <a:rPr lang="en-IN" dirty="0" err="1"/>
              <a:t>int</a:t>
            </a:r>
            <a:r>
              <a:rPr lang="en-IN" dirty="0"/>
              <a:t> </a:t>
            </a:r>
            <a:r>
              <a:rPr lang="en-IN" dirty="0" err="1"/>
              <a:t>i</a:t>
            </a:r>
            <a:r>
              <a:rPr lang="en-IN" dirty="0"/>
              <a:t>) {</a:t>
            </a:r>
          </a:p>
          <a:p>
            <a:pPr marL="0" indent="0">
              <a:buNone/>
            </a:pPr>
            <a:r>
              <a:rPr lang="en-IN" dirty="0"/>
              <a:t>    while (true) {</a:t>
            </a:r>
          </a:p>
          <a:p>
            <a:pPr marL="0" indent="0">
              <a:buNone/>
            </a:pPr>
            <a:r>
              <a:rPr lang="en-IN" dirty="0" smtClean="0"/>
              <a:t>        think();                               </a:t>
            </a:r>
            <a:r>
              <a:rPr lang="en-IN" dirty="0" smtClean="0">
                <a:solidFill>
                  <a:schemeClr val="tx1">
                    <a:lumMod val="50000"/>
                    <a:lumOff val="50000"/>
                  </a:schemeClr>
                </a:solidFill>
              </a:rPr>
              <a:t>// Think , non-CS activity</a:t>
            </a:r>
          </a:p>
          <a:p>
            <a:pPr marL="0" indent="0">
              <a:buNone/>
            </a:pPr>
            <a:r>
              <a:rPr lang="en-IN" dirty="0" smtClean="0"/>
              <a:t>        </a:t>
            </a:r>
            <a:r>
              <a:rPr lang="en-IN" dirty="0"/>
              <a:t>// Pick up left chopstick (chopstick[</a:t>
            </a:r>
            <a:r>
              <a:rPr lang="en-IN" dirty="0" err="1"/>
              <a:t>i</a:t>
            </a:r>
            <a:r>
              <a:rPr lang="en-IN" dirty="0"/>
              <a:t>])</a:t>
            </a:r>
          </a:p>
          <a:p>
            <a:pPr marL="0" indent="0">
              <a:buNone/>
            </a:pPr>
            <a:r>
              <a:rPr lang="en-IN" dirty="0"/>
              <a:t>        wait(chopstick[</a:t>
            </a:r>
            <a:r>
              <a:rPr lang="en-IN" dirty="0" err="1"/>
              <a:t>i</a:t>
            </a:r>
            <a:r>
              <a:rPr lang="en-IN" dirty="0"/>
              <a:t>]);</a:t>
            </a:r>
          </a:p>
          <a:p>
            <a:pPr marL="0" indent="0">
              <a:buNone/>
            </a:pPr>
            <a:r>
              <a:rPr lang="en-IN" dirty="0" smtClean="0"/>
              <a:t>        </a:t>
            </a:r>
            <a:r>
              <a:rPr lang="en-IN" dirty="0"/>
              <a:t>// Pick up right chopstick (chopstick[(i+1)%N])</a:t>
            </a:r>
          </a:p>
          <a:p>
            <a:pPr marL="0" indent="0">
              <a:buNone/>
            </a:pPr>
            <a:r>
              <a:rPr lang="en-IN" dirty="0"/>
              <a:t>        wait(chopstick[(</a:t>
            </a:r>
            <a:r>
              <a:rPr lang="en-IN" dirty="0" err="1"/>
              <a:t>i</a:t>
            </a:r>
            <a:r>
              <a:rPr lang="en-IN" dirty="0"/>
              <a:t> + 1) % N]);</a:t>
            </a:r>
          </a:p>
          <a:p>
            <a:pPr marL="0" indent="0">
              <a:buNone/>
            </a:pPr>
            <a:r>
              <a:rPr lang="en-IN" dirty="0" smtClean="0"/>
              <a:t>        eat();                                  </a:t>
            </a:r>
            <a:r>
              <a:rPr lang="en-IN" dirty="0" smtClean="0">
                <a:solidFill>
                  <a:schemeClr val="tx1">
                    <a:lumMod val="50000"/>
                    <a:lumOff val="50000"/>
                  </a:schemeClr>
                </a:solidFill>
              </a:rPr>
              <a:t>// Eat – CS activity</a:t>
            </a:r>
            <a:endParaRPr lang="en-IN" dirty="0">
              <a:solidFill>
                <a:schemeClr val="tx1">
                  <a:lumMod val="50000"/>
                  <a:lumOff val="50000"/>
                </a:schemeClr>
              </a:solidFill>
            </a:endParaRPr>
          </a:p>
          <a:p>
            <a:pPr marL="0" indent="0">
              <a:buNone/>
            </a:pPr>
            <a:r>
              <a:rPr lang="en-IN" dirty="0" smtClean="0"/>
              <a:t>        </a:t>
            </a:r>
            <a:r>
              <a:rPr lang="en-IN" dirty="0"/>
              <a:t>// Put down right chopstick</a:t>
            </a:r>
          </a:p>
          <a:p>
            <a:pPr marL="0" indent="0">
              <a:buNone/>
            </a:pPr>
            <a:r>
              <a:rPr lang="en-IN" dirty="0"/>
              <a:t>        signal(chopstick[(</a:t>
            </a:r>
            <a:r>
              <a:rPr lang="en-IN" dirty="0" err="1"/>
              <a:t>i</a:t>
            </a:r>
            <a:r>
              <a:rPr lang="en-IN" dirty="0"/>
              <a:t> + 1) % N]);</a:t>
            </a:r>
          </a:p>
          <a:p>
            <a:pPr marL="0" indent="0">
              <a:buNone/>
            </a:pPr>
            <a:r>
              <a:rPr lang="en-IN" dirty="0" smtClean="0"/>
              <a:t>        </a:t>
            </a:r>
            <a:r>
              <a:rPr lang="en-IN" dirty="0"/>
              <a:t>// Put down left chopstick</a:t>
            </a:r>
          </a:p>
          <a:p>
            <a:pPr marL="0" indent="0">
              <a:buNone/>
            </a:pPr>
            <a:r>
              <a:rPr lang="en-IN" dirty="0"/>
              <a:t>        signal(chopstick[</a:t>
            </a:r>
            <a:r>
              <a:rPr lang="en-IN" dirty="0" err="1"/>
              <a:t>i</a:t>
            </a:r>
            <a:r>
              <a:rPr lang="en-IN" dirty="0"/>
              <a:t>]);</a:t>
            </a:r>
          </a:p>
          <a:p>
            <a:pPr marL="0" indent="0">
              <a:buNone/>
            </a:pPr>
            <a:r>
              <a:rPr lang="en-IN" dirty="0"/>
              <a:t>    }</a:t>
            </a:r>
          </a:p>
          <a:p>
            <a:pPr marL="0" indent="0">
              <a:buNone/>
            </a:pPr>
            <a:r>
              <a:rPr lang="en-IN" dirty="0"/>
              <a:t>}</a:t>
            </a:r>
          </a:p>
          <a:p>
            <a:pPr marL="0" indent="0">
              <a:buNone/>
            </a:pPr>
            <a:endParaRPr lang="en-IN" dirty="0"/>
          </a:p>
          <a:p>
            <a:pPr marL="0" indent="0">
              <a:buNone/>
            </a:pPr>
            <a:endParaRPr lang="en-IN" dirty="0"/>
          </a:p>
        </p:txBody>
      </p:sp>
      <p:sp>
        <p:nvSpPr>
          <p:cNvPr id="6" name="Content Placeholder 5"/>
          <p:cNvSpPr>
            <a:spLocks noGrp="1"/>
          </p:cNvSpPr>
          <p:nvPr>
            <p:ph sz="half" idx="2"/>
          </p:nvPr>
        </p:nvSpPr>
        <p:spPr>
          <a:xfrm>
            <a:off x="6244936" y="724189"/>
            <a:ext cx="5181600" cy="4351338"/>
          </a:xfrm>
        </p:spPr>
        <p:txBody>
          <a:bodyPr>
            <a:normAutofit fontScale="55000" lnSpcReduction="20000"/>
          </a:bodyPr>
          <a:lstStyle/>
          <a:p>
            <a:pPr marL="0" indent="0">
              <a:buNone/>
            </a:pPr>
            <a:r>
              <a:rPr lang="en-IN" dirty="0" err="1"/>
              <a:t>int</a:t>
            </a:r>
            <a:r>
              <a:rPr lang="en-IN" dirty="0"/>
              <a:t> main() {</a:t>
            </a:r>
          </a:p>
          <a:p>
            <a:pPr marL="0" indent="0">
              <a:buNone/>
            </a:pPr>
            <a:r>
              <a:rPr lang="en-IN" dirty="0"/>
              <a:t>    </a:t>
            </a:r>
            <a:r>
              <a:rPr lang="en-IN" dirty="0">
                <a:solidFill>
                  <a:schemeClr val="tx1">
                    <a:lumMod val="50000"/>
                    <a:lumOff val="50000"/>
                  </a:schemeClr>
                </a:solidFill>
              </a:rPr>
              <a:t>// Initialize all semaphores to 1 (available chopsticks)</a:t>
            </a:r>
          </a:p>
          <a:p>
            <a:pPr marL="0" indent="0">
              <a:buNone/>
            </a:pPr>
            <a:r>
              <a:rPr lang="en-IN" dirty="0"/>
              <a:t>    for (</a:t>
            </a:r>
            <a:r>
              <a:rPr lang="en-IN" dirty="0" err="1"/>
              <a:t>int</a:t>
            </a:r>
            <a:r>
              <a:rPr lang="en-IN" dirty="0"/>
              <a:t> </a:t>
            </a:r>
            <a:r>
              <a:rPr lang="en-IN" dirty="0" err="1"/>
              <a:t>i</a:t>
            </a:r>
            <a:r>
              <a:rPr lang="en-IN" dirty="0"/>
              <a:t> = 0; </a:t>
            </a:r>
            <a:r>
              <a:rPr lang="en-IN" dirty="0" err="1"/>
              <a:t>i</a:t>
            </a:r>
            <a:r>
              <a:rPr lang="en-IN" dirty="0"/>
              <a:t> &lt; N; </a:t>
            </a:r>
            <a:r>
              <a:rPr lang="en-IN" dirty="0" err="1"/>
              <a:t>i</a:t>
            </a:r>
            <a:r>
              <a:rPr lang="en-IN" dirty="0"/>
              <a:t>++) {</a:t>
            </a:r>
          </a:p>
          <a:p>
            <a:pPr marL="0" indent="0">
              <a:buNone/>
            </a:pPr>
            <a:r>
              <a:rPr lang="en-IN" dirty="0"/>
              <a:t>        </a:t>
            </a:r>
            <a:r>
              <a:rPr lang="en-IN" dirty="0" err="1"/>
              <a:t>init_semaphore</a:t>
            </a:r>
            <a:r>
              <a:rPr lang="en-IN" dirty="0"/>
              <a:t>(chopstick[</a:t>
            </a:r>
            <a:r>
              <a:rPr lang="en-IN" dirty="0" err="1"/>
              <a:t>i</a:t>
            </a:r>
            <a:r>
              <a:rPr lang="en-IN" dirty="0"/>
              <a:t>], 1);</a:t>
            </a:r>
          </a:p>
          <a:p>
            <a:pPr marL="0" indent="0">
              <a:buNone/>
            </a:pPr>
            <a:r>
              <a:rPr lang="en-IN" dirty="0"/>
              <a:t>    }</a:t>
            </a:r>
          </a:p>
          <a:p>
            <a:pPr marL="0" indent="0">
              <a:buNone/>
            </a:pPr>
            <a:endParaRPr lang="en-IN" dirty="0"/>
          </a:p>
          <a:p>
            <a:pPr marL="0" indent="0">
              <a:buNone/>
            </a:pPr>
            <a:r>
              <a:rPr lang="en-IN" dirty="0"/>
              <a:t>    </a:t>
            </a:r>
            <a:r>
              <a:rPr lang="en-IN" dirty="0">
                <a:solidFill>
                  <a:schemeClr val="tx1">
                    <a:lumMod val="50000"/>
                    <a:lumOff val="50000"/>
                  </a:schemeClr>
                </a:solidFill>
              </a:rPr>
              <a:t>// Create threads/processes for each philosopher</a:t>
            </a:r>
          </a:p>
          <a:p>
            <a:pPr marL="0" indent="0">
              <a:buNone/>
            </a:pPr>
            <a:r>
              <a:rPr lang="en-IN" dirty="0"/>
              <a:t>    for (</a:t>
            </a:r>
            <a:r>
              <a:rPr lang="en-IN" dirty="0" err="1"/>
              <a:t>int</a:t>
            </a:r>
            <a:r>
              <a:rPr lang="en-IN" dirty="0"/>
              <a:t> </a:t>
            </a:r>
            <a:r>
              <a:rPr lang="en-IN" dirty="0" err="1"/>
              <a:t>i</a:t>
            </a:r>
            <a:r>
              <a:rPr lang="en-IN" dirty="0"/>
              <a:t> = 0; </a:t>
            </a:r>
            <a:r>
              <a:rPr lang="en-IN" dirty="0" err="1"/>
              <a:t>i</a:t>
            </a:r>
            <a:r>
              <a:rPr lang="en-IN" dirty="0"/>
              <a:t> &lt; N; </a:t>
            </a:r>
            <a:r>
              <a:rPr lang="en-IN" dirty="0" err="1"/>
              <a:t>i</a:t>
            </a:r>
            <a:r>
              <a:rPr lang="en-IN" dirty="0"/>
              <a:t>++) {</a:t>
            </a:r>
          </a:p>
          <a:p>
            <a:pPr marL="0" indent="0">
              <a:buNone/>
            </a:pPr>
            <a:r>
              <a:rPr lang="en-IN" dirty="0"/>
              <a:t>        </a:t>
            </a:r>
            <a:r>
              <a:rPr lang="en-IN" dirty="0" err="1"/>
              <a:t>create_thread</a:t>
            </a:r>
            <a:r>
              <a:rPr lang="en-IN" dirty="0"/>
              <a:t>(philosopher, </a:t>
            </a:r>
            <a:r>
              <a:rPr lang="en-IN" dirty="0" err="1"/>
              <a:t>i</a:t>
            </a:r>
            <a:r>
              <a:rPr lang="en-IN" dirty="0"/>
              <a:t>);</a:t>
            </a:r>
          </a:p>
          <a:p>
            <a:pPr marL="0" indent="0">
              <a:buNone/>
            </a:pPr>
            <a:r>
              <a:rPr lang="en-IN" dirty="0"/>
              <a:t>    }</a:t>
            </a:r>
          </a:p>
          <a:p>
            <a:pPr marL="0" indent="0">
              <a:buNone/>
            </a:pPr>
            <a:endParaRPr lang="en-IN" dirty="0"/>
          </a:p>
          <a:p>
            <a:pPr marL="0" indent="0">
              <a:buNone/>
            </a:pPr>
            <a:r>
              <a:rPr lang="en-IN" dirty="0"/>
              <a:t>    </a:t>
            </a:r>
            <a:r>
              <a:rPr lang="en-IN" dirty="0">
                <a:solidFill>
                  <a:schemeClr val="tx1">
                    <a:lumMod val="50000"/>
                    <a:lumOff val="50000"/>
                  </a:schemeClr>
                </a:solidFill>
              </a:rPr>
              <a:t>// Join threads if needed (depends on implementation)</a:t>
            </a:r>
          </a:p>
          <a:p>
            <a:pPr marL="0" indent="0">
              <a:buNone/>
            </a:pPr>
            <a:r>
              <a:rPr lang="en-IN" dirty="0"/>
              <a:t>    </a:t>
            </a:r>
            <a:r>
              <a:rPr lang="en-IN" dirty="0" err="1"/>
              <a:t>join_threads</a:t>
            </a:r>
            <a:r>
              <a:rPr lang="en-IN" dirty="0"/>
              <a:t>();</a:t>
            </a:r>
          </a:p>
          <a:p>
            <a:pPr marL="0" indent="0">
              <a:buNone/>
            </a:pPr>
            <a:r>
              <a:rPr lang="en-IN" dirty="0" smtClean="0"/>
              <a:t>    </a:t>
            </a:r>
            <a:r>
              <a:rPr lang="en-IN" dirty="0"/>
              <a:t>return 0;</a:t>
            </a:r>
          </a:p>
          <a:p>
            <a:pPr marL="0" indent="0">
              <a:buNone/>
            </a:pPr>
            <a:r>
              <a:rPr lang="en-IN" dirty="0"/>
              <a:t>}</a:t>
            </a:r>
          </a:p>
          <a:p>
            <a:endParaRPr lang="en-IN" dirty="0"/>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sp>
        <p:nvSpPr>
          <p:cNvPr id="7" name="TextBox 6"/>
          <p:cNvSpPr txBox="1"/>
          <p:nvPr/>
        </p:nvSpPr>
        <p:spPr>
          <a:xfrm>
            <a:off x="4291445" y="5860473"/>
            <a:ext cx="4156364" cy="584775"/>
          </a:xfrm>
          <a:prstGeom prst="rect">
            <a:avLst/>
          </a:prstGeom>
          <a:noFill/>
        </p:spPr>
        <p:txBody>
          <a:bodyPr wrap="square" rtlCol="0">
            <a:spAutoFit/>
          </a:bodyPr>
          <a:lstStyle/>
          <a:p>
            <a:r>
              <a:rPr lang="en-IN" sz="3200" dirty="0" smtClean="0">
                <a:solidFill>
                  <a:srgbClr val="C00000"/>
                </a:solidFill>
                <a:latin typeface="Marcellus"/>
              </a:rPr>
              <a:t>Solution I</a:t>
            </a:r>
            <a:endParaRPr lang="en-IN" sz="3200" dirty="0">
              <a:solidFill>
                <a:srgbClr val="C00000"/>
              </a:solidFill>
              <a:latin typeface="Marcellus"/>
            </a:endParaRPr>
          </a:p>
        </p:txBody>
      </p:sp>
    </p:spTree>
    <p:extLst>
      <p:ext uri="{BB962C8B-B14F-4D97-AF65-F5344CB8AC3E}">
        <p14:creationId xmlns:p14="http://schemas.microsoft.com/office/powerpoint/2010/main" val="88697637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p:cNvSpPr>
            <a:spLocks noGrp="1"/>
          </p:cNvSpPr>
          <p:nvPr>
            <p:ph type="dt" idx="10"/>
          </p:nvPr>
        </p:nvSpPr>
        <p:spPr/>
        <p:txBody>
          <a:bodyPr/>
          <a:lstStyle/>
          <a:p>
            <a:fld id="{8D2B755D-C9D9-4C1B-A028-28E61F2BD8E4}" type="datetime1">
              <a:rPr lang="en-US" smtClean="0"/>
              <a:t>11/11/2024</a:t>
            </a:fld>
            <a:endParaRPr lang="en-US"/>
          </a:p>
        </p:txBody>
      </p:sp>
      <p:sp>
        <p:nvSpPr>
          <p:cNvPr id="6" name="Title 5"/>
          <p:cNvSpPr>
            <a:spLocks noGrp="1"/>
          </p:cNvSpPr>
          <p:nvPr>
            <p:ph type="title"/>
          </p:nvPr>
        </p:nvSpPr>
        <p:spPr/>
        <p:txBody>
          <a:bodyPr/>
          <a:lstStyle/>
          <a:p>
            <a:r>
              <a:rPr lang="en-IN" dirty="0" smtClean="0"/>
              <a:t>Analysis </a:t>
            </a:r>
            <a:endParaRPr lang="en-IN" dirty="0"/>
          </a:p>
        </p:txBody>
      </p:sp>
      <p:sp>
        <p:nvSpPr>
          <p:cNvPr id="7" name="Text Placeholder 6"/>
          <p:cNvSpPr>
            <a:spLocks noGrp="1"/>
          </p:cNvSpPr>
          <p:nvPr>
            <p:ph type="body" idx="1"/>
          </p:nvPr>
        </p:nvSpPr>
        <p:spPr/>
        <p:txBody>
          <a:bodyPr/>
          <a:lstStyle/>
          <a:p>
            <a:r>
              <a:rPr lang="en-US" b="1" dirty="0"/>
              <a:t>Semaphores</a:t>
            </a:r>
            <a:r>
              <a:rPr lang="en-US" dirty="0"/>
              <a:t> (chopstick[</a:t>
            </a:r>
            <a:r>
              <a:rPr lang="en-US" dirty="0" err="1"/>
              <a:t>i</a:t>
            </a:r>
            <a:r>
              <a:rPr lang="en-US" dirty="0"/>
              <a:t>]): Each chopstick is represented by a semaphore initialized to 1, indicating that it is available</a:t>
            </a:r>
            <a:r>
              <a:rPr lang="en-US" dirty="0" smtClean="0"/>
              <a:t>.</a:t>
            </a:r>
          </a:p>
          <a:p>
            <a:r>
              <a:rPr lang="en-US" b="1" dirty="0" smtClean="0"/>
              <a:t>wait</a:t>
            </a:r>
            <a:r>
              <a:rPr lang="en-US" b="1" dirty="0"/>
              <a:t>()</a:t>
            </a:r>
            <a:r>
              <a:rPr lang="en-US" dirty="0"/>
              <a:t>: A philosopher waits for the chopstick (decrements the semaphore</a:t>
            </a:r>
            <a:r>
              <a:rPr lang="en-US" dirty="0" smtClean="0"/>
              <a:t>).</a:t>
            </a:r>
          </a:p>
          <a:p>
            <a:r>
              <a:rPr lang="en-US" b="1" dirty="0" smtClean="0"/>
              <a:t>signal</a:t>
            </a:r>
            <a:r>
              <a:rPr lang="en-US" b="1" dirty="0"/>
              <a:t>()</a:t>
            </a:r>
            <a:r>
              <a:rPr lang="en-US" dirty="0"/>
              <a:t>: After eating, a philosopher releases the chopstick (increments the semaphore</a:t>
            </a:r>
            <a:r>
              <a:rPr lang="en-US" dirty="0" smtClean="0"/>
              <a:t>).</a:t>
            </a:r>
          </a:p>
          <a:p>
            <a:r>
              <a:rPr lang="en-US" b="1" dirty="0" smtClean="0"/>
              <a:t>Thinking</a:t>
            </a:r>
            <a:r>
              <a:rPr lang="en-US" dirty="0"/>
              <a:t>: Simulated by think</a:t>
            </a:r>
            <a:r>
              <a:rPr lang="en-US" dirty="0" smtClean="0"/>
              <a:t>().</a:t>
            </a:r>
          </a:p>
          <a:p>
            <a:r>
              <a:rPr lang="en-US" b="1" dirty="0" smtClean="0"/>
              <a:t>Eating</a:t>
            </a:r>
            <a:r>
              <a:rPr lang="en-US" dirty="0"/>
              <a:t>: Simulated by eat().</a:t>
            </a:r>
            <a:endParaRPr lang="en-IN" dirty="0"/>
          </a:p>
        </p:txBody>
      </p:sp>
      <p:pic>
        <p:nvPicPr>
          <p:cNvPr id="8" name="Picture 7">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9" name="Picture 8">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10"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a:noFill/>
          <a:ln>
            <a:noFill/>
          </a:ln>
        </p:spPr>
      </p:pic>
      <p:pic>
        <p:nvPicPr>
          <p:cNvPr id="11" name="Picture 10"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Tree>
    <p:extLst>
      <p:ext uri="{BB962C8B-B14F-4D97-AF65-F5344CB8AC3E}">
        <p14:creationId xmlns:p14="http://schemas.microsoft.com/office/powerpoint/2010/main" val="46522009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fld id="{CC949D6E-1829-4C27-8A8A-8E9EEC709A2E}" type="datetime1">
              <a:rPr lang="en-US" smtClean="0"/>
              <a:t>11/11/2024</a:t>
            </a:fld>
            <a:endParaRPr lang="en-US"/>
          </a:p>
        </p:txBody>
      </p:sp>
      <p:sp>
        <p:nvSpPr>
          <p:cNvPr id="3" name="Title 2"/>
          <p:cNvSpPr>
            <a:spLocks noGrp="1"/>
          </p:cNvSpPr>
          <p:nvPr>
            <p:ph type="title"/>
          </p:nvPr>
        </p:nvSpPr>
        <p:spPr/>
        <p:txBody>
          <a:bodyPr/>
          <a:lstStyle/>
          <a:p>
            <a:r>
              <a:rPr lang="en-IN" dirty="0" smtClean="0"/>
              <a:t>Analysis</a:t>
            </a:r>
            <a:endParaRPr lang="en-IN" dirty="0"/>
          </a:p>
        </p:txBody>
      </p:sp>
      <p:sp>
        <p:nvSpPr>
          <p:cNvPr id="4" name="Text Placeholder 3"/>
          <p:cNvSpPr>
            <a:spLocks noGrp="1"/>
          </p:cNvSpPr>
          <p:nvPr>
            <p:ph type="body" idx="1"/>
          </p:nvPr>
        </p:nvSpPr>
        <p:spPr/>
        <p:txBody>
          <a:bodyPr/>
          <a:lstStyle/>
          <a:p>
            <a:r>
              <a:rPr lang="en-IN" dirty="0" smtClean="0"/>
              <a:t>Mutual Exclusion?</a:t>
            </a:r>
          </a:p>
          <a:p>
            <a:r>
              <a:rPr lang="en-IN" dirty="0" err="1" smtClean="0"/>
              <a:t>Livelock</a:t>
            </a:r>
            <a:r>
              <a:rPr lang="en-IN" dirty="0" smtClean="0"/>
              <a:t> / progress?</a:t>
            </a:r>
          </a:p>
          <a:p>
            <a:r>
              <a:rPr lang="en-IN" dirty="0" smtClean="0"/>
              <a:t>Deadlock? </a:t>
            </a:r>
          </a:p>
          <a:p>
            <a:pPr lvl="1"/>
            <a:r>
              <a:rPr lang="en-US" dirty="0" smtClean="0"/>
              <a:t>Possible if all philosophers pick up left chopstick and wait </a:t>
            </a:r>
            <a:r>
              <a:rPr lang="en-US" dirty="0"/>
              <a:t>for </a:t>
            </a:r>
            <a:r>
              <a:rPr lang="en-US" dirty="0" smtClean="0"/>
              <a:t>right chopstick, creating circular wait and hold and wait.</a:t>
            </a:r>
            <a:endParaRPr lang="en-IN" dirty="0" smtClean="0"/>
          </a:p>
          <a:p>
            <a:r>
              <a:rPr lang="en-IN" dirty="0" smtClean="0"/>
              <a:t>Starvation?</a:t>
            </a:r>
          </a:p>
          <a:p>
            <a:pPr lvl="1"/>
            <a:r>
              <a:rPr lang="en-US" dirty="0"/>
              <a:t>a philosopher might wait indefinitely if others repeatedly eat before it. </a:t>
            </a:r>
            <a:endParaRPr lang="en-IN" dirty="0"/>
          </a:p>
        </p:txBody>
      </p:sp>
      <p:pic>
        <p:nvPicPr>
          <p:cNvPr id="5" name="Picture 4">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6" name="Picture 5">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a:noFill/>
          <a:ln>
            <a:noFill/>
          </a:ln>
        </p:spPr>
      </p:pic>
      <p:pic>
        <p:nvPicPr>
          <p:cNvPr id="8" name="Picture 7"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Tree>
    <p:extLst>
      <p:ext uri="{BB962C8B-B14F-4D97-AF65-F5344CB8AC3E}">
        <p14:creationId xmlns:p14="http://schemas.microsoft.com/office/powerpoint/2010/main" val="133276222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Semaphore Solution for Dining-Philosophers Problem Algorithm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A31D146F-1B64-4CCA-ACC4-B9A159B915CB}" type="datetime1">
              <a:rPr lang="en-US" smtClean="0"/>
              <a:t>11/11/2024</a:t>
            </a:fld>
            <a:endParaRPr lang="en-US"/>
          </a:p>
        </p:txBody>
      </p:sp>
      <p:sp>
        <p:nvSpPr>
          <p:cNvPr id="12" name="Rectangle 3"/>
          <p:cNvSpPr txBox="1">
            <a:spLocks noChangeArrowheads="1"/>
          </p:cNvSpPr>
          <p:nvPr/>
        </p:nvSpPr>
        <p:spPr>
          <a:xfrm>
            <a:off x="1181101" y="1223963"/>
            <a:ext cx="8589433" cy="4860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mtClean="0"/>
              <a:t>Deadlock handling</a:t>
            </a:r>
          </a:p>
          <a:p>
            <a:pPr lvl="1"/>
            <a:r>
              <a:rPr lang="en-US" altLang="en-US" smtClean="0"/>
              <a:t> Allow at most 4 philosophers to be sitting simultaneously at  the table.</a:t>
            </a:r>
          </a:p>
          <a:p>
            <a:pPr lvl="1"/>
            <a:r>
              <a:rPr lang="en-US" altLang="en-US" smtClean="0"/>
              <a:t> Allow a philosopher to pick up  the forks only if both are available (picking must be done in a critical section)</a:t>
            </a:r>
          </a:p>
          <a:p>
            <a:pPr lvl="1"/>
            <a:r>
              <a:rPr lang="en-US" altLang="en-US" smtClean="0"/>
              <a:t> Use an asymmetric solution  -- </a:t>
            </a:r>
          </a:p>
          <a:p>
            <a:pPr lvl="2"/>
            <a:r>
              <a:rPr lang="en-US" altLang="en-US" smtClean="0"/>
              <a:t>Odd-numbered  philosopher picks  up first the left chopstick and then the right chopstick. </a:t>
            </a:r>
          </a:p>
          <a:p>
            <a:pPr lvl="2"/>
            <a:r>
              <a:rPr lang="en-US" altLang="en-US" smtClean="0"/>
              <a:t>Even-numbered  philosopher picks  up first the right chopstick and then the left chopstick</a:t>
            </a:r>
          </a:p>
          <a:p>
            <a:pPr lvl="1"/>
            <a:endParaRPr lang="en-US" altLang="en-US" smtClean="0"/>
          </a:p>
          <a:p>
            <a:pPr>
              <a:buFont typeface="Monotype Sorts" pitchFamily="-84" charset="2"/>
              <a:buNone/>
            </a:pPr>
            <a:endParaRPr lang="en-US" altLang="en-US" smtClean="0"/>
          </a:p>
          <a:p>
            <a:endParaRPr lang="en-US" altLang="en-US" smtClean="0"/>
          </a:p>
          <a:p>
            <a:endParaRPr lang="en-US" altLang="en-US" dirty="0" smtClean="0"/>
          </a:p>
        </p:txBody>
      </p:sp>
    </p:spTree>
    <p:extLst>
      <p:ext uri="{BB962C8B-B14F-4D97-AF65-F5344CB8AC3E}">
        <p14:creationId xmlns:p14="http://schemas.microsoft.com/office/powerpoint/2010/main" val="382259073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6" name="Content Placeholder 5"/>
          <p:cNvSpPr>
            <a:spLocks noGrp="1"/>
          </p:cNvSpPr>
          <p:nvPr>
            <p:ph sz="half" idx="1"/>
          </p:nvPr>
        </p:nvSpPr>
        <p:spPr>
          <a:xfrm>
            <a:off x="838200" y="384464"/>
            <a:ext cx="6134100" cy="5792499"/>
          </a:xfrm>
        </p:spPr>
        <p:txBody>
          <a:bodyPr>
            <a:normAutofit fontScale="47500" lnSpcReduction="20000"/>
          </a:bodyPr>
          <a:lstStyle/>
          <a:p>
            <a:pPr marL="0" indent="0">
              <a:buNone/>
            </a:pPr>
            <a:r>
              <a:rPr lang="en-IN" dirty="0"/>
              <a:t>// Number of philosophers</a:t>
            </a:r>
          </a:p>
          <a:p>
            <a:pPr marL="0" indent="0">
              <a:buNone/>
            </a:pPr>
            <a:r>
              <a:rPr lang="en-IN" dirty="0"/>
              <a:t>#define N 5</a:t>
            </a:r>
          </a:p>
          <a:p>
            <a:pPr marL="0" indent="0">
              <a:buNone/>
            </a:pPr>
            <a:r>
              <a:rPr lang="en-IN" dirty="0" smtClean="0"/>
              <a:t>semaphore </a:t>
            </a:r>
            <a:r>
              <a:rPr lang="en-IN" dirty="0"/>
              <a:t>chopstick[N</a:t>
            </a:r>
            <a:r>
              <a:rPr lang="en-IN" dirty="0" smtClean="0"/>
              <a:t>];                             // Semaphores </a:t>
            </a:r>
            <a:r>
              <a:rPr lang="en-IN" dirty="0"/>
              <a:t>representing chopsticks (binary semaphores)</a:t>
            </a:r>
          </a:p>
          <a:p>
            <a:pPr marL="0" indent="0">
              <a:buNone/>
            </a:pPr>
            <a:r>
              <a:rPr lang="en-IN" dirty="0" smtClean="0"/>
              <a:t>// counting semaphore ‘limit’ </a:t>
            </a:r>
            <a:r>
              <a:rPr lang="en-IN" dirty="0"/>
              <a:t>to ensure only N-1 philosophers can access chopsticks at a time</a:t>
            </a:r>
          </a:p>
          <a:p>
            <a:pPr marL="0" indent="0">
              <a:buNone/>
            </a:pPr>
            <a:r>
              <a:rPr lang="en-IN" dirty="0"/>
              <a:t>semaphore </a:t>
            </a:r>
            <a:r>
              <a:rPr lang="en-IN" dirty="0" smtClean="0"/>
              <a:t>limit;</a:t>
            </a:r>
            <a:endParaRPr lang="en-IN" dirty="0"/>
          </a:p>
          <a:p>
            <a:pPr marL="0" indent="0">
              <a:buNone/>
            </a:pPr>
            <a:endParaRPr lang="en-IN" dirty="0" smtClean="0"/>
          </a:p>
          <a:p>
            <a:pPr marL="0" indent="0">
              <a:buNone/>
            </a:pPr>
            <a:r>
              <a:rPr lang="en-IN" dirty="0" smtClean="0"/>
              <a:t>void </a:t>
            </a:r>
            <a:r>
              <a:rPr lang="en-IN" dirty="0"/>
              <a:t>philosopher(</a:t>
            </a:r>
            <a:r>
              <a:rPr lang="en-IN" dirty="0" err="1"/>
              <a:t>int</a:t>
            </a:r>
            <a:r>
              <a:rPr lang="en-IN" dirty="0"/>
              <a:t> </a:t>
            </a:r>
            <a:r>
              <a:rPr lang="en-IN" dirty="0" err="1"/>
              <a:t>i</a:t>
            </a:r>
            <a:r>
              <a:rPr lang="en-IN" dirty="0"/>
              <a:t>) {</a:t>
            </a:r>
          </a:p>
          <a:p>
            <a:pPr marL="0" indent="0">
              <a:buNone/>
            </a:pPr>
            <a:r>
              <a:rPr lang="en-IN" dirty="0"/>
              <a:t>    while (true) {</a:t>
            </a:r>
          </a:p>
          <a:p>
            <a:pPr marL="0" indent="0">
              <a:buNone/>
            </a:pPr>
            <a:r>
              <a:rPr lang="en-IN" dirty="0"/>
              <a:t>        </a:t>
            </a:r>
            <a:r>
              <a:rPr lang="en-IN" dirty="0" smtClean="0"/>
              <a:t>think();                                                               // Think : non-CS activity</a:t>
            </a:r>
            <a:endParaRPr lang="en-IN" dirty="0"/>
          </a:p>
          <a:p>
            <a:pPr marL="0" indent="0">
              <a:buNone/>
            </a:pPr>
            <a:r>
              <a:rPr lang="en-IN" dirty="0" smtClean="0"/>
              <a:t>       // </a:t>
            </a:r>
            <a:r>
              <a:rPr lang="en-IN" dirty="0"/>
              <a:t>Wait for permission to access chopsticks (only N-1 philosophers can proceed)</a:t>
            </a:r>
          </a:p>
          <a:p>
            <a:pPr marL="0" indent="0">
              <a:buNone/>
            </a:pPr>
            <a:r>
              <a:rPr lang="en-IN" dirty="0" smtClean="0"/>
              <a:t>       wait(limit); </a:t>
            </a:r>
          </a:p>
          <a:p>
            <a:pPr marL="0" indent="0">
              <a:buNone/>
            </a:pPr>
            <a:r>
              <a:rPr lang="en-IN" dirty="0"/>
              <a:t> </a:t>
            </a:r>
            <a:r>
              <a:rPr lang="en-IN" dirty="0" smtClean="0"/>
              <a:t>      wait(chopstick[</a:t>
            </a:r>
            <a:r>
              <a:rPr lang="en-IN" dirty="0" err="1" smtClean="0"/>
              <a:t>i</a:t>
            </a:r>
            <a:r>
              <a:rPr lang="en-IN" dirty="0" smtClean="0"/>
              <a:t>]);</a:t>
            </a:r>
            <a:r>
              <a:rPr lang="en-IN" dirty="0"/>
              <a:t> </a:t>
            </a:r>
            <a:r>
              <a:rPr lang="en-IN" dirty="0" smtClean="0"/>
              <a:t>        // </a:t>
            </a:r>
            <a:r>
              <a:rPr lang="en-IN" dirty="0"/>
              <a:t>Pick up left chopstick (chopstick[</a:t>
            </a:r>
            <a:r>
              <a:rPr lang="en-IN" dirty="0" err="1"/>
              <a:t>i</a:t>
            </a:r>
            <a:r>
              <a:rPr lang="en-IN" dirty="0"/>
              <a:t>])</a:t>
            </a:r>
          </a:p>
          <a:p>
            <a:pPr marL="0" indent="0">
              <a:buNone/>
            </a:pPr>
            <a:r>
              <a:rPr lang="en-IN" dirty="0" smtClean="0"/>
              <a:t>        wait(chopstick</a:t>
            </a:r>
            <a:r>
              <a:rPr lang="en-IN" dirty="0"/>
              <a:t>[(</a:t>
            </a:r>
            <a:r>
              <a:rPr lang="en-IN" dirty="0" err="1"/>
              <a:t>i</a:t>
            </a:r>
            <a:r>
              <a:rPr lang="en-IN" dirty="0"/>
              <a:t> + 1) % N</a:t>
            </a:r>
            <a:r>
              <a:rPr lang="en-IN" dirty="0" smtClean="0"/>
              <a:t>]);        </a:t>
            </a:r>
            <a:r>
              <a:rPr lang="en-IN" dirty="0"/>
              <a:t>// Pick up right chopstick (chopstick[(i+1)%N])</a:t>
            </a:r>
          </a:p>
          <a:p>
            <a:pPr marL="0" indent="0">
              <a:buNone/>
            </a:pPr>
            <a:r>
              <a:rPr lang="en-IN" dirty="0" smtClean="0"/>
              <a:t>         eat();                                              //process</a:t>
            </a:r>
            <a:endParaRPr lang="en-IN" dirty="0"/>
          </a:p>
          <a:p>
            <a:pPr marL="0" indent="0">
              <a:buNone/>
            </a:pPr>
            <a:r>
              <a:rPr lang="en-IN" dirty="0" smtClean="0"/>
              <a:t>       signal(chopstick</a:t>
            </a:r>
            <a:r>
              <a:rPr lang="en-IN" dirty="0"/>
              <a:t>[(</a:t>
            </a:r>
            <a:r>
              <a:rPr lang="en-IN" dirty="0" err="1"/>
              <a:t>i</a:t>
            </a:r>
            <a:r>
              <a:rPr lang="en-IN" dirty="0"/>
              <a:t> + 1) % N</a:t>
            </a:r>
            <a:r>
              <a:rPr lang="en-IN" dirty="0" smtClean="0"/>
              <a:t>]);           </a:t>
            </a:r>
            <a:r>
              <a:rPr lang="en-IN" dirty="0"/>
              <a:t>// Put down right chopstick</a:t>
            </a:r>
          </a:p>
          <a:p>
            <a:pPr marL="0" indent="0">
              <a:buNone/>
            </a:pPr>
            <a:r>
              <a:rPr lang="en-IN" dirty="0" smtClean="0"/>
              <a:t>       signal(chopstick[</a:t>
            </a:r>
            <a:r>
              <a:rPr lang="en-IN" dirty="0" err="1" smtClean="0"/>
              <a:t>i</a:t>
            </a:r>
            <a:r>
              <a:rPr lang="en-IN" dirty="0" smtClean="0"/>
              <a:t>]);                       // </a:t>
            </a:r>
            <a:r>
              <a:rPr lang="en-IN" dirty="0"/>
              <a:t>Put down left chopstick</a:t>
            </a:r>
          </a:p>
          <a:p>
            <a:pPr marL="0" indent="0">
              <a:buNone/>
            </a:pPr>
            <a:r>
              <a:rPr lang="en-IN" dirty="0" smtClean="0"/>
              <a:t>        </a:t>
            </a:r>
            <a:r>
              <a:rPr lang="en-IN" dirty="0"/>
              <a:t>// Signal that philosopher is done eating, allowing another philosopher to proceed</a:t>
            </a:r>
          </a:p>
          <a:p>
            <a:pPr marL="0" indent="0">
              <a:buNone/>
            </a:pPr>
            <a:r>
              <a:rPr lang="en-IN" dirty="0"/>
              <a:t>        </a:t>
            </a:r>
            <a:r>
              <a:rPr lang="en-IN" dirty="0" smtClean="0"/>
              <a:t>signal(limit);</a:t>
            </a:r>
            <a:endParaRPr lang="en-IN" dirty="0"/>
          </a:p>
          <a:p>
            <a:pPr marL="0" indent="0">
              <a:buNone/>
            </a:pPr>
            <a:r>
              <a:rPr lang="en-IN" dirty="0"/>
              <a:t>    }</a:t>
            </a:r>
          </a:p>
          <a:p>
            <a:pPr marL="0" indent="0">
              <a:buNone/>
            </a:pPr>
            <a:r>
              <a:rPr lang="en-IN" dirty="0"/>
              <a:t>}</a:t>
            </a:r>
          </a:p>
          <a:p>
            <a:pPr marL="0" indent="0">
              <a:buNone/>
            </a:pPr>
            <a:endParaRPr lang="en-IN" dirty="0"/>
          </a:p>
        </p:txBody>
      </p:sp>
      <p:sp>
        <p:nvSpPr>
          <p:cNvPr id="7" name="Content Placeholder 6"/>
          <p:cNvSpPr>
            <a:spLocks noGrp="1"/>
          </p:cNvSpPr>
          <p:nvPr>
            <p:ph sz="half" idx="2"/>
          </p:nvPr>
        </p:nvSpPr>
        <p:spPr>
          <a:xfrm>
            <a:off x="7159336" y="405245"/>
            <a:ext cx="4194464" cy="5771718"/>
          </a:xfrm>
        </p:spPr>
        <p:txBody>
          <a:bodyPr>
            <a:normAutofit fontScale="47500" lnSpcReduction="20000"/>
          </a:bodyPr>
          <a:lstStyle/>
          <a:p>
            <a:pPr marL="0" indent="0">
              <a:buNone/>
            </a:pPr>
            <a:r>
              <a:rPr lang="en-IN" dirty="0" err="1"/>
              <a:t>int</a:t>
            </a:r>
            <a:r>
              <a:rPr lang="en-IN" dirty="0"/>
              <a:t> main() {</a:t>
            </a:r>
          </a:p>
          <a:p>
            <a:pPr marL="0" indent="0">
              <a:buNone/>
            </a:pPr>
            <a:r>
              <a:rPr lang="en-IN" dirty="0"/>
              <a:t>    // Initialize all chopsticks to 1 (available)</a:t>
            </a:r>
          </a:p>
          <a:p>
            <a:pPr marL="0" indent="0">
              <a:buNone/>
            </a:pPr>
            <a:r>
              <a:rPr lang="en-IN" dirty="0"/>
              <a:t>    for (</a:t>
            </a:r>
            <a:r>
              <a:rPr lang="en-IN" dirty="0" err="1"/>
              <a:t>int</a:t>
            </a:r>
            <a:r>
              <a:rPr lang="en-IN" dirty="0"/>
              <a:t> </a:t>
            </a:r>
            <a:r>
              <a:rPr lang="en-IN" dirty="0" err="1"/>
              <a:t>i</a:t>
            </a:r>
            <a:r>
              <a:rPr lang="en-IN" dirty="0"/>
              <a:t> = 0; </a:t>
            </a:r>
            <a:r>
              <a:rPr lang="en-IN" dirty="0" err="1"/>
              <a:t>i</a:t>
            </a:r>
            <a:r>
              <a:rPr lang="en-IN" dirty="0"/>
              <a:t> &lt; N; </a:t>
            </a:r>
            <a:r>
              <a:rPr lang="en-IN" dirty="0" err="1"/>
              <a:t>i</a:t>
            </a:r>
            <a:r>
              <a:rPr lang="en-IN" dirty="0"/>
              <a:t>++) {</a:t>
            </a:r>
          </a:p>
          <a:p>
            <a:pPr marL="0" indent="0">
              <a:buNone/>
            </a:pPr>
            <a:r>
              <a:rPr lang="en-IN" dirty="0"/>
              <a:t>        </a:t>
            </a:r>
            <a:r>
              <a:rPr lang="en-IN" dirty="0" err="1"/>
              <a:t>init_semaphore</a:t>
            </a:r>
            <a:r>
              <a:rPr lang="en-IN" dirty="0"/>
              <a:t>(chopstick[</a:t>
            </a:r>
            <a:r>
              <a:rPr lang="en-IN" dirty="0" err="1"/>
              <a:t>i</a:t>
            </a:r>
            <a:r>
              <a:rPr lang="en-IN" dirty="0"/>
              <a:t>], 1);</a:t>
            </a:r>
          </a:p>
          <a:p>
            <a:pPr marL="0" indent="0">
              <a:buNone/>
            </a:pPr>
            <a:r>
              <a:rPr lang="en-IN" dirty="0"/>
              <a:t>    }</a:t>
            </a:r>
          </a:p>
          <a:p>
            <a:pPr marL="0" indent="0">
              <a:buNone/>
            </a:pPr>
            <a:endParaRPr lang="en-IN" dirty="0"/>
          </a:p>
          <a:p>
            <a:pPr marL="0" indent="0">
              <a:buNone/>
            </a:pPr>
            <a:r>
              <a:rPr lang="en-IN" dirty="0"/>
              <a:t>    // Initialize </a:t>
            </a:r>
            <a:r>
              <a:rPr lang="en-IN" dirty="0" err="1"/>
              <a:t>mutex</a:t>
            </a:r>
            <a:r>
              <a:rPr lang="en-IN" dirty="0"/>
              <a:t> to N-1 to allow only N-1 philosophers to pick up chopsticks at a time</a:t>
            </a:r>
          </a:p>
          <a:p>
            <a:pPr marL="0" indent="0">
              <a:buNone/>
            </a:pPr>
            <a:r>
              <a:rPr lang="en-IN" dirty="0"/>
              <a:t>    </a:t>
            </a:r>
            <a:r>
              <a:rPr lang="en-IN" dirty="0" err="1" smtClean="0"/>
              <a:t>init_semaphore</a:t>
            </a:r>
            <a:r>
              <a:rPr lang="en-IN" dirty="0" smtClean="0"/>
              <a:t>(limit, </a:t>
            </a:r>
            <a:r>
              <a:rPr lang="en-IN" dirty="0"/>
              <a:t>N-1);</a:t>
            </a:r>
          </a:p>
          <a:p>
            <a:pPr marL="0" indent="0">
              <a:buNone/>
            </a:pPr>
            <a:endParaRPr lang="en-IN" dirty="0"/>
          </a:p>
          <a:p>
            <a:pPr marL="0" indent="0">
              <a:buNone/>
            </a:pPr>
            <a:r>
              <a:rPr lang="en-IN" dirty="0"/>
              <a:t>    // Create threads/processes for each philosopher</a:t>
            </a:r>
          </a:p>
          <a:p>
            <a:pPr marL="0" indent="0">
              <a:buNone/>
            </a:pPr>
            <a:r>
              <a:rPr lang="en-IN" dirty="0"/>
              <a:t>    for (</a:t>
            </a:r>
            <a:r>
              <a:rPr lang="en-IN" dirty="0" err="1"/>
              <a:t>int</a:t>
            </a:r>
            <a:r>
              <a:rPr lang="en-IN" dirty="0"/>
              <a:t> </a:t>
            </a:r>
            <a:r>
              <a:rPr lang="en-IN" dirty="0" err="1"/>
              <a:t>i</a:t>
            </a:r>
            <a:r>
              <a:rPr lang="en-IN" dirty="0"/>
              <a:t> = 0; </a:t>
            </a:r>
            <a:r>
              <a:rPr lang="en-IN" dirty="0" err="1"/>
              <a:t>i</a:t>
            </a:r>
            <a:r>
              <a:rPr lang="en-IN" dirty="0"/>
              <a:t> &lt; N; </a:t>
            </a:r>
            <a:r>
              <a:rPr lang="en-IN" dirty="0" err="1"/>
              <a:t>i</a:t>
            </a:r>
            <a:r>
              <a:rPr lang="en-IN" dirty="0"/>
              <a:t>++) {</a:t>
            </a:r>
          </a:p>
          <a:p>
            <a:pPr marL="0" indent="0">
              <a:buNone/>
            </a:pPr>
            <a:r>
              <a:rPr lang="en-IN" dirty="0"/>
              <a:t>        </a:t>
            </a:r>
            <a:r>
              <a:rPr lang="en-IN" dirty="0" err="1"/>
              <a:t>create_thread</a:t>
            </a:r>
            <a:r>
              <a:rPr lang="en-IN" dirty="0"/>
              <a:t>(philosopher, </a:t>
            </a:r>
            <a:r>
              <a:rPr lang="en-IN" dirty="0" err="1"/>
              <a:t>i</a:t>
            </a:r>
            <a:r>
              <a:rPr lang="en-IN" dirty="0"/>
              <a:t>);</a:t>
            </a:r>
          </a:p>
          <a:p>
            <a:pPr marL="0" indent="0">
              <a:buNone/>
            </a:pPr>
            <a:r>
              <a:rPr lang="en-IN" dirty="0"/>
              <a:t>    }</a:t>
            </a:r>
          </a:p>
          <a:p>
            <a:pPr marL="0" indent="0">
              <a:buNone/>
            </a:pPr>
            <a:endParaRPr lang="en-IN" dirty="0"/>
          </a:p>
          <a:p>
            <a:pPr marL="0" indent="0">
              <a:buNone/>
            </a:pPr>
            <a:r>
              <a:rPr lang="en-IN" dirty="0"/>
              <a:t>    // Join threads if needed (depends on implementation)</a:t>
            </a:r>
          </a:p>
          <a:p>
            <a:pPr marL="0" indent="0">
              <a:buNone/>
            </a:pPr>
            <a:r>
              <a:rPr lang="en-IN" dirty="0"/>
              <a:t>    </a:t>
            </a:r>
            <a:r>
              <a:rPr lang="en-IN" dirty="0" err="1"/>
              <a:t>join_threads</a:t>
            </a:r>
            <a:r>
              <a:rPr lang="en-IN" dirty="0"/>
              <a:t>();</a:t>
            </a:r>
          </a:p>
          <a:p>
            <a:pPr marL="0" indent="0">
              <a:buNone/>
            </a:pPr>
            <a:endParaRPr lang="en-IN" dirty="0"/>
          </a:p>
          <a:p>
            <a:pPr marL="0" indent="0">
              <a:buNone/>
            </a:pPr>
            <a:r>
              <a:rPr lang="en-IN" dirty="0"/>
              <a:t>    return 0;</a:t>
            </a:r>
          </a:p>
          <a:p>
            <a:pPr marL="0" indent="0">
              <a:buNone/>
            </a:pPr>
            <a:r>
              <a:rPr lang="en-IN" dirty="0"/>
              <a:t>}</a:t>
            </a:r>
          </a:p>
          <a:p>
            <a:pPr marL="0" indent="0">
              <a:buNone/>
            </a:pPr>
            <a:endParaRPr lang="en-IN" dirty="0"/>
          </a:p>
          <a:p>
            <a:endParaRPr lang="en-IN" dirty="0"/>
          </a:p>
        </p:txBody>
      </p:sp>
      <p:sp>
        <p:nvSpPr>
          <p:cNvPr id="2" name="Date Placeholder 1"/>
          <p:cNvSpPr>
            <a:spLocks noGrp="1"/>
          </p:cNvSpPr>
          <p:nvPr>
            <p:ph type="dt" sz="half" idx="10"/>
          </p:nvPr>
        </p:nvSpPr>
        <p:spPr/>
        <p:txBody>
          <a:bodyPr/>
          <a:lstStyle/>
          <a:p>
            <a:fld id="{CC949D6E-1829-4C27-8A8A-8E9EEC709A2E}" type="datetime1">
              <a:rPr lang="en-US" smtClean="0"/>
              <a:t>11/11/2024</a:t>
            </a:fld>
            <a:endParaRPr lang="en-US"/>
          </a:p>
        </p:txBody>
      </p:sp>
      <p:sp>
        <p:nvSpPr>
          <p:cNvPr id="8" name="TextBox 7"/>
          <p:cNvSpPr txBox="1"/>
          <p:nvPr/>
        </p:nvSpPr>
        <p:spPr>
          <a:xfrm>
            <a:off x="2566554" y="5303057"/>
            <a:ext cx="8499763" cy="461665"/>
          </a:xfrm>
          <a:prstGeom prst="rect">
            <a:avLst/>
          </a:prstGeom>
          <a:noFill/>
        </p:spPr>
        <p:txBody>
          <a:bodyPr wrap="square" rtlCol="0">
            <a:spAutoFit/>
          </a:bodyPr>
          <a:lstStyle/>
          <a:p>
            <a:r>
              <a:rPr lang="en-IN" sz="2400" dirty="0" smtClean="0">
                <a:solidFill>
                  <a:srgbClr val="C00000"/>
                </a:solidFill>
                <a:latin typeface="Marcellus"/>
              </a:rPr>
              <a:t>Solution II - </a:t>
            </a:r>
            <a:r>
              <a:rPr lang="en-IN" sz="2400" b="1" dirty="0"/>
              <a:t>deadlock-free</a:t>
            </a:r>
            <a:r>
              <a:rPr lang="en-IN" sz="2400" dirty="0"/>
              <a:t>, </a:t>
            </a:r>
            <a:r>
              <a:rPr lang="en-IN" sz="2400" b="1" dirty="0"/>
              <a:t>starvation-free</a:t>
            </a:r>
            <a:r>
              <a:rPr lang="en-IN" sz="2400" dirty="0"/>
              <a:t>, and </a:t>
            </a:r>
            <a:r>
              <a:rPr lang="en-IN" sz="2400" b="1" dirty="0" err="1"/>
              <a:t>livelock</a:t>
            </a:r>
            <a:r>
              <a:rPr lang="en-IN" sz="2400" b="1" dirty="0"/>
              <a:t>-free</a:t>
            </a:r>
            <a:r>
              <a:rPr lang="en-IN" sz="2400" dirty="0"/>
              <a:t> </a:t>
            </a:r>
            <a:endParaRPr lang="en-IN" sz="2400" dirty="0">
              <a:solidFill>
                <a:srgbClr val="C00000"/>
              </a:solidFill>
              <a:latin typeface="Marcellus"/>
            </a:endParaRPr>
          </a:p>
        </p:txBody>
      </p:sp>
      <p:pic>
        <p:nvPicPr>
          <p:cNvPr id="9" name="Picture 8">
            <a:extLst>
              <a:ext uri="{FF2B5EF4-FFF2-40B4-BE49-F238E27FC236}">
                <a16:creationId xmlns="" xmlns:a16="http://schemas.microsoft.com/office/drawing/2014/main" id="{1547C2F5-D0C4-4329-8DC2-48B66EE4F515}"/>
              </a:ext>
            </a:extLst>
          </p:cNvPr>
          <p:cNvPicPr>
            <a:picLocks noChangeAspect="1"/>
          </p:cNvPicPr>
          <p:nvPr/>
        </p:nvPicPr>
        <p:blipFill>
          <a:blip r:embed="rId3"/>
          <a:stretch>
            <a:fillRect/>
          </a:stretch>
        </p:blipFill>
        <p:spPr>
          <a:xfrm rot="5400000">
            <a:off x="5880674" y="567534"/>
            <a:ext cx="385984" cy="12236665"/>
          </a:xfrm>
          <a:prstGeom prst="rect">
            <a:avLst/>
          </a:prstGeom>
        </p:spPr>
      </p:pic>
      <p:pic>
        <p:nvPicPr>
          <p:cNvPr id="10" name="Picture 9">
            <a:extLst>
              <a:ext uri="{FF2B5EF4-FFF2-40B4-BE49-F238E27FC236}">
                <a16:creationId xmlns="" xmlns:a16="http://schemas.microsoft.com/office/drawing/2014/main" id="{B15A553C-6E56-4E14-9B40-3D70033DB61F}"/>
              </a:ext>
            </a:extLst>
          </p:cNvPr>
          <p:cNvPicPr>
            <a:picLocks noChangeAspect="1"/>
          </p:cNvPicPr>
          <p:nvPr/>
        </p:nvPicPr>
        <p:blipFill>
          <a:blip r:embed="rId4"/>
          <a:stretch>
            <a:fillRect/>
          </a:stretch>
        </p:blipFill>
        <p:spPr>
          <a:xfrm rot="5400000">
            <a:off x="4533653" y="1754134"/>
            <a:ext cx="176409" cy="9333048"/>
          </a:xfrm>
          <a:prstGeom prst="rect">
            <a:avLst/>
          </a:prstGeom>
        </p:spPr>
      </p:pic>
      <p:pic>
        <p:nvPicPr>
          <p:cNvPr id="11"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Tree>
    <p:extLst>
      <p:ext uri="{BB962C8B-B14F-4D97-AF65-F5344CB8AC3E}">
        <p14:creationId xmlns:p14="http://schemas.microsoft.com/office/powerpoint/2010/main" val="190402400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365126"/>
            <a:ext cx="10515600" cy="632402"/>
          </a:xfrm>
        </p:spPr>
        <p:txBody>
          <a:bodyPr>
            <a:normAutofit fontScale="90000"/>
          </a:bodyPr>
          <a:lstStyle/>
          <a:p>
            <a:r>
              <a:rPr lang="en-IN" dirty="0" smtClean="0">
                <a:solidFill>
                  <a:srgbClr val="C00000"/>
                </a:solidFill>
                <a:latin typeface="Marcellus"/>
              </a:rPr>
              <a:t>Analysis</a:t>
            </a:r>
            <a:endParaRPr lang="en-IN" dirty="0">
              <a:solidFill>
                <a:srgbClr val="C00000"/>
              </a:solidFill>
              <a:latin typeface="Marcellus"/>
            </a:endParaRPr>
          </a:p>
        </p:txBody>
      </p:sp>
      <p:sp>
        <p:nvSpPr>
          <p:cNvPr id="7" name="Content Placeholder 6"/>
          <p:cNvSpPr>
            <a:spLocks noGrp="1"/>
          </p:cNvSpPr>
          <p:nvPr>
            <p:ph idx="1"/>
          </p:nvPr>
        </p:nvSpPr>
        <p:spPr>
          <a:xfrm>
            <a:off x="797093" y="1089471"/>
            <a:ext cx="10515600" cy="4351338"/>
          </a:xfrm>
        </p:spPr>
        <p:txBody>
          <a:bodyPr>
            <a:normAutofit fontScale="77500" lnSpcReduction="20000"/>
          </a:bodyPr>
          <a:lstStyle/>
          <a:p>
            <a:r>
              <a:rPr lang="en-US" b="1" dirty="0">
                <a:latin typeface="Fira sans"/>
              </a:rPr>
              <a:t>Preventing Deadlock</a:t>
            </a:r>
            <a:r>
              <a:rPr lang="en-US" dirty="0" smtClean="0">
                <a:latin typeface="Fira sans"/>
              </a:rPr>
              <a:t>: </a:t>
            </a:r>
          </a:p>
          <a:p>
            <a:pPr lvl="1"/>
            <a:r>
              <a:rPr lang="en-US" dirty="0">
                <a:latin typeface="Fira sans"/>
              </a:rPr>
              <a:t>central </a:t>
            </a:r>
            <a:r>
              <a:rPr lang="en-US" i="1" dirty="0">
                <a:latin typeface="Fira sans"/>
              </a:rPr>
              <a:t>semaphore</a:t>
            </a:r>
            <a:r>
              <a:rPr lang="en-US" dirty="0">
                <a:latin typeface="Fira sans"/>
              </a:rPr>
              <a:t> </a:t>
            </a:r>
            <a:r>
              <a:rPr lang="en-US" i="1" dirty="0" err="1" smtClean="0">
                <a:latin typeface="Fira sans"/>
              </a:rPr>
              <a:t>mutex</a:t>
            </a:r>
            <a:r>
              <a:rPr lang="en-US" dirty="0" smtClean="0">
                <a:latin typeface="Fira sans"/>
              </a:rPr>
              <a:t> </a:t>
            </a:r>
            <a:r>
              <a:rPr lang="en-US" dirty="0">
                <a:latin typeface="Fira sans"/>
              </a:rPr>
              <a:t>(or binary semaphore</a:t>
            </a:r>
            <a:r>
              <a:rPr lang="en-US" dirty="0" smtClean="0">
                <a:latin typeface="Fira sans"/>
              </a:rPr>
              <a:t>) ensures </a:t>
            </a:r>
            <a:r>
              <a:rPr lang="en-US" dirty="0">
                <a:latin typeface="Fira sans"/>
              </a:rPr>
              <a:t>that philosophers can only pick up chopsticks if both are available.</a:t>
            </a:r>
          </a:p>
          <a:p>
            <a:r>
              <a:rPr lang="en-US" b="1" dirty="0">
                <a:latin typeface="Fira sans"/>
              </a:rPr>
              <a:t>Preventing Starvation</a:t>
            </a:r>
            <a:r>
              <a:rPr lang="en-US" dirty="0">
                <a:latin typeface="Fira sans"/>
              </a:rPr>
              <a:t>:</a:t>
            </a:r>
          </a:p>
          <a:p>
            <a:pPr lvl="1"/>
            <a:r>
              <a:rPr lang="en-US" dirty="0" smtClean="0">
                <a:latin typeface="Fira sans"/>
              </a:rPr>
              <a:t>central </a:t>
            </a:r>
            <a:r>
              <a:rPr lang="en-US" i="1" dirty="0">
                <a:latin typeface="Fira sans"/>
              </a:rPr>
              <a:t>semaphore</a:t>
            </a:r>
            <a:r>
              <a:rPr lang="en-US" dirty="0">
                <a:latin typeface="Fira sans"/>
              </a:rPr>
              <a:t> (</a:t>
            </a:r>
            <a:r>
              <a:rPr lang="en-US" dirty="0" err="1">
                <a:latin typeface="Fira sans"/>
              </a:rPr>
              <a:t>mutex</a:t>
            </a:r>
            <a:r>
              <a:rPr lang="en-US" dirty="0" smtClean="0">
                <a:latin typeface="Fira sans"/>
              </a:rPr>
              <a:t>) allows </a:t>
            </a:r>
            <a:r>
              <a:rPr lang="en-US" dirty="0">
                <a:latin typeface="Fira sans"/>
              </a:rPr>
              <a:t>only N-1 philosophers to pick up chopsticks at a time. </a:t>
            </a:r>
            <a:endParaRPr lang="en-US" dirty="0" smtClean="0">
              <a:latin typeface="Fira sans"/>
            </a:endParaRPr>
          </a:p>
          <a:p>
            <a:pPr lvl="1"/>
            <a:r>
              <a:rPr lang="en-US" dirty="0" smtClean="0">
                <a:latin typeface="Fira sans"/>
              </a:rPr>
              <a:t>Ensures philosophers </a:t>
            </a:r>
            <a:r>
              <a:rPr lang="en-US" dirty="0">
                <a:latin typeface="Fira sans"/>
              </a:rPr>
              <a:t>take turns eating, and no philosopher can indefinitely hold chopsticks if others are waiting.</a:t>
            </a:r>
            <a:endParaRPr lang="en-US" dirty="0" smtClean="0">
              <a:latin typeface="Fira sans"/>
            </a:endParaRPr>
          </a:p>
          <a:p>
            <a:pPr lvl="1"/>
            <a:r>
              <a:rPr lang="en-US" dirty="0" smtClean="0">
                <a:latin typeface="Fira sans"/>
              </a:rPr>
              <a:t>This </a:t>
            </a:r>
            <a:r>
              <a:rPr lang="en-US" dirty="0">
                <a:latin typeface="Fira sans"/>
              </a:rPr>
              <a:t>ensures that there will always be at least one philosopher who can eat.</a:t>
            </a:r>
          </a:p>
          <a:p>
            <a:r>
              <a:rPr lang="en-US" b="1" dirty="0">
                <a:latin typeface="Fira sans"/>
              </a:rPr>
              <a:t>Achieving Mutual Exclusion</a:t>
            </a:r>
            <a:r>
              <a:rPr lang="en-US" dirty="0">
                <a:latin typeface="Fira sans"/>
              </a:rPr>
              <a:t>:</a:t>
            </a:r>
          </a:p>
          <a:p>
            <a:pPr lvl="1"/>
            <a:r>
              <a:rPr lang="en-US" dirty="0"/>
              <a:t>Each chopstick is still protected by a semaphore, ensuring </a:t>
            </a:r>
            <a:r>
              <a:rPr lang="en-US" b="1" dirty="0"/>
              <a:t>mutual exclusion</a:t>
            </a:r>
            <a:r>
              <a:rPr lang="en-US" dirty="0"/>
              <a:t>. Only one philosopher can hold a chopstick at a time. </a:t>
            </a:r>
            <a:endParaRPr lang="en-US" dirty="0" smtClean="0"/>
          </a:p>
          <a:p>
            <a:r>
              <a:rPr lang="en-US" b="1" dirty="0" smtClean="0">
                <a:latin typeface="Fira sans"/>
              </a:rPr>
              <a:t>Preventing </a:t>
            </a:r>
            <a:r>
              <a:rPr lang="en-US" b="1" dirty="0" err="1">
                <a:latin typeface="Fira sans"/>
              </a:rPr>
              <a:t>Livelock</a:t>
            </a:r>
            <a:r>
              <a:rPr lang="en-US" dirty="0">
                <a:latin typeface="Fira sans"/>
              </a:rPr>
              <a:t>:</a:t>
            </a:r>
          </a:p>
          <a:p>
            <a:pPr lvl="1"/>
            <a:r>
              <a:rPr lang="en-US" dirty="0">
                <a:latin typeface="Fira sans"/>
              </a:rPr>
              <a:t>Philosophers will only proceed when they have both chopsticks, and the introduction of </a:t>
            </a:r>
            <a:r>
              <a:rPr lang="en-US" dirty="0" err="1">
                <a:latin typeface="Fira sans"/>
              </a:rPr>
              <a:t>mutex</a:t>
            </a:r>
            <a:r>
              <a:rPr lang="en-US" dirty="0">
                <a:latin typeface="Fira sans"/>
              </a:rPr>
              <a:t> ensures that the system does not get stuck in an endless cycle of picking up and putting down chopsticks.</a:t>
            </a:r>
            <a:endParaRPr lang="en-IN" dirty="0">
              <a:latin typeface="Fira sans"/>
            </a:endParaRPr>
          </a:p>
        </p:txBody>
      </p:sp>
      <p:sp>
        <p:nvSpPr>
          <p:cNvPr id="5" name="Date Placeholder 4"/>
          <p:cNvSpPr>
            <a:spLocks noGrp="1"/>
          </p:cNvSpPr>
          <p:nvPr>
            <p:ph type="dt" sz="half" idx="10"/>
          </p:nvPr>
        </p:nvSpPr>
        <p:spPr/>
        <p:txBody>
          <a:bodyPr/>
          <a:lstStyle/>
          <a:p>
            <a:fld id="{8D2B755D-C9D9-4C1B-A028-28E61F2BD8E4}" type="datetime1">
              <a:rPr lang="en-US" smtClean="0"/>
              <a:t>11/11/2024</a:t>
            </a:fld>
            <a:endParaRPr lang="en-US"/>
          </a:p>
        </p:txBody>
      </p:sp>
      <p:pic>
        <p:nvPicPr>
          <p:cNvPr id="8" name="Picture 7">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9" name="Picture 8">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10"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pic>
        <p:nvPicPr>
          <p:cNvPr id="11" name="Picture 10"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Tree>
    <p:extLst>
      <p:ext uri="{BB962C8B-B14F-4D97-AF65-F5344CB8AC3E}">
        <p14:creationId xmlns:p14="http://schemas.microsoft.com/office/powerpoint/2010/main" val="80877726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IN" dirty="0" smtClean="0"/>
              <a:t>Readers-Writers Problem</a:t>
            </a:r>
            <a:endParaRPr lang="en-IN" dirty="0"/>
          </a:p>
        </p:txBody>
      </p:sp>
      <p:sp>
        <p:nvSpPr>
          <p:cNvPr id="6" name="Subtitle 5"/>
          <p:cNvSpPr>
            <a:spLocks noGrp="1"/>
          </p:cNvSpPr>
          <p:nvPr>
            <p:ph type="subTitle" idx="1"/>
          </p:nvPr>
        </p:nvSpPr>
        <p:spPr/>
        <p:txBody>
          <a:bodyPr/>
          <a:lstStyle/>
          <a:p>
            <a:endParaRPr lang="en-IN"/>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spTree>
    <p:extLst>
      <p:ext uri="{BB962C8B-B14F-4D97-AF65-F5344CB8AC3E}">
        <p14:creationId xmlns:p14="http://schemas.microsoft.com/office/powerpoint/2010/main" val="178300529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31968"/>
            <a:ext cx="11395912" cy="721920"/>
          </a:xfrm>
        </p:spPr>
        <p:txBody>
          <a:bodyPr>
            <a:normAutofit/>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0AC2E6F7-777D-4CA2-A168-81D5C55213C8}" type="datetime1">
              <a:rPr lang="en-US" smtClean="0"/>
              <a:t>11/11/2024</a:t>
            </a:fld>
            <a:endParaRPr lang="en-US"/>
          </a:p>
        </p:txBody>
      </p:sp>
      <p:sp>
        <p:nvSpPr>
          <p:cNvPr id="12" name="Rectangle 3"/>
          <p:cNvSpPr txBox="1">
            <a:spLocks noChangeArrowheads="1"/>
          </p:cNvSpPr>
          <p:nvPr/>
        </p:nvSpPr>
        <p:spPr>
          <a:xfrm>
            <a:off x="1038052" y="696794"/>
            <a:ext cx="10488084"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smtClean="0"/>
              <a:t>Process Synchronization Problem</a:t>
            </a:r>
          </a:p>
          <a:p>
            <a:endParaRPr lang="en-US" altLang="en-US" sz="2400" dirty="0" smtClean="0"/>
          </a:p>
          <a:p>
            <a:r>
              <a:rPr lang="en-US" altLang="en-US" sz="2400" dirty="0" smtClean="0"/>
              <a:t>A Database/Data set/Object/File/Record is shared among a number of concurrent processes</a:t>
            </a:r>
          </a:p>
          <a:p>
            <a:pPr lvl="1"/>
            <a:endParaRPr lang="en-US" altLang="en-US" dirty="0" smtClean="0"/>
          </a:p>
          <a:p>
            <a:pPr lvl="1"/>
            <a:r>
              <a:rPr lang="en-US" altLang="en-US" dirty="0" smtClean="0"/>
              <a:t>Readers – </a:t>
            </a:r>
            <a:r>
              <a:rPr lang="en-US" altLang="en-US" dirty="0" smtClean="0">
                <a:solidFill>
                  <a:srgbClr val="C00000"/>
                </a:solidFill>
              </a:rPr>
              <a:t>only read </a:t>
            </a:r>
            <a:r>
              <a:rPr lang="en-US" altLang="en-US" dirty="0" smtClean="0"/>
              <a:t>the data set; they do </a:t>
            </a:r>
            <a:r>
              <a:rPr lang="en-US" altLang="en-US" b="1" i="1" dirty="0" smtClean="0"/>
              <a:t>not</a:t>
            </a:r>
            <a:r>
              <a:rPr lang="en-US" altLang="en-US" b="1" dirty="0" smtClean="0"/>
              <a:t> </a:t>
            </a:r>
            <a:r>
              <a:rPr lang="en-US" altLang="en-US" dirty="0" smtClean="0"/>
              <a:t>perform any updates</a:t>
            </a:r>
          </a:p>
          <a:p>
            <a:pPr lvl="1"/>
            <a:endParaRPr lang="en-US" altLang="en-US" dirty="0" smtClean="0"/>
          </a:p>
          <a:p>
            <a:pPr lvl="1"/>
            <a:r>
              <a:rPr lang="en-US" altLang="en-US" dirty="0" smtClean="0"/>
              <a:t>Writers   – </a:t>
            </a:r>
            <a:r>
              <a:rPr lang="en-US" altLang="en-US" dirty="0" smtClean="0">
                <a:solidFill>
                  <a:srgbClr val="C00000"/>
                </a:solidFill>
              </a:rPr>
              <a:t>can both read and write i.e.</a:t>
            </a:r>
            <a:r>
              <a:rPr lang="en-US" altLang="en-US" dirty="0" smtClean="0"/>
              <a:t> </a:t>
            </a:r>
            <a:r>
              <a:rPr lang="en-US" altLang="en-US" dirty="0"/>
              <a:t>update</a:t>
            </a:r>
            <a:endParaRPr lang="en-US" altLang="en-US" dirty="0" smtClean="0"/>
          </a:p>
          <a:p>
            <a:endParaRPr lang="en-US" altLang="en-US" sz="2400" dirty="0" smtClean="0"/>
          </a:p>
          <a:p>
            <a:endParaRPr lang="en-US" altLang="en-US" sz="2400" dirty="0" smtClean="0"/>
          </a:p>
        </p:txBody>
      </p:sp>
    </p:spTree>
    <p:extLst>
      <p:ext uri="{BB962C8B-B14F-4D97-AF65-F5344CB8AC3E}">
        <p14:creationId xmlns:p14="http://schemas.microsoft.com/office/powerpoint/2010/main" val="81313518"/>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31968"/>
            <a:ext cx="11395912" cy="721920"/>
          </a:xfrm>
        </p:spPr>
        <p:txBody>
          <a:bodyPr>
            <a:normAutofit/>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C48D044C-6EA4-4531-B090-26066F287388}" type="datetime1">
              <a:rPr lang="en-US" smtClean="0"/>
              <a:t>11/11/2024</a:t>
            </a:fld>
            <a:endParaRPr lang="en-US"/>
          </a:p>
        </p:txBody>
      </p:sp>
      <p:sp>
        <p:nvSpPr>
          <p:cNvPr id="12" name="Rectangle 3"/>
          <p:cNvSpPr txBox="1">
            <a:spLocks noChangeArrowheads="1"/>
          </p:cNvSpPr>
          <p:nvPr/>
        </p:nvSpPr>
        <p:spPr>
          <a:xfrm>
            <a:off x="1038052" y="696794"/>
            <a:ext cx="10488084" cy="500538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2400" dirty="0" smtClean="0"/>
          </a:p>
          <a:p>
            <a:pPr marL="0" indent="0">
              <a:buNone/>
            </a:pPr>
            <a:r>
              <a:rPr lang="en-US" altLang="en-US" sz="2400" dirty="0" smtClean="0"/>
              <a:t>Problem – </a:t>
            </a:r>
          </a:p>
          <a:p>
            <a:r>
              <a:rPr lang="en-US" altLang="en-US" sz="2400" dirty="0" smtClean="0"/>
              <a:t>Allow multiple readers to read at the same time, no adverse effects</a:t>
            </a:r>
          </a:p>
          <a:p>
            <a:r>
              <a:rPr lang="en-US" altLang="en-US" sz="2400" dirty="0" smtClean="0"/>
              <a:t>If a writer and some other process(reader/writer) access shared object simultaneously chaos may ensue</a:t>
            </a:r>
          </a:p>
          <a:p>
            <a:pPr marL="0" indent="0">
              <a:buNone/>
            </a:pPr>
            <a:r>
              <a:rPr lang="en-US" altLang="en-US" sz="2400" dirty="0" smtClean="0"/>
              <a:t>Requirements</a:t>
            </a:r>
          </a:p>
          <a:p>
            <a:pPr lvl="1"/>
            <a:r>
              <a:rPr lang="en-US" altLang="en-US" dirty="0" smtClean="0"/>
              <a:t>Writers must have exclusive access to the shared object</a:t>
            </a:r>
          </a:p>
          <a:p>
            <a:r>
              <a:rPr lang="en-US" altLang="en-US" dirty="0"/>
              <a:t>R-W : </a:t>
            </a:r>
            <a:r>
              <a:rPr lang="en-US" altLang="en-US" dirty="0" smtClean="0">
                <a:solidFill>
                  <a:srgbClr val="C00000"/>
                </a:solidFill>
              </a:rPr>
              <a:t>not permitted</a:t>
            </a:r>
            <a:endParaRPr lang="en-US" altLang="en-US" dirty="0">
              <a:solidFill>
                <a:srgbClr val="C00000"/>
              </a:solidFill>
            </a:endParaRPr>
          </a:p>
          <a:p>
            <a:r>
              <a:rPr lang="en-US" altLang="en-US" dirty="0"/>
              <a:t>W-R : </a:t>
            </a:r>
            <a:r>
              <a:rPr lang="en-US" altLang="en-US" dirty="0">
                <a:solidFill>
                  <a:srgbClr val="C00000"/>
                </a:solidFill>
              </a:rPr>
              <a:t>not permitted</a:t>
            </a:r>
          </a:p>
          <a:p>
            <a:r>
              <a:rPr lang="en-US" altLang="en-US" dirty="0" smtClean="0"/>
              <a:t>W-W </a:t>
            </a:r>
            <a:r>
              <a:rPr lang="en-US" altLang="en-US" dirty="0"/>
              <a:t>: </a:t>
            </a:r>
            <a:r>
              <a:rPr lang="en-US" altLang="en-US" dirty="0">
                <a:solidFill>
                  <a:srgbClr val="C00000"/>
                </a:solidFill>
              </a:rPr>
              <a:t>not permitted</a:t>
            </a:r>
          </a:p>
          <a:p>
            <a:r>
              <a:rPr lang="en-US" altLang="en-US" dirty="0" smtClean="0"/>
              <a:t>R-R </a:t>
            </a:r>
            <a:r>
              <a:rPr lang="en-US" altLang="en-US" dirty="0"/>
              <a:t>: </a:t>
            </a:r>
            <a:r>
              <a:rPr lang="en-US" altLang="en-US" dirty="0" smtClean="0">
                <a:solidFill>
                  <a:schemeClr val="accent1"/>
                </a:solidFill>
              </a:rPr>
              <a:t>permitted</a:t>
            </a:r>
            <a:endParaRPr lang="en-US" altLang="en-US" dirty="0">
              <a:solidFill>
                <a:schemeClr val="accent1"/>
              </a:solidFill>
            </a:endParaRPr>
          </a:p>
          <a:p>
            <a:endParaRPr lang="en-US" altLang="en-US" dirty="0" smtClean="0"/>
          </a:p>
          <a:p>
            <a:pPr lvl="1"/>
            <a:endParaRPr lang="en-US" altLang="en-US" dirty="0" smtClean="0"/>
          </a:p>
          <a:p>
            <a:pPr lvl="1"/>
            <a:endParaRPr lang="en-US" altLang="en-US" dirty="0" smtClean="0"/>
          </a:p>
        </p:txBody>
      </p:sp>
    </p:spTree>
    <p:extLst>
      <p:ext uri="{BB962C8B-B14F-4D97-AF65-F5344CB8AC3E}">
        <p14:creationId xmlns:p14="http://schemas.microsoft.com/office/powerpoint/2010/main" val="3222633091"/>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4748"/>
          </a:xfrm>
        </p:spPr>
        <p:txBody>
          <a:bodyPr>
            <a:normAutofit fontScale="90000"/>
          </a:bodyPr>
          <a:lstStyle/>
          <a:p>
            <a:r>
              <a:rPr lang="en-IN" dirty="0"/>
              <a:t>Concurrency and Synchronization </a:t>
            </a:r>
            <a:r>
              <a:rPr lang="en-IN" dirty="0" smtClean="0"/>
              <a:t>Issues</a:t>
            </a:r>
            <a:endParaRPr lang="en-IN" dirty="0"/>
          </a:p>
        </p:txBody>
      </p:sp>
      <p:sp>
        <p:nvSpPr>
          <p:cNvPr id="3" name="Content Placeholder 2"/>
          <p:cNvSpPr>
            <a:spLocks noGrp="1"/>
          </p:cNvSpPr>
          <p:nvPr>
            <p:ph idx="1"/>
          </p:nvPr>
        </p:nvSpPr>
        <p:spPr>
          <a:xfrm>
            <a:off x="568036" y="1015134"/>
            <a:ext cx="10515600" cy="4351338"/>
          </a:xfrm>
        </p:spPr>
        <p:txBody>
          <a:bodyPr>
            <a:normAutofit fontScale="70000" lnSpcReduction="20000"/>
          </a:bodyPr>
          <a:lstStyle/>
          <a:p>
            <a:pPr marL="0" indent="0">
              <a:buNone/>
            </a:pPr>
            <a:r>
              <a:rPr lang="en-IN" dirty="0" smtClean="0">
                <a:latin typeface="Fira sans"/>
              </a:rPr>
              <a:t>1</a:t>
            </a:r>
            <a:r>
              <a:rPr lang="en-IN" dirty="0">
                <a:latin typeface="Fira sans"/>
              </a:rPr>
              <a:t>. Race Condition:</a:t>
            </a:r>
          </a:p>
          <a:p>
            <a:pPr marL="0" indent="0">
              <a:buNone/>
            </a:pPr>
            <a:r>
              <a:rPr lang="en-IN" dirty="0">
                <a:latin typeface="Fira sans"/>
              </a:rPr>
              <a:t>   - If a reader or writer does not acquire locks correctly before accessing the shared resource, a race condition can occur, leading to inconsistent or corrupted data.</a:t>
            </a:r>
          </a:p>
          <a:p>
            <a:pPr marL="0" indent="0">
              <a:buNone/>
            </a:pPr>
            <a:r>
              <a:rPr lang="en-IN" dirty="0">
                <a:latin typeface="Fira sans"/>
              </a:rPr>
              <a:t>   - For example, if a reader is reading data while a writer is modifying it, the reader may get inconsistent data.</a:t>
            </a:r>
          </a:p>
          <a:p>
            <a:pPr marL="0" indent="0">
              <a:buNone/>
            </a:pPr>
            <a:r>
              <a:rPr lang="en-IN" dirty="0">
                <a:latin typeface="Fira sans"/>
              </a:rPr>
              <a:t> </a:t>
            </a:r>
            <a:r>
              <a:rPr lang="en-IN" dirty="0" smtClean="0">
                <a:latin typeface="Fira sans"/>
              </a:rPr>
              <a:t>2</a:t>
            </a:r>
            <a:r>
              <a:rPr lang="en-IN" dirty="0">
                <a:latin typeface="Fira sans"/>
              </a:rPr>
              <a:t>. Mutual Exclusion:</a:t>
            </a:r>
          </a:p>
          <a:p>
            <a:pPr marL="0" indent="0">
              <a:buNone/>
            </a:pPr>
            <a:r>
              <a:rPr lang="en-IN" dirty="0">
                <a:latin typeface="Fira sans"/>
              </a:rPr>
              <a:t>   - Writers need mutual exclusion to prevent simultaneous write operations, which could lead to data corruption.</a:t>
            </a:r>
          </a:p>
          <a:p>
            <a:pPr marL="0" indent="0">
              <a:buNone/>
            </a:pPr>
            <a:r>
              <a:rPr lang="en-IN" dirty="0">
                <a:latin typeface="Fira sans"/>
              </a:rPr>
              <a:t>   - Readers don’t need mutual exclusion from each other, but they need to ensure that no writer is modifying the resource when they are reading.</a:t>
            </a:r>
          </a:p>
          <a:p>
            <a:pPr marL="0" indent="0">
              <a:buNone/>
            </a:pPr>
            <a:r>
              <a:rPr lang="en-IN" dirty="0">
                <a:latin typeface="Fira sans"/>
              </a:rPr>
              <a:t> </a:t>
            </a:r>
            <a:r>
              <a:rPr lang="en-IN" dirty="0" smtClean="0">
                <a:latin typeface="Fira sans"/>
              </a:rPr>
              <a:t>3</a:t>
            </a:r>
            <a:r>
              <a:rPr lang="en-IN" dirty="0">
                <a:latin typeface="Fira sans"/>
              </a:rPr>
              <a:t>. Deadlock:</a:t>
            </a:r>
          </a:p>
          <a:p>
            <a:pPr marL="0" indent="0">
              <a:buNone/>
            </a:pPr>
            <a:r>
              <a:rPr lang="en-IN" dirty="0">
                <a:latin typeface="Fira sans"/>
              </a:rPr>
              <a:t>   - Deadlock can occur if readers and writers are blocked waiting for each other in a circular dependency.</a:t>
            </a:r>
          </a:p>
          <a:p>
            <a:pPr marL="0" indent="0">
              <a:buNone/>
            </a:pPr>
            <a:r>
              <a:rPr lang="en-IN" dirty="0">
                <a:latin typeface="Fira sans"/>
              </a:rPr>
              <a:t>   - For example, a writer is waiting for readers to finish, while readers are waiting for the writer to release the resource.</a:t>
            </a:r>
          </a:p>
          <a:p>
            <a:pPr marL="0" indent="0">
              <a:buNone/>
            </a:pPr>
            <a:endParaRPr lang="en-IN" dirty="0">
              <a:latin typeface="Fira sans"/>
            </a:endParaRPr>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pic>
        <p:nvPicPr>
          <p:cNvPr id="5" name="Picture 4">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77925"/>
            <a:ext cx="385984" cy="12236665"/>
          </a:xfrm>
          <a:prstGeom prst="rect">
            <a:avLst/>
          </a:prstGeom>
        </p:spPr>
      </p:pic>
      <p:pic>
        <p:nvPicPr>
          <p:cNvPr id="6" name="Picture 5">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64525"/>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421" y="5620924"/>
            <a:ext cx="968545" cy="721920"/>
          </a:xfrm>
          <a:prstGeom prst="rect">
            <a:avLst/>
          </a:prstGeom>
        </p:spPr>
      </p:pic>
      <p:pic>
        <p:nvPicPr>
          <p:cNvPr id="8" name="Picture 7"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51200"/>
            <a:ext cx="3245736" cy="811434"/>
          </a:xfrm>
          <a:prstGeom prst="rect">
            <a:avLst/>
          </a:prstGeom>
        </p:spPr>
      </p:pic>
    </p:spTree>
    <p:extLst>
      <p:ext uri="{BB962C8B-B14F-4D97-AF65-F5344CB8AC3E}">
        <p14:creationId xmlns:p14="http://schemas.microsoft.com/office/powerpoint/2010/main" val="237972145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1230"/>
          </a:xfrm>
        </p:spPr>
        <p:txBody>
          <a:bodyPr>
            <a:normAutofit fontScale="90000"/>
          </a:bodyPr>
          <a:lstStyle/>
          <a:p>
            <a:r>
              <a:rPr lang="en-IN" dirty="0"/>
              <a:t>Concurrency and Synchronization </a:t>
            </a:r>
            <a:r>
              <a:rPr lang="en-IN" dirty="0" smtClean="0"/>
              <a:t>Issues</a:t>
            </a:r>
            <a:endParaRPr lang="en-IN" dirty="0"/>
          </a:p>
        </p:txBody>
      </p:sp>
      <p:sp>
        <p:nvSpPr>
          <p:cNvPr id="3" name="Content Placeholder 2"/>
          <p:cNvSpPr>
            <a:spLocks noGrp="1"/>
          </p:cNvSpPr>
          <p:nvPr>
            <p:ph idx="1"/>
          </p:nvPr>
        </p:nvSpPr>
        <p:spPr>
          <a:xfrm>
            <a:off x="703118" y="1089471"/>
            <a:ext cx="10515600" cy="4351338"/>
          </a:xfrm>
        </p:spPr>
        <p:txBody>
          <a:bodyPr>
            <a:normAutofit fontScale="85000" lnSpcReduction="20000"/>
          </a:bodyPr>
          <a:lstStyle/>
          <a:p>
            <a:pPr marL="0" indent="0">
              <a:buNone/>
            </a:pPr>
            <a:r>
              <a:rPr lang="en-IN" dirty="0"/>
              <a:t> </a:t>
            </a:r>
            <a:r>
              <a:rPr lang="en-IN" dirty="0" smtClean="0"/>
              <a:t>4</a:t>
            </a:r>
            <a:r>
              <a:rPr lang="en-IN" dirty="0"/>
              <a:t>. Starvation:</a:t>
            </a:r>
          </a:p>
          <a:p>
            <a:pPr marL="0" indent="0">
              <a:buNone/>
            </a:pPr>
            <a:r>
              <a:rPr lang="en-IN" dirty="0"/>
              <a:t>   - Starvation occurs when one group (readers or writers) is continually given priority, preventing the other group from accessing the resource.</a:t>
            </a:r>
          </a:p>
          <a:p>
            <a:pPr marL="0" indent="0">
              <a:buNone/>
            </a:pPr>
            <a:r>
              <a:rPr lang="en-IN" dirty="0"/>
              <a:t>   - Writer Starvation: If the system gives continuous priority to readers, writers may starve (never get a chance to write). This is known as Reader Priority.</a:t>
            </a:r>
          </a:p>
          <a:p>
            <a:pPr marL="0" indent="0">
              <a:buNone/>
            </a:pPr>
            <a:r>
              <a:rPr lang="en-IN" dirty="0"/>
              <a:t>   - Reader Starvation: If writers are given priority over readers, readers may starve if new writers keep coming. This is called Writer Priority.</a:t>
            </a:r>
          </a:p>
          <a:p>
            <a:pPr marL="0" indent="0">
              <a:buNone/>
            </a:pPr>
            <a:r>
              <a:rPr lang="en-IN" dirty="0"/>
              <a:t> </a:t>
            </a:r>
            <a:r>
              <a:rPr lang="en-IN" dirty="0" smtClean="0"/>
              <a:t>5</a:t>
            </a:r>
            <a:r>
              <a:rPr lang="en-IN" dirty="0"/>
              <a:t>. Fairness:</a:t>
            </a:r>
          </a:p>
          <a:p>
            <a:pPr marL="0" indent="0">
              <a:buNone/>
            </a:pPr>
            <a:r>
              <a:rPr lang="en-IN" dirty="0"/>
              <a:t>   - A fair solution must ensure that both readers and writers get a reasonable opportunity to access the resource.</a:t>
            </a:r>
          </a:p>
          <a:p>
            <a:pPr marL="0" indent="0">
              <a:buNone/>
            </a:pPr>
            <a:r>
              <a:rPr lang="en-IN" dirty="0"/>
              <a:t>   - Fairness is about avoiding starvation and ensuring that neither readers nor writers are indefinitely delayed.</a:t>
            </a:r>
          </a:p>
          <a:p>
            <a:endParaRPr lang="en-IN" dirty="0"/>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pic>
        <p:nvPicPr>
          <p:cNvPr id="5" name="Picture 4">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6" name="Picture 5">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pic>
        <p:nvPicPr>
          <p:cNvPr id="8" name="Picture 7"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Tree>
    <p:extLst>
      <p:ext uri="{BB962C8B-B14F-4D97-AF65-F5344CB8AC3E}">
        <p14:creationId xmlns:p14="http://schemas.microsoft.com/office/powerpoint/2010/main" val="262219109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75"/>
          </a:xfrm>
        </p:spPr>
        <p:txBody>
          <a:bodyPr/>
          <a:lstStyle/>
          <a:p>
            <a:r>
              <a:rPr lang="en-IN" dirty="0" smtClean="0"/>
              <a:t>Example- </a:t>
            </a:r>
            <a:r>
              <a:rPr lang="en-US" dirty="0"/>
              <a:t>a library catalog</a:t>
            </a:r>
            <a:endParaRPr lang="en-IN" dirty="0"/>
          </a:p>
        </p:txBody>
      </p:sp>
      <p:sp>
        <p:nvSpPr>
          <p:cNvPr id="3" name="Content Placeholder 2"/>
          <p:cNvSpPr>
            <a:spLocks noGrp="1"/>
          </p:cNvSpPr>
          <p:nvPr>
            <p:ph idx="1"/>
          </p:nvPr>
        </p:nvSpPr>
        <p:spPr>
          <a:xfrm>
            <a:off x="797093" y="1089471"/>
            <a:ext cx="10515600" cy="4351338"/>
          </a:xfrm>
        </p:spPr>
        <p:txBody>
          <a:bodyPr>
            <a:normAutofit lnSpcReduction="10000"/>
          </a:bodyPr>
          <a:lstStyle/>
          <a:p>
            <a:r>
              <a:rPr lang="en-US" dirty="0" smtClean="0"/>
              <a:t>Ordinary users of </a:t>
            </a:r>
            <a:r>
              <a:rPr lang="en-US" dirty="0"/>
              <a:t>the library read the catalog to locate a book. </a:t>
            </a:r>
            <a:endParaRPr lang="en-US" dirty="0" smtClean="0"/>
          </a:p>
          <a:p>
            <a:r>
              <a:rPr lang="en-US" dirty="0" smtClean="0"/>
              <a:t>One </a:t>
            </a:r>
            <a:r>
              <a:rPr lang="en-US" dirty="0"/>
              <a:t>or more librarians are able </a:t>
            </a:r>
            <a:r>
              <a:rPr lang="en-US" dirty="0" smtClean="0"/>
              <a:t>to update </a:t>
            </a:r>
            <a:r>
              <a:rPr lang="en-US" dirty="0"/>
              <a:t>the catalog. </a:t>
            </a:r>
            <a:endParaRPr lang="en-US" dirty="0" smtClean="0"/>
          </a:p>
          <a:p>
            <a:r>
              <a:rPr lang="en-US" dirty="0" smtClean="0"/>
              <a:t>In </a:t>
            </a:r>
            <a:r>
              <a:rPr lang="en-US" dirty="0"/>
              <a:t>the general </a:t>
            </a:r>
            <a:r>
              <a:rPr lang="en-US" dirty="0" smtClean="0"/>
              <a:t>solution-</a:t>
            </a:r>
          </a:p>
          <a:p>
            <a:pPr lvl="1"/>
            <a:r>
              <a:rPr lang="en-US" dirty="0" smtClean="0"/>
              <a:t>every </a:t>
            </a:r>
            <a:r>
              <a:rPr lang="en-US" dirty="0"/>
              <a:t>access to the catalog would </a:t>
            </a:r>
            <a:r>
              <a:rPr lang="en-US" dirty="0" smtClean="0"/>
              <a:t>be </a:t>
            </a:r>
            <a:r>
              <a:rPr lang="en-US" dirty="0"/>
              <a:t>treated as a critical section, and </a:t>
            </a:r>
            <a:endParaRPr lang="en-US" dirty="0" smtClean="0"/>
          </a:p>
          <a:p>
            <a:pPr lvl="1"/>
            <a:r>
              <a:rPr lang="en-US" dirty="0" smtClean="0"/>
              <a:t>users </a:t>
            </a:r>
            <a:r>
              <a:rPr lang="en-US" dirty="0"/>
              <a:t>would be forced to read the catalog one at </a:t>
            </a:r>
            <a:r>
              <a:rPr lang="en-US" dirty="0" smtClean="0"/>
              <a:t>a time.</a:t>
            </a:r>
          </a:p>
          <a:p>
            <a:pPr lvl="1"/>
            <a:r>
              <a:rPr lang="en-US" dirty="0" smtClean="0"/>
              <a:t>would </a:t>
            </a:r>
            <a:r>
              <a:rPr lang="en-US" dirty="0"/>
              <a:t>clearly impose intolerable delays. </a:t>
            </a:r>
            <a:endParaRPr lang="en-US" dirty="0" smtClean="0"/>
          </a:p>
          <a:p>
            <a:r>
              <a:rPr lang="en-US" dirty="0" smtClean="0"/>
              <a:t>At </a:t>
            </a:r>
            <a:r>
              <a:rPr lang="en-US" dirty="0"/>
              <a:t>the same time, it is </a:t>
            </a:r>
            <a:r>
              <a:rPr lang="en-US" dirty="0" smtClean="0"/>
              <a:t>important to </a:t>
            </a:r>
            <a:r>
              <a:rPr lang="en-US" dirty="0"/>
              <a:t>prevent writers from interfering with each other </a:t>
            </a:r>
            <a:endParaRPr lang="en-US" dirty="0" smtClean="0"/>
          </a:p>
          <a:p>
            <a:r>
              <a:rPr lang="en-US" dirty="0" smtClean="0"/>
              <a:t>it </a:t>
            </a:r>
            <a:r>
              <a:rPr lang="en-US" dirty="0"/>
              <a:t>is also required </a:t>
            </a:r>
            <a:r>
              <a:rPr lang="en-US" dirty="0" smtClean="0"/>
              <a:t>to prevent </a:t>
            </a:r>
            <a:r>
              <a:rPr lang="en-US" dirty="0"/>
              <a:t>reading while writing is in progress to prevent the access of </a:t>
            </a:r>
            <a:r>
              <a:rPr lang="en-US" dirty="0" smtClean="0"/>
              <a:t>inconsistent </a:t>
            </a:r>
            <a:r>
              <a:rPr lang="en-IN" dirty="0" smtClean="0"/>
              <a:t>information</a:t>
            </a:r>
            <a:r>
              <a:rPr lang="en-IN" dirty="0"/>
              <a:t>.</a:t>
            </a:r>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pic>
        <p:nvPicPr>
          <p:cNvPr id="5" name="Picture 4">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6" name="Picture 5">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pic>
        <p:nvPicPr>
          <p:cNvPr id="8" name="Picture 7"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Tree>
    <p:extLst>
      <p:ext uri="{BB962C8B-B14F-4D97-AF65-F5344CB8AC3E}">
        <p14:creationId xmlns:p14="http://schemas.microsoft.com/office/powerpoint/2010/main" val="2311035446"/>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3575"/>
          </a:xfrm>
        </p:spPr>
        <p:txBody>
          <a:bodyPr>
            <a:normAutofit fontScale="90000"/>
          </a:bodyPr>
          <a:lstStyle/>
          <a:p>
            <a:r>
              <a:rPr lang="en-US" dirty="0" smtClean="0"/>
              <a:t>Producer/Consumer vs Readers/Writers</a:t>
            </a:r>
            <a:endParaRPr lang="en-IN" dirty="0"/>
          </a:p>
        </p:txBody>
      </p:sp>
      <p:sp>
        <p:nvSpPr>
          <p:cNvPr id="3" name="Content Placeholder 2"/>
          <p:cNvSpPr>
            <a:spLocks noGrp="1"/>
          </p:cNvSpPr>
          <p:nvPr>
            <p:ph idx="1"/>
          </p:nvPr>
        </p:nvSpPr>
        <p:spPr>
          <a:xfrm>
            <a:off x="703118" y="1259195"/>
            <a:ext cx="10515600" cy="4351338"/>
          </a:xfrm>
        </p:spPr>
        <p:txBody>
          <a:bodyPr>
            <a:normAutofit fontScale="92500" lnSpcReduction="20000"/>
          </a:bodyPr>
          <a:lstStyle/>
          <a:p>
            <a:r>
              <a:rPr lang="en-US" dirty="0"/>
              <a:t>Can </a:t>
            </a:r>
            <a:r>
              <a:rPr lang="en-US" dirty="0" smtClean="0"/>
              <a:t>we take a </a:t>
            </a:r>
            <a:r>
              <a:rPr lang="en-US" dirty="0"/>
              <a:t>single writer (the producer) and a single </a:t>
            </a:r>
            <a:r>
              <a:rPr lang="en-US" dirty="0" smtClean="0"/>
              <a:t>reader (</a:t>
            </a:r>
            <a:r>
              <a:rPr lang="en-US" dirty="0"/>
              <a:t>the consumer)? </a:t>
            </a:r>
            <a:endParaRPr lang="en-US" dirty="0" smtClean="0"/>
          </a:p>
          <a:p>
            <a:r>
              <a:rPr lang="en-US" b="1" u="sng" dirty="0" smtClean="0">
                <a:solidFill>
                  <a:srgbClr val="C00000"/>
                </a:solidFill>
              </a:rPr>
              <a:t>The </a:t>
            </a:r>
            <a:r>
              <a:rPr lang="en-US" b="1" u="sng" dirty="0">
                <a:solidFill>
                  <a:srgbClr val="C00000"/>
                </a:solidFill>
              </a:rPr>
              <a:t>answer is no. </a:t>
            </a:r>
            <a:endParaRPr lang="en-US" b="1" u="sng" dirty="0" smtClean="0">
              <a:solidFill>
                <a:srgbClr val="C00000"/>
              </a:solidFill>
            </a:endParaRPr>
          </a:p>
          <a:p>
            <a:r>
              <a:rPr lang="en-US" dirty="0" smtClean="0"/>
              <a:t>The </a:t>
            </a:r>
            <a:r>
              <a:rPr lang="en-US" dirty="0"/>
              <a:t>producer is not just a writer. </a:t>
            </a:r>
            <a:endParaRPr lang="en-US" dirty="0" smtClean="0"/>
          </a:p>
          <a:p>
            <a:r>
              <a:rPr lang="en-US" dirty="0" smtClean="0"/>
              <a:t>It </a:t>
            </a:r>
            <a:r>
              <a:rPr lang="en-US" dirty="0"/>
              <a:t>must </a:t>
            </a:r>
            <a:r>
              <a:rPr lang="en-US" dirty="0" smtClean="0"/>
              <a:t>read queue </a:t>
            </a:r>
            <a:r>
              <a:rPr lang="en-US" dirty="0"/>
              <a:t>pointers to determine where to write the next item, </a:t>
            </a:r>
            <a:endParaRPr lang="en-US" dirty="0" smtClean="0"/>
          </a:p>
          <a:p>
            <a:r>
              <a:rPr lang="en-US" dirty="0" smtClean="0"/>
              <a:t>it </a:t>
            </a:r>
            <a:r>
              <a:rPr lang="en-US" dirty="0"/>
              <a:t>must determine </a:t>
            </a:r>
            <a:r>
              <a:rPr lang="en-US" dirty="0" smtClean="0"/>
              <a:t>if the </a:t>
            </a:r>
            <a:r>
              <a:rPr lang="en-US" dirty="0"/>
              <a:t>buffer is full. </a:t>
            </a:r>
            <a:endParaRPr lang="en-US" dirty="0" smtClean="0"/>
          </a:p>
          <a:p>
            <a:r>
              <a:rPr lang="en-US" dirty="0" smtClean="0"/>
              <a:t>Similarly</a:t>
            </a:r>
            <a:r>
              <a:rPr lang="en-US" dirty="0"/>
              <a:t>, the consumer is not just a reader, </a:t>
            </a:r>
            <a:endParaRPr lang="en-US" dirty="0" smtClean="0"/>
          </a:p>
          <a:p>
            <a:r>
              <a:rPr lang="en-US" dirty="0" smtClean="0"/>
              <a:t>it </a:t>
            </a:r>
            <a:r>
              <a:rPr lang="en-US" dirty="0"/>
              <a:t>must </a:t>
            </a:r>
            <a:r>
              <a:rPr lang="en-US" dirty="0" smtClean="0"/>
              <a:t>adjust the </a:t>
            </a:r>
            <a:r>
              <a:rPr lang="en-US" dirty="0"/>
              <a:t>queue pointers to show that it has removed a unit from the buffer</a:t>
            </a:r>
            <a:r>
              <a:rPr lang="en-US" dirty="0" smtClean="0"/>
              <a:t>.</a:t>
            </a:r>
          </a:p>
          <a:p>
            <a:r>
              <a:rPr lang="en-US" dirty="0" smtClean="0"/>
              <a:t>Reader must maintain </a:t>
            </a:r>
            <a:r>
              <a:rPr lang="en-US" dirty="0"/>
              <a:t>queue pointers to determine where to </a:t>
            </a:r>
            <a:r>
              <a:rPr lang="en-US" dirty="0" smtClean="0"/>
              <a:t>read the </a:t>
            </a:r>
            <a:r>
              <a:rPr lang="en-US" dirty="0"/>
              <a:t>next item</a:t>
            </a:r>
            <a:endParaRPr lang="en-IN" dirty="0"/>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pic>
        <p:nvPicPr>
          <p:cNvPr id="5" name="Picture 4">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6" name="Picture 5">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pic>
        <p:nvPicPr>
          <p:cNvPr id="8" name="Picture 7"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Tree>
    <p:extLst>
      <p:ext uri="{BB962C8B-B14F-4D97-AF65-F5344CB8AC3E}">
        <p14:creationId xmlns:p14="http://schemas.microsoft.com/office/powerpoint/2010/main" val="18201984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0"/>
            <a:ext cx="11395912" cy="721920"/>
          </a:xfrm>
        </p:spPr>
        <p:txBody>
          <a:bodyPr>
            <a:normAutofit/>
          </a:bodyPr>
          <a:lstStyle/>
          <a:p>
            <a:pPr algn="ctr"/>
            <a:r>
              <a:rPr lang="en-US" sz="3200" dirty="0">
                <a:solidFill>
                  <a:srgbClr val="C00000"/>
                </a:solidFill>
                <a:latin typeface="Marcellus" panose="020E0602050203020307" pitchFamily="34" charset="0"/>
              </a:rPr>
              <a:t>Readers-Writers Problem</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1D4CBCB0-B6CA-4031-9792-1E8FAE9A156B}" type="datetime1">
              <a:rPr lang="en-US" smtClean="0"/>
              <a:t>11/11/2024</a:t>
            </a:fld>
            <a:endParaRPr lang="en-US"/>
          </a:p>
        </p:txBody>
      </p:sp>
      <p:sp>
        <p:nvSpPr>
          <p:cNvPr id="13" name="Rectangle 3"/>
          <p:cNvSpPr txBox="1">
            <a:spLocks noChangeArrowheads="1"/>
          </p:cNvSpPr>
          <p:nvPr/>
        </p:nvSpPr>
        <p:spPr>
          <a:xfrm>
            <a:off x="1147234" y="945998"/>
            <a:ext cx="10488084"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smtClean="0"/>
              <a:t>Several variations– all involving priorities</a:t>
            </a:r>
          </a:p>
          <a:p>
            <a:r>
              <a:rPr lang="en-US" altLang="en-US" sz="2400" dirty="0" smtClean="0"/>
              <a:t>Reader priority Problem-</a:t>
            </a:r>
          </a:p>
          <a:p>
            <a:pPr lvl="1"/>
            <a:r>
              <a:rPr lang="en-US" altLang="en-US" dirty="0" smtClean="0"/>
              <a:t>No reader will be kept waiting unless a writer has already obtained permission to use the shared object.</a:t>
            </a:r>
          </a:p>
          <a:p>
            <a:pPr lvl="1"/>
            <a:r>
              <a:rPr lang="en-US" altLang="en-US" dirty="0" smtClean="0"/>
              <a:t>No reader should wait for other readers to finish </a:t>
            </a:r>
            <a:r>
              <a:rPr lang="en-IN" altLang="en-US" dirty="0"/>
              <a:t>simply because a writer is waiting</a:t>
            </a:r>
            <a:endParaRPr lang="en-US" altLang="en-US" dirty="0" smtClean="0"/>
          </a:p>
          <a:p>
            <a:r>
              <a:rPr lang="en-US" altLang="en-US" sz="2400" dirty="0" smtClean="0"/>
              <a:t>Writer priority </a:t>
            </a:r>
            <a:r>
              <a:rPr lang="en-US" altLang="en-US" sz="2400" dirty="0"/>
              <a:t>Problem-</a:t>
            </a:r>
            <a:endParaRPr lang="en-US" altLang="en-US" sz="2400" dirty="0" smtClean="0"/>
          </a:p>
          <a:p>
            <a:pPr lvl="1"/>
            <a:r>
              <a:rPr lang="en-US" altLang="en-US" dirty="0" smtClean="0"/>
              <a:t>Once a writer is ready , that writer performs its write as soon as possible</a:t>
            </a:r>
          </a:p>
          <a:p>
            <a:pPr lvl="1"/>
            <a:r>
              <a:rPr lang="en-US" altLang="en-US" dirty="0" smtClean="0"/>
              <a:t>If a writer is waiting to access the object, no new readers may start reading</a:t>
            </a:r>
          </a:p>
          <a:p>
            <a:r>
              <a:rPr lang="en-US" altLang="en-US" dirty="0" smtClean="0"/>
              <a:t>Fair policy reader-writer problem</a:t>
            </a:r>
          </a:p>
          <a:p>
            <a:pPr lvl="1"/>
            <a:endParaRPr lang="en-US" altLang="en-US" dirty="0" smtClean="0"/>
          </a:p>
        </p:txBody>
      </p:sp>
    </p:spTree>
    <p:extLst>
      <p:ext uri="{BB962C8B-B14F-4D97-AF65-F5344CB8AC3E}">
        <p14:creationId xmlns:p14="http://schemas.microsoft.com/office/powerpoint/2010/main" val="350074998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0518"/>
            <a:ext cx="11395912" cy="721920"/>
          </a:xfrm>
        </p:spPr>
        <p:txBody>
          <a:bodyPr>
            <a:normAutofit/>
          </a:bodyPr>
          <a:lstStyle/>
          <a:p>
            <a:pPr algn="ctr"/>
            <a:r>
              <a:rPr lang="en-US" sz="3200" dirty="0" smtClean="0">
                <a:solidFill>
                  <a:srgbClr val="C00000"/>
                </a:solidFill>
                <a:latin typeface="Marcellus" panose="020E0602050203020307" pitchFamily="34" charset="0"/>
              </a:rPr>
              <a:t>R-W Problem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1036488"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40920C6-5C65-4F49-BD54-D43CE47FB2D7}" type="datetime1">
              <a:rPr lang="en-US" smtClean="0"/>
              <a:t>11/11/2024</a:t>
            </a:fld>
            <a:endParaRPr lang="en-US"/>
          </a:p>
        </p:txBody>
      </p:sp>
      <p:sp>
        <p:nvSpPr>
          <p:cNvPr id="12" name="Rectangle 3"/>
          <p:cNvSpPr txBox="1">
            <a:spLocks noChangeArrowheads="1"/>
          </p:cNvSpPr>
          <p:nvPr/>
        </p:nvSpPr>
        <p:spPr>
          <a:xfrm>
            <a:off x="204715" y="560597"/>
            <a:ext cx="4722125" cy="5065713"/>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smtClean="0"/>
              <a:t>The structure of a reader process</a:t>
            </a:r>
            <a:endParaRPr lang="en-US" altLang="en-US" sz="1600" dirty="0" smtClean="0">
              <a:solidFill>
                <a:srgbClr val="0000FF"/>
              </a:solidFill>
            </a:endParaRPr>
          </a:p>
          <a:p>
            <a:pPr>
              <a:buFont typeface="Monotype Sorts" pitchFamily="-84" charset="2"/>
              <a:buNone/>
            </a:pPr>
            <a:r>
              <a:rPr lang="en-US" altLang="en-US" sz="1600" b="1" dirty="0" smtClean="0">
                <a:latin typeface="Courier New" pitchFamily="49" charset="0"/>
                <a:cs typeface="Courier New" pitchFamily="49" charset="0"/>
              </a:rPr>
              <a:t>       do {</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a:t>
            </a:r>
            <a:r>
              <a:rPr lang="en-US" altLang="en-US" sz="1600" b="1" dirty="0" err="1" smtClean="0">
                <a:latin typeface="Courier New" pitchFamily="49" charset="0"/>
                <a:cs typeface="Courier New" pitchFamily="49" charset="0"/>
              </a:rPr>
              <a:t>read_count</a:t>
            </a:r>
            <a:r>
              <a:rPr lang="en-US" altLang="en-US" sz="1600" b="1" dirty="0" smtClean="0">
                <a:latin typeface="Courier New" pitchFamily="49" charset="0"/>
                <a:cs typeface="Courier New" pitchFamily="49" charset="0"/>
              </a:rPr>
              <a: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if (</a:t>
            </a:r>
            <a:r>
              <a:rPr lang="en-US" altLang="en-US" sz="1600" b="1" dirty="0" err="1" smtClean="0">
                <a:latin typeface="Courier New" pitchFamily="49" charset="0"/>
                <a:cs typeface="Courier New" pitchFamily="49" charset="0"/>
              </a:rPr>
              <a:t>read_count</a:t>
            </a:r>
            <a:r>
              <a:rPr lang="en-US" altLang="en-US" sz="1600" b="1" dirty="0" smtClean="0">
                <a:latin typeface="Courier New" pitchFamily="49" charset="0"/>
                <a:cs typeface="Courier New" pitchFamily="49" charset="0"/>
              </a:rPr>
              <a:t> == 1) </a:t>
            </a:r>
          </a:p>
          <a:p>
            <a:pPr>
              <a:buFont typeface="Monotype Sorts" pitchFamily="-84" charset="2"/>
              <a:buNone/>
            </a:pP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rw_mutex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 reading is performed */ </a:t>
            </a:r>
          </a:p>
          <a:p>
            <a:pPr>
              <a:buFont typeface="Monotype Sorts" pitchFamily="-84" charset="2"/>
              <a:buNone/>
            </a:pPr>
            <a:r>
              <a:rPr lang="en-US" altLang="en-US" sz="1600" b="1" dirty="0" smtClean="0">
                <a:latin typeface="Courier New" pitchFamily="49" charset="0"/>
                <a:cs typeface="Courier New" pitchFamily="49" charset="0"/>
              </a:rPr>
              <a:t>               ... </a:t>
            </a:r>
          </a:p>
          <a:p>
            <a:pPr>
              <a:buFont typeface="Monotype Sorts" pitchFamily="-84" charset="2"/>
              <a:buNone/>
            </a:pP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read count--;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if (</a:t>
            </a:r>
            <a:r>
              <a:rPr lang="en-US" altLang="en-US" sz="1600" b="1" dirty="0" err="1" smtClean="0">
                <a:latin typeface="Courier New" pitchFamily="49" charset="0"/>
                <a:cs typeface="Courier New" pitchFamily="49" charset="0"/>
              </a:rPr>
              <a:t>read_count</a:t>
            </a:r>
            <a:r>
              <a:rPr lang="en-US" altLang="en-US" sz="1600" b="1" dirty="0" smtClean="0">
                <a:latin typeface="Courier New" pitchFamily="49" charset="0"/>
                <a:cs typeface="Courier New" pitchFamily="49" charset="0"/>
              </a:rPr>
              <a:t> == 0)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rw_mutex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 while (true);</a:t>
            </a:r>
            <a:r>
              <a:rPr lang="en-US" altLang="en-US" sz="1600" dirty="0" smtClean="0">
                <a:solidFill>
                  <a:srgbClr val="0000FF"/>
                </a:solidFill>
              </a:rPr>
              <a:t>  </a:t>
            </a:r>
          </a:p>
        </p:txBody>
      </p:sp>
      <p:sp>
        <p:nvSpPr>
          <p:cNvPr id="13" name="Rectangle 3"/>
          <p:cNvSpPr txBox="1">
            <a:spLocks noChangeArrowheads="1"/>
          </p:cNvSpPr>
          <p:nvPr/>
        </p:nvSpPr>
        <p:spPr>
          <a:xfrm>
            <a:off x="4831307" y="866586"/>
            <a:ext cx="4088106"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r>
              <a:rPr lang="en-US" altLang="en-US" sz="1800" dirty="0" smtClean="0"/>
              <a:t>Reader</a:t>
            </a:r>
          </a:p>
          <a:p>
            <a:pPr lvl="1"/>
            <a:r>
              <a:rPr lang="en-US" altLang="en-US" sz="1800" dirty="0" smtClean="0"/>
              <a:t>Initially </a:t>
            </a:r>
            <a:r>
              <a:rPr lang="en-US" altLang="en-US" sz="1800" dirty="0" err="1" smtClean="0"/>
              <a:t>readcount</a:t>
            </a:r>
            <a:r>
              <a:rPr lang="en-US" altLang="en-US" sz="1800" dirty="0" smtClean="0"/>
              <a:t>=0</a:t>
            </a:r>
          </a:p>
          <a:p>
            <a:pPr lvl="1"/>
            <a:r>
              <a:rPr lang="en-US" altLang="en-US" sz="1800" dirty="0" smtClean="0"/>
              <a:t>First Reader R1 tries to enter </a:t>
            </a:r>
          </a:p>
          <a:p>
            <a:pPr lvl="1"/>
            <a:r>
              <a:rPr lang="en-US" altLang="en-US" sz="1800" dirty="0" smtClean="0"/>
              <a:t>wait </a:t>
            </a:r>
            <a:r>
              <a:rPr lang="en-US" altLang="en-US" sz="1800" dirty="0" err="1" smtClean="0"/>
              <a:t>mutex</a:t>
            </a:r>
            <a:r>
              <a:rPr lang="en-US" altLang="en-US" sz="1800" dirty="0" smtClean="0"/>
              <a:t> so </a:t>
            </a:r>
            <a:r>
              <a:rPr lang="en-US" altLang="en-US" sz="1800" dirty="0" err="1" smtClean="0"/>
              <a:t>mutex</a:t>
            </a:r>
            <a:r>
              <a:rPr lang="en-US" altLang="en-US" sz="1800" dirty="0" smtClean="0"/>
              <a:t>=0</a:t>
            </a:r>
          </a:p>
          <a:p>
            <a:pPr lvl="1"/>
            <a:r>
              <a:rPr lang="en-US" altLang="en-US" sz="1800" dirty="0" err="1" smtClean="0"/>
              <a:t>readcount</a:t>
            </a:r>
            <a:r>
              <a:rPr lang="en-US" altLang="en-US" sz="1800" dirty="0" smtClean="0"/>
              <a:t>=1</a:t>
            </a:r>
          </a:p>
          <a:p>
            <a:pPr lvl="1"/>
            <a:r>
              <a:rPr lang="en-US" altLang="en-US" sz="1800" dirty="0" smtClean="0"/>
              <a:t>if </a:t>
            </a:r>
            <a:r>
              <a:rPr lang="en-US" altLang="en-US" sz="1800" dirty="0" err="1" smtClean="0"/>
              <a:t>readcount</a:t>
            </a:r>
            <a:r>
              <a:rPr lang="en-US" altLang="en-US" sz="1800" dirty="0" smtClean="0"/>
              <a:t> is one i.e. First reader</a:t>
            </a:r>
          </a:p>
          <a:p>
            <a:pPr lvl="1"/>
            <a:r>
              <a:rPr lang="en-US" altLang="en-US" sz="1800" dirty="0" smtClean="0"/>
              <a:t>wait </a:t>
            </a:r>
            <a:r>
              <a:rPr lang="en-US" altLang="en-US" sz="1800" dirty="0" err="1" smtClean="0"/>
              <a:t>rw_mutex</a:t>
            </a:r>
            <a:r>
              <a:rPr lang="en-US" altLang="en-US" sz="1800" dirty="0"/>
              <a:t> </a:t>
            </a:r>
            <a:r>
              <a:rPr lang="en-US" altLang="en-US" sz="1800" dirty="0" smtClean="0"/>
              <a:t>so </a:t>
            </a:r>
            <a:r>
              <a:rPr lang="en-US" altLang="en-US" sz="1800" dirty="0" err="1" smtClean="0"/>
              <a:t>rw_mutex</a:t>
            </a:r>
            <a:r>
              <a:rPr lang="en-US" altLang="en-US" sz="1800" dirty="0" smtClean="0"/>
              <a:t>=0</a:t>
            </a:r>
          </a:p>
          <a:p>
            <a:pPr lvl="1"/>
            <a:r>
              <a:rPr lang="en-US" altLang="en-US" sz="1800" dirty="0" err="1" smtClean="0"/>
              <a:t>readcount</a:t>
            </a:r>
            <a:r>
              <a:rPr lang="en-US" altLang="en-US" sz="1800" dirty="0" smtClean="0"/>
              <a:t> </a:t>
            </a:r>
            <a:r>
              <a:rPr lang="en-US" altLang="en-US" sz="1800" dirty="0" err="1" smtClean="0"/>
              <a:t>updation</a:t>
            </a:r>
            <a:r>
              <a:rPr lang="en-US" altLang="en-US" sz="1800" dirty="0" smtClean="0"/>
              <a:t> finished so signal </a:t>
            </a:r>
            <a:r>
              <a:rPr lang="en-US" altLang="en-US" sz="1800" dirty="0" err="1" smtClean="0"/>
              <a:t>mutex</a:t>
            </a:r>
            <a:r>
              <a:rPr lang="en-US" altLang="en-US" sz="1800" dirty="0" smtClean="0"/>
              <a:t>, </a:t>
            </a:r>
            <a:r>
              <a:rPr lang="en-US" altLang="en-US" sz="1800" dirty="0" err="1" smtClean="0"/>
              <a:t>mutex</a:t>
            </a:r>
            <a:r>
              <a:rPr lang="en-US" altLang="en-US" sz="1800" dirty="0" smtClean="0"/>
              <a:t>=1</a:t>
            </a:r>
          </a:p>
          <a:p>
            <a:pPr lvl="1"/>
            <a:r>
              <a:rPr lang="en-US" altLang="en-US" sz="1800" dirty="0"/>
              <a:t>Reader enters CS</a:t>
            </a:r>
          </a:p>
          <a:p>
            <a:pPr lvl="1"/>
            <a:r>
              <a:rPr lang="en-US" altLang="en-US" sz="1800" dirty="0" smtClean="0"/>
              <a:t>“Reader R1 is reading”</a:t>
            </a:r>
          </a:p>
          <a:p>
            <a:pPr lvl="1"/>
            <a:endParaRPr lang="en-US" altLang="en-US" sz="1800" dirty="0" smtClean="0"/>
          </a:p>
        </p:txBody>
      </p:sp>
      <p:sp>
        <p:nvSpPr>
          <p:cNvPr id="11" name="Rectangle 10"/>
          <p:cNvSpPr/>
          <p:nvPr/>
        </p:nvSpPr>
        <p:spPr>
          <a:xfrm>
            <a:off x="4940488" y="4342947"/>
            <a:ext cx="6096000" cy="206210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buFont typeface="Monotype Sorts" pitchFamily="-84" charset="2"/>
              <a:buNone/>
            </a:pPr>
            <a:r>
              <a:rPr lang="en-US" altLang="en-US" sz="1600" b="1" dirty="0">
                <a:latin typeface="Courier New" pitchFamily="49" charset="0"/>
                <a:cs typeface="Courier New" pitchFamily="49" charset="0"/>
              </a:rPr>
              <a:t>do{</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writing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600" b="1" dirty="0">
                <a:latin typeface="Courier New" pitchFamily="49" charset="0"/>
                <a:cs typeface="Courier New" pitchFamily="49" charset="0"/>
              </a:rPr>
            </a:br>
            <a:endParaRPr lang="en-US" altLang="en-US" sz="1600" b="1" dirty="0">
              <a:latin typeface="Courier New" pitchFamily="49" charset="0"/>
              <a:cs typeface="Courier New" pitchFamily="49" charset="0"/>
            </a:endParaRPr>
          </a:p>
        </p:txBody>
      </p:sp>
      <p:sp>
        <p:nvSpPr>
          <p:cNvPr id="14" name="Rectangle 3"/>
          <p:cNvSpPr txBox="1">
            <a:spLocks noChangeArrowheads="1"/>
          </p:cNvSpPr>
          <p:nvPr/>
        </p:nvSpPr>
        <p:spPr>
          <a:xfrm>
            <a:off x="8919413" y="806261"/>
            <a:ext cx="2740926"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smtClean="0"/>
              <a:t>Writer</a:t>
            </a:r>
          </a:p>
          <a:p>
            <a:r>
              <a:rPr lang="en-US" altLang="en-US" sz="1800" dirty="0" smtClean="0"/>
              <a:t>Now Writer tries to enter </a:t>
            </a:r>
          </a:p>
          <a:p>
            <a:r>
              <a:rPr lang="en-US" altLang="en-US" sz="1800" dirty="0" smtClean="0"/>
              <a:t>It executes his code</a:t>
            </a:r>
          </a:p>
          <a:p>
            <a:r>
              <a:rPr lang="en-US" altLang="en-US" sz="1800" dirty="0" smtClean="0"/>
              <a:t>wait(</a:t>
            </a:r>
            <a:r>
              <a:rPr lang="en-US" altLang="en-US" sz="1800" dirty="0" err="1" smtClean="0"/>
              <a:t>rw_mutex</a:t>
            </a:r>
            <a:r>
              <a:rPr lang="en-US" altLang="en-US" sz="1800" dirty="0" smtClean="0"/>
              <a:t>) </a:t>
            </a:r>
          </a:p>
          <a:p>
            <a:r>
              <a:rPr lang="en-US" altLang="en-US" sz="1800" dirty="0" smtClean="0"/>
              <a:t>gets trapped in infinite loop as </a:t>
            </a:r>
            <a:r>
              <a:rPr lang="en-US" altLang="en-US" sz="1800" dirty="0" err="1" smtClean="0"/>
              <a:t>rw_mutexwas</a:t>
            </a:r>
            <a:r>
              <a:rPr lang="en-US" altLang="en-US" sz="1800" dirty="0" smtClean="0"/>
              <a:t> already 0 </a:t>
            </a:r>
            <a:r>
              <a:rPr lang="en-US" altLang="en-US" sz="1800" u="sng" dirty="0" smtClean="0"/>
              <a:t>(reader priority)</a:t>
            </a:r>
          </a:p>
          <a:p>
            <a:r>
              <a:rPr lang="en-US" altLang="en-US" sz="1800" dirty="0" smtClean="0"/>
              <a:t>Writer cannot enter CS</a:t>
            </a:r>
          </a:p>
        </p:txBody>
      </p:sp>
    </p:spTree>
    <p:extLst>
      <p:ext uri="{BB962C8B-B14F-4D97-AF65-F5344CB8AC3E}">
        <p14:creationId xmlns:p14="http://schemas.microsoft.com/office/powerpoint/2010/main" val="300676437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0518"/>
            <a:ext cx="11395912" cy="721920"/>
          </a:xfrm>
        </p:spPr>
        <p:txBody>
          <a:bodyPr>
            <a:normAutofit/>
          </a:bodyPr>
          <a:lstStyle/>
          <a:p>
            <a:pPr algn="ctr"/>
            <a:r>
              <a:rPr lang="en-US" sz="3200" dirty="0" smtClean="0">
                <a:solidFill>
                  <a:srgbClr val="C00000"/>
                </a:solidFill>
                <a:latin typeface="Marcellus" panose="020E0602050203020307" pitchFamily="34" charset="0"/>
              </a:rPr>
              <a:t>W-R Problem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1150539"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2FCAA5D0-C26B-46A8-848C-B078BEF1657B}" type="datetime1">
              <a:rPr lang="en-US" smtClean="0"/>
              <a:t>11/11/2024</a:t>
            </a:fld>
            <a:endParaRPr lang="en-US"/>
          </a:p>
        </p:txBody>
      </p:sp>
      <p:sp>
        <p:nvSpPr>
          <p:cNvPr id="12" name="Rectangle 3"/>
          <p:cNvSpPr txBox="1">
            <a:spLocks noChangeArrowheads="1"/>
          </p:cNvSpPr>
          <p:nvPr/>
        </p:nvSpPr>
        <p:spPr>
          <a:xfrm>
            <a:off x="204715" y="560597"/>
            <a:ext cx="4722125" cy="5065713"/>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smtClean="0"/>
              <a:t>The structure of a reader process</a:t>
            </a:r>
            <a:endParaRPr lang="en-US" altLang="en-US" sz="1600" dirty="0" smtClean="0">
              <a:solidFill>
                <a:srgbClr val="0000FF"/>
              </a:solidFill>
            </a:endParaRPr>
          </a:p>
          <a:p>
            <a:pPr>
              <a:buFont typeface="Monotype Sorts" pitchFamily="-84" charset="2"/>
              <a:buNone/>
            </a:pPr>
            <a:r>
              <a:rPr lang="en-US" altLang="en-US" sz="1600" b="1" dirty="0" smtClean="0">
                <a:latin typeface="Courier New" pitchFamily="49" charset="0"/>
                <a:cs typeface="Courier New" pitchFamily="49" charset="0"/>
              </a:rPr>
              <a:t>       do {</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a:t>
            </a:r>
            <a:r>
              <a:rPr lang="en-US" altLang="en-US" sz="1600" b="1" dirty="0" err="1" smtClean="0">
                <a:latin typeface="Courier New" pitchFamily="49" charset="0"/>
                <a:cs typeface="Courier New" pitchFamily="49" charset="0"/>
              </a:rPr>
              <a:t>read_count</a:t>
            </a:r>
            <a:r>
              <a:rPr lang="en-US" altLang="en-US" sz="1600" b="1" dirty="0" smtClean="0">
                <a:latin typeface="Courier New" pitchFamily="49" charset="0"/>
                <a:cs typeface="Courier New" pitchFamily="49" charset="0"/>
              </a:rPr>
              <a: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if (</a:t>
            </a:r>
            <a:r>
              <a:rPr lang="en-US" altLang="en-US" sz="1600" b="1" dirty="0" err="1" smtClean="0">
                <a:latin typeface="Courier New" pitchFamily="49" charset="0"/>
                <a:cs typeface="Courier New" pitchFamily="49" charset="0"/>
              </a:rPr>
              <a:t>read_count</a:t>
            </a:r>
            <a:r>
              <a:rPr lang="en-US" altLang="en-US" sz="1600" b="1" dirty="0" smtClean="0">
                <a:latin typeface="Courier New" pitchFamily="49" charset="0"/>
                <a:cs typeface="Courier New" pitchFamily="49" charset="0"/>
              </a:rPr>
              <a:t> == 1) </a:t>
            </a:r>
          </a:p>
          <a:p>
            <a:pPr>
              <a:buFont typeface="Monotype Sorts" pitchFamily="-84" charset="2"/>
              <a:buNone/>
            </a:pP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rw_mutex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 reading is performed */ </a:t>
            </a:r>
          </a:p>
          <a:p>
            <a:pPr>
              <a:buFont typeface="Monotype Sorts" pitchFamily="-84" charset="2"/>
              <a:buNone/>
            </a:pPr>
            <a:r>
              <a:rPr lang="en-US" altLang="en-US" sz="1600" b="1" dirty="0" smtClean="0">
                <a:latin typeface="Courier New" pitchFamily="49" charset="0"/>
                <a:cs typeface="Courier New" pitchFamily="49" charset="0"/>
              </a:rPr>
              <a:t>               ... </a:t>
            </a:r>
          </a:p>
          <a:p>
            <a:pPr>
              <a:buFont typeface="Monotype Sorts" pitchFamily="-84" charset="2"/>
              <a:buNone/>
            </a:pP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read count--;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if (</a:t>
            </a:r>
            <a:r>
              <a:rPr lang="en-US" altLang="en-US" sz="1600" b="1" dirty="0" err="1" smtClean="0">
                <a:latin typeface="Courier New" pitchFamily="49" charset="0"/>
                <a:cs typeface="Courier New" pitchFamily="49" charset="0"/>
              </a:rPr>
              <a:t>read_count</a:t>
            </a:r>
            <a:r>
              <a:rPr lang="en-US" altLang="en-US" sz="1600" b="1" dirty="0" smtClean="0">
                <a:latin typeface="Courier New" pitchFamily="49" charset="0"/>
                <a:cs typeface="Courier New" pitchFamily="49" charset="0"/>
              </a:rPr>
              <a:t> == 0)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rw_mutex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 while (true);</a:t>
            </a:r>
            <a:r>
              <a:rPr lang="en-US" altLang="en-US" sz="1600" dirty="0" smtClean="0">
                <a:solidFill>
                  <a:srgbClr val="0000FF"/>
                </a:solidFill>
              </a:rPr>
              <a:t>  </a:t>
            </a:r>
          </a:p>
        </p:txBody>
      </p:sp>
      <p:sp>
        <p:nvSpPr>
          <p:cNvPr id="13" name="Rectangle 3"/>
          <p:cNvSpPr txBox="1">
            <a:spLocks noChangeArrowheads="1"/>
          </p:cNvSpPr>
          <p:nvPr/>
        </p:nvSpPr>
        <p:spPr>
          <a:xfrm>
            <a:off x="5200276" y="620922"/>
            <a:ext cx="4088106"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smtClean="0"/>
              <a:t>Writer1</a:t>
            </a:r>
          </a:p>
          <a:p>
            <a:r>
              <a:rPr lang="en-US" altLang="en-US" sz="1800" dirty="0" err="1" smtClean="0"/>
              <a:t>Initally</a:t>
            </a:r>
            <a:r>
              <a:rPr lang="en-US" altLang="en-US" sz="1800" dirty="0" smtClean="0"/>
              <a:t> </a:t>
            </a:r>
            <a:r>
              <a:rPr lang="en-US" altLang="en-US" sz="1800" dirty="0" err="1" smtClean="0"/>
              <a:t>rw_mutesx</a:t>
            </a:r>
            <a:r>
              <a:rPr lang="en-US" altLang="en-US" sz="1800" dirty="0" smtClean="0"/>
              <a:t>=1</a:t>
            </a:r>
          </a:p>
          <a:p>
            <a:r>
              <a:rPr lang="en-US" altLang="en-US" sz="1800" dirty="0" smtClean="0"/>
              <a:t>First Writer W1 tries to enter CS</a:t>
            </a:r>
          </a:p>
          <a:p>
            <a:r>
              <a:rPr lang="en-US" altLang="en-US" sz="1800" dirty="0" smtClean="0"/>
              <a:t>wait operation</a:t>
            </a:r>
          </a:p>
          <a:p>
            <a:r>
              <a:rPr lang="en-US" altLang="en-US" sz="1800" dirty="0" err="1" smtClean="0"/>
              <a:t>rw_mutex</a:t>
            </a:r>
            <a:r>
              <a:rPr lang="en-US" altLang="en-US" sz="1800" dirty="0"/>
              <a:t> </a:t>
            </a:r>
            <a:r>
              <a:rPr lang="en-US" altLang="en-US" sz="1800" dirty="0" smtClean="0"/>
              <a:t>becomes 0</a:t>
            </a:r>
          </a:p>
          <a:p>
            <a:r>
              <a:rPr lang="en-US" altLang="en-US" sz="1800" dirty="0" smtClean="0"/>
              <a:t>Writer W1 enters CS</a:t>
            </a:r>
          </a:p>
          <a:p>
            <a:endParaRPr lang="en-US" altLang="en-US" sz="1800" dirty="0" smtClean="0"/>
          </a:p>
          <a:p>
            <a:pPr lvl="1"/>
            <a:endParaRPr lang="en-US" altLang="en-US" sz="1800" dirty="0" smtClean="0"/>
          </a:p>
          <a:p>
            <a:pPr lvl="1"/>
            <a:endParaRPr lang="en-US" altLang="en-US" sz="1800" dirty="0" smtClean="0"/>
          </a:p>
        </p:txBody>
      </p:sp>
      <p:sp>
        <p:nvSpPr>
          <p:cNvPr id="11" name="Rectangle 10"/>
          <p:cNvSpPr/>
          <p:nvPr/>
        </p:nvSpPr>
        <p:spPr>
          <a:xfrm>
            <a:off x="4940488" y="4342947"/>
            <a:ext cx="6096000" cy="206210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buFont typeface="Monotype Sorts" pitchFamily="-84" charset="2"/>
              <a:buNone/>
            </a:pPr>
            <a:r>
              <a:rPr lang="en-US" altLang="en-US" sz="1600" b="1" dirty="0">
                <a:latin typeface="Courier New" pitchFamily="49" charset="0"/>
                <a:cs typeface="Courier New" pitchFamily="49" charset="0"/>
              </a:rPr>
              <a:t>do{</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writing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600" b="1" dirty="0">
                <a:latin typeface="Courier New" pitchFamily="49" charset="0"/>
                <a:cs typeface="Courier New" pitchFamily="49" charset="0"/>
              </a:rPr>
            </a:br>
            <a:endParaRPr lang="en-US" altLang="en-US" sz="1600" b="1" dirty="0">
              <a:latin typeface="Courier New" pitchFamily="49" charset="0"/>
              <a:cs typeface="Courier New" pitchFamily="49" charset="0"/>
            </a:endParaRPr>
          </a:p>
        </p:txBody>
      </p:sp>
      <p:sp>
        <p:nvSpPr>
          <p:cNvPr id="14" name="Rectangle 3"/>
          <p:cNvSpPr txBox="1">
            <a:spLocks noChangeArrowheads="1"/>
          </p:cNvSpPr>
          <p:nvPr/>
        </p:nvSpPr>
        <p:spPr>
          <a:xfrm>
            <a:off x="8407021" y="595970"/>
            <a:ext cx="3784978" cy="374697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smtClean="0"/>
              <a:t>Reader1</a:t>
            </a:r>
          </a:p>
          <a:p>
            <a:r>
              <a:rPr lang="en-US" altLang="en-US" sz="1800" dirty="0" smtClean="0"/>
              <a:t>Initially </a:t>
            </a:r>
            <a:r>
              <a:rPr lang="en-US" altLang="en-US" sz="1800" dirty="0" err="1" smtClean="0"/>
              <a:t>mutex</a:t>
            </a:r>
            <a:r>
              <a:rPr lang="en-US" altLang="en-US" sz="1800" dirty="0" smtClean="0"/>
              <a:t>=1,readcount=0</a:t>
            </a:r>
          </a:p>
          <a:p>
            <a:r>
              <a:rPr lang="en-US" altLang="en-US" sz="1800" dirty="0" smtClean="0"/>
              <a:t>Now reader R1 tries to enter CS</a:t>
            </a:r>
          </a:p>
          <a:p>
            <a:r>
              <a:rPr lang="en-US" altLang="en-US" sz="1800" dirty="0" smtClean="0"/>
              <a:t>wait </a:t>
            </a:r>
            <a:r>
              <a:rPr lang="en-US" altLang="en-US" sz="1800" dirty="0" err="1" smtClean="0"/>
              <a:t>mutex</a:t>
            </a:r>
            <a:endParaRPr lang="en-US" altLang="en-US" sz="1800" dirty="0" smtClean="0"/>
          </a:p>
          <a:p>
            <a:r>
              <a:rPr lang="en-US" altLang="en-US" sz="1800" dirty="0" err="1" smtClean="0"/>
              <a:t>mutex</a:t>
            </a:r>
            <a:r>
              <a:rPr lang="en-US" altLang="en-US" sz="1800" dirty="0" smtClean="0"/>
              <a:t>=0</a:t>
            </a:r>
          </a:p>
          <a:p>
            <a:r>
              <a:rPr lang="en-US" altLang="en-US" sz="1800" dirty="0" err="1" smtClean="0"/>
              <a:t>readcount</a:t>
            </a:r>
            <a:r>
              <a:rPr lang="en-US" altLang="en-US" sz="1800" dirty="0" smtClean="0"/>
              <a:t>=1</a:t>
            </a:r>
          </a:p>
          <a:p>
            <a:r>
              <a:rPr lang="en-US" altLang="en-US" sz="1800" dirty="0" smtClean="0"/>
              <a:t>In if section,</a:t>
            </a:r>
          </a:p>
          <a:p>
            <a:r>
              <a:rPr lang="en-US" altLang="en-US" sz="1800" dirty="0" smtClean="0"/>
              <a:t>wait(</a:t>
            </a:r>
            <a:r>
              <a:rPr lang="en-US" altLang="en-US" sz="1800" dirty="0" err="1" smtClean="0"/>
              <a:t>rw_mutex</a:t>
            </a:r>
            <a:r>
              <a:rPr lang="en-US" altLang="en-US" sz="1800" dirty="0" smtClean="0"/>
              <a:t>)</a:t>
            </a:r>
          </a:p>
          <a:p>
            <a:r>
              <a:rPr lang="en-US" altLang="en-US" sz="1800" dirty="0" smtClean="0"/>
              <a:t>gets trapped in infinite loop </a:t>
            </a:r>
            <a:r>
              <a:rPr lang="en-US" altLang="en-US" sz="1800" u="sng" dirty="0" smtClean="0"/>
              <a:t>(Writer priority)</a:t>
            </a:r>
          </a:p>
          <a:p>
            <a:r>
              <a:rPr lang="en-US" altLang="en-US" sz="1800" dirty="0" smtClean="0"/>
              <a:t>Reader Cannot enter CS</a:t>
            </a:r>
          </a:p>
        </p:txBody>
      </p:sp>
    </p:spTree>
    <p:extLst>
      <p:ext uri="{BB962C8B-B14F-4D97-AF65-F5344CB8AC3E}">
        <p14:creationId xmlns:p14="http://schemas.microsoft.com/office/powerpoint/2010/main" val="665007459"/>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0518"/>
            <a:ext cx="11395912" cy="721920"/>
          </a:xfrm>
        </p:spPr>
        <p:txBody>
          <a:bodyPr>
            <a:normAutofit/>
          </a:bodyPr>
          <a:lstStyle/>
          <a:p>
            <a:pPr algn="ctr"/>
            <a:r>
              <a:rPr lang="en-US" sz="3200" dirty="0" smtClean="0">
                <a:solidFill>
                  <a:srgbClr val="C00000"/>
                </a:solidFill>
                <a:latin typeface="Marcellus" panose="020E0602050203020307" pitchFamily="34" charset="0"/>
              </a:rPr>
              <a:t>W-W Problem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1036488"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sp>
        <p:nvSpPr>
          <p:cNvPr id="3" name="Date Placeholder 2"/>
          <p:cNvSpPr>
            <a:spLocks noGrp="1"/>
          </p:cNvSpPr>
          <p:nvPr>
            <p:ph type="dt" sz="half" idx="10"/>
          </p:nvPr>
        </p:nvSpPr>
        <p:spPr/>
        <p:txBody>
          <a:bodyPr/>
          <a:lstStyle/>
          <a:p>
            <a:fld id="{9FDC6E91-36A4-40B7-9BAD-E8962034C1CB}" type="datetime1">
              <a:rPr lang="en-US" smtClean="0"/>
              <a:t>11/11/2024</a:t>
            </a:fld>
            <a:endParaRPr lang="en-US"/>
          </a:p>
        </p:txBody>
      </p:sp>
      <p:sp>
        <p:nvSpPr>
          <p:cNvPr id="12" name="Rectangle 3"/>
          <p:cNvSpPr txBox="1">
            <a:spLocks noChangeArrowheads="1"/>
          </p:cNvSpPr>
          <p:nvPr/>
        </p:nvSpPr>
        <p:spPr>
          <a:xfrm>
            <a:off x="204715" y="560597"/>
            <a:ext cx="4722125" cy="5065713"/>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smtClean="0"/>
              <a:t>The structure of a reader process</a:t>
            </a:r>
            <a:endParaRPr lang="en-US" altLang="en-US" sz="1600" dirty="0" smtClean="0">
              <a:solidFill>
                <a:srgbClr val="0000FF"/>
              </a:solidFill>
            </a:endParaRPr>
          </a:p>
          <a:p>
            <a:pPr>
              <a:buFont typeface="Monotype Sorts" pitchFamily="-84" charset="2"/>
              <a:buNone/>
            </a:pPr>
            <a:r>
              <a:rPr lang="en-US" altLang="en-US" sz="1600" b="1" dirty="0" smtClean="0">
                <a:latin typeface="Courier New" pitchFamily="49" charset="0"/>
                <a:cs typeface="Courier New" pitchFamily="49" charset="0"/>
              </a:rPr>
              <a:t>       do {</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a:t>
            </a:r>
            <a:r>
              <a:rPr lang="en-US" altLang="en-US" sz="1600" b="1" dirty="0" err="1" smtClean="0">
                <a:latin typeface="Courier New" pitchFamily="49" charset="0"/>
                <a:cs typeface="Courier New" pitchFamily="49" charset="0"/>
              </a:rPr>
              <a:t>read_count</a:t>
            </a:r>
            <a:r>
              <a:rPr lang="en-US" altLang="en-US" sz="1600" b="1" dirty="0" smtClean="0">
                <a:latin typeface="Courier New" pitchFamily="49" charset="0"/>
                <a:cs typeface="Courier New" pitchFamily="49" charset="0"/>
              </a:rPr>
              <a: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if (</a:t>
            </a:r>
            <a:r>
              <a:rPr lang="en-US" altLang="en-US" sz="1600" b="1" dirty="0" err="1" smtClean="0">
                <a:latin typeface="Courier New" pitchFamily="49" charset="0"/>
                <a:cs typeface="Courier New" pitchFamily="49" charset="0"/>
              </a:rPr>
              <a:t>read_count</a:t>
            </a:r>
            <a:r>
              <a:rPr lang="en-US" altLang="en-US" sz="1600" b="1" dirty="0" smtClean="0">
                <a:latin typeface="Courier New" pitchFamily="49" charset="0"/>
                <a:cs typeface="Courier New" pitchFamily="49" charset="0"/>
              </a:rPr>
              <a:t> == 1) </a:t>
            </a:r>
          </a:p>
          <a:p>
            <a:pPr>
              <a:buFont typeface="Monotype Sorts" pitchFamily="-84" charset="2"/>
              <a:buNone/>
            </a:pP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rw_mutex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 reading is performed */ </a:t>
            </a:r>
          </a:p>
          <a:p>
            <a:pPr>
              <a:buFont typeface="Monotype Sorts" pitchFamily="-84" charset="2"/>
              <a:buNone/>
            </a:pPr>
            <a:r>
              <a:rPr lang="en-US" altLang="en-US" sz="1600" b="1" dirty="0" smtClean="0">
                <a:latin typeface="Courier New" pitchFamily="49" charset="0"/>
                <a:cs typeface="Courier New" pitchFamily="49" charset="0"/>
              </a:rPr>
              <a:t>               ... </a:t>
            </a:r>
          </a:p>
          <a:p>
            <a:pPr>
              <a:buFont typeface="Monotype Sorts" pitchFamily="-84" charset="2"/>
              <a:buNone/>
            </a:pP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read count--;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if (</a:t>
            </a:r>
            <a:r>
              <a:rPr lang="en-US" altLang="en-US" sz="1600" b="1" dirty="0" err="1" smtClean="0">
                <a:latin typeface="Courier New" pitchFamily="49" charset="0"/>
                <a:cs typeface="Courier New" pitchFamily="49" charset="0"/>
              </a:rPr>
              <a:t>read_count</a:t>
            </a:r>
            <a:r>
              <a:rPr lang="en-US" altLang="en-US" sz="1600" b="1" dirty="0" smtClean="0">
                <a:latin typeface="Courier New" pitchFamily="49" charset="0"/>
                <a:cs typeface="Courier New" pitchFamily="49" charset="0"/>
              </a:rPr>
              <a:t> == 0)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rw_mutex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 while (true);</a:t>
            </a:r>
            <a:r>
              <a:rPr lang="en-US" altLang="en-US" sz="1600" dirty="0" smtClean="0">
                <a:solidFill>
                  <a:srgbClr val="0000FF"/>
                </a:solidFill>
              </a:rPr>
              <a:t>  </a:t>
            </a:r>
          </a:p>
        </p:txBody>
      </p:sp>
      <p:sp>
        <p:nvSpPr>
          <p:cNvPr id="13" name="Rectangle 3"/>
          <p:cNvSpPr txBox="1">
            <a:spLocks noChangeArrowheads="1"/>
          </p:cNvSpPr>
          <p:nvPr/>
        </p:nvSpPr>
        <p:spPr>
          <a:xfrm>
            <a:off x="5213445" y="866586"/>
            <a:ext cx="3705968"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smtClean="0"/>
              <a:t>Writer1</a:t>
            </a:r>
          </a:p>
          <a:p>
            <a:r>
              <a:rPr lang="en-US" altLang="en-US" sz="1800" dirty="0" err="1" smtClean="0"/>
              <a:t>Initally</a:t>
            </a:r>
            <a:r>
              <a:rPr lang="en-US" altLang="en-US" sz="1800" dirty="0" smtClean="0"/>
              <a:t> </a:t>
            </a:r>
            <a:r>
              <a:rPr lang="en-US" altLang="en-US" sz="1800" dirty="0" err="1" smtClean="0"/>
              <a:t>rw_mutes</a:t>
            </a:r>
            <a:r>
              <a:rPr lang="en-US" altLang="en-US" sz="1800" dirty="0" smtClean="0"/>
              <a:t>=1</a:t>
            </a:r>
          </a:p>
          <a:p>
            <a:r>
              <a:rPr lang="en-US" altLang="en-US" sz="1800" dirty="0" smtClean="0"/>
              <a:t>First Writer W1 tries to enter CS</a:t>
            </a:r>
          </a:p>
          <a:p>
            <a:r>
              <a:rPr lang="en-US" altLang="en-US" sz="1800" dirty="0" smtClean="0"/>
              <a:t>wait operation</a:t>
            </a:r>
          </a:p>
          <a:p>
            <a:r>
              <a:rPr lang="en-US" altLang="en-US" sz="1800" dirty="0" err="1" smtClean="0"/>
              <a:t>rw_mutex</a:t>
            </a:r>
            <a:r>
              <a:rPr lang="en-US" altLang="en-US" sz="1800" dirty="0"/>
              <a:t> </a:t>
            </a:r>
            <a:r>
              <a:rPr lang="en-US" altLang="en-US" sz="1800" dirty="0" smtClean="0"/>
              <a:t>becomes 0</a:t>
            </a:r>
          </a:p>
          <a:p>
            <a:r>
              <a:rPr lang="en-US" altLang="en-US" sz="1800" dirty="0" smtClean="0"/>
              <a:t>Writer W1 enters CS</a:t>
            </a:r>
          </a:p>
          <a:p>
            <a:endParaRPr lang="en-US" altLang="en-US" sz="1800" dirty="0" smtClean="0"/>
          </a:p>
          <a:p>
            <a:endParaRPr lang="en-US" altLang="en-US" sz="1800" dirty="0" smtClean="0"/>
          </a:p>
          <a:p>
            <a:endParaRPr lang="en-US" altLang="en-US" sz="1800" dirty="0" smtClean="0"/>
          </a:p>
        </p:txBody>
      </p:sp>
      <p:sp>
        <p:nvSpPr>
          <p:cNvPr id="11" name="Rectangle 10"/>
          <p:cNvSpPr/>
          <p:nvPr/>
        </p:nvSpPr>
        <p:spPr>
          <a:xfrm>
            <a:off x="4940488" y="4342947"/>
            <a:ext cx="6096000" cy="206210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buFont typeface="Monotype Sorts" pitchFamily="-84" charset="2"/>
              <a:buNone/>
            </a:pPr>
            <a:r>
              <a:rPr lang="en-US" altLang="en-US" sz="1600" b="1" dirty="0">
                <a:latin typeface="Courier New" pitchFamily="49" charset="0"/>
                <a:cs typeface="Courier New" pitchFamily="49" charset="0"/>
              </a:rPr>
              <a:t>do{</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writing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600" b="1" dirty="0">
                <a:latin typeface="Courier New" pitchFamily="49" charset="0"/>
                <a:cs typeface="Courier New" pitchFamily="49" charset="0"/>
              </a:rPr>
            </a:br>
            <a:endParaRPr lang="en-US" altLang="en-US" sz="1600" b="1" dirty="0">
              <a:latin typeface="Courier New" pitchFamily="49" charset="0"/>
              <a:cs typeface="Courier New" pitchFamily="49" charset="0"/>
            </a:endParaRPr>
          </a:p>
        </p:txBody>
      </p:sp>
      <p:sp>
        <p:nvSpPr>
          <p:cNvPr id="14" name="Rectangle 3"/>
          <p:cNvSpPr txBox="1">
            <a:spLocks noChangeArrowheads="1"/>
          </p:cNvSpPr>
          <p:nvPr/>
        </p:nvSpPr>
        <p:spPr>
          <a:xfrm>
            <a:off x="8919412" y="806261"/>
            <a:ext cx="3076969"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smtClean="0"/>
              <a:t>Writer2</a:t>
            </a:r>
          </a:p>
          <a:p>
            <a:r>
              <a:rPr lang="en-US" altLang="en-US" sz="1800" dirty="0" smtClean="0"/>
              <a:t>Another Writer W2 tries to enter CS</a:t>
            </a:r>
          </a:p>
          <a:p>
            <a:r>
              <a:rPr lang="en-US" altLang="en-US" sz="1800" dirty="0" smtClean="0"/>
              <a:t>wait operation</a:t>
            </a:r>
          </a:p>
          <a:p>
            <a:r>
              <a:rPr lang="en-US" altLang="en-US" sz="1800" dirty="0" err="1" smtClean="0"/>
              <a:t>rw_mutex</a:t>
            </a:r>
            <a:r>
              <a:rPr lang="en-US" altLang="en-US" sz="1800" dirty="0" smtClean="0"/>
              <a:t> is 0</a:t>
            </a:r>
          </a:p>
          <a:p>
            <a:r>
              <a:rPr lang="en-US" altLang="en-US" sz="1800" dirty="0" smtClean="0"/>
              <a:t>Thus trapped in Infinite loop</a:t>
            </a:r>
          </a:p>
          <a:p>
            <a:r>
              <a:rPr lang="en-US" altLang="en-US" sz="1800" dirty="0" smtClean="0"/>
              <a:t>Writer Cannot enter CS</a:t>
            </a:r>
          </a:p>
          <a:p>
            <a:pPr marL="0" indent="0">
              <a:buNone/>
            </a:pPr>
            <a:endParaRPr lang="en-US" altLang="en-US" sz="1800" dirty="0" smtClean="0"/>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Tree>
    <p:extLst>
      <p:ext uri="{BB962C8B-B14F-4D97-AF65-F5344CB8AC3E}">
        <p14:creationId xmlns:p14="http://schemas.microsoft.com/office/powerpoint/2010/main" val="3840174256"/>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0518"/>
            <a:ext cx="11395912" cy="721920"/>
          </a:xfrm>
        </p:spPr>
        <p:txBody>
          <a:bodyPr>
            <a:normAutofit fontScale="90000"/>
          </a:bodyPr>
          <a:lstStyle/>
          <a:p>
            <a:pPr algn="ctr"/>
            <a:r>
              <a:rPr lang="en-US" sz="3200" dirty="0" smtClean="0">
                <a:solidFill>
                  <a:srgbClr val="C00000"/>
                </a:solidFill>
                <a:latin typeface="Marcellus" panose="020E0602050203020307" pitchFamily="34" charset="0"/>
              </a:rPr>
              <a:t>R-R Problem </a:t>
            </a:r>
            <a:br>
              <a:rPr lang="en-US" sz="3200" dirty="0" smtClean="0">
                <a:solidFill>
                  <a:srgbClr val="C00000"/>
                </a:solidFill>
                <a:latin typeface="Marcellus" panose="020E0602050203020307" pitchFamily="34" charset="0"/>
              </a:rPr>
            </a:b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95CB2669-0041-46F4-A792-C78A9F8F4739}" type="datetime1">
              <a:rPr lang="en-US" smtClean="0"/>
              <a:t>11/11/2024</a:t>
            </a:fld>
            <a:endParaRPr lang="en-US"/>
          </a:p>
        </p:txBody>
      </p:sp>
      <p:sp>
        <p:nvSpPr>
          <p:cNvPr id="12" name="Rectangle 3"/>
          <p:cNvSpPr txBox="1">
            <a:spLocks noChangeArrowheads="1"/>
          </p:cNvSpPr>
          <p:nvPr/>
        </p:nvSpPr>
        <p:spPr>
          <a:xfrm>
            <a:off x="204715" y="560597"/>
            <a:ext cx="4722125" cy="5065713"/>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smtClean="0"/>
              <a:t>The structure of a reader process</a:t>
            </a:r>
            <a:endParaRPr lang="en-US" altLang="en-US" sz="1600" dirty="0" smtClean="0">
              <a:solidFill>
                <a:srgbClr val="0000FF"/>
              </a:solidFill>
            </a:endParaRPr>
          </a:p>
          <a:p>
            <a:pPr>
              <a:buFont typeface="Monotype Sorts" pitchFamily="-84" charset="2"/>
              <a:buNone/>
            </a:pPr>
            <a:r>
              <a:rPr lang="en-US" altLang="en-US" sz="1600" b="1" dirty="0" smtClean="0">
                <a:latin typeface="Courier New" pitchFamily="49" charset="0"/>
                <a:cs typeface="Courier New" pitchFamily="49" charset="0"/>
              </a:rPr>
              <a:t>       do {</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a:t>
            </a:r>
            <a:r>
              <a:rPr lang="en-US" altLang="en-US" sz="1600" b="1" dirty="0" err="1" smtClean="0">
                <a:latin typeface="Courier New" pitchFamily="49" charset="0"/>
                <a:cs typeface="Courier New" pitchFamily="49" charset="0"/>
              </a:rPr>
              <a:t>read_count</a:t>
            </a:r>
            <a:r>
              <a:rPr lang="en-US" altLang="en-US" sz="1600" b="1" dirty="0" smtClean="0">
                <a:latin typeface="Courier New" pitchFamily="49" charset="0"/>
                <a:cs typeface="Courier New" pitchFamily="49" charset="0"/>
              </a:rPr>
              <a: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if (</a:t>
            </a:r>
            <a:r>
              <a:rPr lang="en-US" altLang="en-US" sz="1600" b="1" dirty="0" err="1" smtClean="0">
                <a:latin typeface="Courier New" pitchFamily="49" charset="0"/>
                <a:cs typeface="Courier New" pitchFamily="49" charset="0"/>
              </a:rPr>
              <a:t>read_count</a:t>
            </a:r>
            <a:r>
              <a:rPr lang="en-US" altLang="en-US" sz="1600" b="1" dirty="0" smtClean="0">
                <a:latin typeface="Courier New" pitchFamily="49" charset="0"/>
                <a:cs typeface="Courier New" pitchFamily="49" charset="0"/>
              </a:rPr>
              <a:t> == 1) </a:t>
            </a:r>
          </a:p>
          <a:p>
            <a:pPr>
              <a:buFont typeface="Monotype Sorts" pitchFamily="-84" charset="2"/>
              <a:buNone/>
            </a:pP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rw_mutex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 reading is performed */ </a:t>
            </a:r>
          </a:p>
          <a:p>
            <a:pPr>
              <a:buFont typeface="Monotype Sorts" pitchFamily="-84" charset="2"/>
              <a:buNone/>
            </a:pPr>
            <a:r>
              <a:rPr lang="en-US" altLang="en-US" sz="1600" b="1" dirty="0" smtClean="0">
                <a:latin typeface="Courier New" pitchFamily="49" charset="0"/>
                <a:cs typeface="Courier New" pitchFamily="49" charset="0"/>
              </a:rPr>
              <a:t>               ... </a:t>
            </a:r>
          </a:p>
          <a:p>
            <a:pPr>
              <a:buFont typeface="Monotype Sorts" pitchFamily="-84" charset="2"/>
              <a:buNone/>
            </a:pPr>
            <a:r>
              <a:rPr lang="en-US" altLang="en-US" sz="1600" b="1" dirty="0" smtClean="0">
                <a:latin typeface="Courier New" pitchFamily="49" charset="0"/>
                <a:cs typeface="Courier New" pitchFamily="49" charset="0"/>
              </a:rPr>
              <a:t>           wait(</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read count--;</a:t>
            </a:r>
            <a:br>
              <a:rPr lang="en-US" altLang="en-US" sz="1600" b="1" dirty="0" smtClean="0">
                <a:latin typeface="Courier New" pitchFamily="49" charset="0"/>
                <a:cs typeface="Courier New" pitchFamily="49" charset="0"/>
              </a:rPr>
            </a:br>
            <a:r>
              <a:rPr lang="en-US" altLang="en-US" sz="1600" b="1" dirty="0" smtClean="0">
                <a:latin typeface="Courier New" pitchFamily="49" charset="0"/>
                <a:cs typeface="Courier New" pitchFamily="49" charset="0"/>
              </a:rPr>
              <a:t>           if (</a:t>
            </a:r>
            <a:r>
              <a:rPr lang="en-US" altLang="en-US" sz="1600" b="1" dirty="0" err="1" smtClean="0">
                <a:latin typeface="Courier New" pitchFamily="49" charset="0"/>
                <a:cs typeface="Courier New" pitchFamily="49" charset="0"/>
              </a:rPr>
              <a:t>read_count</a:t>
            </a:r>
            <a:r>
              <a:rPr lang="en-US" altLang="en-US" sz="1600" b="1" dirty="0" smtClean="0">
                <a:latin typeface="Courier New" pitchFamily="49" charset="0"/>
                <a:cs typeface="Courier New" pitchFamily="49" charset="0"/>
              </a:rPr>
              <a:t> == 0)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rw_mutex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signal(</a:t>
            </a:r>
            <a:r>
              <a:rPr lang="en-US" altLang="en-US" sz="1600" b="1" dirty="0" err="1" smtClean="0">
                <a:latin typeface="Courier New" pitchFamily="49" charset="0"/>
                <a:cs typeface="Courier New" pitchFamily="49" charset="0"/>
              </a:rPr>
              <a:t>mutex</a:t>
            </a:r>
            <a:r>
              <a:rPr lang="en-US" altLang="en-US" sz="1600" b="1" dirty="0" smtClean="0">
                <a:latin typeface="Courier New" pitchFamily="49" charset="0"/>
                <a:cs typeface="Courier New" pitchFamily="49" charset="0"/>
              </a:rPr>
              <a:t>); </a:t>
            </a:r>
          </a:p>
          <a:p>
            <a:pPr>
              <a:buFont typeface="Monotype Sorts" pitchFamily="-84" charset="2"/>
              <a:buNone/>
            </a:pPr>
            <a:r>
              <a:rPr lang="en-US" altLang="en-US" sz="1600" b="1" dirty="0" smtClean="0">
                <a:latin typeface="Courier New" pitchFamily="49" charset="0"/>
                <a:cs typeface="Courier New" pitchFamily="49" charset="0"/>
              </a:rPr>
              <a:t>       } while (true);</a:t>
            </a:r>
            <a:r>
              <a:rPr lang="en-US" altLang="en-US" sz="1600" dirty="0" smtClean="0">
                <a:solidFill>
                  <a:srgbClr val="0000FF"/>
                </a:solidFill>
              </a:rPr>
              <a:t>  </a:t>
            </a:r>
          </a:p>
        </p:txBody>
      </p:sp>
      <p:sp>
        <p:nvSpPr>
          <p:cNvPr id="13" name="Rectangle 3"/>
          <p:cNvSpPr txBox="1">
            <a:spLocks noChangeArrowheads="1"/>
          </p:cNvSpPr>
          <p:nvPr/>
        </p:nvSpPr>
        <p:spPr>
          <a:xfrm>
            <a:off x="4926840" y="368610"/>
            <a:ext cx="4088106"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smtClean="0"/>
              <a:t>Reader1</a:t>
            </a:r>
          </a:p>
          <a:p>
            <a:r>
              <a:rPr lang="en-US" altLang="en-US" sz="1800" dirty="0" smtClean="0"/>
              <a:t>Initially </a:t>
            </a:r>
            <a:r>
              <a:rPr lang="en-US" altLang="en-US" sz="1800" dirty="0" err="1" smtClean="0"/>
              <a:t>readcount</a:t>
            </a:r>
            <a:r>
              <a:rPr lang="en-US" altLang="en-US" sz="1800" dirty="0" smtClean="0"/>
              <a:t>=0</a:t>
            </a:r>
          </a:p>
          <a:p>
            <a:r>
              <a:rPr lang="en-US" altLang="en-US" sz="1800" dirty="0" smtClean="0"/>
              <a:t>First Reader R1 tries to enter </a:t>
            </a:r>
          </a:p>
          <a:p>
            <a:r>
              <a:rPr lang="en-US" altLang="en-US" sz="1800" dirty="0" smtClean="0"/>
              <a:t>wait </a:t>
            </a:r>
            <a:r>
              <a:rPr lang="en-US" altLang="en-US" sz="1800" dirty="0" err="1" smtClean="0"/>
              <a:t>mutex</a:t>
            </a:r>
            <a:r>
              <a:rPr lang="en-US" altLang="en-US" sz="1800" dirty="0" smtClean="0"/>
              <a:t> so </a:t>
            </a:r>
            <a:r>
              <a:rPr lang="en-US" altLang="en-US" sz="1800" dirty="0" err="1" smtClean="0"/>
              <a:t>mutex</a:t>
            </a:r>
            <a:r>
              <a:rPr lang="en-US" altLang="en-US" sz="1800" dirty="0" smtClean="0"/>
              <a:t>=0</a:t>
            </a:r>
          </a:p>
          <a:p>
            <a:r>
              <a:rPr lang="en-US" altLang="en-US" sz="1800" dirty="0" err="1" smtClean="0"/>
              <a:t>readcount</a:t>
            </a:r>
            <a:r>
              <a:rPr lang="en-US" altLang="en-US" sz="1800" dirty="0" smtClean="0"/>
              <a:t>=1</a:t>
            </a:r>
          </a:p>
          <a:p>
            <a:r>
              <a:rPr lang="en-US" altLang="en-US" sz="1800" dirty="0" smtClean="0"/>
              <a:t>if </a:t>
            </a:r>
            <a:r>
              <a:rPr lang="en-US" altLang="en-US" sz="1800" dirty="0" err="1" smtClean="0"/>
              <a:t>readcount</a:t>
            </a:r>
            <a:r>
              <a:rPr lang="en-US" altLang="en-US" sz="1800" dirty="0" smtClean="0"/>
              <a:t> is one i.e. First reader</a:t>
            </a:r>
          </a:p>
          <a:p>
            <a:r>
              <a:rPr lang="en-US" altLang="en-US" sz="1800" dirty="0" smtClean="0"/>
              <a:t>wait </a:t>
            </a:r>
            <a:r>
              <a:rPr lang="en-US" altLang="en-US" sz="1800" dirty="0" err="1" smtClean="0"/>
              <a:t>rw_mutex</a:t>
            </a:r>
            <a:r>
              <a:rPr lang="en-US" altLang="en-US" sz="1800" dirty="0"/>
              <a:t> </a:t>
            </a:r>
            <a:r>
              <a:rPr lang="en-US" altLang="en-US" sz="1800" dirty="0" smtClean="0"/>
              <a:t>so </a:t>
            </a:r>
            <a:r>
              <a:rPr lang="en-US" altLang="en-US" sz="1800" dirty="0" err="1" smtClean="0"/>
              <a:t>rw_mutex</a:t>
            </a:r>
            <a:r>
              <a:rPr lang="en-US" altLang="en-US" sz="1800" dirty="0" smtClean="0"/>
              <a:t>=0</a:t>
            </a:r>
          </a:p>
          <a:p>
            <a:r>
              <a:rPr lang="en-US" altLang="en-US" sz="1800" dirty="0" err="1" smtClean="0"/>
              <a:t>readcount</a:t>
            </a:r>
            <a:r>
              <a:rPr lang="en-US" altLang="en-US" sz="1800" dirty="0" smtClean="0"/>
              <a:t> </a:t>
            </a:r>
            <a:r>
              <a:rPr lang="en-US" altLang="en-US" sz="1800" dirty="0" err="1" smtClean="0"/>
              <a:t>updation</a:t>
            </a:r>
            <a:r>
              <a:rPr lang="en-US" altLang="en-US" sz="1800" dirty="0" smtClean="0"/>
              <a:t> finished so signal </a:t>
            </a:r>
            <a:r>
              <a:rPr lang="en-US" altLang="en-US" sz="1800" dirty="0" err="1" smtClean="0"/>
              <a:t>mutex</a:t>
            </a:r>
            <a:r>
              <a:rPr lang="en-US" altLang="en-US" sz="1800" dirty="0" smtClean="0"/>
              <a:t>, </a:t>
            </a:r>
          </a:p>
          <a:p>
            <a:r>
              <a:rPr lang="en-US" altLang="en-US" sz="1800" dirty="0" err="1" smtClean="0"/>
              <a:t>mutex</a:t>
            </a:r>
            <a:r>
              <a:rPr lang="en-US" altLang="en-US" sz="1800" dirty="0" smtClean="0"/>
              <a:t>=1</a:t>
            </a:r>
          </a:p>
          <a:p>
            <a:r>
              <a:rPr lang="en-US" altLang="en-US" sz="1800" dirty="0" smtClean="0"/>
              <a:t>Reader enters CS</a:t>
            </a:r>
          </a:p>
          <a:p>
            <a:r>
              <a:rPr lang="en-US" altLang="en-US" sz="1800" dirty="0" smtClean="0"/>
              <a:t>“Reader R1 is reading”</a:t>
            </a:r>
          </a:p>
          <a:p>
            <a:endParaRPr lang="en-US" altLang="en-US" sz="1800" dirty="0" smtClean="0"/>
          </a:p>
        </p:txBody>
      </p:sp>
      <p:sp>
        <p:nvSpPr>
          <p:cNvPr id="11" name="Rectangle 10"/>
          <p:cNvSpPr/>
          <p:nvPr/>
        </p:nvSpPr>
        <p:spPr>
          <a:xfrm>
            <a:off x="4940488" y="4342947"/>
            <a:ext cx="6096000" cy="2062103"/>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buFont typeface="Monotype Sorts" pitchFamily="-84" charset="2"/>
              <a:buNone/>
            </a:pPr>
            <a:r>
              <a:rPr lang="en-US" altLang="en-US" sz="1600" b="1" dirty="0">
                <a:latin typeface="Courier New" pitchFamily="49" charset="0"/>
                <a:cs typeface="Courier New" pitchFamily="49" charset="0"/>
              </a:rPr>
              <a:t>do{</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wait(</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a:t>
            </a:r>
            <a:br>
              <a:rPr lang="en-US" altLang="en-US" sz="1600" b="1" dirty="0">
                <a:latin typeface="Courier New" pitchFamily="49" charset="0"/>
                <a:cs typeface="Courier New" pitchFamily="49" charset="0"/>
              </a:rPr>
            </a:br>
            <a:r>
              <a:rPr lang="en-US" altLang="en-US" sz="1600" b="1" dirty="0">
                <a:latin typeface="Courier New" pitchFamily="49" charset="0"/>
                <a:cs typeface="Courier New" pitchFamily="49" charset="0"/>
              </a:rPr>
              <a:t>          /* writing is performed */ </a:t>
            </a:r>
          </a:p>
          <a:p>
            <a:pPr>
              <a:buFont typeface="Monotype Sorts" pitchFamily="-84" charset="2"/>
              <a:buNone/>
            </a:pPr>
            <a:r>
              <a:rPr lang="en-US" altLang="en-US" sz="1600" b="1" dirty="0">
                <a:latin typeface="Courier New" pitchFamily="49" charset="0"/>
                <a:cs typeface="Courier New" pitchFamily="49" charset="0"/>
              </a:rPr>
              <a:t>               ... </a:t>
            </a:r>
          </a:p>
          <a:p>
            <a:pPr>
              <a:buFont typeface="Monotype Sorts" pitchFamily="-84" charset="2"/>
              <a:buNone/>
            </a:pPr>
            <a:r>
              <a:rPr lang="en-US" altLang="en-US" sz="1600" b="1" dirty="0">
                <a:latin typeface="Courier New" pitchFamily="49" charset="0"/>
                <a:cs typeface="Courier New" pitchFamily="49" charset="0"/>
              </a:rPr>
              <a:t>          signal(</a:t>
            </a:r>
            <a:r>
              <a:rPr lang="en-US" altLang="en-US" sz="1600" b="1" dirty="0" err="1">
                <a:latin typeface="Courier New" pitchFamily="49" charset="0"/>
                <a:cs typeface="Courier New" pitchFamily="49" charset="0"/>
              </a:rPr>
              <a:t>rw_mutex</a:t>
            </a:r>
            <a:r>
              <a:rPr lang="en-US" altLang="en-US" sz="1600" b="1" dirty="0">
                <a:latin typeface="Courier New" pitchFamily="49" charset="0"/>
                <a:cs typeface="Courier New" pitchFamily="49" charset="0"/>
              </a:rPr>
              <a:t>); </a:t>
            </a:r>
          </a:p>
          <a:p>
            <a:pPr>
              <a:buFont typeface="Monotype Sorts" pitchFamily="-84" charset="2"/>
              <a:buNone/>
            </a:pPr>
            <a:r>
              <a:rPr lang="en-US" altLang="en-US" sz="1600" b="1" dirty="0">
                <a:latin typeface="Courier New" pitchFamily="49" charset="0"/>
                <a:cs typeface="Courier New" pitchFamily="49" charset="0"/>
              </a:rPr>
              <a:t>     } while (true);</a:t>
            </a:r>
            <a:br>
              <a:rPr lang="en-US" altLang="en-US" sz="1600" b="1" dirty="0">
                <a:latin typeface="Courier New" pitchFamily="49" charset="0"/>
                <a:cs typeface="Courier New" pitchFamily="49" charset="0"/>
              </a:rPr>
            </a:br>
            <a:endParaRPr lang="en-US" altLang="en-US" sz="1600" b="1" dirty="0">
              <a:latin typeface="Courier New" pitchFamily="49" charset="0"/>
              <a:cs typeface="Courier New" pitchFamily="49" charset="0"/>
            </a:endParaRPr>
          </a:p>
        </p:txBody>
      </p:sp>
      <p:sp>
        <p:nvSpPr>
          <p:cNvPr id="14" name="Rectangle 3"/>
          <p:cNvSpPr txBox="1">
            <a:spLocks noChangeArrowheads="1"/>
          </p:cNvSpPr>
          <p:nvPr/>
        </p:nvSpPr>
        <p:spPr>
          <a:xfrm>
            <a:off x="8919413" y="806261"/>
            <a:ext cx="2740926"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en-US" sz="1800" dirty="0" smtClean="0"/>
          </a:p>
        </p:txBody>
      </p:sp>
      <p:sp>
        <p:nvSpPr>
          <p:cNvPr id="15" name="Rectangle 3"/>
          <p:cNvSpPr txBox="1">
            <a:spLocks noChangeArrowheads="1"/>
          </p:cNvSpPr>
          <p:nvPr/>
        </p:nvSpPr>
        <p:spPr>
          <a:xfrm>
            <a:off x="8693088" y="560597"/>
            <a:ext cx="3430135" cy="5005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1800" dirty="0" smtClean="0"/>
              <a:t>Reader2</a:t>
            </a:r>
          </a:p>
          <a:p>
            <a:r>
              <a:rPr lang="en-US" altLang="en-US" sz="1800" dirty="0" smtClean="0"/>
              <a:t>Reader R2 tries to enter CS</a:t>
            </a:r>
          </a:p>
          <a:p>
            <a:r>
              <a:rPr lang="en-US" altLang="en-US" sz="1800" dirty="0" smtClean="0"/>
              <a:t>wait mutes so </a:t>
            </a:r>
            <a:r>
              <a:rPr lang="en-US" altLang="en-US" sz="1800" dirty="0" err="1" smtClean="0"/>
              <a:t>mutex</a:t>
            </a:r>
            <a:r>
              <a:rPr lang="en-US" altLang="en-US" sz="1800" dirty="0" smtClean="0"/>
              <a:t>=0</a:t>
            </a:r>
          </a:p>
          <a:p>
            <a:r>
              <a:rPr lang="en-US" altLang="en-US" sz="1800" dirty="0" err="1" smtClean="0"/>
              <a:t>readcount</a:t>
            </a:r>
            <a:r>
              <a:rPr lang="en-US" altLang="en-US" sz="1800" dirty="0" smtClean="0"/>
              <a:t>=2</a:t>
            </a:r>
          </a:p>
          <a:p>
            <a:r>
              <a:rPr lang="en-US" altLang="en-US" sz="1800" dirty="0" smtClean="0"/>
              <a:t>Does not enter If section</a:t>
            </a:r>
          </a:p>
          <a:p>
            <a:r>
              <a:rPr lang="en-US" altLang="en-US" sz="1800" dirty="0" smtClean="0"/>
              <a:t>signal </a:t>
            </a:r>
            <a:r>
              <a:rPr lang="en-US" altLang="en-US" sz="1800" dirty="0" err="1" smtClean="0"/>
              <a:t>mutex</a:t>
            </a:r>
            <a:endParaRPr lang="en-US" altLang="en-US" sz="1800" dirty="0" smtClean="0"/>
          </a:p>
          <a:p>
            <a:r>
              <a:rPr lang="en-US" altLang="en-US" sz="1800" dirty="0" err="1" smtClean="0"/>
              <a:t>mutex</a:t>
            </a:r>
            <a:r>
              <a:rPr lang="en-US" altLang="en-US" sz="1800" dirty="0" smtClean="0"/>
              <a:t>=1</a:t>
            </a:r>
          </a:p>
          <a:p>
            <a:r>
              <a:rPr lang="en-US" altLang="en-US" sz="1800" dirty="0" smtClean="0"/>
              <a:t>Reader R2 Enters CS </a:t>
            </a:r>
          </a:p>
          <a:p>
            <a:endParaRPr lang="en-US" altLang="en-US" sz="1800" dirty="0" smtClean="0"/>
          </a:p>
        </p:txBody>
      </p:sp>
    </p:spTree>
    <p:extLst>
      <p:ext uri="{BB962C8B-B14F-4D97-AF65-F5344CB8AC3E}">
        <p14:creationId xmlns:p14="http://schemas.microsoft.com/office/powerpoint/2010/main" val="415820945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77091" y="1259195"/>
            <a:ext cx="5500253" cy="4712298"/>
          </a:xfrm>
        </p:spPr>
        <p:txBody>
          <a:bodyPr>
            <a:noAutofit/>
          </a:bodyPr>
          <a:lstStyle/>
          <a:p>
            <a:pPr marL="0" indent="0">
              <a:spcBef>
                <a:spcPts val="400"/>
              </a:spcBef>
              <a:buNone/>
            </a:pPr>
            <a:r>
              <a:rPr lang="en-IN" sz="1300" dirty="0" smtClean="0">
                <a:latin typeface="Fira sans"/>
              </a:rPr>
              <a:t>//</a:t>
            </a:r>
            <a:r>
              <a:rPr lang="en-IN" sz="1300" dirty="0">
                <a:latin typeface="Fira sans"/>
              </a:rPr>
              <a:t>Initialize:</a:t>
            </a:r>
          </a:p>
          <a:p>
            <a:pPr marL="0" indent="0">
              <a:spcBef>
                <a:spcPts val="400"/>
              </a:spcBef>
              <a:buNone/>
            </a:pPr>
            <a:r>
              <a:rPr lang="en-IN" sz="1300" dirty="0">
                <a:latin typeface="Fira sans"/>
              </a:rPr>
              <a:t>    </a:t>
            </a:r>
            <a:r>
              <a:rPr lang="en-IN" sz="1300" dirty="0" err="1">
                <a:latin typeface="Fira sans"/>
              </a:rPr>
              <a:t>mutex</a:t>
            </a:r>
            <a:r>
              <a:rPr lang="en-IN" sz="1300" dirty="0">
                <a:latin typeface="Fira sans"/>
              </a:rPr>
              <a:t> = </a:t>
            </a:r>
            <a:r>
              <a:rPr lang="en-IN" sz="1300" dirty="0" err="1">
                <a:latin typeface="Fira sans"/>
              </a:rPr>
              <a:t>CreateMutex</a:t>
            </a:r>
            <a:r>
              <a:rPr lang="en-IN" sz="1300" dirty="0">
                <a:latin typeface="Fira sans"/>
              </a:rPr>
              <a:t>()         // </a:t>
            </a:r>
            <a:r>
              <a:rPr lang="en-IN" sz="1300" dirty="0" err="1">
                <a:latin typeface="Fira sans"/>
              </a:rPr>
              <a:t>Mutex</a:t>
            </a:r>
            <a:r>
              <a:rPr lang="en-IN" sz="1300" dirty="0">
                <a:latin typeface="Fira sans"/>
              </a:rPr>
              <a:t> for synchronizing </a:t>
            </a:r>
            <a:r>
              <a:rPr lang="en-IN" sz="1300" dirty="0" err="1">
                <a:latin typeface="Fira sans"/>
              </a:rPr>
              <a:t>read_count</a:t>
            </a:r>
            <a:endParaRPr lang="en-IN" sz="1300" dirty="0">
              <a:latin typeface="Fira sans"/>
            </a:endParaRPr>
          </a:p>
          <a:p>
            <a:pPr marL="0" indent="0">
              <a:spcBef>
                <a:spcPts val="400"/>
              </a:spcBef>
              <a:buNone/>
            </a:pPr>
            <a:r>
              <a:rPr lang="en-IN" sz="1300" dirty="0">
                <a:latin typeface="Fira sans"/>
              </a:rPr>
              <a:t>    </a:t>
            </a:r>
            <a:r>
              <a:rPr lang="en-IN" sz="1300" dirty="0" err="1">
                <a:latin typeface="Fira sans"/>
              </a:rPr>
              <a:t>wrt</a:t>
            </a:r>
            <a:r>
              <a:rPr lang="en-IN" sz="1300" dirty="0">
                <a:latin typeface="Fira sans"/>
              </a:rPr>
              <a:t> = </a:t>
            </a:r>
            <a:r>
              <a:rPr lang="en-IN" sz="1300" dirty="0" err="1">
                <a:latin typeface="Fira sans"/>
              </a:rPr>
              <a:t>CreateSemaphore</a:t>
            </a:r>
            <a:r>
              <a:rPr lang="en-IN" sz="1300" dirty="0">
                <a:latin typeface="Fira sans"/>
              </a:rPr>
              <a:t>(1)      // Semaphore for writer access</a:t>
            </a:r>
          </a:p>
          <a:p>
            <a:pPr marL="0" indent="0">
              <a:spcBef>
                <a:spcPts val="400"/>
              </a:spcBef>
              <a:buNone/>
            </a:pPr>
            <a:r>
              <a:rPr lang="en-IN" sz="1300" dirty="0">
                <a:latin typeface="Fira sans"/>
              </a:rPr>
              <a:t>    </a:t>
            </a:r>
            <a:r>
              <a:rPr lang="en-IN" sz="1300" dirty="0" err="1">
                <a:latin typeface="Fira sans"/>
              </a:rPr>
              <a:t>read_count</a:t>
            </a:r>
            <a:r>
              <a:rPr lang="en-IN" sz="1300" dirty="0">
                <a:latin typeface="Fira sans"/>
              </a:rPr>
              <a:t> = 0                // Number of active readers</a:t>
            </a:r>
          </a:p>
          <a:p>
            <a:pPr marL="0" indent="0">
              <a:spcBef>
                <a:spcPts val="400"/>
              </a:spcBef>
              <a:buNone/>
            </a:pPr>
            <a:r>
              <a:rPr lang="en-IN" sz="1300" dirty="0">
                <a:latin typeface="Fira sans"/>
              </a:rPr>
              <a:t> </a:t>
            </a:r>
            <a:endParaRPr lang="en-IN" sz="1300" dirty="0" smtClean="0">
              <a:latin typeface="Fira sans"/>
            </a:endParaRPr>
          </a:p>
          <a:p>
            <a:pPr marL="0" indent="0">
              <a:spcBef>
                <a:spcPts val="400"/>
              </a:spcBef>
              <a:buNone/>
            </a:pPr>
            <a:r>
              <a:rPr lang="en-IN" sz="1200" dirty="0">
                <a:latin typeface="Fira sans"/>
              </a:rPr>
              <a:t>//Writer</a:t>
            </a:r>
          </a:p>
          <a:p>
            <a:pPr marL="0" indent="0">
              <a:spcBef>
                <a:spcPts val="400"/>
              </a:spcBef>
              <a:buNone/>
            </a:pPr>
            <a:r>
              <a:rPr lang="en-IN" sz="1200" dirty="0">
                <a:latin typeface="Fira sans"/>
              </a:rPr>
              <a:t>function Writer(){</a:t>
            </a:r>
          </a:p>
          <a:p>
            <a:pPr marL="0" indent="0">
              <a:spcBef>
                <a:spcPts val="400"/>
              </a:spcBef>
              <a:buNone/>
            </a:pPr>
            <a:r>
              <a:rPr lang="en-IN" sz="1200" dirty="0">
                <a:latin typeface="Fira sans"/>
              </a:rPr>
              <a:t>    while true:</a:t>
            </a:r>
          </a:p>
          <a:p>
            <a:pPr marL="0" indent="0">
              <a:spcBef>
                <a:spcPts val="400"/>
              </a:spcBef>
              <a:buNone/>
            </a:pPr>
            <a:r>
              <a:rPr lang="en-IN" sz="1200" dirty="0">
                <a:latin typeface="Fira sans"/>
              </a:rPr>
              <a:t>        Wait(</a:t>
            </a:r>
            <a:r>
              <a:rPr lang="en-IN" sz="1200" dirty="0" err="1">
                <a:latin typeface="Fira sans"/>
              </a:rPr>
              <a:t>wrt</a:t>
            </a:r>
            <a:r>
              <a:rPr lang="en-IN" sz="1200" dirty="0">
                <a:latin typeface="Fira sans"/>
              </a:rPr>
              <a:t>)                  // Wait for exclusive access to write</a:t>
            </a:r>
          </a:p>
          <a:p>
            <a:pPr marL="0" indent="0">
              <a:spcBef>
                <a:spcPts val="400"/>
              </a:spcBef>
              <a:buNone/>
            </a:pPr>
            <a:r>
              <a:rPr lang="en-IN" sz="1200" dirty="0">
                <a:latin typeface="Fira sans"/>
              </a:rPr>
              <a:t> </a:t>
            </a:r>
          </a:p>
          <a:p>
            <a:pPr marL="0" indent="0">
              <a:spcBef>
                <a:spcPts val="400"/>
              </a:spcBef>
              <a:buNone/>
            </a:pPr>
            <a:r>
              <a:rPr lang="en-IN" sz="1200" dirty="0">
                <a:latin typeface="Fira sans"/>
              </a:rPr>
              <a:t>        // Critical Section (Writing)</a:t>
            </a:r>
          </a:p>
          <a:p>
            <a:pPr marL="0" indent="0">
              <a:spcBef>
                <a:spcPts val="400"/>
              </a:spcBef>
              <a:buNone/>
            </a:pPr>
            <a:r>
              <a:rPr lang="en-IN" sz="1200" dirty="0">
                <a:latin typeface="Fira sans"/>
              </a:rPr>
              <a:t>        Write to shared resource    // Perform write operation</a:t>
            </a:r>
          </a:p>
          <a:p>
            <a:pPr marL="0" indent="0">
              <a:spcBef>
                <a:spcPts val="400"/>
              </a:spcBef>
              <a:buNone/>
            </a:pPr>
            <a:r>
              <a:rPr lang="en-IN" sz="1200" dirty="0">
                <a:latin typeface="Fira sans"/>
              </a:rPr>
              <a:t> </a:t>
            </a:r>
          </a:p>
          <a:p>
            <a:pPr marL="0" indent="0">
              <a:spcBef>
                <a:spcPts val="400"/>
              </a:spcBef>
              <a:buNone/>
            </a:pPr>
            <a:r>
              <a:rPr lang="en-IN" sz="1200" dirty="0">
                <a:latin typeface="Fira sans"/>
              </a:rPr>
              <a:t>        Signal(</a:t>
            </a:r>
            <a:r>
              <a:rPr lang="en-IN" sz="1200" dirty="0" err="1">
                <a:latin typeface="Fira sans"/>
              </a:rPr>
              <a:t>wrt</a:t>
            </a:r>
            <a:r>
              <a:rPr lang="en-IN" sz="1200" dirty="0">
                <a:latin typeface="Fira sans"/>
              </a:rPr>
              <a:t>)                // Release exclusive access</a:t>
            </a:r>
          </a:p>
          <a:p>
            <a:pPr marL="0" indent="0">
              <a:spcBef>
                <a:spcPts val="400"/>
              </a:spcBef>
              <a:buNone/>
            </a:pPr>
            <a:r>
              <a:rPr lang="en-IN" sz="1200" dirty="0">
                <a:latin typeface="Fira sans"/>
              </a:rPr>
              <a:t>}//writer</a:t>
            </a:r>
          </a:p>
          <a:p>
            <a:pPr marL="0" indent="0">
              <a:spcBef>
                <a:spcPts val="400"/>
              </a:spcBef>
              <a:buNone/>
            </a:pPr>
            <a:endParaRPr lang="en-IN" sz="1300" dirty="0">
              <a:latin typeface="Fira sans"/>
            </a:endParaRPr>
          </a:p>
          <a:p>
            <a:pPr marL="0" indent="0">
              <a:buNone/>
            </a:pPr>
            <a:r>
              <a:rPr lang="en-IN" sz="1300" dirty="0">
                <a:latin typeface="Fira sans"/>
              </a:rPr>
              <a:t> </a:t>
            </a:r>
          </a:p>
          <a:p>
            <a:pPr marL="0" indent="0">
              <a:buNone/>
            </a:pPr>
            <a:endParaRPr lang="en-IN" sz="1300" b="1" dirty="0">
              <a:latin typeface="Fira sans"/>
            </a:endParaRPr>
          </a:p>
        </p:txBody>
      </p:sp>
      <p:sp>
        <p:nvSpPr>
          <p:cNvPr id="6" name="Content Placeholder 5"/>
          <p:cNvSpPr>
            <a:spLocks noGrp="1"/>
          </p:cNvSpPr>
          <p:nvPr>
            <p:ph sz="half" idx="2"/>
          </p:nvPr>
        </p:nvSpPr>
        <p:spPr>
          <a:xfrm>
            <a:off x="6073666" y="1089471"/>
            <a:ext cx="5849625" cy="4351338"/>
          </a:xfrm>
        </p:spPr>
        <p:txBody>
          <a:bodyPr>
            <a:normAutofit lnSpcReduction="10000"/>
          </a:bodyPr>
          <a:lstStyle/>
          <a:p>
            <a:pPr marL="0" indent="0">
              <a:spcBef>
                <a:spcPts val="400"/>
              </a:spcBef>
              <a:buNone/>
            </a:pPr>
            <a:r>
              <a:rPr lang="en-IN" sz="1400" dirty="0" smtClean="0">
                <a:latin typeface="Fira sans"/>
              </a:rPr>
              <a:t>//</a:t>
            </a:r>
            <a:r>
              <a:rPr lang="en-IN" sz="1400" dirty="0">
                <a:latin typeface="Fira sans"/>
              </a:rPr>
              <a:t>Reader</a:t>
            </a:r>
          </a:p>
          <a:p>
            <a:pPr marL="0" indent="0">
              <a:spcBef>
                <a:spcPts val="400"/>
              </a:spcBef>
              <a:buNone/>
            </a:pPr>
            <a:r>
              <a:rPr lang="en-IN" sz="1400" dirty="0">
                <a:latin typeface="Fira sans"/>
              </a:rPr>
              <a:t>function Reader(){</a:t>
            </a:r>
          </a:p>
          <a:p>
            <a:pPr marL="0" indent="0">
              <a:spcBef>
                <a:spcPts val="400"/>
              </a:spcBef>
              <a:buNone/>
            </a:pPr>
            <a:r>
              <a:rPr lang="en-IN" sz="1400" dirty="0">
                <a:latin typeface="Fira sans"/>
              </a:rPr>
              <a:t>    while true:</a:t>
            </a:r>
          </a:p>
          <a:p>
            <a:pPr marL="0" indent="0">
              <a:spcBef>
                <a:spcPts val="400"/>
              </a:spcBef>
              <a:buNone/>
            </a:pPr>
            <a:r>
              <a:rPr lang="en-IN" sz="1400" dirty="0">
                <a:latin typeface="Fira sans"/>
              </a:rPr>
              <a:t>        Lock(</a:t>
            </a:r>
            <a:r>
              <a:rPr lang="en-IN" sz="1400" dirty="0" err="1">
                <a:latin typeface="Fira sans"/>
              </a:rPr>
              <a:t>mutex</a:t>
            </a:r>
            <a:r>
              <a:rPr lang="en-IN" sz="1400" dirty="0">
                <a:latin typeface="Fira sans"/>
              </a:rPr>
              <a:t>)                // Lock to update </a:t>
            </a:r>
            <a:r>
              <a:rPr lang="en-IN" sz="1400" dirty="0" err="1">
                <a:latin typeface="Fira sans"/>
              </a:rPr>
              <a:t>read_count</a:t>
            </a:r>
            <a:endParaRPr lang="en-IN" sz="1400" dirty="0">
              <a:latin typeface="Fira sans"/>
            </a:endParaRPr>
          </a:p>
          <a:p>
            <a:pPr marL="0" indent="0">
              <a:spcBef>
                <a:spcPts val="400"/>
              </a:spcBef>
              <a:buNone/>
            </a:pPr>
            <a:r>
              <a:rPr lang="en-IN" sz="1400" dirty="0">
                <a:latin typeface="Fira sans"/>
              </a:rPr>
              <a:t>        </a:t>
            </a:r>
            <a:r>
              <a:rPr lang="en-IN" sz="1400" dirty="0" err="1">
                <a:latin typeface="Fira sans"/>
              </a:rPr>
              <a:t>read_count</a:t>
            </a:r>
            <a:r>
              <a:rPr lang="en-IN" sz="1400" dirty="0">
                <a:latin typeface="Fira sans"/>
              </a:rPr>
              <a:t> = </a:t>
            </a:r>
            <a:r>
              <a:rPr lang="en-IN" sz="1400" dirty="0" err="1">
                <a:latin typeface="Fira sans"/>
              </a:rPr>
              <a:t>read_count</a:t>
            </a:r>
            <a:r>
              <a:rPr lang="en-IN" sz="1400" dirty="0">
                <a:latin typeface="Fira sans"/>
              </a:rPr>
              <a:t> + 1 // Increment the number of readers</a:t>
            </a:r>
          </a:p>
          <a:p>
            <a:pPr marL="0" indent="0">
              <a:spcBef>
                <a:spcPts val="400"/>
              </a:spcBef>
              <a:buNone/>
            </a:pPr>
            <a:r>
              <a:rPr lang="en-IN" sz="1400" dirty="0">
                <a:latin typeface="Fira sans"/>
              </a:rPr>
              <a:t>        if </a:t>
            </a:r>
            <a:r>
              <a:rPr lang="en-IN" sz="1400" dirty="0" err="1">
                <a:latin typeface="Fira sans"/>
              </a:rPr>
              <a:t>read_count</a:t>
            </a:r>
            <a:r>
              <a:rPr lang="en-IN" sz="1400" dirty="0">
                <a:latin typeface="Fira sans"/>
              </a:rPr>
              <a:t> == 1:        // If this is the first reader</a:t>
            </a:r>
          </a:p>
          <a:p>
            <a:pPr marL="0" indent="0">
              <a:spcBef>
                <a:spcPts val="400"/>
              </a:spcBef>
              <a:buNone/>
            </a:pPr>
            <a:r>
              <a:rPr lang="en-IN" sz="1400" dirty="0">
                <a:latin typeface="Fira sans"/>
              </a:rPr>
              <a:t>            Wait(</a:t>
            </a:r>
            <a:r>
              <a:rPr lang="en-IN" sz="1400" dirty="0" err="1">
                <a:latin typeface="Fira sans"/>
              </a:rPr>
              <a:t>wrt</a:t>
            </a:r>
            <a:r>
              <a:rPr lang="en-IN" sz="1400" dirty="0">
                <a:latin typeface="Fira sans"/>
              </a:rPr>
              <a:t>)              // Wait for writer access (lock for writing)</a:t>
            </a:r>
          </a:p>
          <a:p>
            <a:pPr marL="0" indent="0">
              <a:spcBef>
                <a:spcPts val="400"/>
              </a:spcBef>
              <a:buNone/>
            </a:pPr>
            <a:r>
              <a:rPr lang="en-IN" sz="1400" dirty="0">
                <a:latin typeface="Fira sans"/>
              </a:rPr>
              <a:t>        Unlock(</a:t>
            </a:r>
            <a:r>
              <a:rPr lang="en-IN" sz="1400" dirty="0" err="1">
                <a:latin typeface="Fira sans"/>
              </a:rPr>
              <a:t>mutex</a:t>
            </a:r>
            <a:r>
              <a:rPr lang="en-IN" sz="1400" dirty="0">
                <a:latin typeface="Fira sans"/>
              </a:rPr>
              <a:t>)              // Unlock after updating </a:t>
            </a:r>
            <a:r>
              <a:rPr lang="en-IN" sz="1400" dirty="0" err="1">
                <a:latin typeface="Fira sans"/>
              </a:rPr>
              <a:t>read_count</a:t>
            </a:r>
            <a:endParaRPr lang="en-IN" sz="1400" dirty="0">
              <a:latin typeface="Fira sans"/>
            </a:endParaRPr>
          </a:p>
          <a:p>
            <a:pPr marL="0" indent="0">
              <a:spcBef>
                <a:spcPts val="400"/>
              </a:spcBef>
              <a:buNone/>
            </a:pPr>
            <a:r>
              <a:rPr lang="en-IN" sz="1400" dirty="0">
                <a:latin typeface="Fira sans"/>
              </a:rPr>
              <a:t> </a:t>
            </a:r>
          </a:p>
          <a:p>
            <a:pPr marL="0" indent="0">
              <a:spcBef>
                <a:spcPts val="400"/>
              </a:spcBef>
              <a:buNone/>
            </a:pPr>
            <a:r>
              <a:rPr lang="en-IN" sz="1400" dirty="0">
                <a:latin typeface="Fira sans"/>
              </a:rPr>
              <a:t>        // Critical Section (Reading)</a:t>
            </a:r>
          </a:p>
          <a:p>
            <a:pPr marL="0" indent="0">
              <a:spcBef>
                <a:spcPts val="400"/>
              </a:spcBef>
              <a:buNone/>
            </a:pPr>
            <a:r>
              <a:rPr lang="en-IN" sz="1400" dirty="0">
                <a:latin typeface="Fira sans"/>
              </a:rPr>
              <a:t>        Read from shared resource   // Perform read operation</a:t>
            </a:r>
          </a:p>
          <a:p>
            <a:pPr marL="0" indent="0">
              <a:spcBef>
                <a:spcPts val="400"/>
              </a:spcBef>
              <a:buNone/>
            </a:pPr>
            <a:r>
              <a:rPr lang="en-IN" sz="1400" dirty="0">
                <a:latin typeface="Fira sans"/>
              </a:rPr>
              <a:t> </a:t>
            </a:r>
          </a:p>
          <a:p>
            <a:pPr marL="0" indent="0">
              <a:spcBef>
                <a:spcPts val="400"/>
              </a:spcBef>
              <a:buNone/>
            </a:pPr>
            <a:r>
              <a:rPr lang="en-IN" sz="1400" dirty="0">
                <a:latin typeface="Fira sans"/>
              </a:rPr>
              <a:t>        Lock(</a:t>
            </a:r>
            <a:r>
              <a:rPr lang="en-IN" sz="1400" dirty="0" err="1">
                <a:latin typeface="Fira sans"/>
              </a:rPr>
              <a:t>mutex</a:t>
            </a:r>
            <a:r>
              <a:rPr lang="en-IN" sz="1400" dirty="0">
                <a:latin typeface="Fira sans"/>
              </a:rPr>
              <a:t>)                // Lock to update </a:t>
            </a:r>
            <a:r>
              <a:rPr lang="en-IN" sz="1400" dirty="0" err="1">
                <a:latin typeface="Fira sans"/>
              </a:rPr>
              <a:t>read_count</a:t>
            </a:r>
            <a:endParaRPr lang="en-IN" sz="1400" dirty="0">
              <a:latin typeface="Fira sans"/>
            </a:endParaRPr>
          </a:p>
          <a:p>
            <a:pPr marL="0" indent="0">
              <a:spcBef>
                <a:spcPts val="400"/>
              </a:spcBef>
              <a:buNone/>
            </a:pPr>
            <a:r>
              <a:rPr lang="en-IN" sz="1400" dirty="0">
                <a:latin typeface="Fira sans"/>
              </a:rPr>
              <a:t>        </a:t>
            </a:r>
            <a:r>
              <a:rPr lang="en-IN" sz="1400" dirty="0" err="1">
                <a:latin typeface="Fira sans"/>
              </a:rPr>
              <a:t>read_count</a:t>
            </a:r>
            <a:r>
              <a:rPr lang="en-IN" sz="1400" dirty="0">
                <a:latin typeface="Fira sans"/>
              </a:rPr>
              <a:t> = </a:t>
            </a:r>
            <a:r>
              <a:rPr lang="en-IN" sz="1400" dirty="0" err="1">
                <a:latin typeface="Fira sans"/>
              </a:rPr>
              <a:t>read_count</a:t>
            </a:r>
            <a:r>
              <a:rPr lang="en-IN" sz="1400" dirty="0">
                <a:latin typeface="Fira sans"/>
              </a:rPr>
              <a:t> - 1 // Decrement the number of readers</a:t>
            </a:r>
          </a:p>
          <a:p>
            <a:pPr marL="0" indent="0">
              <a:spcBef>
                <a:spcPts val="400"/>
              </a:spcBef>
              <a:buNone/>
            </a:pPr>
            <a:r>
              <a:rPr lang="en-IN" sz="1400" dirty="0">
                <a:latin typeface="Fira sans"/>
              </a:rPr>
              <a:t>        if </a:t>
            </a:r>
            <a:r>
              <a:rPr lang="en-IN" sz="1400" dirty="0" err="1">
                <a:latin typeface="Fira sans"/>
              </a:rPr>
              <a:t>read_count</a:t>
            </a:r>
            <a:r>
              <a:rPr lang="en-IN" sz="1400" dirty="0">
                <a:latin typeface="Fira sans"/>
              </a:rPr>
              <a:t> == 0:         // If this is the last reader</a:t>
            </a:r>
          </a:p>
          <a:p>
            <a:pPr marL="0" indent="0">
              <a:spcBef>
                <a:spcPts val="400"/>
              </a:spcBef>
              <a:buNone/>
            </a:pPr>
            <a:r>
              <a:rPr lang="en-IN" sz="1400" dirty="0">
                <a:latin typeface="Fira sans"/>
              </a:rPr>
              <a:t>            Signal(</a:t>
            </a:r>
            <a:r>
              <a:rPr lang="en-IN" sz="1400" dirty="0" err="1">
                <a:latin typeface="Fira sans"/>
              </a:rPr>
              <a:t>wrt</a:t>
            </a:r>
            <a:r>
              <a:rPr lang="en-IN" sz="1400" dirty="0">
                <a:latin typeface="Fira sans"/>
              </a:rPr>
              <a:t>)             // Signal that writers can access</a:t>
            </a:r>
          </a:p>
          <a:p>
            <a:pPr marL="0" indent="0">
              <a:spcBef>
                <a:spcPts val="400"/>
              </a:spcBef>
              <a:buNone/>
            </a:pPr>
            <a:r>
              <a:rPr lang="en-IN" sz="1400" dirty="0">
                <a:latin typeface="Fira sans"/>
              </a:rPr>
              <a:t>        Unlock(</a:t>
            </a:r>
            <a:r>
              <a:rPr lang="en-IN" sz="1400" dirty="0" err="1">
                <a:latin typeface="Fira sans"/>
              </a:rPr>
              <a:t>mutex</a:t>
            </a:r>
            <a:r>
              <a:rPr lang="en-IN" sz="1400" dirty="0">
                <a:latin typeface="Fira sans"/>
              </a:rPr>
              <a:t>)              // Unlock after updating </a:t>
            </a:r>
            <a:r>
              <a:rPr lang="en-IN" sz="1400" dirty="0" err="1">
                <a:latin typeface="Fira sans"/>
              </a:rPr>
              <a:t>read_count</a:t>
            </a:r>
            <a:endParaRPr lang="en-IN" sz="1400" dirty="0">
              <a:latin typeface="Fira sans"/>
            </a:endParaRPr>
          </a:p>
          <a:p>
            <a:pPr marL="0" indent="0">
              <a:spcBef>
                <a:spcPts val="400"/>
              </a:spcBef>
              <a:buNone/>
            </a:pPr>
            <a:r>
              <a:rPr lang="en-IN" sz="1400" dirty="0">
                <a:latin typeface="Fira sans"/>
              </a:rPr>
              <a:t>}//reader</a:t>
            </a:r>
          </a:p>
          <a:p>
            <a:pPr marL="0" indent="0">
              <a:spcBef>
                <a:spcPts val="400"/>
              </a:spcBef>
              <a:buNone/>
            </a:pPr>
            <a:endParaRPr lang="en-IN" sz="1400" dirty="0">
              <a:latin typeface="Fira sans"/>
            </a:endParaRPr>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pic>
        <p:nvPicPr>
          <p:cNvPr id="8" name="Picture 7">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9" name="Picture 8">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10"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pic>
        <p:nvPicPr>
          <p:cNvPr id="11" name="Picture 10"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12" name="Title 4"/>
          <p:cNvSpPr>
            <a:spLocks noGrp="1"/>
          </p:cNvSpPr>
          <p:nvPr>
            <p:ph type="title"/>
          </p:nvPr>
        </p:nvSpPr>
        <p:spPr>
          <a:xfrm>
            <a:off x="280555" y="365126"/>
            <a:ext cx="11073245" cy="538884"/>
          </a:xfrm>
        </p:spPr>
        <p:txBody>
          <a:bodyPr>
            <a:normAutofit fontScale="90000"/>
          </a:bodyPr>
          <a:lstStyle/>
          <a:p>
            <a:r>
              <a:rPr lang="en-IN" dirty="0" err="1">
                <a:solidFill>
                  <a:srgbClr val="C00000"/>
                </a:solidFill>
                <a:latin typeface="Marcellus"/>
              </a:rPr>
              <a:t>Mutex</a:t>
            </a:r>
            <a:r>
              <a:rPr lang="en-IN" dirty="0">
                <a:solidFill>
                  <a:srgbClr val="C00000"/>
                </a:solidFill>
                <a:latin typeface="Marcellus"/>
              </a:rPr>
              <a:t> solution for fair readers-writers </a:t>
            </a:r>
            <a:r>
              <a:rPr lang="en-IN" dirty="0" smtClean="0">
                <a:solidFill>
                  <a:srgbClr val="C00000"/>
                </a:solidFill>
                <a:latin typeface="Marcellus"/>
              </a:rPr>
              <a:t>problem</a:t>
            </a:r>
            <a:endParaRPr lang="en-IN" dirty="0">
              <a:latin typeface="Marcellus"/>
            </a:endParaRPr>
          </a:p>
        </p:txBody>
      </p:sp>
    </p:spTree>
    <p:extLst>
      <p:ext uri="{BB962C8B-B14F-4D97-AF65-F5344CB8AC3E}">
        <p14:creationId xmlns:p14="http://schemas.microsoft.com/office/powerpoint/2010/main" val="275570607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Analysis of </a:t>
            </a:r>
            <a:r>
              <a:rPr lang="en-US" sz="3200" dirty="0" smtClean="0">
                <a:solidFill>
                  <a:srgbClr val="C00000"/>
                </a:solidFill>
                <a:latin typeface="Marcellus" panose="020E0602050203020307" pitchFamily="34" charset="0"/>
              </a:rPr>
              <a:t>Fairness</a:t>
            </a:r>
            <a:endParaRPr lang="en-US" sz="3200" dirty="0">
              <a:solidFill>
                <a:srgbClr val="C00000"/>
              </a:solidFill>
              <a:latin typeface="Marcellus" panose="020E0602050203020307" pitchFamily="34" charset="0"/>
            </a:endParaRPr>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744AE6BD-C94D-4120-A7ED-1F209A6E5E89}" type="datetime1">
              <a:rPr lang="en-US" smtClean="0"/>
              <a:t>11/11/2024</a:t>
            </a:fld>
            <a:endParaRPr lang="en-US"/>
          </a:p>
        </p:txBody>
      </p:sp>
      <p:sp>
        <p:nvSpPr>
          <p:cNvPr id="13" name="Content Placeholder 2"/>
          <p:cNvSpPr txBox="1">
            <a:spLocks/>
          </p:cNvSpPr>
          <p:nvPr/>
        </p:nvSpPr>
        <p:spPr>
          <a:xfrm>
            <a:off x="736980" y="1146176"/>
            <a:ext cx="9935570" cy="45307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IN" sz="2400" b="1" dirty="0" smtClean="0"/>
              <a:t>No </a:t>
            </a:r>
            <a:r>
              <a:rPr lang="en-IN" sz="2400" b="1" dirty="0"/>
              <a:t>starvation</a:t>
            </a:r>
            <a:r>
              <a:rPr lang="en-IN" sz="2400" dirty="0"/>
              <a:t>: The solution avoids both reader and writer starvation. Writers wait for ongoing readers to finish but will not be indefinitely delayed because once the last reader finishes, the writer gets exclusive access.</a:t>
            </a:r>
          </a:p>
          <a:p>
            <a:pPr lvl="0"/>
            <a:r>
              <a:rPr lang="en-IN" sz="2400" b="1" dirty="0"/>
              <a:t>Mutual Exclusion</a:t>
            </a:r>
            <a:r>
              <a:rPr lang="en-IN" sz="2400" dirty="0"/>
              <a:t>: Writers always get exclusive access to the critical section.</a:t>
            </a:r>
          </a:p>
          <a:p>
            <a:pPr lvl="0"/>
            <a:r>
              <a:rPr lang="en-IN" sz="2400" b="1" dirty="0"/>
              <a:t>Reader Priority</a:t>
            </a:r>
            <a:r>
              <a:rPr lang="en-IN" sz="2400" dirty="0"/>
              <a:t>: Readers are given priority in the sense that multiple readers can access the resource simultaneously, while writers have to wait if there are any active readers. However, once a writer starts, no new readers can access the resource until the writer finishes.</a:t>
            </a:r>
          </a:p>
          <a:p>
            <a:r>
              <a:rPr lang="en-IN" sz="2400" b="1" dirty="0"/>
              <a:t>Possible Edge Cases:</a:t>
            </a:r>
            <a:endParaRPr lang="en-IN" sz="2400" dirty="0"/>
          </a:p>
          <a:p>
            <a:pPr lvl="1"/>
            <a:r>
              <a:rPr lang="en-IN" sz="2000" b="1" dirty="0"/>
              <a:t>Writer starvation in case of frequent readers</a:t>
            </a:r>
            <a:r>
              <a:rPr lang="en-IN" sz="2000" dirty="0"/>
              <a:t>: While writers aren't starved in this implementation, there is a slight delay for writers if readers continuously arrive. However, this delay is minimal due to the condition that only when </a:t>
            </a:r>
            <a:r>
              <a:rPr lang="en-IN" sz="2000" dirty="0" err="1"/>
              <a:t>read_count</a:t>
            </a:r>
            <a:r>
              <a:rPr lang="en-IN" sz="2000" dirty="0"/>
              <a:t> == 0 can a writer access the resource.</a:t>
            </a:r>
          </a:p>
        </p:txBody>
      </p:sp>
    </p:spTree>
    <p:extLst>
      <p:ext uri="{BB962C8B-B14F-4D97-AF65-F5344CB8AC3E}">
        <p14:creationId xmlns:p14="http://schemas.microsoft.com/office/powerpoint/2010/main" val="167309637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6"/>
            <a:ext cx="10515600" cy="538884"/>
          </a:xfrm>
        </p:spPr>
        <p:txBody>
          <a:bodyPr>
            <a:normAutofit fontScale="90000"/>
          </a:bodyPr>
          <a:lstStyle/>
          <a:p>
            <a:r>
              <a:rPr lang="en-US" sz="3600" dirty="0">
                <a:solidFill>
                  <a:srgbClr val="C00000"/>
                </a:solidFill>
                <a:latin typeface="Marcellus"/>
              </a:rPr>
              <a:t>Solution for Fair Readers-Writers Problem Using Semaphores</a:t>
            </a:r>
            <a:r>
              <a:rPr lang="en-US" dirty="0"/>
              <a:t/>
            </a:r>
            <a:br>
              <a:rPr lang="en-US" dirty="0"/>
            </a:br>
            <a:endParaRPr lang="en-IN" dirty="0"/>
          </a:p>
        </p:txBody>
      </p:sp>
      <p:sp>
        <p:nvSpPr>
          <p:cNvPr id="6" name="Content Placeholder 5"/>
          <p:cNvSpPr>
            <a:spLocks noGrp="1"/>
          </p:cNvSpPr>
          <p:nvPr>
            <p:ph sz="half" idx="1"/>
          </p:nvPr>
        </p:nvSpPr>
        <p:spPr>
          <a:xfrm>
            <a:off x="245916" y="880053"/>
            <a:ext cx="6258793" cy="4351338"/>
          </a:xfrm>
        </p:spPr>
        <p:txBody>
          <a:bodyPr>
            <a:normAutofit fontScale="92500" lnSpcReduction="10000"/>
          </a:bodyPr>
          <a:lstStyle/>
          <a:p>
            <a:pPr marL="0" indent="0">
              <a:spcBef>
                <a:spcPts val="400"/>
              </a:spcBef>
              <a:buNone/>
            </a:pPr>
            <a:r>
              <a:rPr lang="en-IN" sz="1600" dirty="0" smtClean="0">
                <a:latin typeface="Fira sans"/>
              </a:rPr>
              <a:t>Initialize</a:t>
            </a:r>
            <a:r>
              <a:rPr lang="en-IN" sz="1600" dirty="0">
                <a:latin typeface="Fira sans"/>
              </a:rPr>
              <a:t>:</a:t>
            </a:r>
          </a:p>
          <a:p>
            <a:pPr marL="0" indent="0">
              <a:spcBef>
                <a:spcPts val="400"/>
              </a:spcBef>
              <a:buNone/>
            </a:pPr>
            <a:r>
              <a:rPr lang="en-IN" sz="1600" dirty="0">
                <a:latin typeface="Fira sans"/>
              </a:rPr>
              <a:t>    </a:t>
            </a:r>
            <a:r>
              <a:rPr lang="en-IN" sz="1600" dirty="0" err="1">
                <a:latin typeface="Fira sans"/>
              </a:rPr>
              <a:t>mutex</a:t>
            </a:r>
            <a:r>
              <a:rPr lang="en-IN" sz="1600" dirty="0">
                <a:latin typeface="Fira sans"/>
              </a:rPr>
              <a:t> = </a:t>
            </a:r>
            <a:r>
              <a:rPr lang="en-IN" sz="1600" dirty="0" err="1">
                <a:latin typeface="Fira sans"/>
              </a:rPr>
              <a:t>CreateSemaphore</a:t>
            </a:r>
            <a:r>
              <a:rPr lang="en-IN" sz="1600" dirty="0">
                <a:latin typeface="Fira sans"/>
              </a:rPr>
              <a:t>(1)     // </a:t>
            </a:r>
            <a:r>
              <a:rPr lang="en-IN" sz="1600" dirty="0" err="1">
                <a:latin typeface="Fira sans"/>
              </a:rPr>
              <a:t>Mutex</a:t>
            </a:r>
            <a:r>
              <a:rPr lang="en-IN" sz="1600" dirty="0">
                <a:latin typeface="Fira sans"/>
              </a:rPr>
              <a:t> to protect </a:t>
            </a:r>
            <a:r>
              <a:rPr lang="en-IN" sz="1600" dirty="0" err="1">
                <a:latin typeface="Fira sans"/>
              </a:rPr>
              <a:t>read_count</a:t>
            </a:r>
            <a:endParaRPr lang="en-IN" sz="1600" dirty="0">
              <a:latin typeface="Fira sans"/>
            </a:endParaRPr>
          </a:p>
          <a:p>
            <a:pPr marL="0" indent="0">
              <a:spcBef>
                <a:spcPts val="400"/>
              </a:spcBef>
              <a:buNone/>
            </a:pPr>
            <a:r>
              <a:rPr lang="en-IN" sz="1600" dirty="0">
                <a:latin typeface="Fira sans"/>
              </a:rPr>
              <a:t>    </a:t>
            </a:r>
            <a:r>
              <a:rPr lang="en-IN" sz="1600" dirty="0" err="1">
                <a:latin typeface="Fira sans"/>
              </a:rPr>
              <a:t>wrt</a:t>
            </a:r>
            <a:r>
              <a:rPr lang="en-IN" sz="1600" dirty="0">
                <a:latin typeface="Fira sans"/>
              </a:rPr>
              <a:t> = </a:t>
            </a:r>
            <a:r>
              <a:rPr lang="en-IN" sz="1600" dirty="0" err="1">
                <a:latin typeface="Fira sans"/>
              </a:rPr>
              <a:t>CreateSemaphore</a:t>
            </a:r>
            <a:r>
              <a:rPr lang="en-IN" sz="1600" dirty="0">
                <a:latin typeface="Fira sans"/>
              </a:rPr>
              <a:t>(1)        // Semaphore for writer access</a:t>
            </a:r>
          </a:p>
          <a:p>
            <a:pPr marL="0" indent="0">
              <a:spcBef>
                <a:spcPts val="400"/>
              </a:spcBef>
              <a:buNone/>
            </a:pPr>
            <a:r>
              <a:rPr lang="en-IN" sz="1600" dirty="0">
                <a:latin typeface="Fira sans"/>
              </a:rPr>
              <a:t>    </a:t>
            </a:r>
            <a:r>
              <a:rPr lang="en-IN" sz="1600" dirty="0" err="1">
                <a:latin typeface="Fira sans"/>
              </a:rPr>
              <a:t>read_count</a:t>
            </a:r>
            <a:r>
              <a:rPr lang="en-IN" sz="1600" dirty="0">
                <a:latin typeface="Fira sans"/>
              </a:rPr>
              <a:t> = 0                  // Number of active readers</a:t>
            </a:r>
          </a:p>
          <a:p>
            <a:pPr marL="0" indent="0">
              <a:spcBef>
                <a:spcPts val="400"/>
              </a:spcBef>
              <a:buNone/>
            </a:pPr>
            <a:r>
              <a:rPr lang="en-IN" sz="1600" dirty="0">
                <a:latin typeface="Fira sans"/>
              </a:rPr>
              <a:t>    </a:t>
            </a:r>
            <a:r>
              <a:rPr lang="en-IN" sz="1600" dirty="0" err="1">
                <a:latin typeface="Fira sans"/>
              </a:rPr>
              <a:t>read_lock</a:t>
            </a:r>
            <a:r>
              <a:rPr lang="en-IN" sz="1600" dirty="0">
                <a:latin typeface="Fira sans"/>
              </a:rPr>
              <a:t> = </a:t>
            </a:r>
            <a:r>
              <a:rPr lang="en-IN" sz="1600" dirty="0" err="1">
                <a:latin typeface="Fira sans"/>
              </a:rPr>
              <a:t>CreateSemaphore</a:t>
            </a:r>
            <a:r>
              <a:rPr lang="en-IN" sz="1600" dirty="0">
                <a:latin typeface="Fira sans"/>
              </a:rPr>
              <a:t>(1)  // Semaphore for reader access</a:t>
            </a:r>
          </a:p>
          <a:p>
            <a:pPr marL="0" indent="0">
              <a:spcBef>
                <a:spcPts val="400"/>
              </a:spcBef>
              <a:buNone/>
            </a:pPr>
            <a:r>
              <a:rPr lang="en-IN" sz="1600" dirty="0">
                <a:latin typeface="Fira sans"/>
              </a:rPr>
              <a:t> </a:t>
            </a:r>
          </a:p>
          <a:p>
            <a:pPr marL="0" indent="0">
              <a:spcBef>
                <a:spcPts val="400"/>
              </a:spcBef>
              <a:buNone/>
            </a:pPr>
            <a:r>
              <a:rPr lang="en-IN" sz="1600" dirty="0">
                <a:latin typeface="Fira sans"/>
              </a:rPr>
              <a:t> </a:t>
            </a:r>
          </a:p>
          <a:p>
            <a:pPr marL="0" indent="0">
              <a:spcBef>
                <a:spcPts val="400"/>
              </a:spcBef>
              <a:buNone/>
            </a:pPr>
            <a:r>
              <a:rPr lang="en-IN" sz="1600" dirty="0">
                <a:latin typeface="Fira sans"/>
              </a:rPr>
              <a:t>//Writer </a:t>
            </a:r>
          </a:p>
          <a:p>
            <a:pPr marL="0" indent="0">
              <a:spcBef>
                <a:spcPts val="400"/>
              </a:spcBef>
              <a:buNone/>
            </a:pPr>
            <a:r>
              <a:rPr lang="en-IN" sz="1600" dirty="0">
                <a:latin typeface="Fira sans"/>
              </a:rPr>
              <a:t>function Writer(){</a:t>
            </a:r>
          </a:p>
          <a:p>
            <a:pPr marL="0" indent="0">
              <a:spcBef>
                <a:spcPts val="400"/>
              </a:spcBef>
              <a:buNone/>
            </a:pPr>
            <a:r>
              <a:rPr lang="en-IN" sz="1600" dirty="0">
                <a:latin typeface="Fira sans"/>
              </a:rPr>
              <a:t>    while true:</a:t>
            </a:r>
          </a:p>
          <a:p>
            <a:pPr marL="0" indent="0">
              <a:spcBef>
                <a:spcPts val="400"/>
              </a:spcBef>
              <a:buNone/>
            </a:pPr>
            <a:r>
              <a:rPr lang="en-IN" sz="1600" dirty="0">
                <a:latin typeface="Fira sans"/>
              </a:rPr>
              <a:t>        Wait(</a:t>
            </a:r>
            <a:r>
              <a:rPr lang="en-IN" sz="1600" dirty="0" err="1">
                <a:latin typeface="Fira sans"/>
              </a:rPr>
              <a:t>wrt</a:t>
            </a:r>
            <a:r>
              <a:rPr lang="en-IN" sz="1600" dirty="0">
                <a:latin typeface="Fira sans"/>
              </a:rPr>
              <a:t>)                   // Wait for exclusive access to write</a:t>
            </a:r>
          </a:p>
          <a:p>
            <a:pPr marL="0" indent="0">
              <a:spcBef>
                <a:spcPts val="400"/>
              </a:spcBef>
              <a:buNone/>
            </a:pPr>
            <a:r>
              <a:rPr lang="en-IN" sz="1600" dirty="0">
                <a:latin typeface="Fira sans"/>
              </a:rPr>
              <a:t> </a:t>
            </a:r>
            <a:endParaRPr lang="en-IN" sz="1600" dirty="0" smtClean="0">
              <a:latin typeface="Fira sans"/>
            </a:endParaRPr>
          </a:p>
          <a:p>
            <a:pPr marL="0" indent="0">
              <a:spcBef>
                <a:spcPts val="400"/>
              </a:spcBef>
              <a:buNone/>
            </a:pPr>
            <a:r>
              <a:rPr lang="en-IN" sz="1600" dirty="0" smtClean="0">
                <a:latin typeface="Fira sans"/>
              </a:rPr>
              <a:t>       </a:t>
            </a:r>
            <a:r>
              <a:rPr lang="en-IN" sz="1600" dirty="0">
                <a:latin typeface="Fira sans"/>
              </a:rPr>
              <a:t>// Critical Section (Writing)</a:t>
            </a:r>
          </a:p>
          <a:p>
            <a:pPr marL="0" indent="0">
              <a:spcBef>
                <a:spcPts val="400"/>
              </a:spcBef>
              <a:buNone/>
            </a:pPr>
            <a:r>
              <a:rPr lang="en-IN" sz="1600" dirty="0">
                <a:latin typeface="Fira sans"/>
              </a:rPr>
              <a:t>        Write to shared resource     // Perform write operation</a:t>
            </a:r>
          </a:p>
          <a:p>
            <a:pPr marL="0" indent="0">
              <a:spcBef>
                <a:spcPts val="400"/>
              </a:spcBef>
              <a:buNone/>
            </a:pPr>
            <a:r>
              <a:rPr lang="en-IN" sz="1600" dirty="0">
                <a:latin typeface="Fira sans"/>
              </a:rPr>
              <a:t> </a:t>
            </a:r>
          </a:p>
          <a:p>
            <a:pPr marL="0" indent="0">
              <a:spcBef>
                <a:spcPts val="400"/>
              </a:spcBef>
              <a:buNone/>
            </a:pPr>
            <a:r>
              <a:rPr lang="en-IN" sz="1600" dirty="0">
                <a:latin typeface="Fira sans"/>
              </a:rPr>
              <a:t>        Signal(</a:t>
            </a:r>
            <a:r>
              <a:rPr lang="en-IN" sz="1600" dirty="0" err="1">
                <a:latin typeface="Fira sans"/>
              </a:rPr>
              <a:t>wrt</a:t>
            </a:r>
            <a:r>
              <a:rPr lang="en-IN" sz="1600" dirty="0">
                <a:latin typeface="Fira sans"/>
              </a:rPr>
              <a:t>)                 // Release exclusive access</a:t>
            </a:r>
          </a:p>
          <a:p>
            <a:pPr marL="0" indent="0">
              <a:spcBef>
                <a:spcPts val="400"/>
              </a:spcBef>
              <a:buNone/>
            </a:pPr>
            <a:r>
              <a:rPr lang="en-IN" sz="1600" dirty="0" smtClean="0">
                <a:latin typeface="Fira sans"/>
              </a:rPr>
              <a:t>}//</a:t>
            </a:r>
            <a:r>
              <a:rPr lang="en-IN" sz="1600" dirty="0">
                <a:latin typeface="Fira sans"/>
              </a:rPr>
              <a:t>writer</a:t>
            </a:r>
          </a:p>
          <a:p>
            <a:pPr marL="0" indent="0">
              <a:spcBef>
                <a:spcPts val="400"/>
              </a:spcBef>
              <a:buNone/>
            </a:pPr>
            <a:r>
              <a:rPr lang="en-IN" sz="1600" dirty="0">
                <a:latin typeface="Fira sans"/>
              </a:rPr>
              <a:t> </a:t>
            </a:r>
          </a:p>
          <a:p>
            <a:pPr marL="0" indent="0">
              <a:spcBef>
                <a:spcPts val="400"/>
              </a:spcBef>
              <a:buNone/>
            </a:pPr>
            <a:endParaRPr lang="en-IN" sz="1600" dirty="0">
              <a:latin typeface="Fira sans"/>
            </a:endParaRPr>
          </a:p>
        </p:txBody>
      </p:sp>
      <p:sp>
        <p:nvSpPr>
          <p:cNvPr id="7" name="Content Placeholder 6"/>
          <p:cNvSpPr>
            <a:spLocks noGrp="1"/>
          </p:cNvSpPr>
          <p:nvPr>
            <p:ph sz="half" idx="2"/>
          </p:nvPr>
        </p:nvSpPr>
        <p:spPr>
          <a:xfrm>
            <a:off x="6224154" y="672234"/>
            <a:ext cx="6078682" cy="4351338"/>
          </a:xfrm>
        </p:spPr>
        <p:txBody>
          <a:bodyPr>
            <a:noAutofit/>
          </a:bodyPr>
          <a:lstStyle/>
          <a:p>
            <a:pPr marL="0" indent="0">
              <a:spcBef>
                <a:spcPts val="400"/>
              </a:spcBef>
              <a:buNone/>
            </a:pPr>
            <a:r>
              <a:rPr lang="en-IN" sz="1600" dirty="0">
                <a:latin typeface="Fira sans"/>
              </a:rPr>
              <a:t>//Reader</a:t>
            </a:r>
          </a:p>
          <a:p>
            <a:pPr marL="0" indent="0">
              <a:spcBef>
                <a:spcPts val="400"/>
              </a:spcBef>
              <a:buNone/>
            </a:pPr>
            <a:r>
              <a:rPr lang="en-IN" sz="1600" dirty="0">
                <a:latin typeface="Fira sans"/>
              </a:rPr>
              <a:t>function Reader(){</a:t>
            </a:r>
          </a:p>
          <a:p>
            <a:pPr marL="0" indent="0">
              <a:spcBef>
                <a:spcPts val="400"/>
              </a:spcBef>
              <a:buNone/>
            </a:pPr>
            <a:r>
              <a:rPr lang="en-IN" sz="1600" dirty="0">
                <a:latin typeface="Fira sans"/>
              </a:rPr>
              <a:t>    while true:</a:t>
            </a:r>
          </a:p>
          <a:p>
            <a:pPr marL="0" indent="0">
              <a:spcBef>
                <a:spcPts val="400"/>
              </a:spcBef>
              <a:buNone/>
            </a:pPr>
            <a:r>
              <a:rPr lang="en-IN" sz="1600" dirty="0">
                <a:latin typeface="Fira sans"/>
              </a:rPr>
              <a:t>        Wait(</a:t>
            </a:r>
            <a:r>
              <a:rPr lang="en-IN" sz="1600" dirty="0" err="1">
                <a:latin typeface="Fira sans"/>
              </a:rPr>
              <a:t>read_lock</a:t>
            </a:r>
            <a:r>
              <a:rPr lang="en-IN" sz="1600" dirty="0">
                <a:latin typeface="Fira sans"/>
              </a:rPr>
              <a:t>)             // Wait to enter reader section</a:t>
            </a:r>
          </a:p>
          <a:p>
            <a:pPr marL="0" indent="0">
              <a:spcBef>
                <a:spcPts val="400"/>
              </a:spcBef>
              <a:buNone/>
            </a:pPr>
            <a:r>
              <a:rPr lang="en-IN" sz="1600" dirty="0">
                <a:latin typeface="Fira sans"/>
              </a:rPr>
              <a:t>        Wait(</a:t>
            </a:r>
            <a:r>
              <a:rPr lang="en-IN" sz="1600" dirty="0" err="1">
                <a:latin typeface="Fira sans"/>
              </a:rPr>
              <a:t>mutex</a:t>
            </a:r>
            <a:r>
              <a:rPr lang="en-IN" sz="1600" dirty="0">
                <a:latin typeface="Fira sans"/>
              </a:rPr>
              <a:t>)                 // Lock to update </a:t>
            </a:r>
            <a:r>
              <a:rPr lang="en-IN" sz="1600" dirty="0" err="1">
                <a:latin typeface="Fira sans"/>
              </a:rPr>
              <a:t>read_count</a:t>
            </a:r>
            <a:endParaRPr lang="en-IN" sz="1600" dirty="0">
              <a:latin typeface="Fira sans"/>
            </a:endParaRPr>
          </a:p>
          <a:p>
            <a:pPr marL="0" indent="0">
              <a:spcBef>
                <a:spcPts val="400"/>
              </a:spcBef>
              <a:buNone/>
            </a:pPr>
            <a:r>
              <a:rPr lang="en-IN" sz="1600" dirty="0">
                <a:latin typeface="Fira sans"/>
              </a:rPr>
              <a:t>        </a:t>
            </a:r>
            <a:r>
              <a:rPr lang="en-IN" sz="1600" dirty="0" err="1">
                <a:latin typeface="Fira sans"/>
              </a:rPr>
              <a:t>read_count</a:t>
            </a:r>
            <a:r>
              <a:rPr lang="en-IN" sz="1600" dirty="0">
                <a:latin typeface="Fira sans"/>
              </a:rPr>
              <a:t> = </a:t>
            </a:r>
            <a:r>
              <a:rPr lang="en-IN" sz="1600" dirty="0" err="1">
                <a:latin typeface="Fira sans"/>
              </a:rPr>
              <a:t>read_count</a:t>
            </a:r>
            <a:r>
              <a:rPr lang="en-IN" sz="1600" dirty="0">
                <a:latin typeface="Fira sans"/>
              </a:rPr>
              <a:t> + 1 // Increment reader count</a:t>
            </a:r>
          </a:p>
          <a:p>
            <a:pPr marL="0" indent="0">
              <a:spcBef>
                <a:spcPts val="400"/>
              </a:spcBef>
              <a:buNone/>
            </a:pPr>
            <a:r>
              <a:rPr lang="en-IN" sz="1600" dirty="0">
                <a:latin typeface="Fira sans"/>
              </a:rPr>
              <a:t>        if </a:t>
            </a:r>
            <a:r>
              <a:rPr lang="en-IN" sz="1600" dirty="0" err="1">
                <a:latin typeface="Fira sans"/>
              </a:rPr>
              <a:t>read_count</a:t>
            </a:r>
            <a:r>
              <a:rPr lang="en-IN" sz="1600" dirty="0">
                <a:latin typeface="Fira sans"/>
              </a:rPr>
              <a:t> == 1:         // If this is the first reader</a:t>
            </a:r>
          </a:p>
          <a:p>
            <a:pPr marL="0" indent="0">
              <a:spcBef>
                <a:spcPts val="400"/>
              </a:spcBef>
              <a:buNone/>
            </a:pPr>
            <a:r>
              <a:rPr lang="en-IN" sz="1600" dirty="0">
                <a:latin typeface="Fira sans"/>
              </a:rPr>
              <a:t>            Wait(</a:t>
            </a:r>
            <a:r>
              <a:rPr lang="en-IN" sz="1600" dirty="0" err="1">
                <a:latin typeface="Fira sans"/>
              </a:rPr>
              <a:t>wrt</a:t>
            </a:r>
            <a:r>
              <a:rPr lang="en-IN" sz="1600" dirty="0">
                <a:latin typeface="Fira sans"/>
              </a:rPr>
              <a:t>)               // Wait for writer access</a:t>
            </a:r>
          </a:p>
          <a:p>
            <a:pPr marL="0" indent="0">
              <a:spcBef>
                <a:spcPts val="400"/>
              </a:spcBef>
              <a:buNone/>
            </a:pPr>
            <a:r>
              <a:rPr lang="en-IN" sz="1600" dirty="0">
                <a:latin typeface="Fira sans"/>
              </a:rPr>
              <a:t>        Signal(</a:t>
            </a:r>
            <a:r>
              <a:rPr lang="en-IN" sz="1600" dirty="0" err="1">
                <a:latin typeface="Fira sans"/>
              </a:rPr>
              <a:t>mutex</a:t>
            </a:r>
            <a:r>
              <a:rPr lang="en-IN" sz="1600" dirty="0">
                <a:latin typeface="Fira sans"/>
              </a:rPr>
              <a:t>)               // Unlock after updating </a:t>
            </a:r>
            <a:r>
              <a:rPr lang="en-IN" sz="1600" dirty="0" err="1">
                <a:latin typeface="Fira sans"/>
              </a:rPr>
              <a:t>read_count</a:t>
            </a:r>
            <a:endParaRPr lang="en-IN" sz="1600" dirty="0">
              <a:latin typeface="Fira sans"/>
            </a:endParaRPr>
          </a:p>
          <a:p>
            <a:pPr marL="0" indent="0">
              <a:spcBef>
                <a:spcPts val="400"/>
              </a:spcBef>
              <a:buNone/>
            </a:pPr>
            <a:r>
              <a:rPr lang="en-IN" sz="1600" dirty="0">
                <a:latin typeface="Fira sans"/>
              </a:rPr>
              <a:t>        Signal(</a:t>
            </a:r>
            <a:r>
              <a:rPr lang="en-IN" sz="1600" dirty="0" err="1">
                <a:latin typeface="Fira sans"/>
              </a:rPr>
              <a:t>read_lock</a:t>
            </a:r>
            <a:r>
              <a:rPr lang="en-IN" sz="1600" dirty="0">
                <a:latin typeface="Fira sans"/>
              </a:rPr>
              <a:t>)           // Allow other readers to enter</a:t>
            </a:r>
          </a:p>
          <a:p>
            <a:pPr marL="0" indent="0">
              <a:spcBef>
                <a:spcPts val="400"/>
              </a:spcBef>
              <a:buNone/>
            </a:pPr>
            <a:r>
              <a:rPr lang="en-IN" sz="1600" dirty="0">
                <a:latin typeface="Fira sans"/>
              </a:rPr>
              <a:t> </a:t>
            </a:r>
          </a:p>
          <a:p>
            <a:pPr marL="0" indent="0">
              <a:spcBef>
                <a:spcPts val="400"/>
              </a:spcBef>
              <a:buNone/>
            </a:pPr>
            <a:r>
              <a:rPr lang="en-IN" sz="1600" dirty="0">
                <a:latin typeface="Fira sans"/>
              </a:rPr>
              <a:t>        // Critical Section (Reading)</a:t>
            </a:r>
          </a:p>
          <a:p>
            <a:pPr marL="0" indent="0">
              <a:spcBef>
                <a:spcPts val="400"/>
              </a:spcBef>
              <a:buNone/>
            </a:pPr>
            <a:r>
              <a:rPr lang="en-IN" sz="1600" dirty="0">
                <a:latin typeface="Fira sans"/>
              </a:rPr>
              <a:t>        Read from shared resource    // Perform read operation</a:t>
            </a:r>
          </a:p>
          <a:p>
            <a:pPr marL="0" indent="0">
              <a:spcBef>
                <a:spcPts val="400"/>
              </a:spcBef>
              <a:buNone/>
            </a:pPr>
            <a:r>
              <a:rPr lang="en-IN" sz="1600" dirty="0">
                <a:latin typeface="Fira sans"/>
              </a:rPr>
              <a:t> </a:t>
            </a:r>
          </a:p>
          <a:p>
            <a:pPr marL="0" indent="0">
              <a:spcBef>
                <a:spcPts val="400"/>
              </a:spcBef>
              <a:buNone/>
            </a:pPr>
            <a:r>
              <a:rPr lang="en-IN" sz="1600" dirty="0">
                <a:latin typeface="Fira sans"/>
              </a:rPr>
              <a:t>        Wait(</a:t>
            </a:r>
            <a:r>
              <a:rPr lang="en-IN" sz="1600" dirty="0" err="1">
                <a:latin typeface="Fira sans"/>
              </a:rPr>
              <a:t>mutex</a:t>
            </a:r>
            <a:r>
              <a:rPr lang="en-IN" sz="1600" dirty="0">
                <a:latin typeface="Fira sans"/>
              </a:rPr>
              <a:t>)                 // Lock to update </a:t>
            </a:r>
            <a:r>
              <a:rPr lang="en-IN" sz="1600" dirty="0" err="1">
                <a:latin typeface="Fira sans"/>
              </a:rPr>
              <a:t>read_count</a:t>
            </a:r>
            <a:endParaRPr lang="en-IN" sz="1600" dirty="0">
              <a:latin typeface="Fira sans"/>
            </a:endParaRPr>
          </a:p>
          <a:p>
            <a:pPr marL="0" indent="0">
              <a:spcBef>
                <a:spcPts val="400"/>
              </a:spcBef>
              <a:buNone/>
            </a:pPr>
            <a:r>
              <a:rPr lang="en-IN" sz="1600" dirty="0">
                <a:latin typeface="Fira sans"/>
              </a:rPr>
              <a:t>        </a:t>
            </a:r>
            <a:r>
              <a:rPr lang="en-IN" sz="1600" dirty="0" err="1">
                <a:latin typeface="Fira sans"/>
              </a:rPr>
              <a:t>read_count</a:t>
            </a:r>
            <a:r>
              <a:rPr lang="en-IN" sz="1600" dirty="0">
                <a:latin typeface="Fira sans"/>
              </a:rPr>
              <a:t> = </a:t>
            </a:r>
            <a:r>
              <a:rPr lang="en-IN" sz="1600" dirty="0" err="1">
                <a:latin typeface="Fira sans"/>
              </a:rPr>
              <a:t>read_count</a:t>
            </a:r>
            <a:r>
              <a:rPr lang="en-IN" sz="1600" dirty="0">
                <a:latin typeface="Fira sans"/>
              </a:rPr>
              <a:t> - 1 // Decrement reader count</a:t>
            </a:r>
          </a:p>
          <a:p>
            <a:pPr marL="0" indent="0">
              <a:spcBef>
                <a:spcPts val="400"/>
              </a:spcBef>
              <a:buNone/>
            </a:pPr>
            <a:r>
              <a:rPr lang="en-IN" sz="1600" dirty="0">
                <a:latin typeface="Fira sans"/>
              </a:rPr>
              <a:t>        if </a:t>
            </a:r>
            <a:r>
              <a:rPr lang="en-IN" sz="1600" dirty="0" err="1">
                <a:latin typeface="Fira sans"/>
              </a:rPr>
              <a:t>read_count</a:t>
            </a:r>
            <a:r>
              <a:rPr lang="en-IN" sz="1600" dirty="0">
                <a:latin typeface="Fira sans"/>
              </a:rPr>
              <a:t> == 0:         // If this is the last reader</a:t>
            </a:r>
          </a:p>
          <a:p>
            <a:pPr marL="0" indent="0">
              <a:spcBef>
                <a:spcPts val="400"/>
              </a:spcBef>
              <a:buNone/>
            </a:pPr>
            <a:r>
              <a:rPr lang="en-IN" sz="1600" dirty="0">
                <a:latin typeface="Fira sans"/>
              </a:rPr>
              <a:t>            Signal(</a:t>
            </a:r>
            <a:r>
              <a:rPr lang="en-IN" sz="1600" dirty="0" err="1">
                <a:latin typeface="Fira sans"/>
              </a:rPr>
              <a:t>wrt</a:t>
            </a:r>
            <a:r>
              <a:rPr lang="en-IN" sz="1600" dirty="0">
                <a:latin typeface="Fira sans"/>
              </a:rPr>
              <a:t>)             // Signal that writers can access</a:t>
            </a:r>
          </a:p>
          <a:p>
            <a:pPr marL="0" indent="0">
              <a:spcBef>
                <a:spcPts val="400"/>
              </a:spcBef>
              <a:buNone/>
            </a:pPr>
            <a:r>
              <a:rPr lang="en-IN" sz="1600" dirty="0">
                <a:latin typeface="Fira sans"/>
              </a:rPr>
              <a:t>        Signal(</a:t>
            </a:r>
            <a:r>
              <a:rPr lang="en-IN" sz="1600" dirty="0" err="1">
                <a:latin typeface="Fira sans"/>
              </a:rPr>
              <a:t>mutex</a:t>
            </a:r>
            <a:r>
              <a:rPr lang="en-IN" sz="1600" dirty="0">
                <a:latin typeface="Fira sans"/>
              </a:rPr>
              <a:t>)               // Unlock after updating </a:t>
            </a:r>
            <a:r>
              <a:rPr lang="en-IN" sz="1600" dirty="0" err="1">
                <a:latin typeface="Fira sans"/>
              </a:rPr>
              <a:t>read_count</a:t>
            </a:r>
            <a:endParaRPr lang="en-IN" sz="1600" dirty="0">
              <a:latin typeface="Fira sans"/>
            </a:endParaRPr>
          </a:p>
          <a:p>
            <a:pPr marL="0" indent="0">
              <a:spcBef>
                <a:spcPts val="400"/>
              </a:spcBef>
              <a:buNone/>
            </a:pPr>
            <a:r>
              <a:rPr lang="en-IN" sz="1600" dirty="0">
                <a:latin typeface="Fira sans"/>
              </a:rPr>
              <a:t>}//reader</a:t>
            </a:r>
          </a:p>
          <a:p>
            <a:endParaRPr lang="en-IN" sz="1600" dirty="0">
              <a:latin typeface="Fira sans"/>
            </a:endParaRPr>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spTree>
    <p:extLst>
      <p:ext uri="{BB962C8B-B14F-4D97-AF65-F5344CB8AC3E}">
        <p14:creationId xmlns:p14="http://schemas.microsoft.com/office/powerpoint/2010/main" val="2903137439"/>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Fairness &amp; Performance </a:t>
            </a:r>
            <a:r>
              <a:rPr lang="en-US" sz="3200" dirty="0" smtClean="0">
                <a:solidFill>
                  <a:srgbClr val="C00000"/>
                </a:solidFill>
                <a:latin typeface="Marcellus" panose="020E0602050203020307" pitchFamily="34" charset="0"/>
              </a:rPr>
              <a:t>Summary</a:t>
            </a:r>
            <a:endParaRPr lang="en-US" sz="3200" dirty="0">
              <a:solidFill>
                <a:srgbClr val="C00000"/>
              </a:solidFill>
              <a:latin typeface="Marcellus" panose="020E0602050203020307" pitchFamily="34" charset="0"/>
            </a:endParaRPr>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744AE6BD-C94D-4120-A7ED-1F209A6E5E89}" type="datetime1">
              <a:rPr lang="en-US" smtClean="0"/>
              <a:t>11/11/2024</a:t>
            </a:fld>
            <a:endParaRPr lang="en-US"/>
          </a:p>
        </p:txBody>
      </p:sp>
      <p:sp>
        <p:nvSpPr>
          <p:cNvPr id="13" name="Content Placeholder 2"/>
          <p:cNvSpPr txBox="1">
            <a:spLocks/>
          </p:cNvSpPr>
          <p:nvPr/>
        </p:nvSpPr>
        <p:spPr>
          <a:xfrm>
            <a:off x="736979" y="1146176"/>
            <a:ext cx="10609893" cy="453072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IN" sz="2400" b="1" dirty="0" smtClean="0"/>
              <a:t>Reader-Reader </a:t>
            </a:r>
            <a:r>
              <a:rPr lang="en-IN" sz="2400" b="1" dirty="0"/>
              <a:t>Fairness</a:t>
            </a:r>
            <a:r>
              <a:rPr lang="en-IN" sz="2400" dirty="0"/>
              <a:t>: Multiple readers can read the shared resource concurrently. The use of </a:t>
            </a:r>
            <a:r>
              <a:rPr lang="en-IN" sz="2400" dirty="0" err="1"/>
              <a:t>read_lock</a:t>
            </a:r>
            <a:r>
              <a:rPr lang="en-IN" sz="2400" dirty="0"/>
              <a:t> prevents contention among readers when they try to increment or decrement </a:t>
            </a:r>
            <a:r>
              <a:rPr lang="en-IN" sz="2400" dirty="0" err="1"/>
              <a:t>read_count</a:t>
            </a:r>
            <a:r>
              <a:rPr lang="en-IN" sz="2400" dirty="0"/>
              <a:t>. The design ensures fair access for all readers without starving any particular reader.</a:t>
            </a:r>
          </a:p>
          <a:p>
            <a:pPr lvl="0"/>
            <a:r>
              <a:rPr lang="en-IN" sz="2400" b="1" dirty="0"/>
              <a:t>Reader-Writer Fairness</a:t>
            </a:r>
            <a:r>
              <a:rPr lang="en-IN" sz="2400" dirty="0"/>
              <a:t>: Writers are not starved, as they will eventually access the shared resource once all current readers finish. The use of </a:t>
            </a:r>
            <a:r>
              <a:rPr lang="en-IN" sz="2400" dirty="0" err="1"/>
              <a:t>wrt</a:t>
            </a:r>
            <a:r>
              <a:rPr lang="en-IN" sz="2400" dirty="0"/>
              <a:t> ensures that new readers cannot start reading while a writer is waiting, which promotes fairness between readers and writers.</a:t>
            </a:r>
          </a:p>
          <a:p>
            <a:pPr lvl="0"/>
            <a:r>
              <a:rPr lang="en-IN" sz="2400" b="1" dirty="0"/>
              <a:t>Writer-Writer Fairness</a:t>
            </a:r>
            <a:r>
              <a:rPr lang="en-IN" sz="2400" dirty="0"/>
              <a:t>: Writers access the shared resource one at a time in a fair manner due to the </a:t>
            </a:r>
            <a:r>
              <a:rPr lang="en-IN" sz="2400" dirty="0" err="1"/>
              <a:t>wrt</a:t>
            </a:r>
            <a:r>
              <a:rPr lang="en-IN" sz="2400" dirty="0"/>
              <a:t> semaphore. No writer is starved, and they get serialized access.</a:t>
            </a:r>
          </a:p>
          <a:p>
            <a:pPr lvl="0"/>
            <a:r>
              <a:rPr lang="en-IN" sz="2400" b="1" dirty="0"/>
              <a:t>Writer-Reader Fairness</a:t>
            </a:r>
            <a:r>
              <a:rPr lang="en-IN" sz="2400" dirty="0"/>
              <a:t>: Writers have to wait for readers to finish, and once they begin writing, no readers can enter until the writer finishes. This promotes a fair balance between readers and writers.</a:t>
            </a:r>
          </a:p>
          <a:p>
            <a:endParaRPr lang="en-US" altLang="en-US" sz="2400" dirty="0" smtClean="0"/>
          </a:p>
        </p:txBody>
      </p:sp>
    </p:spTree>
    <p:extLst>
      <p:ext uri="{BB962C8B-B14F-4D97-AF65-F5344CB8AC3E}">
        <p14:creationId xmlns:p14="http://schemas.microsoft.com/office/powerpoint/2010/main" val="352761504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fontScale="90000"/>
          </a:bodyPr>
          <a:lstStyle/>
          <a:p>
            <a:pPr algn="ctr"/>
            <a:r>
              <a:rPr lang="en-US" sz="3200" dirty="0" smtClean="0">
                <a:solidFill>
                  <a:srgbClr val="C00000"/>
                </a:solidFill>
                <a:latin typeface="Marcellus" panose="020E0602050203020307" pitchFamily="34" charset="0"/>
              </a:rPr>
              <a:t>Fair share with semaphores- Starvation </a:t>
            </a:r>
            <a:r>
              <a:rPr lang="en-US" sz="3200" dirty="0">
                <a:solidFill>
                  <a:srgbClr val="C00000"/>
                </a:solidFill>
                <a:latin typeface="Marcellus" panose="020E0602050203020307" pitchFamily="34" charset="0"/>
              </a:rPr>
              <a:t>and </a:t>
            </a:r>
            <a:r>
              <a:rPr lang="en-US" sz="3200" dirty="0" err="1">
                <a:solidFill>
                  <a:srgbClr val="C00000"/>
                </a:solidFill>
                <a:latin typeface="Marcellus" panose="020E0602050203020307" pitchFamily="34" charset="0"/>
              </a:rPr>
              <a:t>Livelock</a:t>
            </a:r>
            <a:r>
              <a:rPr lang="en-US" sz="3200" dirty="0">
                <a:solidFill>
                  <a:srgbClr val="C00000"/>
                </a:solidFill>
                <a:latin typeface="Marcellus" panose="020E0602050203020307" pitchFamily="34" charset="0"/>
              </a:rPr>
              <a:t> </a:t>
            </a:r>
            <a:r>
              <a:rPr lang="en-US" sz="3200" dirty="0" smtClean="0">
                <a:solidFill>
                  <a:srgbClr val="C00000"/>
                </a:solidFill>
                <a:latin typeface="Marcellus" panose="020E0602050203020307" pitchFamily="34" charset="0"/>
              </a:rPr>
              <a:t>Considerations</a:t>
            </a:r>
            <a:endParaRPr lang="en-US" sz="3200" dirty="0">
              <a:solidFill>
                <a:srgbClr val="C00000"/>
              </a:solidFill>
              <a:latin typeface="Marcellus" panose="020E0602050203020307" pitchFamily="34" charset="0"/>
            </a:endParaRPr>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744AE6BD-C94D-4120-A7ED-1F209A6E5E89}" type="datetime1">
              <a:rPr lang="en-US" smtClean="0"/>
              <a:t>11/11/2024</a:t>
            </a:fld>
            <a:endParaRPr lang="en-US"/>
          </a:p>
        </p:txBody>
      </p:sp>
      <p:sp>
        <p:nvSpPr>
          <p:cNvPr id="13" name="Content Placeholder 2"/>
          <p:cNvSpPr txBox="1">
            <a:spLocks/>
          </p:cNvSpPr>
          <p:nvPr/>
        </p:nvSpPr>
        <p:spPr>
          <a:xfrm>
            <a:off x="736979" y="1146176"/>
            <a:ext cx="10609893" cy="4530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IN" sz="2400" b="1" dirty="0" smtClean="0"/>
              <a:t>No </a:t>
            </a:r>
            <a:r>
              <a:rPr lang="en-IN" sz="2400" b="1" dirty="0"/>
              <a:t>Starvation</a:t>
            </a:r>
            <a:r>
              <a:rPr lang="en-IN" sz="2400" dirty="0"/>
              <a:t>: Both readers and writers get a fair share of access to the shared resource. Readers can access concurrently, and writers get their exclusive access once readers are done. The use of semaphores ensures that no group (readers or writers) will be indefinitely delayed.</a:t>
            </a:r>
          </a:p>
          <a:p>
            <a:pPr lvl="0"/>
            <a:r>
              <a:rPr lang="en-IN" sz="2400" b="1" dirty="0"/>
              <a:t>No </a:t>
            </a:r>
            <a:r>
              <a:rPr lang="en-IN" sz="2400" b="1" dirty="0" err="1"/>
              <a:t>Livelock</a:t>
            </a:r>
            <a:r>
              <a:rPr lang="en-IN" sz="2400" dirty="0"/>
              <a:t>: The solution prevents </a:t>
            </a:r>
            <a:r>
              <a:rPr lang="en-IN" sz="2400" dirty="0" err="1"/>
              <a:t>livelock</a:t>
            </a:r>
            <a:r>
              <a:rPr lang="en-IN" sz="2400" dirty="0"/>
              <a:t> since the </a:t>
            </a:r>
            <a:r>
              <a:rPr lang="en-IN" sz="2400" dirty="0" err="1"/>
              <a:t>read_lock</a:t>
            </a:r>
            <a:r>
              <a:rPr lang="en-IN" sz="2400" dirty="0"/>
              <a:t> semaphore ensures that readers can't endlessly preempt writers. Writers are guaranteed eventual access after all readers finish.</a:t>
            </a:r>
          </a:p>
          <a:p>
            <a:endParaRPr lang="en-US" altLang="en-US" sz="2400" dirty="0" smtClean="0"/>
          </a:p>
        </p:txBody>
      </p:sp>
    </p:spTree>
    <p:extLst>
      <p:ext uri="{BB962C8B-B14F-4D97-AF65-F5344CB8AC3E}">
        <p14:creationId xmlns:p14="http://schemas.microsoft.com/office/powerpoint/2010/main" val="62418653"/>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400421"/>
          </a:xfrm>
        </p:spPr>
        <p:txBody>
          <a:bodyPr>
            <a:normAutofit fontScale="90000"/>
          </a:bodyPr>
          <a:lstStyle/>
          <a:p>
            <a:pPr algn="ctr"/>
            <a:r>
              <a:rPr lang="en-US" sz="3200" dirty="0" smtClean="0">
                <a:solidFill>
                  <a:srgbClr val="C00000"/>
                </a:solidFill>
                <a:latin typeface="Marcellus" panose="020E0602050203020307" pitchFamily="34" charset="0"/>
              </a:rPr>
              <a:t>Solution to readers-writers : comparison</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1223454" y="597149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667" y="6014941"/>
            <a:ext cx="3245736" cy="811434"/>
          </a:xfrm>
          <a:prstGeom prst="rect">
            <a:avLst/>
          </a:prstGeom>
        </p:spPr>
      </p:pic>
      <p:sp>
        <p:nvSpPr>
          <p:cNvPr id="3" name="Date Placeholder 2"/>
          <p:cNvSpPr>
            <a:spLocks noGrp="1"/>
          </p:cNvSpPr>
          <p:nvPr>
            <p:ph type="dt" sz="half" idx="10"/>
          </p:nvPr>
        </p:nvSpPr>
        <p:spPr/>
        <p:txBody>
          <a:bodyPr/>
          <a:lstStyle/>
          <a:p>
            <a:fld id="{9F7D3F51-8183-4080-909C-1EA0CC1156F9}" type="datetime1">
              <a:rPr lang="en-US" smtClean="0"/>
              <a:t>11/11/2024</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994384718"/>
              </p:ext>
            </p:extLst>
          </p:nvPr>
        </p:nvGraphicFramePr>
        <p:xfrm>
          <a:off x="301337" y="913532"/>
          <a:ext cx="11502737" cy="5185934"/>
        </p:xfrm>
        <a:graphic>
          <a:graphicData uri="http://schemas.openxmlformats.org/drawingml/2006/table">
            <a:tbl>
              <a:tblPr>
                <a:tableStyleId>{5C22544A-7EE6-4342-B048-85BDC9FD1C3A}</a:tableStyleId>
              </a:tblPr>
              <a:tblGrid>
                <a:gridCol w="2056355"/>
                <a:gridCol w="3148794"/>
                <a:gridCol w="3148794"/>
                <a:gridCol w="3148794"/>
              </a:tblGrid>
              <a:tr h="987797">
                <a:tc>
                  <a:txBody>
                    <a:bodyPr/>
                    <a:lstStyle/>
                    <a:p>
                      <a:pPr algn="l" fontAlgn="ctr"/>
                      <a:r>
                        <a:rPr lang="en-IN" sz="1600" b="1" u="none" strike="noStrike" dirty="0">
                          <a:effectLst/>
                          <a:latin typeface="Fira sans"/>
                        </a:rPr>
                        <a:t>Fairness for Writers</a:t>
                      </a:r>
                      <a:endParaRPr lang="en-IN" sz="1600" b="1" i="0" u="none" strike="noStrike" dirty="0">
                        <a:solidFill>
                          <a:srgbClr val="000000"/>
                        </a:solidFill>
                        <a:effectLst/>
                        <a:latin typeface="Fira sans"/>
                      </a:endParaRPr>
                    </a:p>
                  </a:txBody>
                  <a:tcPr marL="6350" marR="6350" marT="6350" marB="0" anchor="ctr"/>
                </a:tc>
                <a:tc>
                  <a:txBody>
                    <a:bodyPr/>
                    <a:lstStyle/>
                    <a:p>
                      <a:pPr algn="l" fontAlgn="ctr"/>
                      <a:r>
                        <a:rPr lang="en-US" sz="1600" u="none" strike="noStrike" dirty="0">
                          <a:effectLst/>
                          <a:latin typeface="Fira sans"/>
                        </a:rPr>
                        <a:t>Writers may starve in a read-heavy environment.</a:t>
                      </a:r>
                      <a:endParaRPr lang="en-US" sz="1600" b="0" i="0" u="none" strike="noStrike" dirty="0">
                        <a:solidFill>
                          <a:srgbClr val="000000"/>
                        </a:solidFill>
                        <a:effectLst/>
                        <a:latin typeface="Fira sans"/>
                      </a:endParaRPr>
                    </a:p>
                  </a:txBody>
                  <a:tcPr marL="6350" marR="6350" marT="6350" marB="0" anchor="ctr"/>
                </a:tc>
                <a:tc>
                  <a:txBody>
                    <a:bodyPr/>
                    <a:lstStyle/>
                    <a:p>
                      <a:pPr algn="l" fontAlgn="ctr"/>
                      <a:r>
                        <a:rPr lang="en-US" sz="1600" u="none" strike="noStrike">
                          <a:effectLst/>
                          <a:latin typeface="Fira sans"/>
                        </a:rPr>
                        <a:t>Fair, as read_lock prevents new readers when a writer is waiting.</a:t>
                      </a:r>
                      <a:endParaRPr lang="en-US" sz="1600" b="0" i="0" u="none" strike="noStrike">
                        <a:solidFill>
                          <a:srgbClr val="000000"/>
                        </a:solidFill>
                        <a:effectLst/>
                        <a:latin typeface="Fira sans"/>
                      </a:endParaRPr>
                    </a:p>
                  </a:txBody>
                  <a:tcPr marL="6350" marR="6350" marT="6350" marB="0" anchor="ctr"/>
                </a:tc>
                <a:tc>
                  <a:txBody>
                    <a:bodyPr/>
                    <a:lstStyle/>
                    <a:p>
                      <a:pPr algn="l" fontAlgn="ctr"/>
                      <a:r>
                        <a:rPr lang="en-US" sz="1600" u="none" strike="noStrike">
                          <a:effectLst/>
                          <a:latin typeface="Fira sans"/>
                        </a:rPr>
                        <a:t>Writers get exclusive access but may wait behind readers.</a:t>
                      </a:r>
                      <a:endParaRPr lang="en-US" sz="1600" b="0" i="0" u="none" strike="noStrike">
                        <a:solidFill>
                          <a:srgbClr val="000000"/>
                        </a:solidFill>
                        <a:effectLst/>
                        <a:latin typeface="Fira sans"/>
                      </a:endParaRPr>
                    </a:p>
                  </a:txBody>
                  <a:tcPr marL="6350" marR="6350" marT="6350" marB="0" anchor="ctr"/>
                </a:tc>
              </a:tr>
              <a:tr h="987797">
                <a:tc>
                  <a:txBody>
                    <a:bodyPr/>
                    <a:lstStyle/>
                    <a:p>
                      <a:pPr algn="l" fontAlgn="ctr"/>
                      <a:r>
                        <a:rPr lang="en-IN" sz="1600" b="1" u="none" strike="noStrike" dirty="0">
                          <a:effectLst/>
                          <a:latin typeface="Fira sans"/>
                        </a:rPr>
                        <a:t>Mutual Exclusion</a:t>
                      </a:r>
                      <a:endParaRPr lang="en-IN" sz="1600" b="1" i="0" u="none" strike="noStrike" dirty="0">
                        <a:solidFill>
                          <a:srgbClr val="000000"/>
                        </a:solidFill>
                        <a:effectLst/>
                        <a:latin typeface="Fira sans"/>
                      </a:endParaRPr>
                    </a:p>
                  </a:txBody>
                  <a:tcPr marL="6350" marR="6350" marT="6350" marB="0" anchor="ctr"/>
                </a:tc>
                <a:tc>
                  <a:txBody>
                    <a:bodyPr/>
                    <a:lstStyle/>
                    <a:p>
                      <a:pPr algn="l" fontAlgn="ctr"/>
                      <a:r>
                        <a:rPr lang="en-US" sz="1600" u="none" strike="noStrike" dirty="0">
                          <a:effectLst/>
                          <a:latin typeface="Fira sans"/>
                        </a:rPr>
                        <a:t>Handled using </a:t>
                      </a:r>
                      <a:r>
                        <a:rPr lang="en-US" sz="1600" u="none" strike="noStrike" dirty="0" err="1">
                          <a:effectLst/>
                          <a:latin typeface="Fira sans"/>
                        </a:rPr>
                        <a:t>mutex</a:t>
                      </a:r>
                      <a:r>
                        <a:rPr lang="en-US" sz="1600" u="none" strike="noStrike" dirty="0">
                          <a:effectLst/>
                          <a:latin typeface="Fira sans"/>
                        </a:rPr>
                        <a:t> for writers, but readers share access.</a:t>
                      </a:r>
                      <a:endParaRPr lang="en-US" sz="1600" b="0" i="0" u="none" strike="noStrike" dirty="0">
                        <a:solidFill>
                          <a:srgbClr val="000000"/>
                        </a:solidFill>
                        <a:effectLst/>
                        <a:latin typeface="Fira sans"/>
                      </a:endParaRPr>
                    </a:p>
                  </a:txBody>
                  <a:tcPr marL="6350" marR="6350" marT="6350" marB="0" anchor="ctr"/>
                </a:tc>
                <a:tc>
                  <a:txBody>
                    <a:bodyPr/>
                    <a:lstStyle/>
                    <a:p>
                      <a:pPr algn="l" fontAlgn="ctr"/>
                      <a:r>
                        <a:rPr lang="en-US" sz="1600" u="none" strike="noStrike" dirty="0">
                          <a:effectLst/>
                          <a:latin typeface="Fira sans"/>
                        </a:rPr>
                        <a:t>Handled with </a:t>
                      </a:r>
                      <a:r>
                        <a:rPr lang="en-US" sz="1600" u="none" strike="noStrike" dirty="0" err="1">
                          <a:effectLst/>
                          <a:latin typeface="Fira sans"/>
                        </a:rPr>
                        <a:t>wrt</a:t>
                      </a:r>
                      <a:r>
                        <a:rPr lang="en-US" sz="1600" u="none" strike="noStrike" dirty="0">
                          <a:effectLst/>
                          <a:latin typeface="Fira sans"/>
                        </a:rPr>
                        <a:t> for writers, fine-tuned with semaphores.</a:t>
                      </a:r>
                      <a:endParaRPr lang="en-US" sz="1600" b="0" i="0" u="none" strike="noStrike" dirty="0">
                        <a:solidFill>
                          <a:srgbClr val="000000"/>
                        </a:solidFill>
                        <a:effectLst/>
                        <a:latin typeface="Fira sans"/>
                      </a:endParaRPr>
                    </a:p>
                  </a:txBody>
                  <a:tcPr marL="6350" marR="6350" marT="6350" marB="0" anchor="ctr"/>
                </a:tc>
                <a:tc>
                  <a:txBody>
                    <a:bodyPr/>
                    <a:lstStyle/>
                    <a:p>
                      <a:pPr algn="l" fontAlgn="ctr"/>
                      <a:r>
                        <a:rPr lang="en-IN" sz="1600" u="none" strike="noStrike">
                          <a:effectLst/>
                          <a:latin typeface="Fira sans"/>
                        </a:rPr>
                        <a:t>Managed automatically via monitor’s internal locks.</a:t>
                      </a:r>
                      <a:endParaRPr lang="en-IN" sz="1600" b="0" i="0" u="none" strike="noStrike">
                        <a:solidFill>
                          <a:srgbClr val="000000"/>
                        </a:solidFill>
                        <a:effectLst/>
                        <a:latin typeface="Fira sans"/>
                      </a:endParaRPr>
                    </a:p>
                  </a:txBody>
                  <a:tcPr marL="6350" marR="6350" marT="6350" marB="0" anchor="ctr"/>
                </a:tc>
              </a:tr>
              <a:tr h="987797">
                <a:tc>
                  <a:txBody>
                    <a:bodyPr/>
                    <a:lstStyle/>
                    <a:p>
                      <a:pPr algn="l" fontAlgn="ctr"/>
                      <a:r>
                        <a:rPr lang="en-IN" sz="1600" b="1" u="none" strike="noStrike" dirty="0">
                          <a:effectLst/>
                          <a:latin typeface="Fira sans"/>
                        </a:rPr>
                        <a:t>Complexity</a:t>
                      </a:r>
                      <a:endParaRPr lang="en-IN" sz="1600" b="1" i="0" u="none" strike="noStrike" dirty="0">
                        <a:solidFill>
                          <a:srgbClr val="000000"/>
                        </a:solidFill>
                        <a:effectLst/>
                        <a:latin typeface="Fira sans"/>
                      </a:endParaRPr>
                    </a:p>
                  </a:txBody>
                  <a:tcPr marL="6350" marR="6350" marT="6350" marB="0" anchor="ctr"/>
                </a:tc>
                <a:tc>
                  <a:txBody>
                    <a:bodyPr/>
                    <a:lstStyle/>
                    <a:p>
                      <a:pPr algn="l" fontAlgn="ctr"/>
                      <a:r>
                        <a:rPr lang="en-US" sz="1600" u="none" strike="noStrike">
                          <a:effectLst/>
                          <a:latin typeface="Fira sans"/>
                        </a:rPr>
                        <a:t>Simple to implement, especially for readers.</a:t>
                      </a:r>
                      <a:endParaRPr lang="en-US" sz="1600" b="0" i="0" u="none" strike="noStrike">
                        <a:solidFill>
                          <a:srgbClr val="000000"/>
                        </a:solidFill>
                        <a:effectLst/>
                        <a:latin typeface="Fira sans"/>
                      </a:endParaRPr>
                    </a:p>
                  </a:txBody>
                  <a:tcPr marL="6350" marR="6350" marT="6350" marB="0" anchor="ctr"/>
                </a:tc>
                <a:tc>
                  <a:txBody>
                    <a:bodyPr/>
                    <a:lstStyle/>
                    <a:p>
                      <a:pPr algn="l" fontAlgn="ctr"/>
                      <a:r>
                        <a:rPr lang="en-US" sz="1600" u="none" strike="noStrike" dirty="0">
                          <a:effectLst/>
                          <a:latin typeface="Fira sans"/>
                        </a:rPr>
                        <a:t>More complex due to multiple semaphores for fairness.</a:t>
                      </a:r>
                      <a:endParaRPr lang="en-US" sz="1600" b="0" i="0" u="none" strike="noStrike" dirty="0">
                        <a:solidFill>
                          <a:srgbClr val="000000"/>
                        </a:solidFill>
                        <a:effectLst/>
                        <a:latin typeface="Fira sans"/>
                      </a:endParaRPr>
                    </a:p>
                  </a:txBody>
                  <a:tcPr marL="6350" marR="6350" marT="6350" marB="0" anchor="ctr"/>
                </a:tc>
                <a:tc>
                  <a:txBody>
                    <a:bodyPr/>
                    <a:lstStyle/>
                    <a:p>
                      <a:pPr algn="l" fontAlgn="ctr"/>
                      <a:r>
                        <a:rPr lang="en-US" sz="1600" u="none" strike="noStrike" dirty="0">
                          <a:effectLst/>
                          <a:latin typeface="Fira sans"/>
                        </a:rPr>
                        <a:t>Simplified due to high-level abstraction, fewer details.</a:t>
                      </a:r>
                      <a:endParaRPr lang="en-US" sz="1600" b="0" i="0" u="none" strike="noStrike" dirty="0">
                        <a:solidFill>
                          <a:srgbClr val="000000"/>
                        </a:solidFill>
                        <a:effectLst/>
                        <a:latin typeface="Fira sans"/>
                      </a:endParaRPr>
                    </a:p>
                  </a:txBody>
                  <a:tcPr marL="6350" marR="6350" marT="6350" marB="0" anchor="ctr"/>
                </a:tc>
              </a:tr>
              <a:tr h="1234746">
                <a:tc>
                  <a:txBody>
                    <a:bodyPr/>
                    <a:lstStyle/>
                    <a:p>
                      <a:pPr algn="l" fontAlgn="ctr"/>
                      <a:r>
                        <a:rPr lang="en-IN" sz="1600" b="1" u="none" strike="noStrike" dirty="0">
                          <a:effectLst/>
                          <a:latin typeface="Fira sans"/>
                        </a:rPr>
                        <a:t>Performance</a:t>
                      </a:r>
                      <a:endParaRPr lang="en-IN" sz="1600" b="1" i="0" u="none" strike="noStrike" dirty="0">
                        <a:solidFill>
                          <a:srgbClr val="000000"/>
                        </a:solidFill>
                        <a:effectLst/>
                        <a:latin typeface="Fira sans"/>
                      </a:endParaRPr>
                    </a:p>
                  </a:txBody>
                  <a:tcPr marL="6350" marR="6350" marT="6350" marB="0" anchor="ctr"/>
                </a:tc>
                <a:tc>
                  <a:txBody>
                    <a:bodyPr/>
                    <a:lstStyle/>
                    <a:p>
                      <a:pPr algn="l" fontAlgn="ctr"/>
                      <a:r>
                        <a:rPr lang="en-US" sz="1600" u="none" strike="noStrike">
                          <a:effectLst/>
                          <a:latin typeface="Fira sans"/>
                        </a:rPr>
                        <a:t>Efficient for concurrent readers, but may starve writers.</a:t>
                      </a:r>
                      <a:endParaRPr lang="en-US" sz="1600" b="0" i="0" u="none" strike="noStrike">
                        <a:solidFill>
                          <a:srgbClr val="000000"/>
                        </a:solidFill>
                        <a:effectLst/>
                        <a:latin typeface="Fira sans"/>
                      </a:endParaRPr>
                    </a:p>
                  </a:txBody>
                  <a:tcPr marL="6350" marR="6350" marT="6350" marB="0" anchor="ctr"/>
                </a:tc>
                <a:tc>
                  <a:txBody>
                    <a:bodyPr/>
                    <a:lstStyle/>
                    <a:p>
                      <a:pPr algn="l" fontAlgn="ctr"/>
                      <a:r>
                        <a:rPr lang="en-US" sz="1600" u="none" strike="noStrike">
                          <a:effectLst/>
                          <a:latin typeface="Fira sans"/>
                        </a:rPr>
                        <a:t>Good performance but with extra overhead for managing semaphores.</a:t>
                      </a:r>
                      <a:endParaRPr lang="en-US" sz="1600" b="0" i="0" u="none" strike="noStrike">
                        <a:solidFill>
                          <a:srgbClr val="000000"/>
                        </a:solidFill>
                        <a:effectLst/>
                        <a:latin typeface="Fira sans"/>
                      </a:endParaRPr>
                    </a:p>
                  </a:txBody>
                  <a:tcPr marL="6350" marR="6350" marT="6350" marB="0" anchor="ctr"/>
                </a:tc>
                <a:tc>
                  <a:txBody>
                    <a:bodyPr/>
                    <a:lstStyle/>
                    <a:p>
                      <a:pPr algn="l" fontAlgn="ctr"/>
                      <a:r>
                        <a:rPr lang="en-US" sz="1600" u="none" strike="noStrike" dirty="0">
                          <a:effectLst/>
                          <a:latin typeface="Fira sans"/>
                        </a:rPr>
                        <a:t>Performance may vary depending on monitor implementation.</a:t>
                      </a:r>
                      <a:endParaRPr lang="en-US" sz="1600" b="0" i="0" u="none" strike="noStrike" dirty="0">
                        <a:solidFill>
                          <a:srgbClr val="000000"/>
                        </a:solidFill>
                        <a:effectLst/>
                        <a:latin typeface="Fira sans"/>
                      </a:endParaRPr>
                    </a:p>
                  </a:txBody>
                  <a:tcPr marL="6350" marR="6350" marT="6350" marB="0" anchor="ctr"/>
                </a:tc>
              </a:tr>
              <a:tr h="987797">
                <a:tc>
                  <a:txBody>
                    <a:bodyPr/>
                    <a:lstStyle/>
                    <a:p>
                      <a:pPr algn="l" fontAlgn="ctr"/>
                      <a:r>
                        <a:rPr lang="en-IN" sz="1600" b="1" u="none" strike="noStrike" dirty="0">
                          <a:effectLst/>
                          <a:latin typeface="Fira sans"/>
                        </a:rPr>
                        <a:t>Starvation/ </a:t>
                      </a:r>
                      <a:r>
                        <a:rPr lang="en-IN" sz="1600" b="1" u="none" strike="noStrike" dirty="0" err="1">
                          <a:effectLst/>
                          <a:latin typeface="Fira sans"/>
                        </a:rPr>
                        <a:t>Livelock</a:t>
                      </a:r>
                      <a:endParaRPr lang="en-IN" sz="1600" b="1" i="0" u="none" strike="noStrike" dirty="0">
                        <a:solidFill>
                          <a:srgbClr val="000000"/>
                        </a:solidFill>
                        <a:effectLst/>
                        <a:latin typeface="Fira sans"/>
                      </a:endParaRPr>
                    </a:p>
                  </a:txBody>
                  <a:tcPr marL="6350" marR="6350" marT="6350" marB="0" anchor="ctr"/>
                </a:tc>
                <a:tc>
                  <a:txBody>
                    <a:bodyPr/>
                    <a:lstStyle/>
                    <a:p>
                      <a:pPr algn="l" fontAlgn="ctr"/>
                      <a:r>
                        <a:rPr lang="en-IN" sz="1600" u="none" strike="noStrike">
                          <a:effectLst/>
                          <a:latin typeface="Fira sans"/>
                        </a:rPr>
                        <a:t>Writer starvation possible.</a:t>
                      </a:r>
                      <a:endParaRPr lang="en-IN" sz="1600" b="0" i="0" u="none" strike="noStrike">
                        <a:solidFill>
                          <a:srgbClr val="000000"/>
                        </a:solidFill>
                        <a:effectLst/>
                        <a:latin typeface="Fira sans"/>
                      </a:endParaRPr>
                    </a:p>
                  </a:txBody>
                  <a:tcPr marL="6350" marR="6350" marT="6350" marB="0" anchor="ctr"/>
                </a:tc>
                <a:tc>
                  <a:txBody>
                    <a:bodyPr/>
                    <a:lstStyle/>
                    <a:p>
                      <a:pPr algn="l" fontAlgn="ctr"/>
                      <a:r>
                        <a:rPr lang="en-US" sz="1600" u="none" strike="noStrike" dirty="0">
                          <a:effectLst/>
                          <a:latin typeface="Fira sans"/>
                        </a:rPr>
                        <a:t>No starvation for either group if semaphores are properly managed.</a:t>
                      </a:r>
                      <a:endParaRPr lang="en-US" sz="1600" b="0" i="0" u="none" strike="noStrike" dirty="0">
                        <a:solidFill>
                          <a:srgbClr val="000000"/>
                        </a:solidFill>
                        <a:effectLst/>
                        <a:latin typeface="Fira sans"/>
                      </a:endParaRPr>
                    </a:p>
                  </a:txBody>
                  <a:tcPr marL="6350" marR="6350" marT="6350" marB="0" anchor="ctr"/>
                </a:tc>
                <a:tc>
                  <a:txBody>
                    <a:bodyPr/>
                    <a:lstStyle/>
                    <a:p>
                      <a:pPr algn="l" fontAlgn="ctr"/>
                      <a:r>
                        <a:rPr lang="en-US" sz="1600" u="none" strike="noStrike" dirty="0">
                          <a:effectLst/>
                          <a:latin typeface="Fira sans"/>
                        </a:rPr>
                        <a:t>Can be designed to avoid starvation using condition variables.</a:t>
                      </a:r>
                      <a:endParaRPr lang="en-US" sz="1600" b="0" i="0" u="none" strike="noStrike" dirty="0">
                        <a:solidFill>
                          <a:srgbClr val="000000"/>
                        </a:solidFill>
                        <a:effectLst/>
                        <a:latin typeface="Fira sans"/>
                      </a:endParaRPr>
                    </a:p>
                  </a:txBody>
                  <a:tcPr marL="6350" marR="6350" marT="6350" marB="0" anchor="ctr"/>
                </a:tc>
              </a:tr>
            </a:tbl>
          </a:graphicData>
        </a:graphic>
      </p:graphicFrame>
    </p:spTree>
    <p:extLst>
      <p:ext uri="{BB962C8B-B14F-4D97-AF65-F5344CB8AC3E}">
        <p14:creationId xmlns:p14="http://schemas.microsoft.com/office/powerpoint/2010/main" val="3239232089"/>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510236" y="2639211"/>
            <a:ext cx="11395912" cy="721920"/>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826595FD-BA53-4394-9A7D-8A8295E476C5}" type="datetime1">
              <a:rPr lang="en-US" smtClean="0"/>
              <a:t>11/11/2024</a:t>
            </a:fld>
            <a:endParaRPr lang="en-US"/>
          </a:p>
        </p:txBody>
      </p:sp>
    </p:spTree>
    <p:extLst>
      <p:ext uri="{BB962C8B-B14F-4D97-AF65-F5344CB8AC3E}">
        <p14:creationId xmlns:p14="http://schemas.microsoft.com/office/powerpoint/2010/main" val="1892734754"/>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401054" y="191861"/>
            <a:ext cx="11395912" cy="721920"/>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2C37A2DB-6D13-4126-A32D-4C57936FA50A}" type="datetime1">
              <a:rPr lang="en-US" smtClean="0"/>
              <a:t>11/11/2024</a:t>
            </a:fld>
            <a:endParaRPr lang="en-US"/>
          </a:p>
        </p:txBody>
      </p:sp>
      <p:sp>
        <p:nvSpPr>
          <p:cNvPr id="14" name="Rectangle 3"/>
          <p:cNvSpPr txBox="1">
            <a:spLocks noChangeArrowheads="1"/>
          </p:cNvSpPr>
          <p:nvPr/>
        </p:nvSpPr>
        <p:spPr>
          <a:xfrm>
            <a:off x="1102784" y="1282701"/>
            <a:ext cx="9279467" cy="48609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dirty="0"/>
              <a:t>A high-level synchronization construct</a:t>
            </a:r>
          </a:p>
          <a:p>
            <a:pPr>
              <a:lnSpc>
                <a:spcPct val="80000"/>
              </a:lnSpc>
            </a:pPr>
            <a:r>
              <a:rPr lang="en-US" altLang="en-US" i="1" dirty="0" smtClean="0"/>
              <a:t>Set </a:t>
            </a:r>
            <a:r>
              <a:rPr lang="en-US" altLang="en-US" i="1" dirty="0"/>
              <a:t>of programmer defined operators</a:t>
            </a:r>
          </a:p>
          <a:p>
            <a:pPr>
              <a:lnSpc>
                <a:spcPct val="80000"/>
              </a:lnSpc>
            </a:pPr>
            <a:endParaRPr lang="en-US" altLang="en-US" i="1" dirty="0" smtClean="0"/>
          </a:p>
          <a:p>
            <a:pPr>
              <a:lnSpc>
                <a:spcPct val="80000"/>
              </a:lnSpc>
            </a:pPr>
            <a:r>
              <a:rPr lang="en-US" altLang="en-US" i="1" dirty="0" smtClean="0">
                <a:solidFill>
                  <a:srgbClr val="C00000"/>
                </a:solidFill>
              </a:rPr>
              <a:t>Declaration  </a:t>
            </a:r>
            <a:r>
              <a:rPr lang="en-US" altLang="en-US" i="1" dirty="0">
                <a:solidFill>
                  <a:srgbClr val="C00000"/>
                </a:solidFill>
              </a:rPr>
              <a:t>of variables </a:t>
            </a:r>
            <a:endParaRPr lang="en-US" altLang="en-US" i="1" dirty="0" smtClean="0">
              <a:solidFill>
                <a:srgbClr val="C00000"/>
              </a:solidFill>
            </a:endParaRPr>
          </a:p>
          <a:p>
            <a:pPr lvl="1">
              <a:lnSpc>
                <a:spcPct val="80000"/>
              </a:lnSpc>
            </a:pPr>
            <a:r>
              <a:rPr lang="en-US" altLang="en-US" i="1" dirty="0" smtClean="0"/>
              <a:t>whose </a:t>
            </a:r>
            <a:r>
              <a:rPr lang="en-US" altLang="en-US" i="1" dirty="0">
                <a:solidFill>
                  <a:srgbClr val="C00000"/>
                </a:solidFill>
              </a:rPr>
              <a:t>value define the state </a:t>
            </a:r>
            <a:r>
              <a:rPr lang="en-US" altLang="en-US" i="1" dirty="0"/>
              <a:t>of an instance of the type</a:t>
            </a:r>
          </a:p>
          <a:p>
            <a:pPr>
              <a:lnSpc>
                <a:spcPct val="80000"/>
              </a:lnSpc>
            </a:pPr>
            <a:endParaRPr lang="en-US" altLang="en-US" i="1" dirty="0" smtClean="0"/>
          </a:p>
          <a:p>
            <a:pPr>
              <a:lnSpc>
                <a:spcPct val="80000"/>
              </a:lnSpc>
            </a:pPr>
            <a:r>
              <a:rPr lang="en-US" altLang="en-US" i="1" dirty="0" smtClean="0">
                <a:solidFill>
                  <a:srgbClr val="C00000"/>
                </a:solidFill>
              </a:rPr>
              <a:t>Bodies </a:t>
            </a:r>
            <a:r>
              <a:rPr lang="en-US" altLang="en-US" i="1" dirty="0">
                <a:solidFill>
                  <a:srgbClr val="C00000"/>
                </a:solidFill>
              </a:rPr>
              <a:t>of procedures </a:t>
            </a:r>
            <a:endParaRPr lang="en-US" altLang="en-US" i="1" dirty="0" smtClean="0">
              <a:solidFill>
                <a:srgbClr val="C00000"/>
              </a:solidFill>
            </a:endParaRPr>
          </a:p>
          <a:p>
            <a:pPr lvl="1">
              <a:lnSpc>
                <a:spcPct val="80000"/>
              </a:lnSpc>
            </a:pPr>
            <a:r>
              <a:rPr lang="en-US" altLang="en-US" i="1" dirty="0" smtClean="0"/>
              <a:t>that </a:t>
            </a:r>
            <a:r>
              <a:rPr lang="en-US" altLang="en-US" i="1" dirty="0">
                <a:solidFill>
                  <a:srgbClr val="C00000"/>
                </a:solidFill>
              </a:rPr>
              <a:t>implement oper</a:t>
            </a:r>
            <a:r>
              <a:rPr lang="en-US" altLang="en-US" i="1" dirty="0"/>
              <a:t>ations on the type</a:t>
            </a:r>
          </a:p>
          <a:p>
            <a:pPr>
              <a:lnSpc>
                <a:spcPct val="80000"/>
              </a:lnSpc>
            </a:pPr>
            <a:endParaRPr lang="en-US" altLang="en-US" i="1" dirty="0"/>
          </a:p>
          <a:p>
            <a:endParaRPr lang="en-US" altLang="en-US" dirty="0" smtClean="0"/>
          </a:p>
          <a:p>
            <a:endParaRPr lang="en-US" altLang="en-US" dirty="0" smtClean="0"/>
          </a:p>
          <a:p>
            <a:endParaRPr lang="en-US" altLang="en-US" dirty="0" smtClean="0"/>
          </a:p>
        </p:txBody>
      </p:sp>
    </p:spTree>
    <p:extLst>
      <p:ext uri="{BB962C8B-B14F-4D97-AF65-F5344CB8AC3E}">
        <p14:creationId xmlns:p14="http://schemas.microsoft.com/office/powerpoint/2010/main" val="2176257535"/>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Schematic view of a Monitor</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65F94242-7F6B-4EDF-9C06-42A34C00CA53}" type="datetime1">
              <a:rPr lang="en-US" smtClean="0"/>
              <a:t>11/11/2024</a:t>
            </a:fld>
            <a:endParaRPr lang="en-US"/>
          </a:p>
        </p:txBody>
      </p:sp>
      <p:pic>
        <p:nvPicPr>
          <p:cNvPr id="12" name="Picture 4"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0125" y="757684"/>
            <a:ext cx="6568017" cy="468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2" name="Picture 2" descr="What Is Monitors In Interprocess Communication In Operating System In HINDI  | Monitors In O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34297" y="1078358"/>
            <a:ext cx="4343400" cy="436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1137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195441"/>
            <a:ext cx="11395912" cy="555186"/>
          </a:xfrm>
        </p:spPr>
        <p:txBody>
          <a:bodyPr>
            <a:normAutofit/>
          </a:bodyPr>
          <a:lstStyle/>
          <a:p>
            <a:pPr algn="ctr"/>
            <a:r>
              <a:rPr lang="en-US" sz="3200" dirty="0" smtClean="0">
                <a:solidFill>
                  <a:srgbClr val="C00000"/>
                </a:solidFill>
                <a:latin typeface="Marcellus" panose="020E0602050203020307" pitchFamily="34" charset="0"/>
              </a:rPr>
              <a:t>Syntax of Monitors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5D2663AE-DEE7-4ACF-814F-1B6E3DB41210}" type="datetime1">
              <a:rPr lang="en-US" smtClean="0"/>
              <a:t>11/11/2024</a:t>
            </a:fld>
            <a:endParaRPr lang="en-US"/>
          </a:p>
        </p:txBody>
      </p:sp>
      <p:sp>
        <p:nvSpPr>
          <p:cNvPr id="14" name="Rectangle 3"/>
          <p:cNvSpPr txBox="1">
            <a:spLocks noChangeArrowheads="1"/>
          </p:cNvSpPr>
          <p:nvPr/>
        </p:nvSpPr>
        <p:spPr>
          <a:xfrm>
            <a:off x="1187561" y="569708"/>
            <a:ext cx="9279467" cy="48609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2">
              <a:lnSpc>
                <a:spcPct val="80000"/>
              </a:lnSpc>
              <a:buFont typeface="Webdings" pitchFamily="18" charset="2"/>
              <a:buNone/>
            </a:pPr>
            <a:endParaRPr lang="en-US" altLang="en-US" b="1" dirty="0" smtClean="0">
              <a:solidFill>
                <a:srgbClr val="000000"/>
              </a:solidFill>
              <a:latin typeface="Courier New" pitchFamily="49" charset="0"/>
            </a:endParaRPr>
          </a:p>
          <a:p>
            <a:pPr lvl="2">
              <a:lnSpc>
                <a:spcPct val="80000"/>
              </a:lnSpc>
              <a:buFont typeface="Webdings" pitchFamily="18" charset="2"/>
              <a:buNone/>
            </a:pPr>
            <a:endParaRPr lang="en-US" altLang="en-US" b="1" dirty="0">
              <a:solidFill>
                <a:srgbClr val="000000"/>
              </a:solidFill>
              <a:latin typeface="Courier New" pitchFamily="49" charset="0"/>
            </a:endParaRPr>
          </a:p>
          <a:p>
            <a:pPr lvl="2">
              <a:lnSpc>
                <a:spcPct val="80000"/>
              </a:lnSpc>
              <a:buFont typeface="Webdings" pitchFamily="18" charset="2"/>
              <a:buNone/>
            </a:pPr>
            <a:r>
              <a:rPr lang="en-US" altLang="en-US" b="1" dirty="0" smtClean="0">
                <a:solidFill>
                  <a:srgbClr val="000000"/>
                </a:solidFill>
                <a:latin typeface="Courier New" pitchFamily="49" charset="0"/>
              </a:rPr>
              <a:t>monitor </a:t>
            </a:r>
            <a:r>
              <a:rPr lang="en-US" altLang="en-US" b="1" dirty="0">
                <a:solidFill>
                  <a:srgbClr val="000000"/>
                </a:solidFill>
                <a:latin typeface="Courier New" pitchFamily="49" charset="0"/>
              </a:rPr>
              <a:t>monitor-name</a:t>
            </a:r>
          </a:p>
          <a:p>
            <a:pPr lvl="2">
              <a:lnSpc>
                <a:spcPct val="80000"/>
              </a:lnSpc>
              <a:buFont typeface="Webdings" pitchFamily="18" charset="2"/>
              <a:buNone/>
            </a:pPr>
            <a:r>
              <a:rPr lang="en-US" altLang="en-US" b="1" dirty="0">
                <a:solidFill>
                  <a:srgbClr val="000000"/>
                </a:solidFill>
                <a:latin typeface="Courier New" pitchFamily="49" charset="0"/>
              </a:rPr>
              <a:t>{</a:t>
            </a:r>
          </a:p>
          <a:p>
            <a:pPr lvl="2">
              <a:lnSpc>
                <a:spcPct val="80000"/>
              </a:lnSpc>
              <a:buFont typeface="Webdings" pitchFamily="18" charset="2"/>
              <a:buNone/>
            </a:pPr>
            <a:r>
              <a:rPr lang="en-US" altLang="en-US" b="1" dirty="0">
                <a:solidFill>
                  <a:srgbClr val="000000"/>
                </a:solidFill>
                <a:latin typeface="Courier New" pitchFamily="49" charset="0"/>
              </a:rPr>
              <a:t>	// shared variable declarations</a:t>
            </a:r>
          </a:p>
          <a:p>
            <a:pPr lvl="2">
              <a:lnSpc>
                <a:spcPct val="80000"/>
              </a:lnSpc>
              <a:buFont typeface="Webdings" pitchFamily="18" charset="2"/>
              <a:buNone/>
            </a:pPr>
            <a:r>
              <a:rPr lang="en-US" altLang="en-US" b="1" dirty="0">
                <a:solidFill>
                  <a:srgbClr val="000000"/>
                </a:solidFill>
                <a:latin typeface="Courier New" pitchFamily="49" charset="0"/>
              </a:rPr>
              <a:t>	procedure P1 (…) { …. }</a:t>
            </a:r>
          </a:p>
          <a:p>
            <a:pPr lvl="2">
              <a:lnSpc>
                <a:spcPct val="80000"/>
              </a:lnSpc>
              <a:buFont typeface="Webdings" pitchFamily="18" charset="2"/>
              <a:buNone/>
            </a:pPr>
            <a:endParaRPr lang="en-US" altLang="en-US" b="1" dirty="0">
              <a:solidFill>
                <a:srgbClr val="000000"/>
              </a:solidFill>
              <a:latin typeface="Courier New" pitchFamily="49" charset="0"/>
            </a:endParaRPr>
          </a:p>
          <a:p>
            <a:pPr lvl="2">
              <a:lnSpc>
                <a:spcPct val="80000"/>
              </a:lnSpc>
              <a:buFont typeface="Webdings" pitchFamily="18" charset="2"/>
              <a:buNone/>
            </a:pPr>
            <a:r>
              <a:rPr lang="en-US" altLang="en-US" b="1" dirty="0">
                <a:solidFill>
                  <a:srgbClr val="000000"/>
                </a:solidFill>
                <a:latin typeface="Courier New" pitchFamily="49" charset="0"/>
              </a:rPr>
              <a:t>	procedure </a:t>
            </a:r>
            <a:r>
              <a:rPr lang="en-US" altLang="en-US" b="1" dirty="0" err="1">
                <a:solidFill>
                  <a:srgbClr val="000000"/>
                </a:solidFill>
                <a:latin typeface="Courier New" pitchFamily="49" charset="0"/>
              </a:rPr>
              <a:t>Pn</a:t>
            </a:r>
            <a:r>
              <a:rPr lang="en-US" altLang="en-US" b="1" dirty="0">
                <a:solidFill>
                  <a:srgbClr val="000000"/>
                </a:solidFill>
                <a:latin typeface="Courier New" pitchFamily="49" charset="0"/>
              </a:rPr>
              <a:t> (…) {……}</a:t>
            </a:r>
          </a:p>
          <a:p>
            <a:pPr lvl="2">
              <a:lnSpc>
                <a:spcPct val="80000"/>
              </a:lnSpc>
              <a:buFont typeface="Webdings" pitchFamily="18" charset="2"/>
              <a:buNone/>
            </a:pPr>
            <a:endParaRPr lang="en-US" altLang="en-US" b="1" dirty="0">
              <a:solidFill>
                <a:srgbClr val="000000"/>
              </a:solidFill>
              <a:latin typeface="Courier New" pitchFamily="49" charset="0"/>
            </a:endParaRPr>
          </a:p>
          <a:p>
            <a:pPr lvl="2">
              <a:lnSpc>
                <a:spcPct val="80000"/>
              </a:lnSpc>
              <a:buFont typeface="Webdings" pitchFamily="18" charset="2"/>
              <a:buNone/>
            </a:pPr>
            <a:r>
              <a:rPr lang="en-US" altLang="en-US" b="1" dirty="0">
                <a:solidFill>
                  <a:srgbClr val="000000"/>
                </a:solidFill>
                <a:latin typeface="Courier New" pitchFamily="49" charset="0"/>
              </a:rPr>
              <a:t>    Initialization code (…) { … }</a:t>
            </a:r>
          </a:p>
          <a:p>
            <a:pPr lvl="2">
              <a:lnSpc>
                <a:spcPct val="80000"/>
              </a:lnSpc>
              <a:buFont typeface="Webdings" pitchFamily="18" charset="2"/>
              <a:buNone/>
            </a:pPr>
            <a:r>
              <a:rPr lang="en-US" altLang="en-US" b="1" dirty="0">
                <a:solidFill>
                  <a:srgbClr val="000000"/>
                </a:solidFill>
                <a:latin typeface="Courier New" pitchFamily="49" charset="0"/>
              </a:rPr>
              <a:t>	}</a:t>
            </a:r>
          </a:p>
          <a:p>
            <a:pPr lvl="2">
              <a:lnSpc>
                <a:spcPct val="80000"/>
              </a:lnSpc>
              <a:buFont typeface="Webdings" pitchFamily="18" charset="2"/>
              <a:buNone/>
            </a:pPr>
            <a:r>
              <a:rPr lang="en-US" altLang="en-US" b="1" dirty="0">
                <a:solidFill>
                  <a:srgbClr val="000000"/>
                </a:solidFill>
                <a:latin typeface="Courier New" pitchFamily="49" charset="0"/>
              </a:rPr>
              <a:t>}</a:t>
            </a:r>
          </a:p>
          <a:p>
            <a:endParaRPr lang="en-US" altLang="en-US" sz="4000" dirty="0" smtClean="0"/>
          </a:p>
          <a:p>
            <a:endParaRPr lang="en-US" altLang="en-US" sz="4000" dirty="0" smtClean="0"/>
          </a:p>
        </p:txBody>
      </p:sp>
    </p:spTree>
    <p:extLst>
      <p:ext uri="{BB962C8B-B14F-4D97-AF65-F5344CB8AC3E}">
        <p14:creationId xmlns:p14="http://schemas.microsoft.com/office/powerpoint/2010/main" val="363320997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81B66B61-5938-4FE2-AF3E-38B8E32B30DE}" type="datetime1">
              <a:rPr lang="en-US" smtClean="0"/>
              <a:t>11/11/2024</a:t>
            </a:fld>
            <a:endParaRPr lang="en-US"/>
          </a:p>
        </p:txBody>
      </p:sp>
      <p:sp>
        <p:nvSpPr>
          <p:cNvPr id="14" name="Rectangle 3"/>
          <p:cNvSpPr txBox="1">
            <a:spLocks noChangeArrowheads="1"/>
          </p:cNvSpPr>
          <p:nvPr/>
        </p:nvSpPr>
        <p:spPr>
          <a:xfrm>
            <a:off x="1187561" y="569708"/>
            <a:ext cx="9279467" cy="48609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sz="2400" i="1" dirty="0"/>
              <a:t>Abstract data type</a:t>
            </a:r>
            <a:r>
              <a:rPr lang="en-US" altLang="en-US" sz="2400" dirty="0"/>
              <a:t>, </a:t>
            </a:r>
            <a:r>
              <a:rPr lang="en-US" altLang="en-US" sz="2400" dirty="0">
                <a:solidFill>
                  <a:srgbClr val="C00000"/>
                </a:solidFill>
              </a:rPr>
              <a:t>internal variables only accessible by code </a:t>
            </a:r>
            <a:r>
              <a:rPr lang="en-US" altLang="en-US" sz="2400" dirty="0"/>
              <a:t>within the </a:t>
            </a:r>
            <a:r>
              <a:rPr lang="en-US" altLang="en-US" sz="2400" dirty="0">
                <a:solidFill>
                  <a:srgbClr val="C00000"/>
                </a:solidFill>
              </a:rPr>
              <a:t>procedure</a:t>
            </a:r>
          </a:p>
          <a:p>
            <a:pPr>
              <a:lnSpc>
                <a:spcPct val="80000"/>
              </a:lnSpc>
            </a:pPr>
            <a:r>
              <a:rPr lang="en-US" altLang="en-US" sz="2400" dirty="0">
                <a:solidFill>
                  <a:srgbClr val="C00000"/>
                </a:solidFill>
              </a:rPr>
              <a:t>Procedure </a:t>
            </a:r>
            <a:r>
              <a:rPr lang="en-US" altLang="en-US" sz="2400" dirty="0"/>
              <a:t>defined within the monitor </a:t>
            </a:r>
            <a:r>
              <a:rPr lang="en-US" altLang="en-US" sz="2400" dirty="0">
                <a:solidFill>
                  <a:srgbClr val="C00000"/>
                </a:solidFill>
              </a:rPr>
              <a:t>can access only those variables </a:t>
            </a:r>
            <a:endParaRPr lang="en-US" altLang="en-US" sz="2400" dirty="0" smtClean="0">
              <a:solidFill>
                <a:srgbClr val="C00000"/>
              </a:solidFill>
            </a:endParaRPr>
          </a:p>
          <a:p>
            <a:pPr lvl="1">
              <a:lnSpc>
                <a:spcPct val="80000"/>
              </a:lnSpc>
            </a:pPr>
            <a:r>
              <a:rPr lang="en-US" altLang="en-US" dirty="0" smtClean="0">
                <a:solidFill>
                  <a:srgbClr val="C00000"/>
                </a:solidFill>
              </a:rPr>
              <a:t>declared </a:t>
            </a:r>
            <a:r>
              <a:rPr lang="en-US" altLang="en-US" dirty="0">
                <a:solidFill>
                  <a:srgbClr val="C00000"/>
                </a:solidFill>
              </a:rPr>
              <a:t>locally within the monitor and </a:t>
            </a:r>
            <a:endParaRPr lang="en-US" altLang="en-US" dirty="0" smtClean="0">
              <a:solidFill>
                <a:srgbClr val="C00000"/>
              </a:solidFill>
            </a:endParaRPr>
          </a:p>
          <a:p>
            <a:pPr lvl="1">
              <a:lnSpc>
                <a:spcPct val="80000"/>
              </a:lnSpc>
            </a:pPr>
            <a:r>
              <a:rPr lang="en-US" altLang="en-US" dirty="0" smtClean="0">
                <a:solidFill>
                  <a:srgbClr val="C00000"/>
                </a:solidFill>
              </a:rPr>
              <a:t>its </a:t>
            </a:r>
            <a:r>
              <a:rPr lang="en-US" altLang="en-US" dirty="0">
                <a:solidFill>
                  <a:srgbClr val="C00000"/>
                </a:solidFill>
              </a:rPr>
              <a:t>formal parameters.</a:t>
            </a:r>
          </a:p>
          <a:p>
            <a:pPr lvl="2">
              <a:lnSpc>
                <a:spcPct val="80000"/>
              </a:lnSpc>
              <a:buFont typeface="Webdings" pitchFamily="18" charset="2"/>
              <a:buNone/>
            </a:pPr>
            <a:endParaRPr lang="en-US" altLang="en-US" b="1" dirty="0" smtClean="0">
              <a:solidFill>
                <a:srgbClr val="000000"/>
              </a:solidFill>
              <a:latin typeface="Courier New" pitchFamily="49" charset="0"/>
            </a:endParaRPr>
          </a:p>
          <a:p>
            <a:pPr lvl="2">
              <a:lnSpc>
                <a:spcPct val="80000"/>
              </a:lnSpc>
              <a:buFont typeface="Webdings" pitchFamily="18" charset="2"/>
              <a:buNone/>
            </a:pPr>
            <a:r>
              <a:rPr lang="en-US" altLang="en-US" b="1" dirty="0" smtClean="0">
                <a:solidFill>
                  <a:srgbClr val="000000"/>
                </a:solidFill>
                <a:latin typeface="Courier New" pitchFamily="49" charset="0"/>
              </a:rPr>
              <a:t>monitor </a:t>
            </a:r>
            <a:r>
              <a:rPr lang="en-US" altLang="en-US" b="1" dirty="0">
                <a:solidFill>
                  <a:srgbClr val="000000"/>
                </a:solidFill>
                <a:latin typeface="Courier New" pitchFamily="49" charset="0"/>
              </a:rPr>
              <a:t>monitor-name</a:t>
            </a:r>
          </a:p>
          <a:p>
            <a:pPr lvl="2">
              <a:lnSpc>
                <a:spcPct val="80000"/>
              </a:lnSpc>
              <a:buFont typeface="Webdings" pitchFamily="18" charset="2"/>
              <a:buNone/>
            </a:pPr>
            <a:r>
              <a:rPr lang="en-US" altLang="en-US" b="1" dirty="0">
                <a:solidFill>
                  <a:srgbClr val="000000"/>
                </a:solidFill>
                <a:latin typeface="Courier New" pitchFamily="49" charset="0"/>
              </a:rPr>
              <a:t>{</a:t>
            </a:r>
          </a:p>
          <a:p>
            <a:pPr lvl="2">
              <a:lnSpc>
                <a:spcPct val="80000"/>
              </a:lnSpc>
              <a:buFont typeface="Webdings" pitchFamily="18" charset="2"/>
              <a:buNone/>
            </a:pPr>
            <a:r>
              <a:rPr lang="en-US" altLang="en-US" b="1" dirty="0">
                <a:solidFill>
                  <a:srgbClr val="000000"/>
                </a:solidFill>
                <a:latin typeface="Courier New" pitchFamily="49" charset="0"/>
              </a:rPr>
              <a:t>	// shared variable declarations</a:t>
            </a:r>
          </a:p>
          <a:p>
            <a:pPr lvl="2">
              <a:lnSpc>
                <a:spcPct val="80000"/>
              </a:lnSpc>
              <a:buFont typeface="Webdings" pitchFamily="18" charset="2"/>
              <a:buNone/>
            </a:pPr>
            <a:r>
              <a:rPr lang="en-US" altLang="en-US" b="1" dirty="0">
                <a:solidFill>
                  <a:srgbClr val="000000"/>
                </a:solidFill>
                <a:latin typeface="Courier New" pitchFamily="49" charset="0"/>
              </a:rPr>
              <a:t>	procedure P1 (…) { …. }</a:t>
            </a:r>
          </a:p>
          <a:p>
            <a:pPr lvl="2">
              <a:lnSpc>
                <a:spcPct val="80000"/>
              </a:lnSpc>
              <a:buFont typeface="Webdings" pitchFamily="18" charset="2"/>
              <a:buNone/>
            </a:pPr>
            <a:endParaRPr lang="en-US" altLang="en-US" b="1" dirty="0">
              <a:solidFill>
                <a:srgbClr val="000000"/>
              </a:solidFill>
              <a:latin typeface="Courier New" pitchFamily="49" charset="0"/>
            </a:endParaRPr>
          </a:p>
          <a:p>
            <a:pPr lvl="2">
              <a:lnSpc>
                <a:spcPct val="80000"/>
              </a:lnSpc>
              <a:buFont typeface="Webdings" pitchFamily="18" charset="2"/>
              <a:buNone/>
            </a:pPr>
            <a:r>
              <a:rPr lang="en-US" altLang="en-US" b="1" dirty="0">
                <a:solidFill>
                  <a:srgbClr val="000000"/>
                </a:solidFill>
                <a:latin typeface="Courier New" pitchFamily="49" charset="0"/>
              </a:rPr>
              <a:t>	procedure </a:t>
            </a:r>
            <a:r>
              <a:rPr lang="en-US" altLang="en-US" b="1" dirty="0" err="1">
                <a:solidFill>
                  <a:srgbClr val="000000"/>
                </a:solidFill>
                <a:latin typeface="Courier New" pitchFamily="49" charset="0"/>
              </a:rPr>
              <a:t>Pn</a:t>
            </a:r>
            <a:r>
              <a:rPr lang="en-US" altLang="en-US" b="1" dirty="0">
                <a:solidFill>
                  <a:srgbClr val="000000"/>
                </a:solidFill>
                <a:latin typeface="Courier New" pitchFamily="49" charset="0"/>
              </a:rPr>
              <a:t> (…) {……}</a:t>
            </a:r>
          </a:p>
          <a:p>
            <a:pPr lvl="2">
              <a:lnSpc>
                <a:spcPct val="80000"/>
              </a:lnSpc>
              <a:buFont typeface="Webdings" pitchFamily="18" charset="2"/>
              <a:buNone/>
            </a:pPr>
            <a:endParaRPr lang="en-US" altLang="en-US" b="1" dirty="0">
              <a:solidFill>
                <a:srgbClr val="000000"/>
              </a:solidFill>
              <a:latin typeface="Courier New" pitchFamily="49" charset="0"/>
            </a:endParaRPr>
          </a:p>
          <a:p>
            <a:pPr lvl="2">
              <a:lnSpc>
                <a:spcPct val="80000"/>
              </a:lnSpc>
              <a:buFont typeface="Webdings" pitchFamily="18" charset="2"/>
              <a:buNone/>
            </a:pPr>
            <a:r>
              <a:rPr lang="en-US" altLang="en-US" b="1" dirty="0">
                <a:solidFill>
                  <a:srgbClr val="000000"/>
                </a:solidFill>
                <a:latin typeface="Courier New" pitchFamily="49" charset="0"/>
              </a:rPr>
              <a:t>    Initialization code (…) { … }</a:t>
            </a:r>
          </a:p>
          <a:p>
            <a:pPr lvl="2">
              <a:lnSpc>
                <a:spcPct val="80000"/>
              </a:lnSpc>
              <a:buFont typeface="Webdings" pitchFamily="18" charset="2"/>
              <a:buNone/>
            </a:pPr>
            <a:r>
              <a:rPr lang="en-US" altLang="en-US" b="1" dirty="0">
                <a:solidFill>
                  <a:srgbClr val="000000"/>
                </a:solidFill>
                <a:latin typeface="Courier New" pitchFamily="49" charset="0"/>
              </a:rPr>
              <a:t>	}</a:t>
            </a:r>
          </a:p>
          <a:p>
            <a:pPr lvl="2">
              <a:lnSpc>
                <a:spcPct val="80000"/>
              </a:lnSpc>
              <a:buFont typeface="Webdings" pitchFamily="18" charset="2"/>
              <a:buNone/>
            </a:pPr>
            <a:r>
              <a:rPr lang="en-US" altLang="en-US" b="1" dirty="0">
                <a:solidFill>
                  <a:srgbClr val="000000"/>
                </a:solidFill>
                <a:latin typeface="Courier New" pitchFamily="49" charset="0"/>
              </a:rPr>
              <a:t>}</a:t>
            </a:r>
          </a:p>
          <a:p>
            <a:endParaRPr lang="en-US" altLang="en-US" sz="4000" dirty="0" smtClean="0"/>
          </a:p>
          <a:p>
            <a:endParaRPr lang="en-US" altLang="en-US" sz="4000" dirty="0" smtClean="0"/>
          </a:p>
        </p:txBody>
      </p:sp>
    </p:spTree>
    <p:extLst>
      <p:ext uri="{BB962C8B-B14F-4D97-AF65-F5344CB8AC3E}">
        <p14:creationId xmlns:p14="http://schemas.microsoft.com/office/powerpoint/2010/main" val="2406623434"/>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7E57B188-AE71-410E-AC9C-246DF2F2286E}" type="datetime1">
              <a:rPr lang="en-US" smtClean="0"/>
              <a:t>11/11/2024</a:t>
            </a:fld>
            <a:endParaRPr lang="en-US"/>
          </a:p>
        </p:txBody>
      </p:sp>
      <p:sp>
        <p:nvSpPr>
          <p:cNvPr id="14" name="Rectangle 3"/>
          <p:cNvSpPr txBox="1">
            <a:spLocks noChangeArrowheads="1"/>
          </p:cNvSpPr>
          <p:nvPr/>
        </p:nvSpPr>
        <p:spPr>
          <a:xfrm>
            <a:off x="1187561" y="569708"/>
            <a:ext cx="9279467" cy="486092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endParaRPr lang="en-US" sz="2400" dirty="0" smtClean="0"/>
          </a:p>
          <a:p>
            <a:pPr fontAlgn="base"/>
            <a:r>
              <a:rPr lang="en-US" sz="2400" dirty="0" smtClean="0"/>
              <a:t>It </a:t>
            </a:r>
            <a:r>
              <a:rPr lang="en-US" sz="2400" dirty="0"/>
              <a:t>is the collection of condition variables and procedures combined together in a special kind of module or a package.</a:t>
            </a:r>
          </a:p>
          <a:p>
            <a:pPr fontAlgn="base"/>
            <a:endParaRPr lang="en-US" sz="2400" dirty="0" smtClean="0"/>
          </a:p>
          <a:p>
            <a:pPr fontAlgn="base"/>
            <a:r>
              <a:rPr lang="en-US" sz="2400" dirty="0" smtClean="0"/>
              <a:t>The </a:t>
            </a:r>
            <a:r>
              <a:rPr lang="en-US" sz="2400" dirty="0">
                <a:solidFill>
                  <a:srgbClr val="C00000"/>
                </a:solidFill>
              </a:rPr>
              <a:t>processes running outside the monitor can’t access the internal variable of the monitor but can call procedures of the monitor</a:t>
            </a:r>
            <a:r>
              <a:rPr lang="en-US" sz="2400" dirty="0"/>
              <a:t>.</a:t>
            </a:r>
          </a:p>
          <a:p>
            <a:pPr fontAlgn="base"/>
            <a:endParaRPr lang="en-US" sz="2400" dirty="0" smtClean="0"/>
          </a:p>
          <a:p>
            <a:pPr fontAlgn="base"/>
            <a:r>
              <a:rPr lang="en-US" sz="2400" dirty="0" smtClean="0"/>
              <a:t>Only </a:t>
            </a:r>
            <a:r>
              <a:rPr lang="en-US" sz="2400" dirty="0">
                <a:solidFill>
                  <a:srgbClr val="C00000"/>
                </a:solidFill>
              </a:rPr>
              <a:t>one process at a time</a:t>
            </a:r>
            <a:r>
              <a:rPr lang="en-US" sz="2400" dirty="0"/>
              <a:t> can execute code inside monitors.</a:t>
            </a:r>
          </a:p>
          <a:p>
            <a:endParaRPr lang="en-US" altLang="en-US" sz="4000" dirty="0" smtClean="0"/>
          </a:p>
          <a:p>
            <a:endParaRPr lang="en-US" altLang="en-US" sz="4000" dirty="0" smtClean="0"/>
          </a:p>
        </p:txBody>
      </p:sp>
    </p:spTree>
    <p:extLst>
      <p:ext uri="{BB962C8B-B14F-4D97-AF65-F5344CB8AC3E}">
        <p14:creationId xmlns:p14="http://schemas.microsoft.com/office/powerpoint/2010/main" val="251962820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6F56659A-6118-4357-AA07-A112D28C51AE}" type="datetime1">
              <a:rPr lang="en-US" smtClean="0"/>
              <a:t>11/11/2024</a:t>
            </a:fld>
            <a:endParaRPr lang="en-US"/>
          </a:p>
        </p:txBody>
      </p:sp>
      <p:sp>
        <p:nvSpPr>
          <p:cNvPr id="14" name="Rectangle 3"/>
          <p:cNvSpPr txBox="1">
            <a:spLocks noChangeArrowheads="1"/>
          </p:cNvSpPr>
          <p:nvPr/>
        </p:nvSpPr>
        <p:spPr>
          <a:xfrm>
            <a:off x="1187561" y="1228299"/>
            <a:ext cx="9279467" cy="42023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en-US" sz="2400" dirty="0" smtClean="0"/>
              <a:t>Monitor ensures that </a:t>
            </a:r>
          </a:p>
          <a:p>
            <a:pPr lvl="1">
              <a:lnSpc>
                <a:spcPct val="80000"/>
              </a:lnSpc>
            </a:pPr>
            <a:r>
              <a:rPr lang="en-US" altLang="en-US" sz="2000" dirty="0" smtClean="0"/>
              <a:t>Only one process may be active within the monitor at a time</a:t>
            </a:r>
          </a:p>
          <a:p>
            <a:pPr>
              <a:lnSpc>
                <a:spcPct val="80000"/>
              </a:lnSpc>
            </a:pPr>
            <a:endParaRPr lang="en-US" altLang="en-US" sz="2400" dirty="0" smtClean="0"/>
          </a:p>
          <a:p>
            <a:pPr>
              <a:lnSpc>
                <a:spcPct val="80000"/>
              </a:lnSpc>
            </a:pPr>
            <a:r>
              <a:rPr lang="en-US" altLang="en-US" sz="2400" dirty="0" smtClean="0"/>
              <a:t>Programmer does not need to </a:t>
            </a:r>
          </a:p>
          <a:p>
            <a:pPr lvl="1">
              <a:lnSpc>
                <a:spcPct val="80000"/>
              </a:lnSpc>
            </a:pPr>
            <a:r>
              <a:rPr lang="en-US" altLang="en-US" sz="2000" dirty="0" smtClean="0"/>
              <a:t>code the synchronization constraint explicitly</a:t>
            </a:r>
          </a:p>
          <a:p>
            <a:pPr>
              <a:lnSpc>
                <a:spcPct val="80000"/>
              </a:lnSpc>
            </a:pPr>
            <a:endParaRPr lang="en-US" altLang="en-US" sz="2400" dirty="0" smtClean="0"/>
          </a:p>
          <a:p>
            <a:pPr>
              <a:lnSpc>
                <a:spcPct val="80000"/>
              </a:lnSpc>
            </a:pPr>
            <a:r>
              <a:rPr lang="en-US" altLang="en-US" sz="2400" dirty="0" smtClean="0"/>
              <a:t>But not powerful enough to model some synchronization schemes</a:t>
            </a:r>
          </a:p>
          <a:p>
            <a:pPr>
              <a:lnSpc>
                <a:spcPct val="80000"/>
              </a:lnSpc>
            </a:pPr>
            <a:endParaRPr lang="en-US" altLang="en-US" sz="2400" dirty="0" smtClean="0"/>
          </a:p>
          <a:p>
            <a:pPr>
              <a:lnSpc>
                <a:spcPct val="80000"/>
              </a:lnSpc>
            </a:pPr>
            <a:r>
              <a:rPr lang="en-US" altLang="en-US" sz="2400" dirty="0" smtClean="0"/>
              <a:t>Need to define additional condition construct</a:t>
            </a:r>
          </a:p>
          <a:p>
            <a:pPr lvl="2">
              <a:lnSpc>
                <a:spcPct val="80000"/>
              </a:lnSpc>
              <a:buFont typeface="Webdings" pitchFamily="18" charset="2"/>
              <a:buNone/>
            </a:pPr>
            <a:endParaRPr lang="en-US" altLang="en-US" dirty="0">
              <a:solidFill>
                <a:srgbClr val="0000FF"/>
              </a:solidFill>
            </a:endParaRPr>
          </a:p>
          <a:p>
            <a:pPr marL="0" indent="0">
              <a:buNone/>
            </a:pPr>
            <a:endParaRPr lang="en-US" altLang="en-US" sz="4400" dirty="0" smtClean="0"/>
          </a:p>
        </p:txBody>
      </p:sp>
    </p:spTree>
    <p:extLst>
      <p:ext uri="{BB962C8B-B14F-4D97-AF65-F5344CB8AC3E}">
        <p14:creationId xmlns:p14="http://schemas.microsoft.com/office/powerpoint/2010/main" val="2930644457"/>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Condition Variables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366902EC-F856-4FEB-B120-C42D8273E6FA}" type="datetime1">
              <a:rPr lang="en-US" smtClean="0"/>
              <a:t>11/11/2024</a:t>
            </a:fld>
            <a:endParaRPr lang="en-US"/>
          </a:p>
        </p:txBody>
      </p:sp>
      <p:sp>
        <p:nvSpPr>
          <p:cNvPr id="12" name="Rectangle 5"/>
          <p:cNvSpPr txBox="1">
            <a:spLocks noChangeArrowheads="1"/>
          </p:cNvSpPr>
          <p:nvPr/>
        </p:nvSpPr>
        <p:spPr>
          <a:xfrm>
            <a:off x="1102785" y="1150938"/>
            <a:ext cx="9696449" cy="4394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b="1" dirty="0" smtClean="0">
                <a:solidFill>
                  <a:srgbClr val="000000"/>
                </a:solidFill>
                <a:latin typeface="Courier New" pitchFamily="49" charset="0"/>
                <a:cs typeface="Courier New" pitchFamily="49" charset="0"/>
              </a:rPr>
              <a:t>Programmer can define </a:t>
            </a:r>
            <a:r>
              <a:rPr lang="en-US" altLang="en-US" sz="2000" b="1" dirty="0" smtClean="0">
                <a:solidFill>
                  <a:srgbClr val="C00000"/>
                </a:solidFill>
                <a:latin typeface="Courier New" pitchFamily="49" charset="0"/>
                <a:cs typeface="Courier New" pitchFamily="49" charset="0"/>
              </a:rPr>
              <a:t>one or more condition variables</a:t>
            </a:r>
          </a:p>
          <a:p>
            <a:pPr marL="0" indent="0">
              <a:buNone/>
            </a:pPr>
            <a:r>
              <a:rPr lang="en-US" altLang="en-US" sz="2000" b="1" dirty="0" smtClean="0">
                <a:solidFill>
                  <a:srgbClr val="C00000"/>
                </a:solidFill>
                <a:latin typeface="Courier New" pitchFamily="49" charset="0"/>
                <a:cs typeface="Courier New" pitchFamily="49" charset="0"/>
              </a:rPr>
              <a:t>		condition</a:t>
            </a:r>
            <a:r>
              <a:rPr lang="en-US" altLang="en-US" b="1" dirty="0" smtClean="0">
                <a:solidFill>
                  <a:srgbClr val="C00000"/>
                </a:solidFill>
                <a:latin typeface="Courier New" pitchFamily="49" charset="0"/>
                <a:cs typeface="Courier New" pitchFamily="49" charset="0"/>
              </a:rPr>
              <a:t> </a:t>
            </a:r>
            <a:r>
              <a:rPr lang="en-US" altLang="en-US" sz="2000" b="1" dirty="0" smtClean="0">
                <a:solidFill>
                  <a:srgbClr val="C00000"/>
                </a:solidFill>
                <a:latin typeface="Courier New" pitchFamily="49" charset="0"/>
                <a:cs typeface="Courier New" pitchFamily="49" charset="0"/>
              </a:rPr>
              <a:t>x, y</a:t>
            </a:r>
            <a:r>
              <a:rPr lang="en-US" altLang="en-US" b="1" dirty="0" smtClean="0">
                <a:solidFill>
                  <a:srgbClr val="C00000"/>
                </a:solidFill>
                <a:latin typeface="Courier New" pitchFamily="49" charset="0"/>
                <a:cs typeface="Courier New" pitchFamily="49" charset="0"/>
              </a:rPr>
              <a:t>;</a:t>
            </a:r>
            <a:endParaRPr lang="en-US" altLang="en-US" dirty="0" smtClean="0">
              <a:solidFill>
                <a:srgbClr val="C00000"/>
              </a:solidFill>
            </a:endParaRPr>
          </a:p>
          <a:p>
            <a:endParaRPr lang="en-US" altLang="en-US" dirty="0" smtClean="0"/>
          </a:p>
          <a:p>
            <a:r>
              <a:rPr lang="en-US" altLang="en-US" dirty="0" smtClean="0">
                <a:solidFill>
                  <a:srgbClr val="C00000"/>
                </a:solidFill>
              </a:rPr>
              <a:t>Only Two operations </a:t>
            </a:r>
            <a:r>
              <a:rPr lang="en-US" altLang="en-US" dirty="0" smtClean="0"/>
              <a:t>are allowed on a condition variable:</a:t>
            </a:r>
          </a:p>
          <a:p>
            <a:pPr lvl="1"/>
            <a:r>
              <a:rPr lang="en-US" altLang="en-US" sz="2000" b="1" dirty="0" err="1" smtClean="0">
                <a:solidFill>
                  <a:srgbClr val="000000"/>
                </a:solidFill>
                <a:latin typeface="Courier New" pitchFamily="49" charset="0"/>
              </a:rPr>
              <a:t>x.wait</a:t>
            </a:r>
            <a:r>
              <a:rPr lang="en-US" altLang="en-US" sz="2000" b="1" dirty="0" smtClean="0">
                <a:solidFill>
                  <a:srgbClr val="000000"/>
                </a:solidFill>
                <a:latin typeface="Courier New" pitchFamily="49" charset="0"/>
              </a:rPr>
              <a:t>()</a:t>
            </a:r>
          </a:p>
          <a:p>
            <a:pPr lvl="1"/>
            <a:r>
              <a:rPr lang="en-US" altLang="en-US" sz="2000" b="1" dirty="0" err="1" smtClean="0">
                <a:solidFill>
                  <a:srgbClr val="000000"/>
                </a:solidFill>
                <a:latin typeface="Courier New" pitchFamily="49" charset="0"/>
              </a:rPr>
              <a:t>x.signal</a:t>
            </a:r>
            <a:r>
              <a:rPr lang="en-US" altLang="en-US" sz="2000" b="1" dirty="0" smtClean="0">
                <a:solidFill>
                  <a:srgbClr val="000000"/>
                </a:solidFill>
                <a:latin typeface="Courier New" pitchFamily="49" charset="0"/>
              </a:rPr>
              <a:t>()</a:t>
            </a:r>
            <a:endParaRPr lang="en-US" altLang="en-US" dirty="0" smtClean="0"/>
          </a:p>
          <a:p>
            <a:pPr lvl="2"/>
            <a:endParaRPr lang="en-US" altLang="en-US" dirty="0" smtClean="0"/>
          </a:p>
        </p:txBody>
      </p:sp>
      <p:pic>
        <p:nvPicPr>
          <p:cNvPr id="3074" name="Picture 2" descr="monitor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98544" y="3417651"/>
            <a:ext cx="3626339" cy="2614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7329093"/>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Condition Variables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904787AE-7626-4BBC-BA9A-8384D2C12DBB}" type="datetime1">
              <a:rPr lang="en-US" smtClean="0"/>
              <a:t>11/11/2024</a:t>
            </a:fld>
            <a:endParaRPr lang="en-US"/>
          </a:p>
        </p:txBody>
      </p:sp>
      <p:sp>
        <p:nvSpPr>
          <p:cNvPr id="12" name="Rectangle 5"/>
          <p:cNvSpPr txBox="1">
            <a:spLocks noChangeArrowheads="1"/>
          </p:cNvSpPr>
          <p:nvPr/>
        </p:nvSpPr>
        <p:spPr>
          <a:xfrm>
            <a:off x="1102785" y="1150938"/>
            <a:ext cx="9696449" cy="439420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b="1" dirty="0" err="1" smtClean="0">
                <a:solidFill>
                  <a:srgbClr val="000000"/>
                </a:solidFill>
                <a:latin typeface="Courier New" pitchFamily="49" charset="0"/>
              </a:rPr>
              <a:t>x.wait</a:t>
            </a:r>
            <a:r>
              <a:rPr lang="en-US" altLang="en-US" b="1" dirty="0" smtClean="0">
                <a:solidFill>
                  <a:srgbClr val="000000"/>
                </a:solidFill>
                <a:latin typeface="Courier New" pitchFamily="49" charset="0"/>
              </a:rPr>
              <a:t>() </a:t>
            </a:r>
            <a:r>
              <a:rPr lang="en-US" altLang="en-US" dirty="0" smtClean="0"/>
              <a:t>–  </a:t>
            </a:r>
          </a:p>
          <a:p>
            <a:pPr lvl="1"/>
            <a:r>
              <a:rPr lang="en-US" altLang="en-US" dirty="0">
                <a:solidFill>
                  <a:srgbClr val="C00000"/>
                </a:solidFill>
              </a:rPr>
              <a:t>Process performing wait operation on any condition variable are suspended</a:t>
            </a:r>
            <a:r>
              <a:rPr lang="en-US" altLang="en-US" dirty="0"/>
              <a:t>.</a:t>
            </a:r>
          </a:p>
          <a:p>
            <a:pPr lvl="2"/>
            <a:r>
              <a:rPr lang="en-US" altLang="en-US" dirty="0" smtClean="0"/>
              <a:t>suspended until </a:t>
            </a:r>
            <a:r>
              <a:rPr lang="en-US" altLang="en-US" b="1" dirty="0" err="1" smtClean="0">
                <a:solidFill>
                  <a:srgbClr val="000000"/>
                </a:solidFill>
                <a:latin typeface="Courier New" pitchFamily="49" charset="0"/>
              </a:rPr>
              <a:t>x.signal</a:t>
            </a:r>
            <a:r>
              <a:rPr lang="en-US" altLang="en-US" b="1" dirty="0" smtClean="0">
                <a:solidFill>
                  <a:srgbClr val="000000"/>
                </a:solidFill>
                <a:latin typeface="Courier New" pitchFamily="49" charset="0"/>
              </a:rPr>
              <a:t>()</a:t>
            </a:r>
          </a:p>
          <a:p>
            <a:pPr lvl="1"/>
            <a:r>
              <a:rPr lang="en-US" u="sng" dirty="0"/>
              <a:t>The suspended processes are placed in </a:t>
            </a:r>
            <a:r>
              <a:rPr lang="en-US" u="sng" dirty="0">
                <a:solidFill>
                  <a:srgbClr val="C00000"/>
                </a:solidFill>
              </a:rPr>
              <a:t>block queue of that condition variable.</a:t>
            </a:r>
            <a:r>
              <a:rPr lang="en-US" altLang="en-US" b="1" u="sng" dirty="0" smtClean="0">
                <a:solidFill>
                  <a:srgbClr val="C00000"/>
                </a:solidFill>
                <a:latin typeface="Courier New" pitchFamily="49" charset="0"/>
              </a:rPr>
              <a:t> </a:t>
            </a:r>
          </a:p>
          <a:p>
            <a:r>
              <a:rPr lang="en-US" altLang="en-US" b="1" dirty="0" err="1" smtClean="0">
                <a:solidFill>
                  <a:srgbClr val="000000"/>
                </a:solidFill>
                <a:latin typeface="Courier New" pitchFamily="49" charset="0"/>
              </a:rPr>
              <a:t>x.signal</a:t>
            </a:r>
            <a:r>
              <a:rPr lang="en-US" altLang="en-US" b="1" dirty="0" smtClean="0">
                <a:solidFill>
                  <a:srgbClr val="000000"/>
                </a:solidFill>
                <a:latin typeface="Courier New" pitchFamily="49" charset="0"/>
              </a:rPr>
              <a:t>() </a:t>
            </a:r>
            <a:r>
              <a:rPr lang="en-US" altLang="en-US" dirty="0" smtClean="0"/>
              <a:t>–</a:t>
            </a:r>
            <a:r>
              <a:rPr lang="en-US" altLang="en-US" dirty="0" smtClean="0">
                <a:solidFill>
                  <a:srgbClr val="0000FF"/>
                </a:solidFill>
              </a:rPr>
              <a:t> </a:t>
            </a:r>
          </a:p>
          <a:p>
            <a:pPr lvl="1"/>
            <a:r>
              <a:rPr lang="en-US" dirty="0">
                <a:solidFill>
                  <a:srgbClr val="C00000"/>
                </a:solidFill>
              </a:rPr>
              <a:t>When a process performs signal</a:t>
            </a:r>
            <a:r>
              <a:rPr lang="en-US" dirty="0"/>
              <a:t> operation on condition variable, </a:t>
            </a:r>
            <a:r>
              <a:rPr lang="en-US" dirty="0">
                <a:solidFill>
                  <a:srgbClr val="C00000"/>
                </a:solidFill>
              </a:rPr>
              <a:t>one of the blocked processes is given chance</a:t>
            </a:r>
            <a:r>
              <a:rPr lang="en-US" dirty="0" smtClean="0">
                <a:solidFill>
                  <a:srgbClr val="C00000"/>
                </a:solidFill>
              </a:rPr>
              <a:t>.</a:t>
            </a:r>
          </a:p>
          <a:p>
            <a:pPr lvl="1"/>
            <a:r>
              <a:rPr lang="en-US" altLang="en-US" dirty="0" smtClean="0"/>
              <a:t>resumes one of processes</a:t>
            </a:r>
            <a:r>
              <a:rPr lang="en-US" altLang="en-US" dirty="0" smtClean="0">
                <a:solidFill>
                  <a:srgbClr val="0000FF"/>
                </a:solidFill>
              </a:rPr>
              <a:t> </a:t>
            </a:r>
            <a:r>
              <a:rPr lang="en-US" altLang="en-US" dirty="0" smtClean="0"/>
              <a:t>(if any)</a:t>
            </a:r>
            <a:r>
              <a:rPr lang="en-US" altLang="en-US" dirty="0" smtClean="0">
                <a:solidFill>
                  <a:srgbClr val="0000FF"/>
                </a:solidFill>
              </a:rPr>
              <a:t> </a:t>
            </a:r>
            <a:r>
              <a:rPr lang="en-US" altLang="en-US" dirty="0" smtClean="0"/>
              <a:t>that</a:t>
            </a:r>
            <a:r>
              <a:rPr lang="en-US" altLang="en-US" dirty="0" smtClean="0">
                <a:solidFill>
                  <a:srgbClr val="0000FF"/>
                </a:solidFill>
              </a:rPr>
              <a:t> </a:t>
            </a:r>
            <a:r>
              <a:rPr lang="en-US" altLang="en-US" dirty="0" smtClean="0"/>
              <a:t> invoked</a:t>
            </a:r>
            <a:r>
              <a:rPr lang="en-US" altLang="en-US" dirty="0" smtClean="0">
                <a:solidFill>
                  <a:srgbClr val="0000FF"/>
                </a:solidFill>
              </a:rPr>
              <a:t> </a:t>
            </a:r>
            <a:r>
              <a:rPr lang="en-US" altLang="en-US" b="1" dirty="0" err="1" smtClean="0">
                <a:solidFill>
                  <a:srgbClr val="000000"/>
                </a:solidFill>
                <a:latin typeface="Courier New" pitchFamily="49" charset="0"/>
              </a:rPr>
              <a:t>x.wait</a:t>
            </a:r>
            <a:r>
              <a:rPr lang="en-US" altLang="en-US" b="1" dirty="0" smtClean="0">
                <a:solidFill>
                  <a:srgbClr val="000000"/>
                </a:solidFill>
                <a:latin typeface="Courier New" pitchFamily="49" charset="0"/>
              </a:rPr>
              <a:t>()</a:t>
            </a:r>
          </a:p>
          <a:p>
            <a:pPr lvl="2"/>
            <a:r>
              <a:rPr lang="en-US" altLang="en-US" dirty="0" smtClean="0"/>
              <a:t>If no </a:t>
            </a:r>
            <a:r>
              <a:rPr lang="en-US" altLang="en-US" b="1" dirty="0" smtClean="0">
                <a:solidFill>
                  <a:srgbClr val="000000"/>
                </a:solidFill>
                <a:latin typeface="Courier New" pitchFamily="49" charset="0"/>
              </a:rPr>
              <a:t>process is suspended</a:t>
            </a:r>
            <a:r>
              <a:rPr lang="en-US" altLang="en-US" dirty="0" smtClean="0"/>
              <a:t>, then it has no effect on the variable</a:t>
            </a:r>
          </a:p>
          <a:p>
            <a:pPr lvl="2"/>
            <a:r>
              <a:rPr lang="en-US" altLang="en-US" dirty="0" smtClean="0"/>
              <a:t>State of x, As if the operation was never executed</a:t>
            </a:r>
          </a:p>
          <a:p>
            <a:pPr lvl="2"/>
            <a:r>
              <a:rPr lang="en-US" altLang="en-US" dirty="0" smtClean="0"/>
              <a:t>In contrast to semaphore, state of semaphore always gets affected</a:t>
            </a:r>
          </a:p>
          <a:p>
            <a:pPr lvl="1"/>
            <a:endParaRPr lang="en-US" altLang="en-US" dirty="0" smtClean="0"/>
          </a:p>
          <a:p>
            <a:pPr lvl="2"/>
            <a:endParaRPr lang="en-US" altLang="en-US" dirty="0" smtClean="0"/>
          </a:p>
        </p:txBody>
      </p:sp>
    </p:spTree>
    <p:extLst>
      <p:ext uri="{BB962C8B-B14F-4D97-AF65-F5344CB8AC3E}">
        <p14:creationId xmlns:p14="http://schemas.microsoft.com/office/powerpoint/2010/main" val="1111310548"/>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 with Condition Variables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776EF78E-79FE-492D-A3BE-20E93E55169E}" type="datetime1">
              <a:rPr lang="en-US" smtClean="0"/>
              <a:t>11/11/2024</a:t>
            </a:fld>
            <a:endParaRPr lang="en-US"/>
          </a:p>
        </p:txBody>
      </p:sp>
      <p:pic>
        <p:nvPicPr>
          <p:cNvPr id="13" name="Picture 4" descr="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5567" y="1323975"/>
            <a:ext cx="8388351" cy="434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2" descr="monitor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3194946" cy="2303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653369"/>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Condition Variables Choices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AFCC6344-9554-4C62-A9B7-FBA784077EAC}" type="datetime1">
              <a:rPr lang="en-US" smtClean="0"/>
              <a:t>11/11/2024</a:t>
            </a:fld>
            <a:endParaRPr lang="en-US"/>
          </a:p>
        </p:txBody>
      </p:sp>
      <p:sp>
        <p:nvSpPr>
          <p:cNvPr id="14" name="Rectangle 5"/>
          <p:cNvSpPr txBox="1">
            <a:spLocks noChangeArrowheads="1"/>
          </p:cNvSpPr>
          <p:nvPr/>
        </p:nvSpPr>
        <p:spPr>
          <a:xfrm>
            <a:off x="1159933" y="1179514"/>
            <a:ext cx="10433051" cy="471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smtClean="0"/>
              <a:t>If </a:t>
            </a:r>
            <a:r>
              <a:rPr lang="en-US" altLang="en-US" sz="2400" dirty="0" smtClean="0">
                <a:solidFill>
                  <a:srgbClr val="C00000"/>
                </a:solidFill>
              </a:rPr>
              <a:t>process P invokes </a:t>
            </a:r>
            <a:r>
              <a:rPr lang="en-US" altLang="en-US" sz="2400" b="1" dirty="0" err="1" smtClean="0">
                <a:solidFill>
                  <a:srgbClr val="C00000"/>
                </a:solidFill>
                <a:latin typeface="Courier New" pitchFamily="49" charset="0"/>
                <a:cs typeface="Courier New" pitchFamily="49" charset="0"/>
              </a:rPr>
              <a:t>x.signal</a:t>
            </a:r>
            <a:r>
              <a:rPr lang="en-US" altLang="en-US" sz="2400" b="1" dirty="0" smtClean="0">
                <a:solidFill>
                  <a:srgbClr val="C00000"/>
                </a:solidFill>
                <a:latin typeface="Courier New" pitchFamily="49" charset="0"/>
                <a:cs typeface="Courier New" pitchFamily="49" charset="0"/>
              </a:rPr>
              <a:t>(),</a:t>
            </a:r>
            <a:r>
              <a:rPr lang="en-US" altLang="en-US" sz="2400" dirty="0" smtClean="0">
                <a:solidFill>
                  <a:srgbClr val="C00000"/>
                </a:solidFill>
                <a:cs typeface="Courier New" pitchFamily="49" charset="0"/>
              </a:rPr>
              <a:t> </a:t>
            </a:r>
            <a:r>
              <a:rPr lang="en-US" altLang="en-US" sz="2400" dirty="0" smtClean="0"/>
              <a:t>and</a:t>
            </a:r>
            <a:r>
              <a:rPr lang="en-US" altLang="en-US" sz="2400" dirty="0" smtClean="0">
                <a:cs typeface="Courier New" pitchFamily="49" charset="0"/>
              </a:rPr>
              <a:t> </a:t>
            </a:r>
            <a:r>
              <a:rPr lang="en-US" altLang="en-US" sz="2400" dirty="0" smtClean="0"/>
              <a:t>process Q is suspended in </a:t>
            </a:r>
            <a:r>
              <a:rPr lang="en-US" altLang="en-US" sz="2400" b="1" dirty="0" err="1" smtClean="0">
                <a:solidFill>
                  <a:srgbClr val="000000"/>
                </a:solidFill>
                <a:latin typeface="Courier New" pitchFamily="49" charset="0"/>
                <a:cs typeface="Courier New" pitchFamily="49" charset="0"/>
              </a:rPr>
              <a:t>x.wait</a:t>
            </a:r>
            <a:r>
              <a:rPr lang="en-US" altLang="en-US" sz="2400" b="1" dirty="0" smtClean="0">
                <a:solidFill>
                  <a:srgbClr val="000000"/>
                </a:solidFill>
                <a:latin typeface="Courier New" pitchFamily="49" charset="0"/>
                <a:cs typeface="Courier New" pitchFamily="49" charset="0"/>
              </a:rPr>
              <a:t>()</a:t>
            </a:r>
            <a:r>
              <a:rPr lang="en-US" altLang="en-US" sz="2400" dirty="0" smtClean="0"/>
              <a:t>, </a:t>
            </a:r>
          </a:p>
          <a:p>
            <a:pPr lvl="1"/>
            <a:r>
              <a:rPr lang="en-US" altLang="en-US" dirty="0" smtClean="0">
                <a:solidFill>
                  <a:srgbClr val="C00000"/>
                </a:solidFill>
              </a:rPr>
              <a:t>Suspended process Q associated with condition x is invoked</a:t>
            </a:r>
            <a:endParaRPr lang="en-US" altLang="en-US" dirty="0">
              <a:solidFill>
                <a:srgbClr val="C00000"/>
              </a:solidFill>
            </a:endParaRPr>
          </a:p>
          <a:p>
            <a:pPr lvl="1"/>
            <a:r>
              <a:rPr lang="en-US" altLang="en-US" dirty="0" smtClean="0"/>
              <a:t>what should happen next? </a:t>
            </a:r>
          </a:p>
          <a:p>
            <a:endParaRPr lang="en-US" altLang="en-US" sz="2400" dirty="0"/>
          </a:p>
          <a:p>
            <a:r>
              <a:rPr lang="en-US" altLang="en-US" dirty="0" smtClean="0"/>
              <a:t>Both Q and P cannot execute in parallel. 	</a:t>
            </a:r>
          </a:p>
          <a:p>
            <a:pPr lvl="1"/>
            <a:r>
              <a:rPr lang="en-US" altLang="en-US" dirty="0" smtClean="0">
                <a:solidFill>
                  <a:srgbClr val="C00000"/>
                </a:solidFill>
              </a:rPr>
              <a:t>If Q is resumed, then P must wait</a:t>
            </a:r>
          </a:p>
          <a:p>
            <a:pPr lvl="1"/>
            <a:r>
              <a:rPr lang="en-US" altLang="en-US" dirty="0" smtClean="0"/>
              <a:t>Otherwise both P and Q will be active simultaneously within the monitor</a:t>
            </a:r>
          </a:p>
        </p:txBody>
      </p:sp>
    </p:spTree>
    <p:extLst>
      <p:ext uri="{BB962C8B-B14F-4D97-AF65-F5344CB8AC3E}">
        <p14:creationId xmlns:p14="http://schemas.microsoft.com/office/powerpoint/2010/main" val="415531462"/>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Condition Variables Choices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1367E1BC-EC06-45F8-89EB-C13A8782975D}" type="datetime1">
              <a:rPr lang="en-US" smtClean="0"/>
              <a:t>11/11/2024</a:t>
            </a:fld>
            <a:endParaRPr lang="en-US"/>
          </a:p>
        </p:txBody>
      </p:sp>
      <p:sp>
        <p:nvSpPr>
          <p:cNvPr id="14" name="Rectangle 5"/>
          <p:cNvSpPr txBox="1">
            <a:spLocks noChangeArrowheads="1"/>
          </p:cNvSpPr>
          <p:nvPr/>
        </p:nvSpPr>
        <p:spPr>
          <a:xfrm>
            <a:off x="1159933" y="1179514"/>
            <a:ext cx="10433051" cy="471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smtClean="0"/>
              <a:t>Options include</a:t>
            </a:r>
          </a:p>
          <a:p>
            <a:pPr lvl="1"/>
            <a:r>
              <a:rPr lang="en-US" altLang="en-US" b="1" dirty="0" smtClean="0">
                <a:solidFill>
                  <a:srgbClr val="C00000"/>
                </a:solidFill>
              </a:rPr>
              <a:t>Signal and wait </a:t>
            </a:r>
            <a:r>
              <a:rPr lang="en-US" altLang="en-US" dirty="0" smtClean="0">
                <a:solidFill>
                  <a:srgbClr val="C00000"/>
                </a:solidFill>
              </a:rPr>
              <a:t>– </a:t>
            </a:r>
            <a:r>
              <a:rPr lang="en-US" altLang="en-US" dirty="0" smtClean="0"/>
              <a:t>P waits until Q either leaves the monitor or it waits for another condition</a:t>
            </a:r>
          </a:p>
          <a:p>
            <a:pPr lvl="1"/>
            <a:r>
              <a:rPr lang="en-US" altLang="en-US" b="1" dirty="0" smtClean="0">
                <a:solidFill>
                  <a:srgbClr val="C00000"/>
                </a:solidFill>
              </a:rPr>
              <a:t>Signal and continue </a:t>
            </a:r>
            <a:r>
              <a:rPr lang="en-US" altLang="en-US" dirty="0" smtClean="0">
                <a:solidFill>
                  <a:srgbClr val="C00000"/>
                </a:solidFill>
              </a:rPr>
              <a:t>– </a:t>
            </a:r>
            <a:r>
              <a:rPr lang="en-US" altLang="en-US" dirty="0" smtClean="0"/>
              <a:t>Q waits until P either leaves the monitor or it  waits for another condition</a:t>
            </a:r>
          </a:p>
        </p:txBody>
      </p:sp>
    </p:spTree>
    <p:extLst>
      <p:ext uri="{BB962C8B-B14F-4D97-AF65-F5344CB8AC3E}">
        <p14:creationId xmlns:p14="http://schemas.microsoft.com/office/powerpoint/2010/main" val="2838498597"/>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Condition Variables Choices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1508362D-539B-4AC9-AB89-3665B932E9A3}" type="datetime1">
              <a:rPr lang="en-US" smtClean="0"/>
              <a:t>11/11/2024</a:t>
            </a:fld>
            <a:endParaRPr lang="en-US"/>
          </a:p>
        </p:txBody>
      </p:sp>
      <p:sp>
        <p:nvSpPr>
          <p:cNvPr id="12" name="Rectangle 5"/>
          <p:cNvSpPr txBox="1">
            <a:spLocks noChangeArrowheads="1"/>
          </p:cNvSpPr>
          <p:nvPr/>
        </p:nvSpPr>
        <p:spPr>
          <a:xfrm>
            <a:off x="1159933" y="1179514"/>
            <a:ext cx="10433051" cy="471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smtClean="0"/>
              <a:t>Since P was already executing in the monitor, </a:t>
            </a:r>
          </a:p>
          <a:p>
            <a:pPr lvl="1"/>
            <a:r>
              <a:rPr lang="en-US" altLang="en-US" dirty="0" smtClean="0"/>
              <a:t>Option 2 seems more reasonable</a:t>
            </a:r>
          </a:p>
          <a:p>
            <a:pPr lvl="1"/>
            <a:r>
              <a:rPr lang="en-US" altLang="en-US" dirty="0" smtClean="0"/>
              <a:t>However, If P continues, the logical condition for which Q was waiting may no longer hold by the time Q is resumed</a:t>
            </a:r>
          </a:p>
          <a:p>
            <a:r>
              <a:rPr lang="en-US" altLang="en-US" dirty="0" smtClean="0"/>
              <a:t>Both have pros and cons – language implementer can decide</a:t>
            </a:r>
          </a:p>
          <a:p>
            <a:r>
              <a:rPr lang="en-US" altLang="en-US" dirty="0" smtClean="0"/>
              <a:t>Monitors implemented in Concurrent Pascal compromise</a:t>
            </a:r>
          </a:p>
          <a:p>
            <a:pPr lvl="1"/>
            <a:r>
              <a:rPr lang="en-US" altLang="en-US" dirty="0" smtClean="0">
                <a:solidFill>
                  <a:srgbClr val="C00000"/>
                </a:solidFill>
              </a:rPr>
              <a:t>P executing signal immediately leaves the monitor, Q is resumed</a:t>
            </a:r>
          </a:p>
          <a:p>
            <a:r>
              <a:rPr lang="en-US" altLang="en-US" dirty="0" smtClean="0"/>
              <a:t>Implemented in other languages including Mesa, C#, Java</a:t>
            </a:r>
          </a:p>
          <a:p>
            <a:endParaRPr lang="en-US" altLang="en-US" dirty="0" smtClean="0"/>
          </a:p>
        </p:txBody>
      </p:sp>
    </p:spTree>
    <p:extLst>
      <p:ext uri="{BB962C8B-B14F-4D97-AF65-F5344CB8AC3E}">
        <p14:creationId xmlns:p14="http://schemas.microsoft.com/office/powerpoint/2010/main" val="2838498597"/>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4286" y="3271612"/>
            <a:ext cx="3875314" cy="647246"/>
          </a:xfrm>
        </p:spPr>
        <p:txBody>
          <a:bodyPr>
            <a:normAutofit fontScale="90000"/>
          </a:bodyPr>
          <a:lstStyle/>
          <a:p>
            <a:r>
              <a:rPr lang="en-IN" dirty="0" smtClean="0">
                <a:solidFill>
                  <a:srgbClr val="C00000"/>
                </a:solidFill>
                <a:latin typeface="Marcellus"/>
              </a:rPr>
              <a:t>Monitor control structure</a:t>
            </a:r>
            <a:endParaRPr lang="en-IN" dirty="0">
              <a:solidFill>
                <a:srgbClr val="C00000"/>
              </a:solidFill>
              <a:latin typeface="Marcellus"/>
            </a:endParaRPr>
          </a:p>
        </p:txBody>
      </p:sp>
      <p:sp>
        <p:nvSpPr>
          <p:cNvPr id="3" name="Content Placeholder 2"/>
          <p:cNvSpPr>
            <a:spLocks noGrp="1"/>
          </p:cNvSpPr>
          <p:nvPr>
            <p:ph idx="1"/>
          </p:nvPr>
        </p:nvSpPr>
        <p:spPr>
          <a:xfrm>
            <a:off x="478972" y="241753"/>
            <a:ext cx="10515600" cy="6289675"/>
          </a:xfrm>
        </p:spPr>
        <p:txBody>
          <a:bodyPr>
            <a:normAutofit fontScale="25000" lnSpcReduction="20000"/>
          </a:bodyPr>
          <a:lstStyle/>
          <a:p>
            <a:pPr marL="0" indent="0">
              <a:spcBef>
                <a:spcPts val="400"/>
              </a:spcBef>
              <a:buNone/>
            </a:pPr>
            <a:r>
              <a:rPr lang="en-US" sz="5600" dirty="0">
                <a:latin typeface="Fira sans"/>
              </a:rPr>
              <a:t>monitor &lt;</a:t>
            </a:r>
            <a:r>
              <a:rPr lang="en-US" sz="5600" dirty="0" err="1">
                <a:latin typeface="Fira sans"/>
              </a:rPr>
              <a:t>MonitorName</a:t>
            </a:r>
            <a:r>
              <a:rPr lang="en-US" sz="5600" dirty="0">
                <a:latin typeface="Fira sans"/>
              </a:rPr>
              <a:t>&gt; {</a:t>
            </a:r>
          </a:p>
          <a:p>
            <a:pPr marL="0" indent="0">
              <a:spcBef>
                <a:spcPts val="400"/>
              </a:spcBef>
              <a:buNone/>
            </a:pPr>
            <a:r>
              <a:rPr lang="en-US" sz="5600" dirty="0">
                <a:latin typeface="Fira sans"/>
              </a:rPr>
              <a:t>  </a:t>
            </a:r>
          </a:p>
          <a:p>
            <a:pPr marL="0" indent="0">
              <a:spcBef>
                <a:spcPts val="400"/>
              </a:spcBef>
              <a:buNone/>
            </a:pPr>
            <a:r>
              <a:rPr lang="en-US" sz="5600" dirty="0">
                <a:latin typeface="Fira sans"/>
              </a:rPr>
              <a:t>  // Shared resources (variables, data structures) are declared as private</a:t>
            </a:r>
          </a:p>
          <a:p>
            <a:pPr marL="0" indent="0">
              <a:spcBef>
                <a:spcPts val="400"/>
              </a:spcBef>
              <a:buNone/>
            </a:pPr>
            <a:r>
              <a:rPr lang="en-US" sz="5600" dirty="0">
                <a:latin typeface="Fira sans"/>
              </a:rPr>
              <a:t>  private:</a:t>
            </a:r>
          </a:p>
          <a:p>
            <a:pPr marL="0" indent="0">
              <a:spcBef>
                <a:spcPts val="400"/>
              </a:spcBef>
              <a:buNone/>
            </a:pPr>
            <a:r>
              <a:rPr lang="en-US" sz="5600" dirty="0">
                <a:latin typeface="Fira sans"/>
              </a:rPr>
              <a:t>    &lt;shared variables&gt;;</a:t>
            </a:r>
          </a:p>
          <a:p>
            <a:pPr marL="0" indent="0">
              <a:spcBef>
                <a:spcPts val="400"/>
              </a:spcBef>
              <a:buNone/>
            </a:pPr>
            <a:endParaRPr lang="en-US" sz="5600" dirty="0">
              <a:latin typeface="Fira sans"/>
            </a:endParaRPr>
          </a:p>
          <a:p>
            <a:pPr marL="0" indent="0">
              <a:spcBef>
                <a:spcPts val="400"/>
              </a:spcBef>
              <a:buNone/>
            </a:pPr>
            <a:r>
              <a:rPr lang="en-US" sz="5600" dirty="0">
                <a:latin typeface="Fira sans"/>
              </a:rPr>
              <a:t>  // Condition variables to manage synchronization</a:t>
            </a:r>
          </a:p>
          <a:p>
            <a:pPr marL="0" indent="0">
              <a:spcBef>
                <a:spcPts val="400"/>
              </a:spcBef>
              <a:buNone/>
            </a:pPr>
            <a:r>
              <a:rPr lang="en-US" sz="5600" dirty="0">
                <a:latin typeface="Fira sans"/>
              </a:rPr>
              <a:t>  condition &lt;ConditionVariable1&gt;;</a:t>
            </a:r>
          </a:p>
          <a:p>
            <a:pPr marL="0" indent="0">
              <a:spcBef>
                <a:spcPts val="400"/>
              </a:spcBef>
              <a:buNone/>
            </a:pPr>
            <a:r>
              <a:rPr lang="en-US" sz="5600" dirty="0">
                <a:latin typeface="Fira sans"/>
              </a:rPr>
              <a:t>  condition &lt;ConditionVariable2&gt;;</a:t>
            </a:r>
          </a:p>
          <a:p>
            <a:pPr marL="0" indent="0">
              <a:spcBef>
                <a:spcPts val="400"/>
              </a:spcBef>
              <a:buNone/>
            </a:pPr>
            <a:r>
              <a:rPr lang="en-US" sz="5600" dirty="0">
                <a:latin typeface="Fira sans"/>
              </a:rPr>
              <a:t>  // More condition variables as needed</a:t>
            </a:r>
          </a:p>
          <a:p>
            <a:pPr marL="0" indent="0">
              <a:spcBef>
                <a:spcPts val="400"/>
              </a:spcBef>
              <a:buNone/>
            </a:pPr>
            <a:endParaRPr lang="en-US" sz="5600" dirty="0">
              <a:latin typeface="Fira sans"/>
            </a:endParaRPr>
          </a:p>
          <a:p>
            <a:pPr marL="0" indent="0">
              <a:spcBef>
                <a:spcPts val="400"/>
              </a:spcBef>
              <a:buNone/>
            </a:pPr>
            <a:r>
              <a:rPr lang="en-US" sz="5600" dirty="0">
                <a:latin typeface="Fira sans"/>
              </a:rPr>
              <a:t>  // Entry procedures (only one thread is allowed to execute one of these at a time)</a:t>
            </a:r>
          </a:p>
          <a:p>
            <a:pPr marL="0" indent="0">
              <a:spcBef>
                <a:spcPts val="400"/>
              </a:spcBef>
              <a:buNone/>
            </a:pPr>
            <a:r>
              <a:rPr lang="en-US" sz="5600" dirty="0">
                <a:latin typeface="Fira sans"/>
              </a:rPr>
              <a:t>  public:</a:t>
            </a:r>
          </a:p>
          <a:p>
            <a:pPr marL="0" indent="0">
              <a:spcBef>
                <a:spcPts val="400"/>
              </a:spcBef>
              <a:buNone/>
            </a:pPr>
            <a:r>
              <a:rPr lang="en-US" sz="5600" dirty="0">
                <a:latin typeface="Fira sans"/>
              </a:rPr>
              <a:t>    procedure &lt;Operation1&gt;(parameters) {</a:t>
            </a:r>
          </a:p>
          <a:p>
            <a:pPr marL="0" indent="0">
              <a:spcBef>
                <a:spcPts val="400"/>
              </a:spcBef>
              <a:buNone/>
            </a:pPr>
            <a:r>
              <a:rPr lang="en-US" sz="5600" dirty="0">
                <a:latin typeface="Fira sans"/>
              </a:rPr>
              <a:t>      // Synchronization logic</a:t>
            </a:r>
          </a:p>
          <a:p>
            <a:pPr marL="0" indent="0">
              <a:spcBef>
                <a:spcPts val="400"/>
              </a:spcBef>
              <a:buNone/>
            </a:pPr>
            <a:r>
              <a:rPr lang="en-US" sz="5600" dirty="0">
                <a:latin typeface="Fira sans"/>
              </a:rPr>
              <a:t>      // Access shared resources</a:t>
            </a:r>
          </a:p>
          <a:p>
            <a:pPr marL="0" indent="0">
              <a:spcBef>
                <a:spcPts val="400"/>
              </a:spcBef>
              <a:buNone/>
            </a:pPr>
            <a:r>
              <a:rPr lang="en-US" sz="5600" dirty="0">
                <a:latin typeface="Fira sans"/>
              </a:rPr>
              <a:t>      // Possibly wait or signal condition variables</a:t>
            </a:r>
          </a:p>
          <a:p>
            <a:pPr marL="0" indent="0">
              <a:spcBef>
                <a:spcPts val="400"/>
              </a:spcBef>
              <a:buNone/>
            </a:pPr>
            <a:r>
              <a:rPr lang="en-US" sz="5600" dirty="0">
                <a:latin typeface="Fira sans"/>
              </a:rPr>
              <a:t>    }</a:t>
            </a:r>
          </a:p>
          <a:p>
            <a:pPr marL="0" indent="0">
              <a:spcBef>
                <a:spcPts val="400"/>
              </a:spcBef>
              <a:buNone/>
            </a:pPr>
            <a:endParaRPr lang="en-US" sz="5600" dirty="0">
              <a:latin typeface="Fira sans"/>
            </a:endParaRPr>
          </a:p>
          <a:p>
            <a:pPr marL="0" indent="0">
              <a:spcBef>
                <a:spcPts val="400"/>
              </a:spcBef>
              <a:buNone/>
            </a:pPr>
            <a:r>
              <a:rPr lang="en-US" sz="5600" dirty="0">
                <a:latin typeface="Fira sans"/>
              </a:rPr>
              <a:t>    procedure &lt;Operation2&gt;(parameters) {</a:t>
            </a:r>
          </a:p>
          <a:p>
            <a:pPr marL="0" indent="0">
              <a:spcBef>
                <a:spcPts val="400"/>
              </a:spcBef>
              <a:buNone/>
            </a:pPr>
            <a:r>
              <a:rPr lang="en-US" sz="5600" dirty="0">
                <a:latin typeface="Fira sans"/>
              </a:rPr>
              <a:t>      // Synchronization logic</a:t>
            </a:r>
          </a:p>
          <a:p>
            <a:pPr marL="0" indent="0">
              <a:spcBef>
                <a:spcPts val="400"/>
              </a:spcBef>
              <a:buNone/>
            </a:pPr>
            <a:r>
              <a:rPr lang="en-US" sz="5600" dirty="0">
                <a:latin typeface="Fira sans"/>
              </a:rPr>
              <a:t>      // Access shared resources</a:t>
            </a:r>
          </a:p>
          <a:p>
            <a:pPr marL="0" indent="0">
              <a:spcBef>
                <a:spcPts val="400"/>
              </a:spcBef>
              <a:buNone/>
            </a:pPr>
            <a:r>
              <a:rPr lang="en-US" sz="5600" dirty="0">
                <a:latin typeface="Fira sans"/>
              </a:rPr>
              <a:t>      // Possibly wait or signal condition variables</a:t>
            </a:r>
          </a:p>
          <a:p>
            <a:pPr marL="0" indent="0">
              <a:spcBef>
                <a:spcPts val="400"/>
              </a:spcBef>
              <a:buNone/>
            </a:pPr>
            <a:r>
              <a:rPr lang="en-US" sz="5600" dirty="0">
                <a:latin typeface="Fira sans"/>
              </a:rPr>
              <a:t>    }</a:t>
            </a:r>
          </a:p>
          <a:p>
            <a:pPr marL="0" indent="0">
              <a:spcBef>
                <a:spcPts val="400"/>
              </a:spcBef>
              <a:buNone/>
            </a:pPr>
            <a:endParaRPr lang="en-US" sz="5600" dirty="0">
              <a:latin typeface="Fira sans"/>
            </a:endParaRPr>
          </a:p>
          <a:p>
            <a:pPr marL="0" indent="0">
              <a:spcBef>
                <a:spcPts val="400"/>
              </a:spcBef>
              <a:buNone/>
            </a:pPr>
            <a:r>
              <a:rPr lang="en-US" sz="5600" dirty="0">
                <a:latin typeface="Fira sans"/>
              </a:rPr>
              <a:t>  // Initialization procedure to initialize shared resources</a:t>
            </a:r>
          </a:p>
          <a:p>
            <a:pPr marL="0" indent="0">
              <a:spcBef>
                <a:spcPts val="400"/>
              </a:spcBef>
              <a:buNone/>
            </a:pPr>
            <a:r>
              <a:rPr lang="en-US" sz="5600" dirty="0">
                <a:latin typeface="Fira sans"/>
              </a:rPr>
              <a:t>  procedure </a:t>
            </a:r>
            <a:r>
              <a:rPr lang="en-US" sz="5600" dirty="0" err="1">
                <a:latin typeface="Fira sans"/>
              </a:rPr>
              <a:t>Init</a:t>
            </a:r>
            <a:r>
              <a:rPr lang="en-US" sz="5600" dirty="0">
                <a:latin typeface="Fira sans"/>
              </a:rPr>
              <a:t>() {</a:t>
            </a:r>
          </a:p>
          <a:p>
            <a:pPr marL="0" indent="0">
              <a:spcBef>
                <a:spcPts val="400"/>
              </a:spcBef>
              <a:buNone/>
            </a:pPr>
            <a:r>
              <a:rPr lang="en-US" sz="5600" dirty="0">
                <a:latin typeface="Fira sans"/>
              </a:rPr>
              <a:t>    // Initialize shared resources</a:t>
            </a:r>
          </a:p>
          <a:p>
            <a:pPr marL="0" indent="0">
              <a:spcBef>
                <a:spcPts val="400"/>
              </a:spcBef>
              <a:buNone/>
            </a:pPr>
            <a:r>
              <a:rPr lang="en-US" sz="5600" dirty="0">
                <a:latin typeface="Fira sans"/>
              </a:rPr>
              <a:t>  }</a:t>
            </a:r>
          </a:p>
          <a:p>
            <a:pPr marL="0" indent="0">
              <a:spcBef>
                <a:spcPts val="400"/>
              </a:spcBef>
              <a:buNone/>
            </a:pPr>
            <a:r>
              <a:rPr lang="en-US" sz="5600" dirty="0">
                <a:latin typeface="Fira sans"/>
              </a:rPr>
              <a:t>  </a:t>
            </a:r>
          </a:p>
          <a:p>
            <a:pPr marL="0" indent="0">
              <a:spcBef>
                <a:spcPts val="400"/>
              </a:spcBef>
              <a:buNone/>
            </a:pPr>
            <a:r>
              <a:rPr lang="en-US" sz="5600" dirty="0">
                <a:latin typeface="Fira sans"/>
              </a:rPr>
              <a:t>}</a:t>
            </a:r>
          </a:p>
          <a:p>
            <a:pPr marL="0" indent="0">
              <a:spcBef>
                <a:spcPts val="400"/>
              </a:spcBef>
              <a:buNone/>
            </a:pPr>
            <a:endParaRPr lang="en-IN" dirty="0"/>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spTree>
    <p:extLst>
      <p:ext uri="{BB962C8B-B14F-4D97-AF65-F5344CB8AC3E}">
        <p14:creationId xmlns:p14="http://schemas.microsoft.com/office/powerpoint/2010/main" val="3556974374"/>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36072" y="192768"/>
            <a:ext cx="5693227" cy="6534604"/>
          </a:xfrm>
        </p:spPr>
        <p:txBody>
          <a:bodyPr>
            <a:normAutofit fontScale="47500" lnSpcReduction="20000"/>
          </a:bodyPr>
          <a:lstStyle/>
          <a:p>
            <a:pPr marL="0" indent="0">
              <a:spcBef>
                <a:spcPts val="400"/>
              </a:spcBef>
              <a:buNone/>
            </a:pPr>
            <a:r>
              <a:rPr lang="en-IN" dirty="0">
                <a:latin typeface="Fira sans"/>
              </a:rPr>
              <a:t>// Monitor Structure</a:t>
            </a:r>
          </a:p>
          <a:p>
            <a:pPr marL="0" indent="0">
              <a:spcBef>
                <a:spcPts val="400"/>
              </a:spcBef>
              <a:buNone/>
            </a:pPr>
            <a:r>
              <a:rPr lang="en-IN" dirty="0">
                <a:latin typeface="Fira sans"/>
              </a:rPr>
              <a:t>monitor </a:t>
            </a:r>
            <a:r>
              <a:rPr lang="en-IN" dirty="0" err="1">
                <a:latin typeface="Fira sans"/>
              </a:rPr>
              <a:t>BoundedBuffer</a:t>
            </a:r>
            <a:r>
              <a:rPr lang="en-IN" dirty="0">
                <a:latin typeface="Fira sans"/>
              </a:rPr>
              <a:t> {</a:t>
            </a:r>
          </a:p>
          <a:p>
            <a:pPr marL="0" indent="0">
              <a:spcBef>
                <a:spcPts val="400"/>
              </a:spcBef>
              <a:buNone/>
            </a:pPr>
            <a:r>
              <a:rPr lang="en-IN" dirty="0">
                <a:latin typeface="Fira sans"/>
              </a:rPr>
              <a:t>    condition </a:t>
            </a:r>
            <a:r>
              <a:rPr lang="en-IN" dirty="0" err="1">
                <a:latin typeface="Fira sans"/>
              </a:rPr>
              <a:t>not_full</a:t>
            </a:r>
            <a:r>
              <a:rPr lang="en-IN" dirty="0">
                <a:latin typeface="Fira sans"/>
              </a:rPr>
              <a:t>;   // Condition variable for buffer not being full</a:t>
            </a:r>
          </a:p>
          <a:p>
            <a:pPr marL="0" indent="0">
              <a:spcBef>
                <a:spcPts val="400"/>
              </a:spcBef>
              <a:buNone/>
            </a:pPr>
            <a:r>
              <a:rPr lang="en-IN" dirty="0">
                <a:latin typeface="Fira sans"/>
              </a:rPr>
              <a:t>    condition </a:t>
            </a:r>
            <a:r>
              <a:rPr lang="en-IN" dirty="0" err="1">
                <a:latin typeface="Fira sans"/>
              </a:rPr>
              <a:t>not_empty</a:t>
            </a:r>
            <a:r>
              <a:rPr lang="en-IN" dirty="0">
                <a:latin typeface="Fira sans"/>
              </a:rPr>
              <a:t>;  // Condition variable for buffer not being empty</a:t>
            </a:r>
          </a:p>
          <a:p>
            <a:pPr marL="0" indent="0">
              <a:spcBef>
                <a:spcPts val="400"/>
              </a:spcBef>
              <a:buNone/>
            </a:pPr>
            <a:r>
              <a:rPr lang="en-IN" dirty="0">
                <a:latin typeface="Fira sans"/>
              </a:rPr>
              <a:t>    item buffer[MAX_SIZE]; // The shared buffer</a:t>
            </a:r>
          </a:p>
          <a:p>
            <a:pPr marL="0" indent="0">
              <a:spcBef>
                <a:spcPts val="400"/>
              </a:spcBef>
              <a:buNone/>
            </a:pPr>
            <a:r>
              <a:rPr lang="en-IN" dirty="0">
                <a:latin typeface="Fira sans"/>
              </a:rPr>
              <a:t>    </a:t>
            </a:r>
            <a:r>
              <a:rPr lang="en-IN" dirty="0" err="1">
                <a:latin typeface="Fira sans"/>
              </a:rPr>
              <a:t>int</a:t>
            </a:r>
            <a:r>
              <a:rPr lang="en-IN" dirty="0">
                <a:latin typeface="Fira sans"/>
              </a:rPr>
              <a:t> in = 0, out = 0, count = 0; // Pointers and count for the circular buffer</a:t>
            </a:r>
          </a:p>
          <a:p>
            <a:pPr marL="0" indent="0">
              <a:spcBef>
                <a:spcPts val="400"/>
              </a:spcBef>
              <a:buNone/>
            </a:pPr>
            <a:r>
              <a:rPr lang="en-IN" dirty="0">
                <a:latin typeface="Fira sans"/>
              </a:rPr>
              <a:t> </a:t>
            </a:r>
          </a:p>
          <a:p>
            <a:pPr marL="0" indent="0">
              <a:spcBef>
                <a:spcPts val="400"/>
              </a:spcBef>
              <a:buNone/>
            </a:pPr>
            <a:r>
              <a:rPr lang="en-IN" dirty="0">
                <a:latin typeface="Fira sans"/>
              </a:rPr>
              <a:t>    // Add an item to the buffer (Producer)</a:t>
            </a:r>
          </a:p>
          <a:p>
            <a:pPr marL="0" indent="0">
              <a:spcBef>
                <a:spcPts val="400"/>
              </a:spcBef>
              <a:buNone/>
            </a:pPr>
            <a:r>
              <a:rPr lang="en-IN" dirty="0">
                <a:latin typeface="Fira sans"/>
              </a:rPr>
              <a:t>    procedure </a:t>
            </a:r>
            <a:r>
              <a:rPr lang="en-IN" dirty="0" err="1">
                <a:latin typeface="Fira sans"/>
              </a:rPr>
              <a:t>add_item</a:t>
            </a:r>
            <a:r>
              <a:rPr lang="en-IN" dirty="0">
                <a:latin typeface="Fira sans"/>
              </a:rPr>
              <a:t>(item x) {</a:t>
            </a:r>
          </a:p>
          <a:p>
            <a:pPr marL="0" indent="0">
              <a:spcBef>
                <a:spcPts val="400"/>
              </a:spcBef>
              <a:buNone/>
            </a:pPr>
            <a:r>
              <a:rPr lang="en-IN" dirty="0">
                <a:latin typeface="Fira sans"/>
              </a:rPr>
              <a:t>        if (count == </a:t>
            </a:r>
            <a:r>
              <a:rPr lang="en-IN" dirty="0" smtClean="0">
                <a:latin typeface="Fira sans"/>
              </a:rPr>
              <a:t>MAX_SIZE) </a:t>
            </a:r>
            <a:r>
              <a:rPr lang="en-IN" dirty="0">
                <a:latin typeface="Fira sans"/>
              </a:rPr>
              <a:t>{</a:t>
            </a:r>
          </a:p>
          <a:p>
            <a:pPr marL="0" indent="0">
              <a:spcBef>
                <a:spcPts val="400"/>
              </a:spcBef>
              <a:buNone/>
            </a:pPr>
            <a:r>
              <a:rPr lang="en-IN" dirty="0">
                <a:latin typeface="Fira sans"/>
              </a:rPr>
              <a:t>            wait(</a:t>
            </a:r>
            <a:r>
              <a:rPr lang="en-IN" dirty="0" err="1">
                <a:latin typeface="Fira sans"/>
              </a:rPr>
              <a:t>not_full</a:t>
            </a:r>
            <a:r>
              <a:rPr lang="en-IN" dirty="0">
                <a:latin typeface="Fira sans"/>
              </a:rPr>
              <a:t>); // Wait until there is space in the buffer</a:t>
            </a:r>
          </a:p>
          <a:p>
            <a:pPr marL="0" indent="0">
              <a:spcBef>
                <a:spcPts val="400"/>
              </a:spcBef>
              <a:buNone/>
            </a:pPr>
            <a:r>
              <a:rPr lang="en-IN" dirty="0">
                <a:latin typeface="Fira sans"/>
              </a:rPr>
              <a:t>        }</a:t>
            </a:r>
          </a:p>
          <a:p>
            <a:pPr marL="0" indent="0">
              <a:spcBef>
                <a:spcPts val="400"/>
              </a:spcBef>
              <a:buNone/>
            </a:pPr>
            <a:r>
              <a:rPr lang="en-IN" dirty="0">
                <a:latin typeface="Fira sans"/>
              </a:rPr>
              <a:t>        buffer[in] = x;           // Add the item to the buffer</a:t>
            </a:r>
          </a:p>
          <a:p>
            <a:pPr marL="0" indent="0">
              <a:spcBef>
                <a:spcPts val="400"/>
              </a:spcBef>
              <a:buNone/>
            </a:pPr>
            <a:r>
              <a:rPr lang="en-IN" dirty="0">
                <a:latin typeface="Fira sans"/>
              </a:rPr>
              <a:t>        in = (in + 1) % MAX_SIZE; // Circular buffer</a:t>
            </a:r>
          </a:p>
          <a:p>
            <a:pPr marL="0" indent="0">
              <a:spcBef>
                <a:spcPts val="400"/>
              </a:spcBef>
              <a:buNone/>
            </a:pPr>
            <a:r>
              <a:rPr lang="en-IN" dirty="0">
                <a:latin typeface="Fira sans"/>
              </a:rPr>
              <a:t>        count++;                  // Update the count</a:t>
            </a:r>
          </a:p>
          <a:p>
            <a:pPr marL="0" indent="0">
              <a:spcBef>
                <a:spcPts val="400"/>
              </a:spcBef>
              <a:buNone/>
            </a:pPr>
            <a:r>
              <a:rPr lang="en-IN" dirty="0">
                <a:latin typeface="Fira sans"/>
              </a:rPr>
              <a:t> </a:t>
            </a:r>
          </a:p>
          <a:p>
            <a:pPr marL="0" indent="0">
              <a:spcBef>
                <a:spcPts val="400"/>
              </a:spcBef>
              <a:buNone/>
            </a:pPr>
            <a:r>
              <a:rPr lang="en-IN" dirty="0">
                <a:latin typeface="Fira sans"/>
              </a:rPr>
              <a:t>        signal(</a:t>
            </a:r>
            <a:r>
              <a:rPr lang="en-IN" dirty="0" err="1">
                <a:latin typeface="Fira sans"/>
              </a:rPr>
              <a:t>not_empty</a:t>
            </a:r>
            <a:r>
              <a:rPr lang="en-IN" dirty="0">
                <a:latin typeface="Fira sans"/>
              </a:rPr>
              <a:t>);        // Signal that buffer is no longer empty</a:t>
            </a:r>
          </a:p>
          <a:p>
            <a:pPr marL="0" indent="0">
              <a:spcBef>
                <a:spcPts val="400"/>
              </a:spcBef>
              <a:buNone/>
            </a:pPr>
            <a:r>
              <a:rPr lang="en-IN" dirty="0">
                <a:latin typeface="Fira sans"/>
              </a:rPr>
              <a:t>    }  //  procedure </a:t>
            </a:r>
            <a:r>
              <a:rPr lang="en-IN" dirty="0" err="1" smtClean="0">
                <a:latin typeface="Fira sans"/>
              </a:rPr>
              <a:t>add_item</a:t>
            </a:r>
            <a:endParaRPr lang="en-IN" dirty="0">
              <a:latin typeface="Fira sans"/>
            </a:endParaRPr>
          </a:p>
          <a:p>
            <a:pPr marL="0" indent="0">
              <a:spcBef>
                <a:spcPts val="400"/>
              </a:spcBef>
              <a:buNone/>
            </a:pPr>
            <a:r>
              <a:rPr lang="en-IN" dirty="0">
                <a:latin typeface="Fira sans"/>
              </a:rPr>
              <a:t> </a:t>
            </a:r>
          </a:p>
          <a:p>
            <a:pPr marL="0" indent="0">
              <a:spcBef>
                <a:spcPts val="400"/>
              </a:spcBef>
              <a:buNone/>
            </a:pPr>
            <a:r>
              <a:rPr lang="en-IN" dirty="0">
                <a:latin typeface="Fira sans"/>
              </a:rPr>
              <a:t>    // Remove an item from the buffer (Consumer)</a:t>
            </a:r>
          </a:p>
          <a:p>
            <a:pPr marL="0" indent="0">
              <a:spcBef>
                <a:spcPts val="400"/>
              </a:spcBef>
              <a:buNone/>
            </a:pPr>
            <a:r>
              <a:rPr lang="en-IN" dirty="0">
                <a:latin typeface="Fira sans"/>
              </a:rPr>
              <a:t>    procedure </a:t>
            </a:r>
            <a:r>
              <a:rPr lang="en-IN" dirty="0" err="1">
                <a:latin typeface="Fira sans"/>
              </a:rPr>
              <a:t>remove_item</a:t>
            </a:r>
            <a:r>
              <a:rPr lang="en-IN" dirty="0">
                <a:latin typeface="Fira sans"/>
              </a:rPr>
              <a:t>() -&gt; item {</a:t>
            </a:r>
          </a:p>
          <a:p>
            <a:pPr marL="0" indent="0">
              <a:spcBef>
                <a:spcPts val="400"/>
              </a:spcBef>
              <a:buNone/>
            </a:pPr>
            <a:r>
              <a:rPr lang="en-IN" dirty="0">
                <a:latin typeface="Fira sans"/>
              </a:rPr>
              <a:t>        if (count == 0) {</a:t>
            </a:r>
          </a:p>
          <a:p>
            <a:pPr marL="0" indent="0">
              <a:spcBef>
                <a:spcPts val="400"/>
              </a:spcBef>
              <a:buNone/>
            </a:pPr>
            <a:r>
              <a:rPr lang="en-IN" dirty="0">
                <a:latin typeface="Fira sans"/>
              </a:rPr>
              <a:t>            wait(</a:t>
            </a:r>
            <a:r>
              <a:rPr lang="en-IN" dirty="0" err="1">
                <a:latin typeface="Fira sans"/>
              </a:rPr>
              <a:t>not_empty</a:t>
            </a:r>
            <a:r>
              <a:rPr lang="en-IN" dirty="0">
                <a:latin typeface="Fira sans"/>
              </a:rPr>
              <a:t>); // Wait until there is an item in the buffer</a:t>
            </a:r>
          </a:p>
          <a:p>
            <a:pPr marL="0" indent="0">
              <a:spcBef>
                <a:spcPts val="400"/>
              </a:spcBef>
              <a:buNone/>
            </a:pPr>
            <a:r>
              <a:rPr lang="en-IN" dirty="0">
                <a:latin typeface="Fira sans"/>
              </a:rPr>
              <a:t>        }</a:t>
            </a:r>
          </a:p>
          <a:p>
            <a:pPr marL="0" indent="0">
              <a:spcBef>
                <a:spcPts val="400"/>
              </a:spcBef>
              <a:buNone/>
            </a:pPr>
            <a:r>
              <a:rPr lang="en-IN" dirty="0">
                <a:latin typeface="Fira sans"/>
              </a:rPr>
              <a:t>        item x = buffer[out];     // Remove the item from the buffer</a:t>
            </a:r>
          </a:p>
          <a:p>
            <a:pPr marL="0" indent="0">
              <a:spcBef>
                <a:spcPts val="400"/>
              </a:spcBef>
              <a:buNone/>
            </a:pPr>
            <a:r>
              <a:rPr lang="en-IN" dirty="0">
                <a:latin typeface="Fira sans"/>
              </a:rPr>
              <a:t>        out = (out + 1) % MAX_SIZE; // Circular buffer</a:t>
            </a:r>
          </a:p>
          <a:p>
            <a:pPr marL="0" indent="0">
              <a:spcBef>
                <a:spcPts val="400"/>
              </a:spcBef>
              <a:buNone/>
            </a:pPr>
            <a:r>
              <a:rPr lang="en-IN" dirty="0">
                <a:latin typeface="Fira sans"/>
              </a:rPr>
              <a:t>        count--;                  // Update the count</a:t>
            </a:r>
          </a:p>
          <a:p>
            <a:pPr marL="0" indent="0">
              <a:spcBef>
                <a:spcPts val="400"/>
              </a:spcBef>
              <a:buNone/>
            </a:pPr>
            <a:r>
              <a:rPr lang="en-IN" dirty="0">
                <a:latin typeface="Fira sans"/>
              </a:rPr>
              <a:t>        signal(</a:t>
            </a:r>
            <a:r>
              <a:rPr lang="en-IN" dirty="0" err="1">
                <a:latin typeface="Fira sans"/>
              </a:rPr>
              <a:t>not_full</a:t>
            </a:r>
            <a:r>
              <a:rPr lang="en-IN" dirty="0">
                <a:latin typeface="Fira sans"/>
              </a:rPr>
              <a:t>);         // Signal that buffer is no longer full</a:t>
            </a:r>
          </a:p>
          <a:p>
            <a:pPr marL="0" indent="0">
              <a:spcBef>
                <a:spcPts val="400"/>
              </a:spcBef>
              <a:buNone/>
            </a:pPr>
            <a:r>
              <a:rPr lang="en-IN" dirty="0">
                <a:latin typeface="Fira sans"/>
              </a:rPr>
              <a:t>        return x;</a:t>
            </a:r>
          </a:p>
          <a:p>
            <a:pPr marL="0" indent="0">
              <a:spcBef>
                <a:spcPts val="400"/>
              </a:spcBef>
              <a:buNone/>
            </a:pPr>
            <a:r>
              <a:rPr lang="en-IN" dirty="0">
                <a:latin typeface="Fira sans"/>
              </a:rPr>
              <a:t>    </a:t>
            </a:r>
            <a:r>
              <a:rPr lang="en-IN" dirty="0" smtClean="0">
                <a:latin typeface="Fira sans"/>
              </a:rPr>
              <a:t>} //</a:t>
            </a:r>
            <a:r>
              <a:rPr lang="en-IN" dirty="0">
                <a:latin typeface="Fira sans"/>
              </a:rPr>
              <a:t> procedure </a:t>
            </a:r>
            <a:r>
              <a:rPr lang="en-IN" dirty="0" err="1">
                <a:latin typeface="Fira sans"/>
              </a:rPr>
              <a:t>remove_item</a:t>
            </a:r>
            <a:endParaRPr lang="en-IN" dirty="0">
              <a:latin typeface="Fira sans"/>
            </a:endParaRPr>
          </a:p>
          <a:p>
            <a:pPr marL="0" indent="0">
              <a:spcBef>
                <a:spcPts val="400"/>
              </a:spcBef>
              <a:buNone/>
            </a:pPr>
            <a:r>
              <a:rPr lang="en-IN" dirty="0" smtClean="0">
                <a:latin typeface="Fira sans"/>
              </a:rPr>
              <a:t>} // monitor</a:t>
            </a:r>
            <a:endParaRPr lang="en-IN" dirty="0">
              <a:latin typeface="Fira sans"/>
            </a:endParaRPr>
          </a:p>
        </p:txBody>
      </p:sp>
      <p:sp>
        <p:nvSpPr>
          <p:cNvPr id="6" name="Content Placeholder 5"/>
          <p:cNvSpPr>
            <a:spLocks noGrp="1"/>
          </p:cNvSpPr>
          <p:nvPr>
            <p:ph sz="half" idx="2"/>
          </p:nvPr>
        </p:nvSpPr>
        <p:spPr>
          <a:xfrm>
            <a:off x="6362700" y="682625"/>
            <a:ext cx="5829300" cy="5750832"/>
          </a:xfrm>
        </p:spPr>
        <p:txBody>
          <a:bodyPr>
            <a:normAutofit fontScale="47500" lnSpcReduction="20000"/>
          </a:bodyPr>
          <a:lstStyle/>
          <a:p>
            <a:pPr marL="0" indent="0">
              <a:spcBef>
                <a:spcPts val="400"/>
              </a:spcBef>
              <a:buNone/>
            </a:pPr>
            <a:r>
              <a:rPr lang="en-IN" sz="4200" dirty="0">
                <a:latin typeface="Fira sans"/>
              </a:rPr>
              <a:t>// Producer</a:t>
            </a:r>
          </a:p>
          <a:p>
            <a:pPr marL="0" indent="0">
              <a:spcBef>
                <a:spcPts val="400"/>
              </a:spcBef>
              <a:buNone/>
            </a:pPr>
            <a:r>
              <a:rPr lang="en-IN" sz="4200" dirty="0">
                <a:latin typeface="Fira sans"/>
              </a:rPr>
              <a:t>function producer() {</a:t>
            </a:r>
          </a:p>
          <a:p>
            <a:pPr marL="0" indent="0">
              <a:spcBef>
                <a:spcPts val="400"/>
              </a:spcBef>
              <a:buNone/>
            </a:pPr>
            <a:r>
              <a:rPr lang="en-IN" sz="4200" dirty="0">
                <a:latin typeface="Fira sans"/>
              </a:rPr>
              <a:t>    while (true) {</a:t>
            </a:r>
          </a:p>
          <a:p>
            <a:pPr marL="0" indent="0">
              <a:spcBef>
                <a:spcPts val="400"/>
              </a:spcBef>
              <a:buNone/>
            </a:pPr>
            <a:r>
              <a:rPr lang="en-IN" sz="4200" dirty="0">
                <a:latin typeface="Fira sans"/>
              </a:rPr>
              <a:t>        item = </a:t>
            </a:r>
            <a:r>
              <a:rPr lang="en-IN" sz="4200" dirty="0" err="1">
                <a:latin typeface="Fira sans"/>
              </a:rPr>
              <a:t>produce_item</a:t>
            </a:r>
            <a:r>
              <a:rPr lang="en-IN" sz="4200" dirty="0">
                <a:latin typeface="Fira sans"/>
              </a:rPr>
              <a:t>(); // Produce an item</a:t>
            </a:r>
          </a:p>
          <a:p>
            <a:pPr marL="0" indent="0">
              <a:spcBef>
                <a:spcPts val="400"/>
              </a:spcBef>
              <a:buNone/>
            </a:pPr>
            <a:r>
              <a:rPr lang="en-IN" sz="4200" dirty="0">
                <a:latin typeface="Fira sans"/>
              </a:rPr>
              <a:t> </a:t>
            </a:r>
          </a:p>
          <a:p>
            <a:pPr marL="0" indent="0">
              <a:spcBef>
                <a:spcPts val="400"/>
              </a:spcBef>
              <a:buNone/>
            </a:pPr>
            <a:r>
              <a:rPr lang="en-IN" sz="4200" dirty="0">
                <a:latin typeface="Fira sans"/>
              </a:rPr>
              <a:t>        // Add the item to the shared buffer</a:t>
            </a:r>
          </a:p>
          <a:p>
            <a:pPr marL="0" indent="0">
              <a:spcBef>
                <a:spcPts val="400"/>
              </a:spcBef>
              <a:buNone/>
            </a:pPr>
            <a:r>
              <a:rPr lang="en-IN" sz="4200" dirty="0">
                <a:latin typeface="Fira sans"/>
              </a:rPr>
              <a:t>        </a:t>
            </a:r>
            <a:r>
              <a:rPr lang="en-IN" sz="4200" dirty="0" err="1">
                <a:latin typeface="Fira sans"/>
              </a:rPr>
              <a:t>BoundedBuffer.add_item</a:t>
            </a:r>
            <a:r>
              <a:rPr lang="en-IN" sz="4200" dirty="0">
                <a:latin typeface="Fira sans"/>
              </a:rPr>
              <a:t>(item);</a:t>
            </a:r>
          </a:p>
          <a:p>
            <a:pPr marL="0" indent="0">
              <a:spcBef>
                <a:spcPts val="400"/>
              </a:spcBef>
              <a:buNone/>
            </a:pPr>
            <a:r>
              <a:rPr lang="en-IN" sz="4200" dirty="0">
                <a:latin typeface="Fira sans"/>
              </a:rPr>
              <a:t>    }</a:t>
            </a:r>
          </a:p>
          <a:p>
            <a:pPr marL="0" indent="0">
              <a:spcBef>
                <a:spcPts val="400"/>
              </a:spcBef>
              <a:buNone/>
            </a:pPr>
            <a:r>
              <a:rPr lang="en-IN" sz="4200" dirty="0" smtClean="0">
                <a:latin typeface="Fira sans"/>
              </a:rPr>
              <a:t>}// </a:t>
            </a:r>
            <a:r>
              <a:rPr lang="en-IN" sz="4200" dirty="0">
                <a:latin typeface="Fira sans"/>
              </a:rPr>
              <a:t>producer</a:t>
            </a:r>
          </a:p>
          <a:p>
            <a:pPr marL="0" indent="0">
              <a:spcBef>
                <a:spcPts val="400"/>
              </a:spcBef>
              <a:buNone/>
            </a:pPr>
            <a:r>
              <a:rPr lang="en-IN" sz="4200" dirty="0">
                <a:latin typeface="Fira sans"/>
              </a:rPr>
              <a:t> </a:t>
            </a:r>
          </a:p>
          <a:p>
            <a:pPr marL="0" indent="0">
              <a:spcBef>
                <a:spcPts val="400"/>
              </a:spcBef>
              <a:buNone/>
            </a:pPr>
            <a:r>
              <a:rPr lang="en-IN" sz="4200" dirty="0">
                <a:latin typeface="Fira sans"/>
              </a:rPr>
              <a:t>// Consumer \</a:t>
            </a:r>
          </a:p>
          <a:p>
            <a:pPr marL="0" indent="0">
              <a:spcBef>
                <a:spcPts val="400"/>
              </a:spcBef>
              <a:buNone/>
            </a:pPr>
            <a:r>
              <a:rPr lang="en-IN" sz="4200" dirty="0">
                <a:latin typeface="Fira sans"/>
              </a:rPr>
              <a:t>function consumer() {</a:t>
            </a:r>
          </a:p>
          <a:p>
            <a:pPr marL="0" indent="0">
              <a:spcBef>
                <a:spcPts val="400"/>
              </a:spcBef>
              <a:buNone/>
            </a:pPr>
            <a:r>
              <a:rPr lang="en-IN" sz="4200" dirty="0">
                <a:latin typeface="Fira sans"/>
              </a:rPr>
              <a:t>    while (true) {</a:t>
            </a:r>
          </a:p>
          <a:p>
            <a:pPr marL="0" indent="0">
              <a:spcBef>
                <a:spcPts val="400"/>
              </a:spcBef>
              <a:buNone/>
            </a:pPr>
            <a:r>
              <a:rPr lang="en-IN" sz="4200" dirty="0">
                <a:latin typeface="Fira sans"/>
              </a:rPr>
              <a:t>        // Remove the item from the shared buffer</a:t>
            </a:r>
          </a:p>
          <a:p>
            <a:pPr marL="0" indent="0">
              <a:spcBef>
                <a:spcPts val="400"/>
              </a:spcBef>
              <a:buNone/>
            </a:pPr>
            <a:r>
              <a:rPr lang="en-IN" sz="4200" dirty="0">
                <a:latin typeface="Fira sans"/>
              </a:rPr>
              <a:t>        item = </a:t>
            </a:r>
            <a:r>
              <a:rPr lang="en-IN" sz="4200" dirty="0" err="1">
                <a:latin typeface="Fira sans"/>
              </a:rPr>
              <a:t>BoundedBuffer.remove_item</a:t>
            </a:r>
            <a:r>
              <a:rPr lang="en-IN" sz="4200" dirty="0">
                <a:latin typeface="Fira sans"/>
              </a:rPr>
              <a:t>();</a:t>
            </a:r>
          </a:p>
          <a:p>
            <a:pPr marL="0" indent="0">
              <a:spcBef>
                <a:spcPts val="400"/>
              </a:spcBef>
              <a:buNone/>
            </a:pPr>
            <a:r>
              <a:rPr lang="en-IN" sz="4200" dirty="0">
                <a:latin typeface="Fira sans"/>
              </a:rPr>
              <a:t> </a:t>
            </a:r>
          </a:p>
          <a:p>
            <a:pPr marL="0" indent="0">
              <a:spcBef>
                <a:spcPts val="400"/>
              </a:spcBef>
              <a:buNone/>
            </a:pPr>
            <a:r>
              <a:rPr lang="en-IN" sz="4200" dirty="0">
                <a:latin typeface="Fira sans"/>
              </a:rPr>
              <a:t>        </a:t>
            </a:r>
            <a:r>
              <a:rPr lang="en-IN" sz="4200" dirty="0" err="1">
                <a:latin typeface="Fira sans"/>
              </a:rPr>
              <a:t>consume_item</a:t>
            </a:r>
            <a:r>
              <a:rPr lang="en-IN" sz="4200" dirty="0">
                <a:latin typeface="Fira sans"/>
              </a:rPr>
              <a:t>(item); // Consume the item</a:t>
            </a:r>
          </a:p>
          <a:p>
            <a:pPr marL="0" indent="0">
              <a:spcBef>
                <a:spcPts val="400"/>
              </a:spcBef>
              <a:buNone/>
            </a:pPr>
            <a:r>
              <a:rPr lang="en-IN" sz="4200" dirty="0">
                <a:latin typeface="Fira sans"/>
              </a:rPr>
              <a:t>    }</a:t>
            </a:r>
          </a:p>
          <a:p>
            <a:pPr marL="0" indent="0">
              <a:spcBef>
                <a:spcPts val="400"/>
              </a:spcBef>
              <a:buNone/>
            </a:pPr>
            <a:r>
              <a:rPr lang="en-IN" sz="4200" dirty="0" smtClean="0">
                <a:latin typeface="Fira sans"/>
              </a:rPr>
              <a:t>}// </a:t>
            </a:r>
            <a:r>
              <a:rPr lang="en-IN" sz="4200" dirty="0">
                <a:latin typeface="Fira sans"/>
              </a:rPr>
              <a:t>consumer</a:t>
            </a:r>
          </a:p>
          <a:p>
            <a:endParaRPr lang="en-IN" dirty="0">
              <a:latin typeface="Fira sans"/>
            </a:endParaRPr>
          </a:p>
        </p:txBody>
      </p:sp>
      <p:sp>
        <p:nvSpPr>
          <p:cNvPr id="4" name="Date Placeholder 3"/>
          <p:cNvSpPr>
            <a:spLocks noGrp="1"/>
          </p:cNvSpPr>
          <p:nvPr>
            <p:ph type="dt" sz="half" idx="10"/>
          </p:nvPr>
        </p:nvSpPr>
        <p:spPr/>
        <p:txBody>
          <a:bodyPr/>
          <a:lstStyle/>
          <a:p>
            <a:fld id="{9F639102-058A-462C-AABE-4A3C413825E9}" type="datetime1">
              <a:rPr lang="en-US" smtClean="0"/>
              <a:t>11/11/2024</a:t>
            </a:fld>
            <a:endParaRPr lang="en-US"/>
          </a:p>
        </p:txBody>
      </p:sp>
      <p:sp>
        <p:nvSpPr>
          <p:cNvPr id="7" name="Title 1"/>
          <p:cNvSpPr>
            <a:spLocks noGrp="1"/>
          </p:cNvSpPr>
          <p:nvPr>
            <p:ph type="title"/>
          </p:nvPr>
        </p:nvSpPr>
        <p:spPr>
          <a:xfrm>
            <a:off x="3298371" y="5982155"/>
            <a:ext cx="8262258" cy="647246"/>
          </a:xfrm>
        </p:spPr>
        <p:txBody>
          <a:bodyPr>
            <a:normAutofit fontScale="90000"/>
          </a:bodyPr>
          <a:lstStyle/>
          <a:p>
            <a:r>
              <a:rPr lang="en-IN" dirty="0" smtClean="0">
                <a:solidFill>
                  <a:srgbClr val="C00000"/>
                </a:solidFill>
                <a:latin typeface="Marcellus"/>
              </a:rPr>
              <a:t>Bounded buffer PC using Monitors</a:t>
            </a:r>
            <a:endParaRPr lang="en-IN" dirty="0">
              <a:solidFill>
                <a:srgbClr val="C00000"/>
              </a:solidFill>
              <a:latin typeface="Marcellus"/>
            </a:endParaRPr>
          </a:p>
        </p:txBody>
      </p:sp>
    </p:spTree>
    <p:extLst>
      <p:ext uri="{BB962C8B-B14F-4D97-AF65-F5344CB8AC3E}">
        <p14:creationId xmlns:p14="http://schemas.microsoft.com/office/powerpoint/2010/main" val="216267875"/>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smtClean="0"/>
              <a:t>Explanation of Solution</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1223454" y="6081940"/>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262" y="5973301"/>
            <a:ext cx="3245736" cy="811434"/>
          </a:xfrm>
          <a:prstGeom prst="rect">
            <a:avLst/>
          </a:prstGeom>
        </p:spPr>
      </p:pic>
      <p:sp>
        <p:nvSpPr>
          <p:cNvPr id="3" name="Date Placeholder 2"/>
          <p:cNvSpPr>
            <a:spLocks noGrp="1"/>
          </p:cNvSpPr>
          <p:nvPr>
            <p:ph type="dt" sz="half" idx="10"/>
          </p:nvPr>
        </p:nvSpPr>
        <p:spPr/>
        <p:txBody>
          <a:bodyPr/>
          <a:lstStyle/>
          <a:p>
            <a:fld id="{16A14782-6F49-49A2-BC73-365655F7AF90}" type="datetime1">
              <a:rPr lang="en-US" smtClean="0"/>
              <a:t>11/11/2024</a:t>
            </a:fld>
            <a:endParaRPr lang="en-US"/>
          </a:p>
        </p:txBody>
      </p:sp>
      <p:sp>
        <p:nvSpPr>
          <p:cNvPr id="13" name="Rectangle 3"/>
          <p:cNvSpPr txBox="1">
            <a:spLocks noChangeArrowheads="1"/>
          </p:cNvSpPr>
          <p:nvPr/>
        </p:nvSpPr>
        <p:spPr>
          <a:xfrm>
            <a:off x="863711" y="813028"/>
            <a:ext cx="11039818" cy="526891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en-IN" sz="1400" dirty="0"/>
              <a:t> </a:t>
            </a:r>
            <a:r>
              <a:rPr lang="en-IN" sz="1400" dirty="0" smtClean="0"/>
              <a:t>Monitor</a:t>
            </a:r>
            <a:r>
              <a:rPr lang="en-IN" sz="1400" dirty="0"/>
              <a:t>: </a:t>
            </a:r>
            <a:endParaRPr lang="en-IN" sz="1400" dirty="0" smtClean="0"/>
          </a:p>
          <a:p>
            <a:pPr marL="0" indent="0">
              <a:buNone/>
            </a:pPr>
            <a:r>
              <a:rPr lang="en-IN" sz="1400" dirty="0" smtClean="0"/>
              <a:t>   - The monitor encapsulates the shared buffer (`buffer[]`), the `in` and `out` pointers for the circular buffer,  </a:t>
            </a:r>
            <a:r>
              <a:rPr lang="en-IN" sz="1400" dirty="0"/>
              <a:t>and the `count` variable to track the number of items.</a:t>
            </a:r>
          </a:p>
          <a:p>
            <a:pPr marL="0" indent="0">
              <a:buNone/>
            </a:pPr>
            <a:r>
              <a:rPr lang="en-IN" sz="1400" dirty="0"/>
              <a:t>   - Mutual exclusion is inherently managed by the monitor. </a:t>
            </a:r>
            <a:endParaRPr lang="en-IN" sz="1400" dirty="0" smtClean="0"/>
          </a:p>
          <a:p>
            <a:pPr marL="0" indent="0">
              <a:buNone/>
            </a:pPr>
            <a:r>
              <a:rPr lang="en-IN" sz="1400" dirty="0"/>
              <a:t> </a:t>
            </a:r>
            <a:r>
              <a:rPr lang="en-IN" sz="1400" dirty="0" smtClean="0"/>
              <a:t>  - Only </a:t>
            </a:r>
            <a:r>
              <a:rPr lang="en-IN" sz="1400" dirty="0"/>
              <a:t>one thread (either a producer or a consumer) can execute a monitor procedure at a time, ensuring safe concurrent access.</a:t>
            </a:r>
          </a:p>
          <a:p>
            <a:pPr marL="0" indent="0">
              <a:buNone/>
            </a:pPr>
            <a:r>
              <a:rPr lang="en-IN" sz="1400" dirty="0"/>
              <a:t> </a:t>
            </a:r>
            <a:r>
              <a:rPr lang="en-IN" sz="1400" dirty="0" smtClean="0"/>
              <a:t>2</a:t>
            </a:r>
            <a:r>
              <a:rPr lang="en-IN" sz="1400" dirty="0"/>
              <a:t>. Condition Variables:</a:t>
            </a:r>
          </a:p>
          <a:p>
            <a:pPr marL="0" indent="0">
              <a:buNone/>
            </a:pPr>
            <a:r>
              <a:rPr lang="en-IN" sz="1400" dirty="0"/>
              <a:t>   - </a:t>
            </a:r>
            <a:r>
              <a:rPr lang="en-IN" sz="1400" dirty="0" err="1"/>
              <a:t>not_full</a:t>
            </a:r>
            <a:r>
              <a:rPr lang="en-IN" sz="1400" dirty="0"/>
              <a:t>: The producer will wait on this condition if the buffer is full. When the consumer removes an item and signals the producer, the producer can add a new item to the buffer.</a:t>
            </a:r>
          </a:p>
          <a:p>
            <a:pPr marL="0" indent="0">
              <a:buNone/>
            </a:pPr>
            <a:r>
              <a:rPr lang="en-IN" sz="1400" dirty="0"/>
              <a:t>   - </a:t>
            </a:r>
            <a:r>
              <a:rPr lang="en-IN" sz="1400" dirty="0" err="1"/>
              <a:t>not_empty</a:t>
            </a:r>
            <a:r>
              <a:rPr lang="en-IN" sz="1400" dirty="0"/>
              <a:t>: The consumer will wait on this condition if the buffer is empty. When the producer adds an item and signals the consumer, the consumer can remove the item from the buffer.</a:t>
            </a:r>
          </a:p>
          <a:p>
            <a:pPr marL="0" indent="0">
              <a:buNone/>
            </a:pPr>
            <a:r>
              <a:rPr lang="en-IN" sz="1400" dirty="0"/>
              <a:t> </a:t>
            </a:r>
            <a:r>
              <a:rPr lang="en-IN" sz="1400" dirty="0" smtClean="0"/>
              <a:t>3</a:t>
            </a:r>
            <a:r>
              <a:rPr lang="en-IN" sz="1400" dirty="0"/>
              <a:t>. Producer:</a:t>
            </a:r>
          </a:p>
          <a:p>
            <a:pPr marL="0" indent="0">
              <a:buNone/>
            </a:pPr>
            <a:r>
              <a:rPr lang="en-IN" sz="1400" dirty="0"/>
              <a:t>   - When the producer wants to add an item, it first checks if the buffer is full (i.e., `count == MAX_SIZE`). If the buffer is full, the producer waits on the `</a:t>
            </a:r>
            <a:r>
              <a:rPr lang="en-IN" sz="1400" dirty="0" err="1"/>
              <a:t>not_full</a:t>
            </a:r>
            <a:r>
              <a:rPr lang="en-IN" sz="1400" dirty="0"/>
              <a:t>` condition.</a:t>
            </a:r>
          </a:p>
          <a:p>
            <a:pPr marL="0" indent="0">
              <a:buNone/>
            </a:pPr>
            <a:r>
              <a:rPr lang="en-IN" sz="1400" dirty="0"/>
              <a:t>   - After the consumer consumes an item and signals the producer (via `signal(</a:t>
            </a:r>
            <a:r>
              <a:rPr lang="en-IN" sz="1400" dirty="0" err="1"/>
              <a:t>not_full</a:t>
            </a:r>
            <a:r>
              <a:rPr lang="en-IN" sz="1400" dirty="0"/>
              <a:t>)`), the producer resumes, adds the item to the buffer, and then signals the consumer (via `signal(</a:t>
            </a:r>
            <a:r>
              <a:rPr lang="en-IN" sz="1400" dirty="0" err="1"/>
              <a:t>not_empty</a:t>
            </a:r>
            <a:r>
              <a:rPr lang="en-IN" sz="1400" dirty="0"/>
              <a:t>)`) that the buffer is no longer empty.</a:t>
            </a:r>
          </a:p>
          <a:p>
            <a:pPr marL="0" indent="0">
              <a:buNone/>
            </a:pPr>
            <a:r>
              <a:rPr lang="en-IN" sz="1400" dirty="0"/>
              <a:t> </a:t>
            </a:r>
            <a:r>
              <a:rPr lang="en-IN" sz="1400" dirty="0" smtClean="0"/>
              <a:t>4</a:t>
            </a:r>
            <a:r>
              <a:rPr lang="en-IN" sz="1400" dirty="0"/>
              <a:t>. Consumer:</a:t>
            </a:r>
          </a:p>
          <a:p>
            <a:pPr marL="0" indent="0">
              <a:buNone/>
            </a:pPr>
            <a:r>
              <a:rPr lang="en-IN" sz="1400" dirty="0"/>
              <a:t>   - When the consumer wants to remove an item, it first checks if the buffer is empty (i.e., `count == 0`). If the buffer is empty, the consumer waits on the `</a:t>
            </a:r>
            <a:r>
              <a:rPr lang="en-IN" sz="1400" dirty="0" err="1"/>
              <a:t>not_empty</a:t>
            </a:r>
            <a:r>
              <a:rPr lang="en-IN" sz="1400" dirty="0"/>
              <a:t>` condition.</a:t>
            </a:r>
          </a:p>
          <a:p>
            <a:pPr marL="0" indent="0">
              <a:buNone/>
            </a:pPr>
            <a:r>
              <a:rPr lang="en-IN" sz="1400" dirty="0"/>
              <a:t>   - After the producer produces an item and signals the consumer (via `signal(</a:t>
            </a:r>
            <a:r>
              <a:rPr lang="en-IN" sz="1400" dirty="0" err="1"/>
              <a:t>not_empty</a:t>
            </a:r>
            <a:r>
              <a:rPr lang="en-IN" sz="1400" dirty="0"/>
              <a:t>)`), the consumer resumes, removes the item from the buffer, and then signals the producer (via `signal(</a:t>
            </a:r>
            <a:r>
              <a:rPr lang="en-IN" sz="1400" dirty="0" err="1"/>
              <a:t>not_full</a:t>
            </a:r>
            <a:r>
              <a:rPr lang="en-IN" sz="1400" dirty="0"/>
              <a:t>)`) that the buffer is no longer full.</a:t>
            </a:r>
          </a:p>
        </p:txBody>
      </p:sp>
    </p:spTree>
    <p:extLst>
      <p:ext uri="{BB962C8B-B14F-4D97-AF65-F5344CB8AC3E}">
        <p14:creationId xmlns:p14="http://schemas.microsoft.com/office/powerpoint/2010/main" val="3888892848"/>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smtClean="0"/>
              <a:t>Analysis of Solution</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1223454" y="6081940"/>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262" y="5973301"/>
            <a:ext cx="3245736" cy="811434"/>
          </a:xfrm>
          <a:prstGeom prst="rect">
            <a:avLst/>
          </a:prstGeom>
        </p:spPr>
      </p:pic>
      <p:sp>
        <p:nvSpPr>
          <p:cNvPr id="3" name="Date Placeholder 2"/>
          <p:cNvSpPr>
            <a:spLocks noGrp="1"/>
          </p:cNvSpPr>
          <p:nvPr>
            <p:ph type="dt" sz="half" idx="10"/>
          </p:nvPr>
        </p:nvSpPr>
        <p:spPr/>
        <p:txBody>
          <a:bodyPr/>
          <a:lstStyle/>
          <a:p>
            <a:fld id="{16A14782-6F49-49A2-BC73-365655F7AF90}" type="datetime1">
              <a:rPr lang="en-US" smtClean="0"/>
              <a:t>11/11/2024</a:t>
            </a:fld>
            <a:endParaRPr lang="en-US"/>
          </a:p>
        </p:txBody>
      </p:sp>
      <p:sp>
        <p:nvSpPr>
          <p:cNvPr id="13" name="Rectangle 3"/>
          <p:cNvSpPr txBox="1">
            <a:spLocks noChangeArrowheads="1"/>
          </p:cNvSpPr>
          <p:nvPr/>
        </p:nvSpPr>
        <p:spPr>
          <a:xfrm>
            <a:off x="863711" y="813028"/>
            <a:ext cx="11039818" cy="5268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1400" dirty="0" smtClean="0">
                <a:latin typeface="Fira sans"/>
              </a:rPr>
              <a:t>1</a:t>
            </a:r>
            <a:r>
              <a:rPr lang="en-IN" sz="1400" dirty="0">
                <a:latin typeface="Fira sans"/>
              </a:rPr>
              <a:t>. Mutual Exclusion:</a:t>
            </a:r>
          </a:p>
          <a:p>
            <a:pPr marL="0" indent="0">
              <a:buNone/>
            </a:pPr>
            <a:r>
              <a:rPr lang="en-IN" sz="1400" dirty="0">
                <a:latin typeface="Fira sans"/>
              </a:rPr>
              <a:t>   - The monitor guarantees that only one thread can be inside the `</a:t>
            </a:r>
            <a:r>
              <a:rPr lang="en-IN" sz="1400" dirty="0" err="1">
                <a:latin typeface="Fira sans"/>
              </a:rPr>
              <a:t>add_item</a:t>
            </a:r>
            <a:r>
              <a:rPr lang="en-IN" sz="1400" dirty="0">
                <a:latin typeface="Fira sans"/>
              </a:rPr>
              <a:t>` or `</a:t>
            </a:r>
            <a:r>
              <a:rPr lang="en-IN" sz="1400" dirty="0" err="1">
                <a:latin typeface="Fira sans"/>
              </a:rPr>
              <a:t>remove_item</a:t>
            </a:r>
            <a:r>
              <a:rPr lang="en-IN" sz="1400" dirty="0">
                <a:latin typeface="Fira sans"/>
              </a:rPr>
              <a:t>` procedures at a time.</a:t>
            </a:r>
          </a:p>
          <a:p>
            <a:pPr marL="0" indent="0">
              <a:buNone/>
            </a:pPr>
            <a:r>
              <a:rPr lang="en-IN" sz="1400" dirty="0">
                <a:latin typeface="Fira sans"/>
              </a:rPr>
              <a:t>   - This ensures mutual exclusion, as it prevents race conditions when accessing the shared buffer. The `</a:t>
            </a:r>
            <a:r>
              <a:rPr lang="en-IN" sz="1400" dirty="0" err="1">
                <a:latin typeface="Fira sans"/>
              </a:rPr>
              <a:t>mutex</a:t>
            </a:r>
            <a:r>
              <a:rPr lang="en-IN" sz="1400" dirty="0">
                <a:latin typeface="Fira sans"/>
              </a:rPr>
              <a:t>` is implicitly managed by the monitor, so no additional locking mechanism is required.</a:t>
            </a:r>
          </a:p>
          <a:p>
            <a:pPr marL="0" indent="0">
              <a:buNone/>
            </a:pPr>
            <a:r>
              <a:rPr lang="en-IN" sz="1400" dirty="0">
                <a:latin typeface="Fira sans"/>
              </a:rPr>
              <a:t> </a:t>
            </a:r>
            <a:r>
              <a:rPr lang="en-IN" sz="1400" dirty="0" smtClean="0">
                <a:latin typeface="Fira sans"/>
              </a:rPr>
              <a:t> </a:t>
            </a:r>
            <a:r>
              <a:rPr lang="en-IN" sz="1400" dirty="0">
                <a:latin typeface="Fira sans"/>
              </a:rPr>
              <a:t>2. Condition Synchronization:</a:t>
            </a:r>
          </a:p>
          <a:p>
            <a:pPr marL="0" indent="0">
              <a:buNone/>
            </a:pPr>
            <a:r>
              <a:rPr lang="en-IN" sz="1400" dirty="0">
                <a:latin typeface="Fira sans"/>
              </a:rPr>
              <a:t>   - Blocking: The producer is blocked if the buffer is full, and the consumer is blocked if the buffer is empty. Condition variables (`</a:t>
            </a:r>
            <a:r>
              <a:rPr lang="en-IN" sz="1400" dirty="0" err="1">
                <a:latin typeface="Fira sans"/>
              </a:rPr>
              <a:t>not_full</a:t>
            </a:r>
            <a:r>
              <a:rPr lang="en-IN" sz="1400" dirty="0">
                <a:latin typeface="Fira sans"/>
              </a:rPr>
              <a:t>` and `</a:t>
            </a:r>
            <a:r>
              <a:rPr lang="en-IN" sz="1400" dirty="0" err="1">
                <a:latin typeface="Fira sans"/>
              </a:rPr>
              <a:t>not_empty</a:t>
            </a:r>
            <a:r>
              <a:rPr lang="en-IN" sz="1400" dirty="0">
                <a:latin typeface="Fira sans"/>
              </a:rPr>
              <a:t>`) ensure that producers and consumers only proceed when it is safe to do so.</a:t>
            </a:r>
          </a:p>
          <a:p>
            <a:pPr marL="0" indent="0">
              <a:buNone/>
            </a:pPr>
            <a:r>
              <a:rPr lang="en-IN" sz="1400" dirty="0">
                <a:latin typeface="Fira sans"/>
              </a:rPr>
              <a:t>   - </a:t>
            </a:r>
            <a:r>
              <a:rPr lang="en-IN" sz="1400" dirty="0" err="1">
                <a:latin typeface="Fira sans"/>
              </a:rPr>
              <a:t>Signaling</a:t>
            </a:r>
            <a:r>
              <a:rPr lang="en-IN" sz="1400" dirty="0">
                <a:latin typeface="Fira sans"/>
              </a:rPr>
              <a:t>: Producers signal consumers when an item is added (buffer not empty), and consumers signal producers when an item is consumed (buffer not full). This ensures that producers and consumers are awakened when their conditions change.</a:t>
            </a:r>
          </a:p>
          <a:p>
            <a:pPr marL="0" indent="0">
              <a:buNone/>
            </a:pPr>
            <a:r>
              <a:rPr lang="en-IN" sz="1400" dirty="0">
                <a:latin typeface="Fira sans"/>
              </a:rPr>
              <a:t> </a:t>
            </a:r>
            <a:r>
              <a:rPr lang="en-IN" sz="1400" dirty="0" smtClean="0">
                <a:latin typeface="Fira sans"/>
              </a:rPr>
              <a:t> </a:t>
            </a:r>
            <a:r>
              <a:rPr lang="en-IN" sz="1400" dirty="0">
                <a:latin typeface="Fira sans"/>
              </a:rPr>
              <a:t>3. Deadlock-Free:</a:t>
            </a:r>
          </a:p>
          <a:p>
            <a:pPr marL="0" indent="0">
              <a:buNone/>
            </a:pPr>
            <a:r>
              <a:rPr lang="en-IN" sz="1400" dirty="0">
                <a:latin typeface="Fira sans"/>
              </a:rPr>
              <a:t>   - The solution is deadlock-free because producers and consumers only wait when necessary (on full or empty conditions). Once the buffer state changes (due to item addition or removal), the corresponding waiting process is </a:t>
            </a:r>
            <a:r>
              <a:rPr lang="en-IN" sz="1400" dirty="0" err="1">
                <a:latin typeface="Fira sans"/>
              </a:rPr>
              <a:t>signaled</a:t>
            </a:r>
            <a:r>
              <a:rPr lang="en-IN" sz="1400" dirty="0">
                <a:latin typeface="Fira sans"/>
              </a:rPr>
              <a:t> to continue.</a:t>
            </a:r>
          </a:p>
          <a:p>
            <a:pPr marL="0" indent="0">
              <a:buNone/>
            </a:pPr>
            <a:r>
              <a:rPr lang="en-IN" sz="1400" dirty="0">
                <a:latin typeface="Fira sans"/>
              </a:rPr>
              <a:t> </a:t>
            </a:r>
            <a:r>
              <a:rPr lang="en-IN" sz="1400" dirty="0" smtClean="0">
                <a:latin typeface="Fira sans"/>
              </a:rPr>
              <a:t> </a:t>
            </a:r>
            <a:r>
              <a:rPr lang="en-IN" sz="1400" dirty="0">
                <a:latin typeface="Fira sans"/>
              </a:rPr>
              <a:t>4. Fairness and Starvation:</a:t>
            </a:r>
          </a:p>
          <a:p>
            <a:pPr marL="0" indent="0">
              <a:buNone/>
            </a:pPr>
            <a:r>
              <a:rPr lang="en-IN" sz="1400" dirty="0">
                <a:latin typeface="Fira sans"/>
              </a:rPr>
              <a:t>   - Fairness: No producer or consumer will starve, as each process waiting on the condition variable (`</a:t>
            </a:r>
            <a:r>
              <a:rPr lang="en-IN" sz="1400" dirty="0" err="1">
                <a:latin typeface="Fira sans"/>
              </a:rPr>
              <a:t>not_full</a:t>
            </a:r>
            <a:r>
              <a:rPr lang="en-IN" sz="1400" dirty="0">
                <a:latin typeface="Fira sans"/>
              </a:rPr>
              <a:t>` or `</a:t>
            </a:r>
            <a:r>
              <a:rPr lang="en-IN" sz="1400" dirty="0" err="1">
                <a:latin typeface="Fira sans"/>
              </a:rPr>
              <a:t>not_empty</a:t>
            </a:r>
            <a:r>
              <a:rPr lang="en-IN" sz="1400" dirty="0">
                <a:latin typeface="Fira sans"/>
              </a:rPr>
              <a:t>`) will be </a:t>
            </a:r>
            <a:r>
              <a:rPr lang="en-IN" sz="1400" dirty="0" err="1">
                <a:latin typeface="Fira sans"/>
              </a:rPr>
              <a:t>signaled</a:t>
            </a:r>
            <a:r>
              <a:rPr lang="en-IN" sz="1400" dirty="0">
                <a:latin typeface="Fira sans"/>
              </a:rPr>
              <a:t> as soon as the required condition is satisfied.</a:t>
            </a:r>
          </a:p>
          <a:p>
            <a:pPr marL="0" indent="0">
              <a:buNone/>
            </a:pPr>
            <a:r>
              <a:rPr lang="en-IN" sz="1400" dirty="0">
                <a:latin typeface="Fira sans"/>
              </a:rPr>
              <a:t>   - No Starvation: Every producer will eventually add its item to the buffer when space is available, and every consumer will eventually consume an item when one is available</a:t>
            </a:r>
          </a:p>
        </p:txBody>
      </p:sp>
    </p:spTree>
    <p:extLst>
      <p:ext uri="{BB962C8B-B14F-4D97-AF65-F5344CB8AC3E}">
        <p14:creationId xmlns:p14="http://schemas.microsoft.com/office/powerpoint/2010/main" val="889694817"/>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smtClean="0">
                <a:solidFill>
                  <a:srgbClr val="C00000"/>
                </a:solidFill>
                <a:latin typeface="Marcellus" panose="020E0602050203020307" pitchFamily="34" charset="0"/>
              </a:rPr>
              <a:t>Monitors</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16A14782-6F49-49A2-BC73-365655F7AF90}" type="datetime1">
              <a:rPr lang="en-US" smtClean="0"/>
              <a:t>11/11/2024</a:t>
            </a:fld>
            <a:endParaRPr lang="en-US"/>
          </a:p>
        </p:txBody>
      </p:sp>
      <p:sp>
        <p:nvSpPr>
          <p:cNvPr id="13" name="Rectangle 3"/>
          <p:cNvSpPr txBox="1">
            <a:spLocks noChangeArrowheads="1"/>
          </p:cNvSpPr>
          <p:nvPr/>
        </p:nvSpPr>
        <p:spPr>
          <a:xfrm>
            <a:off x="1219201" y="1090613"/>
            <a:ext cx="9927167" cy="526891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endParaRPr lang="en-US" altLang="en-US" sz="1600" dirty="0" smtClean="0">
              <a:solidFill>
                <a:srgbClr val="0000FF"/>
              </a:solidFill>
            </a:endParaRPr>
          </a:p>
          <a:p>
            <a:pPr fontAlgn="base"/>
            <a:r>
              <a:rPr lang="en-US" b="1" dirty="0" smtClean="0"/>
              <a:t>Advantages </a:t>
            </a:r>
            <a:r>
              <a:rPr lang="en-US" b="1" dirty="0"/>
              <a:t>of Monitor:</a:t>
            </a:r>
            <a:r>
              <a:rPr lang="en-US" dirty="0"/>
              <a:t/>
            </a:r>
            <a:br>
              <a:rPr lang="en-US" dirty="0"/>
            </a:br>
            <a:endParaRPr lang="en-US" dirty="0" smtClean="0"/>
          </a:p>
          <a:p>
            <a:pPr lvl="1" fontAlgn="base"/>
            <a:r>
              <a:rPr lang="en-US" dirty="0" smtClean="0"/>
              <a:t>Make </a:t>
            </a:r>
            <a:r>
              <a:rPr lang="en-US" dirty="0"/>
              <a:t>parallel programming easier and </a:t>
            </a:r>
            <a:endParaRPr lang="en-US" dirty="0" smtClean="0"/>
          </a:p>
          <a:p>
            <a:pPr lvl="1" fontAlgn="base"/>
            <a:r>
              <a:rPr lang="en-US" dirty="0" smtClean="0"/>
              <a:t>less </a:t>
            </a:r>
            <a:r>
              <a:rPr lang="en-US" dirty="0"/>
              <a:t>error prone than using techniques such as semaphore.</a:t>
            </a:r>
          </a:p>
          <a:p>
            <a:pPr fontAlgn="base"/>
            <a:endParaRPr lang="en-US" b="1" dirty="0" smtClean="0"/>
          </a:p>
          <a:p>
            <a:pPr fontAlgn="base"/>
            <a:r>
              <a:rPr lang="en-US" b="1" dirty="0" smtClean="0"/>
              <a:t>Disadvantages </a:t>
            </a:r>
            <a:r>
              <a:rPr lang="en-US" b="1" dirty="0"/>
              <a:t>of Monitor:</a:t>
            </a:r>
            <a:r>
              <a:rPr lang="en-US" dirty="0"/>
              <a:t/>
            </a:r>
            <a:br>
              <a:rPr lang="en-US" dirty="0"/>
            </a:br>
            <a:endParaRPr lang="en-US" dirty="0" smtClean="0"/>
          </a:p>
          <a:p>
            <a:pPr lvl="1" fontAlgn="base"/>
            <a:r>
              <a:rPr lang="en-US" dirty="0" smtClean="0"/>
              <a:t>Monitors </a:t>
            </a:r>
            <a:r>
              <a:rPr lang="en-US" dirty="0"/>
              <a:t>have to be implemented as part of the programming language . </a:t>
            </a:r>
            <a:endParaRPr lang="en-US" dirty="0" smtClean="0"/>
          </a:p>
          <a:p>
            <a:pPr lvl="1" fontAlgn="base"/>
            <a:r>
              <a:rPr lang="en-US" dirty="0" smtClean="0"/>
              <a:t>The </a:t>
            </a:r>
            <a:r>
              <a:rPr lang="en-US" dirty="0"/>
              <a:t>compiler must generate code for them. </a:t>
            </a:r>
            <a:endParaRPr lang="en-US" dirty="0" smtClean="0"/>
          </a:p>
          <a:p>
            <a:pPr lvl="1" fontAlgn="base"/>
            <a:r>
              <a:rPr lang="en-US" dirty="0" smtClean="0"/>
              <a:t>This </a:t>
            </a:r>
            <a:r>
              <a:rPr lang="en-US" dirty="0"/>
              <a:t>gives the compiler the additional burden of having to know what operating system facilities are available to control access to critical sections in concurrent processes. </a:t>
            </a:r>
            <a:endParaRPr lang="en-US" dirty="0" smtClean="0"/>
          </a:p>
          <a:p>
            <a:pPr lvl="1" fontAlgn="base"/>
            <a:r>
              <a:rPr lang="en-US" dirty="0" smtClean="0"/>
              <a:t>Some </a:t>
            </a:r>
            <a:r>
              <a:rPr lang="en-US" dirty="0"/>
              <a:t>languages that do support monitors are </a:t>
            </a:r>
            <a:r>
              <a:rPr lang="en-US" dirty="0" err="1"/>
              <a:t>Java,C#,Visual</a:t>
            </a:r>
            <a:r>
              <a:rPr lang="en-US" dirty="0"/>
              <a:t> </a:t>
            </a:r>
            <a:r>
              <a:rPr lang="en-US" dirty="0" err="1"/>
              <a:t>Basic,Ada</a:t>
            </a:r>
            <a:r>
              <a:rPr lang="en-US" dirty="0"/>
              <a:t> and concurrent Euclid.</a:t>
            </a:r>
          </a:p>
          <a:p>
            <a:pPr>
              <a:lnSpc>
                <a:spcPct val="80000"/>
              </a:lnSpc>
              <a:buFont typeface="Monotype Sorts" pitchFamily="-84" charset="2"/>
              <a:buNone/>
            </a:pPr>
            <a:endParaRPr lang="en-US" altLang="en-US" dirty="0" smtClean="0">
              <a:solidFill>
                <a:srgbClr val="0000FF"/>
              </a:solidFill>
            </a:endParaRPr>
          </a:p>
          <a:p>
            <a:pPr>
              <a:lnSpc>
                <a:spcPct val="80000"/>
              </a:lnSpc>
              <a:buFont typeface="Monotype Sorts" pitchFamily="-84" charset="2"/>
              <a:buNone/>
            </a:pPr>
            <a:endParaRPr lang="en-US" altLang="en-US" dirty="0" smtClean="0">
              <a:solidFill>
                <a:srgbClr val="0000FF"/>
              </a:solidFill>
            </a:endParaRPr>
          </a:p>
          <a:p>
            <a:pPr>
              <a:lnSpc>
                <a:spcPct val="80000"/>
              </a:lnSpc>
              <a:buFont typeface="Monotype Sorts" pitchFamily="-84" charset="2"/>
              <a:buNone/>
            </a:pPr>
            <a:r>
              <a:rPr lang="en-US" altLang="en-US" i="1" dirty="0" smtClean="0">
                <a:solidFill>
                  <a:srgbClr val="0000FF"/>
                </a:solidFill>
              </a:rPr>
              <a:t>       </a:t>
            </a:r>
          </a:p>
        </p:txBody>
      </p:sp>
    </p:spTree>
    <p:extLst>
      <p:ext uri="{BB962C8B-B14F-4D97-AF65-F5344CB8AC3E}">
        <p14:creationId xmlns:p14="http://schemas.microsoft.com/office/powerpoint/2010/main" val="110216345"/>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 Solution to Dining Philosophers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94CABA9F-85A3-45C9-9564-4B315C46CBE6}" type="datetime1">
              <a:rPr lang="en-US" smtClean="0"/>
              <a:t>11/11/2024</a:t>
            </a:fld>
            <a:endParaRPr lang="en-US"/>
          </a:p>
        </p:txBody>
      </p:sp>
      <p:sp>
        <p:nvSpPr>
          <p:cNvPr id="12" name="Rectangle 5"/>
          <p:cNvSpPr txBox="1">
            <a:spLocks noChangeArrowheads="1"/>
          </p:cNvSpPr>
          <p:nvPr/>
        </p:nvSpPr>
        <p:spPr>
          <a:xfrm>
            <a:off x="1159933" y="1179514"/>
            <a:ext cx="10433051" cy="471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smtClean="0"/>
              <a:t>Deadlock free solution to Dining Philosophers Problem</a:t>
            </a:r>
          </a:p>
          <a:p>
            <a:endParaRPr lang="en-US" altLang="en-US" sz="2400" dirty="0" smtClean="0"/>
          </a:p>
          <a:p>
            <a:r>
              <a:rPr lang="en-US" altLang="en-US" sz="2400" dirty="0" smtClean="0"/>
              <a:t>To distinguish amongst the 3 states in which the philosopher may be-</a:t>
            </a:r>
          </a:p>
          <a:p>
            <a:pPr lvl="1"/>
            <a:r>
              <a:rPr lang="en-US" altLang="en-US" sz="2000" b="1" dirty="0" err="1" smtClean="0">
                <a:solidFill>
                  <a:srgbClr val="C00000"/>
                </a:solidFill>
              </a:rPr>
              <a:t>enum</a:t>
            </a:r>
            <a:r>
              <a:rPr lang="en-US" altLang="en-US" sz="2000" b="1" dirty="0" smtClean="0">
                <a:solidFill>
                  <a:srgbClr val="C00000"/>
                </a:solidFill>
              </a:rPr>
              <a:t> </a:t>
            </a:r>
            <a:r>
              <a:rPr lang="en-US" altLang="en-US" sz="2000" b="1" dirty="0">
                <a:solidFill>
                  <a:srgbClr val="C00000"/>
                </a:solidFill>
              </a:rPr>
              <a:t>{ THINKING; HUNGRY, EATING) state [5] </a:t>
            </a:r>
            <a:r>
              <a:rPr lang="en-US" altLang="en-US" sz="2000" b="1" dirty="0" smtClean="0">
                <a:solidFill>
                  <a:srgbClr val="C00000"/>
                </a:solidFill>
              </a:rPr>
              <a:t>;</a:t>
            </a:r>
          </a:p>
          <a:p>
            <a:endParaRPr lang="en-US" sz="2400" dirty="0" smtClean="0"/>
          </a:p>
          <a:p>
            <a:r>
              <a:rPr lang="en-US" sz="2400" dirty="0" smtClean="0"/>
              <a:t>Philosopher </a:t>
            </a:r>
            <a:r>
              <a:rPr lang="en-US" sz="2400" dirty="0" err="1" smtClean="0"/>
              <a:t>i</a:t>
            </a:r>
            <a:r>
              <a:rPr lang="en-US" sz="2400" dirty="0" smtClean="0"/>
              <a:t> can set the variable state [</a:t>
            </a:r>
            <a:r>
              <a:rPr lang="en-US" sz="2400" dirty="0" err="1" smtClean="0"/>
              <a:t>i</a:t>
            </a:r>
            <a:r>
              <a:rPr lang="en-US" sz="2400" dirty="0" smtClean="0"/>
              <a:t>] = EATING only </a:t>
            </a:r>
          </a:p>
          <a:p>
            <a:pPr lvl="1"/>
            <a:r>
              <a:rPr lang="en-US" sz="2000" b="1" dirty="0" smtClean="0">
                <a:solidFill>
                  <a:srgbClr val="C00000"/>
                </a:solidFill>
              </a:rPr>
              <a:t>if her two neighbors are not eating</a:t>
            </a:r>
          </a:p>
          <a:p>
            <a:pPr lvl="1"/>
            <a:r>
              <a:rPr lang="en-US" sz="2000" b="1" dirty="0" smtClean="0">
                <a:solidFill>
                  <a:srgbClr val="C00000"/>
                </a:solidFill>
              </a:rPr>
              <a:t>(state [ (</a:t>
            </a:r>
            <a:r>
              <a:rPr lang="en-US" sz="2000" b="1" dirty="0" err="1" smtClean="0">
                <a:solidFill>
                  <a:srgbClr val="C00000"/>
                </a:solidFill>
              </a:rPr>
              <a:t>i</a:t>
            </a:r>
            <a:r>
              <a:rPr lang="en-US" sz="2000" b="1" dirty="0" smtClean="0">
                <a:solidFill>
                  <a:srgbClr val="C00000"/>
                </a:solidFill>
              </a:rPr>
              <a:t> +4) % 5] ! = EATING) and (state [ (</a:t>
            </a:r>
            <a:r>
              <a:rPr lang="en-US" sz="2000" b="1" dirty="0" err="1" smtClean="0">
                <a:solidFill>
                  <a:srgbClr val="C00000"/>
                </a:solidFill>
              </a:rPr>
              <a:t>i</a:t>
            </a:r>
            <a:r>
              <a:rPr lang="en-US" sz="2000" b="1" dirty="0" smtClean="0">
                <a:solidFill>
                  <a:srgbClr val="C00000"/>
                </a:solidFill>
              </a:rPr>
              <a:t> +1) % 5] != EATING)</a:t>
            </a:r>
            <a:endParaRPr lang="en-US" altLang="en-US" sz="2000" b="1" dirty="0" smtClean="0">
              <a:solidFill>
                <a:srgbClr val="C00000"/>
              </a:solidFill>
            </a:endParaRPr>
          </a:p>
          <a:p>
            <a:endParaRPr lang="en-US" altLang="en-US" dirty="0" smtClean="0"/>
          </a:p>
        </p:txBody>
      </p:sp>
    </p:spTree>
    <p:extLst>
      <p:ext uri="{BB962C8B-B14F-4D97-AF65-F5344CB8AC3E}">
        <p14:creationId xmlns:p14="http://schemas.microsoft.com/office/powerpoint/2010/main" val="4006901208"/>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Monitor Solution to Dining Philosophers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DFE40E88-31B2-4E07-84AA-CBFCBC8D5CC2}" type="datetime1">
              <a:rPr lang="en-US" smtClean="0"/>
              <a:t>11/11/2024</a:t>
            </a:fld>
            <a:endParaRPr lang="en-US"/>
          </a:p>
        </p:txBody>
      </p:sp>
      <p:sp>
        <p:nvSpPr>
          <p:cNvPr id="12" name="Rectangle 5"/>
          <p:cNvSpPr txBox="1">
            <a:spLocks noChangeArrowheads="1"/>
          </p:cNvSpPr>
          <p:nvPr/>
        </p:nvSpPr>
        <p:spPr>
          <a:xfrm>
            <a:off x="1159933" y="1179514"/>
            <a:ext cx="10433051" cy="47132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smtClean="0"/>
              <a:t>Also </a:t>
            </a:r>
            <a:r>
              <a:rPr lang="en-US" sz="2400" dirty="0"/>
              <a:t>need to declare</a:t>
            </a:r>
          </a:p>
          <a:p>
            <a:pPr lvl="1"/>
            <a:r>
              <a:rPr lang="en-US" sz="2000" dirty="0"/>
              <a:t>condition </a:t>
            </a:r>
            <a:r>
              <a:rPr lang="en-US" sz="2000" dirty="0" smtClean="0"/>
              <a:t>sel</a:t>
            </a:r>
            <a:r>
              <a:rPr lang="en-US" sz="2000" dirty="0"/>
              <a:t>f</a:t>
            </a:r>
            <a:r>
              <a:rPr lang="en-US" sz="2000" dirty="0" smtClean="0"/>
              <a:t>[5</a:t>
            </a:r>
            <a:r>
              <a:rPr lang="en-US" sz="2000" dirty="0"/>
              <a:t>];</a:t>
            </a:r>
          </a:p>
          <a:p>
            <a:pPr lvl="1"/>
            <a:endParaRPr lang="en-US" sz="2000" dirty="0" smtClean="0"/>
          </a:p>
          <a:p>
            <a:pPr lvl="1"/>
            <a:r>
              <a:rPr lang="en-US" sz="2000" dirty="0" smtClean="0"/>
              <a:t>in </a:t>
            </a:r>
            <a:r>
              <a:rPr lang="en-US" sz="2000" dirty="0"/>
              <a:t>which </a:t>
            </a:r>
            <a:r>
              <a:rPr lang="en-US" sz="2000" dirty="0" err="1" smtClean="0"/>
              <a:t>i</a:t>
            </a:r>
            <a:r>
              <a:rPr lang="en-US" sz="2000" baseline="30000" dirty="0" err="1" smtClean="0"/>
              <a:t>th</a:t>
            </a:r>
            <a:r>
              <a:rPr lang="en-US" sz="2000" baseline="30000" dirty="0" smtClean="0"/>
              <a:t> </a:t>
            </a:r>
            <a:r>
              <a:rPr lang="en-US" sz="2000" dirty="0" smtClean="0"/>
              <a:t>philosopher </a:t>
            </a:r>
            <a:r>
              <a:rPr lang="en-US" sz="2000" b="1" dirty="0" smtClean="0">
                <a:solidFill>
                  <a:srgbClr val="C00000"/>
                </a:solidFill>
              </a:rPr>
              <a:t>can </a:t>
            </a:r>
            <a:r>
              <a:rPr lang="en-US" sz="2000" b="1" dirty="0">
                <a:solidFill>
                  <a:srgbClr val="C00000"/>
                </a:solidFill>
              </a:rPr>
              <a:t>delay herself when she is hungry but is unable </a:t>
            </a:r>
            <a:r>
              <a:rPr lang="en-US" sz="2000" b="1" dirty="0" smtClean="0">
                <a:solidFill>
                  <a:srgbClr val="C00000"/>
                </a:solidFill>
              </a:rPr>
              <a:t>to obtain </a:t>
            </a:r>
            <a:r>
              <a:rPr lang="en-US" sz="2000" b="1" dirty="0">
                <a:solidFill>
                  <a:srgbClr val="C00000"/>
                </a:solidFill>
              </a:rPr>
              <a:t>the chopsticks she needs</a:t>
            </a:r>
            <a:r>
              <a:rPr lang="en-US" sz="2000" b="1" dirty="0" smtClean="0">
                <a:solidFill>
                  <a:srgbClr val="C00000"/>
                </a:solidFill>
              </a:rPr>
              <a:t>.</a:t>
            </a:r>
          </a:p>
          <a:p>
            <a:endParaRPr lang="en-US" altLang="en-US" sz="2400" dirty="0" smtClean="0"/>
          </a:p>
          <a:p>
            <a:r>
              <a:rPr lang="en-US" altLang="en-US" sz="2400" dirty="0" smtClean="0"/>
              <a:t>Distribution of </a:t>
            </a:r>
            <a:r>
              <a:rPr lang="en-US" sz="2400" dirty="0" smtClean="0"/>
              <a:t>chopsticks </a:t>
            </a:r>
            <a:r>
              <a:rPr lang="en-US" sz="2400" dirty="0"/>
              <a:t>is controlled by the </a:t>
            </a:r>
            <a:r>
              <a:rPr lang="en-US" sz="2400" dirty="0" smtClean="0">
                <a:solidFill>
                  <a:srgbClr val="C00000"/>
                </a:solidFill>
              </a:rPr>
              <a:t>monitor </a:t>
            </a:r>
            <a:r>
              <a:rPr lang="en-US" sz="2400" dirty="0" err="1">
                <a:solidFill>
                  <a:srgbClr val="C00000"/>
                </a:solidFill>
              </a:rPr>
              <a:t>DiningPhilosophers</a:t>
            </a:r>
            <a:endParaRPr lang="en-US" altLang="en-US" sz="2400" dirty="0" smtClean="0">
              <a:solidFill>
                <a:srgbClr val="C00000"/>
              </a:solidFill>
            </a:endParaRPr>
          </a:p>
          <a:p>
            <a:endParaRPr lang="en-US" altLang="en-US" dirty="0" smtClean="0">
              <a:solidFill>
                <a:srgbClr val="C00000"/>
              </a:solidFill>
            </a:endParaRPr>
          </a:p>
        </p:txBody>
      </p:sp>
    </p:spTree>
    <p:extLst>
      <p:ext uri="{BB962C8B-B14F-4D97-AF65-F5344CB8AC3E}">
        <p14:creationId xmlns:p14="http://schemas.microsoft.com/office/powerpoint/2010/main" val="427074982"/>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smtClean="0">
                <a:solidFill>
                  <a:srgbClr val="C00000"/>
                </a:solidFill>
                <a:latin typeface="Marcellus" panose="020E0602050203020307" pitchFamily="34" charset="0"/>
              </a:rPr>
              <a:t>Monitor Solution </a:t>
            </a:r>
            <a:r>
              <a:rPr lang="en-US" sz="3200" dirty="0">
                <a:solidFill>
                  <a:srgbClr val="C00000"/>
                </a:solidFill>
                <a:latin typeface="Marcellus" panose="020E0602050203020307" pitchFamily="34" charset="0"/>
              </a:rPr>
              <a:t>to Dining Philosophers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D10420A6-D787-4D94-93CB-10224803BAAF}" type="datetime1">
              <a:rPr lang="en-US" smtClean="0"/>
              <a:t>11/11/2024</a:t>
            </a:fld>
            <a:endParaRPr lang="en-US"/>
          </a:p>
        </p:txBody>
      </p:sp>
      <p:sp>
        <p:nvSpPr>
          <p:cNvPr id="13" name="Rectangle 3"/>
          <p:cNvSpPr txBox="1">
            <a:spLocks noChangeArrowheads="1"/>
          </p:cNvSpPr>
          <p:nvPr/>
        </p:nvSpPr>
        <p:spPr>
          <a:xfrm>
            <a:off x="1528234" y="979488"/>
            <a:ext cx="9793817" cy="538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monitor </a:t>
            </a:r>
            <a:r>
              <a:rPr lang="en-US" altLang="en-US" sz="1600" dirty="0" err="1" smtClean="0">
                <a:solidFill>
                  <a:srgbClr val="000000"/>
                </a:solidFill>
                <a:latin typeface="Courier New" pitchFamily="49" charset="0"/>
                <a:cs typeface="Courier New" pitchFamily="49" charset="0"/>
              </a:rPr>
              <a:t>DiningPhilosophers</a:t>
            </a:r>
            <a:endParaRPr lang="en-US" altLang="en-US" sz="1600" dirty="0"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a:t>
            </a:r>
            <a:r>
              <a:rPr lang="en-US" altLang="en-US" sz="1600" dirty="0" err="1" smtClean="0">
                <a:solidFill>
                  <a:srgbClr val="000000"/>
                </a:solidFill>
                <a:latin typeface="Courier New" pitchFamily="49" charset="0"/>
                <a:cs typeface="Courier New" pitchFamily="49" charset="0"/>
              </a:rPr>
              <a:t>enum</a:t>
            </a:r>
            <a:r>
              <a:rPr lang="en-US" altLang="en-US" sz="1600" dirty="0" smtClean="0">
                <a:solidFill>
                  <a:srgbClr val="000000"/>
                </a:solidFill>
                <a:latin typeface="Courier New" pitchFamily="49" charset="0"/>
                <a:cs typeface="Courier New" pitchFamily="49" charset="0"/>
              </a:rPr>
              <a:t> { THINKING; HUNGRY, EATING) state [5]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condition self [5];</a:t>
            </a:r>
          </a:p>
          <a:p>
            <a:pPr>
              <a:lnSpc>
                <a:spcPct val="80000"/>
              </a:lnSpc>
              <a:buFont typeface="Monotype Sorts" pitchFamily="-84" charset="2"/>
              <a:buNone/>
            </a:pPr>
            <a:endParaRPr lang="en-US" altLang="en-US" sz="1600" dirty="0"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void pickup (</a:t>
            </a:r>
            <a:r>
              <a:rPr lang="en-US" altLang="en-US" sz="1600" dirty="0" err="1" smtClean="0">
                <a:solidFill>
                  <a:srgbClr val="000000"/>
                </a:solidFill>
                <a:latin typeface="Courier New" pitchFamily="49" charset="0"/>
                <a:cs typeface="Courier New" pitchFamily="49" charset="0"/>
              </a:rPr>
              <a:t>int</a:t>
            </a:r>
            <a:r>
              <a:rPr lang="en-US" altLang="en-US" sz="1600" dirty="0" smtClean="0">
                <a:solidFill>
                  <a:srgbClr val="000000"/>
                </a:solidFill>
                <a:latin typeface="Courier New" pitchFamily="49" charset="0"/>
                <a:cs typeface="Courier New" pitchFamily="49" charset="0"/>
              </a:rPr>
              <a:t> </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state[</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HUNGRY;</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test(</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if (state[</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EATING) </a:t>
            </a:r>
          </a:p>
          <a:p>
            <a:pPr>
              <a:lnSpc>
                <a:spcPct val="80000"/>
              </a:lnSpc>
              <a:buFont typeface="Monotype Sorts" pitchFamily="-84" charset="2"/>
              <a:buNone/>
            </a:pPr>
            <a:r>
              <a:rPr lang="en-US" altLang="en-US" sz="1600" dirty="0">
                <a:solidFill>
                  <a:srgbClr val="000000"/>
                </a:solidFill>
                <a:latin typeface="Courier New" pitchFamily="49" charset="0"/>
                <a:cs typeface="Courier New" pitchFamily="49" charset="0"/>
              </a:rPr>
              <a:t>	</a:t>
            </a:r>
            <a:r>
              <a:rPr lang="en-US" altLang="en-US" sz="1600" dirty="0" smtClean="0">
                <a:solidFill>
                  <a:srgbClr val="000000"/>
                </a:solidFill>
                <a:latin typeface="Courier New" pitchFamily="49" charset="0"/>
                <a:cs typeface="Courier New" pitchFamily="49" charset="0"/>
              </a:rPr>
              <a:t>		self[</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].wait;</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a:t>
            </a:r>
          </a:p>
        </p:txBody>
      </p:sp>
      <p:sp>
        <p:nvSpPr>
          <p:cNvPr id="11" name="Rectangle 10"/>
          <p:cNvSpPr/>
          <p:nvPr/>
        </p:nvSpPr>
        <p:spPr>
          <a:xfrm>
            <a:off x="7328846" y="3301406"/>
            <a:ext cx="4594447" cy="2246769"/>
          </a:xfrm>
          <a:prstGeom prst="rect">
            <a:avLst/>
          </a:prstGeom>
        </p:spPr>
        <p:txBody>
          <a:bodyPr wrap="square">
            <a:spAutoFit/>
          </a:bodyPr>
          <a:lstStyle/>
          <a:p>
            <a:pPr marL="800100" lvl="1" indent="-342900">
              <a:buFont typeface="Arial" panose="020B0604020202020204" pitchFamily="34" charset="0"/>
              <a:buChar char="•"/>
            </a:pPr>
            <a:r>
              <a:rPr lang="en-US" sz="2000" dirty="0"/>
              <a:t>I</a:t>
            </a:r>
            <a:r>
              <a:rPr lang="en-US" sz="2000" dirty="0" smtClean="0"/>
              <a:t>f </a:t>
            </a:r>
            <a:r>
              <a:rPr lang="en-US" sz="2000" dirty="0"/>
              <a:t>unable to eat, wait to be signaled </a:t>
            </a:r>
          </a:p>
          <a:p>
            <a:pPr marL="800100" lvl="1" indent="-342900">
              <a:buFont typeface="Arial" panose="020B0604020202020204" pitchFamily="34" charset="0"/>
              <a:buChar char="•"/>
            </a:pPr>
            <a:r>
              <a:rPr lang="en-US" sz="2000" dirty="0"/>
              <a:t>P</a:t>
            </a:r>
            <a:r>
              <a:rPr lang="en-US" sz="2000" dirty="0" smtClean="0"/>
              <a:t>hilosopher </a:t>
            </a:r>
            <a:r>
              <a:rPr lang="en-US" sz="2000" dirty="0"/>
              <a:t>can delay herself when she is hungry but is unable to obtain the chopsticks she needs</a:t>
            </a:r>
            <a:r>
              <a:rPr lang="en-US" sz="2000" dirty="0" smtClean="0"/>
              <a:t>.</a:t>
            </a:r>
          </a:p>
          <a:p>
            <a:pPr lvl="1"/>
            <a:endParaRPr lang="en-US" sz="2000" dirty="0"/>
          </a:p>
        </p:txBody>
      </p:sp>
      <p:sp>
        <p:nvSpPr>
          <p:cNvPr id="12" name="Right Arrow 11"/>
          <p:cNvSpPr/>
          <p:nvPr/>
        </p:nvSpPr>
        <p:spPr>
          <a:xfrm>
            <a:off x="5609273" y="3538796"/>
            <a:ext cx="1965234" cy="2661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p:cNvSpPr/>
          <p:nvPr/>
        </p:nvSpPr>
        <p:spPr>
          <a:xfrm>
            <a:off x="4626655" y="2592159"/>
            <a:ext cx="3084329" cy="2661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840842" y="2540585"/>
            <a:ext cx="1873462" cy="369332"/>
          </a:xfrm>
          <a:prstGeom prst="rect">
            <a:avLst/>
          </a:prstGeom>
        </p:spPr>
        <p:txBody>
          <a:bodyPr wrap="none">
            <a:spAutoFit/>
          </a:bodyPr>
          <a:lstStyle/>
          <a:p>
            <a:r>
              <a:rPr lang="en-US" dirty="0" smtClean="0"/>
              <a:t>Pickup </a:t>
            </a:r>
            <a:r>
              <a:rPr lang="en-US" dirty="0"/>
              <a:t>chopsticks </a:t>
            </a:r>
          </a:p>
        </p:txBody>
      </p:sp>
    </p:spTree>
    <p:extLst>
      <p:ext uri="{BB962C8B-B14F-4D97-AF65-F5344CB8AC3E}">
        <p14:creationId xmlns:p14="http://schemas.microsoft.com/office/powerpoint/2010/main" val="3304634902"/>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smtClean="0">
                <a:solidFill>
                  <a:srgbClr val="C00000"/>
                </a:solidFill>
                <a:latin typeface="Marcellus" panose="020E0602050203020307" pitchFamily="34" charset="0"/>
              </a:rPr>
              <a:t>Monitor Solution </a:t>
            </a:r>
            <a:r>
              <a:rPr lang="en-US" sz="3200" dirty="0">
                <a:solidFill>
                  <a:srgbClr val="C00000"/>
                </a:solidFill>
                <a:latin typeface="Marcellus" panose="020E0602050203020307" pitchFamily="34" charset="0"/>
              </a:rPr>
              <a:t>to Dining Philosophers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3984044A-4D3E-4322-9022-31F03914A047}" type="datetime1">
              <a:rPr lang="en-US" smtClean="0"/>
              <a:t>11/11/2024</a:t>
            </a:fld>
            <a:endParaRPr lang="en-US"/>
          </a:p>
        </p:txBody>
      </p:sp>
      <p:sp>
        <p:nvSpPr>
          <p:cNvPr id="13" name="Rectangle 3"/>
          <p:cNvSpPr txBox="1">
            <a:spLocks noChangeArrowheads="1"/>
          </p:cNvSpPr>
          <p:nvPr/>
        </p:nvSpPr>
        <p:spPr>
          <a:xfrm>
            <a:off x="662091" y="651942"/>
            <a:ext cx="9793817" cy="538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monitor </a:t>
            </a:r>
            <a:r>
              <a:rPr lang="en-US" altLang="en-US" sz="1600" dirty="0" err="1" smtClean="0">
                <a:solidFill>
                  <a:srgbClr val="000000"/>
                </a:solidFill>
                <a:latin typeface="Courier New" pitchFamily="49" charset="0"/>
                <a:cs typeface="Courier New" pitchFamily="49" charset="0"/>
              </a:rPr>
              <a:t>DiningPhilosophers</a:t>
            </a:r>
            <a:endParaRPr lang="en-US" altLang="en-US" sz="1600" dirty="0"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void putdown (</a:t>
            </a:r>
            <a:r>
              <a:rPr lang="en-US" altLang="en-US" sz="1600" dirty="0" err="1" smtClean="0">
                <a:solidFill>
                  <a:srgbClr val="000000"/>
                </a:solidFill>
                <a:latin typeface="Courier New" pitchFamily="49" charset="0"/>
                <a:cs typeface="Courier New" pitchFamily="49" charset="0"/>
              </a:rPr>
              <a:t>int</a:t>
            </a:r>
            <a:r>
              <a:rPr lang="en-US" altLang="en-US" sz="1600" dirty="0" smtClean="0">
                <a:solidFill>
                  <a:srgbClr val="000000"/>
                </a:solidFill>
                <a:latin typeface="Courier New" pitchFamily="49" charset="0"/>
                <a:cs typeface="Courier New" pitchFamily="49" charset="0"/>
              </a:rPr>
              <a:t> </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state[</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THINKING;</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 test left and right neighbors</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test((</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+ 4) % 5);</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	        test((</a:t>
            </a:r>
            <a:r>
              <a:rPr lang="en-US" altLang="en-US" sz="1600" dirty="0" err="1" smtClean="0">
                <a:solidFill>
                  <a:srgbClr val="000000"/>
                </a:solidFill>
                <a:latin typeface="Courier New" pitchFamily="49" charset="0"/>
                <a:cs typeface="Courier New" pitchFamily="49" charset="0"/>
              </a:rPr>
              <a:t>i</a:t>
            </a:r>
            <a:r>
              <a:rPr lang="en-US" altLang="en-US" sz="1600" dirty="0" smtClean="0">
                <a:solidFill>
                  <a:srgbClr val="000000"/>
                </a:solidFill>
                <a:latin typeface="Courier New" pitchFamily="49" charset="0"/>
                <a:cs typeface="Courier New" pitchFamily="49" charset="0"/>
              </a:rPr>
              <a:t> + 1) % 5);</a:t>
            </a:r>
          </a:p>
          <a:p>
            <a:pPr>
              <a:lnSpc>
                <a:spcPct val="80000"/>
              </a:lnSpc>
              <a:buFont typeface="Monotype Sorts" pitchFamily="-84" charset="2"/>
              <a:buNone/>
            </a:pPr>
            <a:r>
              <a:rPr lang="en-US" altLang="en-US" sz="1600" dirty="0" smtClean="0">
                <a:solidFill>
                  <a:srgbClr val="000000"/>
                </a:solidFill>
                <a:latin typeface="Courier New" pitchFamily="49" charset="0"/>
                <a:cs typeface="Courier New" pitchFamily="49" charset="0"/>
              </a:rPr>
              <a:t>}</a:t>
            </a:r>
          </a:p>
          <a:p>
            <a:pPr>
              <a:lnSpc>
                <a:spcPct val="80000"/>
              </a:lnSpc>
              <a:buFont typeface="Monotype Sorts" pitchFamily="-84" charset="2"/>
              <a:buNone/>
            </a:pPr>
            <a:r>
              <a:rPr lang="en-US" altLang="en-US" sz="1600" dirty="0" smtClean="0">
                <a:solidFill>
                  <a:srgbClr val="0000FF"/>
                </a:solidFill>
              </a:rPr>
              <a:t>	</a:t>
            </a:r>
          </a:p>
        </p:txBody>
      </p:sp>
      <p:sp>
        <p:nvSpPr>
          <p:cNvPr id="15" name="Rectangle 14"/>
          <p:cNvSpPr/>
          <p:nvPr/>
        </p:nvSpPr>
        <p:spPr>
          <a:xfrm>
            <a:off x="7294359" y="1644345"/>
            <a:ext cx="2106346" cy="369332"/>
          </a:xfrm>
          <a:prstGeom prst="rect">
            <a:avLst/>
          </a:prstGeom>
        </p:spPr>
        <p:txBody>
          <a:bodyPr wrap="none">
            <a:spAutoFit/>
          </a:bodyPr>
          <a:lstStyle/>
          <a:p>
            <a:r>
              <a:rPr lang="en-US" dirty="0"/>
              <a:t>Put down </a:t>
            </a:r>
            <a:r>
              <a:rPr lang="en-US" dirty="0" smtClean="0"/>
              <a:t>chopsticks</a:t>
            </a:r>
          </a:p>
        </p:txBody>
      </p:sp>
      <p:sp>
        <p:nvSpPr>
          <p:cNvPr id="16" name="Right Arrow 15"/>
          <p:cNvSpPr/>
          <p:nvPr/>
        </p:nvSpPr>
        <p:spPr>
          <a:xfrm>
            <a:off x="4621857" y="1644345"/>
            <a:ext cx="2556865"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5827295" y="2987642"/>
            <a:ext cx="6096000" cy="1200329"/>
          </a:xfrm>
          <a:prstGeom prst="rect">
            <a:avLst/>
          </a:prstGeom>
        </p:spPr>
        <p:txBody>
          <a:bodyPr>
            <a:spAutoFit/>
          </a:bodyPr>
          <a:lstStyle/>
          <a:p>
            <a:pPr fontAlgn="base"/>
            <a:r>
              <a:rPr lang="en-US" dirty="0"/>
              <a:t>if right neighbor R=(i+1)%5 is hungry and </a:t>
            </a:r>
          </a:p>
          <a:p>
            <a:pPr fontAlgn="base"/>
            <a:r>
              <a:rPr lang="en-US" dirty="0"/>
              <a:t>  </a:t>
            </a:r>
            <a:r>
              <a:rPr lang="en-US" dirty="0" smtClean="0"/>
              <a:t> </a:t>
            </a:r>
            <a:r>
              <a:rPr lang="en-US" dirty="0"/>
              <a:t>both of R’s neighbors are not eating, </a:t>
            </a:r>
          </a:p>
          <a:p>
            <a:pPr fontAlgn="base"/>
            <a:r>
              <a:rPr lang="en-US" dirty="0"/>
              <a:t>  </a:t>
            </a:r>
            <a:r>
              <a:rPr lang="en-US" dirty="0" smtClean="0"/>
              <a:t>set </a:t>
            </a:r>
            <a:r>
              <a:rPr lang="en-US" dirty="0"/>
              <a:t>R’s state to eating and wake </a:t>
            </a:r>
            <a:r>
              <a:rPr lang="en-US" dirty="0" smtClean="0"/>
              <a:t>up </a:t>
            </a:r>
            <a:r>
              <a:rPr lang="en-US" dirty="0" err="1" smtClean="0"/>
              <a:t>neighbour</a:t>
            </a:r>
            <a:r>
              <a:rPr lang="en-US" dirty="0" smtClean="0"/>
              <a:t> R by</a:t>
            </a:r>
            <a:r>
              <a:rPr lang="en-US" dirty="0"/>
              <a:t>  </a:t>
            </a:r>
            <a:r>
              <a:rPr lang="en-US" dirty="0" smtClean="0"/>
              <a:t>signaling</a:t>
            </a:r>
            <a:endParaRPr lang="en-US" dirty="0"/>
          </a:p>
          <a:p>
            <a:r>
              <a:rPr lang="en-US" dirty="0"/>
              <a:t> </a:t>
            </a:r>
          </a:p>
        </p:txBody>
      </p:sp>
      <p:sp>
        <p:nvSpPr>
          <p:cNvPr id="17" name="Right Arrow 16"/>
          <p:cNvSpPr/>
          <p:nvPr/>
        </p:nvSpPr>
        <p:spPr>
          <a:xfrm>
            <a:off x="4280567" y="3159676"/>
            <a:ext cx="1018966" cy="1846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3287852"/>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smtClean="0">
                <a:solidFill>
                  <a:srgbClr val="C00000"/>
                </a:solidFill>
                <a:latin typeface="Marcellus" panose="020E0602050203020307" pitchFamily="34" charset="0"/>
              </a:rPr>
              <a:t>Monitor Solution </a:t>
            </a:r>
            <a:r>
              <a:rPr lang="en-US" sz="3200" dirty="0">
                <a:solidFill>
                  <a:srgbClr val="C00000"/>
                </a:solidFill>
                <a:latin typeface="Marcellus" panose="020E0602050203020307" pitchFamily="34" charset="0"/>
              </a:rPr>
              <a:t>to Dining Philosophers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3A2EF681-2040-4D99-9E80-705B3E19CDFA}" type="datetime1">
              <a:rPr lang="en-US" smtClean="0"/>
              <a:t>11/11/2024</a:t>
            </a:fld>
            <a:endParaRPr lang="en-US"/>
          </a:p>
        </p:txBody>
      </p:sp>
      <p:sp>
        <p:nvSpPr>
          <p:cNvPr id="12" name="Rectangle 3"/>
          <p:cNvSpPr txBox="1">
            <a:spLocks noChangeArrowheads="1"/>
          </p:cNvSpPr>
          <p:nvPr/>
        </p:nvSpPr>
        <p:spPr>
          <a:xfrm>
            <a:off x="1547284" y="944563"/>
            <a:ext cx="9211733" cy="5268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endParaRPr lang="en-US" altLang="en-US" sz="1600"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	void test (int i) { </a:t>
            </a: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	        if ((state[(i + 4) % 5] != EATING) &amp;&amp;</a:t>
            </a: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	        (state[i] == HUNGRY) &amp;&amp;</a:t>
            </a: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	        (state[(i + 1) % 5] != EATING) ) { </a:t>
            </a: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	             state[i] = EATING ;</a:t>
            </a: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		    self[i].signal () ;</a:t>
            </a: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   }</a:t>
            </a:r>
          </a:p>
          <a:p>
            <a:pPr>
              <a:lnSpc>
                <a:spcPct val="80000"/>
              </a:lnSpc>
              <a:buFont typeface="Monotype Sorts" pitchFamily="-84" charset="2"/>
              <a:buNone/>
            </a:pPr>
            <a:endParaRPr lang="en-US" altLang="en-US" sz="1600"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       initialization_code() { </a:t>
            </a: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	       for (int i = 0; i &lt; 5; i++)</a:t>
            </a: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	       state[i] = THINKING;</a:t>
            </a: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	     }</a:t>
            </a:r>
          </a:p>
          <a:p>
            <a:pPr>
              <a:lnSpc>
                <a:spcPct val="80000"/>
              </a:lnSpc>
              <a:buFont typeface="Monotype Sorts" pitchFamily="-84" charset="2"/>
              <a:buNone/>
            </a:pPr>
            <a:r>
              <a:rPr lang="en-US" altLang="en-US" sz="1600" smtClean="0">
                <a:solidFill>
                  <a:srgbClr val="000000"/>
                </a:solidFill>
                <a:latin typeface="Courier New" pitchFamily="49" charset="0"/>
                <a:cs typeface="Courier New" pitchFamily="49" charset="0"/>
              </a:rPr>
              <a:t>}</a:t>
            </a:r>
          </a:p>
        </p:txBody>
      </p:sp>
      <p:sp>
        <p:nvSpPr>
          <p:cNvPr id="11" name="Rectangle 10"/>
          <p:cNvSpPr/>
          <p:nvPr/>
        </p:nvSpPr>
        <p:spPr>
          <a:xfrm>
            <a:off x="8065827" y="2055237"/>
            <a:ext cx="3927666" cy="1877437"/>
          </a:xfrm>
          <a:prstGeom prst="rect">
            <a:avLst/>
          </a:prstGeom>
        </p:spPr>
        <p:txBody>
          <a:bodyPr wrap="square">
            <a:spAutoFit/>
          </a:bodyPr>
          <a:lstStyle/>
          <a:p>
            <a:pPr marL="800100" lvl="1" indent="-342900">
              <a:buFont typeface="Arial" panose="020B0604020202020204" pitchFamily="34" charset="0"/>
              <a:buChar char="•"/>
            </a:pPr>
            <a:r>
              <a:rPr lang="en-US" sz="2000" dirty="0" smtClean="0"/>
              <a:t>If </a:t>
            </a:r>
            <a:r>
              <a:rPr lang="en-US" sz="2000" dirty="0"/>
              <a:t>her two neighbors are not </a:t>
            </a:r>
            <a:r>
              <a:rPr lang="en-US" sz="2000" dirty="0" smtClean="0"/>
              <a:t>eating and she is hungry</a:t>
            </a:r>
          </a:p>
          <a:p>
            <a:pPr marL="1257300" lvl="2" indent="-342900">
              <a:buFont typeface="Arial" panose="020B0604020202020204" pitchFamily="34" charset="0"/>
              <a:buChar char="•"/>
            </a:pPr>
            <a:r>
              <a:rPr lang="en-US" dirty="0" smtClean="0"/>
              <a:t>I.E. </a:t>
            </a:r>
            <a:r>
              <a:rPr lang="en-US" dirty="0"/>
              <a:t>if my left and right neighbors </a:t>
            </a:r>
            <a:r>
              <a:rPr lang="en-US" dirty="0" smtClean="0"/>
              <a:t>are </a:t>
            </a:r>
            <a:r>
              <a:rPr lang="en-US" dirty="0"/>
              <a:t>not eating </a:t>
            </a:r>
          </a:p>
          <a:p>
            <a:pPr marL="800100" lvl="1" indent="-342900">
              <a:buFont typeface="Arial" panose="020B0604020202020204" pitchFamily="34" charset="0"/>
              <a:buChar char="•"/>
            </a:pPr>
            <a:r>
              <a:rPr lang="en-US" sz="2000" dirty="0" smtClean="0"/>
              <a:t>Set her state as eating</a:t>
            </a:r>
          </a:p>
          <a:p>
            <a:pPr lvl="1"/>
            <a:endParaRPr lang="en-US" sz="2000" dirty="0" smtClean="0"/>
          </a:p>
        </p:txBody>
      </p:sp>
      <p:sp>
        <p:nvSpPr>
          <p:cNvPr id="13" name="Right Arrow 12"/>
          <p:cNvSpPr/>
          <p:nvPr/>
        </p:nvSpPr>
        <p:spPr>
          <a:xfrm>
            <a:off x="7165075" y="2100472"/>
            <a:ext cx="1255594" cy="30870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165075" y="3932674"/>
            <a:ext cx="3927666" cy="1631216"/>
          </a:xfrm>
          <a:prstGeom prst="rect">
            <a:avLst/>
          </a:prstGeom>
        </p:spPr>
        <p:txBody>
          <a:bodyPr wrap="square">
            <a:spAutoFit/>
          </a:bodyPr>
          <a:lstStyle/>
          <a:p>
            <a:pPr marL="800100" lvl="1" indent="-342900">
              <a:buFont typeface="Arial" panose="020B0604020202020204" pitchFamily="34" charset="0"/>
              <a:buChar char="•"/>
            </a:pPr>
            <a:r>
              <a:rPr lang="en-US" sz="2000" dirty="0"/>
              <a:t>signal() has no effect during Pickup(), </a:t>
            </a:r>
          </a:p>
          <a:p>
            <a:pPr marL="800100" lvl="1" indent="-342900">
              <a:buFont typeface="Arial" panose="020B0604020202020204" pitchFamily="34" charset="0"/>
              <a:buChar char="•"/>
            </a:pPr>
            <a:r>
              <a:rPr lang="en-US" sz="2000" dirty="0" smtClean="0"/>
              <a:t> </a:t>
            </a:r>
            <a:r>
              <a:rPr lang="en-US" sz="2000" dirty="0"/>
              <a:t>but is important to wake up waiting </a:t>
            </a:r>
            <a:r>
              <a:rPr lang="en-US" sz="2000" dirty="0" smtClean="0"/>
              <a:t>hungry </a:t>
            </a:r>
            <a:r>
              <a:rPr lang="en-US" sz="2000" dirty="0"/>
              <a:t>philosophers during Putdown() </a:t>
            </a:r>
            <a:endParaRPr lang="en-US" sz="2000" dirty="0" smtClean="0"/>
          </a:p>
        </p:txBody>
      </p:sp>
    </p:spTree>
    <p:extLst>
      <p:ext uri="{BB962C8B-B14F-4D97-AF65-F5344CB8AC3E}">
        <p14:creationId xmlns:p14="http://schemas.microsoft.com/office/powerpoint/2010/main" val="3041350061"/>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Solution to Dining Philosophers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0139A19E-9331-499C-B82E-82763EBB0F6F}" type="datetime1">
              <a:rPr lang="en-US" smtClean="0"/>
              <a:t>11/11/2024</a:t>
            </a:fld>
            <a:endParaRPr lang="en-US"/>
          </a:p>
        </p:txBody>
      </p:sp>
      <p:sp>
        <p:nvSpPr>
          <p:cNvPr id="13" name="Rectangle 3"/>
          <p:cNvSpPr txBox="1">
            <a:spLocks noChangeArrowheads="1"/>
          </p:cNvSpPr>
          <p:nvPr/>
        </p:nvSpPr>
        <p:spPr>
          <a:xfrm>
            <a:off x="1219201" y="1090613"/>
            <a:ext cx="9927167" cy="526891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endParaRPr lang="en-US" altLang="en-US" sz="1600" dirty="0" smtClean="0">
              <a:solidFill>
                <a:srgbClr val="0000FF"/>
              </a:solidFill>
            </a:endParaRPr>
          </a:p>
          <a:p>
            <a:pPr>
              <a:lnSpc>
                <a:spcPct val="80000"/>
              </a:lnSpc>
            </a:pPr>
            <a:r>
              <a:rPr lang="en-US" altLang="en-US" dirty="0" smtClean="0"/>
              <a:t>Each philosopher </a:t>
            </a:r>
            <a:r>
              <a:rPr lang="en-US" altLang="en-US" i="1" dirty="0" err="1" smtClean="0"/>
              <a:t>i</a:t>
            </a:r>
            <a:r>
              <a:rPr lang="en-US" altLang="en-US" i="1" dirty="0" smtClean="0"/>
              <a:t> </a:t>
            </a:r>
            <a:r>
              <a:rPr lang="en-US" altLang="en-US" dirty="0" smtClean="0"/>
              <a:t>invokes the</a:t>
            </a:r>
            <a:r>
              <a:rPr lang="en-US" altLang="en-US" i="1" dirty="0" smtClean="0"/>
              <a:t> </a:t>
            </a:r>
            <a:r>
              <a:rPr lang="en-US" altLang="en-US" dirty="0" smtClean="0"/>
              <a:t>operations </a:t>
            </a:r>
            <a:r>
              <a:rPr lang="en-US" altLang="en-US" sz="2000" b="1" dirty="0" smtClean="0">
                <a:solidFill>
                  <a:srgbClr val="000000"/>
                </a:solidFill>
                <a:latin typeface="Courier New" pitchFamily="49" charset="0"/>
                <a:cs typeface="Courier New" pitchFamily="49" charset="0"/>
              </a:rPr>
              <a:t>pickup()</a:t>
            </a:r>
            <a:r>
              <a:rPr lang="en-US" altLang="en-US" sz="2000" i="1" dirty="0" smtClean="0"/>
              <a:t> </a:t>
            </a:r>
            <a:r>
              <a:rPr lang="en-US" altLang="en-US" dirty="0" smtClean="0"/>
              <a:t>and </a:t>
            </a:r>
            <a:r>
              <a:rPr lang="en-US" altLang="en-US" sz="2000" b="1" dirty="0" smtClean="0">
                <a:solidFill>
                  <a:srgbClr val="000000"/>
                </a:solidFill>
                <a:latin typeface="Courier New" pitchFamily="49" charset="0"/>
                <a:cs typeface="Courier New" pitchFamily="49" charset="0"/>
              </a:rPr>
              <a:t>putdown()</a:t>
            </a:r>
            <a:r>
              <a:rPr lang="en-US" altLang="en-US" sz="2000" dirty="0" smtClean="0"/>
              <a:t> </a:t>
            </a:r>
            <a:r>
              <a:rPr lang="en-US" altLang="en-US" dirty="0" smtClean="0"/>
              <a:t>in the following sequence:</a:t>
            </a:r>
          </a:p>
          <a:p>
            <a:pPr>
              <a:lnSpc>
                <a:spcPct val="80000"/>
              </a:lnSpc>
              <a:buFont typeface="Monotype Sorts" pitchFamily="-84" charset="2"/>
              <a:buNone/>
            </a:pPr>
            <a:endParaRPr lang="en-US" altLang="en-US" b="1" dirty="0"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dirty="0" smtClean="0">
                <a:solidFill>
                  <a:srgbClr val="000000"/>
                </a:solidFill>
                <a:latin typeface="Courier New" pitchFamily="49" charset="0"/>
                <a:cs typeface="Courier New" pitchFamily="49" charset="0"/>
              </a:rPr>
              <a:t>              </a:t>
            </a:r>
            <a:r>
              <a:rPr lang="en-US" altLang="en-US" sz="2000" b="1" dirty="0" err="1" smtClean="0">
                <a:solidFill>
                  <a:srgbClr val="000000"/>
                </a:solidFill>
                <a:latin typeface="Courier New" pitchFamily="49" charset="0"/>
                <a:cs typeface="Courier New" pitchFamily="49" charset="0"/>
              </a:rPr>
              <a:t>DiningPhilosophers.pickup</a:t>
            </a:r>
            <a:r>
              <a:rPr lang="en-US" altLang="en-US" sz="2000" b="1" dirty="0" smtClean="0">
                <a:solidFill>
                  <a:srgbClr val="000000"/>
                </a:solidFill>
                <a:latin typeface="Courier New" pitchFamily="49" charset="0"/>
                <a:cs typeface="Courier New" pitchFamily="49" charset="0"/>
              </a:rPr>
              <a:t>(</a:t>
            </a:r>
            <a:r>
              <a:rPr lang="en-US" altLang="en-US" sz="2000" b="1" dirty="0" err="1" smtClean="0">
                <a:solidFill>
                  <a:srgbClr val="000000"/>
                </a:solidFill>
                <a:latin typeface="Courier New" pitchFamily="49" charset="0"/>
                <a:cs typeface="Courier New" pitchFamily="49" charset="0"/>
              </a:rPr>
              <a:t>i</a:t>
            </a:r>
            <a:r>
              <a:rPr lang="en-US" altLang="en-US" sz="2000" b="1" dirty="0" smtClean="0">
                <a:solidFill>
                  <a:srgbClr val="000000"/>
                </a:solidFill>
                <a:latin typeface="Courier New" pitchFamily="49" charset="0"/>
                <a:cs typeface="Courier New" pitchFamily="49" charset="0"/>
              </a:rPr>
              <a:t>)</a:t>
            </a:r>
            <a:r>
              <a:rPr lang="en-US" altLang="en-US" b="1" dirty="0" smtClean="0">
                <a:solidFill>
                  <a:srgbClr val="000000"/>
                </a:solidFill>
                <a:latin typeface="Courier New" pitchFamily="49" charset="0"/>
                <a:cs typeface="Courier New" pitchFamily="49" charset="0"/>
              </a:rPr>
              <a:t>;</a:t>
            </a:r>
          </a:p>
          <a:p>
            <a:pPr>
              <a:lnSpc>
                <a:spcPct val="80000"/>
              </a:lnSpc>
              <a:buFont typeface="Monotype Sorts" pitchFamily="-84" charset="2"/>
              <a:buNone/>
            </a:pPr>
            <a:endParaRPr lang="en-US" altLang="en-US" b="1" dirty="0"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dirty="0" smtClean="0">
                <a:solidFill>
                  <a:srgbClr val="000000"/>
                </a:solidFill>
                <a:latin typeface="Courier New" pitchFamily="49" charset="0"/>
                <a:cs typeface="Courier New" pitchFamily="49" charset="0"/>
              </a:rPr>
              <a:t>                   EAT</a:t>
            </a:r>
          </a:p>
          <a:p>
            <a:pPr>
              <a:lnSpc>
                <a:spcPct val="80000"/>
              </a:lnSpc>
              <a:buFont typeface="Monotype Sorts" pitchFamily="-84" charset="2"/>
              <a:buNone/>
            </a:pPr>
            <a:endParaRPr lang="en-US" altLang="en-US" b="1" dirty="0" smtClean="0">
              <a:solidFill>
                <a:srgbClr val="000000"/>
              </a:solidFill>
              <a:latin typeface="Courier New" pitchFamily="49" charset="0"/>
              <a:cs typeface="Courier New" pitchFamily="49" charset="0"/>
            </a:endParaRPr>
          </a:p>
          <a:p>
            <a:pPr>
              <a:lnSpc>
                <a:spcPct val="80000"/>
              </a:lnSpc>
              <a:buFont typeface="Monotype Sorts" pitchFamily="-84" charset="2"/>
              <a:buNone/>
            </a:pPr>
            <a:r>
              <a:rPr lang="en-US" altLang="en-US" b="1" dirty="0" smtClean="0">
                <a:solidFill>
                  <a:srgbClr val="000000"/>
                </a:solidFill>
                <a:latin typeface="Courier New" pitchFamily="49" charset="0"/>
                <a:cs typeface="Courier New" pitchFamily="49" charset="0"/>
              </a:rPr>
              <a:t>              </a:t>
            </a:r>
            <a:r>
              <a:rPr lang="en-US" altLang="en-US" sz="2000" b="1" dirty="0" err="1" smtClean="0">
                <a:solidFill>
                  <a:srgbClr val="000000"/>
                </a:solidFill>
                <a:latin typeface="Courier New" pitchFamily="49" charset="0"/>
                <a:cs typeface="Courier New" pitchFamily="49" charset="0"/>
              </a:rPr>
              <a:t>DiningPhilosophers.putdown</a:t>
            </a:r>
            <a:r>
              <a:rPr lang="en-US" altLang="en-US" sz="2000" b="1" dirty="0" smtClean="0">
                <a:solidFill>
                  <a:srgbClr val="000000"/>
                </a:solidFill>
                <a:latin typeface="Courier New" pitchFamily="49" charset="0"/>
                <a:cs typeface="Courier New" pitchFamily="49" charset="0"/>
              </a:rPr>
              <a:t>(</a:t>
            </a:r>
            <a:r>
              <a:rPr lang="en-US" altLang="en-US" sz="2000" b="1" dirty="0" err="1" smtClean="0">
                <a:solidFill>
                  <a:srgbClr val="000000"/>
                </a:solidFill>
                <a:latin typeface="Courier New" pitchFamily="49" charset="0"/>
                <a:cs typeface="Courier New" pitchFamily="49" charset="0"/>
              </a:rPr>
              <a:t>i</a:t>
            </a:r>
            <a:r>
              <a:rPr lang="en-US" altLang="en-US" sz="2000" b="1" dirty="0" smtClean="0">
                <a:solidFill>
                  <a:srgbClr val="000000"/>
                </a:solidFill>
                <a:latin typeface="Courier New" pitchFamily="49" charset="0"/>
                <a:cs typeface="Courier New" pitchFamily="49" charset="0"/>
              </a:rPr>
              <a:t>)</a:t>
            </a:r>
            <a:r>
              <a:rPr lang="en-US" altLang="en-US" b="1" dirty="0" smtClean="0">
                <a:solidFill>
                  <a:srgbClr val="000000"/>
                </a:solidFill>
                <a:latin typeface="Courier New" pitchFamily="49" charset="0"/>
                <a:cs typeface="Courier New" pitchFamily="49" charset="0"/>
              </a:rPr>
              <a:t>;</a:t>
            </a:r>
          </a:p>
          <a:p>
            <a:pPr>
              <a:lnSpc>
                <a:spcPct val="80000"/>
              </a:lnSpc>
              <a:buFont typeface="Monotype Sorts" pitchFamily="-84" charset="2"/>
              <a:buNone/>
            </a:pPr>
            <a:endParaRPr lang="en-US" altLang="en-US" dirty="0" smtClean="0">
              <a:solidFill>
                <a:srgbClr val="0000FF"/>
              </a:solidFill>
            </a:endParaRPr>
          </a:p>
          <a:p>
            <a:pPr>
              <a:lnSpc>
                <a:spcPct val="80000"/>
              </a:lnSpc>
            </a:pPr>
            <a:r>
              <a:rPr lang="en-US" altLang="en-US" dirty="0" smtClean="0"/>
              <a:t>No deadlock, but starvation is possible</a:t>
            </a:r>
          </a:p>
          <a:p>
            <a:pPr>
              <a:lnSpc>
                <a:spcPct val="80000"/>
              </a:lnSpc>
              <a:buFont typeface="Monotype Sorts" pitchFamily="-84" charset="2"/>
              <a:buNone/>
            </a:pPr>
            <a:endParaRPr lang="en-US" altLang="en-US" dirty="0" smtClean="0">
              <a:solidFill>
                <a:srgbClr val="0000FF"/>
              </a:solidFill>
            </a:endParaRPr>
          </a:p>
          <a:p>
            <a:pPr>
              <a:lnSpc>
                <a:spcPct val="80000"/>
              </a:lnSpc>
              <a:buFont typeface="Monotype Sorts" pitchFamily="-84" charset="2"/>
              <a:buNone/>
            </a:pPr>
            <a:endParaRPr lang="en-US" altLang="en-US" dirty="0" smtClean="0">
              <a:solidFill>
                <a:srgbClr val="0000FF"/>
              </a:solidFill>
            </a:endParaRPr>
          </a:p>
          <a:p>
            <a:pPr>
              <a:lnSpc>
                <a:spcPct val="80000"/>
              </a:lnSpc>
              <a:buFont typeface="Monotype Sorts" pitchFamily="-84" charset="2"/>
              <a:buNone/>
            </a:pPr>
            <a:r>
              <a:rPr lang="en-US" altLang="en-US" i="1" dirty="0" smtClean="0">
                <a:solidFill>
                  <a:srgbClr val="0000FF"/>
                </a:solidFill>
              </a:rPr>
              <a:t>       </a:t>
            </a:r>
          </a:p>
        </p:txBody>
      </p:sp>
    </p:spTree>
    <p:extLst>
      <p:ext uri="{BB962C8B-B14F-4D97-AF65-F5344CB8AC3E}">
        <p14:creationId xmlns:p14="http://schemas.microsoft.com/office/powerpoint/2010/main" val="121812273"/>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Solution to Dining Philosophers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B2C6CEF9-8C44-4715-8D7F-DFE8CB838247}" type="datetime1">
              <a:rPr lang="en-US" smtClean="0"/>
              <a:t>11/11/2024</a:t>
            </a:fld>
            <a:endParaRPr lang="en-US"/>
          </a:p>
        </p:txBody>
      </p:sp>
      <p:sp>
        <p:nvSpPr>
          <p:cNvPr id="13" name="Rectangle 3"/>
          <p:cNvSpPr txBox="1">
            <a:spLocks noChangeArrowheads="1"/>
          </p:cNvSpPr>
          <p:nvPr/>
        </p:nvSpPr>
        <p:spPr>
          <a:xfrm>
            <a:off x="1219201" y="1090613"/>
            <a:ext cx="9927167" cy="5268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endParaRPr lang="en-US" altLang="en-US" sz="1600" dirty="0" smtClean="0">
              <a:solidFill>
                <a:srgbClr val="0000FF"/>
              </a:solidFill>
            </a:endParaRPr>
          </a:p>
          <a:p>
            <a:r>
              <a:rPr lang="en-US" sz="2400" dirty="0"/>
              <a:t>Each philosopher</a:t>
            </a:r>
            <a:r>
              <a:rPr lang="en-US" sz="2400" dirty="0" smtClean="0"/>
              <a:t>, before </a:t>
            </a:r>
            <a:r>
              <a:rPr lang="en-US" sz="2400" dirty="0"/>
              <a:t>starting to eat, must invoke the operation pickup(). </a:t>
            </a:r>
            <a:endParaRPr lang="en-US" sz="2400" dirty="0" smtClean="0"/>
          </a:p>
          <a:p>
            <a:endParaRPr lang="en-US" sz="2400" dirty="0" smtClean="0"/>
          </a:p>
          <a:p>
            <a:r>
              <a:rPr lang="en-US" sz="2400" dirty="0" smtClean="0"/>
              <a:t>This </a:t>
            </a:r>
            <a:r>
              <a:rPr lang="en-US" sz="2400" dirty="0"/>
              <a:t>act m</a:t>
            </a:r>
            <a:r>
              <a:rPr lang="en-US" sz="2400" dirty="0" smtClean="0"/>
              <a:t>ay result in </a:t>
            </a:r>
            <a:r>
              <a:rPr lang="en-US" sz="2400" dirty="0"/>
              <a:t>the suspension of the philosopher process. </a:t>
            </a:r>
            <a:endParaRPr lang="en-US" sz="2400" dirty="0" smtClean="0"/>
          </a:p>
          <a:p>
            <a:endParaRPr lang="en-US" sz="2400" dirty="0" smtClean="0"/>
          </a:p>
          <a:p>
            <a:r>
              <a:rPr lang="en-US" sz="2400" dirty="0" smtClean="0"/>
              <a:t>After </a:t>
            </a:r>
            <a:r>
              <a:rPr lang="en-US" sz="2400" dirty="0"/>
              <a:t>the successful completion </a:t>
            </a:r>
            <a:r>
              <a:rPr lang="en-US" sz="2400" dirty="0" smtClean="0"/>
              <a:t>of the </a:t>
            </a:r>
            <a:r>
              <a:rPr lang="en-US" sz="2400" dirty="0"/>
              <a:t>operation, the philosopher may eat</a:t>
            </a:r>
            <a:r>
              <a:rPr lang="en-US" sz="2400" dirty="0" smtClean="0"/>
              <a:t>.</a:t>
            </a:r>
          </a:p>
          <a:p>
            <a:endParaRPr lang="en-US" sz="2400" dirty="0"/>
          </a:p>
          <a:p>
            <a:r>
              <a:rPr lang="en-US" sz="2400" dirty="0" smtClean="0"/>
              <a:t>After eating, philosopher invokes putdown() and start to think</a:t>
            </a:r>
          </a:p>
          <a:p>
            <a:pPr>
              <a:lnSpc>
                <a:spcPct val="80000"/>
              </a:lnSpc>
              <a:buFont typeface="Monotype Sorts" pitchFamily="-84" charset="2"/>
              <a:buNone/>
            </a:pPr>
            <a:endParaRPr lang="en-US" altLang="en-US" sz="2400" dirty="0" smtClean="0">
              <a:solidFill>
                <a:srgbClr val="0000FF"/>
              </a:solidFill>
            </a:endParaRPr>
          </a:p>
          <a:p>
            <a:pPr>
              <a:lnSpc>
                <a:spcPct val="80000"/>
              </a:lnSpc>
              <a:buFont typeface="Monotype Sorts" pitchFamily="-84" charset="2"/>
              <a:buNone/>
            </a:pPr>
            <a:endParaRPr lang="en-US" altLang="en-US" sz="2400" dirty="0" smtClean="0">
              <a:solidFill>
                <a:srgbClr val="0000FF"/>
              </a:solidFill>
            </a:endParaRPr>
          </a:p>
          <a:p>
            <a:pPr>
              <a:lnSpc>
                <a:spcPct val="80000"/>
              </a:lnSpc>
              <a:buFont typeface="Monotype Sorts" pitchFamily="-84" charset="2"/>
              <a:buNone/>
            </a:pPr>
            <a:r>
              <a:rPr lang="en-US" altLang="en-US" i="1" dirty="0" smtClean="0">
                <a:solidFill>
                  <a:srgbClr val="0000FF"/>
                </a:solidFill>
              </a:rPr>
              <a:t>       </a:t>
            </a:r>
          </a:p>
        </p:txBody>
      </p:sp>
    </p:spTree>
    <p:extLst>
      <p:ext uri="{BB962C8B-B14F-4D97-AF65-F5344CB8AC3E}">
        <p14:creationId xmlns:p14="http://schemas.microsoft.com/office/powerpoint/2010/main" val="2715704668"/>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7A2AFA-9E80-4F87-B3B2-19708553D0D5}"/>
              </a:ext>
            </a:extLst>
          </p:cNvPr>
          <p:cNvSpPr>
            <a:spLocks noGrp="1"/>
          </p:cNvSpPr>
          <p:nvPr>
            <p:ph type="title"/>
          </p:nvPr>
        </p:nvSpPr>
        <p:spPr>
          <a:xfrm>
            <a:off x="375710" y="-22923"/>
            <a:ext cx="11395912" cy="555186"/>
          </a:xfrm>
        </p:spPr>
        <p:txBody>
          <a:bodyPr>
            <a:normAutofit/>
          </a:bodyPr>
          <a:lstStyle/>
          <a:p>
            <a:pPr algn="ctr"/>
            <a:r>
              <a:rPr lang="en-US" sz="3200" dirty="0">
                <a:solidFill>
                  <a:srgbClr val="C00000"/>
                </a:solidFill>
                <a:latin typeface="Marcellus" panose="020E0602050203020307" pitchFamily="34" charset="0"/>
              </a:rPr>
              <a:t>Solution to Dining Philosophers </a:t>
            </a:r>
            <a:endParaRPr lang="en-US" sz="3200" dirty="0"/>
          </a:p>
        </p:txBody>
      </p:sp>
      <p:pic>
        <p:nvPicPr>
          <p:cNvPr id="4" name="Picture 3">
            <a:extLst>
              <a:ext uri="{FF2B5EF4-FFF2-40B4-BE49-F238E27FC236}">
                <a16:creationId xmlns="" xmlns:a16="http://schemas.microsoft.com/office/drawing/2014/main" id="{1547C2F5-D0C4-4329-8DC2-48B66EE4F515}"/>
              </a:ext>
            </a:extLst>
          </p:cNvPr>
          <p:cNvPicPr>
            <a:picLocks noChangeAspect="1"/>
          </p:cNvPicPr>
          <p:nvPr/>
        </p:nvPicPr>
        <p:blipFill>
          <a:blip r:embed="rId2"/>
          <a:stretch>
            <a:fillRect/>
          </a:stretch>
        </p:blipFill>
        <p:spPr>
          <a:xfrm rot="5400000">
            <a:off x="5880674" y="567534"/>
            <a:ext cx="385984" cy="12236665"/>
          </a:xfrm>
          <a:prstGeom prst="rect">
            <a:avLst/>
          </a:prstGeom>
        </p:spPr>
      </p:pic>
      <p:pic>
        <p:nvPicPr>
          <p:cNvPr id="5" name="Picture 4">
            <a:extLst>
              <a:ext uri="{FF2B5EF4-FFF2-40B4-BE49-F238E27FC236}">
                <a16:creationId xmlns="" xmlns:a16="http://schemas.microsoft.com/office/drawing/2014/main" id="{B15A553C-6E56-4E14-9B40-3D70033DB61F}"/>
              </a:ext>
            </a:extLst>
          </p:cNvPr>
          <p:cNvPicPr>
            <a:picLocks noChangeAspect="1"/>
          </p:cNvPicPr>
          <p:nvPr/>
        </p:nvPicPr>
        <p:blipFill>
          <a:blip r:embed="rId3"/>
          <a:stretch>
            <a:fillRect/>
          </a:stretch>
        </p:blipFill>
        <p:spPr>
          <a:xfrm rot="5400000">
            <a:off x="4533653" y="1754134"/>
            <a:ext cx="176409" cy="9333048"/>
          </a:xfrm>
          <a:prstGeom prst="rect">
            <a:avLst/>
          </a:prstGeom>
        </p:spPr>
      </p:pic>
      <p:pic>
        <p:nvPicPr>
          <p:cNvPr id="7" name="Content Placeholder 6" descr="A close up of a sign&#10;&#10;Description automatically generated">
            <a:extLst>
              <a:ext uri="{FF2B5EF4-FFF2-40B4-BE49-F238E27FC236}">
                <a16:creationId xmlns="" xmlns:a16="http://schemas.microsoft.com/office/drawing/2014/main" id="{AFB8B780-B92F-4BF8-8EAF-809E1CF54073}"/>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0828421" y="5610533"/>
            <a:ext cx="968545" cy="721920"/>
          </a:xfrm>
          <a:prstGeom prst="rect">
            <a:avLst/>
          </a:prstGeom>
        </p:spPr>
      </p:pic>
      <p:sp>
        <p:nvSpPr>
          <p:cNvPr id="8" name="Subtitle 2">
            <a:extLst>
              <a:ext uri="{FF2B5EF4-FFF2-40B4-BE49-F238E27FC236}">
                <a16:creationId xmlns="" xmlns:a16="http://schemas.microsoft.com/office/drawing/2014/main" id="{5AB99583-1BD7-4DF1-9DBD-299F1C8E7BF2}"/>
              </a:ext>
            </a:extLst>
          </p:cNvPr>
          <p:cNvSpPr txBox="1">
            <a:spLocks/>
          </p:cNvSpPr>
          <p:nvPr/>
        </p:nvSpPr>
        <p:spPr>
          <a:xfrm>
            <a:off x="669758" y="991614"/>
            <a:ext cx="10315074" cy="40171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400" dirty="0">
              <a:solidFill>
                <a:schemeClr val="tx1">
                  <a:lumMod val="85000"/>
                  <a:lumOff val="15000"/>
                </a:schemeClr>
              </a:solidFill>
              <a:latin typeface="Marcellus" panose="020E0602050203020307" pitchFamily="34" charset="0"/>
            </a:endParaRPr>
          </a:p>
        </p:txBody>
      </p:sp>
      <p:pic>
        <p:nvPicPr>
          <p:cNvPr id="9" name="Picture 8" descr="A picture containing drawing&#10;&#10;Description automatically generated">
            <a:extLst>
              <a:ext uri="{FF2B5EF4-FFF2-40B4-BE49-F238E27FC236}">
                <a16:creationId xmlns="" xmlns:a16="http://schemas.microsoft.com/office/drawing/2014/main" id="{81B8989A-C3D5-4971-8D6D-F3A911E415F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0014" y="5440809"/>
            <a:ext cx="3245736" cy="811434"/>
          </a:xfrm>
          <a:prstGeom prst="rect">
            <a:avLst/>
          </a:prstGeom>
        </p:spPr>
      </p:pic>
      <p:sp>
        <p:nvSpPr>
          <p:cNvPr id="3" name="Date Placeholder 2"/>
          <p:cNvSpPr>
            <a:spLocks noGrp="1"/>
          </p:cNvSpPr>
          <p:nvPr>
            <p:ph type="dt" sz="half" idx="10"/>
          </p:nvPr>
        </p:nvSpPr>
        <p:spPr/>
        <p:txBody>
          <a:bodyPr/>
          <a:lstStyle/>
          <a:p>
            <a:fld id="{CD324F76-93F4-4120-B8BA-764DE4A1AC39}" type="datetime1">
              <a:rPr lang="en-US" smtClean="0"/>
              <a:t>11/11/2024</a:t>
            </a:fld>
            <a:endParaRPr lang="en-US"/>
          </a:p>
        </p:txBody>
      </p:sp>
      <p:sp>
        <p:nvSpPr>
          <p:cNvPr id="13" name="Rectangle 3"/>
          <p:cNvSpPr txBox="1">
            <a:spLocks noChangeArrowheads="1"/>
          </p:cNvSpPr>
          <p:nvPr/>
        </p:nvSpPr>
        <p:spPr>
          <a:xfrm>
            <a:off x="1219201" y="1090613"/>
            <a:ext cx="9927167" cy="5268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buFont typeface="Monotype Sorts" pitchFamily="-84" charset="2"/>
              <a:buNone/>
            </a:pPr>
            <a:endParaRPr lang="en-US" altLang="en-US" sz="1600" dirty="0" smtClean="0">
              <a:solidFill>
                <a:srgbClr val="0000FF"/>
              </a:solidFill>
            </a:endParaRPr>
          </a:p>
          <a:p>
            <a:pPr>
              <a:lnSpc>
                <a:spcPct val="80000"/>
              </a:lnSpc>
              <a:buFont typeface="Monotype Sorts" pitchFamily="-84" charset="2"/>
              <a:buNone/>
            </a:pPr>
            <a:endParaRPr lang="en-US" altLang="en-US" dirty="0" smtClean="0">
              <a:solidFill>
                <a:srgbClr val="0000FF"/>
              </a:solidFill>
            </a:endParaRPr>
          </a:p>
          <a:p>
            <a:pPr>
              <a:lnSpc>
                <a:spcPct val="80000"/>
              </a:lnSpc>
            </a:pPr>
            <a:r>
              <a:rPr lang="en-US" dirty="0"/>
              <a:t>Execution of Pickup(), Putdown() and test() are all mutually exclusive, i.e. only one at a time can be </a:t>
            </a:r>
            <a:r>
              <a:rPr lang="en-US" dirty="0" smtClean="0"/>
              <a:t>executing</a:t>
            </a:r>
          </a:p>
          <a:p>
            <a:pPr>
              <a:lnSpc>
                <a:spcPct val="80000"/>
              </a:lnSpc>
            </a:pPr>
            <a:endParaRPr lang="en-US" altLang="en-US" dirty="0" smtClean="0"/>
          </a:p>
          <a:p>
            <a:pPr>
              <a:lnSpc>
                <a:spcPct val="80000"/>
              </a:lnSpc>
            </a:pPr>
            <a:r>
              <a:rPr lang="en-US" altLang="en-US" dirty="0" smtClean="0"/>
              <a:t>No 2 neighbors are eating simultaneously </a:t>
            </a:r>
          </a:p>
          <a:p>
            <a:pPr>
              <a:lnSpc>
                <a:spcPct val="80000"/>
              </a:lnSpc>
            </a:pPr>
            <a:endParaRPr lang="en-US" altLang="en-US" dirty="0" smtClean="0"/>
          </a:p>
          <a:p>
            <a:pPr>
              <a:lnSpc>
                <a:spcPct val="80000"/>
              </a:lnSpc>
            </a:pPr>
            <a:r>
              <a:rPr lang="en-US" altLang="en-US" dirty="0" smtClean="0"/>
              <a:t>So No deadlock, but starvation is possible</a:t>
            </a:r>
          </a:p>
          <a:p>
            <a:pPr>
              <a:lnSpc>
                <a:spcPct val="80000"/>
              </a:lnSpc>
              <a:buFont typeface="Monotype Sorts" pitchFamily="-84" charset="2"/>
              <a:buNone/>
            </a:pPr>
            <a:endParaRPr lang="en-US" altLang="en-US" dirty="0" smtClean="0">
              <a:solidFill>
                <a:srgbClr val="0000FF"/>
              </a:solidFill>
            </a:endParaRPr>
          </a:p>
          <a:p>
            <a:pPr>
              <a:lnSpc>
                <a:spcPct val="80000"/>
              </a:lnSpc>
              <a:buFont typeface="Monotype Sorts" pitchFamily="-84" charset="2"/>
              <a:buNone/>
            </a:pPr>
            <a:endParaRPr lang="en-US" altLang="en-US" dirty="0" smtClean="0">
              <a:solidFill>
                <a:srgbClr val="0000FF"/>
              </a:solidFill>
            </a:endParaRPr>
          </a:p>
          <a:p>
            <a:pPr>
              <a:lnSpc>
                <a:spcPct val="80000"/>
              </a:lnSpc>
              <a:buFont typeface="Monotype Sorts" pitchFamily="-84" charset="2"/>
              <a:buNone/>
            </a:pPr>
            <a:r>
              <a:rPr lang="en-US" altLang="en-US" i="1" dirty="0" smtClean="0">
                <a:solidFill>
                  <a:srgbClr val="0000FF"/>
                </a:solidFill>
              </a:rPr>
              <a:t>       </a:t>
            </a:r>
          </a:p>
        </p:txBody>
      </p:sp>
    </p:spTree>
    <p:extLst>
      <p:ext uri="{BB962C8B-B14F-4D97-AF65-F5344CB8AC3E}">
        <p14:creationId xmlns:p14="http://schemas.microsoft.com/office/powerpoint/2010/main" val="35812339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26689</TotalTime>
  <Words>8015</Words>
  <Application>Microsoft Office PowerPoint</Application>
  <PresentationFormat>Custom</PresentationFormat>
  <Paragraphs>1677</Paragraphs>
  <Slides>138</Slides>
  <Notes>23</Notes>
  <HiddenSlides>0</HiddenSlides>
  <MMClips>0</MMClips>
  <ScaleCrop>false</ScaleCrop>
  <HeadingPairs>
    <vt:vector size="4" baseType="variant">
      <vt:variant>
        <vt:lpstr>Theme</vt:lpstr>
      </vt:variant>
      <vt:variant>
        <vt:i4>2</vt:i4>
      </vt:variant>
      <vt:variant>
        <vt:lpstr>Slide Titles</vt:lpstr>
      </vt:variant>
      <vt:variant>
        <vt:i4>138</vt:i4>
      </vt:variant>
    </vt:vector>
  </HeadingPairs>
  <TitlesOfParts>
    <vt:vector size="140" baseType="lpstr">
      <vt:lpstr>Office Theme</vt:lpstr>
      <vt:lpstr>2_Custom Design</vt:lpstr>
      <vt:lpstr>Process Synchronization</vt:lpstr>
      <vt:lpstr>Process Synchronization</vt:lpstr>
      <vt:lpstr>Producer Consumer Problem Revisited</vt:lpstr>
      <vt:lpstr>Producer Consumer Problem</vt:lpstr>
      <vt:lpstr>Issue? </vt:lpstr>
      <vt:lpstr>Producer Consumer Problem Revisited</vt:lpstr>
      <vt:lpstr>Producer Consumer Problem Revisited</vt:lpstr>
      <vt:lpstr>The Critical Section Problem</vt:lpstr>
      <vt:lpstr>The Critical Section Problem</vt:lpstr>
      <vt:lpstr>The Critical Section Problem</vt:lpstr>
      <vt:lpstr>The Critical Section Problem</vt:lpstr>
      <vt:lpstr>The Critical Section Problem</vt:lpstr>
      <vt:lpstr>Reading Assignment; why bounded waiting?</vt:lpstr>
      <vt:lpstr>The Critical Section Problem</vt:lpstr>
      <vt:lpstr>Reading slides: Critical-Section Handling in OS </vt:lpstr>
      <vt:lpstr>Solutions to Mutual exclusion problems</vt:lpstr>
      <vt:lpstr>solution mechanisms to achieve concurrency</vt:lpstr>
      <vt:lpstr>Requirements for mutual exclusion</vt:lpstr>
      <vt:lpstr>Illustration of Mutual Exclusion</vt:lpstr>
      <vt:lpstr>Software support</vt:lpstr>
      <vt:lpstr>Reading Assignment</vt:lpstr>
      <vt:lpstr>Reading Assignment</vt:lpstr>
      <vt:lpstr>Correct solutions: Dekker’s solution</vt:lpstr>
      <vt:lpstr>Correct solutions: Peterson’s solution</vt:lpstr>
      <vt:lpstr>Expected outcome of reading assignment:  Detect Livelock Detect Deadlock Detect bounded waiting Detect Progress </vt:lpstr>
      <vt:lpstr>Livelock situation while inserting a node in BST</vt:lpstr>
      <vt:lpstr>Deadlock situation</vt:lpstr>
      <vt:lpstr>Busywait situation while inserting a node in BST</vt:lpstr>
      <vt:lpstr>Hardware Synchronization</vt:lpstr>
      <vt:lpstr>Hardware approaches to enforce mutual exclusion</vt:lpstr>
      <vt:lpstr>Disabling interrupt</vt:lpstr>
      <vt:lpstr>Disabling interrupt</vt:lpstr>
      <vt:lpstr>Analysis: Disabling interrupt</vt:lpstr>
      <vt:lpstr>Special Machine Instructions:  </vt:lpstr>
      <vt:lpstr>Special Machine Instructions: Compare &amp; Swap  </vt:lpstr>
      <vt:lpstr>test_and_set  Instruction </vt:lpstr>
      <vt:lpstr>test_and_set  Instruction </vt:lpstr>
      <vt:lpstr>Mutual-exclusion implementation with TestAndSet ()</vt:lpstr>
      <vt:lpstr>Mutual-exclusion implementation with TestAndSet ()</vt:lpstr>
      <vt:lpstr>swap  Instruction </vt:lpstr>
      <vt:lpstr>Mutual-exclusion implementation with swap ()</vt:lpstr>
      <vt:lpstr>Mutual-exclusion implementation with swap ()</vt:lpstr>
      <vt:lpstr>Mutual-exclusion implementation with swap ()</vt:lpstr>
      <vt:lpstr>Reading Assignment: Hardware Synchronization</vt:lpstr>
      <vt:lpstr>Reading Assignment: Bounded Waiting implementation with test and set ()</vt:lpstr>
      <vt:lpstr>Reading Assignment: Bounded Waiting implementation with test and set ()</vt:lpstr>
      <vt:lpstr>Reading Assignment: Bounded Waiting implementation with test and set ()</vt:lpstr>
      <vt:lpstr>Reading Assignment: Bounded Waiting implementation with test and set ()</vt:lpstr>
      <vt:lpstr>Reading Assignment: Bounded Waiting implementation with test and set ()</vt:lpstr>
      <vt:lpstr>Advantages of hardware approaches to enforce mutual exclusion.</vt:lpstr>
      <vt:lpstr>Disadvantages of hardware approaches to enforce mutual exclusion.</vt:lpstr>
      <vt:lpstr>Semaphores</vt:lpstr>
      <vt:lpstr>Semaphore </vt:lpstr>
      <vt:lpstr>Semaphores : Types of semaphore </vt:lpstr>
      <vt:lpstr>Mutex</vt:lpstr>
      <vt:lpstr>Mutex and Binary Semaphores</vt:lpstr>
      <vt:lpstr>Mutex and Binary Semaphores</vt:lpstr>
      <vt:lpstr>semaphore primitives</vt:lpstr>
      <vt:lpstr>Definition of Semaphore Primitives</vt:lpstr>
      <vt:lpstr>PowerPoint Presentation</vt:lpstr>
      <vt:lpstr>Binary Semaphore</vt:lpstr>
      <vt:lpstr>Mutual Exclusion using Binary Semaphore</vt:lpstr>
      <vt:lpstr>Semaphore</vt:lpstr>
      <vt:lpstr>Semaphore</vt:lpstr>
      <vt:lpstr>PowerPoint Presentation</vt:lpstr>
      <vt:lpstr>PowerPoint Presentation</vt:lpstr>
      <vt:lpstr>PowerPoint Presentation</vt:lpstr>
      <vt:lpstr>Semaphore Definition</vt:lpstr>
      <vt:lpstr>Semaphore Definition</vt:lpstr>
      <vt:lpstr>Implementation with no busy waiting</vt:lpstr>
      <vt:lpstr>Implementation with no busy waiting</vt:lpstr>
      <vt:lpstr>Implementation with no busy waiting</vt:lpstr>
      <vt:lpstr>Implementation with no busy waiting</vt:lpstr>
      <vt:lpstr>Implementation with no busy waiting</vt:lpstr>
      <vt:lpstr>Implementation with no busy waiting</vt:lpstr>
      <vt:lpstr>Implementation with no busy waiting</vt:lpstr>
      <vt:lpstr>Implementation with no busy waiting</vt:lpstr>
      <vt:lpstr>Dining Philosophers problem</vt:lpstr>
      <vt:lpstr>Dining-Philosophers Problem</vt:lpstr>
      <vt:lpstr>Dining-Philosophers Problem</vt:lpstr>
      <vt:lpstr>Dining-Philosophers Problem</vt:lpstr>
      <vt:lpstr>Dining-Philosophers Problem</vt:lpstr>
      <vt:lpstr>Semaphore Solution for Dining-Philosophers Problem</vt:lpstr>
      <vt:lpstr>Semaphore Solution for Dining-Philosophers Problem Algorithm</vt:lpstr>
      <vt:lpstr>Semaphore Solution for Dining-Philosophers Problem Algorithm</vt:lpstr>
      <vt:lpstr>Semaphore Solution for Dining-Philosophers Problem Algorithm</vt:lpstr>
      <vt:lpstr>Semaphore Solution for Dining-Philosophers Problem Algorithm</vt:lpstr>
      <vt:lpstr>Dining Philosopher’s problem</vt:lpstr>
      <vt:lpstr>PowerPoint Presentation</vt:lpstr>
      <vt:lpstr>Analysis </vt:lpstr>
      <vt:lpstr>Analysis</vt:lpstr>
      <vt:lpstr>Semaphore Solution for Dining-Philosophers Problem Algorithm</vt:lpstr>
      <vt:lpstr>PowerPoint Presentation</vt:lpstr>
      <vt:lpstr>Analysis</vt:lpstr>
      <vt:lpstr>Readers-Writers Problem</vt:lpstr>
      <vt:lpstr>Readers-Writers Problem</vt:lpstr>
      <vt:lpstr>Readers-Writers Problem</vt:lpstr>
      <vt:lpstr>Concurrency and Synchronization Issues</vt:lpstr>
      <vt:lpstr>Concurrency and Synchronization Issues</vt:lpstr>
      <vt:lpstr>Example- a library catalog</vt:lpstr>
      <vt:lpstr>Producer/Consumer vs Readers/Writers</vt:lpstr>
      <vt:lpstr>Readers-Writers Problem</vt:lpstr>
      <vt:lpstr>R-W Problem  </vt:lpstr>
      <vt:lpstr>W-R Problem  </vt:lpstr>
      <vt:lpstr>W-W Problem </vt:lpstr>
      <vt:lpstr>R-R Problem  </vt:lpstr>
      <vt:lpstr>Mutex solution for fair readers-writers problem</vt:lpstr>
      <vt:lpstr>Analysis of Fairness</vt:lpstr>
      <vt:lpstr>Solution for Fair Readers-Writers Problem Using Semaphores </vt:lpstr>
      <vt:lpstr>Fairness &amp; Performance Summary</vt:lpstr>
      <vt:lpstr>Fair share with semaphores- Starvation and Livelock Considerations</vt:lpstr>
      <vt:lpstr>Solution to readers-writers : comparison</vt:lpstr>
      <vt:lpstr>Monitors</vt:lpstr>
      <vt:lpstr>Monitors</vt:lpstr>
      <vt:lpstr>Schematic view of a Monitor</vt:lpstr>
      <vt:lpstr>Syntax of Monitors</vt:lpstr>
      <vt:lpstr>Monitors</vt:lpstr>
      <vt:lpstr>Monitors</vt:lpstr>
      <vt:lpstr>Monitors</vt:lpstr>
      <vt:lpstr>Condition Variables</vt:lpstr>
      <vt:lpstr>Condition Variables</vt:lpstr>
      <vt:lpstr>Monitor with Condition Variables</vt:lpstr>
      <vt:lpstr>Condition Variables Choices</vt:lpstr>
      <vt:lpstr>Condition Variables Choices</vt:lpstr>
      <vt:lpstr>Condition Variables Choices</vt:lpstr>
      <vt:lpstr>Monitor control structure</vt:lpstr>
      <vt:lpstr>Bounded buffer PC using Monitors</vt:lpstr>
      <vt:lpstr>Explanation of Solution</vt:lpstr>
      <vt:lpstr>Analysis of Solution</vt:lpstr>
      <vt:lpstr>Monitors</vt:lpstr>
      <vt:lpstr>Monitor Solution to Dining Philosophers </vt:lpstr>
      <vt:lpstr>Monitor Solution to Dining Philosophers </vt:lpstr>
      <vt:lpstr>Monitor Solution to Dining Philosophers </vt:lpstr>
      <vt:lpstr>Monitor Solution to Dining Philosophers </vt:lpstr>
      <vt:lpstr>Monitor Solution to Dining Philosophers </vt:lpstr>
      <vt:lpstr>Solution to Dining Philosophers </vt:lpstr>
      <vt:lpstr>Solution to Dining Philosophers </vt:lpstr>
      <vt:lpstr>Solution to Dining Philosophers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Swati Mali</dc:creator>
  <cp:lastModifiedBy>Swati</cp:lastModifiedBy>
  <cp:revision>417</cp:revision>
  <dcterms:created xsi:type="dcterms:W3CDTF">2020-04-30T07:52:47Z</dcterms:created>
  <dcterms:modified xsi:type="dcterms:W3CDTF">2024-11-11T05:14:43Z</dcterms:modified>
</cp:coreProperties>
</file>
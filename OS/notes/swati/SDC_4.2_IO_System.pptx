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60" r:id="rId4"/>
    <p:sldId id="258" r:id="rId5"/>
    <p:sldId id="308" r:id="rId6"/>
    <p:sldId id="291" r:id="rId7"/>
    <p:sldId id="288" r:id="rId8"/>
    <p:sldId id="317" r:id="rId9"/>
    <p:sldId id="318" r:id="rId10"/>
    <p:sldId id="323" r:id="rId11"/>
    <p:sldId id="272" r:id="rId12"/>
    <p:sldId id="268" r:id="rId13"/>
    <p:sldId id="273" r:id="rId14"/>
    <p:sldId id="274" r:id="rId15"/>
    <p:sldId id="281" r:id="rId16"/>
    <p:sldId id="282" r:id="rId17"/>
    <p:sldId id="283" r:id="rId18"/>
    <p:sldId id="287" r:id="rId19"/>
    <p:sldId id="285" r:id="rId20"/>
    <p:sldId id="284" r:id="rId21"/>
    <p:sldId id="324" r:id="rId22"/>
    <p:sldId id="286" r:id="rId23"/>
    <p:sldId id="319" r:id="rId24"/>
    <p:sldId id="320" r:id="rId25"/>
    <p:sldId id="321" r:id="rId26"/>
    <p:sldId id="322" r:id="rId27"/>
    <p:sldId id="270" r:id="rId28"/>
    <p:sldId id="269" r:id="rId29"/>
    <p:sldId id="279" r:id="rId30"/>
    <p:sldId id="289" r:id="rId31"/>
    <p:sldId id="277" r:id="rId32"/>
    <p:sldId id="278" r:id="rId33"/>
    <p:sldId id="280" r:id="rId34"/>
    <p:sldId id="275" r:id="rId35"/>
    <p:sldId id="27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8" d="100"/>
          <a:sy n="68" d="100"/>
        </p:scale>
        <p:origin x="-1144"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623897-3F95-47D5-B6DB-303640F9A00B}" type="datetimeFigureOut">
              <a:rPr lang="en-US" smtClean="0"/>
              <a:t>11/11/2024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E9CABF-384F-4369-8C3A-92DEC941DB17}" type="slidenum">
              <a:rPr lang="en-US" smtClean="0"/>
              <a:t>‹#›</a:t>
            </a:fld>
            <a:endParaRPr lang="en-US"/>
          </a:p>
        </p:txBody>
      </p:sp>
    </p:spTree>
    <p:extLst>
      <p:ext uri="{BB962C8B-B14F-4D97-AF65-F5344CB8AC3E}">
        <p14:creationId xmlns:p14="http://schemas.microsoft.com/office/powerpoint/2010/main" val="372142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4C6BDB-7CA7-4306-9EB9-8FFAEC7314EC}" type="slidenum">
              <a:rPr lang="en-US" altLang="en-US" smtClean="0">
                <a:latin typeface="Helvetica" pitchFamily="-84" charset="0"/>
              </a:rPr>
              <a:pPr/>
              <a:t>4</a:t>
            </a:fld>
            <a:endParaRPr lang="en-US" altLang="en-US" smtClean="0">
              <a:latin typeface="Helvetica" pitchFamily="-8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4C6BDB-7CA7-4306-9EB9-8FFAEC7314EC}" type="slidenum">
              <a:rPr lang="en-US" altLang="en-US" smtClean="0">
                <a:latin typeface="Helvetica" pitchFamily="-84" charset="0"/>
              </a:rPr>
              <a:pPr/>
              <a:t>5</a:t>
            </a:fld>
            <a:endParaRPr lang="en-US" altLang="en-US" smtClean="0">
              <a:latin typeface="Helvetica" pitchFamily="-8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4C6BDB-7CA7-4306-9EB9-8FFAEC7314EC}" type="slidenum">
              <a:rPr lang="en-US" altLang="en-US" smtClean="0">
                <a:latin typeface="Helvetica" pitchFamily="-84" charset="0"/>
              </a:rPr>
              <a:pPr/>
              <a:t>6</a:t>
            </a:fld>
            <a:endParaRPr lang="en-US" altLang="en-US" smtClean="0">
              <a:latin typeface="Helvetica" pitchFamily="-8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4C6BDB-7CA7-4306-9EB9-8FFAEC7314EC}" type="slidenum">
              <a:rPr lang="en-US" altLang="en-US" smtClean="0">
                <a:latin typeface="Helvetica" pitchFamily="-84" charset="0"/>
              </a:rPr>
              <a:pPr/>
              <a:t>7</a:t>
            </a:fld>
            <a:endParaRPr lang="en-US" altLang="en-US" smtClean="0">
              <a:latin typeface="Helvetica" pitchFamily="-8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4C6BDB-7CA7-4306-9EB9-8FFAEC7314EC}" type="slidenum">
              <a:rPr lang="en-US" altLang="en-US" smtClean="0">
                <a:latin typeface="Helvetica" pitchFamily="-84" charset="0"/>
              </a:rPr>
              <a:pPr/>
              <a:t>8</a:t>
            </a:fld>
            <a:endParaRPr lang="en-US" altLang="en-US" smtClean="0">
              <a:latin typeface="Helvetica" pitchFamily="-8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4C6BDB-7CA7-4306-9EB9-8FFAEC7314EC}" type="slidenum">
              <a:rPr lang="en-US" altLang="en-US" smtClean="0">
                <a:latin typeface="Helvetica" pitchFamily="-84" charset="0"/>
              </a:rPr>
              <a:pPr/>
              <a:t>9</a:t>
            </a:fld>
            <a:endParaRPr lang="en-US" altLang="en-US" smtClean="0">
              <a:latin typeface="Helvetica" pitchFamily="-8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4C6BDB-7CA7-4306-9EB9-8FFAEC7314EC}" type="slidenum">
              <a:rPr lang="en-US" altLang="en-US" smtClean="0">
                <a:latin typeface="Helvetica" pitchFamily="-84" charset="0"/>
              </a:rPr>
              <a:pPr/>
              <a:t>10</a:t>
            </a:fld>
            <a:endParaRPr lang="en-US" altLang="en-US" smtClean="0">
              <a:latin typeface="Helvetica" pitchFamily="-8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E9CABF-384F-4369-8C3A-92DEC941DB17}" type="slidenum">
              <a:rPr lang="en-US" smtClean="0"/>
              <a:t>16</a:t>
            </a:fld>
            <a:endParaRPr lang="en-US"/>
          </a:p>
        </p:txBody>
      </p:sp>
    </p:spTree>
    <p:extLst>
      <p:ext uri="{BB962C8B-B14F-4D97-AF65-F5344CB8AC3E}">
        <p14:creationId xmlns:p14="http://schemas.microsoft.com/office/powerpoint/2010/main" val="3791800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95C605A-5979-4672-B5B7-05433EF71D1B}"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3791976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BCC7CF-4C0A-45EF-B0C3-CDB42C922B7B}"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2649961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2708B5-700F-4FE4-BF59-C4EBFDB4F197}"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1862394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BE0269B-9DE6-4BAC-A088-049B3C98AE21}" type="datetime1">
              <a:rPr lang="en-US" smtClean="0"/>
              <a:t>11/11/2024</a:t>
            </a:fld>
            <a:endParaRPr lang="en-US"/>
          </a:p>
        </p:txBody>
      </p:sp>
      <p:sp>
        <p:nvSpPr>
          <p:cNvPr id="6" name="Footer Placeholder 5"/>
          <p:cNvSpPr>
            <a:spLocks noGrp="1"/>
          </p:cNvSpPr>
          <p:nvPr>
            <p:ph type="ftr" sz="quarter" idx="11"/>
          </p:nvPr>
        </p:nvSpPr>
        <p:spPr/>
        <p:txBody>
          <a:bodyPr/>
          <a:lstStyle/>
          <a:p>
            <a:r>
              <a:rPr lang="en-US" smtClean="0"/>
              <a:t>Prof. Shweta Dhawan Chachra</a:t>
            </a:r>
            <a:endParaRPr lang="en-US"/>
          </a:p>
        </p:txBody>
      </p:sp>
      <p:sp>
        <p:nvSpPr>
          <p:cNvPr id="7" name="Slide Number Placeholder 6"/>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202428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0D14ED-BCDA-4179-A610-16829CC0BC9B}" type="datetime1">
              <a:rPr lang="en-US" smtClean="0"/>
              <a:t>11/11/2024</a:t>
            </a:fld>
            <a:endParaRPr lang="en-US"/>
          </a:p>
        </p:txBody>
      </p:sp>
      <p:sp>
        <p:nvSpPr>
          <p:cNvPr id="8" name="Footer Placeholder 7"/>
          <p:cNvSpPr>
            <a:spLocks noGrp="1"/>
          </p:cNvSpPr>
          <p:nvPr>
            <p:ph type="ftr" sz="quarter" idx="11"/>
          </p:nvPr>
        </p:nvSpPr>
        <p:spPr/>
        <p:txBody>
          <a:bodyPr/>
          <a:lstStyle/>
          <a:p>
            <a:r>
              <a:rPr lang="en-US" smtClean="0"/>
              <a:t>Prof. Shweta Dhawan Chachra</a:t>
            </a:r>
            <a:endParaRPr lang="en-US"/>
          </a:p>
        </p:txBody>
      </p:sp>
      <p:sp>
        <p:nvSpPr>
          <p:cNvPr id="9" name="Slide Number Placeholder 8"/>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1547629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AD5643-6D0F-4EAC-8D11-AEC8C721AE31}"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953566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69C47C-8659-4BAE-AE83-68283CFC8087}" type="datetime1">
              <a:rPr lang="en-US" smtClean="0"/>
              <a:t>11/11/2024</a:t>
            </a:fld>
            <a:endParaRPr lang="en-US"/>
          </a:p>
        </p:txBody>
      </p:sp>
      <p:sp>
        <p:nvSpPr>
          <p:cNvPr id="3" name="Footer Placeholder 2"/>
          <p:cNvSpPr>
            <a:spLocks noGrp="1"/>
          </p:cNvSpPr>
          <p:nvPr>
            <p:ph type="ftr" sz="quarter" idx="11"/>
          </p:nvPr>
        </p:nvSpPr>
        <p:spPr/>
        <p:txBody>
          <a:bodyPr/>
          <a:lstStyle/>
          <a:p>
            <a:r>
              <a:rPr lang="en-US" smtClean="0"/>
              <a:t>Prof. Shweta Dhawan Chachra</a:t>
            </a:r>
            <a:endParaRPr lang="en-US"/>
          </a:p>
        </p:txBody>
      </p:sp>
      <p:sp>
        <p:nvSpPr>
          <p:cNvPr id="4" name="Slide Number Placeholder 3"/>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1668086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02AFB8-F566-4266-8ED2-11E7ED2A33DB}" type="datetime1">
              <a:rPr lang="en-US" smtClean="0"/>
              <a:t>11/11/2024</a:t>
            </a:fld>
            <a:endParaRPr lang="en-US"/>
          </a:p>
        </p:txBody>
      </p:sp>
      <p:sp>
        <p:nvSpPr>
          <p:cNvPr id="6" name="Footer Placeholder 5"/>
          <p:cNvSpPr>
            <a:spLocks noGrp="1"/>
          </p:cNvSpPr>
          <p:nvPr>
            <p:ph type="ftr" sz="quarter" idx="11"/>
          </p:nvPr>
        </p:nvSpPr>
        <p:spPr/>
        <p:txBody>
          <a:bodyPr/>
          <a:lstStyle/>
          <a:p>
            <a:r>
              <a:rPr lang="en-US" smtClean="0"/>
              <a:t>Prof. Shweta Dhawan Chachra</a:t>
            </a:r>
            <a:endParaRPr lang="en-US"/>
          </a:p>
        </p:txBody>
      </p:sp>
      <p:sp>
        <p:nvSpPr>
          <p:cNvPr id="7" name="Slide Number Placeholder 6"/>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1065583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B97944-2521-4FD9-80D8-0F03EB16F594}" type="datetime1">
              <a:rPr lang="en-US" smtClean="0"/>
              <a:t>11/11/2024</a:t>
            </a:fld>
            <a:endParaRPr lang="en-US"/>
          </a:p>
        </p:txBody>
      </p:sp>
      <p:sp>
        <p:nvSpPr>
          <p:cNvPr id="6" name="Footer Placeholder 5"/>
          <p:cNvSpPr>
            <a:spLocks noGrp="1"/>
          </p:cNvSpPr>
          <p:nvPr>
            <p:ph type="ftr" sz="quarter" idx="11"/>
          </p:nvPr>
        </p:nvSpPr>
        <p:spPr/>
        <p:txBody>
          <a:bodyPr/>
          <a:lstStyle/>
          <a:p>
            <a:r>
              <a:rPr lang="en-US" smtClean="0"/>
              <a:t>Prof. Shweta Dhawan Chachra</a:t>
            </a:r>
            <a:endParaRPr lang="en-US"/>
          </a:p>
        </p:txBody>
      </p:sp>
      <p:sp>
        <p:nvSpPr>
          <p:cNvPr id="7" name="Slide Number Placeholder 6"/>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606145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32AD46-93E6-4388-84B9-F8FEE31CCC3C}"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1771894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4312D8-4A6B-4657-9D56-A7A2FAC776B6}"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a:t>
            </a:fld>
            <a:endParaRPr lang="en-US"/>
          </a:p>
        </p:txBody>
      </p:sp>
    </p:spTree>
    <p:extLst>
      <p:ext uri="{BB962C8B-B14F-4D97-AF65-F5344CB8AC3E}">
        <p14:creationId xmlns:p14="http://schemas.microsoft.com/office/powerpoint/2010/main" val="2067310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24D58F-5B7B-42EE-BE50-0DC2E28F88BD}" type="datetime1">
              <a:rPr lang="en-US" smtClean="0"/>
              <a:t>11/11/2024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Prof. Shweta Dhawan Chachra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891C86-C030-48BB-AD24-5C827D1B826C}" type="slidenum">
              <a:rPr lang="en-US" smtClean="0"/>
              <a:t>‹#›</a:t>
            </a:fld>
            <a:endParaRPr lang="en-US"/>
          </a:p>
        </p:txBody>
      </p:sp>
    </p:spTree>
    <p:extLst>
      <p:ext uri="{BB962C8B-B14F-4D97-AF65-F5344CB8AC3E}">
        <p14:creationId xmlns:p14="http://schemas.microsoft.com/office/powerpoint/2010/main" val="2565715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I/O Management</a:t>
            </a:r>
            <a:endParaRPr lang="en-US" dirty="0"/>
          </a:p>
        </p:txBody>
      </p:sp>
      <p:sp>
        <p:nvSpPr>
          <p:cNvPr id="3" name="Subtitle 2"/>
          <p:cNvSpPr>
            <a:spLocks noGrp="1"/>
          </p:cNvSpPr>
          <p:nvPr>
            <p:ph type="subTitle" idx="1"/>
          </p:nvPr>
        </p:nvSpPr>
        <p:spPr/>
        <p:txBody>
          <a:bodyPr/>
          <a:lstStyle/>
          <a:p>
            <a:endParaRPr lang="en-US"/>
          </a:p>
        </p:txBody>
      </p:sp>
      <p:sp>
        <p:nvSpPr>
          <p:cNvPr id="4" name="Date Placeholder 3"/>
          <p:cNvSpPr>
            <a:spLocks noGrp="1"/>
          </p:cNvSpPr>
          <p:nvPr>
            <p:ph type="dt" sz="half" idx="10"/>
          </p:nvPr>
        </p:nvSpPr>
        <p:spPr/>
        <p:txBody>
          <a:bodyPr/>
          <a:lstStyle/>
          <a:p>
            <a:fld id="{99AE0ABE-A7DC-464C-9EB0-1975ECC966FE}"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1</a:t>
            </a:fld>
            <a:endParaRPr lang="en-US"/>
          </a:p>
        </p:txBody>
      </p:sp>
    </p:spTree>
    <p:extLst>
      <p:ext uri="{BB962C8B-B14F-4D97-AF65-F5344CB8AC3E}">
        <p14:creationId xmlns:p14="http://schemas.microsoft.com/office/powerpoint/2010/main" val="1160357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7000"/>
            <a:ext cx="8229600" cy="576263"/>
          </a:xfrm>
        </p:spPr>
        <p:txBody>
          <a:bodyPr>
            <a:normAutofit fontScale="90000"/>
          </a:bodyPr>
          <a:lstStyle/>
          <a:p>
            <a:r>
              <a:rPr lang="en-US" altLang="en-US" dirty="0" smtClean="0"/>
              <a:t>I/O Management</a:t>
            </a:r>
          </a:p>
        </p:txBody>
      </p:sp>
      <p:sp>
        <p:nvSpPr>
          <p:cNvPr id="6147" name="Content Placeholder 2"/>
          <p:cNvSpPr>
            <a:spLocks noGrp="1"/>
          </p:cNvSpPr>
          <p:nvPr>
            <p:ph idx="1"/>
          </p:nvPr>
        </p:nvSpPr>
        <p:spPr>
          <a:xfrm>
            <a:off x="820738" y="1165225"/>
            <a:ext cx="7258050" cy="4530725"/>
          </a:xfrm>
        </p:spPr>
        <p:txBody>
          <a:bodyPr>
            <a:normAutofit/>
          </a:bodyPr>
          <a:lstStyle/>
          <a:p>
            <a:r>
              <a:rPr lang="en-US" altLang="en-US" sz="2800" dirty="0" smtClean="0"/>
              <a:t>I/O management is a </a:t>
            </a:r>
            <a:r>
              <a:rPr lang="en-US" altLang="en-US" sz="2800" b="1" dirty="0" smtClean="0">
                <a:solidFill>
                  <a:srgbClr val="0070C0"/>
                </a:solidFill>
              </a:rPr>
              <a:t>major component of operating system design and operation</a:t>
            </a:r>
          </a:p>
          <a:p>
            <a:pPr lvl="1"/>
            <a:r>
              <a:rPr lang="en-US" altLang="en-US" sz="2400" dirty="0" smtClean="0"/>
              <a:t>Important aspect of computer operation</a:t>
            </a:r>
          </a:p>
          <a:p>
            <a:pPr lvl="1"/>
            <a:r>
              <a:rPr lang="en-US" altLang="en-US" sz="2400" b="1" dirty="0" smtClean="0">
                <a:solidFill>
                  <a:srgbClr val="0070C0"/>
                </a:solidFill>
              </a:rPr>
              <a:t>I/O devices vary greatly</a:t>
            </a:r>
          </a:p>
          <a:p>
            <a:pPr lvl="1"/>
            <a:r>
              <a:rPr lang="en-US" altLang="en-US" sz="2400" b="1" dirty="0" smtClean="0">
                <a:solidFill>
                  <a:srgbClr val="0070C0"/>
                </a:solidFill>
              </a:rPr>
              <a:t>Various methods to control them</a:t>
            </a:r>
          </a:p>
          <a:p>
            <a:pPr lvl="1"/>
            <a:r>
              <a:rPr lang="en-US" altLang="en-US" sz="2400" dirty="0" smtClean="0"/>
              <a:t>Performance management </a:t>
            </a:r>
          </a:p>
          <a:p>
            <a:pPr lvl="1"/>
            <a:r>
              <a:rPr lang="en-US" altLang="en-US" sz="2400" dirty="0" smtClean="0"/>
              <a:t>New types of devices</a:t>
            </a:r>
            <a:endParaRPr lang="en-US" altLang="en-US" dirty="0" smtClean="0"/>
          </a:p>
          <a:p>
            <a:pPr lvl="1"/>
            <a:endParaRPr lang="en-US" altLang="en-US" dirty="0" smtClean="0"/>
          </a:p>
          <a:p>
            <a:pPr lvl="1">
              <a:buFont typeface="Monotype Sorts" pitchFamily="-84" charset="2"/>
              <a:buNone/>
            </a:pPr>
            <a:endParaRPr lang="en-US" altLang="en-US" dirty="0" smtClean="0"/>
          </a:p>
        </p:txBody>
      </p:sp>
      <p:sp>
        <p:nvSpPr>
          <p:cNvPr id="2" name="Date Placeholder 1"/>
          <p:cNvSpPr>
            <a:spLocks noGrp="1"/>
          </p:cNvSpPr>
          <p:nvPr>
            <p:ph type="dt" sz="half" idx="10"/>
          </p:nvPr>
        </p:nvSpPr>
        <p:spPr/>
        <p:txBody>
          <a:bodyPr/>
          <a:lstStyle/>
          <a:p>
            <a:fld id="{66E66E86-5C25-4201-B5B3-25EA257E686B}" type="datetime1">
              <a:rPr lang="en-US" smtClean="0"/>
              <a:t>11/11/2024</a:t>
            </a:fld>
            <a:endParaRPr lang="en-US"/>
          </a:p>
        </p:txBody>
      </p:sp>
      <p:sp>
        <p:nvSpPr>
          <p:cNvPr id="3" name="Footer Placeholder 2"/>
          <p:cNvSpPr>
            <a:spLocks noGrp="1"/>
          </p:cNvSpPr>
          <p:nvPr>
            <p:ph type="ftr" sz="quarter" idx="11"/>
          </p:nvPr>
        </p:nvSpPr>
        <p:spPr/>
        <p:txBody>
          <a:bodyPr/>
          <a:lstStyle/>
          <a:p>
            <a:r>
              <a:rPr lang="en-US" smtClean="0"/>
              <a:t>Prof. Shweta Dhawan Chachra</a:t>
            </a:r>
            <a:endParaRPr lang="en-US"/>
          </a:p>
        </p:txBody>
      </p:sp>
      <p:sp>
        <p:nvSpPr>
          <p:cNvPr id="4" name="Slide Number Placeholder 3"/>
          <p:cNvSpPr>
            <a:spLocks noGrp="1"/>
          </p:cNvSpPr>
          <p:nvPr>
            <p:ph type="sldNum" sz="quarter" idx="12"/>
          </p:nvPr>
        </p:nvSpPr>
        <p:spPr/>
        <p:txBody>
          <a:bodyPr/>
          <a:lstStyle/>
          <a:p>
            <a:fld id="{BF891C86-C030-48BB-AD24-5C827D1B826C}" type="slidenum">
              <a:rPr lang="en-US" smtClean="0"/>
              <a:t>2</a:t>
            </a:fld>
            <a:endParaRPr lang="en-US"/>
          </a:p>
        </p:txBody>
      </p:sp>
    </p:spTree>
    <p:extLst>
      <p:ext uri="{BB962C8B-B14F-4D97-AF65-F5344CB8AC3E}">
        <p14:creationId xmlns:p14="http://schemas.microsoft.com/office/powerpoint/2010/main" val="42053819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7000"/>
            <a:ext cx="8229600" cy="576263"/>
          </a:xfrm>
        </p:spPr>
        <p:txBody>
          <a:bodyPr>
            <a:normAutofit fontScale="90000"/>
          </a:bodyPr>
          <a:lstStyle/>
          <a:p>
            <a:r>
              <a:rPr lang="en-US" altLang="en-US" dirty="0" smtClean="0"/>
              <a:t>I/O Management</a:t>
            </a:r>
          </a:p>
        </p:txBody>
      </p:sp>
      <p:sp>
        <p:nvSpPr>
          <p:cNvPr id="6147" name="Content Placeholder 2"/>
          <p:cNvSpPr>
            <a:spLocks noGrp="1"/>
          </p:cNvSpPr>
          <p:nvPr>
            <p:ph idx="1"/>
          </p:nvPr>
        </p:nvSpPr>
        <p:spPr>
          <a:xfrm>
            <a:off x="820738" y="1165225"/>
            <a:ext cx="7258050" cy="4530725"/>
          </a:xfrm>
        </p:spPr>
        <p:txBody>
          <a:bodyPr>
            <a:normAutofit/>
          </a:bodyPr>
          <a:lstStyle/>
          <a:p>
            <a:r>
              <a:rPr lang="en-US" altLang="en-US" sz="2400" dirty="0" smtClean="0"/>
              <a:t>Ports, buses, device controllers </a:t>
            </a:r>
            <a:r>
              <a:rPr lang="en-US" altLang="en-US" sz="2400" b="1" dirty="0" smtClean="0">
                <a:solidFill>
                  <a:srgbClr val="0070C0"/>
                </a:solidFill>
              </a:rPr>
              <a:t>connect to various devices</a:t>
            </a:r>
          </a:p>
          <a:p>
            <a:r>
              <a:rPr lang="en-US" altLang="en-US" sz="2400" b="1" dirty="0" smtClean="0">
                <a:solidFill>
                  <a:srgbClr val="3366FF"/>
                </a:solidFill>
              </a:rPr>
              <a:t>Device drivers </a:t>
            </a:r>
            <a:r>
              <a:rPr lang="en-US" altLang="en-US" sz="2400" dirty="0" smtClean="0"/>
              <a:t>encapsulate device details</a:t>
            </a:r>
          </a:p>
          <a:p>
            <a:pPr lvl="1"/>
            <a:r>
              <a:rPr lang="en-US" altLang="en-US" sz="2400" dirty="0" smtClean="0"/>
              <a:t>Present </a:t>
            </a:r>
            <a:r>
              <a:rPr lang="en-US" altLang="en-US" sz="2400" b="1" dirty="0" smtClean="0">
                <a:solidFill>
                  <a:srgbClr val="0070C0"/>
                </a:solidFill>
              </a:rPr>
              <a:t>uniform device-access interface </a:t>
            </a:r>
            <a:r>
              <a:rPr lang="en-US" altLang="en-US" sz="2400" dirty="0" smtClean="0"/>
              <a:t>to I/O subsystem</a:t>
            </a:r>
          </a:p>
          <a:p>
            <a:pPr lvl="1"/>
            <a:endParaRPr lang="en-US" altLang="en-US" dirty="0" smtClean="0"/>
          </a:p>
          <a:p>
            <a:pPr lvl="1"/>
            <a:endParaRPr lang="en-US" altLang="en-US" dirty="0" smtClean="0"/>
          </a:p>
          <a:p>
            <a:pPr lvl="1">
              <a:buFont typeface="Monotype Sorts" pitchFamily="-84" charset="2"/>
              <a:buNone/>
            </a:pPr>
            <a:endParaRPr lang="en-US" altLang="en-US" dirty="0" smtClean="0"/>
          </a:p>
        </p:txBody>
      </p:sp>
      <p:sp>
        <p:nvSpPr>
          <p:cNvPr id="2" name="Date Placeholder 1"/>
          <p:cNvSpPr>
            <a:spLocks noGrp="1"/>
          </p:cNvSpPr>
          <p:nvPr>
            <p:ph type="dt" sz="half" idx="10"/>
          </p:nvPr>
        </p:nvSpPr>
        <p:spPr/>
        <p:txBody>
          <a:bodyPr/>
          <a:lstStyle/>
          <a:p>
            <a:fld id="{37361113-9703-4635-9516-FE08FE7DAD88}" type="datetime1">
              <a:rPr lang="en-US" smtClean="0"/>
              <a:t>11/11/2024</a:t>
            </a:fld>
            <a:endParaRPr lang="en-US"/>
          </a:p>
        </p:txBody>
      </p:sp>
      <p:sp>
        <p:nvSpPr>
          <p:cNvPr id="3" name="Footer Placeholder 2"/>
          <p:cNvSpPr>
            <a:spLocks noGrp="1"/>
          </p:cNvSpPr>
          <p:nvPr>
            <p:ph type="ftr" sz="quarter" idx="11"/>
          </p:nvPr>
        </p:nvSpPr>
        <p:spPr/>
        <p:txBody>
          <a:bodyPr/>
          <a:lstStyle/>
          <a:p>
            <a:r>
              <a:rPr lang="en-US" smtClean="0"/>
              <a:t>Prof. Shweta Dhawan Chachra</a:t>
            </a:r>
            <a:endParaRPr lang="en-US"/>
          </a:p>
        </p:txBody>
      </p:sp>
      <p:sp>
        <p:nvSpPr>
          <p:cNvPr id="4" name="Slide Number Placeholder 3"/>
          <p:cNvSpPr>
            <a:spLocks noGrp="1"/>
          </p:cNvSpPr>
          <p:nvPr>
            <p:ph type="sldNum" sz="quarter" idx="12"/>
          </p:nvPr>
        </p:nvSpPr>
        <p:spPr/>
        <p:txBody>
          <a:bodyPr/>
          <a:lstStyle/>
          <a:p>
            <a:fld id="{BF891C86-C030-48BB-AD24-5C827D1B826C}" type="slidenum">
              <a:rPr lang="en-US" smtClean="0"/>
              <a:t>3</a:t>
            </a:fld>
            <a:endParaRPr lang="en-US"/>
          </a:p>
        </p:txBody>
      </p:sp>
    </p:spTree>
    <p:extLst>
      <p:ext uri="{BB962C8B-B14F-4D97-AF65-F5344CB8AC3E}">
        <p14:creationId xmlns:p14="http://schemas.microsoft.com/office/powerpoint/2010/main" val="18242860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01675" y="114300"/>
            <a:ext cx="7985125" cy="576263"/>
          </a:xfrm>
        </p:spPr>
        <p:txBody>
          <a:bodyPr>
            <a:normAutofit fontScale="90000"/>
          </a:bodyPr>
          <a:lstStyle/>
          <a:p>
            <a:pPr eaLnBrk="1" hangingPunct="1"/>
            <a:r>
              <a:rPr lang="en-US" altLang="en-US" dirty="0" smtClean="0"/>
              <a:t>I/O Hardware</a:t>
            </a:r>
          </a:p>
        </p:txBody>
      </p:sp>
      <p:sp>
        <p:nvSpPr>
          <p:cNvPr id="7171" name="Rectangle 3"/>
          <p:cNvSpPr>
            <a:spLocks noGrp="1" noChangeArrowheads="1"/>
          </p:cNvSpPr>
          <p:nvPr>
            <p:ph type="body" idx="1"/>
          </p:nvPr>
        </p:nvSpPr>
        <p:spPr>
          <a:xfrm>
            <a:off x="820738" y="1055688"/>
            <a:ext cx="7586662" cy="5018087"/>
          </a:xfrm>
        </p:spPr>
        <p:txBody>
          <a:bodyPr>
            <a:noAutofit/>
          </a:bodyPr>
          <a:lstStyle/>
          <a:p>
            <a:r>
              <a:rPr lang="en-US" altLang="en-US" sz="2400" dirty="0" smtClean="0"/>
              <a:t>Incredible variety of I/O devices</a:t>
            </a:r>
          </a:p>
          <a:p>
            <a:pPr lvl="1"/>
            <a:r>
              <a:rPr lang="en-US" altLang="en-US" sz="2400" b="1" dirty="0" smtClean="0">
                <a:solidFill>
                  <a:schemeClr val="accent1"/>
                </a:solidFill>
              </a:rPr>
              <a:t>Storage/</a:t>
            </a:r>
            <a:r>
              <a:rPr lang="en-US" sz="2400" b="1" dirty="0">
                <a:solidFill>
                  <a:schemeClr val="accent1"/>
                </a:solidFill>
              </a:rPr>
              <a:t>Machine </a:t>
            </a:r>
            <a:r>
              <a:rPr lang="en-US" sz="2400" b="1" dirty="0" smtClean="0">
                <a:solidFill>
                  <a:schemeClr val="accent1"/>
                </a:solidFill>
              </a:rPr>
              <a:t>readable</a:t>
            </a:r>
          </a:p>
          <a:p>
            <a:pPr lvl="2"/>
            <a:r>
              <a:rPr lang="en-US" b="1" dirty="0" smtClean="0"/>
              <a:t>Suitable </a:t>
            </a:r>
            <a:r>
              <a:rPr lang="en-US" b="1" dirty="0"/>
              <a:t>for communicating with electronic </a:t>
            </a:r>
            <a:r>
              <a:rPr lang="en-US" b="1" dirty="0" smtClean="0"/>
              <a:t>equipment</a:t>
            </a:r>
          </a:p>
          <a:p>
            <a:pPr lvl="2"/>
            <a:r>
              <a:rPr lang="en-US" b="1" dirty="0" smtClean="0">
                <a:solidFill>
                  <a:srgbClr val="0070C0"/>
                </a:solidFill>
              </a:rPr>
              <a:t>Disks</a:t>
            </a:r>
            <a:r>
              <a:rPr lang="en-US" b="1" dirty="0">
                <a:solidFill>
                  <a:srgbClr val="0070C0"/>
                </a:solidFill>
              </a:rPr>
              <a:t>, </a:t>
            </a:r>
            <a:endParaRPr lang="en-US" b="1" dirty="0" smtClean="0">
              <a:solidFill>
                <a:srgbClr val="0070C0"/>
              </a:solidFill>
            </a:endParaRPr>
          </a:p>
          <a:p>
            <a:pPr lvl="2"/>
            <a:r>
              <a:rPr lang="en-US" b="1" dirty="0" smtClean="0">
                <a:solidFill>
                  <a:srgbClr val="0070C0"/>
                </a:solidFill>
              </a:rPr>
              <a:t>Tapes</a:t>
            </a:r>
          </a:p>
          <a:p>
            <a:pPr lvl="2"/>
            <a:r>
              <a:rPr lang="en-US" altLang="en-US" dirty="0" smtClean="0"/>
              <a:t>Sensors</a:t>
            </a:r>
          </a:p>
          <a:p>
            <a:pPr lvl="2"/>
            <a:r>
              <a:rPr lang="en-US" altLang="en-US" dirty="0" smtClean="0"/>
              <a:t>Controllers</a:t>
            </a:r>
          </a:p>
          <a:p>
            <a:pPr lvl="2"/>
            <a:r>
              <a:rPr lang="en-US" altLang="en-US" b="1" dirty="0" smtClean="0">
                <a:solidFill>
                  <a:srgbClr val="0070C0"/>
                </a:solidFill>
              </a:rPr>
              <a:t>USB Keys</a:t>
            </a:r>
          </a:p>
        </p:txBody>
      </p:sp>
      <p:sp>
        <p:nvSpPr>
          <p:cNvPr id="2" name="Date Placeholder 1"/>
          <p:cNvSpPr>
            <a:spLocks noGrp="1"/>
          </p:cNvSpPr>
          <p:nvPr>
            <p:ph type="dt" sz="half" idx="10"/>
          </p:nvPr>
        </p:nvSpPr>
        <p:spPr/>
        <p:txBody>
          <a:bodyPr/>
          <a:lstStyle/>
          <a:p>
            <a:fld id="{6ECB455B-DF8A-4038-A4E1-1B99667CCDD0}" type="datetime1">
              <a:rPr lang="en-US" smtClean="0"/>
              <a:t>11/11/2024</a:t>
            </a:fld>
            <a:endParaRPr lang="en-US"/>
          </a:p>
        </p:txBody>
      </p:sp>
      <p:sp>
        <p:nvSpPr>
          <p:cNvPr id="3" name="Footer Placeholder 2"/>
          <p:cNvSpPr>
            <a:spLocks noGrp="1"/>
          </p:cNvSpPr>
          <p:nvPr>
            <p:ph type="ftr" sz="quarter" idx="11"/>
          </p:nvPr>
        </p:nvSpPr>
        <p:spPr/>
        <p:txBody>
          <a:bodyPr/>
          <a:lstStyle/>
          <a:p>
            <a:r>
              <a:rPr lang="en-US" smtClean="0"/>
              <a:t>Prof. Shweta Dhawan Chachra</a:t>
            </a:r>
            <a:endParaRPr lang="en-US"/>
          </a:p>
        </p:txBody>
      </p:sp>
      <p:sp>
        <p:nvSpPr>
          <p:cNvPr id="4" name="Slide Number Placeholder 3"/>
          <p:cNvSpPr>
            <a:spLocks noGrp="1"/>
          </p:cNvSpPr>
          <p:nvPr>
            <p:ph type="sldNum" sz="quarter" idx="12"/>
          </p:nvPr>
        </p:nvSpPr>
        <p:spPr/>
        <p:txBody>
          <a:bodyPr/>
          <a:lstStyle/>
          <a:p>
            <a:fld id="{BF891C86-C030-48BB-AD24-5C827D1B826C}" type="slidenum">
              <a:rPr lang="en-US" smtClean="0"/>
              <a:t>4</a:t>
            </a:fld>
            <a:endParaRPr lang="en-US"/>
          </a:p>
        </p:txBody>
      </p:sp>
    </p:spTree>
    <p:extLst>
      <p:ext uri="{BB962C8B-B14F-4D97-AF65-F5344CB8AC3E}">
        <p14:creationId xmlns:p14="http://schemas.microsoft.com/office/powerpoint/2010/main" val="3171731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01675" y="114300"/>
            <a:ext cx="7985125" cy="576263"/>
          </a:xfrm>
        </p:spPr>
        <p:txBody>
          <a:bodyPr>
            <a:normAutofit fontScale="90000"/>
          </a:bodyPr>
          <a:lstStyle/>
          <a:p>
            <a:pPr eaLnBrk="1" hangingPunct="1"/>
            <a:r>
              <a:rPr lang="en-US" altLang="en-US" dirty="0" smtClean="0"/>
              <a:t>I/O Hardware</a:t>
            </a:r>
          </a:p>
        </p:txBody>
      </p:sp>
      <p:sp>
        <p:nvSpPr>
          <p:cNvPr id="7171" name="Rectangle 3"/>
          <p:cNvSpPr>
            <a:spLocks noGrp="1" noChangeArrowheads="1"/>
          </p:cNvSpPr>
          <p:nvPr>
            <p:ph type="body" idx="1"/>
          </p:nvPr>
        </p:nvSpPr>
        <p:spPr>
          <a:xfrm>
            <a:off x="820738" y="1055688"/>
            <a:ext cx="7586662" cy="5018087"/>
          </a:xfrm>
        </p:spPr>
        <p:txBody>
          <a:bodyPr>
            <a:noAutofit/>
          </a:bodyPr>
          <a:lstStyle/>
          <a:p>
            <a:r>
              <a:rPr lang="en-US" altLang="en-US" sz="2400" dirty="0" smtClean="0"/>
              <a:t>Incredible variety of I/O devices</a:t>
            </a:r>
          </a:p>
          <a:p>
            <a:pPr lvl="1"/>
            <a:r>
              <a:rPr lang="en-US" altLang="en-US" sz="2400" b="1" dirty="0" smtClean="0">
                <a:solidFill>
                  <a:schemeClr val="accent1"/>
                </a:solidFill>
              </a:rPr>
              <a:t>Transmission devices/</a:t>
            </a:r>
            <a:r>
              <a:rPr lang="en-US" sz="2400" b="1" dirty="0" smtClean="0">
                <a:solidFill>
                  <a:schemeClr val="accent1"/>
                </a:solidFill>
              </a:rPr>
              <a:t>Communication</a:t>
            </a:r>
          </a:p>
          <a:p>
            <a:pPr lvl="2"/>
            <a:r>
              <a:rPr lang="en-US" dirty="0" smtClean="0"/>
              <a:t>Suitable </a:t>
            </a:r>
            <a:r>
              <a:rPr lang="en-US" dirty="0"/>
              <a:t>for communicating with remote </a:t>
            </a:r>
            <a:r>
              <a:rPr lang="en-US" dirty="0" smtClean="0"/>
              <a:t>devices</a:t>
            </a:r>
          </a:p>
          <a:p>
            <a:pPr lvl="2"/>
            <a:r>
              <a:rPr lang="en-US" altLang="en-US" dirty="0" smtClean="0"/>
              <a:t>network cards</a:t>
            </a:r>
          </a:p>
          <a:p>
            <a:pPr lvl="2"/>
            <a:r>
              <a:rPr lang="en-US" altLang="en-US" dirty="0" smtClean="0"/>
              <a:t>modems</a:t>
            </a:r>
          </a:p>
          <a:p>
            <a:pPr lvl="1"/>
            <a:r>
              <a:rPr lang="en-US" altLang="en-US" sz="2400" b="1" dirty="0" smtClean="0">
                <a:solidFill>
                  <a:schemeClr val="accent1"/>
                </a:solidFill>
              </a:rPr>
              <a:t>Human-interface/Human Readable</a:t>
            </a:r>
          </a:p>
          <a:p>
            <a:pPr lvl="2"/>
            <a:r>
              <a:rPr lang="en-US" altLang="en-US" dirty="0" smtClean="0"/>
              <a:t>Suitable for communicating with the user</a:t>
            </a:r>
          </a:p>
          <a:p>
            <a:pPr lvl="2"/>
            <a:r>
              <a:rPr lang="en-US" dirty="0" smtClean="0"/>
              <a:t>Terminals i.e. Screen</a:t>
            </a:r>
            <a:r>
              <a:rPr lang="en-US" dirty="0"/>
              <a:t>, video </a:t>
            </a:r>
            <a:r>
              <a:rPr lang="en-US" dirty="0" smtClean="0"/>
              <a:t>display</a:t>
            </a:r>
          </a:p>
          <a:p>
            <a:pPr lvl="2"/>
            <a:r>
              <a:rPr lang="en-US" dirty="0" smtClean="0"/>
              <a:t>Keyboard</a:t>
            </a:r>
            <a:r>
              <a:rPr lang="en-US" dirty="0"/>
              <a:t>, </a:t>
            </a:r>
            <a:endParaRPr lang="en-US" dirty="0" smtClean="0"/>
          </a:p>
          <a:p>
            <a:pPr lvl="2"/>
            <a:r>
              <a:rPr lang="en-US" dirty="0" smtClean="0"/>
              <a:t>Mouse,</a:t>
            </a:r>
            <a:r>
              <a:rPr lang="en-US" dirty="0"/>
              <a:t> </a:t>
            </a:r>
            <a:endParaRPr lang="en-US" dirty="0" smtClean="0"/>
          </a:p>
          <a:p>
            <a:pPr lvl="2"/>
            <a:r>
              <a:rPr lang="en-US" dirty="0" smtClean="0"/>
              <a:t>Printers</a:t>
            </a:r>
          </a:p>
        </p:txBody>
      </p:sp>
      <p:sp>
        <p:nvSpPr>
          <p:cNvPr id="2" name="Date Placeholder 1"/>
          <p:cNvSpPr>
            <a:spLocks noGrp="1"/>
          </p:cNvSpPr>
          <p:nvPr>
            <p:ph type="dt" sz="half" idx="10"/>
          </p:nvPr>
        </p:nvSpPr>
        <p:spPr/>
        <p:txBody>
          <a:bodyPr/>
          <a:lstStyle/>
          <a:p>
            <a:fld id="{791FBD89-7081-4D4B-A692-90A5E45A3321}" type="datetime1">
              <a:rPr lang="en-US" smtClean="0"/>
              <a:t>11/11/2024</a:t>
            </a:fld>
            <a:endParaRPr lang="en-US"/>
          </a:p>
        </p:txBody>
      </p:sp>
      <p:sp>
        <p:nvSpPr>
          <p:cNvPr id="3" name="Footer Placeholder 2"/>
          <p:cNvSpPr>
            <a:spLocks noGrp="1"/>
          </p:cNvSpPr>
          <p:nvPr>
            <p:ph type="ftr" sz="quarter" idx="11"/>
          </p:nvPr>
        </p:nvSpPr>
        <p:spPr/>
        <p:txBody>
          <a:bodyPr/>
          <a:lstStyle/>
          <a:p>
            <a:r>
              <a:rPr lang="en-US" smtClean="0"/>
              <a:t>Prof. Shweta Dhawan Chachra</a:t>
            </a:r>
            <a:endParaRPr lang="en-US"/>
          </a:p>
        </p:txBody>
      </p:sp>
      <p:sp>
        <p:nvSpPr>
          <p:cNvPr id="4" name="Slide Number Placeholder 3"/>
          <p:cNvSpPr>
            <a:spLocks noGrp="1"/>
          </p:cNvSpPr>
          <p:nvPr>
            <p:ph type="sldNum" sz="quarter" idx="12"/>
          </p:nvPr>
        </p:nvSpPr>
        <p:spPr/>
        <p:txBody>
          <a:bodyPr/>
          <a:lstStyle/>
          <a:p>
            <a:fld id="{BF891C86-C030-48BB-AD24-5C827D1B826C}" type="slidenum">
              <a:rPr lang="en-US" smtClean="0"/>
              <a:t>5</a:t>
            </a:fld>
            <a:endParaRPr lang="en-US"/>
          </a:p>
        </p:txBody>
      </p:sp>
    </p:spTree>
    <p:extLst>
      <p:ext uri="{BB962C8B-B14F-4D97-AF65-F5344CB8AC3E}">
        <p14:creationId xmlns:p14="http://schemas.microsoft.com/office/powerpoint/2010/main" val="5610994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01675" y="114300"/>
            <a:ext cx="7985125" cy="576263"/>
          </a:xfrm>
        </p:spPr>
        <p:txBody>
          <a:bodyPr>
            <a:normAutofit fontScale="90000"/>
          </a:bodyPr>
          <a:lstStyle/>
          <a:p>
            <a:pPr eaLnBrk="1" hangingPunct="1"/>
            <a:r>
              <a:rPr lang="en-US" altLang="en-US" dirty="0" smtClean="0"/>
              <a:t>I/O Hardware</a:t>
            </a:r>
          </a:p>
        </p:txBody>
      </p:sp>
      <p:sp>
        <p:nvSpPr>
          <p:cNvPr id="7171" name="Rectangle 3"/>
          <p:cNvSpPr>
            <a:spLocks noGrp="1" noChangeArrowheads="1"/>
          </p:cNvSpPr>
          <p:nvPr>
            <p:ph type="body" idx="1"/>
          </p:nvPr>
        </p:nvSpPr>
        <p:spPr>
          <a:xfrm>
            <a:off x="820738" y="1055688"/>
            <a:ext cx="7586662" cy="5018087"/>
          </a:xfrm>
        </p:spPr>
        <p:txBody>
          <a:bodyPr>
            <a:normAutofit/>
          </a:bodyPr>
          <a:lstStyle/>
          <a:p>
            <a:r>
              <a:rPr lang="en-US" altLang="en-US" sz="2400" dirty="0" smtClean="0"/>
              <a:t>Incredible variety of I/O devices</a:t>
            </a:r>
          </a:p>
          <a:p>
            <a:pPr lvl="1"/>
            <a:r>
              <a:rPr lang="en-US" altLang="en-US" sz="2400" dirty="0" smtClean="0"/>
              <a:t>More specialized devices –</a:t>
            </a:r>
          </a:p>
          <a:p>
            <a:pPr lvl="2"/>
            <a:r>
              <a:rPr lang="en-US" altLang="en-US" dirty="0" err="1" smtClean="0"/>
              <a:t>Eg</a:t>
            </a:r>
            <a:r>
              <a:rPr lang="en-US" altLang="en-US" dirty="0" smtClean="0"/>
              <a:t>- Those involved in the steering of a </a:t>
            </a:r>
            <a:r>
              <a:rPr lang="en-US" altLang="en-US" dirty="0" smtClean="0">
                <a:solidFill>
                  <a:srgbClr val="0070C0"/>
                </a:solidFill>
              </a:rPr>
              <a:t>military fighter jet or a space shuttle.</a:t>
            </a:r>
          </a:p>
          <a:p>
            <a:pPr lvl="2"/>
            <a:r>
              <a:rPr lang="en-US" altLang="en-US" dirty="0" smtClean="0"/>
              <a:t>In these aircraft, </a:t>
            </a:r>
          </a:p>
          <a:p>
            <a:pPr lvl="3"/>
            <a:r>
              <a:rPr lang="en-US" altLang="en-US" sz="2400" dirty="0" smtClean="0"/>
              <a:t>a human gives </a:t>
            </a:r>
            <a:r>
              <a:rPr lang="en-US" altLang="en-US" sz="2400" dirty="0" smtClean="0">
                <a:solidFill>
                  <a:srgbClr val="0070C0"/>
                </a:solidFill>
              </a:rPr>
              <a:t>input to the flight computer </a:t>
            </a:r>
            <a:r>
              <a:rPr lang="en-US" altLang="en-US" sz="2400" dirty="0" smtClean="0"/>
              <a:t>via </a:t>
            </a:r>
            <a:r>
              <a:rPr lang="en-US" altLang="en-US" sz="2400" dirty="0" smtClean="0">
                <a:solidFill>
                  <a:srgbClr val="0070C0"/>
                </a:solidFill>
              </a:rPr>
              <a:t>a joystick and foot pedals</a:t>
            </a:r>
            <a:r>
              <a:rPr lang="en-US" altLang="en-US" sz="2400" dirty="0" smtClean="0"/>
              <a:t>, and </a:t>
            </a:r>
          </a:p>
          <a:p>
            <a:pPr lvl="3"/>
            <a:r>
              <a:rPr lang="en-US" altLang="en-US" sz="2400" dirty="0" smtClean="0"/>
              <a:t>the computer sends </a:t>
            </a:r>
            <a:r>
              <a:rPr lang="en-US" altLang="en-US" sz="2400" dirty="0" smtClean="0">
                <a:solidFill>
                  <a:srgbClr val="0070C0"/>
                </a:solidFill>
              </a:rPr>
              <a:t>output commands that cause motors </a:t>
            </a:r>
            <a:r>
              <a:rPr lang="en-US" altLang="en-US" sz="2400" dirty="0" smtClean="0"/>
              <a:t>to move rudders, flaps, and thrusters.</a:t>
            </a:r>
          </a:p>
        </p:txBody>
      </p:sp>
      <p:sp>
        <p:nvSpPr>
          <p:cNvPr id="2" name="Date Placeholder 1"/>
          <p:cNvSpPr>
            <a:spLocks noGrp="1"/>
          </p:cNvSpPr>
          <p:nvPr>
            <p:ph type="dt" sz="half" idx="10"/>
          </p:nvPr>
        </p:nvSpPr>
        <p:spPr/>
        <p:txBody>
          <a:bodyPr/>
          <a:lstStyle/>
          <a:p>
            <a:fld id="{AC2CF55F-9F5E-4504-8862-F3FCD409BCAF}" type="datetime1">
              <a:rPr lang="en-US" smtClean="0"/>
              <a:t>11/11/2024</a:t>
            </a:fld>
            <a:endParaRPr lang="en-US"/>
          </a:p>
        </p:txBody>
      </p:sp>
      <p:sp>
        <p:nvSpPr>
          <p:cNvPr id="3" name="Footer Placeholder 2"/>
          <p:cNvSpPr>
            <a:spLocks noGrp="1"/>
          </p:cNvSpPr>
          <p:nvPr>
            <p:ph type="ftr" sz="quarter" idx="11"/>
          </p:nvPr>
        </p:nvSpPr>
        <p:spPr/>
        <p:txBody>
          <a:bodyPr/>
          <a:lstStyle/>
          <a:p>
            <a:r>
              <a:rPr lang="en-US" smtClean="0"/>
              <a:t>Prof. Shweta Dhawan Chachra</a:t>
            </a:r>
            <a:endParaRPr lang="en-US"/>
          </a:p>
        </p:txBody>
      </p:sp>
      <p:sp>
        <p:nvSpPr>
          <p:cNvPr id="4" name="Slide Number Placeholder 3"/>
          <p:cNvSpPr>
            <a:spLocks noGrp="1"/>
          </p:cNvSpPr>
          <p:nvPr>
            <p:ph type="sldNum" sz="quarter" idx="12"/>
          </p:nvPr>
        </p:nvSpPr>
        <p:spPr/>
        <p:txBody>
          <a:bodyPr/>
          <a:lstStyle/>
          <a:p>
            <a:fld id="{BF891C86-C030-48BB-AD24-5C827D1B826C}" type="slidenum">
              <a:rPr lang="en-US" smtClean="0"/>
              <a:t>6</a:t>
            </a:fld>
            <a:endParaRPr lang="en-US"/>
          </a:p>
        </p:txBody>
      </p:sp>
    </p:spTree>
    <p:extLst>
      <p:ext uri="{BB962C8B-B14F-4D97-AF65-F5344CB8AC3E}">
        <p14:creationId xmlns:p14="http://schemas.microsoft.com/office/powerpoint/2010/main" val="39516096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01675" y="114300"/>
            <a:ext cx="7985125" cy="576263"/>
          </a:xfrm>
        </p:spPr>
        <p:txBody>
          <a:bodyPr>
            <a:normAutofit fontScale="90000"/>
          </a:bodyPr>
          <a:lstStyle/>
          <a:p>
            <a:pPr eaLnBrk="1" hangingPunct="1"/>
            <a:r>
              <a:rPr lang="en-US" altLang="en-US" dirty="0" smtClean="0"/>
              <a:t>I/O Hardware</a:t>
            </a:r>
          </a:p>
        </p:txBody>
      </p:sp>
      <p:sp>
        <p:nvSpPr>
          <p:cNvPr id="7171" name="Rectangle 3"/>
          <p:cNvSpPr>
            <a:spLocks noGrp="1" noChangeArrowheads="1"/>
          </p:cNvSpPr>
          <p:nvPr>
            <p:ph type="body" idx="1"/>
          </p:nvPr>
        </p:nvSpPr>
        <p:spPr>
          <a:xfrm>
            <a:off x="820738" y="1055688"/>
            <a:ext cx="7586662" cy="5018087"/>
          </a:xfrm>
        </p:spPr>
        <p:txBody>
          <a:bodyPr>
            <a:normAutofit/>
          </a:bodyPr>
          <a:lstStyle/>
          <a:p>
            <a:pPr marL="0" indent="0">
              <a:buNone/>
            </a:pPr>
            <a:r>
              <a:rPr lang="en-US" sz="2400" b="1" dirty="0" smtClean="0"/>
              <a:t>Unit </a:t>
            </a:r>
            <a:r>
              <a:rPr lang="en-US" sz="2400" b="1" dirty="0"/>
              <a:t>of transfer: </a:t>
            </a:r>
            <a:endParaRPr lang="en-US" sz="2400" b="1" dirty="0" smtClean="0"/>
          </a:p>
          <a:p>
            <a:r>
              <a:rPr lang="en-US" sz="2400" dirty="0" smtClean="0"/>
              <a:t>Data </a:t>
            </a:r>
            <a:r>
              <a:rPr lang="en-US" sz="2400" dirty="0"/>
              <a:t>may be transferred as a </a:t>
            </a:r>
            <a:r>
              <a:rPr lang="en-US" sz="2400" dirty="0">
                <a:solidFill>
                  <a:srgbClr val="0070C0"/>
                </a:solidFill>
              </a:rPr>
              <a:t>stream of bytes or </a:t>
            </a:r>
            <a:r>
              <a:rPr lang="en-US" sz="2400" dirty="0" smtClean="0">
                <a:solidFill>
                  <a:srgbClr val="0070C0"/>
                </a:solidFill>
              </a:rPr>
              <a:t>characters (</a:t>
            </a:r>
            <a:r>
              <a:rPr lang="en-US" sz="2400" dirty="0">
                <a:solidFill>
                  <a:srgbClr val="0070C0"/>
                </a:solidFill>
              </a:rPr>
              <a:t>e.g., terminal I/O) or in larger blocks (e.g., disk I/O).</a:t>
            </a:r>
          </a:p>
          <a:p>
            <a:pPr marL="0" indent="0">
              <a:buNone/>
            </a:pPr>
            <a:r>
              <a:rPr lang="en-US" sz="2400" b="1" dirty="0" smtClean="0"/>
              <a:t>Data </a:t>
            </a:r>
            <a:r>
              <a:rPr lang="en-US" sz="2400" b="1" dirty="0"/>
              <a:t>representation</a:t>
            </a:r>
            <a:r>
              <a:rPr lang="en-US" sz="2400" b="1" dirty="0" smtClean="0"/>
              <a:t>:</a:t>
            </a:r>
          </a:p>
          <a:p>
            <a:r>
              <a:rPr lang="en-US" sz="2400" dirty="0" smtClean="0"/>
              <a:t>Different </a:t>
            </a:r>
            <a:r>
              <a:rPr lang="en-US" sz="2400" dirty="0"/>
              <a:t>data encoding schemes are used by </a:t>
            </a:r>
            <a:r>
              <a:rPr lang="en-US" sz="2400" dirty="0" smtClean="0"/>
              <a:t>different devices</a:t>
            </a:r>
            <a:r>
              <a:rPr lang="en-US" sz="2400" dirty="0"/>
              <a:t>, including </a:t>
            </a:r>
            <a:r>
              <a:rPr lang="en-US" sz="2400" dirty="0">
                <a:solidFill>
                  <a:srgbClr val="0070C0"/>
                </a:solidFill>
              </a:rPr>
              <a:t>differences in character code and parity conventions.</a:t>
            </a:r>
          </a:p>
          <a:p>
            <a:pPr marL="0" indent="0">
              <a:buNone/>
            </a:pPr>
            <a:r>
              <a:rPr lang="en-US" sz="2400" b="1" dirty="0" smtClean="0"/>
              <a:t>Error </a:t>
            </a:r>
            <a:r>
              <a:rPr lang="en-US" sz="2400" b="1" dirty="0"/>
              <a:t>conditions: </a:t>
            </a:r>
            <a:endParaRPr lang="en-US" sz="2400" b="1" dirty="0" smtClean="0"/>
          </a:p>
          <a:p>
            <a:r>
              <a:rPr lang="en-US" sz="2400" dirty="0" smtClean="0"/>
              <a:t>The </a:t>
            </a:r>
            <a:r>
              <a:rPr lang="en-US" sz="2400" dirty="0"/>
              <a:t>nature of errors, the way in which they are </a:t>
            </a:r>
            <a:r>
              <a:rPr lang="en-US" sz="2400" dirty="0" smtClean="0">
                <a:solidFill>
                  <a:srgbClr val="0070C0"/>
                </a:solidFill>
              </a:rPr>
              <a:t>reported, </a:t>
            </a:r>
            <a:r>
              <a:rPr lang="en-US" sz="2400" dirty="0" smtClean="0"/>
              <a:t>their </a:t>
            </a:r>
            <a:r>
              <a:rPr lang="en-US" sz="2400" dirty="0">
                <a:solidFill>
                  <a:srgbClr val="0070C0"/>
                </a:solidFill>
              </a:rPr>
              <a:t>consequences</a:t>
            </a:r>
            <a:r>
              <a:rPr lang="en-US" sz="2400" dirty="0"/>
              <a:t>, and the available range of </a:t>
            </a:r>
            <a:r>
              <a:rPr lang="en-US" sz="2400" dirty="0">
                <a:solidFill>
                  <a:srgbClr val="0070C0"/>
                </a:solidFill>
              </a:rPr>
              <a:t>responses differ</a:t>
            </a:r>
            <a:r>
              <a:rPr lang="en-US" sz="2400" dirty="0"/>
              <a:t> widely </a:t>
            </a:r>
            <a:r>
              <a:rPr lang="en-US" sz="2400" dirty="0" smtClean="0"/>
              <a:t>from one </a:t>
            </a:r>
            <a:r>
              <a:rPr lang="en-US" sz="2400" dirty="0"/>
              <a:t>device to another.</a:t>
            </a:r>
            <a:endParaRPr lang="en-US" altLang="en-US" sz="2400" dirty="0" smtClean="0"/>
          </a:p>
        </p:txBody>
      </p:sp>
      <p:sp>
        <p:nvSpPr>
          <p:cNvPr id="2" name="Date Placeholder 1"/>
          <p:cNvSpPr>
            <a:spLocks noGrp="1"/>
          </p:cNvSpPr>
          <p:nvPr>
            <p:ph type="dt" sz="half" idx="10"/>
          </p:nvPr>
        </p:nvSpPr>
        <p:spPr/>
        <p:txBody>
          <a:bodyPr/>
          <a:lstStyle/>
          <a:p>
            <a:fld id="{23473287-B301-4CCF-81FE-917D27F70C56}" type="datetime1">
              <a:rPr lang="en-US" smtClean="0"/>
              <a:t>11/11/2024</a:t>
            </a:fld>
            <a:endParaRPr lang="en-US"/>
          </a:p>
        </p:txBody>
      </p:sp>
      <p:sp>
        <p:nvSpPr>
          <p:cNvPr id="3" name="Footer Placeholder 2"/>
          <p:cNvSpPr>
            <a:spLocks noGrp="1"/>
          </p:cNvSpPr>
          <p:nvPr>
            <p:ph type="ftr" sz="quarter" idx="11"/>
          </p:nvPr>
        </p:nvSpPr>
        <p:spPr/>
        <p:txBody>
          <a:bodyPr/>
          <a:lstStyle/>
          <a:p>
            <a:r>
              <a:rPr lang="en-US" smtClean="0"/>
              <a:t>Prof. Shweta Dhawan Chachra</a:t>
            </a:r>
            <a:endParaRPr lang="en-US"/>
          </a:p>
        </p:txBody>
      </p:sp>
      <p:sp>
        <p:nvSpPr>
          <p:cNvPr id="4" name="Slide Number Placeholder 3"/>
          <p:cNvSpPr>
            <a:spLocks noGrp="1"/>
          </p:cNvSpPr>
          <p:nvPr>
            <p:ph type="sldNum" sz="quarter" idx="12"/>
          </p:nvPr>
        </p:nvSpPr>
        <p:spPr/>
        <p:txBody>
          <a:bodyPr/>
          <a:lstStyle/>
          <a:p>
            <a:fld id="{BF891C86-C030-48BB-AD24-5C827D1B826C}" type="slidenum">
              <a:rPr lang="en-US" smtClean="0"/>
              <a:t>7</a:t>
            </a:fld>
            <a:endParaRPr lang="en-US"/>
          </a:p>
        </p:txBody>
      </p:sp>
    </p:spTree>
    <p:extLst>
      <p:ext uri="{BB962C8B-B14F-4D97-AF65-F5344CB8AC3E}">
        <p14:creationId xmlns:p14="http://schemas.microsoft.com/office/powerpoint/2010/main" val="31592947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01675" y="114300"/>
            <a:ext cx="7985125" cy="576263"/>
          </a:xfrm>
        </p:spPr>
        <p:txBody>
          <a:bodyPr>
            <a:normAutofit fontScale="90000"/>
          </a:bodyPr>
          <a:lstStyle/>
          <a:p>
            <a:pPr eaLnBrk="1" hangingPunct="1"/>
            <a:r>
              <a:rPr lang="en-US" altLang="en-US" dirty="0" smtClean="0"/>
              <a:t>I/O Hardware</a:t>
            </a:r>
          </a:p>
        </p:txBody>
      </p:sp>
      <p:sp>
        <p:nvSpPr>
          <p:cNvPr id="7171" name="Rectangle 3"/>
          <p:cNvSpPr>
            <a:spLocks noGrp="1" noChangeArrowheads="1"/>
          </p:cNvSpPr>
          <p:nvPr>
            <p:ph type="body" idx="1"/>
          </p:nvPr>
        </p:nvSpPr>
        <p:spPr>
          <a:xfrm>
            <a:off x="820738" y="1055688"/>
            <a:ext cx="7586662" cy="5018087"/>
          </a:xfrm>
        </p:spPr>
        <p:txBody>
          <a:bodyPr>
            <a:normAutofit/>
          </a:bodyPr>
          <a:lstStyle/>
          <a:p>
            <a:pPr marL="0" indent="0">
              <a:buNone/>
            </a:pPr>
            <a:r>
              <a:rPr lang="en-US" sz="2400" dirty="0" smtClean="0"/>
              <a:t>Types of I/O devices-</a:t>
            </a:r>
          </a:p>
          <a:p>
            <a:r>
              <a:rPr lang="en-US" sz="2400" dirty="0"/>
              <a:t>B</a:t>
            </a:r>
            <a:r>
              <a:rPr lang="en-US" sz="2400" dirty="0" smtClean="0"/>
              <a:t>lock </a:t>
            </a:r>
            <a:r>
              <a:rPr lang="en-US" sz="2400" dirty="0"/>
              <a:t>oriented </a:t>
            </a:r>
            <a:endParaRPr lang="en-US" sz="2400" dirty="0" smtClean="0"/>
          </a:p>
          <a:p>
            <a:r>
              <a:rPr lang="en-US" sz="2400" dirty="0" smtClean="0"/>
              <a:t>Stream oriented</a:t>
            </a:r>
          </a:p>
        </p:txBody>
      </p:sp>
      <p:sp>
        <p:nvSpPr>
          <p:cNvPr id="3" name="Date Placeholder 2"/>
          <p:cNvSpPr>
            <a:spLocks noGrp="1"/>
          </p:cNvSpPr>
          <p:nvPr>
            <p:ph type="dt" sz="half" idx="10"/>
          </p:nvPr>
        </p:nvSpPr>
        <p:spPr/>
        <p:txBody>
          <a:bodyPr/>
          <a:lstStyle/>
          <a:p>
            <a:fld id="{20CDDD5E-B1A4-42F8-93DC-FAD6474B1368}"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8</a:t>
            </a:fld>
            <a:endParaRPr lang="en-US"/>
          </a:p>
        </p:txBody>
      </p:sp>
    </p:spTree>
    <p:extLst>
      <p:ext uri="{BB962C8B-B14F-4D97-AF65-F5344CB8AC3E}">
        <p14:creationId xmlns:p14="http://schemas.microsoft.com/office/powerpoint/2010/main" val="11570502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01675" y="114300"/>
            <a:ext cx="7985125" cy="576263"/>
          </a:xfrm>
        </p:spPr>
        <p:txBody>
          <a:bodyPr>
            <a:normAutofit fontScale="90000"/>
          </a:bodyPr>
          <a:lstStyle/>
          <a:p>
            <a:pPr eaLnBrk="1" hangingPunct="1"/>
            <a:r>
              <a:rPr lang="en-US" altLang="en-US" dirty="0" smtClean="0"/>
              <a:t>I/O Hardware</a:t>
            </a:r>
          </a:p>
        </p:txBody>
      </p:sp>
      <p:sp>
        <p:nvSpPr>
          <p:cNvPr id="7171" name="Rectangle 3"/>
          <p:cNvSpPr>
            <a:spLocks noGrp="1" noChangeArrowheads="1"/>
          </p:cNvSpPr>
          <p:nvPr>
            <p:ph type="body" idx="1"/>
          </p:nvPr>
        </p:nvSpPr>
        <p:spPr>
          <a:xfrm>
            <a:off x="820738" y="1055688"/>
            <a:ext cx="7586662" cy="5018087"/>
          </a:xfrm>
        </p:spPr>
        <p:txBody>
          <a:bodyPr>
            <a:normAutofit/>
          </a:bodyPr>
          <a:lstStyle/>
          <a:p>
            <a:pPr marL="0" indent="0">
              <a:buNone/>
            </a:pPr>
            <a:r>
              <a:rPr lang="en-US" sz="2400" b="1" dirty="0" smtClean="0"/>
              <a:t>Block-oriented </a:t>
            </a:r>
            <a:r>
              <a:rPr lang="en-US" sz="2400" b="1" dirty="0"/>
              <a:t>device </a:t>
            </a:r>
            <a:endParaRPr lang="en-US" sz="2400" b="1" dirty="0" smtClean="0"/>
          </a:p>
          <a:p>
            <a:r>
              <a:rPr lang="en-US" sz="2400" dirty="0" smtClean="0"/>
              <a:t>stores </a:t>
            </a:r>
            <a:r>
              <a:rPr lang="en-US" sz="2400" dirty="0"/>
              <a:t>information in </a:t>
            </a:r>
            <a:r>
              <a:rPr lang="en-US" sz="2400" dirty="0">
                <a:solidFill>
                  <a:schemeClr val="accent1"/>
                </a:solidFill>
              </a:rPr>
              <a:t>blocks that are usually </a:t>
            </a:r>
            <a:r>
              <a:rPr lang="en-US" sz="2400" dirty="0" smtClean="0">
                <a:solidFill>
                  <a:schemeClr val="accent1"/>
                </a:solidFill>
              </a:rPr>
              <a:t>of fixed </a:t>
            </a:r>
            <a:r>
              <a:rPr lang="en-US" sz="2400" dirty="0">
                <a:solidFill>
                  <a:schemeClr val="accent1"/>
                </a:solidFill>
              </a:rPr>
              <a:t>size</a:t>
            </a:r>
            <a:r>
              <a:rPr lang="en-US" sz="2400" dirty="0"/>
              <a:t>, and transfers are made </a:t>
            </a:r>
            <a:r>
              <a:rPr lang="en-US" sz="2400" dirty="0">
                <a:solidFill>
                  <a:schemeClr val="accent1"/>
                </a:solidFill>
              </a:rPr>
              <a:t>one block at a time</a:t>
            </a:r>
            <a:r>
              <a:rPr lang="en-US" sz="2400" dirty="0"/>
              <a:t>. </a:t>
            </a:r>
            <a:endParaRPr lang="en-US" sz="2400" dirty="0" smtClean="0"/>
          </a:p>
          <a:p>
            <a:r>
              <a:rPr lang="en-US" sz="2400" dirty="0" smtClean="0"/>
              <a:t>Generally</a:t>
            </a:r>
            <a:r>
              <a:rPr lang="en-US" sz="2400" dirty="0"/>
              <a:t>, it is possible </a:t>
            </a:r>
            <a:r>
              <a:rPr lang="en-US" sz="2400" dirty="0" smtClean="0"/>
              <a:t>to reference </a:t>
            </a:r>
            <a:r>
              <a:rPr lang="en-US" sz="2400" dirty="0"/>
              <a:t>data by its block number. </a:t>
            </a:r>
            <a:endParaRPr lang="en-US" sz="2400" dirty="0" smtClean="0"/>
          </a:p>
          <a:p>
            <a:r>
              <a:rPr lang="en-US" sz="2400" dirty="0" smtClean="0"/>
              <a:t>Disks </a:t>
            </a:r>
            <a:r>
              <a:rPr lang="en-US" sz="2400" dirty="0"/>
              <a:t>and USB keys </a:t>
            </a:r>
            <a:r>
              <a:rPr lang="en-US" sz="2400" dirty="0" smtClean="0"/>
              <a:t>devices</a:t>
            </a:r>
            <a:r>
              <a:rPr lang="en-US" sz="2400" dirty="0"/>
              <a:t>. </a:t>
            </a:r>
            <a:endParaRPr lang="en-US" sz="2400" dirty="0" smtClean="0"/>
          </a:p>
        </p:txBody>
      </p:sp>
      <p:sp>
        <p:nvSpPr>
          <p:cNvPr id="3" name="Date Placeholder 2"/>
          <p:cNvSpPr>
            <a:spLocks noGrp="1"/>
          </p:cNvSpPr>
          <p:nvPr>
            <p:ph type="dt" sz="half" idx="10"/>
          </p:nvPr>
        </p:nvSpPr>
        <p:spPr/>
        <p:txBody>
          <a:bodyPr/>
          <a:lstStyle/>
          <a:p>
            <a:fld id="{341B77EF-A08D-45B7-9386-8EEE3B7F3A62}"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9</a:t>
            </a:fld>
            <a:endParaRPr lang="en-US"/>
          </a:p>
        </p:txBody>
      </p:sp>
    </p:spTree>
    <p:extLst>
      <p:ext uri="{BB962C8B-B14F-4D97-AF65-F5344CB8AC3E}">
        <p14:creationId xmlns:p14="http://schemas.microsoft.com/office/powerpoint/2010/main" val="28086589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01675" y="114300"/>
            <a:ext cx="7985125" cy="576263"/>
          </a:xfrm>
        </p:spPr>
        <p:txBody>
          <a:bodyPr>
            <a:normAutofit fontScale="90000"/>
          </a:bodyPr>
          <a:lstStyle/>
          <a:p>
            <a:pPr eaLnBrk="1" hangingPunct="1"/>
            <a:r>
              <a:rPr lang="en-US" altLang="en-US" dirty="0" smtClean="0"/>
              <a:t>I/O Hardware</a:t>
            </a:r>
          </a:p>
        </p:txBody>
      </p:sp>
      <p:sp>
        <p:nvSpPr>
          <p:cNvPr id="7171" name="Rectangle 3"/>
          <p:cNvSpPr>
            <a:spLocks noGrp="1" noChangeArrowheads="1"/>
          </p:cNvSpPr>
          <p:nvPr>
            <p:ph type="body" idx="1"/>
          </p:nvPr>
        </p:nvSpPr>
        <p:spPr>
          <a:xfrm>
            <a:off x="820738" y="1055688"/>
            <a:ext cx="7586662" cy="5018087"/>
          </a:xfrm>
        </p:spPr>
        <p:txBody>
          <a:bodyPr>
            <a:normAutofit/>
          </a:bodyPr>
          <a:lstStyle/>
          <a:p>
            <a:pPr marL="0" indent="0">
              <a:buNone/>
            </a:pPr>
            <a:r>
              <a:rPr lang="en-US" sz="2400" b="1" dirty="0" smtClean="0"/>
              <a:t>Stream-oriented </a:t>
            </a:r>
            <a:r>
              <a:rPr lang="en-US" sz="2400" b="1" dirty="0"/>
              <a:t>device </a:t>
            </a:r>
            <a:endParaRPr lang="en-US" sz="2400" b="1" dirty="0" smtClean="0"/>
          </a:p>
          <a:p>
            <a:r>
              <a:rPr lang="en-US" sz="2400" dirty="0" smtClean="0"/>
              <a:t>transfers </a:t>
            </a:r>
            <a:r>
              <a:rPr lang="en-US" sz="2400" dirty="0"/>
              <a:t>data in and out </a:t>
            </a:r>
            <a:r>
              <a:rPr lang="en-US" sz="2400" dirty="0">
                <a:solidFill>
                  <a:schemeClr val="accent1"/>
                </a:solidFill>
              </a:rPr>
              <a:t>as a stream </a:t>
            </a:r>
            <a:r>
              <a:rPr lang="en-US" sz="2400" dirty="0" smtClean="0">
                <a:solidFill>
                  <a:schemeClr val="accent1"/>
                </a:solidFill>
              </a:rPr>
              <a:t>of bytes</a:t>
            </a:r>
            <a:r>
              <a:rPr lang="en-US" sz="2400" dirty="0">
                <a:solidFill>
                  <a:schemeClr val="accent1"/>
                </a:solidFill>
              </a:rPr>
              <a:t>, with no block structure. </a:t>
            </a:r>
            <a:endParaRPr lang="en-US" sz="2400" dirty="0" smtClean="0">
              <a:solidFill>
                <a:schemeClr val="accent1"/>
              </a:solidFill>
            </a:endParaRPr>
          </a:p>
          <a:p>
            <a:r>
              <a:rPr lang="en-US" sz="2400" dirty="0" smtClean="0"/>
              <a:t>Terminals</a:t>
            </a:r>
            <a:r>
              <a:rPr lang="en-US" sz="2400" dirty="0"/>
              <a:t>, </a:t>
            </a:r>
            <a:r>
              <a:rPr lang="en-US" sz="2400" dirty="0" smtClean="0"/>
              <a:t>printers</a:t>
            </a:r>
            <a:r>
              <a:rPr lang="en-US" sz="2400" dirty="0"/>
              <a:t>, communications ports, </a:t>
            </a:r>
            <a:r>
              <a:rPr lang="en-US" sz="2400" dirty="0" smtClean="0"/>
              <a:t>mouse and </a:t>
            </a:r>
            <a:r>
              <a:rPr lang="en-US" sz="2400" dirty="0"/>
              <a:t>other pointing devices, and most other </a:t>
            </a:r>
            <a:r>
              <a:rPr lang="en-US" sz="2400" dirty="0">
                <a:solidFill>
                  <a:schemeClr val="accent1"/>
                </a:solidFill>
              </a:rPr>
              <a:t>devices that are not secondary </a:t>
            </a:r>
            <a:r>
              <a:rPr lang="en-US" sz="2400" dirty="0" smtClean="0">
                <a:solidFill>
                  <a:schemeClr val="accent1"/>
                </a:solidFill>
              </a:rPr>
              <a:t>storage</a:t>
            </a:r>
            <a:endParaRPr lang="en-US" sz="2400" dirty="0">
              <a:solidFill>
                <a:schemeClr val="accent1"/>
              </a:solidFill>
            </a:endParaRPr>
          </a:p>
        </p:txBody>
      </p:sp>
      <p:sp>
        <p:nvSpPr>
          <p:cNvPr id="3" name="Date Placeholder 2"/>
          <p:cNvSpPr>
            <a:spLocks noGrp="1"/>
          </p:cNvSpPr>
          <p:nvPr>
            <p:ph type="dt" sz="half" idx="10"/>
          </p:nvPr>
        </p:nvSpPr>
        <p:spPr/>
        <p:txBody>
          <a:bodyPr/>
          <a:lstStyle/>
          <a:p>
            <a:fld id="{341B77EF-A08D-45B7-9386-8EEE3B7F3A62}"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10</a:t>
            </a:fld>
            <a:endParaRPr lang="en-US"/>
          </a:p>
        </p:txBody>
      </p:sp>
    </p:spTree>
    <p:extLst>
      <p:ext uri="{BB962C8B-B14F-4D97-AF65-F5344CB8AC3E}">
        <p14:creationId xmlns:p14="http://schemas.microsoft.com/office/powerpoint/2010/main" val="1689954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752600"/>
            <a:ext cx="8153400" cy="1569660"/>
          </a:xfrm>
          <a:prstGeom prst="rect">
            <a:avLst/>
          </a:prstGeom>
        </p:spPr>
        <p:txBody>
          <a:bodyPr wrap="square">
            <a:spAutoFit/>
          </a:bodyPr>
          <a:lstStyle/>
          <a:p>
            <a:r>
              <a:rPr lang="en-US" sz="2400" dirty="0" smtClean="0"/>
              <a:t>Three </a:t>
            </a:r>
            <a:r>
              <a:rPr lang="en-US" sz="2400" dirty="0"/>
              <a:t>techniques for performing I/O:</a:t>
            </a:r>
            <a:endParaRPr lang="en-US" sz="2400" b="1" dirty="0" smtClean="0"/>
          </a:p>
          <a:p>
            <a:pPr marL="342900" indent="-342900">
              <a:buFont typeface="Arial" panose="020B0604020202020204" pitchFamily="34" charset="0"/>
              <a:buChar char="•"/>
            </a:pPr>
            <a:r>
              <a:rPr lang="en-US" sz="2400" b="1" dirty="0" smtClean="0"/>
              <a:t>Programmed I/O</a:t>
            </a:r>
            <a:endParaRPr lang="en-US" sz="2400" dirty="0"/>
          </a:p>
          <a:p>
            <a:pPr marL="342900" indent="-342900">
              <a:buFont typeface="Arial" panose="020B0604020202020204" pitchFamily="34" charset="0"/>
              <a:buChar char="•"/>
            </a:pPr>
            <a:r>
              <a:rPr lang="en-US" sz="2400" b="1" dirty="0" smtClean="0"/>
              <a:t>Interrupt-driven I/O</a:t>
            </a:r>
          </a:p>
          <a:p>
            <a:pPr marL="342900" indent="-342900">
              <a:buFont typeface="Arial" panose="020B0604020202020204" pitchFamily="34" charset="0"/>
              <a:buChar char="•"/>
            </a:pPr>
            <a:r>
              <a:rPr lang="en-US" sz="2400" b="1" dirty="0" smtClean="0"/>
              <a:t>Direct </a:t>
            </a:r>
            <a:r>
              <a:rPr lang="en-US" sz="2400" b="1" dirty="0"/>
              <a:t>memory access (</a:t>
            </a:r>
            <a:r>
              <a:rPr lang="en-US" sz="2400" b="1" dirty="0" smtClean="0"/>
              <a:t>DMA)</a:t>
            </a:r>
            <a:endParaRPr lang="en-US" sz="2400" dirty="0"/>
          </a:p>
        </p:txBody>
      </p:sp>
      <p:sp>
        <p:nvSpPr>
          <p:cNvPr id="5" name="Date Placeholder 4"/>
          <p:cNvSpPr>
            <a:spLocks noGrp="1"/>
          </p:cNvSpPr>
          <p:nvPr>
            <p:ph type="dt" sz="half" idx="10"/>
          </p:nvPr>
        </p:nvSpPr>
        <p:spPr/>
        <p:txBody>
          <a:bodyPr/>
          <a:lstStyle/>
          <a:p>
            <a:fld id="{217120F7-73EB-440C-BE84-7AB8CD2094D5}" type="datetime1">
              <a:rPr lang="en-US" smtClean="0"/>
              <a:t>11/11/2024</a:t>
            </a:fld>
            <a:endParaRPr lang="en-US"/>
          </a:p>
        </p:txBody>
      </p:sp>
      <p:sp>
        <p:nvSpPr>
          <p:cNvPr id="6" name="Footer Placeholder 5"/>
          <p:cNvSpPr>
            <a:spLocks noGrp="1"/>
          </p:cNvSpPr>
          <p:nvPr>
            <p:ph type="ftr" sz="quarter" idx="11"/>
          </p:nvPr>
        </p:nvSpPr>
        <p:spPr/>
        <p:txBody>
          <a:bodyPr/>
          <a:lstStyle/>
          <a:p>
            <a:r>
              <a:rPr lang="en-US" smtClean="0"/>
              <a:t>Prof. Shweta Dhawan Chachra</a:t>
            </a:r>
            <a:endParaRPr lang="en-US"/>
          </a:p>
        </p:txBody>
      </p:sp>
      <p:sp>
        <p:nvSpPr>
          <p:cNvPr id="7" name="Slide Number Placeholder 6"/>
          <p:cNvSpPr>
            <a:spLocks noGrp="1"/>
          </p:cNvSpPr>
          <p:nvPr>
            <p:ph type="sldNum" sz="quarter" idx="12"/>
          </p:nvPr>
        </p:nvSpPr>
        <p:spPr/>
        <p:txBody>
          <a:bodyPr/>
          <a:lstStyle/>
          <a:p>
            <a:fld id="{BF891C86-C030-48BB-AD24-5C827D1B826C}" type="slidenum">
              <a:rPr lang="en-US" smtClean="0"/>
              <a:t>11</a:t>
            </a:fld>
            <a:endParaRPr lang="en-US"/>
          </a:p>
        </p:txBody>
      </p:sp>
    </p:spTree>
    <p:extLst>
      <p:ext uri="{BB962C8B-B14F-4D97-AF65-F5344CB8AC3E}">
        <p14:creationId xmlns:p14="http://schemas.microsoft.com/office/powerpoint/2010/main" val="27235893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752600"/>
            <a:ext cx="8153400" cy="2215991"/>
          </a:xfrm>
          <a:prstGeom prst="rect">
            <a:avLst/>
          </a:prstGeom>
        </p:spPr>
        <p:txBody>
          <a:bodyPr wrap="square">
            <a:spAutoFit/>
          </a:bodyPr>
          <a:lstStyle/>
          <a:p>
            <a:r>
              <a:rPr lang="en-US" sz="2400" b="1" dirty="0" smtClean="0"/>
              <a:t>Programmed </a:t>
            </a:r>
            <a:r>
              <a:rPr lang="en-US" sz="2400" b="1" dirty="0"/>
              <a:t>I/O: </a:t>
            </a:r>
            <a:endParaRPr lang="en-US" sz="2400" b="1" dirty="0" smtClean="0"/>
          </a:p>
          <a:p>
            <a:pPr marL="342900" indent="-342900">
              <a:buFont typeface="Arial" panose="020B0604020202020204" pitchFamily="34" charset="0"/>
              <a:buChar char="•"/>
            </a:pPr>
            <a:r>
              <a:rPr lang="en-US" sz="2400" dirty="0" smtClean="0"/>
              <a:t>The </a:t>
            </a:r>
            <a:r>
              <a:rPr lang="en-US" sz="2400" dirty="0">
                <a:solidFill>
                  <a:srgbClr val="0070C0"/>
                </a:solidFill>
              </a:rPr>
              <a:t>processor issues an I/O command</a:t>
            </a:r>
            <a:r>
              <a:rPr lang="en-US" sz="2400" dirty="0"/>
              <a:t>, on behalf of a process</a:t>
            </a:r>
            <a:r>
              <a:rPr lang="en-US" sz="2400" dirty="0" smtClean="0"/>
              <a:t>, to </a:t>
            </a:r>
            <a:r>
              <a:rPr lang="en-US" sz="2400" dirty="0"/>
              <a:t>an I/O module; </a:t>
            </a:r>
            <a:endParaRPr lang="en-US" sz="2400" dirty="0" smtClean="0"/>
          </a:p>
          <a:p>
            <a:pPr marL="342900" indent="-342900">
              <a:buFont typeface="Arial" panose="020B0604020202020204" pitchFamily="34" charset="0"/>
              <a:buChar char="•"/>
            </a:pPr>
            <a:r>
              <a:rPr lang="en-US" sz="2400" dirty="0" smtClean="0"/>
              <a:t>that </a:t>
            </a:r>
            <a:r>
              <a:rPr lang="en-US" sz="2400" dirty="0">
                <a:solidFill>
                  <a:srgbClr val="0070C0"/>
                </a:solidFill>
              </a:rPr>
              <a:t>process then busy waits </a:t>
            </a:r>
            <a:r>
              <a:rPr lang="en-US" sz="2400" dirty="0"/>
              <a:t>for the operation to be </a:t>
            </a:r>
            <a:r>
              <a:rPr lang="en-US" sz="2400" dirty="0" smtClean="0"/>
              <a:t>completed before </a:t>
            </a:r>
            <a:r>
              <a:rPr lang="en-US" sz="2400" dirty="0"/>
              <a:t>proceeding.</a:t>
            </a:r>
          </a:p>
          <a:p>
            <a:endParaRPr lang="en-US" dirty="0"/>
          </a:p>
        </p:txBody>
      </p:sp>
      <p:sp>
        <p:nvSpPr>
          <p:cNvPr id="4" name="Date Placeholder 3"/>
          <p:cNvSpPr>
            <a:spLocks noGrp="1"/>
          </p:cNvSpPr>
          <p:nvPr>
            <p:ph type="dt" sz="half" idx="10"/>
          </p:nvPr>
        </p:nvSpPr>
        <p:spPr/>
        <p:txBody>
          <a:bodyPr/>
          <a:lstStyle/>
          <a:p>
            <a:fld id="{4C2A7BE5-7A32-422B-A8C1-3B54C2E50F05}"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12</a:t>
            </a:fld>
            <a:endParaRPr lang="en-US"/>
          </a:p>
        </p:txBody>
      </p:sp>
    </p:spTree>
    <p:extLst>
      <p:ext uri="{BB962C8B-B14F-4D97-AF65-F5344CB8AC3E}">
        <p14:creationId xmlns:p14="http://schemas.microsoft.com/office/powerpoint/2010/main" val="19172549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752600"/>
            <a:ext cx="8153400" cy="4801314"/>
          </a:xfrm>
          <a:prstGeom prst="rect">
            <a:avLst/>
          </a:prstGeom>
        </p:spPr>
        <p:txBody>
          <a:bodyPr wrap="square">
            <a:spAutoFit/>
          </a:bodyPr>
          <a:lstStyle/>
          <a:p>
            <a:r>
              <a:rPr lang="en-US" sz="2400" b="1" dirty="0" smtClean="0"/>
              <a:t>Interrupt-driven </a:t>
            </a:r>
            <a:r>
              <a:rPr lang="en-US" sz="2400" b="1" dirty="0"/>
              <a:t>I/O: </a:t>
            </a:r>
            <a:endParaRPr lang="en-US" sz="2400" b="1" dirty="0" smtClean="0"/>
          </a:p>
          <a:p>
            <a:pPr marL="342900" indent="-342900">
              <a:buFont typeface="Arial" panose="020B0604020202020204" pitchFamily="34" charset="0"/>
              <a:buChar char="•"/>
            </a:pPr>
            <a:r>
              <a:rPr lang="en-US" sz="2400" dirty="0" smtClean="0"/>
              <a:t>The </a:t>
            </a:r>
            <a:r>
              <a:rPr lang="en-US" sz="2400" dirty="0">
                <a:solidFill>
                  <a:srgbClr val="0070C0"/>
                </a:solidFill>
              </a:rPr>
              <a:t>processor issues an I/O command </a:t>
            </a:r>
            <a:r>
              <a:rPr lang="en-US" sz="2400" dirty="0"/>
              <a:t>on behalf </a:t>
            </a:r>
            <a:r>
              <a:rPr lang="en-US" sz="2400" dirty="0" smtClean="0"/>
              <a:t>of a </a:t>
            </a:r>
            <a:r>
              <a:rPr lang="en-US" sz="2400" dirty="0"/>
              <a:t>process. </a:t>
            </a:r>
            <a:endParaRPr lang="en-US" sz="2400" dirty="0" smtClean="0"/>
          </a:p>
          <a:p>
            <a:pPr marL="342900" indent="-342900">
              <a:buFont typeface="Arial" panose="020B0604020202020204" pitchFamily="34" charset="0"/>
              <a:buChar char="•"/>
            </a:pPr>
            <a:r>
              <a:rPr lang="en-US" sz="2400" dirty="0" smtClean="0"/>
              <a:t>There </a:t>
            </a:r>
            <a:r>
              <a:rPr lang="en-US" sz="2400" dirty="0"/>
              <a:t>are then two possibilities. </a:t>
            </a:r>
            <a:endParaRPr lang="en-US" sz="2400" dirty="0" smtClean="0"/>
          </a:p>
          <a:p>
            <a:pPr marL="342900" indent="-342900">
              <a:buFont typeface="Arial" panose="020B0604020202020204" pitchFamily="34" charset="0"/>
              <a:buChar char="•"/>
            </a:pPr>
            <a:r>
              <a:rPr lang="en-US" sz="2400" dirty="0" smtClean="0"/>
              <a:t>If </a:t>
            </a:r>
            <a:r>
              <a:rPr lang="en-US" sz="2400" dirty="0"/>
              <a:t>the I/O instruction from </a:t>
            </a:r>
            <a:r>
              <a:rPr lang="en-US" sz="2400" dirty="0" smtClean="0"/>
              <a:t>the </a:t>
            </a:r>
            <a:r>
              <a:rPr lang="en-US" sz="2400" dirty="0" smtClean="0">
                <a:solidFill>
                  <a:srgbClr val="0070C0"/>
                </a:solidFill>
              </a:rPr>
              <a:t>process </a:t>
            </a:r>
            <a:r>
              <a:rPr lang="en-US" sz="2400" dirty="0">
                <a:solidFill>
                  <a:srgbClr val="0070C0"/>
                </a:solidFill>
              </a:rPr>
              <a:t>is </a:t>
            </a:r>
            <a:r>
              <a:rPr lang="en-US" sz="2400" dirty="0" smtClean="0">
                <a:solidFill>
                  <a:srgbClr val="0070C0"/>
                </a:solidFill>
              </a:rPr>
              <a:t>non blocking</a:t>
            </a:r>
            <a:r>
              <a:rPr lang="en-US" sz="2400" dirty="0">
                <a:solidFill>
                  <a:srgbClr val="0070C0"/>
                </a:solidFill>
              </a:rPr>
              <a:t>, </a:t>
            </a:r>
            <a:endParaRPr lang="en-US" sz="2400" dirty="0" smtClean="0">
              <a:solidFill>
                <a:srgbClr val="0070C0"/>
              </a:solidFill>
            </a:endParaRPr>
          </a:p>
          <a:p>
            <a:pPr marL="800100" lvl="1" indent="-342900">
              <a:buFont typeface="Arial" panose="020B0604020202020204" pitchFamily="34" charset="0"/>
              <a:buChar char="•"/>
            </a:pPr>
            <a:r>
              <a:rPr lang="en-US" sz="2400" dirty="0" smtClean="0"/>
              <a:t>the </a:t>
            </a:r>
            <a:r>
              <a:rPr lang="en-US" sz="2400" dirty="0">
                <a:solidFill>
                  <a:srgbClr val="0070C0"/>
                </a:solidFill>
              </a:rPr>
              <a:t>processor continues to execute </a:t>
            </a:r>
            <a:r>
              <a:rPr lang="en-US" sz="2400" dirty="0" smtClean="0">
                <a:solidFill>
                  <a:srgbClr val="0070C0"/>
                </a:solidFill>
              </a:rPr>
              <a:t>instructions from </a:t>
            </a:r>
            <a:r>
              <a:rPr lang="en-US" sz="2400" dirty="0">
                <a:solidFill>
                  <a:srgbClr val="0070C0"/>
                </a:solidFill>
              </a:rPr>
              <a:t>the process</a:t>
            </a:r>
            <a:r>
              <a:rPr lang="en-US" sz="2400" dirty="0"/>
              <a:t> that issued the I/O command. </a:t>
            </a:r>
            <a:endParaRPr lang="en-US" sz="2400" dirty="0" smtClean="0"/>
          </a:p>
          <a:p>
            <a:pPr marL="342900" indent="-342900">
              <a:buFont typeface="Arial" panose="020B0604020202020204" pitchFamily="34" charset="0"/>
              <a:buChar char="•"/>
            </a:pPr>
            <a:r>
              <a:rPr lang="en-US" sz="2400" dirty="0" smtClean="0"/>
              <a:t>If </a:t>
            </a:r>
            <a:r>
              <a:rPr lang="en-US" sz="2400" dirty="0"/>
              <a:t>the I/O </a:t>
            </a:r>
            <a:r>
              <a:rPr lang="en-US" sz="2400" dirty="0" smtClean="0"/>
              <a:t>instruction is </a:t>
            </a:r>
            <a:r>
              <a:rPr lang="en-US" sz="2400" dirty="0">
                <a:solidFill>
                  <a:srgbClr val="0070C0"/>
                </a:solidFill>
              </a:rPr>
              <a:t>blocking, </a:t>
            </a:r>
            <a:endParaRPr lang="en-US" sz="2400" dirty="0" smtClean="0">
              <a:solidFill>
                <a:srgbClr val="0070C0"/>
              </a:solidFill>
            </a:endParaRPr>
          </a:p>
          <a:p>
            <a:pPr marL="800100" lvl="1" indent="-342900">
              <a:buFont typeface="Arial" panose="020B0604020202020204" pitchFamily="34" charset="0"/>
              <a:buChar char="•"/>
            </a:pPr>
            <a:r>
              <a:rPr lang="en-US" sz="2400" dirty="0" smtClean="0"/>
              <a:t>then </a:t>
            </a:r>
            <a:r>
              <a:rPr lang="en-US" sz="2400" dirty="0"/>
              <a:t>the next instruction that the </a:t>
            </a:r>
            <a:r>
              <a:rPr lang="en-US" sz="2400" dirty="0">
                <a:solidFill>
                  <a:srgbClr val="0070C0"/>
                </a:solidFill>
              </a:rPr>
              <a:t>processor executes is </a:t>
            </a:r>
            <a:r>
              <a:rPr lang="en-US" sz="2400" dirty="0" smtClean="0">
                <a:solidFill>
                  <a:srgbClr val="0070C0"/>
                </a:solidFill>
              </a:rPr>
              <a:t>from the </a:t>
            </a:r>
            <a:r>
              <a:rPr lang="en-US" sz="2400" dirty="0">
                <a:solidFill>
                  <a:srgbClr val="0070C0"/>
                </a:solidFill>
              </a:rPr>
              <a:t>OS, </a:t>
            </a:r>
            <a:endParaRPr lang="en-US" sz="2400" dirty="0" smtClean="0">
              <a:solidFill>
                <a:srgbClr val="0070C0"/>
              </a:solidFill>
            </a:endParaRPr>
          </a:p>
          <a:p>
            <a:pPr marL="800100" lvl="1" indent="-342900">
              <a:buFont typeface="Arial" panose="020B0604020202020204" pitchFamily="34" charset="0"/>
              <a:buChar char="•"/>
            </a:pPr>
            <a:r>
              <a:rPr lang="en-US" sz="2400" dirty="0" smtClean="0"/>
              <a:t>which </a:t>
            </a:r>
            <a:r>
              <a:rPr lang="en-US" sz="2400" dirty="0"/>
              <a:t>will </a:t>
            </a:r>
            <a:r>
              <a:rPr lang="en-US" sz="2400" dirty="0">
                <a:solidFill>
                  <a:srgbClr val="0070C0"/>
                </a:solidFill>
              </a:rPr>
              <a:t>put the current process in a blocked</a:t>
            </a:r>
            <a:r>
              <a:rPr lang="en-US" sz="2400" dirty="0"/>
              <a:t> state </a:t>
            </a:r>
            <a:r>
              <a:rPr lang="en-US" sz="2400" dirty="0" smtClean="0"/>
              <a:t/>
            </a:r>
            <a:br>
              <a:rPr lang="en-US" sz="2400" dirty="0" smtClean="0"/>
            </a:br>
            <a:r>
              <a:rPr lang="en-US" sz="2400" dirty="0" smtClean="0"/>
              <a:t>Interrupt the current process and </a:t>
            </a:r>
            <a:r>
              <a:rPr lang="en-US" sz="2400" dirty="0" smtClean="0">
                <a:solidFill>
                  <a:srgbClr val="0070C0"/>
                </a:solidFill>
              </a:rPr>
              <a:t>schedule another </a:t>
            </a:r>
            <a:r>
              <a:rPr lang="en-US" sz="2400" dirty="0">
                <a:solidFill>
                  <a:srgbClr val="0070C0"/>
                </a:solidFill>
              </a:rPr>
              <a:t>process.</a:t>
            </a:r>
          </a:p>
          <a:p>
            <a:pPr marL="285750" indent="-285750">
              <a:buFont typeface="Arial" panose="020B0604020202020204" pitchFamily="34" charset="0"/>
              <a:buChar char="•"/>
            </a:pPr>
            <a:endParaRPr lang="en-US" dirty="0"/>
          </a:p>
        </p:txBody>
      </p:sp>
      <p:sp>
        <p:nvSpPr>
          <p:cNvPr id="4" name="Date Placeholder 3"/>
          <p:cNvSpPr>
            <a:spLocks noGrp="1"/>
          </p:cNvSpPr>
          <p:nvPr>
            <p:ph type="dt" sz="half" idx="10"/>
          </p:nvPr>
        </p:nvSpPr>
        <p:spPr/>
        <p:txBody>
          <a:bodyPr/>
          <a:lstStyle/>
          <a:p>
            <a:fld id="{62CE4C55-5841-44F1-AA2A-CB89FDC1C231}"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13</a:t>
            </a:fld>
            <a:endParaRPr lang="en-US"/>
          </a:p>
        </p:txBody>
      </p:sp>
    </p:spTree>
    <p:extLst>
      <p:ext uri="{BB962C8B-B14F-4D97-AF65-F5344CB8AC3E}">
        <p14:creationId xmlns:p14="http://schemas.microsoft.com/office/powerpoint/2010/main" val="29975675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752600"/>
            <a:ext cx="8153400" cy="3416320"/>
          </a:xfrm>
          <a:prstGeom prst="rect">
            <a:avLst/>
          </a:prstGeom>
        </p:spPr>
        <p:txBody>
          <a:bodyPr wrap="square">
            <a:spAutoFit/>
          </a:bodyPr>
          <a:lstStyle/>
          <a:p>
            <a:r>
              <a:rPr lang="en-US" sz="2400" b="1" dirty="0" smtClean="0"/>
              <a:t>Direct </a:t>
            </a:r>
            <a:r>
              <a:rPr lang="en-US" sz="2400" b="1" dirty="0"/>
              <a:t>memory access (DMA): </a:t>
            </a:r>
            <a:endParaRPr lang="en-US" sz="2400" b="1" dirty="0" smtClean="0"/>
          </a:p>
          <a:p>
            <a:pPr marL="342900" indent="-342900">
              <a:buFont typeface="Arial" panose="020B0604020202020204" pitchFamily="34" charset="0"/>
              <a:buChar char="•"/>
            </a:pPr>
            <a:r>
              <a:rPr lang="en-US" sz="2400" dirty="0" smtClean="0"/>
              <a:t>The </a:t>
            </a:r>
            <a:r>
              <a:rPr lang="en-US" sz="2400" dirty="0"/>
              <a:t>processor sends a request </a:t>
            </a:r>
            <a:r>
              <a:rPr lang="en-US" sz="2400" dirty="0" smtClean="0"/>
              <a:t>for </a:t>
            </a:r>
            <a:r>
              <a:rPr lang="en-US" sz="2400" dirty="0" smtClean="0">
                <a:solidFill>
                  <a:srgbClr val="0070C0"/>
                </a:solidFill>
              </a:rPr>
              <a:t>the </a:t>
            </a:r>
            <a:r>
              <a:rPr lang="en-US" sz="2400" dirty="0">
                <a:solidFill>
                  <a:srgbClr val="0070C0"/>
                </a:solidFill>
              </a:rPr>
              <a:t>transfer of a block of data to the DMA module</a:t>
            </a:r>
            <a:r>
              <a:rPr lang="en-US" sz="2400" dirty="0"/>
              <a:t> and is </a:t>
            </a:r>
            <a:r>
              <a:rPr lang="en-US" sz="2400" dirty="0">
                <a:solidFill>
                  <a:srgbClr val="0070C0"/>
                </a:solidFill>
              </a:rPr>
              <a:t>interrupted </a:t>
            </a:r>
            <a:r>
              <a:rPr lang="en-US" sz="2400" dirty="0" smtClean="0">
                <a:solidFill>
                  <a:srgbClr val="0070C0"/>
                </a:solidFill>
              </a:rPr>
              <a:t>only after </a:t>
            </a:r>
            <a:r>
              <a:rPr lang="en-US" sz="2400" dirty="0">
                <a:solidFill>
                  <a:srgbClr val="0070C0"/>
                </a:solidFill>
              </a:rPr>
              <a:t>the entire block has been transferred</a:t>
            </a:r>
            <a:r>
              <a:rPr lang="en-US" sz="2400" dirty="0" smtClean="0">
                <a:solidFill>
                  <a:srgbClr val="0070C0"/>
                </a:solidFill>
              </a:rPr>
              <a:t>.</a:t>
            </a:r>
          </a:p>
          <a:p>
            <a:pPr marL="342900" indent="-342900">
              <a:buFont typeface="Arial" panose="020B0604020202020204" pitchFamily="34" charset="0"/>
              <a:buChar char="•"/>
            </a:pPr>
            <a:r>
              <a:rPr lang="en-US" sz="2400" dirty="0"/>
              <a:t>A DMA module controls the exchange of data between main memory and an I/O module. </a:t>
            </a:r>
          </a:p>
          <a:p>
            <a:pPr marL="342900" indent="-342900">
              <a:buFont typeface="Arial" panose="020B0604020202020204" pitchFamily="34" charset="0"/>
              <a:buChar char="•"/>
            </a:pPr>
            <a:endParaRPr lang="en-US" sz="2400" dirty="0">
              <a:solidFill>
                <a:srgbClr val="0070C0"/>
              </a:solidFill>
            </a:endParaRPr>
          </a:p>
          <a:p>
            <a:pPr marL="342900" indent="-342900">
              <a:buFont typeface="Arial" panose="020B0604020202020204" pitchFamily="34" charset="0"/>
              <a:buChar char="•"/>
            </a:pPr>
            <a:r>
              <a:rPr lang="en-US" sz="2400" dirty="0" smtClean="0"/>
              <a:t>DMA </a:t>
            </a:r>
            <a:r>
              <a:rPr lang="en-US" sz="2400" dirty="0"/>
              <a:t>is the </a:t>
            </a:r>
            <a:r>
              <a:rPr lang="en-US" sz="2400" dirty="0">
                <a:solidFill>
                  <a:srgbClr val="0070C0"/>
                </a:solidFill>
              </a:rPr>
              <a:t>dominant form of transfer</a:t>
            </a:r>
            <a:r>
              <a:rPr lang="en-US" sz="2400" dirty="0"/>
              <a:t> that must be </a:t>
            </a:r>
            <a:r>
              <a:rPr lang="en-US" sz="2400" dirty="0" smtClean="0"/>
              <a:t>supported by </a:t>
            </a:r>
            <a:r>
              <a:rPr lang="en-US" sz="2400" dirty="0"/>
              <a:t>the operating system.</a:t>
            </a:r>
            <a:endParaRPr lang="en-US" sz="2400" dirty="0">
              <a:solidFill>
                <a:srgbClr val="0070C0"/>
              </a:solidFill>
            </a:endParaRPr>
          </a:p>
        </p:txBody>
      </p:sp>
      <p:sp>
        <p:nvSpPr>
          <p:cNvPr id="4" name="Date Placeholder 3"/>
          <p:cNvSpPr>
            <a:spLocks noGrp="1"/>
          </p:cNvSpPr>
          <p:nvPr>
            <p:ph type="dt" sz="half" idx="10"/>
          </p:nvPr>
        </p:nvSpPr>
        <p:spPr/>
        <p:txBody>
          <a:bodyPr/>
          <a:lstStyle/>
          <a:p>
            <a:fld id="{10CBA896-CAFB-49C4-931E-62BBFE30E425}"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14</a:t>
            </a:fld>
            <a:endParaRPr lang="en-US"/>
          </a:p>
        </p:txBody>
      </p:sp>
    </p:spTree>
    <p:extLst>
      <p:ext uri="{BB962C8B-B14F-4D97-AF65-F5344CB8AC3E}">
        <p14:creationId xmlns:p14="http://schemas.microsoft.com/office/powerpoint/2010/main" val="29975675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752600"/>
            <a:ext cx="8153400" cy="461665"/>
          </a:xfrm>
          <a:prstGeom prst="rect">
            <a:avLst/>
          </a:prstGeom>
        </p:spPr>
        <p:txBody>
          <a:bodyPr wrap="square">
            <a:spAutoFit/>
          </a:bodyPr>
          <a:lstStyle/>
          <a:p>
            <a:endParaRPr lang="en-US" sz="2400" dirty="0">
              <a:solidFill>
                <a:srgbClr val="0070C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 y="2214264"/>
            <a:ext cx="7620000" cy="20529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ate Placeholder 3"/>
          <p:cNvSpPr>
            <a:spLocks noGrp="1"/>
          </p:cNvSpPr>
          <p:nvPr>
            <p:ph type="dt" sz="half" idx="10"/>
          </p:nvPr>
        </p:nvSpPr>
        <p:spPr/>
        <p:txBody>
          <a:bodyPr/>
          <a:lstStyle/>
          <a:p>
            <a:fld id="{400EBC18-0291-4734-BAB0-8B11AE6168AC}"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15</a:t>
            </a:fld>
            <a:endParaRPr lang="en-US"/>
          </a:p>
        </p:txBody>
      </p:sp>
    </p:spTree>
    <p:extLst>
      <p:ext uri="{BB962C8B-B14F-4D97-AF65-F5344CB8AC3E}">
        <p14:creationId xmlns:p14="http://schemas.microsoft.com/office/powerpoint/2010/main" val="41116011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752600"/>
            <a:ext cx="8153400" cy="2308324"/>
          </a:xfrm>
          <a:prstGeom prst="rect">
            <a:avLst/>
          </a:prstGeom>
        </p:spPr>
        <p:txBody>
          <a:bodyPr wrap="square">
            <a:spAutoFit/>
          </a:bodyPr>
          <a:lstStyle/>
          <a:p>
            <a:r>
              <a:rPr lang="en-US" sz="2400" b="1" dirty="0" smtClean="0"/>
              <a:t>Direct </a:t>
            </a:r>
            <a:r>
              <a:rPr lang="en-US" sz="2400" b="1" dirty="0"/>
              <a:t>memory access (DMA): </a:t>
            </a:r>
            <a:endParaRPr lang="en-US" sz="2400" b="1" dirty="0" smtClean="0"/>
          </a:p>
          <a:p>
            <a:pPr marL="342900" indent="-342900">
              <a:buFont typeface="Arial" panose="020B0604020202020204" pitchFamily="34" charset="0"/>
              <a:buChar char="•"/>
            </a:pPr>
            <a:r>
              <a:rPr lang="en-US" sz="2400" dirty="0"/>
              <a:t>The DMA unit is capable </a:t>
            </a:r>
            <a:r>
              <a:rPr lang="en-US" sz="2400" dirty="0" smtClean="0"/>
              <a:t>of </a:t>
            </a:r>
            <a:r>
              <a:rPr lang="en-US" sz="2400" dirty="0" smtClean="0">
                <a:solidFill>
                  <a:srgbClr val="0070C0"/>
                </a:solidFill>
              </a:rPr>
              <a:t>mimicking </a:t>
            </a:r>
            <a:r>
              <a:rPr lang="en-US" sz="2400" dirty="0">
                <a:solidFill>
                  <a:srgbClr val="0070C0"/>
                </a:solidFill>
              </a:rPr>
              <a:t>the processor </a:t>
            </a:r>
            <a:endParaRPr lang="en-US" sz="2400" dirty="0" smtClean="0">
              <a:solidFill>
                <a:srgbClr val="0070C0"/>
              </a:solidFill>
            </a:endParaRPr>
          </a:p>
          <a:p>
            <a:pPr marL="342900" indent="-342900">
              <a:buFont typeface="Arial" panose="020B0604020202020204" pitchFamily="34" charset="0"/>
              <a:buChar char="•"/>
            </a:pPr>
            <a:r>
              <a:rPr lang="en-US" sz="2400" dirty="0" smtClean="0"/>
              <a:t>Taking </a:t>
            </a:r>
            <a:r>
              <a:rPr lang="en-US" sz="2400" dirty="0">
                <a:solidFill>
                  <a:srgbClr val="FF33CC"/>
                </a:solidFill>
              </a:rPr>
              <a:t>control of the system bus </a:t>
            </a:r>
            <a:r>
              <a:rPr lang="en-US" sz="2400" dirty="0" smtClean="0">
                <a:solidFill>
                  <a:srgbClr val="FF33CC"/>
                </a:solidFill>
              </a:rPr>
              <a:t>just like </a:t>
            </a:r>
            <a:r>
              <a:rPr lang="en-US" sz="2400" dirty="0">
                <a:solidFill>
                  <a:srgbClr val="FF33CC"/>
                </a:solidFill>
              </a:rPr>
              <a:t>a </a:t>
            </a:r>
            <a:r>
              <a:rPr lang="en-US" sz="2400" dirty="0" smtClean="0">
                <a:solidFill>
                  <a:srgbClr val="FF33CC"/>
                </a:solidFill>
              </a:rPr>
              <a:t>processor</a:t>
            </a:r>
          </a:p>
          <a:p>
            <a:pPr marL="342900" indent="-342900">
              <a:buFont typeface="Arial" panose="020B0604020202020204" pitchFamily="34" charset="0"/>
              <a:buChar char="•"/>
            </a:pPr>
            <a:r>
              <a:rPr lang="en-US" sz="2400" dirty="0" smtClean="0"/>
              <a:t>It </a:t>
            </a:r>
            <a:r>
              <a:rPr lang="en-US" sz="2400" dirty="0"/>
              <a:t>needs to do this to transfer data to and from memory over </a:t>
            </a:r>
            <a:r>
              <a:rPr lang="en-US" sz="2400" dirty="0" smtClean="0"/>
              <a:t>the system </a:t>
            </a:r>
            <a:r>
              <a:rPr lang="en-US" sz="2400" dirty="0"/>
              <a:t>bus</a:t>
            </a:r>
            <a:r>
              <a:rPr lang="en-US" sz="2400" dirty="0" smtClean="0"/>
              <a:t>.</a:t>
            </a:r>
          </a:p>
          <a:p>
            <a:pPr marL="342900" indent="-342900">
              <a:buFont typeface="Arial" panose="020B0604020202020204" pitchFamily="34" charset="0"/>
              <a:buChar char="•"/>
            </a:pPr>
            <a:endParaRPr lang="en-US" sz="2400" dirty="0">
              <a:solidFill>
                <a:srgbClr val="0070C0"/>
              </a:solidFill>
            </a:endParaRPr>
          </a:p>
        </p:txBody>
      </p:sp>
      <p:sp>
        <p:nvSpPr>
          <p:cNvPr id="4" name="Date Placeholder 3"/>
          <p:cNvSpPr>
            <a:spLocks noGrp="1"/>
          </p:cNvSpPr>
          <p:nvPr>
            <p:ph type="dt" sz="half" idx="10"/>
          </p:nvPr>
        </p:nvSpPr>
        <p:spPr/>
        <p:txBody>
          <a:bodyPr/>
          <a:lstStyle/>
          <a:p>
            <a:fld id="{E872B25E-7070-4587-9E58-E9802C8FC8A6}"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16</a:t>
            </a:fld>
            <a:endParaRPr lang="en-US"/>
          </a:p>
        </p:txBody>
      </p:sp>
    </p:spTree>
    <p:extLst>
      <p:ext uri="{BB962C8B-B14F-4D97-AF65-F5344CB8AC3E}">
        <p14:creationId xmlns:p14="http://schemas.microsoft.com/office/powerpoint/2010/main" val="21835455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2057400"/>
            <a:ext cx="8153400" cy="1938992"/>
          </a:xfrm>
          <a:prstGeom prst="rect">
            <a:avLst/>
          </a:prstGeom>
        </p:spPr>
        <p:txBody>
          <a:bodyPr wrap="square">
            <a:spAutoFit/>
          </a:bodyPr>
          <a:lstStyle/>
          <a:p>
            <a:r>
              <a:rPr lang="en-US" sz="2400" b="1" dirty="0" smtClean="0"/>
              <a:t>Direct </a:t>
            </a:r>
            <a:r>
              <a:rPr lang="en-US" sz="2400" b="1" dirty="0"/>
              <a:t>memory access (DMA): </a:t>
            </a:r>
            <a:endParaRPr lang="en-US" sz="2400" b="1" dirty="0" smtClean="0"/>
          </a:p>
          <a:p>
            <a:pPr marL="342900" indent="-342900">
              <a:buFont typeface="Arial" panose="020B0604020202020204" pitchFamily="34" charset="0"/>
              <a:buChar char="•"/>
            </a:pPr>
            <a:r>
              <a:rPr lang="en-US" sz="2400" dirty="0" smtClean="0"/>
              <a:t>The </a:t>
            </a:r>
            <a:r>
              <a:rPr lang="en-US" sz="2400" dirty="0"/>
              <a:t>DMA technique works as follows. </a:t>
            </a:r>
            <a:endParaRPr lang="en-US" sz="2400" dirty="0" smtClean="0"/>
          </a:p>
          <a:p>
            <a:pPr marL="342900" indent="-342900">
              <a:buFont typeface="Arial" panose="020B0604020202020204" pitchFamily="34" charset="0"/>
              <a:buChar char="•"/>
            </a:pPr>
            <a:r>
              <a:rPr lang="en-US" sz="2400" dirty="0" smtClean="0"/>
              <a:t>When </a:t>
            </a:r>
            <a:r>
              <a:rPr lang="en-US" sz="2400" dirty="0"/>
              <a:t>the </a:t>
            </a:r>
            <a:r>
              <a:rPr lang="en-US" sz="2400" dirty="0">
                <a:solidFill>
                  <a:schemeClr val="accent1"/>
                </a:solidFill>
              </a:rPr>
              <a:t>processor wishes to read </a:t>
            </a:r>
            <a:r>
              <a:rPr lang="en-US" sz="2400" dirty="0" smtClean="0">
                <a:solidFill>
                  <a:schemeClr val="accent1"/>
                </a:solidFill>
              </a:rPr>
              <a:t>or write </a:t>
            </a:r>
            <a:r>
              <a:rPr lang="en-US" sz="2400" dirty="0">
                <a:solidFill>
                  <a:schemeClr val="accent1"/>
                </a:solidFill>
              </a:rPr>
              <a:t>a block of data, it issues a command to the DMA module by sending to </a:t>
            </a:r>
            <a:r>
              <a:rPr lang="en-US" sz="2400" dirty="0" smtClean="0">
                <a:solidFill>
                  <a:schemeClr val="accent1"/>
                </a:solidFill>
              </a:rPr>
              <a:t>the DMA </a:t>
            </a:r>
            <a:r>
              <a:rPr lang="en-US" sz="2400" dirty="0">
                <a:solidFill>
                  <a:schemeClr val="accent1"/>
                </a:solidFill>
              </a:rPr>
              <a:t>module </a:t>
            </a:r>
            <a:r>
              <a:rPr lang="en-US" sz="2400" dirty="0" smtClean="0">
                <a:solidFill>
                  <a:schemeClr val="accent1"/>
                </a:solidFill>
              </a:rPr>
              <a:t>some information:</a:t>
            </a:r>
            <a:endParaRPr lang="en-US" sz="2400" dirty="0">
              <a:solidFill>
                <a:schemeClr val="accent1"/>
              </a:solidFill>
            </a:endParaRPr>
          </a:p>
        </p:txBody>
      </p:sp>
      <p:sp>
        <p:nvSpPr>
          <p:cNvPr id="4" name="Date Placeholder 3"/>
          <p:cNvSpPr>
            <a:spLocks noGrp="1"/>
          </p:cNvSpPr>
          <p:nvPr>
            <p:ph type="dt" sz="half" idx="10"/>
          </p:nvPr>
        </p:nvSpPr>
        <p:spPr/>
        <p:txBody>
          <a:bodyPr/>
          <a:lstStyle/>
          <a:p>
            <a:fld id="{EFCE8176-BE68-49CD-A6FA-D7BCB9A11E24}"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17</a:t>
            </a:fld>
            <a:endParaRPr lang="en-US"/>
          </a:p>
        </p:txBody>
      </p:sp>
    </p:spTree>
    <p:extLst>
      <p:ext uri="{BB962C8B-B14F-4D97-AF65-F5344CB8AC3E}">
        <p14:creationId xmlns:p14="http://schemas.microsoft.com/office/powerpoint/2010/main" val="12466346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304800" y="1749532"/>
            <a:ext cx="4648200" cy="4524315"/>
          </a:xfrm>
          <a:prstGeom prst="rect">
            <a:avLst/>
          </a:prstGeom>
        </p:spPr>
        <p:txBody>
          <a:bodyPr wrap="square">
            <a:spAutoFit/>
          </a:bodyPr>
          <a:lstStyle/>
          <a:p>
            <a:r>
              <a:rPr lang="en-US" sz="2400" b="1" dirty="0" smtClean="0"/>
              <a:t>Direct </a:t>
            </a:r>
            <a:r>
              <a:rPr lang="en-US" sz="2400" b="1" dirty="0"/>
              <a:t>memory access (DMA): </a:t>
            </a:r>
            <a:endParaRPr lang="en-US" sz="2400" b="1" dirty="0" smtClean="0"/>
          </a:p>
          <a:p>
            <a:pPr marL="342900" indent="-342900">
              <a:buFont typeface="Arial" panose="020B0604020202020204" pitchFamily="34" charset="0"/>
              <a:buChar char="•"/>
            </a:pPr>
            <a:r>
              <a:rPr lang="en-US" sz="2400" dirty="0" smtClean="0"/>
              <a:t>The information is:</a:t>
            </a:r>
            <a:endParaRPr lang="en-US" sz="2400" dirty="0"/>
          </a:p>
          <a:p>
            <a:pPr marL="800100" lvl="1" indent="-342900">
              <a:buFont typeface="Arial" panose="020B0604020202020204" pitchFamily="34" charset="0"/>
              <a:buChar char="•"/>
            </a:pPr>
            <a:r>
              <a:rPr lang="en-US" sz="2400" dirty="0" smtClean="0"/>
              <a:t>Whether </a:t>
            </a:r>
            <a:r>
              <a:rPr lang="en-US" sz="2400" dirty="0">
                <a:solidFill>
                  <a:schemeClr val="accent1"/>
                </a:solidFill>
              </a:rPr>
              <a:t>a read or write is requested, </a:t>
            </a:r>
            <a:endParaRPr lang="en-US" sz="2400" dirty="0" smtClean="0">
              <a:solidFill>
                <a:schemeClr val="accent1"/>
              </a:solidFill>
            </a:endParaRPr>
          </a:p>
          <a:p>
            <a:pPr marL="800100" lvl="1" indent="-342900">
              <a:buFont typeface="Arial" panose="020B0604020202020204" pitchFamily="34" charset="0"/>
              <a:buChar char="•"/>
            </a:pPr>
            <a:r>
              <a:rPr lang="en-US" sz="2400" dirty="0" smtClean="0"/>
              <a:t>Using </a:t>
            </a:r>
            <a:r>
              <a:rPr lang="en-US" sz="2400" dirty="0"/>
              <a:t>the </a:t>
            </a:r>
            <a:r>
              <a:rPr lang="en-US" sz="2400" dirty="0">
                <a:solidFill>
                  <a:srgbClr val="0070C0"/>
                </a:solidFill>
              </a:rPr>
              <a:t>read or write control </a:t>
            </a:r>
            <a:r>
              <a:rPr lang="en-US" sz="2400" dirty="0" smtClean="0">
                <a:solidFill>
                  <a:srgbClr val="0070C0"/>
                </a:solidFill>
              </a:rPr>
              <a:t>line </a:t>
            </a:r>
            <a:r>
              <a:rPr lang="en-US" sz="2400" dirty="0" smtClean="0"/>
              <a:t>between </a:t>
            </a:r>
            <a:r>
              <a:rPr lang="en-US" sz="2400" dirty="0"/>
              <a:t>the processor and the DMA module</a:t>
            </a:r>
          </a:p>
          <a:p>
            <a:pPr marL="800100" lvl="1" indent="-342900">
              <a:buFont typeface="Arial" panose="020B0604020202020204" pitchFamily="34" charset="0"/>
              <a:buChar char="•"/>
            </a:pPr>
            <a:r>
              <a:rPr lang="en-US" sz="2400" dirty="0" smtClean="0"/>
              <a:t>The </a:t>
            </a:r>
            <a:r>
              <a:rPr lang="en-US" sz="2400" dirty="0">
                <a:solidFill>
                  <a:srgbClr val="0070C0"/>
                </a:solidFill>
              </a:rPr>
              <a:t>address of the I/O device </a:t>
            </a:r>
            <a:r>
              <a:rPr lang="en-US" sz="2400" dirty="0"/>
              <a:t>involved, </a:t>
            </a:r>
            <a:r>
              <a:rPr lang="en-US" sz="2400" dirty="0">
                <a:solidFill>
                  <a:srgbClr val="0070C0"/>
                </a:solidFill>
              </a:rPr>
              <a:t>communicated on the data </a:t>
            </a:r>
            <a:r>
              <a:rPr lang="en-US" sz="2400" dirty="0" smtClean="0">
                <a:solidFill>
                  <a:srgbClr val="0070C0"/>
                </a:solidFill>
              </a:rPr>
              <a:t>lines </a:t>
            </a:r>
          </a:p>
          <a:p>
            <a:endParaRPr lang="en-US" sz="24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749532"/>
            <a:ext cx="3848100" cy="4194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a:off x="4191000" y="4114800"/>
            <a:ext cx="1676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fld id="{B8BD6C2C-AFD5-43B7-B510-5BE2737A6E7A}"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9" name="Slide Number Placeholder 8"/>
          <p:cNvSpPr>
            <a:spLocks noGrp="1"/>
          </p:cNvSpPr>
          <p:nvPr>
            <p:ph type="sldNum" sz="quarter" idx="12"/>
          </p:nvPr>
        </p:nvSpPr>
        <p:spPr/>
        <p:txBody>
          <a:bodyPr/>
          <a:lstStyle/>
          <a:p>
            <a:fld id="{BF891C86-C030-48BB-AD24-5C827D1B826C}" type="slidenum">
              <a:rPr lang="en-US" smtClean="0"/>
              <a:t>18</a:t>
            </a:fld>
            <a:endParaRPr lang="en-US"/>
          </a:p>
        </p:txBody>
      </p:sp>
    </p:spTree>
    <p:extLst>
      <p:ext uri="{BB962C8B-B14F-4D97-AF65-F5344CB8AC3E}">
        <p14:creationId xmlns:p14="http://schemas.microsoft.com/office/powerpoint/2010/main" val="24190737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225689"/>
            <a:ext cx="4495800" cy="4524315"/>
          </a:xfrm>
          <a:prstGeom prst="rect">
            <a:avLst/>
          </a:prstGeom>
        </p:spPr>
        <p:txBody>
          <a:bodyPr wrap="square">
            <a:spAutoFit/>
          </a:bodyPr>
          <a:lstStyle/>
          <a:p>
            <a:r>
              <a:rPr lang="en-US" sz="2400" b="1" dirty="0" smtClean="0"/>
              <a:t>Direct </a:t>
            </a:r>
            <a:r>
              <a:rPr lang="en-US" sz="2400" b="1" dirty="0"/>
              <a:t>memory access (DMA): </a:t>
            </a:r>
            <a:endParaRPr lang="en-US" sz="2400" b="1" dirty="0" smtClean="0"/>
          </a:p>
          <a:p>
            <a:endParaRPr lang="en-US" sz="2400" dirty="0" smtClean="0"/>
          </a:p>
          <a:p>
            <a:r>
              <a:rPr lang="en-US" sz="2400" dirty="0" smtClean="0"/>
              <a:t>• </a:t>
            </a:r>
            <a:r>
              <a:rPr lang="en-US" sz="2400" dirty="0"/>
              <a:t>The </a:t>
            </a:r>
            <a:r>
              <a:rPr lang="en-US" sz="2400" dirty="0">
                <a:solidFill>
                  <a:srgbClr val="0070C0"/>
                </a:solidFill>
              </a:rPr>
              <a:t>starting location in memory </a:t>
            </a:r>
            <a:r>
              <a:rPr lang="en-US" sz="2400" dirty="0"/>
              <a:t>to read from or write to, communicated </a:t>
            </a:r>
            <a:r>
              <a:rPr lang="en-US" sz="2400" dirty="0" smtClean="0"/>
              <a:t>on the </a:t>
            </a:r>
            <a:r>
              <a:rPr lang="en-US" sz="2400" dirty="0">
                <a:solidFill>
                  <a:schemeClr val="accent1"/>
                </a:solidFill>
              </a:rPr>
              <a:t>data lines </a:t>
            </a:r>
            <a:r>
              <a:rPr lang="en-US" sz="2400" dirty="0"/>
              <a:t>and </a:t>
            </a:r>
            <a:r>
              <a:rPr lang="en-US" sz="2400" dirty="0" smtClean="0">
                <a:solidFill>
                  <a:srgbClr val="0070C0"/>
                </a:solidFill>
              </a:rPr>
              <a:t>stored </a:t>
            </a:r>
            <a:r>
              <a:rPr lang="en-US" sz="2400" dirty="0">
                <a:solidFill>
                  <a:srgbClr val="0070C0"/>
                </a:solidFill>
              </a:rPr>
              <a:t>by the DMA module in its address </a:t>
            </a:r>
            <a:r>
              <a:rPr lang="en-US" sz="2400" dirty="0" smtClean="0">
                <a:solidFill>
                  <a:srgbClr val="0070C0"/>
                </a:solidFill>
              </a:rPr>
              <a:t>register</a:t>
            </a:r>
          </a:p>
          <a:p>
            <a:endParaRPr lang="en-US" sz="2400" dirty="0"/>
          </a:p>
          <a:p>
            <a:r>
              <a:rPr lang="en-US" sz="2400" dirty="0"/>
              <a:t>• </a:t>
            </a:r>
            <a:r>
              <a:rPr lang="en-US" sz="2400" dirty="0" smtClean="0"/>
              <a:t>The </a:t>
            </a:r>
            <a:r>
              <a:rPr lang="en-US" sz="2400" dirty="0">
                <a:solidFill>
                  <a:srgbClr val="0070C0"/>
                </a:solidFill>
              </a:rPr>
              <a:t>number of words to be read or written</a:t>
            </a:r>
            <a:r>
              <a:rPr lang="en-US" sz="2400" dirty="0"/>
              <a:t>, again communicated via </a:t>
            </a:r>
            <a:r>
              <a:rPr lang="en-US" sz="2400" dirty="0">
                <a:solidFill>
                  <a:schemeClr val="accent1"/>
                </a:solidFill>
              </a:rPr>
              <a:t>the </a:t>
            </a:r>
            <a:r>
              <a:rPr lang="en-US" sz="2400" dirty="0" smtClean="0">
                <a:solidFill>
                  <a:schemeClr val="accent1"/>
                </a:solidFill>
              </a:rPr>
              <a:t>data lines </a:t>
            </a:r>
            <a:r>
              <a:rPr lang="en-US" sz="2400" dirty="0"/>
              <a:t>and </a:t>
            </a:r>
            <a:r>
              <a:rPr lang="en-US" sz="2400" dirty="0">
                <a:solidFill>
                  <a:srgbClr val="0070C0"/>
                </a:solidFill>
              </a:rPr>
              <a:t>stored in the data count </a:t>
            </a:r>
            <a:r>
              <a:rPr lang="en-US" sz="2400" dirty="0" smtClean="0">
                <a:solidFill>
                  <a:srgbClr val="0070C0"/>
                </a:solidFill>
              </a:rPr>
              <a:t>register</a:t>
            </a:r>
            <a:endParaRPr lang="en-US" sz="2400" dirty="0">
              <a:solidFill>
                <a:srgbClr val="0070C0"/>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749532"/>
            <a:ext cx="3848100" cy="4194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a:off x="4800600" y="2209800"/>
            <a:ext cx="12192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3200400" y="3657600"/>
            <a:ext cx="3276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455968" y="2819400"/>
            <a:ext cx="3164032" cy="274320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2" name="Straight Arrow Connector 11"/>
          <p:cNvCxnSpPr/>
          <p:nvPr/>
        </p:nvCxnSpPr>
        <p:spPr>
          <a:xfrm flipV="1">
            <a:off x="4455968" y="3276600"/>
            <a:ext cx="1716232" cy="1042555"/>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6" name="Date Placeholder 5"/>
          <p:cNvSpPr>
            <a:spLocks noGrp="1"/>
          </p:cNvSpPr>
          <p:nvPr>
            <p:ph type="dt" sz="half" idx="10"/>
          </p:nvPr>
        </p:nvSpPr>
        <p:spPr/>
        <p:txBody>
          <a:bodyPr/>
          <a:lstStyle/>
          <a:p>
            <a:fld id="{79A7C3A2-5CEC-49D2-82CA-23DA120DA8FD}" type="datetime1">
              <a:rPr lang="en-US" smtClean="0"/>
              <a:t>11/11/2024</a:t>
            </a:fld>
            <a:endParaRPr lang="en-US"/>
          </a:p>
        </p:txBody>
      </p:sp>
      <p:sp>
        <p:nvSpPr>
          <p:cNvPr id="8" name="Footer Placeholder 7"/>
          <p:cNvSpPr>
            <a:spLocks noGrp="1"/>
          </p:cNvSpPr>
          <p:nvPr>
            <p:ph type="ftr" sz="quarter" idx="11"/>
          </p:nvPr>
        </p:nvSpPr>
        <p:spPr/>
        <p:txBody>
          <a:bodyPr/>
          <a:lstStyle/>
          <a:p>
            <a:r>
              <a:rPr lang="en-US" smtClean="0"/>
              <a:t>Prof. Shweta Dhawan Chachra</a:t>
            </a:r>
            <a:endParaRPr lang="en-US"/>
          </a:p>
        </p:txBody>
      </p:sp>
      <p:sp>
        <p:nvSpPr>
          <p:cNvPr id="10" name="Slide Number Placeholder 9"/>
          <p:cNvSpPr>
            <a:spLocks noGrp="1"/>
          </p:cNvSpPr>
          <p:nvPr>
            <p:ph type="sldNum" sz="quarter" idx="12"/>
          </p:nvPr>
        </p:nvSpPr>
        <p:spPr/>
        <p:txBody>
          <a:bodyPr/>
          <a:lstStyle/>
          <a:p>
            <a:fld id="{BF891C86-C030-48BB-AD24-5C827D1B826C}" type="slidenum">
              <a:rPr lang="en-US" smtClean="0"/>
              <a:t>19</a:t>
            </a:fld>
            <a:endParaRPr lang="en-US"/>
          </a:p>
        </p:txBody>
      </p:sp>
    </p:spTree>
    <p:extLst>
      <p:ext uri="{BB962C8B-B14F-4D97-AF65-F5344CB8AC3E}">
        <p14:creationId xmlns:p14="http://schemas.microsoft.com/office/powerpoint/2010/main" val="1417861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371600"/>
            <a:ext cx="4267200" cy="3046988"/>
          </a:xfrm>
          <a:prstGeom prst="rect">
            <a:avLst/>
          </a:prstGeom>
        </p:spPr>
        <p:txBody>
          <a:bodyPr wrap="square">
            <a:spAutoFit/>
          </a:bodyPr>
          <a:lstStyle/>
          <a:p>
            <a:r>
              <a:rPr lang="en-US" sz="2400" b="1" dirty="0" smtClean="0"/>
              <a:t>Direct </a:t>
            </a:r>
            <a:r>
              <a:rPr lang="en-US" sz="2400" b="1" dirty="0"/>
              <a:t>memory access (DMA</a:t>
            </a:r>
            <a:r>
              <a:rPr lang="en-US" sz="2400" b="1" dirty="0" smtClean="0"/>
              <a:t>):</a:t>
            </a:r>
          </a:p>
          <a:p>
            <a:r>
              <a:rPr lang="en-US" sz="2400" b="1" dirty="0" smtClean="0"/>
              <a:t> </a:t>
            </a:r>
          </a:p>
          <a:p>
            <a:pPr marL="342900" indent="-342900">
              <a:buFont typeface="Arial" panose="020B0604020202020204" pitchFamily="34" charset="0"/>
              <a:buChar char="•"/>
            </a:pPr>
            <a:r>
              <a:rPr lang="en-US" sz="2400" dirty="0" smtClean="0">
                <a:solidFill>
                  <a:srgbClr val="FF0000"/>
                </a:solidFill>
              </a:rPr>
              <a:t>The </a:t>
            </a:r>
            <a:r>
              <a:rPr lang="en-US" sz="2400" dirty="0">
                <a:solidFill>
                  <a:srgbClr val="FF0000"/>
                </a:solidFill>
              </a:rPr>
              <a:t>processor then continues with other work. </a:t>
            </a:r>
            <a:endParaRPr lang="en-US" sz="2400" dirty="0" smtClean="0">
              <a:solidFill>
                <a:srgbClr val="FF0000"/>
              </a:solidFill>
            </a:endParaRPr>
          </a:p>
          <a:p>
            <a:pPr marL="800100" lvl="1" indent="-342900">
              <a:buFont typeface="Arial" panose="020B0604020202020204" pitchFamily="34" charset="0"/>
              <a:buChar char="•"/>
            </a:pPr>
            <a:r>
              <a:rPr lang="en-US" sz="2400" dirty="0" smtClean="0"/>
              <a:t>It </a:t>
            </a:r>
            <a:r>
              <a:rPr lang="en-US" sz="2400" dirty="0"/>
              <a:t>has delegated this I/O </a:t>
            </a:r>
            <a:r>
              <a:rPr lang="en-US" sz="2400" dirty="0" smtClean="0"/>
              <a:t>operation to </a:t>
            </a:r>
            <a:r>
              <a:rPr lang="en-US" sz="2400" dirty="0"/>
              <a:t>the DMA </a:t>
            </a:r>
            <a:r>
              <a:rPr lang="en-US" sz="2400" dirty="0" smtClean="0"/>
              <a:t>module</a:t>
            </a:r>
          </a:p>
          <a:p>
            <a:pPr marL="342900" indent="-342900">
              <a:buFont typeface="Arial" panose="020B0604020202020204" pitchFamily="34" charset="0"/>
              <a:buChar char="•"/>
            </a:pPr>
            <a:endParaRPr lang="en-US" sz="2400" dirty="0" smtClean="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749532"/>
            <a:ext cx="3848100" cy="4194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ate Placeholder 5"/>
          <p:cNvSpPr>
            <a:spLocks noGrp="1"/>
          </p:cNvSpPr>
          <p:nvPr>
            <p:ph type="dt" sz="half" idx="10"/>
          </p:nvPr>
        </p:nvSpPr>
        <p:spPr/>
        <p:txBody>
          <a:bodyPr/>
          <a:lstStyle/>
          <a:p>
            <a:fld id="{9D61C1F8-5B2E-4570-8288-17DF1236486C}"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20</a:t>
            </a:fld>
            <a:endParaRPr lang="en-US"/>
          </a:p>
        </p:txBody>
      </p:sp>
    </p:spTree>
    <p:extLst>
      <p:ext uri="{BB962C8B-B14F-4D97-AF65-F5344CB8AC3E}">
        <p14:creationId xmlns:p14="http://schemas.microsoft.com/office/powerpoint/2010/main" val="10223479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371600"/>
            <a:ext cx="4267200" cy="3416320"/>
          </a:xfrm>
          <a:prstGeom prst="rect">
            <a:avLst/>
          </a:prstGeom>
        </p:spPr>
        <p:txBody>
          <a:bodyPr wrap="square">
            <a:spAutoFit/>
          </a:bodyPr>
          <a:lstStyle/>
          <a:p>
            <a:r>
              <a:rPr lang="en-US" sz="2400" b="1" dirty="0" smtClean="0"/>
              <a:t>Direct </a:t>
            </a:r>
            <a:r>
              <a:rPr lang="en-US" sz="2400" b="1" dirty="0"/>
              <a:t>memory access (DMA</a:t>
            </a:r>
            <a:r>
              <a:rPr lang="en-US" sz="2400" b="1" dirty="0" smtClean="0"/>
              <a:t>):</a:t>
            </a:r>
          </a:p>
          <a:p>
            <a:r>
              <a:rPr lang="en-US" sz="2400" b="1" dirty="0" smtClean="0"/>
              <a:t> </a:t>
            </a:r>
          </a:p>
          <a:p>
            <a:pPr marL="342900" indent="-342900">
              <a:buFont typeface="Arial" panose="020B0604020202020204" pitchFamily="34" charset="0"/>
              <a:buChar char="•"/>
            </a:pPr>
            <a:r>
              <a:rPr lang="en-US" sz="2400" dirty="0" smtClean="0"/>
              <a:t>The </a:t>
            </a:r>
            <a:r>
              <a:rPr lang="en-US" sz="2400" dirty="0"/>
              <a:t>DMA module </a:t>
            </a:r>
            <a:r>
              <a:rPr lang="en-US" sz="2400" dirty="0">
                <a:solidFill>
                  <a:srgbClr val="0070C0"/>
                </a:solidFill>
              </a:rPr>
              <a:t>transfers the entire block of data, </a:t>
            </a:r>
            <a:endParaRPr lang="en-US" sz="2400" dirty="0" smtClean="0">
              <a:solidFill>
                <a:srgbClr val="0070C0"/>
              </a:solidFill>
            </a:endParaRPr>
          </a:p>
          <a:p>
            <a:pPr marL="800100" lvl="1" indent="-342900">
              <a:buFont typeface="Arial" panose="020B0604020202020204" pitchFamily="34" charset="0"/>
              <a:buChar char="•"/>
            </a:pPr>
            <a:r>
              <a:rPr lang="en-US" sz="2400" dirty="0" smtClean="0">
                <a:solidFill>
                  <a:srgbClr val="0070C0"/>
                </a:solidFill>
              </a:rPr>
              <a:t>one word at </a:t>
            </a:r>
            <a:r>
              <a:rPr lang="en-US" sz="2400" dirty="0">
                <a:solidFill>
                  <a:srgbClr val="0070C0"/>
                </a:solidFill>
              </a:rPr>
              <a:t>a time, </a:t>
            </a:r>
            <a:endParaRPr lang="en-US" sz="2400" dirty="0" smtClean="0">
              <a:solidFill>
                <a:srgbClr val="0070C0"/>
              </a:solidFill>
            </a:endParaRPr>
          </a:p>
          <a:p>
            <a:pPr marL="800100" lvl="1" indent="-342900">
              <a:buFont typeface="Arial" panose="020B0604020202020204" pitchFamily="34" charset="0"/>
              <a:buChar char="•"/>
            </a:pPr>
            <a:r>
              <a:rPr lang="en-US" sz="2400" dirty="0" smtClean="0">
                <a:solidFill>
                  <a:srgbClr val="0070C0"/>
                </a:solidFill>
              </a:rPr>
              <a:t>directly </a:t>
            </a:r>
            <a:r>
              <a:rPr lang="en-US" sz="2400" dirty="0">
                <a:solidFill>
                  <a:srgbClr val="0070C0"/>
                </a:solidFill>
              </a:rPr>
              <a:t>to or from memory, </a:t>
            </a:r>
            <a:endParaRPr lang="en-US" sz="2400" dirty="0" smtClean="0">
              <a:solidFill>
                <a:srgbClr val="0070C0"/>
              </a:solidFill>
            </a:endParaRPr>
          </a:p>
          <a:p>
            <a:pPr marL="800100" lvl="1" indent="-342900">
              <a:buFont typeface="Arial" panose="020B0604020202020204" pitchFamily="34" charset="0"/>
              <a:buChar char="•"/>
            </a:pPr>
            <a:r>
              <a:rPr lang="en-US" sz="2400" b="1" dirty="0" smtClean="0">
                <a:solidFill>
                  <a:srgbClr val="FF0000"/>
                </a:solidFill>
              </a:rPr>
              <a:t>without </a:t>
            </a:r>
            <a:r>
              <a:rPr lang="en-US" sz="2400" b="1" dirty="0">
                <a:solidFill>
                  <a:srgbClr val="FF0000"/>
                </a:solidFill>
              </a:rPr>
              <a:t>going through the </a:t>
            </a:r>
            <a:r>
              <a:rPr lang="en-US" sz="2400" b="1" dirty="0" smtClean="0">
                <a:solidFill>
                  <a:srgbClr val="FF0000"/>
                </a:solidFill>
              </a:rPr>
              <a:t>processor</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749532"/>
            <a:ext cx="3848100" cy="4194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ate Placeholder 5"/>
          <p:cNvSpPr>
            <a:spLocks noGrp="1"/>
          </p:cNvSpPr>
          <p:nvPr>
            <p:ph type="dt" sz="half" idx="10"/>
          </p:nvPr>
        </p:nvSpPr>
        <p:spPr/>
        <p:txBody>
          <a:bodyPr/>
          <a:lstStyle/>
          <a:p>
            <a:fld id="{9D61C1F8-5B2E-4570-8288-17DF1236486C}"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21</a:t>
            </a:fld>
            <a:endParaRPr lang="en-US"/>
          </a:p>
        </p:txBody>
      </p:sp>
    </p:spTree>
    <p:extLst>
      <p:ext uri="{BB962C8B-B14F-4D97-AF65-F5344CB8AC3E}">
        <p14:creationId xmlns:p14="http://schemas.microsoft.com/office/powerpoint/2010/main" val="17167437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11.2 ORGANIZATION OF THE I/O FUNCTION</a:t>
            </a:r>
            <a:endParaRPr lang="en-US" dirty="0"/>
          </a:p>
        </p:txBody>
      </p:sp>
      <p:sp>
        <p:nvSpPr>
          <p:cNvPr id="3" name="Rectangle 2"/>
          <p:cNvSpPr/>
          <p:nvPr/>
        </p:nvSpPr>
        <p:spPr>
          <a:xfrm>
            <a:off x="457200" y="1752600"/>
            <a:ext cx="4267200" cy="3416320"/>
          </a:xfrm>
          <a:prstGeom prst="rect">
            <a:avLst/>
          </a:prstGeom>
        </p:spPr>
        <p:txBody>
          <a:bodyPr wrap="square">
            <a:spAutoFit/>
          </a:bodyPr>
          <a:lstStyle/>
          <a:p>
            <a:r>
              <a:rPr lang="en-US" sz="2400" b="1" dirty="0" smtClean="0"/>
              <a:t>Direct </a:t>
            </a:r>
            <a:r>
              <a:rPr lang="en-US" sz="2400" b="1" dirty="0"/>
              <a:t>memory access (DMA): </a:t>
            </a:r>
            <a:endParaRPr lang="en-US" sz="2400" b="1" dirty="0" smtClean="0"/>
          </a:p>
          <a:p>
            <a:pPr marL="342900" indent="-342900">
              <a:buFont typeface="Arial" panose="020B0604020202020204" pitchFamily="34" charset="0"/>
              <a:buChar char="•"/>
            </a:pPr>
            <a:r>
              <a:rPr lang="en-US" sz="2400" dirty="0" smtClean="0"/>
              <a:t>When the transfer </a:t>
            </a:r>
            <a:r>
              <a:rPr lang="en-US" sz="2400" dirty="0"/>
              <a:t>is </a:t>
            </a:r>
            <a:r>
              <a:rPr lang="en-US" sz="2400" dirty="0">
                <a:solidFill>
                  <a:srgbClr val="0070C0"/>
                </a:solidFill>
              </a:rPr>
              <a:t>complete,</a:t>
            </a:r>
            <a:r>
              <a:rPr lang="en-US" sz="2400" dirty="0"/>
              <a:t> </a:t>
            </a:r>
            <a:endParaRPr lang="en-US" sz="2400" dirty="0" smtClean="0"/>
          </a:p>
          <a:p>
            <a:pPr marL="342900" indent="-342900">
              <a:buFont typeface="Arial" panose="020B0604020202020204" pitchFamily="34" charset="0"/>
              <a:buChar char="•"/>
            </a:pPr>
            <a:r>
              <a:rPr lang="en-US" sz="2400" dirty="0" smtClean="0"/>
              <a:t>the </a:t>
            </a:r>
            <a:r>
              <a:rPr lang="en-US" sz="2400" dirty="0"/>
              <a:t>DMA module sends an </a:t>
            </a:r>
            <a:r>
              <a:rPr lang="en-US" sz="2400" dirty="0">
                <a:solidFill>
                  <a:schemeClr val="accent1"/>
                </a:solidFill>
              </a:rPr>
              <a:t>interrupt signal to the </a:t>
            </a:r>
            <a:r>
              <a:rPr lang="en-US" sz="2400" dirty="0" smtClean="0">
                <a:solidFill>
                  <a:schemeClr val="accent1"/>
                </a:solidFill>
              </a:rPr>
              <a:t>processor.</a:t>
            </a:r>
          </a:p>
          <a:p>
            <a:pPr marL="342900" indent="-342900">
              <a:buFont typeface="Arial" panose="020B0604020202020204" pitchFamily="34" charset="0"/>
              <a:buChar char="•"/>
            </a:pPr>
            <a:r>
              <a:rPr lang="en-US" sz="2400" dirty="0" smtClean="0">
                <a:solidFill>
                  <a:srgbClr val="FF0000"/>
                </a:solidFill>
              </a:rPr>
              <a:t>The </a:t>
            </a:r>
            <a:r>
              <a:rPr lang="en-US" sz="2400" dirty="0">
                <a:solidFill>
                  <a:srgbClr val="FF0000"/>
                </a:solidFill>
              </a:rPr>
              <a:t>processor is involved only at the beginning and end of the transfer</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749532"/>
            <a:ext cx="3848100" cy="4194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ate Placeholder 4"/>
          <p:cNvSpPr>
            <a:spLocks noGrp="1"/>
          </p:cNvSpPr>
          <p:nvPr>
            <p:ph type="dt" sz="half" idx="10"/>
          </p:nvPr>
        </p:nvSpPr>
        <p:spPr/>
        <p:txBody>
          <a:bodyPr/>
          <a:lstStyle/>
          <a:p>
            <a:fld id="{873FEE54-548D-4949-AC5D-80981ECE396A}" type="datetime1">
              <a:rPr lang="en-US" smtClean="0"/>
              <a:t>11/11/2024</a:t>
            </a:fld>
            <a:endParaRPr lang="en-US"/>
          </a:p>
        </p:txBody>
      </p:sp>
      <p:sp>
        <p:nvSpPr>
          <p:cNvPr id="6" name="Footer Placeholder 5"/>
          <p:cNvSpPr>
            <a:spLocks noGrp="1"/>
          </p:cNvSpPr>
          <p:nvPr>
            <p:ph type="ftr" sz="quarter" idx="11"/>
          </p:nvPr>
        </p:nvSpPr>
        <p:spPr/>
        <p:txBody>
          <a:bodyPr/>
          <a:lstStyle/>
          <a:p>
            <a:r>
              <a:rPr lang="en-US" smtClean="0"/>
              <a:t>Prof. Shweta Dhawan Chachra</a:t>
            </a:r>
            <a:endParaRPr lang="en-US"/>
          </a:p>
        </p:txBody>
      </p:sp>
      <p:sp>
        <p:nvSpPr>
          <p:cNvPr id="7" name="Slide Number Placeholder 6"/>
          <p:cNvSpPr>
            <a:spLocks noGrp="1"/>
          </p:cNvSpPr>
          <p:nvPr>
            <p:ph type="sldNum" sz="quarter" idx="12"/>
          </p:nvPr>
        </p:nvSpPr>
        <p:spPr/>
        <p:txBody>
          <a:bodyPr/>
          <a:lstStyle/>
          <a:p>
            <a:fld id="{BF891C86-C030-48BB-AD24-5C827D1B826C}" type="slidenum">
              <a:rPr lang="en-US" smtClean="0"/>
              <a:t>22</a:t>
            </a:fld>
            <a:endParaRPr lang="en-US"/>
          </a:p>
        </p:txBody>
      </p:sp>
      <p:cxnSp>
        <p:nvCxnSpPr>
          <p:cNvPr id="8" name="Straight Arrow Connector 7"/>
          <p:cNvCxnSpPr/>
          <p:nvPr/>
        </p:nvCxnSpPr>
        <p:spPr>
          <a:xfrm>
            <a:off x="3200400" y="3886200"/>
            <a:ext cx="28194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6641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4636"/>
            <a:ext cx="8229600" cy="258762"/>
          </a:xfrm>
        </p:spPr>
        <p:txBody>
          <a:bodyPr>
            <a:noAutofit/>
          </a:bodyPr>
          <a:lstStyle/>
          <a:p>
            <a:r>
              <a:rPr lang="en-IN" sz="3200" dirty="0"/>
              <a:t>Direct Memory Access (DMA) </a:t>
            </a:r>
          </a:p>
        </p:txBody>
      </p:sp>
      <p:sp>
        <p:nvSpPr>
          <p:cNvPr id="3" name="Date Placeholder 2"/>
          <p:cNvSpPr>
            <a:spLocks noGrp="1"/>
          </p:cNvSpPr>
          <p:nvPr>
            <p:ph type="dt" sz="half" idx="10"/>
          </p:nvPr>
        </p:nvSpPr>
        <p:spPr/>
        <p:txBody>
          <a:bodyPr/>
          <a:lstStyle/>
          <a:p>
            <a:fld id="{B3AD5643-6D0F-4EAC-8D11-AEC8C721AE31}"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23</a:t>
            </a:fld>
            <a:endParaRPr lang="en-US"/>
          </a:p>
        </p:txBody>
      </p:sp>
      <p:sp>
        <p:nvSpPr>
          <p:cNvPr id="6" name="TextBox 5"/>
          <p:cNvSpPr txBox="1"/>
          <p:nvPr/>
        </p:nvSpPr>
        <p:spPr>
          <a:xfrm>
            <a:off x="533400" y="1066800"/>
            <a:ext cx="7924800" cy="4154984"/>
          </a:xfrm>
          <a:prstGeom prst="rect">
            <a:avLst/>
          </a:prstGeom>
          <a:noFill/>
        </p:spPr>
        <p:txBody>
          <a:bodyPr wrap="square" rtlCol="0">
            <a:spAutoFit/>
          </a:bodyPr>
          <a:lstStyle/>
          <a:p>
            <a:pPr marL="285750" indent="-285750">
              <a:buFont typeface="Arial" panose="020B0604020202020204" pitchFamily="34" charset="0"/>
              <a:buChar char="•"/>
            </a:pPr>
            <a:r>
              <a:rPr lang="en-IN" sz="2400" dirty="0" smtClean="0"/>
              <a:t>DMA </a:t>
            </a:r>
            <a:r>
              <a:rPr lang="en-IN" sz="2400" dirty="0"/>
              <a:t>Controller is a hardware device that allows I/O devices to directly access memory with less participation of the processor. </a:t>
            </a:r>
            <a:endParaRPr lang="en-IN" sz="2400" dirty="0" smtClean="0"/>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smtClean="0"/>
              <a:t>For The </a:t>
            </a:r>
            <a:r>
              <a:rPr lang="en-IN" sz="2400" dirty="0"/>
              <a:t>data transfer between a </a:t>
            </a:r>
            <a:r>
              <a:rPr lang="en-IN" sz="2400" dirty="0" smtClean="0"/>
              <a:t>storage </a:t>
            </a:r>
            <a:r>
              <a:rPr lang="en-IN" sz="2400" dirty="0"/>
              <a:t>media such as magnetic disk and memory </a:t>
            </a:r>
            <a:r>
              <a:rPr lang="en-IN" sz="2400" dirty="0" smtClean="0"/>
              <a:t>unit. The </a:t>
            </a:r>
            <a:r>
              <a:rPr lang="en-IN" sz="2400" dirty="0"/>
              <a:t>peripherals </a:t>
            </a:r>
            <a:r>
              <a:rPr lang="en-IN" sz="2400" dirty="0" smtClean="0"/>
              <a:t>can directly </a:t>
            </a:r>
            <a:r>
              <a:rPr lang="en-IN" sz="2400" dirty="0"/>
              <a:t>communicate with each other using the memory buses, removing the intervention of the CPU. This type of data transfer technique is known as DMA or direct memory access. </a:t>
            </a:r>
            <a:endParaRPr lang="en-IN" sz="2400" dirty="0" smtClean="0"/>
          </a:p>
          <a:p>
            <a:pPr marL="2857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2508859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4636"/>
            <a:ext cx="8229600" cy="258762"/>
          </a:xfrm>
        </p:spPr>
        <p:txBody>
          <a:bodyPr>
            <a:noAutofit/>
          </a:bodyPr>
          <a:lstStyle/>
          <a:p>
            <a:r>
              <a:rPr lang="en-IN" sz="3200" dirty="0"/>
              <a:t>Direct Memory Access (DMA) </a:t>
            </a:r>
          </a:p>
        </p:txBody>
      </p:sp>
      <p:sp>
        <p:nvSpPr>
          <p:cNvPr id="3" name="Date Placeholder 2"/>
          <p:cNvSpPr>
            <a:spLocks noGrp="1"/>
          </p:cNvSpPr>
          <p:nvPr>
            <p:ph type="dt" sz="half" idx="10"/>
          </p:nvPr>
        </p:nvSpPr>
        <p:spPr/>
        <p:txBody>
          <a:bodyPr/>
          <a:lstStyle/>
          <a:p>
            <a:fld id="{B3AD5643-6D0F-4EAC-8D11-AEC8C721AE31}"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24</a:t>
            </a:fld>
            <a:endParaRPr lang="en-US"/>
          </a:p>
        </p:txBody>
      </p:sp>
      <p:sp>
        <p:nvSpPr>
          <p:cNvPr id="6" name="TextBox 5"/>
          <p:cNvSpPr txBox="1"/>
          <p:nvPr/>
        </p:nvSpPr>
        <p:spPr>
          <a:xfrm>
            <a:off x="533400" y="1066800"/>
            <a:ext cx="7924800" cy="1569660"/>
          </a:xfrm>
          <a:prstGeom prst="rect">
            <a:avLst/>
          </a:prstGeom>
          <a:noFill/>
        </p:spPr>
        <p:txBody>
          <a:bodyPr wrap="square" rtlCol="0">
            <a:spAutoFit/>
          </a:bodyPr>
          <a:lstStyle/>
          <a:p>
            <a:pPr marL="285750" indent="-285750">
              <a:buFont typeface="Arial" panose="020B0604020202020204" pitchFamily="34" charset="0"/>
              <a:buChar char="•"/>
            </a:pPr>
            <a:r>
              <a:rPr lang="en-IN" sz="2400" dirty="0" smtClean="0"/>
              <a:t>During DMA, </a:t>
            </a:r>
            <a:r>
              <a:rPr lang="en-IN" sz="2400" dirty="0"/>
              <a:t>the CPU is idle and it has no control over the memory buses. The DMA controller takes over the buses to manage the transfer directly between the I/O devices and the memory unit.</a:t>
            </a:r>
          </a:p>
        </p:txBody>
      </p:sp>
    </p:spTree>
    <p:extLst>
      <p:ext uri="{BB962C8B-B14F-4D97-AF65-F5344CB8AC3E}">
        <p14:creationId xmlns:p14="http://schemas.microsoft.com/office/powerpoint/2010/main" val="1672909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4636"/>
            <a:ext cx="8229600" cy="258762"/>
          </a:xfrm>
        </p:spPr>
        <p:txBody>
          <a:bodyPr>
            <a:noAutofit/>
          </a:bodyPr>
          <a:lstStyle/>
          <a:p>
            <a:r>
              <a:rPr lang="en-IN" sz="3200" dirty="0"/>
              <a:t>Direct Memory Access (DMA) </a:t>
            </a:r>
          </a:p>
        </p:txBody>
      </p:sp>
      <p:sp>
        <p:nvSpPr>
          <p:cNvPr id="3" name="Date Placeholder 2"/>
          <p:cNvSpPr>
            <a:spLocks noGrp="1"/>
          </p:cNvSpPr>
          <p:nvPr>
            <p:ph type="dt" sz="half" idx="10"/>
          </p:nvPr>
        </p:nvSpPr>
        <p:spPr/>
        <p:txBody>
          <a:bodyPr/>
          <a:lstStyle/>
          <a:p>
            <a:fld id="{B3AD5643-6D0F-4EAC-8D11-AEC8C721AE31}"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25</a:t>
            </a:fld>
            <a:endParaRPr lang="en-US"/>
          </a:p>
        </p:txBody>
      </p:sp>
      <p:sp>
        <p:nvSpPr>
          <p:cNvPr id="6" name="TextBox 5"/>
          <p:cNvSpPr txBox="1"/>
          <p:nvPr/>
        </p:nvSpPr>
        <p:spPr>
          <a:xfrm>
            <a:off x="304800" y="533400"/>
            <a:ext cx="8534400" cy="4093428"/>
          </a:xfrm>
          <a:prstGeom prst="rect">
            <a:avLst/>
          </a:prstGeom>
          <a:noFill/>
        </p:spPr>
        <p:txBody>
          <a:bodyPr wrap="square" rtlCol="0">
            <a:spAutoFit/>
          </a:bodyPr>
          <a:lstStyle/>
          <a:p>
            <a:r>
              <a:rPr lang="en-IN" sz="2000" b="1" dirty="0"/>
              <a:t>GATE | GATE-CS-2016 (Set 1) | Question 41</a:t>
            </a:r>
          </a:p>
          <a:p>
            <a:r>
              <a:rPr lang="en-IN" sz="2000" dirty="0" smtClean="0"/>
              <a:t>The </a:t>
            </a:r>
            <a:r>
              <a:rPr lang="en-IN" sz="2000" dirty="0"/>
              <a:t>size of the data count register of a DMA controller is 16 bits. The processor needs to transfer a file of 29,154 kilobytes from disk to main memory. The memory is byte addressable. The minimum number of times the DMA controller needs to get the control of the system bus from the processor to transfer the file from the disk to main memory is _________</a:t>
            </a:r>
          </a:p>
          <a:p>
            <a:r>
              <a:rPr lang="en-IN" sz="2000" dirty="0"/>
              <a:t> </a:t>
            </a:r>
            <a:br>
              <a:rPr lang="en-IN" sz="2000" dirty="0"/>
            </a:br>
            <a:r>
              <a:rPr lang="en-IN" sz="2000" b="1" dirty="0" smtClean="0"/>
              <a:t>(</a:t>
            </a:r>
            <a:r>
              <a:rPr lang="en-IN" sz="2000" b="1" dirty="0"/>
              <a:t>A)</a:t>
            </a:r>
            <a:r>
              <a:rPr lang="en-IN" sz="2000" dirty="0"/>
              <a:t> 3644</a:t>
            </a:r>
            <a:br>
              <a:rPr lang="en-IN" sz="2000" dirty="0"/>
            </a:br>
            <a:r>
              <a:rPr lang="en-IN" sz="2000" b="1" dirty="0"/>
              <a:t>(B)</a:t>
            </a:r>
            <a:r>
              <a:rPr lang="en-IN" sz="2000" dirty="0"/>
              <a:t> 3645</a:t>
            </a:r>
            <a:br>
              <a:rPr lang="en-IN" sz="2000" dirty="0"/>
            </a:br>
            <a:r>
              <a:rPr lang="en-IN" sz="2000" b="1" dirty="0"/>
              <a:t>(C)</a:t>
            </a:r>
            <a:r>
              <a:rPr lang="en-IN" sz="2000" dirty="0"/>
              <a:t> 456</a:t>
            </a:r>
            <a:br>
              <a:rPr lang="en-IN" sz="2000" dirty="0"/>
            </a:br>
            <a:r>
              <a:rPr lang="en-IN" sz="2000" b="1" dirty="0"/>
              <a:t>(D)</a:t>
            </a:r>
            <a:r>
              <a:rPr lang="en-IN" sz="2000" dirty="0"/>
              <a:t> 1823</a:t>
            </a:r>
            <a:br>
              <a:rPr lang="en-IN" sz="2000" dirty="0"/>
            </a:br>
            <a:r>
              <a:rPr lang="en-IN" sz="2000" dirty="0"/>
              <a:t/>
            </a:r>
            <a:br>
              <a:rPr lang="en-IN" sz="2000" dirty="0"/>
            </a:br>
            <a:endParaRPr lang="en-IN" sz="2000" dirty="0"/>
          </a:p>
        </p:txBody>
      </p:sp>
    </p:spTree>
    <p:extLst>
      <p:ext uri="{BB962C8B-B14F-4D97-AF65-F5344CB8AC3E}">
        <p14:creationId xmlns:p14="http://schemas.microsoft.com/office/powerpoint/2010/main" val="2172130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4636"/>
            <a:ext cx="8229600" cy="258762"/>
          </a:xfrm>
        </p:spPr>
        <p:txBody>
          <a:bodyPr>
            <a:noAutofit/>
          </a:bodyPr>
          <a:lstStyle/>
          <a:p>
            <a:r>
              <a:rPr lang="en-IN" sz="3200" dirty="0"/>
              <a:t>Direct Memory Access (DMA) </a:t>
            </a:r>
          </a:p>
        </p:txBody>
      </p:sp>
      <p:sp>
        <p:nvSpPr>
          <p:cNvPr id="3" name="Date Placeholder 2"/>
          <p:cNvSpPr>
            <a:spLocks noGrp="1"/>
          </p:cNvSpPr>
          <p:nvPr>
            <p:ph type="dt" sz="half" idx="10"/>
          </p:nvPr>
        </p:nvSpPr>
        <p:spPr/>
        <p:txBody>
          <a:bodyPr/>
          <a:lstStyle/>
          <a:p>
            <a:fld id="{B3AD5643-6D0F-4EAC-8D11-AEC8C721AE31}" type="datetime1">
              <a:rPr lang="en-US" smtClean="0"/>
              <a:t>11/11/2024</a:t>
            </a:fld>
            <a:endParaRPr lang="en-US"/>
          </a:p>
        </p:txBody>
      </p:sp>
      <p:sp>
        <p:nvSpPr>
          <p:cNvPr id="4" name="Footer Placeholder 3"/>
          <p:cNvSpPr>
            <a:spLocks noGrp="1"/>
          </p:cNvSpPr>
          <p:nvPr>
            <p:ph type="ftr" sz="quarter" idx="11"/>
          </p:nvPr>
        </p:nvSpPr>
        <p:spPr/>
        <p:txBody>
          <a:bodyPr/>
          <a:lstStyle/>
          <a:p>
            <a:r>
              <a:rPr lang="en-US" smtClean="0"/>
              <a:t>Prof. Shweta Dhawan Chachra</a:t>
            </a:r>
            <a:endParaRPr lang="en-US"/>
          </a:p>
        </p:txBody>
      </p:sp>
      <p:sp>
        <p:nvSpPr>
          <p:cNvPr id="5" name="Slide Number Placeholder 4"/>
          <p:cNvSpPr>
            <a:spLocks noGrp="1"/>
          </p:cNvSpPr>
          <p:nvPr>
            <p:ph type="sldNum" sz="quarter" idx="12"/>
          </p:nvPr>
        </p:nvSpPr>
        <p:spPr/>
        <p:txBody>
          <a:bodyPr/>
          <a:lstStyle/>
          <a:p>
            <a:fld id="{BF891C86-C030-48BB-AD24-5C827D1B826C}" type="slidenum">
              <a:rPr lang="en-US" smtClean="0"/>
              <a:t>26</a:t>
            </a:fld>
            <a:endParaRPr lang="en-US"/>
          </a:p>
        </p:txBody>
      </p:sp>
      <p:sp>
        <p:nvSpPr>
          <p:cNvPr id="6" name="TextBox 5"/>
          <p:cNvSpPr txBox="1"/>
          <p:nvPr/>
        </p:nvSpPr>
        <p:spPr>
          <a:xfrm>
            <a:off x="304800" y="381000"/>
            <a:ext cx="8534400" cy="5940088"/>
          </a:xfrm>
          <a:prstGeom prst="rect">
            <a:avLst/>
          </a:prstGeom>
          <a:noFill/>
        </p:spPr>
        <p:txBody>
          <a:bodyPr wrap="square" rtlCol="0">
            <a:spAutoFit/>
          </a:bodyPr>
          <a:lstStyle/>
          <a:p>
            <a:r>
              <a:rPr lang="en-IN" sz="2000" b="1" dirty="0"/>
              <a:t>GATE | GATE-CS-2016 (Set 1) | Question 41</a:t>
            </a:r>
          </a:p>
          <a:p>
            <a:r>
              <a:rPr lang="en-IN" sz="2000" dirty="0" smtClean="0"/>
              <a:t>The </a:t>
            </a:r>
            <a:r>
              <a:rPr lang="en-IN" sz="2000" dirty="0"/>
              <a:t>size of the data count register of a DMA controller is 16 bits. The processor needs to transfer a file of 29,154 kilobytes from disk to main memory. The memory is byte addressable. The minimum number of times the DMA controller needs to get the control of the system bus from the processor to transfer the file from the disk to main memory is _________</a:t>
            </a:r>
          </a:p>
          <a:p>
            <a:r>
              <a:rPr lang="en-IN" sz="2000" dirty="0"/>
              <a:t> </a:t>
            </a:r>
            <a:br>
              <a:rPr lang="en-IN" sz="2000" dirty="0"/>
            </a:br>
            <a:r>
              <a:rPr lang="en-IN" sz="2000" b="1" dirty="0" smtClean="0"/>
              <a:t>(</a:t>
            </a:r>
            <a:r>
              <a:rPr lang="en-IN" sz="2000" b="1" dirty="0"/>
              <a:t>A)</a:t>
            </a:r>
            <a:r>
              <a:rPr lang="en-IN" sz="2000" dirty="0"/>
              <a:t> 3644</a:t>
            </a:r>
            <a:br>
              <a:rPr lang="en-IN" sz="2000" dirty="0"/>
            </a:br>
            <a:r>
              <a:rPr lang="en-IN" sz="2000" b="1" dirty="0"/>
              <a:t>(B)</a:t>
            </a:r>
            <a:r>
              <a:rPr lang="en-IN" sz="2000" dirty="0"/>
              <a:t> 3645</a:t>
            </a:r>
            <a:br>
              <a:rPr lang="en-IN" sz="2000" dirty="0"/>
            </a:br>
            <a:r>
              <a:rPr lang="en-IN" sz="2000" b="1" dirty="0"/>
              <a:t>(C)</a:t>
            </a:r>
            <a:r>
              <a:rPr lang="en-IN" sz="2000" dirty="0"/>
              <a:t> 456</a:t>
            </a:r>
            <a:br>
              <a:rPr lang="en-IN" sz="2000" dirty="0"/>
            </a:br>
            <a:r>
              <a:rPr lang="en-IN" sz="2000" b="1" dirty="0"/>
              <a:t>(D)</a:t>
            </a:r>
            <a:r>
              <a:rPr lang="en-IN" sz="2000" dirty="0"/>
              <a:t> 1823</a:t>
            </a:r>
            <a:br>
              <a:rPr lang="en-IN" sz="2000" dirty="0"/>
            </a:br>
            <a:r>
              <a:rPr lang="en-IN" sz="2000" dirty="0"/>
              <a:t/>
            </a:r>
            <a:br>
              <a:rPr lang="en-IN" sz="2000" dirty="0"/>
            </a:br>
            <a:r>
              <a:rPr lang="en-IN" sz="2000" b="1" dirty="0" smtClean="0"/>
              <a:t>Answer</a:t>
            </a:r>
            <a:r>
              <a:rPr lang="en-IN" sz="2000" b="1" dirty="0"/>
              <a:t>:</a:t>
            </a:r>
            <a:r>
              <a:rPr lang="en-IN" sz="2000" dirty="0"/>
              <a:t> </a:t>
            </a:r>
            <a:r>
              <a:rPr lang="en-IN" sz="2000" b="1" dirty="0"/>
              <a:t>(C)</a:t>
            </a:r>
            <a:r>
              <a:rPr lang="en-IN" sz="2000" dirty="0"/>
              <a:t/>
            </a:r>
            <a:br>
              <a:rPr lang="en-IN" sz="2000" dirty="0"/>
            </a:br>
            <a:r>
              <a:rPr lang="en-IN" sz="2000" b="1" dirty="0" smtClean="0"/>
              <a:t>Explanation</a:t>
            </a:r>
            <a:r>
              <a:rPr lang="en-IN" sz="2000" b="1" dirty="0"/>
              <a:t>:</a:t>
            </a:r>
            <a:r>
              <a:rPr lang="en-IN" sz="2000" dirty="0"/>
              <a:t> Size of data count register of the DMA controller = 16 bits</a:t>
            </a:r>
            <a:br>
              <a:rPr lang="en-IN" sz="2000" dirty="0"/>
            </a:br>
            <a:r>
              <a:rPr lang="en-IN" sz="2000" dirty="0"/>
              <a:t>Data that can be transferred in one go = 2</a:t>
            </a:r>
            <a:r>
              <a:rPr lang="en-IN" sz="2000" baseline="30000" dirty="0"/>
              <a:t>16</a:t>
            </a:r>
            <a:r>
              <a:rPr lang="en-IN" sz="2000" dirty="0"/>
              <a:t> bytes = 64 kilobytes</a:t>
            </a:r>
            <a:br>
              <a:rPr lang="en-IN" sz="2000" dirty="0"/>
            </a:br>
            <a:r>
              <a:rPr lang="en-IN" sz="2000" dirty="0"/>
              <a:t>File size to be transferred = 29154 kilobytes</a:t>
            </a:r>
            <a:br>
              <a:rPr lang="en-IN" sz="2000" dirty="0"/>
            </a:br>
            <a:r>
              <a:rPr lang="en-IN" sz="2000" dirty="0"/>
              <a:t>So, number of times the DMA controller needs to get the control of the system bus from the processor to transfer the file from the disk to main memory = ceil(29154/64) = 456</a:t>
            </a:r>
          </a:p>
        </p:txBody>
      </p:sp>
    </p:spTree>
    <p:extLst>
      <p:ext uri="{BB962C8B-B14F-4D97-AF65-F5344CB8AC3E}">
        <p14:creationId xmlns:p14="http://schemas.microsoft.com/office/powerpoint/2010/main" val="1659847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598" t="28175" r="31617" b="6250"/>
          <a:stretch/>
        </p:blipFill>
        <p:spPr bwMode="auto">
          <a:xfrm>
            <a:off x="533400" y="1524000"/>
            <a:ext cx="8153400" cy="4796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ate Placeholder 3"/>
          <p:cNvSpPr>
            <a:spLocks noGrp="1"/>
          </p:cNvSpPr>
          <p:nvPr>
            <p:ph type="dt" sz="half" idx="10"/>
          </p:nvPr>
        </p:nvSpPr>
        <p:spPr/>
        <p:txBody>
          <a:bodyPr/>
          <a:lstStyle/>
          <a:p>
            <a:fld id="{0CF82B19-6D4A-4A1D-AE67-65A645286021}" type="datetime1">
              <a:rPr lang="en-US" smtClean="0"/>
              <a:t>11/11/2024</a:t>
            </a:fld>
            <a:endParaRPr lang="en-US"/>
          </a:p>
        </p:txBody>
      </p:sp>
      <p:sp>
        <p:nvSpPr>
          <p:cNvPr id="5" name="Footer Placeholder 4"/>
          <p:cNvSpPr>
            <a:spLocks noGrp="1"/>
          </p:cNvSpPr>
          <p:nvPr>
            <p:ph type="ftr" sz="quarter" idx="11"/>
          </p:nvPr>
        </p:nvSpPr>
        <p:spPr/>
        <p:txBody>
          <a:bodyPr/>
          <a:lstStyle/>
          <a:p>
            <a:r>
              <a:rPr lang="en-US" smtClean="0"/>
              <a:t>Prof. Shweta Dhawan Chachra</a:t>
            </a:r>
            <a:endParaRPr lang="en-US"/>
          </a:p>
        </p:txBody>
      </p:sp>
      <p:sp>
        <p:nvSpPr>
          <p:cNvPr id="6" name="Slide Number Placeholder 5"/>
          <p:cNvSpPr>
            <a:spLocks noGrp="1"/>
          </p:cNvSpPr>
          <p:nvPr>
            <p:ph type="sldNum" sz="quarter" idx="12"/>
          </p:nvPr>
        </p:nvSpPr>
        <p:spPr/>
        <p:txBody>
          <a:bodyPr/>
          <a:lstStyle/>
          <a:p>
            <a:fld id="{BF891C86-C030-48BB-AD24-5C827D1B826C}" type="slidenum">
              <a:rPr lang="en-US" smtClean="0"/>
              <a:t>27</a:t>
            </a:fld>
            <a:endParaRPr lang="en-US"/>
          </a:p>
        </p:txBody>
      </p:sp>
    </p:spTree>
    <p:extLst>
      <p:ext uri="{BB962C8B-B14F-4D97-AF65-F5344CB8AC3E}">
        <p14:creationId xmlns:p14="http://schemas.microsoft.com/office/powerpoint/2010/main" val="26483087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533400" y="1524000"/>
            <a:ext cx="7772400" cy="2308324"/>
          </a:xfrm>
          <a:prstGeom prst="rect">
            <a:avLst/>
          </a:prstGeom>
        </p:spPr>
        <p:txBody>
          <a:bodyPr wrap="square">
            <a:spAutoFit/>
          </a:bodyPr>
          <a:lstStyle/>
          <a:p>
            <a:r>
              <a:rPr lang="en-US" sz="2400" b="1" dirty="0"/>
              <a:t>Single </a:t>
            </a:r>
            <a:r>
              <a:rPr lang="en-US" sz="2400" b="1" dirty="0" smtClean="0"/>
              <a:t>Buffer</a:t>
            </a:r>
          </a:p>
          <a:p>
            <a:pPr marL="285750" indent="-285750">
              <a:buFont typeface="Arial" panose="020B0604020202020204" pitchFamily="34" charset="0"/>
              <a:buChar char="•"/>
            </a:pPr>
            <a:r>
              <a:rPr lang="en-US" sz="2400" dirty="0"/>
              <a:t>The simplest type of support that the OS can provide </a:t>
            </a:r>
            <a:endParaRPr lang="en-US" sz="2400" dirty="0" smtClean="0"/>
          </a:p>
          <a:p>
            <a:pPr marL="285750" indent="-285750">
              <a:buFont typeface="Arial" panose="020B0604020202020204" pitchFamily="34" charset="0"/>
              <a:buChar char="•"/>
            </a:pPr>
            <a:r>
              <a:rPr lang="en-US" sz="2400" dirty="0" smtClean="0"/>
              <a:t>When </a:t>
            </a:r>
            <a:r>
              <a:rPr lang="en-US" sz="2400" dirty="0"/>
              <a:t>a user process issues an I/O request, </a:t>
            </a:r>
            <a:endParaRPr lang="en-US" sz="2400" dirty="0" smtClean="0"/>
          </a:p>
          <a:p>
            <a:pPr marL="742950" lvl="1" indent="-285750">
              <a:buFont typeface="Arial" panose="020B0604020202020204" pitchFamily="34" charset="0"/>
              <a:buChar char="•"/>
            </a:pPr>
            <a:r>
              <a:rPr lang="en-US" sz="2400" dirty="0" smtClean="0">
                <a:solidFill>
                  <a:srgbClr val="0070C0"/>
                </a:solidFill>
              </a:rPr>
              <a:t>the </a:t>
            </a:r>
            <a:r>
              <a:rPr lang="en-US" sz="2400" dirty="0">
                <a:solidFill>
                  <a:srgbClr val="0070C0"/>
                </a:solidFill>
              </a:rPr>
              <a:t>OS assigns a buffer in the </a:t>
            </a:r>
            <a:r>
              <a:rPr lang="en-US" sz="2400" dirty="0" smtClean="0">
                <a:solidFill>
                  <a:srgbClr val="0070C0"/>
                </a:solidFill>
              </a:rPr>
              <a:t>system portion</a:t>
            </a:r>
            <a:r>
              <a:rPr lang="en-US" sz="2400" dirty="0" smtClean="0"/>
              <a:t> </a:t>
            </a:r>
            <a:r>
              <a:rPr lang="en-US" sz="2400" dirty="0"/>
              <a:t>of main memory to the operation</a:t>
            </a:r>
            <a:r>
              <a:rPr lang="en-US" sz="2400" dirty="0" smtClean="0"/>
              <a:t>.</a:t>
            </a:r>
          </a:p>
          <a:p>
            <a:pPr marL="285750" indent="-285750">
              <a:buFont typeface="Arial" panose="020B0604020202020204" pitchFamily="34" charset="0"/>
              <a:buChar char="•"/>
            </a:pPr>
            <a:endParaRPr lang="en-US" sz="2400" b="1"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598" t="41865" r="31617" b="41143"/>
          <a:stretch/>
        </p:blipFill>
        <p:spPr bwMode="auto">
          <a:xfrm>
            <a:off x="2057400" y="3962400"/>
            <a:ext cx="472440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ate Placeholder 5"/>
          <p:cNvSpPr>
            <a:spLocks noGrp="1"/>
          </p:cNvSpPr>
          <p:nvPr>
            <p:ph type="dt" sz="half" idx="10"/>
          </p:nvPr>
        </p:nvSpPr>
        <p:spPr/>
        <p:txBody>
          <a:bodyPr/>
          <a:lstStyle/>
          <a:p>
            <a:fld id="{3577909F-2998-4DF4-B9AD-E66557576C7F}"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28</a:t>
            </a:fld>
            <a:endParaRPr lang="en-US"/>
          </a:p>
        </p:txBody>
      </p:sp>
    </p:spTree>
    <p:extLst>
      <p:ext uri="{BB962C8B-B14F-4D97-AF65-F5344CB8AC3E}">
        <p14:creationId xmlns:p14="http://schemas.microsoft.com/office/powerpoint/2010/main" val="26446898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228600" y="1295400"/>
            <a:ext cx="8153400" cy="2677656"/>
          </a:xfrm>
          <a:prstGeom prst="rect">
            <a:avLst/>
          </a:prstGeom>
        </p:spPr>
        <p:txBody>
          <a:bodyPr wrap="square">
            <a:spAutoFit/>
          </a:bodyPr>
          <a:lstStyle/>
          <a:p>
            <a:r>
              <a:rPr lang="en-US" sz="2400" b="1" dirty="0"/>
              <a:t>Single </a:t>
            </a:r>
            <a:r>
              <a:rPr lang="en-US" sz="2400" b="1" dirty="0" smtClean="0"/>
              <a:t>Buffer</a:t>
            </a:r>
          </a:p>
          <a:p>
            <a:pPr marL="342900" indent="-342900">
              <a:buFont typeface="Arial" panose="020B0604020202020204" pitchFamily="34" charset="0"/>
              <a:buChar char="•"/>
            </a:pPr>
            <a:r>
              <a:rPr lang="en-US" sz="2400" dirty="0" smtClean="0"/>
              <a:t>Input </a:t>
            </a:r>
            <a:r>
              <a:rPr lang="en-US" sz="2400" dirty="0"/>
              <a:t>transfers are made to the system buffer. </a:t>
            </a:r>
            <a:endParaRPr lang="en-US" sz="2400" dirty="0" smtClean="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dirty="0" smtClean="0"/>
              <a:t>When </a:t>
            </a:r>
            <a:r>
              <a:rPr lang="en-US" sz="2400" dirty="0"/>
              <a:t>the transfer </a:t>
            </a:r>
            <a:r>
              <a:rPr lang="en-US" sz="2400" dirty="0" smtClean="0"/>
              <a:t>is complete</a:t>
            </a:r>
            <a:r>
              <a:rPr lang="en-US" sz="2400" dirty="0"/>
              <a:t>, the </a:t>
            </a:r>
            <a:r>
              <a:rPr lang="en-US" sz="2400" dirty="0">
                <a:solidFill>
                  <a:srgbClr val="0070C0"/>
                </a:solidFill>
              </a:rPr>
              <a:t>process moves the block into user space </a:t>
            </a:r>
            <a:r>
              <a:rPr lang="en-US" sz="2400" dirty="0"/>
              <a:t>and immediately </a:t>
            </a:r>
            <a:r>
              <a:rPr lang="en-US" sz="2400" dirty="0" smtClean="0"/>
              <a:t>requests another </a:t>
            </a:r>
            <a:r>
              <a:rPr lang="en-US" sz="2400" dirty="0"/>
              <a:t>block. </a:t>
            </a:r>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dirty="0" smtClean="0"/>
              <a:t>It is called </a:t>
            </a:r>
            <a:r>
              <a:rPr lang="en-US" sz="2400" dirty="0" smtClean="0">
                <a:solidFill>
                  <a:srgbClr val="0070C0"/>
                </a:solidFill>
              </a:rPr>
              <a:t>reading ahead</a:t>
            </a:r>
            <a:r>
              <a:rPr lang="en-US" sz="2400" dirty="0" smtClean="0"/>
              <a:t>, or anticipated input; </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598" t="41865" r="31617" b="41143"/>
          <a:stretch/>
        </p:blipFill>
        <p:spPr bwMode="auto">
          <a:xfrm>
            <a:off x="1676400" y="4114800"/>
            <a:ext cx="5105400"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ate Placeholder 4"/>
          <p:cNvSpPr>
            <a:spLocks noGrp="1"/>
          </p:cNvSpPr>
          <p:nvPr>
            <p:ph type="dt" sz="half" idx="10"/>
          </p:nvPr>
        </p:nvSpPr>
        <p:spPr/>
        <p:txBody>
          <a:bodyPr/>
          <a:lstStyle/>
          <a:p>
            <a:fld id="{4817A7BA-C60F-4359-94FB-48FB984120B4}"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29</a:t>
            </a:fld>
            <a:endParaRPr lang="en-US"/>
          </a:p>
        </p:txBody>
      </p:sp>
    </p:spTree>
    <p:extLst>
      <p:ext uri="{BB962C8B-B14F-4D97-AF65-F5344CB8AC3E}">
        <p14:creationId xmlns:p14="http://schemas.microsoft.com/office/powerpoint/2010/main" val="23615944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228600" y="1295400"/>
            <a:ext cx="8610600" cy="1938992"/>
          </a:xfrm>
          <a:prstGeom prst="rect">
            <a:avLst/>
          </a:prstGeom>
        </p:spPr>
        <p:txBody>
          <a:bodyPr wrap="square">
            <a:spAutoFit/>
          </a:bodyPr>
          <a:lstStyle/>
          <a:p>
            <a:r>
              <a:rPr lang="en-US" sz="2400" b="1" dirty="0"/>
              <a:t>Single </a:t>
            </a:r>
            <a:r>
              <a:rPr lang="en-US" sz="2400" b="1" dirty="0" smtClean="0"/>
              <a:t>Buffer</a:t>
            </a:r>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dirty="0" smtClean="0"/>
              <a:t>Done </a:t>
            </a:r>
            <a:r>
              <a:rPr lang="en-US" sz="2400" dirty="0"/>
              <a:t>in </a:t>
            </a:r>
            <a:r>
              <a:rPr lang="en-US" sz="2400" dirty="0" smtClean="0"/>
              <a:t>the expectation </a:t>
            </a:r>
            <a:r>
              <a:rPr lang="en-US" sz="2400" dirty="0"/>
              <a:t>that the </a:t>
            </a:r>
            <a:r>
              <a:rPr lang="en-US" sz="2400" dirty="0">
                <a:solidFill>
                  <a:srgbClr val="0070C0"/>
                </a:solidFill>
              </a:rPr>
              <a:t>block will eventually be needed</a:t>
            </a:r>
            <a:r>
              <a:rPr lang="en-US" sz="2400" dirty="0" smtClean="0"/>
              <a:t>.</a:t>
            </a:r>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dirty="0" smtClean="0"/>
              <a:t>This </a:t>
            </a:r>
            <a:r>
              <a:rPr lang="en-US" sz="2400" dirty="0"/>
              <a:t>approach </a:t>
            </a:r>
            <a:r>
              <a:rPr lang="en-US" sz="2400" dirty="0" smtClean="0"/>
              <a:t>provides </a:t>
            </a:r>
            <a:r>
              <a:rPr lang="en-US" sz="2400" dirty="0"/>
              <a:t>a speedup compared </a:t>
            </a:r>
            <a:r>
              <a:rPr lang="en-US" sz="2400" dirty="0" smtClean="0"/>
              <a:t>to no buffering</a:t>
            </a:r>
            <a:r>
              <a:rPr lang="en-US" sz="2400" dirty="0"/>
              <a:t>.</a:t>
            </a:r>
            <a:endParaRPr lang="en-US" sz="2400" b="1" dirty="0" smtClean="0"/>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598" t="41865" r="31617" b="41143"/>
          <a:stretch/>
        </p:blipFill>
        <p:spPr bwMode="auto">
          <a:xfrm>
            <a:off x="2057400" y="3962400"/>
            <a:ext cx="472440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ate Placeholder 4"/>
          <p:cNvSpPr>
            <a:spLocks noGrp="1"/>
          </p:cNvSpPr>
          <p:nvPr>
            <p:ph type="dt" sz="half" idx="10"/>
          </p:nvPr>
        </p:nvSpPr>
        <p:spPr/>
        <p:txBody>
          <a:bodyPr/>
          <a:lstStyle/>
          <a:p>
            <a:fld id="{7066EBDD-E273-40A7-8212-284054B31823}"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30</a:t>
            </a:fld>
            <a:endParaRPr lang="en-US"/>
          </a:p>
        </p:txBody>
      </p:sp>
    </p:spTree>
    <p:extLst>
      <p:ext uri="{BB962C8B-B14F-4D97-AF65-F5344CB8AC3E}">
        <p14:creationId xmlns:p14="http://schemas.microsoft.com/office/powerpoint/2010/main" val="41196364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533400" y="1219200"/>
            <a:ext cx="7848600" cy="2308324"/>
          </a:xfrm>
          <a:prstGeom prst="rect">
            <a:avLst/>
          </a:prstGeom>
        </p:spPr>
        <p:txBody>
          <a:bodyPr wrap="square">
            <a:spAutoFit/>
          </a:bodyPr>
          <a:lstStyle/>
          <a:p>
            <a:r>
              <a:rPr lang="en-US" sz="2400" b="1" dirty="0" smtClean="0"/>
              <a:t>Double Buffer</a:t>
            </a:r>
          </a:p>
          <a:p>
            <a:pPr marL="342900" indent="-342900">
              <a:buFont typeface="Arial" panose="020B0604020202020204" pitchFamily="34" charset="0"/>
              <a:buChar char="•"/>
            </a:pPr>
            <a:r>
              <a:rPr lang="en-US" sz="2400" dirty="0" smtClean="0"/>
              <a:t>Assigning </a:t>
            </a:r>
            <a:r>
              <a:rPr lang="en-US" sz="2400" dirty="0">
                <a:solidFill>
                  <a:srgbClr val="0070C0"/>
                </a:solidFill>
              </a:rPr>
              <a:t>two system buffers</a:t>
            </a:r>
            <a:r>
              <a:rPr lang="en-US" sz="2400" dirty="0"/>
              <a:t> </a:t>
            </a:r>
            <a:r>
              <a:rPr lang="en-US" sz="2400" dirty="0" smtClean="0"/>
              <a:t>to the </a:t>
            </a:r>
            <a:r>
              <a:rPr lang="en-US" sz="2400" dirty="0"/>
              <a:t>operation </a:t>
            </a:r>
            <a:endParaRPr lang="en-US" sz="2400" dirty="0" smtClean="0"/>
          </a:p>
          <a:p>
            <a:pPr marL="800100" lvl="1" indent="-342900">
              <a:buFont typeface="Arial" panose="020B0604020202020204" pitchFamily="34" charset="0"/>
              <a:buChar char="•"/>
            </a:pPr>
            <a:r>
              <a:rPr lang="en-US" sz="2400" dirty="0" smtClean="0"/>
              <a:t>A </a:t>
            </a:r>
            <a:r>
              <a:rPr lang="en-US" sz="2400" dirty="0"/>
              <a:t>process now transfers </a:t>
            </a:r>
            <a:r>
              <a:rPr lang="en-US" sz="2400" dirty="0">
                <a:solidFill>
                  <a:srgbClr val="0070C0"/>
                </a:solidFill>
              </a:rPr>
              <a:t>data to (or from) one buffer</a:t>
            </a:r>
          </a:p>
          <a:p>
            <a:pPr marL="800100" lvl="1" indent="-342900">
              <a:buFont typeface="Arial" panose="020B0604020202020204" pitchFamily="34" charset="0"/>
              <a:buChar char="•"/>
            </a:pPr>
            <a:r>
              <a:rPr lang="en-US" sz="2400" dirty="0"/>
              <a:t>while the </a:t>
            </a:r>
            <a:r>
              <a:rPr lang="en-US" sz="2400" dirty="0">
                <a:solidFill>
                  <a:srgbClr val="0070C0"/>
                </a:solidFill>
              </a:rPr>
              <a:t>operating system empties (or fills) the other</a:t>
            </a:r>
            <a:r>
              <a:rPr lang="en-US" sz="2400" dirty="0"/>
              <a:t>. </a:t>
            </a:r>
            <a:endParaRPr lang="en-US" sz="2400" dirty="0" smtClean="0"/>
          </a:p>
          <a:p>
            <a:pPr marL="342900" indent="-342900">
              <a:buFont typeface="Arial" panose="020B0604020202020204" pitchFamily="34" charset="0"/>
              <a:buChar char="•"/>
            </a:pPr>
            <a:r>
              <a:rPr lang="en-US" sz="2400" dirty="0" smtClean="0"/>
              <a:t>Known as </a:t>
            </a:r>
            <a:r>
              <a:rPr lang="en-US" sz="2400" b="1" dirty="0" smtClean="0"/>
              <a:t>buffer </a:t>
            </a:r>
            <a:r>
              <a:rPr lang="en-US" sz="2400" b="1" dirty="0"/>
              <a:t>swapping </a:t>
            </a:r>
            <a:r>
              <a:rPr lang="en-US" sz="2400" dirty="0"/>
              <a:t>.</a:t>
            </a:r>
            <a:endParaRPr lang="en-US" sz="2400" b="1" dirty="0" smtClean="0"/>
          </a:p>
          <a:p>
            <a:pPr marL="342900" indent="-342900">
              <a:buFont typeface="Arial" panose="020B0604020202020204" pitchFamily="34" charset="0"/>
              <a:buChar char="•"/>
            </a:pPr>
            <a:endParaRPr lang="en-US" sz="2400" b="1" dirty="0" smtClean="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598" t="58668" r="31617" b="26587"/>
          <a:stretch/>
        </p:blipFill>
        <p:spPr bwMode="auto">
          <a:xfrm>
            <a:off x="685800" y="3810000"/>
            <a:ext cx="662940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ate Placeholder 5"/>
          <p:cNvSpPr>
            <a:spLocks noGrp="1"/>
          </p:cNvSpPr>
          <p:nvPr>
            <p:ph type="dt" sz="half" idx="10"/>
          </p:nvPr>
        </p:nvSpPr>
        <p:spPr/>
        <p:txBody>
          <a:bodyPr/>
          <a:lstStyle/>
          <a:p>
            <a:fld id="{DEE8EFD3-26FB-42A9-816C-95C74CCC3D03}"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31</a:t>
            </a:fld>
            <a:endParaRPr lang="en-US"/>
          </a:p>
        </p:txBody>
      </p:sp>
    </p:spTree>
    <p:extLst>
      <p:ext uri="{BB962C8B-B14F-4D97-AF65-F5344CB8AC3E}">
        <p14:creationId xmlns:p14="http://schemas.microsoft.com/office/powerpoint/2010/main" val="29442357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381000" y="1371600"/>
            <a:ext cx="8153400" cy="2677656"/>
          </a:xfrm>
          <a:prstGeom prst="rect">
            <a:avLst/>
          </a:prstGeom>
        </p:spPr>
        <p:txBody>
          <a:bodyPr wrap="square">
            <a:spAutoFit/>
          </a:bodyPr>
          <a:lstStyle/>
          <a:p>
            <a:r>
              <a:rPr lang="en-US" sz="2400" b="1" dirty="0" smtClean="0"/>
              <a:t>Circular Buffer</a:t>
            </a:r>
          </a:p>
          <a:p>
            <a:pPr marL="285750" indent="-285750">
              <a:buFont typeface="Arial" panose="020B0604020202020204" pitchFamily="34" charset="0"/>
              <a:buChar char="•"/>
            </a:pPr>
            <a:r>
              <a:rPr lang="en-US" sz="2400" dirty="0" smtClean="0"/>
              <a:t>Double </a:t>
            </a:r>
            <a:r>
              <a:rPr lang="en-US" sz="2400" dirty="0"/>
              <a:t>buffering may be </a:t>
            </a:r>
            <a:r>
              <a:rPr lang="en-US" sz="2400" b="1" dirty="0">
                <a:solidFill>
                  <a:schemeClr val="accent1"/>
                </a:solidFill>
              </a:rPr>
              <a:t>inadequate</a:t>
            </a:r>
            <a:r>
              <a:rPr lang="en-US" sz="2400" dirty="0"/>
              <a:t> if the process performs </a:t>
            </a:r>
            <a:r>
              <a:rPr lang="en-US" sz="2400" b="1" dirty="0">
                <a:solidFill>
                  <a:schemeClr val="accent1"/>
                </a:solidFill>
              </a:rPr>
              <a:t>rapid bursts of </a:t>
            </a:r>
            <a:r>
              <a:rPr lang="en-US" sz="2400" b="1" dirty="0" smtClean="0">
                <a:solidFill>
                  <a:schemeClr val="accent1"/>
                </a:solidFill>
              </a:rPr>
              <a:t>I/O</a:t>
            </a:r>
          </a:p>
          <a:p>
            <a:pPr marL="285750" indent="-285750">
              <a:buFont typeface="Arial" panose="020B0604020202020204" pitchFamily="34" charset="0"/>
              <a:buChar char="•"/>
            </a:pPr>
            <a:endParaRPr lang="en-US" sz="2400" b="1" dirty="0" smtClean="0">
              <a:solidFill>
                <a:schemeClr val="accent1"/>
              </a:solidFill>
            </a:endParaRPr>
          </a:p>
          <a:p>
            <a:pPr marL="285750" indent="-285750">
              <a:buFont typeface="Arial" panose="020B0604020202020204" pitchFamily="34" charset="0"/>
              <a:buChar char="•"/>
            </a:pPr>
            <a:r>
              <a:rPr lang="en-US" sz="2400" dirty="0" smtClean="0"/>
              <a:t>In this </a:t>
            </a:r>
            <a:r>
              <a:rPr lang="en-US" sz="2400" dirty="0"/>
              <a:t>case, the problem can often be </a:t>
            </a:r>
            <a:r>
              <a:rPr lang="en-US" sz="2400" b="1" dirty="0">
                <a:solidFill>
                  <a:schemeClr val="accent1"/>
                </a:solidFill>
              </a:rPr>
              <a:t>alleviated by using more than two buffers.</a:t>
            </a:r>
          </a:p>
          <a:p>
            <a:pPr marL="285750" indent="-285750">
              <a:buFont typeface="Arial" panose="020B0604020202020204" pitchFamily="34" charset="0"/>
              <a:buChar char="•"/>
            </a:pPr>
            <a:endParaRPr lang="en-US" sz="2400" dirty="0" smtClean="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598" t="73819" r="31617" b="10119"/>
          <a:stretch/>
        </p:blipFill>
        <p:spPr bwMode="auto">
          <a:xfrm>
            <a:off x="1066800" y="3802513"/>
            <a:ext cx="6019800" cy="1988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ate Placeholder 5"/>
          <p:cNvSpPr>
            <a:spLocks noGrp="1"/>
          </p:cNvSpPr>
          <p:nvPr>
            <p:ph type="dt" sz="half" idx="10"/>
          </p:nvPr>
        </p:nvSpPr>
        <p:spPr/>
        <p:txBody>
          <a:bodyPr/>
          <a:lstStyle/>
          <a:p>
            <a:fld id="{67E890C1-7C0A-4FC3-9946-6059254E578D}"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32</a:t>
            </a:fld>
            <a:endParaRPr lang="en-US"/>
          </a:p>
        </p:txBody>
      </p:sp>
    </p:spTree>
    <p:extLst>
      <p:ext uri="{BB962C8B-B14F-4D97-AF65-F5344CB8AC3E}">
        <p14:creationId xmlns:p14="http://schemas.microsoft.com/office/powerpoint/2010/main" val="29442357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353290" y="1143000"/>
            <a:ext cx="8104909" cy="3046988"/>
          </a:xfrm>
          <a:prstGeom prst="rect">
            <a:avLst/>
          </a:prstGeom>
        </p:spPr>
        <p:txBody>
          <a:bodyPr wrap="square">
            <a:spAutoFit/>
          </a:bodyPr>
          <a:lstStyle/>
          <a:p>
            <a:r>
              <a:rPr lang="en-US" sz="2400" b="1" dirty="0" smtClean="0"/>
              <a:t>Circular Buffer</a:t>
            </a:r>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r>
              <a:rPr lang="en-US" sz="2400" dirty="0" smtClean="0"/>
              <a:t>When </a:t>
            </a:r>
            <a:r>
              <a:rPr lang="en-US" sz="2400" dirty="0"/>
              <a:t>more than two buffers are used, </a:t>
            </a:r>
            <a:endParaRPr lang="en-US" sz="2400" dirty="0" smtClean="0"/>
          </a:p>
          <a:p>
            <a:pPr marL="285750" indent="-285750">
              <a:buFont typeface="Arial" panose="020B0604020202020204" pitchFamily="34" charset="0"/>
              <a:buChar char="•"/>
            </a:pPr>
            <a:r>
              <a:rPr lang="en-US" sz="2400" dirty="0" smtClean="0"/>
              <a:t>the </a:t>
            </a:r>
            <a:r>
              <a:rPr lang="en-US" sz="2400" dirty="0"/>
              <a:t>collection of buffers is </a:t>
            </a:r>
            <a:r>
              <a:rPr lang="en-US" sz="2400" dirty="0" smtClean="0"/>
              <a:t>referred to </a:t>
            </a:r>
            <a:r>
              <a:rPr lang="en-US" sz="2400" dirty="0"/>
              <a:t>as </a:t>
            </a:r>
            <a:r>
              <a:rPr lang="en-US" sz="2400" dirty="0" smtClean="0"/>
              <a:t>circular buffer, </a:t>
            </a:r>
          </a:p>
          <a:p>
            <a:pPr marL="742950" lvl="1" indent="-285750">
              <a:buFont typeface="Arial" panose="020B0604020202020204" pitchFamily="34" charset="0"/>
              <a:buChar char="•"/>
            </a:pPr>
            <a:r>
              <a:rPr lang="en-US" sz="2400" dirty="0" smtClean="0">
                <a:solidFill>
                  <a:srgbClr val="0070C0"/>
                </a:solidFill>
              </a:rPr>
              <a:t>with </a:t>
            </a:r>
            <a:r>
              <a:rPr lang="en-US" sz="2400" dirty="0">
                <a:solidFill>
                  <a:srgbClr val="0070C0"/>
                </a:solidFill>
              </a:rPr>
              <a:t>each individual buffer being one unit </a:t>
            </a:r>
            <a:r>
              <a:rPr lang="en-US" sz="2400" dirty="0" smtClean="0">
                <a:solidFill>
                  <a:srgbClr val="0070C0"/>
                </a:solidFill>
              </a:rPr>
              <a:t>in the </a:t>
            </a:r>
            <a:r>
              <a:rPr lang="en-US" sz="2400" dirty="0">
                <a:solidFill>
                  <a:srgbClr val="0070C0"/>
                </a:solidFill>
              </a:rPr>
              <a:t>circular buffer. </a:t>
            </a:r>
            <a:endParaRPr lang="en-US" sz="2400" dirty="0" smtClean="0">
              <a:solidFill>
                <a:srgbClr val="0070C0"/>
              </a:solidFill>
            </a:endParaRPr>
          </a:p>
          <a:p>
            <a:pPr marL="742950" lvl="1" indent="-285750">
              <a:buFont typeface="Arial" panose="020B0604020202020204" pitchFamily="34" charset="0"/>
              <a:buChar char="•"/>
            </a:pPr>
            <a:r>
              <a:rPr lang="en-US" sz="2400" dirty="0" smtClean="0"/>
              <a:t>This </a:t>
            </a:r>
            <a:r>
              <a:rPr lang="en-US" sz="2400" dirty="0"/>
              <a:t>is simply the bounded-buffer producer/consumer model</a:t>
            </a:r>
            <a:endParaRPr lang="en-US" sz="2400" b="1" dirty="0" smtClean="0"/>
          </a:p>
        </p:txBody>
      </p:sp>
      <p:sp>
        <p:nvSpPr>
          <p:cNvPr id="6" name="Date Placeholder 5"/>
          <p:cNvSpPr>
            <a:spLocks noGrp="1"/>
          </p:cNvSpPr>
          <p:nvPr>
            <p:ph type="dt" sz="half" idx="10"/>
          </p:nvPr>
        </p:nvSpPr>
        <p:spPr/>
        <p:txBody>
          <a:bodyPr/>
          <a:lstStyle/>
          <a:p>
            <a:fld id="{1174020E-79DD-41C6-9395-323DF40A31D5}" type="datetime1">
              <a:rPr lang="en-US" smtClean="0"/>
              <a:t>11/11/2024</a:t>
            </a:fld>
            <a:endParaRPr lang="en-US"/>
          </a:p>
        </p:txBody>
      </p:sp>
      <p:sp>
        <p:nvSpPr>
          <p:cNvPr id="7" name="Footer Placeholder 6"/>
          <p:cNvSpPr>
            <a:spLocks noGrp="1"/>
          </p:cNvSpPr>
          <p:nvPr>
            <p:ph type="ftr" sz="quarter" idx="11"/>
          </p:nvPr>
        </p:nvSpPr>
        <p:spPr/>
        <p:txBody>
          <a:bodyPr/>
          <a:lstStyle/>
          <a:p>
            <a:r>
              <a:rPr lang="en-US" smtClean="0"/>
              <a:t>Prof. Shweta Dhawan Chachra</a:t>
            </a:r>
            <a:endParaRPr lang="en-US"/>
          </a:p>
        </p:txBody>
      </p:sp>
      <p:sp>
        <p:nvSpPr>
          <p:cNvPr id="8" name="Slide Number Placeholder 7"/>
          <p:cNvSpPr>
            <a:spLocks noGrp="1"/>
          </p:cNvSpPr>
          <p:nvPr>
            <p:ph type="sldNum" sz="quarter" idx="12"/>
          </p:nvPr>
        </p:nvSpPr>
        <p:spPr/>
        <p:txBody>
          <a:bodyPr/>
          <a:lstStyle/>
          <a:p>
            <a:fld id="{BF891C86-C030-48BB-AD24-5C827D1B826C}" type="slidenum">
              <a:rPr lang="en-US" smtClean="0"/>
              <a:t>33</a:t>
            </a:fld>
            <a:endParaRPr lang="en-US"/>
          </a:p>
        </p:txBody>
      </p:sp>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598" t="73819" r="31617" b="10119"/>
          <a:stretch/>
        </p:blipFill>
        <p:spPr bwMode="auto">
          <a:xfrm>
            <a:off x="1066800" y="4343400"/>
            <a:ext cx="6019800" cy="1988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92060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914400" y="1752600"/>
            <a:ext cx="7391400" cy="3785652"/>
          </a:xfrm>
          <a:prstGeom prst="rect">
            <a:avLst/>
          </a:prstGeom>
        </p:spPr>
        <p:txBody>
          <a:bodyPr wrap="square">
            <a:spAutoFit/>
          </a:bodyPr>
          <a:lstStyle/>
          <a:p>
            <a:r>
              <a:rPr lang="en-US" sz="2400" b="1" dirty="0" smtClean="0"/>
              <a:t>The </a:t>
            </a:r>
            <a:r>
              <a:rPr lang="en-US" sz="2400" b="1" dirty="0"/>
              <a:t>Utility of </a:t>
            </a:r>
            <a:r>
              <a:rPr lang="en-US" sz="2400" b="1" dirty="0" smtClean="0"/>
              <a:t>Buffering</a:t>
            </a:r>
          </a:p>
          <a:p>
            <a:pPr marL="342900" indent="-342900">
              <a:buFont typeface="Arial" panose="020B0604020202020204" pitchFamily="34" charset="0"/>
              <a:buChar char="•"/>
            </a:pPr>
            <a:r>
              <a:rPr lang="en-US" sz="2400" dirty="0"/>
              <a:t>Buffering is a technique that </a:t>
            </a:r>
            <a:r>
              <a:rPr lang="en-US" sz="2400" b="1" dirty="0" err="1">
                <a:solidFill>
                  <a:schemeClr val="accent1"/>
                </a:solidFill>
              </a:rPr>
              <a:t>smoothes</a:t>
            </a:r>
            <a:r>
              <a:rPr lang="en-US" sz="2400" b="1" dirty="0">
                <a:solidFill>
                  <a:schemeClr val="accent1"/>
                </a:solidFill>
              </a:rPr>
              <a:t> out peaks in I/O demand. </a:t>
            </a:r>
            <a:endParaRPr lang="en-US" sz="2400" b="1" dirty="0" smtClean="0">
              <a:solidFill>
                <a:schemeClr val="accent1"/>
              </a:solidFill>
            </a:endParaRPr>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dirty="0" smtClean="0"/>
              <a:t>No amount </a:t>
            </a:r>
            <a:r>
              <a:rPr lang="en-US" sz="2400" dirty="0"/>
              <a:t>of buffering will allow an I/O device to keep pace with a process </a:t>
            </a:r>
            <a:r>
              <a:rPr lang="en-US" sz="2400" dirty="0" smtClean="0"/>
              <a:t>indefinitely </a:t>
            </a:r>
          </a:p>
          <a:p>
            <a:pPr marL="800100" lvl="1" indent="-342900">
              <a:buFont typeface="Arial" panose="020B0604020202020204" pitchFamily="34" charset="0"/>
              <a:buChar char="•"/>
            </a:pPr>
            <a:r>
              <a:rPr lang="en-US" sz="2400" dirty="0" smtClean="0"/>
              <a:t>when </a:t>
            </a:r>
            <a:r>
              <a:rPr lang="en-US" sz="2400" dirty="0"/>
              <a:t>the </a:t>
            </a:r>
            <a:r>
              <a:rPr lang="en-US" sz="2400" b="1" dirty="0">
                <a:solidFill>
                  <a:schemeClr val="accent1"/>
                </a:solidFill>
              </a:rPr>
              <a:t>average demand of the process is greater than the I/O device </a:t>
            </a:r>
            <a:r>
              <a:rPr lang="en-US" sz="2400" b="1" dirty="0" smtClean="0">
                <a:solidFill>
                  <a:schemeClr val="accent1"/>
                </a:solidFill>
              </a:rPr>
              <a:t>can service</a:t>
            </a:r>
            <a:endParaRPr lang="en-US" sz="2400" b="1" dirty="0">
              <a:solidFill>
                <a:schemeClr val="accent1"/>
              </a:solidFill>
            </a:endParaRPr>
          </a:p>
          <a:p>
            <a:pPr marL="800100" lvl="1" indent="-342900">
              <a:buFont typeface="Arial" panose="020B0604020202020204" pitchFamily="34" charset="0"/>
              <a:buChar char="•"/>
            </a:pPr>
            <a:r>
              <a:rPr lang="en-US" sz="2400" b="1" dirty="0" smtClean="0">
                <a:solidFill>
                  <a:schemeClr val="accent1"/>
                </a:solidFill>
              </a:rPr>
              <a:t>Why??</a:t>
            </a:r>
          </a:p>
          <a:p>
            <a:endParaRPr lang="en-US" sz="2400" b="1" dirty="0">
              <a:solidFill>
                <a:schemeClr val="accent1"/>
              </a:solidFill>
            </a:endParaRPr>
          </a:p>
        </p:txBody>
      </p:sp>
      <p:sp>
        <p:nvSpPr>
          <p:cNvPr id="5" name="Date Placeholder 4"/>
          <p:cNvSpPr>
            <a:spLocks noGrp="1"/>
          </p:cNvSpPr>
          <p:nvPr>
            <p:ph type="dt" sz="half" idx="10"/>
          </p:nvPr>
        </p:nvSpPr>
        <p:spPr/>
        <p:txBody>
          <a:bodyPr/>
          <a:lstStyle/>
          <a:p>
            <a:fld id="{F90ABD57-2B35-474A-B9C1-682514677AC9}" type="datetime1">
              <a:rPr lang="en-US" smtClean="0"/>
              <a:t>11/11/2024</a:t>
            </a:fld>
            <a:endParaRPr lang="en-US"/>
          </a:p>
        </p:txBody>
      </p:sp>
      <p:sp>
        <p:nvSpPr>
          <p:cNvPr id="6" name="Footer Placeholder 5"/>
          <p:cNvSpPr>
            <a:spLocks noGrp="1"/>
          </p:cNvSpPr>
          <p:nvPr>
            <p:ph type="ftr" sz="quarter" idx="11"/>
          </p:nvPr>
        </p:nvSpPr>
        <p:spPr/>
        <p:txBody>
          <a:bodyPr/>
          <a:lstStyle/>
          <a:p>
            <a:r>
              <a:rPr lang="en-US" smtClean="0"/>
              <a:t>Prof. Shweta Dhawan Chachra</a:t>
            </a:r>
            <a:endParaRPr lang="en-US"/>
          </a:p>
        </p:txBody>
      </p:sp>
      <p:sp>
        <p:nvSpPr>
          <p:cNvPr id="7" name="Slide Number Placeholder 6"/>
          <p:cNvSpPr>
            <a:spLocks noGrp="1"/>
          </p:cNvSpPr>
          <p:nvPr>
            <p:ph type="sldNum" sz="quarter" idx="12"/>
          </p:nvPr>
        </p:nvSpPr>
        <p:spPr/>
        <p:txBody>
          <a:bodyPr/>
          <a:lstStyle/>
          <a:p>
            <a:fld id="{BF891C86-C030-48BB-AD24-5C827D1B826C}" type="slidenum">
              <a:rPr lang="en-US" smtClean="0"/>
              <a:t>34</a:t>
            </a:fld>
            <a:endParaRPr lang="en-US"/>
          </a:p>
        </p:txBody>
      </p:sp>
    </p:spTree>
    <p:extLst>
      <p:ext uri="{BB962C8B-B14F-4D97-AF65-F5344CB8AC3E}">
        <p14:creationId xmlns:p14="http://schemas.microsoft.com/office/powerpoint/2010/main" val="37373341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BUFFERING</a:t>
            </a:r>
            <a:endParaRPr lang="en-US" dirty="0"/>
          </a:p>
        </p:txBody>
      </p:sp>
      <p:sp>
        <p:nvSpPr>
          <p:cNvPr id="3" name="Rectangle 2"/>
          <p:cNvSpPr/>
          <p:nvPr/>
        </p:nvSpPr>
        <p:spPr>
          <a:xfrm>
            <a:off x="914400" y="1752600"/>
            <a:ext cx="7391400" cy="3416320"/>
          </a:xfrm>
          <a:prstGeom prst="rect">
            <a:avLst/>
          </a:prstGeom>
        </p:spPr>
        <p:txBody>
          <a:bodyPr wrap="square">
            <a:spAutoFit/>
          </a:bodyPr>
          <a:lstStyle/>
          <a:p>
            <a:pPr marL="342900" indent="-342900">
              <a:buFont typeface="Arial" panose="020B0604020202020204" pitchFamily="34" charset="0"/>
              <a:buChar char="•"/>
            </a:pPr>
            <a:r>
              <a:rPr lang="en-US" sz="2400" dirty="0" smtClean="0"/>
              <a:t>Even </a:t>
            </a:r>
            <a:r>
              <a:rPr lang="en-US" sz="2400" dirty="0"/>
              <a:t>with multiple buffers, </a:t>
            </a:r>
            <a:endParaRPr lang="en-US" sz="2400" dirty="0" smtClean="0"/>
          </a:p>
          <a:p>
            <a:pPr marL="800100" lvl="1" indent="-342900">
              <a:buFont typeface="Arial" panose="020B0604020202020204" pitchFamily="34" charset="0"/>
              <a:buChar char="•"/>
            </a:pPr>
            <a:r>
              <a:rPr lang="en-US" sz="2400" dirty="0" smtClean="0"/>
              <a:t>all </a:t>
            </a:r>
            <a:r>
              <a:rPr lang="en-US" sz="2400" dirty="0"/>
              <a:t>of the buffers will eventually fill up </a:t>
            </a:r>
            <a:endParaRPr lang="en-US" sz="2400" dirty="0" smtClean="0"/>
          </a:p>
          <a:p>
            <a:pPr marL="800100" lvl="1" indent="-342900">
              <a:buFont typeface="Arial" panose="020B0604020202020204" pitchFamily="34" charset="0"/>
              <a:buChar char="•"/>
            </a:pPr>
            <a:r>
              <a:rPr lang="en-US" sz="2400" dirty="0" smtClean="0"/>
              <a:t>the process </a:t>
            </a:r>
            <a:r>
              <a:rPr lang="en-US" sz="2400" dirty="0"/>
              <a:t>will have to wait after processing each chunk of data. </a:t>
            </a:r>
            <a:endParaRPr lang="en-US" sz="2400" dirty="0" smtClean="0"/>
          </a:p>
          <a:p>
            <a:pPr marL="342900" indent="-342900">
              <a:buFont typeface="Arial" panose="020B0604020202020204" pitchFamily="34" charset="0"/>
              <a:buChar char="•"/>
            </a:pPr>
            <a:r>
              <a:rPr lang="en-US" sz="2400" dirty="0" smtClean="0"/>
              <a:t>In </a:t>
            </a:r>
            <a:r>
              <a:rPr lang="en-US" sz="2400" dirty="0"/>
              <a:t>a </a:t>
            </a:r>
            <a:r>
              <a:rPr lang="en-US" sz="2400" dirty="0" smtClean="0"/>
              <a:t>multiprogramming environment</a:t>
            </a:r>
            <a:r>
              <a:rPr lang="en-US" sz="2400" dirty="0"/>
              <a:t>, </a:t>
            </a:r>
            <a:endParaRPr lang="en-US" sz="2400" dirty="0" smtClean="0"/>
          </a:p>
          <a:p>
            <a:pPr marL="800100" lvl="1" indent="-342900">
              <a:buFont typeface="Arial" panose="020B0604020202020204" pitchFamily="34" charset="0"/>
              <a:buChar char="•"/>
            </a:pPr>
            <a:r>
              <a:rPr lang="en-US" sz="2400" dirty="0" smtClean="0"/>
              <a:t>Variety </a:t>
            </a:r>
            <a:r>
              <a:rPr lang="en-US" sz="2400" dirty="0"/>
              <a:t>of I/O </a:t>
            </a:r>
            <a:r>
              <a:rPr lang="en-US" sz="2400" dirty="0" smtClean="0"/>
              <a:t>activity</a:t>
            </a:r>
          </a:p>
          <a:p>
            <a:pPr marL="800100" lvl="1" indent="-342900">
              <a:buFont typeface="Arial" panose="020B0604020202020204" pitchFamily="34" charset="0"/>
              <a:buChar char="•"/>
            </a:pPr>
            <a:r>
              <a:rPr lang="en-US" sz="2400" dirty="0" smtClean="0"/>
              <a:t>Variety of process </a:t>
            </a:r>
            <a:r>
              <a:rPr lang="en-US" sz="2400" dirty="0"/>
              <a:t>activity to service, </a:t>
            </a:r>
            <a:endParaRPr lang="en-US" sz="2400" dirty="0" smtClean="0"/>
          </a:p>
          <a:p>
            <a:pPr marL="800100" lvl="1" indent="-342900">
              <a:buFont typeface="Arial" panose="020B0604020202020204" pitchFamily="34" charset="0"/>
              <a:buChar char="•"/>
            </a:pPr>
            <a:r>
              <a:rPr lang="en-US" sz="2400" b="1" dirty="0" smtClean="0">
                <a:solidFill>
                  <a:schemeClr val="accent1"/>
                </a:solidFill>
              </a:rPr>
              <a:t>buffering can </a:t>
            </a:r>
            <a:r>
              <a:rPr lang="en-US" sz="2400" b="1" dirty="0">
                <a:solidFill>
                  <a:schemeClr val="accent1"/>
                </a:solidFill>
              </a:rPr>
              <a:t>increase the efficiency </a:t>
            </a:r>
            <a:r>
              <a:rPr lang="en-US" sz="2400" b="1" dirty="0" smtClean="0">
                <a:solidFill>
                  <a:schemeClr val="accent1"/>
                </a:solidFill>
              </a:rPr>
              <a:t>of the </a:t>
            </a:r>
            <a:r>
              <a:rPr lang="en-US" sz="2400" b="1" dirty="0">
                <a:solidFill>
                  <a:schemeClr val="accent1"/>
                </a:solidFill>
              </a:rPr>
              <a:t>OS and the performance of individual processes.</a:t>
            </a:r>
          </a:p>
        </p:txBody>
      </p:sp>
      <p:sp>
        <p:nvSpPr>
          <p:cNvPr id="5" name="Date Placeholder 4"/>
          <p:cNvSpPr>
            <a:spLocks noGrp="1"/>
          </p:cNvSpPr>
          <p:nvPr>
            <p:ph type="dt" sz="half" idx="10"/>
          </p:nvPr>
        </p:nvSpPr>
        <p:spPr/>
        <p:txBody>
          <a:bodyPr/>
          <a:lstStyle/>
          <a:p>
            <a:fld id="{091AC02B-93FF-4B51-AE8A-30B7F5BC64CC}" type="datetime1">
              <a:rPr lang="en-US" smtClean="0"/>
              <a:t>11/11/2024</a:t>
            </a:fld>
            <a:endParaRPr lang="en-US"/>
          </a:p>
        </p:txBody>
      </p:sp>
      <p:sp>
        <p:nvSpPr>
          <p:cNvPr id="6" name="Footer Placeholder 5"/>
          <p:cNvSpPr>
            <a:spLocks noGrp="1"/>
          </p:cNvSpPr>
          <p:nvPr>
            <p:ph type="ftr" sz="quarter" idx="11"/>
          </p:nvPr>
        </p:nvSpPr>
        <p:spPr/>
        <p:txBody>
          <a:bodyPr/>
          <a:lstStyle/>
          <a:p>
            <a:r>
              <a:rPr lang="en-US" smtClean="0"/>
              <a:t>Prof. Shweta Dhawan Chachra</a:t>
            </a:r>
            <a:endParaRPr lang="en-US"/>
          </a:p>
        </p:txBody>
      </p:sp>
      <p:sp>
        <p:nvSpPr>
          <p:cNvPr id="7" name="Slide Number Placeholder 6"/>
          <p:cNvSpPr>
            <a:spLocks noGrp="1"/>
          </p:cNvSpPr>
          <p:nvPr>
            <p:ph type="sldNum" sz="quarter" idx="12"/>
          </p:nvPr>
        </p:nvSpPr>
        <p:spPr/>
        <p:txBody>
          <a:bodyPr/>
          <a:lstStyle/>
          <a:p>
            <a:fld id="{BF891C86-C030-48BB-AD24-5C827D1B826C}" type="slidenum">
              <a:rPr lang="en-US" smtClean="0"/>
              <a:t>35</a:t>
            </a:fld>
            <a:endParaRPr lang="en-US"/>
          </a:p>
        </p:txBody>
      </p:sp>
    </p:spTree>
    <p:extLst>
      <p:ext uri="{BB962C8B-B14F-4D97-AF65-F5344CB8AC3E}">
        <p14:creationId xmlns:p14="http://schemas.microsoft.com/office/powerpoint/2010/main" val="932925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1351</TotalTime>
  <Words>1799</Words>
  <Application>Microsoft Office PowerPoint</Application>
  <PresentationFormat>On-screen Show (4:3)</PresentationFormat>
  <Paragraphs>303</Paragraphs>
  <Slides>35</Slides>
  <Notes>8</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I/O Management</vt:lpstr>
      <vt:lpstr>I/O Management</vt:lpstr>
      <vt:lpstr>I/O Management</vt:lpstr>
      <vt:lpstr>I/O Hardware</vt:lpstr>
      <vt:lpstr>I/O Hardware</vt:lpstr>
      <vt:lpstr>I/O Hardware</vt:lpstr>
      <vt:lpstr>I/O Hardware</vt:lpstr>
      <vt:lpstr>I/O Hardware</vt:lpstr>
      <vt:lpstr>I/O Hardware</vt:lpstr>
      <vt:lpstr>I/O Hardware</vt:lpstr>
      <vt:lpstr>11.2 ORGANIZATION OF THE I/O FUNCTION</vt:lpstr>
      <vt:lpstr>11.2 ORGANIZATION OF THE I/O FUNCTION</vt:lpstr>
      <vt:lpstr>11.2 ORGANIZATION OF THE I/O FUNCTION</vt:lpstr>
      <vt:lpstr>11.2 ORGANIZATION OF THE I/O FUNCTION</vt:lpstr>
      <vt:lpstr>11.2 ORGANIZATION OF THE I/O FUNCTION</vt:lpstr>
      <vt:lpstr>11.2 ORGANIZATION OF THE I/O FUNCTION</vt:lpstr>
      <vt:lpstr>11.2 ORGANIZATION OF THE I/O FUNCTION</vt:lpstr>
      <vt:lpstr>11.2 ORGANIZATION OF THE I/O FUNCTION</vt:lpstr>
      <vt:lpstr>11.2 ORGANIZATION OF THE I/O FUNCTION</vt:lpstr>
      <vt:lpstr>11.2 ORGANIZATION OF THE I/O FUNCTION</vt:lpstr>
      <vt:lpstr>11.2 ORGANIZATION OF THE I/O FUNCTION</vt:lpstr>
      <vt:lpstr>11.2 ORGANIZATION OF THE I/O FUNCTION</vt:lpstr>
      <vt:lpstr>Direct Memory Access (DMA) </vt:lpstr>
      <vt:lpstr>Direct Memory Access (DMA) </vt:lpstr>
      <vt:lpstr>Direct Memory Access (DMA) </vt:lpstr>
      <vt:lpstr>Direct Memory Access (DMA) </vt:lpstr>
      <vt:lpstr>I/O BUFFERING</vt:lpstr>
      <vt:lpstr>I/O BUFFERING</vt:lpstr>
      <vt:lpstr>I/O BUFFERING</vt:lpstr>
      <vt:lpstr>I/O BUFFERING</vt:lpstr>
      <vt:lpstr>I/O BUFFERING</vt:lpstr>
      <vt:lpstr>I/O BUFFERING</vt:lpstr>
      <vt:lpstr>I/O BUFFERING</vt:lpstr>
      <vt:lpstr>I/O BUFFERING</vt:lpstr>
      <vt:lpstr>I/O BUFFERING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Swati</cp:lastModifiedBy>
  <cp:revision>73</cp:revision>
  <dcterms:created xsi:type="dcterms:W3CDTF">2020-10-17T08:13:22Z</dcterms:created>
  <dcterms:modified xsi:type="dcterms:W3CDTF">2024-11-11T06:57:18Z</dcterms:modified>
</cp:coreProperties>
</file>
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Lst>
  <p:sldSz cy="6858000" cx="9144000"/>
  <p:notesSz cx="6858000" cy="9144000"/>
  <p:embeddedFontLst>
    <p:embeddedFont>
      <p:font typeface="Helvetica Neue"/>
      <p:regular r:id="rId154"/>
      <p:bold r:id="rId155"/>
      <p:italic r:id="rId156"/>
      <p:boldItalic r:id="rId1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58" roundtripDataSignature="AMtx7mi3kUkDcdXa+6AtVIP8M76qaLxU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154" Type="http://schemas.openxmlformats.org/officeDocument/2006/relationships/font" Target="fonts/HelveticaNeue-regular.fntdata"/><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customschemas.google.com/relationships/presentationmetadata" Target="metadata"/><Relationship Id="rId157" Type="http://schemas.openxmlformats.org/officeDocument/2006/relationships/font" Target="fonts/HelveticaNeue-boldItalic.fntdata"/><Relationship Id="rId156" Type="http://schemas.openxmlformats.org/officeDocument/2006/relationships/font" Target="fonts/HelveticaNeue-italic.fntdata"/><Relationship Id="rId155" Type="http://schemas.openxmlformats.org/officeDocument/2006/relationships/font" Target="fonts/HelveticaNeue-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2: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22: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3: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 name="Google Shape;318;p23: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4: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24: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5: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25: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6: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0" name="Google Shape;450;p36: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7: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9" name="Google Shape;459;p37: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38: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8" name="Google Shape;468;p38: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39: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7" name="Google Shape;477;p39: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40: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40: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41: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2" name="Google Shape;502;p41: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42: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1" name="Google Shape;511;p42: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43: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0" name="Google Shape;520;p43: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3" name="Google Shape;543;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47: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0" name="Google Shape;560;p47: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48: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9" name="Google Shape;569;p48: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49: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8" name="Google Shape;578;p49: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50: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7" name="Google Shape;587;p50: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8" name="Google Shape;598;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9" name="Google Shape;609;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54: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8" name="Google Shape;628;p54: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55: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0" name="Google Shape;640;p55: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0" name="Google Shape;650;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0" name="Google Shape;660;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1" name="Google Shape;681;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0" name="Google Shape;690;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1" name="Google Shape;701;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62: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1" name="Google Shape;711;p62: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0" name="Google Shape;720;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9" name="Google Shape;729;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 name="Google Shape;741;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9" name="Google Shape;749;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8" name="Google Shape;758;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7" name="Google Shape;767;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7" name="Google Shape;777;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70: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7" name="Google Shape;787;p70: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71: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6" name="Google Shape;796;p71: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72: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5" name="Google Shape;805;p72: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73: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73: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74:notes"/>
          <p:cNvSpPr/>
          <p:nvPr>
            <p:ph idx="2" type="sldImg"/>
          </p:nvPr>
        </p:nvSpPr>
        <p:spPr>
          <a:xfrm>
            <a:off x="1143000" y="685800"/>
            <a:ext cx="4573588"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4" name="Google Shape;824;p74:notes"/>
          <p:cNvSpPr txBox="1"/>
          <p:nvPr>
            <p:ph idx="1" type="body"/>
          </p:nvPr>
        </p:nvSpPr>
        <p:spPr>
          <a:xfrm>
            <a:off x="686591" y="4344025"/>
            <a:ext cx="5486400" cy="4114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7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833" name="Google Shape;833;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4" name="Google Shape;834;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7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843" name="Google Shape;843;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4" name="Google Shape;844;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853" name="Google Shape;853;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4" name="Google Shape;854;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3" name="Google Shape;863;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5" name="Google Shape;875;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8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884" name="Google Shape;884;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5" name="Google Shape;885;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p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896" name="Google Shape;896;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7" name="Google Shape;897;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6" name="Google Shape;906;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5" name="Google Shape;915;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2" name="Google Shape;932;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8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946" name="Google Shape;946;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7" name="Google Shape;947;p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p8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957" name="Google Shape;957;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8" name="Google Shape;958;p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8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968" name="Google Shape;968;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9" name="Google Shape;969;p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28acc3f3972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80" name="Google Shape;980;g28acc3f3972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1" name="Google Shape;981;g28acc3f3972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p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9" name="Google Shape;989;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0" name="Google Shape;1000;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0" name="Google Shape;1010;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0" name="Google Shape;1020;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4" name="Google Shape;1034;p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5" name="Google Shape;1035;p9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6" name="Google Shape;1046;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6" name="Google Shape;1056;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6" name="Google Shape;1066;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8" name="Google Shape;1078;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2" name="Google Shape;1092;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p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1" name="Google Shape;1101;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0" name="Google Shape;1110;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p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9" name="Google Shape;1119;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p1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8" name="Google Shape;1128;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p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7" name="Google Shape;1137;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8" name="Google Shape;1148;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p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7" name="Google Shape;1157;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p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6" name="Google Shape;1166;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p1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5" name="Google Shape;1175;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p10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185" name="Google Shape;1185;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6" name="Google Shape;1186;p1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p10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195" name="Google Shape;1195;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6" name="Google Shape;1196;p1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p10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206" name="Google Shape;1206;p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7" name="Google Shape;1207;p1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p1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8" name="Google Shape;1218;p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p1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1" name="Google Shape;1231;p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p1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1" name="Google Shape;1241;p1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p1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1" name="Google Shape;1251;p1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p1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2" name="Google Shape;1262;p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0" name="Shape 1270"/>
        <p:cNvGrpSpPr/>
        <p:nvPr/>
      </p:nvGrpSpPr>
      <p:grpSpPr>
        <a:xfrm>
          <a:off x="0" y="0"/>
          <a:ext cx="0" cy="0"/>
          <a:chOff x="0" y="0"/>
          <a:chExt cx="0" cy="0"/>
        </a:xfrm>
      </p:grpSpPr>
      <p:sp>
        <p:nvSpPr>
          <p:cNvPr id="1271" name="Google Shape;1271;p1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2" name="Google Shape;1272;p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p1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1" name="Google Shape;1281;p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p1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9" name="Google Shape;1289;p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p1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8" name="Google Shape;1298;p1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p1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306" name="Google Shape;1306;p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7" name="Google Shape;1307;p1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p1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316" name="Google Shape;1316;p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7" name="Google Shape;1317;p1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p1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326" name="Google Shape;1326;p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7" name="Google Shape;1327;p1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p1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6" name="Google Shape;1336;p1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p1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6" name="Google Shape;1346;p1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p1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5" name="Google Shape;1355;p1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2" name="Shape 1362"/>
        <p:cNvGrpSpPr/>
        <p:nvPr/>
      </p:nvGrpSpPr>
      <p:grpSpPr>
        <a:xfrm>
          <a:off x="0" y="0"/>
          <a:ext cx="0" cy="0"/>
          <a:chOff x="0" y="0"/>
          <a:chExt cx="0" cy="0"/>
        </a:xfrm>
      </p:grpSpPr>
      <p:sp>
        <p:nvSpPr>
          <p:cNvPr id="1363" name="Google Shape;1363;p1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4" name="Google Shape;1364;p1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1" name="Shape 1371"/>
        <p:cNvGrpSpPr/>
        <p:nvPr/>
      </p:nvGrpSpPr>
      <p:grpSpPr>
        <a:xfrm>
          <a:off x="0" y="0"/>
          <a:ext cx="0" cy="0"/>
          <a:chOff x="0" y="0"/>
          <a:chExt cx="0" cy="0"/>
        </a:xfrm>
      </p:grpSpPr>
      <p:sp>
        <p:nvSpPr>
          <p:cNvPr id="1372" name="Google Shape;1372;p1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3" name="Google Shape;1373;p1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p1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2" name="Google Shape;1382;p1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9" name="Shape 1389"/>
        <p:cNvGrpSpPr/>
        <p:nvPr/>
      </p:nvGrpSpPr>
      <p:grpSpPr>
        <a:xfrm>
          <a:off x="0" y="0"/>
          <a:ext cx="0" cy="0"/>
          <a:chOff x="0" y="0"/>
          <a:chExt cx="0" cy="0"/>
        </a:xfrm>
      </p:grpSpPr>
      <p:sp>
        <p:nvSpPr>
          <p:cNvPr id="1390" name="Google Shape;1390;p1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1" name="Google Shape;1391;p1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p1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0" name="Google Shape;1400;p1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7" name="Shape 1407"/>
        <p:cNvGrpSpPr/>
        <p:nvPr/>
      </p:nvGrpSpPr>
      <p:grpSpPr>
        <a:xfrm>
          <a:off x="0" y="0"/>
          <a:ext cx="0" cy="0"/>
          <a:chOff x="0" y="0"/>
          <a:chExt cx="0" cy="0"/>
        </a:xfrm>
      </p:grpSpPr>
      <p:sp>
        <p:nvSpPr>
          <p:cNvPr id="1408" name="Google Shape;1408;p1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9" name="Google Shape;1409;p1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7" name="Shape 1417"/>
        <p:cNvGrpSpPr/>
        <p:nvPr/>
      </p:nvGrpSpPr>
      <p:grpSpPr>
        <a:xfrm>
          <a:off x="0" y="0"/>
          <a:ext cx="0" cy="0"/>
          <a:chOff x="0" y="0"/>
          <a:chExt cx="0" cy="0"/>
        </a:xfrm>
      </p:grpSpPr>
      <p:sp>
        <p:nvSpPr>
          <p:cNvPr id="1418" name="Google Shape;1418;p1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419" name="Google Shape;1419;p1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0" name="Google Shape;1420;p1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p1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429" name="Google Shape;1429;p1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0" name="Google Shape;1430;p1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p1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443" name="Google Shape;1443;p1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4" name="Google Shape;1444;p1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p1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457" name="Google Shape;1457;p1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8" name="Google Shape;1458;p1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5" name="Shape 1465"/>
        <p:cNvGrpSpPr/>
        <p:nvPr/>
      </p:nvGrpSpPr>
      <p:grpSpPr>
        <a:xfrm>
          <a:off x="0" y="0"/>
          <a:ext cx="0" cy="0"/>
          <a:chOff x="0" y="0"/>
          <a:chExt cx="0" cy="0"/>
        </a:xfrm>
      </p:grpSpPr>
      <p:sp>
        <p:nvSpPr>
          <p:cNvPr id="1466" name="Google Shape;1466;p1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467" name="Google Shape;1467;p1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8" name="Google Shape;1468;p1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p1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477" name="Google Shape;1477;p1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8" name="Google Shape;1478;p1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p1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487" name="Google Shape;1487;p1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8" name="Google Shape;1488;p1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5" name="Shape 1495"/>
        <p:cNvGrpSpPr/>
        <p:nvPr/>
      </p:nvGrpSpPr>
      <p:grpSpPr>
        <a:xfrm>
          <a:off x="0" y="0"/>
          <a:ext cx="0" cy="0"/>
          <a:chOff x="0" y="0"/>
          <a:chExt cx="0" cy="0"/>
        </a:xfrm>
      </p:grpSpPr>
      <p:sp>
        <p:nvSpPr>
          <p:cNvPr id="1496" name="Google Shape;1496;p1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497" name="Google Shape;1497;p1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8" name="Google Shape;1498;p1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p1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507" name="Google Shape;1507;p1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8" name="Google Shape;1508;p1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p1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517" name="Google Shape;1517;p1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8" name="Google Shape;1518;p1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5" name="Shape 1525"/>
        <p:cNvGrpSpPr/>
        <p:nvPr/>
      </p:nvGrpSpPr>
      <p:grpSpPr>
        <a:xfrm>
          <a:off x="0" y="0"/>
          <a:ext cx="0" cy="0"/>
          <a:chOff x="0" y="0"/>
          <a:chExt cx="0" cy="0"/>
        </a:xfrm>
      </p:grpSpPr>
      <p:sp>
        <p:nvSpPr>
          <p:cNvPr id="1526" name="Google Shape;1526;p1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7" name="Google Shape;1527;p1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7" name="Shape 1537"/>
        <p:cNvGrpSpPr/>
        <p:nvPr/>
      </p:nvGrpSpPr>
      <p:grpSpPr>
        <a:xfrm>
          <a:off x="0" y="0"/>
          <a:ext cx="0" cy="0"/>
          <a:chOff x="0" y="0"/>
          <a:chExt cx="0" cy="0"/>
        </a:xfrm>
      </p:grpSpPr>
      <p:sp>
        <p:nvSpPr>
          <p:cNvPr id="1538" name="Google Shape;1538;p1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9" name="Google Shape;1539;p1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p1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8" name="Google Shape;1548;p1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5" name="Shape 1555"/>
        <p:cNvGrpSpPr/>
        <p:nvPr/>
      </p:nvGrpSpPr>
      <p:grpSpPr>
        <a:xfrm>
          <a:off x="0" y="0"/>
          <a:ext cx="0" cy="0"/>
          <a:chOff x="0" y="0"/>
          <a:chExt cx="0" cy="0"/>
        </a:xfrm>
      </p:grpSpPr>
      <p:sp>
        <p:nvSpPr>
          <p:cNvPr id="1556" name="Google Shape;1556;p1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7" name="Google Shape;1557;p1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p1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7" name="Google Shape;1567;p1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6" name="Shape 1576"/>
        <p:cNvGrpSpPr/>
        <p:nvPr/>
      </p:nvGrpSpPr>
      <p:grpSpPr>
        <a:xfrm>
          <a:off x="0" y="0"/>
          <a:ext cx="0" cy="0"/>
          <a:chOff x="0" y="0"/>
          <a:chExt cx="0" cy="0"/>
        </a:xfrm>
      </p:grpSpPr>
      <p:sp>
        <p:nvSpPr>
          <p:cNvPr id="1577" name="Google Shape;1577;p1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8" name="Google Shape;1578;p1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6" name="Shape 1586"/>
        <p:cNvGrpSpPr/>
        <p:nvPr/>
      </p:nvGrpSpPr>
      <p:grpSpPr>
        <a:xfrm>
          <a:off x="0" y="0"/>
          <a:ext cx="0" cy="0"/>
          <a:chOff x="0" y="0"/>
          <a:chExt cx="0" cy="0"/>
        </a:xfrm>
      </p:grpSpPr>
      <p:sp>
        <p:nvSpPr>
          <p:cNvPr id="1587" name="Google Shape;1587;p1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8" name="Google Shape;1588;p1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149"/>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49"/>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49"/>
          <p:cNvSpPr txBox="1"/>
          <p:nvPr>
            <p:ph type="ctr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49"/>
          <p:cNvSpPr txBox="1"/>
          <p:nvPr>
            <p:ph idx="1" type="subTitle"/>
          </p:nvPr>
        </p:nvSpPr>
        <p:spPr>
          <a:xfrm>
            <a:off x="825038" y="4455621"/>
            <a:ext cx="75438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14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4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26" name="Google Shape;26;p149"/>
          <p:cNvCxnSpPr/>
          <p:nvPr/>
        </p:nvCxnSpPr>
        <p:spPr>
          <a:xfrm>
            <a:off x="905744" y="4343400"/>
            <a:ext cx="740664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150"/>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0"/>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0" name="Google Shape;30;p15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3" name="Shape 33"/>
        <p:cNvGrpSpPr/>
        <p:nvPr/>
      </p:nvGrpSpPr>
      <p:grpSpPr>
        <a:xfrm>
          <a:off x="0" y="0"/>
          <a:ext cx="0" cy="0"/>
          <a:chOff x="0" y="0"/>
          <a:chExt cx="0" cy="0"/>
        </a:xfrm>
      </p:grpSpPr>
      <p:sp>
        <p:nvSpPr>
          <p:cNvPr id="34" name="Google Shape;34;p151"/>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51"/>
          <p:cNvSpPr txBox="1"/>
          <p:nvPr>
            <p:ph idx="1" type="body"/>
          </p:nvPr>
        </p:nvSpPr>
        <p:spPr>
          <a:xfrm>
            <a:off x="822960" y="1846052"/>
            <a:ext cx="370332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36" name="Google Shape;36;p151"/>
          <p:cNvSpPr txBox="1"/>
          <p:nvPr>
            <p:ph idx="2" type="body"/>
          </p:nvPr>
        </p:nvSpPr>
        <p:spPr>
          <a:xfrm>
            <a:off x="822960" y="2582334"/>
            <a:ext cx="370332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7" name="Google Shape;37;p151"/>
          <p:cNvSpPr txBox="1"/>
          <p:nvPr>
            <p:ph idx="3" type="body"/>
          </p:nvPr>
        </p:nvSpPr>
        <p:spPr>
          <a:xfrm>
            <a:off x="4663440" y="1846052"/>
            <a:ext cx="370332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38" name="Google Shape;38;p151"/>
          <p:cNvSpPr txBox="1"/>
          <p:nvPr>
            <p:ph idx="4" type="body"/>
          </p:nvPr>
        </p:nvSpPr>
        <p:spPr>
          <a:xfrm>
            <a:off x="4663440" y="2582334"/>
            <a:ext cx="370332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9" name="Google Shape;39;p15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5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5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42" name="Shape 42"/>
        <p:cNvGrpSpPr/>
        <p:nvPr/>
      </p:nvGrpSpPr>
      <p:grpSpPr>
        <a:xfrm>
          <a:off x="0" y="0"/>
          <a:ext cx="0" cy="0"/>
          <a:chOff x="0" y="0"/>
          <a:chExt cx="0" cy="0"/>
        </a:xfrm>
      </p:grpSpPr>
      <p:sp>
        <p:nvSpPr>
          <p:cNvPr id="43" name="Google Shape;43;p152"/>
          <p:cNvSpPr/>
          <p:nvPr/>
        </p:nvSpPr>
        <p:spPr>
          <a:xfrm>
            <a:off x="13" y="0"/>
            <a:ext cx="3038093"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52"/>
          <p:cNvSpPr/>
          <p:nvPr/>
        </p:nvSpPr>
        <p:spPr>
          <a:xfrm>
            <a:off x="3030053" y="0"/>
            <a:ext cx="48006"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52"/>
          <p:cNvSpPr txBox="1"/>
          <p:nvPr>
            <p:ph type="title"/>
          </p:nvPr>
        </p:nvSpPr>
        <p:spPr>
          <a:xfrm>
            <a:off x="342900" y="594359"/>
            <a:ext cx="24003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52"/>
          <p:cNvSpPr txBox="1"/>
          <p:nvPr>
            <p:ph idx="1" type="body"/>
          </p:nvPr>
        </p:nvSpPr>
        <p:spPr>
          <a:xfrm>
            <a:off x="3460237" y="731520"/>
            <a:ext cx="5009393"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 name="Google Shape;47;p152"/>
          <p:cNvSpPr txBox="1"/>
          <p:nvPr>
            <p:ph idx="2" type="body"/>
          </p:nvPr>
        </p:nvSpPr>
        <p:spPr>
          <a:xfrm>
            <a:off x="342900" y="2926080"/>
            <a:ext cx="24003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48" name="Google Shape;48;p152"/>
          <p:cNvSpPr txBox="1"/>
          <p:nvPr>
            <p:ph idx="10" type="dt"/>
          </p:nvPr>
        </p:nvSpPr>
        <p:spPr>
          <a:xfrm>
            <a:off x="349134" y="6459786"/>
            <a:ext cx="1963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52"/>
          <p:cNvSpPr txBox="1"/>
          <p:nvPr>
            <p:ph idx="11" type="ftr"/>
          </p:nvPr>
        </p:nvSpPr>
        <p:spPr>
          <a:xfrm>
            <a:off x="3600450" y="6459786"/>
            <a:ext cx="348615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5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50">
                <a:solidFill>
                  <a:schemeClr val="dk2"/>
                </a:solidFill>
                <a:latin typeface="Calibri"/>
                <a:ea typeface="Calibri"/>
                <a:cs typeface="Calibri"/>
                <a:sym typeface="Calibri"/>
              </a:defRPr>
            </a:lvl1pPr>
            <a:lvl2pPr indent="0" lvl="1" marL="0" algn="r">
              <a:spcBef>
                <a:spcPts val="0"/>
              </a:spcBef>
              <a:buNone/>
              <a:defRPr sz="1050">
                <a:solidFill>
                  <a:schemeClr val="dk2"/>
                </a:solidFill>
                <a:latin typeface="Calibri"/>
                <a:ea typeface="Calibri"/>
                <a:cs typeface="Calibri"/>
                <a:sym typeface="Calibri"/>
              </a:defRPr>
            </a:lvl2pPr>
            <a:lvl3pPr indent="0" lvl="2" marL="0" algn="r">
              <a:spcBef>
                <a:spcPts val="0"/>
              </a:spcBef>
              <a:buNone/>
              <a:defRPr sz="1050">
                <a:solidFill>
                  <a:schemeClr val="dk2"/>
                </a:solidFill>
                <a:latin typeface="Calibri"/>
                <a:ea typeface="Calibri"/>
                <a:cs typeface="Calibri"/>
                <a:sym typeface="Calibri"/>
              </a:defRPr>
            </a:lvl3pPr>
            <a:lvl4pPr indent="0" lvl="3" marL="0" algn="r">
              <a:spcBef>
                <a:spcPts val="0"/>
              </a:spcBef>
              <a:buNone/>
              <a:defRPr sz="1050">
                <a:solidFill>
                  <a:schemeClr val="dk2"/>
                </a:solidFill>
                <a:latin typeface="Calibri"/>
                <a:ea typeface="Calibri"/>
                <a:cs typeface="Calibri"/>
                <a:sym typeface="Calibri"/>
              </a:defRPr>
            </a:lvl4pPr>
            <a:lvl5pPr indent="0" lvl="4" marL="0" algn="r">
              <a:spcBef>
                <a:spcPts val="0"/>
              </a:spcBef>
              <a:buNone/>
              <a:defRPr sz="1050">
                <a:solidFill>
                  <a:schemeClr val="dk2"/>
                </a:solidFill>
                <a:latin typeface="Calibri"/>
                <a:ea typeface="Calibri"/>
                <a:cs typeface="Calibri"/>
                <a:sym typeface="Calibri"/>
              </a:defRPr>
            </a:lvl5pPr>
            <a:lvl6pPr indent="0" lvl="5" marL="0" algn="r">
              <a:spcBef>
                <a:spcPts val="0"/>
              </a:spcBef>
              <a:buNone/>
              <a:defRPr sz="1050">
                <a:solidFill>
                  <a:schemeClr val="dk2"/>
                </a:solidFill>
                <a:latin typeface="Calibri"/>
                <a:ea typeface="Calibri"/>
                <a:cs typeface="Calibri"/>
                <a:sym typeface="Calibri"/>
              </a:defRPr>
            </a:lvl6pPr>
            <a:lvl7pPr indent="0" lvl="6" marL="0" algn="r">
              <a:spcBef>
                <a:spcPts val="0"/>
              </a:spcBef>
              <a:buNone/>
              <a:defRPr sz="1050">
                <a:solidFill>
                  <a:schemeClr val="dk2"/>
                </a:solidFill>
                <a:latin typeface="Calibri"/>
                <a:ea typeface="Calibri"/>
                <a:cs typeface="Calibri"/>
                <a:sym typeface="Calibri"/>
              </a:defRPr>
            </a:lvl7pPr>
            <a:lvl8pPr indent="0" lvl="7" marL="0" algn="r">
              <a:spcBef>
                <a:spcPts val="0"/>
              </a:spcBef>
              <a:buNone/>
              <a:defRPr sz="1050">
                <a:solidFill>
                  <a:schemeClr val="dk2"/>
                </a:solidFill>
                <a:latin typeface="Calibri"/>
                <a:ea typeface="Calibri"/>
                <a:cs typeface="Calibri"/>
                <a:sym typeface="Calibri"/>
              </a:defRPr>
            </a:lvl8pPr>
            <a:lvl9pPr indent="0" lvl="8" marL="0" algn="r">
              <a:spcBef>
                <a:spcPts val="0"/>
              </a:spcBef>
              <a:buNone/>
              <a:defRPr sz="1050">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1" name="Shape 51"/>
        <p:cNvGrpSpPr/>
        <p:nvPr/>
      </p:nvGrpSpPr>
      <p:grpSpPr>
        <a:xfrm>
          <a:off x="0" y="0"/>
          <a:ext cx="0" cy="0"/>
          <a:chOff x="0" y="0"/>
          <a:chExt cx="0" cy="0"/>
        </a:xfrm>
      </p:grpSpPr>
      <p:sp>
        <p:nvSpPr>
          <p:cNvPr id="52" name="Google Shape;52;p153"/>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53"/>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5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5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5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154"/>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5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5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5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2" name="Shape 62"/>
        <p:cNvGrpSpPr/>
        <p:nvPr/>
      </p:nvGrpSpPr>
      <p:grpSpPr>
        <a:xfrm>
          <a:off x="0" y="0"/>
          <a:ext cx="0" cy="0"/>
          <a:chOff x="0" y="0"/>
          <a:chExt cx="0" cy="0"/>
        </a:xfrm>
      </p:grpSpPr>
      <p:sp>
        <p:nvSpPr>
          <p:cNvPr id="63" name="Google Shape;63;p155"/>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55"/>
          <p:cNvSpPr txBox="1"/>
          <p:nvPr>
            <p:ph idx="1" type="body"/>
          </p:nvPr>
        </p:nvSpPr>
        <p:spPr>
          <a:xfrm>
            <a:off x="822960" y="1845734"/>
            <a:ext cx="370332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5" name="Google Shape;65;p155"/>
          <p:cNvSpPr txBox="1"/>
          <p:nvPr>
            <p:ph idx="2" type="body"/>
          </p:nvPr>
        </p:nvSpPr>
        <p:spPr>
          <a:xfrm>
            <a:off x="4663440" y="1845736"/>
            <a:ext cx="3703320" cy="4023359"/>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6" name="Google Shape;66;p15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5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5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69" name="Shape 69"/>
        <p:cNvGrpSpPr/>
        <p:nvPr/>
      </p:nvGrpSpPr>
      <p:grpSpPr>
        <a:xfrm>
          <a:off x="0" y="0"/>
          <a:ext cx="0" cy="0"/>
          <a:chOff x="0" y="0"/>
          <a:chExt cx="0" cy="0"/>
        </a:xfrm>
      </p:grpSpPr>
      <p:sp>
        <p:nvSpPr>
          <p:cNvPr id="70" name="Google Shape;70;p156"/>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56"/>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56"/>
          <p:cNvSpPr txBox="1"/>
          <p:nvPr>
            <p:ph type="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56"/>
          <p:cNvSpPr txBox="1"/>
          <p:nvPr>
            <p:ph idx="1" type="body"/>
          </p:nvPr>
        </p:nvSpPr>
        <p:spPr>
          <a:xfrm>
            <a:off x="822960" y="4453128"/>
            <a:ext cx="75438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74" name="Google Shape;74;p15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5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5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77" name="Google Shape;77;p156"/>
          <p:cNvCxnSpPr/>
          <p:nvPr/>
        </p:nvCxnSpPr>
        <p:spPr>
          <a:xfrm>
            <a:off x="905744" y="4343400"/>
            <a:ext cx="740664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157"/>
          <p:cNvSpPr/>
          <p:nvPr/>
        </p:nvSpPr>
        <p:spPr>
          <a:xfrm>
            <a:off x="0" y="4953000"/>
            <a:ext cx="9141619"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7"/>
          <p:cNvSpPr/>
          <p:nvPr/>
        </p:nvSpPr>
        <p:spPr>
          <a:xfrm>
            <a:off x="12" y="491507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7"/>
          <p:cNvSpPr txBox="1"/>
          <p:nvPr>
            <p:ph type="title"/>
          </p:nvPr>
        </p:nvSpPr>
        <p:spPr>
          <a:xfrm>
            <a:off x="822960" y="5074920"/>
            <a:ext cx="7589520"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2" name="Google Shape;82;p157"/>
          <p:cNvPicPr preferRelativeResize="0"/>
          <p:nvPr>
            <p:ph idx="2" type="pic"/>
          </p:nvPr>
        </p:nvPicPr>
        <p:blipFill/>
        <p:spPr>
          <a:xfrm>
            <a:off x="12" y="0"/>
            <a:ext cx="9143989" cy="4915076"/>
          </a:xfrm>
          <a:prstGeom prst="rect">
            <a:avLst/>
          </a:prstGeom>
          <a:blipFill rotWithShape="1">
            <a:blip r:embed="rId2">
              <a:alphaModFix/>
            </a:blip>
            <a:stretch>
              <a:fillRect b="0" l="0" r="0" t="0"/>
            </a:stretch>
          </a:blipFill>
          <a:ln>
            <a:noFill/>
          </a:ln>
        </p:spPr>
      </p:pic>
      <p:sp>
        <p:nvSpPr>
          <p:cNvPr id="83" name="Google Shape;83;p157"/>
          <p:cNvSpPr txBox="1"/>
          <p:nvPr>
            <p:ph idx="1" type="body"/>
          </p:nvPr>
        </p:nvSpPr>
        <p:spPr>
          <a:xfrm>
            <a:off x="822959" y="5907024"/>
            <a:ext cx="7589520"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4" name="Google Shape;84;p15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5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5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7" name="Shape 87"/>
        <p:cNvGrpSpPr/>
        <p:nvPr/>
      </p:nvGrpSpPr>
      <p:grpSpPr>
        <a:xfrm>
          <a:off x="0" y="0"/>
          <a:ext cx="0" cy="0"/>
          <a:chOff x="0" y="0"/>
          <a:chExt cx="0" cy="0"/>
        </a:xfrm>
      </p:grpSpPr>
      <p:sp>
        <p:nvSpPr>
          <p:cNvPr id="88" name="Google Shape;88;p158"/>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158"/>
          <p:cNvSpPr txBox="1"/>
          <p:nvPr>
            <p:ph idx="1" type="body"/>
          </p:nvPr>
        </p:nvSpPr>
        <p:spPr>
          <a:xfrm rot="5400000">
            <a:off x="2583179" y="85514"/>
            <a:ext cx="4023360" cy="7543801"/>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0" name="Google Shape;90;p15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5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5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3" name="Shape 93"/>
        <p:cNvGrpSpPr/>
        <p:nvPr/>
      </p:nvGrpSpPr>
      <p:grpSpPr>
        <a:xfrm>
          <a:off x="0" y="0"/>
          <a:ext cx="0" cy="0"/>
          <a:chOff x="0" y="0"/>
          <a:chExt cx="0" cy="0"/>
        </a:xfrm>
      </p:grpSpPr>
      <p:sp>
        <p:nvSpPr>
          <p:cNvPr id="94" name="Google Shape;94;p159"/>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59"/>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59"/>
          <p:cNvSpPr txBox="1"/>
          <p:nvPr>
            <p:ph type="title"/>
          </p:nvPr>
        </p:nvSpPr>
        <p:spPr>
          <a:xfrm rot="5400000">
            <a:off x="4650802" y="2307652"/>
            <a:ext cx="5757421" cy="1971675"/>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59"/>
          <p:cNvSpPr txBox="1"/>
          <p:nvPr>
            <p:ph idx="1" type="body"/>
          </p:nvPr>
        </p:nvSpPr>
        <p:spPr>
          <a:xfrm rot="5400000">
            <a:off x="650303" y="393126"/>
            <a:ext cx="5757420" cy="5800725"/>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8" name="Google Shape;98;p15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5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5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8"/>
          <p:cNvSpPr/>
          <p:nvPr/>
        </p:nvSpPr>
        <p:spPr>
          <a:xfrm>
            <a:off x="0" y="6400800"/>
            <a:ext cx="9144001"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48"/>
          <p:cNvSpPr/>
          <p:nvPr/>
        </p:nvSpPr>
        <p:spPr>
          <a:xfrm>
            <a:off x="0" y="6334315"/>
            <a:ext cx="9144001" cy="6599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48"/>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48"/>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14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4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14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cxnSp>
        <p:nvCxnSpPr>
          <p:cNvPr id="17" name="Google Shape;17;p148"/>
          <p:cNvCxnSpPr/>
          <p:nvPr/>
        </p:nvCxnSpPr>
        <p:spPr>
          <a:xfrm>
            <a:off x="895149" y="1737845"/>
            <a:ext cx="747522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3.png"/><Relationship Id="rId6" Type="http://schemas.openxmlformats.org/officeDocument/2006/relationships/image" Target="../media/image14.jpg"/><Relationship Id="rId7"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1.png"/><Relationship Id="rId4" Type="http://schemas.openxmlformats.org/officeDocument/2006/relationships/image" Target="../media/image3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9.png"/><Relationship Id="rId4" Type="http://schemas.openxmlformats.org/officeDocument/2006/relationships/image" Target="../media/image16.png"/><Relationship Id="rId5" Type="http://schemas.openxmlformats.org/officeDocument/2006/relationships/image" Target="../media/image1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3.png"/><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2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2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25.png"/><Relationship Id="rId4" Type="http://schemas.openxmlformats.org/officeDocument/2006/relationships/image" Target="../media/image2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image" Target="../media/image28.gi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 Id="rId3" Type="http://schemas.openxmlformats.org/officeDocument/2006/relationships/image" Target="../media/image28.gi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 Id="rId3" Type="http://schemas.openxmlformats.org/officeDocument/2006/relationships/image" Target="../media/image3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 Id="rId3" Type="http://schemas.openxmlformats.org/officeDocument/2006/relationships/image" Target="../media/image31.png"/><Relationship Id="rId4" Type="http://schemas.openxmlformats.org/officeDocument/2006/relationships/image" Target="../media/image3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 Id="rId3" Type="http://schemas.openxmlformats.org/officeDocument/2006/relationships/image" Target="../media/image3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 Id="rId3" Type="http://schemas.openxmlformats.org/officeDocument/2006/relationships/image" Target="../media/image3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3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 Id="rId3" Type="http://schemas.openxmlformats.org/officeDocument/2006/relationships/image" Target="../media/image40.png"/><Relationship Id="rId4" Type="http://schemas.openxmlformats.org/officeDocument/2006/relationships/image" Target="../media/image3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3.xml"/><Relationship Id="rId3" Type="http://schemas.openxmlformats.org/officeDocument/2006/relationships/image" Target="../media/image4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42.png"/><Relationship Id="rId4" Type="http://schemas.openxmlformats.org/officeDocument/2006/relationships/image" Target="../media/image43.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4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3.xml"/><Relationship Id="rId3" Type="http://schemas.openxmlformats.org/officeDocument/2006/relationships/image" Target="../media/image4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4.xml"/><Relationship Id="rId3" Type="http://schemas.openxmlformats.org/officeDocument/2006/relationships/image" Target="../media/image4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4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52.png"/><Relationship Id="rId4" Type="http://schemas.openxmlformats.org/officeDocument/2006/relationships/image" Target="../media/image49.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5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4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5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51.png"/><Relationship Id="rId4" Type="http://schemas.openxmlformats.org/officeDocument/2006/relationships/image" Target="../media/image55.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5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5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54.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 Id="rId3" Type="http://schemas.openxmlformats.org/officeDocument/2006/relationships/image" Target="../media/image57.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6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image" Target="../media/image59.png"/><Relationship Id="rId4" Type="http://schemas.openxmlformats.org/officeDocument/2006/relationships/image" Target="../media/image58.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 Id="rId3" Type="http://schemas.openxmlformats.org/officeDocument/2006/relationships/image" Target="../media/image60.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 Id="rId3" Type="http://schemas.openxmlformats.org/officeDocument/2006/relationships/image" Target="../media/image6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 Id="rId3" Type="http://schemas.openxmlformats.org/officeDocument/2006/relationships/image" Target="../media/image6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 Id="rId3" Type="http://schemas.openxmlformats.org/officeDocument/2006/relationships/image" Target="../media/image68.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 Id="rId3" Type="http://schemas.openxmlformats.org/officeDocument/2006/relationships/image" Target="../media/image68.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6.xml"/><Relationship Id="rId3" Type="http://schemas.openxmlformats.org/officeDocument/2006/relationships/image" Target="../media/image67.jp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8.xml"/><Relationship Id="rId3" Type="http://schemas.openxmlformats.org/officeDocument/2006/relationships/image" Target="../media/image70.jp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 Id="rId3" Type="http://schemas.openxmlformats.org/officeDocument/2006/relationships/image" Target="../media/image65.jp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 Id="rId3" Type="http://schemas.openxmlformats.org/officeDocument/2006/relationships/image" Target="../media/image64.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 Id="rId3" Type="http://schemas.openxmlformats.org/officeDocument/2006/relationships/image" Target="../media/image66.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 Id="rId3" Type="http://schemas.openxmlformats.org/officeDocument/2006/relationships/image" Target="../media/image7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
          <p:cNvSpPr txBox="1"/>
          <p:nvPr>
            <p:ph type="ctr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4000"/>
              <a:buFont typeface="Calibri"/>
              <a:buNone/>
            </a:pPr>
            <a:r>
              <a:rPr b="1" lang="en-IN" sz="4000"/>
              <a:t>Introduction to System software </a:t>
            </a:r>
            <a:endParaRPr sz="4000"/>
          </a:p>
        </p:txBody>
      </p:sp>
      <p:sp>
        <p:nvSpPr>
          <p:cNvPr id="107" name="Google Shape;107;p1"/>
          <p:cNvSpPr txBox="1"/>
          <p:nvPr>
            <p:ph idx="1" type="subTitle"/>
          </p:nvPr>
        </p:nvSpPr>
        <p:spPr>
          <a:xfrm>
            <a:off x="1371600" y="5276800"/>
            <a:ext cx="6400800" cy="1752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lang="en-IN"/>
              <a:t>MODULE 1</a:t>
            </a:r>
            <a:endParaRPr/>
          </a:p>
        </p:txBody>
      </p:sp>
      <p:sp>
        <p:nvSpPr>
          <p:cNvPr id="108" name="Google Shape;108;p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09" name="Google Shape;109;p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10" name="Google Shape;110;p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
          <p:cNvSpPr txBox="1"/>
          <p:nvPr>
            <p:ph type="title"/>
          </p:nvPr>
        </p:nvSpPr>
        <p:spPr>
          <a:xfrm>
            <a:off x="467544" y="116632"/>
            <a:ext cx="8229600" cy="490066"/>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C00000"/>
              </a:buClr>
              <a:buSzPts val="3600"/>
              <a:buFont typeface="Calibri"/>
              <a:buNone/>
            </a:pPr>
            <a:r>
              <a:rPr lang="en-IN" sz="3600">
                <a:solidFill>
                  <a:srgbClr val="C00000"/>
                </a:solidFill>
              </a:rPr>
              <a:t>System programming</a:t>
            </a:r>
            <a:endParaRPr sz="3600">
              <a:solidFill>
                <a:srgbClr val="C00000"/>
              </a:solidFill>
            </a:endParaRPr>
          </a:p>
        </p:txBody>
      </p:sp>
      <p:sp>
        <p:nvSpPr>
          <p:cNvPr id="116" name="Google Shape;116;p2"/>
          <p:cNvSpPr txBox="1"/>
          <p:nvPr>
            <p:ph idx="1" type="body"/>
          </p:nvPr>
        </p:nvSpPr>
        <p:spPr>
          <a:xfrm>
            <a:off x="539552" y="620688"/>
            <a:ext cx="8229600" cy="3528392"/>
          </a:xfrm>
          <a:prstGeom prst="rect">
            <a:avLst/>
          </a:prstGeom>
          <a:noFill/>
          <a:ln>
            <a:noFill/>
          </a:ln>
        </p:spPr>
        <p:txBody>
          <a:bodyPr anchorCtr="0" anchor="t" bIns="45700" lIns="0" spcFirstLastPara="1" rIns="0" wrap="square" tIns="45700">
            <a:normAutofit fontScale="47500" lnSpcReduction="20000"/>
          </a:bodyPr>
          <a:lstStyle/>
          <a:p>
            <a:pPr indent="-108585" lvl="0" marL="91440" rtl="0" algn="l">
              <a:lnSpc>
                <a:spcPct val="90000"/>
              </a:lnSpc>
              <a:spcBef>
                <a:spcPts val="0"/>
              </a:spcBef>
              <a:spcAft>
                <a:spcPts val="0"/>
              </a:spcAft>
              <a:buSzPct val="100000"/>
              <a:buChar char=" "/>
            </a:pPr>
            <a:r>
              <a:rPr b="1" lang="en-IN" sz="3600"/>
              <a:t>System Programming</a:t>
            </a:r>
            <a:r>
              <a:rPr lang="en-IN" sz="3600"/>
              <a:t> can be defined as act of building Systems Software using System Programming Languages.</a:t>
            </a:r>
            <a:endParaRPr/>
          </a:p>
          <a:p>
            <a:pPr indent="-108585" lvl="0" marL="91440" rtl="0" algn="l">
              <a:lnSpc>
                <a:spcPct val="90000"/>
              </a:lnSpc>
              <a:spcBef>
                <a:spcPts val="1400"/>
              </a:spcBef>
              <a:spcAft>
                <a:spcPts val="0"/>
              </a:spcAft>
              <a:buSzPct val="100000"/>
              <a:buChar char=" "/>
            </a:pPr>
            <a:r>
              <a:rPr lang="en-IN" sz="3600"/>
              <a:t>According to Computer Hierarchy, one which comes at last is Hardware. Then it is System Programs, and finally Application Programs. </a:t>
            </a:r>
            <a:endParaRPr/>
          </a:p>
          <a:p>
            <a:pPr indent="-108585" lvl="0" marL="91440" rtl="0" algn="l">
              <a:lnSpc>
                <a:spcPct val="90000"/>
              </a:lnSpc>
              <a:spcBef>
                <a:spcPts val="1400"/>
              </a:spcBef>
              <a:spcAft>
                <a:spcPts val="0"/>
              </a:spcAft>
              <a:buSzPct val="100000"/>
              <a:buChar char=" "/>
            </a:pPr>
            <a:r>
              <a:rPr lang="en-IN" sz="3600"/>
              <a:t>System software serves as the </a:t>
            </a:r>
            <a:r>
              <a:rPr b="1" lang="en-IN" sz="3600"/>
              <a:t>interface between the hardware and the end users.</a:t>
            </a:r>
            <a:endParaRPr sz="3600"/>
          </a:p>
          <a:p>
            <a:pPr indent="-108585" lvl="0" marL="91440" rtl="0" algn="l">
              <a:lnSpc>
                <a:spcPct val="90000"/>
              </a:lnSpc>
              <a:spcBef>
                <a:spcPts val="1400"/>
              </a:spcBef>
              <a:spcAft>
                <a:spcPts val="0"/>
              </a:spcAft>
              <a:buSzPct val="100000"/>
              <a:buChar char=" "/>
            </a:pPr>
            <a:r>
              <a:rPr lang="en-IN" sz="3600"/>
              <a:t>There are two main types of software: systems software and application software. </a:t>
            </a:r>
            <a:endParaRPr/>
          </a:p>
          <a:p>
            <a:pPr indent="-182911" lvl="1" marL="384048" rtl="0" algn="l">
              <a:lnSpc>
                <a:spcPct val="90000"/>
              </a:lnSpc>
              <a:spcBef>
                <a:spcPts val="400"/>
              </a:spcBef>
              <a:spcAft>
                <a:spcPts val="0"/>
              </a:spcAft>
              <a:buSzPct val="100000"/>
              <a:buChar char="◦"/>
            </a:pPr>
            <a:r>
              <a:rPr lang="en-IN" sz="3300"/>
              <a:t>Systems software includes the programs that are dedicated to managing the computer itself.</a:t>
            </a:r>
            <a:endParaRPr/>
          </a:p>
          <a:p>
            <a:pPr indent="-182911" lvl="1" marL="384048" rtl="0" algn="l">
              <a:lnSpc>
                <a:spcPct val="90000"/>
              </a:lnSpc>
              <a:spcBef>
                <a:spcPts val="600"/>
              </a:spcBef>
              <a:spcAft>
                <a:spcPts val="0"/>
              </a:spcAft>
              <a:buSzPct val="100000"/>
              <a:buChar char="◦"/>
            </a:pPr>
            <a:r>
              <a:rPr lang="en-IN" sz="3300"/>
              <a:t>System Software is a set of programs that control and manage the operations of computer hardware. It also helps application programs to execute correctly</a:t>
            </a:r>
            <a:r>
              <a:rPr lang="en-IN"/>
              <a:t>.</a:t>
            </a:r>
            <a:endParaRPr/>
          </a:p>
          <a:p>
            <a:pPr indent="-91440" lvl="0" marL="91440" rtl="0" algn="l">
              <a:lnSpc>
                <a:spcPct val="90000"/>
              </a:lnSpc>
              <a:spcBef>
                <a:spcPts val="1600"/>
              </a:spcBef>
              <a:spcAft>
                <a:spcPts val="0"/>
              </a:spcAft>
              <a:buSzPct val="100000"/>
              <a:buChar char=" "/>
            </a:pPr>
            <a:r>
              <a:rPr lang="en-IN" sz="2400"/>
              <a:t> </a:t>
            </a:r>
            <a:endParaRPr/>
          </a:p>
          <a:p>
            <a:pPr indent="-19050" lvl="0" marL="91440" rtl="0" algn="l">
              <a:lnSpc>
                <a:spcPct val="90000"/>
              </a:lnSpc>
              <a:spcBef>
                <a:spcPts val="1400"/>
              </a:spcBef>
              <a:spcAft>
                <a:spcPts val="0"/>
              </a:spcAft>
              <a:buSzPct val="100000"/>
              <a:buNone/>
            </a:pPr>
            <a:r>
              <a:t/>
            </a:r>
            <a:endParaRPr sz="2400"/>
          </a:p>
          <a:p>
            <a:pPr indent="-19050" lvl="0" marL="91440" rtl="0" algn="l">
              <a:lnSpc>
                <a:spcPct val="90000"/>
              </a:lnSpc>
              <a:spcBef>
                <a:spcPts val="1400"/>
              </a:spcBef>
              <a:spcAft>
                <a:spcPts val="0"/>
              </a:spcAft>
              <a:buSzPct val="100000"/>
              <a:buNone/>
            </a:pPr>
            <a:r>
              <a:t/>
            </a:r>
            <a:endParaRPr sz="2400"/>
          </a:p>
        </p:txBody>
      </p:sp>
      <p:sp>
        <p:nvSpPr>
          <p:cNvPr id="117" name="Google Shape;117;p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18" name="Google Shape;118;p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19" name="Google Shape;119;p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descr="Picture" id="120" name="Google Shape;120;p2"/>
          <p:cNvPicPr preferRelativeResize="0"/>
          <p:nvPr/>
        </p:nvPicPr>
        <p:blipFill rotWithShape="1">
          <a:blip r:embed="rId3">
            <a:alphaModFix/>
          </a:blip>
          <a:srcRect b="0" l="0" r="0" t="0"/>
          <a:stretch/>
        </p:blipFill>
        <p:spPr>
          <a:xfrm>
            <a:off x="3419872" y="4194273"/>
            <a:ext cx="4715822" cy="2278014"/>
          </a:xfrm>
          <a:prstGeom prst="rect">
            <a:avLst/>
          </a:prstGeom>
          <a:noFill/>
          <a:ln>
            <a:noFill/>
          </a:ln>
        </p:spPr>
      </p:pic>
      <p:pic>
        <p:nvPicPr>
          <p:cNvPr descr="https://vivadifferences.com/wp-content/uploads/2019/10/Types-Of-Software.png" id="121" name="Google Shape;121;p2"/>
          <p:cNvPicPr preferRelativeResize="0"/>
          <p:nvPr/>
        </p:nvPicPr>
        <p:blipFill rotWithShape="1">
          <a:blip r:embed="rId4">
            <a:alphaModFix/>
          </a:blip>
          <a:srcRect b="0" l="0" r="30201" t="0"/>
          <a:stretch/>
        </p:blipFill>
        <p:spPr>
          <a:xfrm>
            <a:off x="0" y="4288862"/>
            <a:ext cx="3131840" cy="217861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ph type="title"/>
          </p:nvPr>
        </p:nvSpPr>
        <p:spPr>
          <a:xfrm>
            <a:off x="457200" y="274638"/>
            <a:ext cx="7067128" cy="418058"/>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2400"/>
              <a:buFont typeface="Calibri"/>
              <a:buNone/>
            </a:pPr>
            <a:r>
              <a:rPr lang="en-IN" sz="2400"/>
              <a:t>System Programs</a:t>
            </a:r>
            <a:endParaRPr sz="2400"/>
          </a:p>
        </p:txBody>
      </p:sp>
      <p:sp>
        <p:nvSpPr>
          <p:cNvPr id="127" name="Google Shape;127;p3"/>
          <p:cNvSpPr txBox="1"/>
          <p:nvPr>
            <p:ph idx="1" type="body"/>
          </p:nvPr>
        </p:nvSpPr>
        <p:spPr>
          <a:xfrm>
            <a:off x="683568" y="764704"/>
            <a:ext cx="7393632" cy="5636096"/>
          </a:xfrm>
          <a:prstGeom prst="rect">
            <a:avLst/>
          </a:prstGeom>
          <a:noFill/>
          <a:ln>
            <a:noFill/>
          </a:ln>
        </p:spPr>
        <p:txBody>
          <a:bodyPr anchorCtr="0" anchor="t" bIns="45700" lIns="0" spcFirstLastPara="1" rIns="0" wrap="square" tIns="45700">
            <a:noAutofit/>
          </a:bodyPr>
          <a:lstStyle/>
          <a:p>
            <a:pPr indent="0" lvl="0" marL="0" rtl="0" algn="l">
              <a:lnSpc>
                <a:spcPct val="90000"/>
              </a:lnSpc>
              <a:spcBef>
                <a:spcPts val="0"/>
              </a:spcBef>
              <a:spcAft>
                <a:spcPts val="0"/>
              </a:spcAft>
              <a:buSzPts val="2400"/>
              <a:buNone/>
            </a:pPr>
            <a:r>
              <a:rPr lang="en-IN" sz="2400"/>
              <a:t>Various System Programs are :</a:t>
            </a:r>
            <a:endParaRPr/>
          </a:p>
          <a:p>
            <a:pPr indent="-152400" lvl="0" marL="91440" rtl="0" algn="l">
              <a:lnSpc>
                <a:spcPct val="90000"/>
              </a:lnSpc>
              <a:spcBef>
                <a:spcPts val="1400"/>
              </a:spcBef>
              <a:spcAft>
                <a:spcPts val="0"/>
              </a:spcAft>
              <a:buSzPts val="2400"/>
              <a:buChar char=" "/>
            </a:pPr>
            <a:r>
              <a:rPr lang="en-IN" sz="2400"/>
              <a:t>Assemblers</a:t>
            </a:r>
            <a:endParaRPr/>
          </a:p>
          <a:p>
            <a:pPr indent="-152400" lvl="0" marL="91440" rtl="0" algn="l">
              <a:lnSpc>
                <a:spcPct val="90000"/>
              </a:lnSpc>
              <a:spcBef>
                <a:spcPts val="1400"/>
              </a:spcBef>
              <a:spcAft>
                <a:spcPts val="0"/>
              </a:spcAft>
              <a:buSzPts val="2400"/>
              <a:buChar char=" "/>
            </a:pPr>
            <a:r>
              <a:rPr lang="en-IN" sz="2400"/>
              <a:t>Loaders</a:t>
            </a:r>
            <a:endParaRPr/>
          </a:p>
          <a:p>
            <a:pPr indent="-152400" lvl="0" marL="91440" rtl="0" algn="l">
              <a:lnSpc>
                <a:spcPct val="90000"/>
              </a:lnSpc>
              <a:spcBef>
                <a:spcPts val="1400"/>
              </a:spcBef>
              <a:spcAft>
                <a:spcPts val="0"/>
              </a:spcAft>
              <a:buSzPts val="2400"/>
              <a:buChar char=" "/>
            </a:pPr>
            <a:r>
              <a:rPr lang="en-IN" sz="2400"/>
              <a:t>Linkers</a:t>
            </a:r>
            <a:endParaRPr/>
          </a:p>
          <a:p>
            <a:pPr indent="-152400" lvl="0" marL="91440" rtl="0" algn="l">
              <a:lnSpc>
                <a:spcPct val="90000"/>
              </a:lnSpc>
              <a:spcBef>
                <a:spcPts val="1400"/>
              </a:spcBef>
              <a:spcAft>
                <a:spcPts val="0"/>
              </a:spcAft>
              <a:buSzPts val="2400"/>
              <a:buChar char=" "/>
            </a:pPr>
            <a:r>
              <a:rPr lang="en-IN" sz="2400"/>
              <a:t>Macro processor</a:t>
            </a:r>
            <a:endParaRPr/>
          </a:p>
          <a:p>
            <a:pPr indent="-152400" lvl="0" marL="91440" rtl="0" algn="l">
              <a:lnSpc>
                <a:spcPct val="90000"/>
              </a:lnSpc>
              <a:spcBef>
                <a:spcPts val="1400"/>
              </a:spcBef>
              <a:spcAft>
                <a:spcPts val="0"/>
              </a:spcAft>
              <a:buSzPts val="2400"/>
              <a:buChar char=" "/>
            </a:pPr>
            <a:r>
              <a:rPr lang="en-IN" sz="2400"/>
              <a:t>Compiler</a:t>
            </a:r>
            <a:endParaRPr/>
          </a:p>
          <a:p>
            <a:pPr indent="-152400" lvl="0" marL="91440" rtl="0" algn="l">
              <a:lnSpc>
                <a:spcPct val="90000"/>
              </a:lnSpc>
              <a:spcBef>
                <a:spcPts val="1400"/>
              </a:spcBef>
              <a:spcAft>
                <a:spcPts val="0"/>
              </a:spcAft>
              <a:buSzPts val="2400"/>
              <a:buChar char=" "/>
            </a:pPr>
            <a:r>
              <a:rPr lang="en-IN" sz="2400"/>
              <a:t>Interpreter</a:t>
            </a:r>
            <a:endParaRPr/>
          </a:p>
          <a:p>
            <a:pPr indent="-152400" lvl="0" marL="91440" rtl="0" algn="l">
              <a:lnSpc>
                <a:spcPct val="90000"/>
              </a:lnSpc>
              <a:spcBef>
                <a:spcPts val="1400"/>
              </a:spcBef>
              <a:spcAft>
                <a:spcPts val="0"/>
              </a:spcAft>
              <a:buSzPts val="2400"/>
              <a:buChar char=" "/>
            </a:pPr>
            <a:r>
              <a:rPr lang="en-IN" sz="2400"/>
              <a:t>Operating System</a:t>
            </a:r>
            <a:endParaRPr/>
          </a:p>
          <a:p>
            <a:pPr indent="-152400" lvl="0" marL="91440" rtl="0" algn="l">
              <a:lnSpc>
                <a:spcPct val="90000"/>
              </a:lnSpc>
              <a:spcBef>
                <a:spcPts val="1400"/>
              </a:spcBef>
              <a:spcAft>
                <a:spcPts val="0"/>
              </a:spcAft>
              <a:buSzPts val="2400"/>
              <a:buChar char=" "/>
            </a:pPr>
            <a:r>
              <a:rPr lang="en-IN" sz="2400"/>
              <a:t>Device drivers</a:t>
            </a:r>
            <a:endParaRPr sz="2400"/>
          </a:p>
        </p:txBody>
      </p:sp>
      <p:sp>
        <p:nvSpPr>
          <p:cNvPr id="128" name="Google Shape;128;p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29" name="Google Shape;129;p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30" name="Google Shape;130;p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4"/>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200"/>
              <a:buFont typeface="Calibri"/>
              <a:buNone/>
            </a:pPr>
            <a:r>
              <a:rPr b="1" lang="en-IN" sz="3200"/>
              <a:t>Macro Processors or Pre Processors</a:t>
            </a:r>
            <a:endParaRPr b="1" sz="3200"/>
          </a:p>
        </p:txBody>
      </p:sp>
      <p:sp>
        <p:nvSpPr>
          <p:cNvPr id="136" name="Google Shape;136;p4"/>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lang="en-IN" sz="2400"/>
              <a:t>As the name suggests Preprocessors are programs that process our source code before compilation</a:t>
            </a:r>
            <a:r>
              <a:rPr lang="en-IN" sz="2800"/>
              <a:t>. </a:t>
            </a:r>
            <a:endParaRPr sz="2800"/>
          </a:p>
          <a:p>
            <a:pPr indent="0" lvl="0" marL="91440" rtl="0" algn="l">
              <a:lnSpc>
                <a:spcPct val="90000"/>
              </a:lnSpc>
              <a:spcBef>
                <a:spcPts val="1400"/>
              </a:spcBef>
              <a:spcAft>
                <a:spcPts val="0"/>
              </a:spcAft>
              <a:buSzPts val="2000"/>
              <a:buNone/>
            </a:pPr>
            <a:r>
              <a:t/>
            </a:r>
            <a:endParaRPr/>
          </a:p>
        </p:txBody>
      </p:sp>
      <p:sp>
        <p:nvSpPr>
          <p:cNvPr id="137" name="Google Shape;137;p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38" name="Google Shape;138;p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39" name="Google Shape;139;p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140" name="Google Shape;140;p4"/>
          <p:cNvPicPr preferRelativeResize="0"/>
          <p:nvPr/>
        </p:nvPicPr>
        <p:blipFill rotWithShape="1">
          <a:blip r:embed="rId3">
            <a:alphaModFix/>
          </a:blip>
          <a:srcRect b="0" l="0" r="0" t="0"/>
          <a:stretch/>
        </p:blipFill>
        <p:spPr>
          <a:xfrm>
            <a:off x="341530" y="2708920"/>
            <a:ext cx="6966774" cy="331236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5"/>
          <p:cNvSpPr txBox="1"/>
          <p:nvPr>
            <p:ph type="title"/>
          </p:nvPr>
        </p:nvSpPr>
        <p:spPr>
          <a:xfrm>
            <a:off x="457200" y="274638"/>
            <a:ext cx="7427168" cy="490066"/>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2800"/>
              <a:buFont typeface="Calibri"/>
              <a:buNone/>
            </a:pPr>
            <a:r>
              <a:rPr b="1" lang="en-IN" sz="2800"/>
              <a:t>Macro Processors or Pre Processors</a:t>
            </a:r>
            <a:endParaRPr sz="2800"/>
          </a:p>
        </p:txBody>
      </p:sp>
      <p:sp>
        <p:nvSpPr>
          <p:cNvPr id="146" name="Google Shape;146;p5"/>
          <p:cNvSpPr txBox="1"/>
          <p:nvPr>
            <p:ph idx="1" type="body"/>
          </p:nvPr>
        </p:nvSpPr>
        <p:spPr>
          <a:xfrm>
            <a:off x="457200" y="980728"/>
            <a:ext cx="7620000" cy="5420072"/>
          </a:xfrm>
          <a:prstGeom prst="rect">
            <a:avLst/>
          </a:prstGeom>
          <a:noFill/>
          <a:ln>
            <a:noFill/>
          </a:ln>
        </p:spPr>
        <p:txBody>
          <a:bodyPr anchorCtr="0" anchor="t" bIns="45700" lIns="0" spcFirstLastPara="1" rIns="0" wrap="square" tIns="45700">
            <a:normAutofit lnSpcReduction="10000"/>
          </a:bodyPr>
          <a:lstStyle/>
          <a:p>
            <a:pPr indent="0" lvl="0" marL="0" rtl="0" algn="l">
              <a:lnSpc>
                <a:spcPct val="90000"/>
              </a:lnSpc>
              <a:spcBef>
                <a:spcPts val="0"/>
              </a:spcBef>
              <a:spcAft>
                <a:spcPts val="0"/>
              </a:spcAft>
              <a:buSzPts val="2400"/>
              <a:buNone/>
            </a:pPr>
            <a:r>
              <a:rPr b="1" lang="en-IN" sz="2400"/>
              <a:t>There are 4 main types of pre-processor directives:</a:t>
            </a:r>
            <a:endParaRPr sz="2400"/>
          </a:p>
          <a:p>
            <a:pPr indent="-152400" lvl="0" marL="91440" rtl="0" algn="l">
              <a:lnSpc>
                <a:spcPct val="90000"/>
              </a:lnSpc>
              <a:spcBef>
                <a:spcPts val="1400"/>
              </a:spcBef>
              <a:spcAft>
                <a:spcPts val="0"/>
              </a:spcAft>
              <a:buSzPts val="2400"/>
              <a:buChar char=" "/>
            </a:pPr>
            <a:r>
              <a:rPr lang="en-IN" sz="2400"/>
              <a:t>Macros</a:t>
            </a:r>
            <a:endParaRPr sz="2400"/>
          </a:p>
          <a:p>
            <a:pPr indent="-152400" lvl="0" marL="91440" rtl="0" algn="l">
              <a:lnSpc>
                <a:spcPct val="90000"/>
              </a:lnSpc>
              <a:spcBef>
                <a:spcPts val="1400"/>
              </a:spcBef>
              <a:spcAft>
                <a:spcPts val="0"/>
              </a:spcAft>
              <a:buSzPts val="2400"/>
              <a:buChar char=" "/>
            </a:pPr>
            <a:r>
              <a:rPr lang="en-IN" sz="2400"/>
              <a:t>File Inclusion</a:t>
            </a:r>
            <a:endParaRPr/>
          </a:p>
          <a:p>
            <a:pPr indent="-152400" lvl="0" marL="91440" rtl="0" algn="l">
              <a:lnSpc>
                <a:spcPct val="90000"/>
              </a:lnSpc>
              <a:spcBef>
                <a:spcPts val="1400"/>
              </a:spcBef>
              <a:spcAft>
                <a:spcPts val="0"/>
              </a:spcAft>
              <a:buSzPts val="2400"/>
              <a:buChar char=" "/>
            </a:pPr>
            <a:r>
              <a:rPr lang="en-IN" sz="2400"/>
              <a:t>Conditional Compilation</a:t>
            </a:r>
            <a:endParaRPr/>
          </a:p>
          <a:p>
            <a:pPr indent="-152400" lvl="0" marL="91440" rtl="0" algn="l">
              <a:lnSpc>
                <a:spcPct val="90000"/>
              </a:lnSpc>
              <a:spcBef>
                <a:spcPts val="1400"/>
              </a:spcBef>
              <a:spcAft>
                <a:spcPts val="0"/>
              </a:spcAft>
              <a:buSzPts val="2400"/>
              <a:buChar char=" "/>
            </a:pPr>
            <a:r>
              <a:rPr lang="en-IN" sz="2400"/>
              <a:t>Other directives</a:t>
            </a:r>
            <a:endParaRPr/>
          </a:p>
          <a:p>
            <a:pPr indent="0" lvl="0" marL="114300" rtl="0" algn="l">
              <a:lnSpc>
                <a:spcPct val="90000"/>
              </a:lnSpc>
              <a:spcBef>
                <a:spcPts val="1400"/>
              </a:spcBef>
              <a:spcAft>
                <a:spcPts val="0"/>
              </a:spcAft>
              <a:buSzPts val="2400"/>
              <a:buNone/>
            </a:pPr>
            <a:r>
              <a:rPr lang="en-IN" sz="2400"/>
              <a:t>Macros are a piece of code in a program which is given some name. Whenever this name is encountered by the compiler </a:t>
            </a:r>
            <a:endParaRPr/>
          </a:p>
          <a:p>
            <a:pPr indent="-182880" lvl="1" marL="384048" rtl="0" algn="l">
              <a:lnSpc>
                <a:spcPct val="90000"/>
              </a:lnSpc>
              <a:spcBef>
                <a:spcPts val="400"/>
              </a:spcBef>
              <a:spcAft>
                <a:spcPts val="0"/>
              </a:spcAft>
              <a:buSzPts val="2400"/>
              <a:buChar char="◦"/>
            </a:pPr>
            <a:r>
              <a:rPr lang="en-IN" sz="2400"/>
              <a:t>The compiler replaces the name with the actual piece of code. </a:t>
            </a:r>
            <a:endParaRPr/>
          </a:p>
          <a:p>
            <a:pPr indent="-182880" lvl="1" marL="384048" rtl="0" algn="l">
              <a:lnSpc>
                <a:spcPct val="90000"/>
              </a:lnSpc>
              <a:spcBef>
                <a:spcPts val="600"/>
              </a:spcBef>
              <a:spcAft>
                <a:spcPts val="0"/>
              </a:spcAft>
              <a:buSzPts val="2400"/>
              <a:buChar char="◦"/>
            </a:pPr>
            <a:r>
              <a:rPr lang="en-IN" sz="2400"/>
              <a:t>I.E. It replaces the name with the definition of the macro</a:t>
            </a:r>
            <a:endParaRPr/>
          </a:p>
          <a:p>
            <a:pPr indent="-152400" lvl="0" marL="91440" rtl="0" algn="l">
              <a:lnSpc>
                <a:spcPct val="90000"/>
              </a:lnSpc>
              <a:spcBef>
                <a:spcPts val="1600"/>
              </a:spcBef>
              <a:spcAft>
                <a:spcPts val="0"/>
              </a:spcAft>
              <a:buSzPts val="2400"/>
              <a:buChar char=" "/>
            </a:pPr>
            <a:r>
              <a:rPr lang="en-IN" sz="2400">
                <a:solidFill>
                  <a:srgbClr val="FF0000"/>
                </a:solidFill>
              </a:rPr>
              <a:t>The ‘#define’ directive is used to define a macro.</a:t>
            </a:r>
            <a:endParaRPr/>
          </a:p>
          <a:p>
            <a:pPr indent="-152400" lvl="0" marL="91440" rtl="0" algn="l">
              <a:lnSpc>
                <a:spcPct val="90000"/>
              </a:lnSpc>
              <a:spcBef>
                <a:spcPts val="1400"/>
              </a:spcBef>
              <a:spcAft>
                <a:spcPts val="0"/>
              </a:spcAft>
              <a:buSzPts val="2400"/>
              <a:buChar char=" "/>
            </a:pPr>
            <a:r>
              <a:rPr lang="en-IN" sz="2400"/>
              <a:t>Macro definitions need not be terminated by semi-colon(</a:t>
            </a:r>
            <a:r>
              <a:rPr b="1" lang="en-IN" sz="2400"/>
              <a:t>;</a:t>
            </a:r>
            <a:r>
              <a:rPr lang="en-IN" sz="2400"/>
              <a:t>).</a:t>
            </a:r>
            <a:endParaRPr/>
          </a:p>
          <a:p>
            <a:pPr indent="0" lvl="0" marL="91440" rtl="0" algn="l">
              <a:lnSpc>
                <a:spcPct val="90000"/>
              </a:lnSpc>
              <a:spcBef>
                <a:spcPts val="1400"/>
              </a:spcBef>
              <a:spcAft>
                <a:spcPts val="0"/>
              </a:spcAft>
              <a:buSzPts val="2400"/>
              <a:buNone/>
            </a:pPr>
            <a:r>
              <a:t/>
            </a:r>
            <a:endParaRPr sz="2400"/>
          </a:p>
          <a:p>
            <a:pPr indent="0" lvl="0" marL="91440" rtl="0" algn="l">
              <a:lnSpc>
                <a:spcPct val="90000"/>
              </a:lnSpc>
              <a:spcBef>
                <a:spcPts val="1400"/>
              </a:spcBef>
              <a:spcAft>
                <a:spcPts val="0"/>
              </a:spcAft>
              <a:buSzPts val="2000"/>
              <a:buNone/>
            </a:pPr>
            <a:r>
              <a:t/>
            </a:r>
            <a:endParaRPr/>
          </a:p>
        </p:txBody>
      </p:sp>
      <p:sp>
        <p:nvSpPr>
          <p:cNvPr id="147" name="Google Shape;147;p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48" name="Google Shape;148;p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49" name="Google Shape;149;p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6"/>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b="1" lang="en-IN"/>
              <a:t>Macros</a:t>
            </a:r>
            <a:endParaRPr/>
          </a:p>
        </p:txBody>
      </p:sp>
      <p:sp>
        <p:nvSpPr>
          <p:cNvPr id="155" name="Google Shape;155;p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56" name="Google Shape;156;p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57" name="Google Shape;157;p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58" name="Google Shape;158;p6"/>
          <p:cNvSpPr txBox="1"/>
          <p:nvPr/>
        </p:nvSpPr>
        <p:spPr>
          <a:xfrm>
            <a:off x="827584" y="1340768"/>
            <a:ext cx="8011616" cy="4937795"/>
          </a:xfrm>
          <a:prstGeom prst="rect">
            <a:avLst/>
          </a:prstGeom>
          <a:noFill/>
          <a:ln>
            <a:noFill/>
          </a:ln>
        </p:spPr>
        <p:txBody>
          <a:bodyPr anchorCtr="0" anchor="t" bIns="45700" lIns="91425" spcFirstLastPara="1" rIns="91425" wrap="square" tIns="45700">
            <a:normAutofit fontScale="62500" lnSpcReduction="20000"/>
          </a:bodyPr>
          <a:lstStyle/>
          <a:p>
            <a:pPr indent="0" lvl="0" marL="0" marR="0" rtl="0" algn="l">
              <a:spcBef>
                <a:spcPts val="0"/>
              </a:spcBef>
              <a:spcAft>
                <a:spcPts val="0"/>
              </a:spcAft>
              <a:buClr>
                <a:schemeClr val="dk1"/>
              </a:buClr>
              <a:buSzPct val="100000"/>
              <a:buFont typeface="Arial"/>
              <a:buNone/>
            </a:pPr>
            <a:r>
              <a:rPr b="0" i="0" lang="en-IN" sz="3500" u="none" cap="none" strike="noStrike">
                <a:solidFill>
                  <a:schemeClr val="dk1"/>
                </a:solidFill>
                <a:latin typeface="Calibri"/>
                <a:ea typeface="Calibri"/>
                <a:cs typeface="Calibri"/>
                <a:sym typeface="Calibri"/>
              </a:rPr>
              <a:t>C program to illustrate macros</a:t>
            </a:r>
            <a:endParaRPr/>
          </a:p>
          <a:p>
            <a:pPr indent="0" lvl="0" marL="0" marR="0" rtl="0" algn="l">
              <a:spcBef>
                <a:spcPts val="437"/>
              </a:spcBef>
              <a:spcAft>
                <a:spcPts val="0"/>
              </a:spcAft>
              <a:buClr>
                <a:schemeClr val="dk1"/>
              </a:buClr>
              <a:buSzPct val="100000"/>
              <a:buFont typeface="Arial"/>
              <a:buNone/>
            </a:pPr>
            <a:r>
              <a:t/>
            </a:r>
            <a:endParaRPr b="0" i="0" sz="3500" u="none" cap="none" strike="noStrike">
              <a:solidFill>
                <a:schemeClr val="dk1"/>
              </a:solidFill>
              <a:latin typeface="Calibri"/>
              <a:ea typeface="Calibri"/>
              <a:cs typeface="Calibri"/>
              <a:sym typeface="Calibri"/>
            </a:endParaRPr>
          </a:p>
          <a:p>
            <a:pPr indent="0" lvl="0" marL="0" marR="0" rtl="0" algn="l">
              <a:spcBef>
                <a:spcPts val="437"/>
              </a:spcBef>
              <a:spcAft>
                <a:spcPts val="0"/>
              </a:spcAft>
              <a:buClr>
                <a:schemeClr val="dk1"/>
              </a:buClr>
              <a:buSzPct val="100000"/>
              <a:buFont typeface="Arial"/>
              <a:buNone/>
            </a:pPr>
            <a:r>
              <a:rPr b="0" i="0" lang="en-IN" sz="3500" u="none" cap="none" strike="noStrike">
                <a:solidFill>
                  <a:schemeClr val="dk1"/>
                </a:solidFill>
                <a:latin typeface="Calibri"/>
                <a:ea typeface="Calibri"/>
                <a:cs typeface="Calibri"/>
                <a:sym typeface="Calibri"/>
              </a:rPr>
              <a:t>#include &lt;stdio.h&gt;</a:t>
            </a:r>
            <a:endParaRPr/>
          </a:p>
          <a:p>
            <a:pPr indent="0" lvl="0" marL="0" marR="0" rtl="0" algn="l">
              <a:spcBef>
                <a:spcPts val="437"/>
              </a:spcBef>
              <a:spcAft>
                <a:spcPts val="0"/>
              </a:spcAft>
              <a:buClr>
                <a:schemeClr val="dk1"/>
              </a:buClr>
              <a:buSzPct val="100000"/>
              <a:buFont typeface="Arial"/>
              <a:buNone/>
            </a:pPr>
            <a:r>
              <a:t/>
            </a:r>
            <a:endParaRPr b="0" i="0" sz="3500" u="none" cap="none" strike="noStrike">
              <a:solidFill>
                <a:schemeClr val="dk1"/>
              </a:solidFill>
              <a:latin typeface="Calibri"/>
              <a:ea typeface="Calibri"/>
              <a:cs typeface="Calibri"/>
              <a:sym typeface="Calibri"/>
            </a:endParaRPr>
          </a:p>
          <a:p>
            <a:pPr indent="0" lvl="0" marL="0" marR="0" rtl="0" algn="l">
              <a:spcBef>
                <a:spcPts val="437"/>
              </a:spcBef>
              <a:spcAft>
                <a:spcPts val="0"/>
              </a:spcAft>
              <a:buClr>
                <a:schemeClr val="dk1"/>
              </a:buClr>
              <a:buSzPct val="100000"/>
              <a:buFont typeface="Arial"/>
              <a:buNone/>
            </a:pPr>
            <a:r>
              <a:rPr b="0" i="0" lang="en-IN" sz="3500" u="none" cap="none" strike="noStrike">
                <a:solidFill>
                  <a:schemeClr val="dk1"/>
                </a:solidFill>
                <a:latin typeface="Calibri"/>
                <a:ea typeface="Calibri"/>
                <a:cs typeface="Calibri"/>
                <a:sym typeface="Calibri"/>
              </a:rPr>
              <a:t>// Macro definition</a:t>
            </a:r>
            <a:endParaRPr/>
          </a:p>
          <a:p>
            <a:pPr indent="0" lvl="0" marL="0" marR="0" rtl="0" algn="l">
              <a:spcBef>
                <a:spcPts val="437"/>
              </a:spcBef>
              <a:spcAft>
                <a:spcPts val="0"/>
              </a:spcAft>
              <a:buClr>
                <a:schemeClr val="dk1"/>
              </a:buClr>
              <a:buSzPct val="100000"/>
              <a:buFont typeface="Arial"/>
              <a:buNone/>
            </a:pPr>
            <a:r>
              <a:rPr b="0" i="0" lang="en-IN" sz="3500" u="none" cap="none" strike="noStrike">
                <a:solidFill>
                  <a:schemeClr val="dk1"/>
                </a:solidFill>
                <a:latin typeface="Calibri"/>
                <a:ea typeface="Calibri"/>
                <a:cs typeface="Calibri"/>
                <a:sym typeface="Calibri"/>
              </a:rPr>
              <a:t>#define LIMIT 5</a:t>
            </a:r>
            <a:endParaRPr/>
          </a:p>
          <a:p>
            <a:pPr indent="0" lvl="0" marL="0" marR="0" rtl="0" algn="l">
              <a:spcBef>
                <a:spcPts val="437"/>
              </a:spcBef>
              <a:spcAft>
                <a:spcPts val="0"/>
              </a:spcAft>
              <a:buClr>
                <a:schemeClr val="dk1"/>
              </a:buClr>
              <a:buSzPct val="100000"/>
              <a:buFont typeface="Arial"/>
              <a:buNone/>
            </a:pPr>
            <a:r>
              <a:rPr b="0" i="0" lang="en-IN" sz="3500" u="none" cap="none" strike="noStrike">
                <a:solidFill>
                  <a:schemeClr val="dk1"/>
                </a:solidFill>
                <a:latin typeface="Calibri"/>
                <a:ea typeface="Calibri"/>
                <a:cs typeface="Calibri"/>
                <a:sym typeface="Calibri"/>
              </a:rPr>
              <a:t>int main()</a:t>
            </a:r>
            <a:endParaRPr/>
          </a:p>
          <a:p>
            <a:pPr indent="0" lvl="0" marL="0" marR="0" rtl="0" algn="l">
              <a:spcBef>
                <a:spcPts val="437"/>
              </a:spcBef>
              <a:spcAft>
                <a:spcPts val="0"/>
              </a:spcAft>
              <a:buClr>
                <a:schemeClr val="dk1"/>
              </a:buClr>
              <a:buSzPct val="100000"/>
              <a:buFont typeface="Arial"/>
              <a:buNone/>
            </a:pPr>
            <a:r>
              <a:rPr b="0" i="0" lang="en-IN" sz="3500" u="none" cap="none" strike="noStrike">
                <a:solidFill>
                  <a:schemeClr val="dk1"/>
                </a:solidFill>
                <a:latin typeface="Calibri"/>
                <a:ea typeface="Calibri"/>
                <a:cs typeface="Calibri"/>
                <a:sym typeface="Calibri"/>
              </a:rPr>
              <a:t>{</a:t>
            </a:r>
            <a:endParaRPr/>
          </a:p>
          <a:p>
            <a:pPr indent="0" lvl="0" marL="0" marR="0" rtl="0" algn="l">
              <a:spcBef>
                <a:spcPts val="437"/>
              </a:spcBef>
              <a:spcAft>
                <a:spcPts val="0"/>
              </a:spcAft>
              <a:buClr>
                <a:schemeClr val="dk1"/>
              </a:buClr>
              <a:buSzPct val="100000"/>
              <a:buFont typeface="Arial"/>
              <a:buNone/>
            </a:pPr>
            <a:r>
              <a:rPr b="0" i="0" lang="en-IN" sz="3500" u="none" cap="none" strike="noStrike">
                <a:solidFill>
                  <a:schemeClr val="dk1"/>
                </a:solidFill>
                <a:latin typeface="Calibri"/>
                <a:ea typeface="Calibri"/>
                <a:cs typeface="Calibri"/>
                <a:sym typeface="Calibri"/>
              </a:rPr>
              <a:t>	// Print the value of macro defined</a:t>
            </a:r>
            <a:endParaRPr/>
          </a:p>
          <a:p>
            <a:pPr indent="0" lvl="0" marL="0" marR="0" rtl="0" algn="l">
              <a:spcBef>
                <a:spcPts val="437"/>
              </a:spcBef>
              <a:spcAft>
                <a:spcPts val="0"/>
              </a:spcAft>
              <a:buClr>
                <a:schemeClr val="dk1"/>
              </a:buClr>
              <a:buSzPct val="100000"/>
              <a:buFont typeface="Arial"/>
              <a:buNone/>
            </a:pPr>
            <a:r>
              <a:rPr b="0" i="0" lang="en-IN" sz="3500" u="none" cap="none" strike="noStrike">
                <a:solidFill>
                  <a:schemeClr val="dk1"/>
                </a:solidFill>
                <a:latin typeface="Calibri"/>
                <a:ea typeface="Calibri"/>
                <a:cs typeface="Calibri"/>
                <a:sym typeface="Calibri"/>
              </a:rPr>
              <a:t>	printf("The value of LIMIT is %d", LIMIT);</a:t>
            </a:r>
            <a:endParaRPr/>
          </a:p>
          <a:p>
            <a:pPr indent="0" lvl="0" marL="0" marR="0" rtl="0" algn="l">
              <a:spcBef>
                <a:spcPts val="437"/>
              </a:spcBef>
              <a:spcAft>
                <a:spcPts val="0"/>
              </a:spcAft>
              <a:buClr>
                <a:schemeClr val="dk1"/>
              </a:buClr>
              <a:buSzPct val="100000"/>
              <a:buFont typeface="Arial"/>
              <a:buNone/>
            </a:pPr>
            <a:r>
              <a:rPr b="0" i="0" lang="en-IN" sz="3500" u="none" cap="none" strike="noStrike">
                <a:solidFill>
                  <a:schemeClr val="dk1"/>
                </a:solidFill>
                <a:latin typeface="Calibri"/>
                <a:ea typeface="Calibri"/>
                <a:cs typeface="Calibri"/>
                <a:sym typeface="Calibri"/>
              </a:rPr>
              <a:t>	return 0;</a:t>
            </a:r>
            <a:endParaRPr/>
          </a:p>
          <a:p>
            <a:pPr indent="0" lvl="0" marL="0" marR="0" rtl="0" algn="l">
              <a:spcBef>
                <a:spcPts val="437"/>
              </a:spcBef>
              <a:spcAft>
                <a:spcPts val="0"/>
              </a:spcAft>
              <a:buClr>
                <a:schemeClr val="dk1"/>
              </a:buClr>
              <a:buSzPct val="100000"/>
              <a:buFont typeface="Arial"/>
              <a:buNone/>
            </a:pPr>
            <a:r>
              <a:rPr b="0" i="0" lang="en-IN" sz="3500" u="none" cap="none" strike="noStrike">
                <a:solidFill>
                  <a:schemeClr val="dk1"/>
                </a:solidFill>
                <a:latin typeface="Calibri"/>
                <a:ea typeface="Calibri"/>
                <a:cs typeface="Calibri"/>
                <a:sym typeface="Calibri"/>
              </a:rPr>
              <a:t>}</a:t>
            </a:r>
            <a:endParaRPr/>
          </a:p>
          <a:p>
            <a:pPr indent="0" lvl="0" marL="0" marR="0" rtl="0" algn="l">
              <a:spcBef>
                <a:spcPts val="400"/>
              </a:spcBef>
              <a:spcAft>
                <a:spcPts val="0"/>
              </a:spcAft>
              <a:buClr>
                <a:schemeClr val="dk1"/>
              </a:buClr>
              <a:buSzPct val="100000"/>
              <a:buFont typeface="Arial"/>
              <a:buNone/>
            </a:pPr>
            <a:r>
              <a:rPr b="0" i="0" lang="en-IN" sz="3200" u="none" cap="none" strike="noStrike">
                <a:solidFill>
                  <a:schemeClr val="dk1"/>
                </a:solidFill>
                <a:latin typeface="Calibri"/>
                <a:ea typeface="Calibri"/>
                <a:cs typeface="Calibri"/>
                <a:sym typeface="Calibri"/>
              </a:rPr>
              <a:t>Output-</a:t>
            </a:r>
            <a:endParaRPr/>
          </a:p>
          <a:p>
            <a:pPr indent="0" lvl="0" marL="0" marR="0" rtl="0" algn="l">
              <a:spcBef>
                <a:spcPts val="400"/>
              </a:spcBef>
              <a:spcAft>
                <a:spcPts val="0"/>
              </a:spcAft>
              <a:buClr>
                <a:schemeClr val="dk1"/>
              </a:buClr>
              <a:buSzPct val="100000"/>
              <a:buFont typeface="Arial"/>
              <a:buNone/>
            </a:pPr>
            <a:r>
              <a:rPr b="0" i="0" lang="en-IN" sz="3200" u="none" cap="none" strike="noStrike">
                <a:solidFill>
                  <a:schemeClr val="dk1"/>
                </a:solidFill>
                <a:latin typeface="Calibri"/>
                <a:ea typeface="Calibri"/>
                <a:cs typeface="Calibri"/>
                <a:sym typeface="Calibri"/>
              </a:rPr>
              <a:t>The value of LIMIT is 5</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7"/>
          <p:cNvSpPr txBox="1"/>
          <p:nvPr>
            <p:ph type="title"/>
          </p:nvPr>
        </p:nvSpPr>
        <p:spPr>
          <a:xfrm>
            <a:off x="457200" y="274638"/>
            <a:ext cx="8229600" cy="490066"/>
          </a:xfrm>
          <a:prstGeom prst="rect">
            <a:avLst/>
          </a:prstGeom>
          <a:noFill/>
          <a:ln>
            <a:noFill/>
          </a:ln>
        </p:spPr>
        <p:txBody>
          <a:bodyPr anchorCtr="0" anchor="b" bIns="45700" lIns="91425" spcFirstLastPara="1" rIns="91425" wrap="square" tIns="45700">
            <a:noAutofit/>
          </a:bodyPr>
          <a:lstStyle/>
          <a:p>
            <a:pPr indent="0" lvl="0" marL="0" rtl="0" algn="ctr">
              <a:lnSpc>
                <a:spcPct val="85000"/>
              </a:lnSpc>
              <a:spcBef>
                <a:spcPts val="0"/>
              </a:spcBef>
              <a:spcAft>
                <a:spcPts val="0"/>
              </a:spcAft>
              <a:buClr>
                <a:srgbClr val="3F3F3F"/>
              </a:buClr>
              <a:buSzPts val="2800"/>
              <a:buFont typeface="Calibri"/>
              <a:buNone/>
            </a:pPr>
            <a:r>
              <a:rPr b="1" lang="en-IN" sz="2800"/>
              <a:t>File Inclusion</a:t>
            </a:r>
            <a:endParaRPr sz="2800"/>
          </a:p>
        </p:txBody>
      </p:sp>
      <p:sp>
        <p:nvSpPr>
          <p:cNvPr id="164" name="Google Shape;164;p7"/>
          <p:cNvSpPr txBox="1"/>
          <p:nvPr>
            <p:ph idx="1" type="body"/>
          </p:nvPr>
        </p:nvSpPr>
        <p:spPr>
          <a:xfrm>
            <a:off x="457200" y="836712"/>
            <a:ext cx="7620000" cy="5564088"/>
          </a:xfrm>
          <a:prstGeom prst="rect">
            <a:avLst/>
          </a:prstGeom>
          <a:noFill/>
          <a:ln>
            <a:noFill/>
          </a:ln>
        </p:spPr>
        <p:txBody>
          <a:bodyPr anchorCtr="0" anchor="t" bIns="45700" lIns="0" spcFirstLastPara="1" rIns="0" wrap="square" tIns="45700">
            <a:normAutofit fontScale="70000" lnSpcReduction="20000"/>
          </a:bodyPr>
          <a:lstStyle/>
          <a:p>
            <a:pPr indent="-106679" lvl="0" marL="91440" rtl="0" algn="l">
              <a:lnSpc>
                <a:spcPct val="90000"/>
              </a:lnSpc>
              <a:spcBef>
                <a:spcPts val="0"/>
              </a:spcBef>
              <a:spcAft>
                <a:spcPts val="0"/>
              </a:spcAft>
              <a:buSzPct val="100000"/>
              <a:buChar char=" "/>
            </a:pPr>
            <a:r>
              <a:rPr lang="en-IN" sz="2400"/>
              <a:t>This type of preprocessor directive tells the compiler to include a file in the source code program. </a:t>
            </a:r>
            <a:endParaRPr sz="2400"/>
          </a:p>
          <a:p>
            <a:pPr indent="0" lvl="0" marL="91440" rtl="0" algn="l">
              <a:lnSpc>
                <a:spcPct val="90000"/>
              </a:lnSpc>
              <a:spcBef>
                <a:spcPts val="1400"/>
              </a:spcBef>
              <a:spcAft>
                <a:spcPts val="0"/>
              </a:spcAft>
              <a:buSzPct val="100000"/>
              <a:buNone/>
            </a:pPr>
            <a:r>
              <a:t/>
            </a:r>
            <a:endParaRPr sz="2400"/>
          </a:p>
          <a:p>
            <a:pPr indent="-106679" lvl="0" marL="91440" rtl="0" algn="l">
              <a:lnSpc>
                <a:spcPct val="90000"/>
              </a:lnSpc>
              <a:spcBef>
                <a:spcPts val="1400"/>
              </a:spcBef>
              <a:spcAft>
                <a:spcPts val="0"/>
              </a:spcAft>
              <a:buSzPct val="100000"/>
              <a:buChar char=" "/>
            </a:pPr>
            <a:r>
              <a:rPr lang="en-IN" sz="2400"/>
              <a:t>There are two types of files which can be included by the user in the program: </a:t>
            </a:r>
            <a:endParaRPr sz="2400"/>
          </a:p>
          <a:p>
            <a:pPr indent="-182880" lvl="1" marL="384048" rtl="0" algn="l">
              <a:lnSpc>
                <a:spcPct val="90000"/>
              </a:lnSpc>
              <a:spcBef>
                <a:spcPts val="400"/>
              </a:spcBef>
              <a:spcAft>
                <a:spcPts val="0"/>
              </a:spcAft>
              <a:buSzPct val="100000"/>
              <a:buChar char="◦"/>
            </a:pPr>
            <a:r>
              <a:rPr b="1" lang="en-IN" sz="2400"/>
              <a:t>Header File or Standard files</a:t>
            </a:r>
            <a:endParaRPr/>
          </a:p>
          <a:p>
            <a:pPr indent="-182880" lvl="1" marL="384048" rtl="0" algn="l">
              <a:lnSpc>
                <a:spcPct val="90000"/>
              </a:lnSpc>
              <a:spcBef>
                <a:spcPts val="600"/>
              </a:spcBef>
              <a:spcAft>
                <a:spcPts val="0"/>
              </a:spcAft>
              <a:buSzPct val="100000"/>
              <a:buChar char="◦"/>
            </a:pPr>
            <a:r>
              <a:rPr b="1" lang="en-IN" sz="2400"/>
              <a:t>User defined files</a:t>
            </a:r>
            <a:endParaRPr/>
          </a:p>
          <a:p>
            <a:pPr indent="0" lvl="0" marL="0" rtl="0" algn="l">
              <a:lnSpc>
                <a:spcPct val="90000"/>
              </a:lnSpc>
              <a:spcBef>
                <a:spcPts val="1600"/>
              </a:spcBef>
              <a:spcAft>
                <a:spcPts val="0"/>
              </a:spcAft>
              <a:buSzPct val="100000"/>
              <a:buNone/>
            </a:pPr>
            <a:r>
              <a:rPr b="1" lang="en-IN" sz="2400"/>
              <a:t>Header File or Standard files</a:t>
            </a:r>
            <a:r>
              <a:rPr lang="en-IN" sz="2400"/>
              <a:t>: </a:t>
            </a:r>
            <a:endParaRPr/>
          </a:p>
          <a:p>
            <a:pPr indent="-106679" lvl="0" marL="91440" rtl="0" algn="l">
              <a:lnSpc>
                <a:spcPct val="90000"/>
              </a:lnSpc>
              <a:spcBef>
                <a:spcPts val="1400"/>
              </a:spcBef>
              <a:spcAft>
                <a:spcPts val="0"/>
              </a:spcAft>
              <a:buSzPct val="100000"/>
              <a:buChar char=" "/>
            </a:pPr>
            <a:r>
              <a:rPr lang="en-IN" sz="2400"/>
              <a:t>These files contains definition of pre-defined functions like printf(), scanf() etc. These files must be included for working with these functions. </a:t>
            </a:r>
            <a:endParaRPr/>
          </a:p>
          <a:p>
            <a:pPr indent="0" lvl="0" marL="91440" rtl="0" algn="l">
              <a:lnSpc>
                <a:spcPct val="90000"/>
              </a:lnSpc>
              <a:spcBef>
                <a:spcPts val="1400"/>
              </a:spcBef>
              <a:spcAft>
                <a:spcPts val="0"/>
              </a:spcAft>
              <a:buSzPct val="100000"/>
              <a:buNone/>
            </a:pPr>
            <a:r>
              <a:t/>
            </a:r>
            <a:endParaRPr sz="2400"/>
          </a:p>
          <a:p>
            <a:pPr indent="-106679" lvl="0" marL="91440" rtl="0" algn="l">
              <a:lnSpc>
                <a:spcPct val="90000"/>
              </a:lnSpc>
              <a:spcBef>
                <a:spcPts val="1400"/>
              </a:spcBef>
              <a:spcAft>
                <a:spcPts val="0"/>
              </a:spcAft>
              <a:buSzPct val="100000"/>
              <a:buChar char=" "/>
            </a:pPr>
            <a:r>
              <a:rPr lang="en-IN" sz="2400"/>
              <a:t>Different function are declared in different header files. </a:t>
            </a:r>
            <a:endParaRPr/>
          </a:p>
          <a:p>
            <a:pPr indent="-182880" lvl="1" marL="384048" rtl="0" algn="l">
              <a:lnSpc>
                <a:spcPct val="90000"/>
              </a:lnSpc>
              <a:spcBef>
                <a:spcPts val="400"/>
              </a:spcBef>
              <a:spcAft>
                <a:spcPts val="0"/>
              </a:spcAft>
              <a:buSzPct val="100000"/>
              <a:buChar char="◦"/>
            </a:pPr>
            <a:r>
              <a:rPr lang="en-IN"/>
              <a:t>For example C++ standard I/O functions are in ‘iostream’ header file whereas </a:t>
            </a:r>
            <a:endParaRPr/>
          </a:p>
          <a:p>
            <a:pPr indent="-182880" lvl="1" marL="384048" rtl="0" algn="l">
              <a:lnSpc>
                <a:spcPct val="90000"/>
              </a:lnSpc>
              <a:spcBef>
                <a:spcPts val="600"/>
              </a:spcBef>
              <a:spcAft>
                <a:spcPts val="0"/>
              </a:spcAft>
              <a:buSzPct val="100000"/>
              <a:buChar char="◦"/>
            </a:pPr>
            <a:r>
              <a:rPr lang="en-IN"/>
              <a:t>Functions which perform string operations are in ‘string’ header file.</a:t>
            </a:r>
            <a:endParaRPr/>
          </a:p>
          <a:p>
            <a:pPr indent="0" lvl="0" marL="0" rtl="0" algn="l">
              <a:lnSpc>
                <a:spcPct val="90000"/>
              </a:lnSpc>
              <a:spcBef>
                <a:spcPts val="1600"/>
              </a:spcBef>
              <a:spcAft>
                <a:spcPts val="0"/>
              </a:spcAft>
              <a:buSzPct val="100000"/>
              <a:buNone/>
            </a:pPr>
            <a:r>
              <a:rPr b="1" lang="en-IN" sz="2400"/>
              <a:t>Header File or Standard files</a:t>
            </a:r>
            <a:r>
              <a:rPr lang="en-IN" sz="2400"/>
              <a:t>: </a:t>
            </a:r>
            <a:endParaRPr/>
          </a:p>
          <a:p>
            <a:pPr indent="-106679" lvl="0" marL="91440" rtl="0" algn="l">
              <a:lnSpc>
                <a:spcPct val="90000"/>
              </a:lnSpc>
              <a:spcBef>
                <a:spcPts val="1400"/>
              </a:spcBef>
              <a:spcAft>
                <a:spcPts val="0"/>
              </a:spcAft>
              <a:buSzPct val="100000"/>
              <a:buChar char=" "/>
            </a:pPr>
            <a:r>
              <a:rPr b="1" lang="en-IN" sz="2400"/>
              <a:t>Syntax</a:t>
            </a:r>
            <a:r>
              <a:rPr lang="en-IN" sz="2400"/>
              <a:t>: </a:t>
            </a:r>
            <a:r>
              <a:rPr b="1" lang="en-IN" sz="2400">
                <a:solidFill>
                  <a:srgbClr val="FF0000"/>
                </a:solidFill>
              </a:rPr>
              <a:t>#include&lt; </a:t>
            </a:r>
            <a:r>
              <a:rPr b="1" i="1" lang="en-IN" sz="2400">
                <a:solidFill>
                  <a:srgbClr val="FF0000"/>
                </a:solidFill>
              </a:rPr>
              <a:t>file_name </a:t>
            </a:r>
            <a:r>
              <a:rPr b="1" lang="en-IN" sz="2400">
                <a:solidFill>
                  <a:srgbClr val="FF0000"/>
                </a:solidFill>
              </a:rPr>
              <a:t>&gt;</a:t>
            </a:r>
            <a:endParaRPr/>
          </a:p>
          <a:p>
            <a:pPr indent="-182880" lvl="1" marL="384048" rtl="0" algn="l">
              <a:lnSpc>
                <a:spcPct val="90000"/>
              </a:lnSpc>
              <a:spcBef>
                <a:spcPts val="400"/>
              </a:spcBef>
              <a:spcAft>
                <a:spcPts val="0"/>
              </a:spcAft>
              <a:buSzPct val="100000"/>
              <a:buChar char="◦"/>
            </a:pPr>
            <a:r>
              <a:rPr lang="en-IN"/>
              <a:t>where </a:t>
            </a:r>
            <a:r>
              <a:rPr i="1" lang="en-IN"/>
              <a:t>file_name</a:t>
            </a:r>
            <a:r>
              <a:rPr lang="en-IN"/>
              <a:t> is the name of file to be included. </a:t>
            </a:r>
            <a:endParaRPr/>
          </a:p>
          <a:p>
            <a:pPr indent="-182880" lvl="1" marL="384048" rtl="0" algn="l">
              <a:lnSpc>
                <a:spcPct val="90000"/>
              </a:lnSpc>
              <a:spcBef>
                <a:spcPts val="600"/>
              </a:spcBef>
              <a:spcAft>
                <a:spcPts val="0"/>
              </a:spcAft>
              <a:buSzPct val="100000"/>
              <a:buChar char="◦"/>
            </a:pPr>
            <a:r>
              <a:rPr lang="en-IN"/>
              <a:t>The ‘&lt;‘ and ‘&gt;’ brackets tells the compiler to look for the file in standard directory.</a:t>
            </a:r>
            <a:endParaRPr/>
          </a:p>
          <a:p>
            <a:pPr indent="-182880" lvl="1" marL="384048" rtl="0" algn="l">
              <a:lnSpc>
                <a:spcPct val="90000"/>
              </a:lnSpc>
              <a:spcBef>
                <a:spcPts val="600"/>
              </a:spcBef>
              <a:spcAft>
                <a:spcPts val="0"/>
              </a:spcAft>
              <a:buSzPct val="100000"/>
              <a:buChar char="◦"/>
            </a:pPr>
            <a:br>
              <a:rPr lang="en-IN"/>
            </a:br>
            <a:endParaRPr/>
          </a:p>
          <a:p>
            <a:pPr indent="-76200" lvl="1" marL="384048" rtl="0" algn="l">
              <a:lnSpc>
                <a:spcPct val="90000"/>
              </a:lnSpc>
              <a:spcBef>
                <a:spcPts val="600"/>
              </a:spcBef>
              <a:spcAft>
                <a:spcPts val="0"/>
              </a:spcAft>
              <a:buSzPct val="100000"/>
              <a:buNone/>
            </a:pPr>
            <a:r>
              <a:t/>
            </a:r>
            <a:endParaRPr sz="2400"/>
          </a:p>
        </p:txBody>
      </p:sp>
      <p:sp>
        <p:nvSpPr>
          <p:cNvPr id="165" name="Google Shape;165;p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66" name="Google Shape;166;p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67" name="Google Shape;167;p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8"/>
          <p:cNvSpPr txBox="1"/>
          <p:nvPr>
            <p:ph type="title"/>
          </p:nvPr>
        </p:nvSpPr>
        <p:spPr>
          <a:xfrm>
            <a:off x="395536" y="274638"/>
            <a:ext cx="7704856" cy="490066"/>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2800"/>
              <a:buFont typeface="Calibri"/>
              <a:buNone/>
            </a:pPr>
            <a:r>
              <a:rPr b="1" lang="en-IN" sz="2800"/>
              <a:t>File Inclusion</a:t>
            </a:r>
            <a:endParaRPr sz="2800"/>
          </a:p>
        </p:txBody>
      </p:sp>
      <p:sp>
        <p:nvSpPr>
          <p:cNvPr id="173" name="Google Shape;173;p8"/>
          <p:cNvSpPr txBox="1"/>
          <p:nvPr>
            <p:ph idx="1" type="body"/>
          </p:nvPr>
        </p:nvSpPr>
        <p:spPr>
          <a:xfrm>
            <a:off x="251520" y="2728118"/>
            <a:ext cx="3657600" cy="6397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000"/>
              <a:buNone/>
            </a:pPr>
            <a:r>
              <a:rPr lang="en-IN"/>
              <a:t>#INCLUDE&lt;FILENAME.H&gt;</a:t>
            </a:r>
            <a:endParaRPr/>
          </a:p>
        </p:txBody>
      </p:sp>
      <p:sp>
        <p:nvSpPr>
          <p:cNvPr id="174" name="Google Shape;174;p8"/>
          <p:cNvSpPr txBox="1"/>
          <p:nvPr>
            <p:ph idx="2" type="body"/>
          </p:nvPr>
        </p:nvSpPr>
        <p:spPr>
          <a:xfrm>
            <a:off x="277252" y="3439637"/>
            <a:ext cx="3657600" cy="3951288"/>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IN" sz="2000"/>
              <a:t>By using this syntax, when we are including header file then it will be loaded from default directory i.e. C:\TC\INCLUDE. </a:t>
            </a:r>
            <a:endParaRPr sz="2000"/>
          </a:p>
          <a:p>
            <a:pPr indent="-127000" lvl="0" marL="91440" rtl="0" algn="l">
              <a:lnSpc>
                <a:spcPct val="90000"/>
              </a:lnSpc>
              <a:spcBef>
                <a:spcPts val="1400"/>
              </a:spcBef>
              <a:spcAft>
                <a:spcPts val="0"/>
              </a:spcAft>
              <a:buSzPts val="2000"/>
              <a:buChar char=" "/>
            </a:pPr>
            <a:r>
              <a:rPr lang="en-IN" sz="2000"/>
              <a:t>Generally, by using this syntax we are including pre-defined header files</a:t>
            </a:r>
            <a:r>
              <a:rPr lang="en-IN" sz="2400"/>
              <a:t>.</a:t>
            </a:r>
            <a:endParaRPr/>
          </a:p>
          <a:p>
            <a:pPr indent="0" lvl="0" marL="91440" rtl="0" algn="l">
              <a:lnSpc>
                <a:spcPct val="90000"/>
              </a:lnSpc>
              <a:spcBef>
                <a:spcPts val="1400"/>
              </a:spcBef>
              <a:spcAft>
                <a:spcPts val="0"/>
              </a:spcAft>
              <a:buSzPts val="2400"/>
              <a:buNone/>
            </a:pPr>
            <a:r>
              <a:t/>
            </a:r>
            <a:endParaRPr sz="2400"/>
          </a:p>
          <a:p>
            <a:pPr indent="0" lvl="0" marL="91440" rtl="0" algn="l">
              <a:lnSpc>
                <a:spcPct val="90000"/>
              </a:lnSpc>
              <a:spcBef>
                <a:spcPts val="1400"/>
              </a:spcBef>
              <a:spcAft>
                <a:spcPts val="0"/>
              </a:spcAft>
              <a:buSzPts val="2400"/>
              <a:buNone/>
            </a:pPr>
            <a:r>
              <a:t/>
            </a:r>
            <a:endParaRPr sz="2400"/>
          </a:p>
        </p:txBody>
      </p:sp>
      <p:sp>
        <p:nvSpPr>
          <p:cNvPr id="175" name="Google Shape;175;p8"/>
          <p:cNvSpPr txBox="1"/>
          <p:nvPr>
            <p:ph idx="3" type="body"/>
          </p:nvPr>
        </p:nvSpPr>
        <p:spPr>
          <a:xfrm>
            <a:off x="4364485" y="2728118"/>
            <a:ext cx="3657600" cy="6397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000"/>
              <a:buNone/>
            </a:pPr>
            <a:r>
              <a:rPr lang="en-IN"/>
              <a:t>#INCLUDE “FILENAME.H”</a:t>
            </a:r>
            <a:endParaRPr/>
          </a:p>
        </p:txBody>
      </p:sp>
      <p:sp>
        <p:nvSpPr>
          <p:cNvPr id="176" name="Google Shape;176;p8"/>
          <p:cNvSpPr txBox="1"/>
          <p:nvPr>
            <p:ph idx="4" type="body"/>
          </p:nvPr>
        </p:nvSpPr>
        <p:spPr>
          <a:xfrm>
            <a:off x="4247964" y="3439637"/>
            <a:ext cx="3657600" cy="3951288"/>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IN" sz="2000"/>
              <a:t>By using this syntax, when we are including header, then it is loaded from the current working directory. </a:t>
            </a:r>
            <a:endParaRPr/>
          </a:p>
          <a:p>
            <a:pPr indent="-127000" lvl="0" marL="91440" rtl="0" algn="l">
              <a:lnSpc>
                <a:spcPct val="90000"/>
              </a:lnSpc>
              <a:spcBef>
                <a:spcPts val="1400"/>
              </a:spcBef>
              <a:spcAft>
                <a:spcPts val="0"/>
              </a:spcAft>
              <a:buSzPts val="2000"/>
              <a:buChar char=" "/>
            </a:pPr>
            <a:r>
              <a:rPr lang="en-IN" sz="2000"/>
              <a:t>Generally, by using this syntax we are including user-defined header files.</a:t>
            </a:r>
            <a:endParaRPr/>
          </a:p>
          <a:p>
            <a:pPr indent="0" lvl="0" marL="91440" rtl="0" algn="l">
              <a:lnSpc>
                <a:spcPct val="90000"/>
              </a:lnSpc>
              <a:spcBef>
                <a:spcPts val="1400"/>
              </a:spcBef>
              <a:spcAft>
                <a:spcPts val="0"/>
              </a:spcAft>
              <a:buSzPts val="2000"/>
              <a:buNone/>
            </a:pPr>
            <a:r>
              <a:t/>
            </a:r>
            <a:endParaRPr/>
          </a:p>
        </p:txBody>
      </p:sp>
      <p:sp>
        <p:nvSpPr>
          <p:cNvPr id="177" name="Google Shape;177;p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78" name="Google Shape;178;p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79" name="Google Shape;179;p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80" name="Google Shape;180;p8"/>
          <p:cNvSpPr/>
          <p:nvPr/>
        </p:nvSpPr>
        <p:spPr>
          <a:xfrm>
            <a:off x="467544" y="1020702"/>
            <a:ext cx="7272808" cy="15388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2000" u="none" cap="none" strike="noStrike">
                <a:solidFill>
                  <a:schemeClr val="dk1"/>
                </a:solidFill>
                <a:latin typeface="Calibri"/>
                <a:ea typeface="Calibri"/>
                <a:cs typeface="Calibri"/>
                <a:sym typeface="Calibri"/>
              </a:rPr>
              <a:t>User defined files</a:t>
            </a:r>
            <a:r>
              <a:rPr b="0" i="0" lang="en-IN" sz="20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When a program becomes very large, it is good practice to divide it into smaller files and include it whenever needed. These types of files are user defined files. </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These files can be included as: #include"</a:t>
            </a:r>
            <a:r>
              <a:rPr i="1" lang="en-IN" sz="1800">
                <a:solidFill>
                  <a:schemeClr val="dk1"/>
                </a:solidFill>
                <a:latin typeface="Calibri"/>
                <a:ea typeface="Calibri"/>
                <a:cs typeface="Calibri"/>
                <a:sym typeface="Calibri"/>
              </a:rPr>
              <a:t>filename</a:t>
            </a:r>
            <a:r>
              <a:rPr lang="en-IN" sz="2000">
                <a:solidFill>
                  <a:schemeClr val="dk1"/>
                </a:solidFill>
                <a:latin typeface="Calibri"/>
                <a:ea typeface="Calibri"/>
                <a:cs typeface="Calibri"/>
                <a:sym typeface="Calibri"/>
              </a:rP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9"/>
          <p:cNvSpPr txBox="1"/>
          <p:nvPr>
            <p:ph type="title"/>
          </p:nvPr>
        </p:nvSpPr>
        <p:spPr>
          <a:xfrm>
            <a:off x="457200" y="274638"/>
            <a:ext cx="8229600" cy="490066"/>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2800"/>
              <a:buFont typeface="Calibri"/>
              <a:buNone/>
            </a:pPr>
            <a:r>
              <a:rPr b="1" lang="en-IN" sz="2800"/>
              <a:t>Conditional Compilation Directives</a:t>
            </a:r>
            <a:endParaRPr b="1" sz="2800"/>
          </a:p>
        </p:txBody>
      </p:sp>
      <p:sp>
        <p:nvSpPr>
          <p:cNvPr id="186" name="Google Shape;186;p9"/>
          <p:cNvSpPr txBox="1"/>
          <p:nvPr>
            <p:ph idx="1" type="body"/>
          </p:nvPr>
        </p:nvSpPr>
        <p:spPr>
          <a:xfrm>
            <a:off x="611560" y="836712"/>
            <a:ext cx="7704856" cy="4886003"/>
          </a:xfrm>
          <a:prstGeom prst="rect">
            <a:avLst/>
          </a:prstGeom>
          <a:noFill/>
          <a:ln>
            <a:noFill/>
          </a:ln>
        </p:spPr>
        <p:txBody>
          <a:bodyPr anchorCtr="0" anchor="t" bIns="45700" lIns="0" spcFirstLastPara="1" rIns="0" wrap="square" tIns="45700">
            <a:normAutofit fontScale="55000" lnSpcReduction="20000"/>
          </a:bodyPr>
          <a:lstStyle/>
          <a:p>
            <a:pPr indent="-91440" lvl="0" marL="91440" rtl="0" algn="l">
              <a:lnSpc>
                <a:spcPct val="90000"/>
              </a:lnSpc>
              <a:spcBef>
                <a:spcPts val="0"/>
              </a:spcBef>
              <a:spcAft>
                <a:spcPts val="0"/>
              </a:spcAft>
              <a:buSzPct val="100000"/>
              <a:buChar char=" "/>
            </a:pPr>
            <a:r>
              <a:rPr lang="en-IN" sz="2000"/>
              <a:t>Are type of directives which helps  </a:t>
            </a:r>
            <a:endParaRPr/>
          </a:p>
          <a:p>
            <a:pPr indent="-182879" lvl="1" marL="384048" rtl="0" algn="l">
              <a:lnSpc>
                <a:spcPct val="90000"/>
              </a:lnSpc>
              <a:spcBef>
                <a:spcPts val="400"/>
              </a:spcBef>
              <a:spcAft>
                <a:spcPts val="0"/>
              </a:spcAft>
              <a:buSzPct val="100000"/>
              <a:buChar char="◦"/>
            </a:pPr>
            <a:r>
              <a:rPr lang="en-IN"/>
              <a:t>To compile a specific portion of the program or </a:t>
            </a:r>
            <a:endParaRPr/>
          </a:p>
          <a:p>
            <a:pPr indent="-182879" lvl="1" marL="384048" rtl="0" algn="l">
              <a:lnSpc>
                <a:spcPct val="90000"/>
              </a:lnSpc>
              <a:spcBef>
                <a:spcPts val="600"/>
              </a:spcBef>
              <a:spcAft>
                <a:spcPts val="0"/>
              </a:spcAft>
              <a:buSzPct val="100000"/>
              <a:buChar char="◦"/>
            </a:pPr>
            <a:r>
              <a:rPr lang="en-IN"/>
              <a:t>To skip compilation of some specific part of the program </a:t>
            </a:r>
            <a:endParaRPr/>
          </a:p>
          <a:p>
            <a:pPr indent="-182879" lvl="1" marL="384048" rtl="0" algn="l">
              <a:lnSpc>
                <a:spcPct val="90000"/>
              </a:lnSpc>
              <a:spcBef>
                <a:spcPts val="600"/>
              </a:spcBef>
              <a:spcAft>
                <a:spcPts val="0"/>
              </a:spcAft>
              <a:buSzPct val="100000"/>
              <a:buChar char="◦"/>
            </a:pPr>
            <a:r>
              <a:rPr lang="en-IN"/>
              <a:t>Based on some conditions. </a:t>
            </a:r>
            <a:endParaRPr/>
          </a:p>
          <a:p>
            <a:pPr indent="-91440" lvl="0" marL="91440" rtl="0" algn="l">
              <a:lnSpc>
                <a:spcPct val="90000"/>
              </a:lnSpc>
              <a:spcBef>
                <a:spcPts val="1600"/>
              </a:spcBef>
              <a:spcAft>
                <a:spcPts val="0"/>
              </a:spcAft>
              <a:buSzPct val="100000"/>
              <a:buChar char=" "/>
            </a:pPr>
            <a:r>
              <a:rPr lang="en-IN" sz="2000"/>
              <a:t>This can be done with the help of two preprocessing commands ‘</a:t>
            </a:r>
            <a:r>
              <a:rPr b="1" lang="en-IN" sz="2000"/>
              <a:t>ifdef</a:t>
            </a:r>
            <a:r>
              <a:rPr lang="en-IN" sz="2000"/>
              <a:t>‘ and ‘</a:t>
            </a:r>
            <a:r>
              <a:rPr b="1" lang="en-IN" sz="2000"/>
              <a:t>endif</a:t>
            </a:r>
            <a:r>
              <a:rPr lang="en-IN" sz="2000"/>
              <a:t>‘.</a:t>
            </a:r>
            <a:br>
              <a:rPr lang="en-IN" sz="2000"/>
            </a:br>
            <a:r>
              <a:rPr b="1" lang="en-IN" sz="2400"/>
              <a:t>Syntax</a:t>
            </a:r>
            <a:r>
              <a:rPr lang="en-IN" sz="2400"/>
              <a:t>: </a:t>
            </a:r>
            <a:endParaRPr sz="2400"/>
          </a:p>
          <a:p>
            <a:pPr indent="-91440" lvl="0" marL="91440" rtl="0" algn="l">
              <a:lnSpc>
                <a:spcPct val="90000"/>
              </a:lnSpc>
              <a:spcBef>
                <a:spcPts val="1400"/>
              </a:spcBef>
              <a:spcAft>
                <a:spcPts val="0"/>
              </a:spcAft>
              <a:buSzPct val="100000"/>
              <a:buChar char=" "/>
            </a:pPr>
            <a:r>
              <a:rPr lang="en-IN" sz="2400"/>
              <a:t>#ifdef macro_name </a:t>
            </a:r>
            <a:endParaRPr sz="2400"/>
          </a:p>
          <a:p>
            <a:pPr indent="0" lvl="0" marL="0" rtl="0" algn="l">
              <a:lnSpc>
                <a:spcPct val="90000"/>
              </a:lnSpc>
              <a:spcBef>
                <a:spcPts val="1400"/>
              </a:spcBef>
              <a:spcAft>
                <a:spcPts val="0"/>
              </a:spcAft>
              <a:buSzPct val="100000"/>
              <a:buNone/>
            </a:pPr>
            <a:r>
              <a:rPr lang="en-IN" sz="2400"/>
              <a:t>statement1; </a:t>
            </a:r>
            <a:endParaRPr/>
          </a:p>
          <a:p>
            <a:pPr indent="0" lvl="0" marL="0" rtl="0" algn="l">
              <a:lnSpc>
                <a:spcPct val="90000"/>
              </a:lnSpc>
              <a:spcBef>
                <a:spcPts val="1400"/>
              </a:spcBef>
              <a:spcAft>
                <a:spcPts val="0"/>
              </a:spcAft>
              <a:buSzPct val="100000"/>
              <a:buNone/>
            </a:pPr>
            <a:r>
              <a:rPr lang="en-IN" sz="2400"/>
              <a:t>statement2; </a:t>
            </a:r>
            <a:endParaRPr/>
          </a:p>
          <a:p>
            <a:pPr indent="0" lvl="0" marL="0" rtl="0" algn="l">
              <a:lnSpc>
                <a:spcPct val="90000"/>
              </a:lnSpc>
              <a:spcBef>
                <a:spcPts val="1400"/>
              </a:spcBef>
              <a:spcAft>
                <a:spcPts val="0"/>
              </a:spcAft>
              <a:buSzPct val="100000"/>
              <a:buNone/>
            </a:pPr>
            <a:r>
              <a:rPr lang="en-IN" sz="2400"/>
              <a:t>statement3; </a:t>
            </a:r>
            <a:endParaRPr/>
          </a:p>
          <a:p>
            <a:pPr indent="0" lvl="0" marL="0" rtl="0" algn="l">
              <a:lnSpc>
                <a:spcPct val="90000"/>
              </a:lnSpc>
              <a:spcBef>
                <a:spcPts val="1400"/>
              </a:spcBef>
              <a:spcAft>
                <a:spcPts val="0"/>
              </a:spcAft>
              <a:buSzPct val="100000"/>
              <a:buNone/>
            </a:pPr>
            <a:r>
              <a:rPr lang="en-IN" sz="2400"/>
              <a:t>.</a:t>
            </a:r>
            <a:endParaRPr/>
          </a:p>
          <a:p>
            <a:pPr indent="0" lvl="0" marL="0" rtl="0" algn="l">
              <a:lnSpc>
                <a:spcPct val="90000"/>
              </a:lnSpc>
              <a:spcBef>
                <a:spcPts val="1400"/>
              </a:spcBef>
              <a:spcAft>
                <a:spcPts val="0"/>
              </a:spcAft>
              <a:buSzPct val="100000"/>
              <a:buNone/>
            </a:pPr>
            <a:r>
              <a:rPr lang="en-IN" sz="2400"/>
              <a:t>.</a:t>
            </a:r>
            <a:endParaRPr/>
          </a:p>
          <a:p>
            <a:pPr indent="0" lvl="0" marL="0" rtl="0" algn="l">
              <a:lnSpc>
                <a:spcPct val="90000"/>
              </a:lnSpc>
              <a:spcBef>
                <a:spcPts val="1400"/>
              </a:spcBef>
              <a:spcAft>
                <a:spcPts val="0"/>
              </a:spcAft>
              <a:buSzPct val="100000"/>
              <a:buNone/>
            </a:pPr>
            <a:r>
              <a:rPr lang="en-IN" sz="2400"/>
              <a:t>. </a:t>
            </a:r>
            <a:endParaRPr/>
          </a:p>
          <a:p>
            <a:pPr indent="0" lvl="0" marL="0" rtl="0" algn="l">
              <a:lnSpc>
                <a:spcPct val="90000"/>
              </a:lnSpc>
              <a:spcBef>
                <a:spcPts val="1400"/>
              </a:spcBef>
              <a:spcAft>
                <a:spcPts val="0"/>
              </a:spcAft>
              <a:buSzPct val="100000"/>
              <a:buNone/>
            </a:pPr>
            <a:r>
              <a:rPr lang="en-IN" sz="2400"/>
              <a:t>statementN;</a:t>
            </a:r>
            <a:endParaRPr/>
          </a:p>
          <a:p>
            <a:pPr indent="0" lvl="0" marL="0" rtl="0" algn="l">
              <a:lnSpc>
                <a:spcPct val="90000"/>
              </a:lnSpc>
              <a:spcBef>
                <a:spcPts val="1400"/>
              </a:spcBef>
              <a:spcAft>
                <a:spcPts val="0"/>
              </a:spcAft>
              <a:buSzPct val="100000"/>
              <a:buNone/>
            </a:pPr>
            <a:r>
              <a:rPr lang="en-IN" sz="2400"/>
              <a:t>#endif </a:t>
            </a:r>
            <a:endParaRPr sz="2400"/>
          </a:p>
          <a:p>
            <a:pPr indent="-91440" lvl="0" marL="91440" rtl="0" algn="l">
              <a:lnSpc>
                <a:spcPct val="90000"/>
              </a:lnSpc>
              <a:spcBef>
                <a:spcPts val="1400"/>
              </a:spcBef>
              <a:spcAft>
                <a:spcPts val="0"/>
              </a:spcAft>
              <a:buSzPct val="100000"/>
              <a:buChar char=" "/>
            </a:pPr>
            <a:r>
              <a:rPr lang="en-IN" sz="2000"/>
              <a:t>If the macro with name as ‘</a:t>
            </a:r>
            <a:r>
              <a:rPr i="1" lang="en-IN" sz="2000"/>
              <a:t>macroname</a:t>
            </a:r>
            <a:r>
              <a:rPr lang="en-IN" sz="2000"/>
              <a:t>‘ is defined </a:t>
            </a:r>
            <a:endParaRPr/>
          </a:p>
          <a:p>
            <a:pPr indent="-182879" lvl="1" marL="384048" rtl="0" algn="l">
              <a:lnSpc>
                <a:spcPct val="90000"/>
              </a:lnSpc>
              <a:spcBef>
                <a:spcPts val="400"/>
              </a:spcBef>
              <a:spcAft>
                <a:spcPts val="0"/>
              </a:spcAft>
              <a:buSzPct val="100000"/>
              <a:buChar char="◦"/>
            </a:pPr>
            <a:r>
              <a:rPr b="1" lang="en-IN"/>
              <a:t>Then the block of statements will execute normally </a:t>
            </a:r>
            <a:endParaRPr/>
          </a:p>
          <a:p>
            <a:pPr indent="-182879" lvl="1" marL="384048" rtl="0" algn="l">
              <a:lnSpc>
                <a:spcPct val="90000"/>
              </a:lnSpc>
              <a:spcBef>
                <a:spcPts val="600"/>
              </a:spcBef>
              <a:spcAft>
                <a:spcPts val="0"/>
              </a:spcAft>
              <a:buSzPct val="100000"/>
              <a:buChar char="◦"/>
            </a:pPr>
            <a:r>
              <a:rPr b="1" lang="en-IN"/>
              <a:t>Else the compiler will simply skip this block of statements. </a:t>
            </a:r>
            <a:endParaRPr/>
          </a:p>
          <a:p>
            <a:pPr indent="0" lvl="0" marL="0" rtl="0" algn="l">
              <a:lnSpc>
                <a:spcPct val="90000"/>
              </a:lnSpc>
              <a:spcBef>
                <a:spcPts val="1600"/>
              </a:spcBef>
              <a:spcAft>
                <a:spcPts val="0"/>
              </a:spcAft>
              <a:buSzPct val="100000"/>
              <a:buNone/>
            </a:pPr>
            <a:r>
              <a:t/>
            </a:r>
            <a:endParaRPr sz="2400"/>
          </a:p>
          <a:p>
            <a:pPr indent="-7619" lvl="0" marL="91440" rtl="0" algn="l">
              <a:lnSpc>
                <a:spcPct val="90000"/>
              </a:lnSpc>
              <a:spcBef>
                <a:spcPts val="1400"/>
              </a:spcBef>
              <a:spcAft>
                <a:spcPts val="0"/>
              </a:spcAft>
              <a:buSzPct val="100000"/>
              <a:buNone/>
            </a:pPr>
            <a:r>
              <a:t/>
            </a:r>
            <a:endParaRPr sz="2400"/>
          </a:p>
          <a:p>
            <a:pPr indent="-7619" lvl="0" marL="91440" rtl="0" algn="l">
              <a:lnSpc>
                <a:spcPct val="90000"/>
              </a:lnSpc>
              <a:spcBef>
                <a:spcPts val="1400"/>
              </a:spcBef>
              <a:spcAft>
                <a:spcPts val="0"/>
              </a:spcAft>
              <a:buSzPct val="100000"/>
              <a:buNone/>
            </a:pPr>
            <a:r>
              <a:t/>
            </a:r>
            <a:endParaRPr sz="2400"/>
          </a:p>
          <a:p>
            <a:pPr indent="-7619" lvl="0" marL="91440" rtl="0" algn="l">
              <a:lnSpc>
                <a:spcPct val="90000"/>
              </a:lnSpc>
              <a:spcBef>
                <a:spcPts val="1400"/>
              </a:spcBef>
              <a:spcAft>
                <a:spcPts val="0"/>
              </a:spcAft>
              <a:buSzPct val="100000"/>
              <a:buNone/>
            </a:pPr>
            <a:r>
              <a:t/>
            </a:r>
            <a:endParaRPr sz="2400"/>
          </a:p>
        </p:txBody>
      </p:sp>
      <p:sp>
        <p:nvSpPr>
          <p:cNvPr id="187" name="Google Shape;187;p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88" name="Google Shape;188;p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89" name="Google Shape;189;p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0"/>
          <p:cNvSpPr txBox="1"/>
          <p:nvPr>
            <p:ph type="title"/>
          </p:nvPr>
        </p:nvSpPr>
        <p:spPr>
          <a:xfrm>
            <a:off x="457200" y="274638"/>
            <a:ext cx="8229600" cy="63408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2800"/>
              <a:buFont typeface="Calibri"/>
              <a:buNone/>
            </a:pPr>
            <a:r>
              <a:rPr b="1" lang="en-IN" sz="2800"/>
              <a:t>Other directives</a:t>
            </a:r>
            <a:endParaRPr sz="2800"/>
          </a:p>
        </p:txBody>
      </p:sp>
      <p:sp>
        <p:nvSpPr>
          <p:cNvPr id="195" name="Google Shape;195;p10"/>
          <p:cNvSpPr txBox="1"/>
          <p:nvPr>
            <p:ph idx="1" type="body"/>
          </p:nvPr>
        </p:nvSpPr>
        <p:spPr>
          <a:xfrm>
            <a:off x="467544" y="764704"/>
            <a:ext cx="7620000" cy="480060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lang="en-IN" sz="2400"/>
              <a:t>Apart from the above directives there are two more directives which are not commonly used. </a:t>
            </a:r>
            <a:endParaRPr sz="2400"/>
          </a:p>
          <a:p>
            <a:pPr indent="-152400" lvl="0" marL="91440" rtl="0" algn="l">
              <a:lnSpc>
                <a:spcPct val="90000"/>
              </a:lnSpc>
              <a:spcBef>
                <a:spcPts val="1400"/>
              </a:spcBef>
              <a:spcAft>
                <a:spcPts val="0"/>
              </a:spcAft>
              <a:buSzPts val="2400"/>
              <a:buChar char=" "/>
            </a:pPr>
            <a:r>
              <a:rPr lang="en-IN" sz="2400"/>
              <a:t>These are: </a:t>
            </a:r>
            <a:endParaRPr sz="2400"/>
          </a:p>
          <a:p>
            <a:pPr indent="-182880" lvl="1" marL="384048" rtl="0" algn="l">
              <a:lnSpc>
                <a:spcPct val="90000"/>
              </a:lnSpc>
              <a:spcBef>
                <a:spcPts val="400"/>
              </a:spcBef>
              <a:spcAft>
                <a:spcPts val="0"/>
              </a:spcAft>
              <a:buSzPts val="2400"/>
              <a:buChar char="◦"/>
            </a:pPr>
            <a:r>
              <a:rPr b="1" lang="en-IN" sz="2400">
                <a:solidFill>
                  <a:srgbClr val="FF0000"/>
                </a:solidFill>
              </a:rPr>
              <a:t>#undef Directive</a:t>
            </a:r>
            <a:endParaRPr/>
          </a:p>
          <a:p>
            <a:pPr indent="-127000" lvl="0" marL="91440" rtl="0" algn="l">
              <a:lnSpc>
                <a:spcPct val="90000"/>
              </a:lnSpc>
              <a:spcBef>
                <a:spcPts val="1600"/>
              </a:spcBef>
              <a:spcAft>
                <a:spcPts val="0"/>
              </a:spcAft>
              <a:buSzPts val="2000"/>
              <a:buChar char=" "/>
            </a:pPr>
            <a:r>
              <a:rPr b="1" lang="en-IN" sz="2000"/>
              <a:t>#undef Directive</a:t>
            </a:r>
            <a:r>
              <a:rPr lang="en-IN" sz="2000"/>
              <a:t>: </a:t>
            </a:r>
            <a:endParaRPr/>
          </a:p>
          <a:p>
            <a:pPr indent="-182880" lvl="1" marL="384048" rtl="0" algn="l">
              <a:lnSpc>
                <a:spcPct val="90000"/>
              </a:lnSpc>
              <a:spcBef>
                <a:spcPts val="400"/>
              </a:spcBef>
              <a:spcAft>
                <a:spcPts val="0"/>
              </a:spcAft>
              <a:buSzPts val="1800"/>
              <a:buChar char="◦"/>
            </a:pPr>
            <a:r>
              <a:rPr lang="en-IN"/>
              <a:t>The #undef directive is used to undefine an existing macro. This directive works as: </a:t>
            </a:r>
            <a:endParaRPr/>
          </a:p>
          <a:p>
            <a:pPr indent="-182880" lvl="2" marL="566928" rtl="0" algn="l">
              <a:lnSpc>
                <a:spcPct val="90000"/>
              </a:lnSpc>
              <a:spcBef>
                <a:spcPts val="600"/>
              </a:spcBef>
              <a:spcAft>
                <a:spcPts val="0"/>
              </a:spcAft>
              <a:buSzPts val="2000"/>
              <a:buChar char="◦"/>
            </a:pPr>
            <a:r>
              <a:rPr lang="en-IN" sz="2000"/>
              <a:t>#undef LIMIT </a:t>
            </a:r>
            <a:endParaRPr/>
          </a:p>
          <a:p>
            <a:pPr indent="-182880" lvl="2" marL="566928" rtl="0" algn="l">
              <a:lnSpc>
                <a:spcPct val="90000"/>
              </a:lnSpc>
              <a:spcBef>
                <a:spcPts val="600"/>
              </a:spcBef>
              <a:spcAft>
                <a:spcPts val="0"/>
              </a:spcAft>
              <a:buSzPts val="2000"/>
              <a:buChar char="◦"/>
            </a:pPr>
            <a:r>
              <a:rPr lang="en-IN" sz="2000"/>
              <a:t>Using this statement will undefine the existing macro LIMIT. </a:t>
            </a:r>
            <a:endParaRPr/>
          </a:p>
          <a:p>
            <a:pPr indent="-182880" lvl="2" marL="566928" rtl="0" algn="l">
              <a:lnSpc>
                <a:spcPct val="90000"/>
              </a:lnSpc>
              <a:spcBef>
                <a:spcPts val="600"/>
              </a:spcBef>
              <a:spcAft>
                <a:spcPts val="0"/>
              </a:spcAft>
              <a:buSzPts val="2000"/>
              <a:buChar char="◦"/>
            </a:pPr>
            <a:r>
              <a:rPr lang="en-IN" sz="2000"/>
              <a:t>After this statement every “#ifdef LIMIT” statement will evaluate to false.</a:t>
            </a:r>
            <a:endParaRPr/>
          </a:p>
          <a:p>
            <a:pPr indent="0" lvl="2" marL="914400" rtl="0" algn="l">
              <a:lnSpc>
                <a:spcPct val="90000"/>
              </a:lnSpc>
              <a:spcBef>
                <a:spcPts val="600"/>
              </a:spcBef>
              <a:spcAft>
                <a:spcPts val="0"/>
              </a:spcAft>
              <a:buSzPts val="2000"/>
              <a:buNone/>
            </a:pPr>
            <a:r>
              <a:rPr lang="en-IN" sz="2000"/>
              <a:t> </a:t>
            </a:r>
            <a:endParaRPr/>
          </a:p>
          <a:p>
            <a:pPr indent="-30479" lvl="1" marL="384048" rtl="0" algn="l">
              <a:lnSpc>
                <a:spcPct val="90000"/>
              </a:lnSpc>
              <a:spcBef>
                <a:spcPts val="600"/>
              </a:spcBef>
              <a:spcAft>
                <a:spcPts val="0"/>
              </a:spcAft>
              <a:buSzPts val="2400"/>
              <a:buNone/>
            </a:pPr>
            <a:r>
              <a:t/>
            </a:r>
            <a:endParaRPr b="1" sz="2400">
              <a:solidFill>
                <a:srgbClr val="FF0000"/>
              </a:solidFill>
            </a:endParaRPr>
          </a:p>
        </p:txBody>
      </p:sp>
      <p:sp>
        <p:nvSpPr>
          <p:cNvPr id="196" name="Google Shape;196;p1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97" name="Google Shape;197;p1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98" name="Google Shape;198;p1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1"/>
          <p:cNvSpPr txBox="1"/>
          <p:nvPr>
            <p:ph type="title"/>
          </p:nvPr>
        </p:nvSpPr>
        <p:spPr>
          <a:xfrm>
            <a:off x="457200" y="274638"/>
            <a:ext cx="8686800" cy="778098"/>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sz="2700"/>
              <a:t>How a program, using C compiler, is executed on a host machine ?</a:t>
            </a:r>
            <a:endParaRPr/>
          </a:p>
        </p:txBody>
      </p:sp>
      <p:pic>
        <p:nvPicPr>
          <p:cNvPr id="205" name="Google Shape;205;p11"/>
          <p:cNvPicPr preferRelativeResize="0"/>
          <p:nvPr>
            <p:ph idx="1" type="body"/>
          </p:nvPr>
        </p:nvPicPr>
        <p:blipFill rotWithShape="1">
          <a:blip r:embed="rId3">
            <a:alphaModFix/>
          </a:blip>
          <a:srcRect b="0" l="0" r="0" t="0"/>
          <a:stretch/>
        </p:blipFill>
        <p:spPr>
          <a:xfrm>
            <a:off x="5580112" y="980728"/>
            <a:ext cx="2800350" cy="3733800"/>
          </a:xfrm>
          <a:prstGeom prst="rect">
            <a:avLst/>
          </a:prstGeom>
          <a:noFill/>
          <a:ln>
            <a:noFill/>
          </a:ln>
        </p:spPr>
      </p:pic>
      <p:sp>
        <p:nvSpPr>
          <p:cNvPr id="206" name="Google Shape;206;p1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207" name="Google Shape;207;p1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208" name="Google Shape;208;p1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09" name="Google Shape;209;p11"/>
          <p:cNvSpPr/>
          <p:nvPr/>
        </p:nvSpPr>
        <p:spPr>
          <a:xfrm>
            <a:off x="421579" y="980728"/>
            <a:ext cx="5040560" cy="55092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200"/>
              <a:buFont typeface="Arial"/>
              <a:buChar char="•"/>
            </a:pPr>
            <a:r>
              <a:rPr lang="en-IN" sz="2200">
                <a:solidFill>
                  <a:schemeClr val="dk1"/>
                </a:solidFill>
                <a:latin typeface="Calibri"/>
                <a:ea typeface="Calibri"/>
                <a:cs typeface="Calibri"/>
                <a:sym typeface="Calibri"/>
              </a:rPr>
              <a:t>User writes a program in C language (high-level language).</a:t>
            </a:r>
            <a:endParaRPr/>
          </a:p>
          <a:p>
            <a:pPr indent="-146050" lvl="0" marL="285750" marR="0" rtl="0" algn="l">
              <a:spcBef>
                <a:spcPts val="0"/>
              </a:spcBef>
              <a:spcAft>
                <a:spcPts val="0"/>
              </a:spcAft>
              <a:buClr>
                <a:schemeClr val="dk1"/>
              </a:buClr>
              <a:buSzPts val="2200"/>
              <a:buFont typeface="Arial"/>
              <a:buNone/>
            </a:pPr>
            <a:r>
              <a:t/>
            </a:r>
            <a:endParaRPr sz="22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200"/>
              <a:buFont typeface="Arial"/>
              <a:buChar char="•"/>
            </a:pPr>
            <a:r>
              <a:rPr lang="en-IN" sz="2200">
                <a:solidFill>
                  <a:schemeClr val="dk1"/>
                </a:solidFill>
                <a:latin typeface="Calibri"/>
                <a:ea typeface="Calibri"/>
                <a:cs typeface="Calibri"/>
                <a:sym typeface="Calibri"/>
              </a:rPr>
              <a:t>The C compiler, compiles the program and translates it to assembly program.</a:t>
            </a:r>
            <a:endParaRPr/>
          </a:p>
          <a:p>
            <a:pPr indent="-146050" lvl="0" marL="285750" marR="0" rtl="0" algn="l">
              <a:spcBef>
                <a:spcPts val="0"/>
              </a:spcBef>
              <a:spcAft>
                <a:spcPts val="0"/>
              </a:spcAft>
              <a:buClr>
                <a:schemeClr val="dk1"/>
              </a:buClr>
              <a:buSzPts val="2200"/>
              <a:buFont typeface="Arial"/>
              <a:buNone/>
            </a:pPr>
            <a:r>
              <a:t/>
            </a:r>
            <a:endParaRPr sz="22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200"/>
              <a:buFont typeface="Arial"/>
              <a:buChar char="•"/>
            </a:pPr>
            <a:r>
              <a:rPr lang="en-IN" sz="2200">
                <a:solidFill>
                  <a:schemeClr val="dk1"/>
                </a:solidFill>
                <a:latin typeface="Calibri"/>
                <a:ea typeface="Calibri"/>
                <a:cs typeface="Calibri"/>
                <a:sym typeface="Calibri"/>
              </a:rPr>
              <a:t>An assembler then translates the assembly program into machine code (object file).</a:t>
            </a:r>
            <a:endParaRPr sz="2200">
              <a:solidFill>
                <a:schemeClr val="dk1"/>
              </a:solidFill>
              <a:latin typeface="Calibri"/>
              <a:ea typeface="Calibri"/>
              <a:cs typeface="Calibri"/>
              <a:sym typeface="Calibri"/>
            </a:endParaRPr>
          </a:p>
          <a:p>
            <a:pPr indent="-146050" lvl="0" marL="285750" marR="0" rtl="0" algn="l">
              <a:spcBef>
                <a:spcPts val="0"/>
              </a:spcBef>
              <a:spcAft>
                <a:spcPts val="0"/>
              </a:spcAft>
              <a:buClr>
                <a:schemeClr val="dk1"/>
              </a:buClr>
              <a:buSzPts val="2200"/>
              <a:buFont typeface="Arial"/>
              <a:buNone/>
            </a:pPr>
            <a:r>
              <a:t/>
            </a:r>
            <a:endParaRPr sz="22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200"/>
              <a:buFont typeface="Arial"/>
              <a:buChar char="•"/>
            </a:pPr>
            <a:r>
              <a:rPr lang="en-IN" sz="2200">
                <a:solidFill>
                  <a:schemeClr val="dk1"/>
                </a:solidFill>
                <a:latin typeface="Calibri"/>
                <a:ea typeface="Calibri"/>
                <a:cs typeface="Calibri"/>
                <a:sym typeface="Calibri"/>
              </a:rPr>
              <a:t>A linker tool is used to link all the parts of the program together for execution (executable machine code).</a:t>
            </a:r>
            <a:endParaRPr/>
          </a:p>
          <a:p>
            <a:pPr indent="-146050" lvl="0" marL="285750" marR="0" rtl="0" algn="l">
              <a:spcBef>
                <a:spcPts val="0"/>
              </a:spcBef>
              <a:spcAft>
                <a:spcPts val="0"/>
              </a:spcAft>
              <a:buClr>
                <a:schemeClr val="dk1"/>
              </a:buClr>
              <a:buSzPts val="2200"/>
              <a:buFont typeface="Arial"/>
              <a:buNone/>
            </a:pPr>
            <a:r>
              <a:t/>
            </a:r>
            <a:endParaRPr sz="22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200"/>
              <a:buFont typeface="Arial"/>
              <a:buChar char="•"/>
            </a:pPr>
            <a:r>
              <a:rPr lang="en-IN" sz="2200">
                <a:solidFill>
                  <a:schemeClr val="dk1"/>
                </a:solidFill>
                <a:latin typeface="Calibri"/>
                <a:ea typeface="Calibri"/>
                <a:cs typeface="Calibri"/>
                <a:sym typeface="Calibri"/>
              </a:rPr>
              <a:t>A loader loads all of them into memory and then the program is executed.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2"/>
          <p:cNvSpPr txBox="1"/>
          <p:nvPr>
            <p:ph type="title"/>
          </p:nvPr>
        </p:nvSpPr>
        <p:spPr>
          <a:xfrm>
            <a:off x="457200" y="116632"/>
            <a:ext cx="8229600" cy="418058"/>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Compiler</a:t>
            </a:r>
            <a:endParaRPr/>
          </a:p>
        </p:txBody>
      </p:sp>
      <p:sp>
        <p:nvSpPr>
          <p:cNvPr id="215" name="Google Shape;215;p12"/>
          <p:cNvSpPr txBox="1"/>
          <p:nvPr>
            <p:ph idx="1" type="body"/>
          </p:nvPr>
        </p:nvSpPr>
        <p:spPr>
          <a:xfrm>
            <a:off x="457200" y="764704"/>
            <a:ext cx="8003232" cy="5361459"/>
          </a:xfrm>
          <a:prstGeom prst="rect">
            <a:avLst/>
          </a:prstGeom>
          <a:noFill/>
          <a:ln>
            <a:noFill/>
          </a:ln>
        </p:spPr>
        <p:txBody>
          <a:bodyPr anchorCtr="0" anchor="t" bIns="45700" lIns="0" spcFirstLastPara="1" rIns="0" wrap="square" tIns="45700">
            <a:noAutofit/>
          </a:bodyPr>
          <a:lstStyle/>
          <a:p>
            <a:pPr indent="-152400" lvl="0" marL="91440" rtl="0" algn="l">
              <a:lnSpc>
                <a:spcPct val="90000"/>
              </a:lnSpc>
              <a:spcBef>
                <a:spcPts val="0"/>
              </a:spcBef>
              <a:spcAft>
                <a:spcPts val="0"/>
              </a:spcAft>
              <a:buSzPts val="2400"/>
              <a:buChar char=" "/>
            </a:pPr>
            <a:r>
              <a:rPr lang="en-IN" sz="2400"/>
              <a:t>The language processor that reads the complete source program written in high level language </a:t>
            </a:r>
            <a:r>
              <a:rPr b="1" lang="en-IN" sz="2400" u="sng"/>
              <a:t>as a whole in one go and translates it </a:t>
            </a:r>
            <a:r>
              <a:rPr lang="en-IN" sz="2400"/>
              <a:t>into an equivalent program in machine language is called as a Compiler.</a:t>
            </a:r>
            <a:endParaRPr/>
          </a:p>
          <a:p>
            <a:pPr indent="-152400" lvl="0" marL="91440" rtl="0" algn="l">
              <a:lnSpc>
                <a:spcPct val="90000"/>
              </a:lnSpc>
              <a:spcBef>
                <a:spcPts val="1400"/>
              </a:spcBef>
              <a:spcAft>
                <a:spcPts val="0"/>
              </a:spcAft>
              <a:buSzPts val="2400"/>
              <a:buChar char=" "/>
            </a:pPr>
            <a:r>
              <a:rPr lang="en-IN" sz="2400"/>
              <a:t>In a compiler, the source code is translated to object code successfully if it is free of errors. </a:t>
            </a:r>
            <a:endParaRPr/>
          </a:p>
          <a:p>
            <a:pPr indent="0" lvl="0" marL="91440" rtl="0" algn="l">
              <a:lnSpc>
                <a:spcPct val="90000"/>
              </a:lnSpc>
              <a:spcBef>
                <a:spcPts val="1400"/>
              </a:spcBef>
              <a:spcAft>
                <a:spcPts val="0"/>
              </a:spcAft>
              <a:buSzPts val="2400"/>
              <a:buNone/>
            </a:pPr>
            <a:r>
              <a:t/>
            </a:r>
            <a:endParaRPr sz="2400"/>
          </a:p>
          <a:p>
            <a:pPr indent="0" lvl="0" marL="91440" rtl="0" algn="l">
              <a:lnSpc>
                <a:spcPct val="90000"/>
              </a:lnSpc>
              <a:spcBef>
                <a:spcPts val="1400"/>
              </a:spcBef>
              <a:spcAft>
                <a:spcPts val="0"/>
              </a:spcAft>
              <a:buSzPts val="2400"/>
              <a:buNone/>
            </a:pPr>
            <a:r>
              <a:t/>
            </a:r>
            <a:endParaRPr sz="2400"/>
          </a:p>
          <a:p>
            <a:pPr indent="0" lvl="0" marL="91440" rtl="0" algn="l">
              <a:lnSpc>
                <a:spcPct val="90000"/>
              </a:lnSpc>
              <a:spcBef>
                <a:spcPts val="1400"/>
              </a:spcBef>
              <a:spcAft>
                <a:spcPts val="0"/>
              </a:spcAft>
              <a:buSzPts val="2400"/>
              <a:buNone/>
            </a:pPr>
            <a:r>
              <a:t/>
            </a:r>
            <a:endParaRPr sz="2400"/>
          </a:p>
          <a:p>
            <a:pPr indent="-152400" lvl="0" marL="91440" rtl="0" algn="l">
              <a:lnSpc>
                <a:spcPct val="90000"/>
              </a:lnSpc>
              <a:spcBef>
                <a:spcPts val="1400"/>
              </a:spcBef>
              <a:spcAft>
                <a:spcPts val="0"/>
              </a:spcAft>
              <a:buSzPts val="2400"/>
              <a:buChar char=" "/>
            </a:pPr>
            <a:r>
              <a:rPr lang="en-IN" sz="2400"/>
              <a:t>The compiler specifies </a:t>
            </a:r>
            <a:endParaRPr/>
          </a:p>
          <a:p>
            <a:pPr indent="-182880" lvl="1" marL="384048" rtl="0" algn="l">
              <a:lnSpc>
                <a:spcPct val="90000"/>
              </a:lnSpc>
              <a:spcBef>
                <a:spcPts val="400"/>
              </a:spcBef>
              <a:spcAft>
                <a:spcPts val="0"/>
              </a:spcAft>
              <a:buSzPts val="2000"/>
              <a:buChar char="◦"/>
            </a:pPr>
            <a:r>
              <a:rPr lang="en-IN" sz="2000"/>
              <a:t>the errors at the end of compilation with line numbers when there are any errors in the source code. </a:t>
            </a:r>
            <a:endParaRPr/>
          </a:p>
          <a:p>
            <a:pPr indent="-182880" lvl="1" marL="384048" rtl="0" algn="l">
              <a:lnSpc>
                <a:spcPct val="90000"/>
              </a:lnSpc>
              <a:spcBef>
                <a:spcPts val="600"/>
              </a:spcBef>
              <a:spcAft>
                <a:spcPts val="0"/>
              </a:spcAft>
              <a:buSzPts val="2000"/>
              <a:buChar char="◦"/>
            </a:pPr>
            <a:r>
              <a:rPr lang="en-IN" sz="2000"/>
              <a:t>The errors must be removed before the compiler can successfully recompile the source code again.</a:t>
            </a:r>
            <a:endParaRPr/>
          </a:p>
          <a:p>
            <a:pPr indent="0" lvl="0" marL="91440" rtl="0" algn="l">
              <a:lnSpc>
                <a:spcPct val="90000"/>
              </a:lnSpc>
              <a:spcBef>
                <a:spcPts val="1600"/>
              </a:spcBef>
              <a:spcAft>
                <a:spcPts val="0"/>
              </a:spcAft>
              <a:buSzPts val="2400"/>
              <a:buNone/>
            </a:pPr>
            <a:r>
              <a:t/>
            </a:r>
            <a:endParaRPr sz="2400"/>
          </a:p>
          <a:p>
            <a:pPr indent="-152400" lvl="0" marL="91440" rtl="0" algn="l">
              <a:lnSpc>
                <a:spcPct val="90000"/>
              </a:lnSpc>
              <a:spcBef>
                <a:spcPts val="1400"/>
              </a:spcBef>
              <a:spcAft>
                <a:spcPts val="0"/>
              </a:spcAft>
              <a:buSzPts val="2400"/>
              <a:buChar char=" "/>
            </a:pPr>
            <a:br>
              <a:rPr lang="en-IN" sz="2400"/>
            </a:br>
            <a:endParaRPr sz="2400"/>
          </a:p>
          <a:p>
            <a:pPr indent="0" lvl="0" marL="91440" rtl="0" algn="l">
              <a:lnSpc>
                <a:spcPct val="90000"/>
              </a:lnSpc>
              <a:spcBef>
                <a:spcPts val="1400"/>
              </a:spcBef>
              <a:spcAft>
                <a:spcPts val="0"/>
              </a:spcAft>
              <a:buSzPts val="2000"/>
              <a:buNone/>
            </a:pPr>
            <a:r>
              <a:t/>
            </a:r>
            <a:endParaRPr sz="2000"/>
          </a:p>
          <a:p>
            <a:pPr indent="0" lvl="0" marL="91440" rtl="0" algn="l">
              <a:lnSpc>
                <a:spcPct val="90000"/>
              </a:lnSpc>
              <a:spcBef>
                <a:spcPts val="1400"/>
              </a:spcBef>
              <a:spcAft>
                <a:spcPts val="0"/>
              </a:spcAft>
              <a:buSzPts val="2000"/>
              <a:buNone/>
            </a:pPr>
            <a:r>
              <a:t/>
            </a:r>
            <a:endParaRPr sz="2000"/>
          </a:p>
          <a:p>
            <a:pPr indent="0" lvl="0" marL="91440" rtl="0" algn="l">
              <a:lnSpc>
                <a:spcPct val="90000"/>
              </a:lnSpc>
              <a:spcBef>
                <a:spcPts val="1400"/>
              </a:spcBef>
              <a:spcAft>
                <a:spcPts val="0"/>
              </a:spcAft>
              <a:buSzPts val="2000"/>
              <a:buNone/>
            </a:pPr>
            <a:r>
              <a:t/>
            </a:r>
            <a:endParaRPr sz="2000"/>
          </a:p>
        </p:txBody>
      </p:sp>
      <p:sp>
        <p:nvSpPr>
          <p:cNvPr id="216" name="Google Shape;216;p1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217" name="Google Shape;217;p1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218" name="Google Shape;218;p1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219" name="Google Shape;219;p12"/>
          <p:cNvPicPr preferRelativeResize="0"/>
          <p:nvPr/>
        </p:nvPicPr>
        <p:blipFill rotWithShape="1">
          <a:blip r:embed="rId3">
            <a:alphaModFix/>
          </a:blip>
          <a:srcRect b="0" l="0" r="0" t="0"/>
          <a:stretch/>
        </p:blipFill>
        <p:spPr>
          <a:xfrm>
            <a:off x="2123728" y="3140968"/>
            <a:ext cx="4692521" cy="122413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3"/>
          <p:cNvSpPr txBox="1"/>
          <p:nvPr>
            <p:ph idx="1" type="body"/>
          </p:nvPr>
        </p:nvSpPr>
        <p:spPr>
          <a:xfrm>
            <a:off x="3460237" y="731520"/>
            <a:ext cx="5009393" cy="5257800"/>
          </a:xfrm>
          <a:prstGeom prst="rect">
            <a:avLst/>
          </a:prstGeom>
          <a:noFill/>
          <a:ln>
            <a:noFill/>
          </a:ln>
        </p:spPr>
        <p:txBody>
          <a:bodyPr anchorCtr="0" anchor="t" bIns="45700" lIns="0" spcFirstLastPara="1" rIns="0" wrap="square" tIns="45700">
            <a:normAutofit/>
          </a:bodyPr>
          <a:lstStyle/>
          <a:p>
            <a:pPr indent="0" lvl="1" marL="457200" rtl="0" algn="l">
              <a:lnSpc>
                <a:spcPct val="90000"/>
              </a:lnSpc>
              <a:spcBef>
                <a:spcPts val="0"/>
              </a:spcBef>
              <a:spcAft>
                <a:spcPts val="0"/>
              </a:spcAft>
              <a:buSzPts val="2000"/>
              <a:buNone/>
            </a:pPr>
            <a:r>
              <a:rPr lang="en-IN" sz="2000"/>
              <a:t>Assembler</a:t>
            </a:r>
            <a:endParaRPr/>
          </a:p>
        </p:txBody>
      </p:sp>
      <p:sp>
        <p:nvSpPr>
          <p:cNvPr id="225" name="Google Shape;225;p13"/>
          <p:cNvSpPr txBox="1"/>
          <p:nvPr>
            <p:ph idx="2" type="body"/>
          </p:nvPr>
        </p:nvSpPr>
        <p:spPr>
          <a:xfrm>
            <a:off x="395536" y="764704"/>
            <a:ext cx="3456384" cy="557748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SzPts val="1800"/>
              <a:buFont typeface="Arial"/>
              <a:buChar char="•"/>
            </a:pPr>
            <a:r>
              <a:rPr lang="en-IN" sz="1800"/>
              <a:t>A program that converts assembly language programs into object files is known as assembler</a:t>
            </a:r>
            <a:endParaRPr/>
          </a:p>
          <a:p>
            <a:pPr indent="-285750" lvl="0" marL="285750" rtl="0" algn="l">
              <a:lnSpc>
                <a:spcPct val="90000"/>
              </a:lnSpc>
              <a:spcBef>
                <a:spcPts val="1400"/>
              </a:spcBef>
              <a:spcAft>
                <a:spcPts val="0"/>
              </a:spcAft>
              <a:buSzPts val="1800"/>
              <a:buFont typeface="Arial"/>
              <a:buChar char="•"/>
            </a:pPr>
            <a:r>
              <a:rPr lang="en-IN" sz="1800"/>
              <a:t>The output of an assembler is called an object file</a:t>
            </a:r>
            <a:endParaRPr/>
          </a:p>
          <a:p>
            <a:pPr indent="-285750" lvl="0" marL="285750" rtl="0" algn="l">
              <a:lnSpc>
                <a:spcPct val="90000"/>
              </a:lnSpc>
              <a:spcBef>
                <a:spcPts val="1400"/>
              </a:spcBef>
              <a:spcAft>
                <a:spcPts val="0"/>
              </a:spcAft>
              <a:buSzPts val="1800"/>
              <a:buFont typeface="Arial"/>
              <a:buChar char="•"/>
            </a:pPr>
            <a:r>
              <a:rPr lang="en-IN" sz="1800"/>
              <a:t>Object files contain a combination of </a:t>
            </a:r>
            <a:endParaRPr/>
          </a:p>
          <a:p>
            <a:pPr indent="-285750" lvl="1" marL="742950" rtl="0" algn="l">
              <a:lnSpc>
                <a:spcPct val="90000"/>
              </a:lnSpc>
              <a:spcBef>
                <a:spcPts val="400"/>
              </a:spcBef>
              <a:spcAft>
                <a:spcPts val="0"/>
              </a:spcAft>
              <a:buSzPts val="1800"/>
              <a:buFont typeface="Courier New"/>
              <a:buChar char="o"/>
            </a:pPr>
            <a:r>
              <a:rPr lang="en-IN" sz="1800"/>
              <a:t>machine instructions, </a:t>
            </a:r>
            <a:endParaRPr/>
          </a:p>
          <a:p>
            <a:pPr indent="-285750" lvl="1" marL="742950" rtl="0" algn="l">
              <a:lnSpc>
                <a:spcPct val="90000"/>
              </a:lnSpc>
              <a:spcBef>
                <a:spcPts val="600"/>
              </a:spcBef>
              <a:spcAft>
                <a:spcPts val="0"/>
              </a:spcAft>
              <a:buSzPts val="1800"/>
              <a:buFont typeface="Courier New"/>
              <a:buChar char="o"/>
            </a:pPr>
            <a:r>
              <a:rPr lang="en-IN" sz="1800"/>
              <a:t>data, and </a:t>
            </a:r>
            <a:endParaRPr/>
          </a:p>
          <a:p>
            <a:pPr indent="-285750" lvl="1" marL="742950" rtl="0" algn="l">
              <a:lnSpc>
                <a:spcPct val="90000"/>
              </a:lnSpc>
              <a:spcBef>
                <a:spcPts val="600"/>
              </a:spcBef>
              <a:spcAft>
                <a:spcPts val="0"/>
              </a:spcAft>
              <a:buSzPts val="1800"/>
              <a:buFont typeface="Courier New"/>
              <a:buChar char="o"/>
            </a:pPr>
            <a:r>
              <a:rPr lang="en-IN" sz="1800"/>
              <a:t>information needed to place instructions properly in memory.</a:t>
            </a:r>
            <a:endParaRPr/>
          </a:p>
          <a:p>
            <a:pPr indent="0" lvl="0" marL="0" rtl="0" algn="l">
              <a:lnSpc>
                <a:spcPct val="90000"/>
              </a:lnSpc>
              <a:spcBef>
                <a:spcPts val="1600"/>
              </a:spcBef>
              <a:spcAft>
                <a:spcPts val="0"/>
              </a:spcAft>
              <a:buSzPts val="1800"/>
              <a:buNone/>
            </a:pPr>
            <a:r>
              <a:t/>
            </a:r>
            <a:endParaRPr sz="1800"/>
          </a:p>
          <a:p>
            <a:pPr indent="0" lvl="0" marL="0" rtl="0" algn="l">
              <a:lnSpc>
                <a:spcPct val="90000"/>
              </a:lnSpc>
              <a:spcBef>
                <a:spcPts val="1400"/>
              </a:spcBef>
              <a:spcAft>
                <a:spcPts val="0"/>
              </a:spcAft>
              <a:buSzPts val="1800"/>
              <a:buNone/>
            </a:pPr>
            <a:r>
              <a:t/>
            </a:r>
            <a:endParaRPr sz="1800"/>
          </a:p>
        </p:txBody>
      </p:sp>
      <p:sp>
        <p:nvSpPr>
          <p:cNvPr id="226" name="Google Shape;226;p13"/>
          <p:cNvSpPr txBox="1"/>
          <p:nvPr>
            <p:ph idx="10" type="dt"/>
          </p:nvPr>
        </p:nvSpPr>
        <p:spPr>
          <a:xfrm>
            <a:off x="349134" y="6459786"/>
            <a:ext cx="196388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227" name="Google Shape;227;p13"/>
          <p:cNvSpPr txBox="1"/>
          <p:nvPr>
            <p:ph idx="11" type="ftr"/>
          </p:nvPr>
        </p:nvSpPr>
        <p:spPr>
          <a:xfrm>
            <a:off x="3600450" y="6459786"/>
            <a:ext cx="348615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PROF. SHWETA DHAWAN CHACHRA, PROF. KIRTI SAWLANI</a:t>
            </a:r>
            <a:endParaRPr/>
          </a:p>
        </p:txBody>
      </p:sp>
      <p:sp>
        <p:nvSpPr>
          <p:cNvPr id="228" name="Google Shape;228;p1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229" name="Google Shape;229;p13"/>
          <p:cNvPicPr preferRelativeResize="0"/>
          <p:nvPr/>
        </p:nvPicPr>
        <p:blipFill rotWithShape="1">
          <a:blip r:embed="rId3">
            <a:alphaModFix/>
          </a:blip>
          <a:srcRect b="0" l="0" r="0" t="0"/>
          <a:stretch/>
        </p:blipFill>
        <p:spPr>
          <a:xfrm>
            <a:off x="4067944" y="1124744"/>
            <a:ext cx="3946575" cy="159021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4"/>
          <p:cNvSpPr txBox="1"/>
          <p:nvPr>
            <p:ph type="title"/>
          </p:nvPr>
        </p:nvSpPr>
        <p:spPr>
          <a:xfrm>
            <a:off x="421196" y="116632"/>
            <a:ext cx="8229600" cy="27404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600"/>
              <a:buFont typeface="Calibri"/>
              <a:buNone/>
            </a:pPr>
            <a:r>
              <a:rPr lang="en-IN" sz="3600"/>
              <a:t>Object file format</a:t>
            </a:r>
            <a:endParaRPr/>
          </a:p>
        </p:txBody>
      </p:sp>
      <p:sp>
        <p:nvSpPr>
          <p:cNvPr id="235" name="Google Shape;235;p14"/>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IN" sz="2000"/>
              <a:t>Object file header describes the size and position of the other pieces of the file</a:t>
            </a:r>
            <a:endParaRPr/>
          </a:p>
          <a:p>
            <a:pPr indent="-127000" lvl="0" marL="91440" rtl="0" algn="l">
              <a:lnSpc>
                <a:spcPct val="90000"/>
              </a:lnSpc>
              <a:spcBef>
                <a:spcPts val="1400"/>
              </a:spcBef>
              <a:spcAft>
                <a:spcPts val="0"/>
              </a:spcAft>
              <a:buSzPts val="2000"/>
              <a:buChar char=" "/>
            </a:pPr>
            <a:r>
              <a:rPr lang="en-IN" sz="2000"/>
              <a:t>Text segment contains the machine instructions</a:t>
            </a:r>
            <a:endParaRPr/>
          </a:p>
          <a:p>
            <a:pPr indent="-127000" lvl="0" marL="91440" rtl="0" algn="l">
              <a:lnSpc>
                <a:spcPct val="90000"/>
              </a:lnSpc>
              <a:spcBef>
                <a:spcPts val="1400"/>
              </a:spcBef>
              <a:spcAft>
                <a:spcPts val="0"/>
              </a:spcAft>
              <a:buSzPts val="2000"/>
              <a:buChar char=" "/>
            </a:pPr>
            <a:r>
              <a:rPr lang="en-IN" sz="2000"/>
              <a:t>Data segment contains binary representation of data in assembly file</a:t>
            </a:r>
            <a:endParaRPr/>
          </a:p>
          <a:p>
            <a:pPr indent="-127000" lvl="0" marL="91440" rtl="0" algn="l">
              <a:lnSpc>
                <a:spcPct val="90000"/>
              </a:lnSpc>
              <a:spcBef>
                <a:spcPts val="1400"/>
              </a:spcBef>
              <a:spcAft>
                <a:spcPts val="0"/>
              </a:spcAft>
              <a:buSzPts val="2000"/>
              <a:buChar char=" "/>
            </a:pPr>
            <a:r>
              <a:rPr lang="en-IN" sz="2000"/>
              <a:t>Relocation info identifies instructions and data that depend on absolute addresses</a:t>
            </a:r>
            <a:endParaRPr/>
          </a:p>
          <a:p>
            <a:pPr indent="-127000" lvl="0" marL="91440" rtl="0" algn="l">
              <a:lnSpc>
                <a:spcPct val="90000"/>
              </a:lnSpc>
              <a:spcBef>
                <a:spcPts val="1400"/>
              </a:spcBef>
              <a:spcAft>
                <a:spcPts val="0"/>
              </a:spcAft>
              <a:buSzPts val="2000"/>
              <a:buChar char=" "/>
            </a:pPr>
            <a:r>
              <a:rPr lang="en-IN" sz="2000"/>
              <a:t>Symbol table associates addresses with external labels and lists unresolved references</a:t>
            </a:r>
            <a:endParaRPr/>
          </a:p>
          <a:p>
            <a:pPr indent="-127000" lvl="0" marL="91440" rtl="0" algn="l">
              <a:lnSpc>
                <a:spcPct val="90000"/>
              </a:lnSpc>
              <a:spcBef>
                <a:spcPts val="1400"/>
              </a:spcBef>
              <a:spcAft>
                <a:spcPts val="0"/>
              </a:spcAft>
              <a:buSzPts val="2000"/>
              <a:buChar char=" "/>
            </a:pPr>
            <a:r>
              <a:rPr lang="en-IN" sz="2000"/>
              <a:t>Debugging info</a:t>
            </a:r>
            <a:endParaRPr/>
          </a:p>
        </p:txBody>
      </p:sp>
      <p:sp>
        <p:nvSpPr>
          <p:cNvPr id="236" name="Google Shape;236;p1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237" name="Google Shape;237;p1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238" name="Google Shape;238;p1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239" name="Google Shape;239;p14"/>
          <p:cNvPicPr preferRelativeResize="0"/>
          <p:nvPr/>
        </p:nvPicPr>
        <p:blipFill rotWithShape="1">
          <a:blip r:embed="rId3">
            <a:alphaModFix/>
          </a:blip>
          <a:srcRect b="0" l="0" r="0" t="0"/>
          <a:stretch/>
        </p:blipFill>
        <p:spPr>
          <a:xfrm>
            <a:off x="827584" y="980728"/>
            <a:ext cx="7416824" cy="533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5"/>
          <p:cNvSpPr txBox="1"/>
          <p:nvPr>
            <p:ph type="title"/>
          </p:nvPr>
        </p:nvSpPr>
        <p:spPr>
          <a:xfrm>
            <a:off x="457200" y="274638"/>
            <a:ext cx="8229600" cy="56207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a:t>Interpreter</a:t>
            </a:r>
            <a:endParaRPr/>
          </a:p>
        </p:txBody>
      </p:sp>
      <p:sp>
        <p:nvSpPr>
          <p:cNvPr id="245" name="Google Shape;245;p15"/>
          <p:cNvSpPr txBox="1"/>
          <p:nvPr>
            <p:ph idx="1" type="body"/>
          </p:nvPr>
        </p:nvSpPr>
        <p:spPr>
          <a:xfrm>
            <a:off x="457200" y="908720"/>
            <a:ext cx="8229600" cy="5217443"/>
          </a:xfrm>
          <a:prstGeom prst="rect">
            <a:avLst/>
          </a:prstGeom>
          <a:noFill/>
          <a:ln>
            <a:noFill/>
          </a:ln>
        </p:spPr>
        <p:txBody>
          <a:bodyPr anchorCtr="0" anchor="t" bIns="45700" lIns="0" spcFirstLastPara="1" rIns="0" wrap="square" tIns="45700">
            <a:normAutofit lnSpcReduction="10000"/>
          </a:bodyPr>
          <a:lstStyle/>
          <a:p>
            <a:pPr indent="-152400" lvl="0" marL="91440" rtl="0" algn="l">
              <a:lnSpc>
                <a:spcPct val="90000"/>
              </a:lnSpc>
              <a:spcBef>
                <a:spcPts val="0"/>
              </a:spcBef>
              <a:spcAft>
                <a:spcPts val="0"/>
              </a:spcAft>
              <a:buSzPts val="2400"/>
              <a:buChar char=" "/>
            </a:pPr>
            <a:r>
              <a:rPr lang="en-IN" sz="2400"/>
              <a:t>An interpreter, like a compiler, </a:t>
            </a:r>
            <a:r>
              <a:rPr b="1" lang="en-IN" sz="2400" u="sng"/>
              <a:t>translates high-level language into low-level machine language. </a:t>
            </a:r>
            <a:endParaRPr b="1" sz="2400" u="sng"/>
          </a:p>
          <a:p>
            <a:pPr indent="-152400" lvl="0" marL="91440" rtl="0" algn="l">
              <a:lnSpc>
                <a:spcPct val="90000"/>
              </a:lnSpc>
              <a:spcBef>
                <a:spcPts val="1400"/>
              </a:spcBef>
              <a:spcAft>
                <a:spcPts val="0"/>
              </a:spcAft>
              <a:buSzPts val="2400"/>
              <a:buChar char=" "/>
            </a:pPr>
            <a:r>
              <a:rPr lang="en-IN" sz="2400"/>
              <a:t>The difference lies in the way they read the source code or input. </a:t>
            </a:r>
            <a:endParaRPr/>
          </a:p>
          <a:p>
            <a:pPr indent="-182880" lvl="1" marL="384048" rtl="0" algn="l">
              <a:lnSpc>
                <a:spcPct val="90000"/>
              </a:lnSpc>
              <a:spcBef>
                <a:spcPts val="400"/>
              </a:spcBef>
              <a:spcAft>
                <a:spcPts val="0"/>
              </a:spcAft>
              <a:buSzPts val="2400"/>
              <a:buChar char="◦"/>
            </a:pPr>
            <a:r>
              <a:rPr lang="en-IN" sz="2400"/>
              <a:t>A compiler reads the </a:t>
            </a:r>
            <a:r>
              <a:rPr b="1" lang="en-IN" sz="2400" u="sng"/>
              <a:t>whole source code at once, creates tokens, checks semantics, generates intermediate code, executes the whole program and may involve many passes. </a:t>
            </a:r>
            <a:endParaRPr/>
          </a:p>
          <a:p>
            <a:pPr indent="0" lvl="1" marL="457200" rtl="0" algn="l">
              <a:lnSpc>
                <a:spcPct val="90000"/>
              </a:lnSpc>
              <a:spcBef>
                <a:spcPts val="600"/>
              </a:spcBef>
              <a:spcAft>
                <a:spcPts val="0"/>
              </a:spcAft>
              <a:buSzPts val="2400"/>
              <a:buNone/>
            </a:pPr>
            <a:r>
              <a:t/>
            </a:r>
            <a:endParaRPr sz="2400"/>
          </a:p>
          <a:p>
            <a:pPr indent="-182880" lvl="1" marL="384048" rtl="0" algn="l">
              <a:lnSpc>
                <a:spcPct val="90000"/>
              </a:lnSpc>
              <a:spcBef>
                <a:spcPts val="600"/>
              </a:spcBef>
              <a:spcAft>
                <a:spcPts val="0"/>
              </a:spcAft>
              <a:buSzPts val="2400"/>
              <a:buChar char="◦"/>
            </a:pPr>
            <a:r>
              <a:rPr lang="en-IN" sz="2400"/>
              <a:t>An interpreter reads </a:t>
            </a:r>
            <a:r>
              <a:rPr b="1" lang="en-IN" sz="2400" u="sng"/>
              <a:t>a statement from the input, executes it, then takes the next statement in sequence</a:t>
            </a:r>
            <a:r>
              <a:rPr lang="en-IN" sz="2400"/>
              <a:t>. </a:t>
            </a:r>
            <a:endParaRPr sz="2400"/>
          </a:p>
          <a:p>
            <a:pPr indent="-182880" lvl="1" marL="384048" rtl="0" algn="l">
              <a:lnSpc>
                <a:spcPct val="90000"/>
              </a:lnSpc>
              <a:spcBef>
                <a:spcPts val="600"/>
              </a:spcBef>
              <a:spcAft>
                <a:spcPts val="0"/>
              </a:spcAft>
              <a:buSzPts val="2400"/>
              <a:buChar char="◦"/>
            </a:pPr>
            <a:r>
              <a:rPr lang="en-IN" sz="2400"/>
              <a:t>If an error occurs, </a:t>
            </a:r>
            <a:endParaRPr/>
          </a:p>
          <a:p>
            <a:pPr indent="-182880" lvl="2" marL="566928" rtl="0" algn="l">
              <a:lnSpc>
                <a:spcPct val="90000"/>
              </a:lnSpc>
              <a:spcBef>
                <a:spcPts val="600"/>
              </a:spcBef>
              <a:spcAft>
                <a:spcPts val="0"/>
              </a:spcAft>
              <a:buSzPts val="1400"/>
              <a:buChar char="◦"/>
            </a:pPr>
            <a:r>
              <a:rPr b="1" lang="en-IN" u="sng"/>
              <a:t>an interpreter stops execution and reports it. The interpreter moves on to the next line for execution only after removal of the error.</a:t>
            </a:r>
            <a:endParaRPr/>
          </a:p>
          <a:p>
            <a:pPr indent="-182880" lvl="2" marL="566928" rtl="0" algn="l">
              <a:lnSpc>
                <a:spcPct val="90000"/>
              </a:lnSpc>
              <a:spcBef>
                <a:spcPts val="600"/>
              </a:spcBef>
              <a:spcAft>
                <a:spcPts val="0"/>
              </a:spcAft>
              <a:buSzPts val="1400"/>
              <a:buChar char="◦"/>
            </a:pPr>
            <a:r>
              <a:rPr lang="en-IN"/>
              <a:t>whereas a compiler </a:t>
            </a:r>
            <a:r>
              <a:rPr b="1" lang="en-IN" u="sng"/>
              <a:t>reads the whole program even if it encounters several errors.</a:t>
            </a:r>
            <a:endParaRPr/>
          </a:p>
          <a:p>
            <a:pPr indent="-30479" lvl="1" marL="384048" rtl="0" algn="l">
              <a:lnSpc>
                <a:spcPct val="90000"/>
              </a:lnSpc>
              <a:spcBef>
                <a:spcPts val="600"/>
              </a:spcBef>
              <a:spcAft>
                <a:spcPts val="0"/>
              </a:spcAft>
              <a:buSzPts val="2400"/>
              <a:buNone/>
            </a:pPr>
            <a:r>
              <a:t/>
            </a:r>
            <a:endParaRPr b="1" sz="2400"/>
          </a:p>
          <a:p>
            <a:pPr indent="-182880" lvl="1" marL="384048" rtl="0" algn="l">
              <a:lnSpc>
                <a:spcPct val="90000"/>
              </a:lnSpc>
              <a:spcBef>
                <a:spcPts val="600"/>
              </a:spcBef>
              <a:spcAft>
                <a:spcPts val="0"/>
              </a:spcAft>
              <a:buSzPts val="2400"/>
              <a:buChar char="◦"/>
            </a:pPr>
            <a:r>
              <a:rPr b="1" lang="en-IN" sz="2400"/>
              <a:t>Example:</a:t>
            </a:r>
            <a:r>
              <a:rPr lang="en-IN" sz="2400"/>
              <a:t> Perl, Python and Matlab.</a:t>
            </a:r>
            <a:endParaRPr/>
          </a:p>
          <a:p>
            <a:pPr indent="-30479" lvl="1" marL="384048" rtl="0" algn="l">
              <a:lnSpc>
                <a:spcPct val="90000"/>
              </a:lnSpc>
              <a:spcBef>
                <a:spcPts val="600"/>
              </a:spcBef>
              <a:spcAft>
                <a:spcPts val="0"/>
              </a:spcAft>
              <a:buSzPts val="2400"/>
              <a:buNone/>
            </a:pPr>
            <a:r>
              <a:t/>
            </a:r>
            <a:endParaRPr sz="2400"/>
          </a:p>
          <a:p>
            <a:pPr indent="0" lvl="0" marL="91440" rtl="0" algn="l">
              <a:lnSpc>
                <a:spcPct val="90000"/>
              </a:lnSpc>
              <a:spcBef>
                <a:spcPts val="1600"/>
              </a:spcBef>
              <a:spcAft>
                <a:spcPts val="0"/>
              </a:spcAft>
              <a:buSzPts val="2400"/>
              <a:buNone/>
            </a:pPr>
            <a:r>
              <a:t/>
            </a:r>
            <a:endParaRPr b="1" sz="2400" u="sng"/>
          </a:p>
          <a:p>
            <a:pPr indent="0" lvl="0" marL="91440" rtl="0" algn="l">
              <a:lnSpc>
                <a:spcPct val="90000"/>
              </a:lnSpc>
              <a:spcBef>
                <a:spcPts val="1400"/>
              </a:spcBef>
              <a:spcAft>
                <a:spcPts val="0"/>
              </a:spcAft>
              <a:buSzPts val="2400"/>
              <a:buNone/>
            </a:pPr>
            <a:r>
              <a:t/>
            </a:r>
            <a:endParaRPr sz="2400"/>
          </a:p>
        </p:txBody>
      </p:sp>
      <p:sp>
        <p:nvSpPr>
          <p:cNvPr id="246" name="Google Shape;246;p1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247" name="Google Shape;247;p1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248" name="Google Shape;248;p1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16"/>
          <p:cNvPicPr preferRelativeResize="0"/>
          <p:nvPr>
            <p:ph idx="1" type="body"/>
          </p:nvPr>
        </p:nvPicPr>
        <p:blipFill rotWithShape="1">
          <a:blip r:embed="rId3">
            <a:alphaModFix/>
          </a:blip>
          <a:srcRect b="0" l="0" r="0" t="0"/>
          <a:stretch/>
        </p:blipFill>
        <p:spPr>
          <a:xfrm>
            <a:off x="683568" y="602543"/>
            <a:ext cx="7741367" cy="4914689"/>
          </a:xfrm>
          <a:prstGeom prst="rect">
            <a:avLst/>
          </a:prstGeom>
          <a:noFill/>
          <a:ln>
            <a:noFill/>
          </a:ln>
        </p:spPr>
      </p:pic>
      <p:sp>
        <p:nvSpPr>
          <p:cNvPr id="254" name="Google Shape;254;p1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255" name="Google Shape;255;p1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256" name="Google Shape;256;p1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57" name="Google Shape;257;p16"/>
          <p:cNvSpPr/>
          <p:nvPr/>
        </p:nvSpPr>
        <p:spPr>
          <a:xfrm>
            <a:off x="4644008" y="4653136"/>
            <a:ext cx="3240360" cy="594509"/>
          </a:xfrm>
          <a:prstGeom prst="rect">
            <a:avLst/>
          </a:prstGeom>
          <a:noFill/>
          <a:ln cap="flat" cmpd="sng" w="381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16"/>
          <p:cNvSpPr txBox="1"/>
          <p:nvPr/>
        </p:nvSpPr>
        <p:spPr>
          <a:xfrm>
            <a:off x="2123728" y="182196"/>
            <a:ext cx="46577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Comparison between Compiler and Interpreter</a:t>
            </a:r>
            <a:endParaRPr b="1"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7"/>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IN"/>
              <a:t>Linker</a:t>
            </a:r>
            <a:endParaRPr/>
          </a:p>
        </p:txBody>
      </p:sp>
      <p:pic>
        <p:nvPicPr>
          <p:cNvPr id="264" name="Google Shape;264;p17"/>
          <p:cNvPicPr preferRelativeResize="0"/>
          <p:nvPr>
            <p:ph idx="1" type="body"/>
          </p:nvPr>
        </p:nvPicPr>
        <p:blipFill rotWithShape="1">
          <a:blip r:embed="rId3">
            <a:alphaModFix/>
          </a:blip>
          <a:srcRect b="0" l="0" r="0" t="10954"/>
          <a:stretch/>
        </p:blipFill>
        <p:spPr>
          <a:xfrm>
            <a:off x="539552" y="1412776"/>
            <a:ext cx="7776863" cy="4822071"/>
          </a:xfrm>
          <a:prstGeom prst="rect">
            <a:avLst/>
          </a:prstGeom>
          <a:noFill/>
          <a:ln>
            <a:noFill/>
          </a:ln>
        </p:spPr>
      </p:pic>
      <p:sp>
        <p:nvSpPr>
          <p:cNvPr id="265" name="Google Shape;265;p1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266" name="Google Shape;266;p1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267" name="Google Shape;267;p1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8"/>
          <p:cNvSpPr txBox="1"/>
          <p:nvPr>
            <p:ph type="title"/>
          </p:nvPr>
        </p:nvSpPr>
        <p:spPr>
          <a:xfrm>
            <a:off x="467544" y="116632"/>
            <a:ext cx="8229600" cy="418058"/>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600"/>
              <a:buFont typeface="Calibri"/>
              <a:buNone/>
            </a:pPr>
            <a:r>
              <a:rPr lang="en-IN" sz="3600"/>
              <a:t>Linker</a:t>
            </a:r>
            <a:endParaRPr sz="3600"/>
          </a:p>
        </p:txBody>
      </p:sp>
      <p:pic>
        <p:nvPicPr>
          <p:cNvPr id="273" name="Google Shape;273;p18"/>
          <p:cNvPicPr preferRelativeResize="0"/>
          <p:nvPr>
            <p:ph idx="1" type="body"/>
          </p:nvPr>
        </p:nvPicPr>
        <p:blipFill rotWithShape="1">
          <a:blip r:embed="rId3">
            <a:alphaModFix/>
          </a:blip>
          <a:srcRect b="0" l="0" r="0" t="0"/>
          <a:stretch/>
        </p:blipFill>
        <p:spPr>
          <a:xfrm>
            <a:off x="5011440" y="1124744"/>
            <a:ext cx="3809032" cy="4968552"/>
          </a:xfrm>
          <a:prstGeom prst="rect">
            <a:avLst/>
          </a:prstGeom>
          <a:noFill/>
          <a:ln>
            <a:noFill/>
          </a:ln>
        </p:spPr>
      </p:pic>
      <p:sp>
        <p:nvSpPr>
          <p:cNvPr id="274" name="Google Shape;274;p1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275" name="Google Shape;275;p1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276" name="Google Shape;276;p1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77" name="Google Shape;277;p18"/>
          <p:cNvSpPr/>
          <p:nvPr/>
        </p:nvSpPr>
        <p:spPr>
          <a:xfrm>
            <a:off x="6217912" y="1682363"/>
            <a:ext cx="1181121" cy="594509"/>
          </a:xfrm>
          <a:prstGeom prst="rect">
            <a:avLst/>
          </a:prstGeom>
          <a:noFill/>
          <a:ln cap="flat" cmpd="sng" w="381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18"/>
          <p:cNvSpPr/>
          <p:nvPr/>
        </p:nvSpPr>
        <p:spPr>
          <a:xfrm>
            <a:off x="307430" y="548680"/>
            <a:ext cx="4696618" cy="6524863"/>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Tool that merges the object files produced by separate compilation or assembly and creates a  single executable file</a:t>
            </a:r>
            <a:endParaRPr/>
          </a:p>
          <a:p>
            <a:pPr indent="-285750" lvl="0" marL="28575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Linker are also called link editors.</a:t>
            </a:r>
            <a:endParaRPr/>
          </a:p>
          <a:p>
            <a:pPr indent="-285750" lvl="0" marL="28575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A linker tool is used to link all the parts of the program together for execution (executable machine code).</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 </a:t>
            </a:r>
            <a:r>
              <a:rPr lang="en-IN" sz="2200">
                <a:solidFill>
                  <a:schemeClr val="dk1"/>
                </a:solidFill>
                <a:latin typeface="Calibri"/>
                <a:ea typeface="Calibri"/>
                <a:cs typeface="Calibri"/>
                <a:sym typeface="Calibri"/>
              </a:rPr>
              <a:t>The major tasks–</a:t>
            </a:r>
            <a:endParaRPr/>
          </a:p>
          <a:p>
            <a:pPr indent="-342900" lvl="1" marL="800100" marR="0" rtl="0" algn="l">
              <a:spcBef>
                <a:spcPts val="0"/>
              </a:spcBef>
              <a:spcAft>
                <a:spcPts val="0"/>
              </a:spcAft>
              <a:buClr>
                <a:schemeClr val="dk1"/>
              </a:buClr>
              <a:buSzPts val="2200"/>
              <a:buFont typeface="Courier New"/>
              <a:buChar char="o"/>
            </a:pPr>
            <a:r>
              <a:rPr b="0" i="0" lang="en-IN" sz="2200" u="none" cap="none" strike="noStrike">
                <a:solidFill>
                  <a:schemeClr val="dk1"/>
                </a:solidFill>
                <a:latin typeface="Calibri"/>
                <a:ea typeface="Calibri"/>
                <a:cs typeface="Calibri"/>
                <a:sym typeface="Calibri"/>
              </a:rPr>
              <a:t>To </a:t>
            </a:r>
            <a:r>
              <a:rPr b="1" i="0" lang="en-IN" sz="2200" u="sng" cap="none" strike="noStrike">
                <a:solidFill>
                  <a:schemeClr val="dk1"/>
                </a:solidFill>
                <a:latin typeface="Calibri"/>
                <a:ea typeface="Calibri"/>
                <a:cs typeface="Calibri"/>
                <a:sym typeface="Calibri"/>
              </a:rPr>
              <a:t>search and locate referenced module/routines </a:t>
            </a:r>
            <a:r>
              <a:rPr b="0" i="0" lang="en-IN" sz="2200" u="none" cap="none" strike="noStrike">
                <a:solidFill>
                  <a:schemeClr val="dk1"/>
                </a:solidFill>
                <a:latin typeface="Calibri"/>
                <a:ea typeface="Calibri"/>
                <a:cs typeface="Calibri"/>
                <a:sym typeface="Calibri"/>
              </a:rPr>
              <a:t>in a program </a:t>
            </a:r>
            <a:endParaRPr b="0" i="0" sz="22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200"/>
              <a:buFont typeface="Courier New"/>
              <a:buChar char="o"/>
            </a:pPr>
            <a:r>
              <a:rPr b="1" i="0" lang="en-IN" sz="2200" u="sng" cap="none" strike="noStrike">
                <a:solidFill>
                  <a:schemeClr val="dk1"/>
                </a:solidFill>
                <a:latin typeface="Calibri"/>
                <a:ea typeface="Calibri"/>
                <a:cs typeface="Calibri"/>
                <a:sym typeface="Calibri"/>
              </a:rPr>
              <a:t>Searches the program to find library routines used by program, e.g. printf(), math routines,...</a:t>
            </a:r>
            <a:endParaRPr/>
          </a:p>
          <a:p>
            <a:pPr indent="-203200" lvl="1" marL="800100" marR="0" rtl="0" algn="l">
              <a:spcBef>
                <a:spcPts val="0"/>
              </a:spcBef>
              <a:spcAft>
                <a:spcPts val="0"/>
              </a:spcAft>
              <a:buClr>
                <a:schemeClr val="dk1"/>
              </a:buClr>
              <a:buSzPts val="2200"/>
              <a:buFont typeface="Arial"/>
              <a:buNone/>
            </a:pPr>
            <a:r>
              <a:t/>
            </a:r>
            <a:endParaRPr b="0" i="0" sz="2200" u="none" cap="none" strike="noStrike">
              <a:solidFill>
                <a:schemeClr val="dk1"/>
              </a:solidFill>
              <a:latin typeface="Calibri"/>
              <a:ea typeface="Calibri"/>
              <a:cs typeface="Calibri"/>
              <a:sym typeface="Calibri"/>
            </a:endParaRPr>
          </a:p>
          <a:p>
            <a:pPr indent="-133350" lvl="0" marL="28575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sp>
        <p:nvSpPr>
          <p:cNvPr id="279" name="Google Shape;279;p18"/>
          <p:cNvSpPr/>
          <p:nvPr/>
        </p:nvSpPr>
        <p:spPr>
          <a:xfrm>
            <a:off x="6084168" y="4797152"/>
            <a:ext cx="1181121" cy="594509"/>
          </a:xfrm>
          <a:prstGeom prst="rect">
            <a:avLst/>
          </a:prstGeom>
          <a:noFill/>
          <a:ln cap="flat" cmpd="sng" w="381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8"/>
          <p:cNvSpPr/>
          <p:nvPr/>
        </p:nvSpPr>
        <p:spPr>
          <a:xfrm>
            <a:off x="4895528" y="2348880"/>
            <a:ext cx="1505665" cy="792088"/>
          </a:xfrm>
          <a:prstGeom prst="rect">
            <a:avLst/>
          </a:prstGeom>
          <a:noFill/>
          <a:ln cap="flat" cmpd="sng" w="381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9"/>
          <p:cNvSpPr txBox="1"/>
          <p:nvPr>
            <p:ph type="title"/>
          </p:nvPr>
        </p:nvSpPr>
        <p:spPr>
          <a:xfrm>
            <a:off x="1052742" y="21162"/>
            <a:ext cx="7323152" cy="4781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sz="4000"/>
              <a:t>Loader in C/C++</a:t>
            </a:r>
            <a:endParaRPr sz="4000"/>
          </a:p>
        </p:txBody>
      </p:sp>
      <p:sp>
        <p:nvSpPr>
          <p:cNvPr id="286" name="Google Shape;286;p19"/>
          <p:cNvSpPr txBox="1"/>
          <p:nvPr>
            <p:ph idx="1" type="body"/>
          </p:nvPr>
        </p:nvSpPr>
        <p:spPr>
          <a:xfrm>
            <a:off x="427558" y="1844824"/>
            <a:ext cx="8291264" cy="4388802"/>
          </a:xfrm>
          <a:prstGeom prst="rect">
            <a:avLst/>
          </a:prstGeom>
          <a:noFill/>
          <a:ln>
            <a:noFill/>
          </a:ln>
        </p:spPr>
        <p:txBody>
          <a:bodyPr anchorCtr="0" anchor="t" bIns="45700" lIns="0" spcFirstLastPara="1" rIns="0" wrap="square" tIns="45700">
            <a:normAutofit fontScale="85000" lnSpcReduction="20000"/>
          </a:bodyPr>
          <a:lstStyle/>
          <a:p>
            <a:pPr indent="-129540" lvl="0" marL="91440" rtl="0" algn="l">
              <a:lnSpc>
                <a:spcPct val="90000"/>
              </a:lnSpc>
              <a:spcBef>
                <a:spcPts val="0"/>
              </a:spcBef>
              <a:spcAft>
                <a:spcPts val="0"/>
              </a:spcAft>
              <a:buSzPct val="100000"/>
              <a:buChar char=" "/>
            </a:pPr>
            <a:r>
              <a:rPr b="1" lang="en-IN" sz="2400"/>
              <a:t>Loader</a:t>
            </a:r>
            <a:r>
              <a:rPr lang="en-IN" sz="2400"/>
              <a:t> is the program of the </a:t>
            </a:r>
            <a:r>
              <a:rPr b="1" lang="en-IN" sz="2400"/>
              <a:t>operating system</a:t>
            </a:r>
            <a:r>
              <a:rPr lang="en-IN" sz="2400"/>
              <a:t> </a:t>
            </a:r>
            <a:endParaRPr sz="2400"/>
          </a:p>
          <a:p>
            <a:pPr indent="-182879" lvl="1" marL="384048" rtl="0" algn="l">
              <a:lnSpc>
                <a:spcPct val="90000"/>
              </a:lnSpc>
              <a:spcBef>
                <a:spcPts val="400"/>
              </a:spcBef>
              <a:spcAft>
                <a:spcPts val="0"/>
              </a:spcAft>
              <a:buSzPct val="100000"/>
              <a:buChar char="◦"/>
            </a:pPr>
            <a:r>
              <a:rPr lang="en-IN" sz="2400"/>
              <a:t>which </a:t>
            </a:r>
            <a:r>
              <a:rPr b="1" lang="en-IN" sz="2400"/>
              <a:t>loads the executable from the disk into the primary memory(RAM) for execution</a:t>
            </a:r>
            <a:r>
              <a:rPr lang="en-IN" sz="2400"/>
              <a:t>. </a:t>
            </a:r>
            <a:endParaRPr sz="2400"/>
          </a:p>
          <a:p>
            <a:pPr indent="0" lvl="0" marL="91440" rtl="0" algn="l">
              <a:lnSpc>
                <a:spcPct val="90000"/>
              </a:lnSpc>
              <a:spcBef>
                <a:spcPts val="1600"/>
              </a:spcBef>
              <a:spcAft>
                <a:spcPts val="0"/>
              </a:spcAft>
              <a:buSzPct val="100000"/>
              <a:buNone/>
            </a:pPr>
            <a:r>
              <a:t/>
            </a:r>
            <a:endParaRPr sz="2400"/>
          </a:p>
          <a:p>
            <a:pPr indent="-129540" lvl="0" marL="91440" rtl="0" algn="l">
              <a:lnSpc>
                <a:spcPct val="90000"/>
              </a:lnSpc>
              <a:spcBef>
                <a:spcPts val="1400"/>
              </a:spcBef>
              <a:spcAft>
                <a:spcPts val="0"/>
              </a:spcAft>
              <a:buSzPct val="100000"/>
              <a:buChar char=" "/>
            </a:pPr>
            <a:r>
              <a:rPr lang="en-IN" sz="2400"/>
              <a:t>It </a:t>
            </a:r>
            <a:r>
              <a:rPr b="1" lang="en-IN" sz="2400" u="sng"/>
              <a:t>allocates the memory space to the executable module in main memory and then transfers control to the beginning instruction of the program . </a:t>
            </a:r>
            <a:endParaRPr b="1" sz="2400" u="sng"/>
          </a:p>
          <a:p>
            <a:pPr indent="-129540" lvl="0" marL="91440" rtl="0" algn="l">
              <a:lnSpc>
                <a:spcPct val="90000"/>
              </a:lnSpc>
              <a:spcBef>
                <a:spcPts val="1400"/>
              </a:spcBef>
              <a:spcAft>
                <a:spcPts val="0"/>
              </a:spcAft>
              <a:buSzPct val="100000"/>
              <a:buChar char=" "/>
            </a:pPr>
            <a:r>
              <a:rPr lang="en-IN" sz="2400"/>
              <a:t>It places programs into memory and prepares them for execution. </a:t>
            </a:r>
            <a:endParaRPr/>
          </a:p>
          <a:p>
            <a:pPr indent="-129540" lvl="0" marL="91440" rtl="0" algn="l">
              <a:lnSpc>
                <a:spcPct val="90000"/>
              </a:lnSpc>
              <a:spcBef>
                <a:spcPts val="1400"/>
              </a:spcBef>
              <a:spcAft>
                <a:spcPts val="0"/>
              </a:spcAft>
              <a:buSzPct val="100000"/>
              <a:buChar char=" "/>
            </a:pPr>
            <a:r>
              <a:rPr lang="en-IN" sz="2400"/>
              <a:t>Loading a program involves reading the contents of the executable file containing the program instructions </a:t>
            </a:r>
            <a:r>
              <a:rPr b="1" lang="en-IN" sz="2400" u="sng"/>
              <a:t>into memory, </a:t>
            </a:r>
            <a:endParaRPr/>
          </a:p>
          <a:p>
            <a:pPr indent="-129540" lvl="0" marL="91440" rtl="0" algn="l">
              <a:lnSpc>
                <a:spcPct val="90000"/>
              </a:lnSpc>
              <a:spcBef>
                <a:spcPts val="1400"/>
              </a:spcBef>
              <a:spcAft>
                <a:spcPts val="0"/>
              </a:spcAft>
              <a:buSzPct val="100000"/>
              <a:buChar char=" "/>
            </a:pPr>
            <a:r>
              <a:rPr lang="en-IN" sz="2400"/>
              <a:t>Then carrying out other required </a:t>
            </a:r>
            <a:r>
              <a:rPr b="1" lang="en-IN" sz="2400" u="sng"/>
              <a:t>preparatory tasks to prepare the executable for running. </a:t>
            </a:r>
            <a:endParaRPr/>
          </a:p>
          <a:p>
            <a:pPr indent="-129540" lvl="0" marL="91440" rtl="0" algn="l">
              <a:lnSpc>
                <a:spcPct val="90000"/>
              </a:lnSpc>
              <a:spcBef>
                <a:spcPts val="1400"/>
              </a:spcBef>
              <a:spcAft>
                <a:spcPts val="0"/>
              </a:spcAft>
              <a:buSzPct val="100000"/>
              <a:buChar char=" "/>
            </a:pPr>
            <a:r>
              <a:rPr lang="en-IN" sz="2400"/>
              <a:t>Once loading is complete, the operating system starts the program by passing control to the loaded program code. </a:t>
            </a:r>
            <a:endParaRPr/>
          </a:p>
          <a:p>
            <a:pPr indent="0" lvl="0" marL="91440" rtl="0" algn="l">
              <a:lnSpc>
                <a:spcPct val="90000"/>
              </a:lnSpc>
              <a:spcBef>
                <a:spcPts val="1400"/>
              </a:spcBef>
              <a:spcAft>
                <a:spcPts val="0"/>
              </a:spcAft>
              <a:buSzPct val="100000"/>
              <a:buNone/>
            </a:pPr>
            <a:r>
              <a:t/>
            </a:r>
            <a:endParaRPr b="1" sz="2400" u="sng"/>
          </a:p>
          <a:p>
            <a:pPr indent="0" lvl="0" marL="91440" rtl="0" algn="l">
              <a:lnSpc>
                <a:spcPct val="90000"/>
              </a:lnSpc>
              <a:spcBef>
                <a:spcPts val="1400"/>
              </a:spcBef>
              <a:spcAft>
                <a:spcPts val="0"/>
              </a:spcAft>
              <a:buSzPct val="100000"/>
              <a:buNone/>
            </a:pPr>
            <a:r>
              <a:t/>
            </a:r>
            <a:endParaRPr sz="2400"/>
          </a:p>
          <a:p>
            <a:pPr indent="0" lvl="0" marL="0" rtl="0" algn="l">
              <a:lnSpc>
                <a:spcPct val="90000"/>
              </a:lnSpc>
              <a:spcBef>
                <a:spcPts val="1400"/>
              </a:spcBef>
              <a:spcAft>
                <a:spcPts val="0"/>
              </a:spcAft>
              <a:buSzPct val="100000"/>
              <a:buNone/>
            </a:pPr>
            <a:r>
              <a:t/>
            </a:r>
            <a:endParaRPr sz="2400"/>
          </a:p>
        </p:txBody>
      </p:sp>
      <p:sp>
        <p:nvSpPr>
          <p:cNvPr id="287" name="Google Shape;287;p1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288" name="Google Shape;288;p1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289" name="Google Shape;289;p1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0"/>
          <p:cNvSpPr txBox="1"/>
          <p:nvPr>
            <p:ph type="title"/>
          </p:nvPr>
        </p:nvSpPr>
        <p:spPr>
          <a:xfrm>
            <a:off x="457200" y="274638"/>
            <a:ext cx="8219256" cy="34605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Relocation</a:t>
            </a:r>
            <a:endParaRPr sz="3200"/>
          </a:p>
        </p:txBody>
      </p:sp>
      <p:sp>
        <p:nvSpPr>
          <p:cNvPr id="295" name="Google Shape;295;p20"/>
          <p:cNvSpPr txBox="1"/>
          <p:nvPr>
            <p:ph idx="1" type="body"/>
          </p:nvPr>
        </p:nvSpPr>
        <p:spPr>
          <a:xfrm>
            <a:off x="611560" y="764704"/>
            <a:ext cx="8229600" cy="4785395"/>
          </a:xfrm>
          <a:prstGeom prst="rect">
            <a:avLst/>
          </a:prstGeom>
          <a:noFill/>
          <a:ln>
            <a:noFill/>
          </a:ln>
        </p:spPr>
        <p:txBody>
          <a:bodyPr anchorCtr="0" anchor="t" bIns="45700" lIns="0" spcFirstLastPara="1" rIns="0" wrap="square" tIns="45700">
            <a:normAutofit fontScale="25000" lnSpcReduction="20000"/>
          </a:bodyPr>
          <a:lstStyle/>
          <a:p>
            <a:pPr indent="-127000" lvl="0" marL="91440" rtl="0" algn="l">
              <a:lnSpc>
                <a:spcPct val="90000"/>
              </a:lnSpc>
              <a:spcBef>
                <a:spcPts val="0"/>
              </a:spcBef>
              <a:spcAft>
                <a:spcPts val="0"/>
              </a:spcAft>
              <a:buSzPct val="100000"/>
              <a:buChar char=" "/>
            </a:pPr>
            <a:r>
              <a:rPr lang="en-IN" sz="8000"/>
              <a:t>The available memory is generally shared among a number of processes in a multiprogramming system, </a:t>
            </a:r>
            <a:endParaRPr sz="8000"/>
          </a:p>
          <a:p>
            <a:pPr indent="-127000" lvl="0" marL="91440" rtl="0" algn="l">
              <a:lnSpc>
                <a:spcPct val="90000"/>
              </a:lnSpc>
              <a:spcBef>
                <a:spcPts val="1400"/>
              </a:spcBef>
              <a:spcAft>
                <a:spcPts val="0"/>
              </a:spcAft>
              <a:buSzPct val="100000"/>
              <a:buChar char=" "/>
            </a:pPr>
            <a:r>
              <a:rPr b="1" lang="en-IN" sz="8000" u="sng"/>
              <a:t>So it is not possible to know in advance which other programs will be resident in main memory at the time of execution of this program</a:t>
            </a:r>
            <a:r>
              <a:rPr lang="en-IN" sz="8000"/>
              <a:t>. </a:t>
            </a:r>
            <a:endParaRPr sz="8000"/>
          </a:p>
          <a:p>
            <a:pPr indent="-127000" lvl="0" marL="91440" rtl="0" algn="l">
              <a:lnSpc>
                <a:spcPct val="90000"/>
              </a:lnSpc>
              <a:spcBef>
                <a:spcPts val="1400"/>
              </a:spcBef>
              <a:spcAft>
                <a:spcPts val="0"/>
              </a:spcAft>
              <a:buSzPct val="100000"/>
              <a:buChar char=" "/>
            </a:pPr>
            <a:r>
              <a:rPr lang="en-IN" sz="8000"/>
              <a:t>Swapping the active processes in and out of the main memory enables the operating system to have a larger pool of ready-to-execute process.</a:t>
            </a:r>
            <a:endParaRPr/>
          </a:p>
          <a:p>
            <a:pPr indent="-127000" lvl="0" marL="91440" rtl="0" algn="l">
              <a:lnSpc>
                <a:spcPct val="90000"/>
              </a:lnSpc>
              <a:spcBef>
                <a:spcPts val="1400"/>
              </a:spcBef>
              <a:spcAft>
                <a:spcPts val="0"/>
              </a:spcAft>
              <a:buSzPct val="100000"/>
              <a:buChar char=" "/>
            </a:pPr>
            <a:r>
              <a:rPr b="1" lang="en-IN" sz="8000" u="sng"/>
              <a:t>When a program gets swapped out to a disk memory, then it is not always possible that when it is swapped back into main memory then it occupies the previous memory location, </a:t>
            </a:r>
            <a:endParaRPr/>
          </a:p>
          <a:p>
            <a:pPr indent="-127000" lvl="0" marL="91440" rtl="0" algn="l">
              <a:lnSpc>
                <a:spcPct val="90000"/>
              </a:lnSpc>
              <a:spcBef>
                <a:spcPts val="1400"/>
              </a:spcBef>
              <a:spcAft>
                <a:spcPts val="0"/>
              </a:spcAft>
              <a:buSzPct val="100000"/>
              <a:buChar char=" "/>
            </a:pPr>
            <a:r>
              <a:rPr lang="en-IN" sz="8000"/>
              <a:t>Since the location may still be occupied by another process. </a:t>
            </a:r>
            <a:endParaRPr/>
          </a:p>
          <a:p>
            <a:pPr indent="-127000" lvl="0" marL="91440" rtl="0" algn="l">
              <a:lnSpc>
                <a:spcPct val="90000"/>
              </a:lnSpc>
              <a:spcBef>
                <a:spcPts val="1400"/>
              </a:spcBef>
              <a:spcAft>
                <a:spcPts val="0"/>
              </a:spcAft>
              <a:buSzPct val="100000"/>
              <a:buChar char=" "/>
            </a:pPr>
            <a:r>
              <a:rPr lang="en-IN" sz="8000"/>
              <a:t>We may need to </a:t>
            </a:r>
            <a:r>
              <a:rPr b="1" lang="en-IN" sz="8000" u="sng"/>
              <a:t>relocate the process to a different area of memory. Thus there is a possibility that program may be moved in main memory due to swapping.</a:t>
            </a:r>
            <a:endParaRPr/>
          </a:p>
          <a:p>
            <a:pPr indent="-127000" lvl="0" marL="91440" rtl="0" algn="l">
              <a:lnSpc>
                <a:spcPct val="90000"/>
              </a:lnSpc>
              <a:spcBef>
                <a:spcPts val="1400"/>
              </a:spcBef>
              <a:spcAft>
                <a:spcPts val="0"/>
              </a:spcAft>
              <a:buSzPct val="100000"/>
              <a:buChar char=" "/>
            </a:pPr>
            <a:r>
              <a:rPr b="1" lang="en-IN" sz="8000"/>
              <a:t>Relocation</a:t>
            </a:r>
            <a:r>
              <a:rPr lang="en-IN" sz="8000"/>
              <a:t> is the process of assigning load addresses for position-dependent code and data of a program and adjusting the code and data to reflect the assigned addresses.</a:t>
            </a:r>
            <a:endParaRPr/>
          </a:p>
          <a:p>
            <a:pPr indent="-127000" lvl="0" marL="91440" rtl="0" algn="l">
              <a:lnSpc>
                <a:spcPct val="90000"/>
              </a:lnSpc>
              <a:spcBef>
                <a:spcPts val="1400"/>
              </a:spcBef>
              <a:spcAft>
                <a:spcPts val="0"/>
              </a:spcAft>
              <a:buSzPct val="100000"/>
              <a:buChar char=" "/>
            </a:pPr>
            <a:r>
              <a:rPr b="1" lang="en-IN" sz="8000" u="sng"/>
              <a:t>Relocation is typically done by the linker at link time, but it can also be done at load time by a relocating loader</a:t>
            </a:r>
            <a:endParaRPr sz="8000"/>
          </a:p>
          <a:p>
            <a:pPr indent="0" lvl="0" marL="91440" rtl="0" algn="l">
              <a:lnSpc>
                <a:spcPct val="90000"/>
              </a:lnSpc>
              <a:spcBef>
                <a:spcPts val="1400"/>
              </a:spcBef>
              <a:spcAft>
                <a:spcPts val="0"/>
              </a:spcAft>
              <a:buSzPct val="100000"/>
              <a:buNone/>
            </a:pPr>
            <a:r>
              <a:t/>
            </a:r>
            <a:endParaRPr b="1" sz="8000" u="sng"/>
          </a:p>
          <a:p>
            <a:pPr indent="0" lvl="0" marL="91440" rtl="0" algn="l">
              <a:lnSpc>
                <a:spcPct val="90000"/>
              </a:lnSpc>
              <a:spcBef>
                <a:spcPts val="1400"/>
              </a:spcBef>
              <a:spcAft>
                <a:spcPts val="0"/>
              </a:spcAft>
              <a:buSzPct val="100000"/>
              <a:buNone/>
            </a:pPr>
            <a:r>
              <a:t/>
            </a:r>
            <a:endParaRPr sz="8000"/>
          </a:p>
          <a:p>
            <a:pPr indent="0" lvl="0" marL="0" rtl="0" algn="l">
              <a:lnSpc>
                <a:spcPct val="90000"/>
              </a:lnSpc>
              <a:spcBef>
                <a:spcPts val="1400"/>
              </a:spcBef>
              <a:spcAft>
                <a:spcPts val="0"/>
              </a:spcAft>
              <a:buSzPct val="100000"/>
              <a:buNone/>
            </a:pPr>
            <a:r>
              <a:t/>
            </a:r>
            <a:endParaRPr sz="2600"/>
          </a:p>
          <a:p>
            <a:pPr indent="0" lvl="0" marL="0" rtl="0" algn="l">
              <a:lnSpc>
                <a:spcPct val="90000"/>
              </a:lnSpc>
              <a:spcBef>
                <a:spcPts val="1400"/>
              </a:spcBef>
              <a:spcAft>
                <a:spcPts val="0"/>
              </a:spcAft>
              <a:buSzPct val="100000"/>
              <a:buNone/>
            </a:pPr>
            <a:r>
              <a:rPr lang="en-IN" sz="2600"/>
              <a:t>-GeeksforGeeks</a:t>
            </a:r>
            <a:br>
              <a:rPr lang="en-IN" sz="2600"/>
            </a:br>
            <a:br>
              <a:rPr lang="en-IN" sz="2400"/>
            </a:br>
            <a:endParaRPr sz="2400"/>
          </a:p>
        </p:txBody>
      </p:sp>
      <p:sp>
        <p:nvSpPr>
          <p:cNvPr id="296" name="Google Shape;296;p2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297" name="Google Shape;297;p2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298" name="Google Shape;298;p2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304" name="Google Shape;304;p2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305" name="Google Shape;305;p2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06" name="Google Shape;306;p21"/>
          <p:cNvSpPr txBox="1"/>
          <p:nvPr>
            <p:ph idx="4294967295" type="body"/>
          </p:nvPr>
        </p:nvSpPr>
        <p:spPr>
          <a:xfrm>
            <a:off x="0" y="476250"/>
            <a:ext cx="8229600" cy="6381750"/>
          </a:xfrm>
          <a:prstGeom prst="rect">
            <a:avLst/>
          </a:prstGeom>
          <a:noFill/>
          <a:ln>
            <a:noFill/>
          </a:ln>
        </p:spPr>
        <p:txBody>
          <a:bodyPr anchorCtr="0" anchor="t" bIns="45700" lIns="0" spcFirstLastPara="1" rIns="0" wrap="square" tIns="45700">
            <a:normAutofit fontScale="25000" lnSpcReduction="20000"/>
          </a:bodyPr>
          <a:lstStyle/>
          <a:p>
            <a:pPr indent="0" lvl="0" marL="0" rtl="0" algn="l">
              <a:lnSpc>
                <a:spcPct val="90000"/>
              </a:lnSpc>
              <a:spcBef>
                <a:spcPts val="0"/>
              </a:spcBef>
              <a:spcAft>
                <a:spcPts val="0"/>
              </a:spcAft>
              <a:buSzPct val="100000"/>
              <a:buNone/>
            </a:pPr>
            <a:r>
              <a:rPr b="1" lang="en-IN" sz="2400"/>
              <a:t>GATE CS 1998 | Question 25</a:t>
            </a:r>
            <a:endParaRPr/>
          </a:p>
          <a:p>
            <a:pPr indent="-114300" lvl="0" marL="91440" rtl="0" algn="l">
              <a:lnSpc>
                <a:spcPct val="90000"/>
              </a:lnSpc>
              <a:spcBef>
                <a:spcPts val="1400"/>
              </a:spcBef>
              <a:spcAft>
                <a:spcPts val="0"/>
              </a:spcAft>
              <a:buSzPct val="100000"/>
              <a:buChar char=" "/>
            </a:pPr>
            <a:r>
              <a:rPr lang="en-IN" sz="7200"/>
              <a:t>In a resident- OS computer, which of the following system software must reside in the main memory under all situations?</a:t>
            </a:r>
            <a:br>
              <a:rPr lang="en-IN" sz="7200"/>
            </a:br>
            <a:r>
              <a:rPr b="1" lang="en-IN" sz="7200"/>
              <a:t>(A)</a:t>
            </a:r>
            <a:r>
              <a:rPr lang="en-IN" sz="7200"/>
              <a:t> Assembler</a:t>
            </a:r>
            <a:br>
              <a:rPr lang="en-IN" sz="7200"/>
            </a:br>
            <a:r>
              <a:rPr b="1" lang="en-IN" sz="7200"/>
              <a:t>(B)</a:t>
            </a:r>
            <a:r>
              <a:rPr lang="en-IN" sz="7200"/>
              <a:t> Linker</a:t>
            </a:r>
            <a:br>
              <a:rPr lang="en-IN" sz="7200"/>
            </a:br>
            <a:r>
              <a:rPr b="1" lang="en-IN" sz="7200"/>
              <a:t>(C)</a:t>
            </a:r>
            <a:r>
              <a:rPr lang="en-IN" sz="7200"/>
              <a:t> Loader</a:t>
            </a:r>
            <a:br>
              <a:rPr lang="en-IN" sz="7200"/>
            </a:br>
            <a:r>
              <a:rPr b="1" lang="en-IN" sz="7200"/>
              <a:t>(D)</a:t>
            </a:r>
            <a:r>
              <a:rPr lang="en-IN" sz="7200"/>
              <a:t> Compiler</a:t>
            </a:r>
            <a:endParaRPr/>
          </a:p>
          <a:p>
            <a:pPr indent="-114300" lvl="0" marL="91440" rtl="0" algn="l">
              <a:lnSpc>
                <a:spcPct val="90000"/>
              </a:lnSpc>
              <a:spcBef>
                <a:spcPts val="1400"/>
              </a:spcBef>
              <a:spcAft>
                <a:spcPts val="0"/>
              </a:spcAft>
              <a:buSzPct val="100000"/>
              <a:buChar char=" "/>
            </a:pPr>
            <a:r>
              <a:rPr b="1" lang="en-IN" sz="7200"/>
              <a:t>Explanation:</a:t>
            </a:r>
            <a:r>
              <a:rPr lang="en-IN" sz="7200"/>
              <a:t> Loader is the part of an operating system that is responsible for loading programs and libraries. it places the programs into memory and also prepares them for execution.</a:t>
            </a:r>
            <a:endParaRPr/>
          </a:p>
          <a:p>
            <a:pPr indent="-114300" lvl="0" marL="91440" rtl="0" algn="l">
              <a:lnSpc>
                <a:spcPct val="90000"/>
              </a:lnSpc>
              <a:spcBef>
                <a:spcPts val="1400"/>
              </a:spcBef>
              <a:spcAft>
                <a:spcPts val="0"/>
              </a:spcAft>
              <a:buSzPct val="100000"/>
              <a:buChar char=" "/>
            </a:pPr>
            <a:r>
              <a:rPr lang="en-IN" sz="7200"/>
              <a:t>Loading a program involves tasks such as reading the contents of the executable file containing the program instructions into memory, and then carrying out other required preparatory tasks to prepare the executable for running so any software must reside in the main memory under all situations.</a:t>
            </a:r>
            <a:endParaRPr/>
          </a:p>
          <a:p>
            <a:pPr indent="-114300" lvl="0" marL="91440" rtl="0" algn="l">
              <a:lnSpc>
                <a:spcPct val="90000"/>
              </a:lnSpc>
              <a:spcBef>
                <a:spcPts val="1400"/>
              </a:spcBef>
              <a:spcAft>
                <a:spcPts val="0"/>
              </a:spcAft>
              <a:buSzPct val="100000"/>
              <a:buChar char=" "/>
            </a:pPr>
            <a:r>
              <a:rPr lang="en-IN" sz="7200"/>
              <a:t>The operating system starts the program by passing control to the loaded program code once the loading process is completed.</a:t>
            </a:r>
            <a:endParaRPr/>
          </a:p>
          <a:p>
            <a:pPr indent="-114300" lvl="0" marL="91440" rtl="0" algn="l">
              <a:lnSpc>
                <a:spcPct val="90000"/>
              </a:lnSpc>
              <a:spcBef>
                <a:spcPts val="1400"/>
              </a:spcBef>
              <a:spcAft>
                <a:spcPts val="0"/>
              </a:spcAft>
              <a:buSzPct val="100000"/>
              <a:buChar char=" "/>
            </a:pPr>
            <a:r>
              <a:rPr lang="en-IN" sz="7200"/>
              <a:t>Option (C) is correct.</a:t>
            </a:r>
            <a:br>
              <a:rPr lang="en-IN" sz="7200"/>
            </a:br>
            <a:r>
              <a:rPr b="1" lang="en-IN" sz="7200"/>
              <a:t>Answer:</a:t>
            </a:r>
            <a:r>
              <a:rPr lang="en-IN" sz="7200"/>
              <a:t> </a:t>
            </a:r>
            <a:r>
              <a:rPr b="1" lang="en-IN" sz="7200"/>
              <a:t>(C)</a:t>
            </a:r>
            <a:r>
              <a:rPr lang="en-IN" sz="7200"/>
              <a:t> </a:t>
            </a:r>
            <a:endParaRPr/>
          </a:p>
          <a:p>
            <a:pPr indent="0" lvl="0" marL="114300" rtl="0" algn="l">
              <a:lnSpc>
                <a:spcPct val="90000"/>
              </a:lnSpc>
              <a:spcBef>
                <a:spcPts val="1400"/>
              </a:spcBef>
              <a:spcAft>
                <a:spcPts val="0"/>
              </a:spcAft>
              <a:buSzPct val="100000"/>
              <a:buNone/>
            </a:pPr>
            <a:r>
              <a:t/>
            </a:r>
            <a:endParaRPr sz="3200"/>
          </a:p>
          <a:p>
            <a:pPr indent="0" lvl="0" marL="114300" rtl="0" algn="l">
              <a:lnSpc>
                <a:spcPct val="90000"/>
              </a:lnSpc>
              <a:spcBef>
                <a:spcPts val="1400"/>
              </a:spcBef>
              <a:spcAft>
                <a:spcPts val="0"/>
              </a:spcAft>
              <a:buSzPct val="100000"/>
              <a:buNone/>
            </a:pPr>
            <a:r>
              <a:rPr lang="en-IN" sz="8000"/>
              <a:t>Q) A linker program</a:t>
            </a:r>
            <a:endParaRPr/>
          </a:p>
          <a:p>
            <a:pPr indent="0" lvl="0" marL="114300" rtl="0" algn="l">
              <a:lnSpc>
                <a:spcPct val="90000"/>
              </a:lnSpc>
              <a:spcBef>
                <a:spcPts val="1400"/>
              </a:spcBef>
              <a:spcAft>
                <a:spcPts val="0"/>
              </a:spcAft>
              <a:buSzPct val="100000"/>
              <a:buNone/>
            </a:pPr>
            <a:r>
              <a:rPr lang="en-IN" sz="8000"/>
              <a:t>a. places the program in the memory for the purpose of execution.</a:t>
            </a:r>
            <a:endParaRPr/>
          </a:p>
          <a:p>
            <a:pPr indent="0" lvl="0" marL="114300" rtl="0" algn="l">
              <a:lnSpc>
                <a:spcPct val="90000"/>
              </a:lnSpc>
              <a:spcBef>
                <a:spcPts val="1400"/>
              </a:spcBef>
              <a:spcAft>
                <a:spcPts val="0"/>
              </a:spcAft>
              <a:buSzPct val="100000"/>
              <a:buNone/>
            </a:pPr>
            <a:r>
              <a:rPr lang="en-IN" sz="8000"/>
              <a:t>b. relocates the program to execute from the specific memory area allocated to it.</a:t>
            </a:r>
            <a:endParaRPr/>
          </a:p>
          <a:p>
            <a:pPr indent="0" lvl="0" marL="114300" rtl="0" algn="l">
              <a:lnSpc>
                <a:spcPct val="90000"/>
              </a:lnSpc>
              <a:spcBef>
                <a:spcPts val="1400"/>
              </a:spcBef>
              <a:spcAft>
                <a:spcPts val="0"/>
              </a:spcAft>
              <a:buSzPct val="100000"/>
              <a:buNone/>
            </a:pPr>
            <a:r>
              <a:rPr lang="en-IN" sz="8000"/>
              <a:t>c. links the program with other programs needed for its execution.</a:t>
            </a:r>
            <a:endParaRPr/>
          </a:p>
          <a:p>
            <a:pPr indent="0" lvl="0" marL="114300" rtl="0" algn="l">
              <a:lnSpc>
                <a:spcPct val="90000"/>
              </a:lnSpc>
              <a:spcBef>
                <a:spcPts val="1400"/>
              </a:spcBef>
              <a:spcAft>
                <a:spcPts val="0"/>
              </a:spcAft>
              <a:buSzPct val="100000"/>
              <a:buNone/>
            </a:pPr>
            <a:r>
              <a:rPr lang="en-IN" sz="8000"/>
              <a:t>d. interfaces the program with the entities generating its input data.</a:t>
            </a:r>
            <a:endParaRPr/>
          </a:p>
          <a:p>
            <a:pPr indent="0" lvl="0" marL="114300" rtl="0" algn="l">
              <a:lnSpc>
                <a:spcPct val="90000"/>
              </a:lnSpc>
              <a:spcBef>
                <a:spcPts val="1400"/>
              </a:spcBef>
              <a:spcAft>
                <a:spcPts val="0"/>
              </a:spcAft>
              <a:buSzPct val="100000"/>
              <a:buNone/>
            </a:pPr>
            <a:r>
              <a:rPr lang="en-IN" sz="8000"/>
              <a:t>Ans) c)</a:t>
            </a:r>
            <a:endParaRPr/>
          </a:p>
          <a:p>
            <a:pPr indent="0" lvl="0" marL="114300" rtl="0" algn="l">
              <a:lnSpc>
                <a:spcPct val="90000"/>
              </a:lnSpc>
              <a:spcBef>
                <a:spcPts val="1400"/>
              </a:spcBef>
              <a:spcAft>
                <a:spcPts val="0"/>
              </a:spcAft>
              <a:buSzPct val="100000"/>
              <a:buNone/>
            </a:pPr>
            <a:r>
              <a:t/>
            </a:r>
            <a:endParaRPr sz="2800"/>
          </a:p>
          <a:p>
            <a:pPr indent="-91440" lvl="0" marL="91440" rtl="0" algn="l">
              <a:lnSpc>
                <a:spcPct val="90000"/>
              </a:lnSpc>
              <a:spcBef>
                <a:spcPts val="1400"/>
              </a:spcBef>
              <a:spcAft>
                <a:spcPts val="0"/>
              </a:spcAft>
              <a:buSzPct val="100000"/>
              <a:buChar char=" "/>
            </a:pPr>
            <a:br>
              <a:rPr lang="en-IN" sz="2600"/>
            </a:br>
            <a:br>
              <a:rPr lang="en-IN" sz="2600"/>
            </a:br>
            <a:br>
              <a:rPr lang="en-IN" sz="2400"/>
            </a:br>
            <a:br>
              <a:rPr lang="en-IN"/>
            </a:br>
            <a:endParaRPr/>
          </a:p>
        </p:txBody>
      </p:sp>
    </p:spTree>
  </p:cSld>
  <p:clrMapOvr>
    <a:masterClrMapping/>
  </p:clrMapOvr>
  <p:transition p14:dur="100">
    <p:cu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0" st="0"/>
                                            </p:txEl>
                                          </p:spTgt>
                                        </p:tgtEl>
                                        <p:attrNameLst>
                                          <p:attrName>style.visibility</p:attrName>
                                        </p:attrNameLst>
                                      </p:cBhvr>
                                      <p:to>
                                        <p:strVal val="visible"/>
                                      </p:to>
                                    </p:set>
                                    <p:animEffect filter="fade" transition="in">
                                      <p:cBhvr>
                                        <p:cTn dur="2000"/>
                                        <p:tgtEl>
                                          <p:spTgt spid="3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1" st="1"/>
                                            </p:txEl>
                                          </p:spTgt>
                                        </p:tgtEl>
                                        <p:attrNameLst>
                                          <p:attrName>style.visibility</p:attrName>
                                        </p:attrNameLst>
                                      </p:cBhvr>
                                      <p:to>
                                        <p:strVal val="visible"/>
                                      </p:to>
                                    </p:set>
                                    <p:animEffect filter="fade" transition="in">
                                      <p:cBhvr>
                                        <p:cTn dur="2000"/>
                                        <p:tgtEl>
                                          <p:spTgt spid="3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2" st="2"/>
                                            </p:txEl>
                                          </p:spTgt>
                                        </p:tgtEl>
                                        <p:attrNameLst>
                                          <p:attrName>style.visibility</p:attrName>
                                        </p:attrNameLst>
                                      </p:cBhvr>
                                      <p:to>
                                        <p:strVal val="visible"/>
                                      </p:to>
                                    </p:set>
                                    <p:animEffect filter="fade" transition="in">
                                      <p:cBhvr>
                                        <p:cTn dur="2000"/>
                                        <p:tgtEl>
                                          <p:spTgt spid="3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3" st="3"/>
                                            </p:txEl>
                                          </p:spTgt>
                                        </p:tgtEl>
                                        <p:attrNameLst>
                                          <p:attrName>style.visibility</p:attrName>
                                        </p:attrNameLst>
                                      </p:cBhvr>
                                      <p:to>
                                        <p:strVal val="visible"/>
                                      </p:to>
                                    </p:set>
                                    <p:animEffect filter="fade" transition="in">
                                      <p:cBhvr>
                                        <p:cTn dur="2000"/>
                                        <p:tgtEl>
                                          <p:spTgt spid="3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4" st="4"/>
                                            </p:txEl>
                                          </p:spTgt>
                                        </p:tgtEl>
                                        <p:attrNameLst>
                                          <p:attrName>style.visibility</p:attrName>
                                        </p:attrNameLst>
                                      </p:cBhvr>
                                      <p:to>
                                        <p:strVal val="visible"/>
                                      </p:to>
                                    </p:set>
                                    <p:animEffect filter="fade" transition="in">
                                      <p:cBhvr>
                                        <p:cTn dur="2000"/>
                                        <p:tgtEl>
                                          <p:spTgt spid="3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5" st="5"/>
                                            </p:txEl>
                                          </p:spTgt>
                                        </p:tgtEl>
                                        <p:attrNameLst>
                                          <p:attrName>style.visibility</p:attrName>
                                        </p:attrNameLst>
                                      </p:cBhvr>
                                      <p:to>
                                        <p:strVal val="visible"/>
                                      </p:to>
                                    </p:set>
                                    <p:animEffect filter="fade" transition="in">
                                      <p:cBhvr>
                                        <p:cTn dur="2000"/>
                                        <p:tgtEl>
                                          <p:spTgt spid="30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6" st="6"/>
                                            </p:txEl>
                                          </p:spTgt>
                                        </p:tgtEl>
                                        <p:attrNameLst>
                                          <p:attrName>style.visibility</p:attrName>
                                        </p:attrNameLst>
                                      </p:cBhvr>
                                      <p:to>
                                        <p:strVal val="visible"/>
                                      </p:to>
                                    </p:set>
                                    <p:animEffect filter="fade" transition="in">
                                      <p:cBhvr>
                                        <p:cTn dur="2000"/>
                                        <p:tgtEl>
                                          <p:spTgt spid="30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7" st="7"/>
                                            </p:txEl>
                                          </p:spTgt>
                                        </p:tgtEl>
                                        <p:attrNameLst>
                                          <p:attrName>style.visibility</p:attrName>
                                        </p:attrNameLst>
                                      </p:cBhvr>
                                      <p:to>
                                        <p:strVal val="visible"/>
                                      </p:to>
                                    </p:set>
                                    <p:animEffect filter="fade" transition="in">
                                      <p:cBhvr>
                                        <p:cTn dur="2000"/>
                                        <p:tgtEl>
                                          <p:spTgt spid="30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8" st="8"/>
                                            </p:txEl>
                                          </p:spTgt>
                                        </p:tgtEl>
                                        <p:attrNameLst>
                                          <p:attrName>style.visibility</p:attrName>
                                        </p:attrNameLst>
                                      </p:cBhvr>
                                      <p:to>
                                        <p:strVal val="visible"/>
                                      </p:to>
                                    </p:set>
                                    <p:animEffect filter="fade" transition="in">
                                      <p:cBhvr>
                                        <p:cTn dur="2000"/>
                                        <p:tgtEl>
                                          <p:spTgt spid="30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9" st="9"/>
                                            </p:txEl>
                                          </p:spTgt>
                                        </p:tgtEl>
                                        <p:attrNameLst>
                                          <p:attrName>style.visibility</p:attrName>
                                        </p:attrNameLst>
                                      </p:cBhvr>
                                      <p:to>
                                        <p:strVal val="visible"/>
                                      </p:to>
                                    </p:set>
                                    <p:animEffect filter="fade" transition="in">
                                      <p:cBhvr>
                                        <p:cTn dur="2000"/>
                                        <p:tgtEl>
                                          <p:spTgt spid="30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10" st="10"/>
                                            </p:txEl>
                                          </p:spTgt>
                                        </p:tgtEl>
                                        <p:attrNameLst>
                                          <p:attrName>style.visibility</p:attrName>
                                        </p:attrNameLst>
                                      </p:cBhvr>
                                      <p:to>
                                        <p:strVal val="visible"/>
                                      </p:to>
                                    </p:set>
                                    <p:animEffect filter="fade" transition="in">
                                      <p:cBhvr>
                                        <p:cTn dur="2000"/>
                                        <p:tgtEl>
                                          <p:spTgt spid="30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11" st="11"/>
                                            </p:txEl>
                                          </p:spTgt>
                                        </p:tgtEl>
                                        <p:attrNameLst>
                                          <p:attrName>style.visibility</p:attrName>
                                        </p:attrNameLst>
                                      </p:cBhvr>
                                      <p:to>
                                        <p:strVal val="visible"/>
                                      </p:to>
                                    </p:set>
                                    <p:animEffect filter="fade" transition="in">
                                      <p:cBhvr>
                                        <p:cTn dur="2000"/>
                                        <p:tgtEl>
                                          <p:spTgt spid="30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12" st="12"/>
                                            </p:txEl>
                                          </p:spTgt>
                                        </p:tgtEl>
                                        <p:attrNameLst>
                                          <p:attrName>style.visibility</p:attrName>
                                        </p:attrNameLst>
                                      </p:cBhvr>
                                      <p:to>
                                        <p:strVal val="visible"/>
                                      </p:to>
                                    </p:set>
                                    <p:animEffect filter="fade" transition="in">
                                      <p:cBhvr>
                                        <p:cTn dur="2000"/>
                                        <p:tgtEl>
                                          <p:spTgt spid="30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13" st="13"/>
                                            </p:txEl>
                                          </p:spTgt>
                                        </p:tgtEl>
                                        <p:attrNameLst>
                                          <p:attrName>style.visibility</p:attrName>
                                        </p:attrNameLst>
                                      </p:cBhvr>
                                      <p:to>
                                        <p:strVal val="visible"/>
                                      </p:to>
                                    </p:set>
                                    <p:animEffect filter="fade" transition="in">
                                      <p:cBhvr>
                                        <p:cTn dur="2000"/>
                                        <p:tgtEl>
                                          <p:spTgt spid="306">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14" st="14"/>
                                            </p:txEl>
                                          </p:spTgt>
                                        </p:tgtEl>
                                        <p:attrNameLst>
                                          <p:attrName>style.visibility</p:attrName>
                                        </p:attrNameLst>
                                      </p:cBhvr>
                                      <p:to>
                                        <p:strVal val="visible"/>
                                      </p:to>
                                    </p:set>
                                    <p:animEffect filter="fade" transition="in">
                                      <p:cBhvr>
                                        <p:cTn dur="2000"/>
                                        <p:tgtEl>
                                          <p:spTgt spid="306">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312" name="Google Shape;312;p2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313" name="Google Shape;313;p2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14" name="Google Shape;314;p22"/>
          <p:cNvSpPr txBox="1"/>
          <p:nvPr>
            <p:ph idx="4294967295" type="title"/>
          </p:nvPr>
        </p:nvSpPr>
        <p:spPr>
          <a:xfrm>
            <a:off x="1420813" y="198438"/>
            <a:ext cx="7723187"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What is an Operating System?</a:t>
            </a:r>
            <a:endParaRPr/>
          </a:p>
        </p:txBody>
      </p:sp>
      <p:sp>
        <p:nvSpPr>
          <p:cNvPr id="315" name="Google Shape;315;p22"/>
          <p:cNvSpPr txBox="1"/>
          <p:nvPr>
            <p:ph idx="4294967295" type="body"/>
          </p:nvPr>
        </p:nvSpPr>
        <p:spPr>
          <a:xfrm>
            <a:off x="0" y="1268413"/>
            <a:ext cx="7121525" cy="4159250"/>
          </a:xfrm>
          <a:prstGeom prst="rect">
            <a:avLst/>
          </a:prstGeom>
          <a:noFill/>
          <a:ln>
            <a:noFill/>
          </a:ln>
        </p:spPr>
        <p:txBody>
          <a:bodyPr anchorCtr="0" anchor="t" bIns="45700" lIns="0" spcFirstLastPara="1" rIns="0" wrap="square" tIns="45700">
            <a:normAutofit lnSpcReduction="10000"/>
          </a:bodyPr>
          <a:lstStyle/>
          <a:p>
            <a:pPr indent="-152400" lvl="0" marL="91440" rtl="0" algn="l">
              <a:lnSpc>
                <a:spcPct val="90000"/>
              </a:lnSpc>
              <a:spcBef>
                <a:spcPts val="0"/>
              </a:spcBef>
              <a:spcAft>
                <a:spcPts val="0"/>
              </a:spcAft>
              <a:buSzPts val="2400"/>
              <a:buChar char=" "/>
            </a:pPr>
            <a:r>
              <a:rPr lang="en-IN" sz="2400"/>
              <a:t>A program that acts as an </a:t>
            </a:r>
            <a:r>
              <a:rPr b="1" lang="en-IN" sz="2400" u="sng"/>
              <a:t>intermediary between a user of a computer and the computer hardware.</a:t>
            </a:r>
            <a:endParaRPr/>
          </a:p>
          <a:p>
            <a:pPr indent="0" lvl="0" marL="91440" rtl="0" algn="l">
              <a:lnSpc>
                <a:spcPct val="90000"/>
              </a:lnSpc>
              <a:spcBef>
                <a:spcPts val="1400"/>
              </a:spcBef>
              <a:spcAft>
                <a:spcPts val="0"/>
              </a:spcAft>
              <a:buSzPts val="2400"/>
              <a:buNone/>
            </a:pPr>
            <a:r>
              <a:t/>
            </a:r>
            <a:endParaRPr sz="2400"/>
          </a:p>
          <a:p>
            <a:pPr indent="-152400" lvl="0" marL="91440" rtl="0" algn="l">
              <a:lnSpc>
                <a:spcPct val="90000"/>
              </a:lnSpc>
              <a:spcBef>
                <a:spcPts val="1400"/>
              </a:spcBef>
              <a:spcAft>
                <a:spcPts val="0"/>
              </a:spcAft>
              <a:buSzPts val="2400"/>
              <a:buChar char=" "/>
            </a:pPr>
            <a:r>
              <a:rPr lang="en-IN" sz="2400"/>
              <a:t>Provides </a:t>
            </a:r>
            <a:r>
              <a:rPr b="1" lang="en-IN" sz="2400" u="sng"/>
              <a:t>an environment in which a user can execute programs </a:t>
            </a:r>
            <a:r>
              <a:rPr lang="en-IN" sz="2400"/>
              <a:t>in a convenient and efficient manner.</a:t>
            </a:r>
            <a:endParaRPr/>
          </a:p>
          <a:p>
            <a:pPr indent="0" lvl="0" marL="114300" rtl="0" algn="ctr">
              <a:lnSpc>
                <a:spcPct val="90000"/>
              </a:lnSpc>
              <a:spcBef>
                <a:spcPts val="1400"/>
              </a:spcBef>
              <a:spcAft>
                <a:spcPts val="0"/>
              </a:spcAft>
              <a:buSzPts val="2400"/>
              <a:buNone/>
            </a:pPr>
            <a:r>
              <a:rPr b="1" lang="en-IN" sz="2400" u="sng"/>
              <a:t>Goals of an Operating System</a:t>
            </a:r>
            <a:endParaRPr/>
          </a:p>
          <a:p>
            <a:pPr indent="-182880" lvl="1" marL="384048" rtl="0" algn="l">
              <a:lnSpc>
                <a:spcPct val="90000"/>
              </a:lnSpc>
              <a:spcBef>
                <a:spcPts val="400"/>
              </a:spcBef>
              <a:spcAft>
                <a:spcPts val="0"/>
              </a:spcAft>
              <a:buSzPts val="2400"/>
              <a:buChar char="◦"/>
            </a:pPr>
            <a:r>
              <a:rPr lang="en-IN" sz="2400">
                <a:solidFill>
                  <a:srgbClr val="FF0000"/>
                </a:solidFill>
              </a:rPr>
              <a:t>Execute user programs and make solving user problems easier</a:t>
            </a:r>
            <a:endParaRPr/>
          </a:p>
          <a:p>
            <a:pPr indent="-182880" lvl="1" marL="384048" rtl="0" algn="l">
              <a:lnSpc>
                <a:spcPct val="90000"/>
              </a:lnSpc>
              <a:spcBef>
                <a:spcPts val="600"/>
              </a:spcBef>
              <a:spcAft>
                <a:spcPts val="0"/>
              </a:spcAft>
              <a:buSzPts val="2400"/>
              <a:buChar char="◦"/>
            </a:pPr>
            <a:r>
              <a:rPr lang="en-IN" sz="2400"/>
              <a:t>Make the computer system convenient to use</a:t>
            </a:r>
            <a:endParaRPr/>
          </a:p>
          <a:p>
            <a:pPr indent="-182880" lvl="1" marL="384048" rtl="0" algn="l">
              <a:lnSpc>
                <a:spcPct val="90000"/>
              </a:lnSpc>
              <a:spcBef>
                <a:spcPts val="600"/>
              </a:spcBef>
              <a:spcAft>
                <a:spcPts val="0"/>
              </a:spcAft>
              <a:buSzPts val="2400"/>
              <a:buChar char="◦"/>
            </a:pPr>
            <a:r>
              <a:rPr lang="en-IN" sz="2400">
                <a:solidFill>
                  <a:srgbClr val="FF0000"/>
                </a:solidFill>
              </a:rPr>
              <a:t>Use the computer hardware in an efficient manner</a:t>
            </a:r>
            <a:endParaRPr/>
          </a:p>
          <a:p>
            <a:pPr indent="0" lvl="0" marL="114300" rtl="0" algn="ctr">
              <a:lnSpc>
                <a:spcPct val="90000"/>
              </a:lnSpc>
              <a:spcBef>
                <a:spcPts val="1600"/>
              </a:spcBef>
              <a:spcAft>
                <a:spcPts val="0"/>
              </a:spcAft>
              <a:buSzPts val="2400"/>
              <a:buNone/>
            </a:pPr>
            <a:r>
              <a:t/>
            </a:r>
            <a:endParaRPr b="1" sz="2400" u="sng"/>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321" name="Google Shape;321;p2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322" name="Google Shape;322;p2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23" name="Google Shape;323;p23"/>
          <p:cNvSpPr txBox="1"/>
          <p:nvPr>
            <p:ph idx="4294967295" type="title"/>
          </p:nvPr>
        </p:nvSpPr>
        <p:spPr>
          <a:xfrm>
            <a:off x="107950" y="182563"/>
            <a:ext cx="9036050" cy="576262"/>
          </a:xfrm>
          <a:prstGeom prst="rect">
            <a:avLst/>
          </a:prstGeom>
          <a:noFill/>
          <a:ln>
            <a:noFill/>
          </a:ln>
        </p:spPr>
        <p:txBody>
          <a:bodyPr anchorCtr="0" anchor="b" bIns="45700" lIns="91425" spcFirstLastPara="1" rIns="91425" wrap="square" tIns="45700">
            <a:noAutofit/>
          </a:bodyPr>
          <a:lstStyle/>
          <a:p>
            <a:pPr indent="0" lvl="0" marL="0" rtl="0" algn="ctr">
              <a:lnSpc>
                <a:spcPct val="85000"/>
              </a:lnSpc>
              <a:spcBef>
                <a:spcPts val="0"/>
              </a:spcBef>
              <a:spcAft>
                <a:spcPts val="0"/>
              </a:spcAft>
              <a:buClr>
                <a:srgbClr val="3F3F3F"/>
              </a:buClr>
              <a:buSzPts val="2800"/>
              <a:buFont typeface="Calibri"/>
              <a:buNone/>
            </a:pPr>
            <a:r>
              <a:rPr lang="en-IN" sz="2800"/>
              <a:t>Components of a Computer System Structure</a:t>
            </a:r>
            <a:endParaRPr/>
          </a:p>
        </p:txBody>
      </p:sp>
      <p:sp>
        <p:nvSpPr>
          <p:cNvPr id="324" name="Google Shape;324;p23"/>
          <p:cNvSpPr txBox="1"/>
          <p:nvPr>
            <p:ph idx="4294967295" type="body"/>
          </p:nvPr>
        </p:nvSpPr>
        <p:spPr>
          <a:xfrm>
            <a:off x="0" y="1052513"/>
            <a:ext cx="3492500" cy="4483100"/>
          </a:xfrm>
          <a:prstGeom prst="rect">
            <a:avLst/>
          </a:prstGeom>
          <a:noFill/>
          <a:ln>
            <a:noFill/>
          </a:ln>
        </p:spPr>
        <p:txBody>
          <a:bodyPr anchorCtr="0" anchor="t" bIns="45700" lIns="0" spcFirstLastPara="1" rIns="0" wrap="square" tIns="45700">
            <a:noAutofit/>
          </a:bodyPr>
          <a:lstStyle/>
          <a:p>
            <a:pPr indent="-127000" lvl="0" marL="91440" rtl="0" algn="l">
              <a:lnSpc>
                <a:spcPct val="90000"/>
              </a:lnSpc>
              <a:spcBef>
                <a:spcPts val="0"/>
              </a:spcBef>
              <a:spcAft>
                <a:spcPts val="0"/>
              </a:spcAft>
              <a:buSzPts val="2000"/>
              <a:buChar char=" "/>
            </a:pPr>
            <a:r>
              <a:rPr lang="en-IN" sz="2000"/>
              <a:t>Computer system can be divided into four components:</a:t>
            </a:r>
            <a:endParaRPr/>
          </a:p>
          <a:p>
            <a:pPr indent="-182880" lvl="1" marL="384048" rtl="0" algn="l">
              <a:lnSpc>
                <a:spcPct val="90000"/>
              </a:lnSpc>
              <a:spcBef>
                <a:spcPts val="400"/>
              </a:spcBef>
              <a:spcAft>
                <a:spcPts val="0"/>
              </a:spcAft>
              <a:buSzPts val="1800"/>
              <a:buChar char="◦"/>
            </a:pPr>
            <a:r>
              <a:rPr lang="en-IN"/>
              <a:t>Hardware </a:t>
            </a:r>
            <a:endParaRPr/>
          </a:p>
          <a:p>
            <a:pPr indent="-182880" lvl="1" marL="384048" rtl="0" algn="l">
              <a:lnSpc>
                <a:spcPct val="90000"/>
              </a:lnSpc>
              <a:spcBef>
                <a:spcPts val="600"/>
              </a:spcBef>
              <a:spcAft>
                <a:spcPts val="0"/>
              </a:spcAft>
              <a:buSzPts val="1800"/>
              <a:buChar char="◦"/>
            </a:pPr>
            <a:r>
              <a:rPr lang="en-IN"/>
              <a:t>Operating system</a:t>
            </a:r>
            <a:endParaRPr/>
          </a:p>
          <a:p>
            <a:pPr indent="-182880" lvl="1" marL="384048" rtl="0" algn="l">
              <a:lnSpc>
                <a:spcPct val="90000"/>
              </a:lnSpc>
              <a:spcBef>
                <a:spcPts val="600"/>
              </a:spcBef>
              <a:spcAft>
                <a:spcPts val="0"/>
              </a:spcAft>
              <a:buSzPts val="1800"/>
              <a:buChar char="◦"/>
            </a:pPr>
            <a:r>
              <a:rPr lang="en-IN"/>
              <a:t>System &amp; Application programs </a:t>
            </a:r>
            <a:endParaRPr/>
          </a:p>
          <a:p>
            <a:pPr indent="-182880" lvl="1" marL="384048" rtl="0" algn="l">
              <a:lnSpc>
                <a:spcPct val="90000"/>
              </a:lnSpc>
              <a:spcBef>
                <a:spcPts val="600"/>
              </a:spcBef>
              <a:spcAft>
                <a:spcPts val="0"/>
              </a:spcAft>
              <a:buSzPts val="1800"/>
              <a:buChar char="◦"/>
            </a:pPr>
            <a:r>
              <a:rPr lang="en-IN"/>
              <a:t>Users</a:t>
            </a:r>
            <a:endParaRPr/>
          </a:p>
          <a:p>
            <a:pPr indent="-68579" lvl="1" marL="384048" rtl="0" algn="l">
              <a:lnSpc>
                <a:spcPct val="90000"/>
              </a:lnSpc>
              <a:spcBef>
                <a:spcPts val="600"/>
              </a:spcBef>
              <a:spcAft>
                <a:spcPts val="0"/>
              </a:spcAft>
              <a:buSzPts val="1800"/>
              <a:buNone/>
            </a:pPr>
            <a:r>
              <a:t/>
            </a:r>
            <a:endParaRPr sz="1800"/>
          </a:p>
        </p:txBody>
      </p:sp>
      <p:pic>
        <p:nvPicPr>
          <p:cNvPr id="325" name="Google Shape;325;p23"/>
          <p:cNvPicPr preferRelativeResize="0"/>
          <p:nvPr/>
        </p:nvPicPr>
        <p:blipFill rotWithShape="1">
          <a:blip r:embed="rId3">
            <a:alphaModFix/>
          </a:blip>
          <a:srcRect b="0" l="0" r="0" t="0"/>
          <a:stretch/>
        </p:blipFill>
        <p:spPr>
          <a:xfrm>
            <a:off x="3491879" y="1052737"/>
            <a:ext cx="4790819" cy="436254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331" name="Google Shape;331;p2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332" name="Google Shape;332;p2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33" name="Google Shape;333;p24"/>
          <p:cNvSpPr txBox="1"/>
          <p:nvPr>
            <p:ph idx="4294967295" type="title"/>
          </p:nvPr>
        </p:nvSpPr>
        <p:spPr>
          <a:xfrm>
            <a:off x="0" y="188913"/>
            <a:ext cx="7645400"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Computer System Structure</a:t>
            </a:r>
            <a:endParaRPr/>
          </a:p>
        </p:txBody>
      </p:sp>
      <p:sp>
        <p:nvSpPr>
          <p:cNvPr id="334" name="Google Shape;334;p24"/>
          <p:cNvSpPr txBox="1"/>
          <p:nvPr>
            <p:ph idx="4294967295" type="body"/>
          </p:nvPr>
        </p:nvSpPr>
        <p:spPr>
          <a:xfrm>
            <a:off x="0" y="931863"/>
            <a:ext cx="7956550" cy="4483100"/>
          </a:xfrm>
          <a:prstGeom prst="rect">
            <a:avLst/>
          </a:prstGeom>
          <a:noFill/>
          <a:ln>
            <a:noFill/>
          </a:ln>
        </p:spPr>
        <p:txBody>
          <a:bodyPr anchorCtr="0" anchor="t" bIns="45700" lIns="0" spcFirstLastPara="1" rIns="0" wrap="square" tIns="45700">
            <a:noAutofit/>
          </a:bodyPr>
          <a:lstStyle/>
          <a:p>
            <a:pPr indent="-127000" lvl="0" marL="91440" rtl="0" algn="l">
              <a:lnSpc>
                <a:spcPct val="90000"/>
              </a:lnSpc>
              <a:spcBef>
                <a:spcPts val="0"/>
              </a:spcBef>
              <a:spcAft>
                <a:spcPts val="0"/>
              </a:spcAft>
              <a:buSzPts val="2000"/>
              <a:buChar char=" "/>
            </a:pPr>
            <a:r>
              <a:rPr lang="en-IN" sz="2000"/>
              <a:t>Hardware – provides basic computing resources</a:t>
            </a:r>
            <a:endParaRPr/>
          </a:p>
          <a:p>
            <a:pPr indent="-182880" lvl="1" marL="384048" rtl="0" algn="l">
              <a:lnSpc>
                <a:spcPct val="90000"/>
              </a:lnSpc>
              <a:spcBef>
                <a:spcPts val="400"/>
              </a:spcBef>
              <a:spcAft>
                <a:spcPts val="0"/>
              </a:spcAft>
              <a:buSzPts val="1800"/>
              <a:buChar char="◦"/>
            </a:pPr>
            <a:r>
              <a:rPr lang="en-IN"/>
              <a:t>CPU, </a:t>
            </a:r>
            <a:endParaRPr/>
          </a:p>
          <a:p>
            <a:pPr indent="-182880" lvl="1" marL="384048" rtl="0" algn="l">
              <a:lnSpc>
                <a:spcPct val="90000"/>
              </a:lnSpc>
              <a:spcBef>
                <a:spcPts val="600"/>
              </a:spcBef>
              <a:spcAft>
                <a:spcPts val="0"/>
              </a:spcAft>
              <a:buSzPts val="1800"/>
              <a:buChar char="◦"/>
            </a:pPr>
            <a:r>
              <a:rPr lang="en-IN"/>
              <a:t>memory, </a:t>
            </a:r>
            <a:endParaRPr/>
          </a:p>
          <a:p>
            <a:pPr indent="-182880" lvl="1" marL="384048" rtl="0" algn="l">
              <a:lnSpc>
                <a:spcPct val="90000"/>
              </a:lnSpc>
              <a:spcBef>
                <a:spcPts val="600"/>
              </a:spcBef>
              <a:spcAft>
                <a:spcPts val="0"/>
              </a:spcAft>
              <a:buSzPts val="1800"/>
              <a:buChar char="◦"/>
            </a:pPr>
            <a:r>
              <a:rPr lang="en-IN"/>
              <a:t>I/O devices</a:t>
            </a:r>
            <a:endParaRPr/>
          </a:p>
          <a:p>
            <a:pPr indent="0" lvl="0" marL="91440" rtl="0" algn="l">
              <a:lnSpc>
                <a:spcPct val="90000"/>
              </a:lnSpc>
              <a:spcBef>
                <a:spcPts val="1600"/>
              </a:spcBef>
              <a:spcAft>
                <a:spcPts val="0"/>
              </a:spcAft>
              <a:buSzPts val="2000"/>
              <a:buNone/>
            </a:pPr>
            <a:r>
              <a:t/>
            </a:r>
            <a:endParaRPr sz="2000"/>
          </a:p>
          <a:p>
            <a:pPr indent="-127000" lvl="0" marL="91440" rtl="0" algn="l">
              <a:lnSpc>
                <a:spcPct val="90000"/>
              </a:lnSpc>
              <a:spcBef>
                <a:spcPts val="1400"/>
              </a:spcBef>
              <a:spcAft>
                <a:spcPts val="0"/>
              </a:spcAft>
              <a:buSzPts val="2000"/>
              <a:buChar char=" "/>
            </a:pPr>
            <a:r>
              <a:rPr lang="en-IN" sz="2000"/>
              <a:t>Operating system</a:t>
            </a:r>
            <a:endParaRPr/>
          </a:p>
          <a:p>
            <a:pPr indent="-182880" lvl="1" marL="384048" rtl="0" algn="l">
              <a:lnSpc>
                <a:spcPct val="90000"/>
              </a:lnSpc>
              <a:spcBef>
                <a:spcPts val="400"/>
              </a:spcBef>
              <a:spcAft>
                <a:spcPts val="0"/>
              </a:spcAft>
              <a:buSzPts val="1800"/>
              <a:buChar char="◦"/>
            </a:pPr>
            <a:r>
              <a:rPr lang="en-IN"/>
              <a:t>Controls and </a:t>
            </a:r>
            <a:endParaRPr/>
          </a:p>
          <a:p>
            <a:pPr indent="-182880" lvl="1" marL="384048" rtl="0" algn="l">
              <a:lnSpc>
                <a:spcPct val="90000"/>
              </a:lnSpc>
              <a:spcBef>
                <a:spcPts val="600"/>
              </a:spcBef>
              <a:spcAft>
                <a:spcPts val="0"/>
              </a:spcAft>
              <a:buSzPts val="1800"/>
              <a:buChar char="◦"/>
            </a:pPr>
            <a:r>
              <a:rPr lang="en-IN"/>
              <a:t>Coordinates use of hardware among various applications and users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340" name="Google Shape;340;p2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341" name="Google Shape;341;p2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42" name="Google Shape;342;p25"/>
          <p:cNvSpPr txBox="1"/>
          <p:nvPr>
            <p:ph idx="4294967295" type="title"/>
          </p:nvPr>
        </p:nvSpPr>
        <p:spPr>
          <a:xfrm>
            <a:off x="0" y="188913"/>
            <a:ext cx="7645400"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Computer System Structure</a:t>
            </a:r>
            <a:endParaRPr/>
          </a:p>
        </p:txBody>
      </p:sp>
      <p:sp>
        <p:nvSpPr>
          <p:cNvPr id="343" name="Google Shape;343;p25"/>
          <p:cNvSpPr txBox="1"/>
          <p:nvPr>
            <p:ph idx="4294967295" type="body"/>
          </p:nvPr>
        </p:nvSpPr>
        <p:spPr>
          <a:xfrm>
            <a:off x="0" y="806450"/>
            <a:ext cx="7956550" cy="4483100"/>
          </a:xfrm>
          <a:prstGeom prst="rect">
            <a:avLst/>
          </a:prstGeom>
          <a:noFill/>
          <a:ln>
            <a:noFill/>
          </a:ln>
        </p:spPr>
        <p:txBody>
          <a:bodyPr anchorCtr="0" anchor="t" bIns="45700" lIns="0" spcFirstLastPara="1" rIns="0" wrap="square" tIns="45700">
            <a:noAutofit/>
          </a:bodyPr>
          <a:lstStyle/>
          <a:p>
            <a:pPr indent="-127000" lvl="0" marL="91440" rtl="0" algn="l">
              <a:lnSpc>
                <a:spcPct val="90000"/>
              </a:lnSpc>
              <a:spcBef>
                <a:spcPts val="0"/>
              </a:spcBef>
              <a:spcAft>
                <a:spcPts val="0"/>
              </a:spcAft>
              <a:buSzPts val="2000"/>
              <a:buChar char=" "/>
            </a:pPr>
            <a:r>
              <a:rPr lang="en-IN" sz="2000"/>
              <a:t>Application programs </a:t>
            </a:r>
            <a:endParaRPr sz="2000"/>
          </a:p>
          <a:p>
            <a:pPr indent="-182880" lvl="1" marL="384048" rtl="0" algn="l">
              <a:lnSpc>
                <a:spcPct val="90000"/>
              </a:lnSpc>
              <a:spcBef>
                <a:spcPts val="400"/>
              </a:spcBef>
              <a:spcAft>
                <a:spcPts val="0"/>
              </a:spcAft>
              <a:buSzPts val="1800"/>
              <a:buChar char="◦"/>
            </a:pPr>
            <a:r>
              <a:rPr lang="en-IN"/>
              <a:t> define the ways in which the system resources are used </a:t>
            </a:r>
            <a:endParaRPr/>
          </a:p>
          <a:p>
            <a:pPr indent="-182880" lvl="1" marL="384048" rtl="0" algn="l">
              <a:lnSpc>
                <a:spcPct val="90000"/>
              </a:lnSpc>
              <a:spcBef>
                <a:spcPts val="600"/>
              </a:spcBef>
              <a:spcAft>
                <a:spcPts val="0"/>
              </a:spcAft>
              <a:buSzPts val="1800"/>
              <a:buChar char="◦"/>
            </a:pPr>
            <a:r>
              <a:rPr lang="en-IN"/>
              <a:t>to solve the computing problems of the users</a:t>
            </a:r>
            <a:endParaRPr/>
          </a:p>
          <a:p>
            <a:pPr indent="-182880" lvl="2" marL="566928" rtl="0" algn="l">
              <a:lnSpc>
                <a:spcPct val="90000"/>
              </a:lnSpc>
              <a:spcBef>
                <a:spcPts val="600"/>
              </a:spcBef>
              <a:spcAft>
                <a:spcPts val="0"/>
              </a:spcAft>
              <a:buSzPts val="2000"/>
              <a:buChar char="◦"/>
            </a:pPr>
            <a:r>
              <a:rPr lang="en-IN" sz="2000"/>
              <a:t>Word processors, </a:t>
            </a:r>
            <a:endParaRPr/>
          </a:p>
          <a:p>
            <a:pPr indent="-182880" lvl="2" marL="566928" rtl="0" algn="l">
              <a:lnSpc>
                <a:spcPct val="90000"/>
              </a:lnSpc>
              <a:spcBef>
                <a:spcPts val="600"/>
              </a:spcBef>
              <a:spcAft>
                <a:spcPts val="0"/>
              </a:spcAft>
              <a:buSzPts val="2000"/>
              <a:buChar char="◦"/>
            </a:pPr>
            <a:r>
              <a:rPr lang="en-IN" sz="2000"/>
              <a:t>web browsers, </a:t>
            </a:r>
            <a:endParaRPr/>
          </a:p>
          <a:p>
            <a:pPr indent="-182880" lvl="2" marL="566928" rtl="0" algn="l">
              <a:lnSpc>
                <a:spcPct val="90000"/>
              </a:lnSpc>
              <a:spcBef>
                <a:spcPts val="600"/>
              </a:spcBef>
              <a:spcAft>
                <a:spcPts val="0"/>
              </a:spcAft>
              <a:buSzPts val="2000"/>
              <a:buChar char="◦"/>
            </a:pPr>
            <a:r>
              <a:rPr lang="en-IN" sz="2000"/>
              <a:t>database systems, </a:t>
            </a:r>
            <a:endParaRPr/>
          </a:p>
          <a:p>
            <a:pPr indent="-182880" lvl="2" marL="566928" rtl="0" algn="l">
              <a:lnSpc>
                <a:spcPct val="90000"/>
              </a:lnSpc>
              <a:spcBef>
                <a:spcPts val="600"/>
              </a:spcBef>
              <a:spcAft>
                <a:spcPts val="0"/>
              </a:spcAft>
              <a:buSzPts val="2000"/>
              <a:buChar char="◦"/>
            </a:pPr>
            <a:r>
              <a:rPr lang="en-IN" sz="2000"/>
              <a:t>video games</a:t>
            </a:r>
            <a:endParaRPr/>
          </a:p>
          <a:p>
            <a:pPr indent="-127000" lvl="0" marL="91440" rtl="0" algn="l">
              <a:lnSpc>
                <a:spcPct val="90000"/>
              </a:lnSpc>
              <a:spcBef>
                <a:spcPts val="1600"/>
              </a:spcBef>
              <a:spcAft>
                <a:spcPts val="0"/>
              </a:spcAft>
              <a:buSzPts val="2000"/>
              <a:buChar char=" "/>
            </a:pPr>
            <a:r>
              <a:rPr lang="en-IN" sz="2000"/>
              <a:t>Users</a:t>
            </a:r>
            <a:endParaRPr/>
          </a:p>
          <a:p>
            <a:pPr indent="-182880" lvl="1" marL="384048" rtl="0" algn="l">
              <a:lnSpc>
                <a:spcPct val="90000"/>
              </a:lnSpc>
              <a:spcBef>
                <a:spcPts val="400"/>
              </a:spcBef>
              <a:spcAft>
                <a:spcPts val="0"/>
              </a:spcAft>
              <a:buSzPts val="1800"/>
              <a:buChar char="◦"/>
            </a:pPr>
            <a:r>
              <a:rPr lang="en-IN"/>
              <a:t>People, machines, other computers</a:t>
            </a:r>
            <a:endParaRPr/>
          </a:p>
          <a:p>
            <a:pPr indent="-182880" lvl="1" marL="384048" rtl="0" algn="l">
              <a:lnSpc>
                <a:spcPct val="90000"/>
              </a:lnSpc>
              <a:spcBef>
                <a:spcPts val="600"/>
              </a:spcBef>
              <a:spcAft>
                <a:spcPts val="0"/>
              </a:spcAft>
              <a:buSzPts val="1800"/>
              <a:buChar char="◦"/>
            </a:pPr>
            <a:r>
              <a:rPr lang="en-IN">
                <a:solidFill>
                  <a:srgbClr val="FF0000"/>
                </a:solidFill>
              </a:rPr>
              <a:t>OS controls and coordinates the use of hardware among the various application programs for the various users</a:t>
            </a:r>
            <a:r>
              <a:rPr lang="en-IN"/>
              <a:t>.</a:t>
            </a:r>
            <a:endParaRPr/>
          </a:p>
          <a:p>
            <a:pPr indent="-43179" lvl="1" marL="384048" rtl="0" algn="l">
              <a:lnSpc>
                <a:spcPct val="90000"/>
              </a:lnSpc>
              <a:spcBef>
                <a:spcPts val="600"/>
              </a:spcBef>
              <a:spcAft>
                <a:spcPts val="0"/>
              </a:spcAft>
              <a:buSzPts val="2200"/>
              <a:buNone/>
            </a:pPr>
            <a:r>
              <a:t/>
            </a:r>
            <a:endParaRPr sz="2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6"/>
          <p:cNvSpPr txBox="1"/>
          <p:nvPr>
            <p:ph type="title"/>
          </p:nvPr>
        </p:nvSpPr>
        <p:spPr>
          <a:xfrm>
            <a:off x="395536" y="116632"/>
            <a:ext cx="8229600" cy="56207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2800"/>
              <a:buFont typeface="Calibri"/>
              <a:buNone/>
            </a:pPr>
            <a:r>
              <a:rPr lang="en-IN" sz="2800"/>
              <a:t>Evolution of Operating System</a:t>
            </a:r>
            <a:endParaRPr sz="2800"/>
          </a:p>
        </p:txBody>
      </p:sp>
      <p:sp>
        <p:nvSpPr>
          <p:cNvPr id="349" name="Google Shape;349;p26"/>
          <p:cNvSpPr txBox="1"/>
          <p:nvPr>
            <p:ph idx="1" type="body"/>
          </p:nvPr>
        </p:nvSpPr>
        <p:spPr>
          <a:xfrm>
            <a:off x="467544" y="764704"/>
            <a:ext cx="8229600" cy="5073427"/>
          </a:xfrm>
          <a:prstGeom prst="rect">
            <a:avLst/>
          </a:prstGeom>
          <a:noFill/>
          <a:ln>
            <a:noFill/>
          </a:ln>
        </p:spPr>
        <p:txBody>
          <a:bodyPr anchorCtr="0" anchor="t" bIns="45700" lIns="0" spcFirstLastPara="1" rIns="0" wrap="square" tIns="45700">
            <a:normAutofit fontScale="85000" lnSpcReduction="20000"/>
          </a:bodyPr>
          <a:lstStyle/>
          <a:p>
            <a:pPr indent="-107950" lvl="0" marL="91440" rtl="0" algn="l">
              <a:lnSpc>
                <a:spcPct val="90000"/>
              </a:lnSpc>
              <a:spcBef>
                <a:spcPts val="0"/>
              </a:spcBef>
              <a:spcAft>
                <a:spcPts val="0"/>
              </a:spcAft>
              <a:buSzPct val="100000"/>
              <a:buChar char=" "/>
            </a:pPr>
            <a:r>
              <a:rPr lang="en-IN"/>
              <a:t>Mainframe System</a:t>
            </a:r>
            <a:endParaRPr/>
          </a:p>
          <a:p>
            <a:pPr indent="-182880" lvl="1" marL="384048" rtl="0" algn="l">
              <a:lnSpc>
                <a:spcPct val="90000"/>
              </a:lnSpc>
              <a:spcBef>
                <a:spcPts val="400"/>
              </a:spcBef>
              <a:spcAft>
                <a:spcPts val="0"/>
              </a:spcAft>
              <a:buSzPct val="100000"/>
              <a:buChar char="◦"/>
            </a:pPr>
            <a:r>
              <a:rPr lang="en-IN"/>
              <a:t>Batch Systems</a:t>
            </a:r>
            <a:endParaRPr/>
          </a:p>
          <a:p>
            <a:pPr indent="-182880" lvl="1" marL="384048" rtl="0" algn="l">
              <a:lnSpc>
                <a:spcPct val="90000"/>
              </a:lnSpc>
              <a:spcBef>
                <a:spcPts val="600"/>
              </a:spcBef>
              <a:spcAft>
                <a:spcPts val="0"/>
              </a:spcAft>
              <a:buSzPct val="100000"/>
              <a:buChar char="◦"/>
            </a:pPr>
            <a:r>
              <a:rPr lang="en-IN"/>
              <a:t>Multi-programmed Systems</a:t>
            </a:r>
            <a:endParaRPr/>
          </a:p>
          <a:p>
            <a:pPr indent="-182880" lvl="1" marL="384048" rtl="0" algn="l">
              <a:lnSpc>
                <a:spcPct val="90000"/>
              </a:lnSpc>
              <a:spcBef>
                <a:spcPts val="600"/>
              </a:spcBef>
              <a:spcAft>
                <a:spcPts val="0"/>
              </a:spcAft>
              <a:buSzPct val="100000"/>
              <a:buChar char="◦"/>
            </a:pPr>
            <a:r>
              <a:rPr lang="en-IN"/>
              <a:t>Time Sharing Systems</a:t>
            </a:r>
            <a:endParaRPr/>
          </a:p>
          <a:p>
            <a:pPr indent="-107950" lvl="0" marL="91440" rtl="0" algn="l">
              <a:lnSpc>
                <a:spcPct val="90000"/>
              </a:lnSpc>
              <a:spcBef>
                <a:spcPts val="1600"/>
              </a:spcBef>
              <a:spcAft>
                <a:spcPts val="0"/>
              </a:spcAft>
              <a:buSzPct val="100000"/>
              <a:buChar char=" "/>
            </a:pPr>
            <a:r>
              <a:rPr lang="en-IN"/>
              <a:t>Desktop Systems</a:t>
            </a:r>
            <a:endParaRPr/>
          </a:p>
          <a:p>
            <a:pPr indent="-182880" lvl="1" marL="384048" rtl="0" algn="l">
              <a:lnSpc>
                <a:spcPct val="90000"/>
              </a:lnSpc>
              <a:spcBef>
                <a:spcPts val="400"/>
              </a:spcBef>
              <a:spcAft>
                <a:spcPts val="0"/>
              </a:spcAft>
              <a:buSzPct val="100000"/>
              <a:buChar char="◦"/>
            </a:pPr>
            <a:r>
              <a:rPr lang="en-IN"/>
              <a:t>Multiprocessor Systems</a:t>
            </a:r>
            <a:endParaRPr/>
          </a:p>
          <a:p>
            <a:pPr indent="-182880" lvl="2" marL="566928" rtl="0" algn="l">
              <a:lnSpc>
                <a:spcPct val="90000"/>
              </a:lnSpc>
              <a:spcBef>
                <a:spcPts val="600"/>
              </a:spcBef>
              <a:spcAft>
                <a:spcPts val="0"/>
              </a:spcAft>
              <a:buSzPct val="100000"/>
              <a:buChar char="◦"/>
            </a:pPr>
            <a:r>
              <a:rPr lang="en-IN"/>
              <a:t>Symmetric Multiprocessor</a:t>
            </a:r>
            <a:endParaRPr/>
          </a:p>
          <a:p>
            <a:pPr indent="-182880" lvl="2" marL="566928" rtl="0" algn="l">
              <a:lnSpc>
                <a:spcPct val="90000"/>
              </a:lnSpc>
              <a:spcBef>
                <a:spcPts val="600"/>
              </a:spcBef>
              <a:spcAft>
                <a:spcPts val="0"/>
              </a:spcAft>
              <a:buSzPct val="100000"/>
              <a:buChar char="◦"/>
            </a:pPr>
            <a:r>
              <a:rPr lang="en-IN"/>
              <a:t>Asymmetric Multiprocessor</a:t>
            </a:r>
            <a:endParaRPr/>
          </a:p>
          <a:p>
            <a:pPr indent="-107950" lvl="0" marL="91440" rtl="0" algn="l">
              <a:lnSpc>
                <a:spcPct val="90000"/>
              </a:lnSpc>
              <a:spcBef>
                <a:spcPts val="1600"/>
              </a:spcBef>
              <a:spcAft>
                <a:spcPts val="0"/>
              </a:spcAft>
              <a:buSzPct val="100000"/>
              <a:buChar char=" "/>
            </a:pPr>
            <a:r>
              <a:rPr lang="en-IN"/>
              <a:t>Distributed Systems</a:t>
            </a:r>
            <a:endParaRPr/>
          </a:p>
          <a:p>
            <a:pPr indent="-182880" lvl="1" marL="384048" rtl="0" algn="l">
              <a:lnSpc>
                <a:spcPct val="90000"/>
              </a:lnSpc>
              <a:spcBef>
                <a:spcPts val="400"/>
              </a:spcBef>
              <a:spcAft>
                <a:spcPts val="0"/>
              </a:spcAft>
              <a:buSzPct val="100000"/>
              <a:buChar char="◦"/>
            </a:pPr>
            <a:r>
              <a:rPr lang="en-IN"/>
              <a:t>Client Server Systems</a:t>
            </a:r>
            <a:endParaRPr/>
          </a:p>
          <a:p>
            <a:pPr indent="-182880" lvl="1" marL="384048" rtl="0" algn="l">
              <a:lnSpc>
                <a:spcPct val="90000"/>
              </a:lnSpc>
              <a:spcBef>
                <a:spcPts val="600"/>
              </a:spcBef>
              <a:spcAft>
                <a:spcPts val="0"/>
              </a:spcAft>
              <a:buSzPct val="100000"/>
              <a:buChar char="◦"/>
            </a:pPr>
            <a:r>
              <a:rPr lang="en-IN"/>
              <a:t>Peer to Peer Systems</a:t>
            </a:r>
            <a:endParaRPr/>
          </a:p>
          <a:p>
            <a:pPr indent="-107950" lvl="0" marL="91440" rtl="0" algn="l">
              <a:lnSpc>
                <a:spcPct val="90000"/>
              </a:lnSpc>
              <a:spcBef>
                <a:spcPts val="1600"/>
              </a:spcBef>
              <a:spcAft>
                <a:spcPts val="0"/>
              </a:spcAft>
              <a:buSzPct val="100000"/>
              <a:buChar char=" "/>
            </a:pPr>
            <a:r>
              <a:rPr lang="en-IN"/>
              <a:t>Clustered Systems</a:t>
            </a:r>
            <a:endParaRPr/>
          </a:p>
          <a:p>
            <a:pPr indent="-182880" lvl="1" marL="384048" rtl="0" algn="l">
              <a:lnSpc>
                <a:spcPct val="90000"/>
              </a:lnSpc>
              <a:spcBef>
                <a:spcPts val="400"/>
              </a:spcBef>
              <a:spcAft>
                <a:spcPts val="0"/>
              </a:spcAft>
              <a:buSzPct val="100000"/>
              <a:buChar char="◦"/>
            </a:pPr>
            <a:r>
              <a:rPr lang="en-IN"/>
              <a:t>Asymmetric clustering</a:t>
            </a:r>
            <a:endParaRPr/>
          </a:p>
          <a:p>
            <a:pPr indent="-182880" lvl="1" marL="384048" rtl="0" algn="l">
              <a:lnSpc>
                <a:spcPct val="90000"/>
              </a:lnSpc>
              <a:spcBef>
                <a:spcPts val="600"/>
              </a:spcBef>
              <a:spcAft>
                <a:spcPts val="0"/>
              </a:spcAft>
              <a:buSzPct val="100000"/>
              <a:buChar char="◦"/>
            </a:pPr>
            <a:r>
              <a:rPr lang="en-IN"/>
              <a:t>Symmetric clustering</a:t>
            </a:r>
            <a:endParaRPr/>
          </a:p>
          <a:p>
            <a:pPr indent="-107950" lvl="0" marL="91440" rtl="0" algn="l">
              <a:lnSpc>
                <a:spcPct val="90000"/>
              </a:lnSpc>
              <a:spcBef>
                <a:spcPts val="1600"/>
              </a:spcBef>
              <a:spcAft>
                <a:spcPts val="0"/>
              </a:spcAft>
              <a:buSzPct val="100000"/>
              <a:buChar char=" "/>
            </a:pPr>
            <a:r>
              <a:rPr lang="en-IN"/>
              <a:t>Real Systems</a:t>
            </a:r>
            <a:endParaRPr/>
          </a:p>
          <a:p>
            <a:pPr indent="-182880" lvl="1" marL="384048" rtl="0" algn="l">
              <a:lnSpc>
                <a:spcPct val="90000"/>
              </a:lnSpc>
              <a:spcBef>
                <a:spcPts val="400"/>
              </a:spcBef>
              <a:spcAft>
                <a:spcPts val="0"/>
              </a:spcAft>
              <a:buSzPct val="100000"/>
              <a:buChar char="◦"/>
            </a:pPr>
            <a:r>
              <a:rPr lang="en-IN"/>
              <a:t>Hard Real Time System</a:t>
            </a:r>
            <a:endParaRPr/>
          </a:p>
          <a:p>
            <a:pPr indent="-182880" lvl="1" marL="384048" rtl="0" algn="l">
              <a:lnSpc>
                <a:spcPct val="90000"/>
              </a:lnSpc>
              <a:spcBef>
                <a:spcPts val="600"/>
              </a:spcBef>
              <a:spcAft>
                <a:spcPts val="0"/>
              </a:spcAft>
              <a:buSzPct val="100000"/>
              <a:buChar char="◦"/>
            </a:pPr>
            <a:r>
              <a:rPr lang="en-IN"/>
              <a:t>Soft Real Time System</a:t>
            </a:r>
            <a:endParaRPr/>
          </a:p>
          <a:p>
            <a:pPr indent="-107950" lvl="0" marL="91440" rtl="0" algn="l">
              <a:lnSpc>
                <a:spcPct val="90000"/>
              </a:lnSpc>
              <a:spcBef>
                <a:spcPts val="1600"/>
              </a:spcBef>
              <a:spcAft>
                <a:spcPts val="0"/>
              </a:spcAft>
              <a:buSzPct val="100000"/>
              <a:buChar char=" "/>
            </a:pPr>
            <a:r>
              <a:rPr lang="en-IN"/>
              <a:t>HandHeld Systems</a:t>
            </a:r>
            <a:endParaRPr/>
          </a:p>
        </p:txBody>
      </p:sp>
      <p:sp>
        <p:nvSpPr>
          <p:cNvPr id="350" name="Google Shape;350;p2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351" name="Google Shape;351;p2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352" name="Google Shape;352;p2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7"/>
          <p:cNvSpPr txBox="1"/>
          <p:nvPr>
            <p:ph type="title"/>
          </p:nvPr>
        </p:nvSpPr>
        <p:spPr>
          <a:xfrm>
            <a:off x="107504" y="188640"/>
            <a:ext cx="7465640" cy="562074"/>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200"/>
              <a:buFont typeface="Calibri"/>
              <a:buNone/>
            </a:pPr>
            <a:r>
              <a:rPr lang="en-IN" sz="3200"/>
              <a:t>Evolution of Operating System</a:t>
            </a:r>
            <a:endParaRPr/>
          </a:p>
        </p:txBody>
      </p:sp>
      <p:sp>
        <p:nvSpPr>
          <p:cNvPr id="358" name="Google Shape;358;p27"/>
          <p:cNvSpPr txBox="1"/>
          <p:nvPr>
            <p:ph idx="1" type="body"/>
          </p:nvPr>
        </p:nvSpPr>
        <p:spPr>
          <a:xfrm>
            <a:off x="323528" y="848360"/>
            <a:ext cx="7620000" cy="4800600"/>
          </a:xfrm>
          <a:prstGeom prst="rect">
            <a:avLst/>
          </a:prstGeom>
          <a:noFill/>
          <a:ln>
            <a:noFill/>
          </a:ln>
        </p:spPr>
        <p:txBody>
          <a:bodyPr anchorCtr="0" anchor="t" bIns="45700" lIns="0" spcFirstLastPara="1" rIns="0" wrap="square" tIns="45700">
            <a:normAutofit lnSpcReduction="10000"/>
          </a:bodyPr>
          <a:lstStyle/>
          <a:p>
            <a:pPr indent="0" lvl="0" marL="114300" rtl="0" algn="l">
              <a:lnSpc>
                <a:spcPct val="90000"/>
              </a:lnSpc>
              <a:spcBef>
                <a:spcPts val="0"/>
              </a:spcBef>
              <a:spcAft>
                <a:spcPts val="0"/>
              </a:spcAft>
              <a:buSzPts val="2000"/>
              <a:buNone/>
            </a:pPr>
            <a:r>
              <a:rPr b="1" lang="en-IN"/>
              <a:t>Early Systems (1940s-1950s)- Batch Processing Systems</a:t>
            </a:r>
            <a:r>
              <a:rPr lang="en-IN"/>
              <a:t>:</a:t>
            </a:r>
            <a:endParaRPr/>
          </a:p>
          <a:p>
            <a:pPr indent="-127000" lvl="0" marL="91440" rtl="0" algn="l">
              <a:lnSpc>
                <a:spcPct val="90000"/>
              </a:lnSpc>
              <a:spcBef>
                <a:spcPts val="1400"/>
              </a:spcBef>
              <a:spcAft>
                <a:spcPts val="0"/>
              </a:spcAft>
              <a:buSzPts val="2000"/>
              <a:buChar char=" "/>
            </a:pPr>
            <a:r>
              <a:rPr lang="en-IN"/>
              <a:t>one job at a time in a batch mode. Jobs were collected and processed sequentially without user interaction.</a:t>
            </a:r>
            <a:endParaRPr/>
          </a:p>
          <a:p>
            <a:pPr indent="-127000" lvl="0" marL="91440" rtl="0" algn="l">
              <a:lnSpc>
                <a:spcPct val="90000"/>
              </a:lnSpc>
              <a:spcBef>
                <a:spcPts val="1400"/>
              </a:spcBef>
              <a:spcAft>
                <a:spcPts val="0"/>
              </a:spcAft>
              <a:buSzPts val="2000"/>
              <a:buChar char=" "/>
            </a:pPr>
            <a:r>
              <a:rPr lang="en-IN"/>
              <a:t>Examples: IBM 701, UNIVAC.</a:t>
            </a:r>
            <a:endParaRPr/>
          </a:p>
          <a:p>
            <a:pPr indent="0" lvl="0" marL="114300" rtl="0" algn="l">
              <a:lnSpc>
                <a:spcPct val="90000"/>
              </a:lnSpc>
              <a:spcBef>
                <a:spcPts val="1400"/>
              </a:spcBef>
              <a:spcAft>
                <a:spcPts val="0"/>
              </a:spcAft>
              <a:buSzPts val="2000"/>
              <a:buNone/>
            </a:pPr>
            <a:r>
              <a:rPr b="1" lang="en-IN"/>
              <a:t>Simple Batch Systems (1950s-1960s)- Resident Monitor</a:t>
            </a:r>
            <a:r>
              <a:rPr lang="en-IN"/>
              <a:t>:</a:t>
            </a:r>
            <a:endParaRPr/>
          </a:p>
          <a:p>
            <a:pPr indent="-127000" lvl="0" marL="91440" rtl="0" algn="l">
              <a:lnSpc>
                <a:spcPct val="90000"/>
              </a:lnSpc>
              <a:spcBef>
                <a:spcPts val="1400"/>
              </a:spcBef>
              <a:spcAft>
                <a:spcPts val="0"/>
              </a:spcAft>
              <a:buSzPts val="2000"/>
              <a:buChar char=" "/>
            </a:pPr>
            <a:r>
              <a:rPr lang="en-IN"/>
              <a:t>An early form of the OS that resided in memory to handle job sequencing.</a:t>
            </a:r>
            <a:endParaRPr/>
          </a:p>
          <a:p>
            <a:pPr indent="-127000" lvl="0" marL="91440" rtl="0" algn="l">
              <a:lnSpc>
                <a:spcPct val="90000"/>
              </a:lnSpc>
              <a:spcBef>
                <a:spcPts val="1400"/>
              </a:spcBef>
              <a:spcAft>
                <a:spcPts val="0"/>
              </a:spcAft>
              <a:buSzPts val="2000"/>
              <a:buChar char=" "/>
            </a:pPr>
            <a:r>
              <a:rPr lang="en-IN"/>
              <a:t>Jobs were processed in batches with minimal manual intervention.</a:t>
            </a:r>
            <a:endParaRPr/>
          </a:p>
          <a:p>
            <a:pPr indent="-127000" lvl="0" marL="91440" rtl="0" algn="l">
              <a:lnSpc>
                <a:spcPct val="90000"/>
              </a:lnSpc>
              <a:spcBef>
                <a:spcPts val="1400"/>
              </a:spcBef>
              <a:spcAft>
                <a:spcPts val="0"/>
              </a:spcAft>
              <a:buSzPts val="2000"/>
              <a:buChar char=" "/>
            </a:pPr>
            <a:r>
              <a:rPr lang="en-IN"/>
              <a:t>Examples: IBM 1401.</a:t>
            </a:r>
            <a:endParaRPr/>
          </a:p>
          <a:p>
            <a:pPr indent="0" lvl="0" marL="114300" rtl="0" algn="l">
              <a:lnSpc>
                <a:spcPct val="90000"/>
              </a:lnSpc>
              <a:spcBef>
                <a:spcPts val="1400"/>
              </a:spcBef>
              <a:spcAft>
                <a:spcPts val="0"/>
              </a:spcAft>
              <a:buSzPts val="2000"/>
              <a:buNone/>
            </a:pPr>
            <a:r>
              <a:rPr b="1" lang="en-IN"/>
              <a:t>Single-User, Single-Tasking Systems (1960s-1970s)</a:t>
            </a:r>
            <a:endParaRPr/>
          </a:p>
          <a:p>
            <a:pPr indent="-127000" lvl="0" marL="91440" rtl="0" algn="l">
              <a:lnSpc>
                <a:spcPct val="90000"/>
              </a:lnSpc>
              <a:spcBef>
                <a:spcPts val="1400"/>
              </a:spcBef>
              <a:spcAft>
                <a:spcPts val="0"/>
              </a:spcAft>
              <a:buSzPts val="2000"/>
              <a:buChar char=" "/>
            </a:pPr>
            <a:br>
              <a:rPr lang="en-IN"/>
            </a:br>
            <a:endParaRPr/>
          </a:p>
        </p:txBody>
      </p:sp>
      <p:sp>
        <p:nvSpPr>
          <p:cNvPr id="359" name="Google Shape;359;p2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360" name="Google Shape;360;p2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361" name="Google Shape;361;p2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8"/>
          <p:cNvSpPr txBox="1"/>
          <p:nvPr>
            <p:ph type="title"/>
          </p:nvPr>
        </p:nvSpPr>
        <p:spPr>
          <a:xfrm>
            <a:off x="230830" y="68688"/>
            <a:ext cx="7825680" cy="562074"/>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200"/>
              <a:buFont typeface="Calibri"/>
              <a:buNone/>
            </a:pPr>
            <a:r>
              <a:rPr lang="en-IN" sz="3200"/>
              <a:t>Evolution of Operating System</a:t>
            </a:r>
            <a:endParaRPr/>
          </a:p>
        </p:txBody>
      </p:sp>
      <p:sp>
        <p:nvSpPr>
          <p:cNvPr id="367" name="Google Shape;367;p28"/>
          <p:cNvSpPr txBox="1"/>
          <p:nvPr>
            <p:ph idx="1" type="body"/>
          </p:nvPr>
        </p:nvSpPr>
        <p:spPr>
          <a:xfrm>
            <a:off x="333670" y="848360"/>
            <a:ext cx="7620000" cy="4800600"/>
          </a:xfrm>
          <a:prstGeom prst="rect">
            <a:avLst/>
          </a:prstGeom>
          <a:noFill/>
          <a:ln>
            <a:noFill/>
          </a:ln>
        </p:spPr>
        <p:txBody>
          <a:bodyPr anchorCtr="0" anchor="t" bIns="45700" lIns="0" spcFirstLastPara="1" rIns="0" wrap="square" tIns="45700">
            <a:normAutofit fontScale="85000" lnSpcReduction="20000"/>
          </a:bodyPr>
          <a:lstStyle/>
          <a:p>
            <a:pPr indent="0" lvl="0" marL="114300" rtl="0" algn="l">
              <a:lnSpc>
                <a:spcPct val="90000"/>
              </a:lnSpc>
              <a:spcBef>
                <a:spcPts val="0"/>
              </a:spcBef>
              <a:spcAft>
                <a:spcPts val="0"/>
              </a:spcAft>
              <a:buSzPct val="100000"/>
              <a:buNone/>
            </a:pPr>
            <a:r>
              <a:rPr b="1" lang="en-IN"/>
              <a:t>Single-User, Multiprocessing Systems (1970s-1980s)</a:t>
            </a:r>
            <a:endParaRPr/>
          </a:p>
          <a:p>
            <a:pPr indent="-107950" lvl="0" marL="91440" rtl="0" algn="l">
              <a:lnSpc>
                <a:spcPct val="90000"/>
              </a:lnSpc>
              <a:spcBef>
                <a:spcPts val="1400"/>
              </a:spcBef>
              <a:spcAft>
                <a:spcPts val="0"/>
              </a:spcAft>
              <a:buSzPct val="100000"/>
              <a:buChar char=" "/>
            </a:pPr>
            <a:r>
              <a:rPr lang="en-IN"/>
              <a:t>Examples: Early versions of macOS (Classic Mac OS), MS-DOS with TSR (Terminate and Stay Resident) programs.</a:t>
            </a:r>
            <a:endParaRPr/>
          </a:p>
          <a:p>
            <a:pPr indent="0" lvl="0" marL="114300" rtl="0" algn="l">
              <a:lnSpc>
                <a:spcPct val="90000"/>
              </a:lnSpc>
              <a:spcBef>
                <a:spcPts val="1400"/>
              </a:spcBef>
              <a:spcAft>
                <a:spcPts val="0"/>
              </a:spcAft>
              <a:buSzPct val="100000"/>
              <a:buNone/>
            </a:pPr>
            <a:r>
              <a:rPr b="1" lang="en-IN"/>
              <a:t>Multiprogramming Systems (1960s):</a:t>
            </a:r>
            <a:endParaRPr/>
          </a:p>
          <a:p>
            <a:pPr indent="-107950" lvl="0" marL="91440" rtl="0" algn="l">
              <a:lnSpc>
                <a:spcPct val="90000"/>
              </a:lnSpc>
              <a:spcBef>
                <a:spcPts val="1400"/>
              </a:spcBef>
              <a:spcAft>
                <a:spcPts val="0"/>
              </a:spcAft>
              <a:buSzPct val="100000"/>
              <a:buChar char=" "/>
            </a:pPr>
            <a:r>
              <a:rPr lang="en-IN"/>
              <a:t>Multiple programs could be loaded into memory and executed concurrently by the CPU.</a:t>
            </a:r>
            <a:endParaRPr/>
          </a:p>
          <a:p>
            <a:pPr indent="-107950" lvl="0" marL="91440" rtl="0" algn="l">
              <a:lnSpc>
                <a:spcPct val="90000"/>
              </a:lnSpc>
              <a:spcBef>
                <a:spcPts val="1400"/>
              </a:spcBef>
              <a:spcAft>
                <a:spcPts val="0"/>
              </a:spcAft>
              <a:buSzPct val="100000"/>
              <a:buChar char=" "/>
            </a:pPr>
            <a:r>
              <a:rPr lang="en-IN"/>
              <a:t>Examples: IBM System/360, CTSS (Compatible Time-Sharing System).</a:t>
            </a:r>
            <a:endParaRPr/>
          </a:p>
          <a:p>
            <a:pPr indent="0" lvl="0" marL="114300" rtl="0" algn="l">
              <a:lnSpc>
                <a:spcPct val="90000"/>
              </a:lnSpc>
              <a:spcBef>
                <a:spcPts val="1400"/>
              </a:spcBef>
              <a:spcAft>
                <a:spcPts val="0"/>
              </a:spcAft>
              <a:buSzPct val="100000"/>
              <a:buNone/>
            </a:pPr>
            <a:r>
              <a:rPr b="1" lang="en-IN"/>
              <a:t>Time-Sharing Systems (1960s-1970s) : </a:t>
            </a:r>
            <a:endParaRPr/>
          </a:p>
          <a:p>
            <a:pPr indent="-107950" lvl="0" marL="91440" rtl="0" algn="l">
              <a:lnSpc>
                <a:spcPct val="90000"/>
              </a:lnSpc>
              <a:spcBef>
                <a:spcPts val="1400"/>
              </a:spcBef>
              <a:spcAft>
                <a:spcPts val="0"/>
              </a:spcAft>
              <a:buSzPct val="100000"/>
              <a:buChar char=" "/>
            </a:pPr>
            <a:r>
              <a:rPr lang="en-IN"/>
              <a:t>Examples: MULTICS (Multiplexed Information and Computing Service), Unix.</a:t>
            </a:r>
            <a:endParaRPr/>
          </a:p>
          <a:p>
            <a:pPr indent="0" lvl="0" marL="114300" rtl="0" algn="l">
              <a:lnSpc>
                <a:spcPct val="90000"/>
              </a:lnSpc>
              <a:spcBef>
                <a:spcPts val="1400"/>
              </a:spcBef>
              <a:spcAft>
                <a:spcPts val="0"/>
              </a:spcAft>
              <a:buSzPct val="100000"/>
              <a:buNone/>
            </a:pPr>
            <a:r>
              <a:rPr b="1" lang="en-IN"/>
              <a:t>Multi-User, Multiprocessing Systems (1970s-1980s)</a:t>
            </a:r>
            <a:endParaRPr/>
          </a:p>
          <a:p>
            <a:pPr indent="-107950" lvl="0" marL="91440" rtl="0" algn="l">
              <a:lnSpc>
                <a:spcPct val="90000"/>
              </a:lnSpc>
              <a:spcBef>
                <a:spcPts val="1400"/>
              </a:spcBef>
              <a:spcAft>
                <a:spcPts val="0"/>
              </a:spcAft>
              <a:buSzPct val="100000"/>
              <a:buChar char=" "/>
            </a:pPr>
            <a:r>
              <a:rPr lang="en-IN"/>
              <a:t>Examples: Unix, VMS (Virtual Memory System).</a:t>
            </a:r>
            <a:endParaRPr/>
          </a:p>
          <a:p>
            <a:pPr indent="0" lvl="0" marL="114300" rtl="0" algn="l">
              <a:lnSpc>
                <a:spcPct val="90000"/>
              </a:lnSpc>
              <a:spcBef>
                <a:spcPts val="1400"/>
              </a:spcBef>
              <a:spcAft>
                <a:spcPts val="0"/>
              </a:spcAft>
              <a:buSzPct val="100000"/>
              <a:buNone/>
            </a:pPr>
            <a:r>
              <a:rPr b="1" lang="en-IN"/>
              <a:t>Personal Computer Operating Systems (1980s-1990s): Single-User, Multiprocessing</a:t>
            </a:r>
            <a:r>
              <a:rPr lang="en-IN"/>
              <a:t>:</a:t>
            </a:r>
            <a:endParaRPr/>
          </a:p>
          <a:p>
            <a:pPr indent="-107950" lvl="0" marL="91440" rtl="0" algn="l">
              <a:lnSpc>
                <a:spcPct val="90000"/>
              </a:lnSpc>
              <a:spcBef>
                <a:spcPts val="1400"/>
              </a:spcBef>
              <a:spcAft>
                <a:spcPts val="0"/>
              </a:spcAft>
              <a:buSzPct val="100000"/>
              <a:buChar char=" "/>
            </a:pPr>
            <a:r>
              <a:rPr lang="en-IN"/>
              <a:t>GUI became popular, making computers more accessible.</a:t>
            </a:r>
            <a:endParaRPr/>
          </a:p>
          <a:p>
            <a:pPr indent="-107950" lvl="0" marL="91440" rtl="0" algn="l">
              <a:lnSpc>
                <a:spcPct val="90000"/>
              </a:lnSpc>
              <a:spcBef>
                <a:spcPts val="1400"/>
              </a:spcBef>
              <a:spcAft>
                <a:spcPts val="0"/>
              </a:spcAft>
              <a:buSzPct val="100000"/>
              <a:buChar char=" "/>
            </a:pPr>
            <a:r>
              <a:rPr lang="en-IN"/>
              <a:t>Examples: Windows 95, Mac OS.</a:t>
            </a:r>
            <a:endParaRPr/>
          </a:p>
          <a:p>
            <a:pPr indent="0" lvl="0" marL="91440" rtl="0" algn="l">
              <a:lnSpc>
                <a:spcPct val="90000"/>
              </a:lnSpc>
              <a:spcBef>
                <a:spcPts val="1400"/>
              </a:spcBef>
              <a:spcAft>
                <a:spcPts val="0"/>
              </a:spcAft>
              <a:buSzPct val="100000"/>
              <a:buNone/>
            </a:pPr>
            <a:r>
              <a:t/>
            </a:r>
            <a:endParaRPr/>
          </a:p>
        </p:txBody>
      </p:sp>
      <p:sp>
        <p:nvSpPr>
          <p:cNvPr id="368" name="Google Shape;368;p2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369" name="Google Shape;369;p2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370" name="Google Shape;370;p2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9"/>
          <p:cNvSpPr txBox="1"/>
          <p:nvPr>
            <p:ph type="title"/>
          </p:nvPr>
        </p:nvSpPr>
        <p:spPr>
          <a:xfrm>
            <a:off x="107504" y="188640"/>
            <a:ext cx="7177608" cy="50405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sz="3200"/>
              <a:t>Evolution of Operating System</a:t>
            </a:r>
            <a:endParaRPr/>
          </a:p>
        </p:txBody>
      </p:sp>
      <p:sp>
        <p:nvSpPr>
          <p:cNvPr id="376" name="Google Shape;376;p29"/>
          <p:cNvSpPr txBox="1"/>
          <p:nvPr>
            <p:ph idx="1" type="body"/>
          </p:nvPr>
        </p:nvSpPr>
        <p:spPr>
          <a:xfrm>
            <a:off x="467544" y="692696"/>
            <a:ext cx="7609656" cy="6048672"/>
          </a:xfrm>
          <a:prstGeom prst="rect">
            <a:avLst/>
          </a:prstGeom>
          <a:noFill/>
          <a:ln>
            <a:noFill/>
          </a:ln>
        </p:spPr>
        <p:txBody>
          <a:bodyPr anchorCtr="0" anchor="t" bIns="45700" lIns="0" spcFirstLastPara="1" rIns="0" wrap="square" tIns="45700">
            <a:noAutofit/>
          </a:bodyPr>
          <a:lstStyle/>
          <a:p>
            <a:pPr indent="0" lvl="0" marL="114300" rtl="0" algn="l">
              <a:lnSpc>
                <a:spcPct val="90000"/>
              </a:lnSpc>
              <a:spcBef>
                <a:spcPts val="0"/>
              </a:spcBef>
              <a:spcAft>
                <a:spcPts val="0"/>
              </a:spcAft>
              <a:buSzPts val="1600"/>
              <a:buNone/>
            </a:pPr>
            <a:r>
              <a:rPr b="1" lang="en-IN" sz="1600"/>
              <a:t>Network Operating Systems (1980s-1990s)</a:t>
            </a:r>
            <a:endParaRPr sz="1600"/>
          </a:p>
          <a:p>
            <a:pPr indent="-101600" lvl="0" marL="91440" rtl="0" algn="l">
              <a:lnSpc>
                <a:spcPct val="90000"/>
              </a:lnSpc>
              <a:spcBef>
                <a:spcPts val="1400"/>
              </a:spcBef>
              <a:spcAft>
                <a:spcPts val="0"/>
              </a:spcAft>
              <a:buSzPts val="1600"/>
              <a:buChar char=" "/>
            </a:pPr>
            <a:r>
              <a:rPr lang="en-IN" sz="1600"/>
              <a:t>Allowed file sharing, printer sharing, and inter-process communication over a network.</a:t>
            </a:r>
            <a:endParaRPr/>
          </a:p>
          <a:p>
            <a:pPr indent="-101600" lvl="0" marL="91440" rtl="0" algn="l">
              <a:lnSpc>
                <a:spcPct val="90000"/>
              </a:lnSpc>
              <a:spcBef>
                <a:spcPts val="1400"/>
              </a:spcBef>
              <a:spcAft>
                <a:spcPts val="0"/>
              </a:spcAft>
              <a:buSzPts val="1600"/>
              <a:buChar char=" "/>
            </a:pPr>
            <a:r>
              <a:rPr lang="en-IN" sz="1600"/>
              <a:t>Examples: Novell NetWare, Windows NT, early Unix-based systems with networking extensions.</a:t>
            </a:r>
            <a:endParaRPr/>
          </a:p>
          <a:p>
            <a:pPr indent="0" lvl="0" marL="114300" rtl="0" algn="l">
              <a:lnSpc>
                <a:spcPct val="90000"/>
              </a:lnSpc>
              <a:spcBef>
                <a:spcPts val="1400"/>
              </a:spcBef>
              <a:spcAft>
                <a:spcPts val="0"/>
              </a:spcAft>
              <a:buSzPts val="1600"/>
              <a:buNone/>
            </a:pPr>
            <a:r>
              <a:rPr b="1" lang="en-IN" sz="1600"/>
              <a:t>Distributed Operating Systems (1990s)</a:t>
            </a:r>
            <a:endParaRPr sz="1600"/>
          </a:p>
          <a:p>
            <a:pPr indent="-101600" lvl="0" marL="91440" rtl="0" algn="l">
              <a:lnSpc>
                <a:spcPct val="90000"/>
              </a:lnSpc>
              <a:spcBef>
                <a:spcPts val="1400"/>
              </a:spcBef>
              <a:spcAft>
                <a:spcPts val="0"/>
              </a:spcAft>
              <a:buSzPts val="1600"/>
              <a:buChar char=" "/>
            </a:pPr>
            <a:r>
              <a:rPr lang="en-IN" sz="1600"/>
              <a:t>Managed a group of independent computers and presented them as a single coherent system.</a:t>
            </a:r>
            <a:endParaRPr/>
          </a:p>
          <a:p>
            <a:pPr indent="-101600" lvl="0" marL="91440" rtl="0" algn="l">
              <a:lnSpc>
                <a:spcPct val="90000"/>
              </a:lnSpc>
              <a:spcBef>
                <a:spcPts val="1400"/>
              </a:spcBef>
              <a:spcAft>
                <a:spcPts val="0"/>
              </a:spcAft>
              <a:buSzPts val="1600"/>
              <a:buChar char=" "/>
            </a:pPr>
            <a:r>
              <a:rPr lang="en-IN" sz="1600"/>
              <a:t>Examples: Amoeba, Plan 9, early versions of Linux with distributed capabilities.</a:t>
            </a:r>
            <a:endParaRPr/>
          </a:p>
          <a:p>
            <a:pPr indent="0" lvl="0" marL="114300" rtl="0" algn="l">
              <a:lnSpc>
                <a:spcPct val="90000"/>
              </a:lnSpc>
              <a:spcBef>
                <a:spcPts val="1400"/>
              </a:spcBef>
              <a:spcAft>
                <a:spcPts val="0"/>
              </a:spcAft>
              <a:buSzPts val="1600"/>
              <a:buNone/>
            </a:pPr>
            <a:r>
              <a:rPr b="1" lang="en-IN" sz="1600"/>
              <a:t>Modern Operating Systems (2000s-Present) -Multi-User, Multiprocessing Systems</a:t>
            </a:r>
            <a:r>
              <a:rPr lang="en-IN" sz="1600"/>
              <a:t>:</a:t>
            </a:r>
            <a:endParaRPr/>
          </a:p>
          <a:p>
            <a:pPr indent="-101600" lvl="0" marL="91440" rtl="0" algn="l">
              <a:lnSpc>
                <a:spcPct val="90000"/>
              </a:lnSpc>
              <a:spcBef>
                <a:spcPts val="1400"/>
              </a:spcBef>
              <a:spcAft>
                <a:spcPts val="0"/>
              </a:spcAft>
              <a:buSzPts val="1600"/>
              <a:buChar char=" "/>
            </a:pPr>
            <a:r>
              <a:rPr lang="en-IN" sz="1600"/>
              <a:t>Support for advanced multitasking, multi-user environments, and extensive networking capabilities.</a:t>
            </a:r>
            <a:endParaRPr/>
          </a:p>
          <a:p>
            <a:pPr indent="-101600" lvl="0" marL="91440" rtl="0" algn="l">
              <a:lnSpc>
                <a:spcPct val="90000"/>
              </a:lnSpc>
              <a:spcBef>
                <a:spcPts val="1400"/>
              </a:spcBef>
              <a:spcAft>
                <a:spcPts val="0"/>
              </a:spcAft>
              <a:buSzPts val="1600"/>
              <a:buChar char=" "/>
            </a:pPr>
            <a:r>
              <a:rPr lang="en-IN" sz="1600"/>
              <a:t>Emphasis on security, stability, and user-friendly interfaces.</a:t>
            </a:r>
            <a:endParaRPr/>
          </a:p>
          <a:p>
            <a:pPr indent="-101600" lvl="0" marL="91440" rtl="0" algn="l">
              <a:lnSpc>
                <a:spcPct val="90000"/>
              </a:lnSpc>
              <a:spcBef>
                <a:spcPts val="1400"/>
              </a:spcBef>
              <a:spcAft>
                <a:spcPts val="0"/>
              </a:spcAft>
              <a:buSzPts val="1600"/>
              <a:buChar char=" "/>
            </a:pPr>
            <a:r>
              <a:rPr lang="en-IN" sz="1600"/>
              <a:t>Examples: Modern versions of Windows, macOS, Linux distributions, Android, iOS.</a:t>
            </a:r>
            <a:endParaRPr/>
          </a:p>
          <a:p>
            <a:pPr indent="0" lvl="0" marL="114300" rtl="0" algn="l">
              <a:lnSpc>
                <a:spcPct val="90000"/>
              </a:lnSpc>
              <a:spcBef>
                <a:spcPts val="1400"/>
              </a:spcBef>
              <a:spcAft>
                <a:spcPts val="0"/>
              </a:spcAft>
              <a:buSzPts val="1600"/>
              <a:buNone/>
            </a:pPr>
            <a:r>
              <a:rPr b="1" lang="en-IN" sz="1600"/>
              <a:t>Mobile Operating Systems (2000s-Present)</a:t>
            </a:r>
            <a:endParaRPr sz="1600"/>
          </a:p>
          <a:p>
            <a:pPr indent="-101600" lvl="0" marL="91440" rtl="0" algn="l">
              <a:lnSpc>
                <a:spcPct val="90000"/>
              </a:lnSpc>
              <a:spcBef>
                <a:spcPts val="1400"/>
              </a:spcBef>
              <a:spcAft>
                <a:spcPts val="0"/>
              </a:spcAft>
              <a:buSzPts val="1600"/>
              <a:buChar char=" "/>
            </a:pPr>
            <a:r>
              <a:rPr lang="en-IN" sz="1600"/>
              <a:t>Designed for mobile devices with touch interfaces, efficient power management, and connectivity.</a:t>
            </a:r>
            <a:endParaRPr/>
          </a:p>
          <a:p>
            <a:pPr indent="-101600" lvl="0" marL="91440" rtl="0" algn="l">
              <a:lnSpc>
                <a:spcPct val="90000"/>
              </a:lnSpc>
              <a:spcBef>
                <a:spcPts val="1400"/>
              </a:spcBef>
              <a:spcAft>
                <a:spcPts val="0"/>
              </a:spcAft>
              <a:buSzPts val="1600"/>
              <a:buChar char=" "/>
            </a:pPr>
            <a:r>
              <a:rPr lang="en-IN" sz="1600"/>
              <a:t>Emphasis on app ecosystems and seamless user experience.</a:t>
            </a:r>
            <a:endParaRPr/>
          </a:p>
          <a:p>
            <a:pPr indent="-101600" lvl="0" marL="91440" rtl="0" algn="l">
              <a:lnSpc>
                <a:spcPct val="90000"/>
              </a:lnSpc>
              <a:spcBef>
                <a:spcPts val="1400"/>
              </a:spcBef>
              <a:spcAft>
                <a:spcPts val="0"/>
              </a:spcAft>
              <a:buSzPts val="1600"/>
              <a:buChar char=" "/>
            </a:pPr>
            <a:r>
              <a:rPr lang="en-IN" sz="1600"/>
              <a:t>Examples: iOS, Android.</a:t>
            </a:r>
            <a:endParaRPr/>
          </a:p>
          <a:p>
            <a:pPr indent="0" lvl="0" marL="114300" rtl="0" algn="l">
              <a:lnSpc>
                <a:spcPct val="90000"/>
              </a:lnSpc>
              <a:spcBef>
                <a:spcPts val="1400"/>
              </a:spcBef>
              <a:spcAft>
                <a:spcPts val="0"/>
              </a:spcAft>
              <a:buSzPts val="1600"/>
              <a:buNone/>
            </a:pPr>
            <a:r>
              <a:rPr b="1" lang="en-IN" sz="1600"/>
              <a:t>Cloud and Virtualization (2010s-Present)</a:t>
            </a:r>
            <a:endParaRPr sz="1600"/>
          </a:p>
          <a:p>
            <a:pPr indent="-101600" lvl="0" marL="91440" rtl="0" algn="l">
              <a:lnSpc>
                <a:spcPct val="90000"/>
              </a:lnSpc>
              <a:spcBef>
                <a:spcPts val="1400"/>
              </a:spcBef>
              <a:spcAft>
                <a:spcPts val="0"/>
              </a:spcAft>
              <a:buSzPts val="1600"/>
              <a:buChar char=" "/>
            </a:pPr>
            <a:r>
              <a:rPr lang="en-IN" sz="1600"/>
              <a:t>Examples: VMware, Hyper-V, Kubernetes, cloud-based OS like Google Chrome OS</a:t>
            </a:r>
            <a:endParaRPr/>
          </a:p>
        </p:txBody>
      </p:sp>
      <p:sp>
        <p:nvSpPr>
          <p:cNvPr id="377" name="Google Shape;377;p2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378" name="Google Shape;378;p2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379" name="Google Shape;379;p2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0"/>
          <p:cNvSpPr txBox="1"/>
          <p:nvPr>
            <p:ph type="title"/>
          </p:nvPr>
        </p:nvSpPr>
        <p:spPr>
          <a:xfrm>
            <a:off x="1043608" y="116632"/>
            <a:ext cx="7581528" cy="360040"/>
          </a:xfrm>
          <a:prstGeom prst="rect">
            <a:avLst/>
          </a:prstGeom>
          <a:noFill/>
          <a:ln>
            <a:noFill/>
          </a:ln>
        </p:spPr>
        <p:txBody>
          <a:bodyPr anchorCtr="0" anchor="b" bIns="45700" lIns="91425" spcFirstLastPara="1" rIns="91425" wrap="square" tIns="45700">
            <a:noAutofit/>
          </a:bodyPr>
          <a:lstStyle/>
          <a:p>
            <a:pPr indent="0" lvl="0" marL="0" rtl="0" algn="ctr">
              <a:lnSpc>
                <a:spcPct val="85000"/>
              </a:lnSpc>
              <a:spcBef>
                <a:spcPts val="0"/>
              </a:spcBef>
              <a:spcAft>
                <a:spcPts val="0"/>
              </a:spcAft>
              <a:buClr>
                <a:srgbClr val="3F3F3F"/>
              </a:buClr>
              <a:buSzPts val="2400"/>
              <a:buFont typeface="Calibri"/>
              <a:buNone/>
            </a:pPr>
            <a:r>
              <a:rPr b="1" lang="en-IN" sz="2400"/>
              <a:t>Mainframe System</a:t>
            </a:r>
            <a:endParaRPr/>
          </a:p>
        </p:txBody>
      </p:sp>
      <p:sp>
        <p:nvSpPr>
          <p:cNvPr id="385" name="Google Shape;385;p30"/>
          <p:cNvSpPr txBox="1"/>
          <p:nvPr>
            <p:ph idx="1" type="body"/>
          </p:nvPr>
        </p:nvSpPr>
        <p:spPr>
          <a:xfrm>
            <a:off x="539552" y="476672"/>
            <a:ext cx="8147247" cy="5649491"/>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lang="en-IN" sz="2400"/>
              <a:t>First computers to tackle commercial and scientific applications.</a:t>
            </a:r>
            <a:endParaRPr/>
          </a:p>
          <a:p>
            <a:pPr indent="-152400" lvl="0" marL="91440" rtl="0" algn="l">
              <a:lnSpc>
                <a:spcPct val="90000"/>
              </a:lnSpc>
              <a:spcBef>
                <a:spcPts val="1400"/>
              </a:spcBef>
              <a:spcAft>
                <a:spcPts val="0"/>
              </a:spcAft>
              <a:buSzPts val="2400"/>
              <a:buChar char=" "/>
            </a:pPr>
            <a:r>
              <a:rPr lang="en-IN" sz="2400"/>
              <a:t>Growth from Batch systems to Multi-programmed to Timesharing(Multitasking system)</a:t>
            </a:r>
            <a:endParaRPr/>
          </a:p>
          <a:p>
            <a:pPr indent="0" lvl="0" marL="91440" rtl="0" algn="l">
              <a:lnSpc>
                <a:spcPct val="90000"/>
              </a:lnSpc>
              <a:spcBef>
                <a:spcPts val="1400"/>
              </a:spcBef>
              <a:spcAft>
                <a:spcPts val="0"/>
              </a:spcAft>
              <a:buSzPts val="2400"/>
              <a:buNone/>
            </a:pPr>
            <a:r>
              <a:t/>
            </a:r>
            <a:endParaRPr sz="2400"/>
          </a:p>
          <a:p>
            <a:pPr indent="0" lvl="0" marL="91440" rtl="0" algn="l">
              <a:lnSpc>
                <a:spcPct val="90000"/>
              </a:lnSpc>
              <a:spcBef>
                <a:spcPts val="1400"/>
              </a:spcBef>
              <a:spcAft>
                <a:spcPts val="0"/>
              </a:spcAft>
              <a:buSzPts val="2400"/>
              <a:buNone/>
            </a:pPr>
            <a:r>
              <a:t/>
            </a:r>
            <a:endParaRPr sz="2400"/>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p:txBody>
      </p:sp>
      <p:sp>
        <p:nvSpPr>
          <p:cNvPr id="386" name="Google Shape;386;p3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387" name="Google Shape;387;p3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388" name="Google Shape;388;p3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389" name="Google Shape;389;p30"/>
          <p:cNvPicPr preferRelativeResize="0"/>
          <p:nvPr/>
        </p:nvPicPr>
        <p:blipFill rotWithShape="1">
          <a:blip r:embed="rId3">
            <a:alphaModFix/>
          </a:blip>
          <a:srcRect b="0" l="0" r="0" t="0"/>
          <a:stretch/>
        </p:blipFill>
        <p:spPr>
          <a:xfrm>
            <a:off x="179512" y="2101354"/>
            <a:ext cx="2258701" cy="2088233"/>
          </a:xfrm>
          <a:prstGeom prst="rect">
            <a:avLst/>
          </a:prstGeom>
          <a:noFill/>
          <a:ln>
            <a:noFill/>
          </a:ln>
        </p:spPr>
      </p:pic>
      <p:pic>
        <p:nvPicPr>
          <p:cNvPr id="390" name="Google Shape;390;p30"/>
          <p:cNvPicPr preferRelativeResize="0"/>
          <p:nvPr/>
        </p:nvPicPr>
        <p:blipFill rotWithShape="1">
          <a:blip r:embed="rId4">
            <a:alphaModFix/>
          </a:blip>
          <a:srcRect b="0" l="0" r="0" t="0"/>
          <a:stretch/>
        </p:blipFill>
        <p:spPr>
          <a:xfrm>
            <a:off x="2555776" y="2065412"/>
            <a:ext cx="3114758" cy="2088232"/>
          </a:xfrm>
          <a:prstGeom prst="rect">
            <a:avLst/>
          </a:prstGeom>
          <a:noFill/>
          <a:ln>
            <a:noFill/>
          </a:ln>
        </p:spPr>
      </p:pic>
      <p:pic>
        <p:nvPicPr>
          <p:cNvPr id="391" name="Google Shape;391;p30"/>
          <p:cNvPicPr preferRelativeResize="0"/>
          <p:nvPr/>
        </p:nvPicPr>
        <p:blipFill rotWithShape="1">
          <a:blip r:embed="rId5">
            <a:alphaModFix/>
          </a:blip>
          <a:srcRect b="0" l="0" r="0" t="0"/>
          <a:stretch/>
        </p:blipFill>
        <p:spPr>
          <a:xfrm>
            <a:off x="5796136" y="2065412"/>
            <a:ext cx="2592689" cy="1939652"/>
          </a:xfrm>
          <a:prstGeom prst="rect">
            <a:avLst/>
          </a:prstGeom>
          <a:noFill/>
          <a:ln>
            <a:noFill/>
          </a:ln>
        </p:spPr>
      </p:pic>
      <p:pic>
        <p:nvPicPr>
          <p:cNvPr descr="https://obsoletemedia.org/wp-content/uploads/2019/08/QIC-SLR-front.jpg" id="392" name="Google Shape;392;p30"/>
          <p:cNvPicPr preferRelativeResize="0"/>
          <p:nvPr/>
        </p:nvPicPr>
        <p:blipFill rotWithShape="1">
          <a:blip r:embed="rId6">
            <a:alphaModFix/>
          </a:blip>
          <a:srcRect b="0" l="0" r="0" t="0"/>
          <a:stretch/>
        </p:blipFill>
        <p:spPr>
          <a:xfrm>
            <a:off x="170260" y="4211043"/>
            <a:ext cx="2448272" cy="1786577"/>
          </a:xfrm>
          <a:prstGeom prst="rect">
            <a:avLst/>
          </a:prstGeom>
          <a:noFill/>
          <a:ln>
            <a:noFill/>
          </a:ln>
        </p:spPr>
      </p:pic>
      <p:pic>
        <p:nvPicPr>
          <p:cNvPr id="393" name="Google Shape;393;p30"/>
          <p:cNvPicPr preferRelativeResize="0"/>
          <p:nvPr/>
        </p:nvPicPr>
        <p:blipFill rotWithShape="1">
          <a:blip r:embed="rId7">
            <a:alphaModFix/>
          </a:blip>
          <a:srcRect b="0" l="0" r="0" t="0"/>
          <a:stretch/>
        </p:blipFill>
        <p:spPr>
          <a:xfrm>
            <a:off x="2843808" y="4287649"/>
            <a:ext cx="4375537" cy="163336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1"/>
          <p:cNvSpPr txBox="1"/>
          <p:nvPr>
            <p:ph type="title"/>
          </p:nvPr>
        </p:nvSpPr>
        <p:spPr>
          <a:xfrm>
            <a:off x="457200" y="274638"/>
            <a:ext cx="7355160" cy="34605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85000"/>
              </a:lnSpc>
              <a:spcBef>
                <a:spcPts val="0"/>
              </a:spcBef>
              <a:spcAft>
                <a:spcPts val="0"/>
              </a:spcAft>
              <a:buClr>
                <a:srgbClr val="3F3F3F"/>
              </a:buClr>
              <a:buSzPct val="100000"/>
              <a:buFont typeface="Calibri"/>
              <a:buNone/>
            </a:pPr>
            <a:r>
              <a:rPr b="1" lang="en-IN" sz="3200"/>
              <a:t>Batch system</a:t>
            </a:r>
            <a:endParaRPr b="1" sz="3200"/>
          </a:p>
        </p:txBody>
      </p:sp>
      <p:sp>
        <p:nvSpPr>
          <p:cNvPr id="399" name="Google Shape;399;p31"/>
          <p:cNvSpPr txBox="1"/>
          <p:nvPr>
            <p:ph idx="1" type="body"/>
          </p:nvPr>
        </p:nvSpPr>
        <p:spPr>
          <a:xfrm>
            <a:off x="457200" y="836712"/>
            <a:ext cx="7620000" cy="5564088"/>
          </a:xfrm>
          <a:prstGeom prst="rect">
            <a:avLst/>
          </a:prstGeom>
          <a:noFill/>
          <a:ln>
            <a:noFill/>
          </a:ln>
        </p:spPr>
        <p:txBody>
          <a:bodyPr anchorCtr="0" anchor="t" bIns="45700" lIns="0" spcFirstLastPara="1" rIns="0" wrap="square" tIns="45700">
            <a:normAutofit/>
          </a:bodyPr>
          <a:lstStyle/>
          <a:p>
            <a:pPr indent="-177800" lvl="0" marL="91440" rtl="0" algn="l">
              <a:lnSpc>
                <a:spcPct val="90000"/>
              </a:lnSpc>
              <a:spcBef>
                <a:spcPts val="0"/>
              </a:spcBef>
              <a:spcAft>
                <a:spcPts val="0"/>
              </a:spcAft>
              <a:buSzPts val="2800"/>
              <a:buChar char=" "/>
            </a:pPr>
            <a:r>
              <a:rPr lang="en-IN" sz="2800"/>
              <a:t>Early computers were physically enormous machines run from a console. </a:t>
            </a:r>
            <a:endParaRPr/>
          </a:p>
          <a:p>
            <a:pPr indent="-182880" lvl="1" marL="384048" rtl="0" algn="l">
              <a:lnSpc>
                <a:spcPct val="90000"/>
              </a:lnSpc>
              <a:spcBef>
                <a:spcPts val="400"/>
              </a:spcBef>
              <a:spcAft>
                <a:spcPts val="0"/>
              </a:spcAft>
              <a:buSzPts val="2400"/>
              <a:buChar char="◦"/>
            </a:pPr>
            <a:r>
              <a:rPr lang="en-IN" sz="2400"/>
              <a:t>Input devices –</a:t>
            </a:r>
            <a:endParaRPr/>
          </a:p>
          <a:p>
            <a:pPr indent="-182880" lvl="2" marL="566928" rtl="0" algn="l">
              <a:lnSpc>
                <a:spcPct val="90000"/>
              </a:lnSpc>
              <a:spcBef>
                <a:spcPts val="600"/>
              </a:spcBef>
              <a:spcAft>
                <a:spcPts val="0"/>
              </a:spcAft>
              <a:buSzPts val="1800"/>
              <a:buChar char="◦"/>
            </a:pPr>
            <a:r>
              <a:rPr lang="en-IN" sz="1800"/>
              <a:t>Card readers and </a:t>
            </a:r>
            <a:endParaRPr/>
          </a:p>
          <a:p>
            <a:pPr indent="-182880" lvl="2" marL="566928" rtl="0" algn="l">
              <a:lnSpc>
                <a:spcPct val="90000"/>
              </a:lnSpc>
              <a:spcBef>
                <a:spcPts val="600"/>
              </a:spcBef>
              <a:spcAft>
                <a:spcPts val="0"/>
              </a:spcAft>
              <a:buSzPts val="1800"/>
              <a:buChar char="◦"/>
            </a:pPr>
            <a:r>
              <a:rPr lang="en-IN" sz="1800"/>
              <a:t>Tape drivers.</a:t>
            </a:r>
            <a:endParaRPr/>
          </a:p>
          <a:p>
            <a:pPr indent="-182880" lvl="1" marL="384048" rtl="0" algn="l">
              <a:lnSpc>
                <a:spcPct val="90000"/>
              </a:lnSpc>
              <a:spcBef>
                <a:spcPts val="600"/>
              </a:spcBef>
              <a:spcAft>
                <a:spcPts val="0"/>
              </a:spcAft>
              <a:buSzPts val="2400"/>
              <a:buChar char="◦"/>
            </a:pPr>
            <a:r>
              <a:rPr lang="en-IN" sz="2400"/>
              <a:t>O/P devices- </a:t>
            </a:r>
            <a:endParaRPr sz="2400"/>
          </a:p>
          <a:p>
            <a:pPr indent="-182880" lvl="2" marL="566928" rtl="0" algn="l">
              <a:lnSpc>
                <a:spcPct val="90000"/>
              </a:lnSpc>
              <a:spcBef>
                <a:spcPts val="600"/>
              </a:spcBef>
              <a:spcAft>
                <a:spcPts val="0"/>
              </a:spcAft>
              <a:buSzPts val="1800"/>
              <a:buChar char="◦"/>
            </a:pPr>
            <a:r>
              <a:rPr lang="en-IN" sz="1800"/>
              <a:t>Line printers, </a:t>
            </a:r>
            <a:endParaRPr/>
          </a:p>
          <a:p>
            <a:pPr indent="-182880" lvl="2" marL="566928" rtl="0" algn="l">
              <a:lnSpc>
                <a:spcPct val="90000"/>
              </a:lnSpc>
              <a:spcBef>
                <a:spcPts val="600"/>
              </a:spcBef>
              <a:spcAft>
                <a:spcPts val="0"/>
              </a:spcAft>
              <a:buSzPts val="1800"/>
              <a:buChar char="◦"/>
            </a:pPr>
            <a:r>
              <a:rPr lang="en-IN" sz="1800"/>
              <a:t>Tape drivers, </a:t>
            </a:r>
            <a:endParaRPr/>
          </a:p>
          <a:p>
            <a:pPr indent="-182880" lvl="2" marL="566928" rtl="0" algn="l">
              <a:lnSpc>
                <a:spcPct val="90000"/>
              </a:lnSpc>
              <a:spcBef>
                <a:spcPts val="600"/>
              </a:spcBef>
              <a:spcAft>
                <a:spcPts val="0"/>
              </a:spcAft>
              <a:buSzPts val="1800"/>
              <a:buChar char="◦"/>
            </a:pPr>
            <a:r>
              <a:rPr lang="en-IN" sz="1800"/>
              <a:t>Card Punches.</a:t>
            </a:r>
            <a:endParaRPr/>
          </a:p>
        </p:txBody>
      </p:sp>
      <p:sp>
        <p:nvSpPr>
          <p:cNvPr id="400" name="Google Shape;400;p3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401" name="Google Shape;401;p3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402" name="Google Shape;402;p3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2"/>
          <p:cNvSpPr txBox="1"/>
          <p:nvPr>
            <p:ph type="title"/>
          </p:nvPr>
        </p:nvSpPr>
        <p:spPr>
          <a:xfrm>
            <a:off x="395536" y="17846"/>
            <a:ext cx="8229600" cy="562074"/>
          </a:xfrm>
          <a:prstGeom prst="rect">
            <a:avLst/>
          </a:prstGeom>
          <a:noFill/>
          <a:ln>
            <a:noFill/>
          </a:ln>
        </p:spPr>
        <p:txBody>
          <a:bodyPr anchorCtr="0" anchor="b" bIns="45700" lIns="91425" spcFirstLastPara="1" rIns="91425" wrap="square" tIns="45700">
            <a:noAutofit/>
          </a:bodyPr>
          <a:lstStyle/>
          <a:p>
            <a:pPr indent="0" lvl="0" marL="0" rtl="0" algn="ctr">
              <a:lnSpc>
                <a:spcPct val="85000"/>
              </a:lnSpc>
              <a:spcBef>
                <a:spcPts val="0"/>
              </a:spcBef>
              <a:spcAft>
                <a:spcPts val="0"/>
              </a:spcAft>
              <a:buClr>
                <a:srgbClr val="3F3F3F"/>
              </a:buClr>
              <a:buSzPts val="3200"/>
              <a:buFont typeface="Calibri"/>
              <a:buNone/>
            </a:pPr>
            <a:r>
              <a:rPr b="1" lang="en-IN" sz="3200"/>
              <a:t>Tape drives</a:t>
            </a:r>
            <a:endParaRPr b="1" sz="3200"/>
          </a:p>
        </p:txBody>
      </p:sp>
      <p:sp>
        <p:nvSpPr>
          <p:cNvPr id="408" name="Google Shape;408;p32"/>
          <p:cNvSpPr txBox="1"/>
          <p:nvPr>
            <p:ph idx="1" type="body"/>
          </p:nvPr>
        </p:nvSpPr>
        <p:spPr>
          <a:xfrm>
            <a:off x="323528" y="620688"/>
            <a:ext cx="8229600" cy="5028272"/>
          </a:xfrm>
          <a:prstGeom prst="rect">
            <a:avLst/>
          </a:prstGeom>
          <a:noFill/>
          <a:ln>
            <a:noFill/>
          </a:ln>
        </p:spPr>
        <p:txBody>
          <a:bodyPr anchorCtr="0" anchor="t" bIns="45700" lIns="0" spcFirstLastPara="1" rIns="0" wrap="square" tIns="45700">
            <a:normAutofit fontScale="92500" lnSpcReduction="10000"/>
          </a:bodyPr>
          <a:lstStyle/>
          <a:p>
            <a:pPr indent="-129222" lvl="0" marL="91440" rtl="0" algn="l">
              <a:lnSpc>
                <a:spcPct val="90000"/>
              </a:lnSpc>
              <a:spcBef>
                <a:spcPts val="0"/>
              </a:spcBef>
              <a:spcAft>
                <a:spcPts val="0"/>
              </a:spcAft>
              <a:buSzPct val="100000"/>
              <a:buChar char=" "/>
            </a:pPr>
            <a:r>
              <a:rPr lang="en-IN" sz="2200"/>
              <a:t>A tape drive is a data storage device that reads and writes data on a magnetic tape. </a:t>
            </a:r>
            <a:endParaRPr sz="2200"/>
          </a:p>
          <a:p>
            <a:pPr indent="-182880" lvl="1" marL="384048" rtl="0" algn="l">
              <a:lnSpc>
                <a:spcPct val="90000"/>
              </a:lnSpc>
              <a:spcBef>
                <a:spcPts val="400"/>
              </a:spcBef>
              <a:spcAft>
                <a:spcPts val="0"/>
              </a:spcAft>
              <a:buSzPct val="100000"/>
              <a:buChar char="◦"/>
            </a:pPr>
            <a:r>
              <a:rPr lang="en-IN" sz="2200"/>
              <a:t>Magnetic tape data storage is typically used </a:t>
            </a:r>
            <a:r>
              <a:rPr b="1" lang="en-IN" sz="2200"/>
              <a:t>for offline, archival data storage. </a:t>
            </a:r>
            <a:endParaRPr b="1" sz="2200"/>
          </a:p>
          <a:p>
            <a:pPr indent="-182880" lvl="1" marL="384048" rtl="0" algn="l">
              <a:lnSpc>
                <a:spcPct val="90000"/>
              </a:lnSpc>
              <a:spcBef>
                <a:spcPts val="600"/>
              </a:spcBef>
              <a:spcAft>
                <a:spcPts val="0"/>
              </a:spcAft>
              <a:buSzPct val="100000"/>
              <a:buChar char="◦"/>
            </a:pPr>
            <a:r>
              <a:rPr lang="en-IN" sz="2200"/>
              <a:t>Tape media generally has a </a:t>
            </a:r>
            <a:r>
              <a:rPr b="1" lang="en-IN" sz="2200"/>
              <a:t>favourable unit cost and a long archival stability.</a:t>
            </a:r>
            <a:endParaRPr/>
          </a:p>
          <a:p>
            <a:pPr indent="-129222" lvl="0" marL="91440" rtl="0" algn="l">
              <a:lnSpc>
                <a:spcPct val="90000"/>
              </a:lnSpc>
              <a:spcBef>
                <a:spcPts val="1600"/>
              </a:spcBef>
              <a:spcAft>
                <a:spcPts val="0"/>
              </a:spcAft>
              <a:buSzPct val="100000"/>
              <a:buChar char=" "/>
            </a:pPr>
            <a:r>
              <a:rPr b="1" lang="en-IN" sz="2200"/>
              <a:t>Magnetic tapes are typically placed in plastic covers referred to as cassettes. </a:t>
            </a:r>
            <a:endParaRPr b="1" sz="2200"/>
          </a:p>
          <a:p>
            <a:pPr indent="-117475" lvl="0" marL="91440" rtl="0" algn="l">
              <a:lnSpc>
                <a:spcPct val="90000"/>
              </a:lnSpc>
              <a:spcBef>
                <a:spcPts val="1400"/>
              </a:spcBef>
              <a:spcAft>
                <a:spcPts val="0"/>
              </a:spcAft>
              <a:buSzPct val="100000"/>
              <a:buChar char=" "/>
            </a:pPr>
            <a:r>
              <a:rPr lang="en-IN" sz="2000"/>
              <a:t>A tape drive provides sequential access storage, unlike a hard disk drive, which provides direct access storage. </a:t>
            </a:r>
            <a:endParaRPr/>
          </a:p>
          <a:p>
            <a:pPr indent="-77152" lvl="1" marL="384048" rtl="0" algn="l">
              <a:lnSpc>
                <a:spcPct val="90000"/>
              </a:lnSpc>
              <a:spcBef>
                <a:spcPts val="400"/>
              </a:spcBef>
              <a:spcAft>
                <a:spcPts val="0"/>
              </a:spcAft>
              <a:buSzPct val="100000"/>
              <a:buNone/>
            </a:pPr>
            <a:r>
              <a:t/>
            </a:r>
            <a:endParaRPr/>
          </a:p>
          <a:p>
            <a:pPr indent="-182879" lvl="1" marL="384048" rtl="0" algn="l">
              <a:lnSpc>
                <a:spcPct val="90000"/>
              </a:lnSpc>
              <a:spcBef>
                <a:spcPts val="600"/>
              </a:spcBef>
              <a:spcAft>
                <a:spcPts val="0"/>
              </a:spcAft>
              <a:buSzPct val="100000"/>
              <a:buChar char="◦"/>
            </a:pPr>
            <a:r>
              <a:rPr lang="en-IN"/>
              <a:t>A disk drive can move to any position on the disk in a few milliseconds, </a:t>
            </a:r>
            <a:endParaRPr/>
          </a:p>
          <a:p>
            <a:pPr indent="-182880" lvl="2" marL="566928" rtl="0" algn="l">
              <a:lnSpc>
                <a:spcPct val="90000"/>
              </a:lnSpc>
              <a:spcBef>
                <a:spcPts val="600"/>
              </a:spcBef>
              <a:spcAft>
                <a:spcPts val="0"/>
              </a:spcAft>
              <a:buSzPct val="100000"/>
              <a:buChar char="◦"/>
            </a:pPr>
            <a:r>
              <a:rPr lang="en-IN" sz="2000"/>
              <a:t>but a tape drive must physically wind tape between reels to read any one particular piece of data. </a:t>
            </a:r>
            <a:endParaRPr/>
          </a:p>
          <a:p>
            <a:pPr indent="-77152" lvl="1" marL="384048" rtl="0" algn="l">
              <a:lnSpc>
                <a:spcPct val="90000"/>
              </a:lnSpc>
              <a:spcBef>
                <a:spcPts val="600"/>
              </a:spcBef>
              <a:spcAft>
                <a:spcPts val="0"/>
              </a:spcAft>
              <a:buSzPct val="100000"/>
              <a:buNone/>
            </a:pPr>
            <a:r>
              <a:t/>
            </a:r>
            <a:endParaRPr/>
          </a:p>
          <a:p>
            <a:pPr indent="-182879" lvl="1" marL="384048" rtl="0" algn="l">
              <a:lnSpc>
                <a:spcPct val="90000"/>
              </a:lnSpc>
              <a:spcBef>
                <a:spcPts val="600"/>
              </a:spcBef>
              <a:spcAft>
                <a:spcPts val="0"/>
              </a:spcAft>
              <a:buSzPct val="100000"/>
              <a:buChar char="◦"/>
            </a:pPr>
            <a:r>
              <a:rPr lang="en-IN"/>
              <a:t>As a result, tape drives have very large average access times. </a:t>
            </a:r>
            <a:endParaRPr/>
          </a:p>
          <a:p>
            <a:pPr indent="-182880" lvl="2" marL="566928" rtl="0" algn="l">
              <a:lnSpc>
                <a:spcPct val="90000"/>
              </a:lnSpc>
              <a:spcBef>
                <a:spcPts val="600"/>
              </a:spcBef>
              <a:spcAft>
                <a:spcPts val="0"/>
              </a:spcAft>
              <a:buSzPct val="100000"/>
              <a:buChar char="◦"/>
            </a:pPr>
            <a:r>
              <a:rPr lang="en-IN" sz="2000"/>
              <a:t>However, tape drives can stream data very quickly off a tape when the required position has been reached. </a:t>
            </a:r>
            <a:endParaRPr/>
          </a:p>
          <a:p>
            <a:pPr indent="-77152" lvl="1" marL="384048" rtl="0" algn="l">
              <a:lnSpc>
                <a:spcPct val="90000"/>
              </a:lnSpc>
              <a:spcBef>
                <a:spcPts val="600"/>
              </a:spcBef>
              <a:spcAft>
                <a:spcPts val="0"/>
              </a:spcAft>
              <a:buSzPct val="100000"/>
              <a:buNone/>
            </a:pPr>
            <a:r>
              <a:t/>
            </a:r>
            <a:endParaRPr/>
          </a:p>
          <a:p>
            <a:pPr indent="0" lvl="0" marL="91440" rtl="0" algn="l">
              <a:lnSpc>
                <a:spcPct val="90000"/>
              </a:lnSpc>
              <a:spcBef>
                <a:spcPts val="1600"/>
              </a:spcBef>
              <a:spcAft>
                <a:spcPts val="0"/>
              </a:spcAft>
              <a:buSzPct val="100000"/>
              <a:buNone/>
            </a:pPr>
            <a:r>
              <a:t/>
            </a:r>
            <a:endParaRPr b="1" sz="2200"/>
          </a:p>
        </p:txBody>
      </p:sp>
      <p:sp>
        <p:nvSpPr>
          <p:cNvPr id="409" name="Google Shape;409;p3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410" name="Google Shape;410;p3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411" name="Google Shape;411;p3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3"/>
          <p:cNvSpPr txBox="1"/>
          <p:nvPr>
            <p:ph type="title"/>
          </p:nvPr>
        </p:nvSpPr>
        <p:spPr>
          <a:xfrm>
            <a:off x="457200" y="274638"/>
            <a:ext cx="8229600" cy="490066"/>
          </a:xfrm>
          <a:prstGeom prst="rect">
            <a:avLst/>
          </a:prstGeom>
          <a:noFill/>
          <a:ln>
            <a:noFill/>
          </a:ln>
        </p:spPr>
        <p:txBody>
          <a:bodyPr anchorCtr="0" anchor="b" bIns="45700" lIns="91425" spcFirstLastPara="1" rIns="91425" wrap="square" tIns="45700">
            <a:noAutofit/>
          </a:bodyPr>
          <a:lstStyle/>
          <a:p>
            <a:pPr indent="0" lvl="0" marL="0" rtl="0" algn="ctr">
              <a:lnSpc>
                <a:spcPct val="85000"/>
              </a:lnSpc>
              <a:spcBef>
                <a:spcPts val="0"/>
              </a:spcBef>
              <a:spcAft>
                <a:spcPts val="0"/>
              </a:spcAft>
              <a:buClr>
                <a:srgbClr val="3F3F3F"/>
              </a:buClr>
              <a:buSzPts val="2400"/>
              <a:buFont typeface="Calibri"/>
              <a:buNone/>
            </a:pPr>
            <a:r>
              <a:rPr b="1" lang="en-IN" sz="2400"/>
              <a:t>Punch card/A punched card </a:t>
            </a:r>
            <a:endParaRPr/>
          </a:p>
        </p:txBody>
      </p:sp>
      <p:sp>
        <p:nvSpPr>
          <p:cNvPr id="417" name="Google Shape;417;p33"/>
          <p:cNvSpPr txBox="1"/>
          <p:nvPr>
            <p:ph idx="1" type="body"/>
          </p:nvPr>
        </p:nvSpPr>
        <p:spPr>
          <a:xfrm>
            <a:off x="395536" y="836712"/>
            <a:ext cx="8229600" cy="4525963"/>
          </a:xfrm>
          <a:prstGeom prst="rect">
            <a:avLst/>
          </a:prstGeom>
          <a:noFill/>
          <a:ln>
            <a:noFill/>
          </a:ln>
        </p:spPr>
        <p:txBody>
          <a:bodyPr anchorCtr="0" anchor="t" bIns="45700" lIns="0" spcFirstLastPara="1" rIns="0" wrap="square" tIns="45700">
            <a:normAutofit/>
          </a:bodyPr>
          <a:lstStyle/>
          <a:p>
            <a:pPr indent="-133350" lvl="0" marL="91440" rtl="0" algn="l">
              <a:lnSpc>
                <a:spcPct val="90000"/>
              </a:lnSpc>
              <a:spcBef>
                <a:spcPts val="0"/>
              </a:spcBef>
              <a:spcAft>
                <a:spcPts val="0"/>
              </a:spcAft>
              <a:buSzPts val="2100"/>
              <a:buChar char=" "/>
            </a:pPr>
            <a:r>
              <a:rPr lang="en-IN" sz="2100"/>
              <a:t>Is a piece of stiff paper that can be used to contain digital data </a:t>
            </a:r>
            <a:endParaRPr sz="2100"/>
          </a:p>
          <a:p>
            <a:pPr indent="-182880" lvl="1" marL="384048" rtl="0" algn="l">
              <a:lnSpc>
                <a:spcPct val="90000"/>
              </a:lnSpc>
              <a:spcBef>
                <a:spcPts val="400"/>
              </a:spcBef>
              <a:spcAft>
                <a:spcPts val="0"/>
              </a:spcAft>
              <a:buSzPts val="2100"/>
              <a:buChar char="◦"/>
            </a:pPr>
            <a:r>
              <a:rPr lang="en-IN" sz="2100"/>
              <a:t>represented by the presence or absence of holes in predefined positions.</a:t>
            </a:r>
            <a:endParaRPr/>
          </a:p>
          <a:p>
            <a:pPr indent="-133350" lvl="0" marL="91440" rtl="0" algn="l">
              <a:lnSpc>
                <a:spcPct val="90000"/>
              </a:lnSpc>
              <a:spcBef>
                <a:spcPts val="1600"/>
              </a:spcBef>
              <a:spcAft>
                <a:spcPts val="0"/>
              </a:spcAft>
              <a:buSzPts val="2100"/>
              <a:buChar char=" "/>
            </a:pPr>
            <a:r>
              <a:rPr lang="en-IN" sz="2100"/>
              <a:t>Punched cards were widely used through much of the 20th century for data input, output, and storage.</a:t>
            </a:r>
            <a:endParaRPr/>
          </a:p>
          <a:p>
            <a:pPr indent="-127000" lvl="0" marL="91440" rtl="0" algn="l">
              <a:lnSpc>
                <a:spcPct val="90000"/>
              </a:lnSpc>
              <a:spcBef>
                <a:spcPts val="1400"/>
              </a:spcBef>
              <a:spcAft>
                <a:spcPts val="0"/>
              </a:spcAft>
              <a:buSzPts val="2000"/>
              <a:buChar char=" "/>
            </a:pPr>
            <a:r>
              <a:rPr lang="en-IN" sz="2000"/>
              <a:t>Many early digital computers used punched cards for input of both </a:t>
            </a:r>
            <a:r>
              <a:rPr lang="en-IN" sz="1800"/>
              <a:t>computer programs and data.</a:t>
            </a:r>
            <a:endParaRPr/>
          </a:p>
          <a:p>
            <a:pPr indent="-127000" lvl="0" marL="91440" rtl="0" algn="l">
              <a:lnSpc>
                <a:spcPct val="90000"/>
              </a:lnSpc>
              <a:spcBef>
                <a:spcPts val="1400"/>
              </a:spcBef>
              <a:spcAft>
                <a:spcPts val="0"/>
              </a:spcAft>
              <a:buSzPts val="2000"/>
              <a:buChar char=" "/>
            </a:pPr>
            <a:r>
              <a:rPr b="1" lang="en-IN" sz="2000"/>
              <a:t>While punched cards are now obsolete as a storage medium, as of 2012, some voting machines still use punched cards to record votes.</a:t>
            </a:r>
            <a:endParaRPr/>
          </a:p>
          <a:p>
            <a:pPr indent="-49529" lvl="1" marL="384048" rtl="0" algn="l">
              <a:lnSpc>
                <a:spcPct val="90000"/>
              </a:lnSpc>
              <a:spcBef>
                <a:spcPts val="400"/>
              </a:spcBef>
              <a:spcAft>
                <a:spcPts val="0"/>
              </a:spcAft>
              <a:buSzPts val="2100"/>
              <a:buNone/>
            </a:pPr>
            <a:r>
              <a:t/>
            </a:r>
            <a:endParaRPr sz="2100"/>
          </a:p>
          <a:p>
            <a:pPr indent="0" lvl="0" marL="91440" rtl="0" algn="l">
              <a:lnSpc>
                <a:spcPct val="90000"/>
              </a:lnSpc>
              <a:spcBef>
                <a:spcPts val="1600"/>
              </a:spcBef>
              <a:spcAft>
                <a:spcPts val="0"/>
              </a:spcAft>
              <a:buSzPts val="2800"/>
              <a:buNone/>
            </a:pPr>
            <a:r>
              <a:t/>
            </a:r>
            <a:endParaRPr sz="2800"/>
          </a:p>
        </p:txBody>
      </p:sp>
      <p:sp>
        <p:nvSpPr>
          <p:cNvPr id="418" name="Google Shape;418;p3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419" name="Google Shape;419;p3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420" name="Google Shape;420;p3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421" name="Google Shape;421;p33"/>
          <p:cNvPicPr preferRelativeResize="0"/>
          <p:nvPr/>
        </p:nvPicPr>
        <p:blipFill rotWithShape="1">
          <a:blip r:embed="rId3">
            <a:alphaModFix/>
          </a:blip>
          <a:srcRect b="0" l="0" r="0" t="0"/>
          <a:stretch/>
        </p:blipFill>
        <p:spPr>
          <a:xfrm>
            <a:off x="5314620" y="4095169"/>
            <a:ext cx="2768877" cy="1285603"/>
          </a:xfrm>
          <a:prstGeom prst="rect">
            <a:avLst/>
          </a:prstGeom>
          <a:noFill/>
          <a:ln>
            <a:noFill/>
          </a:ln>
        </p:spPr>
      </p:pic>
      <p:sp>
        <p:nvSpPr>
          <p:cNvPr id="422" name="Google Shape;422;p33"/>
          <p:cNvSpPr/>
          <p:nvPr/>
        </p:nvSpPr>
        <p:spPr>
          <a:xfrm>
            <a:off x="5314620" y="5398869"/>
            <a:ext cx="292978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IN" sz="1800">
                <a:solidFill>
                  <a:schemeClr val="dk1"/>
                </a:solidFill>
                <a:latin typeface="Calibri"/>
                <a:ea typeface="Calibri"/>
                <a:cs typeface="Calibri"/>
                <a:sym typeface="Calibri"/>
              </a:rPr>
              <a:t>Card from a Fortran program</a:t>
            </a:r>
            <a:endParaRPr sz="1800">
              <a:solidFill>
                <a:schemeClr val="dk1"/>
              </a:solidFill>
              <a:latin typeface="Calibri"/>
              <a:ea typeface="Calibri"/>
              <a:cs typeface="Calibri"/>
              <a:sym typeface="Calibri"/>
            </a:endParaRPr>
          </a:p>
        </p:txBody>
      </p:sp>
      <p:pic>
        <p:nvPicPr>
          <p:cNvPr descr="Punch card reader and punch card writer" id="423" name="Google Shape;423;p33"/>
          <p:cNvPicPr preferRelativeResize="0"/>
          <p:nvPr/>
        </p:nvPicPr>
        <p:blipFill rotWithShape="1">
          <a:blip r:embed="rId4">
            <a:alphaModFix/>
          </a:blip>
          <a:srcRect b="0" l="0" r="0" t="0"/>
          <a:stretch/>
        </p:blipFill>
        <p:spPr>
          <a:xfrm>
            <a:off x="601528" y="4077072"/>
            <a:ext cx="4507100" cy="2520280"/>
          </a:xfrm>
          <a:prstGeom prst="rect">
            <a:avLst/>
          </a:prstGeom>
          <a:noFill/>
          <a:ln>
            <a:noFill/>
          </a:ln>
        </p:spPr>
      </p:pic>
      <p:sp>
        <p:nvSpPr>
          <p:cNvPr id="424" name="Google Shape;424;p33"/>
          <p:cNvSpPr/>
          <p:nvPr/>
        </p:nvSpPr>
        <p:spPr>
          <a:xfrm>
            <a:off x="5364088" y="5847080"/>
            <a:ext cx="3024336"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IN" sz="1800">
                <a:solidFill>
                  <a:schemeClr val="dk1"/>
                </a:solidFill>
                <a:latin typeface="Calibri"/>
                <a:ea typeface="Calibri"/>
                <a:cs typeface="Calibri"/>
                <a:sym typeface="Calibri"/>
              </a:rPr>
              <a:t>Above left:</a:t>
            </a:r>
            <a:r>
              <a:rPr i="1" lang="en-IN" sz="1800">
                <a:solidFill>
                  <a:schemeClr val="dk1"/>
                </a:solidFill>
                <a:latin typeface="Calibri"/>
                <a:ea typeface="Calibri"/>
                <a:cs typeface="Calibri"/>
                <a:sym typeface="Calibri"/>
              </a:rPr>
              <a:t> Punch card reader. </a:t>
            </a:r>
            <a:endParaRPr i="1" sz="1800">
              <a:solidFill>
                <a:schemeClr val="dk1"/>
              </a:solidFill>
              <a:latin typeface="Calibri"/>
              <a:ea typeface="Calibri"/>
              <a:cs typeface="Calibri"/>
              <a:sym typeface="Calibri"/>
            </a:endParaRPr>
          </a:p>
          <a:p>
            <a:pPr indent="0" lvl="0" marL="0" marR="0" rtl="0" algn="l">
              <a:spcBef>
                <a:spcPts val="0"/>
              </a:spcBef>
              <a:spcAft>
                <a:spcPts val="0"/>
              </a:spcAft>
              <a:buNone/>
            </a:pPr>
            <a:r>
              <a:rPr b="1" i="1" lang="en-IN" sz="1800">
                <a:solidFill>
                  <a:schemeClr val="dk1"/>
                </a:solidFill>
                <a:latin typeface="Calibri"/>
                <a:ea typeface="Calibri"/>
                <a:cs typeface="Calibri"/>
                <a:sym typeface="Calibri"/>
              </a:rPr>
              <a:t>Above right:</a:t>
            </a:r>
            <a:r>
              <a:rPr i="1" lang="en-IN" sz="1800">
                <a:solidFill>
                  <a:schemeClr val="dk1"/>
                </a:solidFill>
                <a:latin typeface="Calibri"/>
                <a:ea typeface="Calibri"/>
                <a:cs typeface="Calibri"/>
                <a:sym typeface="Calibri"/>
              </a:rPr>
              <a:t> Punch card writer.</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34"/>
          <p:cNvSpPr txBox="1"/>
          <p:nvPr>
            <p:ph type="title"/>
          </p:nvPr>
        </p:nvSpPr>
        <p:spPr>
          <a:xfrm>
            <a:off x="457200" y="274638"/>
            <a:ext cx="8229600" cy="49006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sz="3200"/>
              <a:t>Punch card Reader, A punched card </a:t>
            </a:r>
            <a:endParaRPr/>
          </a:p>
        </p:txBody>
      </p:sp>
      <p:sp>
        <p:nvSpPr>
          <p:cNvPr id="430" name="Google Shape;430;p34"/>
          <p:cNvSpPr txBox="1"/>
          <p:nvPr>
            <p:ph idx="1" type="body"/>
          </p:nvPr>
        </p:nvSpPr>
        <p:spPr>
          <a:xfrm>
            <a:off x="467543" y="764704"/>
            <a:ext cx="7620000" cy="4800600"/>
          </a:xfrm>
          <a:prstGeom prst="rect">
            <a:avLst/>
          </a:prstGeom>
          <a:noFill/>
          <a:ln>
            <a:noFill/>
          </a:ln>
        </p:spPr>
        <p:txBody>
          <a:bodyPr anchorCtr="0" anchor="t" bIns="45700" lIns="0" spcFirstLastPara="1" rIns="0" wrap="square" tIns="45700">
            <a:normAutofit/>
          </a:bodyPr>
          <a:lstStyle/>
          <a:p>
            <a:pPr indent="0" lvl="0" marL="91440" rtl="0" algn="l">
              <a:lnSpc>
                <a:spcPct val="90000"/>
              </a:lnSpc>
              <a:spcBef>
                <a:spcPts val="0"/>
              </a:spcBef>
              <a:spcAft>
                <a:spcPts val="0"/>
              </a:spcAft>
              <a:buSzPts val="2000"/>
              <a:buNone/>
            </a:pPr>
            <a:r>
              <a:t/>
            </a:r>
            <a:endParaRPr/>
          </a:p>
        </p:txBody>
      </p:sp>
      <p:sp>
        <p:nvSpPr>
          <p:cNvPr id="431" name="Google Shape;431;p3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432" name="Google Shape;432;p3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433" name="Google Shape;433;p3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434" name="Google Shape;434;p34"/>
          <p:cNvPicPr preferRelativeResize="0"/>
          <p:nvPr/>
        </p:nvPicPr>
        <p:blipFill rotWithShape="1">
          <a:blip r:embed="rId3">
            <a:alphaModFix/>
          </a:blip>
          <a:srcRect b="0" l="0" r="0" t="0"/>
          <a:stretch/>
        </p:blipFill>
        <p:spPr>
          <a:xfrm>
            <a:off x="539552" y="839231"/>
            <a:ext cx="2448103" cy="1933838"/>
          </a:xfrm>
          <a:prstGeom prst="rect">
            <a:avLst/>
          </a:prstGeom>
          <a:noFill/>
          <a:ln>
            <a:noFill/>
          </a:ln>
        </p:spPr>
      </p:pic>
      <p:pic>
        <p:nvPicPr>
          <p:cNvPr id="435" name="Google Shape;435;p34"/>
          <p:cNvPicPr preferRelativeResize="0"/>
          <p:nvPr/>
        </p:nvPicPr>
        <p:blipFill rotWithShape="1">
          <a:blip r:embed="rId4">
            <a:alphaModFix/>
          </a:blip>
          <a:srcRect b="0" l="0" r="0" t="0"/>
          <a:stretch/>
        </p:blipFill>
        <p:spPr>
          <a:xfrm>
            <a:off x="422825" y="2623046"/>
            <a:ext cx="2958573" cy="2792235"/>
          </a:xfrm>
          <a:prstGeom prst="rect">
            <a:avLst/>
          </a:prstGeom>
          <a:noFill/>
          <a:ln>
            <a:noFill/>
          </a:ln>
        </p:spPr>
      </p:pic>
      <p:sp>
        <p:nvSpPr>
          <p:cNvPr id="436" name="Google Shape;436;p34"/>
          <p:cNvSpPr/>
          <p:nvPr/>
        </p:nvSpPr>
        <p:spPr>
          <a:xfrm>
            <a:off x="457199" y="5747593"/>
            <a:ext cx="763034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400">
                <a:solidFill>
                  <a:schemeClr val="dk1"/>
                </a:solidFill>
                <a:latin typeface="Calibri"/>
                <a:ea typeface="Calibri"/>
                <a:cs typeface="Calibri"/>
                <a:sym typeface="Calibri"/>
              </a:rPr>
              <a:t>Courtesy :https://www.ibiblio.org/comphist/node/57,https://en.wikipedia.org/wiki/Punched_card</a:t>
            </a:r>
            <a:endParaRPr sz="1800">
              <a:solidFill>
                <a:schemeClr val="dk1"/>
              </a:solidFill>
              <a:latin typeface="Calibri"/>
              <a:ea typeface="Calibri"/>
              <a:cs typeface="Calibri"/>
              <a:sym typeface="Calibri"/>
            </a:endParaRPr>
          </a:p>
        </p:txBody>
      </p:sp>
      <p:pic>
        <p:nvPicPr>
          <p:cNvPr descr="Card reader/punch" id="437" name="Google Shape;437;p34"/>
          <p:cNvPicPr preferRelativeResize="0"/>
          <p:nvPr/>
        </p:nvPicPr>
        <p:blipFill rotWithShape="1">
          <a:blip r:embed="rId5">
            <a:alphaModFix/>
          </a:blip>
          <a:srcRect b="0" l="0" r="0" t="0"/>
          <a:stretch/>
        </p:blipFill>
        <p:spPr>
          <a:xfrm>
            <a:off x="3563708" y="846737"/>
            <a:ext cx="4386243" cy="4152160"/>
          </a:xfrm>
          <a:prstGeom prst="rect">
            <a:avLst/>
          </a:prstGeom>
          <a:noFill/>
          <a:ln>
            <a:noFill/>
          </a:ln>
        </p:spPr>
      </p:pic>
      <p:sp>
        <p:nvSpPr>
          <p:cNvPr id="438" name="Google Shape;438;p34"/>
          <p:cNvSpPr/>
          <p:nvPr/>
        </p:nvSpPr>
        <p:spPr>
          <a:xfrm>
            <a:off x="4759889" y="5097434"/>
            <a:ext cx="19938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Card reader/punch</a:t>
            </a:r>
            <a:endParaRPr b="1"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35"/>
          <p:cNvSpPr txBox="1"/>
          <p:nvPr>
            <p:ph type="title"/>
          </p:nvPr>
        </p:nvSpPr>
        <p:spPr>
          <a:xfrm>
            <a:off x="323528" y="54220"/>
            <a:ext cx="7620000" cy="49006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sz="4000"/>
              <a:t>Batch system</a:t>
            </a:r>
            <a:endParaRPr sz="4000"/>
          </a:p>
        </p:txBody>
      </p:sp>
      <p:sp>
        <p:nvSpPr>
          <p:cNvPr id="444" name="Google Shape;444;p35"/>
          <p:cNvSpPr txBox="1"/>
          <p:nvPr>
            <p:ph idx="1" type="body"/>
          </p:nvPr>
        </p:nvSpPr>
        <p:spPr>
          <a:xfrm>
            <a:off x="0" y="525218"/>
            <a:ext cx="8388424" cy="6332781"/>
          </a:xfrm>
          <a:prstGeom prst="rect">
            <a:avLst/>
          </a:prstGeom>
          <a:noFill/>
          <a:ln>
            <a:noFill/>
          </a:ln>
        </p:spPr>
        <p:txBody>
          <a:bodyPr anchorCtr="0" anchor="t" bIns="45700" lIns="0" spcFirstLastPara="1" rIns="0" wrap="square" tIns="45700">
            <a:noAutofit/>
          </a:bodyPr>
          <a:lstStyle/>
          <a:p>
            <a:pPr indent="-127000" lvl="0" marL="91440" rtl="0" algn="l">
              <a:lnSpc>
                <a:spcPct val="90000"/>
              </a:lnSpc>
              <a:spcBef>
                <a:spcPts val="0"/>
              </a:spcBef>
              <a:spcAft>
                <a:spcPts val="0"/>
              </a:spcAft>
              <a:buSzPts val="2000"/>
              <a:buChar char=" "/>
            </a:pPr>
            <a:r>
              <a:rPr lang="en-IN" sz="2000"/>
              <a:t>User did not interact with the computer systems.</a:t>
            </a:r>
            <a:endParaRPr/>
          </a:p>
          <a:p>
            <a:pPr indent="-182880" lvl="1" marL="384048" rtl="0" algn="l">
              <a:lnSpc>
                <a:spcPct val="90000"/>
              </a:lnSpc>
              <a:spcBef>
                <a:spcPts val="400"/>
              </a:spcBef>
              <a:spcAft>
                <a:spcPts val="0"/>
              </a:spcAft>
              <a:buSzPts val="1800"/>
              <a:buChar char="◦"/>
            </a:pPr>
            <a:r>
              <a:rPr lang="en-IN"/>
              <a:t>User prepared a job which consisted of </a:t>
            </a:r>
            <a:endParaRPr/>
          </a:p>
          <a:p>
            <a:pPr indent="-182880" lvl="2" marL="566928" rtl="0" algn="l">
              <a:lnSpc>
                <a:spcPct val="90000"/>
              </a:lnSpc>
              <a:spcBef>
                <a:spcPts val="600"/>
              </a:spcBef>
              <a:spcAft>
                <a:spcPts val="0"/>
              </a:spcAft>
              <a:buSzPts val="2000"/>
              <a:buChar char="◦"/>
            </a:pPr>
            <a:r>
              <a:rPr lang="en-IN" sz="2000"/>
              <a:t>the programs, data and control information ,</a:t>
            </a:r>
            <a:endParaRPr/>
          </a:p>
          <a:p>
            <a:pPr indent="-182880" lvl="1" marL="384048" rtl="0" algn="l">
              <a:lnSpc>
                <a:spcPct val="90000"/>
              </a:lnSpc>
              <a:spcBef>
                <a:spcPts val="600"/>
              </a:spcBef>
              <a:spcAft>
                <a:spcPts val="0"/>
              </a:spcAft>
              <a:buSzPts val="1800"/>
              <a:buChar char="◦"/>
            </a:pPr>
            <a:r>
              <a:rPr lang="en-IN"/>
              <a:t>submitted it to the computer operator. </a:t>
            </a:r>
            <a:endParaRPr/>
          </a:p>
          <a:p>
            <a:pPr indent="-182880" lvl="1" marL="384048" rtl="0" algn="l">
              <a:lnSpc>
                <a:spcPct val="90000"/>
              </a:lnSpc>
              <a:spcBef>
                <a:spcPts val="600"/>
              </a:spcBef>
              <a:spcAft>
                <a:spcPts val="0"/>
              </a:spcAft>
              <a:buSzPts val="1800"/>
              <a:buChar char="◦"/>
            </a:pPr>
            <a:r>
              <a:rPr lang="en-IN"/>
              <a:t>The job was usually in the form of punch cards.</a:t>
            </a:r>
            <a:endParaRPr/>
          </a:p>
          <a:p>
            <a:pPr indent="-127000" lvl="0" marL="91440" rtl="0" algn="l">
              <a:lnSpc>
                <a:spcPct val="90000"/>
              </a:lnSpc>
              <a:spcBef>
                <a:spcPts val="1600"/>
              </a:spcBef>
              <a:spcAft>
                <a:spcPts val="0"/>
              </a:spcAft>
              <a:buSzPts val="2000"/>
              <a:buChar char=" "/>
            </a:pPr>
            <a:r>
              <a:rPr lang="en-IN" sz="2000"/>
              <a:t>At some later time, the output appeared.</a:t>
            </a:r>
            <a:endParaRPr/>
          </a:p>
          <a:p>
            <a:pPr indent="-182880" lvl="1" marL="384048" rtl="0" algn="l">
              <a:lnSpc>
                <a:spcPct val="90000"/>
              </a:lnSpc>
              <a:spcBef>
                <a:spcPts val="400"/>
              </a:spcBef>
              <a:spcAft>
                <a:spcPts val="0"/>
              </a:spcAft>
              <a:buSzPts val="1800"/>
              <a:buChar char="◦"/>
            </a:pPr>
            <a:r>
              <a:rPr lang="en-IN"/>
              <a:t>The o/p consisted of </a:t>
            </a:r>
            <a:endParaRPr/>
          </a:p>
          <a:p>
            <a:pPr indent="-182880" lvl="2" marL="566928" rtl="0" algn="l">
              <a:lnSpc>
                <a:spcPct val="90000"/>
              </a:lnSpc>
              <a:spcBef>
                <a:spcPts val="600"/>
              </a:spcBef>
              <a:spcAft>
                <a:spcPts val="0"/>
              </a:spcAft>
              <a:buSzPts val="2000"/>
              <a:buChar char="◦"/>
            </a:pPr>
            <a:r>
              <a:rPr lang="en-IN" sz="2000"/>
              <a:t>result of the program, as well as a dump of the final memory and </a:t>
            </a:r>
            <a:endParaRPr/>
          </a:p>
          <a:p>
            <a:pPr indent="-182880" lvl="2" marL="566928" rtl="0" algn="l">
              <a:lnSpc>
                <a:spcPct val="90000"/>
              </a:lnSpc>
              <a:spcBef>
                <a:spcPts val="600"/>
              </a:spcBef>
              <a:spcAft>
                <a:spcPts val="0"/>
              </a:spcAft>
              <a:buSzPts val="2000"/>
              <a:buChar char="◦"/>
            </a:pPr>
            <a:r>
              <a:rPr lang="en-IN" sz="2000"/>
              <a:t>register contents for debugging.</a:t>
            </a:r>
            <a:endParaRPr sz="2200"/>
          </a:p>
          <a:p>
            <a:pPr indent="-127000" lvl="0" marL="91440" rtl="0" algn="l">
              <a:lnSpc>
                <a:spcPct val="90000"/>
              </a:lnSpc>
              <a:spcBef>
                <a:spcPts val="1600"/>
              </a:spcBef>
              <a:spcAft>
                <a:spcPts val="0"/>
              </a:spcAft>
              <a:buSzPts val="2000"/>
              <a:buChar char=" "/>
            </a:pPr>
            <a:r>
              <a:rPr lang="en-IN" sz="2000"/>
              <a:t>To speed up processing, </a:t>
            </a:r>
            <a:endParaRPr/>
          </a:p>
          <a:p>
            <a:pPr indent="-182880" lvl="1" marL="384048" rtl="0" algn="l">
              <a:lnSpc>
                <a:spcPct val="90000"/>
              </a:lnSpc>
              <a:spcBef>
                <a:spcPts val="400"/>
              </a:spcBef>
              <a:spcAft>
                <a:spcPts val="0"/>
              </a:spcAft>
              <a:buSzPts val="1800"/>
              <a:buChar char="◦"/>
            </a:pPr>
            <a:r>
              <a:rPr lang="en-IN"/>
              <a:t>operators batched together jobs with similar needs and </a:t>
            </a:r>
            <a:endParaRPr/>
          </a:p>
          <a:p>
            <a:pPr indent="-182880" lvl="1" marL="384048" rtl="0" algn="l">
              <a:lnSpc>
                <a:spcPct val="90000"/>
              </a:lnSpc>
              <a:spcBef>
                <a:spcPts val="600"/>
              </a:spcBef>
              <a:spcAft>
                <a:spcPts val="0"/>
              </a:spcAft>
              <a:buSzPts val="1800"/>
              <a:buChar char="◦"/>
            </a:pPr>
            <a:r>
              <a:rPr lang="en-IN"/>
              <a:t>ran them throughout the computer as a group.</a:t>
            </a:r>
            <a:endParaRPr/>
          </a:p>
          <a:p>
            <a:pPr indent="-457200" lvl="0" marL="457200" rtl="0" algn="l">
              <a:lnSpc>
                <a:spcPct val="90000"/>
              </a:lnSpc>
              <a:spcBef>
                <a:spcPts val="1600"/>
              </a:spcBef>
              <a:spcAft>
                <a:spcPts val="0"/>
              </a:spcAft>
              <a:buSzPts val="2000"/>
              <a:buFont typeface="Calibri"/>
              <a:buAutoNum type="arabicParenR"/>
            </a:pPr>
            <a:r>
              <a:rPr i="1" lang="en-IN" sz="2000"/>
              <a:t>The programmers would leave their programs with the operator. </a:t>
            </a:r>
            <a:endParaRPr/>
          </a:p>
          <a:p>
            <a:pPr indent="-457200" lvl="0" marL="457200" rtl="0" algn="l">
              <a:lnSpc>
                <a:spcPct val="90000"/>
              </a:lnSpc>
              <a:spcBef>
                <a:spcPts val="1400"/>
              </a:spcBef>
              <a:spcAft>
                <a:spcPts val="0"/>
              </a:spcAft>
              <a:buSzPts val="2000"/>
              <a:buFont typeface="Calibri"/>
              <a:buAutoNum type="arabicParenR"/>
            </a:pPr>
            <a:r>
              <a:rPr i="1" lang="en-IN" sz="2000"/>
              <a:t>The operator would </a:t>
            </a:r>
            <a:endParaRPr/>
          </a:p>
          <a:p>
            <a:pPr indent="-457200" lvl="1" marL="914400" rtl="0" algn="l">
              <a:lnSpc>
                <a:spcPct val="90000"/>
              </a:lnSpc>
              <a:spcBef>
                <a:spcPts val="400"/>
              </a:spcBef>
              <a:spcAft>
                <a:spcPts val="0"/>
              </a:spcAft>
              <a:buSzPts val="1800"/>
              <a:buFont typeface="Calibri"/>
              <a:buAutoNum type="arabicParenR"/>
            </a:pPr>
            <a:r>
              <a:rPr i="1" lang="en-IN"/>
              <a:t>sort programs into batches with similar requirements and </a:t>
            </a:r>
            <a:endParaRPr/>
          </a:p>
          <a:p>
            <a:pPr indent="-457200" lvl="1" marL="914400" rtl="0" algn="l">
              <a:lnSpc>
                <a:spcPct val="90000"/>
              </a:lnSpc>
              <a:spcBef>
                <a:spcPts val="600"/>
              </a:spcBef>
              <a:spcAft>
                <a:spcPts val="0"/>
              </a:spcAft>
              <a:buSzPts val="1800"/>
              <a:buFont typeface="Calibri"/>
              <a:buAutoNum type="arabicParenR"/>
            </a:pPr>
            <a:r>
              <a:rPr i="1" lang="en-IN"/>
              <a:t>would run each batch as the computer became available.</a:t>
            </a:r>
            <a:endParaRPr/>
          </a:p>
          <a:p>
            <a:pPr indent="-457200" lvl="0" marL="457200" rtl="0" algn="l">
              <a:lnSpc>
                <a:spcPct val="90000"/>
              </a:lnSpc>
              <a:spcBef>
                <a:spcPts val="1600"/>
              </a:spcBef>
              <a:spcAft>
                <a:spcPts val="0"/>
              </a:spcAft>
              <a:buSzPts val="2000"/>
              <a:buFont typeface="Calibri"/>
              <a:buAutoNum type="arabicParenR"/>
            </a:pPr>
            <a:r>
              <a:rPr i="1" lang="en-IN" sz="2000"/>
              <a:t>The O/P would be sent back </a:t>
            </a:r>
            <a:r>
              <a:rPr lang="en-IN" sz="2000"/>
              <a:t>to the appropriate programmer</a:t>
            </a:r>
            <a:endParaRPr/>
          </a:p>
          <a:p>
            <a:pPr indent="-30479" lvl="1" marL="384048" rtl="0" algn="l">
              <a:lnSpc>
                <a:spcPct val="90000"/>
              </a:lnSpc>
              <a:spcBef>
                <a:spcPts val="400"/>
              </a:spcBef>
              <a:spcAft>
                <a:spcPts val="0"/>
              </a:spcAft>
              <a:buSzPts val="2400"/>
              <a:buNone/>
            </a:pPr>
            <a:r>
              <a:t/>
            </a:r>
            <a:endParaRPr sz="2400"/>
          </a:p>
          <a:p>
            <a:pPr indent="-43180" lvl="2" marL="566928" rtl="0" algn="l">
              <a:lnSpc>
                <a:spcPct val="90000"/>
              </a:lnSpc>
              <a:spcBef>
                <a:spcPts val="600"/>
              </a:spcBef>
              <a:spcAft>
                <a:spcPts val="0"/>
              </a:spcAft>
              <a:buSzPts val="2200"/>
              <a:buNone/>
            </a:pPr>
            <a:r>
              <a:t/>
            </a:r>
            <a:endParaRPr sz="2200"/>
          </a:p>
        </p:txBody>
      </p:sp>
      <p:sp>
        <p:nvSpPr>
          <p:cNvPr id="445" name="Google Shape;445;p3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446" name="Google Shape;446;p3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447" name="Google Shape;447;p3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453" name="Google Shape;453;p3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454" name="Google Shape;454;p3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455" name="Google Shape;455;p36"/>
          <p:cNvSpPr txBox="1"/>
          <p:nvPr>
            <p:ph idx="4294967295" type="title"/>
          </p:nvPr>
        </p:nvSpPr>
        <p:spPr>
          <a:xfrm>
            <a:off x="0" y="50800"/>
            <a:ext cx="7616825" cy="576263"/>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366FF"/>
              </a:buClr>
              <a:buSzPts val="3200"/>
              <a:buFont typeface="Calibri"/>
              <a:buNone/>
            </a:pPr>
            <a:r>
              <a:rPr b="1" lang="en-IN" sz="3200">
                <a:solidFill>
                  <a:srgbClr val="3366FF"/>
                </a:solidFill>
              </a:rPr>
              <a:t>Multiprogramming</a:t>
            </a:r>
            <a:endParaRPr sz="3200"/>
          </a:p>
        </p:txBody>
      </p:sp>
      <p:sp>
        <p:nvSpPr>
          <p:cNvPr id="456" name="Google Shape;456;p36"/>
          <p:cNvSpPr txBox="1"/>
          <p:nvPr>
            <p:ph idx="4294967295" type="body"/>
          </p:nvPr>
        </p:nvSpPr>
        <p:spPr>
          <a:xfrm>
            <a:off x="0" y="633413"/>
            <a:ext cx="7832725" cy="5462587"/>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400"/>
              <a:buNone/>
            </a:pPr>
            <a:r>
              <a:rPr b="1" lang="en-IN" sz="2400"/>
              <a:t>Non-multi programmed system’s working –</a:t>
            </a:r>
            <a:endParaRPr sz="2400"/>
          </a:p>
          <a:p>
            <a:pPr indent="-152400" lvl="0" marL="91440" rtl="0" algn="l">
              <a:lnSpc>
                <a:spcPct val="90000"/>
              </a:lnSpc>
              <a:spcBef>
                <a:spcPts val="1400"/>
              </a:spcBef>
              <a:spcAft>
                <a:spcPts val="0"/>
              </a:spcAft>
              <a:buSzPts val="2400"/>
              <a:buChar char=" "/>
            </a:pPr>
            <a:r>
              <a:rPr lang="en-IN" sz="2400"/>
              <a:t>As soon as one job leaves the CPU and goes for some other task (say I/O ), the CPU becomes idle. </a:t>
            </a:r>
            <a:endParaRPr sz="2400"/>
          </a:p>
          <a:p>
            <a:pPr indent="-152400" lvl="0" marL="91440" rtl="0" algn="l">
              <a:lnSpc>
                <a:spcPct val="90000"/>
              </a:lnSpc>
              <a:spcBef>
                <a:spcPts val="1400"/>
              </a:spcBef>
              <a:spcAft>
                <a:spcPts val="0"/>
              </a:spcAft>
              <a:buSzPts val="2400"/>
              <a:buChar char=" "/>
            </a:pPr>
            <a:r>
              <a:rPr lang="en-IN" sz="2400"/>
              <a:t>The CPU keeps waiting and waiting until this job (which was executing earlier) comes back and resumes its execution with the CPU. So CPU remains free for all this while.</a:t>
            </a:r>
            <a:endParaRPr/>
          </a:p>
          <a:p>
            <a:pPr indent="-152400" lvl="0" marL="91440" rtl="0" algn="l">
              <a:lnSpc>
                <a:spcPct val="90000"/>
              </a:lnSpc>
              <a:spcBef>
                <a:spcPts val="1400"/>
              </a:spcBef>
              <a:spcAft>
                <a:spcPts val="0"/>
              </a:spcAft>
              <a:buSzPts val="2400"/>
              <a:buChar char=" "/>
            </a:pPr>
            <a:r>
              <a:rPr lang="en-IN" sz="2400"/>
              <a:t>Now it has a drawback that the CPU remains idle for a very long period of time. Also, other jobs which are waiting to be executed might not get a chance to execute because the CPU is still allocated to the earlier job.</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3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462" name="Google Shape;462;p3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463" name="Google Shape;463;p3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464" name="Google Shape;464;p37"/>
          <p:cNvSpPr txBox="1"/>
          <p:nvPr>
            <p:ph idx="4294967295" type="title"/>
          </p:nvPr>
        </p:nvSpPr>
        <p:spPr>
          <a:xfrm>
            <a:off x="0" y="34925"/>
            <a:ext cx="7616825" cy="576263"/>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366FF"/>
              </a:buClr>
              <a:buSzPts val="3200"/>
              <a:buFont typeface="Calibri"/>
              <a:buNone/>
            </a:pPr>
            <a:r>
              <a:rPr b="1" lang="en-IN" sz="3200">
                <a:solidFill>
                  <a:srgbClr val="3366FF"/>
                </a:solidFill>
              </a:rPr>
              <a:t>Multiprogramming</a:t>
            </a:r>
            <a:endParaRPr sz="3200"/>
          </a:p>
        </p:txBody>
      </p:sp>
      <p:sp>
        <p:nvSpPr>
          <p:cNvPr id="465" name="Google Shape;465;p37"/>
          <p:cNvSpPr txBox="1"/>
          <p:nvPr>
            <p:ph idx="4294967295" type="body"/>
          </p:nvPr>
        </p:nvSpPr>
        <p:spPr>
          <a:xfrm>
            <a:off x="0" y="560388"/>
            <a:ext cx="7561263" cy="5495925"/>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400"/>
              <a:buNone/>
            </a:pPr>
            <a:r>
              <a:rPr b="1" lang="en-IN" sz="2400"/>
              <a:t>Multi programmed system’s working –</a:t>
            </a:r>
            <a:endParaRPr sz="2400"/>
          </a:p>
          <a:p>
            <a:pPr indent="-152400" lvl="0" marL="91440" rtl="0" algn="l">
              <a:lnSpc>
                <a:spcPct val="90000"/>
              </a:lnSpc>
              <a:spcBef>
                <a:spcPts val="1400"/>
              </a:spcBef>
              <a:spcAft>
                <a:spcPts val="0"/>
              </a:spcAft>
              <a:buSzPts val="2400"/>
              <a:buChar char=" "/>
            </a:pPr>
            <a:r>
              <a:rPr lang="en-IN" sz="2400"/>
              <a:t>In a multi-programmed system, as soon as one job goes for an I/O task, the Operating System interrupts that job, chooses another job from the job pool (waiting queue), gives CPU to this new job and starts its execution. </a:t>
            </a:r>
            <a:endParaRPr sz="2400"/>
          </a:p>
          <a:p>
            <a:pPr indent="-152400" lvl="0" marL="91440" rtl="0" algn="l">
              <a:lnSpc>
                <a:spcPct val="90000"/>
              </a:lnSpc>
              <a:spcBef>
                <a:spcPts val="1400"/>
              </a:spcBef>
              <a:spcAft>
                <a:spcPts val="0"/>
              </a:spcAft>
              <a:buSzPts val="2400"/>
              <a:buChar char=" "/>
            </a:pPr>
            <a:r>
              <a:rPr lang="en-IN" sz="2400"/>
              <a:t>The previous job keeps doing its I/O operation while this new job does CPU bound tasks. </a:t>
            </a:r>
            <a:endParaRPr sz="2400"/>
          </a:p>
          <a:p>
            <a:pPr indent="-152400" lvl="0" marL="91440" rtl="0" algn="l">
              <a:lnSpc>
                <a:spcPct val="90000"/>
              </a:lnSpc>
              <a:spcBef>
                <a:spcPts val="1400"/>
              </a:spcBef>
              <a:spcAft>
                <a:spcPts val="0"/>
              </a:spcAft>
              <a:buSzPts val="2400"/>
              <a:buChar char=" "/>
            </a:pPr>
            <a:r>
              <a:rPr lang="en-IN" sz="2400"/>
              <a:t>Now say the second job also goes for an I/O task, the CPU chooses a third job and starts executing it.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3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471" name="Google Shape;471;p3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472" name="Google Shape;472;p3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473" name="Google Shape;473;p38"/>
          <p:cNvSpPr txBox="1"/>
          <p:nvPr>
            <p:ph idx="4294967295" type="title"/>
          </p:nvPr>
        </p:nvSpPr>
        <p:spPr>
          <a:xfrm>
            <a:off x="0" y="65088"/>
            <a:ext cx="7616825"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366FF"/>
              </a:buClr>
              <a:buSzPts val="3200"/>
              <a:buFont typeface="Calibri"/>
              <a:buNone/>
            </a:pPr>
            <a:r>
              <a:rPr b="1" lang="en-IN" sz="3200">
                <a:solidFill>
                  <a:srgbClr val="3366FF"/>
                </a:solidFill>
              </a:rPr>
              <a:t>Multiprogramming</a:t>
            </a:r>
            <a:endParaRPr sz="3200"/>
          </a:p>
        </p:txBody>
      </p:sp>
      <p:sp>
        <p:nvSpPr>
          <p:cNvPr id="474" name="Google Shape;474;p38"/>
          <p:cNvSpPr txBox="1"/>
          <p:nvPr>
            <p:ph idx="4294967295" type="body"/>
          </p:nvPr>
        </p:nvSpPr>
        <p:spPr>
          <a:xfrm>
            <a:off x="0" y="646113"/>
            <a:ext cx="7832725" cy="5462587"/>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en-IN"/>
              <a:t>Multiprogramming</a:t>
            </a:r>
            <a:r>
              <a:rPr lang="en-IN" sz="1600"/>
              <a:t> </a:t>
            </a:r>
            <a:r>
              <a:rPr lang="en-IN" sz="2400"/>
              <a:t>needed for efficiency</a:t>
            </a:r>
            <a:endParaRPr/>
          </a:p>
          <a:p>
            <a:pPr indent="-182880" lvl="1" marL="384048" rtl="0" algn="l">
              <a:lnSpc>
                <a:spcPct val="90000"/>
              </a:lnSpc>
              <a:spcBef>
                <a:spcPts val="400"/>
              </a:spcBef>
              <a:spcAft>
                <a:spcPts val="0"/>
              </a:spcAft>
              <a:buSzPts val="2400"/>
              <a:buChar char="◦"/>
            </a:pPr>
            <a:r>
              <a:rPr lang="en-IN" sz="2400"/>
              <a:t>Single Program cannot keep CPU and I/O devices busy at all times</a:t>
            </a:r>
            <a:endParaRPr/>
          </a:p>
          <a:p>
            <a:pPr indent="-182880" lvl="1" marL="384048" rtl="0" algn="l">
              <a:lnSpc>
                <a:spcPct val="90000"/>
              </a:lnSpc>
              <a:spcBef>
                <a:spcPts val="600"/>
              </a:spcBef>
              <a:spcAft>
                <a:spcPts val="0"/>
              </a:spcAft>
              <a:buSzPts val="2400"/>
              <a:buChar char="◦"/>
            </a:pPr>
            <a:r>
              <a:rPr lang="en-IN" sz="2400"/>
              <a:t>Multiprogramming increases CPU utilization by organizing jobs (code and data) so that CPU always has one to execute.</a:t>
            </a:r>
            <a:endParaRPr/>
          </a:p>
          <a:p>
            <a:pPr indent="-182880" lvl="1" marL="384048" rtl="0" algn="l">
              <a:lnSpc>
                <a:spcPct val="90000"/>
              </a:lnSpc>
              <a:spcBef>
                <a:spcPts val="600"/>
              </a:spcBef>
              <a:spcAft>
                <a:spcPts val="0"/>
              </a:spcAft>
              <a:buSzPts val="2400"/>
              <a:buChar char="◦"/>
            </a:pPr>
            <a:r>
              <a:rPr lang="en-IN" sz="2400"/>
              <a:t>A subset of total jobs in system is kept in memory</a:t>
            </a:r>
            <a:endParaRPr/>
          </a:p>
          <a:p>
            <a:pPr indent="-182880" lvl="1" marL="384048" rtl="0" algn="l">
              <a:lnSpc>
                <a:spcPct val="90000"/>
              </a:lnSpc>
              <a:spcBef>
                <a:spcPts val="600"/>
              </a:spcBef>
              <a:spcAft>
                <a:spcPts val="0"/>
              </a:spcAft>
              <a:buSzPts val="2400"/>
              <a:buChar char="◦"/>
            </a:pPr>
            <a:r>
              <a:rPr lang="en-IN" sz="2400"/>
              <a:t>One job selected and run via </a:t>
            </a:r>
            <a:r>
              <a:rPr b="1" lang="en-IN"/>
              <a:t>job scheduling</a:t>
            </a:r>
            <a:endParaRPr b="1" sz="4000"/>
          </a:p>
          <a:p>
            <a:pPr indent="-182880" lvl="1" marL="384048" rtl="0" algn="l">
              <a:lnSpc>
                <a:spcPct val="90000"/>
              </a:lnSpc>
              <a:spcBef>
                <a:spcPts val="600"/>
              </a:spcBef>
              <a:spcAft>
                <a:spcPts val="0"/>
              </a:spcAft>
              <a:buSzPts val="2400"/>
              <a:buChar char="◦"/>
            </a:pPr>
            <a:r>
              <a:rPr lang="en-IN" sz="2400"/>
              <a:t>When it has to wait for some task, such as I/O,  OS switches to another job</a:t>
            </a:r>
            <a:endParaRPr/>
          </a:p>
          <a:p>
            <a:pPr indent="-182880" lvl="1" marL="384048" rtl="0" algn="l">
              <a:lnSpc>
                <a:spcPct val="90000"/>
              </a:lnSpc>
              <a:spcBef>
                <a:spcPts val="600"/>
              </a:spcBef>
              <a:spcAft>
                <a:spcPts val="0"/>
              </a:spcAft>
              <a:buSzPts val="2400"/>
              <a:buChar char="◦"/>
            </a:pPr>
            <a:r>
              <a:rPr lang="en-IN" sz="2400"/>
              <a:t>In non- multi-programmed system, The CPU would sit idle.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39"/>
          <p:cNvSpPr txBox="1"/>
          <p:nvPr>
            <p:ph type="title"/>
          </p:nvPr>
        </p:nvSpPr>
        <p:spPr>
          <a:xfrm>
            <a:off x="1907704" y="33536"/>
            <a:ext cx="4464495" cy="803176"/>
          </a:xfrm>
          <a:prstGeom prst="rect">
            <a:avLst/>
          </a:prstGeom>
          <a:noFill/>
          <a:ln>
            <a:noFill/>
          </a:ln>
        </p:spPr>
        <p:txBody>
          <a:bodyPr anchorCtr="0" anchor="b" bIns="45700" lIns="91425" spcFirstLastPara="1" rIns="91425" wrap="square" tIns="45700">
            <a:noAutofit/>
          </a:bodyPr>
          <a:lstStyle/>
          <a:p>
            <a:pPr indent="0" lvl="0" marL="0" rtl="0" algn="ctr">
              <a:lnSpc>
                <a:spcPct val="85000"/>
              </a:lnSpc>
              <a:spcBef>
                <a:spcPts val="0"/>
              </a:spcBef>
              <a:spcAft>
                <a:spcPts val="0"/>
              </a:spcAft>
              <a:buClr>
                <a:srgbClr val="3F3F3F"/>
              </a:buClr>
              <a:buSzPts val="2400"/>
              <a:buFont typeface="Calibri"/>
              <a:buNone/>
            </a:pPr>
            <a:r>
              <a:rPr lang="en-IN" sz="2400"/>
              <a:t>                                                                                                                           </a:t>
            </a:r>
            <a:r>
              <a:rPr b="1" lang="en-IN" sz="2400">
                <a:solidFill>
                  <a:srgbClr val="3366FF"/>
                </a:solidFill>
              </a:rPr>
              <a:t>Multiprogramming</a:t>
            </a:r>
            <a:endParaRPr sz="2400"/>
          </a:p>
        </p:txBody>
      </p:sp>
      <p:sp>
        <p:nvSpPr>
          <p:cNvPr id="480" name="Google Shape;480;p39"/>
          <p:cNvSpPr txBox="1"/>
          <p:nvPr>
            <p:ph idx="1" type="body"/>
          </p:nvPr>
        </p:nvSpPr>
        <p:spPr>
          <a:xfrm>
            <a:off x="288075" y="980728"/>
            <a:ext cx="3706046" cy="1818966"/>
          </a:xfrm>
          <a:prstGeom prst="rect">
            <a:avLst/>
          </a:prstGeom>
          <a:noFill/>
          <a:ln>
            <a:noFill/>
          </a:ln>
        </p:spPr>
        <p:txBody>
          <a:bodyPr anchorCtr="0" anchor="ctr" bIns="45700" lIns="91425" spcFirstLastPara="1" rIns="91425" wrap="square" tIns="45700">
            <a:normAutofit fontScale="25000" lnSpcReduction="20000"/>
          </a:bodyPr>
          <a:lstStyle/>
          <a:p>
            <a:pPr indent="0" lvl="0" marL="0" rtl="0" algn="l">
              <a:lnSpc>
                <a:spcPct val="90000"/>
              </a:lnSpc>
              <a:spcBef>
                <a:spcPts val="0"/>
              </a:spcBef>
              <a:spcAft>
                <a:spcPts val="0"/>
              </a:spcAft>
              <a:buSzPct val="100000"/>
              <a:buNone/>
            </a:pPr>
            <a:r>
              <a:t/>
            </a:r>
            <a:endParaRPr sz="3600"/>
          </a:p>
          <a:p>
            <a:pPr indent="0" lvl="0" marL="0" rtl="0" algn="l">
              <a:lnSpc>
                <a:spcPct val="90000"/>
              </a:lnSpc>
              <a:spcBef>
                <a:spcPts val="1400"/>
              </a:spcBef>
              <a:spcAft>
                <a:spcPts val="0"/>
              </a:spcAft>
              <a:buSzPct val="100000"/>
              <a:buNone/>
            </a:pPr>
            <a:r>
              <a:t/>
            </a:r>
            <a:endParaRPr sz="3600"/>
          </a:p>
          <a:p>
            <a:pPr indent="0" lvl="0" marL="0" rtl="0" algn="l">
              <a:lnSpc>
                <a:spcPct val="90000"/>
              </a:lnSpc>
              <a:spcBef>
                <a:spcPts val="1400"/>
              </a:spcBef>
              <a:spcAft>
                <a:spcPts val="0"/>
              </a:spcAft>
              <a:buSzPct val="100000"/>
              <a:buNone/>
            </a:pPr>
            <a:r>
              <a:t/>
            </a:r>
            <a:endParaRPr sz="3600"/>
          </a:p>
          <a:p>
            <a:pPr indent="0" lvl="0" marL="0" rtl="0" algn="l">
              <a:lnSpc>
                <a:spcPct val="90000"/>
              </a:lnSpc>
              <a:spcBef>
                <a:spcPts val="1400"/>
              </a:spcBef>
              <a:spcAft>
                <a:spcPts val="0"/>
              </a:spcAft>
              <a:buSzPct val="100000"/>
              <a:buNone/>
            </a:pPr>
            <a:r>
              <a:t/>
            </a:r>
            <a:endParaRPr sz="3600"/>
          </a:p>
          <a:p>
            <a:pPr indent="0" lvl="0" marL="0" rtl="0" algn="l">
              <a:lnSpc>
                <a:spcPct val="90000"/>
              </a:lnSpc>
              <a:spcBef>
                <a:spcPts val="1400"/>
              </a:spcBef>
              <a:spcAft>
                <a:spcPts val="0"/>
              </a:spcAft>
              <a:buSzPct val="100000"/>
              <a:buNone/>
            </a:pPr>
            <a:r>
              <a:t/>
            </a:r>
            <a:endParaRPr sz="3600"/>
          </a:p>
          <a:p>
            <a:pPr indent="0" lvl="0" marL="0" rtl="0" algn="l">
              <a:lnSpc>
                <a:spcPct val="90000"/>
              </a:lnSpc>
              <a:spcBef>
                <a:spcPts val="1400"/>
              </a:spcBef>
              <a:spcAft>
                <a:spcPts val="0"/>
              </a:spcAft>
              <a:buSzPct val="100000"/>
              <a:buNone/>
            </a:pPr>
            <a:r>
              <a:t/>
            </a:r>
            <a:endParaRPr sz="3600"/>
          </a:p>
          <a:p>
            <a:pPr indent="0" lvl="0" marL="0" rtl="0" algn="l">
              <a:lnSpc>
                <a:spcPct val="90000"/>
              </a:lnSpc>
              <a:spcBef>
                <a:spcPts val="1400"/>
              </a:spcBef>
              <a:spcAft>
                <a:spcPts val="0"/>
              </a:spcAft>
              <a:buSzPct val="100000"/>
              <a:buNone/>
            </a:pPr>
            <a:r>
              <a:t/>
            </a:r>
            <a:endParaRPr sz="3600"/>
          </a:p>
          <a:p>
            <a:pPr indent="0" lvl="0" marL="0" rtl="0" algn="l">
              <a:lnSpc>
                <a:spcPct val="90000"/>
              </a:lnSpc>
              <a:spcBef>
                <a:spcPts val="1400"/>
              </a:spcBef>
              <a:spcAft>
                <a:spcPts val="0"/>
              </a:spcAft>
              <a:buSzPct val="100000"/>
              <a:buNone/>
            </a:pPr>
            <a:r>
              <a:t/>
            </a:r>
            <a:endParaRPr sz="3600"/>
          </a:p>
          <a:p>
            <a:pPr indent="0" lvl="0" marL="0" rtl="0" algn="l">
              <a:lnSpc>
                <a:spcPct val="90000"/>
              </a:lnSpc>
              <a:spcBef>
                <a:spcPts val="1400"/>
              </a:spcBef>
              <a:spcAft>
                <a:spcPts val="0"/>
              </a:spcAft>
              <a:buSzPct val="100000"/>
              <a:buNone/>
            </a:pPr>
            <a:r>
              <a:t/>
            </a:r>
            <a:endParaRPr sz="3600"/>
          </a:p>
          <a:p>
            <a:pPr indent="0" lvl="0" marL="0" rtl="0" algn="l">
              <a:lnSpc>
                <a:spcPct val="90000"/>
              </a:lnSpc>
              <a:spcBef>
                <a:spcPts val="1400"/>
              </a:spcBef>
              <a:spcAft>
                <a:spcPts val="0"/>
              </a:spcAft>
              <a:buSzPct val="100000"/>
              <a:buNone/>
            </a:pPr>
            <a:r>
              <a:t/>
            </a:r>
            <a:endParaRPr sz="3600"/>
          </a:p>
          <a:p>
            <a:pPr indent="0" lvl="0" marL="0" rtl="0" algn="l">
              <a:lnSpc>
                <a:spcPct val="90000"/>
              </a:lnSpc>
              <a:spcBef>
                <a:spcPts val="1400"/>
              </a:spcBef>
              <a:spcAft>
                <a:spcPts val="0"/>
              </a:spcAft>
              <a:buSzPct val="100000"/>
              <a:buNone/>
            </a:pPr>
            <a:r>
              <a:t/>
            </a:r>
            <a:endParaRPr sz="3600"/>
          </a:p>
          <a:p>
            <a:pPr indent="0" lvl="0" marL="0" rtl="0" algn="l">
              <a:lnSpc>
                <a:spcPct val="90000"/>
              </a:lnSpc>
              <a:spcBef>
                <a:spcPts val="1400"/>
              </a:spcBef>
              <a:spcAft>
                <a:spcPts val="0"/>
              </a:spcAft>
              <a:buSzPct val="100000"/>
              <a:buNone/>
            </a:pPr>
            <a:r>
              <a:t/>
            </a:r>
            <a:endParaRPr sz="3600"/>
          </a:p>
          <a:p>
            <a:pPr indent="0" lvl="0" marL="0" rtl="0" algn="l">
              <a:lnSpc>
                <a:spcPct val="90000"/>
              </a:lnSpc>
              <a:spcBef>
                <a:spcPts val="1400"/>
              </a:spcBef>
              <a:spcAft>
                <a:spcPts val="0"/>
              </a:spcAft>
              <a:buSzPct val="100000"/>
              <a:buNone/>
            </a:pPr>
            <a:r>
              <a:t/>
            </a:r>
            <a:endParaRPr sz="3600"/>
          </a:p>
          <a:p>
            <a:pPr indent="0" lvl="0" marL="0" rtl="0" algn="l">
              <a:lnSpc>
                <a:spcPct val="90000"/>
              </a:lnSpc>
              <a:spcBef>
                <a:spcPts val="1400"/>
              </a:spcBef>
              <a:spcAft>
                <a:spcPts val="0"/>
              </a:spcAft>
              <a:buSzPct val="100000"/>
              <a:buNone/>
            </a:pPr>
            <a:r>
              <a:t/>
            </a:r>
            <a:endParaRPr sz="24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600"/>
          </a:p>
          <a:p>
            <a:pPr indent="0" lvl="0" marL="0" rtl="0" algn="l">
              <a:lnSpc>
                <a:spcPct val="90000"/>
              </a:lnSpc>
              <a:spcBef>
                <a:spcPts val="1400"/>
              </a:spcBef>
              <a:spcAft>
                <a:spcPts val="0"/>
              </a:spcAft>
              <a:buSzPct val="100000"/>
              <a:buNone/>
            </a:pPr>
            <a:r>
              <a:t/>
            </a:r>
            <a:endParaRPr sz="6400"/>
          </a:p>
          <a:p>
            <a:pPr indent="0" lvl="0" marL="0" rtl="0" algn="l">
              <a:lnSpc>
                <a:spcPct val="90000"/>
              </a:lnSpc>
              <a:spcBef>
                <a:spcPts val="1400"/>
              </a:spcBef>
              <a:spcAft>
                <a:spcPts val="0"/>
              </a:spcAft>
              <a:buSzPct val="100000"/>
              <a:buNone/>
            </a:pPr>
            <a:r>
              <a:t/>
            </a:r>
            <a:endParaRPr sz="8000"/>
          </a:p>
          <a:p>
            <a:pPr indent="0" lvl="0" marL="0" rtl="0" algn="l">
              <a:lnSpc>
                <a:spcPct val="90000"/>
              </a:lnSpc>
              <a:spcBef>
                <a:spcPts val="1400"/>
              </a:spcBef>
              <a:spcAft>
                <a:spcPts val="0"/>
              </a:spcAft>
              <a:buSzPct val="100000"/>
              <a:buNone/>
            </a:pPr>
            <a:r>
              <a:rPr lang="en-IN" sz="8000"/>
              <a:t>PROGRAM A RUNS FOR SOME TIME AND THEN GOES TO WAITING STATE. IN THE MEAN TIME PROGRAM B BEGINS ITS EXECUTION. </a:t>
            </a:r>
            <a:endParaRPr/>
          </a:p>
          <a:p>
            <a:pPr indent="0" lvl="0" marL="0" rtl="0" algn="l">
              <a:lnSpc>
                <a:spcPct val="90000"/>
              </a:lnSpc>
              <a:spcBef>
                <a:spcPts val="1400"/>
              </a:spcBef>
              <a:spcAft>
                <a:spcPts val="0"/>
              </a:spcAft>
              <a:buSzPct val="100000"/>
              <a:buNone/>
            </a:pPr>
            <a:r>
              <a:rPr lang="en-IN" sz="8000"/>
              <a:t>SO THE CPU DOES NOT WASTE ITS RESOURCES AND GIVES PROGRAM B AN OPPORTUNITY TO RUN.</a:t>
            </a:r>
            <a:endParaRPr/>
          </a:p>
          <a:p>
            <a:pPr indent="0" lvl="0" marL="0" rtl="0" algn="l">
              <a:lnSpc>
                <a:spcPct val="90000"/>
              </a:lnSpc>
              <a:spcBef>
                <a:spcPts val="1400"/>
              </a:spcBef>
              <a:spcAft>
                <a:spcPts val="0"/>
              </a:spcAft>
              <a:buSzPct val="100000"/>
              <a:buFont typeface="Arial"/>
              <a:buNone/>
            </a:pPr>
            <a:r>
              <a:t/>
            </a:r>
            <a:endParaRPr/>
          </a:p>
          <a:p>
            <a:pPr indent="0" lvl="0" marL="0" rtl="0" algn="l">
              <a:lnSpc>
                <a:spcPct val="90000"/>
              </a:lnSpc>
              <a:spcBef>
                <a:spcPts val="1400"/>
              </a:spcBef>
              <a:spcAft>
                <a:spcPts val="0"/>
              </a:spcAft>
              <a:buSzPct val="100000"/>
              <a:buFont typeface="Arial"/>
              <a:buNone/>
            </a:pPr>
            <a:r>
              <a:t/>
            </a:r>
            <a:endParaRPr sz="1600"/>
          </a:p>
        </p:txBody>
      </p:sp>
      <p:sp>
        <p:nvSpPr>
          <p:cNvPr id="481" name="Google Shape;481;p39"/>
          <p:cNvSpPr txBox="1"/>
          <p:nvPr>
            <p:ph idx="2" type="body"/>
          </p:nvPr>
        </p:nvSpPr>
        <p:spPr>
          <a:xfrm>
            <a:off x="323652" y="2799694"/>
            <a:ext cx="3657600" cy="1888803"/>
          </a:xfrm>
          <a:prstGeom prst="rect">
            <a:avLst/>
          </a:prstGeom>
          <a:noFill/>
          <a:ln>
            <a:noFill/>
          </a:ln>
        </p:spPr>
        <p:txBody>
          <a:bodyPr anchorCtr="0" anchor="t" bIns="45700" lIns="0" spcFirstLastPara="1" rIns="0" wrap="square" tIns="45700">
            <a:normAutofit/>
          </a:bodyPr>
          <a:lstStyle/>
          <a:p>
            <a:pPr indent="0" lvl="0" marL="91440" rtl="0" algn="l">
              <a:lnSpc>
                <a:spcPct val="90000"/>
              </a:lnSpc>
              <a:spcBef>
                <a:spcPts val="0"/>
              </a:spcBef>
              <a:spcAft>
                <a:spcPts val="0"/>
              </a:spcAft>
              <a:buSzPts val="2000"/>
              <a:buNone/>
            </a:pPr>
            <a:r>
              <a:t/>
            </a:r>
            <a:endParaRPr/>
          </a:p>
        </p:txBody>
      </p:sp>
      <p:sp>
        <p:nvSpPr>
          <p:cNvPr id="482" name="Google Shape;482;p39"/>
          <p:cNvSpPr txBox="1"/>
          <p:nvPr>
            <p:ph idx="3" type="body"/>
          </p:nvPr>
        </p:nvSpPr>
        <p:spPr>
          <a:xfrm>
            <a:off x="4348980" y="990937"/>
            <a:ext cx="3721224" cy="97812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000"/>
              <a:buNone/>
            </a:pPr>
            <a:r>
              <a:rPr lang="en-IN"/>
              <a:t>MEMORY LAYOUT FOR MULTIPROGRAMMED SYSTEM</a:t>
            </a:r>
            <a:endParaRPr/>
          </a:p>
          <a:p>
            <a:pPr indent="0" lvl="0" marL="0" rtl="0" algn="l">
              <a:lnSpc>
                <a:spcPct val="90000"/>
              </a:lnSpc>
              <a:spcBef>
                <a:spcPts val="1400"/>
              </a:spcBef>
              <a:spcAft>
                <a:spcPts val="0"/>
              </a:spcAft>
              <a:buSzPts val="2000"/>
              <a:buNone/>
            </a:pPr>
            <a:r>
              <a:t/>
            </a:r>
            <a:endParaRPr/>
          </a:p>
        </p:txBody>
      </p:sp>
      <p:pic>
        <p:nvPicPr>
          <p:cNvPr id="483" name="Google Shape;483;p39"/>
          <p:cNvPicPr preferRelativeResize="0"/>
          <p:nvPr>
            <p:ph idx="4" type="body"/>
          </p:nvPr>
        </p:nvPicPr>
        <p:blipFill rotWithShape="1">
          <a:blip r:embed="rId3">
            <a:alphaModFix/>
          </a:blip>
          <a:srcRect b="0" l="0" r="0" t="0"/>
          <a:stretch/>
        </p:blipFill>
        <p:spPr>
          <a:xfrm>
            <a:off x="4916207" y="1479998"/>
            <a:ext cx="2244294" cy="3456384"/>
          </a:xfrm>
          <a:prstGeom prst="rect">
            <a:avLst/>
          </a:prstGeom>
          <a:noFill/>
          <a:ln>
            <a:noFill/>
          </a:ln>
        </p:spPr>
      </p:pic>
      <p:sp>
        <p:nvSpPr>
          <p:cNvPr id="484" name="Google Shape;484;p3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485" name="Google Shape;485;p3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486" name="Google Shape;486;p3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487" name="Google Shape;487;p39"/>
          <p:cNvPicPr preferRelativeResize="0"/>
          <p:nvPr/>
        </p:nvPicPr>
        <p:blipFill rotWithShape="1">
          <a:blip r:embed="rId4">
            <a:alphaModFix/>
          </a:blip>
          <a:srcRect b="0" l="0" r="0" t="0"/>
          <a:stretch/>
        </p:blipFill>
        <p:spPr>
          <a:xfrm>
            <a:off x="288075" y="2799694"/>
            <a:ext cx="3200962" cy="1888803"/>
          </a:xfrm>
          <a:prstGeom prst="rect">
            <a:avLst/>
          </a:prstGeom>
          <a:noFill/>
          <a:ln>
            <a:noFill/>
          </a:ln>
        </p:spPr>
      </p:pic>
      <p:sp>
        <p:nvSpPr>
          <p:cNvPr id="488" name="Google Shape;488;p39"/>
          <p:cNvSpPr txBox="1"/>
          <p:nvPr/>
        </p:nvSpPr>
        <p:spPr>
          <a:xfrm>
            <a:off x="323652" y="4869160"/>
            <a:ext cx="7877990" cy="20867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Drawbacks</a:t>
            </a:r>
            <a:endParaRPr/>
          </a:p>
          <a:p>
            <a:pPr indent="0" lvl="0" marL="0" marR="0" rtl="0" algn="l">
              <a:lnSpc>
                <a:spcPct val="90000"/>
              </a:lnSpc>
              <a:spcBef>
                <a:spcPts val="0"/>
              </a:spcBef>
              <a:spcAft>
                <a:spcPts val="0"/>
              </a:spcAft>
              <a:buNone/>
            </a:pPr>
            <a:r>
              <a:rPr lang="en-IN" sz="2400">
                <a:solidFill>
                  <a:schemeClr val="dk1"/>
                </a:solidFill>
                <a:latin typeface="Calibri"/>
                <a:ea typeface="Calibri"/>
                <a:cs typeface="Calibri"/>
                <a:sym typeface="Calibri"/>
              </a:rPr>
              <a:t>Multiprogrammed ,batched system provided an environment </a:t>
            </a:r>
            <a:endParaRPr/>
          </a:p>
          <a:p>
            <a:pPr indent="0" lvl="1" marL="457200" marR="0" rtl="0" algn="l">
              <a:lnSpc>
                <a:spcPct val="90000"/>
              </a:lnSpc>
              <a:spcBef>
                <a:spcPts val="0"/>
              </a:spcBef>
              <a:spcAft>
                <a:spcPts val="0"/>
              </a:spcAft>
              <a:buNone/>
            </a:pPr>
            <a:r>
              <a:rPr b="0" i="0" lang="en-IN" sz="2000" u="none" cap="none" strike="noStrike">
                <a:solidFill>
                  <a:schemeClr val="dk1"/>
                </a:solidFill>
                <a:latin typeface="Calibri"/>
                <a:ea typeface="Calibri"/>
                <a:cs typeface="Calibri"/>
                <a:sym typeface="Calibri"/>
              </a:rPr>
              <a:t>where the various system resources were utilized effectively, </a:t>
            </a:r>
            <a:endParaRPr/>
          </a:p>
          <a:p>
            <a:pPr indent="0" lvl="1" marL="457200" marR="0" rtl="0" algn="l">
              <a:lnSpc>
                <a:spcPct val="90000"/>
              </a:lnSpc>
              <a:spcBef>
                <a:spcPts val="0"/>
              </a:spcBef>
              <a:spcAft>
                <a:spcPts val="0"/>
              </a:spcAft>
              <a:buNone/>
            </a:pPr>
            <a:r>
              <a:rPr b="0" i="0" lang="en-IN" sz="2000" u="none" cap="none" strike="noStrike">
                <a:solidFill>
                  <a:schemeClr val="dk1"/>
                </a:solidFill>
                <a:latin typeface="Calibri"/>
                <a:ea typeface="Calibri"/>
                <a:cs typeface="Calibri"/>
                <a:sym typeface="Calibri"/>
              </a:rPr>
              <a:t>but it did not provide user interaction with the computer system.</a:t>
            </a:r>
            <a:endParaRPr/>
          </a:p>
          <a:p>
            <a:pPr indent="0" lvl="0" marL="0" marR="0" rtl="0" algn="l">
              <a:spcBef>
                <a:spcPts val="0"/>
              </a:spcBef>
              <a:spcAft>
                <a:spcPts val="0"/>
              </a:spcAft>
              <a:buNone/>
            </a:pPr>
            <a:r>
              <a:t/>
            </a:r>
            <a:endParaRPr sz="3600">
              <a:solidFill>
                <a:schemeClr val="dk1"/>
              </a:solidFill>
              <a:latin typeface="Calibri"/>
              <a:ea typeface="Calibri"/>
              <a:cs typeface="Calibri"/>
              <a:sym typeface="Calibri"/>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494" name="Google Shape;494;p4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495" name="Google Shape;495;p4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496" name="Google Shape;496;p40"/>
          <p:cNvSpPr txBox="1"/>
          <p:nvPr>
            <p:ph idx="4294967295" type="title"/>
          </p:nvPr>
        </p:nvSpPr>
        <p:spPr>
          <a:xfrm>
            <a:off x="0" y="23813"/>
            <a:ext cx="7616825" cy="3095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b="1" lang="en-IN" sz="3200"/>
              <a:t>Timesharing </a:t>
            </a:r>
            <a:r>
              <a:rPr lang="en-IN" sz="1800"/>
              <a:t>(</a:t>
            </a:r>
            <a:r>
              <a:rPr b="1" lang="en-IN" sz="3200"/>
              <a:t>multitasking</a:t>
            </a:r>
            <a:r>
              <a:rPr lang="en-IN" sz="1800"/>
              <a:t>)</a:t>
            </a:r>
            <a:endParaRPr sz="3200"/>
          </a:p>
        </p:txBody>
      </p:sp>
      <p:sp>
        <p:nvSpPr>
          <p:cNvPr id="497" name="Google Shape;497;p40"/>
          <p:cNvSpPr txBox="1"/>
          <p:nvPr>
            <p:ph idx="4294967295" type="body"/>
          </p:nvPr>
        </p:nvSpPr>
        <p:spPr>
          <a:xfrm>
            <a:off x="0" y="333375"/>
            <a:ext cx="7832725" cy="5462588"/>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b="1" lang="en-IN" sz="2400">
                <a:solidFill>
                  <a:srgbClr val="3366FF"/>
                </a:solidFill>
              </a:rPr>
              <a:t>Timesharing </a:t>
            </a:r>
            <a:r>
              <a:rPr lang="en-IN" sz="2400"/>
              <a:t>(</a:t>
            </a:r>
            <a:r>
              <a:rPr b="1" lang="en-IN" sz="2400">
                <a:solidFill>
                  <a:srgbClr val="3366FF"/>
                </a:solidFill>
              </a:rPr>
              <a:t>multitasking</a:t>
            </a:r>
            <a:r>
              <a:rPr lang="en-IN" sz="2400"/>
              <a:t>)</a:t>
            </a:r>
            <a:r>
              <a:rPr b="1" lang="en-IN" sz="2400">
                <a:solidFill>
                  <a:srgbClr val="3366FF"/>
                </a:solidFill>
              </a:rPr>
              <a:t> </a:t>
            </a:r>
            <a:r>
              <a:rPr lang="en-IN" sz="2400"/>
              <a:t>is logical extension of multiprogramming </a:t>
            </a:r>
            <a:endParaRPr/>
          </a:p>
          <a:p>
            <a:pPr indent="-152400" lvl="0" marL="91440" rtl="0" algn="l">
              <a:lnSpc>
                <a:spcPct val="90000"/>
              </a:lnSpc>
              <a:spcBef>
                <a:spcPts val="1400"/>
              </a:spcBef>
              <a:spcAft>
                <a:spcPts val="0"/>
              </a:spcAft>
              <a:buSzPts val="2400"/>
              <a:buChar char=" "/>
            </a:pPr>
            <a:r>
              <a:rPr lang="en-IN" sz="2400"/>
              <a:t>CPU switches jobs so frequently that users can interact with each job while it is running, creating </a:t>
            </a:r>
            <a:r>
              <a:rPr b="1" lang="en-IN" sz="2400">
                <a:solidFill>
                  <a:srgbClr val="3366FF"/>
                </a:solidFill>
              </a:rPr>
              <a:t>interactive</a:t>
            </a:r>
            <a:r>
              <a:rPr lang="en-IN" sz="2400"/>
              <a:t> computing.                                                           -Galvin</a:t>
            </a:r>
            <a:endParaRPr/>
          </a:p>
          <a:p>
            <a:pPr indent="-152400" lvl="0" marL="91440" rtl="0" algn="l">
              <a:lnSpc>
                <a:spcPct val="90000"/>
              </a:lnSpc>
              <a:spcBef>
                <a:spcPts val="1400"/>
              </a:spcBef>
              <a:spcAft>
                <a:spcPts val="0"/>
              </a:spcAft>
              <a:buSzPts val="2400"/>
              <a:buChar char=" "/>
            </a:pPr>
            <a:r>
              <a:rPr lang="en-IN" sz="2400"/>
              <a:t>CPU executes multiple jobs by switching among them typically using a small time quantum</a:t>
            </a:r>
            <a:endParaRPr/>
          </a:p>
          <a:p>
            <a:pPr indent="-152400" lvl="0" marL="91440" rtl="0" algn="l">
              <a:lnSpc>
                <a:spcPct val="90000"/>
              </a:lnSpc>
              <a:spcBef>
                <a:spcPts val="1400"/>
              </a:spcBef>
              <a:spcAft>
                <a:spcPts val="0"/>
              </a:spcAft>
              <a:buSzPts val="2400"/>
              <a:buChar char=" "/>
            </a:pPr>
            <a:r>
              <a:rPr lang="en-IN" sz="2400"/>
              <a:t>The switches occur so frequently that the users can interact with each program while it is running. </a:t>
            </a:r>
            <a:endParaRPr sz="2400"/>
          </a:p>
          <a:p>
            <a:pPr indent="0" lvl="0" marL="0" rtl="0" algn="r">
              <a:lnSpc>
                <a:spcPct val="90000"/>
              </a:lnSpc>
              <a:spcBef>
                <a:spcPts val="1400"/>
              </a:spcBef>
              <a:spcAft>
                <a:spcPts val="0"/>
              </a:spcAft>
              <a:buSzPts val="2400"/>
              <a:buNone/>
            </a:pPr>
            <a:r>
              <a:rPr lang="en-IN" sz="2400"/>
              <a:t>- GeeksforGeeks</a:t>
            </a:r>
            <a:endParaRPr sz="2400"/>
          </a:p>
        </p:txBody>
      </p:sp>
      <p:pic>
        <p:nvPicPr>
          <p:cNvPr descr="https://media.geeksforgeeks.org/wp-content/uploads/20200426073127/Multitasking1-300x300.png" id="498" name="Google Shape;498;p40"/>
          <p:cNvPicPr preferRelativeResize="0"/>
          <p:nvPr/>
        </p:nvPicPr>
        <p:blipFill rotWithShape="1">
          <a:blip r:embed="rId3">
            <a:alphaModFix/>
          </a:blip>
          <a:srcRect b="0" l="0" r="0" t="0"/>
          <a:stretch/>
        </p:blipFill>
        <p:spPr>
          <a:xfrm>
            <a:off x="683568" y="3614533"/>
            <a:ext cx="3744416" cy="2181430"/>
          </a:xfrm>
          <a:prstGeom prst="rect">
            <a:avLst/>
          </a:prstGeom>
          <a:noFill/>
          <a:ln>
            <a:noFill/>
          </a:ln>
        </p:spPr>
      </p:pic>
      <p:sp>
        <p:nvSpPr>
          <p:cNvPr id="499" name="Google Shape;499;p40"/>
          <p:cNvSpPr/>
          <p:nvPr/>
        </p:nvSpPr>
        <p:spPr>
          <a:xfrm>
            <a:off x="-34834" y="6582715"/>
            <a:ext cx="696652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chemeClr val="dk1"/>
                </a:solidFill>
                <a:latin typeface="Calibri"/>
                <a:ea typeface="Calibri"/>
                <a:cs typeface="Calibri"/>
                <a:sym typeface="Calibri"/>
              </a:rPr>
              <a:t>https://www.geeksforgeeks.org/difference-between-multiprogramming-and-multitasking/</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4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505" name="Google Shape;505;p4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506" name="Google Shape;506;p4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507" name="Google Shape;507;p41"/>
          <p:cNvSpPr txBox="1"/>
          <p:nvPr>
            <p:ph idx="4294967295" type="title"/>
          </p:nvPr>
        </p:nvSpPr>
        <p:spPr>
          <a:xfrm>
            <a:off x="0" y="33338"/>
            <a:ext cx="7616825"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b="1" lang="en-IN" sz="3200"/>
              <a:t>Timesharing </a:t>
            </a:r>
            <a:r>
              <a:rPr lang="en-IN" sz="3200"/>
              <a:t>(</a:t>
            </a:r>
            <a:r>
              <a:rPr b="1" lang="en-IN" sz="3200"/>
              <a:t>multitasking</a:t>
            </a:r>
            <a:r>
              <a:rPr lang="en-IN" sz="3200"/>
              <a:t>)</a:t>
            </a:r>
            <a:endParaRPr sz="3200"/>
          </a:p>
        </p:txBody>
      </p:sp>
      <p:sp>
        <p:nvSpPr>
          <p:cNvPr id="508" name="Google Shape;508;p41"/>
          <p:cNvSpPr txBox="1"/>
          <p:nvPr>
            <p:ph idx="4294967295" type="body"/>
          </p:nvPr>
        </p:nvSpPr>
        <p:spPr>
          <a:xfrm>
            <a:off x="0" y="582613"/>
            <a:ext cx="7832725" cy="5462587"/>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IN" sz="2000"/>
              <a:t>An interactive computer system provides direct communication between the user and the system.</a:t>
            </a:r>
            <a:endParaRPr/>
          </a:p>
          <a:p>
            <a:pPr indent="-127000" lvl="0" marL="91440" rtl="0" algn="l">
              <a:lnSpc>
                <a:spcPct val="90000"/>
              </a:lnSpc>
              <a:spcBef>
                <a:spcPts val="1400"/>
              </a:spcBef>
              <a:spcAft>
                <a:spcPts val="0"/>
              </a:spcAft>
              <a:buSzPts val="2000"/>
              <a:buChar char=" "/>
            </a:pPr>
            <a:r>
              <a:rPr b="1" lang="en-IN">
                <a:solidFill>
                  <a:srgbClr val="3366FF"/>
                </a:solidFill>
              </a:rPr>
              <a:t>Response time </a:t>
            </a:r>
            <a:r>
              <a:rPr lang="en-IN" sz="2000"/>
              <a:t>should be short , &lt; 1 second</a:t>
            </a:r>
            <a:endParaRPr/>
          </a:p>
          <a:p>
            <a:pPr indent="-127000" lvl="0" marL="91440" rtl="0" algn="l">
              <a:lnSpc>
                <a:spcPct val="90000"/>
              </a:lnSpc>
              <a:spcBef>
                <a:spcPts val="1400"/>
              </a:spcBef>
              <a:spcAft>
                <a:spcPts val="0"/>
              </a:spcAft>
              <a:buSzPts val="2000"/>
              <a:buChar char=" "/>
            </a:pPr>
            <a:r>
              <a:rPr lang="en-IN" sz="2000"/>
              <a:t>Each user has at least one program executing in memory 🢡</a:t>
            </a:r>
            <a:r>
              <a:rPr b="1" lang="en-IN">
                <a:solidFill>
                  <a:srgbClr val="3366FF"/>
                </a:solidFill>
              </a:rPr>
              <a:t>process</a:t>
            </a:r>
            <a:endParaRPr/>
          </a:p>
          <a:p>
            <a:pPr indent="-127000" lvl="0" marL="91440" rtl="0" algn="l">
              <a:lnSpc>
                <a:spcPct val="90000"/>
              </a:lnSpc>
              <a:spcBef>
                <a:spcPts val="1400"/>
              </a:spcBef>
              <a:spcAft>
                <a:spcPts val="0"/>
              </a:spcAft>
              <a:buSzPts val="2000"/>
              <a:buChar char=" "/>
            </a:pPr>
            <a:r>
              <a:rPr lang="en-IN" sz="2000"/>
              <a:t>If several jobs ready to run at the same time 🢡 </a:t>
            </a:r>
            <a:r>
              <a:rPr b="1" lang="en-IN">
                <a:solidFill>
                  <a:srgbClr val="3366FF"/>
                </a:solidFill>
              </a:rPr>
              <a:t>CPU scheduling</a:t>
            </a:r>
            <a:endParaRPr/>
          </a:p>
          <a:p>
            <a:pPr indent="-182880" lvl="1" marL="342900" rtl="0" algn="l">
              <a:lnSpc>
                <a:spcPct val="90000"/>
              </a:lnSpc>
              <a:spcBef>
                <a:spcPts val="400"/>
              </a:spcBef>
              <a:spcAft>
                <a:spcPts val="0"/>
              </a:spcAft>
              <a:buClr>
                <a:schemeClr val="accent1"/>
              </a:buClr>
              <a:buSzPts val="2000"/>
              <a:buChar char="◦"/>
            </a:pPr>
            <a:r>
              <a:rPr lang="en-IN" sz="2000"/>
              <a:t>If processes don’t fit in memory and to obtain a reasonable response time, </a:t>
            </a:r>
            <a:r>
              <a:rPr b="1" lang="en-IN" sz="2200">
                <a:solidFill>
                  <a:srgbClr val="3366FF"/>
                </a:solidFill>
              </a:rPr>
              <a:t>jobs may have to be  swapped in and out of main memory to the disk.</a:t>
            </a:r>
            <a:endParaRPr/>
          </a:p>
          <a:p>
            <a:pPr indent="-182880" lvl="2" marL="342900" rtl="0" algn="l">
              <a:lnSpc>
                <a:spcPct val="90000"/>
              </a:lnSpc>
              <a:spcBef>
                <a:spcPts val="600"/>
              </a:spcBef>
              <a:spcAft>
                <a:spcPts val="0"/>
              </a:spcAft>
              <a:buClr>
                <a:schemeClr val="accent1"/>
              </a:buClr>
              <a:buSzPts val="1400"/>
              <a:buChar char="◦"/>
            </a:pPr>
            <a:r>
              <a:rPr b="1" lang="en-IN">
                <a:solidFill>
                  <a:srgbClr val="3366FF"/>
                </a:solidFill>
              </a:rPr>
              <a:t>Virtual memory </a:t>
            </a:r>
            <a:r>
              <a:rPr lang="en-IN" sz="2000"/>
              <a:t>allows execution of processes not completely in memory. </a:t>
            </a:r>
            <a:r>
              <a:rPr lang="en-IN"/>
              <a:t>Programs can be longer than physical memory.</a:t>
            </a:r>
            <a:endParaRPr/>
          </a:p>
          <a:p>
            <a:pPr indent="-127000" lvl="0" marL="91440" rtl="0" algn="l">
              <a:lnSpc>
                <a:spcPct val="90000"/>
              </a:lnSpc>
              <a:spcBef>
                <a:spcPts val="1600"/>
              </a:spcBef>
              <a:spcAft>
                <a:spcPts val="0"/>
              </a:spcAft>
              <a:buSzPts val="2000"/>
              <a:buChar char=" "/>
            </a:pPr>
            <a:r>
              <a:rPr lang="en-IN" sz="2000"/>
              <a:t>As the system switches </a:t>
            </a:r>
            <a:endParaRPr/>
          </a:p>
          <a:p>
            <a:pPr indent="-182880" lvl="1" marL="384048" rtl="0" algn="l">
              <a:lnSpc>
                <a:spcPct val="90000"/>
              </a:lnSpc>
              <a:spcBef>
                <a:spcPts val="400"/>
              </a:spcBef>
              <a:spcAft>
                <a:spcPts val="0"/>
              </a:spcAft>
              <a:buSzPts val="1800"/>
              <a:buChar char="◦"/>
            </a:pPr>
            <a:r>
              <a:rPr lang="en-IN"/>
              <a:t>rapidly from one user to the other, </a:t>
            </a:r>
            <a:endParaRPr/>
          </a:p>
          <a:p>
            <a:pPr indent="-182880" lvl="1" marL="384048" rtl="0" algn="l">
              <a:lnSpc>
                <a:spcPct val="90000"/>
              </a:lnSpc>
              <a:spcBef>
                <a:spcPts val="600"/>
              </a:spcBef>
              <a:spcAft>
                <a:spcPts val="0"/>
              </a:spcAft>
              <a:buSzPts val="1800"/>
              <a:buChar char="◦"/>
            </a:pPr>
            <a:r>
              <a:rPr lang="en-IN"/>
              <a:t>each user is given an impression  that the entire computer system is dedicated, </a:t>
            </a:r>
            <a:endParaRPr/>
          </a:p>
          <a:p>
            <a:pPr indent="-182880" lvl="1" marL="384048" rtl="0" algn="l">
              <a:lnSpc>
                <a:spcPct val="90000"/>
              </a:lnSpc>
              <a:spcBef>
                <a:spcPts val="600"/>
              </a:spcBef>
              <a:spcAft>
                <a:spcPts val="0"/>
              </a:spcAft>
              <a:buSzPts val="1800"/>
              <a:buChar char="◦"/>
            </a:pPr>
            <a:r>
              <a:rPr lang="en-IN"/>
              <a:t>even though it is being shared among many users. </a:t>
            </a:r>
            <a:endParaRPr/>
          </a:p>
          <a:p>
            <a:pPr indent="-127000" lvl="0" marL="91440" rtl="0" algn="l">
              <a:lnSpc>
                <a:spcPct val="90000"/>
              </a:lnSpc>
              <a:spcBef>
                <a:spcPts val="1600"/>
              </a:spcBef>
              <a:spcAft>
                <a:spcPts val="0"/>
              </a:spcAft>
              <a:buSzPts val="2000"/>
              <a:buChar char=" "/>
            </a:pPr>
            <a:r>
              <a:rPr lang="en-IN" sz="2000"/>
              <a:t>More complex than Multi programmed OS</a:t>
            </a:r>
            <a:endParaRPr/>
          </a:p>
          <a:p>
            <a:pPr indent="0" lvl="0" marL="91440" rtl="0" algn="l">
              <a:lnSpc>
                <a:spcPct val="90000"/>
              </a:lnSpc>
              <a:spcBef>
                <a:spcPts val="1400"/>
              </a:spcBef>
              <a:spcAft>
                <a:spcPts val="0"/>
              </a:spcAft>
              <a:buSzPts val="2000"/>
              <a:buNone/>
            </a:pPr>
            <a:r>
              <a:t/>
            </a:r>
            <a:endParaRPr sz="2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4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514" name="Google Shape;514;p4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515" name="Google Shape;515;p4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516" name="Google Shape;516;p42"/>
          <p:cNvSpPr txBox="1"/>
          <p:nvPr>
            <p:ph idx="4294967295" type="title"/>
          </p:nvPr>
        </p:nvSpPr>
        <p:spPr>
          <a:xfrm>
            <a:off x="0" y="47625"/>
            <a:ext cx="6176963" cy="576263"/>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3600"/>
              <a:buFont typeface="Calibri"/>
              <a:buNone/>
            </a:pPr>
            <a:r>
              <a:rPr b="1" lang="en-IN" sz="3600"/>
              <a:t>Timesharing </a:t>
            </a:r>
            <a:r>
              <a:rPr lang="en-IN" sz="3600"/>
              <a:t>(</a:t>
            </a:r>
            <a:r>
              <a:rPr b="1" lang="en-IN" sz="3600"/>
              <a:t>multitasking</a:t>
            </a:r>
            <a:r>
              <a:rPr lang="en-IN" sz="2400"/>
              <a:t>)</a:t>
            </a:r>
            <a:endParaRPr/>
          </a:p>
        </p:txBody>
      </p:sp>
      <p:sp>
        <p:nvSpPr>
          <p:cNvPr id="517" name="Google Shape;517;p42"/>
          <p:cNvSpPr txBox="1"/>
          <p:nvPr>
            <p:ph idx="4294967295" type="body"/>
          </p:nvPr>
        </p:nvSpPr>
        <p:spPr>
          <a:xfrm>
            <a:off x="0" y="623888"/>
            <a:ext cx="7832725" cy="6045200"/>
          </a:xfrm>
          <a:prstGeom prst="rect">
            <a:avLst/>
          </a:prstGeom>
          <a:noFill/>
          <a:ln>
            <a:noFill/>
          </a:ln>
        </p:spPr>
        <p:txBody>
          <a:bodyPr anchorCtr="0" anchor="t" bIns="45700" lIns="0" spcFirstLastPara="1" rIns="0" wrap="square" tIns="45700">
            <a:normAutofit lnSpcReduction="10000"/>
          </a:bodyPr>
          <a:lstStyle/>
          <a:p>
            <a:pPr indent="-127000" lvl="0" marL="91440" rtl="0" algn="l">
              <a:lnSpc>
                <a:spcPct val="90000"/>
              </a:lnSpc>
              <a:spcBef>
                <a:spcPts val="0"/>
              </a:spcBef>
              <a:spcAft>
                <a:spcPts val="0"/>
              </a:spcAft>
              <a:buSzPts val="2000"/>
              <a:buChar char=" "/>
            </a:pPr>
            <a:r>
              <a:rPr lang="en-IN" sz="2000"/>
              <a:t>In a time sharing system, each process is assigned some specific quantum of time for which a process is meant to execute. </a:t>
            </a:r>
            <a:endParaRPr sz="2000"/>
          </a:p>
          <a:p>
            <a:pPr indent="-127000" lvl="0" marL="91440" rtl="0" algn="l">
              <a:lnSpc>
                <a:spcPct val="90000"/>
              </a:lnSpc>
              <a:spcBef>
                <a:spcPts val="1400"/>
              </a:spcBef>
              <a:spcAft>
                <a:spcPts val="0"/>
              </a:spcAft>
              <a:buSzPts val="2000"/>
              <a:buChar char=" "/>
            </a:pPr>
            <a:r>
              <a:rPr lang="en-IN" sz="2000"/>
              <a:t>Say there are 4 processes P1, P2, P3, P4 ready to execute. </a:t>
            </a:r>
            <a:endParaRPr/>
          </a:p>
          <a:p>
            <a:pPr indent="-127000" lvl="0" marL="91440" rtl="0" algn="l">
              <a:lnSpc>
                <a:spcPct val="90000"/>
              </a:lnSpc>
              <a:spcBef>
                <a:spcPts val="1400"/>
              </a:spcBef>
              <a:spcAft>
                <a:spcPts val="0"/>
              </a:spcAft>
              <a:buSzPts val="2000"/>
              <a:buChar char=" "/>
            </a:pPr>
            <a:r>
              <a:rPr lang="en-IN" sz="2000"/>
              <a:t>Say time quantum of 5 nanoseconds (5 ns). </a:t>
            </a:r>
            <a:endParaRPr sz="2000"/>
          </a:p>
          <a:p>
            <a:pPr indent="-127000" lvl="0" marL="91440" rtl="0" algn="l">
              <a:lnSpc>
                <a:spcPct val="90000"/>
              </a:lnSpc>
              <a:spcBef>
                <a:spcPts val="1400"/>
              </a:spcBef>
              <a:spcAft>
                <a:spcPts val="0"/>
              </a:spcAft>
              <a:buSzPts val="2000"/>
              <a:buChar char=" "/>
            </a:pPr>
            <a:r>
              <a:rPr lang="en-IN" sz="2000"/>
              <a:t>As one process begins execution (say P2), it executes for that quantum of time (5 ns). </a:t>
            </a:r>
            <a:endParaRPr sz="2000"/>
          </a:p>
          <a:p>
            <a:pPr indent="-127000" lvl="0" marL="91440" rtl="0" algn="l">
              <a:lnSpc>
                <a:spcPct val="90000"/>
              </a:lnSpc>
              <a:spcBef>
                <a:spcPts val="1400"/>
              </a:spcBef>
              <a:spcAft>
                <a:spcPts val="0"/>
              </a:spcAft>
              <a:buSzPts val="2000"/>
              <a:buChar char=" "/>
            </a:pPr>
            <a:r>
              <a:rPr lang="en-IN" sz="2000"/>
              <a:t>After 5 ns the CPU starts the execution of the other process (say P3) for the specified quantum of time.</a:t>
            </a:r>
            <a:endParaRPr/>
          </a:p>
          <a:p>
            <a:pPr indent="-127000" lvl="0" marL="91440" rtl="0" algn="l">
              <a:lnSpc>
                <a:spcPct val="90000"/>
              </a:lnSpc>
              <a:spcBef>
                <a:spcPts val="1400"/>
              </a:spcBef>
              <a:spcAft>
                <a:spcPts val="0"/>
              </a:spcAft>
              <a:buSzPts val="2000"/>
              <a:buChar char=" "/>
            </a:pPr>
            <a:r>
              <a:rPr lang="en-IN" sz="2000"/>
              <a:t>Thus the CPU makes the processes to share time slices between them and execute accordingly. </a:t>
            </a:r>
            <a:endParaRPr/>
          </a:p>
          <a:p>
            <a:pPr indent="-127000" lvl="0" marL="91440" rtl="0" algn="l">
              <a:lnSpc>
                <a:spcPct val="90000"/>
              </a:lnSpc>
              <a:spcBef>
                <a:spcPts val="1400"/>
              </a:spcBef>
              <a:spcAft>
                <a:spcPts val="0"/>
              </a:spcAft>
              <a:buSzPts val="2000"/>
              <a:buChar char=" "/>
            </a:pPr>
            <a:r>
              <a:rPr lang="en-IN" sz="2000"/>
              <a:t>As soon as time quantum of one process expires, another process begins its execution.</a:t>
            </a:r>
            <a:endParaRPr/>
          </a:p>
          <a:p>
            <a:pPr indent="-127000" lvl="0" marL="91440" rtl="0" algn="l">
              <a:lnSpc>
                <a:spcPct val="90000"/>
              </a:lnSpc>
              <a:spcBef>
                <a:spcPts val="1400"/>
              </a:spcBef>
              <a:spcAft>
                <a:spcPts val="0"/>
              </a:spcAft>
              <a:buSzPts val="2000"/>
              <a:buChar char=" "/>
            </a:pPr>
            <a:r>
              <a:rPr lang="en-IN" sz="2000"/>
              <a:t>Here also basically a context switch is occurring but it is occurring so fast that the user is able to interact with each program separately while it is running. </a:t>
            </a:r>
            <a:endParaRPr/>
          </a:p>
          <a:p>
            <a:pPr indent="-127000" lvl="0" marL="91440" rtl="0" algn="l">
              <a:lnSpc>
                <a:spcPct val="90000"/>
              </a:lnSpc>
              <a:spcBef>
                <a:spcPts val="1400"/>
              </a:spcBef>
              <a:spcAft>
                <a:spcPts val="0"/>
              </a:spcAft>
              <a:buSzPts val="2000"/>
              <a:buChar char=" "/>
            </a:pPr>
            <a:r>
              <a:rPr lang="en-IN" sz="2000"/>
              <a:t>This way, the user is given the illusion that multiple processes/ tasks are executing simultaneously</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523" name="Google Shape;523;p4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524" name="Google Shape;524;p4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525" name="Google Shape;525;p43"/>
          <p:cNvSpPr txBox="1"/>
          <p:nvPr>
            <p:ph idx="4294967295" type="title"/>
          </p:nvPr>
        </p:nvSpPr>
        <p:spPr>
          <a:xfrm>
            <a:off x="0" y="220663"/>
            <a:ext cx="7616825" cy="576262"/>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1" lang="en-IN" sz="3600"/>
              <a:t>Timesharing </a:t>
            </a:r>
            <a:r>
              <a:rPr lang="en-IN" sz="3600"/>
              <a:t>(</a:t>
            </a:r>
            <a:r>
              <a:rPr b="1" lang="en-IN" sz="3600"/>
              <a:t>multitasking</a:t>
            </a:r>
            <a:r>
              <a:rPr lang="en-IN" sz="2400"/>
              <a:t>)</a:t>
            </a:r>
            <a:endParaRPr/>
          </a:p>
        </p:txBody>
      </p:sp>
      <p:sp>
        <p:nvSpPr>
          <p:cNvPr id="526" name="Google Shape;526;p43"/>
          <p:cNvSpPr txBox="1"/>
          <p:nvPr>
            <p:ph idx="4294967295" type="body"/>
          </p:nvPr>
        </p:nvSpPr>
        <p:spPr>
          <a:xfrm>
            <a:off x="0" y="941388"/>
            <a:ext cx="7832725" cy="5103812"/>
          </a:xfrm>
          <a:prstGeom prst="rect">
            <a:avLst/>
          </a:prstGeom>
          <a:noFill/>
          <a:ln>
            <a:noFill/>
          </a:ln>
        </p:spPr>
        <p:txBody>
          <a:bodyPr anchorCtr="0" anchor="t" bIns="45700" lIns="0" spcFirstLastPara="1" rIns="0" wrap="square" tIns="45700">
            <a:normAutofit fontScale="77500" lnSpcReduction="20000"/>
          </a:bodyPr>
          <a:lstStyle/>
          <a:p>
            <a:pPr indent="-91440" lvl="0" marL="91440" rtl="0" algn="l">
              <a:lnSpc>
                <a:spcPct val="90000"/>
              </a:lnSpc>
              <a:spcBef>
                <a:spcPts val="0"/>
              </a:spcBef>
              <a:spcAft>
                <a:spcPts val="0"/>
              </a:spcAft>
              <a:buSzPct val="100000"/>
              <a:buFont typeface="Arial"/>
              <a:buNone/>
            </a:pPr>
            <a:r>
              <a:t/>
            </a:r>
            <a:endParaRPr sz="1600"/>
          </a:p>
          <a:p>
            <a:pPr indent="0" lvl="0" marL="91440" rtl="0" algn="l">
              <a:lnSpc>
                <a:spcPct val="90000"/>
              </a:lnSpc>
              <a:spcBef>
                <a:spcPts val="1400"/>
              </a:spcBef>
              <a:spcAft>
                <a:spcPts val="0"/>
              </a:spcAft>
              <a:buSzPct val="100000"/>
              <a:buNone/>
            </a:pPr>
            <a:r>
              <a:t/>
            </a:r>
            <a:endParaRPr sz="2400"/>
          </a:p>
          <a:p>
            <a:pPr indent="0" lvl="0" marL="91440" rtl="0" algn="l">
              <a:lnSpc>
                <a:spcPct val="90000"/>
              </a:lnSpc>
              <a:spcBef>
                <a:spcPts val="1400"/>
              </a:spcBef>
              <a:spcAft>
                <a:spcPts val="0"/>
              </a:spcAft>
              <a:buSzPct val="100000"/>
              <a:buNone/>
            </a:pPr>
            <a:r>
              <a:t/>
            </a:r>
            <a:endParaRPr sz="2400"/>
          </a:p>
          <a:p>
            <a:pPr indent="0" lvl="0" marL="91440" rtl="0" algn="l">
              <a:lnSpc>
                <a:spcPct val="90000"/>
              </a:lnSpc>
              <a:spcBef>
                <a:spcPts val="1400"/>
              </a:spcBef>
              <a:spcAft>
                <a:spcPts val="0"/>
              </a:spcAft>
              <a:buSzPct val="100000"/>
              <a:buNone/>
            </a:pPr>
            <a:r>
              <a:t/>
            </a:r>
            <a:endParaRPr sz="2400"/>
          </a:p>
          <a:p>
            <a:pPr indent="0" lvl="0" marL="91440" rtl="0" algn="l">
              <a:lnSpc>
                <a:spcPct val="90000"/>
              </a:lnSpc>
              <a:spcBef>
                <a:spcPts val="1400"/>
              </a:spcBef>
              <a:spcAft>
                <a:spcPts val="0"/>
              </a:spcAft>
              <a:buSzPct val="100000"/>
              <a:buNone/>
            </a:pPr>
            <a:r>
              <a:t/>
            </a:r>
            <a:endParaRPr sz="2400"/>
          </a:p>
          <a:p>
            <a:pPr indent="0" lvl="0" marL="91440" rtl="0" algn="l">
              <a:lnSpc>
                <a:spcPct val="90000"/>
              </a:lnSpc>
              <a:spcBef>
                <a:spcPts val="1400"/>
              </a:spcBef>
              <a:spcAft>
                <a:spcPts val="0"/>
              </a:spcAft>
              <a:buSzPct val="100000"/>
              <a:buNone/>
            </a:pPr>
            <a:r>
              <a:t/>
            </a:r>
            <a:endParaRPr sz="2400"/>
          </a:p>
          <a:p>
            <a:pPr indent="0" lvl="0" marL="91440" rtl="0" algn="l">
              <a:lnSpc>
                <a:spcPct val="90000"/>
              </a:lnSpc>
              <a:spcBef>
                <a:spcPts val="1400"/>
              </a:spcBef>
              <a:spcAft>
                <a:spcPts val="0"/>
              </a:spcAft>
              <a:buSzPct val="100000"/>
              <a:buNone/>
            </a:pPr>
            <a:r>
              <a:t/>
            </a:r>
            <a:endParaRPr sz="2400"/>
          </a:p>
          <a:p>
            <a:pPr indent="0" lvl="0" marL="91440" rtl="0" algn="l">
              <a:lnSpc>
                <a:spcPct val="90000"/>
              </a:lnSpc>
              <a:spcBef>
                <a:spcPts val="1400"/>
              </a:spcBef>
              <a:spcAft>
                <a:spcPts val="0"/>
              </a:spcAft>
              <a:buSzPct val="100000"/>
              <a:buNone/>
            </a:pPr>
            <a:r>
              <a:t/>
            </a:r>
            <a:endParaRPr sz="2400"/>
          </a:p>
          <a:p>
            <a:pPr indent="0" lvl="0" marL="91440" rtl="0" algn="l">
              <a:lnSpc>
                <a:spcPct val="90000"/>
              </a:lnSpc>
              <a:spcBef>
                <a:spcPts val="1400"/>
              </a:spcBef>
              <a:spcAft>
                <a:spcPts val="0"/>
              </a:spcAft>
              <a:buSzPct val="100000"/>
              <a:buNone/>
            </a:pPr>
            <a:r>
              <a:t/>
            </a:r>
            <a:endParaRPr sz="2400"/>
          </a:p>
          <a:p>
            <a:pPr indent="0" lvl="0" marL="91440" rtl="0" algn="l">
              <a:lnSpc>
                <a:spcPct val="90000"/>
              </a:lnSpc>
              <a:spcBef>
                <a:spcPts val="1400"/>
              </a:spcBef>
              <a:spcAft>
                <a:spcPts val="0"/>
              </a:spcAft>
              <a:buSzPct val="100000"/>
              <a:buNone/>
            </a:pPr>
            <a:r>
              <a:t/>
            </a:r>
            <a:endParaRPr sz="2400"/>
          </a:p>
          <a:p>
            <a:pPr indent="-118110" lvl="0" marL="91440" rtl="0" algn="l">
              <a:lnSpc>
                <a:spcPct val="90000"/>
              </a:lnSpc>
              <a:spcBef>
                <a:spcPts val="1400"/>
              </a:spcBef>
              <a:spcAft>
                <a:spcPts val="0"/>
              </a:spcAft>
              <a:buSzPct val="100000"/>
              <a:buChar char=" "/>
            </a:pPr>
            <a:r>
              <a:rPr lang="en-IN" sz="2400"/>
              <a:t>So for multitasking to take place, firstly there should be multiprogramming i.e. presence of multiple programs ready for execution. </a:t>
            </a:r>
            <a:endParaRPr sz="2400"/>
          </a:p>
          <a:p>
            <a:pPr indent="-118110" lvl="0" marL="91440" rtl="0" algn="l">
              <a:lnSpc>
                <a:spcPct val="90000"/>
              </a:lnSpc>
              <a:spcBef>
                <a:spcPts val="1400"/>
              </a:spcBef>
              <a:spcAft>
                <a:spcPts val="0"/>
              </a:spcAft>
              <a:buSzPct val="100000"/>
              <a:buChar char=" "/>
            </a:pPr>
            <a:r>
              <a:rPr lang="en-IN" sz="2400"/>
              <a:t>And secondly the concept of time sharing.</a:t>
            </a:r>
            <a:endParaRPr/>
          </a:p>
          <a:p>
            <a:pPr indent="-118110" lvl="0" marL="91440" rtl="0" algn="l">
              <a:lnSpc>
                <a:spcPct val="90000"/>
              </a:lnSpc>
              <a:spcBef>
                <a:spcPts val="1400"/>
              </a:spcBef>
              <a:spcAft>
                <a:spcPts val="0"/>
              </a:spcAft>
              <a:buSzPct val="100000"/>
              <a:buChar char=" "/>
            </a:pPr>
            <a:r>
              <a:rPr lang="en-IN" sz="2400"/>
              <a:t>Responsiveness Increases</a:t>
            </a:r>
            <a:endParaRPr/>
          </a:p>
        </p:txBody>
      </p:sp>
      <p:pic>
        <p:nvPicPr>
          <p:cNvPr id="527" name="Google Shape;527;p43"/>
          <p:cNvPicPr preferRelativeResize="0"/>
          <p:nvPr/>
        </p:nvPicPr>
        <p:blipFill rotWithShape="1">
          <a:blip r:embed="rId3">
            <a:alphaModFix/>
          </a:blip>
          <a:srcRect b="3475" l="0" r="0" t="13572"/>
          <a:stretch/>
        </p:blipFill>
        <p:spPr>
          <a:xfrm>
            <a:off x="2095535" y="1079007"/>
            <a:ext cx="4762500" cy="3152633"/>
          </a:xfrm>
          <a:prstGeom prst="rect">
            <a:avLst/>
          </a:prstGeom>
          <a:noFill/>
          <a:ln>
            <a:noFill/>
          </a:ln>
        </p:spPr>
      </p:pic>
      <p:sp>
        <p:nvSpPr>
          <p:cNvPr id="528" name="Google Shape;528;p43"/>
          <p:cNvSpPr/>
          <p:nvPr/>
        </p:nvSpPr>
        <p:spPr>
          <a:xfrm>
            <a:off x="683568" y="5373216"/>
            <a:ext cx="5770612" cy="594509"/>
          </a:xfrm>
          <a:prstGeom prst="rect">
            <a:avLst/>
          </a:prstGeom>
          <a:noFill/>
          <a:ln cap="flat" cmpd="sng" w="381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4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534" name="Google Shape;534;p4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535" name="Google Shape;535;p4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536" name="Google Shape;536;p44"/>
          <p:cNvPicPr preferRelativeResize="0"/>
          <p:nvPr/>
        </p:nvPicPr>
        <p:blipFill rotWithShape="1">
          <a:blip r:embed="rId3">
            <a:alphaModFix/>
          </a:blip>
          <a:srcRect b="0" l="0" r="0" t="0"/>
          <a:stretch/>
        </p:blipFill>
        <p:spPr>
          <a:xfrm>
            <a:off x="198000" y="1059581"/>
            <a:ext cx="8256712" cy="4862661"/>
          </a:xfrm>
          <a:prstGeom prst="rect">
            <a:avLst/>
          </a:prstGeom>
          <a:noFill/>
          <a:ln>
            <a:noFill/>
          </a:ln>
        </p:spPr>
      </p:pic>
      <p:sp>
        <p:nvSpPr>
          <p:cNvPr id="537" name="Google Shape;537;p44"/>
          <p:cNvSpPr txBox="1"/>
          <p:nvPr/>
        </p:nvSpPr>
        <p:spPr>
          <a:xfrm>
            <a:off x="198000" y="112691"/>
            <a:ext cx="7138902" cy="576262"/>
          </a:xfrm>
          <a:prstGeom prst="rect">
            <a:avLst/>
          </a:prstGeom>
          <a:noFill/>
          <a:ln>
            <a:noFill/>
          </a:ln>
        </p:spPr>
        <p:txBody>
          <a:bodyPr anchorCtr="0" anchor="ctr" bIns="45700" lIns="91425" spcFirstLastPara="1" rIns="91425" wrap="square" tIns="45700">
            <a:normAutofit fontScale="60000" lnSpcReduction="20000"/>
          </a:bodyPr>
          <a:lstStyle/>
          <a:p>
            <a:pPr indent="0" lvl="0" marL="0" marR="0" rtl="0" algn="ctr">
              <a:spcBef>
                <a:spcPts val="0"/>
              </a:spcBef>
              <a:spcAft>
                <a:spcPts val="0"/>
              </a:spcAft>
              <a:buClr>
                <a:schemeClr val="dk1"/>
              </a:buClr>
              <a:buSzPct val="100000"/>
              <a:buFont typeface="Calibri"/>
              <a:buNone/>
            </a:pPr>
            <a:r>
              <a:rPr b="1" lang="en-IN" sz="4400">
                <a:solidFill>
                  <a:schemeClr val="dk1"/>
                </a:solidFill>
                <a:latin typeface="Calibri"/>
                <a:ea typeface="Calibri"/>
                <a:cs typeface="Calibri"/>
                <a:sym typeface="Calibri"/>
              </a:rPr>
              <a:t>Multiprogramming Vs Timesharing </a:t>
            </a:r>
            <a:r>
              <a:rPr lang="en-IN" sz="2400">
                <a:solidFill>
                  <a:schemeClr val="dk1"/>
                </a:solidFill>
                <a:latin typeface="Calibri"/>
                <a:ea typeface="Calibri"/>
                <a:cs typeface="Calibri"/>
                <a:sym typeface="Calibri"/>
              </a:rPr>
              <a:t>(</a:t>
            </a:r>
            <a:r>
              <a:rPr b="1" lang="en-IN" sz="4400">
                <a:solidFill>
                  <a:schemeClr val="dk1"/>
                </a:solidFill>
                <a:latin typeface="Calibri"/>
                <a:ea typeface="Calibri"/>
                <a:cs typeface="Calibri"/>
                <a:sym typeface="Calibri"/>
              </a:rPr>
              <a:t>multitasking</a:t>
            </a:r>
            <a:r>
              <a:rPr lang="en-IN" sz="2400">
                <a:solidFill>
                  <a:schemeClr val="dk1"/>
                </a:solidFill>
                <a:latin typeface="Calibri"/>
                <a:ea typeface="Calibri"/>
                <a:cs typeface="Calibri"/>
                <a:sym typeface="Calibri"/>
              </a:rPr>
              <a:t>)</a:t>
            </a:r>
            <a:endParaRPr sz="4400">
              <a:solidFill>
                <a:schemeClr val="dk1"/>
              </a:solidFill>
              <a:latin typeface="Calibri"/>
              <a:ea typeface="Calibri"/>
              <a:cs typeface="Calibri"/>
              <a:sym typeface="Calibri"/>
            </a:endParaRPr>
          </a:p>
        </p:txBody>
      </p:sp>
      <p:sp>
        <p:nvSpPr>
          <p:cNvPr id="538" name="Google Shape;538;p44"/>
          <p:cNvSpPr/>
          <p:nvPr/>
        </p:nvSpPr>
        <p:spPr>
          <a:xfrm>
            <a:off x="-32327" y="6581001"/>
            <a:ext cx="734062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chemeClr val="dk1"/>
                </a:solidFill>
                <a:latin typeface="Calibri"/>
                <a:ea typeface="Calibri"/>
                <a:cs typeface="Calibri"/>
                <a:sym typeface="Calibri"/>
              </a:rPr>
              <a:t>https://www.geeksforgeeks.org/difference-between-multiprogramming-and-multitasking/</a:t>
            </a:r>
            <a:endParaRPr/>
          </a:p>
        </p:txBody>
      </p:sp>
      <p:sp>
        <p:nvSpPr>
          <p:cNvPr id="539" name="Google Shape;539;p44"/>
          <p:cNvSpPr/>
          <p:nvPr/>
        </p:nvSpPr>
        <p:spPr>
          <a:xfrm>
            <a:off x="611560" y="2186419"/>
            <a:ext cx="8280920" cy="594509"/>
          </a:xfrm>
          <a:prstGeom prst="rect">
            <a:avLst/>
          </a:prstGeom>
          <a:noFill/>
          <a:ln cap="flat" cmpd="sng" w="381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p44"/>
          <p:cNvSpPr/>
          <p:nvPr/>
        </p:nvSpPr>
        <p:spPr>
          <a:xfrm>
            <a:off x="539552" y="4130635"/>
            <a:ext cx="8280920" cy="954549"/>
          </a:xfrm>
          <a:prstGeom prst="rect">
            <a:avLst/>
          </a:prstGeom>
          <a:noFill/>
          <a:ln cap="flat" cmpd="sng" w="381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4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546" name="Google Shape;546;p4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547" name="Google Shape;547;p4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548" name="Google Shape;548;p45"/>
          <p:cNvSpPr/>
          <p:nvPr/>
        </p:nvSpPr>
        <p:spPr>
          <a:xfrm>
            <a:off x="611560" y="612845"/>
            <a:ext cx="7848872" cy="62478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000">
                <a:solidFill>
                  <a:schemeClr val="dk1"/>
                </a:solidFill>
                <a:latin typeface="Calibri"/>
                <a:ea typeface="Calibri"/>
                <a:cs typeface="Calibri"/>
                <a:sym typeface="Calibri"/>
              </a:rPr>
              <a:t>ISRO | ISRO CS 2007 | Question 25</a:t>
            </a:r>
            <a:endParaRPr/>
          </a:p>
          <a:p>
            <a:pPr indent="0" lvl="0" marL="0" marR="0" rtl="0" algn="l">
              <a:spcBef>
                <a:spcPts val="0"/>
              </a:spcBef>
              <a:spcAft>
                <a:spcPts val="0"/>
              </a:spcAft>
              <a:buNone/>
            </a:pPr>
            <a:r>
              <a:rPr lang="en-IN" sz="2000">
                <a:solidFill>
                  <a:schemeClr val="dk1"/>
                </a:solidFill>
                <a:latin typeface="Calibri"/>
                <a:ea typeface="Calibri"/>
                <a:cs typeface="Calibri"/>
                <a:sym typeface="Calibri"/>
              </a:rPr>
              <a:t>What is the name of the technique in which the operating system of a computer executes several programs concurrently by switching back and forth between them?</a:t>
            </a:r>
            <a:br>
              <a:rPr lang="en-IN" sz="2000">
                <a:solidFill>
                  <a:schemeClr val="dk1"/>
                </a:solidFill>
                <a:latin typeface="Calibri"/>
                <a:ea typeface="Calibri"/>
                <a:cs typeface="Calibri"/>
                <a:sym typeface="Calibri"/>
              </a:rPr>
            </a:br>
            <a:r>
              <a:rPr b="1" lang="en-IN" sz="2000">
                <a:solidFill>
                  <a:schemeClr val="dk1"/>
                </a:solidFill>
                <a:latin typeface="Calibri"/>
                <a:ea typeface="Calibri"/>
                <a:cs typeface="Calibri"/>
                <a:sym typeface="Calibri"/>
              </a:rPr>
              <a:t>(A)</a:t>
            </a:r>
            <a:r>
              <a:rPr lang="en-IN" sz="2000">
                <a:solidFill>
                  <a:schemeClr val="dk1"/>
                </a:solidFill>
                <a:latin typeface="Calibri"/>
                <a:ea typeface="Calibri"/>
                <a:cs typeface="Calibri"/>
                <a:sym typeface="Calibri"/>
              </a:rPr>
              <a:t> Partitioning</a:t>
            </a:r>
            <a:br>
              <a:rPr lang="en-IN" sz="2000">
                <a:solidFill>
                  <a:schemeClr val="dk1"/>
                </a:solidFill>
                <a:latin typeface="Calibri"/>
                <a:ea typeface="Calibri"/>
                <a:cs typeface="Calibri"/>
                <a:sym typeface="Calibri"/>
              </a:rPr>
            </a:br>
            <a:r>
              <a:rPr b="1" lang="en-IN" sz="2000">
                <a:solidFill>
                  <a:schemeClr val="dk1"/>
                </a:solidFill>
                <a:latin typeface="Calibri"/>
                <a:ea typeface="Calibri"/>
                <a:cs typeface="Calibri"/>
                <a:sym typeface="Calibri"/>
              </a:rPr>
              <a:t>(B)</a:t>
            </a:r>
            <a:r>
              <a:rPr lang="en-IN" sz="2000">
                <a:solidFill>
                  <a:schemeClr val="dk1"/>
                </a:solidFill>
                <a:latin typeface="Calibri"/>
                <a:ea typeface="Calibri"/>
                <a:cs typeface="Calibri"/>
                <a:sym typeface="Calibri"/>
              </a:rPr>
              <a:t> Multi-tasking</a:t>
            </a:r>
            <a:br>
              <a:rPr lang="en-IN" sz="2000">
                <a:solidFill>
                  <a:schemeClr val="dk1"/>
                </a:solidFill>
                <a:latin typeface="Calibri"/>
                <a:ea typeface="Calibri"/>
                <a:cs typeface="Calibri"/>
                <a:sym typeface="Calibri"/>
              </a:rPr>
            </a:br>
            <a:r>
              <a:rPr b="1" lang="en-IN" sz="2000">
                <a:solidFill>
                  <a:schemeClr val="dk1"/>
                </a:solidFill>
                <a:latin typeface="Calibri"/>
                <a:ea typeface="Calibri"/>
                <a:cs typeface="Calibri"/>
                <a:sym typeface="Calibri"/>
              </a:rPr>
              <a:t>(C)</a:t>
            </a:r>
            <a:r>
              <a:rPr lang="en-IN" sz="2000">
                <a:solidFill>
                  <a:schemeClr val="dk1"/>
                </a:solidFill>
                <a:latin typeface="Calibri"/>
                <a:ea typeface="Calibri"/>
                <a:cs typeface="Calibri"/>
                <a:sym typeface="Calibri"/>
              </a:rPr>
              <a:t> Windowing</a:t>
            </a:r>
            <a:br>
              <a:rPr lang="en-IN" sz="2000">
                <a:solidFill>
                  <a:schemeClr val="dk1"/>
                </a:solidFill>
                <a:latin typeface="Calibri"/>
                <a:ea typeface="Calibri"/>
                <a:cs typeface="Calibri"/>
                <a:sym typeface="Calibri"/>
              </a:rPr>
            </a:br>
            <a:r>
              <a:rPr b="1" lang="en-IN" sz="2000">
                <a:solidFill>
                  <a:schemeClr val="dk1"/>
                </a:solidFill>
                <a:latin typeface="Calibri"/>
                <a:ea typeface="Calibri"/>
                <a:cs typeface="Calibri"/>
                <a:sym typeface="Calibri"/>
              </a:rPr>
              <a:t>(D)</a:t>
            </a:r>
            <a:r>
              <a:rPr lang="en-IN" sz="2000">
                <a:solidFill>
                  <a:schemeClr val="dk1"/>
                </a:solidFill>
                <a:latin typeface="Calibri"/>
                <a:ea typeface="Calibri"/>
                <a:cs typeface="Calibri"/>
                <a:sym typeface="Calibri"/>
              </a:rPr>
              <a:t> Paging</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b="1" lang="en-IN" sz="2000">
                <a:solidFill>
                  <a:schemeClr val="dk1"/>
                </a:solidFill>
                <a:latin typeface="Calibri"/>
                <a:ea typeface="Calibri"/>
                <a:cs typeface="Calibri"/>
                <a:sym typeface="Calibri"/>
              </a:rPr>
              <a:t>Answer:</a:t>
            </a:r>
            <a:r>
              <a:rPr lang="en-IN" sz="2000">
                <a:solidFill>
                  <a:schemeClr val="dk1"/>
                </a:solidFill>
                <a:latin typeface="Calibri"/>
                <a:ea typeface="Calibri"/>
                <a:cs typeface="Calibri"/>
                <a:sym typeface="Calibri"/>
              </a:rPr>
              <a:t> </a:t>
            </a:r>
            <a:r>
              <a:rPr b="1" lang="en-IN" sz="2000">
                <a:solidFill>
                  <a:schemeClr val="dk1"/>
                </a:solidFill>
                <a:latin typeface="Calibri"/>
                <a:ea typeface="Calibri"/>
                <a:cs typeface="Calibri"/>
                <a:sym typeface="Calibri"/>
              </a:rPr>
              <a:t>(B)</a:t>
            </a:r>
            <a:r>
              <a:rPr lang="en-IN" sz="2000">
                <a:solidFill>
                  <a:schemeClr val="dk1"/>
                </a:solidFill>
                <a:latin typeface="Calibri"/>
                <a:ea typeface="Calibri"/>
                <a:cs typeface="Calibri"/>
                <a:sym typeface="Calibri"/>
              </a:rPr>
              <a:t> </a:t>
            </a:r>
            <a:br>
              <a:rPr lang="en-IN" sz="2000">
                <a:solidFill>
                  <a:schemeClr val="dk1"/>
                </a:solidFill>
                <a:latin typeface="Calibri"/>
                <a:ea typeface="Calibri"/>
                <a:cs typeface="Calibri"/>
                <a:sym typeface="Calibri"/>
              </a:rPr>
            </a:br>
            <a:br>
              <a:rPr lang="en-IN" sz="2000">
                <a:solidFill>
                  <a:schemeClr val="dk1"/>
                </a:solidFill>
                <a:latin typeface="Calibri"/>
                <a:ea typeface="Calibri"/>
                <a:cs typeface="Calibri"/>
                <a:sym typeface="Calibri"/>
              </a:rPr>
            </a:br>
            <a:r>
              <a:rPr b="1" lang="en-IN" sz="2000">
                <a:solidFill>
                  <a:schemeClr val="dk1"/>
                </a:solidFill>
                <a:latin typeface="Calibri"/>
                <a:ea typeface="Calibri"/>
                <a:cs typeface="Calibri"/>
                <a:sym typeface="Calibri"/>
              </a:rPr>
              <a:t>Explanation:</a:t>
            </a:r>
            <a:r>
              <a:rPr lang="en-IN" sz="2000">
                <a:solidFill>
                  <a:schemeClr val="dk1"/>
                </a:solidFill>
                <a:latin typeface="Calibri"/>
                <a:ea typeface="Calibri"/>
                <a:cs typeface="Calibri"/>
                <a:sym typeface="Calibri"/>
              </a:rPr>
              <a:t> In a multitasking system, a computer executes several programs simultaneously by switching them back and forth to increase the user interactivity. Processes share the CPU and execute in an interleaving manner. This allows the user to run more than one program at a time.</a:t>
            </a:r>
            <a:endParaRPr/>
          </a:p>
          <a:p>
            <a:pPr indent="0" lvl="0" marL="0" marR="0" rtl="0" algn="l">
              <a:spcBef>
                <a:spcPts val="0"/>
              </a:spcBef>
              <a:spcAft>
                <a:spcPts val="0"/>
              </a:spcAft>
              <a:buNone/>
            </a:pPr>
            <a:br>
              <a:rPr lang="en-IN" sz="2000">
                <a:solidFill>
                  <a:schemeClr val="dk1"/>
                </a:solidFill>
                <a:latin typeface="Calibri"/>
                <a:ea typeface="Calibri"/>
                <a:cs typeface="Calibri"/>
                <a:sym typeface="Calibri"/>
              </a:rPr>
            </a:br>
            <a:br>
              <a:rPr lang="en-IN" sz="2000">
                <a:solidFill>
                  <a:schemeClr val="dk1"/>
                </a:solidFill>
                <a:latin typeface="Calibri"/>
                <a:ea typeface="Calibri"/>
                <a:cs typeface="Calibri"/>
                <a:sym typeface="Calibri"/>
              </a:rPr>
            </a:br>
            <a:br>
              <a:rPr lang="en-IN" sz="2000">
                <a:solidFill>
                  <a:schemeClr val="dk1"/>
                </a:solidFill>
                <a:latin typeface="Calibri"/>
                <a:ea typeface="Calibri"/>
                <a:cs typeface="Calibri"/>
                <a:sym typeface="Calibri"/>
              </a:rPr>
            </a:br>
            <a:endParaRPr sz="20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4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554" name="Google Shape;554;p4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555" name="Google Shape;555;p4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556" name="Google Shape;556;p46"/>
          <p:cNvPicPr preferRelativeResize="0"/>
          <p:nvPr/>
        </p:nvPicPr>
        <p:blipFill rotWithShape="1">
          <a:blip r:embed="rId3">
            <a:alphaModFix/>
          </a:blip>
          <a:srcRect b="0" l="0" r="0" t="0"/>
          <a:stretch/>
        </p:blipFill>
        <p:spPr>
          <a:xfrm>
            <a:off x="179512" y="346009"/>
            <a:ext cx="7920880" cy="4235119"/>
          </a:xfrm>
          <a:prstGeom prst="rect">
            <a:avLst/>
          </a:prstGeom>
          <a:noFill/>
          <a:ln>
            <a:noFill/>
          </a:ln>
        </p:spPr>
      </p:pic>
      <p:pic>
        <p:nvPicPr>
          <p:cNvPr id="557" name="Google Shape;557;p46"/>
          <p:cNvPicPr preferRelativeResize="0"/>
          <p:nvPr/>
        </p:nvPicPr>
        <p:blipFill rotWithShape="1">
          <a:blip r:embed="rId4">
            <a:alphaModFix/>
          </a:blip>
          <a:srcRect b="0" l="0" r="0" t="0"/>
          <a:stretch/>
        </p:blipFill>
        <p:spPr>
          <a:xfrm>
            <a:off x="1475656" y="3272696"/>
            <a:ext cx="6650767" cy="339666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4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563" name="Google Shape;563;p4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564" name="Google Shape;564;p4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565" name="Google Shape;565;p47"/>
          <p:cNvSpPr txBox="1"/>
          <p:nvPr>
            <p:ph idx="4294967295" type="title"/>
          </p:nvPr>
        </p:nvSpPr>
        <p:spPr>
          <a:xfrm>
            <a:off x="0" y="188913"/>
            <a:ext cx="7616825"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b="1" lang="en-IN" sz="3200"/>
              <a:t>Multiprocessor Systems</a:t>
            </a:r>
            <a:endParaRPr sz="3200"/>
          </a:p>
        </p:txBody>
      </p:sp>
      <p:sp>
        <p:nvSpPr>
          <p:cNvPr id="566" name="Google Shape;566;p47"/>
          <p:cNvSpPr txBox="1"/>
          <p:nvPr>
            <p:ph idx="4294967295" type="body"/>
          </p:nvPr>
        </p:nvSpPr>
        <p:spPr>
          <a:xfrm>
            <a:off x="0" y="981075"/>
            <a:ext cx="7883525" cy="5472113"/>
          </a:xfrm>
          <a:prstGeom prst="rect">
            <a:avLst/>
          </a:prstGeom>
          <a:noFill/>
          <a:ln>
            <a:noFill/>
          </a:ln>
        </p:spPr>
        <p:txBody>
          <a:bodyPr anchorCtr="0" anchor="t" bIns="45700" lIns="0" spcFirstLastPara="1" rIns="0" wrap="square" tIns="45700">
            <a:noAutofit/>
          </a:bodyPr>
          <a:lstStyle/>
          <a:p>
            <a:pPr indent="-127000" lvl="0" marL="91440" rtl="0" algn="l">
              <a:lnSpc>
                <a:spcPct val="90000"/>
              </a:lnSpc>
              <a:spcBef>
                <a:spcPts val="0"/>
              </a:spcBef>
              <a:spcAft>
                <a:spcPts val="0"/>
              </a:spcAft>
              <a:buSzPts val="2000"/>
              <a:buChar char=" "/>
            </a:pPr>
            <a:r>
              <a:rPr lang="en-IN" sz="2000"/>
              <a:t>Also called </a:t>
            </a:r>
            <a:r>
              <a:rPr b="1" lang="en-IN" sz="2000" u="sng"/>
              <a:t>Parallel System or Tightly coupled System </a:t>
            </a:r>
            <a:r>
              <a:rPr lang="en-IN" sz="2000"/>
              <a:t>grew in importance.</a:t>
            </a:r>
            <a:endParaRPr/>
          </a:p>
          <a:p>
            <a:pPr indent="-127000" lvl="0" marL="91440" rtl="0" algn="l">
              <a:lnSpc>
                <a:spcPct val="90000"/>
              </a:lnSpc>
              <a:spcBef>
                <a:spcPts val="1400"/>
              </a:spcBef>
              <a:spcAft>
                <a:spcPts val="0"/>
              </a:spcAft>
              <a:buSzPts val="2000"/>
              <a:buChar char=" "/>
            </a:pPr>
            <a:r>
              <a:rPr b="1" lang="en-IN" sz="2000" u="sng"/>
              <a:t>More than one processor in close communication, sharing</a:t>
            </a:r>
            <a:endParaRPr/>
          </a:p>
          <a:p>
            <a:pPr indent="-182880" lvl="1" marL="384048" rtl="0" algn="l">
              <a:lnSpc>
                <a:spcPct val="90000"/>
              </a:lnSpc>
              <a:spcBef>
                <a:spcPts val="400"/>
              </a:spcBef>
              <a:spcAft>
                <a:spcPts val="0"/>
              </a:spcAft>
              <a:buSzPts val="1800"/>
              <a:buChar char="◦"/>
            </a:pPr>
            <a:r>
              <a:rPr lang="en-IN"/>
              <a:t> the computer bus, the clock and </a:t>
            </a:r>
            <a:endParaRPr/>
          </a:p>
          <a:p>
            <a:pPr indent="-182880" lvl="1" marL="384048" rtl="0" algn="l">
              <a:lnSpc>
                <a:spcPct val="90000"/>
              </a:lnSpc>
              <a:spcBef>
                <a:spcPts val="600"/>
              </a:spcBef>
              <a:spcAft>
                <a:spcPts val="0"/>
              </a:spcAft>
              <a:buSzPts val="1800"/>
              <a:buChar char="◦"/>
            </a:pPr>
            <a:r>
              <a:rPr lang="en-IN"/>
              <a:t>sometimes memory and peripheral devices.</a:t>
            </a:r>
            <a:endParaRPr/>
          </a:p>
          <a:p>
            <a:pPr indent="0" lvl="0" marL="0" rtl="0" algn="l">
              <a:lnSpc>
                <a:spcPct val="90000"/>
              </a:lnSpc>
              <a:spcBef>
                <a:spcPts val="1600"/>
              </a:spcBef>
              <a:spcAft>
                <a:spcPts val="0"/>
              </a:spcAft>
              <a:buSzPts val="2000"/>
              <a:buNone/>
            </a:pPr>
            <a:r>
              <a:rPr lang="en-IN" sz="2000"/>
              <a:t>Advantages:-</a:t>
            </a:r>
            <a:endParaRPr/>
          </a:p>
          <a:p>
            <a:pPr indent="-127000" lvl="0" marL="91440" rtl="0" algn="l">
              <a:lnSpc>
                <a:spcPct val="90000"/>
              </a:lnSpc>
              <a:spcBef>
                <a:spcPts val="1400"/>
              </a:spcBef>
              <a:spcAft>
                <a:spcPts val="0"/>
              </a:spcAft>
              <a:buSzPts val="2000"/>
              <a:buChar char=" "/>
            </a:pPr>
            <a:r>
              <a:rPr b="1" lang="en-IN" sz="2000" u="sng"/>
              <a:t>Increased Throughput</a:t>
            </a:r>
            <a:endParaRPr/>
          </a:p>
          <a:p>
            <a:pPr indent="-182880" lvl="1" marL="384048" rtl="0" algn="l">
              <a:lnSpc>
                <a:spcPct val="90000"/>
              </a:lnSpc>
              <a:spcBef>
                <a:spcPts val="400"/>
              </a:spcBef>
              <a:spcAft>
                <a:spcPts val="0"/>
              </a:spcAft>
              <a:buSzPts val="1800"/>
              <a:buChar char="◦"/>
            </a:pPr>
            <a:r>
              <a:rPr b="1" lang="en-IN" u="sng"/>
              <a:t>To Get more work done.</a:t>
            </a:r>
            <a:endParaRPr/>
          </a:p>
          <a:p>
            <a:pPr indent="-182880" lvl="1" marL="384048" rtl="0" algn="l">
              <a:lnSpc>
                <a:spcPct val="90000"/>
              </a:lnSpc>
              <a:spcBef>
                <a:spcPts val="600"/>
              </a:spcBef>
              <a:spcAft>
                <a:spcPts val="0"/>
              </a:spcAft>
              <a:buSzPts val="1800"/>
              <a:buChar char="◦"/>
            </a:pPr>
            <a:r>
              <a:rPr lang="en-IN"/>
              <a:t>The speedup ratio with N processors is not N, it is less than N.</a:t>
            </a:r>
            <a:endParaRPr/>
          </a:p>
          <a:p>
            <a:pPr indent="-182880" lvl="1" marL="384048" rtl="0" algn="l">
              <a:lnSpc>
                <a:spcPct val="90000"/>
              </a:lnSpc>
              <a:spcBef>
                <a:spcPts val="600"/>
              </a:spcBef>
              <a:spcAft>
                <a:spcPts val="0"/>
              </a:spcAft>
              <a:buSzPts val="1800"/>
              <a:buChar char="◦"/>
            </a:pPr>
            <a:r>
              <a:rPr lang="en-IN"/>
              <a:t>Overhead is incurred in keeping all parts working correctly. </a:t>
            </a:r>
            <a:endParaRPr/>
          </a:p>
          <a:p>
            <a:pPr indent="-182880" lvl="1" marL="384048" rtl="0" algn="l">
              <a:lnSpc>
                <a:spcPct val="90000"/>
              </a:lnSpc>
              <a:spcBef>
                <a:spcPts val="600"/>
              </a:spcBef>
              <a:spcAft>
                <a:spcPts val="0"/>
              </a:spcAft>
              <a:buSzPts val="1800"/>
              <a:buChar char="◦"/>
            </a:pPr>
            <a:r>
              <a:rPr lang="en-IN"/>
              <a:t>Plus Contention for shared resources lowers the expected gains.</a:t>
            </a:r>
            <a:endParaRPr/>
          </a:p>
          <a:p>
            <a:pPr indent="-127000" lvl="0" marL="91440" rtl="0" algn="l">
              <a:lnSpc>
                <a:spcPct val="90000"/>
              </a:lnSpc>
              <a:spcBef>
                <a:spcPts val="1600"/>
              </a:spcBef>
              <a:spcAft>
                <a:spcPts val="0"/>
              </a:spcAft>
              <a:buSzPts val="2000"/>
              <a:buChar char=" "/>
            </a:pPr>
            <a:r>
              <a:rPr b="1" lang="en-IN" sz="2000" u="sng"/>
              <a:t>Economy of scale</a:t>
            </a:r>
            <a:endParaRPr/>
          </a:p>
          <a:p>
            <a:pPr indent="-182880" lvl="1" marL="384048" rtl="0" algn="l">
              <a:lnSpc>
                <a:spcPct val="90000"/>
              </a:lnSpc>
              <a:spcBef>
                <a:spcPts val="400"/>
              </a:spcBef>
              <a:spcAft>
                <a:spcPts val="0"/>
              </a:spcAft>
              <a:buSzPts val="1800"/>
              <a:buChar char="◦"/>
            </a:pPr>
            <a:r>
              <a:rPr b="1" lang="en-IN" u="sng"/>
              <a:t>Save more money</a:t>
            </a:r>
            <a:r>
              <a:rPr lang="en-IN"/>
              <a:t> as they share </a:t>
            </a:r>
            <a:endParaRPr/>
          </a:p>
          <a:p>
            <a:pPr indent="-182880" lvl="2" marL="566928" rtl="0" algn="l">
              <a:lnSpc>
                <a:spcPct val="90000"/>
              </a:lnSpc>
              <a:spcBef>
                <a:spcPts val="600"/>
              </a:spcBef>
              <a:spcAft>
                <a:spcPts val="0"/>
              </a:spcAft>
              <a:buSzPts val="2000"/>
              <a:buChar char="◦"/>
            </a:pPr>
            <a:r>
              <a:rPr lang="en-IN" sz="2000"/>
              <a:t>peripherals, </a:t>
            </a:r>
            <a:endParaRPr/>
          </a:p>
          <a:p>
            <a:pPr indent="-182880" lvl="2" marL="566928" rtl="0" algn="l">
              <a:lnSpc>
                <a:spcPct val="90000"/>
              </a:lnSpc>
              <a:spcBef>
                <a:spcPts val="600"/>
              </a:spcBef>
              <a:spcAft>
                <a:spcPts val="0"/>
              </a:spcAft>
              <a:buSzPts val="2000"/>
              <a:buChar char="◦"/>
            </a:pPr>
            <a:r>
              <a:rPr lang="en-IN" sz="2000"/>
              <a:t>mass storage, </a:t>
            </a:r>
            <a:endParaRPr/>
          </a:p>
          <a:p>
            <a:pPr indent="-182880" lvl="2" marL="566928" rtl="0" algn="l">
              <a:lnSpc>
                <a:spcPct val="90000"/>
              </a:lnSpc>
              <a:spcBef>
                <a:spcPts val="600"/>
              </a:spcBef>
              <a:spcAft>
                <a:spcPts val="0"/>
              </a:spcAft>
              <a:buSzPts val="2000"/>
              <a:buChar char="◦"/>
            </a:pPr>
            <a:r>
              <a:rPr lang="en-IN" sz="2000"/>
              <a:t>power supplies.</a:t>
            </a:r>
            <a:endParaRPr sz="20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4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572" name="Google Shape;572;p4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573" name="Google Shape;573;p4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574" name="Google Shape;574;p48"/>
          <p:cNvSpPr txBox="1"/>
          <p:nvPr>
            <p:ph idx="4294967295" type="title"/>
          </p:nvPr>
        </p:nvSpPr>
        <p:spPr>
          <a:xfrm>
            <a:off x="0" y="188913"/>
            <a:ext cx="6330950" cy="5381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b="1" lang="en-IN" sz="3200"/>
              <a:t>Multiprocessor Systems</a:t>
            </a:r>
            <a:endParaRPr sz="3200"/>
          </a:p>
        </p:txBody>
      </p:sp>
      <p:sp>
        <p:nvSpPr>
          <p:cNvPr id="575" name="Google Shape;575;p48"/>
          <p:cNvSpPr txBox="1"/>
          <p:nvPr>
            <p:ph idx="4294967295" type="body"/>
          </p:nvPr>
        </p:nvSpPr>
        <p:spPr>
          <a:xfrm>
            <a:off x="0" y="754063"/>
            <a:ext cx="6510338" cy="5316537"/>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400"/>
              <a:buNone/>
            </a:pPr>
            <a:r>
              <a:rPr lang="en-IN" sz="2400"/>
              <a:t>Advantages:-</a:t>
            </a:r>
            <a:endParaRPr/>
          </a:p>
          <a:p>
            <a:pPr indent="-152400" lvl="0" marL="91440" rtl="0" algn="l">
              <a:lnSpc>
                <a:spcPct val="90000"/>
              </a:lnSpc>
              <a:spcBef>
                <a:spcPts val="1400"/>
              </a:spcBef>
              <a:spcAft>
                <a:spcPts val="0"/>
              </a:spcAft>
              <a:buSzPts val="2400"/>
              <a:buChar char=" "/>
            </a:pPr>
            <a:r>
              <a:rPr b="1" lang="en-IN" sz="2400" u="sng"/>
              <a:t>Increased Reliability</a:t>
            </a:r>
            <a:endParaRPr/>
          </a:p>
          <a:p>
            <a:pPr indent="-182880" lvl="1" marL="384048" rtl="0" algn="l">
              <a:lnSpc>
                <a:spcPct val="90000"/>
              </a:lnSpc>
              <a:spcBef>
                <a:spcPts val="400"/>
              </a:spcBef>
              <a:spcAft>
                <a:spcPts val="0"/>
              </a:spcAft>
              <a:buSzPts val="2400"/>
              <a:buChar char="◦"/>
            </a:pPr>
            <a:r>
              <a:rPr lang="en-IN" sz="2400"/>
              <a:t>If functions can be distributed properly among several processors, then </a:t>
            </a:r>
            <a:endParaRPr/>
          </a:p>
          <a:p>
            <a:pPr indent="-182880" lvl="1" marL="384048" rtl="0" algn="l">
              <a:lnSpc>
                <a:spcPct val="90000"/>
              </a:lnSpc>
              <a:spcBef>
                <a:spcPts val="600"/>
              </a:spcBef>
              <a:spcAft>
                <a:spcPts val="0"/>
              </a:spcAft>
              <a:buSzPts val="2400"/>
              <a:buChar char="◦"/>
            </a:pPr>
            <a:r>
              <a:rPr b="1" lang="en-IN" sz="2400" u="sng"/>
              <a:t>the failure of one processor will not halt the system, </a:t>
            </a:r>
            <a:endParaRPr/>
          </a:p>
          <a:p>
            <a:pPr indent="-182880" lvl="1" marL="384048" rtl="0" algn="l">
              <a:lnSpc>
                <a:spcPct val="90000"/>
              </a:lnSpc>
              <a:spcBef>
                <a:spcPts val="600"/>
              </a:spcBef>
              <a:spcAft>
                <a:spcPts val="0"/>
              </a:spcAft>
              <a:buSzPts val="2400"/>
              <a:buChar char="◦"/>
            </a:pPr>
            <a:r>
              <a:rPr lang="en-IN" sz="2400"/>
              <a:t>only slow it down.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4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581" name="Google Shape;581;p4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582" name="Google Shape;582;p4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583" name="Google Shape;583;p49"/>
          <p:cNvSpPr txBox="1"/>
          <p:nvPr>
            <p:ph idx="4294967295" type="title"/>
          </p:nvPr>
        </p:nvSpPr>
        <p:spPr>
          <a:xfrm>
            <a:off x="0" y="0"/>
            <a:ext cx="7616825" cy="576263"/>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b="1" lang="en-IN" sz="3200"/>
              <a:t>Multiprocessor Systems</a:t>
            </a:r>
            <a:endParaRPr sz="3200"/>
          </a:p>
        </p:txBody>
      </p:sp>
      <p:sp>
        <p:nvSpPr>
          <p:cNvPr id="584" name="Google Shape;584;p49"/>
          <p:cNvSpPr txBox="1"/>
          <p:nvPr>
            <p:ph idx="4294967295" type="body"/>
          </p:nvPr>
        </p:nvSpPr>
        <p:spPr>
          <a:xfrm>
            <a:off x="0" y="595313"/>
            <a:ext cx="8066088" cy="5494337"/>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IN" sz="2000">
                <a:solidFill>
                  <a:srgbClr val="05074B"/>
                </a:solidFill>
              </a:rPr>
              <a:t>Symmetric Multiprocessor</a:t>
            </a:r>
            <a:endParaRPr/>
          </a:p>
          <a:p>
            <a:pPr indent="-182880" lvl="1" marL="384048" rtl="0" algn="l">
              <a:lnSpc>
                <a:spcPct val="90000"/>
              </a:lnSpc>
              <a:spcBef>
                <a:spcPts val="400"/>
              </a:spcBef>
              <a:spcAft>
                <a:spcPts val="0"/>
              </a:spcAft>
              <a:buSzPts val="1800"/>
              <a:buChar char="◦"/>
            </a:pPr>
            <a:r>
              <a:rPr lang="en-IN"/>
              <a:t>Each processor runs an identical copy of the OS and </a:t>
            </a:r>
            <a:endParaRPr/>
          </a:p>
          <a:p>
            <a:pPr indent="-182880" lvl="1" marL="384048" rtl="0" algn="l">
              <a:lnSpc>
                <a:spcPct val="90000"/>
              </a:lnSpc>
              <a:spcBef>
                <a:spcPts val="600"/>
              </a:spcBef>
              <a:spcAft>
                <a:spcPts val="0"/>
              </a:spcAft>
              <a:buSzPts val="1800"/>
              <a:buChar char="◦"/>
            </a:pPr>
            <a:r>
              <a:rPr lang="en-IN"/>
              <a:t>These copies communicate with one another as needed.</a:t>
            </a:r>
            <a:endParaRPr/>
          </a:p>
          <a:p>
            <a:pPr indent="-127000" lvl="0" marL="91440" rtl="0" algn="l">
              <a:lnSpc>
                <a:spcPct val="90000"/>
              </a:lnSpc>
              <a:spcBef>
                <a:spcPts val="1600"/>
              </a:spcBef>
              <a:spcAft>
                <a:spcPts val="0"/>
              </a:spcAft>
              <a:buSzPts val="2000"/>
              <a:buChar char=" "/>
            </a:pPr>
            <a:r>
              <a:rPr lang="en-IN" sz="2000">
                <a:solidFill>
                  <a:srgbClr val="05074B"/>
                </a:solidFill>
              </a:rPr>
              <a:t>Asymmetric Multiprocessor</a:t>
            </a:r>
            <a:endParaRPr/>
          </a:p>
          <a:p>
            <a:pPr indent="-182880" lvl="1" marL="384048" rtl="0" algn="l">
              <a:lnSpc>
                <a:spcPct val="90000"/>
              </a:lnSpc>
              <a:spcBef>
                <a:spcPts val="400"/>
              </a:spcBef>
              <a:spcAft>
                <a:spcPts val="0"/>
              </a:spcAft>
              <a:buSzPts val="1800"/>
              <a:buChar char="◦"/>
            </a:pPr>
            <a:r>
              <a:rPr lang="en-IN"/>
              <a:t>Each processor is assigned a specific task.</a:t>
            </a:r>
            <a:endParaRPr/>
          </a:p>
          <a:p>
            <a:pPr indent="-182880" lvl="1" marL="384048" rtl="0" algn="l">
              <a:lnSpc>
                <a:spcPct val="90000"/>
              </a:lnSpc>
              <a:spcBef>
                <a:spcPts val="600"/>
              </a:spcBef>
              <a:spcAft>
                <a:spcPts val="0"/>
              </a:spcAft>
              <a:buSzPts val="1800"/>
              <a:buChar char="◦"/>
            </a:pPr>
            <a:r>
              <a:rPr lang="en-IN"/>
              <a:t>A master processor controls the system, </a:t>
            </a:r>
            <a:endParaRPr/>
          </a:p>
          <a:p>
            <a:pPr indent="-182880" lvl="1" marL="384048" rtl="0" algn="l">
              <a:lnSpc>
                <a:spcPct val="90000"/>
              </a:lnSpc>
              <a:spcBef>
                <a:spcPts val="600"/>
              </a:spcBef>
              <a:spcAft>
                <a:spcPts val="0"/>
              </a:spcAft>
              <a:buSzPts val="1800"/>
              <a:buChar char="◦"/>
            </a:pPr>
            <a:r>
              <a:rPr lang="en-IN"/>
              <a:t>The other processor either look to the master for instruction or have predefined tasks.</a:t>
            </a:r>
            <a:endParaRPr/>
          </a:p>
          <a:p>
            <a:pPr indent="-182880" lvl="1" marL="384048" rtl="0" algn="l">
              <a:lnSpc>
                <a:spcPct val="90000"/>
              </a:lnSpc>
              <a:spcBef>
                <a:spcPts val="600"/>
              </a:spcBef>
              <a:spcAft>
                <a:spcPts val="0"/>
              </a:spcAft>
              <a:buSzPts val="1800"/>
              <a:buChar char="◦"/>
            </a:pPr>
            <a:r>
              <a:rPr lang="en-IN"/>
              <a:t>The master allocates the work to the slave processor.</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590" name="Google Shape;590;p5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591" name="Google Shape;591;p5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592" name="Google Shape;592;p50"/>
          <p:cNvSpPr txBox="1"/>
          <p:nvPr>
            <p:ph idx="4294967295" type="title"/>
          </p:nvPr>
        </p:nvSpPr>
        <p:spPr>
          <a:xfrm>
            <a:off x="0" y="130175"/>
            <a:ext cx="7616825" cy="576263"/>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Asymmetric multiprocessing </a:t>
            </a:r>
            <a:endParaRPr sz="3200"/>
          </a:p>
        </p:txBody>
      </p:sp>
      <p:sp>
        <p:nvSpPr>
          <p:cNvPr id="593" name="Google Shape;593;p50"/>
          <p:cNvSpPr txBox="1"/>
          <p:nvPr>
            <p:ph idx="4294967295" type="body"/>
          </p:nvPr>
        </p:nvSpPr>
        <p:spPr>
          <a:xfrm>
            <a:off x="0" y="958850"/>
            <a:ext cx="8020050" cy="5278438"/>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1600"/>
              <a:buFont typeface="Arial"/>
              <a:buNone/>
            </a:pPr>
            <a:r>
              <a:t/>
            </a:r>
            <a:endParaRPr sz="1600"/>
          </a:p>
          <a:p>
            <a:pPr indent="0" lvl="0" marL="91440" rtl="0" algn="l">
              <a:lnSpc>
                <a:spcPct val="90000"/>
              </a:lnSpc>
              <a:spcBef>
                <a:spcPts val="1400"/>
              </a:spcBef>
              <a:spcAft>
                <a:spcPts val="0"/>
              </a:spcAft>
              <a:buSzPts val="2400"/>
              <a:buNone/>
            </a:pPr>
            <a:r>
              <a:t/>
            </a:r>
            <a:endParaRPr sz="2400"/>
          </a:p>
        </p:txBody>
      </p:sp>
      <p:pic>
        <p:nvPicPr>
          <p:cNvPr descr="http://flylib.com/books/4/491/1/html/2/images/0735619174/graphics/02fig02.gif" id="594" name="Google Shape;594;p50"/>
          <p:cNvPicPr preferRelativeResize="0"/>
          <p:nvPr/>
        </p:nvPicPr>
        <p:blipFill rotWithShape="1">
          <a:blip r:embed="rId3">
            <a:alphaModFix/>
          </a:blip>
          <a:srcRect b="0" l="50000" r="0" t="0"/>
          <a:stretch/>
        </p:blipFill>
        <p:spPr>
          <a:xfrm>
            <a:off x="3707904" y="3052056"/>
            <a:ext cx="3645461" cy="3218817"/>
          </a:xfrm>
          <a:prstGeom prst="rect">
            <a:avLst/>
          </a:prstGeom>
          <a:noFill/>
          <a:ln>
            <a:noFill/>
          </a:ln>
        </p:spPr>
      </p:pic>
      <p:sp>
        <p:nvSpPr>
          <p:cNvPr id="595" name="Google Shape;595;p50"/>
          <p:cNvSpPr/>
          <p:nvPr/>
        </p:nvSpPr>
        <p:spPr>
          <a:xfrm>
            <a:off x="321064" y="657768"/>
            <a:ext cx="8208912" cy="2677656"/>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ASMP </a:t>
            </a:r>
            <a:endParaRPr/>
          </a:p>
          <a:p>
            <a:pPr indent="-285750" lvl="1" marL="742950" marR="0" rtl="0" algn="l">
              <a:spcBef>
                <a:spcPts val="0"/>
              </a:spcBef>
              <a:spcAft>
                <a:spcPts val="0"/>
              </a:spcAft>
              <a:buClr>
                <a:schemeClr val="dk1"/>
              </a:buClr>
              <a:buSzPts val="2400"/>
              <a:buFont typeface="Arial"/>
              <a:buChar char="•"/>
            </a:pPr>
            <a:r>
              <a:rPr b="0" i="0" lang="en-IN" sz="2400" u="none" cap="none" strike="noStrike">
                <a:solidFill>
                  <a:schemeClr val="dk1"/>
                </a:solidFill>
                <a:latin typeface="Calibri"/>
                <a:ea typeface="Calibri"/>
                <a:cs typeface="Calibri"/>
                <a:sym typeface="Calibri"/>
              </a:rPr>
              <a:t>The operating system typically sets aside one or more processors for its exclusive use. </a:t>
            </a:r>
            <a:endParaRPr b="0" i="0" sz="2400" u="none" cap="none" strike="noStrike">
              <a:solidFill>
                <a:schemeClr val="dk1"/>
              </a:solidFill>
              <a:latin typeface="Calibri"/>
              <a:ea typeface="Calibri"/>
              <a:cs typeface="Calibri"/>
              <a:sym typeface="Calibri"/>
            </a:endParaRPr>
          </a:p>
          <a:p>
            <a:pPr indent="-285750" lvl="1" marL="742950" marR="0" rtl="0" algn="l">
              <a:spcBef>
                <a:spcPts val="0"/>
              </a:spcBef>
              <a:spcAft>
                <a:spcPts val="0"/>
              </a:spcAft>
              <a:buClr>
                <a:schemeClr val="dk1"/>
              </a:buClr>
              <a:buSzPts val="2400"/>
              <a:buFont typeface="Arial"/>
              <a:buChar char="•"/>
            </a:pPr>
            <a:r>
              <a:rPr b="0" i="0" lang="en-IN" sz="2400" u="none" cap="none" strike="noStrike">
                <a:solidFill>
                  <a:schemeClr val="dk1"/>
                </a:solidFill>
                <a:latin typeface="Calibri"/>
                <a:ea typeface="Calibri"/>
                <a:cs typeface="Calibri"/>
                <a:sym typeface="Calibri"/>
              </a:rPr>
              <a:t>The remainder of the processors run user applications.</a:t>
            </a:r>
            <a:endParaRPr/>
          </a:p>
          <a:p>
            <a:pPr indent="-285750" lvl="1" marL="742950" marR="0" rtl="0" algn="l">
              <a:spcBef>
                <a:spcPts val="0"/>
              </a:spcBef>
              <a:spcAft>
                <a:spcPts val="0"/>
              </a:spcAft>
              <a:buClr>
                <a:schemeClr val="dk1"/>
              </a:buClr>
              <a:buSzPts val="2400"/>
              <a:buFont typeface="Arial"/>
              <a:buChar char="•"/>
            </a:pPr>
            <a:r>
              <a:rPr b="0" i="0" lang="en-IN" sz="2400" u="none" cap="none" strike="noStrike">
                <a:solidFill>
                  <a:schemeClr val="dk1"/>
                </a:solidFill>
                <a:latin typeface="Calibri"/>
                <a:ea typeface="Calibri"/>
                <a:cs typeface="Calibri"/>
                <a:sym typeface="Calibri"/>
              </a:rPr>
              <a:t>If the processor that fails is an operating system processor, the whole computer can go down </a:t>
            </a:r>
            <a:endParaRPr b="0" i="0" sz="2400" u="none" cap="none" strike="noStrike">
              <a:solidFill>
                <a:schemeClr val="dk1"/>
              </a:solidFill>
              <a:latin typeface="Calibri"/>
              <a:ea typeface="Calibri"/>
              <a:cs typeface="Calibri"/>
              <a:sym typeface="Calibri"/>
            </a:endParaRPr>
          </a:p>
          <a:p>
            <a:pPr indent="-133350" lvl="0" marL="28575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5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601" name="Google Shape;601;p5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602" name="Google Shape;602;p5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603" name="Google Shape;603;p51"/>
          <p:cNvSpPr/>
          <p:nvPr/>
        </p:nvSpPr>
        <p:spPr>
          <a:xfrm>
            <a:off x="323528" y="633264"/>
            <a:ext cx="7704856" cy="212365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200"/>
              <a:buFont typeface="Arial"/>
              <a:buChar char="•"/>
            </a:pPr>
            <a:r>
              <a:rPr lang="en-IN" sz="2200">
                <a:solidFill>
                  <a:schemeClr val="dk1"/>
                </a:solidFill>
                <a:latin typeface="Calibri"/>
                <a:ea typeface="Calibri"/>
                <a:cs typeface="Calibri"/>
                <a:sym typeface="Calibri"/>
              </a:rPr>
              <a:t>Symmetric multiprocessing (SMP) technology is used to get higher levels of performance. </a:t>
            </a:r>
            <a:endParaRPr sz="22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200"/>
              <a:buFont typeface="Arial"/>
              <a:buChar char="•"/>
            </a:pPr>
            <a:r>
              <a:rPr lang="en-IN" sz="2200">
                <a:solidFill>
                  <a:schemeClr val="dk1"/>
                </a:solidFill>
                <a:latin typeface="Calibri"/>
                <a:ea typeface="Calibri"/>
                <a:cs typeface="Calibri"/>
                <a:sym typeface="Calibri"/>
              </a:rPr>
              <a:t>In symmetric multiprocessing, </a:t>
            </a:r>
            <a:r>
              <a:rPr b="1" lang="en-IN" sz="2200" u="sng">
                <a:solidFill>
                  <a:schemeClr val="dk1"/>
                </a:solidFill>
                <a:latin typeface="Calibri"/>
                <a:ea typeface="Calibri"/>
                <a:cs typeface="Calibri"/>
                <a:sym typeface="Calibri"/>
              </a:rPr>
              <a:t>any processor can run any type of thread.</a:t>
            </a:r>
            <a:r>
              <a:rPr lang="en-IN" sz="2200">
                <a:solidFill>
                  <a:schemeClr val="dk1"/>
                </a:solidFill>
                <a:latin typeface="Calibri"/>
                <a:ea typeface="Calibri"/>
                <a:cs typeface="Calibri"/>
                <a:sym typeface="Calibri"/>
              </a:rPr>
              <a:t> The processors communicate with each other through shared memory.</a:t>
            </a:r>
            <a:br>
              <a:rPr lang="en-IN" sz="2200">
                <a:solidFill>
                  <a:schemeClr val="dk1"/>
                </a:solidFill>
                <a:latin typeface="Calibri"/>
                <a:ea typeface="Calibri"/>
                <a:cs typeface="Calibri"/>
                <a:sym typeface="Calibri"/>
              </a:rPr>
            </a:br>
            <a:r>
              <a:rPr lang="en-IN" sz="2200">
                <a:solidFill>
                  <a:schemeClr val="dk1"/>
                </a:solidFill>
                <a:latin typeface="Calibri"/>
                <a:ea typeface="Calibri"/>
                <a:cs typeface="Calibri"/>
                <a:sym typeface="Calibri"/>
              </a:rPr>
              <a:t>SMP systems provide better load-balancing and fault tolerance. </a:t>
            </a:r>
            <a:endParaRPr sz="2200">
              <a:solidFill>
                <a:schemeClr val="dk1"/>
              </a:solidFill>
              <a:latin typeface="Calibri"/>
              <a:ea typeface="Calibri"/>
              <a:cs typeface="Calibri"/>
              <a:sym typeface="Calibri"/>
            </a:endParaRPr>
          </a:p>
        </p:txBody>
      </p:sp>
      <p:sp>
        <p:nvSpPr>
          <p:cNvPr id="604" name="Google Shape;604;p51"/>
          <p:cNvSpPr/>
          <p:nvPr/>
        </p:nvSpPr>
        <p:spPr>
          <a:xfrm>
            <a:off x="179512" y="48489"/>
            <a:ext cx="4906151"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3200">
                <a:solidFill>
                  <a:schemeClr val="dk1"/>
                </a:solidFill>
                <a:latin typeface="Calibri"/>
                <a:ea typeface="Calibri"/>
                <a:cs typeface="Calibri"/>
                <a:sym typeface="Calibri"/>
              </a:rPr>
              <a:t>Symmetric Multiprocessing  </a:t>
            </a:r>
            <a:endParaRPr sz="3200">
              <a:solidFill>
                <a:schemeClr val="dk1"/>
              </a:solidFill>
              <a:latin typeface="Calibri"/>
              <a:ea typeface="Calibri"/>
              <a:cs typeface="Calibri"/>
              <a:sym typeface="Calibri"/>
            </a:endParaRPr>
          </a:p>
        </p:txBody>
      </p:sp>
      <p:pic>
        <p:nvPicPr>
          <p:cNvPr descr="http://flylib.com/books/4/491/1/html/2/images/0735619174/graphics/02fig02.gif" id="605" name="Google Shape;605;p51"/>
          <p:cNvPicPr preferRelativeResize="0"/>
          <p:nvPr/>
        </p:nvPicPr>
        <p:blipFill rotWithShape="1">
          <a:blip r:embed="rId3">
            <a:alphaModFix/>
          </a:blip>
          <a:srcRect b="0" l="0" r="50000" t="0"/>
          <a:stretch/>
        </p:blipFill>
        <p:spPr>
          <a:xfrm>
            <a:off x="5165513" y="2926946"/>
            <a:ext cx="3142514" cy="3118254"/>
          </a:xfrm>
          <a:prstGeom prst="rect">
            <a:avLst/>
          </a:prstGeom>
          <a:noFill/>
          <a:ln>
            <a:noFill/>
          </a:ln>
        </p:spPr>
      </p:pic>
      <p:sp>
        <p:nvSpPr>
          <p:cNvPr id="606" name="Google Shape;606;p51"/>
          <p:cNvSpPr txBox="1"/>
          <p:nvPr/>
        </p:nvSpPr>
        <p:spPr>
          <a:xfrm>
            <a:off x="509266" y="2676981"/>
            <a:ext cx="4593280" cy="317009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Because the operating system threads can run on any processor, the </a:t>
            </a:r>
            <a:r>
              <a:rPr b="1" lang="en-IN" sz="2000" u="sng">
                <a:solidFill>
                  <a:schemeClr val="dk1"/>
                </a:solidFill>
                <a:latin typeface="Calibri"/>
                <a:ea typeface="Calibri"/>
                <a:cs typeface="Calibri"/>
                <a:sym typeface="Calibri"/>
              </a:rPr>
              <a:t>chance of hitting a CPU bottleneck is greatly reduced. </a:t>
            </a:r>
            <a:endParaRPr/>
          </a:p>
          <a:p>
            <a:pPr indent="-285750" lvl="1" marL="7429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Calibri"/>
                <a:ea typeface="Calibri"/>
                <a:cs typeface="Calibri"/>
                <a:sym typeface="Calibri"/>
              </a:rPr>
              <a:t>All processors are allowed to run a </a:t>
            </a:r>
            <a:r>
              <a:rPr b="1" i="0" lang="en-IN" sz="2000" u="sng" cap="none" strike="noStrike">
                <a:solidFill>
                  <a:schemeClr val="dk1"/>
                </a:solidFill>
                <a:latin typeface="Calibri"/>
                <a:ea typeface="Calibri"/>
                <a:cs typeface="Calibri"/>
                <a:sym typeface="Calibri"/>
              </a:rPr>
              <a:t>mixture of application and operating system code. </a:t>
            </a:r>
            <a:endParaRPr/>
          </a:p>
          <a:p>
            <a:pPr indent="-285750" lvl="1" marL="742950" marR="0" rtl="0" algn="l">
              <a:spcBef>
                <a:spcPts val="0"/>
              </a:spcBef>
              <a:spcAft>
                <a:spcPts val="0"/>
              </a:spcAft>
              <a:buClr>
                <a:schemeClr val="dk1"/>
              </a:buClr>
              <a:buSzPts val="2000"/>
              <a:buFont typeface="Arial"/>
              <a:buChar char="•"/>
            </a:pPr>
            <a:r>
              <a:rPr b="1" i="0" lang="en-IN" sz="2000" u="sng" cap="none" strike="noStrike">
                <a:solidFill>
                  <a:schemeClr val="dk1"/>
                </a:solidFill>
                <a:latin typeface="Calibri"/>
                <a:ea typeface="Calibri"/>
                <a:cs typeface="Calibri"/>
                <a:sym typeface="Calibri"/>
              </a:rPr>
              <a:t>A processor failure in the SMP model only reduces the computing capacity of the system.</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5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612" name="Google Shape;612;p5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613" name="Google Shape;613;p5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614" name="Google Shape;614;p52"/>
          <p:cNvPicPr preferRelativeResize="0"/>
          <p:nvPr/>
        </p:nvPicPr>
        <p:blipFill rotWithShape="1">
          <a:blip r:embed="rId3">
            <a:alphaModFix/>
          </a:blip>
          <a:srcRect b="0" l="0" r="0" t="0"/>
          <a:stretch/>
        </p:blipFill>
        <p:spPr>
          <a:xfrm>
            <a:off x="367506" y="1124744"/>
            <a:ext cx="8031323" cy="5400819"/>
          </a:xfrm>
          <a:prstGeom prst="rect">
            <a:avLst/>
          </a:prstGeom>
          <a:noFill/>
          <a:ln>
            <a:noFill/>
          </a:ln>
        </p:spPr>
      </p:pic>
      <p:sp>
        <p:nvSpPr>
          <p:cNvPr id="615" name="Google Shape;615;p52"/>
          <p:cNvSpPr/>
          <p:nvPr/>
        </p:nvSpPr>
        <p:spPr>
          <a:xfrm>
            <a:off x="160409" y="15950"/>
            <a:ext cx="8092923"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200">
                <a:solidFill>
                  <a:schemeClr val="dk1"/>
                </a:solidFill>
                <a:latin typeface="Calibri"/>
                <a:ea typeface="Calibri"/>
                <a:cs typeface="Calibri"/>
                <a:sym typeface="Calibri"/>
              </a:rPr>
              <a:t>Difference Between Asymmetric and Symmetric Multiprocessing</a:t>
            </a:r>
            <a:r>
              <a:rPr b="1" lang="en-IN"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616" name="Google Shape;616;p52"/>
          <p:cNvSpPr/>
          <p:nvPr/>
        </p:nvSpPr>
        <p:spPr>
          <a:xfrm>
            <a:off x="539552" y="1556792"/>
            <a:ext cx="8280920" cy="1602621"/>
          </a:xfrm>
          <a:prstGeom prst="rect">
            <a:avLst/>
          </a:prstGeom>
          <a:noFill/>
          <a:ln cap="flat" cmpd="sng" w="381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5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622" name="Google Shape;622;p5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623" name="Google Shape;623;p5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624" name="Google Shape;624;p53"/>
          <p:cNvSpPr txBox="1"/>
          <p:nvPr>
            <p:ph idx="4294967295" type="title"/>
          </p:nvPr>
        </p:nvSpPr>
        <p:spPr>
          <a:xfrm>
            <a:off x="0" y="204788"/>
            <a:ext cx="8229600"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b="1" lang="en-IN" sz="3200"/>
              <a:t>Distributed Systems</a:t>
            </a:r>
            <a:endParaRPr b="1" sz="3200"/>
          </a:p>
        </p:txBody>
      </p:sp>
      <p:sp>
        <p:nvSpPr>
          <p:cNvPr id="625" name="Google Shape;625;p53"/>
          <p:cNvSpPr txBox="1"/>
          <p:nvPr>
            <p:ph idx="4294967295" type="body"/>
          </p:nvPr>
        </p:nvSpPr>
        <p:spPr>
          <a:xfrm>
            <a:off x="0" y="781050"/>
            <a:ext cx="7920038" cy="5743575"/>
          </a:xfrm>
          <a:prstGeom prst="rect">
            <a:avLst/>
          </a:prstGeom>
          <a:noFill/>
          <a:ln>
            <a:noFill/>
          </a:ln>
        </p:spPr>
        <p:txBody>
          <a:bodyPr anchorCtr="0" anchor="t" bIns="45700" lIns="0" spcFirstLastPara="1" rIns="0" wrap="square" tIns="45700">
            <a:normAutofit lnSpcReduction="10000"/>
          </a:bodyPr>
          <a:lstStyle/>
          <a:p>
            <a:pPr indent="-127000" lvl="0" marL="91440" rtl="0" algn="l">
              <a:lnSpc>
                <a:spcPct val="90000"/>
              </a:lnSpc>
              <a:spcBef>
                <a:spcPts val="0"/>
              </a:spcBef>
              <a:spcAft>
                <a:spcPts val="0"/>
              </a:spcAft>
              <a:buSzPts val="2000"/>
              <a:buChar char=" "/>
            </a:pPr>
            <a:r>
              <a:rPr lang="en-IN" sz="2000"/>
              <a:t>Collection of separate, possibly heterogeneous, systems networked together</a:t>
            </a:r>
            <a:endParaRPr/>
          </a:p>
          <a:p>
            <a:pPr indent="-182880" lvl="1" marL="384048" rtl="0" algn="l">
              <a:lnSpc>
                <a:spcPct val="90000"/>
              </a:lnSpc>
              <a:spcBef>
                <a:spcPts val="400"/>
              </a:spcBef>
              <a:spcAft>
                <a:spcPts val="0"/>
              </a:spcAft>
              <a:buSzPts val="1800"/>
              <a:buChar char="◦"/>
            </a:pPr>
            <a:r>
              <a:rPr b="1" lang="en-IN">
                <a:solidFill>
                  <a:srgbClr val="3366FF"/>
                </a:solidFill>
              </a:rPr>
              <a:t>Network</a:t>
            </a:r>
            <a:r>
              <a:rPr lang="en-IN"/>
              <a:t> is a communications path, </a:t>
            </a:r>
            <a:endParaRPr/>
          </a:p>
          <a:p>
            <a:pPr indent="-182880" lvl="1" marL="384048" rtl="0" algn="l">
              <a:lnSpc>
                <a:spcPct val="90000"/>
              </a:lnSpc>
              <a:spcBef>
                <a:spcPts val="600"/>
              </a:spcBef>
              <a:spcAft>
                <a:spcPts val="0"/>
              </a:spcAft>
              <a:buSzPts val="1800"/>
              <a:buChar char="◦"/>
            </a:pPr>
            <a:r>
              <a:rPr b="1" lang="en-IN">
                <a:solidFill>
                  <a:srgbClr val="3366FF"/>
                </a:solidFill>
              </a:rPr>
              <a:t>TCP/IP </a:t>
            </a:r>
            <a:r>
              <a:rPr lang="en-IN"/>
              <a:t>most common network protocol</a:t>
            </a:r>
            <a:endParaRPr/>
          </a:p>
          <a:p>
            <a:pPr indent="-182880" lvl="1" marL="384048" rtl="0" algn="l">
              <a:lnSpc>
                <a:spcPct val="90000"/>
              </a:lnSpc>
              <a:spcBef>
                <a:spcPts val="600"/>
              </a:spcBef>
              <a:spcAft>
                <a:spcPts val="0"/>
              </a:spcAft>
              <a:buSzPts val="1800"/>
              <a:buChar char="◦"/>
            </a:pPr>
            <a:r>
              <a:rPr lang="en-IN"/>
              <a:t>Most OS support TCP/IP including the Windows and UNIX OS.</a:t>
            </a:r>
            <a:endParaRPr/>
          </a:p>
          <a:p>
            <a:pPr indent="-127000" lvl="0" marL="91440" rtl="0" algn="l">
              <a:lnSpc>
                <a:spcPct val="90000"/>
              </a:lnSpc>
              <a:spcBef>
                <a:spcPts val="1600"/>
              </a:spcBef>
              <a:spcAft>
                <a:spcPts val="0"/>
              </a:spcAft>
              <a:buSzPts val="2000"/>
              <a:buChar char=" "/>
            </a:pPr>
            <a:r>
              <a:rPr lang="en-IN" sz="2000"/>
              <a:t>Networks are typecast based on the distances between their nodes</a:t>
            </a:r>
            <a:endParaRPr/>
          </a:p>
          <a:p>
            <a:pPr indent="-182880" lvl="1" marL="384048" rtl="0" algn="l">
              <a:lnSpc>
                <a:spcPct val="90000"/>
              </a:lnSpc>
              <a:spcBef>
                <a:spcPts val="400"/>
              </a:spcBef>
              <a:spcAft>
                <a:spcPts val="0"/>
              </a:spcAft>
              <a:buSzPts val="1800"/>
              <a:buChar char="◦"/>
            </a:pPr>
            <a:r>
              <a:rPr b="1" lang="en-IN">
                <a:solidFill>
                  <a:srgbClr val="3366FF"/>
                </a:solidFill>
              </a:rPr>
              <a:t>Personal Area Network </a:t>
            </a:r>
            <a:r>
              <a:rPr lang="en-IN"/>
              <a:t>(</a:t>
            </a:r>
            <a:r>
              <a:rPr b="1" lang="en-IN">
                <a:solidFill>
                  <a:srgbClr val="3366FF"/>
                </a:solidFill>
              </a:rPr>
              <a:t>PAN</a:t>
            </a:r>
            <a:r>
              <a:rPr lang="en-IN"/>
              <a:t>)-Short distance of several feet like Bluetooth Devices</a:t>
            </a:r>
            <a:endParaRPr/>
          </a:p>
          <a:p>
            <a:pPr indent="-182880" lvl="1" marL="384048" rtl="0" algn="l">
              <a:lnSpc>
                <a:spcPct val="90000"/>
              </a:lnSpc>
              <a:spcBef>
                <a:spcPts val="600"/>
              </a:spcBef>
              <a:spcAft>
                <a:spcPts val="0"/>
              </a:spcAft>
              <a:buSzPts val="1800"/>
              <a:buChar char="◦"/>
            </a:pPr>
            <a:r>
              <a:rPr b="1" lang="en-IN">
                <a:solidFill>
                  <a:srgbClr val="3366FF"/>
                </a:solidFill>
              </a:rPr>
              <a:t>Local Area Network </a:t>
            </a:r>
            <a:r>
              <a:rPr lang="en-IN"/>
              <a:t>(</a:t>
            </a:r>
            <a:r>
              <a:rPr b="1" lang="en-IN">
                <a:solidFill>
                  <a:srgbClr val="3366FF"/>
                </a:solidFill>
              </a:rPr>
              <a:t>LAN</a:t>
            </a:r>
            <a:r>
              <a:rPr lang="en-IN"/>
              <a:t>)- within a room, a floor, or a building</a:t>
            </a:r>
            <a:endParaRPr/>
          </a:p>
          <a:p>
            <a:pPr indent="-182880" lvl="1" marL="384048" rtl="0" algn="l">
              <a:lnSpc>
                <a:spcPct val="90000"/>
              </a:lnSpc>
              <a:spcBef>
                <a:spcPts val="600"/>
              </a:spcBef>
              <a:spcAft>
                <a:spcPts val="0"/>
              </a:spcAft>
              <a:buSzPts val="1800"/>
              <a:buChar char="◦"/>
            </a:pPr>
            <a:r>
              <a:rPr b="1" lang="en-IN">
                <a:solidFill>
                  <a:srgbClr val="3366FF"/>
                </a:solidFill>
              </a:rPr>
              <a:t>Metropolitan Area Network </a:t>
            </a:r>
            <a:r>
              <a:rPr lang="en-IN"/>
              <a:t>(</a:t>
            </a:r>
            <a:r>
              <a:rPr b="1" lang="en-IN">
                <a:solidFill>
                  <a:srgbClr val="3366FF"/>
                </a:solidFill>
              </a:rPr>
              <a:t>MAN</a:t>
            </a:r>
            <a:r>
              <a:rPr lang="en-IN"/>
              <a:t>)-link building within a city</a:t>
            </a:r>
            <a:endParaRPr b="1">
              <a:solidFill>
                <a:srgbClr val="3366FF"/>
              </a:solidFill>
            </a:endParaRPr>
          </a:p>
          <a:p>
            <a:pPr indent="-182880" lvl="1" marL="384048" rtl="0" algn="l">
              <a:lnSpc>
                <a:spcPct val="90000"/>
              </a:lnSpc>
              <a:spcBef>
                <a:spcPts val="600"/>
              </a:spcBef>
              <a:spcAft>
                <a:spcPts val="0"/>
              </a:spcAft>
              <a:buSzPts val="1800"/>
              <a:buChar char="◦"/>
            </a:pPr>
            <a:r>
              <a:rPr b="1" lang="en-IN">
                <a:solidFill>
                  <a:srgbClr val="3366FF"/>
                </a:solidFill>
              </a:rPr>
              <a:t>Wide Area Network </a:t>
            </a:r>
            <a:r>
              <a:rPr lang="en-IN"/>
              <a:t>(</a:t>
            </a:r>
            <a:r>
              <a:rPr b="1" lang="en-IN">
                <a:solidFill>
                  <a:srgbClr val="3366FF"/>
                </a:solidFill>
              </a:rPr>
              <a:t>WAN</a:t>
            </a:r>
            <a:r>
              <a:rPr lang="en-IN"/>
              <a:t>)- exists between buildings, cities or countries</a:t>
            </a:r>
            <a:endParaRPr/>
          </a:p>
          <a:p>
            <a:pPr indent="-127000" lvl="0" marL="91440" rtl="0" algn="l">
              <a:lnSpc>
                <a:spcPct val="90000"/>
              </a:lnSpc>
              <a:spcBef>
                <a:spcPts val="1600"/>
              </a:spcBef>
              <a:spcAft>
                <a:spcPts val="0"/>
              </a:spcAft>
              <a:buSzPts val="2000"/>
              <a:buChar char=" "/>
            </a:pPr>
            <a:r>
              <a:rPr b="1" lang="en-IN" sz="2000">
                <a:solidFill>
                  <a:srgbClr val="3366FF"/>
                </a:solidFill>
              </a:rPr>
              <a:t>Network Operating System </a:t>
            </a:r>
            <a:r>
              <a:rPr lang="en-IN" sz="2000"/>
              <a:t>provides features between systems across network</a:t>
            </a:r>
            <a:endParaRPr/>
          </a:p>
          <a:p>
            <a:pPr indent="-182880" lvl="1" marL="384048" rtl="0" algn="l">
              <a:lnSpc>
                <a:spcPct val="90000"/>
              </a:lnSpc>
              <a:spcBef>
                <a:spcPts val="400"/>
              </a:spcBef>
              <a:spcAft>
                <a:spcPts val="0"/>
              </a:spcAft>
              <a:buSzPts val="1800"/>
              <a:buChar char="◦"/>
            </a:pPr>
            <a:r>
              <a:rPr lang="en-IN"/>
              <a:t>Communication scheme allows systems to exchange messages</a:t>
            </a:r>
            <a:endParaRPr/>
          </a:p>
          <a:p>
            <a:pPr indent="-182880" lvl="1" marL="384048" rtl="0" algn="l">
              <a:lnSpc>
                <a:spcPct val="90000"/>
              </a:lnSpc>
              <a:spcBef>
                <a:spcPts val="600"/>
              </a:spcBef>
              <a:spcAft>
                <a:spcPts val="0"/>
              </a:spcAft>
              <a:buSzPts val="1800"/>
              <a:buChar char="◦"/>
            </a:pPr>
            <a:r>
              <a:rPr lang="en-IN"/>
              <a:t>Illusion of a single system</a:t>
            </a:r>
            <a:endParaRPr/>
          </a:p>
          <a:p>
            <a:pPr indent="-127000" lvl="0" marL="91440" rtl="0" algn="l">
              <a:lnSpc>
                <a:spcPct val="90000"/>
              </a:lnSpc>
              <a:spcBef>
                <a:spcPts val="1600"/>
              </a:spcBef>
              <a:spcAft>
                <a:spcPts val="0"/>
              </a:spcAft>
              <a:buSzPts val="2000"/>
              <a:buChar char=" "/>
            </a:pPr>
            <a:r>
              <a:rPr lang="en-IN"/>
              <a:t>Types</a:t>
            </a:r>
            <a:endParaRPr/>
          </a:p>
          <a:p>
            <a:pPr indent="-182880" lvl="1" marL="384048" rtl="0" algn="l">
              <a:lnSpc>
                <a:spcPct val="90000"/>
              </a:lnSpc>
              <a:spcBef>
                <a:spcPts val="400"/>
              </a:spcBef>
              <a:spcAft>
                <a:spcPts val="0"/>
              </a:spcAft>
              <a:buSzPts val="1800"/>
              <a:buChar char="◦"/>
            </a:pPr>
            <a:r>
              <a:rPr lang="en-IN"/>
              <a:t>Client-Server Systems</a:t>
            </a:r>
            <a:endParaRPr/>
          </a:p>
          <a:p>
            <a:pPr indent="-182880" lvl="1" marL="384048" rtl="0" algn="l">
              <a:lnSpc>
                <a:spcPct val="90000"/>
              </a:lnSpc>
              <a:spcBef>
                <a:spcPts val="600"/>
              </a:spcBef>
              <a:spcAft>
                <a:spcPts val="0"/>
              </a:spcAft>
              <a:buSzPts val="1800"/>
              <a:buChar char="◦"/>
            </a:pPr>
            <a:r>
              <a:rPr lang="en-IN"/>
              <a:t>Peer-to-Peer Systems</a:t>
            </a:r>
            <a:endParaRPr/>
          </a:p>
          <a:p>
            <a:pPr indent="-68579" lvl="1" marL="384048" rtl="0" algn="l">
              <a:lnSpc>
                <a:spcPct val="90000"/>
              </a:lnSpc>
              <a:spcBef>
                <a:spcPts val="600"/>
              </a:spcBef>
              <a:spcAft>
                <a:spcPts val="0"/>
              </a:spcAft>
              <a:buSzPts val="1800"/>
              <a:buNone/>
            </a:pPr>
            <a:r>
              <a:t/>
            </a:r>
            <a:endParaRPr/>
          </a:p>
          <a:p>
            <a:pPr indent="-68579" lvl="1" marL="384048" rtl="0" algn="l">
              <a:lnSpc>
                <a:spcPct val="90000"/>
              </a:lnSpc>
              <a:spcBef>
                <a:spcPts val="600"/>
              </a:spcBef>
              <a:spcAft>
                <a:spcPts val="0"/>
              </a:spcAft>
              <a:buSzPts val="1800"/>
              <a:buNone/>
            </a:pPr>
            <a:r>
              <a:t/>
            </a:r>
            <a:endParaRPr/>
          </a:p>
          <a:p>
            <a:pPr indent="-30479" lvl="1" marL="384048" rtl="0" algn="l">
              <a:lnSpc>
                <a:spcPct val="90000"/>
              </a:lnSpc>
              <a:spcBef>
                <a:spcPts val="600"/>
              </a:spcBef>
              <a:spcAft>
                <a:spcPts val="0"/>
              </a:spcAft>
              <a:buSzPts val="2400"/>
              <a:buNone/>
            </a:pPr>
            <a:r>
              <a:t/>
            </a:r>
            <a:endParaRPr b="1" sz="2400">
              <a:solidFill>
                <a:srgbClr val="3366FF"/>
              </a:solidFill>
            </a:endParaRPr>
          </a:p>
          <a:p>
            <a:pPr indent="-68579" lvl="1" marL="384048" rtl="0" algn="l">
              <a:lnSpc>
                <a:spcPct val="90000"/>
              </a:lnSpc>
              <a:spcBef>
                <a:spcPts val="600"/>
              </a:spcBef>
              <a:spcAft>
                <a:spcPts val="0"/>
              </a:spcAft>
              <a:buSzPts val="1800"/>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5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631" name="Google Shape;631;p5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632" name="Google Shape;632;p5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633" name="Google Shape;633;p54"/>
          <p:cNvSpPr txBox="1"/>
          <p:nvPr>
            <p:ph idx="4294967295" type="title"/>
          </p:nvPr>
        </p:nvSpPr>
        <p:spPr>
          <a:xfrm>
            <a:off x="0" y="188913"/>
            <a:ext cx="7615238" cy="576262"/>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200"/>
              <a:buFont typeface="Calibri"/>
              <a:buNone/>
            </a:pPr>
            <a:r>
              <a:rPr lang="en-IN" sz="3200"/>
              <a:t>Client-Server Systems</a:t>
            </a:r>
            <a:endParaRPr/>
          </a:p>
        </p:txBody>
      </p:sp>
      <p:sp>
        <p:nvSpPr>
          <p:cNvPr id="634" name="Google Shape;634;p54"/>
          <p:cNvSpPr/>
          <p:nvPr/>
        </p:nvSpPr>
        <p:spPr>
          <a:xfrm>
            <a:off x="251520" y="764902"/>
            <a:ext cx="8136903" cy="590445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993300"/>
              </a:buClr>
              <a:buSzPts val="1800"/>
              <a:buFont typeface="Arial"/>
              <a:buChar char="•"/>
            </a:pPr>
            <a:r>
              <a:rPr lang="en-IN" sz="2000">
                <a:solidFill>
                  <a:schemeClr val="dk1"/>
                </a:solidFill>
                <a:latin typeface="Calibri"/>
                <a:ea typeface="Calibri"/>
                <a:cs typeface="Calibri"/>
                <a:sym typeface="Calibri"/>
              </a:rPr>
              <a:t>Client-Server Computing</a:t>
            </a:r>
            <a:endParaRPr/>
          </a:p>
          <a:p>
            <a:pPr indent="-342900" lvl="1" marL="800100" marR="0" rtl="0" algn="l">
              <a:lnSpc>
                <a:spcPct val="90000"/>
              </a:lnSpc>
              <a:spcBef>
                <a:spcPts val="700"/>
              </a:spcBef>
              <a:spcAft>
                <a:spcPts val="0"/>
              </a:spcAft>
              <a:buClr>
                <a:srgbClr val="CC6600"/>
              </a:buClr>
              <a:buSzPts val="1600"/>
              <a:buFont typeface="Arial"/>
              <a:buChar char="•"/>
            </a:pPr>
            <a:r>
              <a:rPr b="0" i="0" lang="en-IN" sz="2000" u="none" cap="none" strike="noStrike">
                <a:solidFill>
                  <a:schemeClr val="dk1"/>
                </a:solidFill>
                <a:latin typeface="Calibri"/>
                <a:ea typeface="Calibri"/>
                <a:cs typeface="Calibri"/>
                <a:sym typeface="Calibri"/>
              </a:rPr>
              <a:t>Centralized system act as server systems to satisfy requests generated by client systems</a:t>
            </a:r>
            <a:endParaRPr/>
          </a:p>
          <a:p>
            <a:pPr indent="-342900" lvl="1" marL="800100" marR="0" rtl="0" algn="l">
              <a:lnSpc>
                <a:spcPct val="90000"/>
              </a:lnSpc>
              <a:spcBef>
                <a:spcPts val="700"/>
              </a:spcBef>
              <a:spcAft>
                <a:spcPts val="0"/>
              </a:spcAft>
              <a:buClr>
                <a:srgbClr val="CC6600"/>
              </a:buClr>
              <a:buSzPts val="1600"/>
              <a:buFont typeface="Arial"/>
              <a:buChar char="•"/>
            </a:pPr>
            <a:r>
              <a:rPr b="0" i="0" lang="en-IN" sz="2000" u="none" cap="none" strike="noStrike">
                <a:solidFill>
                  <a:schemeClr val="dk1"/>
                </a:solidFill>
                <a:latin typeface="Calibri"/>
                <a:ea typeface="Calibri"/>
                <a:cs typeface="Calibri"/>
                <a:sym typeface="Calibri"/>
              </a:rPr>
              <a:t>Dumb terminals supplanted by smart PCs</a:t>
            </a:r>
            <a:endParaRPr/>
          </a:p>
          <a:p>
            <a:pPr indent="-342900" lvl="1" marL="800100" marR="0" rtl="0" algn="l">
              <a:lnSpc>
                <a:spcPct val="90000"/>
              </a:lnSpc>
              <a:spcBef>
                <a:spcPts val="700"/>
              </a:spcBef>
              <a:spcAft>
                <a:spcPts val="0"/>
              </a:spcAft>
              <a:buClr>
                <a:srgbClr val="CC6600"/>
              </a:buClr>
              <a:buSzPts val="1600"/>
              <a:buFont typeface="Arial"/>
              <a:buChar char="•"/>
            </a:pPr>
            <a:r>
              <a:rPr b="0" i="0" lang="en-IN" sz="2000" u="none" cap="none" strike="noStrike">
                <a:solidFill>
                  <a:schemeClr val="dk1"/>
                </a:solidFill>
                <a:latin typeface="Calibri"/>
                <a:ea typeface="Calibri"/>
                <a:cs typeface="Calibri"/>
                <a:sym typeface="Calibri"/>
              </a:rPr>
              <a:t>User interface that used to be handled by centralized systems is handled by PCs.</a:t>
            </a:r>
            <a:endParaRPr/>
          </a:p>
        </p:txBody>
      </p:sp>
      <p:pic>
        <p:nvPicPr>
          <p:cNvPr descr="1_18.pdf" id="635" name="Google Shape;635;p54"/>
          <p:cNvPicPr preferRelativeResize="0"/>
          <p:nvPr/>
        </p:nvPicPr>
        <p:blipFill rotWithShape="1">
          <a:blip r:embed="rId3">
            <a:alphaModFix/>
          </a:blip>
          <a:srcRect b="0" l="0" r="0" t="0"/>
          <a:stretch/>
        </p:blipFill>
        <p:spPr>
          <a:xfrm>
            <a:off x="3676947" y="2838309"/>
            <a:ext cx="3631357" cy="1579340"/>
          </a:xfrm>
          <a:prstGeom prst="rect">
            <a:avLst/>
          </a:prstGeom>
          <a:noFill/>
          <a:ln>
            <a:noFill/>
          </a:ln>
        </p:spPr>
      </p:pic>
      <p:pic>
        <p:nvPicPr>
          <p:cNvPr id="636" name="Google Shape;636;p54"/>
          <p:cNvPicPr preferRelativeResize="0"/>
          <p:nvPr/>
        </p:nvPicPr>
        <p:blipFill rotWithShape="1">
          <a:blip r:embed="rId4">
            <a:alphaModFix/>
          </a:blip>
          <a:srcRect b="28182" l="38181" r="49809" t="52379"/>
          <a:stretch/>
        </p:blipFill>
        <p:spPr>
          <a:xfrm>
            <a:off x="826648" y="2852936"/>
            <a:ext cx="2651052" cy="1631417"/>
          </a:xfrm>
          <a:prstGeom prst="rect">
            <a:avLst/>
          </a:prstGeom>
          <a:noFill/>
          <a:ln>
            <a:noFill/>
          </a:ln>
        </p:spPr>
      </p:pic>
      <p:sp>
        <p:nvSpPr>
          <p:cNvPr id="637" name="Google Shape;637;p54"/>
          <p:cNvSpPr/>
          <p:nvPr/>
        </p:nvSpPr>
        <p:spPr>
          <a:xfrm>
            <a:off x="251520" y="4508252"/>
            <a:ext cx="8161445" cy="2025170"/>
          </a:xfrm>
          <a:prstGeom prst="rect">
            <a:avLst/>
          </a:prstGeom>
          <a:noFill/>
          <a:ln>
            <a:noFill/>
          </a:ln>
        </p:spPr>
        <p:txBody>
          <a:bodyPr anchorCtr="0" anchor="t" bIns="45700" lIns="91425" spcFirstLastPara="1" rIns="91425" wrap="square" tIns="45700">
            <a:spAutoFit/>
          </a:bodyPr>
          <a:lstStyle/>
          <a:p>
            <a:pPr indent="-342900" lvl="0" marL="342900" marR="0" rtl="0" algn="l">
              <a:lnSpc>
                <a:spcPct val="90000"/>
              </a:lnSpc>
              <a:spcBef>
                <a:spcPts val="0"/>
              </a:spcBef>
              <a:spcAft>
                <a:spcPts val="0"/>
              </a:spcAft>
              <a:buClr>
                <a:srgbClr val="993300"/>
              </a:buClr>
              <a:buSzPts val="2160"/>
              <a:buFont typeface="Arial"/>
              <a:buChar char="•"/>
            </a:pPr>
            <a:r>
              <a:rPr lang="en-IN" sz="2400">
                <a:solidFill>
                  <a:schemeClr val="dk1"/>
                </a:solidFill>
                <a:latin typeface="Calibri"/>
                <a:ea typeface="Calibri"/>
                <a:cs typeface="Calibri"/>
                <a:sym typeface="Calibri"/>
              </a:rPr>
              <a:t>Server systems can be categorized as :</a:t>
            </a:r>
            <a:endParaRPr/>
          </a:p>
          <a:p>
            <a:pPr indent="-342900" lvl="1" marL="800100" marR="0" rtl="0" algn="l">
              <a:lnSpc>
                <a:spcPct val="90000"/>
              </a:lnSpc>
              <a:spcBef>
                <a:spcPts val="700"/>
              </a:spcBef>
              <a:spcAft>
                <a:spcPts val="0"/>
              </a:spcAft>
              <a:buClr>
                <a:srgbClr val="009900"/>
              </a:buClr>
              <a:buSzPts val="1500"/>
              <a:buFont typeface="Arial"/>
              <a:buChar char="•"/>
            </a:pPr>
            <a:r>
              <a:rPr b="1" i="0" lang="en-IN" sz="2000" u="none" cap="none" strike="noStrike">
                <a:solidFill>
                  <a:srgbClr val="3366FF"/>
                </a:solidFill>
                <a:latin typeface="Calibri"/>
                <a:ea typeface="Calibri"/>
                <a:cs typeface="Calibri"/>
                <a:sym typeface="Calibri"/>
              </a:rPr>
              <a:t>Compute-server system </a:t>
            </a:r>
            <a:r>
              <a:rPr b="0" i="0" lang="en-IN" sz="2000" u="none" cap="none" strike="noStrike">
                <a:solidFill>
                  <a:schemeClr val="dk1"/>
                </a:solidFill>
                <a:latin typeface="Calibri"/>
                <a:ea typeface="Calibri"/>
                <a:cs typeface="Calibri"/>
                <a:sym typeface="Calibri"/>
              </a:rPr>
              <a:t>provides an interface to client to request services (i.e., database), perform action, send back results to the client</a:t>
            </a:r>
            <a:endParaRPr/>
          </a:p>
          <a:p>
            <a:pPr indent="-342900" lvl="1" marL="800100" marR="0" rtl="0" algn="l">
              <a:lnSpc>
                <a:spcPct val="90000"/>
              </a:lnSpc>
              <a:spcBef>
                <a:spcPts val="700"/>
              </a:spcBef>
              <a:spcAft>
                <a:spcPts val="0"/>
              </a:spcAft>
              <a:buClr>
                <a:srgbClr val="009900"/>
              </a:buClr>
              <a:buSzPts val="1500"/>
              <a:buFont typeface="Arial"/>
              <a:buChar char="•"/>
            </a:pPr>
            <a:r>
              <a:rPr b="1" i="0" lang="en-IN" sz="2000" u="none" cap="none" strike="noStrike">
                <a:solidFill>
                  <a:srgbClr val="3366FF"/>
                </a:solidFill>
                <a:latin typeface="Calibri"/>
                <a:ea typeface="Calibri"/>
                <a:cs typeface="Calibri"/>
                <a:sym typeface="Calibri"/>
              </a:rPr>
              <a:t>File-server system </a:t>
            </a:r>
            <a:r>
              <a:rPr b="0" i="0" lang="en-IN" sz="2000" u="none" cap="none" strike="noStrike">
                <a:solidFill>
                  <a:schemeClr val="dk1"/>
                </a:solidFill>
                <a:latin typeface="Calibri"/>
                <a:ea typeface="Calibri"/>
                <a:cs typeface="Calibri"/>
                <a:sym typeface="Calibri"/>
              </a:rPr>
              <a:t>provides file system interface for clients to store and retrieve files i.e. create, update, read and delete files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5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643" name="Google Shape;643;p5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644" name="Google Shape;644;p5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645" name="Google Shape;645;p55"/>
          <p:cNvSpPr txBox="1"/>
          <p:nvPr>
            <p:ph idx="4294967295" type="title"/>
          </p:nvPr>
        </p:nvSpPr>
        <p:spPr>
          <a:xfrm>
            <a:off x="0" y="33338"/>
            <a:ext cx="7645400" cy="576262"/>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2800"/>
              <a:buFont typeface="Calibri"/>
              <a:buNone/>
            </a:pPr>
            <a:r>
              <a:rPr lang="en-IN" sz="2800"/>
              <a:t>Peer-to-Peer</a:t>
            </a:r>
            <a:endParaRPr/>
          </a:p>
        </p:txBody>
      </p:sp>
      <p:sp>
        <p:nvSpPr>
          <p:cNvPr id="646" name="Google Shape;646;p55"/>
          <p:cNvSpPr txBox="1"/>
          <p:nvPr>
            <p:ph idx="4294967295" type="body"/>
          </p:nvPr>
        </p:nvSpPr>
        <p:spPr>
          <a:xfrm>
            <a:off x="0" y="549275"/>
            <a:ext cx="8342313" cy="5949950"/>
          </a:xfrm>
          <a:prstGeom prst="rect">
            <a:avLst/>
          </a:prstGeom>
          <a:noFill/>
          <a:ln>
            <a:noFill/>
          </a:ln>
        </p:spPr>
        <p:txBody>
          <a:bodyPr anchorCtr="0" anchor="t" bIns="45700" lIns="0" spcFirstLastPara="1" rIns="0" wrap="square" tIns="45700">
            <a:noAutofit/>
          </a:bodyPr>
          <a:lstStyle/>
          <a:p>
            <a:pPr indent="-127000" lvl="0" marL="91440" rtl="0" algn="l">
              <a:lnSpc>
                <a:spcPct val="90000"/>
              </a:lnSpc>
              <a:spcBef>
                <a:spcPts val="0"/>
              </a:spcBef>
              <a:spcAft>
                <a:spcPts val="0"/>
              </a:spcAft>
              <a:buSzPts val="2000"/>
              <a:buChar char=" "/>
            </a:pPr>
            <a:r>
              <a:rPr lang="en-IN" sz="2000"/>
              <a:t>P2P does not distinguish clients and servers</a:t>
            </a:r>
            <a:endParaRPr/>
          </a:p>
          <a:p>
            <a:pPr indent="-182880" lvl="1" marL="384048" rtl="0" algn="l">
              <a:lnSpc>
                <a:spcPct val="90000"/>
              </a:lnSpc>
              <a:spcBef>
                <a:spcPts val="400"/>
              </a:spcBef>
              <a:spcAft>
                <a:spcPts val="0"/>
              </a:spcAft>
              <a:buSzPts val="1800"/>
              <a:buChar char="◦"/>
            </a:pPr>
            <a:r>
              <a:rPr lang="en-IN"/>
              <a:t>Instead </a:t>
            </a:r>
            <a:r>
              <a:rPr b="1" lang="en-IN" u="sng"/>
              <a:t>all nodes are considered peers</a:t>
            </a:r>
            <a:endParaRPr/>
          </a:p>
          <a:p>
            <a:pPr indent="-182880" lvl="1" marL="384048" rtl="0" algn="l">
              <a:lnSpc>
                <a:spcPct val="90000"/>
              </a:lnSpc>
              <a:spcBef>
                <a:spcPts val="600"/>
              </a:spcBef>
              <a:spcAft>
                <a:spcPts val="0"/>
              </a:spcAft>
              <a:buSzPts val="1800"/>
              <a:buChar char="◦"/>
            </a:pPr>
            <a:r>
              <a:rPr b="1" lang="en-IN" u="sng"/>
              <a:t>May each act as client, server or both</a:t>
            </a:r>
            <a:endParaRPr/>
          </a:p>
          <a:p>
            <a:pPr indent="-182880" lvl="1" marL="384048" rtl="0" algn="l">
              <a:lnSpc>
                <a:spcPct val="90000"/>
              </a:lnSpc>
              <a:spcBef>
                <a:spcPts val="600"/>
              </a:spcBef>
              <a:spcAft>
                <a:spcPts val="0"/>
              </a:spcAft>
              <a:buSzPts val="1800"/>
              <a:buChar char="◦"/>
            </a:pPr>
            <a:r>
              <a:rPr lang="en-IN"/>
              <a:t>Node must join P2P network</a:t>
            </a:r>
            <a:endParaRPr/>
          </a:p>
          <a:p>
            <a:pPr indent="-182880" lvl="2" marL="566928" rtl="0" algn="l">
              <a:lnSpc>
                <a:spcPct val="90000"/>
              </a:lnSpc>
              <a:spcBef>
                <a:spcPts val="600"/>
              </a:spcBef>
              <a:spcAft>
                <a:spcPts val="0"/>
              </a:spcAft>
              <a:buSzPts val="2000"/>
              <a:buChar char="◦"/>
            </a:pPr>
            <a:r>
              <a:rPr lang="en-IN" sz="2000"/>
              <a:t>Registers its service with central lookup service on network, or</a:t>
            </a:r>
            <a:endParaRPr/>
          </a:p>
          <a:p>
            <a:pPr indent="-182880" lvl="2" marL="566928" rtl="0" algn="l">
              <a:lnSpc>
                <a:spcPct val="90000"/>
              </a:lnSpc>
              <a:spcBef>
                <a:spcPts val="600"/>
              </a:spcBef>
              <a:spcAft>
                <a:spcPts val="0"/>
              </a:spcAft>
              <a:buSzPts val="2000"/>
              <a:buChar char="◦"/>
            </a:pPr>
            <a:r>
              <a:rPr lang="en-IN" sz="2000"/>
              <a:t>Broadcast request for service and respond to requests for service via </a:t>
            </a:r>
            <a:r>
              <a:rPr b="1" i="1" lang="en-IN" sz="2000"/>
              <a:t>discovery protocol</a:t>
            </a:r>
            <a:endParaRPr/>
          </a:p>
          <a:p>
            <a:pPr indent="-182880" lvl="1" marL="384048" rtl="0" algn="l">
              <a:lnSpc>
                <a:spcPct val="90000"/>
              </a:lnSpc>
              <a:spcBef>
                <a:spcPts val="600"/>
              </a:spcBef>
              <a:spcAft>
                <a:spcPts val="0"/>
              </a:spcAft>
              <a:buSzPts val="1800"/>
              <a:buChar char="◦"/>
            </a:pPr>
            <a:r>
              <a:rPr lang="en-IN"/>
              <a:t>Examples such as Skype </a:t>
            </a:r>
            <a:endParaRPr/>
          </a:p>
          <a:p>
            <a:pPr indent="-127000" lvl="0" marL="91440" rtl="0" algn="l">
              <a:lnSpc>
                <a:spcPct val="90000"/>
              </a:lnSpc>
              <a:spcBef>
                <a:spcPts val="1600"/>
              </a:spcBef>
              <a:spcAft>
                <a:spcPts val="0"/>
              </a:spcAft>
              <a:buSzPts val="2000"/>
              <a:buChar char=" "/>
            </a:pPr>
            <a:r>
              <a:rPr lang="en-IN" sz="2000"/>
              <a:t>“A communications model in which </a:t>
            </a:r>
            <a:endParaRPr/>
          </a:p>
          <a:p>
            <a:pPr indent="-182880" lvl="1" marL="384048" rtl="0" algn="l">
              <a:lnSpc>
                <a:spcPct val="90000"/>
              </a:lnSpc>
              <a:spcBef>
                <a:spcPts val="400"/>
              </a:spcBef>
              <a:spcAft>
                <a:spcPts val="0"/>
              </a:spcAft>
              <a:buSzPts val="1800"/>
              <a:buChar char="◦"/>
            </a:pPr>
            <a:r>
              <a:rPr b="1" lang="en-IN" u="sng"/>
              <a:t>each party has the same capabilities </a:t>
            </a:r>
            <a:r>
              <a:rPr lang="en-IN"/>
              <a:t>and </a:t>
            </a:r>
            <a:endParaRPr/>
          </a:p>
          <a:p>
            <a:pPr indent="-182880" lvl="1" marL="384048" rtl="0" algn="l">
              <a:lnSpc>
                <a:spcPct val="90000"/>
              </a:lnSpc>
              <a:spcBef>
                <a:spcPts val="600"/>
              </a:spcBef>
              <a:spcAft>
                <a:spcPts val="0"/>
              </a:spcAft>
              <a:buSzPts val="1800"/>
              <a:buChar char="◦"/>
            </a:pPr>
            <a:r>
              <a:rPr lang="en-IN"/>
              <a:t>either party can initiate a communication session” </a:t>
            </a:r>
            <a:endParaRPr/>
          </a:p>
          <a:p>
            <a:pPr indent="-127000" lvl="0" marL="91440" rtl="0" algn="l">
              <a:lnSpc>
                <a:spcPct val="90000"/>
              </a:lnSpc>
              <a:spcBef>
                <a:spcPts val="1600"/>
              </a:spcBef>
              <a:spcAft>
                <a:spcPts val="0"/>
              </a:spcAft>
              <a:buSzPts val="2000"/>
              <a:buChar char=" "/>
            </a:pPr>
            <a:r>
              <a:rPr lang="en-IN" sz="2000"/>
              <a:t>An alternative to the traditional client / server architecture where there typically is a single server and many clients.</a:t>
            </a:r>
            <a:endParaRPr/>
          </a:p>
          <a:p>
            <a:pPr indent="-127000" lvl="0" marL="91440" rtl="0" algn="l">
              <a:lnSpc>
                <a:spcPct val="90000"/>
              </a:lnSpc>
              <a:spcBef>
                <a:spcPts val="1400"/>
              </a:spcBef>
              <a:spcAft>
                <a:spcPts val="0"/>
              </a:spcAft>
              <a:buSzPts val="2000"/>
              <a:buChar char=" "/>
            </a:pPr>
            <a:r>
              <a:rPr lang="en-IN" sz="2000"/>
              <a:t>P2P Networks are </a:t>
            </a:r>
            <a:r>
              <a:rPr b="1" lang="en-IN" sz="2000" u="sng"/>
              <a:t>autonomous</a:t>
            </a:r>
            <a:r>
              <a:rPr lang="en-IN" sz="2000"/>
              <a:t> and self-organised with </a:t>
            </a:r>
            <a:r>
              <a:rPr b="1" lang="en-IN" sz="2000" u="sng"/>
              <a:t>free participation</a:t>
            </a:r>
            <a:r>
              <a:rPr lang="en-IN" sz="2000" u="sng"/>
              <a:t> </a:t>
            </a:r>
            <a:r>
              <a:rPr lang="en-IN" sz="2000"/>
              <a:t>from peers.</a:t>
            </a:r>
            <a:endParaRPr/>
          </a:p>
          <a:p>
            <a:pPr indent="-127000" lvl="0" marL="91440" rtl="0" algn="l">
              <a:lnSpc>
                <a:spcPct val="90000"/>
              </a:lnSpc>
              <a:spcBef>
                <a:spcPts val="1400"/>
              </a:spcBef>
              <a:spcAft>
                <a:spcPts val="0"/>
              </a:spcAft>
              <a:buSzPts val="2000"/>
              <a:buChar char=" "/>
            </a:pPr>
            <a:r>
              <a:rPr lang="en-IN" sz="2000"/>
              <a:t>A P2P computing system is formed with peer hosts that are fully </a:t>
            </a:r>
            <a:r>
              <a:rPr b="1" lang="en-IN" sz="2000" u="sng"/>
              <a:t>distributed without using a centralized server</a:t>
            </a:r>
            <a:r>
              <a:rPr b="1" lang="en-IN" sz="2000"/>
              <a:t>.</a:t>
            </a:r>
            <a:endParaRPr/>
          </a:p>
          <a:p>
            <a:pPr indent="0" lvl="0" marL="91440" rtl="0" algn="l">
              <a:lnSpc>
                <a:spcPct val="90000"/>
              </a:lnSpc>
              <a:spcBef>
                <a:spcPts val="1400"/>
              </a:spcBef>
              <a:spcAft>
                <a:spcPts val="0"/>
              </a:spcAft>
              <a:buSzPts val="2000"/>
              <a:buNone/>
            </a:pPr>
            <a:r>
              <a:t/>
            </a:r>
            <a:endParaRPr sz="2000"/>
          </a:p>
          <a:p>
            <a:pPr indent="-30479" lvl="1" marL="384048" rtl="0" algn="l">
              <a:lnSpc>
                <a:spcPct val="90000"/>
              </a:lnSpc>
              <a:spcBef>
                <a:spcPts val="400"/>
              </a:spcBef>
              <a:spcAft>
                <a:spcPts val="0"/>
              </a:spcAft>
              <a:buSzPts val="2400"/>
              <a:buNone/>
            </a:pPr>
            <a:r>
              <a:t/>
            </a:r>
            <a:endParaRPr sz="2400"/>
          </a:p>
        </p:txBody>
      </p:sp>
      <p:pic>
        <p:nvPicPr>
          <p:cNvPr descr="1_19.pdf" id="647" name="Google Shape;647;p55"/>
          <p:cNvPicPr preferRelativeResize="0"/>
          <p:nvPr/>
        </p:nvPicPr>
        <p:blipFill rotWithShape="1">
          <a:blip r:embed="rId3">
            <a:alphaModFix/>
          </a:blip>
          <a:srcRect b="0" l="0" r="0" t="0"/>
          <a:stretch/>
        </p:blipFill>
        <p:spPr>
          <a:xfrm>
            <a:off x="5940152" y="2924944"/>
            <a:ext cx="2020515" cy="1534919"/>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56"/>
          <p:cNvSpPr txBox="1"/>
          <p:nvPr>
            <p:ph type="title"/>
          </p:nvPr>
        </p:nvSpPr>
        <p:spPr>
          <a:xfrm>
            <a:off x="179512" y="119534"/>
            <a:ext cx="7620000" cy="49006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sz="3200"/>
              <a:t>P2P Networks</a:t>
            </a:r>
            <a:endParaRPr sz="3200"/>
          </a:p>
        </p:txBody>
      </p:sp>
      <p:sp>
        <p:nvSpPr>
          <p:cNvPr id="653" name="Google Shape;653;p56"/>
          <p:cNvSpPr txBox="1"/>
          <p:nvPr>
            <p:ph idx="1" type="body"/>
          </p:nvPr>
        </p:nvSpPr>
        <p:spPr>
          <a:xfrm>
            <a:off x="179512" y="609600"/>
            <a:ext cx="7620000" cy="5915744"/>
          </a:xfrm>
          <a:prstGeom prst="rect">
            <a:avLst/>
          </a:prstGeom>
          <a:noFill/>
          <a:ln>
            <a:noFill/>
          </a:ln>
        </p:spPr>
        <p:txBody>
          <a:bodyPr anchorCtr="0" anchor="t" bIns="45700" lIns="0" spcFirstLastPara="1" rIns="0" wrap="square" tIns="45700">
            <a:noAutofit/>
          </a:bodyPr>
          <a:lstStyle/>
          <a:p>
            <a:pPr indent="-127000" lvl="0" marL="91440" rtl="0" algn="l">
              <a:lnSpc>
                <a:spcPct val="90000"/>
              </a:lnSpc>
              <a:spcBef>
                <a:spcPts val="0"/>
              </a:spcBef>
              <a:spcAft>
                <a:spcPts val="0"/>
              </a:spcAft>
              <a:buSzPts val="2000"/>
              <a:buChar char=" "/>
            </a:pPr>
            <a:r>
              <a:rPr lang="en-IN" sz="2000"/>
              <a:t>Used widely in </a:t>
            </a:r>
            <a:endParaRPr/>
          </a:p>
          <a:p>
            <a:pPr indent="-182880" lvl="1" marL="384048" rtl="0" algn="l">
              <a:lnSpc>
                <a:spcPct val="90000"/>
              </a:lnSpc>
              <a:spcBef>
                <a:spcPts val="400"/>
              </a:spcBef>
              <a:spcAft>
                <a:spcPts val="0"/>
              </a:spcAft>
              <a:buSzPts val="1800"/>
              <a:buChar char="◦"/>
            </a:pPr>
            <a:r>
              <a:rPr lang="en-IN"/>
              <a:t>Messaging, </a:t>
            </a:r>
            <a:endParaRPr/>
          </a:p>
          <a:p>
            <a:pPr indent="-182880" lvl="1" marL="384048" rtl="0" algn="l">
              <a:lnSpc>
                <a:spcPct val="90000"/>
              </a:lnSpc>
              <a:spcBef>
                <a:spcPts val="600"/>
              </a:spcBef>
              <a:spcAft>
                <a:spcPts val="0"/>
              </a:spcAft>
              <a:buSzPts val="1800"/>
              <a:buChar char="◦"/>
            </a:pPr>
            <a:r>
              <a:rPr lang="en-IN"/>
              <a:t>Online Chatting, </a:t>
            </a:r>
            <a:endParaRPr/>
          </a:p>
          <a:p>
            <a:pPr indent="-182880" lvl="1" marL="384048" rtl="0" algn="l">
              <a:lnSpc>
                <a:spcPct val="90000"/>
              </a:lnSpc>
              <a:spcBef>
                <a:spcPts val="600"/>
              </a:spcBef>
              <a:spcAft>
                <a:spcPts val="0"/>
              </a:spcAft>
              <a:buSzPts val="1800"/>
              <a:buChar char="◦"/>
            </a:pPr>
            <a:r>
              <a:rPr lang="en-IN"/>
              <a:t>Video streaming and </a:t>
            </a:r>
            <a:endParaRPr/>
          </a:p>
          <a:p>
            <a:pPr indent="-182880" lvl="1" marL="384048" rtl="0" algn="l">
              <a:lnSpc>
                <a:spcPct val="90000"/>
              </a:lnSpc>
              <a:spcBef>
                <a:spcPts val="600"/>
              </a:spcBef>
              <a:spcAft>
                <a:spcPts val="0"/>
              </a:spcAft>
              <a:buSzPts val="1800"/>
              <a:buChar char="◦"/>
            </a:pPr>
            <a:r>
              <a:rPr lang="en-IN"/>
              <a:t>social networking.</a:t>
            </a:r>
            <a:endParaRPr/>
          </a:p>
          <a:p>
            <a:pPr indent="-152400" lvl="0" marL="91440" rtl="0" algn="l">
              <a:lnSpc>
                <a:spcPct val="90000"/>
              </a:lnSpc>
              <a:spcBef>
                <a:spcPts val="1600"/>
              </a:spcBef>
              <a:spcAft>
                <a:spcPts val="0"/>
              </a:spcAft>
              <a:buSzPts val="2400"/>
              <a:buChar char=" "/>
            </a:pPr>
            <a:r>
              <a:rPr lang="en-IN" sz="2400"/>
              <a:t>Participating peers, all play </a:t>
            </a:r>
            <a:r>
              <a:rPr b="1" lang="en-IN" sz="2400" u="sng"/>
              <a:t>equal roles. They exchange resources with one another directly.</a:t>
            </a:r>
            <a:endParaRPr/>
          </a:p>
          <a:p>
            <a:pPr indent="-152400" lvl="0" marL="91440" rtl="0" algn="l">
              <a:lnSpc>
                <a:spcPct val="90000"/>
              </a:lnSpc>
              <a:spcBef>
                <a:spcPts val="1400"/>
              </a:spcBef>
              <a:spcAft>
                <a:spcPts val="0"/>
              </a:spcAft>
              <a:buSzPts val="2400"/>
              <a:buChar char=" "/>
            </a:pPr>
            <a:r>
              <a:rPr b="1" lang="en-IN" sz="2400" u="sng"/>
              <a:t>No peer has global view</a:t>
            </a:r>
            <a:r>
              <a:rPr lang="en-IN" sz="2400" u="sng"/>
              <a:t> </a:t>
            </a:r>
            <a:r>
              <a:rPr lang="en-IN" sz="2400"/>
              <a:t>of the entire system.</a:t>
            </a:r>
            <a:endParaRPr/>
          </a:p>
          <a:p>
            <a:pPr indent="-152400" lvl="0" marL="91440" rtl="0" algn="l">
              <a:lnSpc>
                <a:spcPct val="90000"/>
              </a:lnSpc>
              <a:spcBef>
                <a:spcPts val="1400"/>
              </a:spcBef>
              <a:spcAft>
                <a:spcPts val="0"/>
              </a:spcAft>
              <a:buSzPts val="2400"/>
              <a:buChar char=" "/>
            </a:pPr>
            <a:r>
              <a:rPr lang="en-IN" sz="2400"/>
              <a:t>Peers act as </a:t>
            </a:r>
            <a:r>
              <a:rPr b="1" lang="en-IN" sz="2400" u="sng"/>
              <a:t>both servers and clients.</a:t>
            </a:r>
            <a:endParaRPr/>
          </a:p>
          <a:p>
            <a:pPr indent="0" lvl="0" marL="91440" rtl="0" algn="l">
              <a:lnSpc>
                <a:spcPct val="90000"/>
              </a:lnSpc>
              <a:spcBef>
                <a:spcPts val="1400"/>
              </a:spcBef>
              <a:spcAft>
                <a:spcPts val="0"/>
              </a:spcAft>
              <a:buSzPts val="2400"/>
              <a:buNone/>
            </a:pPr>
            <a:r>
              <a:t/>
            </a:r>
            <a:endParaRPr b="1" sz="2400" u="sng"/>
          </a:p>
          <a:p>
            <a:pPr indent="-68579" lvl="1" marL="384048" rtl="0" algn="l">
              <a:lnSpc>
                <a:spcPct val="90000"/>
              </a:lnSpc>
              <a:spcBef>
                <a:spcPts val="400"/>
              </a:spcBef>
              <a:spcAft>
                <a:spcPts val="0"/>
              </a:spcAft>
              <a:buSzPts val="1800"/>
              <a:buNone/>
            </a:pPr>
            <a:r>
              <a:t/>
            </a:r>
            <a:endParaRPr/>
          </a:p>
        </p:txBody>
      </p:sp>
      <p:sp>
        <p:nvSpPr>
          <p:cNvPr id="654" name="Google Shape;654;p5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655" name="Google Shape;655;p5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656" name="Google Shape;656;p5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657" name="Google Shape;657;p56"/>
          <p:cNvPicPr preferRelativeResize="0"/>
          <p:nvPr/>
        </p:nvPicPr>
        <p:blipFill rotWithShape="1">
          <a:blip r:embed="rId3">
            <a:alphaModFix/>
          </a:blip>
          <a:srcRect b="28182" l="38181" r="37799" t="52379"/>
          <a:stretch/>
        </p:blipFill>
        <p:spPr>
          <a:xfrm>
            <a:off x="1043608" y="4437112"/>
            <a:ext cx="5616624" cy="1728192"/>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57"/>
          <p:cNvSpPr txBox="1"/>
          <p:nvPr>
            <p:ph idx="1" type="body"/>
          </p:nvPr>
        </p:nvSpPr>
        <p:spPr>
          <a:xfrm>
            <a:off x="262304" y="87547"/>
            <a:ext cx="4040188" cy="639762"/>
          </a:xfrm>
          <a:prstGeom prst="rect">
            <a:avLst/>
          </a:prstGeom>
          <a:noFill/>
          <a:ln>
            <a:noFill/>
          </a:ln>
        </p:spPr>
        <p:txBody>
          <a:bodyPr anchorCtr="0" anchor="ctr" bIns="45700" lIns="91425" spcFirstLastPara="1" rIns="91425" wrap="square" tIns="45700">
            <a:normAutofit fontScale="92500"/>
          </a:bodyPr>
          <a:lstStyle/>
          <a:p>
            <a:pPr indent="0" lvl="0" marL="0" rtl="0" algn="l">
              <a:lnSpc>
                <a:spcPct val="90000"/>
              </a:lnSpc>
              <a:spcBef>
                <a:spcPts val="0"/>
              </a:spcBef>
              <a:spcAft>
                <a:spcPts val="0"/>
              </a:spcAft>
              <a:buSzPct val="100000"/>
              <a:buNone/>
            </a:pPr>
            <a:r>
              <a:rPr lang="en-IN" sz="2800"/>
              <a:t>MULTIPROCESSOR SYSTEMS</a:t>
            </a:r>
            <a:endParaRPr sz="2800"/>
          </a:p>
        </p:txBody>
      </p:sp>
      <p:sp>
        <p:nvSpPr>
          <p:cNvPr id="663" name="Google Shape;663;p57"/>
          <p:cNvSpPr txBox="1"/>
          <p:nvPr>
            <p:ph idx="2" type="body"/>
          </p:nvPr>
        </p:nvSpPr>
        <p:spPr>
          <a:xfrm>
            <a:off x="262304" y="815410"/>
            <a:ext cx="4040188" cy="4482924"/>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en-IN"/>
              <a:t>Tightly coupled System</a:t>
            </a:r>
            <a:endParaRPr b="1"/>
          </a:p>
          <a:p>
            <a:pPr indent="-127000" lvl="0" marL="91440" rtl="0" algn="l">
              <a:lnSpc>
                <a:spcPct val="90000"/>
              </a:lnSpc>
              <a:spcBef>
                <a:spcPts val="1400"/>
              </a:spcBef>
              <a:spcAft>
                <a:spcPts val="0"/>
              </a:spcAft>
              <a:buSzPts val="2000"/>
              <a:buChar char=" "/>
            </a:pPr>
            <a:r>
              <a:rPr lang="en-IN"/>
              <a:t>More than one processor in close communication</a:t>
            </a:r>
            <a:endParaRPr/>
          </a:p>
          <a:p>
            <a:pPr indent="-127000" lvl="0" marL="91440" rtl="0" algn="l">
              <a:lnSpc>
                <a:spcPct val="90000"/>
              </a:lnSpc>
              <a:spcBef>
                <a:spcPts val="1400"/>
              </a:spcBef>
              <a:spcAft>
                <a:spcPts val="0"/>
              </a:spcAft>
              <a:buSzPts val="2000"/>
              <a:buChar char=" "/>
            </a:pPr>
            <a:r>
              <a:rPr lang="en-IN"/>
              <a:t>Sharing the computer bus, the clock and sometimes memory and peripheral devices.</a:t>
            </a:r>
            <a:endParaRPr/>
          </a:p>
          <a:p>
            <a:pPr indent="0" lvl="0" marL="91440" rtl="0" algn="l">
              <a:lnSpc>
                <a:spcPct val="90000"/>
              </a:lnSpc>
              <a:spcBef>
                <a:spcPts val="1400"/>
              </a:spcBef>
              <a:spcAft>
                <a:spcPts val="0"/>
              </a:spcAft>
              <a:buSzPts val="2000"/>
              <a:buNone/>
            </a:pPr>
            <a:r>
              <a:t/>
            </a:r>
            <a:endParaRPr/>
          </a:p>
        </p:txBody>
      </p:sp>
      <p:sp>
        <p:nvSpPr>
          <p:cNvPr id="664" name="Google Shape;664;p57"/>
          <p:cNvSpPr txBox="1"/>
          <p:nvPr>
            <p:ph idx="3" type="body"/>
          </p:nvPr>
        </p:nvSpPr>
        <p:spPr>
          <a:xfrm>
            <a:off x="4716015" y="248074"/>
            <a:ext cx="3628253" cy="525827"/>
          </a:xfrm>
          <a:prstGeom prst="rect">
            <a:avLst/>
          </a:prstGeom>
          <a:noFill/>
          <a:ln>
            <a:noFill/>
          </a:ln>
        </p:spPr>
        <p:txBody>
          <a:bodyPr anchorCtr="0" anchor="ctr" bIns="45700" lIns="91425" spcFirstLastPara="1" rIns="91425" wrap="square" tIns="45700">
            <a:normAutofit fontScale="85000" lnSpcReduction="10000"/>
          </a:bodyPr>
          <a:lstStyle/>
          <a:p>
            <a:pPr indent="0" lvl="0" marL="0" rtl="0" algn="l">
              <a:lnSpc>
                <a:spcPct val="90000"/>
              </a:lnSpc>
              <a:spcBef>
                <a:spcPts val="0"/>
              </a:spcBef>
              <a:spcAft>
                <a:spcPts val="0"/>
              </a:spcAft>
              <a:buSzPct val="100000"/>
              <a:buNone/>
            </a:pPr>
            <a:r>
              <a:rPr lang="en-IN" sz="3200"/>
              <a:t>DISTRIBUTED SYSTEMS</a:t>
            </a:r>
            <a:endParaRPr sz="3200"/>
          </a:p>
        </p:txBody>
      </p:sp>
      <p:sp>
        <p:nvSpPr>
          <p:cNvPr id="665" name="Google Shape;665;p57"/>
          <p:cNvSpPr txBox="1"/>
          <p:nvPr>
            <p:ph idx="4" type="body"/>
          </p:nvPr>
        </p:nvSpPr>
        <p:spPr>
          <a:xfrm>
            <a:off x="4509253" y="727309"/>
            <a:ext cx="4041775" cy="4641379"/>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en-IN"/>
              <a:t>Loosely Coupled Systems</a:t>
            </a:r>
            <a:endParaRPr/>
          </a:p>
          <a:p>
            <a:pPr indent="-127000" lvl="0" marL="91440" rtl="0" algn="l">
              <a:lnSpc>
                <a:spcPct val="90000"/>
              </a:lnSpc>
              <a:spcBef>
                <a:spcPts val="1400"/>
              </a:spcBef>
              <a:spcAft>
                <a:spcPts val="0"/>
              </a:spcAft>
              <a:buSzPts val="2000"/>
              <a:buChar char=" "/>
            </a:pPr>
            <a:r>
              <a:rPr lang="en-IN"/>
              <a:t>Collection of processors</a:t>
            </a:r>
            <a:endParaRPr/>
          </a:p>
          <a:p>
            <a:pPr indent="-127000" lvl="0" marL="91440" rtl="0" algn="l">
              <a:lnSpc>
                <a:spcPct val="90000"/>
              </a:lnSpc>
              <a:spcBef>
                <a:spcPts val="1400"/>
              </a:spcBef>
              <a:spcAft>
                <a:spcPts val="0"/>
              </a:spcAft>
              <a:buSzPts val="2000"/>
              <a:buChar char=" "/>
            </a:pPr>
            <a:r>
              <a:rPr b="1" lang="en-IN"/>
              <a:t>Do not share memory or a clock.</a:t>
            </a:r>
            <a:endParaRPr/>
          </a:p>
          <a:p>
            <a:pPr indent="-127000" lvl="0" marL="91440" rtl="0" algn="l">
              <a:lnSpc>
                <a:spcPct val="90000"/>
              </a:lnSpc>
              <a:spcBef>
                <a:spcPts val="1400"/>
              </a:spcBef>
              <a:spcAft>
                <a:spcPts val="0"/>
              </a:spcAft>
              <a:buSzPts val="2000"/>
              <a:buChar char=" "/>
            </a:pPr>
            <a:r>
              <a:rPr b="1" lang="en-IN"/>
              <a:t>Each processor has its own local memory.</a:t>
            </a:r>
            <a:endParaRPr/>
          </a:p>
          <a:p>
            <a:pPr indent="-127000" lvl="0" marL="91440" rtl="0" algn="l">
              <a:lnSpc>
                <a:spcPct val="90000"/>
              </a:lnSpc>
              <a:spcBef>
                <a:spcPts val="1400"/>
              </a:spcBef>
              <a:spcAft>
                <a:spcPts val="0"/>
              </a:spcAft>
              <a:buSzPts val="2000"/>
              <a:buChar char=" "/>
            </a:pPr>
            <a:r>
              <a:rPr lang="en-IN"/>
              <a:t>The processors communicate with one another through various communication lines such as high speed buses or telephone lines.</a:t>
            </a:r>
            <a:endParaRPr/>
          </a:p>
        </p:txBody>
      </p:sp>
      <p:sp>
        <p:nvSpPr>
          <p:cNvPr id="666" name="Google Shape;666;p5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667" name="Google Shape;667;p5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668" name="Google Shape;668;p5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5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674" name="Google Shape;674;p5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675" name="Google Shape;675;p5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676" name="Google Shape;676;p58"/>
          <p:cNvSpPr txBox="1"/>
          <p:nvPr>
            <p:ph idx="4294967295" type="title"/>
          </p:nvPr>
        </p:nvSpPr>
        <p:spPr>
          <a:xfrm>
            <a:off x="0" y="33338"/>
            <a:ext cx="8229600"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Clustered Systems</a:t>
            </a:r>
            <a:endParaRPr/>
          </a:p>
        </p:txBody>
      </p:sp>
      <p:pic>
        <p:nvPicPr>
          <p:cNvPr descr="1.08.pdf" id="677" name="Google Shape;677;p58"/>
          <p:cNvPicPr preferRelativeResize="0"/>
          <p:nvPr>
            <p:ph idx="4294967295" type="body"/>
          </p:nvPr>
        </p:nvPicPr>
        <p:blipFill rotWithShape="1">
          <a:blip r:embed="rId3">
            <a:alphaModFix/>
          </a:blip>
          <a:srcRect b="-3476" l="0" r="0" t="-3476"/>
          <a:stretch/>
        </p:blipFill>
        <p:spPr>
          <a:xfrm>
            <a:off x="5013325" y="774700"/>
            <a:ext cx="4130675" cy="2273300"/>
          </a:xfrm>
          <a:prstGeom prst="rect">
            <a:avLst/>
          </a:prstGeom>
          <a:noFill/>
          <a:ln>
            <a:noFill/>
          </a:ln>
        </p:spPr>
      </p:pic>
      <p:sp>
        <p:nvSpPr>
          <p:cNvPr id="678" name="Google Shape;678;p58"/>
          <p:cNvSpPr/>
          <p:nvPr/>
        </p:nvSpPr>
        <p:spPr>
          <a:xfrm>
            <a:off x="80082" y="2567325"/>
            <a:ext cx="5616624" cy="34778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Like multiprocessor systems, but multiple systems working together Usually sharing storage via a </a:t>
            </a:r>
            <a:r>
              <a:rPr b="1" lang="en-IN" sz="2000">
                <a:solidFill>
                  <a:srgbClr val="3366FF"/>
                </a:solidFill>
                <a:latin typeface="Calibri"/>
                <a:ea typeface="Calibri"/>
                <a:cs typeface="Calibri"/>
                <a:sym typeface="Calibri"/>
              </a:rPr>
              <a:t>storage-area network (SAN)</a:t>
            </a:r>
            <a:endParaRPr/>
          </a:p>
          <a:p>
            <a:pPr indent="-342900" lvl="0" marL="34290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Provides a </a:t>
            </a:r>
            <a:r>
              <a:rPr b="1" lang="en-IN" sz="2000">
                <a:solidFill>
                  <a:srgbClr val="3366FF"/>
                </a:solidFill>
                <a:latin typeface="Calibri"/>
                <a:ea typeface="Calibri"/>
                <a:cs typeface="Calibri"/>
                <a:sym typeface="Calibri"/>
              </a:rPr>
              <a:t>high-availability</a:t>
            </a:r>
            <a:r>
              <a:rPr b="1" lang="en-IN" sz="2000">
                <a:solidFill>
                  <a:schemeClr val="dk1"/>
                </a:solidFill>
                <a:latin typeface="Calibri"/>
                <a:ea typeface="Calibri"/>
                <a:cs typeface="Calibri"/>
                <a:sym typeface="Calibri"/>
              </a:rPr>
              <a:t> </a:t>
            </a:r>
            <a:r>
              <a:rPr lang="en-IN" sz="2000">
                <a:solidFill>
                  <a:schemeClr val="dk1"/>
                </a:solidFill>
                <a:latin typeface="Calibri"/>
                <a:ea typeface="Calibri"/>
                <a:cs typeface="Calibri"/>
                <a:sym typeface="Calibri"/>
              </a:rPr>
              <a:t>service which survives failures.</a:t>
            </a:r>
            <a:endParaRPr/>
          </a:p>
          <a:p>
            <a:pPr indent="-342900" lvl="0" marL="34290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Clusters are used for </a:t>
            </a:r>
            <a:r>
              <a:rPr b="1" lang="en-IN" sz="2000">
                <a:solidFill>
                  <a:srgbClr val="3366FF"/>
                </a:solidFill>
                <a:latin typeface="Calibri"/>
                <a:ea typeface="Calibri"/>
                <a:cs typeface="Calibri"/>
                <a:sym typeface="Calibri"/>
              </a:rPr>
              <a:t>high-performance computing (HPC)</a:t>
            </a:r>
            <a:endParaRPr/>
          </a:p>
          <a:p>
            <a:pPr indent="-342900" lvl="0" marL="34290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Applications must be written to use </a:t>
            </a:r>
            <a:r>
              <a:rPr b="1" lang="en-IN" sz="2000">
                <a:solidFill>
                  <a:srgbClr val="3366FF"/>
                </a:solidFill>
                <a:latin typeface="Calibri"/>
                <a:ea typeface="Calibri"/>
                <a:cs typeface="Calibri"/>
                <a:sym typeface="Calibri"/>
              </a:rPr>
              <a:t>parallelization</a:t>
            </a:r>
            <a:endParaRPr/>
          </a:p>
          <a:p>
            <a:pPr indent="-342900" lvl="0" marL="34290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Some have</a:t>
            </a:r>
            <a:r>
              <a:rPr b="1" lang="en-IN" sz="2000">
                <a:solidFill>
                  <a:srgbClr val="3366FF"/>
                </a:solidFill>
                <a:latin typeface="Calibri"/>
                <a:ea typeface="Calibri"/>
                <a:cs typeface="Calibri"/>
                <a:sym typeface="Calibri"/>
              </a:rPr>
              <a:t> distributed lock manager </a:t>
            </a:r>
            <a:r>
              <a:rPr lang="en-IN" sz="2000">
                <a:solidFill>
                  <a:schemeClr val="dk1"/>
                </a:solidFill>
                <a:latin typeface="Calibri"/>
                <a:ea typeface="Calibri"/>
                <a:cs typeface="Calibri"/>
                <a:sym typeface="Calibri"/>
              </a:rPr>
              <a:t>(</a:t>
            </a:r>
            <a:r>
              <a:rPr b="1" lang="en-IN" sz="2000">
                <a:solidFill>
                  <a:srgbClr val="3366FF"/>
                </a:solidFill>
                <a:latin typeface="Calibri"/>
                <a:ea typeface="Calibri"/>
                <a:cs typeface="Calibri"/>
                <a:sym typeface="Calibri"/>
              </a:rPr>
              <a:t>DLM</a:t>
            </a:r>
            <a:r>
              <a:rPr lang="en-IN" sz="2000">
                <a:solidFill>
                  <a:schemeClr val="dk1"/>
                </a:solidFill>
                <a:latin typeface="Calibri"/>
                <a:ea typeface="Calibri"/>
                <a:cs typeface="Calibri"/>
                <a:sym typeface="Calibri"/>
              </a:rPr>
              <a:t>) to avoid conflicting operations</a:t>
            </a:r>
            <a:endParaRPr sz="24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59"/>
          <p:cNvSpPr txBox="1"/>
          <p:nvPr>
            <p:ph type="title"/>
          </p:nvPr>
        </p:nvSpPr>
        <p:spPr>
          <a:xfrm>
            <a:off x="251520" y="119534"/>
            <a:ext cx="7620000" cy="49006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sz="3200"/>
              <a:t>Cluster for Massive Parallelism</a:t>
            </a:r>
            <a:r>
              <a:rPr lang="en-IN"/>
              <a:t>	</a:t>
            </a:r>
            <a:endParaRPr/>
          </a:p>
        </p:txBody>
      </p:sp>
      <p:sp>
        <p:nvSpPr>
          <p:cNvPr id="684" name="Google Shape;684;p59"/>
          <p:cNvSpPr txBox="1"/>
          <p:nvPr>
            <p:ph idx="1" type="body"/>
          </p:nvPr>
        </p:nvSpPr>
        <p:spPr>
          <a:xfrm>
            <a:off x="467544" y="764704"/>
            <a:ext cx="8229600" cy="5472608"/>
          </a:xfrm>
          <a:prstGeom prst="rect">
            <a:avLst/>
          </a:prstGeom>
          <a:noFill/>
          <a:ln>
            <a:noFill/>
          </a:ln>
        </p:spPr>
        <p:txBody>
          <a:bodyPr anchorCtr="0" anchor="t" bIns="45700" lIns="0" spcFirstLastPara="1" rIns="0" wrap="square" tIns="45700">
            <a:noAutofit/>
          </a:bodyPr>
          <a:lstStyle/>
          <a:p>
            <a:pPr indent="-127000" lvl="0" marL="91440" rtl="0" algn="l">
              <a:lnSpc>
                <a:spcPct val="90000"/>
              </a:lnSpc>
              <a:spcBef>
                <a:spcPts val="0"/>
              </a:spcBef>
              <a:spcAft>
                <a:spcPts val="0"/>
              </a:spcAft>
              <a:buSzPts val="2000"/>
              <a:buChar char=" "/>
            </a:pPr>
            <a:r>
              <a:rPr lang="en-IN" sz="2000"/>
              <a:t>A collection of </a:t>
            </a:r>
            <a:endParaRPr/>
          </a:p>
          <a:p>
            <a:pPr indent="-182880" lvl="1" marL="384048" rtl="0" algn="l">
              <a:lnSpc>
                <a:spcPct val="90000"/>
              </a:lnSpc>
              <a:spcBef>
                <a:spcPts val="400"/>
              </a:spcBef>
              <a:spcAft>
                <a:spcPts val="0"/>
              </a:spcAft>
              <a:buSzPts val="1800"/>
              <a:buChar char="◦"/>
            </a:pPr>
            <a:r>
              <a:rPr lang="en-IN"/>
              <a:t>interconnected stand alone computers </a:t>
            </a:r>
            <a:endParaRPr/>
          </a:p>
          <a:p>
            <a:pPr indent="-182880" lvl="1" marL="384048" rtl="0" algn="l">
              <a:lnSpc>
                <a:spcPct val="90000"/>
              </a:lnSpc>
              <a:spcBef>
                <a:spcPts val="600"/>
              </a:spcBef>
              <a:spcAft>
                <a:spcPts val="0"/>
              </a:spcAft>
              <a:buSzPts val="1800"/>
              <a:buChar char="◦"/>
            </a:pPr>
            <a:r>
              <a:rPr lang="en-IN"/>
              <a:t>which can work together collectively and </a:t>
            </a:r>
            <a:endParaRPr/>
          </a:p>
          <a:p>
            <a:pPr indent="-182880" lvl="1" marL="384048" rtl="0" algn="l">
              <a:lnSpc>
                <a:spcPct val="90000"/>
              </a:lnSpc>
              <a:spcBef>
                <a:spcPts val="600"/>
              </a:spcBef>
              <a:spcAft>
                <a:spcPts val="0"/>
              </a:spcAft>
              <a:buSzPts val="1800"/>
              <a:buChar char="◦"/>
            </a:pPr>
            <a:r>
              <a:rPr lang="en-IN"/>
              <a:t>cooperatively as a single integrated computing resource pool.</a:t>
            </a:r>
            <a:endParaRPr/>
          </a:p>
          <a:p>
            <a:pPr indent="-127000" lvl="0" marL="91440" rtl="0" algn="l">
              <a:lnSpc>
                <a:spcPct val="90000"/>
              </a:lnSpc>
              <a:spcBef>
                <a:spcPts val="1600"/>
              </a:spcBef>
              <a:spcAft>
                <a:spcPts val="0"/>
              </a:spcAft>
              <a:buSzPts val="2000"/>
              <a:buChar char=" "/>
            </a:pPr>
            <a:r>
              <a:rPr lang="en-IN" sz="2000"/>
              <a:t>Deployed to </a:t>
            </a:r>
            <a:endParaRPr sz="2000"/>
          </a:p>
          <a:p>
            <a:pPr indent="-182880" lvl="1" marL="384048" rtl="0" algn="l">
              <a:lnSpc>
                <a:spcPct val="90000"/>
              </a:lnSpc>
              <a:spcBef>
                <a:spcPts val="400"/>
              </a:spcBef>
              <a:spcAft>
                <a:spcPts val="0"/>
              </a:spcAft>
              <a:buSzPts val="1800"/>
              <a:buChar char="◦"/>
            </a:pPr>
            <a:r>
              <a:rPr lang="en-IN"/>
              <a:t>improve speed and/or reliability  over that provided by a single computer, while </a:t>
            </a:r>
            <a:endParaRPr/>
          </a:p>
          <a:p>
            <a:pPr indent="-182880" lvl="1" marL="384048" rtl="0" algn="l">
              <a:lnSpc>
                <a:spcPct val="90000"/>
              </a:lnSpc>
              <a:spcBef>
                <a:spcPts val="600"/>
              </a:spcBef>
              <a:spcAft>
                <a:spcPts val="0"/>
              </a:spcAft>
              <a:buSzPts val="1800"/>
              <a:buChar char="◦"/>
            </a:pPr>
            <a:r>
              <a:rPr lang="en-IN"/>
              <a:t>being much more cost effective than single computer the of comparable speed or reliability </a:t>
            </a:r>
            <a:endParaRPr/>
          </a:p>
          <a:p>
            <a:pPr indent="-127000" lvl="0" marL="457200" rtl="0" algn="l">
              <a:lnSpc>
                <a:spcPct val="90000"/>
              </a:lnSpc>
              <a:spcBef>
                <a:spcPts val="1600"/>
              </a:spcBef>
              <a:spcAft>
                <a:spcPts val="0"/>
              </a:spcAft>
              <a:buSzPts val="2000"/>
              <a:buChar char=" "/>
            </a:pPr>
            <a:r>
              <a:rPr b="1" lang="en-IN" sz="2000">
                <a:solidFill>
                  <a:srgbClr val="3366FF"/>
                </a:solidFill>
              </a:rPr>
              <a:t>Asymmetric clustering</a:t>
            </a:r>
            <a:r>
              <a:rPr lang="en-IN" sz="2000">
                <a:solidFill>
                  <a:srgbClr val="3366FF"/>
                </a:solidFill>
              </a:rPr>
              <a:t> </a:t>
            </a:r>
            <a:r>
              <a:rPr lang="en-IN" sz="2000"/>
              <a:t>has one machine in hot-standby mode</a:t>
            </a:r>
            <a:endParaRPr/>
          </a:p>
          <a:p>
            <a:pPr indent="-127000" lvl="0" marL="457200" rtl="0" algn="l">
              <a:lnSpc>
                <a:spcPct val="90000"/>
              </a:lnSpc>
              <a:spcBef>
                <a:spcPts val="1400"/>
              </a:spcBef>
              <a:spcAft>
                <a:spcPts val="0"/>
              </a:spcAft>
              <a:buSzPts val="2000"/>
              <a:buChar char=" "/>
            </a:pPr>
            <a:r>
              <a:rPr b="1" lang="en-IN" sz="2000">
                <a:solidFill>
                  <a:srgbClr val="3366FF"/>
                </a:solidFill>
              </a:rPr>
              <a:t>Symmetric clustering</a:t>
            </a:r>
            <a:r>
              <a:rPr lang="en-IN" sz="2000">
                <a:solidFill>
                  <a:srgbClr val="3366FF"/>
                </a:solidFill>
              </a:rPr>
              <a:t> </a:t>
            </a:r>
            <a:r>
              <a:rPr lang="en-IN" sz="2000"/>
              <a:t>has multiple nodes running applications, monitoring each other</a:t>
            </a:r>
            <a:endParaRPr/>
          </a:p>
          <a:p>
            <a:pPr indent="0" lvl="0" marL="91440" rtl="0" algn="l">
              <a:lnSpc>
                <a:spcPct val="90000"/>
              </a:lnSpc>
              <a:spcBef>
                <a:spcPts val="1400"/>
              </a:spcBef>
              <a:spcAft>
                <a:spcPts val="0"/>
              </a:spcAft>
              <a:buSzPts val="2000"/>
              <a:buNone/>
            </a:pPr>
            <a:r>
              <a:t/>
            </a:r>
            <a:endParaRPr sz="2000"/>
          </a:p>
          <a:p>
            <a:pPr indent="-68579" lvl="1" marL="384048" rtl="0" algn="l">
              <a:lnSpc>
                <a:spcPct val="90000"/>
              </a:lnSpc>
              <a:spcBef>
                <a:spcPts val="400"/>
              </a:spcBef>
              <a:spcAft>
                <a:spcPts val="0"/>
              </a:spcAft>
              <a:buSzPts val="1800"/>
              <a:buNone/>
            </a:pPr>
            <a:r>
              <a:t/>
            </a:r>
            <a:endParaRPr/>
          </a:p>
          <a:p>
            <a:pPr indent="0" lvl="0" marL="0" rtl="0" algn="l">
              <a:lnSpc>
                <a:spcPct val="90000"/>
              </a:lnSpc>
              <a:spcBef>
                <a:spcPts val="1600"/>
              </a:spcBef>
              <a:spcAft>
                <a:spcPts val="0"/>
              </a:spcAft>
              <a:buSzPts val="2000"/>
              <a:buNone/>
            </a:pPr>
            <a:r>
              <a:t/>
            </a:r>
            <a:endParaRPr sz="2000"/>
          </a:p>
        </p:txBody>
      </p:sp>
      <p:sp>
        <p:nvSpPr>
          <p:cNvPr id="685" name="Google Shape;685;p5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686" name="Google Shape;686;p5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687" name="Google Shape;687;p5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60"/>
          <p:cNvSpPr txBox="1"/>
          <p:nvPr>
            <p:ph type="title"/>
          </p:nvPr>
        </p:nvSpPr>
        <p:spPr>
          <a:xfrm>
            <a:off x="333224" y="274638"/>
            <a:ext cx="7743976" cy="20203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sz="3200"/>
              <a:t>Cluster Architecture</a:t>
            </a:r>
            <a:endParaRPr sz="3200"/>
          </a:p>
        </p:txBody>
      </p:sp>
      <p:sp>
        <p:nvSpPr>
          <p:cNvPr id="693" name="Google Shape;693;p60"/>
          <p:cNvSpPr txBox="1"/>
          <p:nvPr>
            <p:ph idx="1" type="body"/>
          </p:nvPr>
        </p:nvSpPr>
        <p:spPr>
          <a:xfrm>
            <a:off x="358070" y="690927"/>
            <a:ext cx="8229600" cy="2262982"/>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200"/>
              <a:buNone/>
            </a:pPr>
            <a:r>
              <a:rPr lang="en-IN" sz="2200"/>
              <a:t>Through hierarchical construction using a SAN, LAN or WAN, one can build scalable clusters with an increasing number of nodes. </a:t>
            </a:r>
            <a:endParaRPr/>
          </a:p>
          <a:p>
            <a:pPr indent="0" lvl="0" marL="0" rtl="0" algn="l">
              <a:lnSpc>
                <a:spcPct val="90000"/>
              </a:lnSpc>
              <a:spcBef>
                <a:spcPts val="1400"/>
              </a:spcBef>
              <a:spcAft>
                <a:spcPts val="0"/>
              </a:spcAft>
              <a:buSzPts val="2200"/>
              <a:buNone/>
            </a:pPr>
            <a:r>
              <a:rPr b="1" lang="en-IN" sz="2200" u="sng"/>
              <a:t>The cluster is connected to the internet via a virtual private network(VPN) gateway.</a:t>
            </a:r>
            <a:endParaRPr/>
          </a:p>
        </p:txBody>
      </p:sp>
      <p:sp>
        <p:nvSpPr>
          <p:cNvPr id="694" name="Google Shape;694;p6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695" name="Google Shape;695;p6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696" name="Google Shape;696;p6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697" name="Google Shape;697;p60"/>
          <p:cNvSpPr/>
          <p:nvPr/>
        </p:nvSpPr>
        <p:spPr>
          <a:xfrm>
            <a:off x="2820655" y="3244334"/>
            <a:ext cx="1627369" cy="369332"/>
          </a:xfrm>
          <a:prstGeom prst="rect">
            <a:avLst/>
          </a:prstGeom>
          <a:noFill/>
          <a:ln>
            <a:noFill/>
          </a:ln>
        </p:spPr>
        <p:txBody>
          <a:bodyPr anchorCtr="0" anchor="t" bIns="45700" lIns="91425" spcFirstLastPara="1" rIns="91425" wrap="square" tIns="45700">
            <a:spAutoFit/>
          </a:bodyPr>
          <a:lstStyle/>
          <a:p>
            <a:pPr indent="-400050" lvl="2" marL="142875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id="698" name="Google Shape;698;p60"/>
          <p:cNvPicPr preferRelativeResize="0"/>
          <p:nvPr/>
        </p:nvPicPr>
        <p:blipFill rotWithShape="1">
          <a:blip r:embed="rId3">
            <a:alphaModFix/>
          </a:blip>
          <a:srcRect b="20324" l="0" r="0" t="2972"/>
          <a:stretch/>
        </p:blipFill>
        <p:spPr>
          <a:xfrm>
            <a:off x="2820655" y="2276872"/>
            <a:ext cx="4808572" cy="2488922"/>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61"/>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IN"/>
              <a:t>Single System Image</a:t>
            </a:r>
            <a:endParaRPr/>
          </a:p>
        </p:txBody>
      </p:sp>
      <p:sp>
        <p:nvSpPr>
          <p:cNvPr id="704" name="Google Shape;704;p61"/>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fontScale="92500" lnSpcReduction="10000"/>
          </a:bodyPr>
          <a:lstStyle/>
          <a:p>
            <a:pPr indent="-129222" lvl="0" marL="91440" rtl="0" algn="l">
              <a:lnSpc>
                <a:spcPct val="90000"/>
              </a:lnSpc>
              <a:spcBef>
                <a:spcPts val="0"/>
              </a:spcBef>
              <a:spcAft>
                <a:spcPts val="0"/>
              </a:spcAft>
              <a:buSzPct val="100000"/>
              <a:buChar char=" "/>
            </a:pPr>
            <a:r>
              <a:rPr lang="en-IN" sz="2200"/>
              <a:t>An ideal cluster should </a:t>
            </a:r>
            <a:r>
              <a:rPr b="1" lang="en-IN" sz="2200" u="sng"/>
              <a:t>merge multiple system images into a single system image(SSI). </a:t>
            </a:r>
            <a:endParaRPr/>
          </a:p>
          <a:p>
            <a:pPr indent="0" lvl="0" marL="91440" rtl="0" algn="l">
              <a:lnSpc>
                <a:spcPct val="90000"/>
              </a:lnSpc>
              <a:spcBef>
                <a:spcPts val="1400"/>
              </a:spcBef>
              <a:spcAft>
                <a:spcPts val="0"/>
              </a:spcAft>
              <a:buSzPct val="100000"/>
              <a:buNone/>
            </a:pPr>
            <a:r>
              <a:t/>
            </a:r>
            <a:endParaRPr sz="2200"/>
          </a:p>
          <a:p>
            <a:pPr indent="-129222" lvl="0" marL="91440" rtl="0" algn="l">
              <a:lnSpc>
                <a:spcPct val="90000"/>
              </a:lnSpc>
              <a:spcBef>
                <a:spcPts val="1400"/>
              </a:spcBef>
              <a:spcAft>
                <a:spcPts val="0"/>
              </a:spcAft>
              <a:buSzPct val="100000"/>
              <a:buChar char=" "/>
            </a:pPr>
            <a:r>
              <a:rPr lang="en-IN" sz="2200"/>
              <a:t>Cluster designers desire a cluster operating system to support SSI at various levels, including the </a:t>
            </a:r>
            <a:r>
              <a:rPr b="1" lang="en-IN" sz="2200" u="sng"/>
              <a:t>sharing of CPUs, memory and I/O across all cluster nodes.</a:t>
            </a:r>
            <a:endParaRPr/>
          </a:p>
          <a:p>
            <a:pPr indent="0" lvl="0" marL="91440" rtl="0" algn="l">
              <a:lnSpc>
                <a:spcPct val="90000"/>
              </a:lnSpc>
              <a:spcBef>
                <a:spcPts val="1400"/>
              </a:spcBef>
              <a:spcAft>
                <a:spcPts val="0"/>
              </a:spcAft>
              <a:buSzPct val="100000"/>
              <a:buNone/>
            </a:pPr>
            <a:r>
              <a:t/>
            </a:r>
            <a:endParaRPr sz="2200"/>
          </a:p>
          <a:p>
            <a:pPr indent="-129222" lvl="0" marL="91440" rtl="0" algn="l">
              <a:lnSpc>
                <a:spcPct val="90000"/>
              </a:lnSpc>
              <a:spcBef>
                <a:spcPts val="1400"/>
              </a:spcBef>
              <a:spcAft>
                <a:spcPts val="0"/>
              </a:spcAft>
              <a:buSzPct val="100000"/>
              <a:buChar char=" "/>
            </a:pPr>
            <a:r>
              <a:rPr lang="en-IN" sz="2200"/>
              <a:t>SSI is an illusion created by software or hardware that presents a collection of resources as one integrated, powerful resource.</a:t>
            </a:r>
            <a:endParaRPr/>
          </a:p>
          <a:p>
            <a:pPr indent="0" lvl="0" marL="91440" rtl="0" algn="l">
              <a:lnSpc>
                <a:spcPct val="90000"/>
              </a:lnSpc>
              <a:spcBef>
                <a:spcPts val="1400"/>
              </a:spcBef>
              <a:spcAft>
                <a:spcPts val="0"/>
              </a:spcAft>
              <a:buSzPct val="100000"/>
              <a:buNone/>
            </a:pPr>
            <a:r>
              <a:t/>
            </a:r>
            <a:endParaRPr sz="2200"/>
          </a:p>
          <a:p>
            <a:pPr indent="-129222" lvl="0" marL="91440" rtl="0" algn="l">
              <a:lnSpc>
                <a:spcPct val="90000"/>
              </a:lnSpc>
              <a:spcBef>
                <a:spcPts val="1400"/>
              </a:spcBef>
              <a:spcAft>
                <a:spcPts val="0"/>
              </a:spcAft>
              <a:buSzPct val="100000"/>
              <a:buChar char=" "/>
            </a:pPr>
            <a:r>
              <a:rPr b="1" lang="en-IN" sz="2200" u="sng"/>
              <a:t>SSI makes the cluster appear like a single machine to the user.</a:t>
            </a:r>
            <a:endParaRPr b="1" sz="2200" u="sng"/>
          </a:p>
        </p:txBody>
      </p:sp>
      <p:sp>
        <p:nvSpPr>
          <p:cNvPr id="705" name="Google Shape;705;p6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706" name="Google Shape;706;p6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707" name="Google Shape;707;p6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708" name="Google Shape;708;p61"/>
          <p:cNvSpPr/>
          <p:nvPr/>
        </p:nvSpPr>
        <p:spPr>
          <a:xfrm>
            <a:off x="2820655" y="3244334"/>
            <a:ext cx="1627369" cy="369332"/>
          </a:xfrm>
          <a:prstGeom prst="rect">
            <a:avLst/>
          </a:prstGeom>
          <a:noFill/>
          <a:ln>
            <a:noFill/>
          </a:ln>
        </p:spPr>
        <p:txBody>
          <a:bodyPr anchorCtr="0" anchor="t" bIns="45700" lIns="91425" spcFirstLastPara="1" rIns="91425" wrap="square" tIns="45700">
            <a:spAutoFit/>
          </a:bodyPr>
          <a:lstStyle/>
          <a:p>
            <a:pPr indent="-400050" lvl="2" marL="142875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6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714" name="Google Shape;714;p6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715" name="Google Shape;715;p6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716" name="Google Shape;716;p62"/>
          <p:cNvSpPr txBox="1"/>
          <p:nvPr>
            <p:ph idx="4294967295" type="title"/>
          </p:nvPr>
        </p:nvSpPr>
        <p:spPr>
          <a:xfrm>
            <a:off x="0" y="182563"/>
            <a:ext cx="8229600" cy="29368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000"/>
              <a:buFont typeface="Calibri"/>
              <a:buNone/>
            </a:pPr>
            <a:r>
              <a:rPr lang="en-IN" sz="4000"/>
              <a:t>Clustered Systems</a:t>
            </a:r>
            <a:endParaRPr/>
          </a:p>
        </p:txBody>
      </p:sp>
      <p:sp>
        <p:nvSpPr>
          <p:cNvPr id="717" name="Google Shape;717;p62"/>
          <p:cNvSpPr txBox="1"/>
          <p:nvPr>
            <p:ph idx="4294967295" type="body"/>
          </p:nvPr>
        </p:nvSpPr>
        <p:spPr>
          <a:xfrm>
            <a:off x="0" y="692150"/>
            <a:ext cx="8229600" cy="5326063"/>
          </a:xfrm>
          <a:prstGeom prst="rect">
            <a:avLst/>
          </a:prstGeom>
          <a:noFill/>
          <a:ln>
            <a:noFill/>
          </a:ln>
        </p:spPr>
        <p:txBody>
          <a:bodyPr anchorCtr="0" anchor="t" bIns="45700" lIns="0" spcFirstLastPara="1" rIns="0" wrap="square" tIns="45700">
            <a:normAutofit/>
          </a:bodyPr>
          <a:lstStyle/>
          <a:p>
            <a:pPr indent="-177800" lvl="0" marL="91440" rtl="0" algn="l">
              <a:lnSpc>
                <a:spcPct val="90000"/>
              </a:lnSpc>
              <a:spcBef>
                <a:spcPts val="0"/>
              </a:spcBef>
              <a:spcAft>
                <a:spcPts val="0"/>
              </a:spcAft>
              <a:buSzPts val="2800"/>
              <a:buChar char=" "/>
            </a:pPr>
            <a:r>
              <a:rPr lang="en-IN" sz="2800"/>
              <a:t>Asymmetric clustering-</a:t>
            </a:r>
            <a:endParaRPr/>
          </a:p>
          <a:p>
            <a:pPr indent="-182880" lvl="1" marL="384048" rtl="0" algn="l">
              <a:lnSpc>
                <a:spcPct val="90000"/>
              </a:lnSpc>
              <a:spcBef>
                <a:spcPts val="400"/>
              </a:spcBef>
              <a:spcAft>
                <a:spcPts val="0"/>
              </a:spcAft>
              <a:buSzPts val="1800"/>
              <a:buChar char="◦"/>
            </a:pPr>
            <a:r>
              <a:rPr lang="en-IN"/>
              <a:t>One m/c is in hot standby mode while the other (</a:t>
            </a:r>
            <a:r>
              <a:rPr lang="en-IN">
                <a:solidFill>
                  <a:schemeClr val="accent5"/>
                </a:solidFill>
              </a:rPr>
              <a:t>primary node ) </a:t>
            </a:r>
            <a:r>
              <a:rPr lang="en-IN"/>
              <a:t>is running applications.</a:t>
            </a:r>
            <a:endParaRPr/>
          </a:p>
          <a:p>
            <a:pPr indent="-182880" lvl="1" marL="384048" rtl="0" algn="l">
              <a:lnSpc>
                <a:spcPct val="90000"/>
              </a:lnSpc>
              <a:spcBef>
                <a:spcPts val="600"/>
              </a:spcBef>
              <a:spcAft>
                <a:spcPts val="0"/>
              </a:spcAft>
              <a:buSzPts val="1800"/>
              <a:buChar char="◦"/>
            </a:pPr>
            <a:r>
              <a:rPr lang="en-IN"/>
              <a:t>The hot standby host does nothing but monitor the active server. </a:t>
            </a:r>
            <a:endParaRPr/>
          </a:p>
          <a:p>
            <a:pPr indent="-182880" lvl="1" marL="384048" rtl="0" algn="l">
              <a:lnSpc>
                <a:spcPct val="90000"/>
              </a:lnSpc>
              <a:spcBef>
                <a:spcPts val="600"/>
              </a:spcBef>
              <a:spcAft>
                <a:spcPts val="0"/>
              </a:spcAft>
              <a:buSzPts val="1800"/>
              <a:buChar char="◦"/>
            </a:pPr>
            <a:r>
              <a:rPr lang="en-IN"/>
              <a:t>If that server fails, the hot standby host becomes the active server.</a:t>
            </a:r>
            <a:endParaRPr/>
          </a:p>
          <a:p>
            <a:pPr indent="-182880" lvl="1" marL="384048" rtl="0" algn="l">
              <a:lnSpc>
                <a:spcPct val="90000"/>
              </a:lnSpc>
              <a:spcBef>
                <a:spcPts val="600"/>
              </a:spcBef>
              <a:spcAft>
                <a:spcPts val="0"/>
              </a:spcAft>
              <a:buSzPts val="1800"/>
              <a:buChar char="◦"/>
            </a:pPr>
            <a:r>
              <a:rPr lang="en-IN"/>
              <a:t>The </a:t>
            </a:r>
            <a:r>
              <a:rPr lang="en-IN">
                <a:solidFill>
                  <a:schemeClr val="accent5"/>
                </a:solidFill>
              </a:rPr>
              <a:t>standby node is powered on </a:t>
            </a:r>
            <a:r>
              <a:rPr lang="en-IN"/>
              <a:t>(hot) and running some </a:t>
            </a:r>
            <a:r>
              <a:rPr lang="en-IN">
                <a:solidFill>
                  <a:schemeClr val="accent5"/>
                </a:solidFill>
              </a:rPr>
              <a:t>monitoring programs </a:t>
            </a:r>
            <a:r>
              <a:rPr lang="en-IN"/>
              <a:t>to communicate </a:t>
            </a:r>
            <a:r>
              <a:rPr lang="en-IN">
                <a:solidFill>
                  <a:schemeClr val="accent5"/>
                </a:solidFill>
              </a:rPr>
              <a:t>heartbeat signals to check the status of the primary node</a:t>
            </a:r>
            <a:r>
              <a:rPr lang="en-IN"/>
              <a:t>, but is </a:t>
            </a:r>
            <a:r>
              <a:rPr lang="en-IN">
                <a:solidFill>
                  <a:schemeClr val="accent5"/>
                </a:solidFill>
              </a:rPr>
              <a:t>not actively </a:t>
            </a:r>
            <a:r>
              <a:rPr lang="en-IN"/>
              <a:t>running other useful workloads.</a:t>
            </a:r>
            <a:endParaRPr/>
          </a:p>
          <a:p>
            <a:pPr indent="-68579" lvl="1" marL="384048" rtl="0" algn="l">
              <a:lnSpc>
                <a:spcPct val="90000"/>
              </a:lnSpc>
              <a:spcBef>
                <a:spcPts val="600"/>
              </a:spcBef>
              <a:spcAft>
                <a:spcPts val="0"/>
              </a:spcAft>
              <a:buSzPts val="1800"/>
              <a:buNone/>
            </a:pPr>
            <a:r>
              <a:t/>
            </a:r>
            <a:endParaRPr/>
          </a:p>
          <a:p>
            <a:pPr indent="-177800" lvl="0" marL="91440" rtl="0" algn="l">
              <a:lnSpc>
                <a:spcPct val="90000"/>
              </a:lnSpc>
              <a:spcBef>
                <a:spcPts val="1600"/>
              </a:spcBef>
              <a:spcAft>
                <a:spcPts val="0"/>
              </a:spcAft>
              <a:buSzPts val="2800"/>
              <a:buChar char=" "/>
            </a:pPr>
            <a:r>
              <a:rPr lang="en-IN" sz="2800"/>
              <a:t>Symmetric clustering-</a:t>
            </a:r>
            <a:endParaRPr/>
          </a:p>
          <a:p>
            <a:pPr indent="-182880" lvl="1" marL="384048" rtl="0" algn="l">
              <a:lnSpc>
                <a:spcPct val="90000"/>
              </a:lnSpc>
              <a:spcBef>
                <a:spcPts val="400"/>
              </a:spcBef>
              <a:spcAft>
                <a:spcPts val="0"/>
              </a:spcAft>
              <a:buSzPts val="1800"/>
              <a:buChar char="◦"/>
            </a:pPr>
            <a:r>
              <a:rPr lang="en-IN"/>
              <a:t>Two or more hosts are running applications and they are monitoring each other.</a:t>
            </a:r>
            <a:endParaRPr/>
          </a:p>
          <a:p>
            <a:pPr indent="-182880" lvl="1" marL="384048" rtl="0" algn="l">
              <a:lnSpc>
                <a:spcPct val="90000"/>
              </a:lnSpc>
              <a:spcBef>
                <a:spcPts val="600"/>
              </a:spcBef>
              <a:spcAft>
                <a:spcPts val="0"/>
              </a:spcAft>
              <a:buSzPts val="1800"/>
              <a:buChar char="◦"/>
            </a:pPr>
            <a:r>
              <a:rPr lang="en-IN"/>
              <a:t>More efficient, as it uses all of the available hardware</a:t>
            </a:r>
            <a:endParaRPr/>
          </a:p>
          <a:p>
            <a:pPr indent="0" lvl="0" marL="91440" rtl="0" algn="l">
              <a:lnSpc>
                <a:spcPct val="90000"/>
              </a:lnSpc>
              <a:spcBef>
                <a:spcPts val="1600"/>
              </a:spcBef>
              <a:spcAft>
                <a:spcPts val="0"/>
              </a:spcAft>
              <a:buSzPts val="2000"/>
              <a:buNone/>
            </a:pPr>
            <a:r>
              <a:t/>
            </a:r>
            <a:endParaRPr sz="2000"/>
          </a:p>
          <a:p>
            <a:pPr indent="0" lvl="0" marL="91440" rtl="0" algn="l">
              <a:lnSpc>
                <a:spcPct val="90000"/>
              </a:lnSpc>
              <a:spcBef>
                <a:spcPts val="1400"/>
              </a:spcBef>
              <a:spcAft>
                <a:spcPts val="0"/>
              </a:spcAft>
              <a:buSzPts val="2000"/>
              <a:buNone/>
            </a:pPr>
            <a:r>
              <a:t/>
            </a:r>
            <a:endParaRPr sz="20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63"/>
          <p:cNvSpPr txBox="1"/>
          <p:nvPr>
            <p:ph type="title"/>
          </p:nvPr>
        </p:nvSpPr>
        <p:spPr>
          <a:xfrm>
            <a:off x="468086" y="119534"/>
            <a:ext cx="7620000" cy="49006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sz="4000"/>
              <a:t>Real Time Systems</a:t>
            </a:r>
            <a:endParaRPr sz="4000"/>
          </a:p>
        </p:txBody>
      </p:sp>
      <p:sp>
        <p:nvSpPr>
          <p:cNvPr id="723" name="Google Shape;723;p63"/>
          <p:cNvSpPr txBox="1"/>
          <p:nvPr>
            <p:ph idx="1" type="body"/>
          </p:nvPr>
        </p:nvSpPr>
        <p:spPr>
          <a:xfrm>
            <a:off x="475659" y="647699"/>
            <a:ext cx="7620000" cy="5517606"/>
          </a:xfrm>
          <a:prstGeom prst="rect">
            <a:avLst/>
          </a:prstGeom>
          <a:noFill/>
          <a:ln>
            <a:noFill/>
          </a:ln>
        </p:spPr>
        <p:txBody>
          <a:bodyPr anchorCtr="0" anchor="t" bIns="45700" lIns="0" spcFirstLastPara="1" rIns="0" wrap="square" tIns="45700">
            <a:normAutofit lnSpcReduction="10000"/>
          </a:bodyPr>
          <a:lstStyle/>
          <a:p>
            <a:pPr indent="-127000" lvl="0" marL="91440" rtl="0" algn="l">
              <a:lnSpc>
                <a:spcPct val="90000"/>
              </a:lnSpc>
              <a:spcBef>
                <a:spcPts val="0"/>
              </a:spcBef>
              <a:spcAft>
                <a:spcPts val="0"/>
              </a:spcAft>
              <a:buSzPts val="2000"/>
              <a:buChar char=" "/>
            </a:pPr>
            <a:r>
              <a:rPr lang="en-IN"/>
              <a:t>Special purpose OS</a:t>
            </a:r>
            <a:endParaRPr/>
          </a:p>
          <a:p>
            <a:pPr indent="-127000" lvl="0" marL="91440" rtl="0" algn="l">
              <a:lnSpc>
                <a:spcPct val="90000"/>
              </a:lnSpc>
              <a:spcBef>
                <a:spcPts val="1400"/>
              </a:spcBef>
              <a:spcAft>
                <a:spcPts val="0"/>
              </a:spcAft>
              <a:buSzPts val="2000"/>
              <a:buChar char=" "/>
            </a:pPr>
            <a:r>
              <a:rPr b="1" lang="en-IN" u="sng"/>
              <a:t>Used when rigid time requirements have been placed on the processing.</a:t>
            </a:r>
            <a:endParaRPr/>
          </a:p>
          <a:p>
            <a:pPr indent="-127000" lvl="0" marL="91440" rtl="0" algn="l">
              <a:lnSpc>
                <a:spcPct val="90000"/>
              </a:lnSpc>
              <a:spcBef>
                <a:spcPts val="1400"/>
              </a:spcBef>
              <a:spcAft>
                <a:spcPts val="0"/>
              </a:spcAft>
              <a:buSzPts val="2000"/>
              <a:buChar char=" "/>
            </a:pPr>
            <a:r>
              <a:rPr lang="en-IN"/>
              <a:t>Often used as control device in Dedicated applications.</a:t>
            </a:r>
            <a:endParaRPr/>
          </a:p>
          <a:p>
            <a:pPr indent="-127000" lvl="0" marL="91440" rtl="0" algn="l">
              <a:lnSpc>
                <a:spcPct val="90000"/>
              </a:lnSpc>
              <a:spcBef>
                <a:spcPts val="1400"/>
              </a:spcBef>
              <a:spcAft>
                <a:spcPts val="0"/>
              </a:spcAft>
              <a:buSzPts val="2000"/>
              <a:buChar char=" "/>
            </a:pPr>
            <a:r>
              <a:rPr lang="en-IN"/>
              <a:t>Sensors bring data to the systems, The System must analyze the data</a:t>
            </a:r>
            <a:endParaRPr/>
          </a:p>
          <a:p>
            <a:pPr indent="-127000" lvl="0" marL="91440" rtl="0" algn="l">
              <a:lnSpc>
                <a:spcPct val="90000"/>
              </a:lnSpc>
              <a:spcBef>
                <a:spcPts val="1400"/>
              </a:spcBef>
              <a:spcAft>
                <a:spcPts val="0"/>
              </a:spcAft>
              <a:buSzPts val="2000"/>
              <a:buChar char=" "/>
            </a:pPr>
            <a:r>
              <a:rPr lang="en-IN"/>
              <a:t>Real Time Systems </a:t>
            </a:r>
            <a:r>
              <a:rPr b="1" lang="en-IN" u="sng"/>
              <a:t>functions correctly only if it returns the correct result within its time constraints.</a:t>
            </a:r>
            <a:endParaRPr/>
          </a:p>
          <a:p>
            <a:pPr indent="-127000" lvl="0" marL="91440" rtl="0" algn="l">
              <a:lnSpc>
                <a:spcPct val="90000"/>
              </a:lnSpc>
              <a:spcBef>
                <a:spcPts val="1400"/>
              </a:spcBef>
              <a:spcAft>
                <a:spcPts val="0"/>
              </a:spcAft>
              <a:buSzPts val="2000"/>
              <a:buChar char=" "/>
            </a:pPr>
            <a:r>
              <a:rPr lang="en-IN"/>
              <a:t>In Contrast-</a:t>
            </a:r>
            <a:endParaRPr/>
          </a:p>
          <a:p>
            <a:pPr indent="-182880" lvl="1" marL="384048" rtl="0" algn="l">
              <a:lnSpc>
                <a:spcPct val="90000"/>
              </a:lnSpc>
              <a:spcBef>
                <a:spcPts val="400"/>
              </a:spcBef>
              <a:spcAft>
                <a:spcPts val="0"/>
              </a:spcAft>
              <a:buSzPts val="2200"/>
              <a:buChar char="◦"/>
            </a:pPr>
            <a:r>
              <a:rPr lang="en-IN" sz="2200"/>
              <a:t>Time Sharing Systems, </a:t>
            </a:r>
            <a:r>
              <a:rPr b="1" lang="en-IN" sz="2200" u="sng"/>
              <a:t>where it is desirable but not mandatory to respond quickly.</a:t>
            </a:r>
            <a:endParaRPr/>
          </a:p>
          <a:p>
            <a:pPr indent="-182880" lvl="1" marL="384048" rtl="0" algn="l">
              <a:lnSpc>
                <a:spcPct val="90000"/>
              </a:lnSpc>
              <a:spcBef>
                <a:spcPts val="600"/>
              </a:spcBef>
              <a:spcAft>
                <a:spcPts val="0"/>
              </a:spcAft>
              <a:buSzPts val="2200"/>
              <a:buChar char="◦"/>
            </a:pPr>
            <a:r>
              <a:rPr lang="en-IN" sz="2200"/>
              <a:t>Batch System, which may have </a:t>
            </a:r>
            <a:r>
              <a:rPr b="1" lang="en-IN" sz="2200" u="sng"/>
              <a:t>no time constraints at all.</a:t>
            </a:r>
            <a:endParaRPr/>
          </a:p>
          <a:p>
            <a:pPr indent="0" lvl="0" marL="0" rtl="0" algn="l">
              <a:lnSpc>
                <a:spcPct val="90000"/>
              </a:lnSpc>
              <a:spcBef>
                <a:spcPts val="1600"/>
              </a:spcBef>
              <a:spcAft>
                <a:spcPts val="0"/>
              </a:spcAft>
              <a:buSzPts val="2000"/>
              <a:buNone/>
            </a:pPr>
            <a:r>
              <a:rPr b="1" lang="en-IN"/>
              <a:t>Two types of Real-Time Operating System which are as follows:</a:t>
            </a:r>
            <a:endParaRPr/>
          </a:p>
          <a:p>
            <a:pPr indent="-127000" lvl="0" marL="91440" rtl="0" algn="l">
              <a:lnSpc>
                <a:spcPct val="90000"/>
              </a:lnSpc>
              <a:spcBef>
                <a:spcPts val="1400"/>
              </a:spcBef>
              <a:spcAft>
                <a:spcPts val="0"/>
              </a:spcAft>
              <a:buSzPts val="2000"/>
              <a:buChar char=" "/>
            </a:pPr>
            <a:r>
              <a:rPr lang="en-IN"/>
              <a:t>Hard Real-Time Systems</a:t>
            </a:r>
            <a:endParaRPr/>
          </a:p>
          <a:p>
            <a:pPr indent="-127000" lvl="0" marL="91440" rtl="0" algn="l">
              <a:lnSpc>
                <a:spcPct val="90000"/>
              </a:lnSpc>
              <a:spcBef>
                <a:spcPts val="1400"/>
              </a:spcBef>
              <a:spcAft>
                <a:spcPts val="0"/>
              </a:spcAft>
              <a:buSzPts val="2000"/>
              <a:buChar char=" "/>
            </a:pPr>
            <a:r>
              <a:rPr lang="en-IN"/>
              <a:t>Soft Real-Time Systems</a:t>
            </a:r>
            <a:br>
              <a:rPr lang="en-IN"/>
            </a:br>
            <a:endParaRPr/>
          </a:p>
          <a:p>
            <a:pPr indent="-30479" lvl="1" marL="384048" rtl="0" algn="l">
              <a:lnSpc>
                <a:spcPct val="90000"/>
              </a:lnSpc>
              <a:spcBef>
                <a:spcPts val="400"/>
              </a:spcBef>
              <a:spcAft>
                <a:spcPts val="0"/>
              </a:spcAft>
              <a:buSzPts val="2400"/>
              <a:buNone/>
            </a:pPr>
            <a:r>
              <a:t/>
            </a:r>
            <a:endParaRPr b="1" sz="2400" u="sng"/>
          </a:p>
          <a:p>
            <a:pPr indent="0" lvl="0" marL="91440" rtl="0" algn="l">
              <a:lnSpc>
                <a:spcPct val="90000"/>
              </a:lnSpc>
              <a:spcBef>
                <a:spcPts val="1600"/>
              </a:spcBef>
              <a:spcAft>
                <a:spcPts val="0"/>
              </a:spcAft>
              <a:buSzPts val="2400"/>
              <a:buNone/>
            </a:pPr>
            <a:r>
              <a:t/>
            </a:r>
            <a:endParaRPr b="1" sz="2400" u="sng"/>
          </a:p>
          <a:p>
            <a:pPr indent="0" lvl="0" marL="91440" rtl="0" algn="l">
              <a:lnSpc>
                <a:spcPct val="90000"/>
              </a:lnSpc>
              <a:spcBef>
                <a:spcPts val="1400"/>
              </a:spcBef>
              <a:spcAft>
                <a:spcPts val="0"/>
              </a:spcAft>
              <a:buSzPts val="2400"/>
              <a:buNone/>
            </a:pPr>
            <a:r>
              <a:t/>
            </a:r>
            <a:endParaRPr sz="2400"/>
          </a:p>
          <a:p>
            <a:pPr indent="0" lvl="0" marL="91440" rtl="0" algn="l">
              <a:lnSpc>
                <a:spcPct val="90000"/>
              </a:lnSpc>
              <a:spcBef>
                <a:spcPts val="1400"/>
              </a:spcBef>
              <a:spcAft>
                <a:spcPts val="0"/>
              </a:spcAft>
              <a:buSzPts val="2400"/>
              <a:buNone/>
            </a:pPr>
            <a:r>
              <a:t/>
            </a:r>
            <a:endParaRPr sz="2400"/>
          </a:p>
        </p:txBody>
      </p:sp>
      <p:sp>
        <p:nvSpPr>
          <p:cNvPr id="724" name="Google Shape;724;p6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725" name="Google Shape;725;p6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726" name="Google Shape;726;p6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64"/>
          <p:cNvSpPr txBox="1"/>
          <p:nvPr>
            <p:ph idx="1" type="body"/>
          </p:nvPr>
        </p:nvSpPr>
        <p:spPr>
          <a:xfrm>
            <a:off x="457200" y="44624"/>
            <a:ext cx="4040188" cy="6397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000"/>
              <a:buNone/>
            </a:pPr>
            <a:r>
              <a:rPr lang="en-IN"/>
              <a:t>HARD REAL-TIME SYSTEMS:</a:t>
            </a:r>
            <a:endParaRPr/>
          </a:p>
        </p:txBody>
      </p:sp>
      <p:sp>
        <p:nvSpPr>
          <p:cNvPr id="732" name="Google Shape;732;p64"/>
          <p:cNvSpPr txBox="1"/>
          <p:nvPr>
            <p:ph idx="2" type="body"/>
          </p:nvPr>
        </p:nvSpPr>
        <p:spPr>
          <a:xfrm>
            <a:off x="457200" y="980728"/>
            <a:ext cx="4040188" cy="5400600"/>
          </a:xfrm>
          <a:prstGeom prst="rect">
            <a:avLst/>
          </a:prstGeom>
          <a:noFill/>
          <a:ln>
            <a:noFill/>
          </a:ln>
        </p:spPr>
        <p:txBody>
          <a:bodyPr anchorCtr="0" anchor="t" bIns="45700" lIns="0" spcFirstLastPara="1" rIns="0" wrap="square" tIns="45700">
            <a:normAutofit fontScale="70000" lnSpcReduction="20000"/>
          </a:bodyPr>
          <a:lstStyle/>
          <a:p>
            <a:pPr indent="-97790" lvl="0" marL="91440" rtl="0" algn="l">
              <a:lnSpc>
                <a:spcPct val="90000"/>
              </a:lnSpc>
              <a:spcBef>
                <a:spcPts val="0"/>
              </a:spcBef>
              <a:spcAft>
                <a:spcPts val="0"/>
              </a:spcAft>
              <a:buSzPct val="100000"/>
              <a:buChar char=" "/>
            </a:pPr>
            <a:r>
              <a:rPr lang="en-IN" sz="2200"/>
              <a:t>These OSs are meant for the applications where time </a:t>
            </a:r>
            <a:r>
              <a:rPr b="1" lang="en-IN" sz="2200" u="sng"/>
              <a:t>constraints are very strict and even the shortest possible delay is not acceptable. </a:t>
            </a:r>
            <a:endParaRPr b="1" sz="2200" u="sng"/>
          </a:p>
          <a:p>
            <a:pPr indent="0" lvl="0" marL="91440" rtl="0" algn="l">
              <a:lnSpc>
                <a:spcPct val="90000"/>
              </a:lnSpc>
              <a:spcBef>
                <a:spcPts val="1400"/>
              </a:spcBef>
              <a:spcAft>
                <a:spcPts val="0"/>
              </a:spcAft>
              <a:buSzPct val="100000"/>
              <a:buNone/>
            </a:pPr>
            <a:r>
              <a:t/>
            </a:r>
            <a:endParaRPr sz="2200"/>
          </a:p>
          <a:p>
            <a:pPr indent="-97790" lvl="0" marL="91440" rtl="0" algn="l">
              <a:lnSpc>
                <a:spcPct val="90000"/>
              </a:lnSpc>
              <a:spcBef>
                <a:spcPts val="1400"/>
              </a:spcBef>
              <a:spcAft>
                <a:spcPts val="0"/>
              </a:spcAft>
              <a:buSzPct val="100000"/>
              <a:buChar char=" "/>
            </a:pPr>
            <a:r>
              <a:rPr lang="en-IN" sz="2200"/>
              <a:t>These systems are built for saving life like </a:t>
            </a:r>
            <a:r>
              <a:rPr b="1" lang="en-IN" sz="2200" u="sng"/>
              <a:t>automatic parachutes or air bags </a:t>
            </a:r>
            <a:r>
              <a:rPr lang="en-IN" sz="2200"/>
              <a:t>which are required to be readily available in case of any accident. </a:t>
            </a:r>
            <a:endParaRPr/>
          </a:p>
          <a:p>
            <a:pPr indent="-97790" lvl="0" marL="91440" rtl="0" algn="l">
              <a:lnSpc>
                <a:spcPct val="90000"/>
              </a:lnSpc>
              <a:spcBef>
                <a:spcPts val="1400"/>
              </a:spcBef>
              <a:spcAft>
                <a:spcPts val="0"/>
              </a:spcAft>
              <a:buSzPct val="100000"/>
              <a:buChar char=" "/>
            </a:pPr>
            <a:r>
              <a:rPr lang="en-IN" sz="2200"/>
              <a:t>This type of system </a:t>
            </a:r>
            <a:r>
              <a:rPr b="1" lang="en-IN" sz="2200" u="sng"/>
              <a:t>can never miss its deadline. </a:t>
            </a:r>
            <a:endParaRPr/>
          </a:p>
          <a:p>
            <a:pPr indent="0" lvl="0" marL="91440" rtl="0" algn="l">
              <a:lnSpc>
                <a:spcPct val="90000"/>
              </a:lnSpc>
              <a:spcBef>
                <a:spcPts val="1400"/>
              </a:spcBef>
              <a:spcAft>
                <a:spcPts val="0"/>
              </a:spcAft>
              <a:buSzPct val="100000"/>
              <a:buNone/>
            </a:pPr>
            <a:r>
              <a:t/>
            </a:r>
            <a:endParaRPr sz="2200"/>
          </a:p>
          <a:p>
            <a:pPr indent="0" lvl="0" marL="91440" rtl="0" algn="l">
              <a:lnSpc>
                <a:spcPct val="90000"/>
              </a:lnSpc>
              <a:spcBef>
                <a:spcPts val="1400"/>
              </a:spcBef>
              <a:spcAft>
                <a:spcPts val="0"/>
              </a:spcAft>
              <a:buSzPct val="100000"/>
              <a:buNone/>
            </a:pPr>
            <a:r>
              <a:t/>
            </a:r>
            <a:endParaRPr sz="2200"/>
          </a:p>
          <a:p>
            <a:pPr indent="-97790" lvl="0" marL="91440" rtl="0" algn="l">
              <a:lnSpc>
                <a:spcPct val="90000"/>
              </a:lnSpc>
              <a:spcBef>
                <a:spcPts val="1400"/>
              </a:spcBef>
              <a:spcAft>
                <a:spcPts val="0"/>
              </a:spcAft>
              <a:buSzPct val="100000"/>
              <a:buChar char=" "/>
            </a:pPr>
            <a:r>
              <a:rPr lang="en-IN" sz="2200"/>
              <a:t>Missing the deadline </a:t>
            </a:r>
            <a:r>
              <a:rPr b="1" lang="en-IN" sz="2200" u="sng"/>
              <a:t>may have disastrous consequences. </a:t>
            </a:r>
            <a:endParaRPr/>
          </a:p>
          <a:p>
            <a:pPr indent="0" lvl="0" marL="91440" rtl="0" algn="l">
              <a:lnSpc>
                <a:spcPct val="90000"/>
              </a:lnSpc>
              <a:spcBef>
                <a:spcPts val="1400"/>
              </a:spcBef>
              <a:spcAft>
                <a:spcPts val="0"/>
              </a:spcAft>
              <a:buSzPct val="100000"/>
              <a:buNone/>
            </a:pPr>
            <a:r>
              <a:t/>
            </a:r>
            <a:endParaRPr sz="2200"/>
          </a:p>
          <a:p>
            <a:pPr indent="-97790" lvl="0" marL="91440" rtl="0" algn="l">
              <a:lnSpc>
                <a:spcPct val="90000"/>
              </a:lnSpc>
              <a:spcBef>
                <a:spcPts val="1400"/>
              </a:spcBef>
              <a:spcAft>
                <a:spcPts val="0"/>
              </a:spcAft>
              <a:buSzPct val="100000"/>
              <a:buChar char=" "/>
            </a:pPr>
            <a:r>
              <a:rPr lang="en-IN" sz="2200"/>
              <a:t>Virtual memory is almost never found in these systems.</a:t>
            </a:r>
            <a:endParaRPr/>
          </a:p>
          <a:p>
            <a:pPr indent="-2539" lvl="0" marL="91440" rtl="0" algn="l">
              <a:lnSpc>
                <a:spcPct val="90000"/>
              </a:lnSpc>
              <a:spcBef>
                <a:spcPts val="1400"/>
              </a:spcBef>
              <a:spcAft>
                <a:spcPts val="0"/>
              </a:spcAft>
              <a:buSzPct val="100000"/>
              <a:buNone/>
            </a:pPr>
            <a:r>
              <a:t/>
            </a:r>
            <a:endParaRPr sz="2000"/>
          </a:p>
          <a:p>
            <a:pPr indent="-91440" lvl="0" marL="91440" rtl="0" algn="l">
              <a:lnSpc>
                <a:spcPct val="90000"/>
              </a:lnSpc>
              <a:spcBef>
                <a:spcPts val="1400"/>
              </a:spcBef>
              <a:spcAft>
                <a:spcPts val="0"/>
              </a:spcAft>
              <a:buSzPct val="100000"/>
              <a:buChar char=" "/>
            </a:pPr>
            <a:r>
              <a:rPr lang="en-IN" sz="2000"/>
              <a:t>The usefulness of result produced by a hard real time system decreases abruptly and </a:t>
            </a:r>
            <a:r>
              <a:rPr b="1" lang="en-IN" sz="2000" u="sng"/>
              <a:t>may become negative if tardiness increases. </a:t>
            </a:r>
            <a:endParaRPr/>
          </a:p>
          <a:p>
            <a:pPr indent="0" lvl="0" marL="91440" rtl="0" algn="l">
              <a:lnSpc>
                <a:spcPct val="90000"/>
              </a:lnSpc>
              <a:spcBef>
                <a:spcPts val="1400"/>
              </a:spcBef>
              <a:spcAft>
                <a:spcPts val="0"/>
              </a:spcAft>
              <a:buSzPct val="100000"/>
              <a:buNone/>
            </a:pPr>
            <a:r>
              <a:t/>
            </a:r>
            <a:endParaRPr sz="2200"/>
          </a:p>
          <a:p>
            <a:pPr indent="-2539" lvl="0" marL="91440" rtl="0" algn="l">
              <a:lnSpc>
                <a:spcPct val="90000"/>
              </a:lnSpc>
              <a:spcBef>
                <a:spcPts val="1400"/>
              </a:spcBef>
              <a:spcAft>
                <a:spcPts val="0"/>
              </a:spcAft>
              <a:buSzPct val="100000"/>
              <a:buNone/>
            </a:pPr>
            <a:r>
              <a:t/>
            </a:r>
            <a:endParaRPr sz="2000"/>
          </a:p>
          <a:p>
            <a:pPr indent="-2539" lvl="0" marL="91440" rtl="0" algn="l">
              <a:lnSpc>
                <a:spcPct val="90000"/>
              </a:lnSpc>
              <a:spcBef>
                <a:spcPts val="1400"/>
              </a:spcBef>
              <a:spcAft>
                <a:spcPts val="0"/>
              </a:spcAft>
              <a:buSzPct val="100000"/>
              <a:buNone/>
            </a:pPr>
            <a:r>
              <a:t/>
            </a:r>
            <a:endParaRPr sz="2000"/>
          </a:p>
          <a:p>
            <a:pPr indent="-2539" lvl="0" marL="91440" rtl="0" algn="l">
              <a:lnSpc>
                <a:spcPct val="90000"/>
              </a:lnSpc>
              <a:spcBef>
                <a:spcPts val="1400"/>
              </a:spcBef>
              <a:spcAft>
                <a:spcPts val="0"/>
              </a:spcAft>
              <a:buSzPct val="100000"/>
              <a:buNone/>
            </a:pPr>
            <a:r>
              <a:t/>
            </a:r>
            <a:endParaRPr/>
          </a:p>
        </p:txBody>
      </p:sp>
      <p:sp>
        <p:nvSpPr>
          <p:cNvPr id="733" name="Google Shape;733;p64"/>
          <p:cNvSpPr txBox="1"/>
          <p:nvPr>
            <p:ph idx="3" type="body"/>
          </p:nvPr>
        </p:nvSpPr>
        <p:spPr>
          <a:xfrm>
            <a:off x="4645025" y="44624"/>
            <a:ext cx="4041775" cy="6397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000"/>
              <a:buNone/>
            </a:pPr>
            <a:r>
              <a:rPr lang="en-IN"/>
              <a:t>SOFT REAL-TIME SYSTEMS:</a:t>
            </a:r>
            <a:endParaRPr/>
          </a:p>
        </p:txBody>
      </p:sp>
      <p:sp>
        <p:nvSpPr>
          <p:cNvPr id="734" name="Google Shape;734;p64"/>
          <p:cNvSpPr txBox="1"/>
          <p:nvPr>
            <p:ph idx="4" type="body"/>
          </p:nvPr>
        </p:nvSpPr>
        <p:spPr>
          <a:xfrm>
            <a:off x="4645026" y="980728"/>
            <a:ext cx="3795008" cy="5688632"/>
          </a:xfrm>
          <a:prstGeom prst="rect">
            <a:avLst/>
          </a:prstGeom>
          <a:noFill/>
          <a:ln>
            <a:noFill/>
          </a:ln>
        </p:spPr>
        <p:txBody>
          <a:bodyPr anchorCtr="0" anchor="t" bIns="45700" lIns="0" spcFirstLastPara="1" rIns="0" wrap="square" tIns="45700">
            <a:normAutofit fontScale="85000" lnSpcReduction="20000"/>
          </a:bodyPr>
          <a:lstStyle/>
          <a:p>
            <a:pPr indent="-91757" lvl="0" marL="91440" rtl="0" algn="l">
              <a:lnSpc>
                <a:spcPct val="80000"/>
              </a:lnSpc>
              <a:spcBef>
                <a:spcPts val="0"/>
              </a:spcBef>
              <a:spcAft>
                <a:spcPts val="0"/>
              </a:spcAft>
              <a:buSzPct val="100000"/>
              <a:buChar char=" "/>
            </a:pPr>
            <a:r>
              <a:rPr lang="en-IN" sz="1700"/>
              <a:t>These OSs are for applications where for time-constraint is less strict. This type of system can miss its deadline occasionally with some acceptably low probability</a:t>
            </a:r>
            <a:endParaRPr/>
          </a:p>
          <a:p>
            <a:pPr indent="-5079" lvl="0" marL="91440" rtl="0" algn="l">
              <a:lnSpc>
                <a:spcPct val="80000"/>
              </a:lnSpc>
              <a:spcBef>
                <a:spcPts val="1400"/>
              </a:spcBef>
              <a:spcAft>
                <a:spcPts val="0"/>
              </a:spcAft>
              <a:buSzPct val="100000"/>
              <a:buNone/>
            </a:pPr>
            <a:r>
              <a:t/>
            </a:r>
            <a:endParaRPr sz="1600"/>
          </a:p>
          <a:p>
            <a:pPr indent="-91440" lvl="0" marL="91440" rtl="0" algn="l">
              <a:lnSpc>
                <a:spcPct val="80000"/>
              </a:lnSpc>
              <a:spcBef>
                <a:spcPts val="1400"/>
              </a:spcBef>
              <a:spcAft>
                <a:spcPts val="0"/>
              </a:spcAft>
              <a:buSzPct val="100000"/>
              <a:buChar char=" "/>
            </a:pPr>
            <a:r>
              <a:rPr lang="en-IN" sz="1600"/>
              <a:t>Example: </a:t>
            </a:r>
            <a:r>
              <a:rPr b="1" lang="en-IN" sz="1600" u="sng"/>
              <a:t>Telephone switches. </a:t>
            </a:r>
            <a:endParaRPr/>
          </a:p>
          <a:p>
            <a:pPr indent="0" lvl="0" marL="91440" rtl="0" algn="l">
              <a:lnSpc>
                <a:spcPct val="80000"/>
              </a:lnSpc>
              <a:spcBef>
                <a:spcPts val="1400"/>
              </a:spcBef>
              <a:spcAft>
                <a:spcPts val="0"/>
              </a:spcAft>
              <a:buSzPct val="100000"/>
              <a:buNone/>
            </a:pPr>
            <a:r>
              <a:t/>
            </a:r>
            <a:endParaRPr sz="1700"/>
          </a:p>
          <a:p>
            <a:pPr indent="0" lvl="0" marL="91440" rtl="0" algn="l">
              <a:lnSpc>
                <a:spcPct val="80000"/>
              </a:lnSpc>
              <a:spcBef>
                <a:spcPts val="1400"/>
              </a:spcBef>
              <a:spcAft>
                <a:spcPts val="0"/>
              </a:spcAft>
              <a:buSzPct val="100000"/>
              <a:buNone/>
            </a:pPr>
            <a:r>
              <a:t/>
            </a:r>
            <a:endParaRPr sz="1700"/>
          </a:p>
          <a:p>
            <a:pPr indent="0" lvl="0" marL="91440" rtl="0" algn="l">
              <a:lnSpc>
                <a:spcPct val="80000"/>
              </a:lnSpc>
              <a:spcBef>
                <a:spcPts val="1400"/>
              </a:spcBef>
              <a:spcAft>
                <a:spcPts val="0"/>
              </a:spcAft>
              <a:buSzPct val="100000"/>
              <a:buNone/>
            </a:pPr>
            <a:r>
              <a:t/>
            </a:r>
            <a:endParaRPr sz="1700"/>
          </a:p>
          <a:p>
            <a:pPr indent="0" lvl="0" marL="91440" rtl="0" algn="l">
              <a:lnSpc>
                <a:spcPct val="80000"/>
              </a:lnSpc>
              <a:spcBef>
                <a:spcPts val="1400"/>
              </a:spcBef>
              <a:spcAft>
                <a:spcPts val="0"/>
              </a:spcAft>
              <a:buSzPct val="100000"/>
              <a:buNone/>
            </a:pPr>
            <a:r>
              <a:t/>
            </a:r>
            <a:endParaRPr sz="1700"/>
          </a:p>
          <a:p>
            <a:pPr indent="0" lvl="0" marL="91440" rtl="0" algn="l">
              <a:lnSpc>
                <a:spcPct val="80000"/>
              </a:lnSpc>
              <a:spcBef>
                <a:spcPts val="1400"/>
              </a:spcBef>
              <a:spcAft>
                <a:spcPts val="0"/>
              </a:spcAft>
              <a:buSzPct val="100000"/>
              <a:buNone/>
            </a:pPr>
            <a:r>
              <a:t/>
            </a:r>
            <a:endParaRPr sz="1700"/>
          </a:p>
          <a:p>
            <a:pPr indent="0" lvl="0" marL="91440" rtl="0" algn="l">
              <a:lnSpc>
                <a:spcPct val="80000"/>
              </a:lnSpc>
              <a:spcBef>
                <a:spcPts val="1400"/>
              </a:spcBef>
              <a:spcAft>
                <a:spcPts val="0"/>
              </a:spcAft>
              <a:buSzPct val="100000"/>
              <a:buNone/>
            </a:pPr>
            <a:r>
              <a:t/>
            </a:r>
            <a:endParaRPr sz="1700"/>
          </a:p>
          <a:p>
            <a:pPr indent="0" lvl="0" marL="91440" rtl="0" algn="l">
              <a:lnSpc>
                <a:spcPct val="80000"/>
              </a:lnSpc>
              <a:spcBef>
                <a:spcPts val="1400"/>
              </a:spcBef>
              <a:spcAft>
                <a:spcPts val="0"/>
              </a:spcAft>
              <a:buSzPct val="100000"/>
              <a:buNone/>
            </a:pPr>
            <a:r>
              <a:t/>
            </a:r>
            <a:endParaRPr sz="1700"/>
          </a:p>
          <a:p>
            <a:pPr indent="-91757" lvl="0" marL="91440" rtl="0" algn="l">
              <a:lnSpc>
                <a:spcPct val="80000"/>
              </a:lnSpc>
              <a:spcBef>
                <a:spcPts val="1400"/>
              </a:spcBef>
              <a:spcAft>
                <a:spcPts val="0"/>
              </a:spcAft>
              <a:buSzPct val="100000"/>
              <a:buChar char=" "/>
            </a:pPr>
            <a:r>
              <a:rPr lang="en-IN" sz="1700"/>
              <a:t>Missing the deadline have no disastrous consequences. </a:t>
            </a:r>
            <a:endParaRPr sz="1700"/>
          </a:p>
          <a:p>
            <a:pPr indent="0" lvl="0" marL="91440" rtl="0" algn="l">
              <a:lnSpc>
                <a:spcPct val="80000"/>
              </a:lnSpc>
              <a:spcBef>
                <a:spcPts val="1400"/>
              </a:spcBef>
              <a:spcAft>
                <a:spcPts val="0"/>
              </a:spcAft>
              <a:buSzPct val="100000"/>
              <a:buNone/>
            </a:pPr>
            <a:r>
              <a:t/>
            </a:r>
            <a:endParaRPr sz="1700"/>
          </a:p>
          <a:p>
            <a:pPr indent="0" lvl="0" marL="91440" rtl="0" algn="l">
              <a:lnSpc>
                <a:spcPct val="80000"/>
              </a:lnSpc>
              <a:spcBef>
                <a:spcPts val="1400"/>
              </a:spcBef>
              <a:spcAft>
                <a:spcPts val="0"/>
              </a:spcAft>
              <a:buSzPct val="100000"/>
              <a:buNone/>
            </a:pPr>
            <a:r>
              <a:t/>
            </a:r>
            <a:endParaRPr sz="1800"/>
          </a:p>
          <a:p>
            <a:pPr indent="0" lvl="0" marL="91440" rtl="0" algn="l">
              <a:lnSpc>
                <a:spcPct val="80000"/>
              </a:lnSpc>
              <a:spcBef>
                <a:spcPts val="1400"/>
              </a:spcBef>
              <a:spcAft>
                <a:spcPts val="0"/>
              </a:spcAft>
              <a:buSzPct val="100000"/>
              <a:buNone/>
            </a:pPr>
            <a:r>
              <a:t/>
            </a:r>
            <a:endParaRPr sz="1800"/>
          </a:p>
          <a:p>
            <a:pPr indent="0" lvl="0" marL="91440" rtl="0" algn="l">
              <a:lnSpc>
                <a:spcPct val="80000"/>
              </a:lnSpc>
              <a:spcBef>
                <a:spcPts val="1400"/>
              </a:spcBef>
              <a:spcAft>
                <a:spcPts val="0"/>
              </a:spcAft>
              <a:buSzPct val="100000"/>
              <a:buNone/>
            </a:pPr>
            <a:r>
              <a:t/>
            </a:r>
            <a:endParaRPr sz="1800"/>
          </a:p>
          <a:p>
            <a:pPr indent="-97155" lvl="0" marL="91440" rtl="0" algn="l">
              <a:lnSpc>
                <a:spcPct val="80000"/>
              </a:lnSpc>
              <a:spcBef>
                <a:spcPts val="1400"/>
              </a:spcBef>
              <a:spcAft>
                <a:spcPts val="0"/>
              </a:spcAft>
              <a:buSzPct val="100000"/>
              <a:buChar char=" "/>
            </a:pPr>
            <a:r>
              <a:rPr lang="en-IN" sz="1800"/>
              <a:t>The usefulness of result produced by a soft real time system decreases gradually with increase in tardiness. </a:t>
            </a:r>
            <a:endParaRPr sz="1700"/>
          </a:p>
          <a:p>
            <a:pPr indent="0" lvl="0" marL="91440" rtl="0" algn="l">
              <a:lnSpc>
                <a:spcPct val="80000"/>
              </a:lnSpc>
              <a:spcBef>
                <a:spcPts val="1400"/>
              </a:spcBef>
              <a:spcAft>
                <a:spcPts val="0"/>
              </a:spcAft>
              <a:buSzPct val="100000"/>
              <a:buNone/>
            </a:pPr>
            <a:r>
              <a:t/>
            </a:r>
            <a:endParaRPr sz="1700"/>
          </a:p>
        </p:txBody>
      </p:sp>
      <p:sp>
        <p:nvSpPr>
          <p:cNvPr id="735" name="Google Shape;735;p6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736" name="Google Shape;736;p6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737" name="Google Shape;737;p6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738" name="Google Shape;738;p64"/>
          <p:cNvSpPr txBox="1"/>
          <p:nvPr/>
        </p:nvSpPr>
        <p:spPr>
          <a:xfrm>
            <a:off x="0" y="6381328"/>
            <a:ext cx="8337347" cy="646331"/>
          </a:xfrm>
          <a:prstGeom prst="rect">
            <a:avLst/>
          </a:prstGeom>
          <a:noFill/>
          <a:ln>
            <a:noFill/>
          </a:ln>
        </p:spPr>
        <p:txBody>
          <a:bodyPr anchorCtr="0" anchor="t" bIns="45700" lIns="91425" spcFirstLastPara="1" rIns="91425" wrap="square" tIns="45700">
            <a:spAutoFit/>
          </a:bodyPr>
          <a:lstStyle/>
          <a:p>
            <a:pPr indent="0" lvl="1" marL="0" marR="0" rtl="0" algn="l">
              <a:spcBef>
                <a:spcPts val="0"/>
              </a:spcBef>
              <a:spcAft>
                <a:spcPts val="0"/>
              </a:spcAft>
              <a:buNone/>
            </a:pPr>
            <a:r>
              <a:rPr b="0" i="0" lang="en-IN" sz="1800" u="none" cap="none" strike="noStrike">
                <a:solidFill>
                  <a:schemeClr val="dk1"/>
                </a:solidFill>
                <a:latin typeface="Calibri"/>
                <a:ea typeface="Calibri"/>
                <a:cs typeface="Calibri"/>
                <a:sym typeface="Calibri"/>
              </a:rPr>
              <a:t>Tardiness - </a:t>
            </a:r>
            <a:r>
              <a:rPr b="1" i="0" lang="en-IN" sz="1800" u="sng" cap="none" strike="noStrike">
                <a:solidFill>
                  <a:schemeClr val="dk1"/>
                </a:solidFill>
                <a:latin typeface="Calibri"/>
                <a:ea typeface="Calibri"/>
                <a:cs typeface="Calibri"/>
                <a:sym typeface="Calibri"/>
              </a:rPr>
              <a:t>How late a real time system completes </a:t>
            </a:r>
            <a:r>
              <a:rPr b="0" i="0" lang="en-IN" sz="1800" u="none" cap="none" strike="noStrike">
                <a:solidFill>
                  <a:schemeClr val="dk1"/>
                </a:solidFill>
                <a:latin typeface="Calibri"/>
                <a:ea typeface="Calibri"/>
                <a:cs typeface="Calibri"/>
                <a:sym typeface="Calibri"/>
              </a:rPr>
              <a:t>its task with respect to its deadline.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6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744" name="Google Shape;744;p6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745" name="Google Shape;745;p6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746" name="Google Shape;746;p65"/>
          <p:cNvSpPr/>
          <p:nvPr/>
        </p:nvSpPr>
        <p:spPr>
          <a:xfrm>
            <a:off x="683568" y="474345"/>
            <a:ext cx="7704856" cy="50167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000">
                <a:solidFill>
                  <a:schemeClr val="dk1"/>
                </a:solidFill>
                <a:latin typeface="Calibri"/>
                <a:ea typeface="Calibri"/>
                <a:cs typeface="Calibri"/>
                <a:sym typeface="Calibri"/>
              </a:rPr>
              <a:t>SPOOL is an acronym for </a:t>
            </a:r>
            <a:r>
              <a:rPr b="1" lang="en-IN" sz="2000">
                <a:solidFill>
                  <a:schemeClr val="dk1"/>
                </a:solidFill>
                <a:latin typeface="Calibri"/>
                <a:ea typeface="Calibri"/>
                <a:cs typeface="Calibri"/>
                <a:sym typeface="Calibri"/>
              </a:rPr>
              <a:t>simultaneous peripheral operations on-line</a:t>
            </a:r>
            <a:r>
              <a:rPr lang="en-IN"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158750" lvl="0" marL="285750" marR="0" rtl="0" algn="l">
              <a:spcBef>
                <a:spcPts val="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A large buffer from hard disk</a:t>
            </a:r>
            <a:endParaRPr/>
          </a:p>
          <a:p>
            <a:pPr indent="-285750" lvl="1" marL="7429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Calibri"/>
                <a:ea typeface="Calibri"/>
                <a:cs typeface="Calibri"/>
                <a:sym typeface="Calibri"/>
              </a:rPr>
              <a:t>Buffer can store the data through I/O</a:t>
            </a:r>
            <a:endParaRPr/>
          </a:p>
          <a:p>
            <a:pPr indent="-285750" lvl="1" marL="7429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Calibri"/>
                <a:ea typeface="Calibri"/>
                <a:cs typeface="Calibri"/>
                <a:sym typeface="Calibri"/>
              </a:rPr>
              <a:t>Because I/O is slow and CPU is fast.</a:t>
            </a:r>
            <a:endParaRPr/>
          </a:p>
          <a:p>
            <a:pPr indent="-285750" lvl="0" marL="28575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In a computer system peripheral equipment's, such as printers and punch card readers etc (batch processing), are very slow relative to the performance of the rest of the system. </a:t>
            </a:r>
            <a:endParaRPr sz="2000">
              <a:solidFill>
                <a:schemeClr val="dk1"/>
              </a:solidFill>
              <a:latin typeface="Calibri"/>
              <a:ea typeface="Calibri"/>
              <a:cs typeface="Calibri"/>
              <a:sym typeface="Calibri"/>
            </a:endParaRPr>
          </a:p>
          <a:p>
            <a:pPr indent="-158750" lvl="0" marL="285750" marR="0" rtl="0" algn="l">
              <a:spcBef>
                <a:spcPts val="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It is a kind of buffering mechanism or a process in which data is temporarily held to be used and executed by a device, program or the system. </a:t>
            </a:r>
            <a:endParaRPr/>
          </a:p>
          <a:p>
            <a:pPr indent="-158750" lvl="0" marL="285750" marR="0" rtl="0" algn="l">
              <a:spcBef>
                <a:spcPts val="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Data is sent to and stored in memory or other volatile storage until the program or computer requests it for execution.</a:t>
            </a:r>
            <a:endParaRPr/>
          </a:p>
          <a:p>
            <a:pPr indent="-158750" lvl="0" marL="285750" marR="0" rtl="0" algn="l">
              <a:spcBef>
                <a:spcPts val="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6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752" name="Google Shape;752;p6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753" name="Google Shape;753;p6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754" name="Google Shape;754;p66"/>
          <p:cNvPicPr preferRelativeResize="0"/>
          <p:nvPr/>
        </p:nvPicPr>
        <p:blipFill rotWithShape="1">
          <a:blip r:embed="rId3">
            <a:alphaModFix/>
          </a:blip>
          <a:srcRect b="0" l="0" r="0" t="0"/>
          <a:stretch/>
        </p:blipFill>
        <p:spPr>
          <a:xfrm>
            <a:off x="107503" y="260648"/>
            <a:ext cx="8083783" cy="4608512"/>
          </a:xfrm>
          <a:prstGeom prst="rect">
            <a:avLst/>
          </a:prstGeom>
          <a:noFill/>
          <a:ln>
            <a:noFill/>
          </a:ln>
        </p:spPr>
      </p:pic>
      <p:pic>
        <p:nvPicPr>
          <p:cNvPr id="755" name="Google Shape;755;p66"/>
          <p:cNvPicPr preferRelativeResize="0"/>
          <p:nvPr/>
        </p:nvPicPr>
        <p:blipFill rotWithShape="1">
          <a:blip r:embed="rId4">
            <a:alphaModFix/>
          </a:blip>
          <a:srcRect b="0" l="0" r="0" t="0"/>
          <a:stretch/>
        </p:blipFill>
        <p:spPr>
          <a:xfrm>
            <a:off x="467544" y="4929077"/>
            <a:ext cx="7597352" cy="18122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6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761" name="Google Shape;761;p6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762" name="Google Shape;762;p6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763" name="Google Shape;763;p67"/>
          <p:cNvSpPr/>
          <p:nvPr/>
        </p:nvSpPr>
        <p:spPr>
          <a:xfrm>
            <a:off x="539552" y="332656"/>
            <a:ext cx="7704856" cy="280076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400">
                <a:solidFill>
                  <a:schemeClr val="dk1"/>
                </a:solidFill>
                <a:latin typeface="Calibri"/>
                <a:ea typeface="Calibri"/>
                <a:cs typeface="Calibri"/>
                <a:sym typeface="Calibri"/>
              </a:rPr>
              <a:t>ISRO | ISRO CS 2017 – May | Question 71</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IN" sz="2400">
                <a:solidFill>
                  <a:schemeClr val="dk1"/>
                </a:solidFill>
                <a:latin typeface="Calibri"/>
                <a:ea typeface="Calibri"/>
                <a:cs typeface="Calibri"/>
                <a:sym typeface="Calibri"/>
              </a:rPr>
              <a:t>Which of the following statement is true?</a:t>
            </a:r>
            <a:endParaRPr/>
          </a:p>
          <a:p>
            <a:pPr indent="0" lvl="0" marL="0" marR="0" rtl="0" algn="l">
              <a:spcBef>
                <a:spcPts val="0"/>
              </a:spcBef>
              <a:spcAft>
                <a:spcPts val="0"/>
              </a:spcAft>
              <a:buNone/>
            </a:pPr>
            <a:br>
              <a:rPr lang="en-IN" sz="2400">
                <a:solidFill>
                  <a:schemeClr val="dk1"/>
                </a:solidFill>
                <a:latin typeface="Calibri"/>
                <a:ea typeface="Calibri"/>
                <a:cs typeface="Calibri"/>
                <a:sym typeface="Calibri"/>
              </a:rPr>
            </a:br>
            <a:r>
              <a:rPr b="1" lang="en-IN" sz="2000">
                <a:solidFill>
                  <a:schemeClr val="dk1"/>
                </a:solidFill>
                <a:latin typeface="Calibri"/>
                <a:ea typeface="Calibri"/>
                <a:cs typeface="Calibri"/>
                <a:sym typeface="Calibri"/>
              </a:rPr>
              <a:t>(A)</a:t>
            </a:r>
            <a:r>
              <a:rPr lang="en-IN" sz="2000">
                <a:solidFill>
                  <a:schemeClr val="dk1"/>
                </a:solidFill>
                <a:latin typeface="Calibri"/>
                <a:ea typeface="Calibri"/>
                <a:cs typeface="Calibri"/>
                <a:sym typeface="Calibri"/>
              </a:rPr>
              <a:t> Hard real time OS has less jitter than soft real time OS</a:t>
            </a:r>
            <a:br>
              <a:rPr lang="en-IN" sz="2000">
                <a:solidFill>
                  <a:schemeClr val="dk1"/>
                </a:solidFill>
                <a:latin typeface="Calibri"/>
                <a:ea typeface="Calibri"/>
                <a:cs typeface="Calibri"/>
                <a:sym typeface="Calibri"/>
              </a:rPr>
            </a:br>
            <a:r>
              <a:rPr b="1" lang="en-IN" sz="2000">
                <a:solidFill>
                  <a:schemeClr val="dk1"/>
                </a:solidFill>
                <a:latin typeface="Calibri"/>
                <a:ea typeface="Calibri"/>
                <a:cs typeface="Calibri"/>
                <a:sym typeface="Calibri"/>
              </a:rPr>
              <a:t>(B)</a:t>
            </a:r>
            <a:r>
              <a:rPr lang="en-IN" sz="2000">
                <a:solidFill>
                  <a:schemeClr val="dk1"/>
                </a:solidFill>
                <a:latin typeface="Calibri"/>
                <a:ea typeface="Calibri"/>
                <a:cs typeface="Calibri"/>
                <a:sym typeface="Calibri"/>
              </a:rPr>
              <a:t> Hard real time OS has more jitter than soft real time OS</a:t>
            </a:r>
            <a:br>
              <a:rPr lang="en-IN" sz="2000">
                <a:solidFill>
                  <a:schemeClr val="dk1"/>
                </a:solidFill>
                <a:latin typeface="Calibri"/>
                <a:ea typeface="Calibri"/>
                <a:cs typeface="Calibri"/>
                <a:sym typeface="Calibri"/>
              </a:rPr>
            </a:br>
            <a:r>
              <a:rPr b="1" lang="en-IN" sz="2000">
                <a:solidFill>
                  <a:schemeClr val="dk1"/>
                </a:solidFill>
                <a:latin typeface="Calibri"/>
                <a:ea typeface="Calibri"/>
                <a:cs typeface="Calibri"/>
                <a:sym typeface="Calibri"/>
              </a:rPr>
              <a:t>(C)</a:t>
            </a:r>
            <a:r>
              <a:rPr lang="en-IN" sz="2000">
                <a:solidFill>
                  <a:schemeClr val="dk1"/>
                </a:solidFill>
                <a:latin typeface="Calibri"/>
                <a:ea typeface="Calibri"/>
                <a:cs typeface="Calibri"/>
                <a:sym typeface="Calibri"/>
              </a:rPr>
              <a:t> Hard real time OS has equal jitter as soft real time OS</a:t>
            </a:r>
            <a:br>
              <a:rPr lang="en-IN" sz="2000">
                <a:solidFill>
                  <a:schemeClr val="dk1"/>
                </a:solidFill>
                <a:latin typeface="Calibri"/>
                <a:ea typeface="Calibri"/>
                <a:cs typeface="Calibri"/>
                <a:sym typeface="Calibri"/>
              </a:rPr>
            </a:br>
            <a:r>
              <a:rPr b="1" lang="en-IN" sz="2000">
                <a:solidFill>
                  <a:schemeClr val="dk1"/>
                </a:solidFill>
                <a:latin typeface="Calibri"/>
                <a:ea typeface="Calibri"/>
                <a:cs typeface="Calibri"/>
                <a:sym typeface="Calibri"/>
              </a:rPr>
              <a:t>(D)</a:t>
            </a:r>
            <a:r>
              <a:rPr lang="en-IN" sz="2000">
                <a:solidFill>
                  <a:schemeClr val="dk1"/>
                </a:solidFill>
                <a:latin typeface="Calibri"/>
                <a:ea typeface="Calibri"/>
                <a:cs typeface="Calibri"/>
                <a:sym typeface="Calibri"/>
              </a:rPr>
              <a:t> None of the above</a:t>
            </a:r>
            <a:endParaRPr sz="2400">
              <a:solidFill>
                <a:schemeClr val="dk1"/>
              </a:solidFill>
              <a:latin typeface="Calibri"/>
              <a:ea typeface="Calibri"/>
              <a:cs typeface="Calibri"/>
              <a:sym typeface="Calibri"/>
            </a:endParaRPr>
          </a:p>
        </p:txBody>
      </p:sp>
      <p:sp>
        <p:nvSpPr>
          <p:cNvPr id="764" name="Google Shape;764;p67"/>
          <p:cNvSpPr txBox="1"/>
          <p:nvPr/>
        </p:nvSpPr>
        <p:spPr>
          <a:xfrm>
            <a:off x="467544" y="3429000"/>
            <a:ext cx="7272807"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Answer:</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(A)</a:t>
            </a:r>
            <a:r>
              <a:rPr lang="en-IN" sz="1800">
                <a:solidFill>
                  <a:schemeClr val="dk1"/>
                </a:solidFill>
                <a:latin typeface="Calibri"/>
                <a:ea typeface="Calibri"/>
                <a:cs typeface="Calibri"/>
                <a:sym typeface="Calibri"/>
              </a:rPr>
              <a:t> </a:t>
            </a:r>
            <a:br>
              <a:rPr lang="en-IN" sz="1800">
                <a:solidFill>
                  <a:schemeClr val="dk1"/>
                </a:solidFill>
                <a:latin typeface="Calibri"/>
                <a:ea typeface="Calibri"/>
                <a:cs typeface="Calibri"/>
                <a:sym typeface="Calibri"/>
              </a:rPr>
            </a:br>
            <a:br>
              <a:rPr lang="en-IN" sz="1800">
                <a:solidFill>
                  <a:schemeClr val="dk1"/>
                </a:solidFill>
                <a:latin typeface="Calibri"/>
                <a:ea typeface="Calibri"/>
                <a:cs typeface="Calibri"/>
                <a:sym typeface="Calibri"/>
              </a:rPr>
            </a:br>
            <a:r>
              <a:rPr b="1" lang="en-IN" sz="1800">
                <a:solidFill>
                  <a:schemeClr val="dk1"/>
                </a:solidFill>
                <a:latin typeface="Calibri"/>
                <a:ea typeface="Calibri"/>
                <a:cs typeface="Calibri"/>
                <a:sym typeface="Calibri"/>
              </a:rPr>
              <a:t>Explanation:</a:t>
            </a:r>
            <a:r>
              <a:rPr lang="en-IN" sz="1800">
                <a:solidFill>
                  <a:schemeClr val="dk1"/>
                </a:solidFill>
                <a:latin typeface="Calibri"/>
                <a:ea typeface="Calibri"/>
                <a:cs typeface="Calibri"/>
                <a:sym typeface="Calibri"/>
              </a:rPr>
              <a:t> Jitter is the variation / displacement between the signals or data being sent. Hard real operating systems deal with more sensitive systems which require strict time deadlines like engine control systems, satellite launching systems etc while soft real operating systems do not require strict timing constraints and a bit delay is permissible, like mobile phones, online database systems. So hard real operating systems require minimised jitter.</a:t>
            </a:r>
            <a:br>
              <a:rPr lang="en-IN"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6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770" name="Google Shape;770;p6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771" name="Google Shape;771;p6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772" name="Google Shape;772;p68"/>
          <p:cNvSpPr/>
          <p:nvPr/>
        </p:nvSpPr>
        <p:spPr>
          <a:xfrm>
            <a:off x="539552" y="548680"/>
            <a:ext cx="7776864"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ISRO | ISRO CS 2008 | Question 51</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What is the name of the operating system that reads and reacts in terms of actual time.</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A. Batch system</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B. Quick response system</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C. Real time system</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D. Time sharing system</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3" name="Google Shape;773;p68"/>
          <p:cNvSpPr txBox="1"/>
          <p:nvPr/>
        </p:nvSpPr>
        <p:spPr>
          <a:xfrm>
            <a:off x="539552" y="3047999"/>
            <a:ext cx="7344816"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Answer:</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(C)</a:t>
            </a:r>
            <a:r>
              <a:rPr lang="en-IN" sz="1800">
                <a:solidFill>
                  <a:schemeClr val="dk1"/>
                </a:solidFill>
                <a:latin typeface="Calibri"/>
                <a:ea typeface="Calibri"/>
                <a:cs typeface="Calibri"/>
                <a:sym typeface="Calibri"/>
              </a:rPr>
              <a:t> </a:t>
            </a:r>
            <a:br>
              <a:rPr lang="en-IN" sz="1800">
                <a:solidFill>
                  <a:schemeClr val="dk1"/>
                </a:solidFill>
                <a:latin typeface="Calibri"/>
                <a:ea typeface="Calibri"/>
                <a:cs typeface="Calibri"/>
                <a:sym typeface="Calibri"/>
              </a:rPr>
            </a:br>
            <a:br>
              <a:rPr lang="en-IN" sz="1800">
                <a:solidFill>
                  <a:schemeClr val="dk1"/>
                </a:solidFill>
                <a:latin typeface="Calibri"/>
                <a:ea typeface="Calibri"/>
                <a:cs typeface="Calibri"/>
                <a:sym typeface="Calibri"/>
              </a:rPr>
            </a:br>
            <a:r>
              <a:rPr b="1" lang="en-IN" sz="1800">
                <a:solidFill>
                  <a:schemeClr val="dk1"/>
                </a:solidFill>
                <a:latin typeface="Calibri"/>
                <a:ea typeface="Calibri"/>
                <a:cs typeface="Calibri"/>
                <a:sym typeface="Calibri"/>
              </a:rPr>
              <a:t>Explanation:</a:t>
            </a:r>
            <a:r>
              <a:rPr lang="en-IN" sz="1800">
                <a:solidFill>
                  <a:schemeClr val="dk1"/>
                </a:solidFill>
                <a:latin typeface="Calibri"/>
                <a:ea typeface="Calibri"/>
                <a:cs typeface="Calibri"/>
                <a:sym typeface="Calibri"/>
              </a:rPr>
              <a:t> A real-time operating system is an operating system that guarantees to process events or data by a specific moment in time.</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Option (C) is correct.</a:t>
            </a:r>
            <a:endParaRPr/>
          </a:p>
        </p:txBody>
      </p:sp>
      <p:sp>
        <p:nvSpPr>
          <p:cNvPr id="774" name="Google Shape;774;p68"/>
          <p:cNvSpPr/>
          <p:nvPr/>
        </p:nvSpPr>
        <p:spPr>
          <a:xfrm>
            <a:off x="4453217" y="3244334"/>
            <a:ext cx="2375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6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780" name="Google Shape;780;p6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781" name="Google Shape;781;p6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782" name="Google Shape;782;p69"/>
          <p:cNvSpPr/>
          <p:nvPr/>
        </p:nvSpPr>
        <p:spPr>
          <a:xfrm>
            <a:off x="323528" y="752510"/>
            <a:ext cx="8064896" cy="6478697"/>
          </a:xfrm>
          <a:prstGeom prst="rect">
            <a:avLst/>
          </a:prstGeom>
          <a:noFill/>
          <a:ln>
            <a:noFill/>
          </a:ln>
        </p:spPr>
        <p:txBody>
          <a:bodyPr anchorCtr="0" anchor="t" bIns="45700" lIns="91425" spcFirstLastPara="1" rIns="91425" wrap="square" tIns="45700">
            <a:spAutoFit/>
          </a:bodyPr>
          <a:lstStyle/>
          <a:p>
            <a:pPr indent="-114300" lvl="0" marL="0" marR="0" rtl="0" algn="l">
              <a:spcBef>
                <a:spcPts val="0"/>
              </a:spcBef>
              <a:spcAft>
                <a:spcPts val="0"/>
              </a:spcAft>
              <a:buClr>
                <a:srgbClr val="000000"/>
              </a:buClr>
              <a:buSzPts val="1800"/>
              <a:buFont typeface="Arial"/>
              <a:buChar char="•"/>
            </a:pPr>
            <a:r>
              <a:rPr lang="en-IN" sz="1800">
                <a:solidFill>
                  <a:srgbClr val="000000"/>
                </a:solidFill>
                <a:latin typeface="Times New Roman"/>
                <a:ea typeface="Times New Roman"/>
                <a:cs typeface="Times New Roman"/>
                <a:sym typeface="Times New Roman"/>
              </a:rPr>
              <a:t>Convenience:- The OS must make the computer convenient to use.</a:t>
            </a:r>
            <a:endParaRPr sz="1800">
              <a:solidFill>
                <a:srgbClr val="000000"/>
              </a:solidFill>
              <a:latin typeface="Arial"/>
              <a:ea typeface="Arial"/>
              <a:cs typeface="Arial"/>
              <a:sym typeface="Arial"/>
            </a:endParaRPr>
          </a:p>
          <a:p>
            <a:pPr indent="-114300" lvl="0" marL="0" marR="0" rtl="0" algn="l">
              <a:spcBef>
                <a:spcPts val="1000"/>
              </a:spcBef>
              <a:spcAft>
                <a:spcPts val="0"/>
              </a:spcAft>
              <a:buClr>
                <a:srgbClr val="000000"/>
              </a:buClr>
              <a:buSzPts val="1800"/>
              <a:buFont typeface="Arial"/>
              <a:buChar char="•"/>
            </a:pPr>
            <a:r>
              <a:rPr lang="en-IN" sz="1800">
                <a:solidFill>
                  <a:srgbClr val="000000"/>
                </a:solidFill>
                <a:latin typeface="Times New Roman"/>
                <a:ea typeface="Times New Roman"/>
                <a:cs typeface="Times New Roman"/>
                <a:sym typeface="Times New Roman"/>
              </a:rPr>
              <a:t>Efficiency:- The OS must make efficient use of computing resources.</a:t>
            </a:r>
            <a:endParaRPr sz="1800">
              <a:solidFill>
                <a:srgbClr val="000000"/>
              </a:solidFill>
              <a:latin typeface="Arial"/>
              <a:ea typeface="Arial"/>
              <a:cs typeface="Arial"/>
              <a:sym typeface="Arial"/>
            </a:endParaRPr>
          </a:p>
          <a:p>
            <a:pPr indent="-114300" lvl="0" marL="0" marR="0" rtl="0" algn="l">
              <a:spcBef>
                <a:spcPts val="1000"/>
              </a:spcBef>
              <a:spcAft>
                <a:spcPts val="0"/>
              </a:spcAft>
              <a:buClr>
                <a:srgbClr val="000000"/>
              </a:buClr>
              <a:buSzPts val="1800"/>
              <a:buFont typeface="Arial"/>
              <a:buChar char="•"/>
            </a:pPr>
            <a:r>
              <a:rPr lang="en-IN" sz="1800">
                <a:solidFill>
                  <a:srgbClr val="000000"/>
                </a:solidFill>
                <a:latin typeface="Times New Roman"/>
                <a:ea typeface="Times New Roman"/>
                <a:cs typeface="Times New Roman"/>
                <a:sym typeface="Times New Roman"/>
              </a:rPr>
              <a:t>Ability to evolve:- The OS must be designed and implemented in such a way as to provide some means to introduce new functionalities without interfering with OS services.</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Process Management Activities</a:t>
            </a:r>
            <a:endParaRPr/>
          </a:p>
          <a:p>
            <a:pPr indent="-285750" lvl="1" marL="742950" marR="0" rtl="0" algn="l">
              <a:spcBef>
                <a:spcPts val="0"/>
              </a:spcBef>
              <a:spcAft>
                <a:spcPts val="0"/>
              </a:spcAft>
              <a:buClr>
                <a:schemeClr val="dk1"/>
              </a:buClr>
              <a:buSzPts val="1800"/>
              <a:buFont typeface="Arial"/>
              <a:buChar char="•"/>
            </a:pPr>
            <a:r>
              <a:rPr b="0" i="0" lang="en-IN" sz="1800" u="none" cap="none" strike="noStrike">
                <a:solidFill>
                  <a:schemeClr val="dk1"/>
                </a:solidFill>
                <a:latin typeface="Calibri"/>
                <a:ea typeface="Calibri"/>
                <a:cs typeface="Calibri"/>
                <a:sym typeface="Calibri"/>
              </a:rPr>
              <a:t>Memory Management</a:t>
            </a:r>
            <a:endParaRPr/>
          </a:p>
          <a:p>
            <a:pPr indent="-285750" lvl="1" marL="742950" marR="0" rtl="0" algn="l">
              <a:spcBef>
                <a:spcPts val="0"/>
              </a:spcBef>
              <a:spcAft>
                <a:spcPts val="0"/>
              </a:spcAft>
              <a:buClr>
                <a:schemeClr val="dk1"/>
              </a:buClr>
              <a:buSzPts val="1800"/>
              <a:buFont typeface="Arial"/>
              <a:buChar char="•"/>
            </a:pPr>
            <a:r>
              <a:rPr b="0" i="0" lang="en-IN" sz="1800" u="none" cap="none" strike="noStrike">
                <a:solidFill>
                  <a:schemeClr val="dk1"/>
                </a:solidFill>
                <a:latin typeface="Calibri"/>
                <a:ea typeface="Calibri"/>
                <a:cs typeface="Calibri"/>
                <a:sym typeface="Calibri"/>
              </a:rPr>
              <a:t>Storage Management</a:t>
            </a:r>
            <a:endParaRPr/>
          </a:p>
          <a:p>
            <a:pPr indent="-285750" lvl="1" marL="742950" marR="0" rtl="0" algn="l">
              <a:spcBef>
                <a:spcPts val="0"/>
              </a:spcBef>
              <a:spcAft>
                <a:spcPts val="0"/>
              </a:spcAft>
              <a:buClr>
                <a:schemeClr val="dk1"/>
              </a:buClr>
              <a:buSzPts val="1800"/>
              <a:buFont typeface="Arial"/>
              <a:buChar char="•"/>
            </a:pPr>
            <a:r>
              <a:rPr b="0" i="0" lang="en-IN" sz="1800" u="none" cap="none" strike="noStrike">
                <a:solidFill>
                  <a:schemeClr val="dk1"/>
                </a:solidFill>
                <a:latin typeface="Calibri"/>
                <a:ea typeface="Calibri"/>
                <a:cs typeface="Calibri"/>
                <a:sym typeface="Calibri"/>
              </a:rPr>
              <a:t>Mass-Storage Management</a:t>
            </a:r>
            <a:endParaRPr/>
          </a:p>
          <a:p>
            <a:pPr indent="-285750" lvl="1" marL="742950" marR="0" rtl="0" algn="l">
              <a:spcBef>
                <a:spcPts val="0"/>
              </a:spcBef>
              <a:spcAft>
                <a:spcPts val="0"/>
              </a:spcAft>
              <a:buClr>
                <a:schemeClr val="dk1"/>
              </a:buClr>
              <a:buSzPts val="1800"/>
              <a:buFont typeface="Arial"/>
              <a:buChar char="•"/>
            </a:pPr>
            <a:r>
              <a:rPr b="0" i="0" lang="en-IN" sz="1800" u="none" cap="none" strike="noStrike">
                <a:solidFill>
                  <a:schemeClr val="dk1"/>
                </a:solidFill>
                <a:latin typeface="Calibri"/>
                <a:ea typeface="Calibri"/>
                <a:cs typeface="Calibri"/>
                <a:sym typeface="Calibri"/>
              </a:rPr>
              <a:t>Protection System</a:t>
            </a:r>
            <a:endParaRPr/>
          </a:p>
          <a:p>
            <a:pPr indent="0" lvl="1" marL="457200" marR="0" rtl="0" algn="l">
              <a:spcBef>
                <a:spcPts val="0"/>
              </a:spcBef>
              <a:spcAft>
                <a:spcPts val="0"/>
              </a:spcAft>
              <a:buNone/>
            </a:pPr>
            <a:r>
              <a:rPr b="0" i="0" lang="en-IN" sz="1800" u="none" cap="none" strike="noStrike">
                <a:solidFill>
                  <a:schemeClr val="dk1"/>
                </a:solidFill>
                <a:latin typeface="Helvetica Neue"/>
                <a:ea typeface="Helvetica Neue"/>
                <a:cs typeface="Helvetica Neue"/>
                <a:sym typeface="Helvetica Neue"/>
              </a:rPr>
              <a:t>The operating system is responsible for the following activities in connection with process management:</a:t>
            </a:r>
            <a:endParaRPr/>
          </a:p>
          <a:p>
            <a:pPr indent="0" lvl="0" marL="0" marR="0" rtl="0" algn="l">
              <a:spcBef>
                <a:spcPts val="0"/>
              </a:spcBef>
              <a:spcAft>
                <a:spcPts val="0"/>
              </a:spcAft>
              <a:buNone/>
            </a:pPr>
            <a:r>
              <a:rPr lang="en-IN" sz="2400">
                <a:solidFill>
                  <a:schemeClr val="dk1"/>
                </a:solidFill>
                <a:latin typeface="Calibri"/>
                <a:ea typeface="Calibri"/>
                <a:cs typeface="Calibri"/>
                <a:sym typeface="Calibri"/>
              </a:rPr>
              <a:t>Creating and deleting both </a:t>
            </a:r>
            <a:r>
              <a:rPr b="1" lang="en-IN" sz="2400" u="sng">
                <a:solidFill>
                  <a:schemeClr val="dk1"/>
                </a:solidFill>
                <a:latin typeface="Calibri"/>
                <a:ea typeface="Calibri"/>
                <a:cs typeface="Calibri"/>
                <a:sym typeface="Calibri"/>
              </a:rPr>
              <a:t>user and system processes</a:t>
            </a:r>
            <a:endParaRPr/>
          </a:p>
          <a:p>
            <a:pPr indent="0" lvl="0" marL="0" marR="0" rtl="0" algn="l">
              <a:spcBef>
                <a:spcPts val="0"/>
              </a:spcBef>
              <a:spcAft>
                <a:spcPts val="0"/>
              </a:spcAft>
              <a:buNone/>
            </a:pPr>
            <a:r>
              <a:rPr lang="en-IN" sz="2400">
                <a:solidFill>
                  <a:schemeClr val="dk1"/>
                </a:solidFill>
                <a:latin typeface="Calibri"/>
                <a:ea typeface="Calibri"/>
                <a:cs typeface="Calibri"/>
                <a:sym typeface="Calibri"/>
              </a:rPr>
              <a:t>Suspending and resuming processes</a:t>
            </a:r>
            <a:endParaRPr/>
          </a:p>
          <a:p>
            <a:pPr indent="0" lvl="0" marL="0" marR="0" rtl="0" algn="l">
              <a:spcBef>
                <a:spcPts val="0"/>
              </a:spcBef>
              <a:spcAft>
                <a:spcPts val="0"/>
              </a:spcAft>
              <a:buNone/>
            </a:pPr>
            <a:r>
              <a:rPr lang="en-IN" sz="2400">
                <a:solidFill>
                  <a:schemeClr val="dk1"/>
                </a:solidFill>
                <a:latin typeface="Calibri"/>
                <a:ea typeface="Calibri"/>
                <a:cs typeface="Calibri"/>
                <a:sym typeface="Calibri"/>
              </a:rPr>
              <a:t>Providing mechanisms for </a:t>
            </a:r>
            <a:r>
              <a:rPr b="1" lang="en-IN" sz="2400" u="sng">
                <a:solidFill>
                  <a:schemeClr val="dk1"/>
                </a:solidFill>
                <a:latin typeface="Calibri"/>
                <a:ea typeface="Calibri"/>
                <a:cs typeface="Calibri"/>
                <a:sym typeface="Calibri"/>
              </a:rPr>
              <a:t>process synchronization</a:t>
            </a:r>
            <a:endParaRPr/>
          </a:p>
          <a:p>
            <a:pPr indent="0" lvl="0" marL="0" marR="0" rtl="0" algn="l">
              <a:spcBef>
                <a:spcPts val="0"/>
              </a:spcBef>
              <a:spcAft>
                <a:spcPts val="0"/>
              </a:spcAft>
              <a:buNone/>
            </a:pPr>
            <a:r>
              <a:rPr lang="en-IN" sz="2400">
                <a:solidFill>
                  <a:schemeClr val="dk1"/>
                </a:solidFill>
                <a:latin typeface="Calibri"/>
                <a:ea typeface="Calibri"/>
                <a:cs typeface="Calibri"/>
                <a:sym typeface="Calibri"/>
              </a:rPr>
              <a:t>Providing mechanisms for </a:t>
            </a:r>
            <a:r>
              <a:rPr b="1" lang="en-IN" sz="2400" u="sng">
                <a:solidFill>
                  <a:schemeClr val="dk1"/>
                </a:solidFill>
                <a:latin typeface="Calibri"/>
                <a:ea typeface="Calibri"/>
                <a:cs typeface="Calibri"/>
                <a:sym typeface="Calibri"/>
              </a:rPr>
              <a:t>process communication</a:t>
            </a:r>
            <a:endParaRPr/>
          </a:p>
          <a:p>
            <a:pPr indent="0" lvl="0" marL="0" marR="0" rtl="0" algn="l">
              <a:spcBef>
                <a:spcPts val="0"/>
              </a:spcBef>
              <a:spcAft>
                <a:spcPts val="0"/>
              </a:spcAft>
              <a:buNone/>
            </a:pPr>
            <a:r>
              <a:rPr lang="en-IN" sz="2400">
                <a:solidFill>
                  <a:schemeClr val="dk1"/>
                </a:solidFill>
                <a:latin typeface="Calibri"/>
                <a:ea typeface="Calibri"/>
                <a:cs typeface="Calibri"/>
                <a:sym typeface="Calibri"/>
              </a:rPr>
              <a:t>Providing mechanisms for </a:t>
            </a:r>
            <a:r>
              <a:rPr b="1" lang="en-IN" sz="2400" u="sng">
                <a:solidFill>
                  <a:schemeClr val="dk1"/>
                </a:solidFill>
                <a:latin typeface="Calibri"/>
                <a:ea typeface="Calibri"/>
                <a:cs typeface="Calibri"/>
                <a:sym typeface="Calibri"/>
              </a:rPr>
              <a:t>deadlock handling</a:t>
            </a:r>
            <a:endParaRPr/>
          </a:p>
          <a:p>
            <a:pPr indent="0" lvl="1" marL="457200" marR="0" rtl="0" algn="l">
              <a:spcBef>
                <a:spcPts val="0"/>
              </a:spcBef>
              <a:spcAft>
                <a:spcPts val="0"/>
              </a:spcAft>
              <a:buNone/>
            </a:pPr>
            <a:r>
              <a:t/>
            </a:r>
            <a:endParaRPr b="0" i="0" sz="1800" u="none" cap="none" strike="noStrike">
              <a:solidFill>
                <a:schemeClr val="dk1"/>
              </a:solidFill>
              <a:latin typeface="Helvetica Neue"/>
              <a:ea typeface="Helvetica Neue"/>
              <a:cs typeface="Helvetica Neue"/>
              <a:sym typeface="Helvetica Neue"/>
            </a:endParaRPr>
          </a:p>
          <a:p>
            <a:pPr indent="-171450" lvl="1" marL="742950" marR="0" rtl="0" algn="l">
              <a:spcBef>
                <a:spcPts val="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spcBef>
                <a:spcPts val="1000"/>
              </a:spcBef>
              <a:spcAft>
                <a:spcPts val="0"/>
              </a:spcAft>
              <a:buClr>
                <a:schemeClr val="dk1"/>
              </a:buClr>
              <a:buSzPts val="1800"/>
              <a:buFont typeface="Arial"/>
              <a:buNone/>
            </a:pPr>
            <a:r>
              <a:t/>
            </a:r>
            <a:endParaRPr b="0" i="0" sz="1800" u="none" strike="noStrike">
              <a:solidFill>
                <a:srgbClr val="000000"/>
              </a:solidFill>
              <a:latin typeface="Arial"/>
              <a:ea typeface="Arial"/>
              <a:cs typeface="Arial"/>
              <a:sym typeface="Arial"/>
            </a:endParaRPr>
          </a:p>
        </p:txBody>
      </p:sp>
      <p:sp>
        <p:nvSpPr>
          <p:cNvPr id="783" name="Google Shape;783;p69"/>
          <p:cNvSpPr/>
          <p:nvPr/>
        </p:nvSpPr>
        <p:spPr>
          <a:xfrm>
            <a:off x="467544" y="44624"/>
            <a:ext cx="7488832"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4000">
                <a:solidFill>
                  <a:schemeClr val="dk1"/>
                </a:solidFill>
                <a:latin typeface="Calibri"/>
                <a:ea typeface="Calibri"/>
                <a:cs typeface="Calibri"/>
                <a:sym typeface="Calibri"/>
              </a:rPr>
              <a:t>OS Objectives/Operations</a:t>
            </a:r>
            <a:endParaRPr/>
          </a:p>
        </p:txBody>
      </p:sp>
      <p:sp>
        <p:nvSpPr>
          <p:cNvPr id="784" name="Google Shape;784;p69"/>
          <p:cNvSpPr/>
          <p:nvPr/>
        </p:nvSpPr>
        <p:spPr>
          <a:xfrm>
            <a:off x="4453217" y="3244334"/>
            <a:ext cx="2375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7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790" name="Google Shape;790;p7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791" name="Google Shape;791;p7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792" name="Google Shape;792;p70"/>
          <p:cNvSpPr txBox="1"/>
          <p:nvPr>
            <p:ph idx="4294967295" type="title"/>
          </p:nvPr>
        </p:nvSpPr>
        <p:spPr>
          <a:xfrm>
            <a:off x="755650" y="23813"/>
            <a:ext cx="8388350"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000"/>
              <a:buFont typeface="Calibri"/>
              <a:buNone/>
            </a:pPr>
            <a:r>
              <a:rPr lang="en-IN" sz="4000"/>
              <a:t>Memory Management</a:t>
            </a:r>
            <a:endParaRPr/>
          </a:p>
        </p:txBody>
      </p:sp>
      <p:sp>
        <p:nvSpPr>
          <p:cNvPr id="793" name="Google Shape;793;p70"/>
          <p:cNvSpPr txBox="1"/>
          <p:nvPr>
            <p:ph idx="4294967295" type="body"/>
          </p:nvPr>
        </p:nvSpPr>
        <p:spPr>
          <a:xfrm>
            <a:off x="0" y="600075"/>
            <a:ext cx="7940675" cy="4530725"/>
          </a:xfrm>
          <a:prstGeom prst="rect">
            <a:avLst/>
          </a:prstGeom>
          <a:noFill/>
          <a:ln>
            <a:noFill/>
          </a:ln>
        </p:spPr>
        <p:txBody>
          <a:bodyPr anchorCtr="0" anchor="t" bIns="45700" lIns="0" spcFirstLastPara="1" rIns="0" wrap="square" tIns="45700">
            <a:normAutofit lnSpcReduction="10000"/>
          </a:bodyPr>
          <a:lstStyle/>
          <a:p>
            <a:pPr indent="-127000" lvl="0" marL="91440" rtl="0" algn="l">
              <a:lnSpc>
                <a:spcPct val="90000"/>
              </a:lnSpc>
              <a:spcBef>
                <a:spcPts val="0"/>
              </a:spcBef>
              <a:spcAft>
                <a:spcPts val="0"/>
              </a:spcAft>
              <a:buSzPts val="2000"/>
              <a:buChar char=" "/>
            </a:pPr>
            <a:r>
              <a:rPr lang="en-IN" sz="2000"/>
              <a:t>To execute a program </a:t>
            </a:r>
            <a:endParaRPr/>
          </a:p>
          <a:p>
            <a:pPr indent="-182880" lvl="1" marL="384048" rtl="0" algn="l">
              <a:lnSpc>
                <a:spcPct val="90000"/>
              </a:lnSpc>
              <a:spcBef>
                <a:spcPts val="400"/>
              </a:spcBef>
              <a:spcAft>
                <a:spcPts val="0"/>
              </a:spcAft>
              <a:buSzPts val="1800"/>
              <a:buChar char="◦"/>
            </a:pPr>
            <a:r>
              <a:rPr b="1" lang="en-IN" u="sng"/>
              <a:t>All (or part) of the instructions </a:t>
            </a:r>
            <a:r>
              <a:rPr lang="en-IN"/>
              <a:t>must be in memory</a:t>
            </a:r>
            <a:endParaRPr/>
          </a:p>
          <a:p>
            <a:pPr indent="-182880" lvl="1" marL="384048" rtl="0" algn="l">
              <a:lnSpc>
                <a:spcPct val="90000"/>
              </a:lnSpc>
              <a:spcBef>
                <a:spcPts val="600"/>
              </a:spcBef>
              <a:spcAft>
                <a:spcPts val="0"/>
              </a:spcAft>
              <a:buSzPts val="1800"/>
              <a:buChar char="◦"/>
            </a:pPr>
            <a:r>
              <a:rPr b="1" lang="en-IN" u="sng"/>
              <a:t>All  (or part) of the data </a:t>
            </a:r>
            <a:r>
              <a:rPr lang="en-IN"/>
              <a:t>that is needed by the program must be in memory.</a:t>
            </a:r>
            <a:endParaRPr/>
          </a:p>
          <a:p>
            <a:pPr indent="0" lvl="0" marL="91440" rtl="0" algn="l">
              <a:lnSpc>
                <a:spcPct val="90000"/>
              </a:lnSpc>
              <a:spcBef>
                <a:spcPts val="1600"/>
              </a:spcBef>
              <a:spcAft>
                <a:spcPts val="0"/>
              </a:spcAft>
              <a:buSzPts val="2000"/>
              <a:buNone/>
            </a:pPr>
            <a:r>
              <a:t/>
            </a:r>
            <a:endParaRPr sz="2000"/>
          </a:p>
          <a:p>
            <a:pPr indent="-127000" lvl="0" marL="91440" rtl="0" algn="l">
              <a:lnSpc>
                <a:spcPct val="90000"/>
              </a:lnSpc>
              <a:spcBef>
                <a:spcPts val="1400"/>
              </a:spcBef>
              <a:spcAft>
                <a:spcPts val="0"/>
              </a:spcAft>
              <a:buSzPts val="2000"/>
              <a:buChar char=" "/>
            </a:pPr>
            <a:r>
              <a:rPr lang="en-IN" sz="2000"/>
              <a:t>Memory management determines what is in memory and when</a:t>
            </a:r>
            <a:endParaRPr/>
          </a:p>
          <a:p>
            <a:pPr indent="-182880" lvl="1" marL="384048" rtl="0" algn="l">
              <a:lnSpc>
                <a:spcPct val="90000"/>
              </a:lnSpc>
              <a:spcBef>
                <a:spcPts val="400"/>
              </a:spcBef>
              <a:spcAft>
                <a:spcPts val="0"/>
              </a:spcAft>
              <a:buSzPts val="1800"/>
              <a:buChar char="◦"/>
            </a:pPr>
            <a:r>
              <a:rPr lang="en-IN"/>
              <a:t>Optimizing CPU utilization and computer response to users</a:t>
            </a:r>
            <a:endParaRPr/>
          </a:p>
          <a:p>
            <a:pPr indent="-177800" lvl="0" marL="91440" rtl="0" algn="l">
              <a:lnSpc>
                <a:spcPct val="90000"/>
              </a:lnSpc>
              <a:spcBef>
                <a:spcPts val="1600"/>
              </a:spcBef>
              <a:spcAft>
                <a:spcPts val="0"/>
              </a:spcAft>
              <a:buSzPts val="2800"/>
              <a:buChar char=" "/>
            </a:pPr>
            <a:r>
              <a:rPr lang="en-IN" sz="2800"/>
              <a:t>Memory management activities</a:t>
            </a:r>
            <a:endParaRPr/>
          </a:p>
          <a:p>
            <a:pPr indent="-182880" lvl="1" marL="384048" rtl="0" algn="l">
              <a:lnSpc>
                <a:spcPct val="90000"/>
              </a:lnSpc>
              <a:spcBef>
                <a:spcPts val="400"/>
              </a:spcBef>
              <a:spcAft>
                <a:spcPts val="0"/>
              </a:spcAft>
              <a:buSzPts val="2400"/>
              <a:buChar char="◦"/>
            </a:pPr>
            <a:r>
              <a:rPr lang="en-IN" sz="2400"/>
              <a:t>Keeping track of </a:t>
            </a:r>
            <a:r>
              <a:rPr b="1" lang="en-IN" sz="2400" u="sng"/>
              <a:t>which parts of memory are currently being used and by whom</a:t>
            </a:r>
            <a:endParaRPr/>
          </a:p>
          <a:p>
            <a:pPr indent="-182880" lvl="1" marL="384048" rtl="0" algn="l">
              <a:lnSpc>
                <a:spcPct val="90000"/>
              </a:lnSpc>
              <a:spcBef>
                <a:spcPts val="600"/>
              </a:spcBef>
              <a:spcAft>
                <a:spcPts val="0"/>
              </a:spcAft>
              <a:buSzPts val="2400"/>
              <a:buChar char="◦"/>
            </a:pPr>
            <a:r>
              <a:rPr lang="en-IN" sz="2400"/>
              <a:t>Deciding which </a:t>
            </a:r>
            <a:r>
              <a:rPr b="1" lang="en-IN" sz="2400" u="sng"/>
              <a:t>processes (or parts thereof) and data to move into and out of memory</a:t>
            </a:r>
            <a:endParaRPr/>
          </a:p>
          <a:p>
            <a:pPr indent="-182880" lvl="1" marL="384048" rtl="0" algn="l">
              <a:lnSpc>
                <a:spcPct val="90000"/>
              </a:lnSpc>
              <a:spcBef>
                <a:spcPts val="600"/>
              </a:spcBef>
              <a:spcAft>
                <a:spcPts val="0"/>
              </a:spcAft>
              <a:buSzPts val="2400"/>
              <a:buChar char="◦"/>
            </a:pPr>
            <a:r>
              <a:rPr lang="en-IN" sz="2400"/>
              <a:t>Allocating and deallocating memory space as needed</a:t>
            </a:r>
            <a:endParaRPr/>
          </a:p>
          <a:p>
            <a:pPr indent="-68579" lvl="1" marL="384048" rtl="0" algn="l">
              <a:lnSpc>
                <a:spcPct val="90000"/>
              </a:lnSpc>
              <a:spcBef>
                <a:spcPts val="600"/>
              </a:spcBef>
              <a:spcAft>
                <a:spcPts val="0"/>
              </a:spcAft>
              <a:buSzPts val="1800"/>
              <a:buNone/>
            </a:pPr>
            <a:r>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7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799" name="Google Shape;799;p7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800" name="Google Shape;800;p7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801" name="Google Shape;801;p71"/>
          <p:cNvSpPr txBox="1"/>
          <p:nvPr>
            <p:ph idx="4294967295" type="title"/>
          </p:nvPr>
        </p:nvSpPr>
        <p:spPr>
          <a:xfrm>
            <a:off x="0" y="182563"/>
            <a:ext cx="5184775" cy="37465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Storage Management</a:t>
            </a:r>
            <a:endParaRPr/>
          </a:p>
        </p:txBody>
      </p:sp>
      <p:sp>
        <p:nvSpPr>
          <p:cNvPr id="802" name="Google Shape;802;p71"/>
          <p:cNvSpPr txBox="1"/>
          <p:nvPr>
            <p:ph idx="4294967295" type="body"/>
          </p:nvPr>
        </p:nvSpPr>
        <p:spPr>
          <a:xfrm>
            <a:off x="0" y="609600"/>
            <a:ext cx="7705725" cy="5772150"/>
          </a:xfrm>
          <a:prstGeom prst="rect">
            <a:avLst/>
          </a:prstGeom>
          <a:noFill/>
          <a:ln>
            <a:noFill/>
          </a:ln>
        </p:spPr>
        <p:txBody>
          <a:bodyPr anchorCtr="0" anchor="t" bIns="45700" lIns="0" spcFirstLastPara="1" rIns="0" wrap="square" tIns="45700">
            <a:normAutofit lnSpcReduction="10000"/>
          </a:bodyPr>
          <a:lstStyle/>
          <a:p>
            <a:pPr indent="-127000" lvl="0" marL="91440" rtl="0" algn="l">
              <a:lnSpc>
                <a:spcPct val="90000"/>
              </a:lnSpc>
              <a:spcBef>
                <a:spcPts val="0"/>
              </a:spcBef>
              <a:spcAft>
                <a:spcPts val="0"/>
              </a:spcAft>
              <a:buSzPts val="2000"/>
              <a:buChar char=" "/>
            </a:pPr>
            <a:r>
              <a:rPr lang="en-IN" sz="2000"/>
              <a:t>OS provides uniform, logical view of information storage</a:t>
            </a:r>
            <a:endParaRPr/>
          </a:p>
          <a:p>
            <a:pPr indent="-182880" lvl="1" marL="384048" rtl="0" algn="l">
              <a:lnSpc>
                <a:spcPct val="90000"/>
              </a:lnSpc>
              <a:spcBef>
                <a:spcPts val="400"/>
              </a:spcBef>
              <a:spcAft>
                <a:spcPts val="0"/>
              </a:spcAft>
              <a:buSzPts val="1800"/>
              <a:buChar char="◦"/>
            </a:pPr>
            <a:r>
              <a:rPr lang="en-IN"/>
              <a:t>Abstracts physical properties to logical storage unit  - </a:t>
            </a:r>
            <a:r>
              <a:rPr b="1" lang="en-IN">
                <a:solidFill>
                  <a:srgbClr val="3366FF"/>
                </a:solidFill>
              </a:rPr>
              <a:t>file</a:t>
            </a:r>
            <a:endParaRPr/>
          </a:p>
          <a:p>
            <a:pPr indent="-182880" lvl="1" marL="384048" rtl="0" algn="l">
              <a:lnSpc>
                <a:spcPct val="90000"/>
              </a:lnSpc>
              <a:spcBef>
                <a:spcPts val="600"/>
              </a:spcBef>
              <a:spcAft>
                <a:spcPts val="0"/>
              </a:spcAft>
              <a:buSzPts val="1800"/>
              <a:buChar char="◦"/>
            </a:pPr>
            <a:r>
              <a:rPr lang="en-IN"/>
              <a:t>Each medium is controlled by device (i.e., disk drive, tape drive)</a:t>
            </a:r>
            <a:endParaRPr/>
          </a:p>
          <a:p>
            <a:pPr indent="-182880" lvl="2" marL="566928" rtl="0" algn="l">
              <a:lnSpc>
                <a:spcPct val="90000"/>
              </a:lnSpc>
              <a:spcBef>
                <a:spcPts val="600"/>
              </a:spcBef>
              <a:spcAft>
                <a:spcPts val="0"/>
              </a:spcAft>
              <a:buSzPts val="1600"/>
              <a:buChar char="◦"/>
            </a:pPr>
            <a:r>
              <a:rPr lang="en-IN" sz="1600"/>
              <a:t>Varying properties include </a:t>
            </a:r>
            <a:endParaRPr/>
          </a:p>
          <a:p>
            <a:pPr indent="-182880" lvl="3" marL="749808" rtl="0" algn="l">
              <a:lnSpc>
                <a:spcPct val="90000"/>
              </a:lnSpc>
              <a:spcBef>
                <a:spcPts val="600"/>
              </a:spcBef>
              <a:spcAft>
                <a:spcPts val="0"/>
              </a:spcAft>
              <a:buSzPts val="2000"/>
              <a:buChar char="◦"/>
            </a:pPr>
            <a:r>
              <a:rPr b="1" lang="en-IN" sz="2000" u="sng"/>
              <a:t>access speed, </a:t>
            </a:r>
            <a:endParaRPr/>
          </a:p>
          <a:p>
            <a:pPr indent="-182880" lvl="3" marL="749808" rtl="0" algn="l">
              <a:lnSpc>
                <a:spcPct val="90000"/>
              </a:lnSpc>
              <a:spcBef>
                <a:spcPts val="600"/>
              </a:spcBef>
              <a:spcAft>
                <a:spcPts val="0"/>
              </a:spcAft>
              <a:buSzPts val="2000"/>
              <a:buChar char="◦"/>
            </a:pPr>
            <a:r>
              <a:rPr b="1" lang="en-IN" sz="2000" u="sng"/>
              <a:t>capacity, </a:t>
            </a:r>
            <a:endParaRPr/>
          </a:p>
          <a:p>
            <a:pPr indent="-182880" lvl="3" marL="749808" rtl="0" algn="l">
              <a:lnSpc>
                <a:spcPct val="90000"/>
              </a:lnSpc>
              <a:spcBef>
                <a:spcPts val="600"/>
              </a:spcBef>
              <a:spcAft>
                <a:spcPts val="0"/>
              </a:spcAft>
              <a:buSzPts val="2000"/>
              <a:buChar char="◦"/>
            </a:pPr>
            <a:r>
              <a:rPr b="1" lang="en-IN" sz="2000" u="sng"/>
              <a:t>data-transfer rate, </a:t>
            </a:r>
            <a:endParaRPr/>
          </a:p>
          <a:p>
            <a:pPr indent="-182880" lvl="3" marL="749808" rtl="0" algn="l">
              <a:lnSpc>
                <a:spcPct val="90000"/>
              </a:lnSpc>
              <a:spcBef>
                <a:spcPts val="600"/>
              </a:spcBef>
              <a:spcAft>
                <a:spcPts val="0"/>
              </a:spcAft>
              <a:buSzPts val="2000"/>
              <a:buChar char="◦"/>
            </a:pPr>
            <a:r>
              <a:rPr b="1" lang="en-IN" sz="2000" u="sng"/>
              <a:t>access method (sequential or random)</a:t>
            </a:r>
            <a:endParaRPr/>
          </a:p>
          <a:p>
            <a:pPr indent="-152400" lvl="0" marL="91440" rtl="0" algn="l">
              <a:lnSpc>
                <a:spcPct val="90000"/>
              </a:lnSpc>
              <a:spcBef>
                <a:spcPts val="1600"/>
              </a:spcBef>
              <a:spcAft>
                <a:spcPts val="0"/>
              </a:spcAft>
              <a:buSzPts val="2400"/>
              <a:buChar char=" "/>
            </a:pPr>
            <a:r>
              <a:rPr lang="en-IN" sz="2400"/>
              <a:t>File-System management</a:t>
            </a:r>
            <a:endParaRPr/>
          </a:p>
          <a:p>
            <a:pPr indent="-182880" lvl="1" marL="384048" rtl="0" algn="l">
              <a:lnSpc>
                <a:spcPct val="90000"/>
              </a:lnSpc>
              <a:spcBef>
                <a:spcPts val="400"/>
              </a:spcBef>
              <a:spcAft>
                <a:spcPts val="0"/>
              </a:spcAft>
              <a:buSzPts val="2400"/>
              <a:buChar char="◦"/>
            </a:pPr>
            <a:r>
              <a:rPr lang="en-IN" sz="2400"/>
              <a:t>Files usually organized into directories</a:t>
            </a:r>
            <a:endParaRPr/>
          </a:p>
          <a:p>
            <a:pPr indent="-182880" lvl="1" marL="384048" rtl="0" algn="l">
              <a:lnSpc>
                <a:spcPct val="90000"/>
              </a:lnSpc>
              <a:spcBef>
                <a:spcPts val="600"/>
              </a:spcBef>
              <a:spcAft>
                <a:spcPts val="0"/>
              </a:spcAft>
              <a:buSzPts val="2400"/>
              <a:buChar char="◦"/>
            </a:pPr>
            <a:r>
              <a:rPr b="1" lang="en-IN" sz="2400" u="sng"/>
              <a:t>Access control </a:t>
            </a:r>
            <a:r>
              <a:rPr lang="en-IN" sz="2400"/>
              <a:t>on most systems to determine who can access what</a:t>
            </a:r>
            <a:endParaRPr/>
          </a:p>
          <a:p>
            <a:pPr indent="-182880" lvl="1" marL="384048" rtl="0" algn="l">
              <a:lnSpc>
                <a:spcPct val="90000"/>
              </a:lnSpc>
              <a:spcBef>
                <a:spcPts val="600"/>
              </a:spcBef>
              <a:spcAft>
                <a:spcPts val="0"/>
              </a:spcAft>
              <a:buSzPts val="2400"/>
              <a:buChar char="◦"/>
            </a:pPr>
            <a:r>
              <a:rPr lang="en-IN" sz="2400"/>
              <a:t>OS activities include</a:t>
            </a:r>
            <a:endParaRPr/>
          </a:p>
          <a:p>
            <a:pPr indent="-182880" lvl="2" marL="566928" rtl="0" algn="l">
              <a:lnSpc>
                <a:spcPct val="90000"/>
              </a:lnSpc>
              <a:spcBef>
                <a:spcPts val="600"/>
              </a:spcBef>
              <a:spcAft>
                <a:spcPts val="0"/>
              </a:spcAft>
              <a:buSzPts val="1400"/>
              <a:buChar char="◦"/>
            </a:pPr>
            <a:r>
              <a:rPr b="1" lang="en-IN" u="sng"/>
              <a:t>Creating and deleting files and directories</a:t>
            </a:r>
            <a:endParaRPr/>
          </a:p>
          <a:p>
            <a:pPr indent="-182880" lvl="2" marL="566928" rtl="0" algn="l">
              <a:lnSpc>
                <a:spcPct val="90000"/>
              </a:lnSpc>
              <a:spcBef>
                <a:spcPts val="600"/>
              </a:spcBef>
              <a:spcAft>
                <a:spcPts val="0"/>
              </a:spcAft>
              <a:buSzPts val="1400"/>
              <a:buChar char="◦"/>
            </a:pPr>
            <a:r>
              <a:rPr b="1" lang="en-IN" u="sng"/>
              <a:t>Primitives to manipulate files and directories</a:t>
            </a:r>
            <a:endParaRPr/>
          </a:p>
          <a:p>
            <a:pPr indent="-182880" lvl="2" marL="566928" rtl="0" algn="l">
              <a:lnSpc>
                <a:spcPct val="90000"/>
              </a:lnSpc>
              <a:spcBef>
                <a:spcPts val="600"/>
              </a:spcBef>
              <a:spcAft>
                <a:spcPts val="0"/>
              </a:spcAft>
              <a:buSzPts val="1400"/>
              <a:buChar char="◦"/>
            </a:pPr>
            <a:r>
              <a:rPr b="1" lang="en-IN" u="sng"/>
              <a:t>Mapping files onto secondary storage</a:t>
            </a:r>
            <a:endParaRPr/>
          </a:p>
          <a:p>
            <a:pPr indent="-182880" lvl="2" marL="566928" rtl="0" algn="l">
              <a:lnSpc>
                <a:spcPct val="90000"/>
              </a:lnSpc>
              <a:spcBef>
                <a:spcPts val="600"/>
              </a:spcBef>
              <a:spcAft>
                <a:spcPts val="0"/>
              </a:spcAft>
              <a:buSzPts val="1400"/>
              <a:buChar char="◦"/>
            </a:pPr>
            <a:r>
              <a:rPr b="1" lang="en-IN" u="sng"/>
              <a:t>Backup files onto stable (non-volatile) storage media</a:t>
            </a:r>
            <a:endParaRPr/>
          </a:p>
          <a:p>
            <a:pPr indent="-55880" lvl="3" marL="749808" rtl="0" algn="l">
              <a:lnSpc>
                <a:spcPct val="90000"/>
              </a:lnSpc>
              <a:spcBef>
                <a:spcPts val="600"/>
              </a:spcBef>
              <a:spcAft>
                <a:spcPts val="0"/>
              </a:spcAft>
              <a:buSzPts val="2000"/>
              <a:buNone/>
            </a:pPr>
            <a:r>
              <a:t/>
            </a:r>
            <a:endParaRPr b="1" sz="2000" u="sng"/>
          </a:p>
          <a:p>
            <a:pPr indent="-125730" lvl="2" marL="566928" rtl="0" algn="l">
              <a:lnSpc>
                <a:spcPct val="90000"/>
              </a:lnSpc>
              <a:spcBef>
                <a:spcPts val="600"/>
              </a:spcBef>
              <a:spcAft>
                <a:spcPts val="0"/>
              </a:spcAft>
              <a:buSzPts val="900"/>
              <a:buNone/>
            </a:pPr>
            <a:r>
              <a:t/>
            </a:r>
            <a:endParaRPr b="1" sz="900" u="sng"/>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7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808" name="Google Shape;808;p7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809" name="Google Shape;809;p7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810" name="Google Shape;810;p72"/>
          <p:cNvSpPr txBox="1"/>
          <p:nvPr>
            <p:ph idx="4294967295" type="title"/>
          </p:nvPr>
        </p:nvSpPr>
        <p:spPr>
          <a:xfrm>
            <a:off x="0" y="188913"/>
            <a:ext cx="7354888"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Mass-Storage Management</a:t>
            </a:r>
            <a:endParaRPr/>
          </a:p>
        </p:txBody>
      </p:sp>
      <p:sp>
        <p:nvSpPr>
          <p:cNvPr id="811" name="Google Shape;811;p72"/>
          <p:cNvSpPr txBox="1"/>
          <p:nvPr>
            <p:ph idx="4294967295" type="body"/>
          </p:nvPr>
        </p:nvSpPr>
        <p:spPr>
          <a:xfrm>
            <a:off x="0" y="774700"/>
            <a:ext cx="7575550" cy="5749925"/>
          </a:xfrm>
          <a:prstGeom prst="rect">
            <a:avLst/>
          </a:prstGeom>
          <a:noFill/>
          <a:ln>
            <a:noFill/>
          </a:ln>
        </p:spPr>
        <p:txBody>
          <a:bodyPr anchorCtr="0" anchor="t" bIns="45700" lIns="0" spcFirstLastPara="1" rIns="0" wrap="square" tIns="45700">
            <a:noAutofit/>
          </a:bodyPr>
          <a:lstStyle/>
          <a:p>
            <a:pPr indent="-127000" lvl="0" marL="91440" rtl="0" algn="l">
              <a:lnSpc>
                <a:spcPct val="90000"/>
              </a:lnSpc>
              <a:spcBef>
                <a:spcPts val="0"/>
              </a:spcBef>
              <a:spcAft>
                <a:spcPts val="0"/>
              </a:spcAft>
              <a:buSzPts val="2000"/>
              <a:buChar char=" "/>
            </a:pPr>
            <a:r>
              <a:rPr lang="en-IN" sz="2000"/>
              <a:t>Usually disks used to store </a:t>
            </a:r>
            <a:endParaRPr/>
          </a:p>
          <a:p>
            <a:pPr indent="-182880" lvl="1" marL="384048" rtl="0" algn="l">
              <a:lnSpc>
                <a:spcPct val="90000"/>
              </a:lnSpc>
              <a:spcBef>
                <a:spcPts val="400"/>
              </a:spcBef>
              <a:spcAft>
                <a:spcPts val="0"/>
              </a:spcAft>
              <a:buSzPts val="1800"/>
              <a:buChar char="◦"/>
            </a:pPr>
            <a:r>
              <a:rPr lang="en-IN"/>
              <a:t>data that does not fit in main memory or </a:t>
            </a:r>
            <a:endParaRPr/>
          </a:p>
          <a:p>
            <a:pPr indent="-182880" lvl="1" marL="384048" rtl="0" algn="l">
              <a:lnSpc>
                <a:spcPct val="90000"/>
              </a:lnSpc>
              <a:spcBef>
                <a:spcPts val="600"/>
              </a:spcBef>
              <a:spcAft>
                <a:spcPts val="0"/>
              </a:spcAft>
              <a:buSzPts val="1800"/>
              <a:buChar char="◦"/>
            </a:pPr>
            <a:r>
              <a:rPr b="1" lang="en-IN" u="sng"/>
              <a:t>data that must be kept for a “long” period of time</a:t>
            </a:r>
            <a:endParaRPr/>
          </a:p>
          <a:p>
            <a:pPr indent="-127000" lvl="0" marL="91440" rtl="0" algn="l">
              <a:lnSpc>
                <a:spcPct val="90000"/>
              </a:lnSpc>
              <a:spcBef>
                <a:spcPts val="1600"/>
              </a:spcBef>
              <a:spcAft>
                <a:spcPts val="0"/>
              </a:spcAft>
              <a:buSzPts val="2000"/>
              <a:buChar char=" "/>
            </a:pPr>
            <a:r>
              <a:rPr lang="en-IN" sz="2000"/>
              <a:t>Entire speed of computer operation hinges on disk subsystem and its algorithms</a:t>
            </a:r>
            <a:endParaRPr/>
          </a:p>
          <a:p>
            <a:pPr indent="-127000" lvl="0" marL="91440" rtl="0" algn="l">
              <a:lnSpc>
                <a:spcPct val="90000"/>
              </a:lnSpc>
              <a:spcBef>
                <a:spcPts val="1400"/>
              </a:spcBef>
              <a:spcAft>
                <a:spcPts val="0"/>
              </a:spcAft>
              <a:buSzPts val="2000"/>
              <a:buChar char=" "/>
            </a:pPr>
            <a:r>
              <a:rPr lang="en-IN" sz="2000"/>
              <a:t>OS activities</a:t>
            </a:r>
            <a:endParaRPr/>
          </a:p>
          <a:p>
            <a:pPr indent="-182880" lvl="1" marL="384048" rtl="0" algn="l">
              <a:lnSpc>
                <a:spcPct val="90000"/>
              </a:lnSpc>
              <a:spcBef>
                <a:spcPts val="400"/>
              </a:spcBef>
              <a:spcAft>
                <a:spcPts val="0"/>
              </a:spcAft>
              <a:buSzPts val="1800"/>
              <a:buChar char="◦"/>
            </a:pPr>
            <a:r>
              <a:rPr lang="en-IN"/>
              <a:t>Free-space management</a:t>
            </a:r>
            <a:endParaRPr/>
          </a:p>
          <a:p>
            <a:pPr indent="-182880" lvl="1" marL="384048" rtl="0" algn="l">
              <a:lnSpc>
                <a:spcPct val="90000"/>
              </a:lnSpc>
              <a:spcBef>
                <a:spcPts val="600"/>
              </a:spcBef>
              <a:spcAft>
                <a:spcPts val="0"/>
              </a:spcAft>
              <a:buSzPts val="1800"/>
              <a:buChar char="◦"/>
            </a:pPr>
            <a:r>
              <a:rPr lang="en-IN"/>
              <a:t>Storage allocation</a:t>
            </a:r>
            <a:endParaRPr/>
          </a:p>
          <a:p>
            <a:pPr indent="-182880" lvl="1" marL="384048" rtl="0" algn="l">
              <a:lnSpc>
                <a:spcPct val="90000"/>
              </a:lnSpc>
              <a:spcBef>
                <a:spcPts val="600"/>
              </a:spcBef>
              <a:spcAft>
                <a:spcPts val="0"/>
              </a:spcAft>
              <a:buSzPts val="1800"/>
              <a:buChar char="◦"/>
            </a:pPr>
            <a:r>
              <a:rPr b="1" lang="en-IN" u="sng"/>
              <a:t>Disk scheduling</a:t>
            </a:r>
            <a:endParaRPr/>
          </a:p>
          <a:p>
            <a:pPr indent="-127000" lvl="0" marL="91440" rtl="0" algn="l">
              <a:lnSpc>
                <a:spcPct val="90000"/>
              </a:lnSpc>
              <a:spcBef>
                <a:spcPts val="1600"/>
              </a:spcBef>
              <a:spcAft>
                <a:spcPts val="0"/>
              </a:spcAft>
              <a:buSzPts val="2000"/>
              <a:buChar char=" "/>
            </a:pPr>
            <a:r>
              <a:rPr lang="en-IN" sz="2000"/>
              <a:t>Some storage need not be fast</a:t>
            </a:r>
            <a:endParaRPr/>
          </a:p>
          <a:p>
            <a:pPr indent="-182880" lvl="1" marL="384048" rtl="0" algn="l">
              <a:lnSpc>
                <a:spcPct val="90000"/>
              </a:lnSpc>
              <a:spcBef>
                <a:spcPts val="400"/>
              </a:spcBef>
              <a:spcAft>
                <a:spcPts val="0"/>
              </a:spcAft>
              <a:buSzPts val="1800"/>
              <a:buChar char="◦"/>
            </a:pPr>
            <a:r>
              <a:rPr lang="en-IN"/>
              <a:t>Tertiary storage includes optical storage, magnetic tape</a:t>
            </a:r>
            <a:endParaRPr/>
          </a:p>
          <a:p>
            <a:pPr indent="-182880" lvl="1" marL="384048" rtl="0" algn="l">
              <a:lnSpc>
                <a:spcPct val="90000"/>
              </a:lnSpc>
              <a:spcBef>
                <a:spcPts val="600"/>
              </a:spcBef>
              <a:spcAft>
                <a:spcPts val="0"/>
              </a:spcAft>
              <a:buSzPts val="1800"/>
              <a:buChar char="◦"/>
            </a:pPr>
            <a:r>
              <a:rPr lang="en-IN"/>
              <a:t>Still must be managed – by OS or applications</a:t>
            </a:r>
            <a:endParaRPr/>
          </a:p>
          <a:p>
            <a:pPr indent="-182880" lvl="1" marL="384048" rtl="0" algn="l">
              <a:lnSpc>
                <a:spcPct val="90000"/>
              </a:lnSpc>
              <a:spcBef>
                <a:spcPts val="600"/>
              </a:spcBef>
              <a:spcAft>
                <a:spcPts val="0"/>
              </a:spcAft>
              <a:buSzPts val="1800"/>
              <a:buChar char="◦"/>
            </a:pPr>
            <a:r>
              <a:rPr lang="en-IN"/>
              <a:t>Varies between WORM (write-once, read-many-times) and RW (read-write)</a:t>
            </a:r>
            <a:endParaRPr/>
          </a:p>
          <a:p>
            <a:pPr indent="-68579" lvl="1" marL="384048" rtl="0" algn="l">
              <a:lnSpc>
                <a:spcPct val="90000"/>
              </a:lnSpc>
              <a:spcBef>
                <a:spcPts val="600"/>
              </a:spcBef>
              <a:spcAft>
                <a:spcPts val="0"/>
              </a:spcAft>
              <a:buSzPts val="1800"/>
              <a:buNone/>
            </a:pPr>
            <a:r>
              <a:t/>
            </a:r>
            <a:endParaRPr b="1" u="sng"/>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7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817" name="Google Shape;817;p7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818" name="Google Shape;818;p7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819" name="Google Shape;819;p73"/>
          <p:cNvSpPr txBox="1"/>
          <p:nvPr>
            <p:ph idx="4294967295" type="title"/>
          </p:nvPr>
        </p:nvSpPr>
        <p:spPr>
          <a:xfrm>
            <a:off x="612775" y="182563"/>
            <a:ext cx="8531225" cy="576262"/>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2800"/>
              <a:buFont typeface="Calibri"/>
              <a:buNone/>
            </a:pPr>
            <a:r>
              <a:rPr lang="en-IN" sz="2800"/>
              <a:t>Performance of Various Levels of Storage</a:t>
            </a:r>
            <a:endParaRPr/>
          </a:p>
        </p:txBody>
      </p:sp>
      <p:sp>
        <p:nvSpPr>
          <p:cNvPr id="820" name="Google Shape;820;p73"/>
          <p:cNvSpPr txBox="1"/>
          <p:nvPr>
            <p:ph idx="4294967295" type="body"/>
          </p:nvPr>
        </p:nvSpPr>
        <p:spPr>
          <a:xfrm>
            <a:off x="1436688" y="1233488"/>
            <a:ext cx="7707312" cy="4521200"/>
          </a:xfrm>
          <a:prstGeom prst="rect">
            <a:avLst/>
          </a:prstGeom>
          <a:noFill/>
          <a:ln>
            <a:noFill/>
          </a:ln>
        </p:spPr>
        <p:txBody>
          <a:bodyPr anchorCtr="0" anchor="t" bIns="45700" lIns="0" spcFirstLastPara="1" rIns="0" wrap="square" tIns="45700">
            <a:normAutofit lnSpcReduction="10000"/>
          </a:bodyPr>
          <a:lstStyle/>
          <a:p>
            <a:pPr indent="0" lvl="0" marL="91440" rtl="0" algn="l">
              <a:lnSpc>
                <a:spcPct val="90000"/>
              </a:lnSpc>
              <a:spcBef>
                <a:spcPts val="0"/>
              </a:spcBef>
              <a:spcAft>
                <a:spcPts val="0"/>
              </a:spcAft>
              <a:buSzPts val="2000"/>
              <a:buFont typeface="Arial"/>
              <a:buNone/>
            </a:pPr>
            <a:r>
              <a:t/>
            </a:r>
            <a:endParaRPr/>
          </a:p>
          <a:p>
            <a:pPr indent="0" lvl="0" marL="91440" rtl="0" algn="l">
              <a:lnSpc>
                <a:spcPct val="90000"/>
              </a:lnSpc>
              <a:spcBef>
                <a:spcPts val="1400"/>
              </a:spcBef>
              <a:spcAft>
                <a:spcPts val="0"/>
              </a:spcAft>
              <a:buSzPts val="2000"/>
              <a:buFont typeface="Arial"/>
              <a:buNone/>
            </a:pPr>
            <a:r>
              <a:t/>
            </a:r>
            <a:endParaRPr/>
          </a:p>
          <a:p>
            <a:pPr indent="0" lvl="0" marL="91440" rtl="0" algn="l">
              <a:lnSpc>
                <a:spcPct val="90000"/>
              </a:lnSpc>
              <a:spcBef>
                <a:spcPts val="1400"/>
              </a:spcBef>
              <a:spcAft>
                <a:spcPts val="0"/>
              </a:spcAft>
              <a:buSzPts val="2000"/>
              <a:buFont typeface="Arial"/>
              <a:buNone/>
            </a:pPr>
            <a:r>
              <a:t/>
            </a:r>
            <a:endParaRPr/>
          </a:p>
          <a:p>
            <a:pPr indent="0" lvl="0" marL="91440" rtl="0" algn="l">
              <a:lnSpc>
                <a:spcPct val="90000"/>
              </a:lnSpc>
              <a:spcBef>
                <a:spcPts val="1400"/>
              </a:spcBef>
              <a:spcAft>
                <a:spcPts val="0"/>
              </a:spcAft>
              <a:buSzPts val="2000"/>
              <a:buFont typeface="Arial"/>
              <a:buNone/>
            </a:pPr>
            <a:r>
              <a:t/>
            </a:r>
            <a:endParaRPr/>
          </a:p>
          <a:p>
            <a:pPr indent="0" lvl="0" marL="91440" rtl="0" algn="l">
              <a:lnSpc>
                <a:spcPct val="90000"/>
              </a:lnSpc>
              <a:spcBef>
                <a:spcPts val="1400"/>
              </a:spcBef>
              <a:spcAft>
                <a:spcPts val="0"/>
              </a:spcAft>
              <a:buSzPts val="2000"/>
              <a:buFont typeface="Arial"/>
              <a:buNone/>
            </a:pPr>
            <a:r>
              <a:t/>
            </a:r>
            <a:endParaRPr/>
          </a:p>
          <a:p>
            <a:pPr indent="0" lvl="0" marL="91440" rtl="0" algn="l">
              <a:lnSpc>
                <a:spcPct val="90000"/>
              </a:lnSpc>
              <a:spcBef>
                <a:spcPts val="1400"/>
              </a:spcBef>
              <a:spcAft>
                <a:spcPts val="0"/>
              </a:spcAft>
              <a:buSzPts val="2000"/>
              <a:buFont typeface="Arial"/>
              <a:buNone/>
            </a:pPr>
            <a:r>
              <a:t/>
            </a:r>
            <a:endParaRPr/>
          </a:p>
          <a:p>
            <a:pPr indent="0" lvl="0" marL="91440" rtl="0" algn="l">
              <a:lnSpc>
                <a:spcPct val="90000"/>
              </a:lnSpc>
              <a:spcBef>
                <a:spcPts val="1400"/>
              </a:spcBef>
              <a:spcAft>
                <a:spcPts val="0"/>
              </a:spcAft>
              <a:buSzPts val="2000"/>
              <a:buFont typeface="Arial"/>
              <a:buNone/>
            </a:pPr>
            <a:r>
              <a:t/>
            </a:r>
            <a:endParaRPr/>
          </a:p>
          <a:p>
            <a:pPr indent="0" lvl="0" marL="91440" rtl="0" algn="l">
              <a:lnSpc>
                <a:spcPct val="90000"/>
              </a:lnSpc>
              <a:spcBef>
                <a:spcPts val="1400"/>
              </a:spcBef>
              <a:spcAft>
                <a:spcPts val="0"/>
              </a:spcAft>
              <a:buSzPts val="2000"/>
              <a:buFont typeface="Arial"/>
              <a:buNone/>
            </a:pPr>
            <a:r>
              <a:t/>
            </a:r>
            <a:endParaRPr/>
          </a:p>
          <a:p>
            <a:pPr indent="0" lvl="0" marL="0" rtl="0" algn="l">
              <a:lnSpc>
                <a:spcPct val="90000"/>
              </a:lnSpc>
              <a:spcBef>
                <a:spcPts val="1400"/>
              </a:spcBef>
              <a:spcAft>
                <a:spcPts val="0"/>
              </a:spcAft>
              <a:buSzPts val="2000"/>
              <a:buFont typeface="Arial"/>
              <a:buNone/>
            </a:pPr>
            <a:r>
              <a:t/>
            </a:r>
            <a:endParaRPr/>
          </a:p>
          <a:p>
            <a:pPr indent="-91440" lvl="0" marL="91440" rtl="0" algn="l">
              <a:lnSpc>
                <a:spcPct val="90000"/>
              </a:lnSpc>
              <a:spcBef>
                <a:spcPts val="1400"/>
              </a:spcBef>
              <a:spcAft>
                <a:spcPts val="0"/>
              </a:spcAft>
              <a:buSzPts val="2000"/>
              <a:buFont typeface="Arial"/>
              <a:buNone/>
            </a:pPr>
            <a:r>
              <a:rPr lang="en-IN"/>
              <a:t>    Movement between levels of storage hierarchy can be explicit or implicit</a:t>
            </a:r>
            <a:endParaRPr/>
          </a:p>
        </p:txBody>
      </p:sp>
      <p:pic>
        <p:nvPicPr>
          <p:cNvPr descr="1_11.pdf" id="821" name="Google Shape;821;p73"/>
          <p:cNvPicPr preferRelativeResize="0"/>
          <p:nvPr/>
        </p:nvPicPr>
        <p:blipFill rotWithShape="1">
          <a:blip r:embed="rId3">
            <a:alphaModFix/>
          </a:blip>
          <a:srcRect b="0" l="0" r="0" t="0"/>
          <a:stretch/>
        </p:blipFill>
        <p:spPr>
          <a:xfrm>
            <a:off x="663451" y="878538"/>
            <a:ext cx="7796981" cy="3990621"/>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7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827" name="Google Shape;827;p7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828" name="Google Shape;828;p7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829" name="Google Shape;829;p74"/>
          <p:cNvSpPr txBox="1"/>
          <p:nvPr>
            <p:ph idx="4294967295" type="title"/>
          </p:nvPr>
        </p:nvSpPr>
        <p:spPr>
          <a:xfrm>
            <a:off x="0" y="33338"/>
            <a:ext cx="7664450"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Protection and Security</a:t>
            </a:r>
            <a:endParaRPr/>
          </a:p>
        </p:txBody>
      </p:sp>
      <p:sp>
        <p:nvSpPr>
          <p:cNvPr id="830" name="Google Shape;830;p74"/>
          <p:cNvSpPr txBox="1"/>
          <p:nvPr>
            <p:ph idx="4294967295" type="body"/>
          </p:nvPr>
        </p:nvSpPr>
        <p:spPr>
          <a:xfrm>
            <a:off x="0" y="609600"/>
            <a:ext cx="7648575" cy="5915025"/>
          </a:xfrm>
          <a:prstGeom prst="rect">
            <a:avLst/>
          </a:prstGeom>
          <a:noFill/>
          <a:ln>
            <a:noFill/>
          </a:ln>
        </p:spPr>
        <p:txBody>
          <a:bodyPr anchorCtr="0" anchor="t" bIns="45700" lIns="0" spcFirstLastPara="1" rIns="0" wrap="square" tIns="45700">
            <a:normAutofit fontScale="70000" lnSpcReduction="20000"/>
          </a:bodyPr>
          <a:lstStyle/>
          <a:p>
            <a:pPr indent="-91440" lvl="0" marL="91440" rtl="0" algn="l">
              <a:lnSpc>
                <a:spcPct val="90000"/>
              </a:lnSpc>
              <a:spcBef>
                <a:spcPts val="0"/>
              </a:spcBef>
              <a:spcAft>
                <a:spcPts val="0"/>
              </a:spcAft>
              <a:buSzPct val="100000"/>
              <a:buChar char=" "/>
            </a:pPr>
            <a:r>
              <a:rPr b="1" lang="en-IN" sz="2000">
                <a:solidFill>
                  <a:srgbClr val="3366FF"/>
                </a:solidFill>
              </a:rPr>
              <a:t>Protection </a:t>
            </a:r>
            <a:r>
              <a:rPr lang="en-IN" sz="2000"/>
              <a:t>– any mechanism for </a:t>
            </a:r>
            <a:r>
              <a:rPr b="1" lang="en-IN" sz="2000" u="sng"/>
              <a:t>controlling access of processes</a:t>
            </a:r>
            <a:r>
              <a:rPr lang="en-IN" sz="2000"/>
              <a:t> or users to resources defined by the OS</a:t>
            </a:r>
            <a:endParaRPr/>
          </a:p>
          <a:p>
            <a:pPr indent="-91440" lvl="0" marL="91440" rtl="0" algn="l">
              <a:lnSpc>
                <a:spcPct val="90000"/>
              </a:lnSpc>
              <a:spcBef>
                <a:spcPts val="1400"/>
              </a:spcBef>
              <a:spcAft>
                <a:spcPts val="0"/>
              </a:spcAft>
              <a:buSzPct val="100000"/>
              <a:buChar char=" "/>
            </a:pPr>
            <a:r>
              <a:rPr b="1" lang="en-IN" sz="2000">
                <a:solidFill>
                  <a:srgbClr val="3366FF"/>
                </a:solidFill>
              </a:rPr>
              <a:t>Security </a:t>
            </a:r>
            <a:r>
              <a:rPr lang="en-IN" sz="2000"/>
              <a:t>– </a:t>
            </a:r>
            <a:r>
              <a:rPr b="1" lang="en-IN" sz="2000" u="sng"/>
              <a:t>defense of the system against internal and external attacks</a:t>
            </a:r>
            <a:endParaRPr/>
          </a:p>
          <a:p>
            <a:pPr indent="-182880" lvl="1" marL="384048" rtl="0" algn="l">
              <a:lnSpc>
                <a:spcPct val="90000"/>
              </a:lnSpc>
              <a:spcBef>
                <a:spcPts val="400"/>
              </a:spcBef>
              <a:spcAft>
                <a:spcPts val="0"/>
              </a:spcAft>
              <a:buSzPct val="100000"/>
              <a:buChar char="◦"/>
            </a:pPr>
            <a:r>
              <a:rPr lang="en-IN"/>
              <a:t>Huge range, including </a:t>
            </a:r>
            <a:endParaRPr/>
          </a:p>
          <a:p>
            <a:pPr indent="-182880" lvl="2" marL="566928" rtl="0" algn="l">
              <a:lnSpc>
                <a:spcPct val="90000"/>
              </a:lnSpc>
              <a:spcBef>
                <a:spcPts val="600"/>
              </a:spcBef>
              <a:spcAft>
                <a:spcPts val="0"/>
              </a:spcAft>
              <a:buSzPct val="100000"/>
              <a:buChar char="◦"/>
            </a:pPr>
            <a:r>
              <a:rPr lang="en-IN"/>
              <a:t>denial-of-service, </a:t>
            </a:r>
            <a:endParaRPr/>
          </a:p>
          <a:p>
            <a:pPr indent="-182880" lvl="2" marL="566928" rtl="0" algn="l">
              <a:lnSpc>
                <a:spcPct val="90000"/>
              </a:lnSpc>
              <a:spcBef>
                <a:spcPts val="600"/>
              </a:spcBef>
              <a:spcAft>
                <a:spcPts val="0"/>
              </a:spcAft>
              <a:buSzPct val="100000"/>
              <a:buChar char="◦"/>
            </a:pPr>
            <a:r>
              <a:rPr lang="en-IN"/>
              <a:t>worms, </a:t>
            </a:r>
            <a:endParaRPr/>
          </a:p>
          <a:p>
            <a:pPr indent="-182880" lvl="2" marL="566928" rtl="0" algn="l">
              <a:lnSpc>
                <a:spcPct val="90000"/>
              </a:lnSpc>
              <a:spcBef>
                <a:spcPts val="600"/>
              </a:spcBef>
              <a:spcAft>
                <a:spcPts val="0"/>
              </a:spcAft>
              <a:buSzPct val="100000"/>
              <a:buChar char="◦"/>
            </a:pPr>
            <a:r>
              <a:rPr lang="en-IN"/>
              <a:t>viruses, </a:t>
            </a:r>
            <a:endParaRPr/>
          </a:p>
          <a:p>
            <a:pPr indent="-182880" lvl="2" marL="566928" rtl="0" algn="l">
              <a:lnSpc>
                <a:spcPct val="90000"/>
              </a:lnSpc>
              <a:spcBef>
                <a:spcPts val="600"/>
              </a:spcBef>
              <a:spcAft>
                <a:spcPts val="0"/>
              </a:spcAft>
              <a:buSzPct val="100000"/>
              <a:buChar char="◦"/>
            </a:pPr>
            <a:r>
              <a:rPr lang="en-IN"/>
              <a:t>identity theft, </a:t>
            </a:r>
            <a:endParaRPr/>
          </a:p>
          <a:p>
            <a:pPr indent="-182880" lvl="2" marL="566928" rtl="0" algn="l">
              <a:lnSpc>
                <a:spcPct val="90000"/>
              </a:lnSpc>
              <a:spcBef>
                <a:spcPts val="600"/>
              </a:spcBef>
              <a:spcAft>
                <a:spcPts val="0"/>
              </a:spcAft>
              <a:buSzPct val="100000"/>
              <a:buChar char="◦"/>
            </a:pPr>
            <a:r>
              <a:rPr lang="en-IN"/>
              <a:t>theft of service</a:t>
            </a:r>
            <a:endParaRPr/>
          </a:p>
          <a:p>
            <a:pPr indent="-2539" lvl="0" marL="91440" rtl="0" algn="l">
              <a:lnSpc>
                <a:spcPct val="90000"/>
              </a:lnSpc>
              <a:spcBef>
                <a:spcPts val="1600"/>
              </a:spcBef>
              <a:spcAft>
                <a:spcPts val="0"/>
              </a:spcAft>
              <a:buSzPct val="100000"/>
              <a:buNone/>
            </a:pPr>
            <a:r>
              <a:t/>
            </a:r>
            <a:endParaRPr/>
          </a:p>
          <a:p>
            <a:pPr indent="-91440" lvl="0" marL="91440" rtl="0" algn="l">
              <a:lnSpc>
                <a:spcPct val="90000"/>
              </a:lnSpc>
              <a:spcBef>
                <a:spcPts val="1400"/>
              </a:spcBef>
              <a:spcAft>
                <a:spcPts val="0"/>
              </a:spcAft>
              <a:buSzPct val="100000"/>
              <a:buChar char=" "/>
            </a:pPr>
            <a:r>
              <a:rPr lang="en-IN"/>
              <a:t>Systems generally first distinguish among users, to determine who can do what</a:t>
            </a:r>
            <a:endParaRPr/>
          </a:p>
          <a:p>
            <a:pPr indent="-182879" lvl="1" marL="384048" rtl="0" algn="l">
              <a:lnSpc>
                <a:spcPct val="90000"/>
              </a:lnSpc>
              <a:spcBef>
                <a:spcPts val="400"/>
              </a:spcBef>
              <a:spcAft>
                <a:spcPts val="0"/>
              </a:spcAft>
              <a:buSzPct val="100000"/>
              <a:buChar char="◦"/>
            </a:pPr>
            <a:r>
              <a:rPr b="1" lang="en-IN" sz="2200" u="sng"/>
              <a:t>User identities (</a:t>
            </a:r>
            <a:r>
              <a:rPr b="1" lang="en-IN" sz="2200" u="sng">
                <a:solidFill>
                  <a:srgbClr val="3366FF"/>
                </a:solidFill>
              </a:rPr>
              <a:t>user IDs</a:t>
            </a:r>
            <a:r>
              <a:rPr b="1" lang="en-IN" sz="2200" u="sng"/>
              <a:t>, security IDs) include name and associated number</a:t>
            </a:r>
            <a:r>
              <a:rPr lang="en-IN" sz="2200"/>
              <a:t>, one per user</a:t>
            </a:r>
            <a:endParaRPr/>
          </a:p>
          <a:p>
            <a:pPr indent="-85089" lvl="1" marL="384048" rtl="0" algn="l">
              <a:lnSpc>
                <a:spcPct val="90000"/>
              </a:lnSpc>
              <a:spcBef>
                <a:spcPts val="600"/>
              </a:spcBef>
              <a:spcAft>
                <a:spcPts val="0"/>
              </a:spcAft>
              <a:buSzPct val="100000"/>
              <a:buNone/>
            </a:pPr>
            <a:r>
              <a:t/>
            </a:r>
            <a:endParaRPr sz="2200"/>
          </a:p>
          <a:p>
            <a:pPr indent="-182879" lvl="1" marL="384048" rtl="0" algn="l">
              <a:lnSpc>
                <a:spcPct val="90000"/>
              </a:lnSpc>
              <a:spcBef>
                <a:spcPts val="600"/>
              </a:spcBef>
              <a:spcAft>
                <a:spcPts val="0"/>
              </a:spcAft>
              <a:buSzPct val="100000"/>
              <a:buChar char="◦"/>
            </a:pPr>
            <a:r>
              <a:rPr b="1" lang="en-IN" sz="2200" u="sng"/>
              <a:t>User ID then associated with all files, processes</a:t>
            </a:r>
            <a:r>
              <a:rPr lang="en-IN" sz="2200"/>
              <a:t> of that user to determine access control</a:t>
            </a:r>
            <a:endParaRPr/>
          </a:p>
          <a:p>
            <a:pPr indent="-85089" lvl="1" marL="384048" rtl="0" algn="l">
              <a:lnSpc>
                <a:spcPct val="90000"/>
              </a:lnSpc>
              <a:spcBef>
                <a:spcPts val="600"/>
              </a:spcBef>
              <a:spcAft>
                <a:spcPts val="0"/>
              </a:spcAft>
              <a:buSzPct val="100000"/>
              <a:buNone/>
            </a:pPr>
            <a:r>
              <a:t/>
            </a:r>
            <a:endParaRPr sz="2200"/>
          </a:p>
          <a:p>
            <a:pPr indent="-182879" lvl="1" marL="384048" rtl="0" algn="l">
              <a:lnSpc>
                <a:spcPct val="90000"/>
              </a:lnSpc>
              <a:spcBef>
                <a:spcPts val="600"/>
              </a:spcBef>
              <a:spcAft>
                <a:spcPts val="0"/>
              </a:spcAft>
              <a:buSzPct val="100000"/>
              <a:buChar char="◦"/>
            </a:pPr>
            <a:r>
              <a:rPr b="1" lang="en-IN" sz="2200" u="sng"/>
              <a:t>Group identifier (</a:t>
            </a:r>
            <a:r>
              <a:rPr b="1" lang="en-IN" sz="2200" u="sng">
                <a:solidFill>
                  <a:srgbClr val="3366FF"/>
                </a:solidFill>
              </a:rPr>
              <a:t>group ID</a:t>
            </a:r>
            <a:r>
              <a:rPr b="1" lang="en-IN" sz="2200" u="sng"/>
              <a:t>) allows set of users to be defined </a:t>
            </a:r>
            <a:r>
              <a:rPr lang="en-IN" sz="2200"/>
              <a:t>and controls managed, then also associated with each process, file</a:t>
            </a:r>
            <a:endParaRPr/>
          </a:p>
          <a:p>
            <a:pPr indent="-85089" lvl="1" marL="384048" rtl="0" algn="l">
              <a:lnSpc>
                <a:spcPct val="90000"/>
              </a:lnSpc>
              <a:spcBef>
                <a:spcPts val="600"/>
              </a:spcBef>
              <a:spcAft>
                <a:spcPts val="0"/>
              </a:spcAft>
              <a:buSzPct val="100000"/>
              <a:buNone/>
            </a:pPr>
            <a:r>
              <a:t/>
            </a:r>
            <a:endParaRPr b="1" sz="2200">
              <a:solidFill>
                <a:srgbClr val="3366FF"/>
              </a:solidFill>
            </a:endParaRPr>
          </a:p>
          <a:p>
            <a:pPr indent="-182879" lvl="1" marL="384048" rtl="0" algn="l">
              <a:lnSpc>
                <a:spcPct val="90000"/>
              </a:lnSpc>
              <a:spcBef>
                <a:spcPts val="600"/>
              </a:spcBef>
              <a:spcAft>
                <a:spcPts val="0"/>
              </a:spcAft>
              <a:buSzPct val="100000"/>
              <a:buChar char="◦"/>
            </a:pPr>
            <a:r>
              <a:rPr b="1" lang="en-IN" sz="2200" u="sng">
                <a:solidFill>
                  <a:srgbClr val="3366FF"/>
                </a:solidFill>
              </a:rPr>
              <a:t>Privilege escalation </a:t>
            </a:r>
            <a:r>
              <a:rPr b="1" lang="en-IN" sz="2200" u="sng"/>
              <a:t>allows user to change to effective ID </a:t>
            </a:r>
            <a:r>
              <a:rPr lang="en-IN" sz="2200"/>
              <a:t>with more rights</a:t>
            </a:r>
            <a:endParaRPr/>
          </a:p>
          <a:p>
            <a:pPr indent="-106679" lvl="0" marL="91440" rtl="0" algn="l">
              <a:lnSpc>
                <a:spcPct val="90000"/>
              </a:lnSpc>
              <a:spcBef>
                <a:spcPts val="1600"/>
              </a:spcBef>
              <a:spcAft>
                <a:spcPts val="0"/>
              </a:spcAft>
              <a:buSzPct val="100000"/>
              <a:buChar char=" "/>
            </a:pPr>
            <a:r>
              <a:rPr lang="en-IN" sz="2400"/>
              <a:t>A mechanism that ensures that the files, memory segments, CPU and other resources </a:t>
            </a:r>
            <a:endParaRPr/>
          </a:p>
          <a:p>
            <a:pPr indent="0" lvl="0" marL="91440" rtl="0" algn="l">
              <a:lnSpc>
                <a:spcPct val="90000"/>
              </a:lnSpc>
              <a:spcBef>
                <a:spcPts val="1400"/>
              </a:spcBef>
              <a:spcAft>
                <a:spcPts val="0"/>
              </a:spcAft>
              <a:buSzPct val="100000"/>
              <a:buNone/>
            </a:pPr>
            <a:r>
              <a:t/>
            </a:r>
            <a:endParaRPr sz="2400"/>
          </a:p>
          <a:p>
            <a:pPr indent="-106679" lvl="0" marL="91440" rtl="0" algn="l">
              <a:lnSpc>
                <a:spcPct val="90000"/>
              </a:lnSpc>
              <a:spcBef>
                <a:spcPts val="1400"/>
              </a:spcBef>
              <a:spcAft>
                <a:spcPts val="0"/>
              </a:spcAft>
              <a:buSzPct val="100000"/>
              <a:buChar char=" "/>
            </a:pPr>
            <a:r>
              <a:rPr b="1" lang="en-IN" sz="2400" u="sng"/>
              <a:t>can be operated on by only those processes that have gained proper authorization</a:t>
            </a:r>
            <a:r>
              <a:rPr lang="en-IN" sz="2400"/>
              <a:t> from the OS.</a:t>
            </a:r>
            <a:endParaRPr/>
          </a:p>
          <a:p>
            <a:pPr indent="-85089" lvl="1" marL="384048" rtl="0" algn="l">
              <a:lnSpc>
                <a:spcPct val="90000"/>
              </a:lnSpc>
              <a:spcBef>
                <a:spcPts val="400"/>
              </a:spcBef>
              <a:spcAft>
                <a:spcPts val="0"/>
              </a:spcAft>
              <a:buSzPct val="100000"/>
              <a:buNone/>
            </a:pPr>
            <a:r>
              <a:t/>
            </a:r>
            <a:endParaRPr sz="2200"/>
          </a:p>
          <a:p>
            <a:pPr indent="-120650" lvl="2" marL="566928" rtl="0" algn="l">
              <a:lnSpc>
                <a:spcPct val="90000"/>
              </a:lnSpc>
              <a:spcBef>
                <a:spcPts val="600"/>
              </a:spcBef>
              <a:spcAft>
                <a:spcPts val="0"/>
              </a:spcAft>
              <a:buSzPct val="100000"/>
              <a:buNone/>
            </a:pPr>
            <a:r>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75"/>
          <p:cNvSpPr txBox="1"/>
          <p:nvPr>
            <p:ph type="title"/>
          </p:nvPr>
        </p:nvSpPr>
        <p:spPr>
          <a:xfrm>
            <a:off x="97160" y="33338"/>
            <a:ext cx="8291264"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Operating System Functions/Services</a:t>
            </a:r>
            <a:endParaRPr/>
          </a:p>
        </p:txBody>
      </p:sp>
      <p:sp>
        <p:nvSpPr>
          <p:cNvPr id="837" name="Google Shape;837;p75"/>
          <p:cNvSpPr txBox="1"/>
          <p:nvPr>
            <p:ph idx="1" type="body"/>
          </p:nvPr>
        </p:nvSpPr>
        <p:spPr>
          <a:xfrm>
            <a:off x="97160" y="615154"/>
            <a:ext cx="7564327" cy="6242846"/>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1200"/>
              <a:buChar char=" "/>
            </a:pPr>
            <a:r>
              <a:rPr lang="en-IN" sz="1200"/>
              <a:t>One set of operating-system services </a:t>
            </a:r>
            <a:r>
              <a:rPr b="1" lang="en-IN" sz="1200" u="sng"/>
              <a:t>provides functionalities </a:t>
            </a:r>
            <a:r>
              <a:rPr lang="en-IN" sz="1200"/>
              <a:t>that are helpful to the user:</a:t>
            </a:r>
            <a:endParaRPr/>
          </a:p>
          <a:p>
            <a:pPr indent="-182880" lvl="1" marL="384048" rtl="0" algn="l">
              <a:lnSpc>
                <a:spcPct val="90000"/>
              </a:lnSpc>
              <a:spcBef>
                <a:spcPts val="400"/>
              </a:spcBef>
              <a:spcAft>
                <a:spcPts val="0"/>
              </a:spcAft>
              <a:buSzPts val="1200"/>
              <a:buChar char="◦"/>
            </a:pPr>
            <a:r>
              <a:rPr b="1" lang="en-IN" sz="1200"/>
              <a:t>User interface </a:t>
            </a:r>
            <a:r>
              <a:rPr lang="en-IN" sz="1200"/>
              <a:t>- Almost all operating systems have a user interface (</a:t>
            </a:r>
            <a:r>
              <a:rPr b="1" lang="en-IN" sz="1200">
                <a:solidFill>
                  <a:srgbClr val="3366FF"/>
                </a:solidFill>
              </a:rPr>
              <a:t>UI</a:t>
            </a:r>
            <a:r>
              <a:rPr lang="en-IN" sz="1200"/>
              <a:t>).</a:t>
            </a:r>
            <a:endParaRPr/>
          </a:p>
          <a:p>
            <a:pPr indent="-182880" lvl="2" marL="566928" rtl="0" algn="l">
              <a:lnSpc>
                <a:spcPct val="90000"/>
              </a:lnSpc>
              <a:spcBef>
                <a:spcPts val="600"/>
              </a:spcBef>
              <a:spcAft>
                <a:spcPts val="0"/>
              </a:spcAft>
              <a:buSzPts val="1200"/>
              <a:buChar char="◦"/>
            </a:pPr>
            <a:r>
              <a:rPr lang="en-IN" sz="1200"/>
              <a:t>Varies between </a:t>
            </a:r>
            <a:r>
              <a:rPr b="1" lang="en-IN" sz="1200">
                <a:solidFill>
                  <a:srgbClr val="3366FF"/>
                </a:solidFill>
              </a:rPr>
              <a:t>Command-Line </a:t>
            </a:r>
            <a:r>
              <a:rPr b="1" lang="en-IN" sz="1200"/>
              <a:t>(</a:t>
            </a:r>
            <a:r>
              <a:rPr b="1" lang="en-IN" sz="1200">
                <a:solidFill>
                  <a:srgbClr val="3366FF"/>
                </a:solidFill>
              </a:rPr>
              <a:t>CLI</a:t>
            </a:r>
            <a:r>
              <a:rPr b="1" lang="en-IN" sz="1200">
                <a:solidFill>
                  <a:srgbClr val="000000"/>
                </a:solidFill>
              </a:rPr>
              <a:t>)</a:t>
            </a:r>
            <a:r>
              <a:rPr lang="en-IN" sz="1200">
                <a:solidFill>
                  <a:srgbClr val="000000"/>
                </a:solidFill>
              </a:rPr>
              <a:t>, </a:t>
            </a:r>
            <a:r>
              <a:rPr b="1" lang="en-IN" sz="1200">
                <a:solidFill>
                  <a:srgbClr val="3366FF"/>
                </a:solidFill>
              </a:rPr>
              <a:t>Graphics User Interface </a:t>
            </a:r>
            <a:r>
              <a:rPr b="1" lang="en-IN" sz="1200">
                <a:solidFill>
                  <a:srgbClr val="000000"/>
                </a:solidFill>
              </a:rPr>
              <a:t>(</a:t>
            </a:r>
            <a:r>
              <a:rPr b="1" lang="en-IN" sz="1200">
                <a:solidFill>
                  <a:srgbClr val="3366FF"/>
                </a:solidFill>
              </a:rPr>
              <a:t>GUI</a:t>
            </a:r>
            <a:r>
              <a:rPr b="1" lang="en-IN" sz="1200">
                <a:solidFill>
                  <a:srgbClr val="000000"/>
                </a:solidFill>
              </a:rPr>
              <a:t>)</a:t>
            </a:r>
            <a:r>
              <a:rPr lang="en-IN" sz="1200">
                <a:solidFill>
                  <a:srgbClr val="000000"/>
                </a:solidFill>
              </a:rPr>
              <a:t>,</a:t>
            </a:r>
            <a:r>
              <a:rPr b="1" lang="en-IN" sz="1200">
                <a:solidFill>
                  <a:srgbClr val="3366FF"/>
                </a:solidFill>
              </a:rPr>
              <a:t>   Batch</a:t>
            </a:r>
            <a:endParaRPr/>
          </a:p>
          <a:p>
            <a:pPr indent="-182880" lvl="1" marL="384048" rtl="0" algn="l">
              <a:lnSpc>
                <a:spcPct val="90000"/>
              </a:lnSpc>
              <a:spcBef>
                <a:spcPts val="600"/>
              </a:spcBef>
              <a:spcAft>
                <a:spcPts val="0"/>
              </a:spcAft>
              <a:buSzPts val="1200"/>
              <a:buChar char="◦"/>
            </a:pPr>
            <a:r>
              <a:rPr b="1" lang="en-IN" sz="1200"/>
              <a:t>Program execution </a:t>
            </a:r>
            <a:r>
              <a:rPr lang="en-IN" sz="1200"/>
              <a:t>- The system must be able to load a program into memory and to run that program, end execution, either normally or abnormally (indicating error)</a:t>
            </a:r>
            <a:endParaRPr/>
          </a:p>
          <a:p>
            <a:pPr indent="-182880" lvl="1" marL="384048" rtl="0" algn="l">
              <a:lnSpc>
                <a:spcPct val="90000"/>
              </a:lnSpc>
              <a:spcBef>
                <a:spcPts val="600"/>
              </a:spcBef>
              <a:spcAft>
                <a:spcPts val="0"/>
              </a:spcAft>
              <a:buSzPts val="1200"/>
              <a:buChar char="◦"/>
            </a:pPr>
            <a:r>
              <a:rPr b="1" lang="en-IN" sz="1200"/>
              <a:t>I/O operations </a:t>
            </a:r>
            <a:r>
              <a:rPr lang="en-IN" sz="1200"/>
              <a:t>-  A running program may require I/O, which may involve a file or an I/O device</a:t>
            </a:r>
            <a:endParaRPr/>
          </a:p>
          <a:p>
            <a:pPr indent="-91440" lvl="0" marL="91440" rtl="0" algn="l">
              <a:lnSpc>
                <a:spcPct val="90000"/>
              </a:lnSpc>
              <a:spcBef>
                <a:spcPts val="1600"/>
              </a:spcBef>
              <a:spcAft>
                <a:spcPts val="0"/>
              </a:spcAft>
              <a:buSzPts val="1200"/>
              <a:buChar char=" "/>
            </a:pPr>
            <a:r>
              <a:rPr lang="en-IN" sz="1200"/>
              <a:t>One set of operating-system services provides functions that are helpful to the user (Cont.):</a:t>
            </a:r>
            <a:endParaRPr b="1" sz="1200"/>
          </a:p>
          <a:p>
            <a:pPr indent="0" lvl="1" marL="457200" rtl="0" algn="l">
              <a:lnSpc>
                <a:spcPct val="90000"/>
              </a:lnSpc>
              <a:spcBef>
                <a:spcPts val="400"/>
              </a:spcBef>
              <a:spcAft>
                <a:spcPts val="0"/>
              </a:spcAft>
              <a:buSzPts val="1200"/>
              <a:buNone/>
            </a:pPr>
            <a:r>
              <a:rPr b="1" lang="en-IN" sz="1200"/>
              <a:t>File-system manipulation –</a:t>
            </a:r>
            <a:endParaRPr/>
          </a:p>
          <a:p>
            <a:pPr indent="0" lvl="1" marL="457200" rtl="0" algn="l">
              <a:lnSpc>
                <a:spcPct val="90000"/>
              </a:lnSpc>
              <a:spcBef>
                <a:spcPts val="600"/>
              </a:spcBef>
              <a:spcAft>
                <a:spcPts val="0"/>
              </a:spcAft>
              <a:buSzPts val="1200"/>
              <a:buNone/>
            </a:pPr>
            <a:r>
              <a:rPr lang="en-IN" sz="1200"/>
              <a:t>Programs need to </a:t>
            </a:r>
            <a:endParaRPr/>
          </a:p>
          <a:p>
            <a:pPr indent="-182880" lvl="1" marL="384048" rtl="0" algn="l">
              <a:lnSpc>
                <a:spcPct val="90000"/>
              </a:lnSpc>
              <a:spcBef>
                <a:spcPts val="600"/>
              </a:spcBef>
              <a:spcAft>
                <a:spcPts val="0"/>
              </a:spcAft>
              <a:buSzPts val="1200"/>
              <a:buChar char="◦"/>
            </a:pPr>
            <a:r>
              <a:rPr lang="en-IN" sz="1200"/>
              <a:t>read and write files and directories, </a:t>
            </a:r>
            <a:endParaRPr/>
          </a:p>
          <a:p>
            <a:pPr indent="-182880" lvl="1" marL="384048" rtl="0" algn="l">
              <a:lnSpc>
                <a:spcPct val="90000"/>
              </a:lnSpc>
              <a:spcBef>
                <a:spcPts val="600"/>
              </a:spcBef>
              <a:spcAft>
                <a:spcPts val="0"/>
              </a:spcAft>
              <a:buSzPts val="1200"/>
              <a:buChar char="◦"/>
            </a:pPr>
            <a:r>
              <a:rPr lang="en-IN" sz="1200"/>
              <a:t>create and delete them, </a:t>
            </a:r>
            <a:endParaRPr/>
          </a:p>
          <a:p>
            <a:pPr indent="-182880" lvl="1" marL="384048" rtl="0" algn="l">
              <a:lnSpc>
                <a:spcPct val="90000"/>
              </a:lnSpc>
              <a:spcBef>
                <a:spcPts val="600"/>
              </a:spcBef>
              <a:spcAft>
                <a:spcPts val="0"/>
              </a:spcAft>
              <a:buSzPts val="1200"/>
              <a:buChar char="◦"/>
            </a:pPr>
            <a:r>
              <a:rPr lang="en-IN" sz="1200"/>
              <a:t>search them, </a:t>
            </a:r>
            <a:endParaRPr/>
          </a:p>
          <a:p>
            <a:pPr indent="-182880" lvl="1" marL="384048" rtl="0" algn="l">
              <a:lnSpc>
                <a:spcPct val="90000"/>
              </a:lnSpc>
              <a:spcBef>
                <a:spcPts val="600"/>
              </a:spcBef>
              <a:spcAft>
                <a:spcPts val="0"/>
              </a:spcAft>
              <a:buSzPts val="1200"/>
              <a:buChar char="◦"/>
            </a:pPr>
            <a:r>
              <a:rPr lang="en-IN" sz="1200"/>
              <a:t>list file Information, </a:t>
            </a:r>
            <a:endParaRPr/>
          </a:p>
          <a:p>
            <a:pPr indent="-182880" lvl="1" marL="384048" rtl="0" algn="l">
              <a:lnSpc>
                <a:spcPct val="90000"/>
              </a:lnSpc>
              <a:spcBef>
                <a:spcPts val="600"/>
              </a:spcBef>
              <a:spcAft>
                <a:spcPts val="0"/>
              </a:spcAft>
              <a:buSzPts val="1200"/>
              <a:buChar char="◦"/>
            </a:pPr>
            <a:r>
              <a:rPr lang="en-IN" sz="1200"/>
              <a:t>permission management.</a:t>
            </a:r>
            <a:endParaRPr/>
          </a:p>
          <a:p>
            <a:pPr indent="0" lvl="1" marL="457200" rtl="0" algn="l">
              <a:lnSpc>
                <a:spcPct val="90000"/>
              </a:lnSpc>
              <a:spcBef>
                <a:spcPts val="600"/>
              </a:spcBef>
              <a:spcAft>
                <a:spcPts val="0"/>
              </a:spcAft>
              <a:buSzPts val="1200"/>
              <a:buNone/>
            </a:pPr>
            <a:r>
              <a:rPr b="1" lang="en-IN" sz="1200"/>
              <a:t>Communications</a:t>
            </a:r>
            <a:r>
              <a:rPr lang="en-IN" sz="1200"/>
              <a:t> – </a:t>
            </a:r>
            <a:endParaRPr/>
          </a:p>
          <a:p>
            <a:pPr indent="-182880" lvl="1" marL="384048" rtl="0" algn="l">
              <a:lnSpc>
                <a:spcPct val="90000"/>
              </a:lnSpc>
              <a:spcBef>
                <a:spcPts val="600"/>
              </a:spcBef>
              <a:spcAft>
                <a:spcPts val="0"/>
              </a:spcAft>
              <a:buSzPts val="1200"/>
              <a:buChar char="◦"/>
            </a:pPr>
            <a:r>
              <a:rPr lang="en-IN" sz="1200"/>
              <a:t>Processes may exchange information, </a:t>
            </a:r>
            <a:endParaRPr/>
          </a:p>
          <a:p>
            <a:pPr indent="-182880" lvl="2" marL="566928" rtl="0" algn="l">
              <a:lnSpc>
                <a:spcPct val="90000"/>
              </a:lnSpc>
              <a:spcBef>
                <a:spcPts val="600"/>
              </a:spcBef>
              <a:spcAft>
                <a:spcPts val="0"/>
              </a:spcAft>
              <a:buSzPts val="1200"/>
              <a:buChar char="◦"/>
            </a:pPr>
            <a:r>
              <a:rPr lang="en-IN" sz="1200"/>
              <a:t>on the same computer or </a:t>
            </a:r>
            <a:endParaRPr/>
          </a:p>
          <a:p>
            <a:pPr indent="-182880" lvl="2" marL="566928" rtl="0" algn="l">
              <a:lnSpc>
                <a:spcPct val="90000"/>
              </a:lnSpc>
              <a:spcBef>
                <a:spcPts val="600"/>
              </a:spcBef>
              <a:spcAft>
                <a:spcPts val="0"/>
              </a:spcAft>
              <a:buSzPts val="1200"/>
              <a:buChar char="◦"/>
            </a:pPr>
            <a:r>
              <a:rPr lang="en-IN" sz="1200"/>
              <a:t>between computers over a network</a:t>
            </a:r>
            <a:endParaRPr/>
          </a:p>
          <a:p>
            <a:pPr indent="-182880" lvl="1" marL="384048" rtl="0" algn="l">
              <a:lnSpc>
                <a:spcPct val="90000"/>
              </a:lnSpc>
              <a:spcBef>
                <a:spcPts val="600"/>
              </a:spcBef>
              <a:spcAft>
                <a:spcPts val="0"/>
              </a:spcAft>
              <a:buSzPts val="1200"/>
              <a:buChar char="◦"/>
            </a:pPr>
            <a:r>
              <a:rPr lang="en-IN" sz="1200"/>
              <a:t>Communications may be via </a:t>
            </a:r>
            <a:endParaRPr/>
          </a:p>
          <a:p>
            <a:pPr indent="-182880" lvl="2" marL="566928" rtl="0" algn="l">
              <a:lnSpc>
                <a:spcPct val="90000"/>
              </a:lnSpc>
              <a:spcBef>
                <a:spcPts val="600"/>
              </a:spcBef>
              <a:spcAft>
                <a:spcPts val="0"/>
              </a:spcAft>
              <a:buSzPts val="1200"/>
              <a:buChar char="◦"/>
            </a:pPr>
            <a:r>
              <a:rPr lang="en-IN" sz="1200"/>
              <a:t>shared memory or </a:t>
            </a:r>
            <a:endParaRPr/>
          </a:p>
          <a:p>
            <a:pPr indent="-182880" lvl="2" marL="566928" rtl="0" algn="l">
              <a:lnSpc>
                <a:spcPct val="90000"/>
              </a:lnSpc>
              <a:spcBef>
                <a:spcPts val="600"/>
              </a:spcBef>
              <a:spcAft>
                <a:spcPts val="0"/>
              </a:spcAft>
              <a:buSzPts val="1200"/>
              <a:buChar char="◦"/>
            </a:pPr>
            <a:r>
              <a:rPr lang="en-IN" sz="1200"/>
              <a:t>through message passing (packets moved by the OS)</a:t>
            </a:r>
            <a:endParaRPr/>
          </a:p>
          <a:p>
            <a:pPr indent="-182880" lvl="1" marL="384048" rtl="0" algn="l">
              <a:lnSpc>
                <a:spcPct val="90000"/>
              </a:lnSpc>
              <a:spcBef>
                <a:spcPts val="600"/>
              </a:spcBef>
              <a:spcAft>
                <a:spcPts val="0"/>
              </a:spcAft>
              <a:buSzPts val="1200"/>
              <a:buChar char="◦"/>
            </a:pPr>
            <a:r>
              <a:rPr b="1" lang="en-IN" sz="1200"/>
              <a:t>Error detection </a:t>
            </a:r>
            <a:r>
              <a:rPr lang="en-IN" sz="1200"/>
              <a:t>– OS needs to be constantly aware of possible errors</a:t>
            </a:r>
            <a:endParaRPr/>
          </a:p>
          <a:p>
            <a:pPr indent="-182880" lvl="2" marL="566928" rtl="0" algn="l">
              <a:lnSpc>
                <a:spcPct val="90000"/>
              </a:lnSpc>
              <a:spcBef>
                <a:spcPts val="600"/>
              </a:spcBef>
              <a:spcAft>
                <a:spcPts val="0"/>
              </a:spcAft>
              <a:buSzPts val="1200"/>
              <a:buChar char="◦"/>
            </a:pPr>
            <a:r>
              <a:rPr lang="en-IN" sz="1200"/>
              <a:t>May occur in the CPU and memory hardware, in I/O devices, in user program</a:t>
            </a:r>
            <a:endParaRPr/>
          </a:p>
          <a:p>
            <a:pPr indent="-182880" lvl="2" marL="566928" rtl="0" algn="l">
              <a:lnSpc>
                <a:spcPct val="90000"/>
              </a:lnSpc>
              <a:spcBef>
                <a:spcPts val="600"/>
              </a:spcBef>
              <a:spcAft>
                <a:spcPts val="0"/>
              </a:spcAft>
              <a:buSzPts val="1200"/>
              <a:buChar char="◦"/>
            </a:pPr>
            <a:r>
              <a:rPr b="1" lang="en-IN" sz="1200" u="sng"/>
              <a:t>For each type of error, OS should take the appropriate action </a:t>
            </a:r>
            <a:r>
              <a:rPr lang="en-IN" sz="1200"/>
              <a:t>to ensure correct and consistent computing</a:t>
            </a:r>
            <a:endParaRPr/>
          </a:p>
          <a:p>
            <a:pPr indent="-182880" lvl="2" marL="566928" rtl="0" algn="l">
              <a:lnSpc>
                <a:spcPct val="90000"/>
              </a:lnSpc>
              <a:spcBef>
                <a:spcPts val="600"/>
              </a:spcBef>
              <a:spcAft>
                <a:spcPts val="0"/>
              </a:spcAft>
              <a:buSzPts val="1200"/>
              <a:buChar char="◦"/>
            </a:pPr>
            <a:r>
              <a:rPr b="1" lang="en-IN" sz="1200" u="sng"/>
              <a:t>Debugging facilities </a:t>
            </a:r>
            <a:endParaRPr/>
          </a:p>
          <a:p>
            <a:pPr indent="-106680" lvl="2" marL="566928" rtl="0" algn="l">
              <a:lnSpc>
                <a:spcPct val="90000"/>
              </a:lnSpc>
              <a:spcBef>
                <a:spcPts val="600"/>
              </a:spcBef>
              <a:spcAft>
                <a:spcPts val="0"/>
              </a:spcAft>
              <a:buSzPts val="1200"/>
              <a:buNone/>
            </a:pPr>
            <a:r>
              <a:t/>
            </a:r>
            <a:endParaRPr sz="1200"/>
          </a:p>
          <a:p>
            <a:pPr indent="-106679" lvl="1" marL="384048" rtl="0" algn="l">
              <a:lnSpc>
                <a:spcPct val="90000"/>
              </a:lnSpc>
              <a:spcBef>
                <a:spcPts val="600"/>
              </a:spcBef>
              <a:spcAft>
                <a:spcPts val="0"/>
              </a:spcAft>
              <a:buSzPts val="1200"/>
              <a:buNone/>
            </a:pPr>
            <a:r>
              <a:t/>
            </a:r>
            <a:endParaRPr b="1" sz="1200"/>
          </a:p>
          <a:p>
            <a:pPr indent="-106679" lvl="1" marL="384048" rtl="0" algn="l">
              <a:lnSpc>
                <a:spcPct val="90000"/>
              </a:lnSpc>
              <a:spcBef>
                <a:spcPts val="600"/>
              </a:spcBef>
              <a:spcAft>
                <a:spcPts val="0"/>
              </a:spcAft>
              <a:buSzPts val="1200"/>
              <a:buNone/>
            </a:pPr>
            <a:r>
              <a:t/>
            </a:r>
            <a:endParaRPr sz="1200"/>
          </a:p>
        </p:txBody>
      </p:sp>
      <p:sp>
        <p:nvSpPr>
          <p:cNvPr id="838" name="Google Shape;838;p7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839" name="Google Shape;839;p7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840" name="Google Shape;840;p7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76"/>
          <p:cNvSpPr txBox="1"/>
          <p:nvPr>
            <p:ph type="title"/>
          </p:nvPr>
        </p:nvSpPr>
        <p:spPr>
          <a:xfrm>
            <a:off x="0" y="36921"/>
            <a:ext cx="7812088"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Operating System Functions (Cont.)</a:t>
            </a:r>
            <a:endParaRPr/>
          </a:p>
        </p:txBody>
      </p:sp>
      <p:sp>
        <p:nvSpPr>
          <p:cNvPr id="847" name="Google Shape;847;p76"/>
          <p:cNvSpPr txBox="1"/>
          <p:nvPr>
            <p:ph idx="1" type="body"/>
          </p:nvPr>
        </p:nvSpPr>
        <p:spPr>
          <a:xfrm>
            <a:off x="26232" y="637389"/>
            <a:ext cx="8362192" cy="6103979"/>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IN" sz="2000"/>
              <a:t>Another set of OS functions exists for </a:t>
            </a:r>
            <a:r>
              <a:rPr b="1" lang="en-IN" sz="2000" u="sng"/>
              <a:t>ensuring the efficient operation of the system itself via resource sharing</a:t>
            </a:r>
            <a:endParaRPr/>
          </a:p>
          <a:p>
            <a:pPr indent="-182880" lvl="1" marL="384048" rtl="0" algn="l">
              <a:lnSpc>
                <a:spcPct val="90000"/>
              </a:lnSpc>
              <a:spcBef>
                <a:spcPts val="400"/>
              </a:spcBef>
              <a:spcAft>
                <a:spcPts val="0"/>
              </a:spcAft>
              <a:buSzPts val="1800"/>
              <a:buChar char="◦"/>
            </a:pPr>
            <a:r>
              <a:rPr b="1" lang="en-IN"/>
              <a:t>Resource allocation </a:t>
            </a:r>
            <a:endParaRPr/>
          </a:p>
          <a:p>
            <a:pPr indent="-182880" lvl="1" marL="384048" rtl="0" algn="l">
              <a:lnSpc>
                <a:spcPct val="90000"/>
              </a:lnSpc>
              <a:spcBef>
                <a:spcPts val="600"/>
              </a:spcBef>
              <a:spcAft>
                <a:spcPts val="0"/>
              </a:spcAft>
              <a:buSzPts val="1800"/>
              <a:buChar char="◦"/>
            </a:pPr>
            <a:r>
              <a:rPr b="1" lang="en-IN"/>
              <a:t>Accounting </a:t>
            </a:r>
            <a:endParaRPr/>
          </a:p>
          <a:p>
            <a:pPr indent="-182880" lvl="1" marL="384048" rtl="0" algn="l">
              <a:lnSpc>
                <a:spcPct val="90000"/>
              </a:lnSpc>
              <a:spcBef>
                <a:spcPts val="600"/>
              </a:spcBef>
              <a:spcAft>
                <a:spcPts val="0"/>
              </a:spcAft>
              <a:buSzPts val="1800"/>
              <a:buChar char="◦"/>
            </a:pPr>
            <a:r>
              <a:rPr b="1" lang="en-IN"/>
              <a:t>Protection and security</a:t>
            </a:r>
            <a:endParaRPr/>
          </a:p>
          <a:p>
            <a:pPr indent="0" lvl="0" marL="57150" rtl="0" algn="l">
              <a:lnSpc>
                <a:spcPct val="90000"/>
              </a:lnSpc>
              <a:spcBef>
                <a:spcPts val="1600"/>
              </a:spcBef>
              <a:spcAft>
                <a:spcPts val="0"/>
              </a:spcAft>
              <a:buSzPts val="2000"/>
              <a:buNone/>
            </a:pPr>
            <a:r>
              <a:rPr b="1" lang="en-IN" sz="2000"/>
              <a:t>Resource allocation – </a:t>
            </a:r>
            <a:endParaRPr/>
          </a:p>
          <a:p>
            <a:pPr indent="-182880" lvl="1" marL="384048" rtl="0" algn="l">
              <a:lnSpc>
                <a:spcPct val="90000"/>
              </a:lnSpc>
              <a:spcBef>
                <a:spcPts val="400"/>
              </a:spcBef>
              <a:spcAft>
                <a:spcPts val="0"/>
              </a:spcAft>
              <a:buSzPts val="1800"/>
              <a:buChar char="◦"/>
            </a:pPr>
            <a:r>
              <a:rPr lang="en-IN"/>
              <a:t>When  multiple users or multiple jobs running concurrently, resources must be allocated to each of them</a:t>
            </a:r>
            <a:endParaRPr/>
          </a:p>
          <a:p>
            <a:pPr indent="-182880" lvl="2" marL="566928" rtl="0" algn="l">
              <a:lnSpc>
                <a:spcPct val="90000"/>
              </a:lnSpc>
              <a:spcBef>
                <a:spcPts val="600"/>
              </a:spcBef>
              <a:spcAft>
                <a:spcPts val="0"/>
              </a:spcAft>
              <a:buSzPts val="2000"/>
              <a:buChar char="◦"/>
            </a:pPr>
            <a:r>
              <a:rPr lang="en-IN" sz="2000"/>
              <a:t>Many types of resources -   </a:t>
            </a:r>
            <a:endParaRPr/>
          </a:p>
          <a:p>
            <a:pPr indent="-182880" lvl="3" marL="749808" rtl="0" algn="l">
              <a:lnSpc>
                <a:spcPct val="90000"/>
              </a:lnSpc>
              <a:spcBef>
                <a:spcPts val="600"/>
              </a:spcBef>
              <a:spcAft>
                <a:spcPts val="0"/>
              </a:spcAft>
              <a:buSzPts val="2000"/>
              <a:buChar char="◦"/>
            </a:pPr>
            <a:r>
              <a:rPr b="1" lang="en-IN" sz="2000" u="sng"/>
              <a:t>CPU cycles, </a:t>
            </a:r>
            <a:endParaRPr/>
          </a:p>
          <a:p>
            <a:pPr indent="-182880" lvl="3" marL="749808" rtl="0" algn="l">
              <a:lnSpc>
                <a:spcPct val="90000"/>
              </a:lnSpc>
              <a:spcBef>
                <a:spcPts val="600"/>
              </a:spcBef>
              <a:spcAft>
                <a:spcPts val="0"/>
              </a:spcAft>
              <a:buSzPts val="2000"/>
              <a:buChar char="◦"/>
            </a:pPr>
            <a:r>
              <a:rPr b="1" lang="en-IN" sz="2000" u="sng"/>
              <a:t>main memory, </a:t>
            </a:r>
            <a:endParaRPr/>
          </a:p>
          <a:p>
            <a:pPr indent="-182880" lvl="3" marL="749808" rtl="0" algn="l">
              <a:lnSpc>
                <a:spcPct val="90000"/>
              </a:lnSpc>
              <a:spcBef>
                <a:spcPts val="600"/>
              </a:spcBef>
              <a:spcAft>
                <a:spcPts val="0"/>
              </a:spcAft>
              <a:buSzPts val="2000"/>
              <a:buChar char="◦"/>
            </a:pPr>
            <a:r>
              <a:rPr b="1" lang="en-IN" sz="2000" u="sng"/>
              <a:t>file storage, </a:t>
            </a:r>
            <a:endParaRPr/>
          </a:p>
          <a:p>
            <a:pPr indent="-182880" lvl="3" marL="749808" rtl="0" algn="l">
              <a:lnSpc>
                <a:spcPct val="90000"/>
              </a:lnSpc>
              <a:spcBef>
                <a:spcPts val="600"/>
              </a:spcBef>
              <a:spcAft>
                <a:spcPts val="0"/>
              </a:spcAft>
              <a:buSzPts val="2000"/>
              <a:buChar char="◦"/>
            </a:pPr>
            <a:r>
              <a:rPr b="1" lang="en-IN" sz="2000" u="sng"/>
              <a:t>I/O devices.</a:t>
            </a:r>
            <a:endParaRPr/>
          </a:p>
          <a:p>
            <a:pPr indent="-182880" lvl="2" marL="566928" rtl="0" algn="l">
              <a:lnSpc>
                <a:spcPct val="90000"/>
              </a:lnSpc>
              <a:spcBef>
                <a:spcPts val="600"/>
              </a:spcBef>
              <a:spcAft>
                <a:spcPts val="0"/>
              </a:spcAft>
              <a:buSzPts val="2000"/>
              <a:buChar char="◦"/>
            </a:pPr>
            <a:r>
              <a:rPr lang="en-IN" sz="2000"/>
              <a:t>Some have </a:t>
            </a:r>
            <a:endParaRPr/>
          </a:p>
          <a:p>
            <a:pPr indent="-182880" lvl="3" marL="749808" rtl="0" algn="l">
              <a:lnSpc>
                <a:spcPct val="90000"/>
              </a:lnSpc>
              <a:spcBef>
                <a:spcPts val="600"/>
              </a:spcBef>
              <a:spcAft>
                <a:spcPts val="0"/>
              </a:spcAft>
              <a:buSzPts val="2000"/>
              <a:buChar char="◦"/>
            </a:pPr>
            <a:r>
              <a:rPr b="1" lang="en-IN" sz="2000" u="sng"/>
              <a:t>special allocation codes  </a:t>
            </a:r>
            <a:r>
              <a:rPr lang="en-IN" sz="2000"/>
              <a:t>(CPU cycles, main memory, file storage) while others (such as I/O devices) may have much </a:t>
            </a:r>
            <a:r>
              <a:rPr b="1" lang="en-IN" sz="2000" u="sng"/>
              <a:t>more general request </a:t>
            </a:r>
            <a:r>
              <a:rPr lang="en-IN" sz="2000"/>
              <a:t>and release code. </a:t>
            </a:r>
            <a:endParaRPr/>
          </a:p>
          <a:p>
            <a:pPr indent="-68579" lvl="1" marL="384048" rtl="0" algn="l">
              <a:lnSpc>
                <a:spcPct val="90000"/>
              </a:lnSpc>
              <a:spcBef>
                <a:spcPts val="600"/>
              </a:spcBef>
              <a:spcAft>
                <a:spcPts val="0"/>
              </a:spcAft>
              <a:buSzPts val="1800"/>
              <a:buNone/>
            </a:pPr>
            <a:r>
              <a:t/>
            </a:r>
            <a:endParaRPr/>
          </a:p>
        </p:txBody>
      </p:sp>
      <p:sp>
        <p:nvSpPr>
          <p:cNvPr id="848" name="Google Shape;848;p7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849" name="Google Shape;849;p7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850" name="Google Shape;850;p7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77"/>
          <p:cNvSpPr txBox="1"/>
          <p:nvPr>
            <p:ph type="title"/>
          </p:nvPr>
        </p:nvSpPr>
        <p:spPr>
          <a:xfrm>
            <a:off x="1003300" y="182563"/>
            <a:ext cx="7812088"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Operating System Functions (Cont.)</a:t>
            </a:r>
            <a:endParaRPr/>
          </a:p>
        </p:txBody>
      </p:sp>
      <p:sp>
        <p:nvSpPr>
          <p:cNvPr id="857" name="Google Shape;857;p77"/>
          <p:cNvSpPr txBox="1"/>
          <p:nvPr>
            <p:ph idx="1" type="body"/>
          </p:nvPr>
        </p:nvSpPr>
        <p:spPr>
          <a:xfrm>
            <a:off x="179512" y="779920"/>
            <a:ext cx="7404100" cy="4905375"/>
          </a:xfrm>
          <a:prstGeom prst="rect">
            <a:avLst/>
          </a:prstGeom>
          <a:noFill/>
          <a:ln>
            <a:noFill/>
          </a:ln>
        </p:spPr>
        <p:txBody>
          <a:bodyPr anchorCtr="0" anchor="t" bIns="45700" lIns="0" spcFirstLastPara="1" rIns="0" wrap="square" tIns="45700">
            <a:normAutofit fontScale="92500" lnSpcReduction="10000"/>
          </a:bodyPr>
          <a:lstStyle/>
          <a:p>
            <a:pPr indent="0" lvl="0" marL="0" rtl="0" algn="l">
              <a:lnSpc>
                <a:spcPct val="90000"/>
              </a:lnSpc>
              <a:spcBef>
                <a:spcPts val="0"/>
              </a:spcBef>
              <a:spcAft>
                <a:spcPts val="0"/>
              </a:spcAft>
              <a:buSzPct val="100000"/>
              <a:buNone/>
            </a:pPr>
            <a:r>
              <a:rPr b="1" lang="en-IN" sz="2000"/>
              <a:t>Accounting –</a:t>
            </a:r>
            <a:r>
              <a:rPr lang="en-IN" sz="2000"/>
              <a:t> </a:t>
            </a:r>
            <a:endParaRPr/>
          </a:p>
          <a:p>
            <a:pPr indent="-182879" lvl="1" marL="384048" rtl="0" algn="l">
              <a:lnSpc>
                <a:spcPct val="90000"/>
              </a:lnSpc>
              <a:spcBef>
                <a:spcPts val="400"/>
              </a:spcBef>
              <a:spcAft>
                <a:spcPts val="0"/>
              </a:spcAft>
              <a:buSzPct val="100000"/>
              <a:buChar char="◦"/>
            </a:pPr>
            <a:r>
              <a:rPr lang="en-IN"/>
              <a:t>To keep track of </a:t>
            </a:r>
            <a:endParaRPr/>
          </a:p>
          <a:p>
            <a:pPr indent="-182880" lvl="2" marL="566928" rtl="0" algn="l">
              <a:lnSpc>
                <a:spcPct val="90000"/>
              </a:lnSpc>
              <a:spcBef>
                <a:spcPts val="600"/>
              </a:spcBef>
              <a:spcAft>
                <a:spcPts val="0"/>
              </a:spcAft>
              <a:buSzPct val="100000"/>
              <a:buChar char="◦"/>
            </a:pPr>
            <a:r>
              <a:rPr b="1" lang="en-IN" sz="2000" u="sng"/>
              <a:t>which users </a:t>
            </a:r>
            <a:endParaRPr/>
          </a:p>
          <a:p>
            <a:pPr indent="-182880" lvl="2" marL="566928" rtl="0" algn="l">
              <a:lnSpc>
                <a:spcPct val="90000"/>
              </a:lnSpc>
              <a:spcBef>
                <a:spcPts val="600"/>
              </a:spcBef>
              <a:spcAft>
                <a:spcPts val="0"/>
              </a:spcAft>
              <a:buSzPct val="100000"/>
              <a:buChar char="◦"/>
            </a:pPr>
            <a:r>
              <a:rPr b="1" lang="en-IN" sz="2000" u="sng"/>
              <a:t>use how much and </a:t>
            </a:r>
            <a:endParaRPr/>
          </a:p>
          <a:p>
            <a:pPr indent="-182880" lvl="2" marL="566928" rtl="0" algn="l">
              <a:lnSpc>
                <a:spcPct val="90000"/>
              </a:lnSpc>
              <a:spcBef>
                <a:spcPts val="600"/>
              </a:spcBef>
              <a:spcAft>
                <a:spcPts val="0"/>
              </a:spcAft>
              <a:buSzPct val="100000"/>
              <a:buChar char="◦"/>
            </a:pPr>
            <a:r>
              <a:rPr b="1" lang="en-IN" sz="2000" u="sng"/>
              <a:t>what kinds of computer resources</a:t>
            </a:r>
            <a:endParaRPr sz="2000"/>
          </a:p>
          <a:p>
            <a:pPr indent="-77152" lvl="1" marL="384048" rtl="0" algn="l">
              <a:lnSpc>
                <a:spcPct val="90000"/>
              </a:lnSpc>
              <a:spcBef>
                <a:spcPts val="600"/>
              </a:spcBef>
              <a:spcAft>
                <a:spcPts val="0"/>
              </a:spcAft>
              <a:buSzPct val="100000"/>
              <a:buNone/>
            </a:pPr>
            <a:r>
              <a:t/>
            </a:r>
            <a:endParaRPr/>
          </a:p>
          <a:p>
            <a:pPr indent="-182879" lvl="1" marL="384048" rtl="0" algn="l">
              <a:lnSpc>
                <a:spcPct val="90000"/>
              </a:lnSpc>
              <a:spcBef>
                <a:spcPts val="600"/>
              </a:spcBef>
              <a:spcAft>
                <a:spcPts val="0"/>
              </a:spcAft>
              <a:buSzPct val="100000"/>
              <a:buChar char="◦"/>
            </a:pPr>
            <a:r>
              <a:rPr lang="en-IN"/>
              <a:t>This record can be used for billing purposes or </a:t>
            </a:r>
            <a:endParaRPr/>
          </a:p>
          <a:p>
            <a:pPr indent="-182880" lvl="2" marL="566928" rtl="0" algn="l">
              <a:lnSpc>
                <a:spcPct val="90000"/>
              </a:lnSpc>
              <a:spcBef>
                <a:spcPts val="600"/>
              </a:spcBef>
              <a:spcAft>
                <a:spcPts val="0"/>
              </a:spcAft>
              <a:buSzPct val="100000"/>
              <a:buChar char="◦"/>
            </a:pPr>
            <a:r>
              <a:rPr lang="en-IN" sz="2000"/>
              <a:t>for simply accumulating usage statistics.</a:t>
            </a:r>
            <a:endParaRPr/>
          </a:p>
          <a:p>
            <a:pPr indent="0" lvl="0" marL="0" rtl="0" algn="l">
              <a:lnSpc>
                <a:spcPct val="90000"/>
              </a:lnSpc>
              <a:spcBef>
                <a:spcPts val="1600"/>
              </a:spcBef>
              <a:spcAft>
                <a:spcPts val="0"/>
              </a:spcAft>
              <a:buSzPct val="100000"/>
              <a:buNone/>
            </a:pPr>
            <a:r>
              <a:rPr b="1" lang="en-IN" sz="2000"/>
              <a:t>Protection and security – </a:t>
            </a:r>
            <a:endParaRPr/>
          </a:p>
          <a:p>
            <a:pPr indent="-117475" lvl="0" marL="91440" rtl="0" algn="l">
              <a:lnSpc>
                <a:spcPct val="90000"/>
              </a:lnSpc>
              <a:spcBef>
                <a:spcPts val="1400"/>
              </a:spcBef>
              <a:spcAft>
                <a:spcPts val="0"/>
              </a:spcAft>
              <a:buSzPct val="100000"/>
              <a:buChar char=" "/>
            </a:pPr>
            <a:r>
              <a:rPr b="1" lang="en-IN" sz="2000"/>
              <a:t>Protection</a:t>
            </a:r>
            <a:r>
              <a:rPr lang="en-IN" sz="2000"/>
              <a:t> involves ensuring that all access to system resources is controlled</a:t>
            </a:r>
            <a:endParaRPr/>
          </a:p>
          <a:p>
            <a:pPr indent="-117475" lvl="0" marL="91440" rtl="0" algn="l">
              <a:lnSpc>
                <a:spcPct val="90000"/>
              </a:lnSpc>
              <a:spcBef>
                <a:spcPts val="1400"/>
              </a:spcBef>
              <a:spcAft>
                <a:spcPts val="0"/>
              </a:spcAft>
              <a:buSzPct val="100000"/>
              <a:buChar char=" "/>
            </a:pPr>
            <a:r>
              <a:rPr b="1" lang="en-IN" sz="2000"/>
              <a:t>Security</a:t>
            </a:r>
            <a:r>
              <a:rPr lang="en-IN" sz="2000"/>
              <a:t> of the system from outsiders is also important,  requires </a:t>
            </a:r>
            <a:endParaRPr/>
          </a:p>
          <a:p>
            <a:pPr indent="-182879" lvl="1" marL="384048" rtl="0" algn="l">
              <a:lnSpc>
                <a:spcPct val="90000"/>
              </a:lnSpc>
              <a:spcBef>
                <a:spcPts val="400"/>
              </a:spcBef>
              <a:spcAft>
                <a:spcPts val="0"/>
              </a:spcAft>
              <a:buSzPct val="100000"/>
              <a:buChar char="◦"/>
            </a:pPr>
            <a:r>
              <a:rPr b="1" lang="en-IN" u="sng"/>
              <a:t>user authentication</a:t>
            </a:r>
            <a:r>
              <a:rPr lang="en-IN"/>
              <a:t>, </a:t>
            </a:r>
            <a:endParaRPr/>
          </a:p>
          <a:p>
            <a:pPr indent="-182879" lvl="1" marL="384048" rtl="0" algn="l">
              <a:lnSpc>
                <a:spcPct val="90000"/>
              </a:lnSpc>
              <a:spcBef>
                <a:spcPts val="600"/>
              </a:spcBef>
              <a:spcAft>
                <a:spcPts val="0"/>
              </a:spcAft>
              <a:buSzPct val="100000"/>
              <a:buChar char="◦"/>
            </a:pPr>
            <a:r>
              <a:rPr lang="en-IN"/>
              <a:t>extends to </a:t>
            </a:r>
            <a:r>
              <a:rPr b="1" lang="en-IN" u="sng"/>
              <a:t>defending external I/O devices from invalid access attempts, </a:t>
            </a:r>
            <a:endParaRPr/>
          </a:p>
          <a:p>
            <a:pPr indent="-182879" lvl="1" marL="384048" rtl="0" algn="l">
              <a:lnSpc>
                <a:spcPct val="90000"/>
              </a:lnSpc>
              <a:spcBef>
                <a:spcPts val="600"/>
              </a:spcBef>
              <a:spcAft>
                <a:spcPts val="0"/>
              </a:spcAft>
              <a:buSzPct val="100000"/>
              <a:buChar char="◦"/>
            </a:pPr>
            <a:r>
              <a:rPr b="1" lang="en-IN" u="sng"/>
              <a:t>recording all such connections for detection of break ins.</a:t>
            </a:r>
            <a:endParaRPr/>
          </a:p>
          <a:p>
            <a:pPr indent="-65405" lvl="2" marL="566928" rtl="0" algn="l">
              <a:lnSpc>
                <a:spcPct val="90000"/>
              </a:lnSpc>
              <a:spcBef>
                <a:spcPts val="600"/>
              </a:spcBef>
              <a:spcAft>
                <a:spcPts val="0"/>
              </a:spcAft>
              <a:buSzPct val="100000"/>
              <a:buNone/>
            </a:pPr>
            <a:r>
              <a:t/>
            </a:r>
            <a:endParaRPr sz="2000"/>
          </a:p>
        </p:txBody>
      </p:sp>
      <p:sp>
        <p:nvSpPr>
          <p:cNvPr id="858" name="Google Shape;858;p7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859" name="Google Shape;859;p7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860" name="Google Shape;860;p7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78"/>
          <p:cNvSpPr txBox="1"/>
          <p:nvPr>
            <p:ph type="title"/>
          </p:nvPr>
        </p:nvSpPr>
        <p:spPr>
          <a:xfrm>
            <a:off x="457200" y="182563"/>
            <a:ext cx="8229600"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600"/>
              <a:buFont typeface="Calibri"/>
              <a:buNone/>
            </a:pPr>
            <a:r>
              <a:rPr b="1" lang="en-IN" sz="3600"/>
              <a:t>Operating System Structure</a:t>
            </a:r>
            <a:endParaRPr/>
          </a:p>
        </p:txBody>
      </p:sp>
      <p:sp>
        <p:nvSpPr>
          <p:cNvPr id="866" name="Google Shape;866;p78"/>
          <p:cNvSpPr txBox="1"/>
          <p:nvPr>
            <p:ph idx="1" type="body"/>
          </p:nvPr>
        </p:nvSpPr>
        <p:spPr>
          <a:xfrm>
            <a:off x="173259" y="758825"/>
            <a:ext cx="8358529" cy="5982543"/>
          </a:xfrm>
          <a:prstGeom prst="rect">
            <a:avLst/>
          </a:prstGeom>
          <a:noFill/>
          <a:ln>
            <a:noFill/>
          </a:ln>
        </p:spPr>
        <p:txBody>
          <a:bodyPr anchorCtr="0" anchor="t" bIns="45700" lIns="0" spcFirstLastPara="1" rIns="0" wrap="square" tIns="45700">
            <a:normAutofit fontScale="77500" lnSpcReduction="20000"/>
          </a:bodyPr>
          <a:lstStyle/>
          <a:p>
            <a:pPr indent="-98425" lvl="0" marL="91440" rtl="0" algn="l">
              <a:lnSpc>
                <a:spcPct val="90000"/>
              </a:lnSpc>
              <a:spcBef>
                <a:spcPts val="0"/>
              </a:spcBef>
              <a:spcAft>
                <a:spcPts val="0"/>
              </a:spcAft>
              <a:buSzPct val="100000"/>
              <a:buChar char=" "/>
            </a:pPr>
            <a:r>
              <a:rPr lang="en-IN" sz="2000"/>
              <a:t>General-purpose OS is very large program</a:t>
            </a:r>
            <a:endParaRPr/>
          </a:p>
          <a:p>
            <a:pPr indent="-98425" lvl="0" marL="91440" rtl="0" algn="l">
              <a:lnSpc>
                <a:spcPct val="90000"/>
              </a:lnSpc>
              <a:spcBef>
                <a:spcPts val="1400"/>
              </a:spcBef>
              <a:spcAft>
                <a:spcPts val="0"/>
              </a:spcAft>
              <a:buSzPct val="100000"/>
              <a:buChar char=" "/>
            </a:pPr>
            <a:r>
              <a:rPr lang="en-IN" sz="2000"/>
              <a:t>Various ways to structure </a:t>
            </a:r>
            <a:endParaRPr/>
          </a:p>
          <a:p>
            <a:pPr indent="-182880" lvl="1" marL="384048" rtl="0" algn="l">
              <a:lnSpc>
                <a:spcPct val="90000"/>
              </a:lnSpc>
              <a:spcBef>
                <a:spcPts val="400"/>
              </a:spcBef>
              <a:spcAft>
                <a:spcPts val="0"/>
              </a:spcAft>
              <a:buSzPct val="100000"/>
              <a:buChar char="◦"/>
            </a:pPr>
            <a:r>
              <a:rPr lang="en-IN"/>
              <a:t>Simple structure – MS-DOS</a:t>
            </a:r>
            <a:endParaRPr/>
          </a:p>
          <a:p>
            <a:pPr indent="-182880" lvl="1" marL="384048" rtl="0" algn="l">
              <a:lnSpc>
                <a:spcPct val="90000"/>
              </a:lnSpc>
              <a:spcBef>
                <a:spcPts val="600"/>
              </a:spcBef>
              <a:spcAft>
                <a:spcPts val="0"/>
              </a:spcAft>
              <a:buSzPct val="100000"/>
              <a:buChar char="◦"/>
            </a:pPr>
            <a:r>
              <a:rPr lang="en-IN"/>
              <a:t>More complex -- UNIX</a:t>
            </a:r>
            <a:endParaRPr/>
          </a:p>
          <a:p>
            <a:pPr indent="-182880" lvl="1" marL="384048" rtl="0" algn="l">
              <a:lnSpc>
                <a:spcPct val="90000"/>
              </a:lnSpc>
              <a:spcBef>
                <a:spcPts val="600"/>
              </a:spcBef>
              <a:spcAft>
                <a:spcPts val="0"/>
              </a:spcAft>
              <a:buSzPct val="100000"/>
              <a:buChar char="◦"/>
            </a:pPr>
            <a:r>
              <a:rPr lang="en-IN"/>
              <a:t>Layered – an abstraction</a:t>
            </a:r>
            <a:endParaRPr/>
          </a:p>
          <a:p>
            <a:pPr indent="-182880" lvl="1" marL="384048" rtl="0" algn="l">
              <a:lnSpc>
                <a:spcPct val="90000"/>
              </a:lnSpc>
              <a:spcBef>
                <a:spcPts val="600"/>
              </a:spcBef>
              <a:spcAft>
                <a:spcPts val="0"/>
              </a:spcAft>
              <a:buSzPct val="100000"/>
              <a:buChar char="◦"/>
            </a:pPr>
            <a:r>
              <a:rPr lang="en-IN"/>
              <a:t>Microkernel –Mach</a:t>
            </a:r>
            <a:endParaRPr/>
          </a:p>
          <a:p>
            <a:pPr indent="0" lvl="1" marL="411480" rtl="0" algn="l">
              <a:lnSpc>
                <a:spcPct val="90000"/>
              </a:lnSpc>
              <a:spcBef>
                <a:spcPts val="600"/>
              </a:spcBef>
              <a:spcAft>
                <a:spcPts val="0"/>
              </a:spcAft>
              <a:buSzPct val="100000"/>
              <a:buNone/>
            </a:pPr>
            <a:r>
              <a:rPr b="1" lang="en-IN" sz="2400"/>
              <a:t>Microsoft Disk Operating System </a:t>
            </a:r>
            <a:endParaRPr/>
          </a:p>
          <a:p>
            <a:pPr indent="-182880" lvl="1" marL="384048" rtl="0" algn="l">
              <a:lnSpc>
                <a:spcPct val="90000"/>
              </a:lnSpc>
              <a:spcBef>
                <a:spcPts val="600"/>
              </a:spcBef>
              <a:spcAft>
                <a:spcPts val="0"/>
              </a:spcAft>
              <a:buSzPct val="100000"/>
              <a:buChar char="◦"/>
            </a:pPr>
            <a:r>
              <a:rPr lang="en-IN" sz="2400"/>
              <a:t>OS for </a:t>
            </a:r>
            <a:r>
              <a:rPr b="1" lang="en-IN" sz="2400"/>
              <a:t>x86-based PCS mostly developed by Microsoft. </a:t>
            </a:r>
            <a:endParaRPr/>
          </a:p>
          <a:p>
            <a:pPr indent="-182880" lvl="1" marL="384048" rtl="0" algn="l">
              <a:lnSpc>
                <a:spcPct val="90000"/>
              </a:lnSpc>
              <a:spcBef>
                <a:spcPts val="600"/>
              </a:spcBef>
              <a:spcAft>
                <a:spcPts val="0"/>
              </a:spcAft>
              <a:buSzPct val="100000"/>
              <a:buChar char="◦"/>
            </a:pPr>
            <a:r>
              <a:rPr lang="en-IN" sz="2400"/>
              <a:t>Collectively, MS-DOS, </a:t>
            </a:r>
            <a:endParaRPr/>
          </a:p>
          <a:p>
            <a:pPr indent="-182879" lvl="2" marL="566928" rtl="0" algn="l">
              <a:lnSpc>
                <a:spcPct val="90000"/>
              </a:lnSpc>
              <a:spcBef>
                <a:spcPts val="600"/>
              </a:spcBef>
              <a:spcAft>
                <a:spcPts val="0"/>
              </a:spcAft>
              <a:buSzPct val="100000"/>
              <a:buChar char="◦"/>
            </a:pPr>
            <a:r>
              <a:rPr lang="en-IN"/>
              <a:t>its rebranding as IBM PC DOS, and </a:t>
            </a:r>
            <a:endParaRPr/>
          </a:p>
          <a:p>
            <a:pPr indent="-182879" lvl="2" marL="566928" rtl="0" algn="l">
              <a:lnSpc>
                <a:spcPct val="90000"/>
              </a:lnSpc>
              <a:spcBef>
                <a:spcPts val="600"/>
              </a:spcBef>
              <a:spcAft>
                <a:spcPts val="0"/>
              </a:spcAft>
              <a:buSzPct val="100000"/>
              <a:buChar char="◦"/>
            </a:pPr>
            <a:r>
              <a:rPr b="1" lang="en-IN"/>
              <a:t>some operating systems attempting to be compatible with MS-DOS</a:t>
            </a:r>
            <a:r>
              <a:rPr lang="en-IN"/>
              <a:t>, are sometimes referred to as "DOS" (which is also the generic acronym for disk operating system)</a:t>
            </a:r>
            <a:endParaRPr/>
          </a:p>
          <a:p>
            <a:pPr indent="-98425" lvl="0" marL="91440" rtl="0" algn="l">
              <a:lnSpc>
                <a:spcPct val="90000"/>
              </a:lnSpc>
              <a:spcBef>
                <a:spcPts val="1600"/>
              </a:spcBef>
              <a:spcAft>
                <a:spcPts val="0"/>
              </a:spcAft>
              <a:buSzPct val="100000"/>
              <a:buChar char=" "/>
            </a:pPr>
            <a:r>
              <a:rPr lang="en-IN" sz="2000"/>
              <a:t>MS-DOS – written to provide </a:t>
            </a:r>
            <a:r>
              <a:rPr b="1" lang="en-IN" sz="2000"/>
              <a:t>the most functionality in the least space</a:t>
            </a:r>
            <a:endParaRPr/>
          </a:p>
          <a:p>
            <a:pPr indent="-182880" lvl="1" marL="384048" rtl="0" algn="l">
              <a:lnSpc>
                <a:spcPct val="90000"/>
              </a:lnSpc>
              <a:spcBef>
                <a:spcPts val="400"/>
              </a:spcBef>
              <a:spcAft>
                <a:spcPts val="0"/>
              </a:spcAft>
              <a:buSzPct val="100000"/>
              <a:buChar char="◦"/>
            </a:pPr>
            <a:r>
              <a:rPr lang="en-IN"/>
              <a:t>Designed and </a:t>
            </a:r>
            <a:r>
              <a:rPr b="1" lang="en-IN"/>
              <a:t>implemented by a few people who had no idea that it would become so popular</a:t>
            </a:r>
            <a:endParaRPr/>
          </a:p>
          <a:p>
            <a:pPr indent="-182880" lvl="1" marL="384048" rtl="0" algn="l">
              <a:lnSpc>
                <a:spcPct val="90000"/>
              </a:lnSpc>
              <a:spcBef>
                <a:spcPts val="600"/>
              </a:spcBef>
              <a:spcAft>
                <a:spcPts val="0"/>
              </a:spcAft>
              <a:buSzPct val="100000"/>
              <a:buChar char="◦"/>
            </a:pPr>
            <a:r>
              <a:rPr b="1" lang="en-IN"/>
              <a:t>Written by Tim Paterson</a:t>
            </a:r>
            <a:endParaRPr/>
          </a:p>
          <a:p>
            <a:pPr indent="-182880" lvl="1" marL="384048" rtl="0" algn="l">
              <a:lnSpc>
                <a:spcPct val="90000"/>
              </a:lnSpc>
              <a:spcBef>
                <a:spcPts val="600"/>
              </a:spcBef>
              <a:spcAft>
                <a:spcPts val="0"/>
              </a:spcAft>
              <a:buSzPct val="100000"/>
              <a:buChar char="◦"/>
            </a:pPr>
            <a:r>
              <a:rPr b="1" lang="en-IN" sz="2200"/>
              <a:t>Because of the limited hardware it was build on, </a:t>
            </a:r>
            <a:endParaRPr/>
          </a:p>
          <a:p>
            <a:pPr indent="-182880" lvl="2" marL="566928" rtl="0" algn="l">
              <a:lnSpc>
                <a:spcPct val="90000"/>
              </a:lnSpc>
              <a:spcBef>
                <a:spcPts val="600"/>
              </a:spcBef>
              <a:spcAft>
                <a:spcPts val="0"/>
              </a:spcAft>
              <a:buSzPct val="100000"/>
              <a:buChar char="◦"/>
            </a:pPr>
            <a:r>
              <a:rPr b="1" lang="en-IN" sz="2200"/>
              <a:t>it was Not divided into modules carefully</a:t>
            </a:r>
            <a:endParaRPr/>
          </a:p>
          <a:p>
            <a:pPr indent="-182880" lvl="1" marL="384048" rtl="0" algn="l">
              <a:lnSpc>
                <a:spcPct val="90000"/>
              </a:lnSpc>
              <a:spcBef>
                <a:spcPts val="600"/>
              </a:spcBef>
              <a:spcAft>
                <a:spcPts val="0"/>
              </a:spcAft>
              <a:buSzPct val="100000"/>
              <a:buChar char="◦"/>
            </a:pPr>
            <a:r>
              <a:rPr lang="en-IN" sz="2200"/>
              <a:t>Although MS-DOS has </a:t>
            </a:r>
            <a:r>
              <a:rPr b="1" lang="en-IN" sz="2200"/>
              <a:t>some structure, </a:t>
            </a:r>
            <a:endParaRPr/>
          </a:p>
          <a:p>
            <a:pPr indent="-182880" lvl="2" marL="566928" rtl="0" algn="l">
              <a:lnSpc>
                <a:spcPct val="90000"/>
              </a:lnSpc>
              <a:spcBef>
                <a:spcPts val="600"/>
              </a:spcBef>
              <a:spcAft>
                <a:spcPts val="0"/>
              </a:spcAft>
              <a:buSzPct val="100000"/>
              <a:buChar char="◦"/>
            </a:pPr>
            <a:r>
              <a:rPr b="1" lang="en-IN" sz="2200"/>
              <a:t>its interfaces and levels of functionality </a:t>
            </a:r>
            <a:endParaRPr/>
          </a:p>
          <a:p>
            <a:pPr indent="-182880" lvl="2" marL="566928" rtl="0" algn="l">
              <a:lnSpc>
                <a:spcPct val="90000"/>
              </a:lnSpc>
              <a:spcBef>
                <a:spcPts val="600"/>
              </a:spcBef>
              <a:spcAft>
                <a:spcPts val="0"/>
              </a:spcAft>
              <a:buSzPct val="100000"/>
              <a:buChar char="◦"/>
            </a:pPr>
            <a:r>
              <a:rPr b="1" lang="en-IN" sz="2200"/>
              <a:t>are not well separated</a:t>
            </a:r>
            <a:endParaRPr/>
          </a:p>
          <a:p>
            <a:pPr indent="-98425" lvl="0" marL="91440" rtl="0" algn="l">
              <a:lnSpc>
                <a:spcPct val="90000"/>
              </a:lnSpc>
              <a:spcBef>
                <a:spcPts val="1600"/>
              </a:spcBef>
              <a:spcAft>
                <a:spcPts val="0"/>
              </a:spcAft>
              <a:buSzPct val="100000"/>
              <a:buChar char=" "/>
            </a:pPr>
            <a:r>
              <a:rPr b="1" lang="en-IN" sz="2000"/>
              <a:t>Competitors?</a:t>
            </a:r>
            <a:endParaRPr/>
          </a:p>
          <a:p>
            <a:pPr indent="-182880" lvl="1" marL="384048" rtl="0" algn="l">
              <a:lnSpc>
                <a:spcPct val="90000"/>
              </a:lnSpc>
              <a:spcBef>
                <a:spcPts val="400"/>
              </a:spcBef>
              <a:spcAft>
                <a:spcPts val="0"/>
              </a:spcAft>
              <a:buSzPct val="100000"/>
              <a:buChar char="◦"/>
            </a:pPr>
            <a:r>
              <a:rPr lang="en-IN"/>
              <a:t>It was gradually </a:t>
            </a:r>
            <a:r>
              <a:rPr b="1" lang="en-IN"/>
              <a:t>superseded by OS offering a graphical user interface (GUI), </a:t>
            </a:r>
            <a:endParaRPr/>
          </a:p>
          <a:p>
            <a:pPr indent="-182880" lvl="2" marL="566928" rtl="0" algn="l">
              <a:lnSpc>
                <a:spcPct val="90000"/>
              </a:lnSpc>
              <a:spcBef>
                <a:spcPts val="600"/>
              </a:spcBef>
              <a:spcAft>
                <a:spcPts val="0"/>
              </a:spcAft>
              <a:buSzPct val="100000"/>
              <a:buChar char="◦"/>
            </a:pPr>
            <a:r>
              <a:rPr lang="en-IN" sz="2000"/>
              <a:t>in various generations of the </a:t>
            </a:r>
            <a:r>
              <a:rPr b="1" lang="en-IN" sz="2000"/>
              <a:t>graphical Microsoft Windows operating system</a:t>
            </a:r>
            <a:endParaRPr b="1" sz="2200"/>
          </a:p>
          <a:p>
            <a:pPr indent="-94297" lvl="1" marL="384048" rtl="0" algn="l">
              <a:lnSpc>
                <a:spcPct val="90000"/>
              </a:lnSpc>
              <a:spcBef>
                <a:spcPts val="600"/>
              </a:spcBef>
              <a:spcAft>
                <a:spcPts val="0"/>
              </a:spcAft>
              <a:buSzPct val="100000"/>
              <a:buNone/>
            </a:pPr>
            <a:r>
              <a:t/>
            </a:r>
            <a:endParaRPr b="1"/>
          </a:p>
          <a:p>
            <a:pPr indent="-94297" lvl="1" marL="384048" rtl="0" algn="l">
              <a:lnSpc>
                <a:spcPct val="90000"/>
              </a:lnSpc>
              <a:spcBef>
                <a:spcPts val="600"/>
              </a:spcBef>
              <a:spcAft>
                <a:spcPts val="0"/>
              </a:spcAft>
              <a:buSzPct val="100000"/>
              <a:buNone/>
            </a:pPr>
            <a:r>
              <a:t/>
            </a:r>
            <a:endParaRPr/>
          </a:p>
          <a:p>
            <a:pPr indent="0" lvl="0" marL="91440" rtl="0" algn="l">
              <a:lnSpc>
                <a:spcPct val="90000"/>
              </a:lnSpc>
              <a:spcBef>
                <a:spcPts val="1600"/>
              </a:spcBef>
              <a:spcAft>
                <a:spcPts val="0"/>
              </a:spcAft>
              <a:buSzPct val="100000"/>
              <a:buNone/>
            </a:pPr>
            <a:r>
              <a:t/>
            </a:r>
            <a:endParaRPr sz="2000"/>
          </a:p>
        </p:txBody>
      </p:sp>
      <p:sp>
        <p:nvSpPr>
          <p:cNvPr id="867" name="Google Shape;867;p7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868" name="Google Shape;868;p7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869" name="Google Shape;869;p7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870" name="Google Shape;870;p78"/>
          <p:cNvSpPr/>
          <p:nvPr/>
        </p:nvSpPr>
        <p:spPr>
          <a:xfrm>
            <a:off x="5462482" y="760583"/>
            <a:ext cx="432048" cy="1752356"/>
          </a:xfrm>
          <a:prstGeom prst="downArrow">
            <a:avLst>
              <a:gd fmla="val 50000" name="adj1"/>
              <a:gd fmla="val 50000" name="adj2"/>
            </a:avLst>
          </a:prstGeom>
          <a:solidFill>
            <a:schemeClr val="accent1"/>
          </a:solidFill>
          <a:ln cap="flat" cmpd="sng" w="15875">
            <a:solidFill>
              <a:srgbClr val="A65F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Image for post" id="871" name="Google Shape;871;p78"/>
          <p:cNvPicPr preferRelativeResize="0"/>
          <p:nvPr/>
        </p:nvPicPr>
        <p:blipFill rotWithShape="1">
          <a:blip r:embed="rId3">
            <a:alphaModFix/>
          </a:blip>
          <a:srcRect b="0" l="0" r="0" t="0"/>
          <a:stretch/>
        </p:blipFill>
        <p:spPr>
          <a:xfrm>
            <a:off x="6138495" y="595469"/>
            <a:ext cx="2073499" cy="1897427"/>
          </a:xfrm>
          <a:prstGeom prst="rect">
            <a:avLst/>
          </a:prstGeom>
          <a:noFill/>
          <a:ln>
            <a:noFill/>
          </a:ln>
        </p:spPr>
      </p:pic>
      <p:pic>
        <p:nvPicPr>
          <p:cNvPr descr="2" id="872" name="Google Shape;872;p78"/>
          <p:cNvPicPr preferRelativeResize="0"/>
          <p:nvPr/>
        </p:nvPicPr>
        <p:blipFill rotWithShape="1">
          <a:blip r:embed="rId4">
            <a:alphaModFix/>
          </a:blip>
          <a:srcRect b="0" l="0" r="0" t="0"/>
          <a:stretch/>
        </p:blipFill>
        <p:spPr>
          <a:xfrm>
            <a:off x="6655516" y="4293096"/>
            <a:ext cx="1558777" cy="189612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79"/>
          <p:cNvSpPr txBox="1"/>
          <p:nvPr>
            <p:ph type="title"/>
          </p:nvPr>
        </p:nvSpPr>
        <p:spPr>
          <a:xfrm>
            <a:off x="457200" y="274638"/>
            <a:ext cx="8229600" cy="56207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a:t>Simple Structure  -- MS-DOS</a:t>
            </a:r>
            <a:endParaRPr/>
          </a:p>
        </p:txBody>
      </p:sp>
      <p:sp>
        <p:nvSpPr>
          <p:cNvPr id="878" name="Google Shape;878;p79"/>
          <p:cNvSpPr txBox="1"/>
          <p:nvPr>
            <p:ph idx="1" type="body"/>
          </p:nvPr>
        </p:nvSpPr>
        <p:spPr>
          <a:xfrm>
            <a:off x="457200" y="908720"/>
            <a:ext cx="8229600" cy="5217443"/>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b="1" lang="en-IN" sz="2400"/>
              <a:t>Closure?</a:t>
            </a:r>
            <a:endParaRPr/>
          </a:p>
          <a:p>
            <a:pPr indent="-182880" lvl="1" marL="384048" rtl="0" algn="l">
              <a:lnSpc>
                <a:spcPct val="90000"/>
              </a:lnSpc>
              <a:spcBef>
                <a:spcPts val="400"/>
              </a:spcBef>
              <a:spcAft>
                <a:spcPts val="0"/>
              </a:spcAft>
              <a:buSzPts val="2400"/>
              <a:buChar char="◦"/>
            </a:pPr>
            <a:r>
              <a:rPr lang="en-IN" sz="2400"/>
              <a:t>MS-DOS went through </a:t>
            </a:r>
            <a:r>
              <a:rPr b="1" lang="en-IN" sz="2400"/>
              <a:t>eight versions, until development ceased in 2000</a:t>
            </a:r>
            <a:endParaRPr/>
          </a:p>
          <a:p>
            <a:pPr indent="-182880" lvl="1" marL="384048" rtl="0" algn="l">
              <a:lnSpc>
                <a:spcPct val="90000"/>
              </a:lnSpc>
              <a:spcBef>
                <a:spcPts val="600"/>
              </a:spcBef>
              <a:spcAft>
                <a:spcPts val="0"/>
              </a:spcAft>
              <a:buSzPts val="2400"/>
              <a:buChar char="◦"/>
            </a:pPr>
            <a:r>
              <a:rPr lang="en-IN" sz="2400"/>
              <a:t>Versions</a:t>
            </a:r>
            <a:endParaRPr sz="2400"/>
          </a:p>
          <a:p>
            <a:pPr indent="-182880" lvl="2" marL="566928" rtl="0" algn="l">
              <a:lnSpc>
                <a:spcPct val="90000"/>
              </a:lnSpc>
              <a:spcBef>
                <a:spcPts val="600"/>
              </a:spcBef>
              <a:spcAft>
                <a:spcPts val="0"/>
              </a:spcAft>
              <a:buSzPts val="1400"/>
              <a:buChar char="◦"/>
            </a:pPr>
            <a:r>
              <a:rPr lang="en-IN"/>
              <a:t>    MS-DOS 1.x</a:t>
            </a:r>
            <a:endParaRPr/>
          </a:p>
          <a:p>
            <a:pPr indent="-182880" lvl="2" marL="566928" rtl="0" algn="l">
              <a:lnSpc>
                <a:spcPct val="90000"/>
              </a:lnSpc>
              <a:spcBef>
                <a:spcPts val="600"/>
              </a:spcBef>
              <a:spcAft>
                <a:spcPts val="0"/>
              </a:spcAft>
              <a:buSzPts val="1400"/>
              <a:buChar char="◦"/>
            </a:pPr>
            <a:r>
              <a:rPr lang="en-IN"/>
              <a:t>    MS-DOS 2.x</a:t>
            </a:r>
            <a:endParaRPr/>
          </a:p>
          <a:p>
            <a:pPr indent="-182880" lvl="2" marL="566928" rtl="0" algn="l">
              <a:lnSpc>
                <a:spcPct val="90000"/>
              </a:lnSpc>
              <a:spcBef>
                <a:spcPts val="600"/>
              </a:spcBef>
              <a:spcAft>
                <a:spcPts val="0"/>
              </a:spcAft>
              <a:buSzPts val="1400"/>
              <a:buChar char="◦"/>
            </a:pPr>
            <a:r>
              <a:rPr lang="en-IN"/>
              <a:t>    MS-DOS 3.x</a:t>
            </a:r>
            <a:endParaRPr/>
          </a:p>
          <a:p>
            <a:pPr indent="-182880" lvl="2" marL="566928" rtl="0" algn="l">
              <a:lnSpc>
                <a:spcPct val="90000"/>
              </a:lnSpc>
              <a:spcBef>
                <a:spcPts val="600"/>
              </a:spcBef>
              <a:spcAft>
                <a:spcPts val="0"/>
              </a:spcAft>
              <a:buSzPts val="1400"/>
              <a:buChar char="◦"/>
            </a:pPr>
            <a:r>
              <a:rPr lang="en-IN"/>
              <a:t>    MS-DOS 4.0 / MS-DOS 4.x</a:t>
            </a:r>
            <a:endParaRPr/>
          </a:p>
          <a:p>
            <a:pPr indent="-182880" lvl="2" marL="566928" rtl="0" algn="l">
              <a:lnSpc>
                <a:spcPct val="90000"/>
              </a:lnSpc>
              <a:spcBef>
                <a:spcPts val="600"/>
              </a:spcBef>
              <a:spcAft>
                <a:spcPts val="0"/>
              </a:spcAft>
              <a:buSzPts val="1400"/>
              <a:buChar char="◦"/>
            </a:pPr>
            <a:r>
              <a:rPr lang="en-IN"/>
              <a:t>    MS-DOS 5.x</a:t>
            </a:r>
            <a:endParaRPr/>
          </a:p>
          <a:p>
            <a:pPr indent="-182880" lvl="2" marL="566928" rtl="0" algn="l">
              <a:lnSpc>
                <a:spcPct val="90000"/>
              </a:lnSpc>
              <a:spcBef>
                <a:spcPts val="600"/>
              </a:spcBef>
              <a:spcAft>
                <a:spcPts val="0"/>
              </a:spcAft>
              <a:buSzPts val="1400"/>
              <a:buChar char="◦"/>
            </a:pPr>
            <a:r>
              <a:rPr lang="en-IN"/>
              <a:t>    MS-DOS 6.x</a:t>
            </a:r>
            <a:endParaRPr/>
          </a:p>
          <a:p>
            <a:pPr indent="-182880" lvl="2" marL="566928" rtl="0" algn="l">
              <a:lnSpc>
                <a:spcPct val="90000"/>
              </a:lnSpc>
              <a:spcBef>
                <a:spcPts val="600"/>
              </a:spcBef>
              <a:spcAft>
                <a:spcPts val="0"/>
              </a:spcAft>
              <a:buSzPts val="1400"/>
              <a:buChar char="◦"/>
            </a:pPr>
            <a:r>
              <a:rPr lang="en-IN"/>
              <a:t>    MS-DOS 7 (as part of Windows 9x)</a:t>
            </a:r>
            <a:endParaRPr/>
          </a:p>
          <a:p>
            <a:pPr indent="-182880" lvl="2" marL="566928" rtl="0" algn="l">
              <a:lnSpc>
                <a:spcPct val="90000"/>
              </a:lnSpc>
              <a:spcBef>
                <a:spcPts val="600"/>
              </a:spcBef>
              <a:spcAft>
                <a:spcPts val="0"/>
              </a:spcAft>
              <a:buSzPts val="1400"/>
              <a:buChar char="◦"/>
            </a:pPr>
            <a:r>
              <a:rPr lang="en-IN"/>
              <a:t>    Localized versions</a:t>
            </a:r>
            <a:endParaRPr/>
          </a:p>
          <a:p>
            <a:pPr indent="-93980" lvl="2" marL="566928" rtl="0" algn="l">
              <a:lnSpc>
                <a:spcPct val="90000"/>
              </a:lnSpc>
              <a:spcBef>
                <a:spcPts val="600"/>
              </a:spcBef>
              <a:spcAft>
                <a:spcPts val="0"/>
              </a:spcAft>
              <a:buSzPts val="1400"/>
              <a:buNone/>
            </a:pPr>
            <a:r>
              <a:t/>
            </a:r>
            <a:endParaRPr/>
          </a:p>
          <a:p>
            <a:pPr indent="-93980" lvl="2" marL="566928" rtl="0" algn="l">
              <a:lnSpc>
                <a:spcPct val="90000"/>
              </a:lnSpc>
              <a:spcBef>
                <a:spcPts val="600"/>
              </a:spcBef>
              <a:spcAft>
                <a:spcPts val="0"/>
              </a:spcAft>
              <a:buSzPts val="1400"/>
              <a:buNone/>
            </a:pPr>
            <a:r>
              <a:t/>
            </a:r>
            <a:endParaRPr/>
          </a:p>
        </p:txBody>
      </p:sp>
      <p:sp>
        <p:nvSpPr>
          <p:cNvPr id="879" name="Google Shape;879;p7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880" name="Google Shape;880;p7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881" name="Google Shape;881;p7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80"/>
          <p:cNvSpPr txBox="1"/>
          <p:nvPr>
            <p:ph type="title"/>
          </p:nvPr>
        </p:nvSpPr>
        <p:spPr>
          <a:xfrm>
            <a:off x="251520" y="136713"/>
            <a:ext cx="6773862" cy="4572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Non Simple Structure  -- UNIX</a:t>
            </a:r>
            <a:endParaRPr sz="1600"/>
          </a:p>
        </p:txBody>
      </p:sp>
      <p:sp>
        <p:nvSpPr>
          <p:cNvPr id="888" name="Google Shape;888;p80"/>
          <p:cNvSpPr txBox="1"/>
          <p:nvPr>
            <p:ph idx="1" type="body"/>
          </p:nvPr>
        </p:nvSpPr>
        <p:spPr>
          <a:xfrm>
            <a:off x="0" y="673838"/>
            <a:ext cx="7545908" cy="5009604"/>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400"/>
              <a:buFont typeface="Arial"/>
              <a:buNone/>
            </a:pPr>
            <a:r>
              <a:rPr lang="en-IN" sz="2400"/>
              <a:t>	</a:t>
            </a:r>
            <a:r>
              <a:rPr lang="en-IN" sz="2000"/>
              <a:t>UNIX – </a:t>
            </a:r>
            <a:r>
              <a:rPr b="1" lang="en-IN" sz="2000"/>
              <a:t>limited by hardware functionality</a:t>
            </a:r>
            <a:r>
              <a:rPr lang="en-IN" sz="2000"/>
              <a:t>, the original UNIX operating system had limited structuring.  </a:t>
            </a:r>
            <a:endParaRPr/>
          </a:p>
          <a:p>
            <a:pPr indent="-91440" lvl="0" marL="91440" rtl="0" algn="l">
              <a:lnSpc>
                <a:spcPct val="90000"/>
              </a:lnSpc>
              <a:spcBef>
                <a:spcPts val="1400"/>
              </a:spcBef>
              <a:spcAft>
                <a:spcPts val="0"/>
              </a:spcAft>
              <a:buSzPts val="2000"/>
              <a:buFont typeface="Arial"/>
              <a:buNone/>
            </a:pPr>
            <a:r>
              <a:rPr lang="en-IN" sz="2000"/>
              <a:t>	The UNIX OS consists of two separable parts</a:t>
            </a:r>
            <a:endParaRPr/>
          </a:p>
          <a:p>
            <a:pPr indent="-182880" lvl="1" marL="384048" rtl="0" algn="l">
              <a:lnSpc>
                <a:spcPct val="90000"/>
              </a:lnSpc>
              <a:spcBef>
                <a:spcPts val="400"/>
              </a:spcBef>
              <a:spcAft>
                <a:spcPts val="0"/>
              </a:spcAft>
              <a:buSzPts val="1800"/>
              <a:buChar char="◦"/>
            </a:pPr>
            <a:r>
              <a:rPr b="1" lang="en-IN"/>
              <a:t>Systems programs</a:t>
            </a:r>
            <a:endParaRPr/>
          </a:p>
          <a:p>
            <a:pPr indent="-182880" lvl="1" marL="384048" rtl="0" algn="l">
              <a:lnSpc>
                <a:spcPct val="90000"/>
              </a:lnSpc>
              <a:spcBef>
                <a:spcPts val="600"/>
              </a:spcBef>
              <a:spcAft>
                <a:spcPts val="0"/>
              </a:spcAft>
              <a:buSzPts val="1800"/>
              <a:buChar char="◦"/>
            </a:pPr>
            <a:r>
              <a:rPr b="1" lang="en-IN"/>
              <a:t>The kernel</a:t>
            </a:r>
            <a:endParaRPr/>
          </a:p>
          <a:p>
            <a:pPr indent="0" lvl="1" marL="411480" rtl="0" algn="l">
              <a:lnSpc>
                <a:spcPct val="90000"/>
              </a:lnSpc>
              <a:spcBef>
                <a:spcPts val="600"/>
              </a:spcBef>
              <a:spcAft>
                <a:spcPts val="0"/>
              </a:spcAft>
              <a:buSzPts val="2400"/>
              <a:buNone/>
            </a:pPr>
            <a:r>
              <a:rPr b="1" lang="en-IN" sz="2400" u="sng"/>
              <a:t>Traditional UNIX System Structure</a:t>
            </a:r>
            <a:endParaRPr b="1" sz="2400" u="sng"/>
          </a:p>
        </p:txBody>
      </p:sp>
      <p:sp>
        <p:nvSpPr>
          <p:cNvPr id="889" name="Google Shape;889;p8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890" name="Google Shape;890;p8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891" name="Google Shape;891;p8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892" name="Google Shape;892;p80"/>
          <p:cNvPicPr preferRelativeResize="0"/>
          <p:nvPr/>
        </p:nvPicPr>
        <p:blipFill rotWithShape="1">
          <a:blip r:embed="rId3">
            <a:alphaModFix/>
          </a:blip>
          <a:srcRect b="0" l="0" r="0" t="0"/>
          <a:stretch/>
        </p:blipFill>
        <p:spPr>
          <a:xfrm>
            <a:off x="3314261" y="3047999"/>
            <a:ext cx="4752528" cy="2887915"/>
          </a:xfrm>
          <a:prstGeom prst="rect">
            <a:avLst/>
          </a:prstGeom>
          <a:noFill/>
          <a:ln>
            <a:noFill/>
          </a:ln>
        </p:spPr>
      </p:pic>
      <p:sp>
        <p:nvSpPr>
          <p:cNvPr id="893" name="Google Shape;893;p80"/>
          <p:cNvSpPr/>
          <p:nvPr/>
        </p:nvSpPr>
        <p:spPr>
          <a:xfrm>
            <a:off x="251520" y="3047255"/>
            <a:ext cx="3062741" cy="3477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lang="en-IN" sz="2000">
                <a:solidFill>
                  <a:schemeClr val="dk1"/>
                </a:solidFill>
                <a:latin typeface="Calibri"/>
                <a:ea typeface="Calibri"/>
                <a:cs typeface="Calibri"/>
                <a:sym typeface="Calibri"/>
              </a:rPr>
              <a:t>The kernel</a:t>
            </a:r>
            <a:endParaRPr/>
          </a:p>
          <a:p>
            <a:pPr indent="0" lvl="1" marL="457200" marR="0" rtl="0" algn="just">
              <a:spcBef>
                <a:spcPts val="0"/>
              </a:spcBef>
              <a:spcAft>
                <a:spcPts val="0"/>
              </a:spcAft>
              <a:buNone/>
            </a:pPr>
            <a:r>
              <a:rPr b="0" i="0" lang="en-IN" sz="2000" u="none" cap="none" strike="noStrike">
                <a:solidFill>
                  <a:schemeClr val="dk1"/>
                </a:solidFill>
                <a:latin typeface="Calibri"/>
                <a:ea typeface="Calibri"/>
                <a:cs typeface="Calibri"/>
                <a:sym typeface="Calibri"/>
              </a:rPr>
              <a:t>Consists of everything </a:t>
            </a:r>
            <a:r>
              <a:rPr b="1" i="0" lang="en-IN" sz="2000" u="none" cap="none" strike="noStrike">
                <a:solidFill>
                  <a:schemeClr val="dk1"/>
                </a:solidFill>
                <a:latin typeface="Calibri"/>
                <a:ea typeface="Calibri"/>
                <a:cs typeface="Calibri"/>
                <a:sym typeface="Calibri"/>
              </a:rPr>
              <a:t>below the system-call interface and above the physical hardware.</a:t>
            </a:r>
            <a:endParaRPr b="1" i="0" sz="2000" u="none" cap="none" strike="noStrike">
              <a:solidFill>
                <a:schemeClr val="dk1"/>
              </a:solidFill>
              <a:latin typeface="Calibri"/>
              <a:ea typeface="Calibri"/>
              <a:cs typeface="Calibri"/>
              <a:sym typeface="Calibri"/>
            </a:endParaRPr>
          </a:p>
          <a:p>
            <a:pPr indent="0" lvl="1" marL="457200" marR="0" rtl="0" algn="just">
              <a:spcBef>
                <a:spcPts val="0"/>
              </a:spcBef>
              <a:spcAft>
                <a:spcPts val="0"/>
              </a:spcAft>
              <a:buNone/>
            </a:pPr>
            <a:r>
              <a:rPr b="0" i="0" lang="en-IN" sz="2000" u="none" cap="none" strike="noStrike">
                <a:solidFill>
                  <a:schemeClr val="dk1"/>
                </a:solidFill>
                <a:latin typeface="Calibri"/>
                <a:ea typeface="Calibri"/>
                <a:cs typeface="Calibri"/>
                <a:sym typeface="Calibri"/>
              </a:rPr>
              <a:t>Further separated into series of interfaces </a:t>
            </a:r>
            <a:r>
              <a:rPr b="1" i="0" lang="en-IN" sz="2000" u="none" cap="none" strike="noStrike">
                <a:solidFill>
                  <a:schemeClr val="dk1"/>
                </a:solidFill>
                <a:latin typeface="Calibri"/>
                <a:ea typeface="Calibri"/>
                <a:cs typeface="Calibri"/>
                <a:sym typeface="Calibri"/>
              </a:rPr>
              <a:t>and device drivers which were added and expanded over the years </a:t>
            </a:r>
            <a:r>
              <a:rPr b="0" i="0" lang="en-IN" sz="2000" u="none" cap="none" strike="noStrike">
                <a:solidFill>
                  <a:schemeClr val="dk1"/>
                </a:solidFill>
                <a:latin typeface="Calibri"/>
                <a:ea typeface="Calibri"/>
                <a:cs typeface="Calibri"/>
                <a:sym typeface="Calibri"/>
              </a:rPr>
              <a:t>as UNIX</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81"/>
          <p:cNvSpPr txBox="1"/>
          <p:nvPr>
            <p:ph type="title"/>
          </p:nvPr>
        </p:nvSpPr>
        <p:spPr>
          <a:xfrm>
            <a:off x="1490663" y="255588"/>
            <a:ext cx="6773862" cy="4572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200000"/>
              <a:buFont typeface="Calibri"/>
              <a:buNone/>
            </a:pPr>
            <a:r>
              <a:rPr lang="en-IN"/>
              <a:t>Non Simple Structure  -- UNIX</a:t>
            </a:r>
            <a:endParaRPr sz="2400"/>
          </a:p>
        </p:txBody>
      </p:sp>
      <p:sp>
        <p:nvSpPr>
          <p:cNvPr id="900" name="Google Shape;900;p81"/>
          <p:cNvSpPr txBox="1"/>
          <p:nvPr>
            <p:ph idx="1" type="body"/>
          </p:nvPr>
        </p:nvSpPr>
        <p:spPr>
          <a:xfrm>
            <a:off x="559557" y="692696"/>
            <a:ext cx="7689924" cy="5009604"/>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Font typeface="Arial"/>
              <a:buNone/>
            </a:pPr>
            <a:r>
              <a:rPr lang="en-IN"/>
              <a:t>	</a:t>
            </a:r>
            <a:r>
              <a:rPr lang="en-IN" sz="2000"/>
              <a:t>The kernel</a:t>
            </a:r>
            <a:endParaRPr/>
          </a:p>
          <a:p>
            <a:pPr indent="-182880" lvl="1" marL="384048" rtl="0" algn="l">
              <a:lnSpc>
                <a:spcPct val="90000"/>
              </a:lnSpc>
              <a:spcBef>
                <a:spcPts val="400"/>
              </a:spcBef>
              <a:spcAft>
                <a:spcPts val="0"/>
              </a:spcAft>
              <a:buSzPts val="2000"/>
              <a:buChar char="◦"/>
            </a:pPr>
            <a:r>
              <a:rPr lang="en-IN" sz="2000"/>
              <a:t>Provides the </a:t>
            </a:r>
            <a:r>
              <a:rPr b="1" lang="en-IN" sz="2000"/>
              <a:t>file system, CPU scheduling, memory management, and other functions; a large number of functions for one level</a:t>
            </a:r>
            <a:endParaRPr/>
          </a:p>
          <a:p>
            <a:pPr indent="-182880" lvl="1" marL="384048" rtl="0" algn="l">
              <a:lnSpc>
                <a:spcPct val="90000"/>
              </a:lnSpc>
              <a:spcBef>
                <a:spcPts val="600"/>
              </a:spcBef>
              <a:spcAft>
                <a:spcPts val="0"/>
              </a:spcAft>
              <a:buSzPts val="2000"/>
              <a:buChar char="◦"/>
            </a:pPr>
            <a:r>
              <a:rPr lang="en-IN" sz="2000"/>
              <a:t>An </a:t>
            </a:r>
            <a:r>
              <a:rPr b="1" lang="en-IN" sz="2000"/>
              <a:t>enormous amount of functionality to be combined into one level, </a:t>
            </a:r>
            <a:endParaRPr/>
          </a:p>
          <a:p>
            <a:pPr indent="-182880" lvl="1" marL="384048" rtl="0" algn="l">
              <a:lnSpc>
                <a:spcPct val="90000"/>
              </a:lnSpc>
              <a:spcBef>
                <a:spcPts val="600"/>
              </a:spcBef>
              <a:spcAft>
                <a:spcPts val="0"/>
              </a:spcAft>
              <a:buSzPts val="2000"/>
              <a:buChar char="◦"/>
            </a:pPr>
            <a:r>
              <a:rPr lang="en-IN" sz="2000"/>
              <a:t>This makes </a:t>
            </a:r>
            <a:r>
              <a:rPr b="1" lang="en-IN" sz="2000"/>
              <a:t>UNIX difficult to enhance, </a:t>
            </a:r>
            <a:endParaRPr/>
          </a:p>
          <a:p>
            <a:pPr indent="-182880" lvl="2" marL="566928" rtl="0" algn="l">
              <a:lnSpc>
                <a:spcPct val="90000"/>
              </a:lnSpc>
              <a:spcBef>
                <a:spcPts val="600"/>
              </a:spcBef>
              <a:spcAft>
                <a:spcPts val="0"/>
              </a:spcAft>
              <a:buSzPts val="2000"/>
              <a:buChar char="◦"/>
            </a:pPr>
            <a:r>
              <a:rPr lang="en-IN" sz="2000"/>
              <a:t>as </a:t>
            </a:r>
            <a:r>
              <a:rPr b="1" lang="en-IN" sz="2000"/>
              <a:t>changes in one level could adversely affect other areas.</a:t>
            </a:r>
            <a:endParaRPr/>
          </a:p>
          <a:p>
            <a:pPr indent="-285750" lvl="0" marL="285750" rtl="0" algn="l">
              <a:lnSpc>
                <a:spcPct val="90000"/>
              </a:lnSpc>
              <a:spcBef>
                <a:spcPts val="1600"/>
              </a:spcBef>
              <a:spcAft>
                <a:spcPts val="0"/>
              </a:spcAft>
              <a:buSzPts val="2000"/>
              <a:buChar char=" "/>
            </a:pPr>
            <a:r>
              <a:rPr b="1" lang="en-IN"/>
              <a:t>New versions of UNIX are designed to use more advanced hardware.</a:t>
            </a:r>
            <a:endParaRPr/>
          </a:p>
          <a:p>
            <a:pPr indent="-285750" lvl="0" marL="285750" rtl="0" algn="l">
              <a:lnSpc>
                <a:spcPct val="90000"/>
              </a:lnSpc>
              <a:spcBef>
                <a:spcPts val="1400"/>
              </a:spcBef>
              <a:spcAft>
                <a:spcPts val="0"/>
              </a:spcAft>
              <a:buSzPts val="2000"/>
              <a:buChar char=" "/>
            </a:pPr>
            <a:r>
              <a:rPr lang="en-IN"/>
              <a:t>Given proper hardware support, </a:t>
            </a:r>
            <a:endParaRPr/>
          </a:p>
          <a:p>
            <a:pPr indent="-182880" lvl="1" marL="1028700" rtl="0" algn="l">
              <a:lnSpc>
                <a:spcPct val="90000"/>
              </a:lnSpc>
              <a:spcBef>
                <a:spcPts val="400"/>
              </a:spcBef>
              <a:spcAft>
                <a:spcPts val="0"/>
              </a:spcAft>
              <a:buSzPts val="1800"/>
              <a:buChar char="◦"/>
            </a:pPr>
            <a:r>
              <a:rPr lang="en-IN"/>
              <a:t>OS may be broken into pieces </a:t>
            </a:r>
            <a:endParaRPr/>
          </a:p>
          <a:p>
            <a:pPr indent="-182880" lvl="1" marL="1028700" rtl="0" algn="l">
              <a:lnSpc>
                <a:spcPct val="90000"/>
              </a:lnSpc>
              <a:spcBef>
                <a:spcPts val="600"/>
              </a:spcBef>
              <a:spcAft>
                <a:spcPts val="0"/>
              </a:spcAft>
              <a:buSzPts val="1800"/>
              <a:buChar char="◦"/>
            </a:pPr>
            <a:r>
              <a:rPr lang="en-IN"/>
              <a:t>that are smaller and more appropriate than those allowed </a:t>
            </a:r>
            <a:endParaRPr/>
          </a:p>
          <a:p>
            <a:pPr indent="0" lvl="1" marL="800100" rtl="0" algn="l">
              <a:lnSpc>
                <a:spcPct val="90000"/>
              </a:lnSpc>
              <a:spcBef>
                <a:spcPts val="600"/>
              </a:spcBef>
              <a:spcAft>
                <a:spcPts val="0"/>
              </a:spcAft>
              <a:buSzPts val="1800"/>
              <a:buNone/>
            </a:pPr>
            <a:r>
              <a:rPr lang="en-IN"/>
              <a:t>    by the original MS-DOS or UNIX systems.</a:t>
            </a:r>
            <a:endParaRPr/>
          </a:p>
          <a:p>
            <a:pPr indent="-55880" lvl="2" marL="566928" rtl="0" algn="l">
              <a:lnSpc>
                <a:spcPct val="90000"/>
              </a:lnSpc>
              <a:spcBef>
                <a:spcPts val="600"/>
              </a:spcBef>
              <a:spcAft>
                <a:spcPts val="0"/>
              </a:spcAft>
              <a:buSzPts val="2000"/>
              <a:buNone/>
            </a:pPr>
            <a:r>
              <a:t/>
            </a:r>
            <a:endParaRPr b="1" sz="2000"/>
          </a:p>
        </p:txBody>
      </p:sp>
      <p:sp>
        <p:nvSpPr>
          <p:cNvPr id="901" name="Google Shape;901;p8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902" name="Google Shape;902;p8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903" name="Google Shape;903;p8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82"/>
          <p:cNvSpPr txBox="1"/>
          <p:nvPr>
            <p:ph type="title"/>
          </p:nvPr>
        </p:nvSpPr>
        <p:spPr>
          <a:xfrm>
            <a:off x="395536" y="274638"/>
            <a:ext cx="7681664" cy="334962"/>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sz="3200"/>
              <a:t>UNIX</a:t>
            </a:r>
            <a:r>
              <a:rPr lang="en-IN"/>
              <a:t> </a:t>
            </a:r>
            <a:endParaRPr/>
          </a:p>
        </p:txBody>
      </p:sp>
      <p:sp>
        <p:nvSpPr>
          <p:cNvPr id="909" name="Google Shape;909;p8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910" name="Google Shape;910;p8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911" name="Google Shape;911;p8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912" name="Google Shape;912;p82"/>
          <p:cNvSpPr/>
          <p:nvPr/>
        </p:nvSpPr>
        <p:spPr>
          <a:xfrm>
            <a:off x="539552" y="785841"/>
            <a:ext cx="7704856" cy="347787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Unix is a family of multitasking, multiuser computer operating systems that derive from the original AT&amp;T Unix, </a:t>
            </a:r>
            <a:endParaRPr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Development starting in the </a:t>
            </a:r>
            <a:r>
              <a:rPr b="1" lang="en-IN" sz="2000">
                <a:solidFill>
                  <a:schemeClr val="dk1"/>
                </a:solidFill>
                <a:latin typeface="Calibri"/>
                <a:ea typeface="Calibri"/>
                <a:cs typeface="Calibri"/>
                <a:sym typeface="Calibri"/>
              </a:rPr>
              <a:t>1970s at the Bell Labs research center by Ken Thompson, Dennis Ritchie, and others</a:t>
            </a:r>
            <a:endParaRPr/>
          </a:p>
          <a:p>
            <a:pPr indent="-285750" lvl="0" marL="28575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There are many different versions of UNIX, although they share common similarities. </a:t>
            </a:r>
            <a:endParaRPr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000"/>
              <a:buFont typeface="Arial"/>
              <a:buChar char="•"/>
            </a:pPr>
            <a:r>
              <a:rPr b="1" lang="en-IN" sz="2000">
                <a:solidFill>
                  <a:schemeClr val="dk1"/>
                </a:solidFill>
                <a:latin typeface="Calibri"/>
                <a:ea typeface="Calibri"/>
                <a:cs typeface="Calibri"/>
                <a:sym typeface="Calibri"/>
              </a:rPr>
              <a:t>The most popular varieties of UNIX are Sun Solaris, GNU/Linux, and MacOS X. </a:t>
            </a:r>
            <a:endParaRPr b="1"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000"/>
              <a:buFont typeface="Arial"/>
              <a:buChar char="•"/>
            </a:pPr>
            <a:r>
              <a:rPr b="1" lang="en-IN" sz="2000">
                <a:solidFill>
                  <a:schemeClr val="dk1"/>
                </a:solidFill>
                <a:latin typeface="Calibri"/>
                <a:ea typeface="Calibri"/>
                <a:cs typeface="Calibri"/>
                <a:sym typeface="Calibri"/>
              </a:rPr>
              <a:t>Linux is the clone of Unix. It has several features similar to Unix, still have some key differences.</a:t>
            </a:r>
            <a:endParaRPr/>
          </a:p>
          <a:p>
            <a:pPr indent="-158750" lvl="0" marL="285750" marR="0" rtl="0" algn="l">
              <a:spcBef>
                <a:spcPts val="0"/>
              </a:spcBef>
              <a:spcAft>
                <a:spcPts val="0"/>
              </a:spcAft>
              <a:buClr>
                <a:schemeClr val="dk1"/>
              </a:buClr>
              <a:buSzPts val="2000"/>
              <a:buFont typeface="Arial"/>
              <a:buNone/>
            </a:pPr>
            <a:r>
              <a:t/>
            </a:r>
            <a:endParaRPr b="1" sz="2000">
              <a:solidFill>
                <a:schemeClr val="dk1"/>
              </a:solidFill>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8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918" name="Google Shape;918;p8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919" name="Google Shape;919;p8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920" name="Google Shape;920;p83"/>
          <p:cNvPicPr preferRelativeResize="0"/>
          <p:nvPr/>
        </p:nvPicPr>
        <p:blipFill rotWithShape="1">
          <a:blip r:embed="rId3">
            <a:alphaModFix/>
          </a:blip>
          <a:srcRect b="0" l="0" r="0" t="0"/>
          <a:stretch/>
        </p:blipFill>
        <p:spPr>
          <a:xfrm>
            <a:off x="361950" y="600075"/>
            <a:ext cx="8420100" cy="5657850"/>
          </a:xfrm>
          <a:prstGeom prst="rect">
            <a:avLst/>
          </a:prstGeom>
          <a:noFill/>
          <a:ln>
            <a:noFill/>
          </a:ln>
        </p:spPr>
      </p:pic>
      <p:cxnSp>
        <p:nvCxnSpPr>
          <p:cNvPr id="921" name="Google Shape;921;p83"/>
          <p:cNvCxnSpPr/>
          <p:nvPr/>
        </p:nvCxnSpPr>
        <p:spPr>
          <a:xfrm>
            <a:off x="3923928" y="1916832"/>
            <a:ext cx="1656184" cy="0"/>
          </a:xfrm>
          <a:prstGeom prst="straightConnector1">
            <a:avLst/>
          </a:prstGeom>
          <a:noFill/>
          <a:ln cap="flat" cmpd="sng" w="25400">
            <a:solidFill>
              <a:schemeClr val="accent6"/>
            </a:solidFill>
            <a:prstDash val="solid"/>
            <a:round/>
            <a:headEnd len="sm" w="sm" type="none"/>
            <a:tailEnd len="med" w="med" type="stealth"/>
          </a:ln>
          <a:effectLst>
            <a:outerShdw blurRad="38100" rotWithShape="0" algn="br" dir="2700000" dist="25400">
              <a:srgbClr val="000000">
                <a:alpha val="60000"/>
              </a:srgbClr>
            </a:outerShdw>
          </a:effectLst>
        </p:spPr>
      </p:cxnSp>
      <p:cxnSp>
        <p:nvCxnSpPr>
          <p:cNvPr id="922" name="Google Shape;922;p83"/>
          <p:cNvCxnSpPr/>
          <p:nvPr/>
        </p:nvCxnSpPr>
        <p:spPr>
          <a:xfrm>
            <a:off x="3635896" y="3140968"/>
            <a:ext cx="1656184" cy="0"/>
          </a:xfrm>
          <a:prstGeom prst="straightConnector1">
            <a:avLst/>
          </a:prstGeom>
          <a:noFill/>
          <a:ln cap="flat" cmpd="sng" w="25400">
            <a:solidFill>
              <a:schemeClr val="accent6"/>
            </a:solidFill>
            <a:prstDash val="solid"/>
            <a:round/>
            <a:headEnd len="sm" w="sm" type="none"/>
            <a:tailEnd len="med" w="med" type="stealth"/>
          </a:ln>
          <a:effectLst>
            <a:outerShdw blurRad="38100" rotWithShape="0" algn="br" dir="2700000" dist="25400">
              <a:srgbClr val="000000">
                <a:alpha val="60000"/>
              </a:srgbClr>
            </a:outerShdw>
          </a:effectLst>
        </p:spPr>
      </p:cxnSp>
      <p:cxnSp>
        <p:nvCxnSpPr>
          <p:cNvPr id="923" name="Google Shape;923;p83"/>
          <p:cNvCxnSpPr/>
          <p:nvPr/>
        </p:nvCxnSpPr>
        <p:spPr>
          <a:xfrm>
            <a:off x="2411760" y="4077072"/>
            <a:ext cx="1656184" cy="0"/>
          </a:xfrm>
          <a:prstGeom prst="straightConnector1">
            <a:avLst/>
          </a:prstGeom>
          <a:noFill/>
          <a:ln cap="flat" cmpd="sng" w="25400">
            <a:solidFill>
              <a:schemeClr val="accent6"/>
            </a:solidFill>
            <a:prstDash val="solid"/>
            <a:round/>
            <a:headEnd len="sm" w="sm" type="none"/>
            <a:tailEnd len="med" w="med" type="stealth"/>
          </a:ln>
          <a:effectLst>
            <a:outerShdw blurRad="38100" rotWithShape="0" algn="br" dir="2700000" dist="25400">
              <a:srgbClr val="000000">
                <a:alpha val="60000"/>
              </a:srgbClr>
            </a:outerShdw>
          </a:effectLst>
        </p:spPr>
      </p:cxnSp>
      <p:cxnSp>
        <p:nvCxnSpPr>
          <p:cNvPr id="924" name="Google Shape;924;p83"/>
          <p:cNvCxnSpPr/>
          <p:nvPr/>
        </p:nvCxnSpPr>
        <p:spPr>
          <a:xfrm>
            <a:off x="1763688" y="5085184"/>
            <a:ext cx="1656184" cy="0"/>
          </a:xfrm>
          <a:prstGeom prst="straightConnector1">
            <a:avLst/>
          </a:prstGeom>
          <a:noFill/>
          <a:ln cap="flat" cmpd="sng" w="25400">
            <a:solidFill>
              <a:schemeClr val="accent6"/>
            </a:solidFill>
            <a:prstDash val="solid"/>
            <a:round/>
            <a:headEnd len="sm" w="sm" type="none"/>
            <a:tailEnd len="med" w="med" type="stealth"/>
          </a:ln>
          <a:effectLst>
            <a:outerShdw blurRad="38100" rotWithShape="0" algn="br" dir="2700000" dist="25400">
              <a:srgbClr val="000000">
                <a:alpha val="60000"/>
              </a:srgbClr>
            </a:outerShdw>
          </a:effectLst>
        </p:spPr>
      </p:cxnSp>
      <p:cxnSp>
        <p:nvCxnSpPr>
          <p:cNvPr id="925" name="Google Shape;925;p83"/>
          <p:cNvCxnSpPr/>
          <p:nvPr/>
        </p:nvCxnSpPr>
        <p:spPr>
          <a:xfrm>
            <a:off x="7092280" y="4869160"/>
            <a:ext cx="1656184" cy="0"/>
          </a:xfrm>
          <a:prstGeom prst="straightConnector1">
            <a:avLst/>
          </a:prstGeom>
          <a:noFill/>
          <a:ln cap="flat" cmpd="sng" w="25400">
            <a:solidFill>
              <a:schemeClr val="accent6"/>
            </a:solidFill>
            <a:prstDash val="solid"/>
            <a:round/>
            <a:headEnd len="sm" w="sm" type="none"/>
            <a:tailEnd len="med" w="med" type="stealth"/>
          </a:ln>
          <a:effectLst>
            <a:outerShdw blurRad="38100" rotWithShape="0" algn="br" dir="2700000" dist="25400">
              <a:srgbClr val="000000">
                <a:alpha val="60000"/>
              </a:srgbClr>
            </a:outerShdw>
          </a:effectLst>
        </p:spPr>
      </p:cxnSp>
      <p:cxnSp>
        <p:nvCxnSpPr>
          <p:cNvPr id="926" name="Google Shape;926;p83"/>
          <p:cNvCxnSpPr/>
          <p:nvPr/>
        </p:nvCxnSpPr>
        <p:spPr>
          <a:xfrm>
            <a:off x="3851920" y="5733256"/>
            <a:ext cx="1656184" cy="0"/>
          </a:xfrm>
          <a:prstGeom prst="straightConnector1">
            <a:avLst/>
          </a:prstGeom>
          <a:noFill/>
          <a:ln cap="flat" cmpd="sng" w="25400">
            <a:solidFill>
              <a:schemeClr val="accent6"/>
            </a:solidFill>
            <a:prstDash val="solid"/>
            <a:round/>
            <a:headEnd len="sm" w="sm" type="none"/>
            <a:tailEnd len="med" w="med" type="stealth"/>
          </a:ln>
          <a:effectLst>
            <a:outerShdw blurRad="38100" rotWithShape="0" algn="br" dir="2700000" dist="25400">
              <a:srgbClr val="000000">
                <a:alpha val="60000"/>
              </a:srgbClr>
            </a:outerShdw>
          </a:effectLst>
        </p:spPr>
      </p:cxnSp>
      <p:cxnSp>
        <p:nvCxnSpPr>
          <p:cNvPr id="927" name="Google Shape;927;p83"/>
          <p:cNvCxnSpPr/>
          <p:nvPr/>
        </p:nvCxnSpPr>
        <p:spPr>
          <a:xfrm>
            <a:off x="6084168" y="2132856"/>
            <a:ext cx="1656184" cy="0"/>
          </a:xfrm>
          <a:prstGeom prst="straightConnector1">
            <a:avLst/>
          </a:prstGeom>
          <a:noFill/>
          <a:ln cap="flat" cmpd="sng" w="25400">
            <a:solidFill>
              <a:schemeClr val="accent6"/>
            </a:solidFill>
            <a:prstDash val="solid"/>
            <a:round/>
            <a:headEnd len="sm" w="sm" type="none"/>
            <a:tailEnd len="med" w="med" type="stealth"/>
          </a:ln>
          <a:effectLst>
            <a:outerShdw blurRad="38100" rotWithShape="0" algn="br" dir="2700000" dist="25400">
              <a:srgbClr val="000000">
                <a:alpha val="60000"/>
              </a:srgbClr>
            </a:outerShdw>
          </a:effectLst>
        </p:spPr>
      </p:cxnSp>
      <p:cxnSp>
        <p:nvCxnSpPr>
          <p:cNvPr id="928" name="Google Shape;928;p83"/>
          <p:cNvCxnSpPr/>
          <p:nvPr/>
        </p:nvCxnSpPr>
        <p:spPr>
          <a:xfrm>
            <a:off x="5796136" y="3140968"/>
            <a:ext cx="1656184" cy="0"/>
          </a:xfrm>
          <a:prstGeom prst="straightConnector1">
            <a:avLst/>
          </a:prstGeom>
          <a:noFill/>
          <a:ln cap="flat" cmpd="sng" w="25400">
            <a:solidFill>
              <a:schemeClr val="accent6"/>
            </a:solidFill>
            <a:prstDash val="solid"/>
            <a:round/>
            <a:headEnd len="sm" w="sm" type="none"/>
            <a:tailEnd len="med" w="med" type="stealth"/>
          </a:ln>
          <a:effectLst>
            <a:outerShdw blurRad="38100" rotWithShape="0" algn="br" dir="2700000" dist="25400">
              <a:srgbClr val="000000">
                <a:alpha val="60000"/>
              </a:srgbClr>
            </a:outerShdw>
          </a:effectLst>
        </p:spPr>
      </p:cxnSp>
      <p:cxnSp>
        <p:nvCxnSpPr>
          <p:cNvPr id="929" name="Google Shape;929;p83"/>
          <p:cNvCxnSpPr/>
          <p:nvPr/>
        </p:nvCxnSpPr>
        <p:spPr>
          <a:xfrm>
            <a:off x="5657646" y="4293096"/>
            <a:ext cx="1656184" cy="0"/>
          </a:xfrm>
          <a:prstGeom prst="straightConnector1">
            <a:avLst/>
          </a:prstGeom>
          <a:noFill/>
          <a:ln cap="flat" cmpd="sng" w="25400">
            <a:solidFill>
              <a:schemeClr val="accent6"/>
            </a:solidFill>
            <a:prstDash val="solid"/>
            <a:round/>
            <a:headEnd len="sm" w="sm" type="none"/>
            <a:tailEnd len="med" w="med" type="stealth"/>
          </a:ln>
          <a:effectLst>
            <a:outerShdw blurRad="38100" rotWithShape="0" algn="br" dir="2700000" dist="25400">
              <a:srgbClr val="000000">
                <a:alpha val="60000"/>
              </a:srgbClr>
            </a:outerShdw>
          </a:effectLst>
        </p:spPr>
      </p:cxn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8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935" name="Google Shape;935;p8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936" name="Google Shape;936;p8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937" name="Google Shape;937;p84"/>
          <p:cNvPicPr preferRelativeResize="0"/>
          <p:nvPr/>
        </p:nvPicPr>
        <p:blipFill rotWithShape="1">
          <a:blip r:embed="rId3">
            <a:alphaModFix/>
          </a:blip>
          <a:srcRect b="0" l="0" r="0" t="0"/>
          <a:stretch/>
        </p:blipFill>
        <p:spPr>
          <a:xfrm>
            <a:off x="352603" y="620688"/>
            <a:ext cx="8439150" cy="5400824"/>
          </a:xfrm>
          <a:prstGeom prst="rect">
            <a:avLst/>
          </a:prstGeom>
          <a:noFill/>
          <a:ln>
            <a:noFill/>
          </a:ln>
        </p:spPr>
      </p:pic>
      <p:cxnSp>
        <p:nvCxnSpPr>
          <p:cNvPr id="938" name="Google Shape;938;p84"/>
          <p:cNvCxnSpPr/>
          <p:nvPr/>
        </p:nvCxnSpPr>
        <p:spPr>
          <a:xfrm>
            <a:off x="2339752" y="4653136"/>
            <a:ext cx="1656184" cy="0"/>
          </a:xfrm>
          <a:prstGeom prst="straightConnector1">
            <a:avLst/>
          </a:prstGeom>
          <a:noFill/>
          <a:ln cap="flat" cmpd="sng" w="25400">
            <a:solidFill>
              <a:schemeClr val="accent6"/>
            </a:solidFill>
            <a:prstDash val="solid"/>
            <a:round/>
            <a:headEnd len="sm" w="sm" type="none"/>
            <a:tailEnd len="med" w="med" type="stealth"/>
          </a:ln>
          <a:effectLst>
            <a:outerShdw blurRad="38100" rotWithShape="0" algn="br" dir="2700000" dist="25400">
              <a:srgbClr val="000000">
                <a:alpha val="60000"/>
              </a:srgbClr>
            </a:outerShdw>
          </a:effectLst>
        </p:spPr>
      </p:cxnSp>
      <p:cxnSp>
        <p:nvCxnSpPr>
          <p:cNvPr id="939" name="Google Shape;939;p84"/>
          <p:cNvCxnSpPr/>
          <p:nvPr/>
        </p:nvCxnSpPr>
        <p:spPr>
          <a:xfrm>
            <a:off x="5724128" y="4941168"/>
            <a:ext cx="1656184" cy="0"/>
          </a:xfrm>
          <a:prstGeom prst="straightConnector1">
            <a:avLst/>
          </a:prstGeom>
          <a:noFill/>
          <a:ln cap="flat" cmpd="sng" w="25400">
            <a:solidFill>
              <a:schemeClr val="accent6"/>
            </a:solidFill>
            <a:prstDash val="solid"/>
            <a:round/>
            <a:headEnd len="sm" w="sm" type="none"/>
            <a:tailEnd len="med" w="med" type="stealth"/>
          </a:ln>
          <a:effectLst>
            <a:outerShdw blurRad="38100" rotWithShape="0" algn="br" dir="2700000" dist="25400">
              <a:srgbClr val="000000">
                <a:alpha val="60000"/>
              </a:srgbClr>
            </a:outerShdw>
          </a:effectLst>
        </p:spPr>
      </p:cxnSp>
      <p:cxnSp>
        <p:nvCxnSpPr>
          <p:cNvPr id="940" name="Google Shape;940;p84"/>
          <p:cNvCxnSpPr/>
          <p:nvPr/>
        </p:nvCxnSpPr>
        <p:spPr>
          <a:xfrm>
            <a:off x="3923928" y="5589240"/>
            <a:ext cx="1656184" cy="0"/>
          </a:xfrm>
          <a:prstGeom prst="straightConnector1">
            <a:avLst/>
          </a:prstGeom>
          <a:noFill/>
          <a:ln cap="flat" cmpd="sng" w="25400">
            <a:solidFill>
              <a:schemeClr val="accent6"/>
            </a:solidFill>
            <a:prstDash val="solid"/>
            <a:round/>
            <a:headEnd len="sm" w="sm" type="none"/>
            <a:tailEnd len="med" w="med" type="stealth"/>
          </a:ln>
          <a:effectLst>
            <a:outerShdw blurRad="38100" rotWithShape="0" algn="br" dir="2700000" dist="25400">
              <a:srgbClr val="000000">
                <a:alpha val="60000"/>
              </a:srgbClr>
            </a:outerShdw>
          </a:effectLst>
        </p:spPr>
      </p:cxnSp>
      <p:cxnSp>
        <p:nvCxnSpPr>
          <p:cNvPr id="941" name="Google Shape;941;p84"/>
          <p:cNvCxnSpPr/>
          <p:nvPr/>
        </p:nvCxnSpPr>
        <p:spPr>
          <a:xfrm>
            <a:off x="5796136" y="5589240"/>
            <a:ext cx="1656184" cy="0"/>
          </a:xfrm>
          <a:prstGeom prst="straightConnector1">
            <a:avLst/>
          </a:prstGeom>
          <a:noFill/>
          <a:ln cap="flat" cmpd="sng" w="25400">
            <a:solidFill>
              <a:schemeClr val="accent6"/>
            </a:solidFill>
            <a:prstDash val="solid"/>
            <a:round/>
            <a:headEnd len="sm" w="sm" type="none"/>
            <a:tailEnd len="med" w="med" type="stealth"/>
          </a:ln>
          <a:effectLst>
            <a:outerShdw blurRad="38100" rotWithShape="0" algn="br" dir="2700000" dist="25400">
              <a:srgbClr val="000000">
                <a:alpha val="60000"/>
              </a:srgbClr>
            </a:outerShdw>
          </a:effectLst>
        </p:spPr>
      </p:cxnSp>
      <p:cxnSp>
        <p:nvCxnSpPr>
          <p:cNvPr id="942" name="Google Shape;942;p84"/>
          <p:cNvCxnSpPr/>
          <p:nvPr/>
        </p:nvCxnSpPr>
        <p:spPr>
          <a:xfrm>
            <a:off x="1763688" y="2276872"/>
            <a:ext cx="1656184" cy="0"/>
          </a:xfrm>
          <a:prstGeom prst="straightConnector1">
            <a:avLst/>
          </a:prstGeom>
          <a:noFill/>
          <a:ln cap="flat" cmpd="sng" w="25400">
            <a:solidFill>
              <a:schemeClr val="accent6"/>
            </a:solidFill>
            <a:prstDash val="solid"/>
            <a:round/>
            <a:headEnd len="sm" w="sm" type="none"/>
            <a:tailEnd len="med" w="med" type="stealth"/>
          </a:ln>
          <a:effectLst>
            <a:outerShdw blurRad="38100" rotWithShape="0" algn="br" dir="2700000" dist="25400">
              <a:srgbClr val="000000">
                <a:alpha val="60000"/>
              </a:srgbClr>
            </a:outerShdw>
          </a:effectLst>
        </p:spPr>
      </p:cxnSp>
      <p:cxnSp>
        <p:nvCxnSpPr>
          <p:cNvPr id="943" name="Google Shape;943;p84"/>
          <p:cNvCxnSpPr/>
          <p:nvPr/>
        </p:nvCxnSpPr>
        <p:spPr>
          <a:xfrm>
            <a:off x="6804248" y="1916832"/>
            <a:ext cx="1656184" cy="0"/>
          </a:xfrm>
          <a:prstGeom prst="straightConnector1">
            <a:avLst/>
          </a:prstGeom>
          <a:noFill/>
          <a:ln cap="flat" cmpd="sng" w="25400">
            <a:solidFill>
              <a:schemeClr val="accent6"/>
            </a:solidFill>
            <a:prstDash val="solid"/>
            <a:round/>
            <a:headEnd len="sm" w="sm" type="none"/>
            <a:tailEnd len="med" w="med" type="stealth"/>
          </a:ln>
          <a:effectLst>
            <a:outerShdw blurRad="38100" rotWithShape="0" algn="br" dir="2700000" dist="25400">
              <a:srgbClr val="000000">
                <a:alpha val="60000"/>
              </a:srgbClr>
            </a:outerShdw>
          </a:effectLst>
        </p:spPr>
      </p:cxn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85"/>
          <p:cNvSpPr txBox="1"/>
          <p:nvPr>
            <p:ph type="title"/>
          </p:nvPr>
        </p:nvSpPr>
        <p:spPr>
          <a:xfrm>
            <a:off x="357528" y="84362"/>
            <a:ext cx="8229600"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Layered Approach</a:t>
            </a:r>
            <a:endParaRPr/>
          </a:p>
        </p:txBody>
      </p:sp>
      <p:sp>
        <p:nvSpPr>
          <p:cNvPr id="950" name="Google Shape;950;p85"/>
          <p:cNvSpPr txBox="1"/>
          <p:nvPr>
            <p:ph idx="1" type="body"/>
          </p:nvPr>
        </p:nvSpPr>
        <p:spPr>
          <a:xfrm>
            <a:off x="357528" y="674064"/>
            <a:ext cx="8030896" cy="5995296"/>
          </a:xfrm>
          <a:prstGeom prst="rect">
            <a:avLst/>
          </a:prstGeom>
          <a:noFill/>
          <a:ln>
            <a:noFill/>
          </a:ln>
        </p:spPr>
        <p:txBody>
          <a:bodyPr anchorCtr="0" anchor="t" bIns="45700" lIns="0" spcFirstLastPara="1" rIns="0" wrap="square" tIns="45700">
            <a:normAutofit fontScale="70000" lnSpcReduction="20000"/>
          </a:bodyPr>
          <a:lstStyle/>
          <a:p>
            <a:pPr indent="-91440" lvl="0" marL="91440" rtl="0" algn="l">
              <a:lnSpc>
                <a:spcPct val="90000"/>
              </a:lnSpc>
              <a:spcBef>
                <a:spcPts val="0"/>
              </a:spcBef>
              <a:spcAft>
                <a:spcPts val="0"/>
              </a:spcAft>
              <a:buSzPct val="100000"/>
              <a:buChar char=" "/>
            </a:pPr>
            <a:r>
              <a:rPr lang="en-IN" sz="2000"/>
              <a:t>The operating system is divided </a:t>
            </a:r>
            <a:endParaRPr/>
          </a:p>
          <a:p>
            <a:pPr indent="-182880" lvl="1" marL="384048" rtl="0" algn="l">
              <a:lnSpc>
                <a:spcPct val="90000"/>
              </a:lnSpc>
              <a:spcBef>
                <a:spcPts val="400"/>
              </a:spcBef>
              <a:spcAft>
                <a:spcPts val="0"/>
              </a:spcAft>
              <a:buSzPct val="100000"/>
              <a:buChar char="◦"/>
            </a:pPr>
            <a:r>
              <a:rPr lang="en-IN"/>
              <a:t>into a number of layers (levels), </a:t>
            </a:r>
            <a:endParaRPr/>
          </a:p>
          <a:p>
            <a:pPr indent="-182880" lvl="1" marL="384048" rtl="0" algn="l">
              <a:lnSpc>
                <a:spcPct val="90000"/>
              </a:lnSpc>
              <a:spcBef>
                <a:spcPts val="600"/>
              </a:spcBef>
              <a:spcAft>
                <a:spcPts val="0"/>
              </a:spcAft>
              <a:buSzPct val="100000"/>
              <a:buChar char="◦"/>
            </a:pPr>
            <a:r>
              <a:rPr lang="en-IN"/>
              <a:t>each built on top of lower layers.  </a:t>
            </a:r>
            <a:endParaRPr/>
          </a:p>
          <a:p>
            <a:pPr indent="-182880" lvl="1" marL="384048" rtl="0" algn="l">
              <a:lnSpc>
                <a:spcPct val="90000"/>
              </a:lnSpc>
              <a:spcBef>
                <a:spcPts val="600"/>
              </a:spcBef>
              <a:spcAft>
                <a:spcPts val="0"/>
              </a:spcAft>
              <a:buSzPct val="100000"/>
              <a:buChar char="◦"/>
            </a:pPr>
            <a:r>
              <a:rPr b="1" lang="en-IN"/>
              <a:t>The bottom layer (layer 0), is the hardware; </a:t>
            </a:r>
            <a:endParaRPr/>
          </a:p>
          <a:p>
            <a:pPr indent="-182880" lvl="1" marL="384048" rtl="0" algn="l">
              <a:lnSpc>
                <a:spcPct val="90000"/>
              </a:lnSpc>
              <a:spcBef>
                <a:spcPts val="600"/>
              </a:spcBef>
              <a:spcAft>
                <a:spcPts val="0"/>
              </a:spcAft>
              <a:buSzPct val="100000"/>
              <a:buChar char="◦"/>
            </a:pPr>
            <a:r>
              <a:rPr b="1" lang="en-IN"/>
              <a:t>The highest (layer N) is the user interface.</a:t>
            </a:r>
            <a:endParaRPr/>
          </a:p>
          <a:p>
            <a:pPr indent="-106679" lvl="0" marL="91440" rtl="0" algn="l">
              <a:lnSpc>
                <a:spcPct val="90000"/>
              </a:lnSpc>
              <a:spcBef>
                <a:spcPts val="1600"/>
              </a:spcBef>
              <a:spcAft>
                <a:spcPts val="0"/>
              </a:spcAft>
              <a:buSzPct val="100000"/>
              <a:buChar char=" "/>
            </a:pPr>
            <a:r>
              <a:rPr lang="en-IN" sz="2400"/>
              <a:t>An OS layer </a:t>
            </a:r>
            <a:r>
              <a:rPr b="1" lang="en-IN" sz="2400"/>
              <a:t>consists of data structures and </a:t>
            </a:r>
            <a:endParaRPr/>
          </a:p>
          <a:p>
            <a:pPr indent="-182880" lvl="1" marL="384048" rtl="0" algn="l">
              <a:lnSpc>
                <a:spcPct val="90000"/>
              </a:lnSpc>
              <a:spcBef>
                <a:spcPts val="400"/>
              </a:spcBef>
              <a:spcAft>
                <a:spcPts val="0"/>
              </a:spcAft>
              <a:buSzPct val="100000"/>
              <a:buChar char="◦"/>
            </a:pPr>
            <a:r>
              <a:rPr b="1" lang="en-IN" sz="2400"/>
              <a:t>a set of routines </a:t>
            </a:r>
            <a:endParaRPr/>
          </a:p>
          <a:p>
            <a:pPr indent="-182880" lvl="1" marL="384048" rtl="0" algn="l">
              <a:lnSpc>
                <a:spcPct val="90000"/>
              </a:lnSpc>
              <a:spcBef>
                <a:spcPts val="600"/>
              </a:spcBef>
              <a:spcAft>
                <a:spcPts val="0"/>
              </a:spcAft>
              <a:buSzPct val="100000"/>
              <a:buChar char="◦"/>
            </a:pPr>
            <a:r>
              <a:rPr lang="en-IN" sz="2400"/>
              <a:t>that can be </a:t>
            </a:r>
            <a:r>
              <a:rPr b="1" lang="en-IN" sz="2400"/>
              <a:t>invoked by higher layers. </a:t>
            </a:r>
            <a:endParaRPr/>
          </a:p>
          <a:p>
            <a:pPr indent="-182880" lvl="1" marL="384048" rtl="0" algn="l">
              <a:lnSpc>
                <a:spcPct val="90000"/>
              </a:lnSpc>
              <a:spcBef>
                <a:spcPts val="600"/>
              </a:spcBef>
              <a:spcAft>
                <a:spcPts val="0"/>
              </a:spcAft>
              <a:buSzPct val="100000"/>
              <a:buChar char="◦"/>
            </a:pPr>
            <a:r>
              <a:rPr lang="en-IN" sz="2400"/>
              <a:t>Layer M </a:t>
            </a:r>
            <a:r>
              <a:rPr b="1" lang="en-IN" sz="2400"/>
              <a:t>can invoke operations on lower layers. </a:t>
            </a:r>
            <a:endParaRPr/>
          </a:p>
          <a:p>
            <a:pPr indent="-106679" lvl="0" marL="91440" rtl="0" algn="l">
              <a:lnSpc>
                <a:spcPct val="90000"/>
              </a:lnSpc>
              <a:spcBef>
                <a:spcPts val="1600"/>
              </a:spcBef>
              <a:spcAft>
                <a:spcPts val="0"/>
              </a:spcAft>
              <a:buSzPct val="100000"/>
              <a:buChar char=" "/>
            </a:pPr>
            <a:r>
              <a:rPr lang="en-IN" sz="2400"/>
              <a:t>With modularity, </a:t>
            </a:r>
            <a:endParaRPr/>
          </a:p>
          <a:p>
            <a:pPr indent="-182880" lvl="1" marL="384048" rtl="0" algn="l">
              <a:lnSpc>
                <a:spcPct val="90000"/>
              </a:lnSpc>
              <a:spcBef>
                <a:spcPts val="400"/>
              </a:spcBef>
              <a:spcAft>
                <a:spcPts val="0"/>
              </a:spcAft>
              <a:buSzPct val="100000"/>
              <a:buChar char="◦"/>
            </a:pPr>
            <a:r>
              <a:rPr lang="en-IN" sz="2400"/>
              <a:t>layers are selected such that </a:t>
            </a:r>
            <a:endParaRPr/>
          </a:p>
          <a:p>
            <a:pPr indent="-182880" lvl="1" marL="384048" rtl="0" algn="l">
              <a:lnSpc>
                <a:spcPct val="90000"/>
              </a:lnSpc>
              <a:spcBef>
                <a:spcPts val="600"/>
              </a:spcBef>
              <a:spcAft>
                <a:spcPts val="0"/>
              </a:spcAft>
              <a:buSzPct val="100000"/>
              <a:buChar char="◦"/>
            </a:pPr>
            <a:r>
              <a:rPr b="1" lang="en-IN" sz="2400"/>
              <a:t>each uses functions and services of only lower-level layers</a:t>
            </a:r>
            <a:endParaRPr/>
          </a:p>
          <a:p>
            <a:pPr indent="-106679" lvl="0" marL="91440" rtl="0" algn="l">
              <a:lnSpc>
                <a:spcPct val="90000"/>
              </a:lnSpc>
              <a:spcBef>
                <a:spcPts val="1600"/>
              </a:spcBef>
              <a:spcAft>
                <a:spcPts val="0"/>
              </a:spcAft>
              <a:buSzPct val="100000"/>
              <a:buChar char=" "/>
            </a:pPr>
            <a:r>
              <a:rPr lang="en-IN" sz="2400"/>
              <a:t>It simplifies debugging and system verification.</a:t>
            </a:r>
            <a:endParaRPr/>
          </a:p>
          <a:p>
            <a:pPr indent="-106679" lvl="0" marL="91440" rtl="0" algn="l">
              <a:lnSpc>
                <a:spcPct val="90000"/>
              </a:lnSpc>
              <a:spcBef>
                <a:spcPts val="1400"/>
              </a:spcBef>
              <a:spcAft>
                <a:spcPts val="0"/>
              </a:spcAft>
              <a:buSzPct val="100000"/>
              <a:buChar char=" "/>
            </a:pPr>
            <a:r>
              <a:rPr b="1" lang="en-IN" sz="2400"/>
              <a:t>The 1</a:t>
            </a:r>
            <a:r>
              <a:rPr b="1" baseline="30000" lang="en-IN" sz="2400"/>
              <a:t>st</a:t>
            </a:r>
            <a:r>
              <a:rPr b="1" lang="en-IN" sz="2400"/>
              <a:t> layer can be debugged </a:t>
            </a:r>
            <a:endParaRPr/>
          </a:p>
          <a:p>
            <a:pPr indent="-182880" lvl="1" marL="384048" rtl="0" algn="l">
              <a:lnSpc>
                <a:spcPct val="90000"/>
              </a:lnSpc>
              <a:spcBef>
                <a:spcPts val="400"/>
              </a:spcBef>
              <a:spcAft>
                <a:spcPts val="0"/>
              </a:spcAft>
              <a:buSzPct val="100000"/>
              <a:buChar char="◦"/>
            </a:pPr>
            <a:r>
              <a:rPr b="1" lang="en-IN" sz="2400"/>
              <a:t>without any concern for the rest of the system.</a:t>
            </a:r>
            <a:endParaRPr/>
          </a:p>
          <a:p>
            <a:pPr indent="-106679" lvl="0" marL="91440" rtl="0" algn="l">
              <a:lnSpc>
                <a:spcPct val="90000"/>
              </a:lnSpc>
              <a:spcBef>
                <a:spcPts val="1600"/>
              </a:spcBef>
              <a:spcAft>
                <a:spcPts val="0"/>
              </a:spcAft>
              <a:buSzPct val="100000"/>
              <a:buChar char=" "/>
            </a:pPr>
            <a:r>
              <a:rPr lang="en-IN" sz="2400"/>
              <a:t>Once the 1</a:t>
            </a:r>
            <a:r>
              <a:rPr baseline="30000" lang="en-IN" sz="2400"/>
              <a:t>st</a:t>
            </a:r>
            <a:r>
              <a:rPr lang="en-IN" sz="2400"/>
              <a:t> layer is debugged, </a:t>
            </a:r>
            <a:endParaRPr/>
          </a:p>
          <a:p>
            <a:pPr indent="-182880" lvl="1" marL="384048" rtl="0" algn="l">
              <a:lnSpc>
                <a:spcPct val="90000"/>
              </a:lnSpc>
              <a:spcBef>
                <a:spcPts val="400"/>
              </a:spcBef>
              <a:spcAft>
                <a:spcPts val="0"/>
              </a:spcAft>
              <a:buSzPct val="100000"/>
              <a:buChar char="◦"/>
            </a:pPr>
            <a:r>
              <a:rPr lang="en-IN" sz="2400"/>
              <a:t>its correct functioning can be assumed while </a:t>
            </a:r>
            <a:endParaRPr/>
          </a:p>
          <a:p>
            <a:pPr indent="-182880" lvl="1" marL="384048" rtl="0" algn="l">
              <a:lnSpc>
                <a:spcPct val="90000"/>
              </a:lnSpc>
              <a:spcBef>
                <a:spcPts val="600"/>
              </a:spcBef>
              <a:spcAft>
                <a:spcPts val="0"/>
              </a:spcAft>
              <a:buSzPct val="100000"/>
              <a:buChar char="◦"/>
            </a:pPr>
            <a:r>
              <a:rPr lang="en-IN" sz="2400"/>
              <a:t>the second layer is being debugged and so on</a:t>
            </a:r>
            <a:endParaRPr/>
          </a:p>
          <a:p>
            <a:pPr indent="-106679" lvl="0" marL="91440" rtl="0" algn="l">
              <a:lnSpc>
                <a:spcPct val="90000"/>
              </a:lnSpc>
              <a:spcBef>
                <a:spcPts val="1600"/>
              </a:spcBef>
              <a:spcAft>
                <a:spcPts val="0"/>
              </a:spcAft>
              <a:buSzPct val="100000"/>
              <a:buChar char=" "/>
            </a:pPr>
            <a:r>
              <a:rPr lang="en-IN" sz="2400"/>
              <a:t>If error arises during debugging of a particular layer, </a:t>
            </a:r>
            <a:endParaRPr/>
          </a:p>
          <a:p>
            <a:pPr indent="-182880" lvl="1" marL="384048" rtl="0" algn="l">
              <a:lnSpc>
                <a:spcPct val="90000"/>
              </a:lnSpc>
              <a:spcBef>
                <a:spcPts val="400"/>
              </a:spcBef>
              <a:spcAft>
                <a:spcPts val="0"/>
              </a:spcAft>
              <a:buSzPct val="100000"/>
              <a:buChar char="◦"/>
            </a:pPr>
            <a:r>
              <a:rPr b="1" lang="en-IN" sz="2400"/>
              <a:t>the error must be on that layer, </a:t>
            </a:r>
            <a:endParaRPr/>
          </a:p>
          <a:p>
            <a:pPr indent="-182880" lvl="1" marL="384048" rtl="0" algn="l">
              <a:lnSpc>
                <a:spcPct val="90000"/>
              </a:lnSpc>
              <a:spcBef>
                <a:spcPts val="600"/>
              </a:spcBef>
              <a:spcAft>
                <a:spcPts val="0"/>
              </a:spcAft>
              <a:buSzPct val="100000"/>
              <a:buChar char="◦"/>
            </a:pPr>
            <a:r>
              <a:rPr lang="en-IN" sz="2400"/>
              <a:t>because the </a:t>
            </a:r>
            <a:r>
              <a:rPr b="1" lang="en-IN" sz="2400"/>
              <a:t>layers below it are already debugged.</a:t>
            </a:r>
            <a:endParaRPr/>
          </a:p>
          <a:p>
            <a:pPr indent="-102870" lvl="1" marL="384048" rtl="0" algn="l">
              <a:lnSpc>
                <a:spcPct val="90000"/>
              </a:lnSpc>
              <a:spcBef>
                <a:spcPts val="600"/>
              </a:spcBef>
              <a:spcAft>
                <a:spcPts val="0"/>
              </a:spcAft>
              <a:buSzPct val="100000"/>
              <a:buNone/>
            </a:pPr>
            <a:r>
              <a:t/>
            </a:r>
            <a:endParaRPr b="1"/>
          </a:p>
          <a:p>
            <a:pPr indent="0" lvl="0" marL="91440" rtl="0" algn="l">
              <a:lnSpc>
                <a:spcPct val="90000"/>
              </a:lnSpc>
              <a:spcBef>
                <a:spcPts val="1600"/>
              </a:spcBef>
              <a:spcAft>
                <a:spcPts val="0"/>
              </a:spcAft>
              <a:buSzPct val="100000"/>
              <a:buNone/>
            </a:pPr>
            <a:r>
              <a:t/>
            </a:r>
            <a:endParaRPr sz="2400"/>
          </a:p>
        </p:txBody>
      </p:sp>
      <p:sp>
        <p:nvSpPr>
          <p:cNvPr id="951" name="Google Shape;951;p8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952" name="Google Shape;952;p8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953" name="Google Shape;953;p8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954" name="Google Shape;954;p85"/>
          <p:cNvPicPr preferRelativeResize="0"/>
          <p:nvPr/>
        </p:nvPicPr>
        <p:blipFill rotWithShape="1">
          <a:blip r:embed="rId3">
            <a:alphaModFix/>
          </a:blip>
          <a:srcRect b="0" l="0" r="0" t="0"/>
          <a:stretch/>
        </p:blipFill>
        <p:spPr>
          <a:xfrm>
            <a:off x="5547522" y="0"/>
            <a:ext cx="2856656" cy="284166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86"/>
          <p:cNvSpPr txBox="1"/>
          <p:nvPr>
            <p:ph type="title"/>
          </p:nvPr>
        </p:nvSpPr>
        <p:spPr>
          <a:xfrm>
            <a:off x="107504" y="26035"/>
            <a:ext cx="8229600"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Microkernel System Structure </a:t>
            </a:r>
            <a:endParaRPr sz="1600"/>
          </a:p>
        </p:txBody>
      </p:sp>
      <p:sp>
        <p:nvSpPr>
          <p:cNvPr id="961" name="Google Shape;961;p86"/>
          <p:cNvSpPr txBox="1"/>
          <p:nvPr>
            <p:ph idx="1" type="body"/>
          </p:nvPr>
        </p:nvSpPr>
        <p:spPr>
          <a:xfrm>
            <a:off x="423586" y="727710"/>
            <a:ext cx="8280900" cy="6130200"/>
          </a:xfrm>
          <a:prstGeom prst="rect">
            <a:avLst/>
          </a:prstGeom>
          <a:noFill/>
          <a:ln>
            <a:noFill/>
          </a:ln>
        </p:spPr>
        <p:txBody>
          <a:bodyPr anchorCtr="0" anchor="t" bIns="45700" lIns="0" spcFirstLastPara="1" rIns="0" wrap="square" tIns="45700">
            <a:normAutofit lnSpcReduction="10000"/>
          </a:bodyPr>
          <a:lstStyle/>
          <a:p>
            <a:pPr indent="-152400" lvl="0" marL="91440" rtl="0" algn="l">
              <a:lnSpc>
                <a:spcPct val="90000"/>
              </a:lnSpc>
              <a:spcBef>
                <a:spcPts val="0"/>
              </a:spcBef>
              <a:spcAft>
                <a:spcPts val="0"/>
              </a:spcAft>
              <a:buSzPts val="2400"/>
              <a:buChar char=" "/>
            </a:pPr>
            <a:r>
              <a:rPr b="1" lang="en-IN" sz="2400"/>
              <a:t>Remove all non essential components from the kernel </a:t>
            </a:r>
            <a:r>
              <a:rPr lang="en-IN" sz="2400"/>
              <a:t>and </a:t>
            </a:r>
            <a:endParaRPr/>
          </a:p>
          <a:p>
            <a:pPr indent="-182880" lvl="1" marL="384048" rtl="0" algn="l">
              <a:lnSpc>
                <a:spcPct val="90000"/>
              </a:lnSpc>
              <a:spcBef>
                <a:spcPts val="400"/>
              </a:spcBef>
              <a:spcAft>
                <a:spcPts val="0"/>
              </a:spcAft>
              <a:buSzPts val="1800"/>
              <a:buChar char="◦"/>
            </a:pPr>
            <a:r>
              <a:rPr lang="en-IN"/>
              <a:t>implementing them as system and user level programs.</a:t>
            </a:r>
            <a:endParaRPr/>
          </a:p>
          <a:p>
            <a:pPr indent="-152400" lvl="0" marL="91440" rtl="0" algn="l">
              <a:lnSpc>
                <a:spcPct val="90000"/>
              </a:lnSpc>
              <a:spcBef>
                <a:spcPts val="1600"/>
              </a:spcBef>
              <a:spcAft>
                <a:spcPts val="0"/>
              </a:spcAft>
              <a:buSzPts val="2400"/>
              <a:buChar char=" "/>
            </a:pPr>
            <a:r>
              <a:rPr b="1" lang="en-IN" sz="2400"/>
              <a:t>Result=Smaller=Micro Kernel</a:t>
            </a:r>
            <a:endParaRPr/>
          </a:p>
          <a:p>
            <a:pPr indent="0" lvl="0" marL="91440" rtl="0" algn="l">
              <a:lnSpc>
                <a:spcPct val="90000"/>
              </a:lnSpc>
              <a:spcBef>
                <a:spcPts val="1400"/>
              </a:spcBef>
              <a:spcAft>
                <a:spcPts val="0"/>
              </a:spcAft>
              <a:buSzPts val="2800"/>
              <a:buNone/>
            </a:pPr>
            <a:r>
              <a:t/>
            </a:r>
            <a:endParaRPr b="1" sz="2800">
              <a:solidFill>
                <a:srgbClr val="3366FF"/>
              </a:solidFill>
            </a:endParaRPr>
          </a:p>
          <a:p>
            <a:pPr indent="-127000" lvl="0" marL="91440" rtl="0" algn="l">
              <a:lnSpc>
                <a:spcPct val="90000"/>
              </a:lnSpc>
              <a:spcBef>
                <a:spcPts val="1400"/>
              </a:spcBef>
              <a:spcAft>
                <a:spcPts val="0"/>
              </a:spcAft>
              <a:buSzPts val="2000"/>
              <a:buChar char=" "/>
            </a:pPr>
            <a:r>
              <a:rPr b="1" lang="en-IN" sz="2000">
                <a:solidFill>
                  <a:srgbClr val="3366FF"/>
                </a:solidFill>
              </a:rPr>
              <a:t>Mach </a:t>
            </a:r>
            <a:r>
              <a:rPr lang="en-IN" sz="2000"/>
              <a:t>example of </a:t>
            </a:r>
            <a:r>
              <a:rPr b="1" lang="en-IN" sz="2000">
                <a:solidFill>
                  <a:srgbClr val="3366FF"/>
                </a:solidFill>
              </a:rPr>
              <a:t>microkernel</a:t>
            </a:r>
            <a:endParaRPr/>
          </a:p>
          <a:p>
            <a:pPr indent="-182880" lvl="1" marL="384048" rtl="0" algn="l">
              <a:lnSpc>
                <a:spcPct val="90000"/>
              </a:lnSpc>
              <a:spcBef>
                <a:spcPts val="400"/>
              </a:spcBef>
              <a:spcAft>
                <a:spcPts val="0"/>
              </a:spcAft>
              <a:buSzPts val="1800"/>
              <a:buChar char="◦"/>
            </a:pPr>
            <a:r>
              <a:rPr lang="en-IN"/>
              <a:t>Mac OS X kernel (</a:t>
            </a:r>
            <a:r>
              <a:rPr b="1" lang="en-IN">
                <a:solidFill>
                  <a:srgbClr val="3366FF"/>
                </a:solidFill>
              </a:rPr>
              <a:t>Darwin</a:t>
            </a:r>
            <a:r>
              <a:rPr lang="en-IN"/>
              <a:t>) partly based on Mach</a:t>
            </a:r>
            <a:endParaRPr/>
          </a:p>
          <a:p>
            <a:pPr indent="-127000" lvl="0" marL="91440" rtl="0" algn="l">
              <a:lnSpc>
                <a:spcPct val="90000"/>
              </a:lnSpc>
              <a:spcBef>
                <a:spcPts val="1600"/>
              </a:spcBef>
              <a:spcAft>
                <a:spcPts val="0"/>
              </a:spcAft>
              <a:buSzPts val="2000"/>
              <a:buChar char=" "/>
            </a:pPr>
            <a:r>
              <a:rPr lang="en-IN" sz="2000"/>
              <a:t>Communication takes place between user modules using </a:t>
            </a:r>
            <a:r>
              <a:rPr b="1" lang="en-IN" sz="2000">
                <a:solidFill>
                  <a:srgbClr val="3366FF"/>
                </a:solidFill>
              </a:rPr>
              <a:t>message passing</a:t>
            </a:r>
            <a:endParaRPr/>
          </a:p>
          <a:p>
            <a:pPr indent="-127000" lvl="0" marL="91440" rtl="0" algn="l">
              <a:lnSpc>
                <a:spcPct val="90000"/>
              </a:lnSpc>
              <a:spcBef>
                <a:spcPts val="1400"/>
              </a:spcBef>
              <a:spcAft>
                <a:spcPts val="0"/>
              </a:spcAft>
              <a:buSzPts val="2000"/>
              <a:buChar char=" "/>
            </a:pPr>
            <a:r>
              <a:rPr lang="en-IN" sz="2000"/>
              <a:t>Microkernels provide </a:t>
            </a:r>
            <a:endParaRPr/>
          </a:p>
          <a:p>
            <a:pPr indent="-182880" lvl="1" marL="384048" rtl="0" algn="l">
              <a:lnSpc>
                <a:spcPct val="90000"/>
              </a:lnSpc>
              <a:spcBef>
                <a:spcPts val="400"/>
              </a:spcBef>
              <a:spcAft>
                <a:spcPts val="0"/>
              </a:spcAft>
              <a:buSzPts val="1800"/>
              <a:buChar char="◦"/>
            </a:pPr>
            <a:r>
              <a:rPr b="1" lang="en-IN"/>
              <a:t>minimal process and memory management, communication facility.</a:t>
            </a:r>
            <a:endParaRPr/>
          </a:p>
          <a:p>
            <a:pPr indent="-127000" lvl="0" marL="91440" rtl="0" algn="l">
              <a:lnSpc>
                <a:spcPct val="90000"/>
              </a:lnSpc>
              <a:spcBef>
                <a:spcPts val="1600"/>
              </a:spcBef>
              <a:spcAft>
                <a:spcPts val="0"/>
              </a:spcAft>
              <a:buSzPts val="2000"/>
              <a:buChar char=" "/>
            </a:pPr>
            <a:r>
              <a:rPr lang="en-IN" sz="2000"/>
              <a:t>Main function</a:t>
            </a:r>
            <a:endParaRPr sz="2000"/>
          </a:p>
          <a:p>
            <a:pPr indent="-182880" lvl="1" marL="384048" rtl="0" algn="l">
              <a:lnSpc>
                <a:spcPct val="90000"/>
              </a:lnSpc>
              <a:spcBef>
                <a:spcPts val="400"/>
              </a:spcBef>
              <a:spcAft>
                <a:spcPts val="0"/>
              </a:spcAft>
              <a:buSzPts val="1800"/>
              <a:buChar char="◦"/>
            </a:pPr>
            <a:r>
              <a:rPr b="1" lang="en-IN"/>
              <a:t>Provide a communication facility </a:t>
            </a:r>
            <a:endParaRPr/>
          </a:p>
          <a:p>
            <a:pPr indent="-182880" lvl="1" marL="384048" rtl="0" algn="l">
              <a:lnSpc>
                <a:spcPct val="90000"/>
              </a:lnSpc>
              <a:spcBef>
                <a:spcPts val="600"/>
              </a:spcBef>
              <a:spcAft>
                <a:spcPts val="0"/>
              </a:spcAft>
              <a:buSzPts val="1800"/>
              <a:buChar char="◦"/>
            </a:pPr>
            <a:r>
              <a:rPr lang="en-IN"/>
              <a:t>between client program and various services that are also running in user space, </a:t>
            </a:r>
            <a:endParaRPr/>
          </a:p>
          <a:p>
            <a:pPr indent="-182880" lvl="1" marL="384048" rtl="0" algn="l">
              <a:lnSpc>
                <a:spcPct val="90000"/>
              </a:lnSpc>
              <a:spcBef>
                <a:spcPts val="600"/>
              </a:spcBef>
              <a:spcAft>
                <a:spcPts val="0"/>
              </a:spcAft>
              <a:buSzPts val="1800"/>
              <a:buChar char="◦"/>
            </a:pPr>
            <a:r>
              <a:rPr b="1" lang="en-IN"/>
              <a:t>Communication provided by Message passing</a:t>
            </a:r>
            <a:endParaRPr/>
          </a:p>
          <a:p>
            <a:pPr indent="0" lvl="0" marL="91440" rtl="0" algn="l">
              <a:lnSpc>
                <a:spcPct val="90000"/>
              </a:lnSpc>
              <a:spcBef>
                <a:spcPts val="1600"/>
              </a:spcBef>
              <a:spcAft>
                <a:spcPts val="0"/>
              </a:spcAft>
              <a:buSzPts val="2000"/>
              <a:buNone/>
            </a:pPr>
            <a:r>
              <a:t/>
            </a:r>
            <a:endParaRPr b="1" sz="2000">
              <a:solidFill>
                <a:srgbClr val="3366FF"/>
              </a:solidFill>
            </a:endParaRPr>
          </a:p>
          <a:p>
            <a:pPr indent="0" lvl="0" marL="91440" rtl="0" algn="l">
              <a:lnSpc>
                <a:spcPct val="90000"/>
              </a:lnSpc>
              <a:spcBef>
                <a:spcPts val="1400"/>
              </a:spcBef>
              <a:spcAft>
                <a:spcPts val="0"/>
              </a:spcAft>
              <a:buSzPts val="2800"/>
              <a:buNone/>
            </a:pPr>
            <a:r>
              <a:t/>
            </a:r>
            <a:endParaRPr b="1" sz="2800">
              <a:solidFill>
                <a:srgbClr val="3366FF"/>
              </a:solidFill>
            </a:endParaRPr>
          </a:p>
        </p:txBody>
      </p:sp>
      <p:sp>
        <p:nvSpPr>
          <p:cNvPr id="962" name="Google Shape;962;p8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963" name="Google Shape;963;p8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964" name="Google Shape;964;p8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965" name="Google Shape;965;p86"/>
          <p:cNvSpPr/>
          <p:nvPr/>
        </p:nvSpPr>
        <p:spPr>
          <a:xfrm>
            <a:off x="327068" y="476673"/>
            <a:ext cx="8280900" cy="1728300"/>
          </a:xfrm>
          <a:prstGeom prst="frame">
            <a:avLst>
              <a:gd fmla="val 12500" name="adj1"/>
            </a:avLst>
          </a:prstGeom>
          <a:solidFill>
            <a:schemeClr val="accent1"/>
          </a:solidFill>
          <a:ln cap="flat" cmpd="sng" w="9525">
            <a:solidFill>
              <a:srgbClr val="A65F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87"/>
          <p:cNvSpPr txBox="1"/>
          <p:nvPr>
            <p:ph type="title"/>
          </p:nvPr>
        </p:nvSpPr>
        <p:spPr>
          <a:xfrm>
            <a:off x="164748" y="36921"/>
            <a:ext cx="8229600" cy="576262"/>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sz="3600"/>
              <a:t>Comparison-Microkernel System &amp; UNIX Kernel</a:t>
            </a:r>
            <a:r>
              <a:rPr lang="en-IN"/>
              <a:t> </a:t>
            </a:r>
            <a:endParaRPr sz="2400"/>
          </a:p>
        </p:txBody>
      </p:sp>
      <p:sp>
        <p:nvSpPr>
          <p:cNvPr id="972" name="Google Shape;972;p8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973" name="Google Shape;973;p8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974" name="Google Shape;974;p8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descr="2_14.pdf" id="975" name="Google Shape;975;p87"/>
          <p:cNvPicPr preferRelativeResize="0"/>
          <p:nvPr/>
        </p:nvPicPr>
        <p:blipFill rotWithShape="1">
          <a:blip r:embed="rId3">
            <a:alphaModFix/>
          </a:blip>
          <a:srcRect b="0" l="0" r="0" t="0"/>
          <a:stretch/>
        </p:blipFill>
        <p:spPr>
          <a:xfrm>
            <a:off x="179513" y="836712"/>
            <a:ext cx="3744415" cy="2314613"/>
          </a:xfrm>
          <a:prstGeom prst="rect">
            <a:avLst/>
          </a:prstGeom>
          <a:noFill/>
          <a:ln>
            <a:noFill/>
          </a:ln>
        </p:spPr>
      </p:pic>
      <p:pic>
        <p:nvPicPr>
          <p:cNvPr id="976" name="Google Shape;976;p87"/>
          <p:cNvPicPr preferRelativeResize="0"/>
          <p:nvPr/>
        </p:nvPicPr>
        <p:blipFill rotWithShape="1">
          <a:blip r:embed="rId4">
            <a:alphaModFix/>
          </a:blip>
          <a:srcRect b="0" l="0" r="0" t="0"/>
          <a:stretch/>
        </p:blipFill>
        <p:spPr>
          <a:xfrm>
            <a:off x="3851920" y="659561"/>
            <a:ext cx="3669187" cy="2496835"/>
          </a:xfrm>
          <a:prstGeom prst="rect">
            <a:avLst/>
          </a:prstGeom>
          <a:noFill/>
          <a:ln>
            <a:noFill/>
          </a:ln>
        </p:spPr>
      </p:pic>
      <p:sp>
        <p:nvSpPr>
          <p:cNvPr id="977" name="Google Shape;977;p87"/>
          <p:cNvSpPr/>
          <p:nvPr/>
        </p:nvSpPr>
        <p:spPr>
          <a:xfrm>
            <a:off x="179513" y="3416843"/>
            <a:ext cx="7582889"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000">
                <a:solidFill>
                  <a:schemeClr val="dk1"/>
                </a:solidFill>
                <a:latin typeface="Calibri"/>
                <a:ea typeface="Calibri"/>
                <a:cs typeface="Calibri"/>
                <a:sym typeface="Calibri"/>
              </a:rPr>
              <a:t>As the UNIX OS expanded, kernel became large and difficult to manage.</a:t>
            </a:r>
            <a:endParaRPr/>
          </a:p>
          <a:p>
            <a:pPr indent="0" lvl="0" marL="0" marR="0" rtl="0" algn="l">
              <a:spcBef>
                <a:spcPts val="0"/>
              </a:spcBef>
              <a:spcAft>
                <a:spcPts val="0"/>
              </a:spcAft>
              <a:buNone/>
            </a:pPr>
            <a:r>
              <a:rPr lang="en-IN" sz="2000">
                <a:solidFill>
                  <a:schemeClr val="dk1"/>
                </a:solidFill>
                <a:latin typeface="Calibri"/>
                <a:ea typeface="Calibri"/>
                <a:cs typeface="Calibri"/>
                <a:sym typeface="Calibri"/>
              </a:rPr>
              <a:t>In mid </a:t>
            </a:r>
            <a:r>
              <a:rPr b="1" lang="en-IN" sz="2000">
                <a:solidFill>
                  <a:schemeClr val="dk1"/>
                </a:solidFill>
                <a:latin typeface="Calibri"/>
                <a:ea typeface="Calibri"/>
                <a:cs typeface="Calibri"/>
                <a:sym typeface="Calibri"/>
              </a:rPr>
              <a:t>1980s, researchers at Carnegie Mellon University developed an OS called Mach, </a:t>
            </a:r>
            <a:r>
              <a:rPr lang="en-IN" sz="2000">
                <a:solidFill>
                  <a:schemeClr val="dk1"/>
                </a:solidFill>
                <a:latin typeface="Calibri"/>
                <a:ea typeface="Calibri"/>
                <a:cs typeface="Calibri"/>
                <a:sym typeface="Calibri"/>
              </a:rPr>
              <a:t>that </a:t>
            </a:r>
            <a:r>
              <a:rPr b="1" lang="en-IN" sz="2000">
                <a:solidFill>
                  <a:schemeClr val="dk1"/>
                </a:solidFill>
                <a:latin typeface="Calibri"/>
                <a:ea typeface="Calibri"/>
                <a:cs typeface="Calibri"/>
                <a:sym typeface="Calibri"/>
              </a:rPr>
              <a:t>modularizes the kernel using The Microkernel approach.</a:t>
            </a:r>
            <a:endParaRPr/>
          </a:p>
          <a:p>
            <a:pPr indent="0" lvl="0" marL="0" marR="0" rtl="0" algn="l">
              <a:spcBef>
                <a:spcPts val="0"/>
              </a:spcBef>
              <a:spcAft>
                <a:spcPts val="0"/>
              </a:spcAft>
              <a:buNone/>
            </a:pPr>
            <a:r>
              <a:rPr lang="en-IN" sz="2000">
                <a:solidFill>
                  <a:schemeClr val="dk1"/>
                </a:solidFill>
                <a:latin typeface="Calibri"/>
                <a:ea typeface="Calibri"/>
                <a:cs typeface="Calibri"/>
                <a:sym typeface="Calibri"/>
              </a:rPr>
              <a:t>Benefits:</a:t>
            </a:r>
            <a:endParaRPr/>
          </a:p>
          <a:p>
            <a:pPr indent="-342900" lvl="1" marL="800100" marR="0" rtl="0" algn="l">
              <a:spcBef>
                <a:spcPts val="0"/>
              </a:spcBef>
              <a:spcAft>
                <a:spcPts val="0"/>
              </a:spcAft>
              <a:buClr>
                <a:schemeClr val="dk1"/>
              </a:buClr>
              <a:buSzPts val="2000"/>
              <a:buFont typeface="Arial"/>
              <a:buChar char="•"/>
            </a:pPr>
            <a:r>
              <a:rPr b="1" i="0" lang="en-IN" sz="2000" u="none" cap="none" strike="noStrike">
                <a:solidFill>
                  <a:schemeClr val="dk1"/>
                </a:solidFill>
                <a:latin typeface="Calibri"/>
                <a:ea typeface="Calibri"/>
                <a:cs typeface="Calibri"/>
                <a:sym typeface="Calibri"/>
              </a:rPr>
              <a:t>Easier to extend</a:t>
            </a:r>
            <a:r>
              <a:rPr b="0" i="0" lang="en-IN" sz="2000" u="none" cap="none" strike="noStrike">
                <a:solidFill>
                  <a:schemeClr val="dk1"/>
                </a:solidFill>
                <a:latin typeface="Calibri"/>
                <a:ea typeface="Calibri"/>
                <a:cs typeface="Calibri"/>
                <a:sym typeface="Calibri"/>
              </a:rPr>
              <a:t> a microkernel </a:t>
            </a:r>
            <a:endParaRPr/>
          </a:p>
          <a:p>
            <a:pPr indent="-342900" lvl="1" marL="800100" marR="0" rtl="0" algn="l">
              <a:spcBef>
                <a:spcPts val="0"/>
              </a:spcBef>
              <a:spcAft>
                <a:spcPts val="0"/>
              </a:spcAft>
              <a:buClr>
                <a:schemeClr val="dk1"/>
              </a:buClr>
              <a:buSzPts val="2000"/>
              <a:buFont typeface="Arial"/>
              <a:buChar char="•"/>
            </a:pPr>
            <a:r>
              <a:rPr b="1" i="0" lang="en-IN" sz="2000" u="none" cap="none" strike="noStrike">
                <a:solidFill>
                  <a:schemeClr val="dk1"/>
                </a:solidFill>
                <a:latin typeface="Calibri"/>
                <a:ea typeface="Calibri"/>
                <a:cs typeface="Calibri"/>
                <a:sym typeface="Calibri"/>
              </a:rPr>
              <a:t>All new services added to user space , no modification of the kernel</a:t>
            </a:r>
            <a:endParaRPr/>
          </a:p>
          <a:p>
            <a:pPr indent="-342900" lvl="1" marL="800100" marR="0" rtl="0" algn="l">
              <a:spcBef>
                <a:spcPts val="0"/>
              </a:spcBef>
              <a:spcAft>
                <a:spcPts val="0"/>
              </a:spcAft>
              <a:buClr>
                <a:schemeClr val="dk1"/>
              </a:buClr>
              <a:buSzPts val="2000"/>
              <a:buFont typeface="Arial"/>
              <a:buChar char="•"/>
            </a:pPr>
            <a:r>
              <a:rPr b="1" i="0" lang="en-IN" sz="2000" u="none" cap="none" strike="noStrike">
                <a:solidFill>
                  <a:schemeClr val="dk1"/>
                </a:solidFill>
                <a:latin typeface="Calibri"/>
                <a:ea typeface="Calibri"/>
                <a:cs typeface="Calibri"/>
                <a:sym typeface="Calibri"/>
              </a:rPr>
              <a:t>Easier to port </a:t>
            </a:r>
            <a:r>
              <a:rPr b="0" i="0" lang="en-IN" sz="2000" u="none" cap="none" strike="noStrike">
                <a:solidFill>
                  <a:schemeClr val="dk1"/>
                </a:solidFill>
                <a:latin typeface="Calibri"/>
                <a:ea typeface="Calibri"/>
                <a:cs typeface="Calibri"/>
                <a:sym typeface="Calibri"/>
              </a:rPr>
              <a:t>the operating system to new architectures</a:t>
            </a:r>
            <a:endParaRPr/>
          </a:p>
          <a:p>
            <a:pPr indent="-342900" lvl="2" marL="1257300" marR="0" rtl="0" algn="l">
              <a:spcBef>
                <a:spcPts val="0"/>
              </a:spcBef>
              <a:spcAft>
                <a:spcPts val="0"/>
              </a:spcAft>
              <a:buClr>
                <a:schemeClr val="dk1"/>
              </a:buClr>
              <a:buSzPts val="2000"/>
              <a:buFont typeface="Arial"/>
              <a:buChar char="•"/>
            </a:pPr>
            <a:r>
              <a:rPr b="1" i="0" lang="en-IN" sz="2000" u="none" cap="none" strike="noStrike">
                <a:solidFill>
                  <a:schemeClr val="dk1"/>
                </a:solidFill>
                <a:latin typeface="Calibri"/>
                <a:ea typeface="Calibri"/>
                <a:cs typeface="Calibri"/>
                <a:sym typeface="Calibri"/>
              </a:rPr>
              <a:t>As no modifications to kernel, changes tend to be fewer, a smaller kernel</a:t>
            </a:r>
            <a:endParaRPr/>
          </a:p>
          <a:p>
            <a:pPr indent="0" lvl="1" marL="457200" marR="0" rtl="0" algn="l">
              <a:spcBef>
                <a:spcPts val="0"/>
              </a:spcBef>
              <a:spcAft>
                <a:spcPts val="0"/>
              </a:spcAft>
              <a:buNone/>
            </a:pPr>
            <a:r>
              <a:t/>
            </a:r>
            <a:endParaRPr b="1" i="0" sz="2000" u="none" cap="none" strike="noStrike">
              <a:solidFill>
                <a:schemeClr val="dk1"/>
              </a:solidFill>
              <a:latin typeface="Calibri"/>
              <a:ea typeface="Calibri"/>
              <a:cs typeface="Calibri"/>
              <a:sym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g28acc3f3972_0_0"/>
          <p:cNvSpPr txBox="1"/>
          <p:nvPr>
            <p:ph type="title"/>
          </p:nvPr>
        </p:nvSpPr>
        <p:spPr>
          <a:xfrm>
            <a:off x="822960" y="286604"/>
            <a:ext cx="75438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984" name="Google Shape;984;g28acc3f3972_0_0"/>
          <p:cNvSpPr txBox="1"/>
          <p:nvPr>
            <p:ph idx="1" type="body"/>
          </p:nvPr>
        </p:nvSpPr>
        <p:spPr>
          <a:xfrm>
            <a:off x="822959" y="1845734"/>
            <a:ext cx="7543800" cy="40233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t/>
            </a:r>
            <a:endParaRPr/>
          </a:p>
        </p:txBody>
      </p:sp>
      <p:sp>
        <p:nvSpPr>
          <p:cNvPr id="985" name="Google Shape;985;g28acc3f3972_0_0"/>
          <p:cNvSpPr txBox="1"/>
          <p:nvPr>
            <p:ph idx="12" type="sldNum"/>
          </p:nvPr>
        </p:nvSpPr>
        <p:spPr>
          <a:xfrm>
            <a:off x="7425344" y="6459786"/>
            <a:ext cx="984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pic>
        <p:nvPicPr>
          <p:cNvPr descr="2_14.pdf" id="986" name="Google Shape;986;g28acc3f3972_0_0"/>
          <p:cNvPicPr preferRelativeResize="0"/>
          <p:nvPr/>
        </p:nvPicPr>
        <p:blipFill rotWithShape="1">
          <a:blip r:embed="rId3">
            <a:alphaModFix/>
          </a:blip>
          <a:srcRect b="0" l="0" r="0" t="0"/>
          <a:stretch/>
        </p:blipFill>
        <p:spPr>
          <a:xfrm>
            <a:off x="1118698" y="1101990"/>
            <a:ext cx="6906624" cy="426935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88"/>
          <p:cNvSpPr txBox="1"/>
          <p:nvPr>
            <p:ph type="title"/>
          </p:nvPr>
        </p:nvSpPr>
        <p:spPr>
          <a:xfrm>
            <a:off x="152400" y="47526"/>
            <a:ext cx="8229600" cy="56207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Linux Kernel</a:t>
            </a:r>
            <a:endParaRPr sz="3200"/>
          </a:p>
        </p:txBody>
      </p:sp>
      <p:sp>
        <p:nvSpPr>
          <p:cNvPr id="992" name="Google Shape;992;p88"/>
          <p:cNvSpPr txBox="1"/>
          <p:nvPr>
            <p:ph idx="1" type="body"/>
          </p:nvPr>
        </p:nvSpPr>
        <p:spPr>
          <a:xfrm>
            <a:off x="323527" y="647699"/>
            <a:ext cx="7776863" cy="5949654"/>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lang="en-IN" sz="2400"/>
              <a:t>Linux Kernel is the core privileged executive that </a:t>
            </a:r>
            <a:endParaRPr/>
          </a:p>
          <a:p>
            <a:pPr indent="-182880" lvl="1" marL="384048" rtl="0" algn="l">
              <a:lnSpc>
                <a:spcPct val="90000"/>
              </a:lnSpc>
              <a:spcBef>
                <a:spcPts val="400"/>
              </a:spcBef>
              <a:spcAft>
                <a:spcPts val="0"/>
              </a:spcAft>
              <a:buSzPts val="2000"/>
              <a:buChar char="◦"/>
            </a:pPr>
            <a:r>
              <a:rPr lang="en-IN" sz="2000"/>
              <a:t>manages all system resources and </a:t>
            </a:r>
            <a:endParaRPr/>
          </a:p>
          <a:p>
            <a:pPr indent="-182880" lvl="1" marL="384048" rtl="0" algn="l">
              <a:lnSpc>
                <a:spcPct val="90000"/>
              </a:lnSpc>
              <a:spcBef>
                <a:spcPts val="600"/>
              </a:spcBef>
              <a:spcAft>
                <a:spcPts val="0"/>
              </a:spcAft>
              <a:buSzPts val="2000"/>
              <a:buChar char="◦"/>
            </a:pPr>
            <a:r>
              <a:rPr lang="en-IN" sz="2000"/>
              <a:t>that interacts directly with the computer hardware.</a:t>
            </a:r>
            <a:endParaRPr/>
          </a:p>
          <a:p>
            <a:pPr indent="-152400" lvl="0" marL="91440" rtl="0" algn="l">
              <a:lnSpc>
                <a:spcPct val="90000"/>
              </a:lnSpc>
              <a:spcBef>
                <a:spcPts val="1600"/>
              </a:spcBef>
              <a:spcAft>
                <a:spcPts val="0"/>
              </a:spcAft>
              <a:buSzPts val="2400"/>
              <a:buChar char=" "/>
            </a:pPr>
            <a:r>
              <a:rPr lang="en-IN" sz="2400"/>
              <a:t>The Linux® kernel is </a:t>
            </a:r>
            <a:endParaRPr sz="2400"/>
          </a:p>
          <a:p>
            <a:pPr indent="-182880" lvl="1" marL="384048" rtl="0" algn="l">
              <a:lnSpc>
                <a:spcPct val="90000"/>
              </a:lnSpc>
              <a:spcBef>
                <a:spcPts val="400"/>
              </a:spcBef>
              <a:spcAft>
                <a:spcPts val="0"/>
              </a:spcAft>
              <a:buSzPts val="2000"/>
              <a:buChar char="◦"/>
            </a:pPr>
            <a:r>
              <a:rPr b="1" lang="en-IN" sz="2000"/>
              <a:t>the main component of a Linux operating system (OS) and </a:t>
            </a:r>
            <a:endParaRPr b="1" sz="2000"/>
          </a:p>
          <a:p>
            <a:pPr indent="-182880" lvl="1" marL="384048" rtl="0" algn="l">
              <a:lnSpc>
                <a:spcPct val="90000"/>
              </a:lnSpc>
              <a:spcBef>
                <a:spcPts val="600"/>
              </a:spcBef>
              <a:spcAft>
                <a:spcPts val="0"/>
              </a:spcAft>
              <a:buSzPts val="2000"/>
              <a:buChar char="◦"/>
            </a:pPr>
            <a:r>
              <a:rPr b="1" lang="en-IN" sz="2000"/>
              <a:t>is the core interface between a computer’s hardware and its processes. </a:t>
            </a:r>
            <a:endParaRPr/>
          </a:p>
          <a:p>
            <a:pPr indent="-182880" lvl="1" marL="384048" rtl="0" algn="l">
              <a:lnSpc>
                <a:spcPct val="90000"/>
              </a:lnSpc>
              <a:spcBef>
                <a:spcPts val="600"/>
              </a:spcBef>
              <a:spcAft>
                <a:spcPts val="0"/>
              </a:spcAft>
              <a:buSzPts val="2000"/>
              <a:buChar char="◦"/>
            </a:pPr>
            <a:r>
              <a:rPr lang="en-IN" sz="2000"/>
              <a:t>It communicates between the two, managing resources as efficiently as possible</a:t>
            </a:r>
            <a:endParaRPr/>
          </a:p>
          <a:p>
            <a:pPr indent="-152400" lvl="0" marL="91440" rtl="0" algn="l">
              <a:lnSpc>
                <a:spcPct val="90000"/>
              </a:lnSpc>
              <a:spcBef>
                <a:spcPts val="1600"/>
              </a:spcBef>
              <a:spcAft>
                <a:spcPts val="0"/>
              </a:spcAft>
              <a:buSzPts val="2400"/>
              <a:buChar char=" "/>
            </a:pPr>
            <a:r>
              <a:rPr lang="en-IN" sz="2400"/>
              <a:t>The kernel is so named because—</a:t>
            </a:r>
            <a:endParaRPr/>
          </a:p>
          <a:p>
            <a:pPr indent="-182880" lvl="1" marL="384048" rtl="0" algn="l">
              <a:lnSpc>
                <a:spcPct val="90000"/>
              </a:lnSpc>
              <a:spcBef>
                <a:spcPts val="400"/>
              </a:spcBef>
              <a:spcAft>
                <a:spcPts val="0"/>
              </a:spcAft>
              <a:buSzPts val="1800"/>
              <a:buChar char="◦"/>
            </a:pPr>
            <a:r>
              <a:rPr b="1" lang="en-IN"/>
              <a:t>like a seed inside a hard shell</a:t>
            </a:r>
            <a:endParaRPr/>
          </a:p>
          <a:p>
            <a:pPr indent="-182880" lvl="1" marL="384048" rtl="0" algn="l">
              <a:lnSpc>
                <a:spcPct val="90000"/>
              </a:lnSpc>
              <a:spcBef>
                <a:spcPts val="600"/>
              </a:spcBef>
              <a:spcAft>
                <a:spcPts val="0"/>
              </a:spcAft>
              <a:buSzPts val="1800"/>
              <a:buChar char="◦"/>
            </a:pPr>
            <a:r>
              <a:rPr lang="en-IN"/>
              <a:t>it exists within the OS and </a:t>
            </a:r>
            <a:endParaRPr/>
          </a:p>
          <a:p>
            <a:pPr indent="-182880" lvl="1" marL="384048" rtl="0" algn="l">
              <a:lnSpc>
                <a:spcPct val="90000"/>
              </a:lnSpc>
              <a:spcBef>
                <a:spcPts val="600"/>
              </a:spcBef>
              <a:spcAft>
                <a:spcPts val="0"/>
              </a:spcAft>
              <a:buSzPts val="1800"/>
              <a:buChar char="◦"/>
            </a:pPr>
            <a:r>
              <a:rPr lang="en-IN"/>
              <a:t>controls </a:t>
            </a:r>
            <a:r>
              <a:rPr b="1" lang="en-IN"/>
              <a:t>all the major functions </a:t>
            </a:r>
            <a:r>
              <a:rPr lang="en-IN"/>
              <a:t>of the hardware</a:t>
            </a:r>
            <a:endParaRPr/>
          </a:p>
          <a:p>
            <a:pPr indent="0" lvl="0" marL="91440" rtl="0" algn="l">
              <a:lnSpc>
                <a:spcPct val="90000"/>
              </a:lnSpc>
              <a:spcBef>
                <a:spcPts val="1600"/>
              </a:spcBef>
              <a:spcAft>
                <a:spcPts val="0"/>
              </a:spcAft>
              <a:buSzPts val="2400"/>
              <a:buNone/>
            </a:pPr>
            <a:r>
              <a:t/>
            </a:r>
            <a:endParaRPr sz="2400"/>
          </a:p>
          <a:p>
            <a:pPr indent="0" lvl="0" marL="91440" rtl="0" algn="l">
              <a:lnSpc>
                <a:spcPct val="90000"/>
              </a:lnSpc>
              <a:spcBef>
                <a:spcPts val="1400"/>
              </a:spcBef>
              <a:spcAft>
                <a:spcPts val="0"/>
              </a:spcAft>
              <a:buSzPts val="2200"/>
              <a:buNone/>
            </a:pPr>
            <a:r>
              <a:t/>
            </a:r>
            <a:endParaRPr sz="2200"/>
          </a:p>
          <a:p>
            <a:pPr indent="0" lvl="0" marL="91440" rtl="0" algn="l">
              <a:lnSpc>
                <a:spcPct val="90000"/>
              </a:lnSpc>
              <a:spcBef>
                <a:spcPts val="1400"/>
              </a:spcBef>
              <a:spcAft>
                <a:spcPts val="0"/>
              </a:spcAft>
              <a:buSzPts val="2200"/>
              <a:buNone/>
            </a:pPr>
            <a:r>
              <a:t/>
            </a:r>
            <a:endParaRPr sz="2200"/>
          </a:p>
          <a:p>
            <a:pPr indent="0" lvl="0" marL="91440" rtl="0" algn="l">
              <a:lnSpc>
                <a:spcPct val="90000"/>
              </a:lnSpc>
              <a:spcBef>
                <a:spcPts val="1400"/>
              </a:spcBef>
              <a:spcAft>
                <a:spcPts val="0"/>
              </a:spcAft>
              <a:buSzPts val="2200"/>
              <a:buNone/>
            </a:pPr>
            <a:r>
              <a:t/>
            </a:r>
            <a:endParaRPr sz="2200"/>
          </a:p>
        </p:txBody>
      </p:sp>
      <p:sp>
        <p:nvSpPr>
          <p:cNvPr id="993" name="Google Shape;993;p8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994" name="Google Shape;994;p8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995" name="Google Shape;995;p8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996" name="Google Shape;996;p88"/>
          <p:cNvSpPr/>
          <p:nvPr/>
        </p:nvSpPr>
        <p:spPr>
          <a:xfrm>
            <a:off x="480386" y="3155197"/>
            <a:ext cx="7901613" cy="792088"/>
          </a:xfrm>
          <a:prstGeom prst="frame">
            <a:avLst>
              <a:gd fmla="val 12500" name="adj1"/>
            </a:avLst>
          </a:prstGeom>
          <a:solidFill>
            <a:schemeClr val="accent1"/>
          </a:solidFill>
          <a:ln cap="flat" cmpd="sng" w="15875">
            <a:solidFill>
              <a:srgbClr val="A65F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997" name="Google Shape;997;p88"/>
          <p:cNvPicPr preferRelativeResize="0"/>
          <p:nvPr/>
        </p:nvPicPr>
        <p:blipFill rotWithShape="1">
          <a:blip r:embed="rId3">
            <a:alphaModFix/>
          </a:blip>
          <a:srcRect b="0" l="0" r="0" t="0"/>
          <a:stretch/>
        </p:blipFill>
        <p:spPr>
          <a:xfrm>
            <a:off x="6077744" y="4030914"/>
            <a:ext cx="1944215" cy="1618046"/>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89"/>
          <p:cNvSpPr txBox="1"/>
          <p:nvPr>
            <p:ph type="title"/>
          </p:nvPr>
        </p:nvSpPr>
        <p:spPr>
          <a:xfrm>
            <a:off x="457200" y="274638"/>
            <a:ext cx="8229600" cy="56207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Linux Kernel</a:t>
            </a:r>
            <a:endParaRPr sz="3200"/>
          </a:p>
        </p:txBody>
      </p:sp>
      <p:sp>
        <p:nvSpPr>
          <p:cNvPr id="1003" name="Google Shape;1003;p89"/>
          <p:cNvSpPr txBox="1"/>
          <p:nvPr>
            <p:ph idx="1" type="body"/>
          </p:nvPr>
        </p:nvSpPr>
        <p:spPr>
          <a:xfrm>
            <a:off x="457200" y="1110536"/>
            <a:ext cx="8229600" cy="5015628"/>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lang="en-IN" sz="2400"/>
              <a:t>The Linux kernel </a:t>
            </a:r>
            <a:endParaRPr sz="2400"/>
          </a:p>
          <a:p>
            <a:pPr indent="-182880" lvl="1" marL="384048" rtl="0" algn="l">
              <a:lnSpc>
                <a:spcPct val="90000"/>
              </a:lnSpc>
              <a:spcBef>
                <a:spcPts val="400"/>
              </a:spcBef>
              <a:spcAft>
                <a:spcPts val="0"/>
              </a:spcAft>
              <a:buSzPts val="2000"/>
              <a:buChar char="◦"/>
            </a:pPr>
            <a:r>
              <a:rPr b="1" lang="en-IN" sz="2000"/>
              <a:t>forms the core of the Linux project, but </a:t>
            </a:r>
            <a:endParaRPr b="1" sz="2000"/>
          </a:p>
          <a:p>
            <a:pPr indent="-182880" lvl="1" marL="384048" rtl="0" algn="l">
              <a:lnSpc>
                <a:spcPct val="90000"/>
              </a:lnSpc>
              <a:spcBef>
                <a:spcPts val="600"/>
              </a:spcBef>
              <a:spcAft>
                <a:spcPts val="0"/>
              </a:spcAft>
              <a:buSzPts val="2000"/>
              <a:buChar char="◦"/>
            </a:pPr>
            <a:r>
              <a:rPr b="1" lang="en-IN" sz="2000"/>
              <a:t>other components make up the complete Linux operating system</a:t>
            </a:r>
            <a:endParaRPr/>
          </a:p>
          <a:p>
            <a:pPr indent="0" lvl="0" marL="91440" rtl="0" algn="l">
              <a:lnSpc>
                <a:spcPct val="90000"/>
              </a:lnSpc>
              <a:spcBef>
                <a:spcPts val="1600"/>
              </a:spcBef>
              <a:spcAft>
                <a:spcPts val="0"/>
              </a:spcAft>
              <a:buSzPts val="2400"/>
              <a:buNone/>
            </a:pPr>
            <a:r>
              <a:t/>
            </a:r>
            <a:endParaRPr sz="2400"/>
          </a:p>
        </p:txBody>
      </p:sp>
      <p:sp>
        <p:nvSpPr>
          <p:cNvPr id="1004" name="Google Shape;1004;p8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005" name="Google Shape;1005;p8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006" name="Google Shape;1006;p8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007" name="Google Shape;1007;p89"/>
          <p:cNvSpPr/>
          <p:nvPr/>
        </p:nvSpPr>
        <p:spPr>
          <a:xfrm>
            <a:off x="665675" y="2838728"/>
            <a:ext cx="7582482"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chemeClr val="dk1"/>
                </a:solidFill>
                <a:latin typeface="Calibri"/>
                <a:ea typeface="Calibri"/>
                <a:cs typeface="Calibri"/>
                <a:sym typeface="Calibri"/>
              </a:rPr>
              <a:t>Whereas the </a:t>
            </a:r>
            <a:r>
              <a:rPr b="1" lang="en-IN" sz="2400">
                <a:solidFill>
                  <a:schemeClr val="dk1"/>
                </a:solidFill>
                <a:latin typeface="Calibri"/>
                <a:ea typeface="Calibri"/>
                <a:cs typeface="Calibri"/>
                <a:sym typeface="Calibri"/>
              </a:rPr>
              <a:t>Linux kernel </a:t>
            </a:r>
            <a:r>
              <a:rPr lang="en-IN" sz="2400">
                <a:solidFill>
                  <a:schemeClr val="dk1"/>
                </a:solidFill>
                <a:latin typeface="Calibri"/>
                <a:ea typeface="Calibri"/>
                <a:cs typeface="Calibri"/>
                <a:sym typeface="Calibri"/>
              </a:rPr>
              <a:t>is composed </a:t>
            </a:r>
            <a:endParaRPr/>
          </a:p>
          <a:p>
            <a:pPr indent="0" lvl="1" marL="457200" marR="0" rtl="0" algn="l">
              <a:spcBef>
                <a:spcPts val="0"/>
              </a:spcBef>
              <a:spcAft>
                <a:spcPts val="0"/>
              </a:spcAft>
              <a:buNone/>
            </a:pPr>
            <a:r>
              <a:rPr b="1" i="0" lang="en-IN" sz="2400" u="none" cap="none" strike="noStrike">
                <a:solidFill>
                  <a:schemeClr val="dk1"/>
                </a:solidFill>
                <a:latin typeface="Calibri"/>
                <a:ea typeface="Calibri"/>
                <a:cs typeface="Calibri"/>
                <a:sym typeface="Calibri"/>
              </a:rPr>
              <a:t>entirely of code written from scratch</a:t>
            </a:r>
            <a:r>
              <a:rPr b="0" i="0" lang="en-IN" sz="2400" u="none" cap="none" strike="noStrike">
                <a:solidFill>
                  <a:schemeClr val="dk1"/>
                </a:solidFill>
                <a:latin typeface="Calibri"/>
                <a:ea typeface="Calibri"/>
                <a:cs typeface="Calibri"/>
                <a:sym typeface="Calibri"/>
              </a:rPr>
              <a:t> specifically for the  Linux project</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n-IN" sz="2400">
                <a:solidFill>
                  <a:schemeClr val="dk1"/>
                </a:solidFill>
                <a:latin typeface="Calibri"/>
                <a:ea typeface="Calibri"/>
                <a:cs typeface="Calibri"/>
                <a:sym typeface="Calibri"/>
              </a:rPr>
              <a:t>Linux system</a:t>
            </a:r>
            <a:r>
              <a:rPr lang="en-IN" sz="2400">
                <a:solidFill>
                  <a:schemeClr val="dk1"/>
                </a:solidFill>
                <a:latin typeface="Calibri"/>
                <a:ea typeface="Calibri"/>
                <a:cs typeface="Calibri"/>
                <a:sym typeface="Calibri"/>
              </a:rPr>
              <a:t> includes </a:t>
            </a:r>
            <a:endParaRPr/>
          </a:p>
          <a:p>
            <a:pPr indent="0" lvl="1" marL="457200" marR="0" rtl="0" algn="l">
              <a:spcBef>
                <a:spcPts val="0"/>
              </a:spcBef>
              <a:spcAft>
                <a:spcPts val="0"/>
              </a:spcAft>
              <a:buNone/>
            </a:pPr>
            <a:r>
              <a:rPr b="0" i="0" lang="en-IN" sz="2400" u="none" cap="none" strike="noStrike">
                <a:solidFill>
                  <a:schemeClr val="dk1"/>
                </a:solidFill>
                <a:latin typeface="Calibri"/>
                <a:ea typeface="Calibri"/>
                <a:cs typeface="Calibri"/>
                <a:sym typeface="Calibri"/>
              </a:rPr>
              <a:t>a multitude of components some written from </a:t>
            </a:r>
            <a:r>
              <a:rPr b="1" i="0" lang="en-IN" sz="2400" u="none" cap="none" strike="noStrike">
                <a:solidFill>
                  <a:schemeClr val="dk1"/>
                </a:solidFill>
                <a:latin typeface="Calibri"/>
                <a:ea typeface="Calibri"/>
                <a:cs typeface="Calibri"/>
                <a:sym typeface="Calibri"/>
              </a:rPr>
              <a:t>scratch </a:t>
            </a:r>
            <a:endParaRPr/>
          </a:p>
          <a:p>
            <a:pPr indent="0" lvl="1" marL="457200" marR="0" rtl="0" algn="l">
              <a:spcBef>
                <a:spcPts val="0"/>
              </a:spcBef>
              <a:spcAft>
                <a:spcPts val="0"/>
              </a:spcAft>
              <a:buNone/>
            </a:pPr>
            <a:r>
              <a:rPr b="1" i="0" lang="en-IN" sz="2400" u="none" cap="none" strike="noStrike">
                <a:solidFill>
                  <a:schemeClr val="dk1"/>
                </a:solidFill>
                <a:latin typeface="Calibri"/>
                <a:ea typeface="Calibri"/>
                <a:cs typeface="Calibri"/>
                <a:sym typeface="Calibri"/>
              </a:rPr>
              <a:t>other borrowed </a:t>
            </a:r>
            <a:r>
              <a:rPr b="0" i="0" lang="en-IN" sz="2400" u="none" cap="none" strike="noStrike">
                <a:solidFill>
                  <a:schemeClr val="dk1"/>
                </a:solidFill>
                <a:latin typeface="Calibri"/>
                <a:ea typeface="Calibri"/>
                <a:cs typeface="Calibri"/>
                <a:sym typeface="Calibri"/>
              </a:rPr>
              <a:t>from other development projects and </a:t>
            </a:r>
            <a:endParaRPr/>
          </a:p>
          <a:p>
            <a:pPr indent="0" lvl="1" marL="457200" marR="0" rtl="0" algn="l">
              <a:spcBef>
                <a:spcPts val="0"/>
              </a:spcBef>
              <a:spcAft>
                <a:spcPts val="0"/>
              </a:spcAft>
              <a:buNone/>
            </a:pPr>
            <a:r>
              <a:rPr b="0" i="0" lang="en-IN" sz="2400" u="none" cap="none" strike="noStrike">
                <a:solidFill>
                  <a:schemeClr val="dk1"/>
                </a:solidFill>
                <a:latin typeface="Calibri"/>
                <a:ea typeface="Calibri"/>
                <a:cs typeface="Calibri"/>
                <a:sym typeface="Calibri"/>
              </a:rPr>
              <a:t>others created in </a:t>
            </a:r>
            <a:r>
              <a:rPr b="1" i="0" lang="en-IN" sz="2400" u="none" cap="none" strike="noStrike">
                <a:solidFill>
                  <a:schemeClr val="dk1"/>
                </a:solidFill>
                <a:latin typeface="Calibri"/>
                <a:ea typeface="Calibri"/>
                <a:cs typeface="Calibri"/>
                <a:sym typeface="Calibri"/>
              </a:rPr>
              <a:t>collaboration with other teams.</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90"/>
          <p:cNvSpPr txBox="1"/>
          <p:nvPr>
            <p:ph type="title"/>
          </p:nvPr>
        </p:nvSpPr>
        <p:spPr>
          <a:xfrm>
            <a:off x="457200" y="274638"/>
            <a:ext cx="8229600" cy="56207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a:t>Linux Kernel</a:t>
            </a:r>
            <a:endParaRPr/>
          </a:p>
        </p:txBody>
      </p:sp>
      <p:sp>
        <p:nvSpPr>
          <p:cNvPr id="1013" name="Google Shape;1013;p90"/>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120650" lvl="0" marL="91440" rtl="0" algn="l">
              <a:lnSpc>
                <a:spcPct val="90000"/>
              </a:lnSpc>
              <a:spcBef>
                <a:spcPts val="0"/>
              </a:spcBef>
              <a:spcAft>
                <a:spcPts val="0"/>
              </a:spcAft>
              <a:buSzPts val="1900"/>
              <a:buChar char=" "/>
            </a:pPr>
            <a:r>
              <a:rPr lang="en-IN" sz="1900"/>
              <a:t>The kernel, if implemented properly, </a:t>
            </a:r>
            <a:endParaRPr sz="1900"/>
          </a:p>
          <a:p>
            <a:pPr indent="-189230" lvl="1" marL="384048" rtl="0" algn="l">
              <a:lnSpc>
                <a:spcPct val="90000"/>
              </a:lnSpc>
              <a:spcBef>
                <a:spcPts val="400"/>
              </a:spcBef>
              <a:spcAft>
                <a:spcPts val="0"/>
              </a:spcAft>
              <a:buSzPts val="1900"/>
              <a:buChar char="◦"/>
            </a:pPr>
            <a:r>
              <a:rPr b="1" lang="en-IN" sz="1900"/>
              <a:t>is invisible to the user, </a:t>
            </a:r>
            <a:endParaRPr b="1" sz="1900"/>
          </a:p>
          <a:p>
            <a:pPr indent="-189230" lvl="1" marL="384048" rtl="0" algn="l">
              <a:lnSpc>
                <a:spcPct val="90000"/>
              </a:lnSpc>
              <a:spcBef>
                <a:spcPts val="600"/>
              </a:spcBef>
              <a:spcAft>
                <a:spcPts val="0"/>
              </a:spcAft>
              <a:buSzPts val="1900"/>
              <a:buChar char="◦"/>
            </a:pPr>
            <a:r>
              <a:rPr b="1" lang="en-IN" sz="1900"/>
              <a:t>working in its own little world known as kernel space, </a:t>
            </a:r>
            <a:endParaRPr b="1" sz="1900"/>
          </a:p>
          <a:p>
            <a:pPr indent="-189230" lvl="1" marL="384048" rtl="0" algn="l">
              <a:lnSpc>
                <a:spcPct val="90000"/>
              </a:lnSpc>
              <a:spcBef>
                <a:spcPts val="600"/>
              </a:spcBef>
              <a:spcAft>
                <a:spcPts val="0"/>
              </a:spcAft>
              <a:buSzPts val="1900"/>
              <a:buChar char="◦"/>
            </a:pPr>
            <a:r>
              <a:rPr lang="en-IN" sz="1900"/>
              <a:t>where it allocates memory and </a:t>
            </a:r>
            <a:endParaRPr sz="1900"/>
          </a:p>
          <a:p>
            <a:pPr indent="-189230" lvl="1" marL="384048" rtl="0" algn="l">
              <a:lnSpc>
                <a:spcPct val="90000"/>
              </a:lnSpc>
              <a:spcBef>
                <a:spcPts val="600"/>
              </a:spcBef>
              <a:spcAft>
                <a:spcPts val="0"/>
              </a:spcAft>
              <a:buSzPts val="1900"/>
              <a:buChar char="◦"/>
            </a:pPr>
            <a:r>
              <a:rPr lang="en-IN" sz="1900"/>
              <a:t>keeps track of where everything is stored. </a:t>
            </a:r>
            <a:endParaRPr sz="1900"/>
          </a:p>
          <a:p>
            <a:pPr indent="0" lvl="0" marL="91440" rtl="0" algn="l">
              <a:lnSpc>
                <a:spcPct val="90000"/>
              </a:lnSpc>
              <a:spcBef>
                <a:spcPts val="1600"/>
              </a:spcBef>
              <a:spcAft>
                <a:spcPts val="0"/>
              </a:spcAft>
              <a:buSzPts val="2200"/>
              <a:buNone/>
            </a:pPr>
            <a:r>
              <a:t/>
            </a:r>
            <a:endParaRPr sz="1900"/>
          </a:p>
          <a:p>
            <a:pPr indent="-120650" lvl="0" marL="91440" rtl="0" algn="l">
              <a:lnSpc>
                <a:spcPct val="90000"/>
              </a:lnSpc>
              <a:spcBef>
                <a:spcPts val="1400"/>
              </a:spcBef>
              <a:spcAft>
                <a:spcPts val="0"/>
              </a:spcAft>
              <a:buSzPts val="1900"/>
              <a:buChar char=" "/>
            </a:pPr>
            <a:r>
              <a:rPr b="1" lang="en-IN" sz="1900"/>
              <a:t>What the user sees—like web browsers and files—are known as the user space. </a:t>
            </a:r>
            <a:endParaRPr b="1" sz="1900"/>
          </a:p>
          <a:p>
            <a:pPr indent="0" lvl="0" marL="91440" rtl="0" algn="l">
              <a:lnSpc>
                <a:spcPct val="90000"/>
              </a:lnSpc>
              <a:spcBef>
                <a:spcPts val="1400"/>
              </a:spcBef>
              <a:spcAft>
                <a:spcPts val="0"/>
              </a:spcAft>
              <a:buSzPts val="2200"/>
              <a:buNone/>
            </a:pPr>
            <a:r>
              <a:t/>
            </a:r>
            <a:endParaRPr sz="1900"/>
          </a:p>
          <a:p>
            <a:pPr indent="-120650" lvl="0" marL="91440" rtl="0" algn="l">
              <a:lnSpc>
                <a:spcPct val="90000"/>
              </a:lnSpc>
              <a:spcBef>
                <a:spcPts val="1400"/>
              </a:spcBef>
              <a:spcAft>
                <a:spcPts val="0"/>
              </a:spcAft>
              <a:buSzPts val="1900"/>
              <a:buChar char=" "/>
            </a:pPr>
            <a:r>
              <a:rPr b="1" lang="en-IN" sz="1900"/>
              <a:t>These applications interact with the kernel </a:t>
            </a:r>
            <a:endParaRPr b="1" sz="1900"/>
          </a:p>
          <a:p>
            <a:pPr indent="-189230" lvl="1" marL="384048" rtl="0" algn="l">
              <a:lnSpc>
                <a:spcPct val="90000"/>
              </a:lnSpc>
              <a:spcBef>
                <a:spcPts val="400"/>
              </a:spcBef>
              <a:spcAft>
                <a:spcPts val="0"/>
              </a:spcAft>
              <a:buSzPts val="1900"/>
              <a:buChar char="◦"/>
            </a:pPr>
            <a:r>
              <a:rPr b="1" lang="en-IN" sz="1900"/>
              <a:t>through a system call interface (</a:t>
            </a:r>
            <a:r>
              <a:rPr b="1" lang="en-IN" sz="1900">
                <a:highlight>
                  <a:srgbClr val="00FF00"/>
                </a:highlight>
              </a:rPr>
              <a:t>SCI</a:t>
            </a:r>
            <a:r>
              <a:rPr b="1" lang="en-IN" sz="1900"/>
              <a:t>).</a:t>
            </a:r>
            <a:endParaRPr sz="1900"/>
          </a:p>
          <a:p>
            <a:pPr indent="0" lvl="0" marL="91440" rtl="0" algn="l">
              <a:lnSpc>
                <a:spcPct val="90000"/>
              </a:lnSpc>
              <a:spcBef>
                <a:spcPts val="1600"/>
              </a:spcBef>
              <a:spcAft>
                <a:spcPts val="0"/>
              </a:spcAft>
              <a:buSzPts val="2200"/>
              <a:buNone/>
            </a:pPr>
            <a:r>
              <a:t/>
            </a:r>
            <a:endParaRPr b="1" sz="1900"/>
          </a:p>
          <a:p>
            <a:pPr indent="0" lvl="0" marL="91440" rtl="0" algn="l">
              <a:lnSpc>
                <a:spcPct val="90000"/>
              </a:lnSpc>
              <a:spcBef>
                <a:spcPts val="1400"/>
              </a:spcBef>
              <a:spcAft>
                <a:spcPts val="0"/>
              </a:spcAft>
              <a:buSzPts val="2000"/>
              <a:buNone/>
            </a:pPr>
            <a:r>
              <a:t/>
            </a:r>
            <a:endParaRPr sz="1900"/>
          </a:p>
        </p:txBody>
      </p:sp>
      <p:sp>
        <p:nvSpPr>
          <p:cNvPr id="1014" name="Google Shape;1014;p9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015" name="Google Shape;1015;p9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016" name="Google Shape;1016;p9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017" name="Google Shape;1017;p90"/>
          <p:cNvSpPr/>
          <p:nvPr/>
        </p:nvSpPr>
        <p:spPr>
          <a:xfrm>
            <a:off x="755576" y="6030580"/>
            <a:ext cx="824440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Courtesy: https://www.redhat.com/en/topics/linux/what-is-the-linux-kernel</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91"/>
          <p:cNvSpPr txBox="1"/>
          <p:nvPr>
            <p:ph type="title"/>
          </p:nvPr>
        </p:nvSpPr>
        <p:spPr>
          <a:xfrm>
            <a:off x="152400" y="79574"/>
            <a:ext cx="8229600" cy="56207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Linux Kernel</a:t>
            </a:r>
            <a:endParaRPr sz="3200"/>
          </a:p>
        </p:txBody>
      </p:sp>
      <p:sp>
        <p:nvSpPr>
          <p:cNvPr id="1023" name="Google Shape;1023;p91"/>
          <p:cNvSpPr txBox="1"/>
          <p:nvPr>
            <p:ph idx="1" type="body"/>
          </p:nvPr>
        </p:nvSpPr>
        <p:spPr>
          <a:xfrm>
            <a:off x="152400" y="609600"/>
            <a:ext cx="7924800" cy="4805681"/>
          </a:xfrm>
          <a:prstGeom prst="rect">
            <a:avLst/>
          </a:prstGeom>
          <a:noFill/>
          <a:ln>
            <a:noFill/>
          </a:ln>
        </p:spPr>
        <p:txBody>
          <a:bodyPr anchorCtr="0" anchor="t" bIns="45700" lIns="0" spcFirstLastPara="1" rIns="0" wrap="square" tIns="45700">
            <a:normAutofit/>
          </a:bodyPr>
          <a:lstStyle/>
          <a:p>
            <a:pPr indent="0" lvl="0" marL="91440" rtl="0" algn="l">
              <a:lnSpc>
                <a:spcPct val="90000"/>
              </a:lnSpc>
              <a:spcBef>
                <a:spcPts val="0"/>
              </a:spcBef>
              <a:spcAft>
                <a:spcPts val="0"/>
              </a:spcAft>
              <a:buSzPts val="2200"/>
              <a:buNone/>
            </a:pPr>
            <a:r>
              <a:t/>
            </a:r>
            <a:endParaRPr sz="2200"/>
          </a:p>
          <a:p>
            <a:pPr indent="0" lvl="0" marL="114300" rtl="0" algn="l">
              <a:lnSpc>
                <a:spcPct val="90000"/>
              </a:lnSpc>
              <a:spcBef>
                <a:spcPts val="200"/>
              </a:spcBef>
              <a:spcAft>
                <a:spcPts val="0"/>
              </a:spcAft>
              <a:buSzPts val="3200"/>
              <a:buNone/>
            </a:pPr>
            <a:r>
              <a:t/>
            </a:r>
            <a:endParaRPr sz="3200">
              <a:solidFill>
                <a:schemeClr val="dk2"/>
              </a:solidFill>
              <a:latin typeface="Calibri"/>
              <a:ea typeface="Calibri"/>
              <a:cs typeface="Calibri"/>
              <a:sym typeface="Calibri"/>
            </a:endParaRPr>
          </a:p>
        </p:txBody>
      </p:sp>
      <p:sp>
        <p:nvSpPr>
          <p:cNvPr id="1024" name="Google Shape;1024;p9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025" name="Google Shape;1025;p9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026" name="Google Shape;1026;p9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027" name="Google Shape;1027;p91"/>
          <p:cNvSpPr/>
          <p:nvPr/>
        </p:nvSpPr>
        <p:spPr>
          <a:xfrm>
            <a:off x="561700" y="6523677"/>
            <a:ext cx="824440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Courtesy: https://www.redhat.com/en/topics/linux/what-is-the-linux-kernel</a:t>
            </a:r>
            <a:endParaRPr/>
          </a:p>
        </p:txBody>
      </p:sp>
      <p:sp>
        <p:nvSpPr>
          <p:cNvPr id="1028" name="Google Shape;1028;p91"/>
          <p:cNvSpPr/>
          <p:nvPr/>
        </p:nvSpPr>
        <p:spPr>
          <a:xfrm>
            <a:off x="142900" y="631581"/>
            <a:ext cx="8074588" cy="2246769"/>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The kernel is a busy personal assistant for a powerful executive (the hardware). </a:t>
            </a:r>
            <a:endParaRPr/>
          </a:p>
          <a:p>
            <a:pPr indent="-342900" lvl="0" marL="34290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It’s the assistant’s job to relay messages and requests (processes) from employees and the public (users) to the executive, </a:t>
            </a:r>
            <a:endParaRPr/>
          </a:p>
          <a:p>
            <a:pPr indent="-342900" lvl="1" marL="80010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Calibri"/>
                <a:ea typeface="Calibri"/>
                <a:cs typeface="Calibri"/>
                <a:sym typeface="Calibri"/>
              </a:rPr>
              <a:t>to remember what is stored where (memory), and </a:t>
            </a:r>
            <a:endParaRPr/>
          </a:p>
          <a:p>
            <a:pPr indent="-342900" lvl="1" marL="80010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Calibri"/>
                <a:ea typeface="Calibri"/>
                <a:cs typeface="Calibri"/>
                <a:sym typeface="Calibri"/>
              </a:rPr>
              <a:t>to determine who has access to the executive at any given time and for how long.</a:t>
            </a:r>
            <a:endParaRPr/>
          </a:p>
        </p:txBody>
      </p:sp>
      <p:sp>
        <p:nvSpPr>
          <p:cNvPr id="1029" name="Google Shape;1029;p91"/>
          <p:cNvSpPr/>
          <p:nvPr/>
        </p:nvSpPr>
        <p:spPr>
          <a:xfrm>
            <a:off x="131862" y="2832933"/>
            <a:ext cx="602100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3200">
                <a:solidFill>
                  <a:schemeClr val="dk2"/>
                </a:solidFill>
                <a:latin typeface="Calibri"/>
                <a:ea typeface="Calibri"/>
                <a:cs typeface="Calibri"/>
                <a:sym typeface="Calibri"/>
              </a:rPr>
              <a:t>Where the kernel fits within the OS?</a:t>
            </a:r>
            <a:endParaRPr/>
          </a:p>
        </p:txBody>
      </p:sp>
      <p:sp>
        <p:nvSpPr>
          <p:cNvPr id="1030" name="Google Shape;1030;p91"/>
          <p:cNvSpPr/>
          <p:nvPr/>
        </p:nvSpPr>
        <p:spPr>
          <a:xfrm>
            <a:off x="101742" y="3551746"/>
            <a:ext cx="8280258"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000">
                <a:solidFill>
                  <a:schemeClr val="dk1"/>
                </a:solidFill>
                <a:latin typeface="Calibri"/>
                <a:ea typeface="Calibri"/>
                <a:cs typeface="Calibri"/>
                <a:sym typeface="Calibri"/>
              </a:rPr>
              <a:t>To put the kernel in context, you can think of a Linux machine as having 3 layers:</a:t>
            </a:r>
            <a:endParaRPr/>
          </a:p>
          <a:p>
            <a:pPr indent="-342900" lvl="0" marL="34290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The hardware</a:t>
            </a:r>
            <a:endParaRPr/>
          </a:p>
          <a:p>
            <a:pPr indent="-342900" lvl="0" marL="34290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The Linux kernel: The core of the OS. (See? It’s right in the middle.) It’s software residing in memory that tells the CPU what to do.</a:t>
            </a:r>
            <a:endParaRPr/>
          </a:p>
          <a:p>
            <a:pPr indent="-342900" lvl="0" marL="34290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User processes: These are the running programs that the kernel manages. </a:t>
            </a:r>
            <a:endParaRPr/>
          </a:p>
          <a:p>
            <a:pPr indent="-342900" lvl="1" marL="80010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Calibri"/>
                <a:ea typeface="Calibri"/>
                <a:cs typeface="Calibri"/>
                <a:sym typeface="Calibri"/>
              </a:rPr>
              <a:t>User processes are what collectively make up user space. </a:t>
            </a:r>
            <a:endParaRPr/>
          </a:p>
          <a:p>
            <a:pPr indent="-342900" lvl="1" marL="80010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Calibri"/>
                <a:ea typeface="Calibri"/>
                <a:cs typeface="Calibri"/>
                <a:sym typeface="Calibri"/>
              </a:rPr>
              <a:t>The kernel also allows these processes and servers to communicate with each other (known as inter-process communication, or IPC).</a:t>
            </a:r>
            <a:endParaRPr/>
          </a:p>
        </p:txBody>
      </p:sp>
      <p:pic>
        <p:nvPicPr>
          <p:cNvPr id="1031" name="Google Shape;1031;p91"/>
          <p:cNvPicPr preferRelativeResize="0"/>
          <p:nvPr/>
        </p:nvPicPr>
        <p:blipFill rotWithShape="1">
          <a:blip r:embed="rId3">
            <a:alphaModFix/>
          </a:blip>
          <a:srcRect b="0" l="0" r="0" t="0"/>
          <a:stretch/>
        </p:blipFill>
        <p:spPr>
          <a:xfrm>
            <a:off x="6139684" y="2564904"/>
            <a:ext cx="1361728" cy="986842"/>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92"/>
          <p:cNvSpPr txBox="1"/>
          <p:nvPr>
            <p:ph idx="1" type="body"/>
          </p:nvPr>
        </p:nvSpPr>
        <p:spPr>
          <a:xfrm>
            <a:off x="512028" y="544375"/>
            <a:ext cx="8019760" cy="6124985"/>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lang="en-IN" sz="2000"/>
              <a:t>The </a:t>
            </a:r>
            <a:r>
              <a:rPr b="1" lang="en-IN" sz="2000"/>
              <a:t>Core Subsystems</a:t>
            </a:r>
            <a:r>
              <a:rPr lang="en-IN" sz="2000"/>
              <a:t> of the </a:t>
            </a:r>
            <a:r>
              <a:rPr b="1" lang="en-IN" sz="2000"/>
              <a:t>Linux Kernel</a:t>
            </a:r>
            <a:r>
              <a:rPr lang="en-IN" sz="2000"/>
              <a:t> are as follows:</a:t>
            </a:r>
            <a:endParaRPr/>
          </a:p>
          <a:p>
            <a:pPr indent="-127000" lvl="0" marL="91440" rtl="0" algn="l">
              <a:lnSpc>
                <a:spcPct val="90000"/>
              </a:lnSpc>
              <a:spcBef>
                <a:spcPts val="1400"/>
              </a:spcBef>
              <a:spcAft>
                <a:spcPts val="0"/>
              </a:spcAft>
              <a:buSzPts val="2000"/>
              <a:buChar char=" "/>
            </a:pPr>
            <a:r>
              <a:rPr lang="en-IN" sz="2000"/>
              <a:t>The Process Scheduler/ Process management</a:t>
            </a:r>
            <a:endParaRPr/>
          </a:p>
          <a:p>
            <a:pPr indent="-127000" lvl="0" marL="91440" rtl="0" algn="l">
              <a:lnSpc>
                <a:spcPct val="90000"/>
              </a:lnSpc>
              <a:spcBef>
                <a:spcPts val="1400"/>
              </a:spcBef>
              <a:spcAft>
                <a:spcPts val="0"/>
              </a:spcAft>
              <a:buSzPts val="2000"/>
              <a:buChar char=" "/>
            </a:pPr>
            <a:r>
              <a:rPr lang="en-IN" sz="2000"/>
              <a:t>The Memory Management Unit (MMU)</a:t>
            </a:r>
            <a:endParaRPr/>
          </a:p>
          <a:p>
            <a:pPr indent="-127000" lvl="0" marL="91440" rtl="0" algn="l">
              <a:lnSpc>
                <a:spcPct val="90000"/>
              </a:lnSpc>
              <a:spcBef>
                <a:spcPts val="1400"/>
              </a:spcBef>
              <a:spcAft>
                <a:spcPts val="0"/>
              </a:spcAft>
              <a:buSzPts val="2000"/>
              <a:buChar char=" "/>
            </a:pPr>
            <a:r>
              <a:rPr lang="en-IN" sz="2000"/>
              <a:t>The Virtual File System (VFS) /File management</a:t>
            </a:r>
            <a:endParaRPr/>
          </a:p>
          <a:p>
            <a:pPr indent="-127000" lvl="0" marL="91440" rtl="0" algn="l">
              <a:lnSpc>
                <a:spcPct val="90000"/>
              </a:lnSpc>
              <a:spcBef>
                <a:spcPts val="1400"/>
              </a:spcBef>
              <a:spcAft>
                <a:spcPts val="0"/>
              </a:spcAft>
              <a:buSzPts val="2000"/>
              <a:buChar char=" "/>
            </a:pPr>
            <a:r>
              <a:rPr lang="en-IN" sz="2000"/>
              <a:t>The Networking Unit </a:t>
            </a:r>
            <a:endParaRPr/>
          </a:p>
          <a:p>
            <a:pPr indent="-127000" lvl="0" marL="91440" rtl="0" algn="l">
              <a:lnSpc>
                <a:spcPct val="90000"/>
              </a:lnSpc>
              <a:spcBef>
                <a:spcPts val="1400"/>
              </a:spcBef>
              <a:spcAft>
                <a:spcPts val="0"/>
              </a:spcAft>
              <a:buSzPts val="2000"/>
              <a:buChar char=" "/>
            </a:pPr>
            <a:r>
              <a:rPr lang="en-IN" sz="2000"/>
              <a:t>Inter-Process Communication Unit </a:t>
            </a:r>
            <a:endParaRPr sz="2000"/>
          </a:p>
          <a:p>
            <a:pPr indent="-127000" lvl="0" marL="91440" rtl="0" algn="l">
              <a:lnSpc>
                <a:spcPct val="90000"/>
              </a:lnSpc>
              <a:spcBef>
                <a:spcPts val="1400"/>
              </a:spcBef>
              <a:spcAft>
                <a:spcPts val="0"/>
              </a:spcAft>
              <a:buSzPts val="2000"/>
              <a:buChar char=" "/>
            </a:pPr>
            <a:r>
              <a:rPr lang="en-IN" sz="2000"/>
              <a:t>Device management/ I/O management</a:t>
            </a:r>
            <a:endParaRPr/>
          </a:p>
          <a:p>
            <a:pPr indent="0" lvl="0" marL="91440" rtl="0" algn="l">
              <a:lnSpc>
                <a:spcPct val="90000"/>
              </a:lnSpc>
              <a:spcBef>
                <a:spcPts val="1400"/>
              </a:spcBef>
              <a:spcAft>
                <a:spcPts val="0"/>
              </a:spcAft>
              <a:buSzPts val="2000"/>
              <a:buNone/>
            </a:pPr>
            <a:r>
              <a:t/>
            </a:r>
            <a:endParaRPr/>
          </a:p>
        </p:txBody>
      </p:sp>
      <p:sp>
        <p:nvSpPr>
          <p:cNvPr id="1038" name="Google Shape;1038;p9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039" name="Google Shape;1039;p9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040" name="Google Shape;1040;p9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1041" name="Google Shape;1041;p92"/>
          <p:cNvPicPr preferRelativeResize="0"/>
          <p:nvPr/>
        </p:nvPicPr>
        <p:blipFill rotWithShape="1">
          <a:blip r:embed="rId3">
            <a:alphaModFix/>
          </a:blip>
          <a:srcRect b="0" l="0" r="0" t="0"/>
          <a:stretch/>
        </p:blipFill>
        <p:spPr>
          <a:xfrm>
            <a:off x="5776746" y="1389640"/>
            <a:ext cx="2729468" cy="1963151"/>
          </a:xfrm>
          <a:prstGeom prst="rect">
            <a:avLst/>
          </a:prstGeom>
          <a:noFill/>
          <a:ln>
            <a:noFill/>
          </a:ln>
        </p:spPr>
      </p:pic>
      <p:sp>
        <p:nvSpPr>
          <p:cNvPr id="1042" name="Google Shape;1042;p92"/>
          <p:cNvSpPr txBox="1"/>
          <p:nvPr/>
        </p:nvSpPr>
        <p:spPr>
          <a:xfrm>
            <a:off x="-684584" y="-17699"/>
            <a:ext cx="3970784" cy="56207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200"/>
              <a:buFont typeface="Calibri"/>
              <a:buNone/>
            </a:pPr>
            <a:r>
              <a:rPr lang="en-IN" sz="3200">
                <a:solidFill>
                  <a:schemeClr val="dk1"/>
                </a:solidFill>
                <a:latin typeface="Calibri"/>
                <a:ea typeface="Calibri"/>
                <a:cs typeface="Calibri"/>
                <a:sym typeface="Calibri"/>
              </a:rPr>
              <a:t>Linux Kernel</a:t>
            </a:r>
            <a:endParaRPr sz="3200">
              <a:solidFill>
                <a:schemeClr val="dk1"/>
              </a:solidFill>
              <a:latin typeface="Calibri"/>
              <a:ea typeface="Calibri"/>
              <a:cs typeface="Calibri"/>
              <a:sym typeface="Calibri"/>
            </a:endParaRPr>
          </a:p>
        </p:txBody>
      </p:sp>
      <p:pic>
        <p:nvPicPr>
          <p:cNvPr descr="What Is Kernel?&#10;●&#10;central module of an operating system (OS)&#10;●&#10;the part of the operating system that loads first, and it r..." id="1043" name="Google Shape;1043;p92"/>
          <p:cNvPicPr preferRelativeResize="0"/>
          <p:nvPr/>
        </p:nvPicPr>
        <p:blipFill rotWithShape="1">
          <a:blip r:embed="rId4">
            <a:alphaModFix/>
          </a:blip>
          <a:srcRect b="8650" l="4306" r="2676" t="0"/>
          <a:stretch/>
        </p:blipFill>
        <p:spPr>
          <a:xfrm>
            <a:off x="2987044" y="3611530"/>
            <a:ext cx="5422319" cy="2770422"/>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93"/>
          <p:cNvSpPr txBox="1"/>
          <p:nvPr>
            <p:ph idx="1" type="body"/>
          </p:nvPr>
        </p:nvSpPr>
        <p:spPr>
          <a:xfrm>
            <a:off x="0" y="609600"/>
            <a:ext cx="8841160" cy="4609059"/>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lang="en-IN" sz="2400"/>
              <a:t>It is often mistaken that </a:t>
            </a:r>
            <a:r>
              <a:rPr b="1" lang="en-IN" sz="2400"/>
              <a:t>Linus Torvalds has developed Linux OS, </a:t>
            </a:r>
            <a:endParaRPr b="1" sz="2400"/>
          </a:p>
          <a:p>
            <a:pPr indent="-182880" lvl="1" marL="384048" rtl="0" algn="l">
              <a:lnSpc>
                <a:spcPct val="90000"/>
              </a:lnSpc>
              <a:spcBef>
                <a:spcPts val="400"/>
              </a:spcBef>
              <a:spcAft>
                <a:spcPts val="0"/>
              </a:spcAft>
              <a:buSzPts val="2000"/>
              <a:buChar char="◦"/>
            </a:pPr>
            <a:r>
              <a:rPr b="1" lang="en-IN" sz="2000"/>
              <a:t>but actually he is only responsible for development of Linux kernel.</a:t>
            </a:r>
            <a:endParaRPr/>
          </a:p>
          <a:p>
            <a:pPr indent="-152400" lvl="0" marL="91440" rtl="0" algn="l">
              <a:lnSpc>
                <a:spcPct val="90000"/>
              </a:lnSpc>
              <a:spcBef>
                <a:spcPts val="1600"/>
              </a:spcBef>
              <a:spcAft>
                <a:spcPts val="0"/>
              </a:spcAft>
              <a:buSzPts val="2400"/>
              <a:buChar char=" "/>
            </a:pPr>
            <a:r>
              <a:rPr lang="en-IN" sz="2400"/>
              <a:t> </a:t>
            </a:r>
            <a:r>
              <a:rPr b="1" lang="en-IN" sz="2400"/>
              <a:t>Complete Linux system = Kernel + GNU system utilities and libraries + other management scripts + installation scripts</a:t>
            </a:r>
            <a:r>
              <a:rPr lang="en-IN" sz="2400"/>
              <a:t>.</a:t>
            </a:r>
            <a:endParaRPr/>
          </a:p>
        </p:txBody>
      </p:sp>
      <p:sp>
        <p:nvSpPr>
          <p:cNvPr id="1049" name="Google Shape;1049;p9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050" name="Google Shape;1050;p9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051" name="Google Shape;1051;p9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052" name="Google Shape;1052;p93"/>
          <p:cNvSpPr txBox="1"/>
          <p:nvPr/>
        </p:nvSpPr>
        <p:spPr>
          <a:xfrm>
            <a:off x="-180528" y="47526"/>
            <a:ext cx="3039303" cy="56207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200"/>
              <a:buFont typeface="Calibri"/>
              <a:buNone/>
            </a:pPr>
            <a:r>
              <a:rPr lang="en-IN" sz="3200">
                <a:solidFill>
                  <a:schemeClr val="dk1"/>
                </a:solidFill>
                <a:latin typeface="Calibri"/>
                <a:ea typeface="Calibri"/>
                <a:cs typeface="Calibri"/>
                <a:sym typeface="Calibri"/>
              </a:rPr>
              <a:t>Linux Kernel</a:t>
            </a:r>
            <a:endParaRPr sz="3200">
              <a:solidFill>
                <a:schemeClr val="dk1"/>
              </a:solidFill>
              <a:latin typeface="Calibri"/>
              <a:ea typeface="Calibri"/>
              <a:cs typeface="Calibri"/>
              <a:sym typeface="Calibri"/>
            </a:endParaRPr>
          </a:p>
        </p:txBody>
      </p:sp>
      <p:pic>
        <p:nvPicPr>
          <p:cNvPr id="1053" name="Google Shape;1053;p93"/>
          <p:cNvPicPr preferRelativeResize="0"/>
          <p:nvPr/>
        </p:nvPicPr>
        <p:blipFill rotWithShape="1">
          <a:blip r:embed="rId3">
            <a:alphaModFix/>
          </a:blip>
          <a:srcRect b="0" l="0" r="0" t="0"/>
          <a:stretch/>
        </p:blipFill>
        <p:spPr>
          <a:xfrm>
            <a:off x="1920067" y="2348880"/>
            <a:ext cx="5530429" cy="3897301"/>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94"/>
          <p:cNvSpPr txBox="1"/>
          <p:nvPr>
            <p:ph type="title"/>
          </p:nvPr>
        </p:nvSpPr>
        <p:spPr>
          <a:xfrm>
            <a:off x="251520" y="170545"/>
            <a:ext cx="7105600" cy="49006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b="1" lang="en-IN" sz="3200"/>
              <a:t>What is Shell?</a:t>
            </a:r>
            <a:endParaRPr sz="3200"/>
          </a:p>
        </p:txBody>
      </p:sp>
      <p:sp>
        <p:nvSpPr>
          <p:cNvPr id="1059" name="Google Shape;1059;p94"/>
          <p:cNvSpPr txBox="1"/>
          <p:nvPr>
            <p:ph idx="1" type="body"/>
          </p:nvPr>
        </p:nvSpPr>
        <p:spPr>
          <a:xfrm>
            <a:off x="251520" y="660611"/>
            <a:ext cx="7992888" cy="6197389"/>
          </a:xfrm>
          <a:prstGeom prst="rect">
            <a:avLst/>
          </a:prstGeom>
          <a:noFill/>
          <a:ln>
            <a:noFill/>
          </a:ln>
        </p:spPr>
        <p:txBody>
          <a:bodyPr anchorCtr="0" anchor="t" bIns="45700" lIns="0" spcFirstLastPara="1" rIns="0" wrap="square" tIns="45700">
            <a:noAutofit/>
          </a:bodyPr>
          <a:lstStyle/>
          <a:p>
            <a:pPr indent="-127000" lvl="0" marL="91440" rtl="0" algn="l">
              <a:lnSpc>
                <a:spcPct val="90000"/>
              </a:lnSpc>
              <a:spcBef>
                <a:spcPts val="0"/>
              </a:spcBef>
              <a:spcAft>
                <a:spcPts val="0"/>
              </a:spcAft>
              <a:buSzPts val="2000"/>
              <a:buChar char=" "/>
            </a:pPr>
            <a:r>
              <a:rPr lang="en-IN" sz="2000"/>
              <a:t>A shell is special user program which provide an interface to user to use operating system services. </a:t>
            </a:r>
            <a:endParaRPr sz="2000"/>
          </a:p>
          <a:p>
            <a:pPr indent="-182880" lvl="1" marL="384048" rtl="0" algn="l">
              <a:lnSpc>
                <a:spcPct val="90000"/>
              </a:lnSpc>
              <a:spcBef>
                <a:spcPts val="400"/>
              </a:spcBef>
              <a:spcAft>
                <a:spcPts val="0"/>
              </a:spcAft>
              <a:buSzPts val="1800"/>
              <a:buChar char="◦"/>
            </a:pPr>
            <a:r>
              <a:rPr lang="en-IN"/>
              <a:t>Shell accept </a:t>
            </a:r>
            <a:r>
              <a:rPr b="1" lang="en-IN" u="sng"/>
              <a:t>human readable commands</a:t>
            </a:r>
            <a:r>
              <a:rPr lang="en-IN"/>
              <a:t> from user and </a:t>
            </a:r>
            <a:r>
              <a:rPr b="1" lang="en-IN" u="sng"/>
              <a:t>convert them into something which kernel can understand.</a:t>
            </a:r>
            <a:endParaRPr/>
          </a:p>
          <a:p>
            <a:pPr indent="-182880" lvl="1" marL="384048" rtl="0" algn="l">
              <a:lnSpc>
                <a:spcPct val="90000"/>
              </a:lnSpc>
              <a:spcBef>
                <a:spcPts val="600"/>
              </a:spcBef>
              <a:spcAft>
                <a:spcPts val="0"/>
              </a:spcAft>
              <a:buSzPts val="1800"/>
              <a:buChar char="◦"/>
            </a:pPr>
            <a:r>
              <a:rPr lang="en-IN"/>
              <a:t>It is a </a:t>
            </a:r>
            <a:r>
              <a:rPr b="1" lang="en-IN" u="sng"/>
              <a:t>command language interpreter </a:t>
            </a:r>
            <a:r>
              <a:rPr lang="en-IN"/>
              <a:t>that execute commands read from input devices such as keyboards or from files. </a:t>
            </a:r>
            <a:endParaRPr/>
          </a:p>
          <a:p>
            <a:pPr indent="-182880" lvl="1" marL="384048" rtl="0" algn="l">
              <a:lnSpc>
                <a:spcPct val="90000"/>
              </a:lnSpc>
              <a:spcBef>
                <a:spcPts val="600"/>
              </a:spcBef>
              <a:spcAft>
                <a:spcPts val="0"/>
              </a:spcAft>
              <a:buSzPts val="1800"/>
              <a:buChar char="◦"/>
            </a:pPr>
            <a:r>
              <a:rPr b="1" lang="en-IN"/>
              <a:t>The shell gets started when the user logs in or start the terminal.</a:t>
            </a:r>
            <a:endParaRPr/>
          </a:p>
          <a:p>
            <a:pPr indent="0" lvl="0" marL="0" rtl="0" algn="l">
              <a:lnSpc>
                <a:spcPct val="90000"/>
              </a:lnSpc>
              <a:spcBef>
                <a:spcPts val="1600"/>
              </a:spcBef>
              <a:spcAft>
                <a:spcPts val="0"/>
              </a:spcAft>
              <a:buSzPts val="2000"/>
              <a:buNone/>
            </a:pPr>
            <a:r>
              <a:rPr lang="en-IN" sz="2000"/>
              <a:t>Shell is broadly classified into two categories-</a:t>
            </a:r>
            <a:endParaRPr/>
          </a:p>
          <a:p>
            <a:pPr indent="-127000" lvl="0" marL="91440" rtl="0" algn="l">
              <a:lnSpc>
                <a:spcPct val="90000"/>
              </a:lnSpc>
              <a:spcBef>
                <a:spcPts val="1400"/>
              </a:spcBef>
              <a:spcAft>
                <a:spcPts val="0"/>
              </a:spcAft>
              <a:buSzPts val="2000"/>
              <a:buChar char=" "/>
            </a:pPr>
            <a:r>
              <a:rPr lang="en-IN" sz="2000"/>
              <a:t>Command Line Shell</a:t>
            </a:r>
            <a:endParaRPr/>
          </a:p>
          <a:p>
            <a:pPr indent="-127000" lvl="0" marL="91440" rtl="0" algn="l">
              <a:lnSpc>
                <a:spcPct val="90000"/>
              </a:lnSpc>
              <a:spcBef>
                <a:spcPts val="1400"/>
              </a:spcBef>
              <a:spcAft>
                <a:spcPts val="0"/>
              </a:spcAft>
              <a:buSzPts val="2000"/>
              <a:buChar char=" "/>
            </a:pPr>
            <a:r>
              <a:rPr lang="en-IN" sz="2000"/>
              <a:t>Graphical shell</a:t>
            </a:r>
            <a:endParaRPr/>
          </a:p>
          <a:p>
            <a:pPr indent="-127000" lvl="0" marL="91440" rtl="0" algn="l">
              <a:lnSpc>
                <a:spcPct val="90000"/>
              </a:lnSpc>
              <a:spcBef>
                <a:spcPts val="1400"/>
              </a:spcBef>
              <a:spcAft>
                <a:spcPts val="0"/>
              </a:spcAft>
              <a:buSzPts val="2000"/>
              <a:buChar char=" "/>
            </a:pPr>
            <a:r>
              <a:rPr lang="en-IN" sz="2000"/>
              <a:t>Shell can be accessed by user using a command line interface. </a:t>
            </a:r>
            <a:endParaRPr/>
          </a:p>
          <a:p>
            <a:pPr indent="-127000" lvl="0" marL="91440" rtl="0" algn="l">
              <a:lnSpc>
                <a:spcPct val="90000"/>
              </a:lnSpc>
              <a:spcBef>
                <a:spcPts val="1400"/>
              </a:spcBef>
              <a:spcAft>
                <a:spcPts val="0"/>
              </a:spcAft>
              <a:buSzPts val="2000"/>
              <a:buChar char=" "/>
            </a:pPr>
            <a:r>
              <a:rPr lang="en-IN" sz="2000"/>
              <a:t>A special program called </a:t>
            </a:r>
            <a:endParaRPr/>
          </a:p>
          <a:p>
            <a:pPr indent="-182880" lvl="1" marL="384048" rtl="0" algn="l">
              <a:lnSpc>
                <a:spcPct val="90000"/>
              </a:lnSpc>
              <a:spcBef>
                <a:spcPts val="400"/>
              </a:spcBef>
              <a:spcAft>
                <a:spcPts val="0"/>
              </a:spcAft>
              <a:buSzPts val="1800"/>
              <a:buChar char="◦"/>
            </a:pPr>
            <a:r>
              <a:rPr b="1" lang="en-IN"/>
              <a:t>Terminal</a:t>
            </a:r>
            <a:r>
              <a:rPr lang="en-IN"/>
              <a:t> in linux/macOS or </a:t>
            </a:r>
            <a:endParaRPr/>
          </a:p>
          <a:p>
            <a:pPr indent="-182880" lvl="1" marL="384048" rtl="0" algn="l">
              <a:lnSpc>
                <a:spcPct val="90000"/>
              </a:lnSpc>
              <a:spcBef>
                <a:spcPts val="600"/>
              </a:spcBef>
              <a:spcAft>
                <a:spcPts val="0"/>
              </a:spcAft>
              <a:buSzPts val="1800"/>
              <a:buChar char="◦"/>
            </a:pPr>
            <a:r>
              <a:rPr b="1" lang="en-IN"/>
              <a:t>Command Prompt</a:t>
            </a:r>
            <a:r>
              <a:rPr lang="en-IN"/>
              <a:t> in Windows OS </a:t>
            </a:r>
            <a:endParaRPr/>
          </a:p>
          <a:p>
            <a:pPr indent="-182880" lvl="1" marL="384048" rtl="0" algn="l">
              <a:lnSpc>
                <a:spcPct val="90000"/>
              </a:lnSpc>
              <a:spcBef>
                <a:spcPts val="600"/>
              </a:spcBef>
              <a:spcAft>
                <a:spcPts val="0"/>
              </a:spcAft>
              <a:buSzPts val="1800"/>
              <a:buChar char="◦"/>
            </a:pPr>
            <a:r>
              <a:rPr lang="en-IN"/>
              <a:t>is provided to type in the human readable commands such as “cat”, “ls” etc. for execution. The result is then displayed on the terminal to the user. </a:t>
            </a:r>
            <a:endParaRPr/>
          </a:p>
          <a:p>
            <a:pPr indent="0" lvl="0" marL="91440" rtl="0" algn="l">
              <a:lnSpc>
                <a:spcPct val="90000"/>
              </a:lnSpc>
              <a:spcBef>
                <a:spcPts val="1600"/>
              </a:spcBef>
              <a:spcAft>
                <a:spcPts val="0"/>
              </a:spcAft>
              <a:buSzPts val="2000"/>
              <a:buNone/>
            </a:pPr>
            <a:r>
              <a:t/>
            </a:r>
            <a:endParaRPr sz="2000"/>
          </a:p>
          <a:p>
            <a:pPr indent="0" lvl="0" marL="91440" rtl="0" algn="l">
              <a:lnSpc>
                <a:spcPct val="90000"/>
              </a:lnSpc>
              <a:spcBef>
                <a:spcPts val="1400"/>
              </a:spcBef>
              <a:spcAft>
                <a:spcPts val="0"/>
              </a:spcAft>
              <a:buSzPts val="2000"/>
              <a:buNone/>
            </a:pPr>
            <a:r>
              <a:t/>
            </a:r>
            <a:endParaRPr sz="2000"/>
          </a:p>
          <a:p>
            <a:pPr indent="-68579" lvl="1" marL="384048" rtl="0" algn="l">
              <a:lnSpc>
                <a:spcPct val="90000"/>
              </a:lnSpc>
              <a:spcBef>
                <a:spcPts val="400"/>
              </a:spcBef>
              <a:spcAft>
                <a:spcPts val="0"/>
              </a:spcAft>
              <a:buSzPts val="1800"/>
              <a:buNone/>
            </a:pPr>
            <a:r>
              <a:t/>
            </a:r>
            <a:endParaRPr b="1"/>
          </a:p>
          <a:p>
            <a:pPr indent="0" lvl="1" marL="457200" rtl="0" algn="l">
              <a:lnSpc>
                <a:spcPct val="90000"/>
              </a:lnSpc>
              <a:spcBef>
                <a:spcPts val="600"/>
              </a:spcBef>
              <a:spcAft>
                <a:spcPts val="0"/>
              </a:spcAft>
              <a:buSzPts val="1800"/>
              <a:buNone/>
            </a:pPr>
            <a:r>
              <a:rPr lang="en-IN"/>
              <a:t> </a:t>
            </a:r>
            <a:endParaRPr/>
          </a:p>
        </p:txBody>
      </p:sp>
      <p:sp>
        <p:nvSpPr>
          <p:cNvPr id="1060" name="Google Shape;1060;p9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061" name="Google Shape;1061;p9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062" name="Google Shape;1062;p9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063" name="Google Shape;1063;p94"/>
          <p:cNvSpPr/>
          <p:nvPr/>
        </p:nvSpPr>
        <p:spPr>
          <a:xfrm>
            <a:off x="86565" y="2852936"/>
            <a:ext cx="7744067" cy="339079"/>
          </a:xfrm>
          <a:prstGeom prst="frame">
            <a:avLst>
              <a:gd fmla="val 12500" name="adj1"/>
            </a:avLst>
          </a:prstGeom>
          <a:solidFill>
            <a:schemeClr val="accent1"/>
          </a:solidFill>
          <a:ln cap="flat" cmpd="sng" w="15875">
            <a:solidFill>
              <a:srgbClr val="A65F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95"/>
          <p:cNvSpPr txBox="1"/>
          <p:nvPr>
            <p:ph type="title"/>
          </p:nvPr>
        </p:nvSpPr>
        <p:spPr>
          <a:xfrm>
            <a:off x="101851" y="47526"/>
            <a:ext cx="3678062" cy="42244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b="1" lang="en-IN" sz="3200"/>
              <a:t>Command Line Shell</a:t>
            </a:r>
            <a:endParaRPr sz="3200"/>
          </a:p>
        </p:txBody>
      </p:sp>
      <p:sp>
        <p:nvSpPr>
          <p:cNvPr id="1069" name="Google Shape;1069;p95"/>
          <p:cNvSpPr txBox="1"/>
          <p:nvPr>
            <p:ph idx="1" type="body"/>
          </p:nvPr>
        </p:nvSpPr>
        <p:spPr>
          <a:xfrm>
            <a:off x="179763" y="461786"/>
            <a:ext cx="8229600" cy="4525963"/>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IN" sz="2000"/>
              <a:t>Working with command line shell is bit difficult for the beginners because it’s hard to memorize so many commands. </a:t>
            </a:r>
            <a:endParaRPr sz="2000"/>
          </a:p>
          <a:p>
            <a:pPr indent="-127000" lvl="0" marL="91440" rtl="0" algn="l">
              <a:lnSpc>
                <a:spcPct val="90000"/>
              </a:lnSpc>
              <a:spcBef>
                <a:spcPts val="1400"/>
              </a:spcBef>
              <a:spcAft>
                <a:spcPts val="0"/>
              </a:spcAft>
              <a:buSzPts val="2000"/>
              <a:buChar char=" "/>
            </a:pPr>
            <a:r>
              <a:rPr b="1" lang="en-IN" sz="2000"/>
              <a:t>It is very powerful, it allows user to store commands in a file and execute them together. This way any repetitive task can be easily automated. </a:t>
            </a:r>
            <a:endParaRPr b="1" sz="2000"/>
          </a:p>
          <a:p>
            <a:pPr indent="-127000" lvl="0" marL="91440" rtl="0" algn="l">
              <a:lnSpc>
                <a:spcPct val="90000"/>
              </a:lnSpc>
              <a:spcBef>
                <a:spcPts val="1400"/>
              </a:spcBef>
              <a:spcAft>
                <a:spcPts val="0"/>
              </a:spcAft>
              <a:buSzPts val="2000"/>
              <a:buChar char=" "/>
            </a:pPr>
            <a:r>
              <a:rPr lang="en-IN" sz="2000"/>
              <a:t>These files are usually called </a:t>
            </a:r>
            <a:r>
              <a:rPr b="1" lang="en-IN" sz="2000"/>
              <a:t>batch files</a:t>
            </a:r>
            <a:r>
              <a:rPr lang="en-IN" sz="2000"/>
              <a:t> in Windows and </a:t>
            </a:r>
            <a:r>
              <a:rPr b="1" lang="en-IN" sz="2000"/>
              <a:t>Shell</a:t>
            </a:r>
            <a:r>
              <a:rPr lang="en-IN" sz="2000"/>
              <a:t> Scripts in Linux/macOS systems. </a:t>
            </a:r>
            <a:endParaRPr/>
          </a:p>
          <a:p>
            <a:pPr indent="0" lvl="0" marL="91440" rtl="0" algn="l">
              <a:lnSpc>
                <a:spcPct val="90000"/>
              </a:lnSpc>
              <a:spcBef>
                <a:spcPts val="1400"/>
              </a:spcBef>
              <a:spcAft>
                <a:spcPts val="0"/>
              </a:spcAft>
              <a:buSzPts val="2000"/>
              <a:buNone/>
            </a:pPr>
            <a:r>
              <a:t/>
            </a:r>
            <a:endParaRPr/>
          </a:p>
        </p:txBody>
      </p:sp>
      <p:sp>
        <p:nvSpPr>
          <p:cNvPr id="1070" name="Google Shape;1070;p9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071" name="Google Shape;1071;p9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072" name="Google Shape;1072;p9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1073" name="Google Shape;1073;p95"/>
          <p:cNvPicPr preferRelativeResize="0"/>
          <p:nvPr/>
        </p:nvPicPr>
        <p:blipFill rotWithShape="1">
          <a:blip r:embed="rId3">
            <a:alphaModFix/>
          </a:blip>
          <a:srcRect b="0" l="0" r="0" t="0"/>
          <a:stretch/>
        </p:blipFill>
        <p:spPr>
          <a:xfrm>
            <a:off x="7086355" y="2336362"/>
            <a:ext cx="1873399" cy="1052224"/>
          </a:xfrm>
          <a:prstGeom prst="rect">
            <a:avLst/>
          </a:prstGeom>
          <a:noFill/>
          <a:ln>
            <a:noFill/>
          </a:ln>
        </p:spPr>
      </p:pic>
      <p:sp>
        <p:nvSpPr>
          <p:cNvPr id="1074" name="Google Shape;1074;p95"/>
          <p:cNvSpPr/>
          <p:nvPr/>
        </p:nvSpPr>
        <p:spPr>
          <a:xfrm>
            <a:off x="189228" y="2544857"/>
            <a:ext cx="2875852"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200">
                <a:solidFill>
                  <a:schemeClr val="dk1"/>
                </a:solidFill>
                <a:latin typeface="Calibri"/>
                <a:ea typeface="Calibri"/>
                <a:cs typeface="Calibri"/>
                <a:sym typeface="Calibri"/>
              </a:rPr>
              <a:t>Graphical Shells</a:t>
            </a:r>
            <a:endParaRPr sz="3200">
              <a:solidFill>
                <a:schemeClr val="dk1"/>
              </a:solidFill>
              <a:latin typeface="Calibri"/>
              <a:ea typeface="Calibri"/>
              <a:cs typeface="Calibri"/>
              <a:sym typeface="Calibri"/>
            </a:endParaRPr>
          </a:p>
        </p:txBody>
      </p:sp>
      <p:sp>
        <p:nvSpPr>
          <p:cNvPr id="1075" name="Google Shape;1075;p95"/>
          <p:cNvSpPr/>
          <p:nvPr/>
        </p:nvSpPr>
        <p:spPr>
          <a:xfrm>
            <a:off x="95088" y="3170508"/>
            <a:ext cx="7921205"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chemeClr val="dk1"/>
                </a:solidFill>
                <a:latin typeface="Calibri"/>
                <a:ea typeface="Calibri"/>
                <a:cs typeface="Calibri"/>
                <a:sym typeface="Calibri"/>
              </a:rPr>
              <a:t>Provide means for manipulating programs based on graphical user interface (GUI), </a:t>
            </a:r>
            <a:endParaRPr/>
          </a:p>
          <a:p>
            <a:pPr indent="0" lvl="1" marL="457200" marR="0" rtl="0" algn="l">
              <a:spcBef>
                <a:spcPts val="0"/>
              </a:spcBef>
              <a:spcAft>
                <a:spcPts val="0"/>
              </a:spcAft>
              <a:buNone/>
            </a:pPr>
            <a:r>
              <a:rPr b="0" i="0" lang="en-IN" sz="1800" u="none" cap="none" strike="noStrike">
                <a:solidFill>
                  <a:schemeClr val="dk1"/>
                </a:solidFill>
                <a:latin typeface="Calibri"/>
                <a:ea typeface="Calibri"/>
                <a:cs typeface="Calibri"/>
                <a:sym typeface="Calibri"/>
              </a:rPr>
              <a:t>by allowing for operations such as opening, closing, moving and resizing windows, as well as switching focus between windows. </a:t>
            </a:r>
            <a:endParaRPr/>
          </a:p>
          <a:p>
            <a:pPr indent="0" lvl="0" marL="0" marR="0" rtl="0" algn="l">
              <a:spcBef>
                <a:spcPts val="0"/>
              </a:spcBef>
              <a:spcAft>
                <a:spcPts val="0"/>
              </a:spcAft>
              <a:buNone/>
            </a:pPr>
            <a:r>
              <a:rPr b="1" lang="en-IN" sz="2400">
                <a:solidFill>
                  <a:schemeClr val="dk1"/>
                </a:solidFill>
                <a:latin typeface="Calibri"/>
                <a:ea typeface="Calibri"/>
                <a:cs typeface="Calibri"/>
                <a:sym typeface="Calibri"/>
              </a:rPr>
              <a:t>Window OS or Ubuntu OS can be considered as good example which provide GUI to user for interacting with program. </a:t>
            </a:r>
            <a:endParaRPr/>
          </a:p>
          <a:p>
            <a:pPr indent="0" lvl="0" marL="0" marR="0" rtl="0" algn="l">
              <a:spcBef>
                <a:spcPts val="0"/>
              </a:spcBef>
              <a:spcAft>
                <a:spcPts val="0"/>
              </a:spcAft>
              <a:buNone/>
            </a:pPr>
            <a:r>
              <a:rPr lang="en-IN" sz="2400">
                <a:solidFill>
                  <a:schemeClr val="dk1"/>
                </a:solidFill>
                <a:latin typeface="Calibri"/>
                <a:ea typeface="Calibri"/>
                <a:cs typeface="Calibri"/>
                <a:sym typeface="Calibri"/>
              </a:rPr>
              <a:t>User do not need to type in command for every actions.</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96"/>
          <p:cNvSpPr txBox="1"/>
          <p:nvPr>
            <p:ph type="title"/>
          </p:nvPr>
        </p:nvSpPr>
        <p:spPr>
          <a:xfrm>
            <a:off x="32048" y="0"/>
            <a:ext cx="8229600" cy="56207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b="1" lang="en-IN" sz="3200"/>
              <a:t>Shell Types</a:t>
            </a:r>
            <a:endParaRPr sz="3200"/>
          </a:p>
        </p:txBody>
      </p:sp>
      <p:sp>
        <p:nvSpPr>
          <p:cNvPr id="1081" name="Google Shape;1081;p96"/>
          <p:cNvSpPr txBox="1"/>
          <p:nvPr>
            <p:ph idx="1" type="body"/>
          </p:nvPr>
        </p:nvSpPr>
        <p:spPr>
          <a:xfrm>
            <a:off x="155575" y="623518"/>
            <a:ext cx="8229600" cy="5544616"/>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IN"/>
              <a:t>In UNIX there are two major types of shells:</a:t>
            </a:r>
            <a:endParaRPr/>
          </a:p>
          <a:p>
            <a:pPr indent="-182880" lvl="1" marL="384048" rtl="0" algn="l">
              <a:lnSpc>
                <a:spcPct val="90000"/>
              </a:lnSpc>
              <a:spcBef>
                <a:spcPts val="400"/>
              </a:spcBef>
              <a:spcAft>
                <a:spcPts val="0"/>
              </a:spcAft>
              <a:buSzPts val="2000"/>
              <a:buChar char="◦"/>
            </a:pPr>
            <a:r>
              <a:rPr lang="en-IN" sz="2000"/>
              <a:t>The Bourne shell. </a:t>
            </a:r>
            <a:endParaRPr/>
          </a:p>
          <a:p>
            <a:pPr indent="-182880" lvl="2" marL="566928" rtl="0" algn="l">
              <a:lnSpc>
                <a:spcPct val="90000"/>
              </a:lnSpc>
              <a:spcBef>
                <a:spcPts val="600"/>
              </a:spcBef>
              <a:spcAft>
                <a:spcPts val="0"/>
              </a:spcAft>
              <a:buSzPts val="2000"/>
              <a:buChar char="◦"/>
            </a:pPr>
            <a:r>
              <a:rPr b="1" lang="en-IN" sz="2000"/>
              <a:t>If you are using a Bourne-type shell, the default prompt is the $ character.</a:t>
            </a:r>
            <a:endParaRPr/>
          </a:p>
          <a:p>
            <a:pPr indent="-182880" lvl="1" marL="384048" rtl="0" algn="l">
              <a:lnSpc>
                <a:spcPct val="90000"/>
              </a:lnSpc>
              <a:spcBef>
                <a:spcPts val="600"/>
              </a:spcBef>
              <a:spcAft>
                <a:spcPts val="0"/>
              </a:spcAft>
              <a:buSzPts val="2000"/>
              <a:buChar char="◦"/>
            </a:pPr>
            <a:r>
              <a:rPr lang="en-IN" sz="2000"/>
              <a:t>The C shell. </a:t>
            </a:r>
            <a:endParaRPr/>
          </a:p>
          <a:p>
            <a:pPr indent="-182880" lvl="2" marL="566928" rtl="0" algn="l">
              <a:lnSpc>
                <a:spcPct val="90000"/>
              </a:lnSpc>
              <a:spcBef>
                <a:spcPts val="600"/>
              </a:spcBef>
              <a:spcAft>
                <a:spcPts val="0"/>
              </a:spcAft>
              <a:buSzPts val="2000"/>
              <a:buChar char="◦"/>
            </a:pPr>
            <a:r>
              <a:rPr b="1" lang="en-IN" sz="2000"/>
              <a:t>If you are using a C-type shell, the default prompt is the % character.</a:t>
            </a:r>
            <a:endParaRPr/>
          </a:p>
        </p:txBody>
      </p:sp>
      <p:sp>
        <p:nvSpPr>
          <p:cNvPr id="1082" name="Google Shape;1082;p9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083" name="Google Shape;1083;p9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084" name="Google Shape;1084;p9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descr="GUI shell" id="1085" name="Google Shape;1085;p96"/>
          <p:cNvSpPr/>
          <p:nvPr/>
        </p:nvSpPr>
        <p:spPr>
          <a:xfrm>
            <a:off x="155575" y="-1668463"/>
            <a:ext cx="6419850" cy="347662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GUI shell" id="1086" name="Google Shape;1086;p96"/>
          <p:cNvSpPr/>
          <p:nvPr/>
        </p:nvSpPr>
        <p:spPr>
          <a:xfrm>
            <a:off x="307975" y="-1516063"/>
            <a:ext cx="6419850" cy="347662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GUI shell" id="1087" name="Google Shape;1087;p96"/>
          <p:cNvSpPr/>
          <p:nvPr/>
        </p:nvSpPr>
        <p:spPr>
          <a:xfrm>
            <a:off x="460375" y="-1363663"/>
            <a:ext cx="6419850" cy="347662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ttps://cdn.mindmajix.com/blog/images/linux-0203-1919.png" id="1088" name="Google Shape;1088;p96"/>
          <p:cNvPicPr preferRelativeResize="0"/>
          <p:nvPr/>
        </p:nvPicPr>
        <p:blipFill rotWithShape="1">
          <a:blip r:embed="rId3">
            <a:alphaModFix/>
          </a:blip>
          <a:srcRect b="0" l="0" r="0" t="0"/>
          <a:stretch/>
        </p:blipFill>
        <p:spPr>
          <a:xfrm>
            <a:off x="4377200" y="3068157"/>
            <a:ext cx="4245122" cy="2683273"/>
          </a:xfrm>
          <a:prstGeom prst="rect">
            <a:avLst/>
          </a:prstGeom>
          <a:noFill/>
          <a:ln>
            <a:noFill/>
          </a:ln>
        </p:spPr>
      </p:pic>
      <p:sp>
        <p:nvSpPr>
          <p:cNvPr id="1089" name="Google Shape;1089;p96"/>
          <p:cNvSpPr/>
          <p:nvPr/>
        </p:nvSpPr>
        <p:spPr>
          <a:xfrm>
            <a:off x="125554" y="3326428"/>
            <a:ext cx="4493741"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000">
                <a:solidFill>
                  <a:schemeClr val="dk1"/>
                </a:solidFill>
                <a:latin typeface="Calibri"/>
                <a:ea typeface="Calibri"/>
                <a:cs typeface="Calibri"/>
                <a:sym typeface="Calibri"/>
              </a:rPr>
              <a:t>There are again various subcategories for Bourne Shell which are listed as follows −</a:t>
            </a:r>
            <a:endParaRPr/>
          </a:p>
          <a:p>
            <a:pPr indent="0" lvl="1" marL="457200" marR="0" rtl="0" algn="l">
              <a:spcBef>
                <a:spcPts val="0"/>
              </a:spcBef>
              <a:spcAft>
                <a:spcPts val="0"/>
              </a:spcAft>
              <a:buNone/>
            </a:pPr>
            <a:r>
              <a:rPr b="1" i="0" lang="en-IN" sz="2000" u="none" cap="none" strike="noStrike">
                <a:solidFill>
                  <a:schemeClr val="dk1"/>
                </a:solidFill>
                <a:latin typeface="Calibri"/>
                <a:ea typeface="Calibri"/>
                <a:cs typeface="Calibri"/>
                <a:sym typeface="Calibri"/>
              </a:rPr>
              <a:t>Bourne shell ( sh)</a:t>
            </a:r>
            <a:endParaRPr/>
          </a:p>
          <a:p>
            <a:pPr indent="0" lvl="1" marL="457200" marR="0" rtl="0" algn="l">
              <a:spcBef>
                <a:spcPts val="0"/>
              </a:spcBef>
              <a:spcAft>
                <a:spcPts val="0"/>
              </a:spcAft>
              <a:buNone/>
            </a:pPr>
            <a:r>
              <a:rPr b="1" i="0" lang="en-IN" sz="2000" u="none" cap="none" strike="noStrike">
                <a:solidFill>
                  <a:schemeClr val="dk1"/>
                </a:solidFill>
                <a:latin typeface="Calibri"/>
                <a:ea typeface="Calibri"/>
                <a:cs typeface="Calibri"/>
                <a:sym typeface="Calibri"/>
              </a:rPr>
              <a:t>Korn shell ( ksh)</a:t>
            </a:r>
            <a:endParaRPr/>
          </a:p>
          <a:p>
            <a:pPr indent="0" lvl="1" marL="457200" marR="0" rtl="0" algn="l">
              <a:spcBef>
                <a:spcPts val="0"/>
              </a:spcBef>
              <a:spcAft>
                <a:spcPts val="0"/>
              </a:spcAft>
              <a:buNone/>
            </a:pPr>
            <a:r>
              <a:rPr b="1" i="0" lang="en-IN" sz="2000" u="none" cap="none" strike="noStrike">
                <a:solidFill>
                  <a:schemeClr val="dk1"/>
                </a:solidFill>
                <a:latin typeface="Calibri"/>
                <a:ea typeface="Calibri"/>
                <a:cs typeface="Calibri"/>
                <a:sym typeface="Calibri"/>
              </a:rPr>
              <a:t>Bourne Again shell ( bash)</a:t>
            </a:r>
            <a:endParaRPr/>
          </a:p>
          <a:p>
            <a:pPr indent="0" lvl="1" marL="457200" marR="0" rtl="0" algn="l">
              <a:spcBef>
                <a:spcPts val="0"/>
              </a:spcBef>
              <a:spcAft>
                <a:spcPts val="0"/>
              </a:spcAft>
              <a:buNone/>
            </a:pPr>
            <a:r>
              <a:rPr b="1" i="0" lang="en-IN" sz="2000" u="none" cap="none" strike="noStrike">
                <a:solidFill>
                  <a:schemeClr val="dk1"/>
                </a:solidFill>
                <a:latin typeface="Calibri"/>
                <a:ea typeface="Calibri"/>
                <a:cs typeface="Calibri"/>
                <a:sym typeface="Calibri"/>
              </a:rPr>
              <a:t>POSIX shell</a:t>
            </a:r>
            <a:endParaRPr/>
          </a:p>
          <a:p>
            <a:pPr indent="0" lvl="0" marL="0" marR="0" rtl="0" algn="l">
              <a:spcBef>
                <a:spcPts val="0"/>
              </a:spcBef>
              <a:spcAft>
                <a:spcPts val="0"/>
              </a:spcAft>
              <a:buNone/>
            </a:pPr>
            <a:r>
              <a:rPr lang="en-IN" sz="2000">
                <a:solidFill>
                  <a:schemeClr val="dk1"/>
                </a:solidFill>
                <a:latin typeface="Calibri"/>
                <a:ea typeface="Calibri"/>
                <a:cs typeface="Calibri"/>
                <a:sym typeface="Calibri"/>
              </a:rPr>
              <a:t>The different C-type shells follow −</a:t>
            </a:r>
            <a:endParaRPr/>
          </a:p>
          <a:p>
            <a:pPr indent="0" lvl="1" marL="457200" marR="0" rtl="0" algn="l">
              <a:spcBef>
                <a:spcPts val="0"/>
              </a:spcBef>
              <a:spcAft>
                <a:spcPts val="0"/>
              </a:spcAft>
              <a:buNone/>
            </a:pPr>
            <a:r>
              <a:rPr b="1" i="0" lang="en-IN" sz="2000" u="none" cap="none" strike="noStrike">
                <a:solidFill>
                  <a:schemeClr val="dk1"/>
                </a:solidFill>
                <a:latin typeface="Calibri"/>
                <a:ea typeface="Calibri"/>
                <a:cs typeface="Calibri"/>
                <a:sym typeface="Calibri"/>
              </a:rPr>
              <a:t>C shell ( csh)</a:t>
            </a:r>
            <a:endParaRPr/>
          </a:p>
          <a:p>
            <a:pPr indent="0" lvl="1" marL="457200" marR="0" rtl="0" algn="l">
              <a:spcBef>
                <a:spcPts val="0"/>
              </a:spcBef>
              <a:spcAft>
                <a:spcPts val="0"/>
              </a:spcAft>
              <a:buNone/>
            </a:pPr>
            <a:r>
              <a:rPr b="1" i="0" lang="en-IN" sz="2000" u="none" cap="none" strike="noStrike">
                <a:solidFill>
                  <a:schemeClr val="dk1"/>
                </a:solidFill>
                <a:latin typeface="Calibri"/>
                <a:ea typeface="Calibri"/>
                <a:cs typeface="Calibri"/>
                <a:sym typeface="Calibri"/>
              </a:rPr>
              <a:t>TENEX/TOPS C shell ( tcsh)</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97"/>
          <p:cNvSpPr txBox="1"/>
          <p:nvPr>
            <p:ph idx="1" type="body"/>
          </p:nvPr>
        </p:nvSpPr>
        <p:spPr>
          <a:xfrm>
            <a:off x="0" y="393948"/>
            <a:ext cx="8160940" cy="6248400"/>
          </a:xfrm>
          <a:prstGeom prst="rect">
            <a:avLst/>
          </a:prstGeom>
          <a:noFill/>
          <a:ln>
            <a:noFill/>
          </a:ln>
        </p:spPr>
        <p:txBody>
          <a:bodyPr anchorCtr="0" anchor="t" bIns="45700" lIns="0" spcFirstLastPara="1" rIns="0" wrap="square" tIns="45700">
            <a:normAutofit fontScale="92500" lnSpcReduction="10000"/>
          </a:bodyPr>
          <a:lstStyle/>
          <a:p>
            <a:pPr indent="0" lvl="0" marL="114300" rtl="0" algn="l">
              <a:lnSpc>
                <a:spcPct val="90000"/>
              </a:lnSpc>
              <a:spcBef>
                <a:spcPts val="0"/>
              </a:spcBef>
              <a:spcAft>
                <a:spcPts val="0"/>
              </a:spcAft>
              <a:buSzPct val="100000"/>
              <a:buNone/>
            </a:pPr>
            <a:r>
              <a:rPr b="1" lang="en-IN" sz="2800"/>
              <a:t>Bourne Shell</a:t>
            </a:r>
            <a:endParaRPr/>
          </a:p>
          <a:p>
            <a:pPr indent="-182880" lvl="1" marL="384048" rtl="0" algn="l">
              <a:lnSpc>
                <a:spcPct val="90000"/>
              </a:lnSpc>
              <a:spcBef>
                <a:spcPts val="400"/>
              </a:spcBef>
              <a:spcAft>
                <a:spcPts val="0"/>
              </a:spcAft>
              <a:buSzPct val="100000"/>
              <a:buChar char="◦"/>
            </a:pPr>
            <a:r>
              <a:rPr lang="en-IN" sz="2400"/>
              <a:t>The original UNIX shell was written in the </a:t>
            </a:r>
            <a:r>
              <a:rPr b="1" lang="en-IN" sz="2400"/>
              <a:t>mid-1970s by Stephen R. Bourne while he was at AT&amp;T Bell Labs in New Jersey.</a:t>
            </a:r>
            <a:endParaRPr/>
          </a:p>
          <a:p>
            <a:pPr indent="-182880" lvl="1" marL="384048" rtl="0" algn="l">
              <a:lnSpc>
                <a:spcPct val="90000"/>
              </a:lnSpc>
              <a:spcBef>
                <a:spcPts val="600"/>
              </a:spcBef>
              <a:spcAft>
                <a:spcPts val="0"/>
              </a:spcAft>
              <a:buSzPct val="100000"/>
              <a:buChar char="◦"/>
            </a:pPr>
            <a:r>
              <a:rPr b="1" lang="en-IN" sz="2400"/>
              <a:t>The Bourne shell was the first shell to appear on UNIX systems, thus it is referred to as "the shell".</a:t>
            </a:r>
            <a:endParaRPr/>
          </a:p>
          <a:p>
            <a:pPr indent="-182880" lvl="1" marL="384048" rtl="0" algn="l">
              <a:lnSpc>
                <a:spcPct val="90000"/>
              </a:lnSpc>
              <a:spcBef>
                <a:spcPts val="600"/>
              </a:spcBef>
              <a:spcAft>
                <a:spcPts val="0"/>
              </a:spcAft>
              <a:buSzPct val="100000"/>
              <a:buChar char="◦"/>
            </a:pPr>
            <a:r>
              <a:rPr lang="en-IN" sz="2400"/>
              <a:t>Denoted as </a:t>
            </a:r>
            <a:r>
              <a:rPr b="1" lang="en-IN" sz="2400"/>
              <a:t>sh</a:t>
            </a:r>
            <a:r>
              <a:rPr lang="en-IN" sz="2400"/>
              <a:t> </a:t>
            </a:r>
            <a:endParaRPr/>
          </a:p>
          <a:p>
            <a:pPr indent="-182880" lvl="1" marL="384048" rtl="0" algn="l">
              <a:lnSpc>
                <a:spcPct val="90000"/>
              </a:lnSpc>
              <a:spcBef>
                <a:spcPts val="600"/>
              </a:spcBef>
              <a:spcAft>
                <a:spcPts val="0"/>
              </a:spcAft>
              <a:buSzPct val="100000"/>
              <a:buChar char="◦"/>
            </a:pPr>
            <a:r>
              <a:rPr lang="en-IN" sz="2400"/>
              <a:t>It is the </a:t>
            </a:r>
            <a:r>
              <a:rPr b="1" lang="en-IN" sz="2400"/>
              <a:t>original UNIX shell</a:t>
            </a:r>
            <a:r>
              <a:rPr lang="en-IN" sz="2400"/>
              <a:t>. </a:t>
            </a:r>
            <a:endParaRPr/>
          </a:p>
          <a:p>
            <a:pPr indent="-182880" lvl="1" marL="384048" rtl="0" algn="l">
              <a:lnSpc>
                <a:spcPct val="90000"/>
              </a:lnSpc>
              <a:spcBef>
                <a:spcPts val="600"/>
              </a:spcBef>
              <a:spcAft>
                <a:spcPts val="0"/>
              </a:spcAft>
              <a:buSzPct val="100000"/>
              <a:buChar char="◦"/>
            </a:pPr>
            <a:r>
              <a:rPr lang="en-IN" sz="2400"/>
              <a:t>It is faster and more preferred. </a:t>
            </a:r>
            <a:endParaRPr/>
          </a:p>
          <a:p>
            <a:pPr indent="-182880" lvl="1" marL="384048" rtl="0" algn="l">
              <a:lnSpc>
                <a:spcPct val="90000"/>
              </a:lnSpc>
              <a:spcBef>
                <a:spcPts val="600"/>
              </a:spcBef>
              <a:spcAft>
                <a:spcPts val="0"/>
              </a:spcAft>
              <a:buSzPct val="100000"/>
              <a:buChar char="◦"/>
            </a:pPr>
            <a:r>
              <a:rPr b="1" lang="en-IN" sz="2400"/>
              <a:t>It lacks features for interactive use like the ability to recall previous commands. </a:t>
            </a:r>
            <a:endParaRPr/>
          </a:p>
          <a:p>
            <a:pPr indent="-182880" lvl="1" marL="384048" rtl="0" algn="l">
              <a:lnSpc>
                <a:spcPct val="90000"/>
              </a:lnSpc>
              <a:spcBef>
                <a:spcPts val="600"/>
              </a:spcBef>
              <a:spcAft>
                <a:spcPts val="0"/>
              </a:spcAft>
              <a:buSzPct val="100000"/>
              <a:buChar char="◦"/>
            </a:pPr>
            <a:r>
              <a:rPr b="1" lang="en-IN" sz="2400"/>
              <a:t>It also lacks built-in arithmetic and logical expression handling. </a:t>
            </a:r>
            <a:endParaRPr/>
          </a:p>
          <a:p>
            <a:pPr indent="-182880" lvl="1" marL="384048" rtl="0" algn="l">
              <a:lnSpc>
                <a:spcPct val="90000"/>
              </a:lnSpc>
              <a:spcBef>
                <a:spcPts val="600"/>
              </a:spcBef>
              <a:spcAft>
                <a:spcPts val="0"/>
              </a:spcAft>
              <a:buSzPct val="100000"/>
              <a:buChar char="◦"/>
            </a:pPr>
            <a:r>
              <a:rPr lang="en-IN" sz="2400"/>
              <a:t>It is default shell for Solaris OS.</a:t>
            </a:r>
            <a:endParaRPr/>
          </a:p>
          <a:p>
            <a:pPr indent="0" lvl="0" marL="114300" rtl="0" algn="l">
              <a:lnSpc>
                <a:spcPct val="90000"/>
              </a:lnSpc>
              <a:spcBef>
                <a:spcPts val="1600"/>
              </a:spcBef>
              <a:spcAft>
                <a:spcPts val="0"/>
              </a:spcAft>
              <a:buSzPct val="100000"/>
              <a:buNone/>
            </a:pPr>
            <a:r>
              <a:rPr b="1" lang="en-IN" sz="2800"/>
              <a:t>CSH (C SHell)</a:t>
            </a:r>
            <a:endParaRPr/>
          </a:p>
          <a:p>
            <a:pPr indent="-182879" lvl="1" marL="384048" rtl="0" algn="l">
              <a:lnSpc>
                <a:spcPct val="90000"/>
              </a:lnSpc>
              <a:spcBef>
                <a:spcPts val="400"/>
              </a:spcBef>
              <a:spcAft>
                <a:spcPts val="0"/>
              </a:spcAft>
              <a:buSzPct val="100000"/>
              <a:buChar char="◦"/>
            </a:pPr>
            <a:r>
              <a:rPr lang="en-IN"/>
              <a:t>Denoted as csh </a:t>
            </a:r>
            <a:endParaRPr/>
          </a:p>
          <a:p>
            <a:pPr indent="-182879" lvl="1" marL="384048" rtl="0" algn="l">
              <a:lnSpc>
                <a:spcPct val="90000"/>
              </a:lnSpc>
              <a:spcBef>
                <a:spcPts val="600"/>
              </a:spcBef>
              <a:spcAft>
                <a:spcPts val="0"/>
              </a:spcAft>
              <a:buSzPct val="100000"/>
              <a:buChar char="◦"/>
            </a:pPr>
            <a:r>
              <a:rPr lang="en-IN"/>
              <a:t>Bill Joy created it at the University of California at Berkeley. </a:t>
            </a:r>
            <a:endParaRPr/>
          </a:p>
          <a:p>
            <a:pPr indent="-182879" lvl="1" marL="384048" rtl="0" algn="l">
              <a:lnSpc>
                <a:spcPct val="90000"/>
              </a:lnSpc>
              <a:spcBef>
                <a:spcPts val="600"/>
              </a:spcBef>
              <a:spcAft>
                <a:spcPts val="0"/>
              </a:spcAft>
              <a:buSzPct val="100000"/>
              <a:buChar char="◦"/>
            </a:pPr>
            <a:r>
              <a:rPr b="1" lang="en-IN"/>
              <a:t>It incorporated features such as aliases and command history. </a:t>
            </a:r>
            <a:endParaRPr/>
          </a:p>
          <a:p>
            <a:pPr indent="-182879" lvl="1" marL="384048" rtl="0" algn="l">
              <a:lnSpc>
                <a:spcPct val="90000"/>
              </a:lnSpc>
              <a:spcBef>
                <a:spcPts val="600"/>
              </a:spcBef>
              <a:spcAft>
                <a:spcPts val="0"/>
              </a:spcAft>
              <a:buSzPct val="100000"/>
              <a:buChar char="◦"/>
            </a:pPr>
            <a:r>
              <a:rPr b="1" lang="en-IN"/>
              <a:t>It includes helpful programming features like built-in arithmetic and C-like expression syntax.</a:t>
            </a:r>
            <a:endParaRPr/>
          </a:p>
          <a:p>
            <a:pPr indent="-182879" lvl="1" marL="384048" rtl="0" algn="l">
              <a:lnSpc>
                <a:spcPct val="90000"/>
              </a:lnSpc>
              <a:spcBef>
                <a:spcPts val="600"/>
              </a:spcBef>
              <a:spcAft>
                <a:spcPts val="0"/>
              </a:spcAft>
              <a:buSzPct val="100000"/>
              <a:buChar char="◦"/>
            </a:pPr>
            <a:r>
              <a:rPr b="1" lang="en-IN" u="sng"/>
              <a:t>The C shell’s syntax and usage are very similar to the C programming language.</a:t>
            </a:r>
            <a:endParaRPr/>
          </a:p>
          <a:p>
            <a:pPr indent="0" lvl="0" marL="114300" rtl="0" algn="l">
              <a:lnSpc>
                <a:spcPct val="90000"/>
              </a:lnSpc>
              <a:spcBef>
                <a:spcPts val="1600"/>
              </a:spcBef>
              <a:spcAft>
                <a:spcPts val="0"/>
              </a:spcAft>
              <a:buSzPct val="100000"/>
              <a:buNone/>
            </a:pPr>
            <a:r>
              <a:t/>
            </a:r>
            <a:endParaRPr b="1" sz="2400"/>
          </a:p>
        </p:txBody>
      </p:sp>
      <p:sp>
        <p:nvSpPr>
          <p:cNvPr id="1095" name="Google Shape;1095;p9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096" name="Google Shape;1096;p9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097" name="Google Shape;1097;p9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098" name="Google Shape;1098;p97"/>
          <p:cNvSpPr txBox="1"/>
          <p:nvPr/>
        </p:nvSpPr>
        <p:spPr>
          <a:xfrm>
            <a:off x="251520" y="14469"/>
            <a:ext cx="7024744"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3200"/>
              <a:buFont typeface="Calibri"/>
              <a:buNone/>
            </a:pPr>
            <a:r>
              <a:rPr b="1" lang="en-IN" sz="3200">
                <a:solidFill>
                  <a:schemeClr val="accent1"/>
                </a:solidFill>
                <a:latin typeface="Calibri"/>
                <a:ea typeface="Calibri"/>
                <a:cs typeface="Calibri"/>
                <a:sym typeface="Calibri"/>
              </a:rPr>
              <a:t>Shell Types</a:t>
            </a:r>
            <a:endParaRPr b="1" sz="3200">
              <a:solidFill>
                <a:schemeClr val="accent1"/>
              </a:solidFill>
              <a:latin typeface="Calibri"/>
              <a:ea typeface="Calibri"/>
              <a:cs typeface="Calibri"/>
              <a:sym typeface="Calibri"/>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p98"/>
          <p:cNvSpPr txBox="1"/>
          <p:nvPr>
            <p:ph type="title"/>
          </p:nvPr>
        </p:nvSpPr>
        <p:spPr>
          <a:xfrm>
            <a:off x="30882" y="114908"/>
            <a:ext cx="3172966" cy="494692"/>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b="1" lang="en-IN" sz="3200"/>
              <a:t>The Korn Shell</a:t>
            </a:r>
            <a:endParaRPr sz="3200"/>
          </a:p>
        </p:txBody>
      </p:sp>
      <p:sp>
        <p:nvSpPr>
          <p:cNvPr id="1104" name="Google Shape;1104;p98"/>
          <p:cNvSpPr txBox="1"/>
          <p:nvPr>
            <p:ph idx="1" type="body"/>
          </p:nvPr>
        </p:nvSpPr>
        <p:spPr>
          <a:xfrm>
            <a:off x="65212" y="647698"/>
            <a:ext cx="8466576" cy="6210301"/>
          </a:xfrm>
          <a:prstGeom prst="rect">
            <a:avLst/>
          </a:prstGeom>
          <a:noFill/>
          <a:ln>
            <a:noFill/>
          </a:ln>
        </p:spPr>
        <p:txBody>
          <a:bodyPr anchorCtr="0" anchor="t" bIns="45700" lIns="0" spcFirstLastPara="1" rIns="0" wrap="square" tIns="45700">
            <a:noAutofit/>
          </a:bodyPr>
          <a:lstStyle/>
          <a:p>
            <a:pPr indent="-127000" lvl="0" marL="91440" rtl="0" algn="l">
              <a:lnSpc>
                <a:spcPct val="90000"/>
              </a:lnSpc>
              <a:spcBef>
                <a:spcPts val="0"/>
              </a:spcBef>
              <a:spcAft>
                <a:spcPts val="0"/>
              </a:spcAft>
              <a:buSzPts val="2000"/>
              <a:buFont typeface="Noto Sans Symbols"/>
              <a:buChar char="❑"/>
            </a:pPr>
            <a:r>
              <a:rPr lang="en-IN" sz="2000"/>
              <a:t>It is denoted as </a:t>
            </a:r>
            <a:r>
              <a:rPr b="1" lang="en-IN" sz="2000"/>
              <a:t>ksh</a:t>
            </a:r>
            <a:r>
              <a:rPr lang="en-IN" sz="2000"/>
              <a:t> </a:t>
            </a:r>
            <a:endParaRPr sz="2000"/>
          </a:p>
          <a:p>
            <a:pPr indent="-127000" lvl="0" marL="91440" rtl="0" algn="l">
              <a:lnSpc>
                <a:spcPct val="90000"/>
              </a:lnSpc>
              <a:spcBef>
                <a:spcPts val="200"/>
              </a:spcBef>
              <a:spcAft>
                <a:spcPts val="0"/>
              </a:spcAft>
              <a:buSzPts val="2000"/>
              <a:buFont typeface="Noto Sans Symbols"/>
              <a:buChar char="❑"/>
            </a:pPr>
            <a:r>
              <a:rPr lang="en-IN" sz="2000"/>
              <a:t>It Was written by David Korn at AT&amp;T Bell Labs.</a:t>
            </a:r>
            <a:endParaRPr/>
          </a:p>
          <a:p>
            <a:pPr indent="-127000" lvl="0" marL="91440" rtl="0" algn="l">
              <a:lnSpc>
                <a:spcPct val="90000"/>
              </a:lnSpc>
              <a:spcBef>
                <a:spcPts val="200"/>
              </a:spcBef>
              <a:spcAft>
                <a:spcPts val="0"/>
              </a:spcAft>
              <a:buSzPts val="2000"/>
              <a:buFont typeface="Noto Sans Symbols"/>
              <a:buChar char="❑"/>
            </a:pPr>
            <a:r>
              <a:rPr lang="en-IN" sz="2000"/>
              <a:t>It is a superset of the Bourne shell. So it supports everything in the Bourne shell.</a:t>
            </a:r>
            <a:endParaRPr/>
          </a:p>
          <a:p>
            <a:pPr indent="-127000" lvl="0" marL="91440" rtl="0" algn="l">
              <a:lnSpc>
                <a:spcPct val="90000"/>
              </a:lnSpc>
              <a:spcBef>
                <a:spcPts val="200"/>
              </a:spcBef>
              <a:spcAft>
                <a:spcPts val="0"/>
              </a:spcAft>
              <a:buSzPts val="2000"/>
              <a:buFont typeface="Noto Sans Symbols"/>
              <a:buChar char="❑"/>
            </a:pPr>
            <a:r>
              <a:rPr lang="en-IN" sz="2000"/>
              <a:t>KSH (Korn SHell) – The Korn Shell also was the base for the POSIX Shell standard specifications etc.</a:t>
            </a:r>
            <a:endParaRPr/>
          </a:p>
          <a:p>
            <a:pPr indent="-127000" lvl="0" marL="91440" rtl="0" algn="l">
              <a:lnSpc>
                <a:spcPct val="90000"/>
              </a:lnSpc>
              <a:spcBef>
                <a:spcPts val="200"/>
              </a:spcBef>
              <a:spcAft>
                <a:spcPts val="0"/>
              </a:spcAft>
              <a:buSzPts val="2000"/>
              <a:buFont typeface="Noto Sans Symbols"/>
              <a:buChar char="❑"/>
            </a:pPr>
            <a:r>
              <a:rPr lang="en-IN" sz="2000"/>
              <a:t>It has interactive features. </a:t>
            </a:r>
            <a:endParaRPr sz="2000"/>
          </a:p>
          <a:p>
            <a:pPr indent="-127000" lvl="0" marL="91440" rtl="0" algn="l">
              <a:lnSpc>
                <a:spcPct val="90000"/>
              </a:lnSpc>
              <a:spcBef>
                <a:spcPts val="200"/>
              </a:spcBef>
              <a:spcAft>
                <a:spcPts val="0"/>
              </a:spcAft>
              <a:buSzPts val="2000"/>
              <a:buFont typeface="Noto Sans Symbols"/>
              <a:buChar char="❑"/>
            </a:pPr>
            <a:r>
              <a:rPr lang="en-IN" sz="2000"/>
              <a:t>It includes features like built-in arithmetic and C-like arrays, functions, and string-manipulation facilities.</a:t>
            </a:r>
            <a:endParaRPr/>
          </a:p>
          <a:p>
            <a:pPr indent="-127000" lvl="0" marL="91440" rtl="0" algn="l">
              <a:lnSpc>
                <a:spcPct val="90000"/>
              </a:lnSpc>
              <a:spcBef>
                <a:spcPts val="200"/>
              </a:spcBef>
              <a:spcAft>
                <a:spcPts val="0"/>
              </a:spcAft>
              <a:buSzPts val="2000"/>
              <a:buFont typeface="Noto Sans Symbols"/>
              <a:buChar char="❑"/>
            </a:pPr>
            <a:r>
              <a:rPr lang="en-IN" sz="2000"/>
              <a:t>It is faster than C shell. It is compatible with script written for C shell.</a:t>
            </a:r>
            <a:endParaRPr/>
          </a:p>
          <a:p>
            <a:pPr indent="0" lvl="0" marL="114300" rtl="0" algn="l">
              <a:lnSpc>
                <a:spcPct val="90000"/>
              </a:lnSpc>
              <a:spcBef>
                <a:spcPts val="200"/>
              </a:spcBef>
              <a:spcAft>
                <a:spcPts val="0"/>
              </a:spcAft>
              <a:buSzPts val="3200"/>
              <a:buNone/>
            </a:pPr>
            <a:r>
              <a:rPr b="1" lang="en-IN" sz="3200">
                <a:solidFill>
                  <a:schemeClr val="dk2"/>
                </a:solidFill>
                <a:latin typeface="Calibri"/>
                <a:ea typeface="Calibri"/>
                <a:cs typeface="Calibri"/>
                <a:sym typeface="Calibri"/>
              </a:rPr>
              <a:t>GNU Bourne-Again Shell</a:t>
            </a:r>
            <a:endParaRPr/>
          </a:p>
          <a:p>
            <a:pPr indent="-127000" lvl="0" marL="91440" rtl="0" algn="l">
              <a:lnSpc>
                <a:spcPct val="90000"/>
              </a:lnSpc>
              <a:spcBef>
                <a:spcPts val="200"/>
              </a:spcBef>
              <a:spcAft>
                <a:spcPts val="0"/>
              </a:spcAft>
              <a:buSzPts val="2000"/>
              <a:buFont typeface="Noto Sans Symbols"/>
              <a:buChar char="❑"/>
            </a:pPr>
            <a:r>
              <a:rPr lang="en-IN"/>
              <a:t>Denoted as bash </a:t>
            </a:r>
            <a:endParaRPr/>
          </a:p>
          <a:p>
            <a:pPr indent="-127000" lvl="0" marL="91440" rtl="0" algn="l">
              <a:lnSpc>
                <a:spcPct val="90000"/>
              </a:lnSpc>
              <a:spcBef>
                <a:spcPts val="200"/>
              </a:spcBef>
              <a:spcAft>
                <a:spcPts val="0"/>
              </a:spcAft>
              <a:buSzPts val="2000"/>
              <a:buFont typeface="Noto Sans Symbols"/>
              <a:buChar char="❑"/>
            </a:pPr>
            <a:r>
              <a:rPr lang="en-IN"/>
              <a:t>It is compatible to the Bourne shell. </a:t>
            </a:r>
            <a:endParaRPr/>
          </a:p>
          <a:p>
            <a:pPr indent="-127000" lvl="0" marL="91440" rtl="0" algn="l">
              <a:lnSpc>
                <a:spcPct val="90000"/>
              </a:lnSpc>
              <a:spcBef>
                <a:spcPts val="200"/>
              </a:spcBef>
              <a:spcAft>
                <a:spcPts val="0"/>
              </a:spcAft>
              <a:buSzPts val="2000"/>
              <a:buFont typeface="Noto Sans Symbols"/>
              <a:buChar char="❑"/>
            </a:pPr>
            <a:r>
              <a:rPr lang="en-IN"/>
              <a:t>It includes features from Korn and Bourne shell.</a:t>
            </a:r>
            <a:endParaRPr/>
          </a:p>
          <a:p>
            <a:pPr indent="-127000" lvl="0" marL="91440" rtl="0" algn="l">
              <a:lnSpc>
                <a:spcPct val="90000"/>
              </a:lnSpc>
              <a:spcBef>
                <a:spcPts val="200"/>
              </a:spcBef>
              <a:spcAft>
                <a:spcPts val="0"/>
              </a:spcAft>
              <a:buSzPts val="2000"/>
              <a:buFont typeface="Noto Sans Symbols"/>
              <a:buChar char="❑"/>
            </a:pPr>
            <a:r>
              <a:rPr lang="en-IN"/>
              <a:t>It is most widely used shell in Linux systems. </a:t>
            </a:r>
            <a:endParaRPr/>
          </a:p>
          <a:p>
            <a:pPr indent="-127000" lvl="0" marL="91440" rtl="0" algn="l">
              <a:lnSpc>
                <a:spcPct val="90000"/>
              </a:lnSpc>
              <a:spcBef>
                <a:spcPts val="200"/>
              </a:spcBef>
              <a:spcAft>
                <a:spcPts val="0"/>
              </a:spcAft>
              <a:buSzPts val="2000"/>
              <a:buFont typeface="Noto Sans Symbols"/>
              <a:buChar char="❑"/>
            </a:pPr>
            <a:r>
              <a:rPr lang="en-IN"/>
              <a:t>It is used as default login shell in Linux systems and in macOS. It can also be </a:t>
            </a:r>
            <a:r>
              <a:rPr lang="en-IN" sz="2000"/>
              <a:t>installed on Windows OS.</a:t>
            </a:r>
            <a:endParaRPr/>
          </a:p>
          <a:p>
            <a:pPr indent="0" lvl="0" marL="114300" rtl="0" algn="l">
              <a:lnSpc>
                <a:spcPct val="90000"/>
              </a:lnSpc>
              <a:spcBef>
                <a:spcPts val="200"/>
              </a:spcBef>
              <a:spcAft>
                <a:spcPts val="0"/>
              </a:spcAft>
              <a:buSzPts val="3200"/>
              <a:buNone/>
            </a:pPr>
            <a:r>
              <a:t/>
            </a:r>
            <a:endParaRPr b="1" sz="3200">
              <a:solidFill>
                <a:schemeClr val="dk2"/>
              </a:solidFill>
              <a:latin typeface="Calibri"/>
              <a:ea typeface="Calibri"/>
              <a:cs typeface="Calibri"/>
              <a:sym typeface="Calibri"/>
            </a:endParaRPr>
          </a:p>
          <a:p>
            <a:pPr indent="0" lvl="0" marL="91440" rtl="0" algn="l">
              <a:lnSpc>
                <a:spcPct val="90000"/>
              </a:lnSpc>
              <a:spcBef>
                <a:spcPts val="1400"/>
              </a:spcBef>
              <a:spcAft>
                <a:spcPts val="0"/>
              </a:spcAft>
              <a:buSzPts val="2400"/>
              <a:buNone/>
            </a:pPr>
            <a:r>
              <a:t/>
            </a:r>
            <a:endParaRPr sz="2400"/>
          </a:p>
        </p:txBody>
      </p:sp>
      <p:sp>
        <p:nvSpPr>
          <p:cNvPr id="1105" name="Google Shape;1105;p9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106" name="Google Shape;1106;p9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107" name="Google Shape;1107;p9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99"/>
          <p:cNvSpPr txBox="1"/>
          <p:nvPr>
            <p:ph type="title"/>
          </p:nvPr>
        </p:nvSpPr>
        <p:spPr>
          <a:xfrm>
            <a:off x="14908" y="98773"/>
            <a:ext cx="1450504" cy="334962"/>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sz="3200"/>
              <a:t>GNU</a:t>
            </a:r>
            <a:endParaRPr sz="3200"/>
          </a:p>
        </p:txBody>
      </p:sp>
      <p:sp>
        <p:nvSpPr>
          <p:cNvPr id="1113" name="Google Shape;1113;p99"/>
          <p:cNvSpPr txBox="1"/>
          <p:nvPr>
            <p:ph idx="1" type="body"/>
          </p:nvPr>
        </p:nvSpPr>
        <p:spPr>
          <a:xfrm>
            <a:off x="48072" y="609600"/>
            <a:ext cx="7620000" cy="480060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en-IN" sz="2000"/>
              <a:t>GNU is an operating system </a:t>
            </a:r>
            <a:r>
              <a:rPr lang="en-IN" sz="2000"/>
              <a:t>and also an extensive collection of utility programmes wholly free software and also the project within which the free software concept originated</a:t>
            </a:r>
            <a:endParaRPr/>
          </a:p>
          <a:p>
            <a:pPr indent="-127000" lvl="0" marL="91440" rtl="0" algn="l">
              <a:lnSpc>
                <a:spcPct val="90000"/>
              </a:lnSpc>
              <a:spcBef>
                <a:spcPts val="1400"/>
              </a:spcBef>
              <a:spcAft>
                <a:spcPts val="0"/>
              </a:spcAft>
              <a:buSzPts val="2000"/>
              <a:buChar char=" "/>
            </a:pPr>
            <a:r>
              <a:rPr lang="en-IN" sz="2000"/>
              <a:t>GNU is a recursive acronym for "GNU's Not Unix!“</a:t>
            </a:r>
            <a:endParaRPr/>
          </a:p>
          <a:p>
            <a:pPr indent="-127000" lvl="0" marL="91440" rtl="0" algn="l">
              <a:lnSpc>
                <a:spcPct val="90000"/>
              </a:lnSpc>
              <a:spcBef>
                <a:spcPts val="1400"/>
              </a:spcBef>
              <a:spcAft>
                <a:spcPts val="0"/>
              </a:spcAft>
              <a:buSzPts val="2000"/>
              <a:buChar char=" "/>
            </a:pPr>
            <a:r>
              <a:rPr b="1" lang="en-IN" sz="2000"/>
              <a:t>Chosen because GNU's design is Unix-like, but differs from Unix by being free software and containing no Unix code.</a:t>
            </a:r>
            <a:endParaRPr b="1" sz="2000"/>
          </a:p>
        </p:txBody>
      </p:sp>
      <p:sp>
        <p:nvSpPr>
          <p:cNvPr id="1114" name="Google Shape;1114;p9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115" name="Google Shape;1115;p9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116" name="Google Shape;1116;p9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100"/>
          <p:cNvSpPr txBox="1"/>
          <p:nvPr>
            <p:ph type="title"/>
          </p:nvPr>
        </p:nvSpPr>
        <p:spPr>
          <a:xfrm>
            <a:off x="25946" y="38100"/>
            <a:ext cx="7570390" cy="571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200"/>
              <a:buFont typeface="Calibri"/>
              <a:buNone/>
            </a:pPr>
            <a:r>
              <a:rPr b="1" lang="en-IN" sz="3200"/>
              <a:t>Shell Scripting</a:t>
            </a:r>
            <a:endParaRPr sz="3200"/>
          </a:p>
        </p:txBody>
      </p:sp>
      <p:sp>
        <p:nvSpPr>
          <p:cNvPr id="1122" name="Google Shape;1122;p100"/>
          <p:cNvSpPr txBox="1"/>
          <p:nvPr>
            <p:ph idx="1" type="body"/>
          </p:nvPr>
        </p:nvSpPr>
        <p:spPr>
          <a:xfrm>
            <a:off x="25946" y="647698"/>
            <a:ext cx="8505842" cy="6210302"/>
          </a:xfrm>
          <a:prstGeom prst="rect">
            <a:avLst/>
          </a:prstGeom>
          <a:noFill/>
          <a:ln>
            <a:noFill/>
          </a:ln>
        </p:spPr>
        <p:txBody>
          <a:bodyPr anchorCtr="0" anchor="t" bIns="45700" lIns="0" spcFirstLastPara="1" rIns="0" wrap="square" tIns="45700">
            <a:normAutofit fontScale="92500" lnSpcReduction="20000"/>
          </a:bodyPr>
          <a:lstStyle/>
          <a:p>
            <a:pPr indent="-140970" lvl="0" marL="91440" rtl="0" algn="l">
              <a:lnSpc>
                <a:spcPct val="90000"/>
              </a:lnSpc>
              <a:spcBef>
                <a:spcPts val="0"/>
              </a:spcBef>
              <a:spcAft>
                <a:spcPts val="0"/>
              </a:spcAft>
              <a:buSzPct val="100000"/>
              <a:buChar char=" "/>
            </a:pPr>
            <a:r>
              <a:rPr lang="en-IN" sz="2400"/>
              <a:t>Usually shells are interactive that mean, </a:t>
            </a:r>
            <a:endParaRPr sz="2400"/>
          </a:p>
          <a:p>
            <a:pPr indent="-182880" lvl="1" marL="384048" rtl="0" algn="l">
              <a:lnSpc>
                <a:spcPct val="90000"/>
              </a:lnSpc>
              <a:spcBef>
                <a:spcPts val="400"/>
              </a:spcBef>
              <a:spcAft>
                <a:spcPts val="0"/>
              </a:spcAft>
              <a:buSzPct val="100000"/>
              <a:buChar char="◦"/>
            </a:pPr>
            <a:r>
              <a:rPr lang="en-IN" sz="2400"/>
              <a:t>they accept command as input from users and execute them. </a:t>
            </a:r>
            <a:endParaRPr/>
          </a:p>
          <a:p>
            <a:pPr indent="0" lvl="1" marL="411480" rtl="0" algn="l">
              <a:lnSpc>
                <a:spcPct val="90000"/>
              </a:lnSpc>
              <a:spcBef>
                <a:spcPts val="600"/>
              </a:spcBef>
              <a:spcAft>
                <a:spcPts val="0"/>
              </a:spcAft>
              <a:buSzPct val="100000"/>
              <a:buNone/>
            </a:pPr>
            <a:r>
              <a:rPr lang="en-IN" sz="2400"/>
              <a:t>To execute a bunch of commands routinely, </a:t>
            </a:r>
            <a:endParaRPr sz="2400"/>
          </a:p>
          <a:p>
            <a:pPr indent="-182880" lvl="1" marL="384048" rtl="0" algn="l">
              <a:lnSpc>
                <a:spcPct val="90000"/>
              </a:lnSpc>
              <a:spcBef>
                <a:spcPts val="600"/>
              </a:spcBef>
              <a:spcAft>
                <a:spcPts val="0"/>
              </a:spcAft>
              <a:buSzPct val="100000"/>
              <a:buChar char="◦"/>
            </a:pPr>
            <a:r>
              <a:rPr b="1" lang="en-IN" sz="2400"/>
              <a:t>so we have to type in all commands each time in terminal.</a:t>
            </a:r>
            <a:endParaRPr/>
          </a:p>
          <a:p>
            <a:pPr indent="-140970" lvl="0" marL="91440" rtl="0" algn="l">
              <a:lnSpc>
                <a:spcPct val="90000"/>
              </a:lnSpc>
              <a:spcBef>
                <a:spcPts val="1600"/>
              </a:spcBef>
              <a:spcAft>
                <a:spcPts val="0"/>
              </a:spcAft>
              <a:buSzPct val="100000"/>
              <a:buChar char=" "/>
            </a:pPr>
            <a:r>
              <a:rPr lang="en-IN" sz="2400"/>
              <a:t>As shell can also take commands </a:t>
            </a:r>
            <a:endParaRPr/>
          </a:p>
          <a:p>
            <a:pPr indent="-182880" lvl="1" marL="384048" rtl="0" algn="l">
              <a:lnSpc>
                <a:spcPct val="90000"/>
              </a:lnSpc>
              <a:spcBef>
                <a:spcPts val="400"/>
              </a:spcBef>
              <a:spcAft>
                <a:spcPts val="0"/>
              </a:spcAft>
              <a:buSzPct val="100000"/>
              <a:buChar char="◦"/>
            </a:pPr>
            <a:r>
              <a:rPr b="1" lang="en-IN" sz="2400"/>
              <a:t>as input from file we can write these commands in a file </a:t>
            </a:r>
            <a:endParaRPr/>
          </a:p>
          <a:p>
            <a:pPr indent="-182880" lvl="1" marL="384048" rtl="0" algn="l">
              <a:lnSpc>
                <a:spcPct val="90000"/>
              </a:lnSpc>
              <a:spcBef>
                <a:spcPts val="600"/>
              </a:spcBef>
              <a:spcAft>
                <a:spcPts val="0"/>
              </a:spcAft>
              <a:buSzPct val="100000"/>
              <a:buChar char="◦"/>
            </a:pPr>
            <a:r>
              <a:rPr lang="en-IN" sz="2400"/>
              <a:t>can execute them in shell to avoid this repetitive work. </a:t>
            </a:r>
            <a:endParaRPr/>
          </a:p>
          <a:p>
            <a:pPr indent="-182880" lvl="1" marL="384048" rtl="0" algn="l">
              <a:lnSpc>
                <a:spcPct val="90000"/>
              </a:lnSpc>
              <a:spcBef>
                <a:spcPts val="600"/>
              </a:spcBef>
              <a:spcAft>
                <a:spcPts val="0"/>
              </a:spcAft>
              <a:buSzPct val="100000"/>
              <a:buChar char="◦"/>
            </a:pPr>
            <a:r>
              <a:rPr lang="en-IN" sz="2400"/>
              <a:t>These files are called </a:t>
            </a:r>
            <a:r>
              <a:rPr b="1" lang="en-IN" sz="2400"/>
              <a:t>Shell Scripts or Shell Programs. </a:t>
            </a:r>
            <a:endParaRPr/>
          </a:p>
          <a:p>
            <a:pPr indent="-182880" lvl="1" marL="384048" rtl="0" algn="l">
              <a:lnSpc>
                <a:spcPct val="90000"/>
              </a:lnSpc>
              <a:spcBef>
                <a:spcPts val="600"/>
              </a:spcBef>
              <a:spcAft>
                <a:spcPts val="0"/>
              </a:spcAft>
              <a:buSzPct val="100000"/>
              <a:buChar char="◦"/>
            </a:pPr>
            <a:r>
              <a:rPr lang="en-IN" sz="2400"/>
              <a:t>Shell scripts are </a:t>
            </a:r>
            <a:r>
              <a:rPr b="1" lang="en-IN" sz="2400"/>
              <a:t>similar to the batch file in MS-DOS. </a:t>
            </a:r>
            <a:endParaRPr/>
          </a:p>
          <a:p>
            <a:pPr indent="-182880" lvl="1" marL="384048" rtl="0" algn="l">
              <a:lnSpc>
                <a:spcPct val="90000"/>
              </a:lnSpc>
              <a:spcBef>
                <a:spcPts val="600"/>
              </a:spcBef>
              <a:spcAft>
                <a:spcPts val="0"/>
              </a:spcAft>
              <a:buSzPct val="100000"/>
              <a:buChar char="◦"/>
            </a:pPr>
            <a:r>
              <a:rPr lang="en-IN" sz="2400"/>
              <a:t>Each shell script is saved with </a:t>
            </a:r>
            <a:r>
              <a:rPr b="1" lang="en-IN" sz="2400"/>
              <a:t>.sh file extension</a:t>
            </a:r>
            <a:r>
              <a:rPr lang="en-IN" sz="2400"/>
              <a:t> eg. myscript.sh</a:t>
            </a:r>
            <a:endParaRPr/>
          </a:p>
          <a:p>
            <a:pPr indent="-140970" lvl="0" marL="91440" rtl="0" algn="l">
              <a:lnSpc>
                <a:spcPct val="90000"/>
              </a:lnSpc>
              <a:spcBef>
                <a:spcPts val="1600"/>
              </a:spcBef>
              <a:spcAft>
                <a:spcPts val="0"/>
              </a:spcAft>
              <a:buSzPct val="100000"/>
              <a:buChar char=" "/>
            </a:pPr>
            <a:r>
              <a:rPr lang="en-IN" sz="2400"/>
              <a:t>A shell script have syntax just like any other programming language. </a:t>
            </a:r>
            <a:endParaRPr/>
          </a:p>
          <a:p>
            <a:pPr indent="-140970" lvl="0" marL="91440" rtl="0" algn="l">
              <a:lnSpc>
                <a:spcPct val="90000"/>
              </a:lnSpc>
              <a:spcBef>
                <a:spcPts val="1400"/>
              </a:spcBef>
              <a:spcAft>
                <a:spcPts val="0"/>
              </a:spcAft>
              <a:buSzPct val="100000"/>
              <a:buChar char=" "/>
            </a:pPr>
            <a:r>
              <a:rPr lang="en-IN" sz="2400"/>
              <a:t>A shell script comprises following elements –</a:t>
            </a:r>
            <a:endParaRPr/>
          </a:p>
          <a:p>
            <a:pPr indent="0" lvl="0" marL="91440" rtl="0" algn="l">
              <a:lnSpc>
                <a:spcPct val="90000"/>
              </a:lnSpc>
              <a:spcBef>
                <a:spcPts val="1400"/>
              </a:spcBef>
              <a:spcAft>
                <a:spcPts val="0"/>
              </a:spcAft>
              <a:buSzPct val="100000"/>
              <a:buNone/>
            </a:pPr>
            <a:r>
              <a:t/>
            </a:r>
            <a:endParaRPr sz="2400"/>
          </a:p>
          <a:p>
            <a:pPr indent="-182880" lvl="1" marL="384048" rtl="0" algn="l">
              <a:lnSpc>
                <a:spcPct val="90000"/>
              </a:lnSpc>
              <a:spcBef>
                <a:spcPts val="400"/>
              </a:spcBef>
              <a:spcAft>
                <a:spcPts val="0"/>
              </a:spcAft>
              <a:buSzPct val="100000"/>
              <a:buChar char="◦"/>
            </a:pPr>
            <a:r>
              <a:rPr lang="en-IN" sz="2400"/>
              <a:t>    </a:t>
            </a:r>
            <a:r>
              <a:rPr b="1" lang="en-IN" sz="2400"/>
              <a:t>Shell Keywords – if, else, break etc.</a:t>
            </a:r>
            <a:endParaRPr/>
          </a:p>
          <a:p>
            <a:pPr indent="-182880" lvl="1" marL="384048" rtl="0" algn="l">
              <a:lnSpc>
                <a:spcPct val="90000"/>
              </a:lnSpc>
              <a:spcBef>
                <a:spcPts val="600"/>
              </a:spcBef>
              <a:spcAft>
                <a:spcPts val="0"/>
              </a:spcAft>
              <a:buSzPct val="100000"/>
              <a:buChar char="◦"/>
            </a:pPr>
            <a:r>
              <a:rPr b="1" lang="en-IN" sz="2400"/>
              <a:t>    Shell commands – cd, ls, echo, pwd, touch etc.</a:t>
            </a:r>
            <a:endParaRPr/>
          </a:p>
          <a:p>
            <a:pPr indent="-182880" lvl="1" marL="384048" rtl="0" algn="l">
              <a:lnSpc>
                <a:spcPct val="90000"/>
              </a:lnSpc>
              <a:spcBef>
                <a:spcPts val="600"/>
              </a:spcBef>
              <a:spcAft>
                <a:spcPts val="0"/>
              </a:spcAft>
              <a:buSzPct val="100000"/>
              <a:buChar char="◦"/>
            </a:pPr>
            <a:r>
              <a:rPr b="1" lang="en-IN" sz="2400"/>
              <a:t>    Functions</a:t>
            </a:r>
            <a:endParaRPr/>
          </a:p>
          <a:p>
            <a:pPr indent="-182880" lvl="1" marL="384048" rtl="0" algn="l">
              <a:lnSpc>
                <a:spcPct val="90000"/>
              </a:lnSpc>
              <a:spcBef>
                <a:spcPts val="600"/>
              </a:spcBef>
              <a:spcAft>
                <a:spcPts val="0"/>
              </a:spcAft>
              <a:buSzPct val="100000"/>
              <a:buChar char="◦"/>
            </a:pPr>
            <a:r>
              <a:rPr b="1" lang="en-IN" sz="2400"/>
              <a:t>    Control flow – if..then..else, case and shell loops etc.</a:t>
            </a:r>
            <a:endParaRPr/>
          </a:p>
          <a:p>
            <a:pPr indent="-77152" lvl="1" marL="384048" rtl="0" algn="l">
              <a:lnSpc>
                <a:spcPct val="90000"/>
              </a:lnSpc>
              <a:spcBef>
                <a:spcPts val="600"/>
              </a:spcBef>
              <a:spcAft>
                <a:spcPts val="0"/>
              </a:spcAft>
              <a:buSzPct val="100000"/>
              <a:buNone/>
            </a:pPr>
            <a:r>
              <a:t/>
            </a:r>
            <a:endParaRPr b="1"/>
          </a:p>
          <a:p>
            <a:pPr indent="-41909" lvl="1" marL="384048" rtl="0" algn="l">
              <a:lnSpc>
                <a:spcPct val="90000"/>
              </a:lnSpc>
              <a:spcBef>
                <a:spcPts val="600"/>
              </a:spcBef>
              <a:spcAft>
                <a:spcPts val="0"/>
              </a:spcAft>
              <a:buSzPct val="100000"/>
              <a:buNone/>
            </a:pPr>
            <a:r>
              <a:t/>
            </a:r>
            <a:endParaRPr sz="2400"/>
          </a:p>
          <a:p>
            <a:pPr indent="-41909" lvl="1" marL="384048" rtl="0" algn="l">
              <a:lnSpc>
                <a:spcPct val="90000"/>
              </a:lnSpc>
              <a:spcBef>
                <a:spcPts val="600"/>
              </a:spcBef>
              <a:spcAft>
                <a:spcPts val="0"/>
              </a:spcAft>
              <a:buSzPct val="100000"/>
              <a:buNone/>
            </a:pPr>
            <a:r>
              <a:t/>
            </a:r>
            <a:endParaRPr b="1" sz="2400"/>
          </a:p>
          <a:p>
            <a:pPr indent="-77152" lvl="1" marL="384048" rtl="0" algn="l">
              <a:lnSpc>
                <a:spcPct val="90000"/>
              </a:lnSpc>
              <a:spcBef>
                <a:spcPts val="600"/>
              </a:spcBef>
              <a:spcAft>
                <a:spcPts val="0"/>
              </a:spcAft>
              <a:buSzPct val="100000"/>
              <a:buNone/>
            </a:pPr>
            <a:r>
              <a:t/>
            </a:r>
            <a:endParaRPr/>
          </a:p>
          <a:p>
            <a:pPr indent="0" lvl="0" marL="91440" rtl="0" algn="l">
              <a:lnSpc>
                <a:spcPct val="90000"/>
              </a:lnSpc>
              <a:spcBef>
                <a:spcPts val="1600"/>
              </a:spcBef>
              <a:spcAft>
                <a:spcPts val="0"/>
              </a:spcAft>
              <a:buSzPct val="100000"/>
              <a:buNone/>
            </a:pPr>
            <a:r>
              <a:t/>
            </a:r>
            <a:endParaRPr sz="2800"/>
          </a:p>
        </p:txBody>
      </p:sp>
      <p:sp>
        <p:nvSpPr>
          <p:cNvPr id="1123" name="Google Shape;1123;p10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124" name="Google Shape;1124;p10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125" name="Google Shape;1125;p10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101"/>
          <p:cNvSpPr txBox="1"/>
          <p:nvPr>
            <p:ph idx="1" type="body"/>
          </p:nvPr>
        </p:nvSpPr>
        <p:spPr>
          <a:xfrm>
            <a:off x="179512" y="609600"/>
            <a:ext cx="8136904" cy="624840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lang="en-IN" sz="2400"/>
              <a:t>The prompt, </a:t>
            </a:r>
            <a:r>
              <a:rPr b="1" lang="en-IN" sz="2400"/>
              <a:t>$, which is called command prompt</a:t>
            </a:r>
            <a:r>
              <a:rPr lang="en-IN" sz="2400"/>
              <a:t>, is issued by the shell. </a:t>
            </a:r>
            <a:endParaRPr sz="2400"/>
          </a:p>
          <a:p>
            <a:pPr indent="-152400" lvl="0" marL="91440" rtl="0" algn="l">
              <a:lnSpc>
                <a:spcPct val="90000"/>
              </a:lnSpc>
              <a:spcBef>
                <a:spcPts val="1400"/>
              </a:spcBef>
              <a:spcAft>
                <a:spcPts val="0"/>
              </a:spcAft>
              <a:buSzPts val="2400"/>
              <a:buChar char=" "/>
            </a:pPr>
            <a:r>
              <a:rPr lang="en-IN" sz="2400"/>
              <a:t>While the prompt is displayed, you can type a command.</a:t>
            </a:r>
            <a:endParaRPr/>
          </a:p>
          <a:p>
            <a:pPr indent="-152400" lvl="0" marL="91440" rtl="0" algn="l">
              <a:lnSpc>
                <a:spcPct val="90000"/>
              </a:lnSpc>
              <a:spcBef>
                <a:spcPts val="1400"/>
              </a:spcBef>
              <a:spcAft>
                <a:spcPts val="0"/>
              </a:spcAft>
              <a:buSzPts val="2400"/>
              <a:buChar char=" "/>
            </a:pPr>
            <a:r>
              <a:rPr b="1" lang="en-IN" sz="2400"/>
              <a:t>The shell reads your input after you press Enter. </a:t>
            </a:r>
            <a:endParaRPr b="1" sz="2400"/>
          </a:p>
          <a:p>
            <a:pPr indent="0" lvl="0" marL="0" rtl="0" algn="l">
              <a:lnSpc>
                <a:spcPct val="90000"/>
              </a:lnSpc>
              <a:spcBef>
                <a:spcPts val="200"/>
              </a:spcBef>
              <a:spcAft>
                <a:spcPts val="0"/>
              </a:spcAft>
              <a:buSzPts val="3200"/>
              <a:buNone/>
            </a:pPr>
            <a:r>
              <a:rPr b="1" lang="en-IN" sz="3200">
                <a:solidFill>
                  <a:schemeClr val="accent1"/>
                </a:solidFill>
                <a:latin typeface="Calibri"/>
                <a:ea typeface="Calibri"/>
                <a:cs typeface="Calibri"/>
                <a:sym typeface="Calibri"/>
              </a:rPr>
              <a:t>The Shell Definition Line</a:t>
            </a:r>
            <a:endParaRPr/>
          </a:p>
          <a:p>
            <a:pPr indent="0" lvl="1" marL="0" rtl="0" algn="l">
              <a:lnSpc>
                <a:spcPct val="90000"/>
              </a:lnSpc>
              <a:spcBef>
                <a:spcPts val="200"/>
              </a:spcBef>
              <a:spcAft>
                <a:spcPts val="0"/>
              </a:spcAft>
              <a:buClr>
                <a:schemeClr val="accent1"/>
              </a:buClr>
              <a:buSzPts val="2400"/>
              <a:buNone/>
            </a:pPr>
            <a:r>
              <a:rPr lang="en-IN" sz="2400"/>
              <a:t>(#!/bin/bash)</a:t>
            </a:r>
            <a:endParaRPr/>
          </a:p>
          <a:p>
            <a:pPr indent="-152400" lvl="0" marL="91440" rtl="0" algn="l">
              <a:lnSpc>
                <a:spcPct val="90000"/>
              </a:lnSpc>
              <a:spcBef>
                <a:spcPts val="1600"/>
              </a:spcBef>
              <a:spcAft>
                <a:spcPts val="0"/>
              </a:spcAft>
              <a:buSzPts val="2400"/>
              <a:buChar char=" "/>
            </a:pPr>
            <a:r>
              <a:rPr lang="en-IN" sz="2400"/>
              <a:t>The shell definition line tells the system </a:t>
            </a:r>
            <a:endParaRPr/>
          </a:p>
          <a:p>
            <a:pPr indent="-182880" lvl="1" marL="384048" rtl="0" algn="l">
              <a:lnSpc>
                <a:spcPct val="90000"/>
              </a:lnSpc>
              <a:spcBef>
                <a:spcPts val="400"/>
              </a:spcBef>
              <a:spcAft>
                <a:spcPts val="0"/>
              </a:spcAft>
              <a:buSzPts val="2400"/>
              <a:buChar char="◦"/>
            </a:pPr>
            <a:r>
              <a:rPr b="1" lang="en-IN" sz="2400"/>
              <a:t>what shell should be used </a:t>
            </a:r>
            <a:r>
              <a:rPr lang="en-IN" sz="2400"/>
              <a:t>to interpret the script's commands, and </a:t>
            </a:r>
            <a:endParaRPr/>
          </a:p>
          <a:p>
            <a:pPr indent="-182880" lvl="1" marL="384048" rtl="0" algn="l">
              <a:lnSpc>
                <a:spcPct val="90000"/>
              </a:lnSpc>
              <a:spcBef>
                <a:spcPts val="600"/>
              </a:spcBef>
              <a:spcAft>
                <a:spcPts val="0"/>
              </a:spcAft>
              <a:buSzPts val="2400"/>
              <a:buChar char="◦"/>
            </a:pPr>
            <a:r>
              <a:rPr lang="en-IN" sz="2400"/>
              <a:t>where the program (shell) is located. </a:t>
            </a:r>
            <a:endParaRPr/>
          </a:p>
          <a:p>
            <a:pPr indent="-30479" lvl="1" marL="384048" rtl="0" algn="l">
              <a:lnSpc>
                <a:spcPct val="90000"/>
              </a:lnSpc>
              <a:spcBef>
                <a:spcPts val="600"/>
              </a:spcBef>
              <a:spcAft>
                <a:spcPts val="0"/>
              </a:spcAft>
              <a:buSzPts val="2400"/>
              <a:buNone/>
            </a:pPr>
            <a:r>
              <a:t/>
            </a:r>
            <a:endParaRPr sz="2400"/>
          </a:p>
          <a:p>
            <a:pPr indent="-152400" lvl="0" marL="91440" rtl="0" algn="l">
              <a:lnSpc>
                <a:spcPct val="90000"/>
              </a:lnSpc>
              <a:spcBef>
                <a:spcPts val="1600"/>
              </a:spcBef>
              <a:spcAft>
                <a:spcPts val="0"/>
              </a:spcAft>
              <a:buSzPts val="2400"/>
              <a:buChar char=" "/>
            </a:pPr>
            <a:r>
              <a:rPr lang="en-IN" sz="2400"/>
              <a:t>The shell definition line tells the system to use the </a:t>
            </a:r>
            <a:r>
              <a:rPr b="1" lang="en-IN" sz="2400"/>
              <a:t>Bourne Again Shell which is also the default shellwhen executing this script.</a:t>
            </a:r>
            <a:br>
              <a:rPr lang="en-IN" sz="2400"/>
            </a:br>
            <a:endParaRPr sz="2400"/>
          </a:p>
          <a:p>
            <a:pPr indent="0" lvl="1" marL="0" rtl="0" algn="l">
              <a:lnSpc>
                <a:spcPct val="90000"/>
              </a:lnSpc>
              <a:spcBef>
                <a:spcPts val="200"/>
              </a:spcBef>
              <a:spcAft>
                <a:spcPts val="0"/>
              </a:spcAft>
              <a:buClr>
                <a:schemeClr val="accent1"/>
              </a:buClr>
              <a:buSzPts val="2400"/>
              <a:buNone/>
            </a:pPr>
            <a:r>
              <a:t/>
            </a:r>
            <a:endParaRPr sz="2400"/>
          </a:p>
          <a:p>
            <a:pPr indent="0" lvl="0" marL="0" rtl="0" algn="l">
              <a:lnSpc>
                <a:spcPct val="90000"/>
              </a:lnSpc>
              <a:spcBef>
                <a:spcPts val="400"/>
              </a:spcBef>
              <a:spcAft>
                <a:spcPts val="0"/>
              </a:spcAft>
              <a:buSzPts val="3200"/>
              <a:buNone/>
            </a:pPr>
            <a:r>
              <a:t/>
            </a:r>
            <a:endParaRPr b="1" sz="3200">
              <a:solidFill>
                <a:schemeClr val="accent1"/>
              </a:solidFill>
              <a:latin typeface="Calibri"/>
              <a:ea typeface="Calibri"/>
              <a:cs typeface="Calibri"/>
              <a:sym typeface="Calibri"/>
            </a:endParaRPr>
          </a:p>
          <a:p>
            <a:pPr indent="0" lvl="0" marL="91440" rtl="0" algn="l">
              <a:lnSpc>
                <a:spcPct val="90000"/>
              </a:lnSpc>
              <a:spcBef>
                <a:spcPts val="1400"/>
              </a:spcBef>
              <a:spcAft>
                <a:spcPts val="0"/>
              </a:spcAft>
              <a:buSzPts val="2400"/>
              <a:buNone/>
            </a:pPr>
            <a:r>
              <a:t/>
            </a:r>
            <a:endParaRPr b="1" sz="2400"/>
          </a:p>
          <a:p>
            <a:pPr indent="-68579" lvl="1" marL="384048" rtl="0" algn="l">
              <a:lnSpc>
                <a:spcPct val="90000"/>
              </a:lnSpc>
              <a:spcBef>
                <a:spcPts val="400"/>
              </a:spcBef>
              <a:spcAft>
                <a:spcPts val="0"/>
              </a:spcAft>
              <a:buSzPts val="1800"/>
              <a:buNone/>
            </a:pPr>
            <a:r>
              <a:t/>
            </a:r>
            <a:endParaRPr sz="1800"/>
          </a:p>
        </p:txBody>
      </p:sp>
      <p:sp>
        <p:nvSpPr>
          <p:cNvPr id="1131" name="Google Shape;1131;p10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132" name="Google Shape;1132;p10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133" name="Google Shape;1133;p10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134" name="Google Shape;1134;p101"/>
          <p:cNvSpPr txBox="1"/>
          <p:nvPr/>
        </p:nvSpPr>
        <p:spPr>
          <a:xfrm>
            <a:off x="179512" y="142608"/>
            <a:ext cx="7024744"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3200"/>
              <a:buFont typeface="Calibri"/>
              <a:buNone/>
            </a:pPr>
            <a:r>
              <a:rPr b="1" lang="en-IN" sz="3200">
                <a:solidFill>
                  <a:schemeClr val="accent1"/>
                </a:solidFill>
                <a:latin typeface="Calibri"/>
                <a:ea typeface="Calibri"/>
                <a:cs typeface="Calibri"/>
                <a:sym typeface="Calibri"/>
              </a:rPr>
              <a:t>Shell Prompt</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102"/>
          <p:cNvSpPr txBox="1"/>
          <p:nvPr>
            <p:ph idx="1" type="body"/>
          </p:nvPr>
        </p:nvSpPr>
        <p:spPr>
          <a:xfrm>
            <a:off x="-14064" y="481032"/>
            <a:ext cx="8330480" cy="888714"/>
          </a:xfrm>
          <a:prstGeom prst="rect">
            <a:avLst/>
          </a:prstGeom>
          <a:noFill/>
          <a:ln>
            <a:noFill/>
          </a:ln>
        </p:spPr>
        <p:txBody>
          <a:bodyPr anchorCtr="0" anchor="t" bIns="45700" lIns="0" spcFirstLastPara="1" rIns="0" wrap="square" tIns="45700">
            <a:normAutofit lnSpcReduction="10000"/>
          </a:bodyPr>
          <a:lstStyle/>
          <a:p>
            <a:pPr indent="0" lvl="0" marL="114300" rtl="0" algn="l">
              <a:lnSpc>
                <a:spcPct val="90000"/>
              </a:lnSpc>
              <a:spcBef>
                <a:spcPts val="0"/>
              </a:spcBef>
              <a:spcAft>
                <a:spcPts val="0"/>
              </a:spcAft>
              <a:buSzPts val="2400"/>
              <a:buNone/>
            </a:pPr>
            <a:r>
              <a:rPr b="1" lang="en-IN" sz="2400"/>
              <a:t>Comments, or non-command code,</a:t>
            </a:r>
            <a:endParaRPr/>
          </a:p>
          <a:p>
            <a:pPr indent="-152400" lvl="0" marL="91440" rtl="0" algn="l">
              <a:lnSpc>
                <a:spcPct val="90000"/>
              </a:lnSpc>
              <a:spcBef>
                <a:spcPts val="1400"/>
              </a:spcBef>
              <a:spcAft>
                <a:spcPts val="0"/>
              </a:spcAft>
              <a:buSzPts val="2400"/>
              <a:buChar char=" "/>
            </a:pPr>
            <a:r>
              <a:rPr lang="en-IN" sz="2400"/>
              <a:t>In a shell script, </a:t>
            </a:r>
            <a:r>
              <a:rPr b="1" lang="en-IN" sz="2400"/>
              <a:t>Comments begin with the # (pound) character </a:t>
            </a:r>
            <a:endParaRPr b="1" sz="1800"/>
          </a:p>
        </p:txBody>
      </p:sp>
      <p:sp>
        <p:nvSpPr>
          <p:cNvPr id="1140" name="Google Shape;1140;p10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141" name="Google Shape;1141;p10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142" name="Google Shape;1142;p10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143" name="Google Shape;1143;p102"/>
          <p:cNvSpPr txBox="1"/>
          <p:nvPr/>
        </p:nvSpPr>
        <p:spPr>
          <a:xfrm>
            <a:off x="8806" y="161658"/>
            <a:ext cx="7024744"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3200"/>
              <a:buFont typeface="Calibri"/>
              <a:buNone/>
            </a:pPr>
            <a:r>
              <a:rPr b="1" lang="en-IN" sz="3200">
                <a:solidFill>
                  <a:schemeClr val="accent1"/>
                </a:solidFill>
                <a:latin typeface="Calibri"/>
                <a:ea typeface="Calibri"/>
                <a:cs typeface="Calibri"/>
                <a:sym typeface="Calibri"/>
              </a:rPr>
              <a:t>Shell Script Comments</a:t>
            </a:r>
            <a:endParaRPr/>
          </a:p>
        </p:txBody>
      </p:sp>
      <p:sp>
        <p:nvSpPr>
          <p:cNvPr id="1144" name="Google Shape;1144;p102"/>
          <p:cNvSpPr/>
          <p:nvPr/>
        </p:nvSpPr>
        <p:spPr>
          <a:xfrm>
            <a:off x="91582" y="1371814"/>
            <a:ext cx="359245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200">
                <a:solidFill>
                  <a:schemeClr val="accent1"/>
                </a:solidFill>
                <a:latin typeface="Calibri"/>
                <a:ea typeface="Calibri"/>
                <a:cs typeface="Calibri"/>
                <a:sym typeface="Calibri"/>
              </a:rPr>
              <a:t>Displaying Output</a:t>
            </a:r>
            <a:endParaRPr/>
          </a:p>
        </p:txBody>
      </p:sp>
      <p:sp>
        <p:nvSpPr>
          <p:cNvPr id="1145" name="Google Shape;1145;p102"/>
          <p:cNvSpPr/>
          <p:nvPr/>
        </p:nvSpPr>
        <p:spPr>
          <a:xfrm>
            <a:off x="91582" y="1956589"/>
            <a:ext cx="8224834" cy="50783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000">
                <a:solidFill>
                  <a:schemeClr val="dk1"/>
                </a:solidFill>
                <a:latin typeface="Calibri"/>
                <a:ea typeface="Calibri"/>
                <a:cs typeface="Calibri"/>
                <a:sym typeface="Calibri"/>
              </a:rPr>
              <a:t>Two methods for displaying output to standard output: </a:t>
            </a:r>
            <a:endParaRPr sz="2000"/>
          </a:p>
          <a:p>
            <a:pPr indent="0" lvl="0" marL="0" marR="0" rtl="0" algn="l">
              <a:spcBef>
                <a:spcPts val="0"/>
              </a:spcBef>
              <a:spcAft>
                <a:spcPts val="0"/>
              </a:spcAft>
              <a:buNone/>
            </a:pPr>
            <a:r>
              <a:rPr b="1" lang="en-IN" sz="2000">
                <a:solidFill>
                  <a:schemeClr val="dk1"/>
                </a:solidFill>
                <a:latin typeface="Calibri"/>
                <a:ea typeface="Calibri"/>
                <a:cs typeface="Calibri"/>
                <a:sym typeface="Calibri"/>
              </a:rPr>
              <a:t>echo "Text Line 1"</a:t>
            </a:r>
            <a:br>
              <a:rPr b="1" lang="en-IN" sz="2000">
                <a:solidFill>
                  <a:schemeClr val="dk1"/>
                </a:solidFill>
                <a:latin typeface="Calibri"/>
                <a:ea typeface="Calibri"/>
                <a:cs typeface="Calibri"/>
                <a:sym typeface="Calibri"/>
              </a:rPr>
            </a:br>
            <a:r>
              <a:rPr b="1" lang="en-IN" sz="2000">
                <a:solidFill>
                  <a:schemeClr val="dk1"/>
                </a:solidFill>
                <a:latin typeface="Calibri"/>
                <a:ea typeface="Calibri"/>
                <a:cs typeface="Calibri"/>
                <a:sym typeface="Calibri"/>
              </a:rPr>
              <a:t>printf "Text Line 2"</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IN" sz="2000">
                <a:solidFill>
                  <a:schemeClr val="dk1"/>
                </a:solidFill>
                <a:latin typeface="Calibri"/>
                <a:ea typeface="Calibri"/>
                <a:cs typeface="Calibri"/>
                <a:sym typeface="Calibri"/>
              </a:rPr>
              <a:t>The print command is the replacement for the echo command. </a:t>
            </a:r>
            <a:endParaRPr sz="2000"/>
          </a:p>
          <a:p>
            <a:pPr indent="0" lvl="1" marL="457200" marR="0" rtl="0" algn="l">
              <a:spcBef>
                <a:spcPts val="0"/>
              </a:spcBef>
              <a:spcAft>
                <a:spcPts val="0"/>
              </a:spcAft>
              <a:buNone/>
            </a:pPr>
            <a:r>
              <a:rPr b="0" i="0" lang="en-IN" sz="2000" u="none" cap="none" strike="noStrike">
                <a:solidFill>
                  <a:schemeClr val="dk1"/>
                </a:solidFill>
                <a:latin typeface="Calibri"/>
                <a:ea typeface="Calibri"/>
                <a:cs typeface="Calibri"/>
                <a:sym typeface="Calibri"/>
              </a:rPr>
              <a:t>You should use the print command when you are writing shell scripts because </a:t>
            </a:r>
            <a:endParaRPr sz="2000"/>
          </a:p>
          <a:p>
            <a:pPr indent="0" lvl="1" marL="457200" marR="0" rtl="0" algn="l">
              <a:spcBef>
                <a:spcPts val="0"/>
              </a:spcBef>
              <a:spcAft>
                <a:spcPts val="0"/>
              </a:spcAft>
              <a:buNone/>
            </a:pPr>
            <a:r>
              <a:rPr b="0" i="0" lang="en-IN" sz="2000" u="none" cap="none" strike="noStrike">
                <a:solidFill>
                  <a:schemeClr val="dk1"/>
                </a:solidFill>
                <a:latin typeface="Calibri"/>
                <a:ea typeface="Calibri"/>
                <a:cs typeface="Calibri"/>
                <a:sym typeface="Calibri"/>
              </a:rPr>
              <a:t>it is more powerful than the echo command, and </a:t>
            </a:r>
            <a:endParaRPr sz="2000"/>
          </a:p>
          <a:p>
            <a:pPr indent="0" lvl="1" marL="457200" marR="0" rtl="0" algn="l">
              <a:spcBef>
                <a:spcPts val="0"/>
              </a:spcBef>
              <a:spcAft>
                <a:spcPts val="0"/>
              </a:spcAft>
              <a:buNone/>
            </a:pPr>
            <a:r>
              <a:rPr b="0" i="0" lang="en-IN" sz="2000" u="none" cap="none" strike="noStrike">
                <a:solidFill>
                  <a:schemeClr val="dk1"/>
                </a:solidFill>
                <a:latin typeface="Calibri"/>
                <a:ea typeface="Calibri"/>
                <a:cs typeface="Calibri"/>
                <a:sym typeface="Calibri"/>
              </a:rPr>
              <a:t>its syntax has been standardized on multiple operating </a:t>
            </a:r>
            <a:r>
              <a:rPr lang="en-IN" sz="2000">
                <a:solidFill>
                  <a:schemeClr val="dk1"/>
                </a:solidFill>
                <a:latin typeface="Calibri"/>
                <a:ea typeface="Calibri"/>
                <a:cs typeface="Calibri"/>
                <a:sym typeface="Calibri"/>
              </a:rPr>
              <a:t>system</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1" lang="en-IN" sz="2000">
                <a:solidFill>
                  <a:schemeClr val="dk1"/>
                </a:solidFill>
                <a:latin typeface="Calibri"/>
                <a:ea typeface="Calibri"/>
                <a:cs typeface="Calibri"/>
                <a:sym typeface="Calibri"/>
              </a:rPr>
              <a:t>echo</a:t>
            </a:r>
            <a:r>
              <a:rPr lang="en-IN" sz="2000">
                <a:solidFill>
                  <a:schemeClr val="dk1"/>
                </a:solidFill>
                <a:latin typeface="Calibri"/>
                <a:ea typeface="Calibri"/>
                <a:cs typeface="Calibri"/>
                <a:sym typeface="Calibri"/>
              </a:rPr>
              <a:t> - display a line of text.</a:t>
            </a:r>
            <a:endParaRPr sz="2000"/>
          </a:p>
          <a:p>
            <a:pPr indent="0" lvl="0" marL="0" marR="0" rtl="0" algn="l">
              <a:spcBef>
                <a:spcPts val="0"/>
              </a:spcBef>
              <a:spcAft>
                <a:spcPts val="0"/>
              </a:spcAft>
              <a:buNone/>
            </a:pPr>
            <a:r>
              <a:rPr b="1" lang="en-IN" sz="2000">
                <a:solidFill>
                  <a:schemeClr val="dk1"/>
                </a:solidFill>
                <a:latin typeface="Calibri"/>
                <a:ea typeface="Calibri"/>
                <a:cs typeface="Calibri"/>
                <a:sym typeface="Calibri"/>
              </a:rPr>
              <a:t>Example-2:</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IN" sz="2000">
                <a:solidFill>
                  <a:schemeClr val="dk1"/>
                </a:solidFill>
                <a:latin typeface="Calibri"/>
                <a:ea typeface="Calibri"/>
                <a:cs typeface="Calibri"/>
                <a:sym typeface="Calibri"/>
              </a:rPr>
              <a:t>To print value of x, where x=10.</a:t>
            </a:r>
            <a:endParaRPr sz="2000"/>
          </a:p>
          <a:p>
            <a:pPr indent="0" lvl="0" marL="0" marR="0" rtl="0" algn="l">
              <a:spcBef>
                <a:spcPts val="0"/>
              </a:spcBef>
              <a:spcAft>
                <a:spcPts val="0"/>
              </a:spcAft>
              <a:buNone/>
            </a:pPr>
            <a:r>
              <a:rPr b="1" lang="en-IN" sz="2000">
                <a:solidFill>
                  <a:schemeClr val="dk1"/>
                </a:solidFill>
                <a:latin typeface="Calibri"/>
                <a:ea typeface="Calibri"/>
                <a:cs typeface="Calibri"/>
                <a:sym typeface="Calibri"/>
              </a:rPr>
              <a:t>$ echo $x</a:t>
            </a:r>
            <a:endParaRPr sz="2000"/>
          </a:p>
          <a:p>
            <a:pPr indent="0" lvl="0" marL="0" marR="0" rtl="0" algn="l">
              <a:spcBef>
                <a:spcPts val="0"/>
              </a:spcBef>
              <a:spcAft>
                <a:spcPts val="0"/>
              </a:spcAft>
              <a:buNone/>
            </a:pPr>
            <a:r>
              <a:rPr b="1" i="1" lang="en-IN" sz="2000">
                <a:solidFill>
                  <a:schemeClr val="dk1"/>
                </a:solidFill>
                <a:latin typeface="Calibri"/>
                <a:ea typeface="Calibri"/>
                <a:cs typeface="Calibri"/>
                <a:sym typeface="Calibri"/>
              </a:rPr>
              <a:t>output:</a:t>
            </a:r>
            <a:br>
              <a:rPr b="1" lang="en-IN" sz="2000">
                <a:solidFill>
                  <a:schemeClr val="dk1"/>
                </a:solidFill>
                <a:latin typeface="Calibri"/>
                <a:ea typeface="Calibri"/>
                <a:cs typeface="Calibri"/>
                <a:sym typeface="Calibri"/>
              </a:rPr>
            </a:br>
            <a:r>
              <a:rPr b="1" lang="en-IN" sz="2000">
                <a:solidFill>
                  <a:schemeClr val="dk1"/>
                </a:solidFill>
                <a:latin typeface="Calibri"/>
                <a:ea typeface="Calibri"/>
                <a:cs typeface="Calibri"/>
                <a:sym typeface="Calibri"/>
              </a:rPr>
              <a:t>10</a:t>
            </a:r>
            <a:endParaRPr sz="2000"/>
          </a:p>
          <a:p>
            <a:pPr indent="0" lvl="1" marL="457200" marR="0" rtl="0" algn="l">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103"/>
          <p:cNvSpPr txBox="1"/>
          <p:nvPr>
            <p:ph idx="1" type="body"/>
          </p:nvPr>
        </p:nvSpPr>
        <p:spPr>
          <a:xfrm>
            <a:off x="0" y="457120"/>
            <a:ext cx="8316416" cy="6400880"/>
          </a:xfrm>
          <a:prstGeom prst="rect">
            <a:avLst/>
          </a:prstGeom>
          <a:noFill/>
          <a:ln>
            <a:noFill/>
          </a:ln>
        </p:spPr>
        <p:txBody>
          <a:bodyPr anchorCtr="0" anchor="t" bIns="45700" lIns="0" spcFirstLastPara="1" rIns="0" wrap="square" tIns="45700">
            <a:noAutofit/>
          </a:bodyPr>
          <a:lstStyle/>
          <a:p>
            <a:pPr indent="-120650" lvl="0" marL="91440" rtl="0" algn="l">
              <a:lnSpc>
                <a:spcPct val="90000"/>
              </a:lnSpc>
              <a:spcBef>
                <a:spcPts val="0"/>
              </a:spcBef>
              <a:spcAft>
                <a:spcPts val="0"/>
              </a:spcAft>
              <a:buSzPts val="1900"/>
              <a:buChar char=" "/>
            </a:pPr>
            <a:r>
              <a:rPr lang="en-IN" sz="1900"/>
              <a:t>Before you can run the script, you need to make the shell script file an executable by using the UNIX chmod command. </a:t>
            </a:r>
            <a:endParaRPr sz="1900"/>
          </a:p>
          <a:p>
            <a:pPr indent="-120650" lvl="0" marL="91440" rtl="0" algn="l">
              <a:lnSpc>
                <a:spcPct val="90000"/>
              </a:lnSpc>
              <a:spcBef>
                <a:spcPts val="1400"/>
              </a:spcBef>
              <a:spcAft>
                <a:spcPts val="0"/>
              </a:spcAft>
              <a:buSzPts val="1900"/>
              <a:buChar char=" "/>
            </a:pPr>
            <a:r>
              <a:rPr lang="en-IN" sz="1900"/>
              <a:t>The following command will allow only the user (owner) of the script to execute it:</a:t>
            </a:r>
            <a:endParaRPr sz="1900"/>
          </a:p>
          <a:p>
            <a:pPr indent="0" lvl="0" marL="68580" rtl="0" algn="l">
              <a:lnSpc>
                <a:spcPct val="90000"/>
              </a:lnSpc>
              <a:spcBef>
                <a:spcPts val="1400"/>
              </a:spcBef>
              <a:spcAft>
                <a:spcPts val="0"/>
              </a:spcAft>
              <a:buSzPts val="1900"/>
              <a:buNone/>
            </a:pPr>
            <a:r>
              <a:rPr b="1" lang="en-IN" sz="1900"/>
              <a:t>		$ chmod u+x script1</a:t>
            </a:r>
            <a:endParaRPr sz="1900"/>
          </a:p>
          <a:p>
            <a:pPr indent="-120650" lvl="0" marL="91440" rtl="0" algn="l">
              <a:lnSpc>
                <a:spcPct val="90000"/>
              </a:lnSpc>
              <a:spcBef>
                <a:spcPts val="1400"/>
              </a:spcBef>
              <a:spcAft>
                <a:spcPts val="0"/>
              </a:spcAft>
              <a:buSzPts val="1900"/>
              <a:buChar char=" "/>
            </a:pPr>
            <a:r>
              <a:rPr lang="en-IN" sz="1900"/>
              <a:t>If you wanted to allow everyone (all) to execute the script, you would use this command:</a:t>
            </a:r>
            <a:endParaRPr sz="1900"/>
          </a:p>
          <a:p>
            <a:pPr indent="0" lvl="0" marL="68580" rtl="0" algn="l">
              <a:lnSpc>
                <a:spcPct val="90000"/>
              </a:lnSpc>
              <a:spcBef>
                <a:spcPts val="1400"/>
              </a:spcBef>
              <a:spcAft>
                <a:spcPts val="0"/>
              </a:spcAft>
              <a:buSzPts val="1900"/>
              <a:buNone/>
            </a:pPr>
            <a:r>
              <a:rPr b="1" lang="en-IN" sz="1900"/>
              <a:t>		$ chmod a+x script1</a:t>
            </a:r>
            <a:endParaRPr sz="1900"/>
          </a:p>
          <a:p>
            <a:pPr indent="0" lvl="0" marL="68580" rtl="0" algn="l">
              <a:lnSpc>
                <a:spcPct val="90000"/>
              </a:lnSpc>
              <a:spcBef>
                <a:spcPts val="1400"/>
              </a:spcBef>
              <a:spcAft>
                <a:spcPts val="0"/>
              </a:spcAft>
              <a:buSzPts val="1900"/>
              <a:buNone/>
            </a:pPr>
            <a:r>
              <a:rPr b="1" lang="en-IN" sz="1900"/>
              <a:t>Executing script</a:t>
            </a:r>
            <a:endParaRPr sz="1900"/>
          </a:p>
          <a:p>
            <a:pPr indent="-120650" lvl="0" marL="91440" rtl="0" algn="l">
              <a:lnSpc>
                <a:spcPct val="90000"/>
              </a:lnSpc>
              <a:spcBef>
                <a:spcPts val="1400"/>
              </a:spcBef>
              <a:spcAft>
                <a:spcPts val="0"/>
              </a:spcAft>
              <a:buSzPts val="1900"/>
              <a:buChar char=" "/>
            </a:pPr>
            <a:r>
              <a:rPr lang="en-IN" sz="1900"/>
              <a:t>After the script file has been made an executable with the chmod command, you can run the script in a new shell by giving the path to the script:</a:t>
            </a:r>
            <a:endParaRPr sz="1900"/>
          </a:p>
          <a:p>
            <a:pPr indent="0" lvl="0" marL="68580" rtl="0" algn="l">
              <a:lnSpc>
                <a:spcPct val="90000"/>
              </a:lnSpc>
              <a:spcBef>
                <a:spcPts val="1400"/>
              </a:spcBef>
              <a:spcAft>
                <a:spcPts val="0"/>
              </a:spcAft>
              <a:buSzPts val="1900"/>
              <a:buNone/>
            </a:pPr>
            <a:r>
              <a:rPr b="1" lang="en-IN" sz="1900"/>
              <a:t>		$ ./script1</a:t>
            </a:r>
            <a:endParaRPr sz="1900"/>
          </a:p>
          <a:p>
            <a:pPr indent="-120650" lvl="0" marL="91440" rtl="0" algn="l">
              <a:lnSpc>
                <a:spcPct val="90000"/>
              </a:lnSpc>
              <a:spcBef>
                <a:spcPts val="1400"/>
              </a:spcBef>
              <a:spcAft>
                <a:spcPts val="0"/>
              </a:spcAft>
              <a:buSzPts val="1900"/>
              <a:buChar char=" "/>
            </a:pPr>
            <a:r>
              <a:rPr lang="en-IN" sz="1900"/>
              <a:t>This (./) would be the path to </a:t>
            </a:r>
            <a:r>
              <a:rPr b="1" lang="en-IN" sz="1900"/>
              <a:t>script1 if you are in the same directory as the script.</a:t>
            </a:r>
            <a:endParaRPr sz="1900"/>
          </a:p>
          <a:p>
            <a:pPr indent="-120650" lvl="0" marL="91440" rtl="0" algn="l">
              <a:lnSpc>
                <a:spcPct val="90000"/>
              </a:lnSpc>
              <a:spcBef>
                <a:spcPts val="200"/>
              </a:spcBef>
              <a:spcAft>
                <a:spcPts val="0"/>
              </a:spcAft>
              <a:buSzPts val="1900"/>
              <a:buChar char=" "/>
            </a:pPr>
            <a:r>
              <a:rPr lang="en-IN" sz="1900"/>
              <a:t>If you were </a:t>
            </a:r>
            <a:r>
              <a:rPr b="1" lang="en-IN" sz="1900"/>
              <a:t>in a different directory than the script</a:t>
            </a:r>
            <a:r>
              <a:rPr lang="en-IN" sz="1900"/>
              <a:t>, you could use one of the following commands to run it:</a:t>
            </a:r>
            <a:endParaRPr sz="1900"/>
          </a:p>
          <a:p>
            <a:pPr indent="0" lvl="0" marL="68580" rtl="0" algn="l">
              <a:lnSpc>
                <a:spcPct val="90000"/>
              </a:lnSpc>
              <a:spcBef>
                <a:spcPts val="200"/>
              </a:spcBef>
              <a:spcAft>
                <a:spcPts val="0"/>
              </a:spcAft>
              <a:buSzPts val="1900"/>
              <a:buNone/>
            </a:pPr>
            <a:r>
              <a:rPr b="1" lang="en-IN" sz="1900"/>
              <a:t>$ /home/student1/script1</a:t>
            </a:r>
            <a:r>
              <a:rPr lang="en-IN" sz="1900"/>
              <a:t>  </a:t>
            </a:r>
            <a:r>
              <a:rPr b="1" lang="en-IN" sz="1900"/>
              <a:t>or</a:t>
            </a:r>
            <a:r>
              <a:rPr lang="en-IN" sz="1900"/>
              <a:t>  </a:t>
            </a:r>
            <a:r>
              <a:rPr b="1" lang="en-IN" sz="1900"/>
              <a:t>$ /bin/ksh /home/student1/script1</a:t>
            </a:r>
            <a:endParaRPr sz="1900"/>
          </a:p>
          <a:p>
            <a:pPr indent="-120650" lvl="0" marL="91440" rtl="0" algn="l">
              <a:lnSpc>
                <a:spcPct val="90000"/>
              </a:lnSpc>
              <a:spcBef>
                <a:spcPts val="200"/>
              </a:spcBef>
              <a:spcAft>
                <a:spcPts val="0"/>
              </a:spcAft>
              <a:buSzPts val="1900"/>
              <a:buChar char=" "/>
            </a:pPr>
            <a:r>
              <a:rPr lang="en-IN" sz="1900"/>
              <a:t>On some online portals, Execute it as  </a:t>
            </a:r>
            <a:r>
              <a:rPr b="1" lang="en-IN" sz="1900"/>
              <a:t>$ sh script1.sh</a:t>
            </a:r>
            <a:endParaRPr sz="1900"/>
          </a:p>
        </p:txBody>
      </p:sp>
      <p:sp>
        <p:nvSpPr>
          <p:cNvPr id="1151" name="Google Shape;1151;p10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152" name="Google Shape;1152;p10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153" name="Google Shape;1153;p10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154" name="Google Shape;1154;p103"/>
          <p:cNvSpPr txBox="1"/>
          <p:nvPr/>
        </p:nvSpPr>
        <p:spPr>
          <a:xfrm>
            <a:off x="0" y="0"/>
            <a:ext cx="7024744"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3200"/>
              <a:buFont typeface="Calibri"/>
              <a:buNone/>
            </a:pPr>
            <a:r>
              <a:rPr b="1" lang="en-IN" sz="3200">
                <a:solidFill>
                  <a:schemeClr val="accent1"/>
                </a:solidFill>
                <a:latin typeface="Calibri"/>
                <a:ea typeface="Calibri"/>
                <a:cs typeface="Calibri"/>
                <a:sym typeface="Calibri"/>
              </a:rPr>
              <a:t>Permissions for script</a:t>
            </a:r>
            <a:endParaRPr b="1" sz="3200">
              <a:solidFill>
                <a:schemeClr val="accent1"/>
              </a:solidFill>
              <a:latin typeface="Calibri"/>
              <a:ea typeface="Calibri"/>
              <a:cs typeface="Calibri"/>
              <a:sym typeface="Calibri"/>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sp>
        <p:nvSpPr>
          <p:cNvPr id="1159" name="Google Shape;1159;p104"/>
          <p:cNvSpPr txBox="1"/>
          <p:nvPr>
            <p:ph type="title"/>
          </p:nvPr>
        </p:nvSpPr>
        <p:spPr>
          <a:xfrm>
            <a:off x="1166" y="176144"/>
            <a:ext cx="7024744" cy="45712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b="1" lang="en-IN" sz="3200"/>
              <a:t>Sample program</a:t>
            </a:r>
            <a:endParaRPr b="1" sz="3200"/>
          </a:p>
        </p:txBody>
      </p:sp>
      <p:sp>
        <p:nvSpPr>
          <p:cNvPr id="1160" name="Google Shape;1160;p104"/>
          <p:cNvSpPr txBox="1"/>
          <p:nvPr>
            <p:ph idx="1" type="body"/>
          </p:nvPr>
        </p:nvSpPr>
        <p:spPr>
          <a:xfrm>
            <a:off x="323528" y="633264"/>
            <a:ext cx="7776864" cy="5256584"/>
          </a:xfrm>
          <a:prstGeom prst="rect">
            <a:avLst/>
          </a:prstGeom>
          <a:noFill/>
          <a:ln>
            <a:noFill/>
          </a:ln>
        </p:spPr>
        <p:txBody>
          <a:bodyPr anchorCtr="0" anchor="t" bIns="45700" lIns="0" spcFirstLastPara="1" rIns="0" wrap="square" tIns="45700">
            <a:normAutofit fontScale="55000" lnSpcReduction="20000"/>
          </a:bodyPr>
          <a:lstStyle/>
          <a:p>
            <a:pPr indent="-101282" lvl="0" marL="91440" rtl="0" algn="l">
              <a:lnSpc>
                <a:spcPct val="90000"/>
              </a:lnSpc>
              <a:spcBef>
                <a:spcPts val="0"/>
              </a:spcBef>
              <a:spcAft>
                <a:spcPts val="0"/>
              </a:spcAft>
              <a:buSzPct val="100000"/>
              <a:buChar char=" "/>
            </a:pPr>
            <a:r>
              <a:rPr lang="en-IN" sz="2900"/>
              <a:t>vi hello.sh</a:t>
            </a:r>
            <a:endParaRPr/>
          </a:p>
          <a:p>
            <a:pPr indent="-101282" lvl="0" marL="91440" rtl="0" algn="l">
              <a:lnSpc>
                <a:spcPct val="90000"/>
              </a:lnSpc>
              <a:spcBef>
                <a:spcPts val="1400"/>
              </a:spcBef>
              <a:spcAft>
                <a:spcPts val="0"/>
              </a:spcAft>
              <a:buSzPct val="100000"/>
              <a:buChar char=" "/>
            </a:pPr>
            <a:r>
              <a:rPr lang="en-IN" sz="2900"/>
              <a:t>To go into edit mode:</a:t>
            </a:r>
            <a:endParaRPr/>
          </a:p>
          <a:p>
            <a:pPr indent="-182880" lvl="1" marL="384048" rtl="0" algn="l">
              <a:lnSpc>
                <a:spcPct val="90000"/>
              </a:lnSpc>
              <a:spcBef>
                <a:spcPts val="400"/>
              </a:spcBef>
              <a:spcAft>
                <a:spcPts val="0"/>
              </a:spcAft>
              <a:buSzPct val="100000"/>
              <a:buChar char="◦"/>
            </a:pPr>
            <a:r>
              <a:rPr b="1" lang="en-IN" sz="2900"/>
              <a:t>press ESC and type I</a:t>
            </a:r>
            <a:endParaRPr/>
          </a:p>
          <a:p>
            <a:pPr indent="-101282" lvl="0" marL="91440" rtl="0" algn="l">
              <a:lnSpc>
                <a:spcPct val="90000"/>
              </a:lnSpc>
              <a:spcBef>
                <a:spcPts val="1600"/>
              </a:spcBef>
              <a:spcAft>
                <a:spcPts val="0"/>
              </a:spcAft>
              <a:buSzPct val="100000"/>
              <a:buChar char=" "/>
            </a:pPr>
            <a:r>
              <a:rPr lang="en-IN" sz="2900"/>
              <a:t>To save a file</a:t>
            </a:r>
            <a:endParaRPr/>
          </a:p>
          <a:p>
            <a:pPr indent="-182880" lvl="1" marL="384048" rtl="0" algn="l">
              <a:lnSpc>
                <a:spcPct val="90000"/>
              </a:lnSpc>
              <a:spcBef>
                <a:spcPts val="400"/>
              </a:spcBef>
              <a:spcAft>
                <a:spcPts val="0"/>
              </a:spcAft>
              <a:buSzPct val="100000"/>
              <a:buChar char="◦"/>
            </a:pPr>
            <a:r>
              <a:rPr b="1" lang="en-IN" sz="2900"/>
              <a:t>press ESC and type :w fileName</a:t>
            </a:r>
            <a:endParaRPr b="1" sz="2900"/>
          </a:p>
          <a:p>
            <a:pPr indent="-101282" lvl="0" marL="91440" rtl="0" algn="l">
              <a:lnSpc>
                <a:spcPct val="90000"/>
              </a:lnSpc>
              <a:spcBef>
                <a:spcPts val="1600"/>
              </a:spcBef>
              <a:spcAft>
                <a:spcPts val="0"/>
              </a:spcAft>
              <a:buSzPct val="100000"/>
              <a:buChar char=" "/>
            </a:pPr>
            <a:r>
              <a:rPr lang="en-IN" sz="2900"/>
              <a:t>To save a file and quit:</a:t>
            </a:r>
            <a:endParaRPr/>
          </a:p>
          <a:p>
            <a:pPr indent="-182880" lvl="1" marL="384048" rtl="0" algn="l">
              <a:lnSpc>
                <a:spcPct val="90000"/>
              </a:lnSpc>
              <a:spcBef>
                <a:spcPts val="400"/>
              </a:spcBef>
              <a:spcAft>
                <a:spcPts val="0"/>
              </a:spcAft>
              <a:buSzPct val="100000"/>
              <a:buChar char="◦"/>
            </a:pPr>
            <a:r>
              <a:rPr b="1" lang="en-IN" sz="2900"/>
              <a:t>press ESC and type :wq</a:t>
            </a:r>
            <a:endParaRPr b="1" sz="2900"/>
          </a:p>
          <a:p>
            <a:pPr indent="-182880" lvl="2" marL="566928" rtl="0" algn="l">
              <a:lnSpc>
                <a:spcPct val="90000"/>
              </a:lnSpc>
              <a:spcBef>
                <a:spcPts val="600"/>
              </a:spcBef>
              <a:spcAft>
                <a:spcPts val="0"/>
              </a:spcAft>
              <a:buSzPct val="100000"/>
              <a:buChar char="◦"/>
            </a:pPr>
            <a:r>
              <a:rPr b="1" lang="en-IN" sz="2600"/>
              <a:t>Or </a:t>
            </a:r>
            <a:endParaRPr/>
          </a:p>
          <a:p>
            <a:pPr indent="-182880" lvl="1" marL="384048" rtl="0" algn="l">
              <a:lnSpc>
                <a:spcPct val="90000"/>
              </a:lnSpc>
              <a:spcBef>
                <a:spcPts val="600"/>
              </a:spcBef>
              <a:spcAft>
                <a:spcPts val="0"/>
              </a:spcAft>
              <a:buSzPct val="100000"/>
              <a:buChar char="◦"/>
            </a:pPr>
            <a:r>
              <a:rPr b="1" lang="en-IN" sz="2900"/>
              <a:t>press ESC and type :x</a:t>
            </a:r>
            <a:endParaRPr/>
          </a:p>
          <a:p>
            <a:pPr indent="-101282" lvl="0" marL="91440" rtl="0" algn="l">
              <a:lnSpc>
                <a:spcPct val="90000"/>
              </a:lnSpc>
              <a:spcBef>
                <a:spcPts val="1600"/>
              </a:spcBef>
              <a:spcAft>
                <a:spcPts val="0"/>
              </a:spcAft>
              <a:buSzPct val="100000"/>
              <a:buChar char=" "/>
            </a:pPr>
            <a:r>
              <a:rPr lang="en-IN" sz="2900"/>
              <a:t>Save and close the file. </a:t>
            </a:r>
            <a:endParaRPr sz="2900"/>
          </a:p>
          <a:p>
            <a:pPr indent="-101282" lvl="0" marL="91440" rtl="0" algn="l">
              <a:lnSpc>
                <a:spcPct val="90000"/>
              </a:lnSpc>
              <a:spcBef>
                <a:spcPts val="1400"/>
              </a:spcBef>
              <a:spcAft>
                <a:spcPts val="0"/>
              </a:spcAft>
              <a:buSzPct val="100000"/>
              <a:buChar char=" "/>
            </a:pPr>
            <a:r>
              <a:rPr lang="en-IN" sz="2900"/>
              <a:t>You can run the script as follows: </a:t>
            </a:r>
            <a:endParaRPr/>
          </a:p>
          <a:p>
            <a:pPr indent="0" lvl="0" marL="68580" rtl="0" algn="l">
              <a:lnSpc>
                <a:spcPct val="90000"/>
              </a:lnSpc>
              <a:spcBef>
                <a:spcPts val="1400"/>
              </a:spcBef>
              <a:spcAft>
                <a:spcPts val="0"/>
              </a:spcAft>
              <a:buSzPct val="100000"/>
              <a:buNone/>
            </a:pPr>
            <a:r>
              <a:rPr lang="en-IN" sz="2900"/>
              <a:t>	</a:t>
            </a:r>
            <a:r>
              <a:rPr b="1" lang="en-IN" sz="2900"/>
              <a:t>./hello.sh </a:t>
            </a:r>
            <a:endParaRPr/>
          </a:p>
          <a:p>
            <a:pPr indent="-101282" lvl="0" marL="91440" rtl="0" algn="l">
              <a:lnSpc>
                <a:spcPct val="90000"/>
              </a:lnSpc>
              <a:spcBef>
                <a:spcPts val="1400"/>
              </a:spcBef>
              <a:spcAft>
                <a:spcPts val="0"/>
              </a:spcAft>
              <a:buSzPct val="100000"/>
              <a:buChar char=" "/>
            </a:pPr>
            <a:r>
              <a:rPr lang="en-IN" sz="2900"/>
              <a:t>Sample outputs: </a:t>
            </a:r>
            <a:endParaRPr sz="2900"/>
          </a:p>
          <a:p>
            <a:pPr indent="0" lvl="0" marL="0" rtl="0" algn="l">
              <a:lnSpc>
                <a:spcPct val="90000"/>
              </a:lnSpc>
              <a:spcBef>
                <a:spcPts val="1400"/>
              </a:spcBef>
              <a:spcAft>
                <a:spcPts val="0"/>
              </a:spcAft>
              <a:buSzPct val="100000"/>
              <a:buNone/>
            </a:pPr>
            <a:r>
              <a:rPr lang="en-IN" sz="2900"/>
              <a:t>	</a:t>
            </a:r>
            <a:r>
              <a:rPr b="1" lang="en-IN" sz="2900"/>
              <a:t>bash: ./hello.sh: Permission denied</a:t>
            </a:r>
            <a:endParaRPr/>
          </a:p>
          <a:p>
            <a:pPr indent="-101282" lvl="0" marL="91440" rtl="0" algn="l">
              <a:lnSpc>
                <a:spcPct val="90000"/>
              </a:lnSpc>
              <a:spcBef>
                <a:spcPts val="1400"/>
              </a:spcBef>
              <a:spcAft>
                <a:spcPts val="0"/>
              </a:spcAft>
              <a:buSzPct val="100000"/>
              <a:buChar char=" "/>
            </a:pPr>
            <a:r>
              <a:rPr lang="en-IN" sz="2900"/>
              <a:t>Type </a:t>
            </a:r>
            <a:r>
              <a:rPr b="1" lang="en-IN" sz="2900"/>
              <a:t>chmod u+x hello.sh</a:t>
            </a:r>
            <a:endParaRPr/>
          </a:p>
          <a:p>
            <a:pPr indent="-101282" lvl="0" marL="91440" rtl="0" algn="l">
              <a:lnSpc>
                <a:spcPct val="90000"/>
              </a:lnSpc>
              <a:spcBef>
                <a:spcPts val="1400"/>
              </a:spcBef>
              <a:spcAft>
                <a:spcPts val="0"/>
              </a:spcAft>
              <a:buSzPct val="100000"/>
              <a:buChar char=" "/>
            </a:pPr>
            <a:r>
              <a:rPr lang="en-IN" sz="2900"/>
              <a:t>And execute the program again</a:t>
            </a:r>
            <a:endParaRPr sz="2900"/>
          </a:p>
          <a:p>
            <a:pPr indent="0" lvl="0" marL="68580" rtl="0" algn="l">
              <a:lnSpc>
                <a:spcPct val="90000"/>
              </a:lnSpc>
              <a:spcBef>
                <a:spcPts val="1400"/>
              </a:spcBef>
              <a:spcAft>
                <a:spcPts val="0"/>
              </a:spcAft>
              <a:buSzPct val="100000"/>
              <a:buNone/>
            </a:pPr>
            <a:r>
              <a:t/>
            </a:r>
            <a:endParaRPr/>
          </a:p>
          <a:p>
            <a:pPr indent="-120014" lvl="1" marL="384048" rtl="0" algn="l">
              <a:lnSpc>
                <a:spcPct val="90000"/>
              </a:lnSpc>
              <a:spcBef>
                <a:spcPts val="400"/>
              </a:spcBef>
              <a:spcAft>
                <a:spcPts val="0"/>
              </a:spcAft>
              <a:buSzPct val="100000"/>
              <a:buNone/>
            </a:pPr>
            <a:r>
              <a:t/>
            </a:r>
            <a:endParaRPr sz="1800"/>
          </a:p>
        </p:txBody>
      </p:sp>
      <p:sp>
        <p:nvSpPr>
          <p:cNvPr id="1161" name="Google Shape;1161;p10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162" name="Google Shape;1162;p10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163" name="Google Shape;1163;p10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105"/>
          <p:cNvSpPr txBox="1"/>
          <p:nvPr>
            <p:ph type="title"/>
          </p:nvPr>
        </p:nvSpPr>
        <p:spPr>
          <a:xfrm>
            <a:off x="179512" y="0"/>
            <a:ext cx="7672816" cy="620688"/>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200"/>
              <a:buFont typeface="Calibri"/>
              <a:buNone/>
            </a:pPr>
            <a:r>
              <a:rPr b="1" lang="en-IN" sz="3200"/>
              <a:t>Chmod command</a:t>
            </a:r>
            <a:endParaRPr b="1" sz="3200"/>
          </a:p>
        </p:txBody>
      </p:sp>
      <p:sp>
        <p:nvSpPr>
          <p:cNvPr id="1169" name="Google Shape;1169;p105"/>
          <p:cNvSpPr txBox="1"/>
          <p:nvPr>
            <p:ph idx="1" type="body"/>
          </p:nvPr>
        </p:nvSpPr>
        <p:spPr>
          <a:xfrm>
            <a:off x="179512" y="764704"/>
            <a:ext cx="8136904" cy="4896544"/>
          </a:xfrm>
          <a:prstGeom prst="rect">
            <a:avLst/>
          </a:prstGeom>
          <a:noFill/>
          <a:ln>
            <a:noFill/>
          </a:ln>
        </p:spPr>
        <p:txBody>
          <a:bodyPr anchorCtr="0" anchor="t" bIns="45700" lIns="0" spcFirstLastPara="1" rIns="0" wrap="square" tIns="45700">
            <a:normAutofit fontScale="40000" lnSpcReduction="20000"/>
          </a:bodyPr>
          <a:lstStyle/>
          <a:p>
            <a:pPr indent="0" lvl="0" marL="68580" rtl="0" algn="l">
              <a:lnSpc>
                <a:spcPct val="90000"/>
              </a:lnSpc>
              <a:spcBef>
                <a:spcPts val="0"/>
              </a:spcBef>
              <a:spcAft>
                <a:spcPts val="0"/>
              </a:spcAft>
              <a:buSzPct val="100000"/>
              <a:buNone/>
            </a:pPr>
            <a:r>
              <a:rPr lang="en-IN" sz="4400"/>
              <a:t>The '</a:t>
            </a:r>
            <a:r>
              <a:rPr i="1" lang="en-IN" sz="4400"/>
              <a:t>chmod command</a:t>
            </a:r>
            <a:r>
              <a:rPr lang="en-IN" sz="4400"/>
              <a:t> is used to change the access permissions of a file. The syntax is as follows: </a:t>
            </a:r>
            <a:endParaRPr/>
          </a:p>
          <a:p>
            <a:pPr indent="0" lvl="0" marL="68580" rtl="0" algn="l">
              <a:lnSpc>
                <a:spcPct val="90000"/>
              </a:lnSpc>
              <a:spcBef>
                <a:spcPts val="1400"/>
              </a:spcBef>
              <a:spcAft>
                <a:spcPts val="0"/>
              </a:spcAft>
              <a:buSzPct val="100000"/>
              <a:buNone/>
            </a:pPr>
            <a:r>
              <a:t/>
            </a:r>
            <a:endParaRPr b="1" sz="4400"/>
          </a:p>
          <a:p>
            <a:pPr indent="0" lvl="0" marL="68580" rtl="0" algn="l">
              <a:lnSpc>
                <a:spcPct val="90000"/>
              </a:lnSpc>
              <a:spcBef>
                <a:spcPts val="1400"/>
              </a:spcBef>
              <a:spcAft>
                <a:spcPts val="0"/>
              </a:spcAft>
              <a:buSzPct val="100000"/>
              <a:buNone/>
            </a:pPr>
            <a:r>
              <a:rPr b="1" lang="en-IN" sz="4400"/>
              <a:t>chmod ugo+rwx filename Where, </a:t>
            </a:r>
            <a:endParaRPr/>
          </a:p>
          <a:p>
            <a:pPr indent="-111760" lvl="0" marL="91440" rtl="0" algn="l">
              <a:lnSpc>
                <a:spcPct val="90000"/>
              </a:lnSpc>
              <a:spcBef>
                <a:spcPts val="1400"/>
              </a:spcBef>
              <a:spcAft>
                <a:spcPts val="0"/>
              </a:spcAft>
              <a:buSzPct val="100000"/>
              <a:buChar char=" "/>
            </a:pPr>
            <a:r>
              <a:rPr lang="en-IN" sz="4400"/>
              <a:t>u : Users</a:t>
            </a:r>
            <a:endParaRPr/>
          </a:p>
          <a:p>
            <a:pPr indent="-111760" lvl="0" marL="91440" rtl="0" algn="l">
              <a:lnSpc>
                <a:spcPct val="90000"/>
              </a:lnSpc>
              <a:spcBef>
                <a:spcPts val="1400"/>
              </a:spcBef>
              <a:spcAft>
                <a:spcPts val="0"/>
              </a:spcAft>
              <a:buSzPct val="100000"/>
              <a:buChar char=" "/>
            </a:pPr>
            <a:r>
              <a:rPr lang="en-IN" sz="4400"/>
              <a:t>g : Groups</a:t>
            </a:r>
            <a:endParaRPr/>
          </a:p>
          <a:p>
            <a:pPr indent="-111760" lvl="0" marL="91440" rtl="0" algn="l">
              <a:lnSpc>
                <a:spcPct val="90000"/>
              </a:lnSpc>
              <a:spcBef>
                <a:spcPts val="1400"/>
              </a:spcBef>
              <a:spcAft>
                <a:spcPts val="0"/>
              </a:spcAft>
              <a:buSzPct val="100000"/>
              <a:buChar char=" "/>
            </a:pPr>
            <a:r>
              <a:rPr lang="en-IN" sz="4400"/>
              <a:t>o : Others</a:t>
            </a:r>
            <a:endParaRPr/>
          </a:p>
          <a:p>
            <a:pPr indent="-111760" lvl="0" marL="91440" rtl="0" algn="l">
              <a:lnSpc>
                <a:spcPct val="90000"/>
              </a:lnSpc>
              <a:spcBef>
                <a:spcPts val="1400"/>
              </a:spcBef>
              <a:spcAft>
                <a:spcPts val="0"/>
              </a:spcAft>
              <a:buSzPct val="100000"/>
              <a:buChar char=" "/>
            </a:pPr>
            <a:r>
              <a:rPr lang="en-IN" sz="4400"/>
              <a:t>+ : Adds the permission</a:t>
            </a:r>
            <a:endParaRPr/>
          </a:p>
          <a:p>
            <a:pPr indent="-111760" lvl="0" marL="91440" rtl="0" algn="l">
              <a:lnSpc>
                <a:spcPct val="90000"/>
              </a:lnSpc>
              <a:spcBef>
                <a:spcPts val="1400"/>
              </a:spcBef>
              <a:spcAft>
                <a:spcPts val="0"/>
              </a:spcAft>
              <a:buSzPct val="100000"/>
              <a:buChar char=" "/>
            </a:pPr>
            <a:r>
              <a:rPr lang="en-IN" sz="4400"/>
              <a:t>- : Removes the permission</a:t>
            </a:r>
            <a:endParaRPr/>
          </a:p>
          <a:p>
            <a:pPr indent="-111760" lvl="0" marL="91440" rtl="0" algn="l">
              <a:lnSpc>
                <a:spcPct val="90000"/>
              </a:lnSpc>
              <a:spcBef>
                <a:spcPts val="1400"/>
              </a:spcBef>
              <a:spcAft>
                <a:spcPts val="0"/>
              </a:spcAft>
              <a:buSzPct val="100000"/>
              <a:buChar char=" "/>
            </a:pPr>
            <a:r>
              <a:rPr lang="en-IN" sz="4400"/>
              <a:t>= : Overwrites current permissions</a:t>
            </a:r>
            <a:endParaRPr/>
          </a:p>
          <a:p>
            <a:pPr indent="-111760" lvl="0" marL="91440" rtl="0" algn="l">
              <a:lnSpc>
                <a:spcPct val="90000"/>
              </a:lnSpc>
              <a:spcBef>
                <a:spcPts val="1400"/>
              </a:spcBef>
              <a:spcAft>
                <a:spcPts val="0"/>
              </a:spcAft>
              <a:buSzPct val="100000"/>
              <a:buChar char=" "/>
            </a:pPr>
            <a:r>
              <a:rPr lang="en-IN" sz="4400"/>
              <a:t>r : Read permission</a:t>
            </a:r>
            <a:endParaRPr/>
          </a:p>
          <a:p>
            <a:pPr indent="-111760" lvl="0" marL="91440" rtl="0" algn="l">
              <a:lnSpc>
                <a:spcPct val="90000"/>
              </a:lnSpc>
              <a:spcBef>
                <a:spcPts val="1400"/>
              </a:spcBef>
              <a:spcAft>
                <a:spcPts val="0"/>
              </a:spcAft>
              <a:buSzPct val="100000"/>
              <a:buChar char=" "/>
            </a:pPr>
            <a:r>
              <a:rPr lang="en-IN" sz="4400"/>
              <a:t>w : Write permission</a:t>
            </a:r>
            <a:endParaRPr/>
          </a:p>
          <a:p>
            <a:pPr indent="-111760" lvl="0" marL="91440" rtl="0" algn="l">
              <a:lnSpc>
                <a:spcPct val="90000"/>
              </a:lnSpc>
              <a:spcBef>
                <a:spcPts val="1400"/>
              </a:spcBef>
              <a:spcAft>
                <a:spcPts val="0"/>
              </a:spcAft>
              <a:buSzPct val="100000"/>
              <a:buChar char=" "/>
            </a:pPr>
            <a:r>
              <a:rPr lang="en-IN" sz="4400"/>
              <a:t>x : Execute permission</a:t>
            </a:r>
            <a:endParaRPr/>
          </a:p>
          <a:p>
            <a:pPr indent="-40639" lvl="0" marL="91440" rtl="0" algn="l">
              <a:lnSpc>
                <a:spcPct val="90000"/>
              </a:lnSpc>
              <a:spcBef>
                <a:spcPts val="1400"/>
              </a:spcBef>
              <a:spcAft>
                <a:spcPts val="0"/>
              </a:spcAft>
              <a:buSzPct val="100000"/>
              <a:buNone/>
            </a:pPr>
            <a:r>
              <a:t/>
            </a:r>
            <a:endParaRPr/>
          </a:p>
        </p:txBody>
      </p:sp>
      <p:sp>
        <p:nvSpPr>
          <p:cNvPr id="1170" name="Google Shape;1170;p10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171" name="Google Shape;1171;p10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172" name="Google Shape;1172;p10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106"/>
          <p:cNvSpPr txBox="1"/>
          <p:nvPr>
            <p:ph type="title"/>
          </p:nvPr>
        </p:nvSpPr>
        <p:spPr>
          <a:xfrm>
            <a:off x="0" y="0"/>
            <a:ext cx="4788024" cy="836712"/>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200"/>
              <a:buFont typeface="Calibri"/>
              <a:buNone/>
            </a:pPr>
            <a:r>
              <a:rPr b="1" lang="en-IN" sz="3200"/>
              <a:t>Arithmetic expression </a:t>
            </a:r>
            <a:endParaRPr sz="3200"/>
          </a:p>
        </p:txBody>
      </p:sp>
      <p:sp>
        <p:nvSpPr>
          <p:cNvPr id="1178" name="Google Shape;1178;p106"/>
          <p:cNvSpPr txBox="1"/>
          <p:nvPr>
            <p:ph idx="1" type="body"/>
          </p:nvPr>
        </p:nvSpPr>
        <p:spPr>
          <a:xfrm>
            <a:off x="0" y="609600"/>
            <a:ext cx="7523569" cy="6248400"/>
          </a:xfrm>
          <a:prstGeom prst="rect">
            <a:avLst/>
          </a:prstGeom>
          <a:noFill/>
          <a:ln>
            <a:noFill/>
          </a:ln>
        </p:spPr>
        <p:txBody>
          <a:bodyPr anchorCtr="0" anchor="t" bIns="45700" lIns="0" spcFirstLastPara="1" rIns="0" wrap="square" tIns="45700">
            <a:noAutofit/>
          </a:bodyPr>
          <a:lstStyle/>
          <a:p>
            <a:pPr indent="-127000" lvl="0" marL="91440" rtl="0" algn="l">
              <a:lnSpc>
                <a:spcPct val="90000"/>
              </a:lnSpc>
              <a:spcBef>
                <a:spcPts val="0"/>
              </a:spcBef>
              <a:spcAft>
                <a:spcPts val="0"/>
              </a:spcAft>
              <a:buSzPts val="2000"/>
              <a:buChar char=" "/>
            </a:pPr>
            <a:r>
              <a:rPr lang="en-IN" sz="2000"/>
              <a:t>Arithmetic expansion allows the evaluation of an arithmetic expression and the substitution of the result. </a:t>
            </a:r>
            <a:endParaRPr sz="2000"/>
          </a:p>
          <a:p>
            <a:pPr indent="-127000" lvl="0" marL="91440" rtl="0" algn="l">
              <a:lnSpc>
                <a:spcPct val="90000"/>
              </a:lnSpc>
              <a:spcBef>
                <a:spcPts val="1400"/>
              </a:spcBef>
              <a:spcAft>
                <a:spcPts val="0"/>
              </a:spcAft>
              <a:buSzPts val="2000"/>
              <a:buChar char=" "/>
            </a:pPr>
            <a:r>
              <a:rPr lang="en-IN" sz="2000"/>
              <a:t>The format for arithmetic expansion is:</a:t>
            </a:r>
            <a:endParaRPr/>
          </a:p>
          <a:p>
            <a:pPr indent="0" lvl="0" marL="68580" rtl="0" algn="l">
              <a:lnSpc>
                <a:spcPct val="90000"/>
              </a:lnSpc>
              <a:spcBef>
                <a:spcPts val="1400"/>
              </a:spcBef>
              <a:spcAft>
                <a:spcPts val="0"/>
              </a:spcAft>
              <a:buSzPts val="2000"/>
              <a:buNone/>
            </a:pPr>
            <a:r>
              <a:rPr b="1" lang="en-IN" sz="2000"/>
              <a:t>		$((expression))</a:t>
            </a:r>
            <a:endParaRPr/>
          </a:p>
          <a:p>
            <a:pPr indent="0" lvl="0" marL="68580" rtl="0" algn="l">
              <a:lnSpc>
                <a:spcPct val="90000"/>
              </a:lnSpc>
              <a:spcBef>
                <a:spcPts val="1400"/>
              </a:spcBef>
              <a:spcAft>
                <a:spcPts val="0"/>
              </a:spcAft>
              <a:buSzPts val="3200"/>
              <a:buNone/>
            </a:pPr>
            <a:r>
              <a:rPr b="1" lang="en-IN" sz="3200"/>
              <a:t>Shell Script to Add Two Integers</a:t>
            </a:r>
            <a:endParaRPr b="1" sz="2000"/>
          </a:p>
          <a:p>
            <a:pPr indent="0" lvl="0" marL="0" rtl="0" algn="l">
              <a:lnSpc>
                <a:spcPct val="90000"/>
              </a:lnSpc>
              <a:spcBef>
                <a:spcPts val="1400"/>
              </a:spcBef>
              <a:spcAft>
                <a:spcPts val="0"/>
              </a:spcAft>
              <a:buSzPts val="2000"/>
              <a:buNone/>
            </a:pPr>
            <a:r>
              <a:rPr lang="en-IN" sz="2000"/>
              <a:t>#!/bin/bash</a:t>
            </a:r>
            <a:endParaRPr/>
          </a:p>
          <a:p>
            <a:pPr indent="0" lvl="0" marL="0" rtl="0" algn="l">
              <a:lnSpc>
                <a:spcPct val="90000"/>
              </a:lnSpc>
              <a:spcBef>
                <a:spcPts val="1400"/>
              </a:spcBef>
              <a:spcAft>
                <a:spcPts val="0"/>
              </a:spcAft>
              <a:buSzPts val="2000"/>
              <a:buNone/>
            </a:pPr>
            <a:r>
              <a:rPr lang="en-IN" sz="2000"/>
              <a:t># Calculate the sum of two integers with pre initialize values</a:t>
            </a:r>
            <a:endParaRPr/>
          </a:p>
          <a:p>
            <a:pPr indent="0" lvl="0" marL="0" rtl="0" algn="l">
              <a:lnSpc>
                <a:spcPct val="90000"/>
              </a:lnSpc>
              <a:spcBef>
                <a:spcPts val="1400"/>
              </a:spcBef>
              <a:spcAft>
                <a:spcPts val="0"/>
              </a:spcAft>
              <a:buSzPts val="2000"/>
              <a:buNone/>
            </a:pPr>
            <a:r>
              <a:rPr lang="en-IN" sz="2000"/>
              <a:t># in a shell script</a:t>
            </a:r>
            <a:endParaRPr/>
          </a:p>
          <a:p>
            <a:pPr indent="0" lvl="0" marL="0" rtl="0" algn="l">
              <a:lnSpc>
                <a:spcPct val="90000"/>
              </a:lnSpc>
              <a:spcBef>
                <a:spcPts val="1400"/>
              </a:spcBef>
              <a:spcAft>
                <a:spcPts val="0"/>
              </a:spcAft>
              <a:buSzPts val="2000"/>
              <a:buNone/>
            </a:pPr>
            <a:r>
              <a:rPr lang="en-IN" sz="2000"/>
              <a:t> a=10</a:t>
            </a:r>
            <a:endParaRPr/>
          </a:p>
          <a:p>
            <a:pPr indent="0" lvl="0" marL="0" rtl="0" algn="l">
              <a:lnSpc>
                <a:spcPct val="90000"/>
              </a:lnSpc>
              <a:spcBef>
                <a:spcPts val="1400"/>
              </a:spcBef>
              <a:spcAft>
                <a:spcPts val="0"/>
              </a:spcAft>
              <a:buSzPts val="2000"/>
              <a:buNone/>
            </a:pPr>
            <a:r>
              <a:rPr lang="en-IN" sz="2000"/>
              <a:t>b=20</a:t>
            </a:r>
            <a:endParaRPr/>
          </a:p>
          <a:p>
            <a:pPr indent="0" lvl="0" marL="0" rtl="0" algn="l">
              <a:lnSpc>
                <a:spcPct val="90000"/>
              </a:lnSpc>
              <a:spcBef>
                <a:spcPts val="1400"/>
              </a:spcBef>
              <a:spcAft>
                <a:spcPts val="0"/>
              </a:spcAft>
              <a:buSzPts val="2000"/>
              <a:buNone/>
            </a:pPr>
            <a:r>
              <a:rPr lang="en-IN" sz="2000"/>
              <a:t> sum=$(( $a + $b ))</a:t>
            </a:r>
            <a:endParaRPr/>
          </a:p>
          <a:p>
            <a:pPr indent="0" lvl="0" marL="0" rtl="0" algn="l">
              <a:lnSpc>
                <a:spcPct val="90000"/>
              </a:lnSpc>
              <a:spcBef>
                <a:spcPts val="1400"/>
              </a:spcBef>
              <a:spcAft>
                <a:spcPts val="0"/>
              </a:spcAft>
              <a:buSzPts val="2000"/>
              <a:buNone/>
            </a:pPr>
            <a:r>
              <a:rPr lang="en-IN" sz="2000"/>
              <a:t> </a:t>
            </a:r>
            <a:endParaRPr/>
          </a:p>
          <a:p>
            <a:pPr indent="0" lvl="0" marL="0" rtl="0" algn="l">
              <a:lnSpc>
                <a:spcPct val="90000"/>
              </a:lnSpc>
              <a:spcBef>
                <a:spcPts val="1400"/>
              </a:spcBef>
              <a:spcAft>
                <a:spcPts val="0"/>
              </a:spcAft>
              <a:buSzPts val="2000"/>
              <a:buNone/>
            </a:pPr>
            <a:r>
              <a:rPr lang="en-IN" sz="2000"/>
              <a:t>echo $sum</a:t>
            </a:r>
            <a:endParaRPr/>
          </a:p>
          <a:p>
            <a:pPr indent="0" lvl="0" marL="114300" rtl="0" algn="l">
              <a:lnSpc>
                <a:spcPct val="90000"/>
              </a:lnSpc>
              <a:spcBef>
                <a:spcPts val="1400"/>
              </a:spcBef>
              <a:spcAft>
                <a:spcPts val="0"/>
              </a:spcAft>
              <a:buSzPts val="2400"/>
              <a:buNone/>
            </a:pPr>
            <a:r>
              <a:t/>
            </a:r>
            <a:endParaRPr sz="2400"/>
          </a:p>
          <a:p>
            <a:pPr indent="0" lvl="0" marL="91440" rtl="0" algn="l">
              <a:lnSpc>
                <a:spcPct val="90000"/>
              </a:lnSpc>
              <a:spcBef>
                <a:spcPts val="1400"/>
              </a:spcBef>
              <a:spcAft>
                <a:spcPts val="0"/>
              </a:spcAft>
              <a:buSzPts val="2400"/>
              <a:buNone/>
            </a:pPr>
            <a:r>
              <a:t/>
            </a:r>
            <a:endParaRPr sz="2400"/>
          </a:p>
        </p:txBody>
      </p:sp>
      <p:sp>
        <p:nvSpPr>
          <p:cNvPr id="1179" name="Google Shape;1179;p10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180" name="Google Shape;1180;p10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181" name="Google Shape;1181;p10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182" name="Google Shape;1182;p106"/>
          <p:cNvSpPr txBox="1"/>
          <p:nvPr/>
        </p:nvSpPr>
        <p:spPr>
          <a:xfrm>
            <a:off x="1011568" y="-488324"/>
            <a:ext cx="5360632" cy="168507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chemeClr val="dk2"/>
              </a:buClr>
              <a:buSzPts val="2800"/>
              <a:buFont typeface="Calibri"/>
              <a:buNone/>
            </a:pPr>
            <a:r>
              <a:t/>
            </a:r>
            <a:endParaRPr b="1" sz="2800" cap="none">
              <a:solidFill>
                <a:schemeClr val="dk2"/>
              </a:solidFill>
              <a:latin typeface="Calibri"/>
              <a:ea typeface="Calibri"/>
              <a:cs typeface="Calibri"/>
              <a:sym typeface="Calibri"/>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107"/>
          <p:cNvSpPr txBox="1"/>
          <p:nvPr>
            <p:ph type="title"/>
          </p:nvPr>
        </p:nvSpPr>
        <p:spPr>
          <a:xfrm>
            <a:off x="63501" y="107339"/>
            <a:ext cx="8229600"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System Boot</a:t>
            </a:r>
            <a:endParaRPr/>
          </a:p>
        </p:txBody>
      </p:sp>
      <p:sp>
        <p:nvSpPr>
          <p:cNvPr id="1189" name="Google Shape;1189;p107"/>
          <p:cNvSpPr txBox="1"/>
          <p:nvPr>
            <p:ph idx="1" type="body"/>
          </p:nvPr>
        </p:nvSpPr>
        <p:spPr>
          <a:xfrm>
            <a:off x="179513" y="683601"/>
            <a:ext cx="8113588" cy="6129775"/>
          </a:xfrm>
          <a:prstGeom prst="rect">
            <a:avLst/>
          </a:prstGeom>
          <a:noFill/>
          <a:ln>
            <a:noFill/>
          </a:ln>
        </p:spPr>
        <p:txBody>
          <a:bodyPr anchorCtr="0" anchor="t" bIns="45700" lIns="0" spcFirstLastPara="1" rIns="0" wrap="square" tIns="45700">
            <a:noAutofit/>
          </a:bodyPr>
          <a:lstStyle/>
          <a:p>
            <a:pPr indent="-127000" lvl="0" marL="91440" rtl="0" algn="l">
              <a:lnSpc>
                <a:spcPct val="90000"/>
              </a:lnSpc>
              <a:spcBef>
                <a:spcPts val="0"/>
              </a:spcBef>
              <a:spcAft>
                <a:spcPts val="0"/>
              </a:spcAft>
              <a:buSzPts val="2000"/>
              <a:buChar char=" "/>
            </a:pPr>
            <a:r>
              <a:rPr lang="en-IN" sz="2000"/>
              <a:t>When power is initialized on system, </a:t>
            </a:r>
            <a:endParaRPr/>
          </a:p>
          <a:p>
            <a:pPr indent="-182880" lvl="1" marL="384048" rtl="0" algn="l">
              <a:lnSpc>
                <a:spcPct val="90000"/>
              </a:lnSpc>
              <a:spcBef>
                <a:spcPts val="400"/>
              </a:spcBef>
              <a:spcAft>
                <a:spcPts val="0"/>
              </a:spcAft>
              <a:buSzPts val="1800"/>
              <a:buChar char="◦"/>
            </a:pPr>
            <a:r>
              <a:rPr lang="en-IN"/>
              <a:t>execution starts at a fixed memory location,</a:t>
            </a:r>
            <a:endParaRPr/>
          </a:p>
          <a:p>
            <a:pPr indent="-182880" lvl="1" marL="384048" rtl="0" algn="l">
              <a:lnSpc>
                <a:spcPct val="90000"/>
              </a:lnSpc>
              <a:spcBef>
                <a:spcPts val="600"/>
              </a:spcBef>
              <a:spcAft>
                <a:spcPts val="0"/>
              </a:spcAft>
              <a:buSzPts val="1800"/>
              <a:buChar char="◦"/>
            </a:pPr>
            <a:r>
              <a:rPr b="1" lang="en-IN"/>
              <a:t>Firmware ROM used to hold initial boot code</a:t>
            </a:r>
            <a:endParaRPr/>
          </a:p>
          <a:p>
            <a:pPr indent="-127000" lvl="0" marL="91440" rtl="0" algn="l">
              <a:lnSpc>
                <a:spcPct val="90000"/>
              </a:lnSpc>
              <a:spcBef>
                <a:spcPts val="1600"/>
              </a:spcBef>
              <a:spcAft>
                <a:spcPts val="0"/>
              </a:spcAft>
              <a:buSzPts val="2000"/>
              <a:buChar char=" "/>
            </a:pPr>
            <a:r>
              <a:rPr lang="en-IN" sz="2000"/>
              <a:t>Operating system must be </a:t>
            </a:r>
            <a:endParaRPr/>
          </a:p>
          <a:p>
            <a:pPr indent="-182880" lvl="1" marL="384048" rtl="0" algn="l">
              <a:lnSpc>
                <a:spcPct val="90000"/>
              </a:lnSpc>
              <a:spcBef>
                <a:spcPts val="400"/>
              </a:spcBef>
              <a:spcAft>
                <a:spcPts val="0"/>
              </a:spcAft>
              <a:buSzPts val="1800"/>
              <a:buChar char="◦"/>
            </a:pPr>
            <a:r>
              <a:rPr lang="en-IN"/>
              <a:t>made available to hardware </a:t>
            </a:r>
            <a:endParaRPr/>
          </a:p>
          <a:p>
            <a:pPr indent="-182880" lvl="1" marL="384048" rtl="0" algn="l">
              <a:lnSpc>
                <a:spcPct val="90000"/>
              </a:lnSpc>
              <a:spcBef>
                <a:spcPts val="600"/>
              </a:spcBef>
              <a:spcAft>
                <a:spcPts val="0"/>
              </a:spcAft>
              <a:buSzPts val="1800"/>
              <a:buChar char="◦"/>
            </a:pPr>
            <a:r>
              <a:rPr lang="en-IN"/>
              <a:t>so hardware can start it</a:t>
            </a:r>
            <a:endParaRPr/>
          </a:p>
          <a:p>
            <a:pPr indent="-127000" lvl="0" marL="91440" rtl="0" algn="l">
              <a:lnSpc>
                <a:spcPct val="90000"/>
              </a:lnSpc>
              <a:spcBef>
                <a:spcPts val="1600"/>
              </a:spcBef>
              <a:spcAft>
                <a:spcPts val="0"/>
              </a:spcAft>
              <a:buSzPts val="2000"/>
              <a:buChar char=" "/>
            </a:pPr>
            <a:r>
              <a:rPr b="1" lang="en-IN">
                <a:solidFill>
                  <a:srgbClr val="3366FF"/>
                </a:solidFill>
              </a:rPr>
              <a:t>Bootstrap loader </a:t>
            </a:r>
            <a:endParaRPr/>
          </a:p>
          <a:p>
            <a:pPr indent="-182880" lvl="1" marL="384048" rtl="0" algn="l">
              <a:lnSpc>
                <a:spcPct val="90000"/>
              </a:lnSpc>
              <a:spcBef>
                <a:spcPts val="400"/>
              </a:spcBef>
              <a:spcAft>
                <a:spcPts val="0"/>
              </a:spcAft>
              <a:buSzPts val="2400"/>
              <a:buChar char="◦"/>
            </a:pPr>
            <a:r>
              <a:rPr lang="en-IN" sz="2400"/>
              <a:t>Small piece of code, </a:t>
            </a:r>
            <a:endParaRPr/>
          </a:p>
          <a:p>
            <a:pPr indent="-182880" lvl="1" marL="384048" rtl="0" algn="l">
              <a:lnSpc>
                <a:spcPct val="90000"/>
              </a:lnSpc>
              <a:spcBef>
                <a:spcPts val="600"/>
              </a:spcBef>
              <a:spcAft>
                <a:spcPts val="0"/>
              </a:spcAft>
              <a:buSzPts val="2400"/>
              <a:buChar char="◦"/>
            </a:pPr>
            <a:r>
              <a:rPr lang="en-IN" sz="2400"/>
              <a:t>stored in </a:t>
            </a:r>
            <a:r>
              <a:rPr b="1" lang="en-IN" sz="2400">
                <a:solidFill>
                  <a:srgbClr val="3366FF"/>
                </a:solidFill>
              </a:rPr>
              <a:t>ROM</a:t>
            </a:r>
            <a:r>
              <a:rPr lang="en-IN" sz="2400"/>
              <a:t> or </a:t>
            </a:r>
            <a:r>
              <a:rPr b="1" lang="en-IN" sz="2400">
                <a:solidFill>
                  <a:srgbClr val="3366FF"/>
                </a:solidFill>
              </a:rPr>
              <a:t>EEPROM</a:t>
            </a:r>
            <a:r>
              <a:rPr lang="en-IN" sz="2400"/>
              <a:t> (</a:t>
            </a:r>
            <a:r>
              <a:rPr lang="en-IN"/>
              <a:t>electrically erasable programmable read-only memory)</a:t>
            </a:r>
            <a:endParaRPr sz="2400"/>
          </a:p>
          <a:p>
            <a:pPr indent="-182880" lvl="1" marL="384048" rtl="0" algn="l">
              <a:lnSpc>
                <a:spcPct val="90000"/>
              </a:lnSpc>
              <a:spcBef>
                <a:spcPts val="600"/>
              </a:spcBef>
              <a:spcAft>
                <a:spcPts val="0"/>
              </a:spcAft>
              <a:buSzPts val="2400"/>
              <a:buChar char="◦"/>
            </a:pPr>
            <a:r>
              <a:rPr lang="en-IN" sz="2400"/>
              <a:t>locates the kernel, </a:t>
            </a:r>
            <a:endParaRPr/>
          </a:p>
          <a:p>
            <a:pPr indent="-182880" lvl="1" marL="384048" rtl="0" algn="l">
              <a:lnSpc>
                <a:spcPct val="90000"/>
              </a:lnSpc>
              <a:spcBef>
                <a:spcPts val="600"/>
              </a:spcBef>
              <a:spcAft>
                <a:spcPts val="0"/>
              </a:spcAft>
              <a:buSzPts val="2400"/>
              <a:buChar char="◦"/>
            </a:pPr>
            <a:r>
              <a:rPr lang="en-IN" sz="2400"/>
              <a:t>loads it into memory, and </a:t>
            </a:r>
            <a:endParaRPr/>
          </a:p>
          <a:p>
            <a:pPr indent="-182880" lvl="1" marL="384048" rtl="0" algn="l">
              <a:lnSpc>
                <a:spcPct val="90000"/>
              </a:lnSpc>
              <a:spcBef>
                <a:spcPts val="600"/>
              </a:spcBef>
              <a:spcAft>
                <a:spcPts val="0"/>
              </a:spcAft>
              <a:buSzPts val="2400"/>
              <a:buChar char="◦"/>
            </a:pPr>
            <a:r>
              <a:rPr lang="en-IN" sz="2400"/>
              <a:t>starts it</a:t>
            </a:r>
            <a:endParaRPr/>
          </a:p>
          <a:p>
            <a:pPr indent="-68579" lvl="1" marL="384048" rtl="0" algn="l">
              <a:lnSpc>
                <a:spcPct val="90000"/>
              </a:lnSpc>
              <a:spcBef>
                <a:spcPts val="600"/>
              </a:spcBef>
              <a:spcAft>
                <a:spcPts val="0"/>
              </a:spcAft>
              <a:buSzPts val="1800"/>
              <a:buNone/>
            </a:pPr>
            <a:r>
              <a:t/>
            </a:r>
            <a:endParaRPr/>
          </a:p>
        </p:txBody>
      </p:sp>
      <p:sp>
        <p:nvSpPr>
          <p:cNvPr id="1190" name="Google Shape;1190;p10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191" name="Google Shape;1191;p10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192" name="Google Shape;1192;p10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108"/>
          <p:cNvSpPr txBox="1"/>
          <p:nvPr>
            <p:ph type="title"/>
          </p:nvPr>
        </p:nvSpPr>
        <p:spPr>
          <a:xfrm>
            <a:off x="289560" y="-94396"/>
            <a:ext cx="75438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IN"/>
              <a:t>System Boot</a:t>
            </a:r>
            <a:endParaRPr/>
          </a:p>
        </p:txBody>
      </p:sp>
      <p:sp>
        <p:nvSpPr>
          <p:cNvPr id="1199" name="Google Shape;1199;p108"/>
          <p:cNvSpPr txBox="1"/>
          <p:nvPr>
            <p:ph idx="1" type="body"/>
          </p:nvPr>
        </p:nvSpPr>
        <p:spPr>
          <a:xfrm>
            <a:off x="323528" y="1412776"/>
            <a:ext cx="4038600" cy="4525963"/>
          </a:xfrm>
          <a:prstGeom prst="rect">
            <a:avLst/>
          </a:prstGeom>
          <a:noFill/>
          <a:ln>
            <a:noFill/>
          </a:ln>
        </p:spPr>
        <p:txBody>
          <a:bodyPr anchorCtr="0" anchor="t" bIns="45700" lIns="0" spcFirstLastPara="1" rIns="0" wrap="square" tIns="45700">
            <a:noAutofit/>
          </a:bodyPr>
          <a:lstStyle/>
          <a:p>
            <a:pPr indent="-360045" lvl="1" marL="342900" rtl="0" algn="l">
              <a:lnSpc>
                <a:spcPct val="90000"/>
              </a:lnSpc>
              <a:spcBef>
                <a:spcPts val="0"/>
              </a:spcBef>
              <a:spcAft>
                <a:spcPts val="0"/>
              </a:spcAft>
              <a:buSzPts val="1800"/>
              <a:buFont typeface="Arial"/>
              <a:buChar char="•"/>
            </a:pPr>
            <a:r>
              <a:rPr lang="en-IN"/>
              <a:t>Sometimes two-step process where </a:t>
            </a:r>
            <a:endParaRPr/>
          </a:p>
          <a:p>
            <a:pPr indent="-327660" lvl="2" marL="742950" rtl="0" algn="l">
              <a:lnSpc>
                <a:spcPct val="90000"/>
              </a:lnSpc>
              <a:spcBef>
                <a:spcPts val="600"/>
              </a:spcBef>
              <a:spcAft>
                <a:spcPts val="0"/>
              </a:spcAft>
              <a:buSzPts val="1800"/>
              <a:buChar char="◦"/>
            </a:pPr>
            <a:r>
              <a:rPr b="1" lang="en-IN" sz="1800">
                <a:solidFill>
                  <a:srgbClr val="3366FF"/>
                </a:solidFill>
              </a:rPr>
              <a:t>Boot block </a:t>
            </a:r>
            <a:r>
              <a:rPr lang="en-IN" sz="1800"/>
              <a:t>at fixed location loaded by ROM code, </a:t>
            </a:r>
            <a:endParaRPr sz="1800"/>
          </a:p>
          <a:p>
            <a:pPr indent="-327660" lvl="2" marL="742950" rtl="0" algn="l">
              <a:lnSpc>
                <a:spcPct val="90000"/>
              </a:lnSpc>
              <a:spcBef>
                <a:spcPts val="600"/>
              </a:spcBef>
              <a:spcAft>
                <a:spcPts val="0"/>
              </a:spcAft>
              <a:buSzPts val="1800"/>
              <a:buChar char="◦"/>
            </a:pPr>
            <a:r>
              <a:rPr lang="en-IN" sz="1800"/>
              <a:t>which loads bootstrap loader from disk</a:t>
            </a:r>
            <a:endParaRPr sz="1800"/>
          </a:p>
          <a:p>
            <a:pPr indent="-327660" lvl="2" marL="742950" rtl="0" algn="l">
              <a:lnSpc>
                <a:spcPct val="90000"/>
              </a:lnSpc>
              <a:spcBef>
                <a:spcPts val="600"/>
              </a:spcBef>
              <a:spcAft>
                <a:spcPts val="0"/>
              </a:spcAft>
              <a:buSzPts val="1800"/>
              <a:buChar char="◦"/>
            </a:pPr>
            <a:r>
              <a:rPr lang="en-IN" sz="1800"/>
              <a:t>Then loader continues with its job</a:t>
            </a:r>
            <a:endParaRPr sz="1800"/>
          </a:p>
          <a:p>
            <a:pPr indent="-114300" lvl="0" marL="91440" rtl="0" algn="l">
              <a:lnSpc>
                <a:spcPct val="90000"/>
              </a:lnSpc>
              <a:spcBef>
                <a:spcPts val="1600"/>
              </a:spcBef>
              <a:spcAft>
                <a:spcPts val="0"/>
              </a:spcAft>
              <a:buSzPts val="1800"/>
              <a:buChar char=" "/>
            </a:pPr>
            <a:r>
              <a:rPr lang="en-IN" sz="1800"/>
              <a:t>Common bootstrap loader, </a:t>
            </a:r>
            <a:endParaRPr sz="1800"/>
          </a:p>
          <a:p>
            <a:pPr indent="-200025" lvl="1" marL="384048" rtl="0" algn="l">
              <a:lnSpc>
                <a:spcPct val="90000"/>
              </a:lnSpc>
              <a:spcBef>
                <a:spcPts val="400"/>
              </a:spcBef>
              <a:spcAft>
                <a:spcPts val="0"/>
              </a:spcAft>
              <a:buSzPts val="1800"/>
              <a:buChar char="◦"/>
            </a:pPr>
            <a:r>
              <a:rPr b="1" lang="en-IN">
                <a:solidFill>
                  <a:srgbClr val="3366FF"/>
                </a:solidFill>
              </a:rPr>
              <a:t>GRUB</a:t>
            </a:r>
            <a:r>
              <a:rPr lang="en-IN"/>
              <a:t>, </a:t>
            </a:r>
            <a:endParaRPr/>
          </a:p>
          <a:p>
            <a:pPr indent="-200025" lvl="1" marL="384048" rtl="0" algn="l">
              <a:lnSpc>
                <a:spcPct val="90000"/>
              </a:lnSpc>
              <a:spcBef>
                <a:spcPts val="600"/>
              </a:spcBef>
              <a:spcAft>
                <a:spcPts val="0"/>
              </a:spcAft>
              <a:buSzPts val="1800"/>
              <a:buChar char="◦"/>
            </a:pPr>
            <a:r>
              <a:rPr lang="en-IN"/>
              <a:t>allows selection of kernel from </a:t>
            </a:r>
            <a:endParaRPr/>
          </a:p>
          <a:p>
            <a:pPr indent="-221615" lvl="2" marL="566928" rtl="0" algn="l">
              <a:lnSpc>
                <a:spcPct val="90000"/>
              </a:lnSpc>
              <a:spcBef>
                <a:spcPts val="600"/>
              </a:spcBef>
              <a:spcAft>
                <a:spcPts val="0"/>
              </a:spcAft>
              <a:buSzPts val="1800"/>
              <a:buChar char="◦"/>
            </a:pPr>
            <a:r>
              <a:rPr lang="en-IN" sz="1800"/>
              <a:t>multiple disks, </a:t>
            </a:r>
            <a:endParaRPr sz="1800"/>
          </a:p>
          <a:p>
            <a:pPr indent="-221615" lvl="2" marL="566928" rtl="0" algn="l">
              <a:lnSpc>
                <a:spcPct val="90000"/>
              </a:lnSpc>
              <a:spcBef>
                <a:spcPts val="600"/>
              </a:spcBef>
              <a:spcAft>
                <a:spcPts val="0"/>
              </a:spcAft>
              <a:buSzPts val="1800"/>
              <a:buChar char="◦"/>
            </a:pPr>
            <a:r>
              <a:rPr lang="en-IN" sz="1800"/>
              <a:t>versions, </a:t>
            </a:r>
            <a:endParaRPr sz="1800"/>
          </a:p>
          <a:p>
            <a:pPr indent="-221615" lvl="2" marL="566928" rtl="0" algn="l">
              <a:lnSpc>
                <a:spcPct val="90000"/>
              </a:lnSpc>
              <a:spcBef>
                <a:spcPts val="600"/>
              </a:spcBef>
              <a:spcAft>
                <a:spcPts val="0"/>
              </a:spcAft>
              <a:buSzPts val="1800"/>
              <a:buChar char="◦"/>
            </a:pPr>
            <a:r>
              <a:rPr lang="en-IN" sz="1800"/>
              <a:t>kernel options</a:t>
            </a:r>
            <a:endParaRPr sz="1800"/>
          </a:p>
          <a:p>
            <a:pPr indent="0" lvl="0" marL="91440" rtl="0" algn="l">
              <a:lnSpc>
                <a:spcPct val="90000"/>
              </a:lnSpc>
              <a:spcBef>
                <a:spcPts val="1400"/>
              </a:spcBef>
              <a:spcAft>
                <a:spcPts val="0"/>
              </a:spcAft>
              <a:buNone/>
            </a:pPr>
            <a:r>
              <a:rPr lang="en-IN" sz="1800"/>
              <a:t>Kernel loads and </a:t>
            </a:r>
            <a:endParaRPr sz="1800"/>
          </a:p>
          <a:p>
            <a:pPr indent="-200025" lvl="1" marL="384048" rtl="0" algn="l">
              <a:lnSpc>
                <a:spcPct val="90000"/>
              </a:lnSpc>
              <a:spcBef>
                <a:spcPts val="400"/>
              </a:spcBef>
              <a:spcAft>
                <a:spcPts val="0"/>
              </a:spcAft>
              <a:buSzPts val="1800"/>
              <a:buChar char="◦"/>
            </a:pPr>
            <a:r>
              <a:rPr lang="en-IN"/>
              <a:t>system is then </a:t>
            </a:r>
            <a:r>
              <a:rPr b="1" lang="en-IN">
                <a:solidFill>
                  <a:srgbClr val="3366FF"/>
                </a:solidFill>
              </a:rPr>
              <a:t>running</a:t>
            </a:r>
            <a:endParaRPr/>
          </a:p>
          <a:p>
            <a:pPr indent="0" lvl="0" marL="91440" rtl="0" algn="l">
              <a:lnSpc>
                <a:spcPct val="90000"/>
              </a:lnSpc>
              <a:spcBef>
                <a:spcPts val="1600"/>
              </a:spcBef>
              <a:spcAft>
                <a:spcPts val="0"/>
              </a:spcAft>
              <a:buSzPts val="2000"/>
              <a:buNone/>
            </a:pPr>
            <a:r>
              <a:t/>
            </a:r>
            <a:endParaRPr sz="1800"/>
          </a:p>
        </p:txBody>
      </p:sp>
      <p:sp>
        <p:nvSpPr>
          <p:cNvPr id="1200" name="Google Shape;1200;p10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201" name="Google Shape;1201;p10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202" name="Google Shape;1202;p10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descr="https://wiki.tizen.org/images/thumb/b/b6/Boot-1.png/500px-Boot-1.png" id="1203" name="Google Shape;1203;p108"/>
          <p:cNvPicPr preferRelativeResize="0"/>
          <p:nvPr/>
        </p:nvPicPr>
        <p:blipFill rotWithShape="1">
          <a:blip r:embed="rId3">
            <a:alphaModFix/>
          </a:blip>
          <a:srcRect b="0" l="0" r="0" t="0"/>
          <a:stretch/>
        </p:blipFill>
        <p:spPr>
          <a:xfrm>
            <a:off x="5050160" y="96417"/>
            <a:ext cx="3918801" cy="2304256"/>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sp>
        <p:nvSpPr>
          <p:cNvPr id="1209" name="Google Shape;1209;p109"/>
          <p:cNvSpPr txBox="1"/>
          <p:nvPr>
            <p:ph type="title"/>
          </p:nvPr>
        </p:nvSpPr>
        <p:spPr>
          <a:xfrm>
            <a:off x="63500" y="33338"/>
            <a:ext cx="8229600"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System Boot</a:t>
            </a:r>
            <a:endParaRPr/>
          </a:p>
        </p:txBody>
      </p:sp>
      <p:sp>
        <p:nvSpPr>
          <p:cNvPr id="1210" name="Google Shape;1210;p109"/>
          <p:cNvSpPr txBox="1"/>
          <p:nvPr>
            <p:ph idx="1" type="body"/>
          </p:nvPr>
        </p:nvSpPr>
        <p:spPr>
          <a:xfrm>
            <a:off x="179512" y="609600"/>
            <a:ext cx="8113588" cy="6491808"/>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IN" sz="2000"/>
              <a:t>The boot process is something that </a:t>
            </a:r>
            <a:endParaRPr sz="2000"/>
          </a:p>
          <a:p>
            <a:pPr indent="-182880" lvl="1" marL="384048" rtl="0" algn="l">
              <a:lnSpc>
                <a:spcPct val="90000"/>
              </a:lnSpc>
              <a:spcBef>
                <a:spcPts val="400"/>
              </a:spcBef>
              <a:spcAft>
                <a:spcPts val="0"/>
              </a:spcAft>
              <a:buSzPts val="1800"/>
              <a:buChar char="◦"/>
            </a:pPr>
            <a:r>
              <a:rPr lang="en-IN"/>
              <a:t>happens every time you turn your computer on. You don’t really see it, because it happens so fast. </a:t>
            </a:r>
            <a:r>
              <a:rPr lang="en-IN" sz="2000"/>
              <a:t>You press the power button, </a:t>
            </a:r>
            <a:r>
              <a:rPr lang="en-IN"/>
              <a:t>come back a few minutes later and Windows XP, or Windows Vista, or whatever Operating System you use is all loaded.</a:t>
            </a:r>
            <a:endParaRPr b="1">
              <a:solidFill>
                <a:srgbClr val="3366FF"/>
              </a:solidFill>
            </a:endParaRPr>
          </a:p>
        </p:txBody>
      </p:sp>
      <p:sp>
        <p:nvSpPr>
          <p:cNvPr id="1211" name="Google Shape;1211;p10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212" name="Google Shape;1212;p10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213" name="Google Shape;1213;p10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1214" name="Google Shape;1214;p109"/>
          <p:cNvPicPr preferRelativeResize="0"/>
          <p:nvPr/>
        </p:nvPicPr>
        <p:blipFill rotWithShape="1">
          <a:blip r:embed="rId3">
            <a:alphaModFix/>
          </a:blip>
          <a:srcRect b="0" l="0" r="0" t="16403"/>
          <a:stretch/>
        </p:blipFill>
        <p:spPr>
          <a:xfrm>
            <a:off x="5555404" y="2132320"/>
            <a:ext cx="2799421" cy="2088232"/>
          </a:xfrm>
          <a:prstGeom prst="rect">
            <a:avLst/>
          </a:prstGeom>
          <a:noFill/>
          <a:ln>
            <a:noFill/>
          </a:ln>
        </p:spPr>
      </p:pic>
      <p:sp>
        <p:nvSpPr>
          <p:cNvPr id="1215" name="Google Shape;1215;p109"/>
          <p:cNvSpPr/>
          <p:nvPr/>
        </p:nvSpPr>
        <p:spPr>
          <a:xfrm>
            <a:off x="66137" y="2056477"/>
            <a:ext cx="8408158" cy="458587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3200">
                <a:solidFill>
                  <a:schemeClr val="dk1"/>
                </a:solidFill>
                <a:latin typeface="Calibri"/>
                <a:ea typeface="Calibri"/>
                <a:cs typeface="Calibri"/>
                <a:sym typeface="Calibri"/>
              </a:rPr>
              <a:t>System Boot- The working</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IN" sz="2000">
                <a:solidFill>
                  <a:schemeClr val="dk1"/>
                </a:solidFill>
                <a:latin typeface="Calibri"/>
                <a:ea typeface="Calibri"/>
                <a:cs typeface="Calibri"/>
                <a:sym typeface="Calibri"/>
              </a:rPr>
              <a:t>The CPU initializes itself </a:t>
            </a:r>
            <a:endParaRPr/>
          </a:p>
          <a:p>
            <a:pPr indent="0" lvl="1" marL="457200" marR="0" rtl="0" algn="l">
              <a:spcBef>
                <a:spcPts val="0"/>
              </a:spcBef>
              <a:spcAft>
                <a:spcPts val="0"/>
              </a:spcAft>
              <a:buNone/>
            </a:pPr>
            <a:r>
              <a:rPr b="0" i="0" lang="en-IN" sz="2000" u="none" cap="none" strike="noStrike">
                <a:solidFill>
                  <a:schemeClr val="dk1"/>
                </a:solidFill>
                <a:latin typeface="Calibri"/>
                <a:ea typeface="Calibri"/>
                <a:cs typeface="Calibri"/>
                <a:sym typeface="Calibri"/>
              </a:rPr>
              <a:t>after the power in the computer is first turned on. </a:t>
            </a:r>
            <a:endParaRPr/>
          </a:p>
          <a:p>
            <a:pPr indent="0" lvl="1" marL="457200" marR="0" rtl="0" algn="l">
              <a:spcBef>
                <a:spcPts val="0"/>
              </a:spcBef>
              <a:spcAft>
                <a:spcPts val="0"/>
              </a:spcAft>
              <a:buNone/>
            </a:pPr>
            <a:r>
              <a:rPr b="0" i="0" lang="en-IN" sz="2000" u="none" cap="none" strike="noStrike">
                <a:solidFill>
                  <a:schemeClr val="dk1"/>
                </a:solidFill>
                <a:latin typeface="Calibri"/>
                <a:ea typeface="Calibri"/>
                <a:cs typeface="Calibri"/>
                <a:sym typeface="Calibri"/>
              </a:rPr>
              <a:t>This is done by triggering a series of clock ticks </a:t>
            </a:r>
            <a:endParaRPr/>
          </a:p>
          <a:p>
            <a:pPr indent="0" lvl="1" marL="457200" marR="0" rtl="0" algn="l">
              <a:spcBef>
                <a:spcPts val="0"/>
              </a:spcBef>
              <a:spcAft>
                <a:spcPts val="0"/>
              </a:spcAft>
              <a:buNone/>
            </a:pPr>
            <a:r>
              <a:rPr b="0" i="0" lang="en-IN" sz="2000" u="none" cap="none" strike="noStrike">
                <a:solidFill>
                  <a:schemeClr val="dk1"/>
                </a:solidFill>
                <a:latin typeface="Calibri"/>
                <a:ea typeface="Calibri"/>
                <a:cs typeface="Calibri"/>
                <a:sym typeface="Calibri"/>
              </a:rPr>
              <a:t>that are generated by the system clock</a:t>
            </a:r>
            <a:endParaRPr/>
          </a:p>
          <a:p>
            <a:pPr indent="0" lvl="0" marL="0" marR="0" rtl="0" algn="l">
              <a:spcBef>
                <a:spcPts val="0"/>
              </a:spcBef>
              <a:spcAft>
                <a:spcPts val="0"/>
              </a:spcAft>
              <a:buNone/>
            </a:pPr>
            <a:r>
              <a:rPr lang="en-IN" sz="2000">
                <a:solidFill>
                  <a:schemeClr val="dk1"/>
                </a:solidFill>
                <a:latin typeface="Calibri"/>
                <a:ea typeface="Calibri"/>
                <a:cs typeface="Calibri"/>
                <a:sym typeface="Calibri"/>
              </a:rPr>
              <a:t>After this, the CPU looks for the system’s ROM BIOS </a:t>
            </a:r>
            <a:endParaRPr/>
          </a:p>
          <a:p>
            <a:pPr indent="0" lvl="1" marL="457200" marR="0" rtl="0" algn="l">
              <a:spcBef>
                <a:spcPts val="0"/>
              </a:spcBef>
              <a:spcAft>
                <a:spcPts val="0"/>
              </a:spcAft>
              <a:buNone/>
            </a:pPr>
            <a:r>
              <a:rPr b="0" i="0" lang="en-IN" sz="2000" u="none" cap="none" strike="noStrike">
                <a:solidFill>
                  <a:schemeClr val="dk1"/>
                </a:solidFill>
                <a:latin typeface="Calibri"/>
                <a:ea typeface="Calibri"/>
                <a:cs typeface="Calibri"/>
                <a:sym typeface="Calibri"/>
              </a:rPr>
              <a:t>to obtain the first instruction in the start-up program. </a:t>
            </a:r>
            <a:endParaRPr/>
          </a:p>
          <a:p>
            <a:pPr indent="0" lvl="1" marL="457200" marR="0" rtl="0" algn="l">
              <a:spcBef>
                <a:spcPts val="0"/>
              </a:spcBef>
              <a:spcAft>
                <a:spcPts val="0"/>
              </a:spcAft>
              <a:buNone/>
            </a:pPr>
            <a:r>
              <a:rPr b="0" i="0" lang="en-IN" sz="2000" u="none" cap="none" strike="noStrike">
                <a:solidFill>
                  <a:schemeClr val="dk1"/>
                </a:solidFill>
                <a:latin typeface="Calibri"/>
                <a:ea typeface="Calibri"/>
                <a:cs typeface="Calibri"/>
                <a:sym typeface="Calibri"/>
              </a:rPr>
              <a:t>This first instruction is stored in the ROM BIOS and </a:t>
            </a:r>
            <a:endParaRPr/>
          </a:p>
          <a:p>
            <a:pPr indent="0" lvl="1" marL="457200" marR="0" rtl="0" algn="l">
              <a:spcBef>
                <a:spcPts val="0"/>
              </a:spcBef>
              <a:spcAft>
                <a:spcPts val="0"/>
              </a:spcAft>
              <a:buNone/>
            </a:pPr>
            <a:r>
              <a:rPr b="0" i="0" lang="en-IN" sz="2000" u="none" cap="none" strike="noStrike">
                <a:solidFill>
                  <a:schemeClr val="dk1"/>
                </a:solidFill>
                <a:latin typeface="Calibri"/>
                <a:ea typeface="Calibri"/>
                <a:cs typeface="Calibri"/>
                <a:sym typeface="Calibri"/>
              </a:rPr>
              <a:t>it instructs the system to </a:t>
            </a:r>
            <a:endParaRPr/>
          </a:p>
          <a:p>
            <a:pPr indent="0" lvl="2" marL="914400" marR="0" rtl="0" algn="l">
              <a:spcBef>
                <a:spcPts val="0"/>
              </a:spcBef>
              <a:spcAft>
                <a:spcPts val="0"/>
              </a:spcAft>
              <a:buNone/>
            </a:pPr>
            <a:r>
              <a:rPr b="0" i="0" lang="en-IN" sz="2000" u="none" cap="none" strike="noStrike">
                <a:solidFill>
                  <a:schemeClr val="dk1"/>
                </a:solidFill>
                <a:latin typeface="Calibri"/>
                <a:ea typeface="Calibri"/>
                <a:cs typeface="Calibri"/>
                <a:sym typeface="Calibri"/>
              </a:rPr>
              <a:t>run POST (Power On Self Test) </a:t>
            </a:r>
            <a:endParaRPr/>
          </a:p>
          <a:p>
            <a:pPr indent="0" lvl="2" marL="914400" marR="0" rtl="0" algn="l">
              <a:spcBef>
                <a:spcPts val="0"/>
              </a:spcBef>
              <a:spcAft>
                <a:spcPts val="0"/>
              </a:spcAft>
              <a:buNone/>
            </a:pPr>
            <a:r>
              <a:rPr b="0" i="0" lang="en-IN" sz="2000" u="none" cap="none" strike="noStrike">
                <a:solidFill>
                  <a:schemeClr val="dk1"/>
                </a:solidFill>
                <a:latin typeface="Calibri"/>
                <a:ea typeface="Calibri"/>
                <a:cs typeface="Calibri"/>
                <a:sym typeface="Calibri"/>
              </a:rPr>
              <a:t>in a memory address that is predetermined.</a:t>
            </a:r>
            <a:endParaRPr/>
          </a:p>
          <a:p>
            <a:pPr indent="0" lvl="0" marL="0" marR="0" rtl="0" algn="l">
              <a:spcBef>
                <a:spcPts val="0"/>
              </a:spcBef>
              <a:spcAft>
                <a:spcPts val="0"/>
              </a:spcAft>
              <a:buNone/>
            </a:pPr>
            <a:r>
              <a:rPr lang="en-IN" sz="2000">
                <a:solidFill>
                  <a:schemeClr val="dk1"/>
                </a:solidFill>
                <a:latin typeface="Calibri"/>
                <a:ea typeface="Calibri"/>
                <a:cs typeface="Calibri"/>
                <a:sym typeface="Calibri"/>
              </a:rPr>
              <a:t>Since ROM is read only, </a:t>
            </a:r>
            <a:endParaRPr/>
          </a:p>
          <a:p>
            <a:pPr indent="0" lvl="1" marL="457200" marR="0" rtl="0" algn="l">
              <a:spcBef>
                <a:spcPts val="0"/>
              </a:spcBef>
              <a:spcAft>
                <a:spcPts val="0"/>
              </a:spcAft>
              <a:buNone/>
            </a:pPr>
            <a:r>
              <a:rPr b="0" i="0" lang="en-IN" sz="2000" u="none" cap="none" strike="noStrike">
                <a:solidFill>
                  <a:schemeClr val="dk1"/>
                </a:solidFill>
                <a:latin typeface="Calibri"/>
                <a:ea typeface="Calibri"/>
                <a:cs typeface="Calibri"/>
                <a:sym typeface="Calibri"/>
              </a:rPr>
              <a:t>it cannot be infected by a computer virus.</a:t>
            </a:r>
            <a:endParaRPr/>
          </a:p>
          <a:p>
            <a:pPr indent="0" lvl="1" marL="457200" marR="0" rtl="0" algn="l">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110"/>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IN"/>
              <a:t>System Boot- The working</a:t>
            </a:r>
            <a:endParaRPr/>
          </a:p>
        </p:txBody>
      </p:sp>
      <p:sp>
        <p:nvSpPr>
          <p:cNvPr id="1221" name="Google Shape;1221;p110"/>
          <p:cNvSpPr txBox="1"/>
          <p:nvPr>
            <p:ph idx="1" type="body"/>
          </p:nvPr>
        </p:nvSpPr>
        <p:spPr>
          <a:xfrm>
            <a:off x="822960" y="1845734"/>
            <a:ext cx="3703320" cy="4023360"/>
          </a:xfrm>
          <a:prstGeom prst="rect">
            <a:avLst/>
          </a:prstGeom>
          <a:noFill/>
          <a:ln>
            <a:noFill/>
          </a:ln>
        </p:spPr>
        <p:txBody>
          <a:bodyPr anchorCtr="0" anchor="t" bIns="45700" lIns="0" spcFirstLastPara="1" rIns="0" wrap="square" tIns="45700">
            <a:noAutofit/>
          </a:bodyPr>
          <a:lstStyle/>
          <a:p>
            <a:pPr indent="-139700" lvl="0" marL="91440" rtl="0" algn="l">
              <a:lnSpc>
                <a:spcPct val="90000"/>
              </a:lnSpc>
              <a:spcBef>
                <a:spcPts val="0"/>
              </a:spcBef>
              <a:spcAft>
                <a:spcPts val="0"/>
              </a:spcAft>
              <a:buSzPts val="2200"/>
              <a:buChar char=" "/>
            </a:pPr>
            <a:r>
              <a:rPr lang="en-IN" sz="2200"/>
              <a:t>POST first checks </a:t>
            </a:r>
            <a:endParaRPr/>
          </a:p>
          <a:p>
            <a:pPr indent="-182880" lvl="1" marL="384048" rtl="0" algn="l">
              <a:lnSpc>
                <a:spcPct val="90000"/>
              </a:lnSpc>
              <a:spcBef>
                <a:spcPts val="400"/>
              </a:spcBef>
              <a:spcAft>
                <a:spcPts val="0"/>
              </a:spcAft>
              <a:buSzPts val="2200"/>
              <a:buChar char="◦"/>
            </a:pPr>
            <a:r>
              <a:rPr lang="en-IN" sz="2200"/>
              <a:t>the BIOS chip and </a:t>
            </a:r>
            <a:endParaRPr sz="2200"/>
          </a:p>
          <a:p>
            <a:pPr indent="-182880" lvl="1" marL="384048" rtl="0" algn="l">
              <a:lnSpc>
                <a:spcPct val="90000"/>
              </a:lnSpc>
              <a:spcBef>
                <a:spcPts val="600"/>
              </a:spcBef>
              <a:spcAft>
                <a:spcPts val="0"/>
              </a:spcAft>
              <a:buSzPts val="2200"/>
              <a:buChar char="◦"/>
            </a:pPr>
            <a:r>
              <a:rPr lang="en-IN" sz="2200"/>
              <a:t>then the CMOS RAM. </a:t>
            </a:r>
            <a:endParaRPr sz="2200"/>
          </a:p>
          <a:p>
            <a:pPr indent="-182880" lvl="1" marL="384048" rtl="0" algn="l">
              <a:lnSpc>
                <a:spcPct val="90000"/>
              </a:lnSpc>
              <a:spcBef>
                <a:spcPts val="600"/>
              </a:spcBef>
              <a:spcAft>
                <a:spcPts val="0"/>
              </a:spcAft>
              <a:buSzPts val="2200"/>
              <a:buChar char="◦"/>
            </a:pPr>
            <a:r>
              <a:rPr lang="en-IN" sz="2200"/>
              <a:t>If there is no battery failure is detected by POST, </a:t>
            </a:r>
            <a:endParaRPr sz="2200"/>
          </a:p>
          <a:p>
            <a:pPr indent="-182880" lvl="1" marL="384048" rtl="0" algn="l">
              <a:lnSpc>
                <a:spcPct val="90000"/>
              </a:lnSpc>
              <a:spcBef>
                <a:spcPts val="600"/>
              </a:spcBef>
              <a:spcAft>
                <a:spcPts val="0"/>
              </a:spcAft>
              <a:buSzPts val="2200"/>
              <a:buChar char="◦"/>
            </a:pPr>
            <a:r>
              <a:rPr lang="en-IN" sz="2200"/>
              <a:t>then it continues to initialize the CPU.</a:t>
            </a:r>
            <a:endParaRPr/>
          </a:p>
          <a:p>
            <a:pPr indent="0" lvl="0" marL="91440" rtl="0" algn="l">
              <a:lnSpc>
                <a:spcPct val="90000"/>
              </a:lnSpc>
              <a:spcBef>
                <a:spcPts val="1600"/>
              </a:spcBef>
              <a:spcAft>
                <a:spcPts val="0"/>
              </a:spcAft>
              <a:buSzPts val="2200"/>
              <a:buNone/>
            </a:pPr>
            <a:r>
              <a:t/>
            </a:r>
            <a:endParaRPr sz="2200"/>
          </a:p>
        </p:txBody>
      </p:sp>
      <p:sp>
        <p:nvSpPr>
          <p:cNvPr id="1222" name="Google Shape;1222;p110"/>
          <p:cNvSpPr txBox="1"/>
          <p:nvPr>
            <p:ph idx="2" type="body"/>
          </p:nvPr>
        </p:nvSpPr>
        <p:spPr>
          <a:xfrm>
            <a:off x="4648200" y="1600201"/>
            <a:ext cx="4038600" cy="3845024"/>
          </a:xfrm>
          <a:prstGeom prst="rect">
            <a:avLst/>
          </a:prstGeom>
          <a:noFill/>
          <a:ln>
            <a:noFill/>
          </a:ln>
        </p:spPr>
        <p:txBody>
          <a:bodyPr anchorCtr="0" anchor="t" bIns="45700" lIns="0" spcFirstLastPara="1" rIns="0" wrap="square" tIns="45700">
            <a:normAutofit/>
          </a:bodyPr>
          <a:lstStyle/>
          <a:p>
            <a:pPr indent="-139700" lvl="0" marL="91440" rtl="0" algn="l">
              <a:lnSpc>
                <a:spcPct val="90000"/>
              </a:lnSpc>
              <a:spcBef>
                <a:spcPts val="0"/>
              </a:spcBef>
              <a:spcAft>
                <a:spcPts val="0"/>
              </a:spcAft>
              <a:buSzPts val="2200"/>
              <a:buChar char=" "/>
            </a:pPr>
            <a:r>
              <a:rPr lang="en-IN" sz="2200"/>
              <a:t>POST also checks </a:t>
            </a:r>
            <a:endParaRPr/>
          </a:p>
          <a:p>
            <a:pPr indent="-182880" lvl="1" marL="384048" rtl="0" algn="l">
              <a:lnSpc>
                <a:spcPct val="90000"/>
              </a:lnSpc>
              <a:spcBef>
                <a:spcPts val="400"/>
              </a:spcBef>
              <a:spcAft>
                <a:spcPts val="0"/>
              </a:spcAft>
              <a:buSzPts val="2200"/>
              <a:buChar char="◦"/>
            </a:pPr>
            <a:r>
              <a:rPr lang="en-IN" sz="2200"/>
              <a:t>the hardware devices, </a:t>
            </a:r>
            <a:endParaRPr/>
          </a:p>
          <a:p>
            <a:pPr indent="-182880" lvl="1" marL="384048" rtl="0" algn="l">
              <a:lnSpc>
                <a:spcPct val="90000"/>
              </a:lnSpc>
              <a:spcBef>
                <a:spcPts val="600"/>
              </a:spcBef>
              <a:spcAft>
                <a:spcPts val="0"/>
              </a:spcAft>
              <a:buSzPts val="2200"/>
              <a:buChar char="◦"/>
            </a:pPr>
            <a:r>
              <a:rPr lang="en-IN" sz="2200"/>
              <a:t>secondary storage devices such as hard drives, ports etc. </a:t>
            </a:r>
            <a:endParaRPr/>
          </a:p>
          <a:p>
            <a:pPr indent="-182880" lvl="1" marL="384048" rtl="0" algn="l">
              <a:lnSpc>
                <a:spcPct val="90000"/>
              </a:lnSpc>
              <a:spcBef>
                <a:spcPts val="600"/>
              </a:spcBef>
              <a:spcAft>
                <a:spcPts val="0"/>
              </a:spcAft>
              <a:buSzPts val="2200"/>
              <a:buChar char="◦"/>
            </a:pPr>
            <a:r>
              <a:rPr lang="en-IN" sz="2200"/>
              <a:t>And other hardware devices such as the mouse and keyboard. </a:t>
            </a:r>
            <a:endParaRPr/>
          </a:p>
          <a:p>
            <a:pPr indent="-182880" lvl="1" marL="384048" rtl="0" algn="l">
              <a:lnSpc>
                <a:spcPct val="90000"/>
              </a:lnSpc>
              <a:spcBef>
                <a:spcPts val="600"/>
              </a:spcBef>
              <a:spcAft>
                <a:spcPts val="0"/>
              </a:spcAft>
              <a:buSzPts val="2200"/>
              <a:buChar char="◦"/>
            </a:pPr>
            <a:r>
              <a:rPr lang="en-IN" sz="2200"/>
              <a:t>This is done to make sure they are working properly.</a:t>
            </a:r>
            <a:endParaRPr/>
          </a:p>
          <a:p>
            <a:pPr indent="-55879" lvl="1" marL="384048" rtl="0" algn="l">
              <a:lnSpc>
                <a:spcPct val="90000"/>
              </a:lnSpc>
              <a:spcBef>
                <a:spcPts val="600"/>
              </a:spcBef>
              <a:spcAft>
                <a:spcPts val="0"/>
              </a:spcAft>
              <a:buSzPts val="2000"/>
              <a:buNone/>
            </a:pPr>
            <a:r>
              <a:t/>
            </a:r>
            <a:endParaRPr sz="2000"/>
          </a:p>
          <a:p>
            <a:pPr indent="0" lvl="0" marL="91440" rtl="0" algn="l">
              <a:lnSpc>
                <a:spcPct val="90000"/>
              </a:lnSpc>
              <a:spcBef>
                <a:spcPts val="1600"/>
              </a:spcBef>
              <a:spcAft>
                <a:spcPts val="0"/>
              </a:spcAft>
              <a:buSzPts val="2000"/>
              <a:buNone/>
            </a:pPr>
            <a:r>
              <a:t/>
            </a:r>
            <a:endParaRPr/>
          </a:p>
        </p:txBody>
      </p:sp>
      <p:sp>
        <p:nvSpPr>
          <p:cNvPr id="1223" name="Google Shape;1223;p11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224" name="Google Shape;1224;p11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225" name="Google Shape;1225;p11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226" name="Google Shape;1226;p110"/>
          <p:cNvSpPr/>
          <p:nvPr/>
        </p:nvSpPr>
        <p:spPr>
          <a:xfrm>
            <a:off x="683568" y="5517232"/>
            <a:ext cx="7632848"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200">
                <a:solidFill>
                  <a:schemeClr val="dk1"/>
                </a:solidFill>
                <a:latin typeface="Calibri"/>
                <a:ea typeface="Calibri"/>
                <a:cs typeface="Calibri"/>
                <a:sym typeface="Calibri"/>
              </a:rPr>
              <a:t>After POST makes sure that all the components are working properly, then the BIOS start Boot Strap program. </a:t>
            </a:r>
            <a:endParaRPr/>
          </a:p>
        </p:txBody>
      </p:sp>
      <p:sp>
        <p:nvSpPr>
          <p:cNvPr id="1227" name="Google Shape;1227;p110"/>
          <p:cNvSpPr/>
          <p:nvPr/>
        </p:nvSpPr>
        <p:spPr>
          <a:xfrm>
            <a:off x="3563888" y="2132856"/>
            <a:ext cx="1512168" cy="360040"/>
          </a:xfrm>
          <a:prstGeom prst="rightArrow">
            <a:avLst>
              <a:gd fmla="val 50000" name="adj1"/>
              <a:gd fmla="val 50000" name="adj2"/>
            </a:avLst>
          </a:prstGeom>
          <a:solidFill>
            <a:schemeClr val="accent1"/>
          </a:solidFill>
          <a:ln cap="flat" cmpd="sng" w="15875">
            <a:solidFill>
              <a:srgbClr val="A65F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8" name="Google Shape;1228;p110"/>
          <p:cNvSpPr/>
          <p:nvPr/>
        </p:nvSpPr>
        <p:spPr>
          <a:xfrm rot="7892018">
            <a:off x="3781082" y="4798419"/>
            <a:ext cx="1512168" cy="360040"/>
          </a:xfrm>
          <a:prstGeom prst="rightArrow">
            <a:avLst>
              <a:gd fmla="val 50000" name="adj1"/>
              <a:gd fmla="val 50000" name="adj2"/>
            </a:avLst>
          </a:prstGeom>
          <a:solidFill>
            <a:schemeClr val="accent1"/>
          </a:solidFill>
          <a:ln cap="flat" cmpd="sng" w="15875">
            <a:solidFill>
              <a:srgbClr val="A65F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111"/>
          <p:cNvSpPr txBox="1"/>
          <p:nvPr>
            <p:ph type="title"/>
          </p:nvPr>
        </p:nvSpPr>
        <p:spPr>
          <a:xfrm>
            <a:off x="179512" y="119833"/>
            <a:ext cx="7620000" cy="334962"/>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sz="3200"/>
              <a:t>Post method</a:t>
            </a:r>
            <a:endParaRPr sz="3200"/>
          </a:p>
        </p:txBody>
      </p:sp>
      <p:pic>
        <p:nvPicPr>
          <p:cNvPr id="1234" name="Google Shape;1234;p111"/>
          <p:cNvPicPr preferRelativeResize="0"/>
          <p:nvPr>
            <p:ph idx="1" type="body"/>
          </p:nvPr>
        </p:nvPicPr>
        <p:blipFill rotWithShape="1">
          <a:blip r:embed="rId3">
            <a:alphaModFix/>
          </a:blip>
          <a:srcRect b="0" l="0" r="0" t="0"/>
          <a:stretch/>
        </p:blipFill>
        <p:spPr>
          <a:xfrm>
            <a:off x="303034" y="509224"/>
            <a:ext cx="8733461" cy="3855880"/>
          </a:xfrm>
          <a:prstGeom prst="rect">
            <a:avLst/>
          </a:prstGeom>
          <a:noFill/>
          <a:ln>
            <a:noFill/>
          </a:ln>
        </p:spPr>
      </p:pic>
      <p:sp>
        <p:nvSpPr>
          <p:cNvPr id="1235" name="Google Shape;1235;p11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236" name="Google Shape;1236;p11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237" name="Google Shape;1237;p11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1238" name="Google Shape;1238;p111"/>
          <p:cNvPicPr preferRelativeResize="0"/>
          <p:nvPr/>
        </p:nvPicPr>
        <p:blipFill rotWithShape="1">
          <a:blip r:embed="rId4">
            <a:alphaModFix/>
          </a:blip>
          <a:srcRect b="0" l="0" r="0" t="0"/>
          <a:stretch/>
        </p:blipFill>
        <p:spPr>
          <a:xfrm>
            <a:off x="900782" y="4606741"/>
            <a:ext cx="7344816" cy="1611408"/>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112"/>
          <p:cNvSpPr txBox="1"/>
          <p:nvPr>
            <p:ph type="title"/>
          </p:nvPr>
        </p:nvSpPr>
        <p:spPr>
          <a:xfrm>
            <a:off x="4664" y="-21771"/>
            <a:ext cx="4608512" cy="418058"/>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System Boot- The working</a:t>
            </a:r>
            <a:endParaRPr sz="3200"/>
          </a:p>
        </p:txBody>
      </p:sp>
      <p:sp>
        <p:nvSpPr>
          <p:cNvPr id="1244" name="Google Shape;1244;p112"/>
          <p:cNvSpPr txBox="1"/>
          <p:nvPr>
            <p:ph idx="1" type="body"/>
          </p:nvPr>
        </p:nvSpPr>
        <p:spPr>
          <a:xfrm>
            <a:off x="32385" y="381412"/>
            <a:ext cx="8064896" cy="6499194"/>
          </a:xfrm>
          <a:prstGeom prst="rect">
            <a:avLst/>
          </a:prstGeom>
          <a:noFill/>
          <a:ln>
            <a:noFill/>
          </a:ln>
        </p:spPr>
        <p:txBody>
          <a:bodyPr anchorCtr="0" anchor="t" bIns="45700" lIns="0" spcFirstLastPara="1" rIns="0" wrap="square" tIns="45700">
            <a:noAutofit/>
          </a:bodyPr>
          <a:lstStyle/>
          <a:p>
            <a:pPr indent="-127000" lvl="0" marL="91440" rtl="0" algn="l">
              <a:lnSpc>
                <a:spcPct val="90000"/>
              </a:lnSpc>
              <a:spcBef>
                <a:spcPts val="0"/>
              </a:spcBef>
              <a:spcAft>
                <a:spcPts val="0"/>
              </a:spcAft>
              <a:buSzPts val="2000"/>
              <a:buChar char=" "/>
            </a:pPr>
            <a:r>
              <a:rPr lang="en-IN" sz="2000"/>
              <a:t>For most computers, Boot Strap is stored in BIOS ROM.</a:t>
            </a:r>
            <a:endParaRPr/>
          </a:p>
          <a:p>
            <a:pPr indent="-182880" lvl="1" marL="384048" rtl="0" algn="l">
              <a:lnSpc>
                <a:spcPct val="90000"/>
              </a:lnSpc>
              <a:spcBef>
                <a:spcPts val="400"/>
              </a:spcBef>
              <a:spcAft>
                <a:spcPts val="0"/>
              </a:spcAft>
              <a:buSzPts val="1800"/>
              <a:buChar char="◦"/>
            </a:pPr>
            <a:r>
              <a:rPr lang="en-IN"/>
              <a:t>Changing the Bootstrap code requires changing the ROM hardware chips.</a:t>
            </a:r>
            <a:endParaRPr/>
          </a:p>
          <a:p>
            <a:pPr indent="0" lvl="0" marL="0" rtl="0" algn="l">
              <a:lnSpc>
                <a:spcPct val="90000"/>
              </a:lnSpc>
              <a:spcBef>
                <a:spcPts val="1600"/>
              </a:spcBef>
              <a:spcAft>
                <a:spcPts val="0"/>
              </a:spcAft>
              <a:buSzPts val="2400"/>
              <a:buNone/>
            </a:pPr>
            <a:r>
              <a:rPr b="1" lang="en-IN" sz="2400"/>
              <a:t>Alternative:</a:t>
            </a:r>
            <a:endParaRPr/>
          </a:p>
          <a:p>
            <a:pPr indent="-127000" lvl="0" marL="91440" rtl="0" algn="l">
              <a:lnSpc>
                <a:spcPct val="90000"/>
              </a:lnSpc>
              <a:spcBef>
                <a:spcPts val="1400"/>
              </a:spcBef>
              <a:spcAft>
                <a:spcPts val="0"/>
              </a:spcAft>
              <a:buSzPts val="2000"/>
              <a:buChar char=" "/>
            </a:pPr>
            <a:r>
              <a:rPr lang="en-IN" sz="2000"/>
              <a:t>A tiny Bootstrap loader program is stored in the ROM, </a:t>
            </a:r>
            <a:endParaRPr/>
          </a:p>
          <a:p>
            <a:pPr indent="-182880" lvl="1" marL="384048" rtl="0" algn="l">
              <a:lnSpc>
                <a:spcPct val="90000"/>
              </a:lnSpc>
              <a:spcBef>
                <a:spcPts val="400"/>
              </a:spcBef>
              <a:spcAft>
                <a:spcPts val="0"/>
              </a:spcAft>
              <a:buSzPts val="1800"/>
              <a:buChar char="◦"/>
            </a:pPr>
            <a:r>
              <a:rPr lang="en-IN"/>
              <a:t>whose only job is to bring in a full bootstrap program from the disk.</a:t>
            </a:r>
            <a:endParaRPr/>
          </a:p>
          <a:p>
            <a:pPr indent="-182880" lvl="1" marL="384048" rtl="0" algn="l">
              <a:lnSpc>
                <a:spcPct val="90000"/>
              </a:lnSpc>
              <a:spcBef>
                <a:spcPts val="600"/>
              </a:spcBef>
              <a:spcAft>
                <a:spcPts val="0"/>
              </a:spcAft>
              <a:buSzPts val="1800"/>
              <a:buChar char="◦"/>
            </a:pPr>
            <a:r>
              <a:rPr lang="en-IN"/>
              <a:t>The full bootstrap pgm can be changed easily.</a:t>
            </a:r>
            <a:endParaRPr/>
          </a:p>
          <a:p>
            <a:pPr indent="-127000" lvl="0" marL="91440" rtl="0" algn="l">
              <a:lnSpc>
                <a:spcPct val="90000"/>
              </a:lnSpc>
              <a:spcBef>
                <a:spcPts val="1600"/>
              </a:spcBef>
              <a:spcAft>
                <a:spcPts val="0"/>
              </a:spcAft>
              <a:buSzPts val="2000"/>
              <a:buChar char=" "/>
            </a:pPr>
            <a:r>
              <a:rPr lang="en-IN" sz="2000"/>
              <a:t>The Bootstrap pgm </a:t>
            </a:r>
            <a:endParaRPr/>
          </a:p>
          <a:p>
            <a:pPr indent="-182880" lvl="1" marL="384048" rtl="0" algn="l">
              <a:lnSpc>
                <a:spcPct val="90000"/>
              </a:lnSpc>
              <a:spcBef>
                <a:spcPts val="400"/>
              </a:spcBef>
              <a:spcAft>
                <a:spcPts val="0"/>
              </a:spcAft>
              <a:buSzPts val="1800"/>
              <a:buChar char="◦"/>
            </a:pPr>
            <a:r>
              <a:rPr lang="en-IN"/>
              <a:t>is stored in a partition called the boot blocks , </a:t>
            </a:r>
            <a:endParaRPr/>
          </a:p>
          <a:p>
            <a:pPr indent="-182880" lvl="1" marL="384048" rtl="0" algn="l">
              <a:lnSpc>
                <a:spcPct val="90000"/>
              </a:lnSpc>
              <a:spcBef>
                <a:spcPts val="600"/>
              </a:spcBef>
              <a:spcAft>
                <a:spcPts val="0"/>
              </a:spcAft>
              <a:buSzPts val="1800"/>
              <a:buChar char="◦"/>
            </a:pPr>
            <a:r>
              <a:rPr lang="en-IN"/>
              <a:t>at a fixed location on the disk. </a:t>
            </a:r>
            <a:endParaRPr/>
          </a:p>
          <a:p>
            <a:pPr indent="-127000" lvl="0" marL="91440" rtl="0" algn="l">
              <a:lnSpc>
                <a:spcPct val="90000"/>
              </a:lnSpc>
              <a:spcBef>
                <a:spcPts val="1600"/>
              </a:spcBef>
              <a:spcAft>
                <a:spcPts val="0"/>
              </a:spcAft>
              <a:buSzPts val="2000"/>
              <a:buChar char=" "/>
            </a:pPr>
            <a:r>
              <a:rPr lang="en-IN" sz="2000"/>
              <a:t>A disk that has a boot partition </a:t>
            </a:r>
            <a:endParaRPr/>
          </a:p>
          <a:p>
            <a:pPr indent="-182880" lvl="1" marL="384048" rtl="0" algn="l">
              <a:lnSpc>
                <a:spcPct val="90000"/>
              </a:lnSpc>
              <a:spcBef>
                <a:spcPts val="400"/>
              </a:spcBef>
              <a:spcAft>
                <a:spcPts val="0"/>
              </a:spcAft>
              <a:buSzPts val="1800"/>
              <a:buChar char="◦"/>
            </a:pPr>
            <a:r>
              <a:rPr lang="en-IN"/>
              <a:t>is called a Boot Disk or System Disk.</a:t>
            </a:r>
            <a:endParaRPr/>
          </a:p>
          <a:p>
            <a:pPr indent="-127000" lvl="0" marL="91440" rtl="0" algn="l">
              <a:lnSpc>
                <a:spcPct val="90000"/>
              </a:lnSpc>
              <a:spcBef>
                <a:spcPts val="400"/>
              </a:spcBef>
              <a:spcAft>
                <a:spcPts val="0"/>
              </a:spcAft>
              <a:buSzPts val="2000"/>
              <a:buChar char=" "/>
            </a:pPr>
            <a:r>
              <a:rPr lang="en-IN" sz="2000"/>
              <a:t>The Bootstrap program is loaded into memory and </a:t>
            </a:r>
            <a:endParaRPr/>
          </a:p>
          <a:p>
            <a:pPr indent="-182880" lvl="1" marL="384048" rtl="0" algn="l">
              <a:lnSpc>
                <a:spcPct val="90000"/>
              </a:lnSpc>
              <a:spcBef>
                <a:spcPts val="600"/>
              </a:spcBef>
              <a:spcAft>
                <a:spcPts val="0"/>
              </a:spcAft>
              <a:buSzPts val="1800"/>
              <a:buChar char="◦"/>
            </a:pPr>
            <a:r>
              <a:rPr lang="en-IN"/>
              <a:t>starts its execution.</a:t>
            </a:r>
            <a:endParaRPr/>
          </a:p>
          <a:p>
            <a:pPr indent="-127000" lvl="0" marL="91440" rtl="0" algn="l">
              <a:lnSpc>
                <a:spcPct val="90000"/>
              </a:lnSpc>
              <a:spcBef>
                <a:spcPts val="600"/>
              </a:spcBef>
              <a:spcAft>
                <a:spcPts val="0"/>
              </a:spcAft>
              <a:buSzPts val="2000"/>
              <a:buChar char=" "/>
            </a:pPr>
            <a:r>
              <a:rPr lang="en-IN" sz="2000"/>
              <a:t>The bootstrap program </a:t>
            </a:r>
            <a:endParaRPr/>
          </a:p>
          <a:p>
            <a:pPr indent="-182880" lvl="1" marL="384048" rtl="0" algn="l">
              <a:lnSpc>
                <a:spcPct val="90000"/>
              </a:lnSpc>
              <a:spcBef>
                <a:spcPts val="600"/>
              </a:spcBef>
              <a:spcAft>
                <a:spcPts val="0"/>
              </a:spcAft>
              <a:buSzPts val="1800"/>
              <a:buChar char="◦"/>
            </a:pPr>
            <a:r>
              <a:rPr lang="en-IN"/>
              <a:t>finds the OS kernel on disk, </a:t>
            </a:r>
            <a:endParaRPr/>
          </a:p>
          <a:p>
            <a:pPr indent="-182880" lvl="1" marL="384048" rtl="0" algn="l">
              <a:lnSpc>
                <a:spcPct val="90000"/>
              </a:lnSpc>
              <a:spcBef>
                <a:spcPts val="600"/>
              </a:spcBef>
              <a:spcAft>
                <a:spcPts val="0"/>
              </a:spcAft>
              <a:buSzPts val="1800"/>
              <a:buChar char="◦"/>
            </a:pPr>
            <a:r>
              <a:rPr lang="en-IN"/>
              <a:t>loads that Kernel into memory and </a:t>
            </a:r>
            <a:endParaRPr/>
          </a:p>
          <a:p>
            <a:pPr indent="-182880" lvl="1" marL="384048" rtl="0" algn="l">
              <a:lnSpc>
                <a:spcPct val="90000"/>
              </a:lnSpc>
              <a:spcBef>
                <a:spcPts val="600"/>
              </a:spcBef>
              <a:spcAft>
                <a:spcPts val="0"/>
              </a:spcAft>
              <a:buSzPts val="1800"/>
              <a:buChar char="◦"/>
            </a:pPr>
            <a:r>
              <a:rPr lang="en-IN"/>
              <a:t>jumps to an initial address to begin the OS execution.</a:t>
            </a:r>
            <a:endParaRPr/>
          </a:p>
          <a:p>
            <a:pPr indent="-68579" lvl="1" marL="384048" rtl="0" algn="l">
              <a:lnSpc>
                <a:spcPct val="90000"/>
              </a:lnSpc>
              <a:spcBef>
                <a:spcPts val="800"/>
              </a:spcBef>
              <a:spcAft>
                <a:spcPts val="0"/>
              </a:spcAft>
              <a:buSzPts val="1800"/>
              <a:buNone/>
            </a:pPr>
            <a:r>
              <a:t/>
            </a:r>
            <a:endParaRPr/>
          </a:p>
          <a:p>
            <a:pPr indent="-55879" lvl="1" marL="384048" rtl="0" algn="l">
              <a:lnSpc>
                <a:spcPct val="90000"/>
              </a:lnSpc>
              <a:spcBef>
                <a:spcPts val="600"/>
              </a:spcBef>
              <a:spcAft>
                <a:spcPts val="0"/>
              </a:spcAft>
              <a:buSzPts val="2000"/>
              <a:buNone/>
            </a:pPr>
            <a:r>
              <a:t/>
            </a:r>
            <a:endParaRPr sz="2000"/>
          </a:p>
        </p:txBody>
      </p:sp>
      <p:sp>
        <p:nvSpPr>
          <p:cNvPr id="1245" name="Google Shape;1245;p11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246" name="Google Shape;1246;p11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247" name="Google Shape;1247;p11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1248" name="Google Shape;1248;p112"/>
          <p:cNvPicPr preferRelativeResize="0"/>
          <p:nvPr/>
        </p:nvPicPr>
        <p:blipFill rotWithShape="1">
          <a:blip r:embed="rId3">
            <a:alphaModFix/>
          </a:blip>
          <a:srcRect b="0" l="0" r="0" t="0"/>
          <a:stretch/>
        </p:blipFill>
        <p:spPr>
          <a:xfrm>
            <a:off x="5593363" y="2895001"/>
            <a:ext cx="2994307" cy="2520280"/>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p113"/>
          <p:cNvSpPr txBox="1"/>
          <p:nvPr>
            <p:ph type="title"/>
          </p:nvPr>
        </p:nvSpPr>
        <p:spPr>
          <a:xfrm>
            <a:off x="107504" y="442119"/>
            <a:ext cx="5266928" cy="334962"/>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b="1" lang="en-IN" sz="3200"/>
              <a:t>Master Boot Record</a:t>
            </a:r>
            <a:br>
              <a:rPr b="1" lang="en-IN" sz="3200"/>
            </a:br>
            <a:endParaRPr sz="3200"/>
          </a:p>
        </p:txBody>
      </p:sp>
      <p:pic>
        <p:nvPicPr>
          <p:cNvPr id="1254" name="Google Shape;1254;p113"/>
          <p:cNvPicPr preferRelativeResize="0"/>
          <p:nvPr>
            <p:ph idx="1" type="body"/>
          </p:nvPr>
        </p:nvPicPr>
        <p:blipFill rotWithShape="1">
          <a:blip r:embed="rId3">
            <a:alphaModFix/>
          </a:blip>
          <a:srcRect b="0" l="0" r="0" t="0"/>
          <a:stretch/>
        </p:blipFill>
        <p:spPr>
          <a:xfrm>
            <a:off x="4355976" y="442119"/>
            <a:ext cx="3783010" cy="2042393"/>
          </a:xfrm>
          <a:prstGeom prst="rect">
            <a:avLst/>
          </a:prstGeom>
          <a:noFill/>
          <a:ln>
            <a:noFill/>
          </a:ln>
        </p:spPr>
      </p:pic>
      <p:sp>
        <p:nvSpPr>
          <p:cNvPr id="1255" name="Google Shape;1255;p11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256" name="Google Shape;1256;p11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257" name="Google Shape;1257;p11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258" name="Google Shape;1258;p113"/>
          <p:cNvSpPr/>
          <p:nvPr/>
        </p:nvSpPr>
        <p:spPr>
          <a:xfrm>
            <a:off x="0" y="605405"/>
            <a:ext cx="4627647"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The Master Boot Record (MBR) is the information which is in the first sector of any hard disk.</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It holds information about GRUB (or LILO in old systems).</a:t>
            </a:r>
            <a:endParaRPr sz="1800">
              <a:solidFill>
                <a:schemeClr val="dk1"/>
              </a:solidFill>
              <a:latin typeface="Calibri"/>
              <a:ea typeface="Calibri"/>
              <a:cs typeface="Calibri"/>
              <a:sym typeface="Calibri"/>
            </a:endParaRPr>
          </a:p>
        </p:txBody>
      </p:sp>
      <p:sp>
        <p:nvSpPr>
          <p:cNvPr id="1259" name="Google Shape;1259;p113"/>
          <p:cNvSpPr/>
          <p:nvPr/>
        </p:nvSpPr>
        <p:spPr>
          <a:xfrm>
            <a:off x="83440" y="2248588"/>
            <a:ext cx="8828212"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init</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This is the last step of the </a:t>
            </a:r>
            <a:r>
              <a:rPr b="1" lang="en-IN" sz="1800">
                <a:solidFill>
                  <a:schemeClr val="dk1"/>
                </a:solidFill>
                <a:latin typeface="Calibri"/>
                <a:ea typeface="Calibri"/>
                <a:cs typeface="Calibri"/>
                <a:sym typeface="Calibri"/>
              </a:rPr>
              <a:t>booting process</a:t>
            </a:r>
            <a:r>
              <a:rPr lang="en-IN"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It decides the run level by looking at the / etc / inittab file.</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The initial state of the operating system is decided by the run level.</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Following are the run levels of Operating System:</a:t>
            </a:r>
            <a:br>
              <a:rPr lang="en-IN" sz="1800">
                <a:solidFill>
                  <a:schemeClr val="dk1"/>
                </a:solidFill>
                <a:latin typeface="Calibri"/>
                <a:ea typeface="Calibri"/>
                <a:cs typeface="Calibri"/>
                <a:sym typeface="Calibri"/>
              </a:rPr>
            </a:br>
            <a:r>
              <a:rPr lang="en-IN" sz="1800">
                <a:solidFill>
                  <a:schemeClr val="dk1"/>
                </a:solidFill>
                <a:latin typeface="Calibri"/>
                <a:ea typeface="Calibri"/>
                <a:cs typeface="Calibri"/>
                <a:sym typeface="Calibri"/>
              </a:rPr>
              <a:t>Level</a:t>
            </a:r>
            <a:br>
              <a:rPr lang="en-IN" sz="1800">
                <a:solidFill>
                  <a:schemeClr val="dk1"/>
                </a:solidFill>
                <a:latin typeface="Calibri"/>
                <a:ea typeface="Calibri"/>
                <a:cs typeface="Calibri"/>
                <a:sym typeface="Calibri"/>
              </a:rPr>
            </a:br>
            <a:r>
              <a:rPr lang="en-IN" sz="1800">
                <a:solidFill>
                  <a:schemeClr val="dk1"/>
                </a:solidFill>
                <a:latin typeface="Calibri"/>
                <a:ea typeface="Calibri"/>
                <a:cs typeface="Calibri"/>
                <a:sym typeface="Calibri"/>
              </a:rPr>
              <a:t>0 - System Halt</a:t>
            </a:r>
            <a:br>
              <a:rPr lang="en-IN" sz="1800">
                <a:solidFill>
                  <a:schemeClr val="dk1"/>
                </a:solidFill>
                <a:latin typeface="Calibri"/>
                <a:ea typeface="Calibri"/>
                <a:cs typeface="Calibri"/>
                <a:sym typeface="Calibri"/>
              </a:rPr>
            </a:br>
            <a:r>
              <a:rPr lang="en-IN" sz="1800">
                <a:solidFill>
                  <a:schemeClr val="dk1"/>
                </a:solidFill>
                <a:latin typeface="Calibri"/>
                <a:ea typeface="Calibri"/>
                <a:cs typeface="Calibri"/>
                <a:sym typeface="Calibri"/>
              </a:rPr>
              <a:t>1 - Single user mode</a:t>
            </a:r>
            <a:br>
              <a:rPr lang="en-IN" sz="1800">
                <a:solidFill>
                  <a:schemeClr val="dk1"/>
                </a:solidFill>
                <a:latin typeface="Calibri"/>
                <a:ea typeface="Calibri"/>
                <a:cs typeface="Calibri"/>
                <a:sym typeface="Calibri"/>
              </a:rPr>
            </a:br>
            <a:r>
              <a:rPr lang="en-IN" sz="1800">
                <a:solidFill>
                  <a:schemeClr val="dk1"/>
                </a:solidFill>
                <a:latin typeface="Calibri"/>
                <a:ea typeface="Calibri"/>
                <a:cs typeface="Calibri"/>
                <a:sym typeface="Calibri"/>
              </a:rPr>
              <a:t>2 - Multiuser, without NFS</a:t>
            </a:r>
            <a:br>
              <a:rPr lang="en-IN" sz="1800">
                <a:solidFill>
                  <a:schemeClr val="dk1"/>
                </a:solidFill>
                <a:latin typeface="Calibri"/>
                <a:ea typeface="Calibri"/>
                <a:cs typeface="Calibri"/>
                <a:sym typeface="Calibri"/>
              </a:rPr>
            </a:br>
            <a:r>
              <a:rPr lang="en-IN" sz="1800">
                <a:solidFill>
                  <a:schemeClr val="dk1"/>
                </a:solidFill>
                <a:latin typeface="Calibri"/>
                <a:ea typeface="Calibri"/>
                <a:cs typeface="Calibri"/>
                <a:sym typeface="Calibri"/>
              </a:rPr>
              <a:t>3 - full multiuser mode </a:t>
            </a:r>
            <a:br>
              <a:rPr lang="en-IN" sz="1800">
                <a:solidFill>
                  <a:schemeClr val="dk1"/>
                </a:solidFill>
                <a:latin typeface="Calibri"/>
                <a:ea typeface="Calibri"/>
                <a:cs typeface="Calibri"/>
                <a:sym typeface="Calibri"/>
              </a:rPr>
            </a:br>
            <a:r>
              <a:rPr lang="en-IN" sz="1800">
                <a:solidFill>
                  <a:schemeClr val="dk1"/>
                </a:solidFill>
                <a:latin typeface="Calibri"/>
                <a:ea typeface="Calibri"/>
                <a:cs typeface="Calibri"/>
                <a:sym typeface="Calibri"/>
              </a:rPr>
              <a:t>4 - unused</a:t>
            </a:r>
            <a:br>
              <a:rPr lang="en-IN" sz="1800">
                <a:solidFill>
                  <a:schemeClr val="dk1"/>
                </a:solidFill>
                <a:latin typeface="Calibri"/>
                <a:ea typeface="Calibri"/>
                <a:cs typeface="Calibri"/>
                <a:sym typeface="Calibri"/>
              </a:rPr>
            </a:br>
            <a:r>
              <a:rPr lang="en-IN" sz="1800">
                <a:solidFill>
                  <a:schemeClr val="dk1"/>
                </a:solidFill>
                <a:latin typeface="Calibri"/>
                <a:ea typeface="Calibri"/>
                <a:cs typeface="Calibri"/>
                <a:sym typeface="Calibri"/>
              </a:rPr>
              <a:t>5 - Full multiuser mode with network and X display manager(X11)</a:t>
            </a:r>
            <a:br>
              <a:rPr lang="en-IN" sz="1800">
                <a:solidFill>
                  <a:schemeClr val="dk1"/>
                </a:solidFill>
                <a:latin typeface="Calibri"/>
                <a:ea typeface="Calibri"/>
                <a:cs typeface="Calibri"/>
                <a:sym typeface="Calibri"/>
              </a:rPr>
            </a:br>
            <a:r>
              <a:rPr lang="en-IN" sz="1800">
                <a:solidFill>
                  <a:schemeClr val="dk1"/>
                </a:solidFill>
                <a:latin typeface="Calibri"/>
                <a:ea typeface="Calibri"/>
                <a:cs typeface="Calibri"/>
                <a:sym typeface="Calibri"/>
              </a:rPr>
              <a:t>6 - Reboot </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We would set the default run level to either 3 or 5.</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We can execute </a:t>
            </a:r>
            <a:r>
              <a:rPr b="1" lang="en-IN" sz="1800">
                <a:solidFill>
                  <a:schemeClr val="dk1"/>
                </a:solidFill>
                <a:latin typeface="Calibri"/>
                <a:ea typeface="Calibri"/>
                <a:cs typeface="Calibri"/>
                <a:sym typeface="Calibri"/>
              </a:rPr>
              <a:t>'grep initdefault / etc/ inittab'</a:t>
            </a:r>
            <a:r>
              <a:rPr lang="en-IN" sz="1800">
                <a:solidFill>
                  <a:schemeClr val="dk1"/>
                </a:solidFill>
                <a:latin typeface="Calibri"/>
                <a:ea typeface="Calibri"/>
                <a:cs typeface="Calibri"/>
                <a:sym typeface="Calibri"/>
              </a:rPr>
              <a:t> on your system to identify the default run level.</a:t>
            </a:r>
            <a:endParaRPr sz="1800">
              <a:solidFill>
                <a:schemeClr val="dk1"/>
              </a:solidFill>
              <a:latin typeface="Calibri"/>
              <a:ea typeface="Calibri"/>
              <a:cs typeface="Calibri"/>
              <a:sym typeface="Calibri"/>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p114"/>
          <p:cNvSpPr txBox="1"/>
          <p:nvPr>
            <p:ph type="title"/>
          </p:nvPr>
        </p:nvSpPr>
        <p:spPr>
          <a:xfrm>
            <a:off x="4522435" y="191542"/>
            <a:ext cx="3657600" cy="418058"/>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b="1" lang="en-IN" sz="3200"/>
              <a:t>Failure during boot</a:t>
            </a:r>
            <a:endParaRPr sz="3200"/>
          </a:p>
        </p:txBody>
      </p:sp>
      <p:sp>
        <p:nvSpPr>
          <p:cNvPr id="1265" name="Google Shape;1265;p114"/>
          <p:cNvSpPr txBox="1"/>
          <p:nvPr>
            <p:ph idx="1" type="body"/>
          </p:nvPr>
        </p:nvSpPr>
        <p:spPr>
          <a:xfrm>
            <a:off x="822960" y="1845734"/>
            <a:ext cx="3703320" cy="4023360"/>
          </a:xfrm>
          <a:prstGeom prst="rect">
            <a:avLst/>
          </a:prstGeom>
          <a:solidFill>
            <a:schemeClr val="lt1"/>
          </a:solidFill>
          <a:ln cap="flat" cmpd="sng" w="15875">
            <a:solidFill>
              <a:schemeClr val="accent5"/>
            </a:solidFill>
            <a:prstDash val="solid"/>
            <a:round/>
            <a:headEnd len="sm" w="sm" type="none"/>
            <a:tailEnd len="sm" w="sm" type="none"/>
          </a:ln>
        </p:spPr>
        <p:txBody>
          <a:bodyPr anchorCtr="0" anchor="t" bIns="45700" lIns="0" spcFirstLastPara="1" rIns="0" wrap="square" tIns="45700">
            <a:normAutofit/>
          </a:bodyPr>
          <a:lstStyle/>
          <a:p>
            <a:pPr indent="-114300" lvl="0" marL="91440" rtl="0" algn="l">
              <a:lnSpc>
                <a:spcPct val="90000"/>
              </a:lnSpc>
              <a:spcBef>
                <a:spcPts val="0"/>
              </a:spcBef>
              <a:spcAft>
                <a:spcPts val="0"/>
              </a:spcAft>
              <a:buSzPts val="1800"/>
              <a:buChar char=" "/>
            </a:pPr>
            <a:r>
              <a:rPr lang="en-IN" sz="1800">
                <a:solidFill>
                  <a:schemeClr val="dk1"/>
                </a:solidFill>
                <a:latin typeface="Calibri"/>
                <a:ea typeface="Calibri"/>
                <a:cs typeface="Calibri"/>
                <a:sym typeface="Calibri"/>
              </a:rPr>
              <a:t>The step after it is to start up various daemons that support networking and other services. </a:t>
            </a:r>
            <a:endParaRPr sz="1800"/>
          </a:p>
          <a:p>
            <a:pPr indent="-114300" lvl="0" marL="91440" rtl="0" algn="l">
              <a:lnSpc>
                <a:spcPct val="90000"/>
              </a:lnSpc>
              <a:spcBef>
                <a:spcPts val="1400"/>
              </a:spcBef>
              <a:spcAft>
                <a:spcPts val="0"/>
              </a:spcAft>
              <a:buSzPts val="1800"/>
              <a:buChar char=" "/>
            </a:pPr>
            <a:r>
              <a:rPr lang="en-IN" sz="1800">
                <a:solidFill>
                  <a:schemeClr val="dk1"/>
                </a:solidFill>
                <a:latin typeface="Calibri"/>
                <a:ea typeface="Calibri"/>
                <a:cs typeface="Calibri"/>
                <a:sym typeface="Calibri"/>
              </a:rPr>
              <a:t>X server daemon manages display, keyboard, and mouse. </a:t>
            </a:r>
            <a:endParaRPr sz="1800"/>
          </a:p>
          <a:p>
            <a:pPr indent="-114300" lvl="0" marL="91440" rtl="0" algn="l">
              <a:lnSpc>
                <a:spcPct val="90000"/>
              </a:lnSpc>
              <a:spcBef>
                <a:spcPts val="1400"/>
              </a:spcBef>
              <a:spcAft>
                <a:spcPts val="0"/>
              </a:spcAft>
              <a:buSzPts val="1800"/>
              <a:buChar char=" "/>
            </a:pPr>
            <a:r>
              <a:rPr lang="en-IN" sz="1800">
                <a:solidFill>
                  <a:schemeClr val="dk1"/>
                </a:solidFill>
                <a:latin typeface="Calibri"/>
                <a:ea typeface="Calibri"/>
                <a:cs typeface="Calibri"/>
                <a:sym typeface="Calibri"/>
              </a:rPr>
              <a:t>You can see a Graphical Interface and </a:t>
            </a:r>
            <a:endParaRPr sz="1800"/>
          </a:p>
          <a:p>
            <a:pPr indent="-114300" lvl="0" marL="91440" rtl="0" algn="l">
              <a:lnSpc>
                <a:spcPct val="90000"/>
              </a:lnSpc>
              <a:spcBef>
                <a:spcPts val="1400"/>
              </a:spcBef>
              <a:spcAft>
                <a:spcPts val="0"/>
              </a:spcAft>
              <a:buSzPts val="1800"/>
              <a:buChar char=" "/>
            </a:pPr>
            <a:r>
              <a:rPr lang="en-IN" sz="1800">
                <a:solidFill>
                  <a:schemeClr val="dk1"/>
                </a:solidFill>
                <a:latin typeface="Calibri"/>
                <a:ea typeface="Calibri"/>
                <a:cs typeface="Calibri"/>
                <a:sym typeface="Calibri"/>
              </a:rPr>
              <a:t>a login screen is displayed during X server daemon is started.</a:t>
            </a:r>
            <a:endParaRPr/>
          </a:p>
        </p:txBody>
      </p:sp>
      <p:sp>
        <p:nvSpPr>
          <p:cNvPr id="1266" name="Google Shape;1266;p114"/>
          <p:cNvSpPr txBox="1"/>
          <p:nvPr>
            <p:ph idx="2" type="body"/>
          </p:nvPr>
        </p:nvSpPr>
        <p:spPr>
          <a:xfrm>
            <a:off x="4355976" y="609600"/>
            <a:ext cx="3657600" cy="6131768"/>
          </a:xfrm>
          <a:prstGeom prst="rect">
            <a:avLst/>
          </a:prstGeom>
          <a:noFill/>
          <a:ln>
            <a:noFill/>
          </a:ln>
        </p:spPr>
        <p:txBody>
          <a:bodyPr anchorCtr="0" anchor="t" bIns="45700" lIns="0" spcFirstLastPara="1" rIns="0" wrap="square" tIns="45700">
            <a:noAutofit/>
          </a:bodyPr>
          <a:lstStyle/>
          <a:p>
            <a:pPr indent="-127000" lvl="0" marL="91440" rtl="0" algn="l">
              <a:lnSpc>
                <a:spcPct val="90000"/>
              </a:lnSpc>
              <a:spcBef>
                <a:spcPts val="0"/>
              </a:spcBef>
              <a:spcAft>
                <a:spcPts val="0"/>
              </a:spcAft>
              <a:buSzPts val="2000"/>
              <a:buChar char=" "/>
            </a:pPr>
            <a:r>
              <a:rPr lang="en-IN" sz="2000"/>
              <a:t>If the computer cannot boot, we will get a boot failure error. </a:t>
            </a:r>
            <a:endParaRPr/>
          </a:p>
          <a:p>
            <a:pPr indent="-182880" lvl="1" marL="384048" rtl="0" algn="l">
              <a:lnSpc>
                <a:spcPct val="90000"/>
              </a:lnSpc>
              <a:spcBef>
                <a:spcPts val="400"/>
              </a:spcBef>
              <a:spcAft>
                <a:spcPts val="0"/>
              </a:spcAft>
              <a:buSzPts val="2000"/>
              <a:buChar char="◦"/>
            </a:pPr>
            <a:r>
              <a:rPr lang="en-IN" sz="2000"/>
              <a:t>This error indicates that the computer is not passing POST or </a:t>
            </a:r>
            <a:endParaRPr/>
          </a:p>
          <a:p>
            <a:pPr indent="-182880" lvl="1" marL="384048" rtl="0" algn="l">
              <a:lnSpc>
                <a:spcPct val="90000"/>
              </a:lnSpc>
              <a:spcBef>
                <a:spcPts val="600"/>
              </a:spcBef>
              <a:spcAft>
                <a:spcPts val="0"/>
              </a:spcAft>
              <a:buSzPts val="2000"/>
              <a:buChar char="◦"/>
            </a:pPr>
            <a:r>
              <a:rPr lang="en-IN" sz="2000"/>
              <a:t>a device in the computer, such as the hard drive or memory, has failed.</a:t>
            </a:r>
            <a:endParaRPr/>
          </a:p>
          <a:p>
            <a:pPr indent="-182880" lvl="1" marL="384048" rtl="0" algn="l">
              <a:lnSpc>
                <a:spcPct val="90000"/>
              </a:lnSpc>
              <a:spcBef>
                <a:spcPts val="600"/>
              </a:spcBef>
              <a:spcAft>
                <a:spcPts val="0"/>
              </a:spcAft>
              <a:buSzPts val="2000"/>
              <a:buChar char="◦"/>
            </a:pPr>
            <a:r>
              <a:rPr lang="en-IN" sz="2000"/>
              <a:t>You may also hear a beep code to identify which hardware is failing during the POST.</a:t>
            </a:r>
            <a:endParaRPr/>
          </a:p>
          <a:p>
            <a:pPr indent="-182880" lvl="1" marL="384048" rtl="0" algn="l">
              <a:lnSpc>
                <a:spcPct val="90000"/>
              </a:lnSpc>
              <a:spcBef>
                <a:spcPts val="600"/>
              </a:spcBef>
              <a:spcAft>
                <a:spcPts val="0"/>
              </a:spcAft>
              <a:buSzPts val="2000"/>
              <a:buChar char="◦"/>
            </a:pPr>
            <a:r>
              <a:rPr lang="en-IN" sz="2000"/>
              <a:t>An error message or blue screen may show on the screen as operating system files cannot be loaded, due to not being found or being corrupt.</a:t>
            </a:r>
            <a:endParaRPr/>
          </a:p>
          <a:p>
            <a:pPr indent="0" lvl="0" marL="91440" rtl="0" algn="l">
              <a:lnSpc>
                <a:spcPct val="90000"/>
              </a:lnSpc>
              <a:spcBef>
                <a:spcPts val="1600"/>
              </a:spcBef>
              <a:spcAft>
                <a:spcPts val="0"/>
              </a:spcAft>
              <a:buSzPts val="2000"/>
              <a:buNone/>
            </a:pPr>
            <a:r>
              <a:t/>
            </a:r>
            <a:endParaRPr sz="2000"/>
          </a:p>
          <a:p>
            <a:pPr indent="0" lvl="0" marL="91440" rtl="0" algn="l">
              <a:lnSpc>
                <a:spcPct val="90000"/>
              </a:lnSpc>
              <a:spcBef>
                <a:spcPts val="1400"/>
              </a:spcBef>
              <a:spcAft>
                <a:spcPts val="0"/>
              </a:spcAft>
              <a:buSzPts val="2000"/>
              <a:buNone/>
            </a:pPr>
            <a:r>
              <a:t/>
            </a:r>
            <a:endParaRPr sz="2000"/>
          </a:p>
        </p:txBody>
      </p:sp>
      <p:sp>
        <p:nvSpPr>
          <p:cNvPr id="1267" name="Google Shape;1267;p11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268" name="Google Shape;1268;p11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269" name="Google Shape;1269;p11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3" name="Shape 1273"/>
        <p:cNvGrpSpPr/>
        <p:nvPr/>
      </p:nvGrpSpPr>
      <p:grpSpPr>
        <a:xfrm>
          <a:off x="0" y="0"/>
          <a:ext cx="0" cy="0"/>
          <a:chOff x="0" y="0"/>
          <a:chExt cx="0" cy="0"/>
        </a:xfrm>
      </p:grpSpPr>
      <p:sp>
        <p:nvSpPr>
          <p:cNvPr id="1274" name="Google Shape;1274;p115"/>
          <p:cNvSpPr txBox="1"/>
          <p:nvPr>
            <p:ph type="title"/>
          </p:nvPr>
        </p:nvSpPr>
        <p:spPr>
          <a:xfrm>
            <a:off x="10074" y="119534"/>
            <a:ext cx="7620000" cy="49006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sz="3200"/>
              <a:t>Cold and Warm boot</a:t>
            </a:r>
            <a:endParaRPr sz="3200"/>
          </a:p>
        </p:txBody>
      </p:sp>
      <p:sp>
        <p:nvSpPr>
          <p:cNvPr id="1275" name="Google Shape;1275;p115"/>
          <p:cNvSpPr txBox="1"/>
          <p:nvPr>
            <p:ph idx="1" type="body"/>
          </p:nvPr>
        </p:nvSpPr>
        <p:spPr>
          <a:xfrm>
            <a:off x="107504" y="614681"/>
            <a:ext cx="7620000" cy="4800600"/>
          </a:xfrm>
          <a:prstGeom prst="rect">
            <a:avLst/>
          </a:prstGeom>
          <a:noFill/>
          <a:ln>
            <a:noFill/>
          </a:ln>
        </p:spPr>
        <p:txBody>
          <a:bodyPr anchorCtr="0" anchor="t" bIns="45700" lIns="0" spcFirstLastPara="1" rIns="0" wrap="square" tIns="45700">
            <a:normAutofit lnSpcReduction="10000"/>
          </a:bodyPr>
          <a:lstStyle/>
          <a:p>
            <a:pPr indent="-127000" lvl="0" marL="91440" rtl="0" algn="l">
              <a:lnSpc>
                <a:spcPct val="90000"/>
              </a:lnSpc>
              <a:spcBef>
                <a:spcPts val="0"/>
              </a:spcBef>
              <a:spcAft>
                <a:spcPts val="0"/>
              </a:spcAft>
              <a:buSzPts val="2000"/>
              <a:buChar char=" "/>
            </a:pPr>
            <a:r>
              <a:rPr lang="en-IN" sz="2000"/>
              <a:t>Cold Boot-</a:t>
            </a:r>
            <a:endParaRPr/>
          </a:p>
          <a:p>
            <a:pPr indent="-182880" lvl="1" marL="384048" rtl="0" algn="l">
              <a:lnSpc>
                <a:spcPct val="90000"/>
              </a:lnSpc>
              <a:spcBef>
                <a:spcPts val="400"/>
              </a:spcBef>
              <a:spcAft>
                <a:spcPts val="0"/>
              </a:spcAft>
              <a:buSzPts val="1800"/>
              <a:buChar char="◦"/>
            </a:pPr>
            <a:r>
              <a:rPr lang="en-IN"/>
              <a:t>To perform a cold boot (also called a "hard boot") means to start up a computer that is turned off. </a:t>
            </a:r>
            <a:endParaRPr/>
          </a:p>
          <a:p>
            <a:pPr indent="-127000" lvl="0" marL="91440" rtl="0" algn="l">
              <a:lnSpc>
                <a:spcPct val="90000"/>
              </a:lnSpc>
              <a:spcBef>
                <a:spcPts val="1600"/>
              </a:spcBef>
              <a:spcAft>
                <a:spcPts val="0"/>
              </a:spcAft>
              <a:buSzPts val="2000"/>
              <a:buChar char=" "/>
            </a:pPr>
            <a:r>
              <a:rPr lang="en-IN" sz="2000"/>
              <a:t>Warm Boot-</a:t>
            </a:r>
            <a:endParaRPr/>
          </a:p>
          <a:p>
            <a:pPr indent="-182880" lvl="1" marL="384048" rtl="0" algn="l">
              <a:lnSpc>
                <a:spcPct val="90000"/>
              </a:lnSpc>
              <a:spcBef>
                <a:spcPts val="400"/>
              </a:spcBef>
              <a:spcAft>
                <a:spcPts val="0"/>
              </a:spcAft>
              <a:buSzPts val="1800"/>
              <a:buChar char="◦"/>
            </a:pPr>
            <a:r>
              <a:rPr lang="en-IN"/>
              <a:t>It is often used in contrast to a warm boot, which refers to restarting a computer once it has been turned on.</a:t>
            </a:r>
            <a:endParaRPr/>
          </a:p>
          <a:p>
            <a:pPr indent="-127000" lvl="0" marL="91440" rtl="0" algn="l">
              <a:lnSpc>
                <a:spcPct val="90000"/>
              </a:lnSpc>
              <a:spcBef>
                <a:spcPts val="1600"/>
              </a:spcBef>
              <a:spcAft>
                <a:spcPts val="0"/>
              </a:spcAft>
              <a:buSzPts val="2000"/>
              <a:buChar char=" "/>
            </a:pPr>
            <a:r>
              <a:rPr lang="en-IN" sz="2000"/>
              <a:t>While a warm boot and cold boot are similar, </a:t>
            </a:r>
            <a:endParaRPr/>
          </a:p>
          <a:p>
            <a:pPr indent="-182880" lvl="1" marL="384048" rtl="0" algn="l">
              <a:lnSpc>
                <a:spcPct val="90000"/>
              </a:lnSpc>
              <a:spcBef>
                <a:spcPts val="400"/>
              </a:spcBef>
              <a:spcAft>
                <a:spcPts val="0"/>
              </a:spcAft>
              <a:buSzPts val="1800"/>
              <a:buChar char="◦"/>
            </a:pPr>
            <a:r>
              <a:rPr lang="en-IN"/>
              <a:t>a cold boot performs a more complete reset of the system than a warm boot. </a:t>
            </a:r>
            <a:endParaRPr/>
          </a:p>
          <a:p>
            <a:pPr indent="-127000" lvl="0" marL="91440" rtl="0" algn="l">
              <a:lnSpc>
                <a:spcPct val="90000"/>
              </a:lnSpc>
              <a:spcBef>
                <a:spcPts val="1600"/>
              </a:spcBef>
              <a:spcAft>
                <a:spcPts val="0"/>
              </a:spcAft>
              <a:buSzPts val="2000"/>
              <a:buChar char=" "/>
            </a:pPr>
            <a:r>
              <a:rPr lang="en-IN"/>
              <a:t>Warm Boot-</a:t>
            </a:r>
            <a:endParaRPr/>
          </a:p>
          <a:p>
            <a:pPr indent="-182880" lvl="1" marL="384048" rtl="0" algn="l">
              <a:lnSpc>
                <a:spcPct val="90000"/>
              </a:lnSpc>
              <a:spcBef>
                <a:spcPts val="400"/>
              </a:spcBef>
              <a:spcAft>
                <a:spcPts val="0"/>
              </a:spcAft>
              <a:buSzPts val="2200"/>
              <a:buChar char="◦"/>
            </a:pPr>
            <a:r>
              <a:rPr lang="en-IN" sz="2200"/>
              <a:t>If the computer hangs because of some reason while working, and demands to be restarted to make it working. </a:t>
            </a:r>
            <a:endParaRPr/>
          </a:p>
          <a:p>
            <a:pPr indent="-182880" lvl="1" marL="384048" rtl="0" algn="l">
              <a:lnSpc>
                <a:spcPct val="90000"/>
              </a:lnSpc>
              <a:spcBef>
                <a:spcPts val="600"/>
              </a:spcBef>
              <a:spcAft>
                <a:spcPts val="0"/>
              </a:spcAft>
              <a:buSzPts val="2200"/>
              <a:buChar char="◦"/>
            </a:pPr>
            <a:r>
              <a:rPr lang="en-IN" sz="2200"/>
              <a:t>The process of reset/restart of the computer system is called as warm booting. </a:t>
            </a:r>
            <a:endParaRPr/>
          </a:p>
          <a:p>
            <a:pPr indent="-182880" lvl="1" marL="384048" rtl="0" algn="l">
              <a:lnSpc>
                <a:spcPct val="90000"/>
              </a:lnSpc>
              <a:spcBef>
                <a:spcPts val="600"/>
              </a:spcBef>
              <a:spcAft>
                <a:spcPts val="0"/>
              </a:spcAft>
              <a:buSzPts val="2200"/>
              <a:buChar char="◦"/>
            </a:pPr>
            <a:r>
              <a:rPr lang="en-IN" sz="2200"/>
              <a:t>It is done with the help of reset button or keys (Ctrl+Alt+Del). </a:t>
            </a:r>
            <a:endParaRPr/>
          </a:p>
          <a:p>
            <a:pPr indent="-68579" lvl="1" marL="384048" rtl="0" algn="l">
              <a:lnSpc>
                <a:spcPct val="90000"/>
              </a:lnSpc>
              <a:spcBef>
                <a:spcPts val="600"/>
              </a:spcBef>
              <a:spcAft>
                <a:spcPts val="0"/>
              </a:spcAft>
              <a:buSzPts val="1800"/>
              <a:buNone/>
            </a:pPr>
            <a:r>
              <a:t/>
            </a:r>
            <a:endParaRPr/>
          </a:p>
          <a:p>
            <a:pPr indent="0" lvl="0" marL="91440" rtl="0" algn="l">
              <a:lnSpc>
                <a:spcPct val="90000"/>
              </a:lnSpc>
              <a:spcBef>
                <a:spcPts val="1600"/>
              </a:spcBef>
              <a:spcAft>
                <a:spcPts val="0"/>
              </a:spcAft>
              <a:buSzPts val="2000"/>
              <a:buNone/>
            </a:pPr>
            <a:r>
              <a:t/>
            </a:r>
            <a:endParaRPr/>
          </a:p>
        </p:txBody>
      </p:sp>
      <p:sp>
        <p:nvSpPr>
          <p:cNvPr id="1276" name="Google Shape;1276;p11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277" name="Google Shape;1277;p11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278" name="Google Shape;1278;p11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pic>
        <p:nvPicPr>
          <p:cNvPr id="1283" name="Google Shape;1283;p116"/>
          <p:cNvPicPr preferRelativeResize="0"/>
          <p:nvPr>
            <p:ph idx="1" type="body"/>
          </p:nvPr>
        </p:nvPicPr>
        <p:blipFill rotWithShape="1">
          <a:blip r:embed="rId3">
            <a:alphaModFix/>
          </a:blip>
          <a:srcRect b="0" l="0" r="0" t="0"/>
          <a:stretch/>
        </p:blipFill>
        <p:spPr>
          <a:xfrm>
            <a:off x="467544" y="620688"/>
            <a:ext cx="8208912" cy="5616623"/>
          </a:xfrm>
          <a:prstGeom prst="rect">
            <a:avLst/>
          </a:prstGeom>
          <a:noFill/>
          <a:ln>
            <a:noFill/>
          </a:ln>
        </p:spPr>
      </p:pic>
      <p:sp>
        <p:nvSpPr>
          <p:cNvPr id="1284" name="Google Shape;1284;p11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285" name="Google Shape;1285;p11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286" name="Google Shape;1286;p11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p117"/>
          <p:cNvSpPr txBox="1"/>
          <p:nvPr>
            <p:ph type="title"/>
          </p:nvPr>
        </p:nvSpPr>
        <p:spPr>
          <a:xfrm>
            <a:off x="107504" y="116632"/>
            <a:ext cx="7620000" cy="36004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sz="3200"/>
              <a:t>Time for Quiz</a:t>
            </a:r>
            <a:endParaRPr sz="3200"/>
          </a:p>
        </p:txBody>
      </p:sp>
      <p:sp>
        <p:nvSpPr>
          <p:cNvPr id="1292" name="Google Shape;1292;p117"/>
          <p:cNvSpPr txBox="1"/>
          <p:nvPr>
            <p:ph idx="1" type="body"/>
          </p:nvPr>
        </p:nvSpPr>
        <p:spPr>
          <a:xfrm>
            <a:off x="115955" y="476672"/>
            <a:ext cx="7620000" cy="6381328"/>
          </a:xfrm>
          <a:prstGeom prst="rect">
            <a:avLst/>
          </a:prstGeom>
          <a:noFill/>
          <a:ln>
            <a:noFill/>
          </a:ln>
        </p:spPr>
        <p:txBody>
          <a:bodyPr anchorCtr="0" anchor="t" bIns="45700" lIns="0" spcFirstLastPara="1" rIns="0" wrap="square" tIns="45700">
            <a:normAutofit fontScale="25000" lnSpcReduction="20000"/>
          </a:bodyPr>
          <a:lstStyle/>
          <a:p>
            <a:pPr indent="0" lvl="0" marL="0" rtl="0" algn="l">
              <a:lnSpc>
                <a:spcPct val="90000"/>
              </a:lnSpc>
              <a:spcBef>
                <a:spcPts val="0"/>
              </a:spcBef>
              <a:spcAft>
                <a:spcPts val="0"/>
              </a:spcAft>
              <a:buSzPct val="100000"/>
              <a:buNone/>
            </a:pPr>
            <a:r>
              <a:rPr lang="en-IN" sz="6200"/>
              <a:t>What is the name given to the process of initializing a microcomputer with its operating system?</a:t>
            </a:r>
            <a:endParaRPr/>
          </a:p>
          <a:p>
            <a:pPr indent="0" lvl="0" marL="0" rtl="0" algn="l">
              <a:lnSpc>
                <a:spcPct val="90000"/>
              </a:lnSpc>
              <a:spcBef>
                <a:spcPts val="1400"/>
              </a:spcBef>
              <a:spcAft>
                <a:spcPts val="0"/>
              </a:spcAft>
              <a:buSzPct val="100000"/>
              <a:buNone/>
            </a:pPr>
            <a:r>
              <a:rPr lang="en-IN" sz="6200"/>
              <a:t>(a) Cold booting</a:t>
            </a:r>
            <a:endParaRPr/>
          </a:p>
          <a:p>
            <a:pPr indent="0" lvl="0" marL="0" rtl="0" algn="l">
              <a:lnSpc>
                <a:spcPct val="90000"/>
              </a:lnSpc>
              <a:spcBef>
                <a:spcPts val="1400"/>
              </a:spcBef>
              <a:spcAft>
                <a:spcPts val="0"/>
              </a:spcAft>
              <a:buSzPct val="100000"/>
              <a:buNone/>
            </a:pPr>
            <a:r>
              <a:rPr lang="en-IN" sz="6200"/>
              <a:t>(b) Booting  </a:t>
            </a:r>
            <a:endParaRPr sz="6200"/>
          </a:p>
          <a:p>
            <a:pPr indent="0" lvl="0" marL="0" rtl="0" algn="l">
              <a:lnSpc>
                <a:spcPct val="90000"/>
              </a:lnSpc>
              <a:spcBef>
                <a:spcPts val="1400"/>
              </a:spcBef>
              <a:spcAft>
                <a:spcPts val="0"/>
              </a:spcAft>
              <a:buSzPct val="100000"/>
              <a:buNone/>
            </a:pPr>
            <a:r>
              <a:rPr lang="en-IN" sz="6200"/>
              <a:t>(c) Warm booting</a:t>
            </a:r>
            <a:endParaRPr/>
          </a:p>
          <a:p>
            <a:pPr indent="0" lvl="0" marL="0" rtl="0" algn="l">
              <a:lnSpc>
                <a:spcPct val="90000"/>
              </a:lnSpc>
              <a:spcBef>
                <a:spcPts val="1400"/>
              </a:spcBef>
              <a:spcAft>
                <a:spcPts val="0"/>
              </a:spcAft>
              <a:buSzPct val="100000"/>
              <a:buNone/>
            </a:pPr>
            <a:r>
              <a:rPr lang="en-IN" sz="6200"/>
              <a:t>(d) Boot recording</a:t>
            </a:r>
            <a:endParaRPr/>
          </a:p>
          <a:p>
            <a:pPr indent="0" lvl="0" marL="0" rtl="0" algn="l">
              <a:lnSpc>
                <a:spcPct val="90000"/>
              </a:lnSpc>
              <a:spcBef>
                <a:spcPts val="1400"/>
              </a:spcBef>
              <a:spcAft>
                <a:spcPts val="0"/>
              </a:spcAft>
              <a:buSzPct val="100000"/>
              <a:buNone/>
            </a:pPr>
            <a:r>
              <a:rPr lang="en-IN" sz="6200"/>
              <a:t>(e) None of the above</a:t>
            </a:r>
            <a:endParaRPr/>
          </a:p>
          <a:p>
            <a:pPr indent="0" lvl="0" marL="0" rtl="0" algn="l">
              <a:lnSpc>
                <a:spcPct val="90000"/>
              </a:lnSpc>
              <a:spcBef>
                <a:spcPts val="1400"/>
              </a:spcBef>
              <a:spcAft>
                <a:spcPts val="0"/>
              </a:spcAft>
              <a:buSzPct val="100000"/>
              <a:buNone/>
            </a:pPr>
            <a:r>
              <a:rPr lang="en-IN" sz="6200"/>
              <a:t> </a:t>
            </a:r>
            <a:r>
              <a:rPr b="1" lang="en-IN" sz="8000"/>
              <a:t>Ans (b)</a:t>
            </a:r>
            <a:endParaRPr/>
          </a:p>
          <a:p>
            <a:pPr indent="-457200" lvl="0" marL="457200" rtl="0" algn="l">
              <a:lnSpc>
                <a:spcPct val="90000"/>
              </a:lnSpc>
              <a:spcBef>
                <a:spcPts val="1400"/>
              </a:spcBef>
              <a:spcAft>
                <a:spcPts val="0"/>
              </a:spcAft>
              <a:buSzPct val="100000"/>
              <a:buAutoNum type="alphaLcParenBoth"/>
            </a:pPr>
            <a:r>
              <a:rPr lang="en-IN" sz="7200"/>
              <a:t>UNIX provides three types of permissions</a:t>
            </a:r>
            <a:br>
              <a:rPr lang="en-IN" sz="7200"/>
            </a:br>
            <a:r>
              <a:rPr lang="en-IN" sz="7200"/>
              <a:t>* Read</a:t>
            </a:r>
            <a:br>
              <a:rPr lang="en-IN" sz="7200"/>
            </a:br>
            <a:r>
              <a:rPr lang="en-IN" sz="7200"/>
              <a:t>* Write</a:t>
            </a:r>
            <a:br>
              <a:rPr lang="en-IN" sz="7200"/>
            </a:br>
            <a:r>
              <a:rPr lang="en-IN" sz="7200"/>
              <a:t>* Execute</a:t>
            </a:r>
            <a:br>
              <a:rPr lang="en-IN" sz="7200"/>
            </a:br>
            <a:r>
              <a:rPr lang="en-IN" sz="7200"/>
              <a:t>(b) UNIX provides three sets of permissions</a:t>
            </a:r>
            <a:br>
              <a:rPr lang="en-IN" sz="7200"/>
            </a:br>
            <a:r>
              <a:rPr lang="en-IN" sz="7200"/>
              <a:t>* permission for owner</a:t>
            </a:r>
            <a:br>
              <a:rPr lang="en-IN" sz="7200"/>
            </a:br>
            <a:r>
              <a:rPr lang="en-IN" sz="7200"/>
              <a:t>* permission for group</a:t>
            </a:r>
            <a:br>
              <a:rPr lang="en-IN" sz="7200"/>
            </a:br>
            <a:r>
              <a:rPr lang="en-IN" sz="7200"/>
              <a:t>* permission for others</a:t>
            </a:r>
            <a:endParaRPr/>
          </a:p>
          <a:p>
            <a:pPr indent="0" lvl="0" marL="0" rtl="0" algn="l">
              <a:lnSpc>
                <a:spcPct val="90000"/>
              </a:lnSpc>
              <a:spcBef>
                <a:spcPts val="1400"/>
              </a:spcBef>
              <a:spcAft>
                <a:spcPts val="0"/>
              </a:spcAft>
              <a:buSzPct val="100000"/>
              <a:buNone/>
            </a:pPr>
            <a:r>
              <a:rPr lang="en-IN" sz="8000"/>
              <a:t>Which of the above statement/s is/are true ?</a:t>
            </a:r>
            <a:endParaRPr/>
          </a:p>
          <a:p>
            <a:pPr indent="-571500" lvl="1" marL="868680" rtl="0" algn="l">
              <a:lnSpc>
                <a:spcPct val="90000"/>
              </a:lnSpc>
              <a:spcBef>
                <a:spcPts val="400"/>
              </a:spcBef>
              <a:spcAft>
                <a:spcPts val="0"/>
              </a:spcAft>
              <a:buSzPct val="100000"/>
              <a:buChar char="◦"/>
            </a:pPr>
            <a:r>
              <a:rPr b="1" lang="en-IN" sz="7200"/>
              <a:t>(A)</a:t>
            </a:r>
            <a:r>
              <a:rPr lang="en-IN" sz="7200"/>
              <a:t> only (a)</a:t>
            </a:r>
            <a:br>
              <a:rPr lang="en-IN" sz="7200"/>
            </a:br>
            <a:r>
              <a:rPr b="1" lang="en-IN" sz="7200"/>
              <a:t>(B)</a:t>
            </a:r>
            <a:r>
              <a:rPr lang="en-IN" sz="7200"/>
              <a:t> only (b)</a:t>
            </a:r>
            <a:br>
              <a:rPr lang="en-IN" sz="7200"/>
            </a:br>
            <a:r>
              <a:rPr b="1" lang="en-IN" sz="7200"/>
              <a:t>(C)</a:t>
            </a:r>
            <a:r>
              <a:rPr lang="en-IN" sz="7200"/>
              <a:t> Both (a) and (b)</a:t>
            </a:r>
            <a:br>
              <a:rPr lang="en-IN" sz="7200"/>
            </a:br>
            <a:r>
              <a:rPr b="1" lang="en-IN" sz="7200"/>
              <a:t>(D)</a:t>
            </a:r>
            <a:r>
              <a:rPr lang="en-IN" sz="7200"/>
              <a:t> Neither (a) nor (b</a:t>
            </a:r>
            <a:r>
              <a:rPr lang="en-IN" sz="8000"/>
              <a:t>)</a:t>
            </a:r>
            <a:endParaRPr/>
          </a:p>
          <a:p>
            <a:pPr indent="0" lvl="0" marL="0" rtl="0" algn="l">
              <a:lnSpc>
                <a:spcPct val="90000"/>
              </a:lnSpc>
              <a:spcBef>
                <a:spcPts val="1600"/>
              </a:spcBef>
              <a:spcAft>
                <a:spcPts val="0"/>
              </a:spcAft>
              <a:buSzPct val="100000"/>
              <a:buNone/>
            </a:pPr>
            <a:r>
              <a:rPr b="1" lang="en-IN" sz="8000"/>
              <a:t>Answer:</a:t>
            </a:r>
            <a:r>
              <a:rPr lang="en-IN" sz="8000"/>
              <a:t> </a:t>
            </a:r>
            <a:r>
              <a:rPr b="1" lang="en-IN" sz="8000"/>
              <a:t>(C)</a:t>
            </a:r>
            <a:br>
              <a:rPr lang="en-IN" sz="8000"/>
            </a:br>
            <a:r>
              <a:rPr b="1" lang="en-IN" sz="6400"/>
              <a:t>Explanation:</a:t>
            </a:r>
            <a:r>
              <a:rPr lang="en-IN" sz="6400"/>
              <a:t> UNIX provides Read, Write and Execute permission on files</a:t>
            </a:r>
            <a:br>
              <a:rPr lang="en-IN" sz="6400"/>
            </a:br>
            <a:r>
              <a:rPr lang="en-IN" sz="6400"/>
              <a:t>UNIX provides three sets of permissions</a:t>
            </a:r>
            <a:endParaRPr/>
          </a:p>
          <a:p>
            <a:pPr indent="0" lvl="0" marL="0" rtl="0" algn="l">
              <a:lnSpc>
                <a:spcPct val="90000"/>
              </a:lnSpc>
              <a:spcBef>
                <a:spcPts val="1400"/>
              </a:spcBef>
              <a:spcAft>
                <a:spcPts val="0"/>
              </a:spcAft>
              <a:buSzPct val="100000"/>
              <a:buNone/>
            </a:pPr>
            <a:r>
              <a:rPr lang="en-IN" sz="6400"/>
              <a:t>permission for owner</a:t>
            </a:r>
            <a:endParaRPr/>
          </a:p>
          <a:p>
            <a:pPr indent="0" lvl="0" marL="0" rtl="0" algn="l">
              <a:lnSpc>
                <a:spcPct val="90000"/>
              </a:lnSpc>
              <a:spcBef>
                <a:spcPts val="1400"/>
              </a:spcBef>
              <a:spcAft>
                <a:spcPts val="0"/>
              </a:spcAft>
              <a:buSzPct val="100000"/>
              <a:buNone/>
            </a:pPr>
            <a:r>
              <a:rPr lang="en-IN" sz="6400"/>
              <a:t>permission for group</a:t>
            </a:r>
            <a:endParaRPr/>
          </a:p>
          <a:p>
            <a:pPr indent="0" lvl="0" marL="0" rtl="0" algn="l">
              <a:lnSpc>
                <a:spcPct val="90000"/>
              </a:lnSpc>
              <a:spcBef>
                <a:spcPts val="1400"/>
              </a:spcBef>
              <a:spcAft>
                <a:spcPts val="0"/>
              </a:spcAft>
              <a:buSzPct val="100000"/>
              <a:buNone/>
            </a:pPr>
            <a:r>
              <a:rPr lang="en-IN" sz="6400"/>
              <a:t>permission for others</a:t>
            </a:r>
            <a:endParaRPr/>
          </a:p>
          <a:p>
            <a:pPr indent="0" lvl="0" marL="0" rtl="0" algn="l">
              <a:lnSpc>
                <a:spcPct val="90000"/>
              </a:lnSpc>
              <a:spcBef>
                <a:spcPts val="1400"/>
              </a:spcBef>
              <a:spcAft>
                <a:spcPts val="0"/>
              </a:spcAft>
              <a:buSzPct val="100000"/>
              <a:buNone/>
            </a:pPr>
            <a:r>
              <a:t/>
            </a:r>
            <a:endParaRPr sz="2000"/>
          </a:p>
          <a:p>
            <a:pPr indent="-457200" lvl="0" marL="457200" rtl="0" algn="l">
              <a:lnSpc>
                <a:spcPct val="90000"/>
              </a:lnSpc>
              <a:spcBef>
                <a:spcPts val="1400"/>
              </a:spcBef>
              <a:spcAft>
                <a:spcPts val="0"/>
              </a:spcAft>
              <a:buSzPct val="100000"/>
              <a:buAutoNum type="alphaLcParenBoth"/>
            </a:pPr>
            <a:br>
              <a:rPr lang="en-IN" sz="2400"/>
            </a:br>
            <a:endParaRPr b="1" sz="2400"/>
          </a:p>
          <a:p>
            <a:pPr indent="-59689" lvl="0" marL="91440" rtl="0" algn="l">
              <a:lnSpc>
                <a:spcPct val="90000"/>
              </a:lnSpc>
              <a:spcBef>
                <a:spcPts val="1400"/>
              </a:spcBef>
              <a:spcAft>
                <a:spcPts val="0"/>
              </a:spcAft>
              <a:buSzPct val="100000"/>
              <a:buNone/>
            </a:pPr>
            <a:r>
              <a:t/>
            </a:r>
            <a:endParaRPr/>
          </a:p>
        </p:txBody>
      </p:sp>
      <p:sp>
        <p:nvSpPr>
          <p:cNvPr id="1293" name="Google Shape;1293;p11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294" name="Google Shape;1294;p11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295" name="Google Shape;1295;p11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xEl>
                                              <p:pRg end="16" st="1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118"/>
          <p:cNvSpPr txBox="1"/>
          <p:nvPr>
            <p:ph idx="1" type="body"/>
          </p:nvPr>
        </p:nvSpPr>
        <p:spPr>
          <a:xfrm>
            <a:off x="457200" y="476672"/>
            <a:ext cx="8229600" cy="5649491"/>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b="1" lang="en-IN"/>
              <a:t>UGC-NET | UGC NET CS 2015 Dec – III | Question 56</a:t>
            </a:r>
            <a:endParaRPr/>
          </a:p>
          <a:p>
            <a:pPr indent="0" lvl="0" marL="0" rtl="0" algn="l">
              <a:lnSpc>
                <a:spcPct val="90000"/>
              </a:lnSpc>
              <a:spcBef>
                <a:spcPts val="1400"/>
              </a:spcBef>
              <a:spcAft>
                <a:spcPts val="0"/>
              </a:spcAft>
              <a:buSzPts val="2000"/>
              <a:buNone/>
            </a:pPr>
            <a:r>
              <a:rPr lang="en-IN"/>
              <a:t>In Unix, the command to enable execution permission for file “mylife” by all is ____________.</a:t>
            </a:r>
            <a:br>
              <a:rPr lang="en-IN"/>
            </a:br>
            <a:r>
              <a:rPr b="1" lang="en-IN"/>
              <a:t>(A)</a:t>
            </a:r>
            <a:r>
              <a:rPr lang="en-IN"/>
              <a:t> Chmod ugo + X myfile</a:t>
            </a:r>
            <a:br>
              <a:rPr lang="en-IN"/>
            </a:br>
            <a:r>
              <a:rPr b="1" lang="en-IN"/>
              <a:t>(B)</a:t>
            </a:r>
            <a:r>
              <a:rPr lang="en-IN"/>
              <a:t> Chmod a + X myfile</a:t>
            </a:r>
            <a:br>
              <a:rPr lang="en-IN"/>
            </a:br>
            <a:r>
              <a:rPr b="1" lang="en-IN"/>
              <a:t>(C)</a:t>
            </a:r>
            <a:r>
              <a:rPr lang="en-IN"/>
              <a:t> Chmod + X myfile</a:t>
            </a:r>
            <a:br>
              <a:rPr lang="en-IN"/>
            </a:br>
            <a:r>
              <a:rPr b="1" lang="en-IN"/>
              <a:t>(D)</a:t>
            </a:r>
            <a:r>
              <a:rPr lang="en-IN"/>
              <a:t> All of the above</a:t>
            </a:r>
            <a:br>
              <a:rPr lang="en-IN"/>
            </a:br>
            <a:br>
              <a:rPr lang="en-IN"/>
            </a:br>
            <a:r>
              <a:rPr b="1" lang="en-IN"/>
              <a:t>Answer:</a:t>
            </a:r>
            <a:r>
              <a:rPr lang="en-IN"/>
              <a:t> </a:t>
            </a:r>
            <a:r>
              <a:rPr b="1" lang="en-IN"/>
              <a:t>(D)</a:t>
            </a:r>
            <a:r>
              <a:rPr lang="en-IN"/>
              <a:t> </a:t>
            </a:r>
            <a:br>
              <a:rPr lang="en-IN"/>
            </a:br>
            <a:br>
              <a:rPr lang="en-IN"/>
            </a:br>
            <a:r>
              <a:rPr b="1" lang="en-IN"/>
              <a:t>Explanation:</a:t>
            </a:r>
            <a:r>
              <a:rPr lang="en-IN"/>
              <a:t> In Unix, the command to enable execution permission for file “mylife” by all are:</a:t>
            </a:r>
            <a:br>
              <a:rPr lang="en-IN"/>
            </a:br>
            <a:r>
              <a:rPr lang="en-IN"/>
              <a:t>Chmod + X myfile</a:t>
            </a:r>
            <a:br>
              <a:rPr lang="en-IN"/>
            </a:br>
            <a:r>
              <a:rPr lang="en-IN"/>
              <a:t>Chmod a + X myfile</a:t>
            </a:r>
            <a:br>
              <a:rPr lang="en-IN"/>
            </a:br>
            <a:r>
              <a:rPr lang="en-IN"/>
              <a:t>Chmod ugo + X myfile</a:t>
            </a:r>
            <a:br>
              <a:rPr lang="en-IN"/>
            </a:br>
            <a:r>
              <a:rPr lang="en-IN"/>
              <a:t>So, option (D) is correct.</a:t>
            </a:r>
            <a:endParaRPr/>
          </a:p>
          <a:p>
            <a:pPr indent="0" lvl="0" marL="91440" rtl="0" algn="l">
              <a:lnSpc>
                <a:spcPct val="90000"/>
              </a:lnSpc>
              <a:spcBef>
                <a:spcPts val="1400"/>
              </a:spcBef>
              <a:spcAft>
                <a:spcPts val="0"/>
              </a:spcAft>
              <a:buSzPts val="2000"/>
              <a:buNone/>
            </a:pPr>
            <a:r>
              <a:t/>
            </a:r>
            <a:endParaRPr/>
          </a:p>
        </p:txBody>
      </p:sp>
      <p:sp>
        <p:nvSpPr>
          <p:cNvPr id="1301" name="Google Shape;1301;p11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302" name="Google Shape;1302;p11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303" name="Google Shape;1303;p11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119"/>
          <p:cNvSpPr txBox="1"/>
          <p:nvPr>
            <p:ph type="title"/>
          </p:nvPr>
        </p:nvSpPr>
        <p:spPr>
          <a:xfrm>
            <a:off x="107504" y="33338"/>
            <a:ext cx="7712075" cy="37132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sz="3200"/>
              <a:t>Operating System Design and Implementation</a:t>
            </a:r>
            <a:endParaRPr/>
          </a:p>
        </p:txBody>
      </p:sp>
      <p:sp>
        <p:nvSpPr>
          <p:cNvPr id="1310" name="Google Shape;1310;p119"/>
          <p:cNvSpPr txBox="1"/>
          <p:nvPr>
            <p:ph idx="1" type="body"/>
          </p:nvPr>
        </p:nvSpPr>
        <p:spPr>
          <a:xfrm>
            <a:off x="275778" y="433593"/>
            <a:ext cx="8616702" cy="6026193"/>
          </a:xfrm>
          <a:prstGeom prst="rect">
            <a:avLst/>
          </a:prstGeom>
          <a:noFill/>
          <a:ln>
            <a:noFill/>
          </a:ln>
        </p:spPr>
        <p:txBody>
          <a:bodyPr anchorCtr="0" anchor="t" bIns="45700" lIns="0" spcFirstLastPara="1" rIns="0" wrap="square" tIns="45700">
            <a:normAutofit fontScale="92500" lnSpcReduction="10000"/>
          </a:bodyPr>
          <a:lstStyle/>
          <a:p>
            <a:pPr indent="-117475" lvl="0" marL="91440" rtl="0" algn="l">
              <a:lnSpc>
                <a:spcPct val="90000"/>
              </a:lnSpc>
              <a:spcBef>
                <a:spcPts val="0"/>
              </a:spcBef>
              <a:spcAft>
                <a:spcPts val="0"/>
              </a:spcAft>
              <a:buSzPct val="100000"/>
              <a:buChar char=" "/>
            </a:pPr>
            <a:r>
              <a:rPr lang="en-IN" sz="2000"/>
              <a:t>Design and Implementation of OS not “solvable”, but some approaches have proven successful</a:t>
            </a:r>
            <a:endParaRPr/>
          </a:p>
          <a:p>
            <a:pPr indent="-117475" lvl="0" marL="91440" rtl="0" algn="l">
              <a:lnSpc>
                <a:spcPct val="90000"/>
              </a:lnSpc>
              <a:spcBef>
                <a:spcPts val="1400"/>
              </a:spcBef>
              <a:spcAft>
                <a:spcPts val="0"/>
              </a:spcAft>
              <a:buSzPct val="100000"/>
              <a:buChar char=" "/>
            </a:pPr>
            <a:r>
              <a:rPr b="1" lang="en-IN" sz="2000"/>
              <a:t>Internal structure of different Operating Systems  can vary widely</a:t>
            </a:r>
            <a:endParaRPr/>
          </a:p>
          <a:p>
            <a:pPr indent="-117475" lvl="0" marL="91440" rtl="0" algn="l">
              <a:lnSpc>
                <a:spcPct val="90000"/>
              </a:lnSpc>
              <a:spcBef>
                <a:spcPts val="1400"/>
              </a:spcBef>
              <a:spcAft>
                <a:spcPts val="0"/>
              </a:spcAft>
              <a:buSzPct val="100000"/>
              <a:buChar char=" "/>
            </a:pPr>
            <a:r>
              <a:rPr lang="en-IN" sz="2000"/>
              <a:t>Start the design </a:t>
            </a:r>
            <a:r>
              <a:rPr b="1" lang="en-IN" sz="2000"/>
              <a:t>by defining goals and specifications </a:t>
            </a:r>
            <a:endParaRPr/>
          </a:p>
          <a:p>
            <a:pPr indent="-117475" lvl="0" marL="91440" rtl="0" algn="l">
              <a:lnSpc>
                <a:spcPct val="90000"/>
              </a:lnSpc>
              <a:spcBef>
                <a:spcPts val="1400"/>
              </a:spcBef>
              <a:spcAft>
                <a:spcPts val="0"/>
              </a:spcAft>
              <a:buSzPct val="100000"/>
              <a:buChar char=" "/>
            </a:pPr>
            <a:r>
              <a:rPr lang="en-IN" sz="2000"/>
              <a:t>Affected by </a:t>
            </a:r>
            <a:r>
              <a:rPr b="1" lang="en-IN" sz="2000"/>
              <a:t>choice of hardware, type of system</a:t>
            </a:r>
            <a:endParaRPr/>
          </a:p>
          <a:p>
            <a:pPr indent="-140970" lvl="0" marL="91440" rtl="0" algn="l">
              <a:lnSpc>
                <a:spcPct val="90000"/>
              </a:lnSpc>
              <a:spcBef>
                <a:spcPts val="1400"/>
              </a:spcBef>
              <a:spcAft>
                <a:spcPts val="0"/>
              </a:spcAft>
              <a:buSzPct val="100000"/>
              <a:buChar char=" "/>
            </a:pPr>
            <a:r>
              <a:rPr b="1" lang="en-IN" sz="2400">
                <a:solidFill>
                  <a:srgbClr val="3366FF"/>
                </a:solidFill>
              </a:rPr>
              <a:t>User </a:t>
            </a:r>
            <a:r>
              <a:rPr lang="en-IN" sz="2400"/>
              <a:t>goals and </a:t>
            </a:r>
            <a:r>
              <a:rPr b="1" lang="en-IN" sz="2400">
                <a:solidFill>
                  <a:srgbClr val="3366FF"/>
                </a:solidFill>
              </a:rPr>
              <a:t>System </a:t>
            </a:r>
            <a:r>
              <a:rPr lang="en-IN" sz="2400"/>
              <a:t>goals</a:t>
            </a:r>
            <a:endParaRPr/>
          </a:p>
          <a:p>
            <a:pPr indent="-182880" lvl="1" marL="384048" rtl="0" algn="l">
              <a:lnSpc>
                <a:spcPct val="90000"/>
              </a:lnSpc>
              <a:spcBef>
                <a:spcPts val="400"/>
              </a:spcBef>
              <a:spcAft>
                <a:spcPts val="0"/>
              </a:spcAft>
              <a:buSzPct val="100000"/>
              <a:buChar char="◦"/>
            </a:pPr>
            <a:r>
              <a:rPr lang="en-IN" sz="2400"/>
              <a:t>User goals – </a:t>
            </a:r>
            <a:r>
              <a:rPr lang="en-IN"/>
              <a:t>operating system should be </a:t>
            </a:r>
            <a:endParaRPr/>
          </a:p>
          <a:p>
            <a:pPr indent="-182880" lvl="2" marL="566928" rtl="0" algn="l">
              <a:lnSpc>
                <a:spcPct val="90000"/>
              </a:lnSpc>
              <a:spcBef>
                <a:spcPts val="600"/>
              </a:spcBef>
              <a:spcAft>
                <a:spcPts val="0"/>
              </a:spcAft>
              <a:buSzPct val="100000"/>
              <a:buChar char="◦"/>
            </a:pPr>
            <a:r>
              <a:rPr lang="en-IN" sz="2000"/>
              <a:t>convenient to use, </a:t>
            </a:r>
            <a:endParaRPr/>
          </a:p>
          <a:p>
            <a:pPr indent="-182880" lvl="2" marL="566928" rtl="0" algn="l">
              <a:lnSpc>
                <a:spcPct val="90000"/>
              </a:lnSpc>
              <a:spcBef>
                <a:spcPts val="600"/>
              </a:spcBef>
              <a:spcAft>
                <a:spcPts val="0"/>
              </a:spcAft>
              <a:buSzPct val="100000"/>
              <a:buChar char="◦"/>
            </a:pPr>
            <a:r>
              <a:rPr lang="en-IN" sz="2000"/>
              <a:t>easy to learn, </a:t>
            </a:r>
            <a:endParaRPr/>
          </a:p>
          <a:p>
            <a:pPr indent="-182880" lvl="2" marL="566928" rtl="0" algn="l">
              <a:lnSpc>
                <a:spcPct val="90000"/>
              </a:lnSpc>
              <a:spcBef>
                <a:spcPts val="600"/>
              </a:spcBef>
              <a:spcAft>
                <a:spcPts val="0"/>
              </a:spcAft>
              <a:buSzPct val="100000"/>
              <a:buChar char="◦"/>
            </a:pPr>
            <a:r>
              <a:rPr lang="en-IN" sz="2000"/>
              <a:t>reliable, </a:t>
            </a:r>
            <a:endParaRPr/>
          </a:p>
          <a:p>
            <a:pPr indent="-182880" lvl="2" marL="566928" rtl="0" algn="l">
              <a:lnSpc>
                <a:spcPct val="90000"/>
              </a:lnSpc>
              <a:spcBef>
                <a:spcPts val="600"/>
              </a:spcBef>
              <a:spcAft>
                <a:spcPts val="0"/>
              </a:spcAft>
              <a:buSzPct val="100000"/>
              <a:buChar char="◦"/>
            </a:pPr>
            <a:r>
              <a:rPr lang="en-IN" sz="2000"/>
              <a:t>safe, and</a:t>
            </a:r>
            <a:endParaRPr sz="2000"/>
          </a:p>
          <a:p>
            <a:pPr indent="-182880" lvl="2" marL="566928" rtl="0" algn="l">
              <a:lnSpc>
                <a:spcPct val="90000"/>
              </a:lnSpc>
              <a:spcBef>
                <a:spcPts val="600"/>
              </a:spcBef>
              <a:spcAft>
                <a:spcPts val="0"/>
              </a:spcAft>
              <a:buSzPct val="100000"/>
              <a:buChar char="◦"/>
            </a:pPr>
            <a:r>
              <a:rPr lang="en-IN" sz="2000"/>
              <a:t>Fast</a:t>
            </a:r>
            <a:endParaRPr/>
          </a:p>
          <a:p>
            <a:pPr indent="-182880" lvl="1" marL="384048" rtl="0" algn="l">
              <a:lnSpc>
                <a:spcPct val="90000"/>
              </a:lnSpc>
              <a:spcBef>
                <a:spcPts val="600"/>
              </a:spcBef>
              <a:spcAft>
                <a:spcPts val="0"/>
              </a:spcAft>
              <a:buSzPct val="100000"/>
              <a:buChar char="◦"/>
            </a:pPr>
            <a:r>
              <a:rPr lang="en-IN" sz="2000"/>
              <a:t>System goals – operating system should be </a:t>
            </a:r>
            <a:endParaRPr/>
          </a:p>
          <a:p>
            <a:pPr indent="-182880" lvl="2" marL="566928" rtl="0" algn="l">
              <a:lnSpc>
                <a:spcPct val="90000"/>
              </a:lnSpc>
              <a:spcBef>
                <a:spcPts val="600"/>
              </a:spcBef>
              <a:spcAft>
                <a:spcPts val="0"/>
              </a:spcAft>
              <a:buSzPct val="100000"/>
              <a:buChar char="◦"/>
            </a:pPr>
            <a:r>
              <a:rPr lang="en-IN" sz="2000"/>
              <a:t>easy to design, implement, and maintain, </a:t>
            </a:r>
            <a:endParaRPr/>
          </a:p>
          <a:p>
            <a:pPr indent="-182880" lvl="2" marL="566928" rtl="0" algn="l">
              <a:lnSpc>
                <a:spcPct val="90000"/>
              </a:lnSpc>
              <a:spcBef>
                <a:spcPts val="600"/>
              </a:spcBef>
              <a:spcAft>
                <a:spcPts val="0"/>
              </a:spcAft>
              <a:buSzPct val="100000"/>
              <a:buChar char="◦"/>
            </a:pPr>
            <a:r>
              <a:rPr lang="en-IN" sz="2000"/>
              <a:t>as well as flexible, </a:t>
            </a:r>
            <a:endParaRPr/>
          </a:p>
          <a:p>
            <a:pPr indent="-182880" lvl="2" marL="566928" rtl="0" algn="l">
              <a:lnSpc>
                <a:spcPct val="90000"/>
              </a:lnSpc>
              <a:spcBef>
                <a:spcPts val="600"/>
              </a:spcBef>
              <a:spcAft>
                <a:spcPts val="0"/>
              </a:spcAft>
              <a:buSzPct val="100000"/>
              <a:buChar char="◦"/>
            </a:pPr>
            <a:r>
              <a:rPr lang="en-IN" sz="2000"/>
              <a:t>reliable, </a:t>
            </a:r>
            <a:endParaRPr/>
          </a:p>
          <a:p>
            <a:pPr indent="-182880" lvl="2" marL="566928" rtl="0" algn="l">
              <a:lnSpc>
                <a:spcPct val="90000"/>
              </a:lnSpc>
              <a:spcBef>
                <a:spcPts val="600"/>
              </a:spcBef>
              <a:spcAft>
                <a:spcPts val="0"/>
              </a:spcAft>
              <a:buSzPct val="100000"/>
              <a:buChar char="◦"/>
            </a:pPr>
            <a:r>
              <a:rPr lang="en-IN" sz="2000"/>
              <a:t>error-free, and </a:t>
            </a:r>
            <a:endParaRPr/>
          </a:p>
          <a:p>
            <a:pPr indent="-182880" lvl="2" marL="566928" rtl="0" algn="l">
              <a:lnSpc>
                <a:spcPct val="90000"/>
              </a:lnSpc>
              <a:spcBef>
                <a:spcPts val="600"/>
              </a:spcBef>
              <a:spcAft>
                <a:spcPts val="0"/>
              </a:spcAft>
              <a:buSzPct val="100000"/>
              <a:buChar char="◦"/>
            </a:pPr>
            <a:r>
              <a:rPr lang="en-IN" sz="2000"/>
              <a:t>efficient</a:t>
            </a:r>
            <a:endParaRPr/>
          </a:p>
          <a:p>
            <a:pPr indent="-100647" lvl="2" marL="566928" rtl="0" algn="l">
              <a:lnSpc>
                <a:spcPct val="90000"/>
              </a:lnSpc>
              <a:spcBef>
                <a:spcPts val="600"/>
              </a:spcBef>
              <a:spcAft>
                <a:spcPts val="0"/>
              </a:spcAft>
              <a:buSzPct val="100000"/>
              <a:buNone/>
            </a:pPr>
            <a:r>
              <a:t/>
            </a:r>
            <a:endParaRPr/>
          </a:p>
          <a:p>
            <a:pPr indent="0" lvl="0" marL="91440" rtl="0" algn="l">
              <a:lnSpc>
                <a:spcPct val="90000"/>
              </a:lnSpc>
              <a:spcBef>
                <a:spcPts val="1600"/>
              </a:spcBef>
              <a:spcAft>
                <a:spcPts val="0"/>
              </a:spcAft>
              <a:buSzPct val="100000"/>
              <a:buNone/>
            </a:pPr>
            <a:r>
              <a:t/>
            </a:r>
            <a:endParaRPr b="1" sz="2000"/>
          </a:p>
          <a:p>
            <a:pPr indent="0" lvl="0" marL="91440" rtl="0" algn="l">
              <a:lnSpc>
                <a:spcPct val="90000"/>
              </a:lnSpc>
              <a:spcBef>
                <a:spcPts val="1400"/>
              </a:spcBef>
              <a:spcAft>
                <a:spcPts val="0"/>
              </a:spcAft>
              <a:buSzPct val="100000"/>
              <a:buNone/>
            </a:pPr>
            <a:r>
              <a:t/>
            </a:r>
            <a:endParaRPr sz="2400"/>
          </a:p>
        </p:txBody>
      </p:sp>
      <p:sp>
        <p:nvSpPr>
          <p:cNvPr id="1311" name="Google Shape;1311;p11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312" name="Google Shape;1312;p11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313" name="Google Shape;1313;p11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120"/>
          <p:cNvSpPr txBox="1"/>
          <p:nvPr>
            <p:ph type="title"/>
          </p:nvPr>
        </p:nvSpPr>
        <p:spPr>
          <a:xfrm>
            <a:off x="196319" y="51999"/>
            <a:ext cx="8229600" cy="576262"/>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2400"/>
              <a:buFont typeface="Calibri"/>
              <a:buNone/>
            </a:pPr>
            <a:r>
              <a:rPr lang="en-IN" sz="2400"/>
              <a:t>Operating System Design and Implementation (Cont.)</a:t>
            </a:r>
            <a:endParaRPr/>
          </a:p>
        </p:txBody>
      </p:sp>
      <p:sp>
        <p:nvSpPr>
          <p:cNvPr id="1320" name="Google Shape;1320;p120"/>
          <p:cNvSpPr txBox="1"/>
          <p:nvPr>
            <p:ph idx="1" type="body"/>
          </p:nvPr>
        </p:nvSpPr>
        <p:spPr>
          <a:xfrm>
            <a:off x="212276" y="436248"/>
            <a:ext cx="8104140" cy="5513032"/>
          </a:xfrm>
          <a:prstGeom prst="rect">
            <a:avLst/>
          </a:prstGeom>
          <a:noFill/>
          <a:ln>
            <a:noFill/>
          </a:ln>
        </p:spPr>
        <p:txBody>
          <a:bodyPr anchorCtr="0" anchor="t" bIns="45700" lIns="0" spcFirstLastPara="1" rIns="0" wrap="square" tIns="45700">
            <a:noAutofit/>
          </a:bodyPr>
          <a:lstStyle/>
          <a:p>
            <a:pPr indent="-152400" lvl="0" marL="91440" rtl="0" algn="l">
              <a:lnSpc>
                <a:spcPct val="90000"/>
              </a:lnSpc>
              <a:spcBef>
                <a:spcPts val="0"/>
              </a:spcBef>
              <a:spcAft>
                <a:spcPts val="0"/>
              </a:spcAft>
              <a:buSzPts val="2400"/>
              <a:buChar char=" "/>
            </a:pPr>
            <a:r>
              <a:rPr lang="en-IN" sz="2400"/>
              <a:t>Important principle to separate</a:t>
            </a:r>
            <a:endParaRPr/>
          </a:p>
          <a:p>
            <a:pPr indent="-91440" lvl="0" marL="91440" rtl="0" algn="l">
              <a:lnSpc>
                <a:spcPct val="90000"/>
              </a:lnSpc>
              <a:spcBef>
                <a:spcPts val="1400"/>
              </a:spcBef>
              <a:spcAft>
                <a:spcPts val="0"/>
              </a:spcAft>
              <a:buSzPts val="2400"/>
              <a:buFont typeface="Arial"/>
              <a:buNone/>
            </a:pPr>
            <a:r>
              <a:rPr b="1" lang="en-IN" sz="2400"/>
              <a:t>	</a:t>
            </a:r>
            <a:r>
              <a:rPr b="1" lang="en-IN" sz="2400">
                <a:solidFill>
                  <a:srgbClr val="3366FF"/>
                </a:solidFill>
              </a:rPr>
              <a:t>Policy</a:t>
            </a:r>
            <a:r>
              <a:rPr b="1" lang="en-IN" sz="2400"/>
              <a:t>:   </a:t>
            </a:r>
            <a:r>
              <a:rPr b="1" i="1" lang="en-IN" sz="2400"/>
              <a:t>What</a:t>
            </a:r>
            <a:r>
              <a:rPr lang="en-IN" sz="2400"/>
              <a:t> will be done?</a:t>
            </a:r>
            <a:r>
              <a:rPr b="1" lang="en-IN" sz="2400"/>
              <a:t> </a:t>
            </a:r>
            <a:br>
              <a:rPr b="1" lang="en-IN" sz="2400"/>
            </a:br>
            <a:r>
              <a:rPr b="1" lang="en-IN" sz="2400">
                <a:solidFill>
                  <a:srgbClr val="3366FF"/>
                </a:solidFill>
              </a:rPr>
              <a:t>Mechanism</a:t>
            </a:r>
            <a:r>
              <a:rPr b="1" lang="en-IN" sz="2400"/>
              <a:t>:  </a:t>
            </a:r>
            <a:r>
              <a:rPr b="1" i="1" lang="en-IN" sz="2400"/>
              <a:t>How</a:t>
            </a:r>
            <a:r>
              <a:rPr lang="en-IN" sz="2400"/>
              <a:t> to do it?</a:t>
            </a:r>
            <a:endParaRPr/>
          </a:p>
          <a:p>
            <a:pPr indent="-152400" lvl="0" marL="91440" rtl="0" algn="l">
              <a:lnSpc>
                <a:spcPct val="90000"/>
              </a:lnSpc>
              <a:spcBef>
                <a:spcPts val="1400"/>
              </a:spcBef>
              <a:spcAft>
                <a:spcPts val="0"/>
              </a:spcAft>
              <a:buSzPts val="2400"/>
              <a:buChar char=" "/>
            </a:pPr>
            <a:r>
              <a:rPr lang="en-IN" sz="2400"/>
              <a:t>Policies decide what will be done, Mechanisms determine how to do something</a:t>
            </a:r>
            <a:endParaRPr/>
          </a:p>
          <a:p>
            <a:pPr indent="-152400" lvl="0" marL="91440" rtl="0" algn="l">
              <a:lnSpc>
                <a:spcPct val="90000"/>
              </a:lnSpc>
              <a:spcBef>
                <a:spcPts val="1400"/>
              </a:spcBef>
              <a:spcAft>
                <a:spcPts val="0"/>
              </a:spcAft>
              <a:buSzPts val="2400"/>
              <a:buChar char=" "/>
            </a:pPr>
            <a:r>
              <a:rPr b="1" lang="en-IN" sz="2400"/>
              <a:t>The separation of policy from mechanism is a very important principle, </a:t>
            </a:r>
            <a:endParaRPr/>
          </a:p>
          <a:p>
            <a:pPr indent="-182880" lvl="1" marL="384048" rtl="0" algn="l">
              <a:lnSpc>
                <a:spcPct val="90000"/>
              </a:lnSpc>
              <a:spcBef>
                <a:spcPts val="400"/>
              </a:spcBef>
              <a:spcAft>
                <a:spcPts val="0"/>
              </a:spcAft>
              <a:buSzPts val="2400"/>
              <a:buChar char="◦"/>
            </a:pPr>
            <a:r>
              <a:rPr lang="en-IN" sz="2400"/>
              <a:t>it allows maximum </a:t>
            </a:r>
            <a:r>
              <a:rPr b="1" lang="en-IN" sz="2400"/>
              <a:t>flexibility if policy decisions are to be changed later (example – timer)</a:t>
            </a:r>
            <a:endParaRPr/>
          </a:p>
          <a:p>
            <a:pPr indent="0" lvl="0" marL="91440" rtl="0" algn="l">
              <a:lnSpc>
                <a:spcPct val="90000"/>
              </a:lnSpc>
              <a:spcBef>
                <a:spcPts val="1600"/>
              </a:spcBef>
              <a:spcAft>
                <a:spcPts val="0"/>
              </a:spcAft>
              <a:buSzPts val="2400"/>
              <a:buNone/>
            </a:pPr>
            <a:r>
              <a:t/>
            </a:r>
            <a:endParaRPr sz="2400"/>
          </a:p>
          <a:p>
            <a:pPr indent="-152400" lvl="0" marL="91440" rtl="0" algn="l">
              <a:lnSpc>
                <a:spcPct val="90000"/>
              </a:lnSpc>
              <a:spcBef>
                <a:spcPts val="1400"/>
              </a:spcBef>
              <a:spcAft>
                <a:spcPts val="0"/>
              </a:spcAft>
              <a:buSzPts val="2400"/>
              <a:buChar char=" "/>
            </a:pPr>
            <a:r>
              <a:rPr lang="en-IN" sz="2400"/>
              <a:t>Specifying and designing an OS is highly creative task of </a:t>
            </a:r>
            <a:r>
              <a:rPr b="1" lang="en-IN" sz="2400">
                <a:solidFill>
                  <a:srgbClr val="3366FF"/>
                </a:solidFill>
              </a:rPr>
              <a:t>software engineering</a:t>
            </a:r>
            <a:endParaRPr/>
          </a:p>
          <a:p>
            <a:pPr indent="-91440" lvl="0" marL="91440" rtl="0" algn="l">
              <a:lnSpc>
                <a:spcPct val="90000"/>
              </a:lnSpc>
              <a:spcBef>
                <a:spcPts val="1400"/>
              </a:spcBef>
              <a:spcAft>
                <a:spcPts val="0"/>
              </a:spcAft>
              <a:buSzPts val="2400"/>
              <a:buFont typeface="Arial"/>
              <a:buNone/>
            </a:pPr>
            <a:r>
              <a:t/>
            </a:r>
            <a:endParaRPr sz="2400"/>
          </a:p>
          <a:p>
            <a:pPr indent="-91440" lvl="0" marL="91440" rtl="0" algn="l">
              <a:lnSpc>
                <a:spcPct val="90000"/>
              </a:lnSpc>
              <a:spcBef>
                <a:spcPts val="1400"/>
              </a:spcBef>
              <a:spcAft>
                <a:spcPts val="0"/>
              </a:spcAft>
              <a:buSzPts val="2400"/>
              <a:buFont typeface="Arial"/>
              <a:buNone/>
            </a:pPr>
            <a:r>
              <a:t/>
            </a:r>
            <a:endParaRPr sz="2400"/>
          </a:p>
        </p:txBody>
      </p:sp>
      <p:sp>
        <p:nvSpPr>
          <p:cNvPr id="1321" name="Google Shape;1321;p12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322" name="Google Shape;1322;p12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323" name="Google Shape;1323;p12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8" name="Shape 1328"/>
        <p:cNvGrpSpPr/>
        <p:nvPr/>
      </p:nvGrpSpPr>
      <p:grpSpPr>
        <a:xfrm>
          <a:off x="0" y="0"/>
          <a:ext cx="0" cy="0"/>
          <a:chOff x="0" y="0"/>
          <a:chExt cx="0" cy="0"/>
        </a:xfrm>
      </p:grpSpPr>
      <p:sp>
        <p:nvSpPr>
          <p:cNvPr id="1329" name="Google Shape;1329;p121"/>
          <p:cNvSpPr txBox="1"/>
          <p:nvPr>
            <p:ph type="title"/>
          </p:nvPr>
        </p:nvSpPr>
        <p:spPr>
          <a:xfrm>
            <a:off x="26775" y="0"/>
            <a:ext cx="8229600" cy="37723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sz="3200"/>
              <a:t>Implementation</a:t>
            </a:r>
            <a:endParaRPr/>
          </a:p>
        </p:txBody>
      </p:sp>
      <p:sp>
        <p:nvSpPr>
          <p:cNvPr id="1330" name="Google Shape;1330;p121"/>
          <p:cNvSpPr txBox="1"/>
          <p:nvPr>
            <p:ph idx="1" type="body"/>
          </p:nvPr>
        </p:nvSpPr>
        <p:spPr>
          <a:xfrm>
            <a:off x="55375" y="377230"/>
            <a:ext cx="7713663" cy="4530725"/>
          </a:xfrm>
          <a:prstGeom prst="rect">
            <a:avLst/>
          </a:prstGeom>
          <a:noFill/>
          <a:ln>
            <a:noFill/>
          </a:ln>
        </p:spPr>
        <p:txBody>
          <a:bodyPr anchorCtr="0" anchor="t" bIns="45700" lIns="0" spcFirstLastPara="1" rIns="0" wrap="square" tIns="45700">
            <a:noAutofit/>
          </a:bodyPr>
          <a:lstStyle/>
          <a:p>
            <a:pPr indent="-127000" lvl="0" marL="91440" rtl="0" algn="l">
              <a:lnSpc>
                <a:spcPct val="90000"/>
              </a:lnSpc>
              <a:spcBef>
                <a:spcPts val="0"/>
              </a:spcBef>
              <a:spcAft>
                <a:spcPts val="0"/>
              </a:spcAft>
              <a:buSzPts val="2000"/>
              <a:buChar char=" "/>
            </a:pPr>
            <a:r>
              <a:rPr lang="en-IN" sz="2000"/>
              <a:t>Much variation</a:t>
            </a:r>
            <a:endParaRPr/>
          </a:p>
          <a:p>
            <a:pPr indent="-182880" lvl="1" marL="384048" rtl="0" algn="l">
              <a:lnSpc>
                <a:spcPct val="90000"/>
              </a:lnSpc>
              <a:spcBef>
                <a:spcPts val="400"/>
              </a:spcBef>
              <a:spcAft>
                <a:spcPts val="0"/>
              </a:spcAft>
              <a:buSzPts val="1800"/>
              <a:buChar char="◦"/>
            </a:pPr>
            <a:r>
              <a:rPr lang="en-IN"/>
              <a:t>Early OSes in assembly language</a:t>
            </a:r>
            <a:endParaRPr/>
          </a:p>
          <a:p>
            <a:pPr indent="-182880" lvl="1" marL="384048" rtl="0" algn="l">
              <a:lnSpc>
                <a:spcPct val="90000"/>
              </a:lnSpc>
              <a:spcBef>
                <a:spcPts val="600"/>
              </a:spcBef>
              <a:spcAft>
                <a:spcPts val="0"/>
              </a:spcAft>
              <a:buSzPts val="1800"/>
              <a:buChar char="◦"/>
            </a:pPr>
            <a:r>
              <a:rPr lang="en-IN"/>
              <a:t>Then system programming languages like Algol, PL/1</a:t>
            </a:r>
            <a:endParaRPr/>
          </a:p>
          <a:p>
            <a:pPr indent="-182880" lvl="1" marL="384048" rtl="0" algn="l">
              <a:lnSpc>
                <a:spcPct val="90000"/>
              </a:lnSpc>
              <a:spcBef>
                <a:spcPts val="600"/>
              </a:spcBef>
              <a:spcAft>
                <a:spcPts val="0"/>
              </a:spcAft>
              <a:buSzPts val="1800"/>
              <a:buChar char="◦"/>
            </a:pPr>
            <a:r>
              <a:rPr lang="en-IN"/>
              <a:t>Now C, C++</a:t>
            </a:r>
            <a:endParaRPr/>
          </a:p>
          <a:p>
            <a:pPr indent="-127000" lvl="0" marL="91440" rtl="0" algn="l">
              <a:lnSpc>
                <a:spcPct val="90000"/>
              </a:lnSpc>
              <a:spcBef>
                <a:spcPts val="1600"/>
              </a:spcBef>
              <a:spcAft>
                <a:spcPts val="0"/>
              </a:spcAft>
              <a:buSzPts val="2000"/>
              <a:buChar char=" "/>
            </a:pPr>
            <a:r>
              <a:rPr lang="en-IN" sz="2000"/>
              <a:t>Actually usually a mix of languages</a:t>
            </a:r>
            <a:endParaRPr/>
          </a:p>
          <a:p>
            <a:pPr indent="-182880" lvl="1" marL="384048" rtl="0" algn="l">
              <a:lnSpc>
                <a:spcPct val="90000"/>
              </a:lnSpc>
              <a:spcBef>
                <a:spcPts val="400"/>
              </a:spcBef>
              <a:spcAft>
                <a:spcPts val="0"/>
              </a:spcAft>
              <a:buSzPts val="1800"/>
              <a:buChar char="◦"/>
            </a:pPr>
            <a:r>
              <a:rPr lang="en-IN"/>
              <a:t>Lowest levels in assembly</a:t>
            </a:r>
            <a:endParaRPr/>
          </a:p>
          <a:p>
            <a:pPr indent="-182880" lvl="1" marL="384048" rtl="0" algn="l">
              <a:lnSpc>
                <a:spcPct val="90000"/>
              </a:lnSpc>
              <a:spcBef>
                <a:spcPts val="600"/>
              </a:spcBef>
              <a:spcAft>
                <a:spcPts val="0"/>
              </a:spcAft>
              <a:buSzPts val="1800"/>
              <a:buChar char="◦"/>
            </a:pPr>
            <a:r>
              <a:rPr lang="en-IN"/>
              <a:t>Main body in C</a:t>
            </a:r>
            <a:endParaRPr/>
          </a:p>
          <a:p>
            <a:pPr indent="-182880" lvl="1" marL="384048" rtl="0" algn="l">
              <a:lnSpc>
                <a:spcPct val="90000"/>
              </a:lnSpc>
              <a:spcBef>
                <a:spcPts val="600"/>
              </a:spcBef>
              <a:spcAft>
                <a:spcPts val="0"/>
              </a:spcAft>
              <a:buSzPts val="1800"/>
              <a:buChar char="◦"/>
            </a:pPr>
            <a:r>
              <a:rPr lang="en-IN"/>
              <a:t>Systems programs in C, C++, scripting languages like PERL, Python, shell scripts</a:t>
            </a:r>
            <a:endParaRPr/>
          </a:p>
          <a:p>
            <a:pPr indent="-127000" lvl="0" marL="91440" rtl="0" algn="l">
              <a:lnSpc>
                <a:spcPct val="90000"/>
              </a:lnSpc>
              <a:spcBef>
                <a:spcPts val="1600"/>
              </a:spcBef>
              <a:spcAft>
                <a:spcPts val="0"/>
              </a:spcAft>
              <a:buSzPts val="2000"/>
              <a:buChar char=" "/>
            </a:pPr>
            <a:r>
              <a:rPr lang="en-IN" sz="2000"/>
              <a:t>More high-level language easier to</a:t>
            </a:r>
            <a:r>
              <a:rPr b="1" lang="en-IN" sz="2000">
                <a:solidFill>
                  <a:srgbClr val="3366FF"/>
                </a:solidFill>
              </a:rPr>
              <a:t> port </a:t>
            </a:r>
            <a:r>
              <a:rPr lang="en-IN" sz="2000"/>
              <a:t>to other hardware</a:t>
            </a:r>
            <a:endParaRPr/>
          </a:p>
          <a:p>
            <a:pPr indent="-182880" lvl="1" marL="384048" rtl="0" algn="l">
              <a:lnSpc>
                <a:spcPct val="90000"/>
              </a:lnSpc>
              <a:spcBef>
                <a:spcPts val="400"/>
              </a:spcBef>
              <a:spcAft>
                <a:spcPts val="0"/>
              </a:spcAft>
              <a:buSzPts val="1800"/>
              <a:buChar char="◦"/>
            </a:pPr>
            <a:r>
              <a:rPr lang="en-IN"/>
              <a:t>But slower</a:t>
            </a:r>
            <a:endParaRPr/>
          </a:p>
          <a:p>
            <a:pPr indent="-91440" lvl="0" marL="91440" rtl="0" algn="l">
              <a:lnSpc>
                <a:spcPct val="90000"/>
              </a:lnSpc>
              <a:spcBef>
                <a:spcPts val="1600"/>
              </a:spcBef>
              <a:spcAft>
                <a:spcPts val="0"/>
              </a:spcAft>
              <a:buSzPts val="2200"/>
              <a:buFont typeface="Arial"/>
              <a:buNone/>
            </a:pPr>
            <a:r>
              <a:t/>
            </a:r>
            <a:endParaRPr sz="2200"/>
          </a:p>
        </p:txBody>
      </p:sp>
      <p:sp>
        <p:nvSpPr>
          <p:cNvPr id="1331" name="Google Shape;1331;p12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332" name="Google Shape;1332;p12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333" name="Google Shape;1333;p12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7" name="Shape 1337"/>
        <p:cNvGrpSpPr/>
        <p:nvPr/>
      </p:nvGrpSpPr>
      <p:grpSpPr>
        <a:xfrm>
          <a:off x="0" y="0"/>
          <a:ext cx="0" cy="0"/>
          <a:chOff x="0" y="0"/>
          <a:chExt cx="0" cy="0"/>
        </a:xfrm>
      </p:grpSpPr>
      <p:sp>
        <p:nvSpPr>
          <p:cNvPr id="1338" name="Google Shape;1338;p122"/>
          <p:cNvSpPr txBox="1"/>
          <p:nvPr>
            <p:ph type="title"/>
          </p:nvPr>
        </p:nvSpPr>
        <p:spPr>
          <a:xfrm>
            <a:off x="457200" y="921287"/>
            <a:ext cx="8229600" cy="562074"/>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2800"/>
              <a:buFont typeface="Calibri"/>
              <a:buNone/>
            </a:pPr>
            <a:r>
              <a:rPr b="1" lang="en-IN" sz="2800"/>
              <a:t>Symmetric Multiprocessor OS Design Considerations</a:t>
            </a:r>
            <a:endParaRPr b="1" sz="2800"/>
          </a:p>
        </p:txBody>
      </p:sp>
      <p:sp>
        <p:nvSpPr>
          <p:cNvPr id="1339" name="Google Shape;1339;p122"/>
          <p:cNvSpPr txBox="1"/>
          <p:nvPr>
            <p:ph idx="1" type="body"/>
          </p:nvPr>
        </p:nvSpPr>
        <p:spPr>
          <a:xfrm>
            <a:off x="0" y="1505936"/>
            <a:ext cx="7620000" cy="5352064"/>
          </a:xfrm>
          <a:prstGeom prst="rect">
            <a:avLst/>
          </a:prstGeom>
          <a:noFill/>
          <a:ln>
            <a:noFill/>
          </a:ln>
        </p:spPr>
        <p:txBody>
          <a:bodyPr anchorCtr="0" anchor="t" bIns="45700" lIns="0" spcFirstLastPara="1" rIns="0" wrap="square" tIns="45700">
            <a:noAutofit/>
          </a:bodyPr>
          <a:lstStyle/>
          <a:p>
            <a:pPr indent="-152400" lvl="0" marL="91440" rtl="0" algn="l">
              <a:lnSpc>
                <a:spcPct val="90000"/>
              </a:lnSpc>
              <a:spcBef>
                <a:spcPts val="0"/>
              </a:spcBef>
              <a:spcAft>
                <a:spcPts val="0"/>
              </a:spcAft>
              <a:buSzPts val="2400"/>
              <a:buChar char=" "/>
            </a:pPr>
            <a:r>
              <a:rPr lang="en-IN" sz="2400"/>
              <a:t>In an SMP system, </a:t>
            </a:r>
            <a:endParaRPr sz="2400"/>
          </a:p>
          <a:p>
            <a:pPr indent="-182880" lvl="1" marL="384048" rtl="0" algn="l">
              <a:lnSpc>
                <a:spcPct val="90000"/>
              </a:lnSpc>
              <a:spcBef>
                <a:spcPts val="400"/>
              </a:spcBef>
              <a:spcAft>
                <a:spcPts val="0"/>
              </a:spcAft>
              <a:buSzPts val="2400"/>
              <a:buChar char="◦"/>
            </a:pPr>
            <a:r>
              <a:rPr lang="en-IN" sz="2400"/>
              <a:t>the </a:t>
            </a:r>
            <a:r>
              <a:rPr b="1" lang="en-IN" sz="2400" u="sng"/>
              <a:t>kernel can execute on any processor</a:t>
            </a:r>
            <a:r>
              <a:rPr lang="en-IN" sz="2400"/>
              <a:t>, and </a:t>
            </a:r>
            <a:endParaRPr sz="2400"/>
          </a:p>
          <a:p>
            <a:pPr indent="-182880" lvl="2" marL="566928" rtl="0" algn="l">
              <a:lnSpc>
                <a:spcPct val="90000"/>
              </a:lnSpc>
              <a:spcBef>
                <a:spcPts val="600"/>
              </a:spcBef>
              <a:spcAft>
                <a:spcPts val="0"/>
              </a:spcAft>
              <a:buSzPts val="1400"/>
              <a:buChar char="◦"/>
            </a:pPr>
            <a:r>
              <a:rPr lang="en-IN"/>
              <a:t>typically each processor does self-scheduling from the pool of available processes or threads.</a:t>
            </a:r>
            <a:endParaRPr/>
          </a:p>
          <a:p>
            <a:pPr indent="-182880" lvl="1" marL="384048" rtl="0" algn="l">
              <a:lnSpc>
                <a:spcPct val="90000"/>
              </a:lnSpc>
              <a:spcBef>
                <a:spcPts val="600"/>
              </a:spcBef>
              <a:spcAft>
                <a:spcPts val="0"/>
              </a:spcAft>
              <a:buSzPts val="2400"/>
              <a:buChar char="◦"/>
            </a:pPr>
            <a:r>
              <a:rPr lang="en-IN" sz="2400"/>
              <a:t>The kernel can be constructed </a:t>
            </a:r>
            <a:endParaRPr sz="2400"/>
          </a:p>
          <a:p>
            <a:pPr indent="-182880" lvl="2" marL="566928" rtl="0" algn="l">
              <a:lnSpc>
                <a:spcPct val="90000"/>
              </a:lnSpc>
              <a:spcBef>
                <a:spcPts val="600"/>
              </a:spcBef>
              <a:spcAft>
                <a:spcPts val="0"/>
              </a:spcAft>
              <a:buSzPts val="1400"/>
              <a:buChar char="◦"/>
            </a:pPr>
            <a:r>
              <a:rPr b="1" lang="en-IN" u="sng"/>
              <a:t>as multiple processes or </a:t>
            </a:r>
            <a:endParaRPr b="1" u="sng"/>
          </a:p>
          <a:p>
            <a:pPr indent="-182880" lvl="2" marL="566928" rtl="0" algn="l">
              <a:lnSpc>
                <a:spcPct val="90000"/>
              </a:lnSpc>
              <a:spcBef>
                <a:spcPts val="600"/>
              </a:spcBef>
              <a:spcAft>
                <a:spcPts val="0"/>
              </a:spcAft>
              <a:buSzPts val="1400"/>
              <a:buChar char="◦"/>
            </a:pPr>
            <a:r>
              <a:rPr b="1" lang="en-IN" u="sng"/>
              <a:t>as multiple threads, </a:t>
            </a:r>
            <a:endParaRPr b="1" u="sng"/>
          </a:p>
          <a:p>
            <a:pPr indent="-182880" lvl="2" marL="566928" rtl="0" algn="l">
              <a:lnSpc>
                <a:spcPct val="90000"/>
              </a:lnSpc>
              <a:spcBef>
                <a:spcPts val="600"/>
              </a:spcBef>
              <a:spcAft>
                <a:spcPts val="0"/>
              </a:spcAft>
              <a:buSzPts val="1400"/>
              <a:buChar char="◦"/>
            </a:pPr>
            <a:r>
              <a:rPr lang="en-IN"/>
              <a:t>allowing </a:t>
            </a:r>
            <a:r>
              <a:rPr b="1" lang="en-IN" u="sng"/>
              <a:t>portions of the kernel to execute in parallel</a:t>
            </a:r>
            <a:r>
              <a:rPr lang="en-IN"/>
              <a:t>. </a:t>
            </a:r>
            <a:endParaRPr/>
          </a:p>
          <a:p>
            <a:pPr indent="-127000" lvl="0" marL="91440" rtl="0" algn="l">
              <a:lnSpc>
                <a:spcPct val="90000"/>
              </a:lnSpc>
              <a:spcBef>
                <a:spcPts val="1600"/>
              </a:spcBef>
              <a:spcAft>
                <a:spcPts val="0"/>
              </a:spcAft>
              <a:buSzPts val="2000"/>
              <a:buChar char=" "/>
            </a:pPr>
            <a:r>
              <a:rPr lang="en-IN" sz="2000"/>
              <a:t>In an SMP system, </a:t>
            </a:r>
            <a:endParaRPr/>
          </a:p>
          <a:p>
            <a:pPr indent="-182880" lvl="2" marL="566928" rtl="0" algn="l">
              <a:lnSpc>
                <a:spcPct val="90000"/>
              </a:lnSpc>
              <a:spcBef>
                <a:spcPts val="400"/>
              </a:spcBef>
              <a:spcAft>
                <a:spcPts val="0"/>
              </a:spcAft>
              <a:buSzPts val="1400"/>
              <a:buChar char="◦"/>
            </a:pPr>
            <a:r>
              <a:rPr b="1" lang="en-IN" u="sng"/>
              <a:t>The SMP approach complicates the OS.</a:t>
            </a:r>
            <a:endParaRPr/>
          </a:p>
          <a:p>
            <a:pPr indent="-182880" lvl="2" marL="566928" rtl="0" algn="l">
              <a:lnSpc>
                <a:spcPct val="90000"/>
              </a:lnSpc>
              <a:spcBef>
                <a:spcPts val="600"/>
              </a:spcBef>
              <a:spcAft>
                <a:spcPts val="0"/>
              </a:spcAft>
              <a:buSzPts val="1400"/>
              <a:buChar char="◦"/>
            </a:pPr>
            <a:r>
              <a:rPr b="1" lang="en-IN" u="sng"/>
              <a:t>The OS designer must deal with the complexity due to</a:t>
            </a:r>
            <a:endParaRPr/>
          </a:p>
          <a:p>
            <a:pPr indent="-182880" lvl="2" marL="566928" rtl="0" algn="l">
              <a:lnSpc>
                <a:spcPct val="90000"/>
              </a:lnSpc>
              <a:spcBef>
                <a:spcPts val="600"/>
              </a:spcBef>
              <a:spcAft>
                <a:spcPts val="0"/>
              </a:spcAft>
              <a:buSzPts val="1400"/>
              <a:buChar char="◦"/>
            </a:pPr>
            <a:r>
              <a:rPr b="1" lang="en-IN" u="sng"/>
              <a:t> sharing resources (like data structures) and </a:t>
            </a:r>
            <a:endParaRPr/>
          </a:p>
          <a:p>
            <a:pPr indent="-182880" lvl="2" marL="566928" rtl="0" algn="l">
              <a:lnSpc>
                <a:spcPct val="90000"/>
              </a:lnSpc>
              <a:spcBef>
                <a:spcPts val="600"/>
              </a:spcBef>
              <a:spcAft>
                <a:spcPts val="0"/>
              </a:spcAft>
              <a:buSzPts val="1400"/>
              <a:buChar char="◦"/>
            </a:pPr>
            <a:r>
              <a:rPr b="1" lang="en-IN" u="sng"/>
              <a:t>coordinating actions (like accessing devices) </a:t>
            </a:r>
            <a:endParaRPr/>
          </a:p>
          <a:p>
            <a:pPr indent="-182880" lvl="2" marL="566928" rtl="0" algn="l">
              <a:lnSpc>
                <a:spcPct val="90000"/>
              </a:lnSpc>
              <a:spcBef>
                <a:spcPts val="600"/>
              </a:spcBef>
              <a:spcAft>
                <a:spcPts val="0"/>
              </a:spcAft>
              <a:buSzPts val="1400"/>
              <a:buChar char="◦"/>
            </a:pPr>
            <a:r>
              <a:rPr b="1" lang="en-IN" u="sng"/>
              <a:t>from multiple parts of the OS executing at the same time.</a:t>
            </a:r>
            <a:endParaRPr/>
          </a:p>
          <a:p>
            <a:pPr indent="-93980" lvl="2" marL="566928" rtl="0" algn="l">
              <a:lnSpc>
                <a:spcPct val="90000"/>
              </a:lnSpc>
              <a:spcBef>
                <a:spcPts val="600"/>
              </a:spcBef>
              <a:spcAft>
                <a:spcPts val="0"/>
              </a:spcAft>
              <a:buSzPts val="1400"/>
              <a:buNone/>
            </a:pPr>
            <a:r>
              <a:t/>
            </a:r>
            <a:endParaRPr/>
          </a:p>
        </p:txBody>
      </p:sp>
      <p:sp>
        <p:nvSpPr>
          <p:cNvPr id="1340" name="Google Shape;1340;p12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341" name="Google Shape;1341;p12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342" name="Google Shape;1342;p12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343" name="Google Shape;1343;p122"/>
          <p:cNvSpPr/>
          <p:nvPr/>
        </p:nvSpPr>
        <p:spPr>
          <a:xfrm>
            <a:off x="0" y="67715"/>
            <a:ext cx="846043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chemeClr val="dk1"/>
                </a:solidFill>
                <a:latin typeface="Calibri"/>
                <a:ea typeface="Calibri"/>
                <a:cs typeface="Calibri"/>
                <a:sym typeface="Calibri"/>
              </a:rPr>
              <a:t>OS Design Considerations for Multiprocessor and Multicore architectures</a:t>
            </a:r>
            <a:r>
              <a:rPr lang="en-IN" sz="1800">
                <a:solidFill>
                  <a:schemeClr val="dk1"/>
                </a:solidFill>
                <a:latin typeface="Calibri"/>
                <a:ea typeface="Calibri"/>
                <a:cs typeface="Calibri"/>
                <a:sym typeface="Calibri"/>
              </a:rPr>
              <a:t>	</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sp>
        <p:nvSpPr>
          <p:cNvPr id="1348" name="Google Shape;1348;p123"/>
          <p:cNvSpPr txBox="1"/>
          <p:nvPr>
            <p:ph type="title"/>
          </p:nvPr>
        </p:nvSpPr>
        <p:spPr>
          <a:xfrm>
            <a:off x="102835" y="47526"/>
            <a:ext cx="8229600" cy="42914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sz="3600"/>
              <a:t>The key design issues :</a:t>
            </a:r>
            <a:endParaRPr sz="3600"/>
          </a:p>
        </p:txBody>
      </p:sp>
      <p:sp>
        <p:nvSpPr>
          <p:cNvPr id="1349" name="Google Shape;1349;p123"/>
          <p:cNvSpPr txBox="1"/>
          <p:nvPr>
            <p:ph idx="1" type="body"/>
          </p:nvPr>
        </p:nvSpPr>
        <p:spPr>
          <a:xfrm>
            <a:off x="102835" y="494386"/>
            <a:ext cx="7620000" cy="480060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400"/>
              <a:buNone/>
            </a:pPr>
            <a:r>
              <a:rPr b="1" lang="en-IN" sz="2400"/>
              <a:t>Simultaneous concurrent processes or threads: </a:t>
            </a:r>
            <a:endParaRPr b="1" sz="2400"/>
          </a:p>
          <a:p>
            <a:pPr indent="-152400" lvl="0" marL="91440" rtl="0" algn="l">
              <a:lnSpc>
                <a:spcPct val="90000"/>
              </a:lnSpc>
              <a:spcBef>
                <a:spcPts val="1400"/>
              </a:spcBef>
              <a:spcAft>
                <a:spcPts val="0"/>
              </a:spcAft>
              <a:buSzPts val="2400"/>
              <a:buChar char=" "/>
            </a:pPr>
            <a:r>
              <a:rPr lang="en-IN" sz="2400"/>
              <a:t>Kernel routines need to be reentrant </a:t>
            </a:r>
            <a:endParaRPr/>
          </a:p>
          <a:p>
            <a:pPr indent="-182880" lvl="1" marL="384048" rtl="0" algn="l">
              <a:lnSpc>
                <a:spcPct val="90000"/>
              </a:lnSpc>
              <a:spcBef>
                <a:spcPts val="400"/>
              </a:spcBef>
              <a:spcAft>
                <a:spcPts val="0"/>
              </a:spcAft>
              <a:buSzPts val="2400"/>
              <a:buChar char="◦"/>
            </a:pPr>
            <a:r>
              <a:rPr b="1" lang="en-IN" sz="2400" u="sng"/>
              <a:t>to allow several processors </a:t>
            </a:r>
            <a:endParaRPr b="1" sz="2400" u="sng"/>
          </a:p>
          <a:p>
            <a:pPr indent="-182880" lvl="1" marL="384048" rtl="0" algn="l">
              <a:lnSpc>
                <a:spcPct val="90000"/>
              </a:lnSpc>
              <a:spcBef>
                <a:spcPts val="600"/>
              </a:spcBef>
              <a:spcAft>
                <a:spcPts val="0"/>
              </a:spcAft>
              <a:buSzPts val="2400"/>
              <a:buChar char="◦"/>
            </a:pPr>
            <a:r>
              <a:rPr b="1" lang="en-IN" sz="2400" u="sng"/>
              <a:t>to execute the same kernel code simultaneously.</a:t>
            </a:r>
            <a:endParaRPr/>
          </a:p>
          <a:p>
            <a:pPr indent="-152400" lvl="0" marL="91440" rtl="0" algn="l">
              <a:lnSpc>
                <a:spcPct val="90000"/>
              </a:lnSpc>
              <a:spcBef>
                <a:spcPts val="1600"/>
              </a:spcBef>
              <a:spcAft>
                <a:spcPts val="0"/>
              </a:spcAft>
              <a:buSzPts val="2400"/>
              <a:buChar char=" "/>
            </a:pPr>
            <a:r>
              <a:rPr lang="en-IN" sz="2400"/>
              <a:t>With multiple processors executing </a:t>
            </a:r>
            <a:r>
              <a:rPr b="1" lang="en-IN" sz="2400" u="sng"/>
              <a:t>the same or different parts of the kernel, </a:t>
            </a:r>
            <a:endParaRPr b="1" sz="2400" u="sng"/>
          </a:p>
          <a:p>
            <a:pPr indent="-182880" lvl="1" marL="384048" rtl="0" algn="l">
              <a:lnSpc>
                <a:spcPct val="90000"/>
              </a:lnSpc>
              <a:spcBef>
                <a:spcPts val="400"/>
              </a:spcBef>
              <a:spcAft>
                <a:spcPts val="0"/>
              </a:spcAft>
              <a:buSzPts val="2400"/>
              <a:buChar char="◦"/>
            </a:pPr>
            <a:r>
              <a:rPr b="1" lang="en-IN" sz="2400"/>
              <a:t>kernel tables and management structures must be managed properly</a:t>
            </a:r>
            <a:endParaRPr/>
          </a:p>
          <a:p>
            <a:pPr indent="-182880" lvl="1" marL="384048" rtl="0" algn="l">
              <a:lnSpc>
                <a:spcPct val="90000"/>
              </a:lnSpc>
              <a:spcBef>
                <a:spcPts val="600"/>
              </a:spcBef>
              <a:spcAft>
                <a:spcPts val="0"/>
              </a:spcAft>
              <a:buSzPts val="2400"/>
              <a:buChar char="◦"/>
            </a:pPr>
            <a:r>
              <a:rPr lang="en-IN" sz="2400"/>
              <a:t>to avoid data corruption or invalid operations.</a:t>
            </a:r>
            <a:endParaRPr/>
          </a:p>
          <a:p>
            <a:pPr indent="0" lvl="0" marL="0" rtl="0" algn="l">
              <a:lnSpc>
                <a:spcPct val="90000"/>
              </a:lnSpc>
              <a:spcBef>
                <a:spcPts val="1600"/>
              </a:spcBef>
              <a:spcAft>
                <a:spcPts val="0"/>
              </a:spcAft>
              <a:buSzPts val="2000"/>
              <a:buNone/>
            </a:pPr>
            <a:r>
              <a:t/>
            </a:r>
            <a:endParaRPr/>
          </a:p>
        </p:txBody>
      </p:sp>
      <p:sp>
        <p:nvSpPr>
          <p:cNvPr id="1350" name="Google Shape;1350;p12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351" name="Google Shape;1351;p12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352" name="Google Shape;1352;p12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sp>
        <p:nvSpPr>
          <p:cNvPr id="1357" name="Google Shape;1357;p124"/>
          <p:cNvSpPr txBox="1"/>
          <p:nvPr>
            <p:ph idx="1" type="body"/>
          </p:nvPr>
        </p:nvSpPr>
        <p:spPr>
          <a:xfrm>
            <a:off x="0" y="587963"/>
            <a:ext cx="7620000" cy="480060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400"/>
              <a:buNone/>
            </a:pPr>
            <a:r>
              <a:rPr b="1" lang="en-IN" sz="2400"/>
              <a:t>Scheduling: </a:t>
            </a:r>
            <a:endParaRPr b="1" sz="2400"/>
          </a:p>
          <a:p>
            <a:pPr indent="-152400" lvl="0" marL="91440" rtl="0" algn="l">
              <a:lnSpc>
                <a:spcPct val="90000"/>
              </a:lnSpc>
              <a:spcBef>
                <a:spcPts val="1400"/>
              </a:spcBef>
              <a:spcAft>
                <a:spcPts val="0"/>
              </a:spcAft>
              <a:buSzPts val="2400"/>
              <a:buChar char=" "/>
            </a:pPr>
            <a:r>
              <a:rPr lang="en-IN" sz="2400"/>
              <a:t>Any processor may perform scheduling, </a:t>
            </a:r>
            <a:endParaRPr sz="2400"/>
          </a:p>
          <a:p>
            <a:pPr indent="-182880" lvl="1" marL="384048" rtl="0" algn="l">
              <a:lnSpc>
                <a:spcPct val="90000"/>
              </a:lnSpc>
              <a:spcBef>
                <a:spcPts val="400"/>
              </a:spcBef>
              <a:spcAft>
                <a:spcPts val="0"/>
              </a:spcAft>
              <a:buSzPts val="2400"/>
              <a:buChar char="◦"/>
            </a:pPr>
            <a:r>
              <a:rPr lang="en-IN" sz="2400"/>
              <a:t>which complicates the task of enforcing a scheduling policy and </a:t>
            </a:r>
            <a:endParaRPr sz="2400"/>
          </a:p>
          <a:p>
            <a:pPr indent="-182880" lvl="1" marL="384048" rtl="0" algn="l">
              <a:lnSpc>
                <a:spcPct val="90000"/>
              </a:lnSpc>
              <a:spcBef>
                <a:spcPts val="600"/>
              </a:spcBef>
              <a:spcAft>
                <a:spcPts val="0"/>
              </a:spcAft>
              <a:buSzPts val="2400"/>
              <a:buChar char="◦"/>
            </a:pPr>
            <a:r>
              <a:rPr lang="en-IN" sz="2400"/>
              <a:t>assuring that </a:t>
            </a:r>
            <a:r>
              <a:rPr b="1" lang="en-IN" sz="2400" u="sng"/>
              <a:t>corruption of the scheduler data structures </a:t>
            </a:r>
            <a:r>
              <a:rPr lang="en-IN" sz="2400"/>
              <a:t>is avoided. </a:t>
            </a:r>
            <a:endParaRPr sz="2400"/>
          </a:p>
          <a:p>
            <a:pPr indent="-152400" lvl="0" marL="91440" rtl="0" algn="l">
              <a:lnSpc>
                <a:spcPct val="90000"/>
              </a:lnSpc>
              <a:spcBef>
                <a:spcPts val="1600"/>
              </a:spcBef>
              <a:spcAft>
                <a:spcPts val="0"/>
              </a:spcAft>
              <a:buSzPts val="2400"/>
              <a:buChar char=" "/>
            </a:pPr>
            <a:r>
              <a:rPr lang="en-IN" sz="2400"/>
              <a:t>If kernel-level multithreading is used, then </a:t>
            </a:r>
            <a:endParaRPr sz="2400"/>
          </a:p>
          <a:p>
            <a:pPr indent="-182880" lvl="1" marL="384048" rtl="0" algn="l">
              <a:lnSpc>
                <a:spcPct val="90000"/>
              </a:lnSpc>
              <a:spcBef>
                <a:spcPts val="400"/>
              </a:spcBef>
              <a:spcAft>
                <a:spcPts val="0"/>
              </a:spcAft>
              <a:buSzPts val="2400"/>
              <a:buChar char="◦"/>
            </a:pPr>
            <a:r>
              <a:rPr lang="en-IN" sz="2400"/>
              <a:t>The opportunity exists to schedule </a:t>
            </a:r>
            <a:r>
              <a:rPr b="1" lang="en-IN" sz="2400" u="sng"/>
              <a:t>multiple threads from the same process simultaneously on multiple processors.</a:t>
            </a:r>
            <a:endParaRPr/>
          </a:p>
        </p:txBody>
      </p:sp>
      <p:sp>
        <p:nvSpPr>
          <p:cNvPr id="1358" name="Google Shape;1358;p12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359" name="Google Shape;1359;p12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360" name="Google Shape;1360;p12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361" name="Google Shape;1361;p124"/>
          <p:cNvSpPr txBox="1"/>
          <p:nvPr/>
        </p:nvSpPr>
        <p:spPr>
          <a:xfrm>
            <a:off x="0" y="-609"/>
            <a:ext cx="4258816" cy="562074"/>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ctr">
              <a:spcBef>
                <a:spcPts val="0"/>
              </a:spcBef>
              <a:spcAft>
                <a:spcPts val="0"/>
              </a:spcAft>
              <a:buClr>
                <a:schemeClr val="dk1"/>
              </a:buClr>
              <a:buSzPct val="100000"/>
              <a:buFont typeface="Calibri"/>
              <a:buNone/>
            </a:pPr>
            <a:r>
              <a:rPr lang="en-IN" sz="3600">
                <a:solidFill>
                  <a:schemeClr val="dk1"/>
                </a:solidFill>
                <a:latin typeface="Calibri"/>
                <a:ea typeface="Calibri"/>
                <a:cs typeface="Calibri"/>
                <a:sym typeface="Calibri"/>
              </a:rPr>
              <a:t>The key design issues :</a:t>
            </a:r>
            <a:endParaRPr sz="3600">
              <a:solidFill>
                <a:schemeClr val="dk1"/>
              </a:solidFill>
              <a:latin typeface="Calibri"/>
              <a:ea typeface="Calibri"/>
              <a:cs typeface="Calibri"/>
              <a:sym typeface="Calibri"/>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sp>
        <p:nvSpPr>
          <p:cNvPr id="1366" name="Google Shape;1366;p125"/>
          <p:cNvSpPr txBox="1"/>
          <p:nvPr>
            <p:ph idx="1" type="body"/>
          </p:nvPr>
        </p:nvSpPr>
        <p:spPr>
          <a:xfrm>
            <a:off x="107504" y="647699"/>
            <a:ext cx="7620000" cy="4800600"/>
          </a:xfrm>
          <a:prstGeom prst="rect">
            <a:avLst/>
          </a:prstGeom>
          <a:noFill/>
          <a:ln>
            <a:noFill/>
          </a:ln>
        </p:spPr>
        <p:txBody>
          <a:bodyPr anchorCtr="0" anchor="t" bIns="45700" lIns="0" spcFirstLastPara="1" rIns="0" wrap="square" tIns="45700">
            <a:noAutofit/>
          </a:bodyPr>
          <a:lstStyle/>
          <a:p>
            <a:pPr indent="0" lvl="0" marL="0" rtl="0" algn="l">
              <a:lnSpc>
                <a:spcPct val="90000"/>
              </a:lnSpc>
              <a:spcBef>
                <a:spcPts val="0"/>
              </a:spcBef>
              <a:spcAft>
                <a:spcPts val="0"/>
              </a:spcAft>
              <a:buSzPts val="2400"/>
              <a:buNone/>
            </a:pPr>
            <a:r>
              <a:rPr b="1" lang="en-IN" sz="2400"/>
              <a:t>Synchronization: </a:t>
            </a:r>
            <a:endParaRPr b="1" sz="2400"/>
          </a:p>
          <a:p>
            <a:pPr indent="-152400" lvl="0" marL="91440" rtl="0" algn="l">
              <a:lnSpc>
                <a:spcPct val="90000"/>
              </a:lnSpc>
              <a:spcBef>
                <a:spcPts val="1400"/>
              </a:spcBef>
              <a:spcAft>
                <a:spcPts val="0"/>
              </a:spcAft>
              <a:buSzPts val="2400"/>
              <a:buChar char=" "/>
            </a:pPr>
            <a:r>
              <a:rPr lang="en-IN" sz="2400"/>
              <a:t>With multiple active processes having potential access </a:t>
            </a:r>
            <a:endParaRPr sz="2400"/>
          </a:p>
          <a:p>
            <a:pPr indent="-182880" lvl="1" marL="384048" rtl="0" algn="l">
              <a:lnSpc>
                <a:spcPct val="90000"/>
              </a:lnSpc>
              <a:spcBef>
                <a:spcPts val="400"/>
              </a:spcBef>
              <a:spcAft>
                <a:spcPts val="0"/>
              </a:spcAft>
              <a:buSzPts val="2400"/>
              <a:buChar char="◦"/>
            </a:pPr>
            <a:r>
              <a:rPr lang="en-IN" sz="2400"/>
              <a:t>to shared address spaces or shared I/O resources, </a:t>
            </a:r>
            <a:endParaRPr sz="2400"/>
          </a:p>
          <a:p>
            <a:pPr indent="-182880" lvl="1" marL="384048" rtl="0" algn="l">
              <a:lnSpc>
                <a:spcPct val="90000"/>
              </a:lnSpc>
              <a:spcBef>
                <a:spcPts val="600"/>
              </a:spcBef>
              <a:spcAft>
                <a:spcPts val="0"/>
              </a:spcAft>
              <a:buSzPts val="2400"/>
              <a:buChar char="◦"/>
            </a:pPr>
            <a:r>
              <a:rPr lang="en-IN" sz="2400"/>
              <a:t>care must be taken to provide effective  synchronization. </a:t>
            </a:r>
            <a:endParaRPr/>
          </a:p>
          <a:p>
            <a:pPr indent="-152400" lvl="0" marL="91440" rtl="0" algn="l">
              <a:lnSpc>
                <a:spcPct val="90000"/>
              </a:lnSpc>
              <a:spcBef>
                <a:spcPts val="1600"/>
              </a:spcBef>
              <a:spcAft>
                <a:spcPts val="0"/>
              </a:spcAft>
              <a:buSzPts val="2400"/>
              <a:buChar char=" "/>
            </a:pPr>
            <a:r>
              <a:rPr lang="en-IN" sz="2400"/>
              <a:t>Synchronization is a facility that enforces </a:t>
            </a:r>
            <a:endParaRPr sz="2400"/>
          </a:p>
          <a:p>
            <a:pPr indent="-182880" lvl="1" marL="384048" rtl="0" algn="l">
              <a:lnSpc>
                <a:spcPct val="90000"/>
              </a:lnSpc>
              <a:spcBef>
                <a:spcPts val="400"/>
              </a:spcBef>
              <a:spcAft>
                <a:spcPts val="0"/>
              </a:spcAft>
              <a:buSzPts val="2400"/>
              <a:buChar char="◦"/>
            </a:pPr>
            <a:r>
              <a:rPr b="1" lang="en-IN" sz="2400" u="sng"/>
              <a:t>mutual exclusion and </a:t>
            </a:r>
            <a:endParaRPr b="1" sz="2400" u="sng"/>
          </a:p>
          <a:p>
            <a:pPr indent="-182880" lvl="1" marL="384048" rtl="0" algn="l">
              <a:lnSpc>
                <a:spcPct val="90000"/>
              </a:lnSpc>
              <a:spcBef>
                <a:spcPts val="600"/>
              </a:spcBef>
              <a:spcAft>
                <a:spcPts val="0"/>
              </a:spcAft>
              <a:buSzPts val="2400"/>
              <a:buChar char="◦"/>
            </a:pPr>
            <a:r>
              <a:rPr b="1" lang="en-IN" sz="2400" u="sng"/>
              <a:t>event ordering. </a:t>
            </a:r>
            <a:endParaRPr b="1" sz="2400" u="sng"/>
          </a:p>
          <a:p>
            <a:pPr indent="-152400" lvl="0" marL="91440" rtl="0" algn="l">
              <a:lnSpc>
                <a:spcPct val="90000"/>
              </a:lnSpc>
              <a:spcBef>
                <a:spcPts val="1600"/>
              </a:spcBef>
              <a:spcAft>
                <a:spcPts val="0"/>
              </a:spcAft>
              <a:buSzPts val="2400"/>
              <a:buChar char=" "/>
            </a:pPr>
            <a:r>
              <a:rPr lang="en-IN" sz="2400"/>
              <a:t>A common synchronization mechanism </a:t>
            </a:r>
            <a:endParaRPr sz="2400"/>
          </a:p>
          <a:p>
            <a:pPr indent="-182880" lvl="1" marL="384048" rtl="0" algn="l">
              <a:lnSpc>
                <a:spcPct val="90000"/>
              </a:lnSpc>
              <a:spcBef>
                <a:spcPts val="400"/>
              </a:spcBef>
              <a:spcAft>
                <a:spcPts val="0"/>
              </a:spcAft>
              <a:buSzPts val="2400"/>
              <a:buChar char="◦"/>
            </a:pPr>
            <a:r>
              <a:rPr lang="en-IN" sz="2400"/>
              <a:t>used in multiprocessor operating systems is </a:t>
            </a:r>
            <a:r>
              <a:rPr b="1" lang="en-IN" sz="2400" u="sng"/>
              <a:t>locks.</a:t>
            </a:r>
            <a:endParaRPr/>
          </a:p>
        </p:txBody>
      </p:sp>
      <p:sp>
        <p:nvSpPr>
          <p:cNvPr id="1367" name="Google Shape;1367;p12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368" name="Google Shape;1368;p12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369" name="Google Shape;1369;p12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370" name="Google Shape;1370;p125"/>
          <p:cNvSpPr txBox="1"/>
          <p:nvPr/>
        </p:nvSpPr>
        <p:spPr>
          <a:xfrm>
            <a:off x="107504" y="116632"/>
            <a:ext cx="4320480" cy="41217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200"/>
              <a:buFont typeface="Calibri"/>
              <a:buNone/>
            </a:pPr>
            <a:r>
              <a:rPr lang="en-IN" sz="3200">
                <a:solidFill>
                  <a:schemeClr val="dk1"/>
                </a:solidFill>
                <a:latin typeface="Calibri"/>
                <a:ea typeface="Calibri"/>
                <a:cs typeface="Calibri"/>
                <a:sym typeface="Calibri"/>
              </a:rPr>
              <a:t>The key design issues </a:t>
            </a:r>
            <a:r>
              <a:rPr lang="en-IN" sz="3600">
                <a:solidFill>
                  <a:schemeClr val="dk1"/>
                </a:solidFill>
                <a:latin typeface="Calibri"/>
                <a:ea typeface="Calibri"/>
                <a:cs typeface="Calibri"/>
                <a:sym typeface="Calibri"/>
              </a:rPr>
              <a:t>:</a:t>
            </a:r>
            <a:endParaRPr sz="3600">
              <a:solidFill>
                <a:schemeClr val="dk1"/>
              </a:solidFill>
              <a:latin typeface="Calibri"/>
              <a:ea typeface="Calibri"/>
              <a:cs typeface="Calibri"/>
              <a:sym typeface="Calibri"/>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4" name="Shape 1374"/>
        <p:cNvGrpSpPr/>
        <p:nvPr/>
      </p:nvGrpSpPr>
      <p:grpSpPr>
        <a:xfrm>
          <a:off x="0" y="0"/>
          <a:ext cx="0" cy="0"/>
          <a:chOff x="0" y="0"/>
          <a:chExt cx="0" cy="0"/>
        </a:xfrm>
      </p:grpSpPr>
      <p:sp>
        <p:nvSpPr>
          <p:cNvPr id="1375" name="Google Shape;1375;p126"/>
          <p:cNvSpPr txBox="1"/>
          <p:nvPr>
            <p:ph idx="1" type="body"/>
          </p:nvPr>
        </p:nvSpPr>
        <p:spPr>
          <a:xfrm>
            <a:off x="107504" y="548680"/>
            <a:ext cx="8229600" cy="5688632"/>
          </a:xfrm>
          <a:prstGeom prst="rect">
            <a:avLst/>
          </a:prstGeom>
          <a:noFill/>
          <a:ln>
            <a:noFill/>
          </a:ln>
        </p:spPr>
        <p:txBody>
          <a:bodyPr anchorCtr="0" anchor="t" bIns="45700" lIns="0" spcFirstLastPara="1" rIns="0" wrap="square" tIns="45700">
            <a:noAutofit/>
          </a:bodyPr>
          <a:lstStyle/>
          <a:p>
            <a:pPr indent="0" lvl="0" marL="0" rtl="0" algn="l">
              <a:lnSpc>
                <a:spcPct val="90000"/>
              </a:lnSpc>
              <a:spcBef>
                <a:spcPts val="0"/>
              </a:spcBef>
              <a:spcAft>
                <a:spcPts val="0"/>
              </a:spcAft>
              <a:buSzPts val="2400"/>
              <a:buNone/>
            </a:pPr>
            <a:r>
              <a:rPr b="1" lang="en-IN" sz="2400"/>
              <a:t>Memory management: </a:t>
            </a:r>
            <a:endParaRPr b="1" sz="2400"/>
          </a:p>
          <a:p>
            <a:pPr indent="-127000" lvl="0" marL="91440" rtl="0" algn="l">
              <a:lnSpc>
                <a:spcPct val="90000"/>
              </a:lnSpc>
              <a:spcBef>
                <a:spcPts val="1400"/>
              </a:spcBef>
              <a:spcAft>
                <a:spcPts val="0"/>
              </a:spcAft>
              <a:buSzPts val="2000"/>
              <a:buChar char=" "/>
            </a:pPr>
            <a:r>
              <a:rPr lang="en-IN" sz="2000"/>
              <a:t>Memory management on a multiprocessor must deal with </a:t>
            </a:r>
            <a:endParaRPr/>
          </a:p>
          <a:p>
            <a:pPr indent="-182880" lvl="1" marL="384048" rtl="0" algn="l">
              <a:lnSpc>
                <a:spcPct val="90000"/>
              </a:lnSpc>
              <a:spcBef>
                <a:spcPts val="400"/>
              </a:spcBef>
              <a:spcAft>
                <a:spcPts val="0"/>
              </a:spcAft>
              <a:buSzPts val="1800"/>
              <a:buChar char="◦"/>
            </a:pPr>
            <a:r>
              <a:rPr b="1" lang="en-IN" u="sng"/>
              <a:t>all of the issues found on uniprocessor computers </a:t>
            </a:r>
            <a:endParaRPr b="1" u="sng"/>
          </a:p>
          <a:p>
            <a:pPr indent="-127000" lvl="0" marL="91440" rtl="0" algn="l">
              <a:lnSpc>
                <a:spcPct val="90000"/>
              </a:lnSpc>
              <a:spcBef>
                <a:spcPts val="1600"/>
              </a:spcBef>
              <a:spcAft>
                <a:spcPts val="0"/>
              </a:spcAft>
              <a:buSzPts val="2000"/>
              <a:buChar char=" "/>
            </a:pPr>
            <a:r>
              <a:rPr lang="en-IN" sz="2000"/>
              <a:t>In addition, the OS needs to </a:t>
            </a:r>
            <a:r>
              <a:rPr b="1" lang="en-IN" sz="2000" u="sng"/>
              <a:t>exploit </a:t>
            </a:r>
            <a:endParaRPr b="1" sz="2000" u="sng"/>
          </a:p>
          <a:p>
            <a:pPr indent="-182880" lvl="1" marL="384048" rtl="0" algn="l">
              <a:lnSpc>
                <a:spcPct val="90000"/>
              </a:lnSpc>
              <a:spcBef>
                <a:spcPts val="400"/>
              </a:spcBef>
              <a:spcAft>
                <a:spcPts val="0"/>
              </a:spcAft>
              <a:buSzPts val="1800"/>
              <a:buChar char="◦"/>
            </a:pPr>
            <a:r>
              <a:rPr lang="en-IN"/>
              <a:t>the available </a:t>
            </a:r>
            <a:r>
              <a:rPr b="1" lang="en-IN" u="sng"/>
              <a:t>hardware parallelism </a:t>
            </a:r>
            <a:r>
              <a:rPr lang="en-IN"/>
              <a:t>to achieve the best performance.</a:t>
            </a:r>
            <a:endParaRPr/>
          </a:p>
          <a:p>
            <a:pPr indent="-152400" lvl="0" marL="91440" rtl="0" algn="l">
              <a:lnSpc>
                <a:spcPct val="90000"/>
              </a:lnSpc>
              <a:spcBef>
                <a:spcPts val="1600"/>
              </a:spcBef>
              <a:spcAft>
                <a:spcPts val="0"/>
              </a:spcAft>
              <a:buSzPts val="2400"/>
              <a:buChar char=" "/>
            </a:pPr>
            <a:r>
              <a:rPr lang="en-IN" sz="2400"/>
              <a:t>The </a:t>
            </a:r>
            <a:r>
              <a:rPr b="1" lang="en-IN" sz="2400" u="sng"/>
              <a:t>paging mechanisms </a:t>
            </a:r>
            <a:r>
              <a:rPr lang="en-IN" sz="2400"/>
              <a:t>on different processors</a:t>
            </a:r>
            <a:endParaRPr/>
          </a:p>
          <a:p>
            <a:pPr indent="-182880" lvl="1" marL="384048" rtl="0" algn="l">
              <a:lnSpc>
                <a:spcPct val="90000"/>
              </a:lnSpc>
              <a:spcBef>
                <a:spcPts val="400"/>
              </a:spcBef>
              <a:spcAft>
                <a:spcPts val="0"/>
              </a:spcAft>
              <a:buSzPts val="2400"/>
              <a:buChar char="◦"/>
            </a:pPr>
            <a:r>
              <a:rPr lang="en-IN" sz="2400"/>
              <a:t>must be coordinated to enforce consistency </a:t>
            </a:r>
            <a:endParaRPr/>
          </a:p>
          <a:p>
            <a:pPr indent="-182880" lvl="1" marL="384048" rtl="0" algn="l">
              <a:lnSpc>
                <a:spcPct val="90000"/>
              </a:lnSpc>
              <a:spcBef>
                <a:spcPts val="600"/>
              </a:spcBef>
              <a:spcAft>
                <a:spcPts val="0"/>
              </a:spcAft>
              <a:buSzPts val="2400"/>
              <a:buChar char="◦"/>
            </a:pPr>
            <a:r>
              <a:rPr lang="en-IN" sz="2400"/>
              <a:t>when </a:t>
            </a:r>
            <a:r>
              <a:rPr b="1" lang="en-IN" sz="2400" u="sng"/>
              <a:t>several processors share a page or segment </a:t>
            </a:r>
            <a:r>
              <a:rPr lang="en-IN" sz="2400"/>
              <a:t>and </a:t>
            </a:r>
            <a:endParaRPr/>
          </a:p>
          <a:p>
            <a:pPr indent="-182880" lvl="1" marL="384048" rtl="0" algn="l">
              <a:lnSpc>
                <a:spcPct val="90000"/>
              </a:lnSpc>
              <a:spcBef>
                <a:spcPts val="600"/>
              </a:spcBef>
              <a:spcAft>
                <a:spcPts val="0"/>
              </a:spcAft>
              <a:buSzPts val="2400"/>
              <a:buChar char="◦"/>
            </a:pPr>
            <a:r>
              <a:rPr lang="en-IN" sz="2400"/>
              <a:t>to decide on </a:t>
            </a:r>
            <a:r>
              <a:rPr b="1" lang="en-IN" sz="2400" u="sng"/>
              <a:t>page replacement</a:t>
            </a:r>
            <a:r>
              <a:rPr lang="en-IN" sz="2400"/>
              <a:t>. </a:t>
            </a:r>
            <a:endParaRPr/>
          </a:p>
          <a:p>
            <a:pPr indent="-182880" lvl="1" marL="384048" rtl="0" algn="l">
              <a:lnSpc>
                <a:spcPct val="90000"/>
              </a:lnSpc>
              <a:spcBef>
                <a:spcPts val="600"/>
              </a:spcBef>
              <a:spcAft>
                <a:spcPts val="0"/>
              </a:spcAft>
              <a:buSzPts val="2400"/>
              <a:buChar char="◦"/>
            </a:pPr>
            <a:r>
              <a:rPr lang="en-IN" sz="2400"/>
              <a:t>The reuse of physical pages is the biggest problem of concern; </a:t>
            </a:r>
            <a:endParaRPr/>
          </a:p>
          <a:p>
            <a:pPr indent="-182880" lvl="2" marL="566928" rtl="0" algn="l">
              <a:lnSpc>
                <a:spcPct val="90000"/>
              </a:lnSpc>
              <a:spcBef>
                <a:spcPts val="600"/>
              </a:spcBef>
              <a:spcAft>
                <a:spcPts val="0"/>
              </a:spcAft>
              <a:buSzPts val="1400"/>
              <a:buChar char="◦"/>
            </a:pPr>
            <a:r>
              <a:rPr lang="en-IN"/>
              <a:t>that is, it must be guaranteed</a:t>
            </a:r>
            <a:endParaRPr/>
          </a:p>
          <a:p>
            <a:pPr indent="-182880" lvl="2" marL="566928" rtl="0" algn="l">
              <a:lnSpc>
                <a:spcPct val="90000"/>
              </a:lnSpc>
              <a:spcBef>
                <a:spcPts val="600"/>
              </a:spcBef>
              <a:spcAft>
                <a:spcPts val="0"/>
              </a:spcAft>
              <a:buSzPts val="1400"/>
              <a:buChar char="◦"/>
            </a:pPr>
            <a:r>
              <a:rPr lang="en-IN"/>
              <a:t>that a </a:t>
            </a:r>
            <a:r>
              <a:rPr b="1" lang="en-IN" u="sng"/>
              <a:t>physical page can no longer be accessed with its old contents </a:t>
            </a:r>
            <a:endParaRPr/>
          </a:p>
          <a:p>
            <a:pPr indent="-182880" lvl="2" marL="566928" rtl="0" algn="l">
              <a:lnSpc>
                <a:spcPct val="90000"/>
              </a:lnSpc>
              <a:spcBef>
                <a:spcPts val="600"/>
              </a:spcBef>
              <a:spcAft>
                <a:spcPts val="0"/>
              </a:spcAft>
              <a:buSzPts val="1400"/>
              <a:buChar char="◦"/>
            </a:pPr>
            <a:r>
              <a:rPr b="1" lang="en-IN" u="sng"/>
              <a:t>before the page is put to a new use.</a:t>
            </a:r>
            <a:endParaRPr/>
          </a:p>
          <a:p>
            <a:pPr indent="-182880" lvl="1" marL="384048" rtl="0" algn="l">
              <a:lnSpc>
                <a:spcPct val="90000"/>
              </a:lnSpc>
              <a:spcBef>
                <a:spcPts val="600"/>
              </a:spcBef>
              <a:spcAft>
                <a:spcPts val="0"/>
              </a:spcAft>
              <a:buSzPts val="1800"/>
              <a:buChar char="◦"/>
            </a:pPr>
            <a:r>
              <a:rPr lang="en-IN"/>
              <a:t> </a:t>
            </a:r>
            <a:endParaRPr/>
          </a:p>
        </p:txBody>
      </p:sp>
      <p:sp>
        <p:nvSpPr>
          <p:cNvPr id="1376" name="Google Shape;1376;p12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377" name="Google Shape;1377;p12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378" name="Google Shape;1378;p12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379" name="Google Shape;1379;p126"/>
          <p:cNvSpPr txBox="1"/>
          <p:nvPr/>
        </p:nvSpPr>
        <p:spPr>
          <a:xfrm>
            <a:off x="0" y="47526"/>
            <a:ext cx="4139952" cy="562074"/>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ctr">
              <a:spcBef>
                <a:spcPts val="0"/>
              </a:spcBef>
              <a:spcAft>
                <a:spcPts val="0"/>
              </a:spcAft>
              <a:buClr>
                <a:schemeClr val="dk1"/>
              </a:buClr>
              <a:buSzPct val="100000"/>
              <a:buFont typeface="Calibri"/>
              <a:buNone/>
            </a:pPr>
            <a:r>
              <a:rPr lang="en-IN" sz="3600">
                <a:solidFill>
                  <a:schemeClr val="dk1"/>
                </a:solidFill>
                <a:latin typeface="Calibri"/>
                <a:ea typeface="Calibri"/>
                <a:cs typeface="Calibri"/>
                <a:sym typeface="Calibri"/>
              </a:rPr>
              <a:t>The key design issues :</a:t>
            </a:r>
            <a:endParaRPr sz="3600">
              <a:solidFill>
                <a:schemeClr val="dk1"/>
              </a:solidFill>
              <a:latin typeface="Calibri"/>
              <a:ea typeface="Calibri"/>
              <a:cs typeface="Calibri"/>
              <a:sym typeface="Calibri"/>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3" name="Shape 1383"/>
        <p:cNvGrpSpPr/>
        <p:nvPr/>
      </p:nvGrpSpPr>
      <p:grpSpPr>
        <a:xfrm>
          <a:off x="0" y="0"/>
          <a:ext cx="0" cy="0"/>
          <a:chOff x="0" y="0"/>
          <a:chExt cx="0" cy="0"/>
        </a:xfrm>
      </p:grpSpPr>
      <p:sp>
        <p:nvSpPr>
          <p:cNvPr id="1384" name="Google Shape;1384;p127"/>
          <p:cNvSpPr txBox="1"/>
          <p:nvPr>
            <p:ph idx="1" type="body"/>
          </p:nvPr>
        </p:nvSpPr>
        <p:spPr>
          <a:xfrm>
            <a:off x="0" y="476672"/>
            <a:ext cx="8229600" cy="4525963"/>
          </a:xfrm>
          <a:prstGeom prst="rect">
            <a:avLst/>
          </a:prstGeom>
          <a:noFill/>
          <a:ln>
            <a:noFill/>
          </a:ln>
        </p:spPr>
        <p:txBody>
          <a:bodyPr anchorCtr="0" anchor="t" bIns="45700" lIns="0" spcFirstLastPara="1" rIns="0" wrap="square" tIns="45700">
            <a:noAutofit/>
          </a:bodyPr>
          <a:lstStyle/>
          <a:p>
            <a:pPr indent="0" lvl="0" marL="0" rtl="0" algn="l">
              <a:lnSpc>
                <a:spcPct val="90000"/>
              </a:lnSpc>
              <a:spcBef>
                <a:spcPts val="0"/>
              </a:spcBef>
              <a:spcAft>
                <a:spcPts val="0"/>
              </a:spcAft>
              <a:buSzPts val="2400"/>
              <a:buNone/>
            </a:pPr>
            <a:r>
              <a:rPr b="1" lang="en-IN" sz="2400"/>
              <a:t>Reliability and fault tolerance: </a:t>
            </a:r>
            <a:endParaRPr b="1" sz="2400"/>
          </a:p>
          <a:p>
            <a:pPr indent="-152400" lvl="0" marL="91440" rtl="0" algn="l">
              <a:lnSpc>
                <a:spcPct val="90000"/>
              </a:lnSpc>
              <a:spcBef>
                <a:spcPts val="1400"/>
              </a:spcBef>
              <a:spcAft>
                <a:spcPts val="0"/>
              </a:spcAft>
              <a:buSzPts val="2400"/>
              <a:buChar char=" "/>
            </a:pPr>
            <a:r>
              <a:rPr lang="en-IN" sz="2400"/>
              <a:t>The OS should provide </a:t>
            </a:r>
            <a:r>
              <a:rPr lang="en-IN" sz="2400" u="sng"/>
              <a:t>graceful degradation</a:t>
            </a:r>
            <a:endParaRPr/>
          </a:p>
          <a:p>
            <a:pPr indent="-182880" lvl="1" marL="384048" rtl="0" algn="l">
              <a:lnSpc>
                <a:spcPct val="90000"/>
              </a:lnSpc>
              <a:spcBef>
                <a:spcPts val="400"/>
              </a:spcBef>
              <a:spcAft>
                <a:spcPts val="0"/>
              </a:spcAft>
              <a:buSzPts val="2400"/>
              <a:buChar char="◦"/>
            </a:pPr>
            <a:r>
              <a:rPr lang="en-IN" sz="2400"/>
              <a:t>in the face of processor failure. </a:t>
            </a:r>
            <a:endParaRPr sz="2400"/>
          </a:p>
          <a:p>
            <a:pPr indent="-152400" lvl="0" marL="91440" rtl="0" algn="l">
              <a:lnSpc>
                <a:spcPct val="90000"/>
              </a:lnSpc>
              <a:spcBef>
                <a:spcPts val="1600"/>
              </a:spcBef>
              <a:spcAft>
                <a:spcPts val="0"/>
              </a:spcAft>
              <a:buSzPts val="2400"/>
              <a:buChar char=" "/>
            </a:pPr>
            <a:r>
              <a:rPr lang="en-IN" sz="2400"/>
              <a:t>The scheduler and other portions of the OS</a:t>
            </a:r>
            <a:endParaRPr/>
          </a:p>
          <a:p>
            <a:pPr indent="-182880" lvl="1" marL="384048" rtl="0" algn="l">
              <a:lnSpc>
                <a:spcPct val="90000"/>
              </a:lnSpc>
              <a:spcBef>
                <a:spcPts val="400"/>
              </a:spcBef>
              <a:spcAft>
                <a:spcPts val="0"/>
              </a:spcAft>
              <a:buSzPts val="2400"/>
              <a:buChar char="◦"/>
            </a:pPr>
            <a:r>
              <a:rPr lang="en-IN" sz="2400" u="sng"/>
              <a:t>must recognize the loss of a processor and </a:t>
            </a:r>
            <a:endParaRPr sz="2400" u="sng"/>
          </a:p>
          <a:p>
            <a:pPr indent="-182880" lvl="1" marL="384048" rtl="0" algn="l">
              <a:lnSpc>
                <a:spcPct val="90000"/>
              </a:lnSpc>
              <a:spcBef>
                <a:spcPts val="600"/>
              </a:spcBef>
              <a:spcAft>
                <a:spcPts val="0"/>
              </a:spcAft>
              <a:buSzPts val="2400"/>
              <a:buChar char="◦"/>
            </a:pPr>
            <a:r>
              <a:rPr lang="en-IN" sz="2400" u="sng"/>
              <a:t>restructure management tables accordingly.</a:t>
            </a:r>
            <a:endParaRPr/>
          </a:p>
          <a:p>
            <a:pPr indent="-152400" lvl="0" marL="91440" rtl="0" algn="l">
              <a:lnSpc>
                <a:spcPct val="90000"/>
              </a:lnSpc>
              <a:spcBef>
                <a:spcPts val="1600"/>
              </a:spcBef>
              <a:spcAft>
                <a:spcPts val="0"/>
              </a:spcAft>
              <a:buSzPts val="2400"/>
              <a:buChar char=" "/>
            </a:pPr>
            <a:r>
              <a:rPr lang="en-IN" sz="2400"/>
              <a:t>Because multiprocessor OS design issues generally involve extensions to</a:t>
            </a:r>
            <a:endParaRPr/>
          </a:p>
          <a:p>
            <a:pPr indent="-182880" lvl="1" marL="384048" rtl="0" algn="l">
              <a:lnSpc>
                <a:spcPct val="90000"/>
              </a:lnSpc>
              <a:spcBef>
                <a:spcPts val="400"/>
              </a:spcBef>
              <a:spcAft>
                <a:spcPts val="0"/>
              </a:spcAft>
              <a:buSzPts val="2400"/>
              <a:buChar char="◦"/>
            </a:pPr>
            <a:r>
              <a:rPr lang="en-IN" sz="2400"/>
              <a:t>solutions to </a:t>
            </a:r>
            <a:r>
              <a:rPr b="1" lang="en-IN" sz="2400" u="sng"/>
              <a:t>multiprogramming uniprocessor design problems, </a:t>
            </a:r>
            <a:endParaRPr/>
          </a:p>
          <a:p>
            <a:pPr indent="-182880" lvl="1" marL="384048" rtl="0" algn="l">
              <a:lnSpc>
                <a:spcPct val="90000"/>
              </a:lnSpc>
              <a:spcBef>
                <a:spcPts val="600"/>
              </a:spcBef>
              <a:spcAft>
                <a:spcPts val="0"/>
              </a:spcAft>
              <a:buSzPts val="2400"/>
              <a:buChar char="◦"/>
            </a:pPr>
            <a:r>
              <a:rPr b="1" lang="en-IN" sz="2400" u="sng"/>
              <a:t>we do not treat multiprocessor operating systems separately.</a:t>
            </a:r>
            <a:endParaRPr/>
          </a:p>
          <a:p>
            <a:pPr indent="-30479" lvl="1" marL="384048" rtl="0" algn="l">
              <a:lnSpc>
                <a:spcPct val="90000"/>
              </a:lnSpc>
              <a:spcBef>
                <a:spcPts val="600"/>
              </a:spcBef>
              <a:spcAft>
                <a:spcPts val="0"/>
              </a:spcAft>
              <a:buSzPts val="2400"/>
              <a:buNone/>
            </a:pPr>
            <a:r>
              <a:t/>
            </a:r>
            <a:endParaRPr sz="2400" u="sng"/>
          </a:p>
          <a:p>
            <a:pPr indent="0" lvl="0" marL="91440" rtl="0" algn="l">
              <a:lnSpc>
                <a:spcPct val="90000"/>
              </a:lnSpc>
              <a:spcBef>
                <a:spcPts val="1600"/>
              </a:spcBef>
              <a:spcAft>
                <a:spcPts val="0"/>
              </a:spcAft>
              <a:buSzPts val="2400"/>
              <a:buNone/>
            </a:pPr>
            <a:r>
              <a:t/>
            </a:r>
            <a:endParaRPr sz="2400"/>
          </a:p>
        </p:txBody>
      </p:sp>
      <p:sp>
        <p:nvSpPr>
          <p:cNvPr id="1385" name="Google Shape;1385;p12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386" name="Google Shape;1386;p12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387" name="Google Shape;1387;p12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388" name="Google Shape;1388;p127"/>
          <p:cNvSpPr txBox="1"/>
          <p:nvPr/>
        </p:nvSpPr>
        <p:spPr>
          <a:xfrm>
            <a:off x="-108520" y="10277"/>
            <a:ext cx="4402832" cy="562074"/>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ctr">
              <a:spcBef>
                <a:spcPts val="0"/>
              </a:spcBef>
              <a:spcAft>
                <a:spcPts val="0"/>
              </a:spcAft>
              <a:buClr>
                <a:schemeClr val="dk1"/>
              </a:buClr>
              <a:buSzPct val="100000"/>
              <a:buFont typeface="Calibri"/>
              <a:buNone/>
            </a:pPr>
            <a:r>
              <a:rPr lang="en-IN" sz="3600">
                <a:solidFill>
                  <a:schemeClr val="dk1"/>
                </a:solidFill>
                <a:latin typeface="Calibri"/>
                <a:ea typeface="Calibri"/>
                <a:cs typeface="Calibri"/>
                <a:sym typeface="Calibri"/>
              </a:rPr>
              <a:t>The key design issues :</a:t>
            </a:r>
            <a:endParaRPr sz="3600">
              <a:solidFill>
                <a:schemeClr val="dk1"/>
              </a:solidFill>
              <a:latin typeface="Calibri"/>
              <a:ea typeface="Calibri"/>
              <a:cs typeface="Calibri"/>
              <a:sym typeface="Calibri"/>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2" name="Shape 1392"/>
        <p:cNvGrpSpPr/>
        <p:nvPr/>
      </p:nvGrpSpPr>
      <p:grpSpPr>
        <a:xfrm>
          <a:off x="0" y="0"/>
          <a:ext cx="0" cy="0"/>
          <a:chOff x="0" y="0"/>
          <a:chExt cx="0" cy="0"/>
        </a:xfrm>
      </p:grpSpPr>
      <p:sp>
        <p:nvSpPr>
          <p:cNvPr id="1393" name="Google Shape;1393;p128"/>
          <p:cNvSpPr txBox="1"/>
          <p:nvPr>
            <p:ph type="title"/>
          </p:nvPr>
        </p:nvSpPr>
        <p:spPr>
          <a:xfrm>
            <a:off x="395536" y="188640"/>
            <a:ext cx="8229600" cy="504056"/>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2800"/>
              <a:buFont typeface="Calibri"/>
              <a:buNone/>
            </a:pPr>
            <a:r>
              <a:rPr lang="en-IN" sz="2800"/>
              <a:t>OS Design Considerations  for Multicore architectures</a:t>
            </a:r>
            <a:endParaRPr sz="3600"/>
          </a:p>
        </p:txBody>
      </p:sp>
      <p:sp>
        <p:nvSpPr>
          <p:cNvPr id="1394" name="Google Shape;1394;p128"/>
          <p:cNvSpPr txBox="1"/>
          <p:nvPr>
            <p:ph idx="1" type="body"/>
          </p:nvPr>
        </p:nvSpPr>
        <p:spPr>
          <a:xfrm>
            <a:off x="395536" y="770528"/>
            <a:ext cx="7620000" cy="480060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lang="en-IN" sz="2400"/>
              <a:t>The considerations for multicore systems include </a:t>
            </a:r>
            <a:endParaRPr sz="2400"/>
          </a:p>
          <a:p>
            <a:pPr indent="-182880" lvl="1" marL="384048" rtl="0" algn="l">
              <a:lnSpc>
                <a:spcPct val="90000"/>
              </a:lnSpc>
              <a:spcBef>
                <a:spcPts val="400"/>
              </a:spcBef>
              <a:spcAft>
                <a:spcPts val="0"/>
              </a:spcAft>
              <a:buSzPts val="2000"/>
              <a:buChar char="◦"/>
            </a:pPr>
            <a:r>
              <a:rPr lang="en-IN" sz="2000"/>
              <a:t>all the design issues discussed so far in this section for SMP systems. </a:t>
            </a:r>
            <a:endParaRPr sz="2000"/>
          </a:p>
          <a:p>
            <a:pPr indent="0" lvl="0" marL="91440" rtl="0" algn="l">
              <a:lnSpc>
                <a:spcPct val="90000"/>
              </a:lnSpc>
              <a:spcBef>
                <a:spcPts val="1600"/>
              </a:spcBef>
              <a:spcAft>
                <a:spcPts val="0"/>
              </a:spcAft>
              <a:buSzPts val="2400"/>
              <a:buNone/>
            </a:pPr>
            <a:r>
              <a:t/>
            </a:r>
            <a:endParaRPr sz="2400"/>
          </a:p>
          <a:p>
            <a:pPr indent="-152400" lvl="0" marL="91440" rtl="0" algn="l">
              <a:lnSpc>
                <a:spcPct val="90000"/>
              </a:lnSpc>
              <a:spcBef>
                <a:spcPts val="1400"/>
              </a:spcBef>
              <a:spcAft>
                <a:spcPts val="0"/>
              </a:spcAft>
              <a:buSzPts val="2400"/>
              <a:buChar char=" "/>
            </a:pPr>
            <a:r>
              <a:rPr b="1" lang="en-IN" sz="2400"/>
              <a:t>But additional concerns arise. </a:t>
            </a:r>
            <a:endParaRPr b="1" sz="2400"/>
          </a:p>
          <a:p>
            <a:pPr indent="-182880" lvl="1" marL="384048" rtl="0" algn="l">
              <a:lnSpc>
                <a:spcPct val="90000"/>
              </a:lnSpc>
              <a:spcBef>
                <a:spcPts val="400"/>
              </a:spcBef>
              <a:spcAft>
                <a:spcPts val="0"/>
              </a:spcAft>
              <a:buSzPts val="2000"/>
              <a:buChar char="◦"/>
            </a:pPr>
            <a:r>
              <a:rPr lang="en-IN" sz="2000"/>
              <a:t>The issue is one of the scale of the potential parallelism. </a:t>
            </a:r>
            <a:endParaRPr sz="2000"/>
          </a:p>
          <a:p>
            <a:pPr indent="-152400" lvl="0" marL="91440" rtl="0" algn="l">
              <a:lnSpc>
                <a:spcPct val="90000"/>
              </a:lnSpc>
              <a:spcBef>
                <a:spcPts val="1600"/>
              </a:spcBef>
              <a:spcAft>
                <a:spcPts val="0"/>
              </a:spcAft>
              <a:buSzPts val="2400"/>
              <a:buChar char=" "/>
            </a:pPr>
            <a:r>
              <a:rPr lang="en-IN" sz="2400"/>
              <a:t>Current multicore vendors offer </a:t>
            </a:r>
            <a:r>
              <a:rPr b="1" lang="en-IN" sz="2400" u="sng"/>
              <a:t>systems with up to eight cores on a single chip. </a:t>
            </a:r>
            <a:endParaRPr/>
          </a:p>
          <a:p>
            <a:pPr indent="-152400" lvl="0" marL="91440" rtl="0" algn="l">
              <a:lnSpc>
                <a:spcPct val="90000"/>
              </a:lnSpc>
              <a:spcBef>
                <a:spcPts val="1400"/>
              </a:spcBef>
              <a:spcAft>
                <a:spcPts val="0"/>
              </a:spcAft>
              <a:buSzPts val="2400"/>
              <a:buChar char=" "/>
            </a:pPr>
            <a:r>
              <a:rPr lang="en-IN" sz="2400"/>
              <a:t>With each succeeding processor technology generation, </a:t>
            </a:r>
            <a:endParaRPr/>
          </a:p>
          <a:p>
            <a:pPr indent="-182880" lvl="1" marL="384048" rtl="0" algn="l">
              <a:lnSpc>
                <a:spcPct val="90000"/>
              </a:lnSpc>
              <a:spcBef>
                <a:spcPts val="400"/>
              </a:spcBef>
              <a:spcAft>
                <a:spcPts val="0"/>
              </a:spcAft>
              <a:buSzPts val="1800"/>
              <a:buChar char="◦"/>
            </a:pPr>
            <a:r>
              <a:rPr b="1" lang="en-IN" u="sng"/>
              <a:t>the number of cores and </a:t>
            </a:r>
            <a:endParaRPr/>
          </a:p>
          <a:p>
            <a:pPr indent="-182880" lvl="1" marL="384048" rtl="0" algn="l">
              <a:lnSpc>
                <a:spcPct val="90000"/>
              </a:lnSpc>
              <a:spcBef>
                <a:spcPts val="600"/>
              </a:spcBef>
              <a:spcAft>
                <a:spcPts val="0"/>
              </a:spcAft>
              <a:buSzPts val="1800"/>
              <a:buChar char="◦"/>
            </a:pPr>
            <a:r>
              <a:rPr b="1" lang="en-IN" u="sng"/>
              <a:t>the amount of shared and dedicated cache memory increases, </a:t>
            </a:r>
            <a:endParaRPr/>
          </a:p>
          <a:p>
            <a:pPr indent="-182880" lvl="1" marL="384048" rtl="0" algn="l">
              <a:lnSpc>
                <a:spcPct val="90000"/>
              </a:lnSpc>
              <a:spcBef>
                <a:spcPts val="600"/>
              </a:spcBef>
              <a:spcAft>
                <a:spcPts val="0"/>
              </a:spcAft>
              <a:buSzPts val="1800"/>
              <a:buChar char="◦"/>
            </a:pPr>
            <a:r>
              <a:rPr b="1" lang="en-IN" u="sng"/>
              <a:t>so that we are now entering the era of “many-core” systems.</a:t>
            </a:r>
            <a:endParaRPr/>
          </a:p>
          <a:p>
            <a:pPr indent="-55879" lvl="1" marL="384048" rtl="0" algn="l">
              <a:lnSpc>
                <a:spcPct val="90000"/>
              </a:lnSpc>
              <a:spcBef>
                <a:spcPts val="600"/>
              </a:spcBef>
              <a:spcAft>
                <a:spcPts val="0"/>
              </a:spcAft>
              <a:buSzPts val="2000"/>
              <a:buNone/>
            </a:pPr>
            <a:r>
              <a:t/>
            </a:r>
            <a:endParaRPr sz="2000"/>
          </a:p>
        </p:txBody>
      </p:sp>
      <p:sp>
        <p:nvSpPr>
          <p:cNvPr id="1395" name="Google Shape;1395;p12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396" name="Google Shape;1396;p12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397" name="Google Shape;1397;p12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sp>
        <p:nvSpPr>
          <p:cNvPr id="1402" name="Google Shape;1402;p129"/>
          <p:cNvSpPr txBox="1"/>
          <p:nvPr>
            <p:ph idx="1" type="body"/>
          </p:nvPr>
        </p:nvSpPr>
        <p:spPr>
          <a:xfrm>
            <a:off x="251520" y="837609"/>
            <a:ext cx="7620000" cy="4800600"/>
          </a:xfrm>
          <a:prstGeom prst="rect">
            <a:avLst/>
          </a:prstGeom>
          <a:noFill/>
          <a:ln>
            <a:noFill/>
          </a:ln>
        </p:spPr>
        <p:txBody>
          <a:bodyPr anchorCtr="0" anchor="t" bIns="45700" lIns="0" spcFirstLastPara="1" rIns="0" wrap="square" tIns="45700">
            <a:normAutofit fontScale="85000" lnSpcReduction="20000"/>
          </a:bodyPr>
          <a:lstStyle/>
          <a:p>
            <a:pPr indent="0" lvl="0" marL="0" rtl="0" algn="l">
              <a:lnSpc>
                <a:spcPct val="90000"/>
              </a:lnSpc>
              <a:spcBef>
                <a:spcPts val="0"/>
              </a:spcBef>
              <a:spcAft>
                <a:spcPts val="0"/>
              </a:spcAft>
              <a:buSzPct val="100000"/>
              <a:buNone/>
            </a:pPr>
            <a:r>
              <a:rPr b="1" i="1" lang="en-IN"/>
              <a:t>PARALLELISM WITHIN APPLICATIONS </a:t>
            </a:r>
            <a:endParaRPr b="1" i="1"/>
          </a:p>
          <a:p>
            <a:pPr indent="-151130" lvl="0" marL="91440" rtl="0" algn="l">
              <a:lnSpc>
                <a:spcPct val="90000"/>
              </a:lnSpc>
              <a:spcBef>
                <a:spcPts val="1400"/>
              </a:spcBef>
              <a:spcAft>
                <a:spcPts val="0"/>
              </a:spcAft>
              <a:buSzPct val="100000"/>
              <a:buChar char=" "/>
            </a:pPr>
            <a:r>
              <a:rPr lang="en-IN" sz="2800"/>
              <a:t>Most applications can be subdivided into multiple tasks that can execute in parallel, </a:t>
            </a:r>
            <a:endParaRPr/>
          </a:p>
          <a:p>
            <a:pPr indent="-182879" lvl="1" marL="384048" rtl="0" algn="l">
              <a:lnSpc>
                <a:spcPct val="90000"/>
              </a:lnSpc>
              <a:spcBef>
                <a:spcPts val="400"/>
              </a:spcBef>
              <a:spcAft>
                <a:spcPts val="0"/>
              </a:spcAft>
              <a:buSzPct val="100000"/>
              <a:buChar char="◦"/>
            </a:pPr>
            <a:r>
              <a:rPr lang="en-IN" sz="2400"/>
              <a:t>With these tasks subdivided into multiple processes, </a:t>
            </a:r>
            <a:endParaRPr/>
          </a:p>
          <a:p>
            <a:pPr indent="-182879" lvl="1" marL="384048" rtl="0" algn="l">
              <a:lnSpc>
                <a:spcPct val="90000"/>
              </a:lnSpc>
              <a:spcBef>
                <a:spcPts val="600"/>
              </a:spcBef>
              <a:spcAft>
                <a:spcPts val="0"/>
              </a:spcAft>
              <a:buSzPct val="100000"/>
              <a:buChar char="◦"/>
            </a:pPr>
            <a:r>
              <a:rPr lang="en-IN" sz="2400"/>
              <a:t>Perhaps each with multiple threads. </a:t>
            </a:r>
            <a:endParaRPr/>
          </a:p>
          <a:p>
            <a:pPr indent="-151130" lvl="0" marL="91440" rtl="0" algn="l">
              <a:lnSpc>
                <a:spcPct val="90000"/>
              </a:lnSpc>
              <a:spcBef>
                <a:spcPts val="1600"/>
              </a:spcBef>
              <a:spcAft>
                <a:spcPts val="0"/>
              </a:spcAft>
              <a:buSzPct val="100000"/>
              <a:buChar char=" "/>
            </a:pPr>
            <a:r>
              <a:rPr lang="en-IN" sz="2800"/>
              <a:t>The difficulty is that the developer must decide </a:t>
            </a:r>
            <a:endParaRPr sz="2800"/>
          </a:p>
          <a:p>
            <a:pPr indent="-182879" lvl="1" marL="384048" rtl="0" algn="l">
              <a:lnSpc>
                <a:spcPct val="90000"/>
              </a:lnSpc>
              <a:spcBef>
                <a:spcPts val="400"/>
              </a:spcBef>
              <a:spcAft>
                <a:spcPts val="0"/>
              </a:spcAft>
              <a:buSzPct val="100000"/>
              <a:buChar char="◦"/>
            </a:pPr>
            <a:r>
              <a:rPr lang="en-IN" sz="2400"/>
              <a:t>how to </a:t>
            </a:r>
            <a:r>
              <a:rPr b="1" lang="en-IN" sz="2400"/>
              <a:t>split up the application work into independently executable tasks. </a:t>
            </a:r>
            <a:endParaRPr b="1" sz="2400"/>
          </a:p>
          <a:p>
            <a:pPr indent="-182879" lvl="1" marL="384048" rtl="0" algn="l">
              <a:lnSpc>
                <a:spcPct val="90000"/>
              </a:lnSpc>
              <a:spcBef>
                <a:spcPts val="600"/>
              </a:spcBef>
              <a:spcAft>
                <a:spcPts val="0"/>
              </a:spcAft>
              <a:buSzPct val="100000"/>
              <a:buChar char="◦"/>
            </a:pPr>
            <a:r>
              <a:rPr lang="en-IN" sz="2400"/>
              <a:t>That is, the developer must decide </a:t>
            </a:r>
            <a:r>
              <a:rPr b="1" lang="en-IN" sz="2400"/>
              <a:t>what pieces can or should be executed asynchronously or in parallel. </a:t>
            </a:r>
            <a:endParaRPr b="1" sz="2400"/>
          </a:p>
          <a:p>
            <a:pPr indent="-129540" lvl="0" marL="91440" rtl="0" algn="l">
              <a:lnSpc>
                <a:spcPct val="90000"/>
              </a:lnSpc>
              <a:spcBef>
                <a:spcPts val="1600"/>
              </a:spcBef>
              <a:spcAft>
                <a:spcPts val="0"/>
              </a:spcAft>
              <a:buSzPct val="100000"/>
              <a:buChar char=" "/>
            </a:pPr>
            <a:r>
              <a:rPr lang="en-IN" sz="2400"/>
              <a:t>It is </a:t>
            </a:r>
            <a:r>
              <a:rPr b="1" lang="en-IN" sz="2400"/>
              <a:t>primarily the compiler and the programming language features </a:t>
            </a:r>
            <a:endParaRPr/>
          </a:p>
          <a:p>
            <a:pPr indent="-182879" lvl="1" marL="384048" rtl="0" algn="l">
              <a:lnSpc>
                <a:spcPct val="90000"/>
              </a:lnSpc>
              <a:spcBef>
                <a:spcPts val="400"/>
              </a:spcBef>
              <a:spcAft>
                <a:spcPts val="0"/>
              </a:spcAft>
              <a:buSzPct val="100000"/>
              <a:buChar char="◦"/>
            </a:pPr>
            <a:r>
              <a:rPr lang="en-IN" sz="2400"/>
              <a:t>that </a:t>
            </a:r>
            <a:r>
              <a:rPr b="1" lang="en-IN" sz="2400"/>
              <a:t>support the parallel programming </a:t>
            </a:r>
            <a:r>
              <a:rPr lang="en-IN" sz="2400"/>
              <a:t>design process. </a:t>
            </a:r>
            <a:endParaRPr/>
          </a:p>
          <a:p>
            <a:pPr indent="-129540" lvl="0" marL="91440" rtl="0" algn="l">
              <a:lnSpc>
                <a:spcPct val="90000"/>
              </a:lnSpc>
              <a:spcBef>
                <a:spcPts val="1600"/>
              </a:spcBef>
              <a:spcAft>
                <a:spcPts val="0"/>
              </a:spcAft>
              <a:buSzPct val="100000"/>
              <a:buChar char=" "/>
            </a:pPr>
            <a:r>
              <a:rPr lang="en-IN" sz="2400"/>
              <a:t>But, the OS can support this design process, at minimum, </a:t>
            </a:r>
            <a:endParaRPr/>
          </a:p>
          <a:p>
            <a:pPr indent="-182879" lvl="1" marL="384048" rtl="0" algn="l">
              <a:lnSpc>
                <a:spcPct val="90000"/>
              </a:lnSpc>
              <a:spcBef>
                <a:spcPts val="400"/>
              </a:spcBef>
              <a:spcAft>
                <a:spcPts val="0"/>
              </a:spcAft>
              <a:buSzPct val="100000"/>
              <a:buChar char="◦"/>
            </a:pPr>
            <a:r>
              <a:rPr lang="en-IN" sz="2400"/>
              <a:t>by efficiently allocating resources among parallel tasks as defined by the developer.</a:t>
            </a:r>
            <a:endParaRPr/>
          </a:p>
          <a:p>
            <a:pPr indent="-85725" lvl="1" marL="384048" rtl="0" algn="l">
              <a:lnSpc>
                <a:spcPct val="90000"/>
              </a:lnSpc>
              <a:spcBef>
                <a:spcPts val="600"/>
              </a:spcBef>
              <a:spcAft>
                <a:spcPts val="0"/>
              </a:spcAft>
              <a:buSzPct val="100000"/>
              <a:buNone/>
            </a:pPr>
            <a:r>
              <a:t/>
            </a:r>
            <a:endParaRPr b="1"/>
          </a:p>
        </p:txBody>
      </p:sp>
      <p:sp>
        <p:nvSpPr>
          <p:cNvPr id="1403" name="Google Shape;1403;p12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404" name="Google Shape;1404;p12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405" name="Google Shape;1405;p12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406" name="Google Shape;1406;p129"/>
          <p:cNvSpPr txBox="1"/>
          <p:nvPr/>
        </p:nvSpPr>
        <p:spPr>
          <a:xfrm>
            <a:off x="395536" y="188640"/>
            <a:ext cx="8229600" cy="5040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800"/>
              <a:buFont typeface="Calibri"/>
              <a:buNone/>
            </a:pPr>
            <a:r>
              <a:rPr lang="en-IN" sz="2800">
                <a:solidFill>
                  <a:schemeClr val="dk1"/>
                </a:solidFill>
                <a:latin typeface="Calibri"/>
                <a:ea typeface="Calibri"/>
                <a:cs typeface="Calibri"/>
                <a:sym typeface="Calibri"/>
              </a:rPr>
              <a:t>OS Design Considerations  for Multicore architectures</a:t>
            </a:r>
            <a:endParaRPr sz="3600">
              <a:solidFill>
                <a:schemeClr val="dk1"/>
              </a:solidFill>
              <a:latin typeface="Calibri"/>
              <a:ea typeface="Calibri"/>
              <a:cs typeface="Calibri"/>
              <a:sym typeface="Calibri"/>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0" name="Shape 1410"/>
        <p:cNvGrpSpPr/>
        <p:nvPr/>
      </p:nvGrpSpPr>
      <p:grpSpPr>
        <a:xfrm>
          <a:off x="0" y="0"/>
          <a:ext cx="0" cy="0"/>
          <a:chOff x="0" y="0"/>
          <a:chExt cx="0" cy="0"/>
        </a:xfrm>
      </p:grpSpPr>
      <p:sp>
        <p:nvSpPr>
          <p:cNvPr id="1411" name="Google Shape;1411;p130"/>
          <p:cNvSpPr txBox="1"/>
          <p:nvPr>
            <p:ph type="title"/>
          </p:nvPr>
        </p:nvSpPr>
        <p:spPr>
          <a:xfrm>
            <a:off x="102835" y="947628"/>
            <a:ext cx="8229600" cy="418058"/>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2400"/>
              <a:buFont typeface="Calibri"/>
              <a:buNone/>
            </a:pPr>
            <a:r>
              <a:rPr b="1" i="1" lang="en-IN" sz="2400"/>
              <a:t>VIRTUAL MACHINE APPROACH</a:t>
            </a:r>
            <a:endParaRPr sz="2400"/>
          </a:p>
        </p:txBody>
      </p:sp>
      <p:sp>
        <p:nvSpPr>
          <p:cNvPr id="1412" name="Google Shape;1412;p130"/>
          <p:cNvSpPr txBox="1"/>
          <p:nvPr>
            <p:ph idx="1" type="body"/>
          </p:nvPr>
        </p:nvSpPr>
        <p:spPr>
          <a:xfrm>
            <a:off x="377347" y="1348886"/>
            <a:ext cx="7620000" cy="4800600"/>
          </a:xfrm>
          <a:prstGeom prst="rect">
            <a:avLst/>
          </a:prstGeom>
          <a:noFill/>
          <a:ln>
            <a:noFill/>
          </a:ln>
        </p:spPr>
        <p:txBody>
          <a:bodyPr anchorCtr="0" anchor="t" bIns="45700" lIns="0" spcFirstLastPara="1" rIns="0" wrap="square" tIns="45700">
            <a:normAutofit fontScale="92500" lnSpcReduction="10000"/>
          </a:bodyPr>
          <a:lstStyle/>
          <a:p>
            <a:pPr indent="-140970" lvl="0" marL="91440" rtl="0" algn="l">
              <a:lnSpc>
                <a:spcPct val="90000"/>
              </a:lnSpc>
              <a:spcBef>
                <a:spcPts val="0"/>
              </a:spcBef>
              <a:spcAft>
                <a:spcPts val="0"/>
              </a:spcAft>
              <a:buSzPct val="100000"/>
              <a:buChar char=" "/>
            </a:pPr>
            <a:r>
              <a:rPr lang="en-IN" sz="2400"/>
              <a:t>With the </a:t>
            </a:r>
            <a:r>
              <a:rPr b="1" lang="en-IN" sz="2400"/>
              <a:t>ever-increasing number of cores on a chip, </a:t>
            </a:r>
            <a:endParaRPr b="1" sz="2400"/>
          </a:p>
          <a:p>
            <a:pPr indent="-182880" lvl="1" marL="384048" rtl="0" algn="l">
              <a:lnSpc>
                <a:spcPct val="90000"/>
              </a:lnSpc>
              <a:spcBef>
                <a:spcPts val="400"/>
              </a:spcBef>
              <a:spcAft>
                <a:spcPts val="0"/>
              </a:spcAft>
              <a:buSzPct val="100000"/>
              <a:buChar char="◦"/>
            </a:pPr>
            <a:r>
              <a:rPr lang="en-IN" sz="2400"/>
              <a:t>the attempt to multiprogramming individual cores </a:t>
            </a:r>
            <a:endParaRPr sz="2400"/>
          </a:p>
          <a:p>
            <a:pPr indent="-182880" lvl="1" marL="384048" rtl="0" algn="l">
              <a:lnSpc>
                <a:spcPct val="90000"/>
              </a:lnSpc>
              <a:spcBef>
                <a:spcPts val="600"/>
              </a:spcBef>
              <a:spcAft>
                <a:spcPts val="0"/>
              </a:spcAft>
              <a:buSzPct val="100000"/>
              <a:buChar char="◦"/>
            </a:pPr>
            <a:r>
              <a:rPr lang="en-IN" sz="2400"/>
              <a:t>to support multiple applications </a:t>
            </a:r>
            <a:endParaRPr sz="2400"/>
          </a:p>
          <a:p>
            <a:pPr indent="-182880" lvl="1" marL="384048" rtl="0" algn="l">
              <a:lnSpc>
                <a:spcPct val="90000"/>
              </a:lnSpc>
              <a:spcBef>
                <a:spcPts val="600"/>
              </a:spcBef>
              <a:spcAft>
                <a:spcPts val="0"/>
              </a:spcAft>
              <a:buSzPct val="100000"/>
              <a:buChar char="◦"/>
            </a:pPr>
            <a:r>
              <a:rPr lang="en-IN" sz="2400"/>
              <a:t>may be a misplaced use of resources.</a:t>
            </a:r>
            <a:endParaRPr/>
          </a:p>
          <a:p>
            <a:pPr indent="-140970" lvl="0" marL="91440" rtl="0" algn="l">
              <a:lnSpc>
                <a:spcPct val="90000"/>
              </a:lnSpc>
              <a:spcBef>
                <a:spcPts val="1600"/>
              </a:spcBef>
              <a:spcAft>
                <a:spcPts val="0"/>
              </a:spcAft>
              <a:buSzPct val="100000"/>
              <a:buChar char=" "/>
            </a:pPr>
            <a:r>
              <a:rPr lang="en-IN" sz="2400"/>
              <a:t>If instead, </a:t>
            </a:r>
            <a:r>
              <a:rPr b="1" lang="en-IN" sz="2400"/>
              <a:t>we allow one or more cores to be dedicated to a particular process </a:t>
            </a:r>
            <a:r>
              <a:rPr lang="en-IN" sz="2400"/>
              <a:t>and </a:t>
            </a:r>
            <a:endParaRPr/>
          </a:p>
          <a:p>
            <a:pPr indent="-182880" lvl="1" marL="384048" rtl="0" algn="l">
              <a:lnSpc>
                <a:spcPct val="90000"/>
              </a:lnSpc>
              <a:spcBef>
                <a:spcPts val="400"/>
              </a:spcBef>
              <a:spcAft>
                <a:spcPts val="0"/>
              </a:spcAft>
              <a:buSzPct val="100000"/>
              <a:buChar char="◦"/>
            </a:pPr>
            <a:r>
              <a:rPr lang="en-IN" sz="2400"/>
              <a:t>then </a:t>
            </a:r>
            <a:r>
              <a:rPr b="1" lang="en-IN" sz="2400" u="sng"/>
              <a:t>leave the processor alone to devote its efforts to that process, </a:t>
            </a:r>
            <a:endParaRPr/>
          </a:p>
          <a:p>
            <a:pPr indent="-182880" lvl="1" marL="384048" rtl="0" algn="l">
              <a:lnSpc>
                <a:spcPct val="90000"/>
              </a:lnSpc>
              <a:spcBef>
                <a:spcPts val="600"/>
              </a:spcBef>
              <a:spcAft>
                <a:spcPts val="0"/>
              </a:spcAft>
              <a:buSzPct val="100000"/>
              <a:buChar char="◦"/>
            </a:pPr>
            <a:r>
              <a:rPr lang="en-IN" sz="2400"/>
              <a:t>we avoid much of the </a:t>
            </a:r>
            <a:r>
              <a:rPr b="1" lang="en-IN" sz="2400" u="sng"/>
              <a:t>overhead of task switching and scheduling decisions.</a:t>
            </a:r>
            <a:endParaRPr/>
          </a:p>
          <a:p>
            <a:pPr indent="-140970" lvl="0" marL="91440" rtl="0" algn="l">
              <a:lnSpc>
                <a:spcPct val="90000"/>
              </a:lnSpc>
              <a:spcBef>
                <a:spcPts val="1600"/>
              </a:spcBef>
              <a:spcAft>
                <a:spcPts val="0"/>
              </a:spcAft>
              <a:buSzPct val="100000"/>
              <a:buChar char=" "/>
            </a:pPr>
            <a:r>
              <a:rPr lang="en-IN" sz="2400"/>
              <a:t>The </a:t>
            </a:r>
            <a:r>
              <a:rPr b="1" lang="en-IN" sz="2400" u="sng"/>
              <a:t>multicore OS could then act as a hypervisor </a:t>
            </a:r>
            <a:endParaRPr/>
          </a:p>
          <a:p>
            <a:pPr indent="-182880" lvl="1" marL="384048" rtl="0" algn="l">
              <a:lnSpc>
                <a:spcPct val="90000"/>
              </a:lnSpc>
              <a:spcBef>
                <a:spcPts val="400"/>
              </a:spcBef>
              <a:spcAft>
                <a:spcPts val="0"/>
              </a:spcAft>
              <a:buSzPct val="100000"/>
              <a:buChar char="◦"/>
            </a:pPr>
            <a:r>
              <a:rPr lang="en-IN" sz="2400"/>
              <a:t>that makes a high-level decision </a:t>
            </a:r>
            <a:r>
              <a:rPr b="1" lang="en-IN" sz="2400"/>
              <a:t>to allocate cores to applications </a:t>
            </a:r>
            <a:endParaRPr/>
          </a:p>
          <a:p>
            <a:pPr indent="-182880" lvl="1" marL="384048" rtl="0" algn="l">
              <a:lnSpc>
                <a:spcPct val="90000"/>
              </a:lnSpc>
              <a:spcBef>
                <a:spcPts val="600"/>
              </a:spcBef>
              <a:spcAft>
                <a:spcPts val="0"/>
              </a:spcAft>
              <a:buSzPct val="100000"/>
              <a:buChar char="◦"/>
            </a:pPr>
            <a:r>
              <a:rPr lang="en-IN" sz="2400"/>
              <a:t>but does little in the way of resource allocation beyond that.</a:t>
            </a:r>
            <a:endParaRPr/>
          </a:p>
          <a:p>
            <a:pPr indent="-41909" lvl="1" marL="384048" rtl="0" algn="l">
              <a:lnSpc>
                <a:spcPct val="90000"/>
              </a:lnSpc>
              <a:spcBef>
                <a:spcPts val="600"/>
              </a:spcBef>
              <a:spcAft>
                <a:spcPts val="0"/>
              </a:spcAft>
              <a:buSzPct val="100000"/>
              <a:buNone/>
            </a:pPr>
            <a:r>
              <a:t/>
            </a:r>
            <a:endParaRPr b="1" sz="2400" u="sng"/>
          </a:p>
          <a:p>
            <a:pPr indent="-41909" lvl="1" marL="384048" rtl="0" algn="l">
              <a:lnSpc>
                <a:spcPct val="90000"/>
              </a:lnSpc>
              <a:spcBef>
                <a:spcPts val="600"/>
              </a:spcBef>
              <a:spcAft>
                <a:spcPts val="0"/>
              </a:spcAft>
              <a:buSzPct val="100000"/>
              <a:buNone/>
            </a:pPr>
            <a:r>
              <a:t/>
            </a:r>
            <a:endParaRPr sz="2400"/>
          </a:p>
        </p:txBody>
      </p:sp>
      <p:sp>
        <p:nvSpPr>
          <p:cNvPr id="1413" name="Google Shape;1413;p13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414" name="Google Shape;1414;p13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415" name="Google Shape;1415;p13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416" name="Google Shape;1416;p130"/>
          <p:cNvSpPr txBox="1"/>
          <p:nvPr/>
        </p:nvSpPr>
        <p:spPr>
          <a:xfrm>
            <a:off x="395536" y="188640"/>
            <a:ext cx="8229600" cy="5040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800"/>
              <a:buFont typeface="Calibri"/>
              <a:buNone/>
            </a:pPr>
            <a:r>
              <a:rPr lang="en-IN" sz="2800">
                <a:solidFill>
                  <a:schemeClr val="dk1"/>
                </a:solidFill>
                <a:latin typeface="Calibri"/>
                <a:ea typeface="Calibri"/>
                <a:cs typeface="Calibri"/>
                <a:sym typeface="Calibri"/>
              </a:rPr>
              <a:t>OS Design Considerations  for Multicore architectures</a:t>
            </a:r>
            <a:endParaRPr sz="3600">
              <a:solidFill>
                <a:schemeClr val="dk1"/>
              </a:solidFill>
              <a:latin typeface="Calibri"/>
              <a:ea typeface="Calibri"/>
              <a:cs typeface="Calibri"/>
              <a:sym typeface="Calibri"/>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1" name="Shape 1421"/>
        <p:cNvGrpSpPr/>
        <p:nvPr/>
      </p:nvGrpSpPr>
      <p:grpSpPr>
        <a:xfrm>
          <a:off x="0" y="0"/>
          <a:ext cx="0" cy="0"/>
          <a:chOff x="0" y="0"/>
          <a:chExt cx="0" cy="0"/>
        </a:xfrm>
      </p:grpSpPr>
      <p:sp>
        <p:nvSpPr>
          <p:cNvPr id="1422" name="Google Shape;1422;p131"/>
          <p:cNvSpPr txBox="1"/>
          <p:nvPr>
            <p:ph type="title"/>
          </p:nvPr>
        </p:nvSpPr>
        <p:spPr>
          <a:xfrm>
            <a:off x="0" y="116632"/>
            <a:ext cx="2386608" cy="576263"/>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System Calls</a:t>
            </a:r>
            <a:endParaRPr/>
          </a:p>
        </p:txBody>
      </p:sp>
      <p:sp>
        <p:nvSpPr>
          <p:cNvPr id="1423" name="Google Shape;1423;p131"/>
          <p:cNvSpPr txBox="1"/>
          <p:nvPr>
            <p:ph idx="1" type="body"/>
          </p:nvPr>
        </p:nvSpPr>
        <p:spPr>
          <a:xfrm>
            <a:off x="251520" y="678830"/>
            <a:ext cx="8136904" cy="5918521"/>
          </a:xfrm>
          <a:prstGeom prst="rect">
            <a:avLst/>
          </a:prstGeom>
          <a:noFill/>
          <a:ln>
            <a:noFill/>
          </a:ln>
        </p:spPr>
        <p:txBody>
          <a:bodyPr anchorCtr="0" anchor="t" bIns="45700" lIns="0" spcFirstLastPara="1" rIns="0" wrap="square" tIns="45700">
            <a:noAutofit/>
          </a:bodyPr>
          <a:lstStyle/>
          <a:p>
            <a:pPr indent="-127000" lvl="0" marL="91440" rtl="0" algn="l">
              <a:lnSpc>
                <a:spcPct val="90000"/>
              </a:lnSpc>
              <a:spcBef>
                <a:spcPts val="0"/>
              </a:spcBef>
              <a:spcAft>
                <a:spcPts val="0"/>
              </a:spcAft>
              <a:buSzPts val="2000"/>
              <a:buChar char=" "/>
            </a:pPr>
            <a:r>
              <a:rPr lang="en-IN" sz="2000"/>
              <a:t>Provide the Interface between a process and the OS</a:t>
            </a:r>
            <a:endParaRPr/>
          </a:p>
          <a:p>
            <a:pPr indent="-127000" lvl="0" marL="91440" rtl="0" algn="l">
              <a:lnSpc>
                <a:spcPct val="90000"/>
              </a:lnSpc>
              <a:spcBef>
                <a:spcPts val="1400"/>
              </a:spcBef>
              <a:spcAft>
                <a:spcPts val="0"/>
              </a:spcAft>
              <a:buSzPts val="2000"/>
              <a:buChar char=" "/>
            </a:pPr>
            <a:r>
              <a:rPr b="1" lang="en-IN" sz="2000"/>
              <a:t>Generally available as Assembly language instructions.</a:t>
            </a:r>
            <a:endParaRPr/>
          </a:p>
          <a:p>
            <a:pPr indent="-127000" lvl="0" marL="91440" rtl="0" algn="l">
              <a:lnSpc>
                <a:spcPct val="90000"/>
              </a:lnSpc>
              <a:spcBef>
                <a:spcPts val="1400"/>
              </a:spcBef>
              <a:spcAft>
                <a:spcPts val="0"/>
              </a:spcAft>
              <a:buSzPts val="2000"/>
              <a:buChar char=" "/>
            </a:pPr>
            <a:r>
              <a:rPr b="1" lang="en-IN" sz="2000"/>
              <a:t>Certain systems allow system calls to be made directly from a higher level language program,</a:t>
            </a:r>
            <a:endParaRPr/>
          </a:p>
          <a:p>
            <a:pPr indent="-182880" lvl="1" marL="384048" rtl="0" algn="l">
              <a:lnSpc>
                <a:spcPct val="90000"/>
              </a:lnSpc>
              <a:spcBef>
                <a:spcPts val="400"/>
              </a:spcBef>
              <a:spcAft>
                <a:spcPts val="0"/>
              </a:spcAft>
              <a:buSzPts val="1800"/>
              <a:buChar char="◦"/>
            </a:pPr>
            <a:r>
              <a:rPr lang="en-IN"/>
              <a:t>In this case, they resemble predefined functions or subroutine calls</a:t>
            </a:r>
            <a:endParaRPr/>
          </a:p>
          <a:p>
            <a:pPr indent="-152400" lvl="0" marL="91440" rtl="0" algn="l">
              <a:lnSpc>
                <a:spcPct val="90000"/>
              </a:lnSpc>
              <a:spcBef>
                <a:spcPts val="1600"/>
              </a:spcBef>
              <a:spcAft>
                <a:spcPts val="0"/>
              </a:spcAft>
              <a:buSzPts val="2400"/>
              <a:buChar char=" "/>
            </a:pPr>
            <a:r>
              <a:rPr lang="en-IN" sz="2400"/>
              <a:t>Languages like </a:t>
            </a:r>
            <a:r>
              <a:rPr b="1" lang="en-IN" sz="2400"/>
              <a:t>C,C++, Perl have been defined to replace Assembly language </a:t>
            </a:r>
            <a:r>
              <a:rPr lang="en-IN" sz="2400"/>
              <a:t>for system programming. </a:t>
            </a:r>
            <a:endParaRPr/>
          </a:p>
          <a:p>
            <a:pPr indent="-182880" lvl="1" marL="384048" rtl="0" algn="l">
              <a:lnSpc>
                <a:spcPct val="90000"/>
              </a:lnSpc>
              <a:spcBef>
                <a:spcPts val="400"/>
              </a:spcBef>
              <a:spcAft>
                <a:spcPts val="0"/>
              </a:spcAft>
              <a:buSzPts val="2400"/>
              <a:buChar char="◦"/>
            </a:pPr>
            <a:r>
              <a:rPr lang="en-IN" sz="2400"/>
              <a:t>They </a:t>
            </a:r>
            <a:r>
              <a:rPr b="1" lang="en-IN" sz="2400"/>
              <a:t>allow system calls to be made directly from programs.</a:t>
            </a:r>
            <a:endParaRPr/>
          </a:p>
          <a:p>
            <a:pPr indent="-30479" lvl="1" marL="384048" rtl="0" algn="l">
              <a:lnSpc>
                <a:spcPct val="90000"/>
              </a:lnSpc>
              <a:spcBef>
                <a:spcPts val="600"/>
              </a:spcBef>
              <a:spcAft>
                <a:spcPts val="0"/>
              </a:spcAft>
              <a:buSzPts val="2400"/>
              <a:buNone/>
            </a:pPr>
            <a:r>
              <a:t/>
            </a:r>
            <a:endParaRPr sz="2400"/>
          </a:p>
          <a:p>
            <a:pPr indent="-152400" lvl="0" marL="91440" rtl="0" algn="l">
              <a:lnSpc>
                <a:spcPct val="90000"/>
              </a:lnSpc>
              <a:spcBef>
                <a:spcPts val="1600"/>
              </a:spcBef>
              <a:spcAft>
                <a:spcPts val="0"/>
              </a:spcAft>
              <a:buSzPts val="2400"/>
              <a:buChar char=" "/>
            </a:pPr>
            <a:r>
              <a:rPr b="1" lang="en-IN" sz="2400"/>
              <a:t>Unix system call may be invoked directly from C or C++ program.</a:t>
            </a:r>
            <a:endParaRPr/>
          </a:p>
          <a:p>
            <a:pPr indent="-68579" lvl="1" marL="384048" rtl="0" algn="l">
              <a:lnSpc>
                <a:spcPct val="90000"/>
              </a:lnSpc>
              <a:spcBef>
                <a:spcPts val="400"/>
              </a:spcBef>
              <a:spcAft>
                <a:spcPts val="0"/>
              </a:spcAft>
              <a:buSzPts val="1800"/>
              <a:buNone/>
            </a:pPr>
            <a:r>
              <a:t/>
            </a:r>
            <a:endParaRPr/>
          </a:p>
        </p:txBody>
      </p:sp>
      <p:sp>
        <p:nvSpPr>
          <p:cNvPr id="1424" name="Google Shape;1424;p13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425" name="Google Shape;1425;p13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426" name="Google Shape;1426;p13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1" name="Shape 1431"/>
        <p:cNvGrpSpPr/>
        <p:nvPr/>
      </p:nvGrpSpPr>
      <p:grpSpPr>
        <a:xfrm>
          <a:off x="0" y="0"/>
          <a:ext cx="0" cy="0"/>
          <a:chOff x="0" y="0"/>
          <a:chExt cx="0" cy="0"/>
        </a:xfrm>
      </p:grpSpPr>
      <p:sp>
        <p:nvSpPr>
          <p:cNvPr id="1432" name="Google Shape;1432;p132"/>
          <p:cNvSpPr txBox="1"/>
          <p:nvPr>
            <p:ph type="title"/>
          </p:nvPr>
        </p:nvSpPr>
        <p:spPr>
          <a:xfrm>
            <a:off x="448980" y="2884242"/>
            <a:ext cx="8229600" cy="576262"/>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a:t>Example of System Calls</a:t>
            </a:r>
            <a:endParaRPr/>
          </a:p>
        </p:txBody>
      </p:sp>
      <p:sp>
        <p:nvSpPr>
          <p:cNvPr id="1433" name="Google Shape;1433;p132"/>
          <p:cNvSpPr txBox="1"/>
          <p:nvPr>
            <p:ph idx="1" type="body"/>
          </p:nvPr>
        </p:nvSpPr>
        <p:spPr>
          <a:xfrm>
            <a:off x="462531" y="3584098"/>
            <a:ext cx="8229600" cy="4525963"/>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lang="en-IN" sz="2400"/>
              <a:t>System call sequence to copy the contents of one file to another file</a:t>
            </a:r>
            <a:endParaRPr/>
          </a:p>
        </p:txBody>
      </p:sp>
      <p:sp>
        <p:nvSpPr>
          <p:cNvPr id="1434" name="Google Shape;1434;p13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435" name="Google Shape;1435;p13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436" name="Google Shape;1436;p13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1437" name="Google Shape;1437;p132"/>
          <p:cNvPicPr preferRelativeResize="0"/>
          <p:nvPr/>
        </p:nvPicPr>
        <p:blipFill rotWithShape="1">
          <a:blip r:embed="rId3">
            <a:alphaModFix/>
          </a:blip>
          <a:srcRect b="87923" l="0" r="0" t="0"/>
          <a:stretch/>
        </p:blipFill>
        <p:spPr>
          <a:xfrm>
            <a:off x="1259632" y="4436479"/>
            <a:ext cx="5937250" cy="485248"/>
          </a:xfrm>
          <a:prstGeom prst="rect">
            <a:avLst/>
          </a:prstGeom>
          <a:noFill/>
          <a:ln>
            <a:noFill/>
          </a:ln>
        </p:spPr>
      </p:pic>
      <p:cxnSp>
        <p:nvCxnSpPr>
          <p:cNvPr id="1438" name="Google Shape;1438;p132"/>
          <p:cNvCxnSpPr/>
          <p:nvPr/>
        </p:nvCxnSpPr>
        <p:spPr>
          <a:xfrm>
            <a:off x="7358063" y="2022475"/>
            <a:ext cx="0" cy="420688"/>
          </a:xfrm>
          <a:prstGeom prst="straightConnector1">
            <a:avLst/>
          </a:prstGeom>
          <a:noFill/>
          <a:ln cap="flat" cmpd="sng" w="9525">
            <a:solidFill>
              <a:schemeClr val="dk1"/>
            </a:solidFill>
            <a:prstDash val="solid"/>
            <a:round/>
            <a:headEnd len="med" w="med" type="none"/>
            <a:tailEnd len="med" w="med" type="none"/>
          </a:ln>
        </p:spPr>
      </p:cxnSp>
      <p:cxnSp>
        <p:nvCxnSpPr>
          <p:cNvPr id="1439" name="Google Shape;1439;p132"/>
          <p:cNvCxnSpPr/>
          <p:nvPr/>
        </p:nvCxnSpPr>
        <p:spPr>
          <a:xfrm>
            <a:off x="1503363" y="2012950"/>
            <a:ext cx="0" cy="430213"/>
          </a:xfrm>
          <a:prstGeom prst="straightConnector1">
            <a:avLst/>
          </a:prstGeom>
          <a:noFill/>
          <a:ln cap="flat" cmpd="sng" w="9525">
            <a:solidFill>
              <a:schemeClr val="dk1"/>
            </a:solidFill>
            <a:prstDash val="solid"/>
            <a:round/>
            <a:headEnd len="med" w="med" type="none"/>
            <a:tailEnd len="med" w="med" type="none"/>
          </a:ln>
        </p:spPr>
      </p:cxnSp>
      <p:sp>
        <p:nvSpPr>
          <p:cNvPr id="1440" name="Google Shape;1440;p132"/>
          <p:cNvSpPr/>
          <p:nvPr/>
        </p:nvSpPr>
        <p:spPr>
          <a:xfrm>
            <a:off x="395536" y="120640"/>
            <a:ext cx="7632848" cy="252992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1" lang="en-IN" sz="2400">
                <a:solidFill>
                  <a:schemeClr val="dk1"/>
                </a:solidFill>
                <a:latin typeface="Calibri"/>
                <a:ea typeface="Calibri"/>
                <a:cs typeface="Calibri"/>
                <a:sym typeface="Calibri"/>
              </a:rPr>
              <a:t>Mostly accessed by programs via a high-level </a:t>
            </a:r>
            <a:r>
              <a:rPr b="1" lang="en-IN" sz="2400">
                <a:solidFill>
                  <a:srgbClr val="3366FF"/>
                </a:solidFill>
                <a:latin typeface="Calibri"/>
                <a:ea typeface="Calibri"/>
                <a:cs typeface="Calibri"/>
                <a:sym typeface="Calibri"/>
              </a:rPr>
              <a:t>Application Programming Interface </a:t>
            </a:r>
            <a:r>
              <a:rPr b="1" lang="en-IN" sz="2400">
                <a:solidFill>
                  <a:srgbClr val="000000"/>
                </a:solidFill>
                <a:latin typeface="Calibri"/>
                <a:ea typeface="Calibri"/>
                <a:cs typeface="Calibri"/>
                <a:sym typeface="Calibri"/>
              </a:rPr>
              <a:t>(</a:t>
            </a:r>
            <a:r>
              <a:rPr b="1" lang="en-IN" sz="2400">
                <a:solidFill>
                  <a:srgbClr val="3366FF"/>
                </a:solidFill>
                <a:latin typeface="Calibri"/>
                <a:ea typeface="Calibri"/>
                <a:cs typeface="Calibri"/>
                <a:sym typeface="Calibri"/>
              </a:rPr>
              <a:t>API</a:t>
            </a:r>
            <a:r>
              <a:rPr b="1" lang="en-IN" sz="2400">
                <a:solidFill>
                  <a:srgbClr val="000000"/>
                </a:solidFill>
                <a:latin typeface="Calibri"/>
                <a:ea typeface="Calibri"/>
                <a:cs typeface="Calibri"/>
                <a:sym typeface="Calibri"/>
              </a:rPr>
              <a:t>)</a:t>
            </a:r>
            <a:r>
              <a:rPr b="1" lang="en-IN" sz="2400">
                <a:solidFill>
                  <a:srgbClr val="3366FF"/>
                </a:solidFill>
                <a:latin typeface="Calibri"/>
                <a:ea typeface="Calibri"/>
                <a:cs typeface="Calibri"/>
                <a:sym typeface="Calibri"/>
              </a:rPr>
              <a:t> </a:t>
            </a:r>
            <a:r>
              <a:rPr b="1" lang="en-IN" sz="2400">
                <a:solidFill>
                  <a:schemeClr val="dk1"/>
                </a:solidFill>
                <a:latin typeface="Calibri"/>
                <a:ea typeface="Calibri"/>
                <a:cs typeface="Calibri"/>
                <a:sym typeface="Calibri"/>
              </a:rPr>
              <a:t>rather than direct system call use</a:t>
            </a:r>
            <a:endParaRPr b="1" sz="600">
              <a:solidFill>
                <a:schemeClr val="dk1"/>
              </a:solidFill>
              <a:latin typeface="Calibri"/>
              <a:ea typeface="Calibri"/>
              <a:cs typeface="Calibri"/>
              <a:sym typeface="Calibri"/>
            </a:endParaRPr>
          </a:p>
          <a:p>
            <a:pPr indent="0" lvl="0" marL="0" marR="0" rtl="0" algn="l">
              <a:lnSpc>
                <a:spcPct val="90000"/>
              </a:lnSpc>
              <a:spcBef>
                <a:spcPts val="0"/>
              </a:spcBef>
              <a:spcAft>
                <a:spcPts val="0"/>
              </a:spcAft>
              <a:buNone/>
            </a:pPr>
            <a:r>
              <a:rPr lang="en-IN" sz="2400">
                <a:solidFill>
                  <a:schemeClr val="dk1"/>
                </a:solidFill>
                <a:latin typeface="Calibri"/>
                <a:ea typeface="Calibri"/>
                <a:cs typeface="Calibri"/>
                <a:sym typeface="Calibri"/>
              </a:rPr>
              <a:t>Three most common APIs are </a:t>
            </a:r>
            <a:endParaRPr/>
          </a:p>
          <a:p>
            <a:pPr indent="0" lvl="1" marL="457200" marR="0" rtl="0" algn="l">
              <a:lnSpc>
                <a:spcPct val="90000"/>
              </a:lnSpc>
              <a:spcBef>
                <a:spcPts val="0"/>
              </a:spcBef>
              <a:spcAft>
                <a:spcPts val="0"/>
              </a:spcAft>
              <a:buNone/>
            </a:pPr>
            <a:r>
              <a:rPr b="0" i="0" lang="en-IN" sz="2000" u="none" cap="none" strike="noStrike">
                <a:solidFill>
                  <a:schemeClr val="dk1"/>
                </a:solidFill>
                <a:latin typeface="Calibri"/>
                <a:ea typeface="Calibri"/>
                <a:cs typeface="Calibri"/>
                <a:sym typeface="Calibri"/>
              </a:rPr>
              <a:t>Win32 API for Windows, </a:t>
            </a:r>
            <a:endParaRPr/>
          </a:p>
          <a:p>
            <a:pPr indent="0" lvl="1" marL="457200" marR="0" rtl="0" algn="l">
              <a:lnSpc>
                <a:spcPct val="90000"/>
              </a:lnSpc>
              <a:spcBef>
                <a:spcPts val="0"/>
              </a:spcBef>
              <a:spcAft>
                <a:spcPts val="0"/>
              </a:spcAft>
              <a:buNone/>
            </a:pPr>
            <a:r>
              <a:rPr b="0" i="0" lang="en-IN" sz="2000" u="none" cap="none" strike="noStrike">
                <a:solidFill>
                  <a:schemeClr val="dk1"/>
                </a:solidFill>
                <a:latin typeface="Calibri"/>
                <a:ea typeface="Calibri"/>
                <a:cs typeface="Calibri"/>
                <a:sym typeface="Calibri"/>
              </a:rPr>
              <a:t>POSIX API for POSIX-based systems (including virtually all versions of UNIX, Linux, and Mac OS X), and </a:t>
            </a:r>
            <a:endParaRPr/>
          </a:p>
          <a:p>
            <a:pPr indent="0" lvl="1" marL="457200" marR="0" rtl="0" algn="l">
              <a:lnSpc>
                <a:spcPct val="90000"/>
              </a:lnSpc>
              <a:spcBef>
                <a:spcPts val="0"/>
              </a:spcBef>
              <a:spcAft>
                <a:spcPts val="0"/>
              </a:spcAft>
              <a:buNone/>
            </a:pPr>
            <a:r>
              <a:rPr b="0" i="0" lang="en-IN" sz="2000" u="none" cap="none" strike="noStrike">
                <a:solidFill>
                  <a:schemeClr val="dk1"/>
                </a:solidFill>
                <a:latin typeface="Calibri"/>
                <a:ea typeface="Calibri"/>
                <a:cs typeface="Calibri"/>
                <a:sym typeface="Calibri"/>
              </a:rPr>
              <a:t>Java API for the Java virtual machine (JVM)</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Google Shape;1446;p133"/>
          <p:cNvSpPr txBox="1"/>
          <p:nvPr>
            <p:ph type="title"/>
          </p:nvPr>
        </p:nvSpPr>
        <p:spPr>
          <a:xfrm>
            <a:off x="107504" y="72724"/>
            <a:ext cx="4680520"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Example of System Calls</a:t>
            </a:r>
            <a:endParaRPr/>
          </a:p>
        </p:txBody>
      </p:sp>
      <p:sp>
        <p:nvSpPr>
          <p:cNvPr id="1447" name="Google Shape;1447;p133"/>
          <p:cNvSpPr txBox="1"/>
          <p:nvPr>
            <p:ph idx="1" type="body"/>
          </p:nvPr>
        </p:nvSpPr>
        <p:spPr>
          <a:xfrm>
            <a:off x="107503" y="737624"/>
            <a:ext cx="8216213" cy="5931736"/>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lang="en-IN" sz="2400"/>
              <a:t>System call sequence to copy the contents of one file to another file</a:t>
            </a:r>
            <a:endParaRPr/>
          </a:p>
        </p:txBody>
      </p:sp>
      <p:sp>
        <p:nvSpPr>
          <p:cNvPr id="1448" name="Google Shape;1448;p13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449" name="Google Shape;1449;p13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450" name="Google Shape;1450;p13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1451" name="Google Shape;1451;p133"/>
          <p:cNvPicPr preferRelativeResize="0"/>
          <p:nvPr/>
        </p:nvPicPr>
        <p:blipFill rotWithShape="1">
          <a:blip r:embed="rId3">
            <a:alphaModFix/>
          </a:blip>
          <a:srcRect b="0" l="0" r="0" t="0"/>
          <a:stretch/>
        </p:blipFill>
        <p:spPr>
          <a:xfrm>
            <a:off x="2317537" y="1421726"/>
            <a:ext cx="5937250" cy="4017963"/>
          </a:xfrm>
          <a:prstGeom prst="rect">
            <a:avLst/>
          </a:prstGeom>
          <a:noFill/>
          <a:ln>
            <a:noFill/>
          </a:ln>
        </p:spPr>
      </p:pic>
      <p:cxnSp>
        <p:nvCxnSpPr>
          <p:cNvPr id="1452" name="Google Shape;1452;p133"/>
          <p:cNvCxnSpPr/>
          <p:nvPr/>
        </p:nvCxnSpPr>
        <p:spPr>
          <a:xfrm>
            <a:off x="7358063" y="2022475"/>
            <a:ext cx="0" cy="420688"/>
          </a:xfrm>
          <a:prstGeom prst="straightConnector1">
            <a:avLst/>
          </a:prstGeom>
          <a:noFill/>
          <a:ln cap="flat" cmpd="sng" w="9525">
            <a:solidFill>
              <a:schemeClr val="dk1"/>
            </a:solidFill>
            <a:prstDash val="solid"/>
            <a:round/>
            <a:headEnd len="med" w="med" type="none"/>
            <a:tailEnd len="med" w="med" type="none"/>
          </a:ln>
        </p:spPr>
      </p:cxnSp>
      <p:cxnSp>
        <p:nvCxnSpPr>
          <p:cNvPr id="1453" name="Google Shape;1453;p133"/>
          <p:cNvCxnSpPr/>
          <p:nvPr/>
        </p:nvCxnSpPr>
        <p:spPr>
          <a:xfrm>
            <a:off x="1503363" y="2012950"/>
            <a:ext cx="0" cy="430213"/>
          </a:xfrm>
          <a:prstGeom prst="straightConnector1">
            <a:avLst/>
          </a:prstGeom>
          <a:noFill/>
          <a:ln cap="flat" cmpd="sng" w="9525">
            <a:solidFill>
              <a:schemeClr val="dk1"/>
            </a:solidFill>
            <a:prstDash val="solid"/>
            <a:round/>
            <a:headEnd len="med" w="med" type="none"/>
            <a:tailEnd len="med" w="med" type="none"/>
          </a:ln>
        </p:spPr>
      </p:cxnSp>
      <p:sp>
        <p:nvSpPr>
          <p:cNvPr id="1454" name="Google Shape;1454;p133"/>
          <p:cNvSpPr txBox="1"/>
          <p:nvPr/>
        </p:nvSpPr>
        <p:spPr>
          <a:xfrm>
            <a:off x="99207" y="2228056"/>
            <a:ext cx="2808312" cy="224676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Even simple programs may make heavy use of the operating system.</a:t>
            </a:r>
            <a:endParaRPr/>
          </a:p>
          <a:p>
            <a:pPr indent="-158750" lvl="0" marL="285750" marR="0" rtl="0" algn="l">
              <a:spcBef>
                <a:spcPts val="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000"/>
              <a:buFont typeface="Arial"/>
              <a:buChar char="•"/>
            </a:pPr>
            <a:r>
              <a:rPr b="1" lang="en-IN" sz="2000">
                <a:solidFill>
                  <a:schemeClr val="dk1"/>
                </a:solidFill>
                <a:latin typeface="Calibri"/>
                <a:ea typeface="Calibri"/>
                <a:cs typeface="Calibri"/>
                <a:sym typeface="Calibri"/>
              </a:rPr>
              <a:t>Most users never see this level of detail.</a:t>
            </a:r>
            <a:endParaRPr b="1" sz="2000">
              <a:solidFill>
                <a:schemeClr val="dk1"/>
              </a:solidFill>
              <a:latin typeface="Calibri"/>
              <a:ea typeface="Calibri"/>
              <a:cs typeface="Calibri"/>
              <a:sym typeface="Calibri"/>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9" name="Shape 1459"/>
        <p:cNvGrpSpPr/>
        <p:nvPr/>
      </p:nvGrpSpPr>
      <p:grpSpPr>
        <a:xfrm>
          <a:off x="0" y="0"/>
          <a:ext cx="0" cy="0"/>
          <a:chOff x="0" y="0"/>
          <a:chExt cx="0" cy="0"/>
        </a:xfrm>
      </p:grpSpPr>
      <p:sp>
        <p:nvSpPr>
          <p:cNvPr id="1460" name="Google Shape;1460;p134"/>
          <p:cNvSpPr txBox="1"/>
          <p:nvPr>
            <p:ph type="title"/>
          </p:nvPr>
        </p:nvSpPr>
        <p:spPr>
          <a:xfrm>
            <a:off x="13455" y="33338"/>
            <a:ext cx="4891013"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System Call Implementation</a:t>
            </a:r>
            <a:endParaRPr/>
          </a:p>
        </p:txBody>
      </p:sp>
      <p:sp>
        <p:nvSpPr>
          <p:cNvPr id="1461" name="Google Shape;1461;p134"/>
          <p:cNvSpPr txBox="1"/>
          <p:nvPr>
            <p:ph idx="1" type="body"/>
          </p:nvPr>
        </p:nvSpPr>
        <p:spPr>
          <a:xfrm>
            <a:off x="14334" y="598038"/>
            <a:ext cx="7250113" cy="5567266"/>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lang="en-IN" sz="2400"/>
              <a:t>Typically, </a:t>
            </a:r>
            <a:r>
              <a:rPr b="1" lang="en-IN" sz="2400"/>
              <a:t>a number is associated with each system call</a:t>
            </a:r>
            <a:endParaRPr/>
          </a:p>
          <a:p>
            <a:pPr indent="-182880" lvl="1" marL="384048" rtl="0" algn="l">
              <a:lnSpc>
                <a:spcPct val="90000"/>
              </a:lnSpc>
              <a:spcBef>
                <a:spcPts val="400"/>
              </a:spcBef>
              <a:spcAft>
                <a:spcPts val="0"/>
              </a:spcAft>
              <a:buSzPts val="2400"/>
              <a:buChar char="◦"/>
            </a:pPr>
            <a:r>
              <a:rPr b="1" lang="en-IN" sz="2400">
                <a:solidFill>
                  <a:srgbClr val="3366FF"/>
                </a:solidFill>
              </a:rPr>
              <a:t>System-call interface </a:t>
            </a:r>
            <a:r>
              <a:rPr b="1" lang="en-IN" sz="2400"/>
              <a:t>maintains a table indexed according to these numbers</a:t>
            </a:r>
            <a:endParaRPr/>
          </a:p>
          <a:p>
            <a:pPr indent="-152400" lvl="0" marL="91440" rtl="0" algn="l">
              <a:lnSpc>
                <a:spcPct val="90000"/>
              </a:lnSpc>
              <a:spcBef>
                <a:spcPts val="1600"/>
              </a:spcBef>
              <a:spcAft>
                <a:spcPts val="0"/>
              </a:spcAft>
              <a:buSzPts val="2400"/>
              <a:buChar char=" "/>
            </a:pPr>
            <a:r>
              <a:rPr lang="en-IN" sz="2400"/>
              <a:t>The system call interface </a:t>
            </a:r>
            <a:endParaRPr/>
          </a:p>
          <a:p>
            <a:pPr indent="-182880" lvl="1" marL="384048" rtl="0" algn="l">
              <a:lnSpc>
                <a:spcPct val="90000"/>
              </a:lnSpc>
              <a:spcBef>
                <a:spcPts val="400"/>
              </a:spcBef>
              <a:spcAft>
                <a:spcPts val="0"/>
              </a:spcAft>
              <a:buSzPts val="2400"/>
              <a:buChar char="◦"/>
            </a:pPr>
            <a:r>
              <a:rPr b="1" lang="en-IN" sz="2400"/>
              <a:t>invokes  the intended system call in OS kernel and </a:t>
            </a:r>
            <a:endParaRPr/>
          </a:p>
          <a:p>
            <a:pPr indent="-182880" lvl="1" marL="384048" rtl="0" algn="l">
              <a:lnSpc>
                <a:spcPct val="90000"/>
              </a:lnSpc>
              <a:spcBef>
                <a:spcPts val="600"/>
              </a:spcBef>
              <a:spcAft>
                <a:spcPts val="0"/>
              </a:spcAft>
              <a:buSzPts val="2400"/>
              <a:buChar char="◦"/>
            </a:pPr>
            <a:r>
              <a:rPr b="1" lang="en-IN" sz="2400"/>
              <a:t>returns status of the system call and any return values</a:t>
            </a:r>
            <a:endParaRPr/>
          </a:p>
          <a:p>
            <a:pPr indent="-152400" lvl="0" marL="91440" rtl="0" algn="l">
              <a:lnSpc>
                <a:spcPct val="90000"/>
              </a:lnSpc>
              <a:spcBef>
                <a:spcPts val="1600"/>
              </a:spcBef>
              <a:spcAft>
                <a:spcPts val="0"/>
              </a:spcAft>
              <a:buSzPts val="2400"/>
              <a:buChar char=" "/>
            </a:pPr>
            <a:r>
              <a:rPr b="1" lang="en-IN" sz="2400"/>
              <a:t>The caller need know nothing about how the system call is implemented</a:t>
            </a:r>
            <a:endParaRPr/>
          </a:p>
          <a:p>
            <a:pPr indent="-182880" lvl="1" marL="384048" rtl="0" algn="l">
              <a:lnSpc>
                <a:spcPct val="90000"/>
              </a:lnSpc>
              <a:spcBef>
                <a:spcPts val="400"/>
              </a:spcBef>
              <a:spcAft>
                <a:spcPts val="0"/>
              </a:spcAft>
              <a:buSzPts val="2400"/>
              <a:buChar char="◦"/>
            </a:pPr>
            <a:r>
              <a:rPr lang="en-IN" sz="2400"/>
              <a:t>Just needs to obey API and </a:t>
            </a:r>
            <a:r>
              <a:rPr b="1" lang="en-IN" sz="2400"/>
              <a:t>understand what OS will do as a result of call</a:t>
            </a:r>
            <a:endParaRPr/>
          </a:p>
          <a:p>
            <a:pPr indent="-182880" lvl="1" marL="384048" rtl="0" algn="l">
              <a:lnSpc>
                <a:spcPct val="90000"/>
              </a:lnSpc>
              <a:spcBef>
                <a:spcPts val="600"/>
              </a:spcBef>
              <a:spcAft>
                <a:spcPts val="0"/>
              </a:spcAft>
              <a:buSzPts val="2400"/>
              <a:buChar char="◦"/>
            </a:pPr>
            <a:r>
              <a:rPr b="1" lang="en-IN" sz="2400"/>
              <a:t>Most details of  OS interface hidden from programmer by API  </a:t>
            </a:r>
            <a:endParaRPr/>
          </a:p>
          <a:p>
            <a:pPr indent="-182880" lvl="2" marL="566928" rtl="0" algn="l">
              <a:lnSpc>
                <a:spcPct val="90000"/>
              </a:lnSpc>
              <a:spcBef>
                <a:spcPts val="600"/>
              </a:spcBef>
              <a:spcAft>
                <a:spcPts val="0"/>
              </a:spcAft>
              <a:buSzPts val="2200"/>
              <a:buChar char="◦"/>
            </a:pPr>
            <a:r>
              <a:rPr lang="en-IN" sz="2200"/>
              <a:t>Managed by run-time support library (set of functions built into libraries included with compiler)</a:t>
            </a:r>
            <a:endParaRPr/>
          </a:p>
          <a:p>
            <a:pPr indent="0" lvl="1" marL="384048" rtl="0" algn="l">
              <a:lnSpc>
                <a:spcPct val="90000"/>
              </a:lnSpc>
              <a:spcBef>
                <a:spcPts val="600"/>
              </a:spcBef>
              <a:spcAft>
                <a:spcPts val="0"/>
              </a:spcAft>
              <a:buSzPts val="3000"/>
              <a:buNone/>
            </a:pPr>
            <a:r>
              <a:t/>
            </a:r>
            <a:endParaRPr b="1" sz="3000"/>
          </a:p>
        </p:txBody>
      </p:sp>
      <p:sp>
        <p:nvSpPr>
          <p:cNvPr id="1462" name="Google Shape;1462;p13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463" name="Google Shape;1463;p13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464" name="Google Shape;1464;p13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9" name="Shape 1469"/>
        <p:cNvGrpSpPr/>
        <p:nvPr/>
      </p:nvGrpSpPr>
      <p:grpSpPr>
        <a:xfrm>
          <a:off x="0" y="0"/>
          <a:ext cx="0" cy="0"/>
          <a:chOff x="0" y="0"/>
          <a:chExt cx="0" cy="0"/>
        </a:xfrm>
      </p:grpSpPr>
      <p:sp>
        <p:nvSpPr>
          <p:cNvPr id="1470" name="Google Shape;1470;p135"/>
          <p:cNvSpPr txBox="1"/>
          <p:nvPr>
            <p:ph type="title"/>
          </p:nvPr>
        </p:nvSpPr>
        <p:spPr>
          <a:xfrm>
            <a:off x="920750" y="182563"/>
            <a:ext cx="8229600" cy="576262"/>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a:t>API – System Call – OS Relationship</a:t>
            </a:r>
            <a:endParaRPr/>
          </a:p>
        </p:txBody>
      </p:sp>
      <p:sp>
        <p:nvSpPr>
          <p:cNvPr id="1471" name="Google Shape;1471;p13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472" name="Google Shape;1472;p13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473" name="Google Shape;1473;p13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descr="2" id="1474" name="Google Shape;1474;p135"/>
          <p:cNvPicPr preferRelativeResize="0"/>
          <p:nvPr/>
        </p:nvPicPr>
        <p:blipFill rotWithShape="1">
          <a:blip r:embed="rId3">
            <a:alphaModFix/>
          </a:blip>
          <a:srcRect b="0" l="0" r="0" t="0"/>
          <a:stretch/>
        </p:blipFill>
        <p:spPr>
          <a:xfrm>
            <a:off x="968375" y="1425575"/>
            <a:ext cx="7153275" cy="4381500"/>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9" name="Shape 1479"/>
        <p:cNvGrpSpPr/>
        <p:nvPr/>
      </p:nvGrpSpPr>
      <p:grpSpPr>
        <a:xfrm>
          <a:off x="0" y="0"/>
          <a:ext cx="0" cy="0"/>
          <a:chOff x="0" y="0"/>
          <a:chExt cx="0" cy="0"/>
        </a:xfrm>
      </p:grpSpPr>
      <p:sp>
        <p:nvSpPr>
          <p:cNvPr id="1480" name="Google Shape;1480;p136"/>
          <p:cNvSpPr txBox="1"/>
          <p:nvPr>
            <p:ph type="title"/>
          </p:nvPr>
        </p:nvSpPr>
        <p:spPr>
          <a:xfrm>
            <a:off x="32590" y="36921"/>
            <a:ext cx="5605561"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System Call Parameter Passing</a:t>
            </a:r>
            <a:endParaRPr/>
          </a:p>
        </p:txBody>
      </p:sp>
      <p:sp>
        <p:nvSpPr>
          <p:cNvPr id="1481" name="Google Shape;1481;p136"/>
          <p:cNvSpPr txBox="1"/>
          <p:nvPr>
            <p:ph idx="1" type="body"/>
          </p:nvPr>
        </p:nvSpPr>
        <p:spPr>
          <a:xfrm>
            <a:off x="0" y="597226"/>
            <a:ext cx="8388424" cy="6260774"/>
          </a:xfrm>
          <a:prstGeom prst="rect">
            <a:avLst/>
          </a:prstGeom>
          <a:noFill/>
          <a:ln>
            <a:noFill/>
          </a:ln>
        </p:spPr>
        <p:txBody>
          <a:bodyPr anchorCtr="0" anchor="t" bIns="45700" lIns="0" spcFirstLastPara="1" rIns="0" wrap="square" tIns="45700">
            <a:normAutofit fontScale="92500" lnSpcReduction="20000"/>
          </a:bodyPr>
          <a:lstStyle/>
          <a:p>
            <a:pPr indent="-117475" lvl="0" marL="91440" rtl="0" algn="l">
              <a:lnSpc>
                <a:spcPct val="90000"/>
              </a:lnSpc>
              <a:spcBef>
                <a:spcPts val="0"/>
              </a:spcBef>
              <a:spcAft>
                <a:spcPts val="0"/>
              </a:spcAft>
              <a:buSzPct val="100000"/>
              <a:buChar char=" "/>
            </a:pPr>
            <a:r>
              <a:rPr lang="en-IN" sz="2000"/>
              <a:t>System Calls occur in different ways</a:t>
            </a:r>
            <a:endParaRPr/>
          </a:p>
          <a:p>
            <a:pPr indent="-117475" lvl="0" marL="91440" rtl="0" algn="l">
              <a:lnSpc>
                <a:spcPct val="90000"/>
              </a:lnSpc>
              <a:spcBef>
                <a:spcPts val="1400"/>
              </a:spcBef>
              <a:spcAft>
                <a:spcPts val="0"/>
              </a:spcAft>
              <a:buSzPct val="100000"/>
              <a:buChar char=" "/>
            </a:pPr>
            <a:r>
              <a:rPr lang="en-IN" sz="2000"/>
              <a:t>Often, more information is required than simply identity of desired system call</a:t>
            </a:r>
            <a:endParaRPr/>
          </a:p>
          <a:p>
            <a:pPr indent="-182879" lvl="1" marL="384048" rtl="0" algn="l">
              <a:lnSpc>
                <a:spcPct val="90000"/>
              </a:lnSpc>
              <a:spcBef>
                <a:spcPts val="400"/>
              </a:spcBef>
              <a:spcAft>
                <a:spcPts val="0"/>
              </a:spcAft>
              <a:buSzPct val="100000"/>
              <a:buChar char="◦"/>
            </a:pPr>
            <a:r>
              <a:rPr b="1" lang="en-IN"/>
              <a:t>Exact type and amount of information vary according to OS and call</a:t>
            </a:r>
            <a:endParaRPr/>
          </a:p>
          <a:p>
            <a:pPr indent="-182879" lvl="1" marL="384048" rtl="0" algn="l">
              <a:lnSpc>
                <a:spcPct val="90000"/>
              </a:lnSpc>
              <a:spcBef>
                <a:spcPts val="600"/>
              </a:spcBef>
              <a:spcAft>
                <a:spcPts val="0"/>
              </a:spcAft>
              <a:buSzPct val="100000"/>
              <a:buChar char="◦"/>
            </a:pPr>
            <a:r>
              <a:rPr lang="en-IN"/>
              <a:t>Eg- To get input, </a:t>
            </a:r>
            <a:endParaRPr/>
          </a:p>
          <a:p>
            <a:pPr indent="-182880" lvl="2" marL="566928" rtl="0" algn="l">
              <a:lnSpc>
                <a:spcPct val="90000"/>
              </a:lnSpc>
              <a:spcBef>
                <a:spcPts val="600"/>
              </a:spcBef>
              <a:spcAft>
                <a:spcPts val="0"/>
              </a:spcAft>
              <a:buSzPct val="100000"/>
              <a:buChar char="◦"/>
            </a:pPr>
            <a:r>
              <a:rPr b="1" lang="en-IN" sz="2000"/>
              <a:t>we need to specify file or device to use as the source and</a:t>
            </a:r>
            <a:endParaRPr/>
          </a:p>
          <a:p>
            <a:pPr indent="-182880" lvl="2" marL="566928" rtl="0" algn="l">
              <a:lnSpc>
                <a:spcPct val="90000"/>
              </a:lnSpc>
              <a:spcBef>
                <a:spcPts val="600"/>
              </a:spcBef>
              <a:spcAft>
                <a:spcPts val="0"/>
              </a:spcAft>
              <a:buSzPct val="100000"/>
              <a:buChar char="◦"/>
            </a:pPr>
            <a:r>
              <a:rPr lang="en-IN" sz="2000"/>
              <a:t> the address and </a:t>
            </a:r>
            <a:r>
              <a:rPr b="1" lang="en-IN" sz="2000"/>
              <a:t>length of the memory buffer </a:t>
            </a:r>
            <a:r>
              <a:rPr lang="en-IN" sz="2000"/>
              <a:t>into which the input should be read.</a:t>
            </a:r>
            <a:endParaRPr/>
          </a:p>
          <a:p>
            <a:pPr indent="-152717" lvl="0" marL="91440" rtl="0" algn="l">
              <a:lnSpc>
                <a:spcPct val="90000"/>
              </a:lnSpc>
              <a:spcBef>
                <a:spcPts val="1600"/>
              </a:spcBef>
              <a:spcAft>
                <a:spcPts val="0"/>
              </a:spcAft>
              <a:buSzPct val="100000"/>
              <a:buChar char=" "/>
            </a:pPr>
            <a:r>
              <a:rPr lang="en-IN" sz="2600"/>
              <a:t>Three general methods used to pass parameters to the OS</a:t>
            </a:r>
            <a:endParaRPr/>
          </a:p>
          <a:p>
            <a:pPr indent="-182880" lvl="1" marL="384048" rtl="0" algn="l">
              <a:lnSpc>
                <a:spcPct val="90000"/>
              </a:lnSpc>
              <a:spcBef>
                <a:spcPts val="400"/>
              </a:spcBef>
              <a:spcAft>
                <a:spcPts val="0"/>
              </a:spcAft>
              <a:buSzPct val="100000"/>
              <a:buChar char="◦"/>
            </a:pPr>
            <a:r>
              <a:rPr lang="en-IN" sz="2600"/>
              <a:t>Simplest:  </a:t>
            </a:r>
            <a:r>
              <a:rPr b="1" lang="en-IN" sz="2600"/>
              <a:t>pass the parameters in registers</a:t>
            </a:r>
            <a:endParaRPr/>
          </a:p>
          <a:p>
            <a:pPr indent="-182880" lvl="2" marL="566928" rtl="0" algn="l">
              <a:lnSpc>
                <a:spcPct val="90000"/>
              </a:lnSpc>
              <a:spcBef>
                <a:spcPts val="600"/>
              </a:spcBef>
              <a:spcAft>
                <a:spcPts val="0"/>
              </a:spcAft>
              <a:buSzPct val="100000"/>
              <a:buChar char="◦"/>
            </a:pPr>
            <a:r>
              <a:rPr lang="en-IN" sz="2600"/>
              <a:t> In some cases, may be more parameters than registers</a:t>
            </a:r>
            <a:endParaRPr/>
          </a:p>
          <a:p>
            <a:pPr indent="-30162" lvl="1" marL="384048" rtl="0" algn="l">
              <a:lnSpc>
                <a:spcPct val="90000"/>
              </a:lnSpc>
              <a:spcBef>
                <a:spcPts val="600"/>
              </a:spcBef>
              <a:spcAft>
                <a:spcPts val="0"/>
              </a:spcAft>
              <a:buSzPct val="100000"/>
              <a:buNone/>
            </a:pPr>
            <a:r>
              <a:t/>
            </a:r>
            <a:endParaRPr sz="2600"/>
          </a:p>
          <a:p>
            <a:pPr indent="-182880" lvl="1" marL="384048" rtl="0" algn="l">
              <a:lnSpc>
                <a:spcPct val="90000"/>
              </a:lnSpc>
              <a:spcBef>
                <a:spcPts val="600"/>
              </a:spcBef>
              <a:spcAft>
                <a:spcPts val="0"/>
              </a:spcAft>
              <a:buSzPct val="100000"/>
              <a:buChar char="◦"/>
            </a:pPr>
            <a:r>
              <a:rPr b="1" lang="en-IN" sz="2600"/>
              <a:t>Parameters stored in a block</a:t>
            </a:r>
            <a:r>
              <a:rPr b="1" i="1" lang="en-IN" sz="2600"/>
              <a:t>, </a:t>
            </a:r>
            <a:r>
              <a:rPr b="1" lang="en-IN" sz="2600"/>
              <a:t>or table, in memory</a:t>
            </a:r>
            <a:r>
              <a:rPr lang="en-IN" sz="2600"/>
              <a:t>, and </a:t>
            </a:r>
            <a:r>
              <a:rPr b="1" lang="en-IN" sz="2600"/>
              <a:t>address of block passed as a parameter in a register </a:t>
            </a:r>
            <a:endParaRPr/>
          </a:p>
          <a:p>
            <a:pPr indent="-182880" lvl="2" marL="566928" rtl="0" algn="l">
              <a:lnSpc>
                <a:spcPct val="90000"/>
              </a:lnSpc>
              <a:spcBef>
                <a:spcPts val="600"/>
              </a:spcBef>
              <a:spcAft>
                <a:spcPts val="0"/>
              </a:spcAft>
              <a:buSzPct val="100000"/>
              <a:buChar char="◦"/>
            </a:pPr>
            <a:r>
              <a:rPr lang="en-IN" sz="2600"/>
              <a:t>This approach taken by Linux and Solaris</a:t>
            </a:r>
            <a:endParaRPr/>
          </a:p>
          <a:p>
            <a:pPr indent="-30162" lvl="1" marL="384048" rtl="0" algn="l">
              <a:lnSpc>
                <a:spcPct val="90000"/>
              </a:lnSpc>
              <a:spcBef>
                <a:spcPts val="600"/>
              </a:spcBef>
              <a:spcAft>
                <a:spcPts val="0"/>
              </a:spcAft>
              <a:buSzPct val="100000"/>
              <a:buNone/>
            </a:pPr>
            <a:r>
              <a:t/>
            </a:r>
            <a:endParaRPr sz="2600"/>
          </a:p>
          <a:p>
            <a:pPr indent="-182880" lvl="1" marL="384048" rtl="0" algn="l">
              <a:lnSpc>
                <a:spcPct val="90000"/>
              </a:lnSpc>
              <a:spcBef>
                <a:spcPts val="600"/>
              </a:spcBef>
              <a:spcAft>
                <a:spcPts val="0"/>
              </a:spcAft>
              <a:buSzPct val="100000"/>
              <a:buChar char="◦"/>
            </a:pPr>
            <a:r>
              <a:rPr b="1" lang="en-IN" sz="2600"/>
              <a:t>Parameters placed, or </a:t>
            </a:r>
            <a:r>
              <a:rPr b="1" lang="en-IN" sz="2600">
                <a:solidFill>
                  <a:srgbClr val="3366FF"/>
                </a:solidFill>
              </a:rPr>
              <a:t>pushed</a:t>
            </a:r>
            <a:r>
              <a:rPr b="1" i="1" lang="en-IN" sz="2600"/>
              <a:t>, </a:t>
            </a:r>
            <a:r>
              <a:rPr b="1" lang="en-IN" sz="2600"/>
              <a:t>onto the </a:t>
            </a:r>
            <a:r>
              <a:rPr b="1" lang="en-IN" sz="2600">
                <a:solidFill>
                  <a:srgbClr val="3366FF"/>
                </a:solidFill>
              </a:rPr>
              <a:t>stack</a:t>
            </a:r>
            <a:r>
              <a:rPr b="1" i="1" lang="en-IN" sz="2600"/>
              <a:t> </a:t>
            </a:r>
            <a:r>
              <a:rPr b="1" lang="en-IN" sz="2600"/>
              <a:t>by the program and </a:t>
            </a:r>
            <a:r>
              <a:rPr b="1" lang="en-IN" sz="2600">
                <a:solidFill>
                  <a:srgbClr val="3366FF"/>
                </a:solidFill>
              </a:rPr>
              <a:t>popped</a:t>
            </a:r>
            <a:r>
              <a:rPr b="1" i="1" lang="en-IN" sz="2600"/>
              <a:t> </a:t>
            </a:r>
            <a:r>
              <a:rPr b="1" lang="en-IN" sz="2600"/>
              <a:t>off the stack by the operating system</a:t>
            </a:r>
            <a:endParaRPr/>
          </a:p>
          <a:p>
            <a:pPr indent="-30162" lvl="1" marL="384048" rtl="0" algn="l">
              <a:lnSpc>
                <a:spcPct val="90000"/>
              </a:lnSpc>
              <a:spcBef>
                <a:spcPts val="600"/>
              </a:spcBef>
              <a:spcAft>
                <a:spcPts val="0"/>
              </a:spcAft>
              <a:buSzPct val="100000"/>
              <a:buNone/>
            </a:pPr>
            <a:r>
              <a:t/>
            </a:r>
            <a:endParaRPr sz="2600"/>
          </a:p>
          <a:p>
            <a:pPr indent="-182880" lvl="1" marL="384048" rtl="0" algn="l">
              <a:lnSpc>
                <a:spcPct val="90000"/>
              </a:lnSpc>
              <a:spcBef>
                <a:spcPts val="600"/>
              </a:spcBef>
              <a:spcAft>
                <a:spcPts val="0"/>
              </a:spcAft>
              <a:buSzPct val="100000"/>
              <a:buChar char="◦"/>
            </a:pPr>
            <a:r>
              <a:rPr lang="en-IN" sz="2600"/>
              <a:t>Block and stack methods do not limit the number or length of parameters being passed</a:t>
            </a:r>
            <a:endParaRPr/>
          </a:p>
          <a:p>
            <a:pPr indent="-77152" lvl="1" marL="384048" rtl="0" algn="l">
              <a:lnSpc>
                <a:spcPct val="90000"/>
              </a:lnSpc>
              <a:spcBef>
                <a:spcPts val="600"/>
              </a:spcBef>
              <a:spcAft>
                <a:spcPts val="0"/>
              </a:spcAft>
              <a:buSzPct val="100000"/>
              <a:buNone/>
            </a:pPr>
            <a:r>
              <a:t/>
            </a:r>
            <a:endParaRPr/>
          </a:p>
          <a:p>
            <a:pPr indent="-65405" lvl="2" marL="566928" rtl="0" algn="l">
              <a:lnSpc>
                <a:spcPct val="90000"/>
              </a:lnSpc>
              <a:spcBef>
                <a:spcPts val="600"/>
              </a:spcBef>
              <a:spcAft>
                <a:spcPts val="0"/>
              </a:spcAft>
              <a:buSzPct val="100000"/>
              <a:buNone/>
            </a:pPr>
            <a:r>
              <a:t/>
            </a:r>
            <a:endParaRPr sz="2000"/>
          </a:p>
        </p:txBody>
      </p:sp>
      <p:sp>
        <p:nvSpPr>
          <p:cNvPr id="1482" name="Google Shape;1482;p13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483" name="Google Shape;1483;p13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484" name="Google Shape;1484;p13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p137"/>
          <p:cNvSpPr txBox="1"/>
          <p:nvPr>
            <p:ph type="title"/>
          </p:nvPr>
        </p:nvSpPr>
        <p:spPr>
          <a:xfrm>
            <a:off x="457200" y="198438"/>
            <a:ext cx="8229600" cy="576262"/>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a:t>Parameter Passing via Table</a:t>
            </a:r>
            <a:endParaRPr/>
          </a:p>
        </p:txBody>
      </p:sp>
      <p:sp>
        <p:nvSpPr>
          <p:cNvPr id="1491" name="Google Shape;1491;p13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492" name="Google Shape;1492;p13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493" name="Google Shape;1493;p13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descr="2" id="1494" name="Google Shape;1494;p137"/>
          <p:cNvPicPr preferRelativeResize="0"/>
          <p:nvPr/>
        </p:nvPicPr>
        <p:blipFill rotWithShape="1">
          <a:blip r:embed="rId3">
            <a:alphaModFix/>
          </a:blip>
          <a:srcRect b="0" l="0" r="0" t="0"/>
          <a:stretch/>
        </p:blipFill>
        <p:spPr>
          <a:xfrm>
            <a:off x="1684338" y="1865313"/>
            <a:ext cx="6573837" cy="3451225"/>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9" name="Shape 1499"/>
        <p:cNvGrpSpPr/>
        <p:nvPr/>
      </p:nvGrpSpPr>
      <p:grpSpPr>
        <a:xfrm>
          <a:off x="0" y="0"/>
          <a:ext cx="0" cy="0"/>
          <a:chOff x="0" y="0"/>
          <a:chExt cx="0" cy="0"/>
        </a:xfrm>
      </p:grpSpPr>
      <p:sp>
        <p:nvSpPr>
          <p:cNvPr id="1500" name="Google Shape;1500;p138"/>
          <p:cNvSpPr txBox="1"/>
          <p:nvPr>
            <p:ph type="title"/>
          </p:nvPr>
        </p:nvSpPr>
        <p:spPr>
          <a:xfrm>
            <a:off x="179512" y="0"/>
            <a:ext cx="3738885"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Types of System Calls</a:t>
            </a:r>
            <a:endParaRPr/>
          </a:p>
        </p:txBody>
      </p:sp>
      <p:sp>
        <p:nvSpPr>
          <p:cNvPr id="1501" name="Google Shape;1501;p138"/>
          <p:cNvSpPr txBox="1"/>
          <p:nvPr>
            <p:ph idx="1" type="body"/>
          </p:nvPr>
        </p:nvSpPr>
        <p:spPr>
          <a:xfrm>
            <a:off x="302188" y="547120"/>
            <a:ext cx="8229600" cy="6194248"/>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IN" sz="2000"/>
              <a:t>Process control</a:t>
            </a:r>
            <a:endParaRPr/>
          </a:p>
          <a:p>
            <a:pPr indent="-182880" lvl="1" marL="384048" rtl="0" algn="l">
              <a:lnSpc>
                <a:spcPct val="90000"/>
              </a:lnSpc>
              <a:spcBef>
                <a:spcPts val="400"/>
              </a:spcBef>
              <a:spcAft>
                <a:spcPts val="0"/>
              </a:spcAft>
              <a:buSzPts val="1800"/>
              <a:buChar char="◦"/>
            </a:pPr>
            <a:r>
              <a:rPr b="1" lang="en-IN"/>
              <a:t>create process, terminate process</a:t>
            </a:r>
            <a:endParaRPr/>
          </a:p>
          <a:p>
            <a:pPr indent="-182880" lvl="1" marL="384048" rtl="0" algn="l">
              <a:lnSpc>
                <a:spcPct val="90000"/>
              </a:lnSpc>
              <a:spcBef>
                <a:spcPts val="600"/>
              </a:spcBef>
              <a:spcAft>
                <a:spcPts val="0"/>
              </a:spcAft>
              <a:buSzPts val="1800"/>
              <a:buChar char="◦"/>
            </a:pPr>
            <a:r>
              <a:rPr b="1" lang="en-IN"/>
              <a:t>end, abort</a:t>
            </a:r>
            <a:endParaRPr/>
          </a:p>
          <a:p>
            <a:pPr indent="-182880" lvl="1" marL="384048" rtl="0" algn="l">
              <a:lnSpc>
                <a:spcPct val="90000"/>
              </a:lnSpc>
              <a:spcBef>
                <a:spcPts val="600"/>
              </a:spcBef>
              <a:spcAft>
                <a:spcPts val="0"/>
              </a:spcAft>
              <a:buSzPts val="1800"/>
              <a:buChar char="◦"/>
            </a:pPr>
            <a:r>
              <a:rPr lang="en-IN"/>
              <a:t>load, execute</a:t>
            </a:r>
            <a:endParaRPr/>
          </a:p>
          <a:p>
            <a:pPr indent="-182880" lvl="1" marL="384048" rtl="0" algn="l">
              <a:lnSpc>
                <a:spcPct val="90000"/>
              </a:lnSpc>
              <a:spcBef>
                <a:spcPts val="600"/>
              </a:spcBef>
              <a:spcAft>
                <a:spcPts val="0"/>
              </a:spcAft>
              <a:buSzPts val="1800"/>
              <a:buChar char="◦"/>
            </a:pPr>
            <a:r>
              <a:rPr b="1" lang="en-IN"/>
              <a:t>get process attributes, set process attributes</a:t>
            </a:r>
            <a:endParaRPr/>
          </a:p>
          <a:p>
            <a:pPr indent="-182880" lvl="1" marL="384048" rtl="0" algn="l">
              <a:lnSpc>
                <a:spcPct val="90000"/>
              </a:lnSpc>
              <a:spcBef>
                <a:spcPts val="600"/>
              </a:spcBef>
              <a:spcAft>
                <a:spcPts val="0"/>
              </a:spcAft>
              <a:buSzPts val="1800"/>
              <a:buChar char="◦"/>
            </a:pPr>
            <a:r>
              <a:rPr b="1" lang="en-IN"/>
              <a:t>wait for time</a:t>
            </a:r>
            <a:endParaRPr/>
          </a:p>
          <a:p>
            <a:pPr indent="-182880" lvl="1" marL="384048" rtl="0" algn="l">
              <a:lnSpc>
                <a:spcPct val="90000"/>
              </a:lnSpc>
              <a:spcBef>
                <a:spcPts val="600"/>
              </a:spcBef>
              <a:spcAft>
                <a:spcPts val="0"/>
              </a:spcAft>
              <a:buSzPts val="1800"/>
              <a:buChar char="◦"/>
            </a:pPr>
            <a:r>
              <a:rPr lang="en-IN"/>
              <a:t>wait event, signal event</a:t>
            </a:r>
            <a:endParaRPr/>
          </a:p>
          <a:p>
            <a:pPr indent="-182880" lvl="1" marL="384048" rtl="0" algn="l">
              <a:lnSpc>
                <a:spcPct val="90000"/>
              </a:lnSpc>
              <a:spcBef>
                <a:spcPts val="600"/>
              </a:spcBef>
              <a:spcAft>
                <a:spcPts val="0"/>
              </a:spcAft>
              <a:buSzPts val="1800"/>
              <a:buChar char="◦"/>
            </a:pPr>
            <a:r>
              <a:rPr lang="en-IN"/>
              <a:t>allocate and free memory</a:t>
            </a:r>
            <a:endParaRPr/>
          </a:p>
          <a:p>
            <a:pPr indent="-182880" lvl="1" marL="384048" rtl="0" algn="l">
              <a:lnSpc>
                <a:spcPct val="90000"/>
              </a:lnSpc>
              <a:spcBef>
                <a:spcPts val="600"/>
              </a:spcBef>
              <a:spcAft>
                <a:spcPts val="0"/>
              </a:spcAft>
              <a:buSzPts val="1800"/>
              <a:buChar char="◦"/>
            </a:pPr>
            <a:r>
              <a:rPr lang="en-IN"/>
              <a:t>Dump memory if error</a:t>
            </a:r>
            <a:endParaRPr/>
          </a:p>
          <a:p>
            <a:pPr indent="-182880" lvl="1" marL="384048" rtl="0" algn="l">
              <a:lnSpc>
                <a:spcPct val="90000"/>
              </a:lnSpc>
              <a:spcBef>
                <a:spcPts val="600"/>
              </a:spcBef>
              <a:spcAft>
                <a:spcPts val="0"/>
              </a:spcAft>
              <a:buSzPts val="1800"/>
              <a:buChar char="◦"/>
            </a:pPr>
            <a:r>
              <a:rPr b="1" lang="en-IN">
                <a:solidFill>
                  <a:srgbClr val="3366FF"/>
                </a:solidFill>
              </a:rPr>
              <a:t>Debugger</a:t>
            </a:r>
            <a:r>
              <a:rPr lang="en-IN"/>
              <a:t> for determining </a:t>
            </a:r>
            <a:r>
              <a:rPr b="1" lang="en-IN">
                <a:solidFill>
                  <a:srgbClr val="3366FF"/>
                </a:solidFill>
              </a:rPr>
              <a:t>bugs, single step </a:t>
            </a:r>
            <a:r>
              <a:rPr lang="en-IN"/>
              <a:t>execution</a:t>
            </a:r>
            <a:endParaRPr/>
          </a:p>
          <a:p>
            <a:pPr indent="-182880" lvl="1" marL="384048" rtl="0" algn="l">
              <a:lnSpc>
                <a:spcPct val="90000"/>
              </a:lnSpc>
              <a:spcBef>
                <a:spcPts val="600"/>
              </a:spcBef>
              <a:spcAft>
                <a:spcPts val="0"/>
              </a:spcAft>
              <a:buSzPts val="1800"/>
              <a:buChar char="◦"/>
            </a:pPr>
            <a:r>
              <a:rPr b="1" lang="en-IN">
                <a:solidFill>
                  <a:srgbClr val="3366FF"/>
                </a:solidFill>
              </a:rPr>
              <a:t>Locks</a:t>
            </a:r>
            <a:r>
              <a:rPr lang="en-IN"/>
              <a:t> for managing access to shared data between processes</a:t>
            </a:r>
            <a:endParaRPr/>
          </a:p>
          <a:p>
            <a:pPr indent="-127000" lvl="0" marL="91440" rtl="0" algn="l">
              <a:lnSpc>
                <a:spcPct val="90000"/>
              </a:lnSpc>
              <a:spcBef>
                <a:spcPts val="1600"/>
              </a:spcBef>
              <a:spcAft>
                <a:spcPts val="0"/>
              </a:spcAft>
              <a:buSzPts val="2000"/>
              <a:buChar char=" "/>
            </a:pPr>
            <a:r>
              <a:rPr lang="en-IN" sz="2000"/>
              <a:t>File management</a:t>
            </a:r>
            <a:endParaRPr/>
          </a:p>
          <a:p>
            <a:pPr indent="-182880" lvl="1" marL="384048" rtl="0" algn="l">
              <a:lnSpc>
                <a:spcPct val="90000"/>
              </a:lnSpc>
              <a:spcBef>
                <a:spcPts val="400"/>
              </a:spcBef>
              <a:spcAft>
                <a:spcPts val="0"/>
              </a:spcAft>
              <a:buSzPts val="1800"/>
              <a:buChar char="◦"/>
            </a:pPr>
            <a:r>
              <a:rPr b="1" lang="en-IN"/>
              <a:t>create file, delete file</a:t>
            </a:r>
            <a:endParaRPr/>
          </a:p>
          <a:p>
            <a:pPr indent="-182880" lvl="1" marL="384048" rtl="0" algn="l">
              <a:lnSpc>
                <a:spcPct val="90000"/>
              </a:lnSpc>
              <a:spcBef>
                <a:spcPts val="600"/>
              </a:spcBef>
              <a:spcAft>
                <a:spcPts val="0"/>
              </a:spcAft>
              <a:buSzPts val="1800"/>
              <a:buChar char="◦"/>
            </a:pPr>
            <a:r>
              <a:rPr b="1" lang="en-IN"/>
              <a:t>open, close file</a:t>
            </a:r>
            <a:endParaRPr/>
          </a:p>
          <a:p>
            <a:pPr indent="-182880" lvl="1" marL="384048" rtl="0" algn="l">
              <a:lnSpc>
                <a:spcPct val="90000"/>
              </a:lnSpc>
              <a:spcBef>
                <a:spcPts val="600"/>
              </a:spcBef>
              <a:spcAft>
                <a:spcPts val="0"/>
              </a:spcAft>
              <a:buSzPts val="1800"/>
              <a:buChar char="◦"/>
            </a:pPr>
            <a:r>
              <a:rPr b="1" lang="en-IN"/>
              <a:t>read, write</a:t>
            </a:r>
            <a:r>
              <a:rPr lang="en-IN"/>
              <a:t>, reposition</a:t>
            </a:r>
            <a:endParaRPr/>
          </a:p>
          <a:p>
            <a:pPr indent="-182880" lvl="1" marL="384048" rtl="0" algn="l">
              <a:lnSpc>
                <a:spcPct val="90000"/>
              </a:lnSpc>
              <a:spcBef>
                <a:spcPts val="600"/>
              </a:spcBef>
              <a:spcAft>
                <a:spcPts val="0"/>
              </a:spcAft>
              <a:buSzPts val="1800"/>
              <a:buChar char="◦"/>
            </a:pPr>
            <a:r>
              <a:rPr b="1" lang="en-IN"/>
              <a:t>get and set file attributes</a:t>
            </a:r>
            <a:endParaRPr/>
          </a:p>
          <a:p>
            <a:pPr indent="-68579" lvl="1" marL="384048" rtl="0" algn="l">
              <a:lnSpc>
                <a:spcPct val="90000"/>
              </a:lnSpc>
              <a:spcBef>
                <a:spcPts val="600"/>
              </a:spcBef>
              <a:spcAft>
                <a:spcPts val="0"/>
              </a:spcAft>
              <a:buSzPts val="1800"/>
              <a:buNone/>
            </a:pPr>
            <a:r>
              <a:t/>
            </a:r>
            <a:endParaRPr/>
          </a:p>
        </p:txBody>
      </p:sp>
      <p:sp>
        <p:nvSpPr>
          <p:cNvPr id="1502" name="Google Shape;1502;p13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503" name="Google Shape;1503;p13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504" name="Google Shape;1504;p13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9" name="Shape 1509"/>
        <p:cNvGrpSpPr/>
        <p:nvPr/>
      </p:nvGrpSpPr>
      <p:grpSpPr>
        <a:xfrm>
          <a:off x="0" y="0"/>
          <a:ext cx="0" cy="0"/>
          <a:chOff x="0" y="0"/>
          <a:chExt cx="0" cy="0"/>
        </a:xfrm>
      </p:grpSpPr>
      <p:sp>
        <p:nvSpPr>
          <p:cNvPr id="1510" name="Google Shape;1510;p139"/>
          <p:cNvSpPr txBox="1"/>
          <p:nvPr>
            <p:ph type="title"/>
          </p:nvPr>
        </p:nvSpPr>
        <p:spPr>
          <a:xfrm>
            <a:off x="32725" y="0"/>
            <a:ext cx="3826768"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Types of System Calls</a:t>
            </a:r>
            <a:endParaRPr/>
          </a:p>
        </p:txBody>
      </p:sp>
      <p:sp>
        <p:nvSpPr>
          <p:cNvPr id="1511" name="Google Shape;1511;p139"/>
          <p:cNvSpPr txBox="1"/>
          <p:nvPr>
            <p:ph idx="1" type="body"/>
          </p:nvPr>
        </p:nvSpPr>
        <p:spPr>
          <a:xfrm>
            <a:off x="0" y="594802"/>
            <a:ext cx="8388424" cy="6263198"/>
          </a:xfrm>
          <a:prstGeom prst="rect">
            <a:avLst/>
          </a:prstGeom>
          <a:noFill/>
          <a:ln>
            <a:noFill/>
          </a:ln>
        </p:spPr>
        <p:txBody>
          <a:bodyPr anchorCtr="0" anchor="t" bIns="45700" lIns="0" spcFirstLastPara="1" rIns="0" wrap="square" tIns="45700">
            <a:normAutofit fontScale="92500" lnSpcReduction="10000"/>
          </a:bodyPr>
          <a:lstStyle/>
          <a:p>
            <a:pPr indent="-152717" lvl="0" marL="91440" rtl="0" algn="l">
              <a:lnSpc>
                <a:spcPct val="90000"/>
              </a:lnSpc>
              <a:spcBef>
                <a:spcPts val="0"/>
              </a:spcBef>
              <a:spcAft>
                <a:spcPts val="0"/>
              </a:spcAft>
              <a:buSzPct val="100000"/>
              <a:buChar char=" "/>
            </a:pPr>
            <a:r>
              <a:rPr lang="en-IN" sz="2600"/>
              <a:t>Device management</a:t>
            </a:r>
            <a:endParaRPr/>
          </a:p>
          <a:p>
            <a:pPr indent="-182879" lvl="1" marL="384048" rtl="0" algn="l">
              <a:lnSpc>
                <a:spcPct val="90000"/>
              </a:lnSpc>
              <a:spcBef>
                <a:spcPts val="400"/>
              </a:spcBef>
              <a:spcAft>
                <a:spcPts val="0"/>
              </a:spcAft>
              <a:buSzPct val="100000"/>
              <a:buChar char="◦"/>
            </a:pPr>
            <a:r>
              <a:rPr b="1" lang="en-IN"/>
              <a:t>request device, release device</a:t>
            </a:r>
            <a:endParaRPr/>
          </a:p>
          <a:p>
            <a:pPr indent="-182879" lvl="1" marL="384048" rtl="0" algn="l">
              <a:lnSpc>
                <a:spcPct val="90000"/>
              </a:lnSpc>
              <a:spcBef>
                <a:spcPts val="600"/>
              </a:spcBef>
              <a:spcAft>
                <a:spcPts val="0"/>
              </a:spcAft>
              <a:buSzPct val="100000"/>
              <a:buChar char="◦"/>
            </a:pPr>
            <a:r>
              <a:rPr b="1" lang="en-IN"/>
              <a:t>read, write</a:t>
            </a:r>
            <a:r>
              <a:rPr lang="en-IN"/>
              <a:t>, reposition</a:t>
            </a:r>
            <a:endParaRPr/>
          </a:p>
          <a:p>
            <a:pPr indent="-182879" lvl="1" marL="384048" rtl="0" algn="l">
              <a:lnSpc>
                <a:spcPct val="90000"/>
              </a:lnSpc>
              <a:spcBef>
                <a:spcPts val="600"/>
              </a:spcBef>
              <a:spcAft>
                <a:spcPts val="0"/>
              </a:spcAft>
              <a:buSzPct val="100000"/>
              <a:buChar char="◦"/>
            </a:pPr>
            <a:r>
              <a:rPr b="1" lang="en-IN"/>
              <a:t>get device attributes, set device </a:t>
            </a:r>
            <a:r>
              <a:rPr lang="en-IN"/>
              <a:t>attributes</a:t>
            </a:r>
            <a:endParaRPr/>
          </a:p>
          <a:p>
            <a:pPr indent="-182879" lvl="1" marL="384048" rtl="0" algn="l">
              <a:lnSpc>
                <a:spcPct val="90000"/>
              </a:lnSpc>
              <a:spcBef>
                <a:spcPts val="600"/>
              </a:spcBef>
              <a:spcAft>
                <a:spcPts val="0"/>
              </a:spcAft>
              <a:buSzPct val="100000"/>
              <a:buChar char="◦"/>
            </a:pPr>
            <a:r>
              <a:rPr b="1" lang="en-IN"/>
              <a:t>logically attach or detach devices</a:t>
            </a:r>
            <a:endParaRPr/>
          </a:p>
          <a:p>
            <a:pPr indent="-164465" lvl="0" marL="91440" rtl="0" algn="l">
              <a:lnSpc>
                <a:spcPct val="90000"/>
              </a:lnSpc>
              <a:spcBef>
                <a:spcPts val="1600"/>
              </a:spcBef>
              <a:spcAft>
                <a:spcPts val="0"/>
              </a:spcAft>
              <a:buSzPct val="100000"/>
              <a:buChar char=" "/>
            </a:pPr>
            <a:r>
              <a:rPr lang="en-IN" sz="2800"/>
              <a:t>Information maintenance</a:t>
            </a:r>
            <a:endParaRPr/>
          </a:p>
          <a:p>
            <a:pPr indent="-182880" lvl="1" marL="384048" rtl="0" algn="l">
              <a:lnSpc>
                <a:spcPct val="90000"/>
              </a:lnSpc>
              <a:spcBef>
                <a:spcPts val="400"/>
              </a:spcBef>
              <a:spcAft>
                <a:spcPts val="0"/>
              </a:spcAft>
              <a:buSzPct val="100000"/>
              <a:buChar char="◦"/>
            </a:pPr>
            <a:r>
              <a:rPr b="1" lang="en-IN" sz="2400"/>
              <a:t>get time or date, set time or date</a:t>
            </a:r>
            <a:endParaRPr/>
          </a:p>
          <a:p>
            <a:pPr indent="-182880" lvl="1" marL="384048" rtl="0" algn="l">
              <a:lnSpc>
                <a:spcPct val="90000"/>
              </a:lnSpc>
              <a:spcBef>
                <a:spcPts val="600"/>
              </a:spcBef>
              <a:spcAft>
                <a:spcPts val="0"/>
              </a:spcAft>
              <a:buSzPct val="100000"/>
              <a:buChar char="◦"/>
            </a:pPr>
            <a:r>
              <a:rPr lang="en-IN" sz="2400"/>
              <a:t>get system data, set system data</a:t>
            </a:r>
            <a:endParaRPr/>
          </a:p>
          <a:p>
            <a:pPr indent="-182880" lvl="1" marL="384048" rtl="0" algn="l">
              <a:lnSpc>
                <a:spcPct val="90000"/>
              </a:lnSpc>
              <a:spcBef>
                <a:spcPts val="600"/>
              </a:spcBef>
              <a:spcAft>
                <a:spcPts val="0"/>
              </a:spcAft>
              <a:buSzPct val="100000"/>
              <a:buChar char="◦"/>
            </a:pPr>
            <a:r>
              <a:rPr b="1" lang="en-IN" sz="2400"/>
              <a:t>get and set process (process id), </a:t>
            </a:r>
            <a:r>
              <a:rPr lang="en-IN" sz="2400"/>
              <a:t>file, or device attributes</a:t>
            </a:r>
            <a:endParaRPr/>
          </a:p>
          <a:p>
            <a:pPr indent="-164465" lvl="0" marL="91440" rtl="0" algn="l">
              <a:lnSpc>
                <a:spcPct val="90000"/>
              </a:lnSpc>
              <a:spcBef>
                <a:spcPts val="1600"/>
              </a:spcBef>
              <a:spcAft>
                <a:spcPts val="0"/>
              </a:spcAft>
              <a:buSzPct val="100000"/>
              <a:buChar char=" "/>
            </a:pPr>
            <a:r>
              <a:rPr lang="en-IN" sz="2800"/>
              <a:t>Communications</a:t>
            </a:r>
            <a:endParaRPr/>
          </a:p>
          <a:p>
            <a:pPr indent="-182880" lvl="1" marL="384048" rtl="0" algn="l">
              <a:lnSpc>
                <a:spcPct val="90000"/>
              </a:lnSpc>
              <a:spcBef>
                <a:spcPts val="400"/>
              </a:spcBef>
              <a:spcAft>
                <a:spcPts val="0"/>
              </a:spcAft>
              <a:buSzPct val="100000"/>
              <a:buChar char="◦"/>
            </a:pPr>
            <a:r>
              <a:rPr b="1" lang="en-IN" sz="2400"/>
              <a:t>create, delete communication connection</a:t>
            </a:r>
            <a:endParaRPr/>
          </a:p>
          <a:p>
            <a:pPr indent="-182880" lvl="1" marL="384048" rtl="0" algn="l">
              <a:lnSpc>
                <a:spcPct val="90000"/>
              </a:lnSpc>
              <a:spcBef>
                <a:spcPts val="600"/>
              </a:spcBef>
              <a:spcAft>
                <a:spcPts val="0"/>
              </a:spcAft>
              <a:buSzPct val="100000"/>
              <a:buChar char="◦"/>
            </a:pPr>
            <a:r>
              <a:rPr b="1" lang="en-IN" sz="2400"/>
              <a:t>send, receive messages </a:t>
            </a:r>
            <a:endParaRPr/>
          </a:p>
          <a:p>
            <a:pPr indent="-182880" lvl="1" marL="384048" rtl="0" algn="l">
              <a:lnSpc>
                <a:spcPct val="90000"/>
              </a:lnSpc>
              <a:spcBef>
                <a:spcPts val="600"/>
              </a:spcBef>
              <a:spcAft>
                <a:spcPts val="0"/>
              </a:spcAft>
              <a:buSzPct val="100000"/>
              <a:buChar char="◦"/>
            </a:pPr>
            <a:r>
              <a:rPr b="1" lang="en-IN" sz="2400"/>
              <a:t>If </a:t>
            </a:r>
            <a:r>
              <a:rPr b="1" lang="en-IN" sz="2400">
                <a:solidFill>
                  <a:srgbClr val="3366FF"/>
                </a:solidFill>
              </a:rPr>
              <a:t>message passing model </a:t>
            </a:r>
            <a:r>
              <a:rPr b="1" lang="en-IN" sz="2400"/>
              <a:t>to </a:t>
            </a:r>
            <a:r>
              <a:rPr b="1" lang="en-IN" sz="2400">
                <a:solidFill>
                  <a:srgbClr val="3366FF"/>
                </a:solidFill>
              </a:rPr>
              <a:t>host name</a:t>
            </a:r>
            <a:r>
              <a:rPr b="1" lang="en-IN" sz="2400"/>
              <a:t> or </a:t>
            </a:r>
            <a:r>
              <a:rPr b="1" lang="en-IN" sz="2400">
                <a:solidFill>
                  <a:srgbClr val="3366FF"/>
                </a:solidFill>
              </a:rPr>
              <a:t>process name</a:t>
            </a:r>
            <a:endParaRPr/>
          </a:p>
          <a:p>
            <a:pPr indent="-182880" lvl="2" marL="566928" rtl="0" algn="l">
              <a:lnSpc>
                <a:spcPct val="90000"/>
              </a:lnSpc>
              <a:spcBef>
                <a:spcPts val="600"/>
              </a:spcBef>
              <a:spcAft>
                <a:spcPts val="0"/>
              </a:spcAft>
              <a:buSzPct val="100000"/>
              <a:buChar char="◦"/>
            </a:pPr>
            <a:r>
              <a:rPr b="1" lang="en-IN" sz="2000"/>
              <a:t>From</a:t>
            </a:r>
            <a:r>
              <a:rPr b="1" lang="en-IN" sz="2000">
                <a:solidFill>
                  <a:srgbClr val="3366FF"/>
                </a:solidFill>
              </a:rPr>
              <a:t> client </a:t>
            </a:r>
            <a:r>
              <a:rPr b="1" lang="en-IN" sz="2000"/>
              <a:t>to</a:t>
            </a:r>
            <a:r>
              <a:rPr b="1" lang="en-IN" sz="2000">
                <a:solidFill>
                  <a:srgbClr val="3366FF"/>
                </a:solidFill>
              </a:rPr>
              <a:t> server</a:t>
            </a:r>
            <a:endParaRPr/>
          </a:p>
          <a:p>
            <a:pPr indent="-182880" lvl="1" marL="384048" rtl="0" algn="l">
              <a:lnSpc>
                <a:spcPct val="90000"/>
              </a:lnSpc>
              <a:spcBef>
                <a:spcPts val="600"/>
              </a:spcBef>
              <a:spcAft>
                <a:spcPts val="0"/>
              </a:spcAft>
              <a:buSzPct val="100000"/>
              <a:buChar char="◦"/>
            </a:pPr>
            <a:r>
              <a:rPr b="1" lang="en-IN" sz="2400">
                <a:solidFill>
                  <a:srgbClr val="3366FF"/>
                </a:solidFill>
              </a:rPr>
              <a:t>Shared-memory model </a:t>
            </a:r>
            <a:r>
              <a:rPr b="1" lang="en-IN" sz="2400"/>
              <a:t>create and gain access to memory regions</a:t>
            </a:r>
            <a:endParaRPr/>
          </a:p>
          <a:p>
            <a:pPr indent="-182880" lvl="1" marL="384048" rtl="0" algn="l">
              <a:lnSpc>
                <a:spcPct val="90000"/>
              </a:lnSpc>
              <a:spcBef>
                <a:spcPts val="600"/>
              </a:spcBef>
              <a:spcAft>
                <a:spcPts val="0"/>
              </a:spcAft>
              <a:buSzPct val="100000"/>
              <a:buChar char="◦"/>
            </a:pPr>
            <a:r>
              <a:rPr lang="en-IN" sz="2400"/>
              <a:t>transfer status information</a:t>
            </a:r>
            <a:endParaRPr/>
          </a:p>
          <a:p>
            <a:pPr indent="-182880" lvl="1" marL="384048" rtl="0" algn="l">
              <a:lnSpc>
                <a:spcPct val="90000"/>
              </a:lnSpc>
              <a:spcBef>
                <a:spcPts val="600"/>
              </a:spcBef>
              <a:spcAft>
                <a:spcPts val="0"/>
              </a:spcAft>
              <a:buSzPct val="100000"/>
              <a:buChar char="◦"/>
            </a:pPr>
            <a:r>
              <a:rPr lang="en-IN" sz="2400"/>
              <a:t>attach and detach remote devices</a:t>
            </a:r>
            <a:endParaRPr/>
          </a:p>
          <a:p>
            <a:pPr indent="-41909" lvl="1" marL="384048" rtl="0" algn="l">
              <a:lnSpc>
                <a:spcPct val="90000"/>
              </a:lnSpc>
              <a:spcBef>
                <a:spcPts val="600"/>
              </a:spcBef>
              <a:spcAft>
                <a:spcPts val="0"/>
              </a:spcAft>
              <a:buSzPct val="100000"/>
              <a:buNone/>
            </a:pPr>
            <a:r>
              <a:t/>
            </a:r>
            <a:endParaRPr sz="2400"/>
          </a:p>
          <a:p>
            <a:pPr indent="-77152" lvl="1" marL="384048" rtl="0" algn="l">
              <a:lnSpc>
                <a:spcPct val="90000"/>
              </a:lnSpc>
              <a:spcBef>
                <a:spcPts val="600"/>
              </a:spcBef>
              <a:spcAft>
                <a:spcPts val="0"/>
              </a:spcAft>
              <a:buSzPct val="100000"/>
              <a:buNone/>
            </a:pPr>
            <a:r>
              <a:t/>
            </a:r>
            <a:endParaRPr b="1"/>
          </a:p>
          <a:p>
            <a:pPr indent="-77152" lvl="1" marL="384048" rtl="0" algn="l">
              <a:lnSpc>
                <a:spcPct val="90000"/>
              </a:lnSpc>
              <a:spcBef>
                <a:spcPts val="600"/>
              </a:spcBef>
              <a:spcAft>
                <a:spcPts val="0"/>
              </a:spcAft>
              <a:buSzPct val="100000"/>
              <a:buNone/>
            </a:pPr>
            <a:r>
              <a:t/>
            </a:r>
            <a:endParaRPr/>
          </a:p>
        </p:txBody>
      </p:sp>
      <p:sp>
        <p:nvSpPr>
          <p:cNvPr id="1512" name="Google Shape;1512;p13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513" name="Google Shape;1513;p13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514" name="Google Shape;1514;p13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9" name="Shape 1519"/>
        <p:cNvGrpSpPr/>
        <p:nvPr/>
      </p:nvGrpSpPr>
      <p:grpSpPr>
        <a:xfrm>
          <a:off x="0" y="0"/>
          <a:ext cx="0" cy="0"/>
          <a:chOff x="0" y="0"/>
          <a:chExt cx="0" cy="0"/>
        </a:xfrm>
      </p:grpSpPr>
      <p:sp>
        <p:nvSpPr>
          <p:cNvPr id="1520" name="Google Shape;1520;p140"/>
          <p:cNvSpPr txBox="1"/>
          <p:nvPr>
            <p:ph type="title"/>
          </p:nvPr>
        </p:nvSpPr>
        <p:spPr>
          <a:xfrm>
            <a:off x="31846" y="33338"/>
            <a:ext cx="5291311" cy="57626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Types of System Calls (Cont.)</a:t>
            </a:r>
            <a:endParaRPr/>
          </a:p>
        </p:txBody>
      </p:sp>
      <p:sp>
        <p:nvSpPr>
          <p:cNvPr id="1521" name="Google Shape;1521;p140"/>
          <p:cNvSpPr txBox="1"/>
          <p:nvPr>
            <p:ph idx="1" type="body"/>
          </p:nvPr>
        </p:nvSpPr>
        <p:spPr>
          <a:xfrm>
            <a:off x="0" y="548680"/>
            <a:ext cx="7620000" cy="4800600"/>
          </a:xfrm>
          <a:prstGeom prst="rect">
            <a:avLst/>
          </a:prstGeom>
          <a:noFill/>
          <a:ln>
            <a:noFill/>
          </a:ln>
        </p:spPr>
        <p:txBody>
          <a:bodyPr anchorCtr="0" anchor="t" bIns="45700" lIns="0" spcFirstLastPara="1" rIns="0" wrap="square" tIns="45700">
            <a:normAutofit/>
          </a:bodyPr>
          <a:lstStyle/>
          <a:p>
            <a:pPr indent="-177800" lvl="0" marL="91440" rtl="0" algn="l">
              <a:lnSpc>
                <a:spcPct val="90000"/>
              </a:lnSpc>
              <a:spcBef>
                <a:spcPts val="0"/>
              </a:spcBef>
              <a:spcAft>
                <a:spcPts val="0"/>
              </a:spcAft>
              <a:buSzPts val="2800"/>
              <a:buChar char=" "/>
            </a:pPr>
            <a:r>
              <a:rPr lang="en-IN" sz="2800"/>
              <a:t>Protection</a:t>
            </a:r>
            <a:endParaRPr/>
          </a:p>
          <a:p>
            <a:pPr indent="-182880" lvl="1" marL="384048" rtl="0" algn="l">
              <a:lnSpc>
                <a:spcPct val="90000"/>
              </a:lnSpc>
              <a:spcBef>
                <a:spcPts val="400"/>
              </a:spcBef>
              <a:spcAft>
                <a:spcPts val="0"/>
              </a:spcAft>
              <a:buSzPts val="2400"/>
              <a:buChar char="◦"/>
            </a:pPr>
            <a:r>
              <a:rPr b="1" lang="en-IN" sz="2400"/>
              <a:t>Control access to resources</a:t>
            </a:r>
            <a:endParaRPr/>
          </a:p>
          <a:p>
            <a:pPr indent="-182880" lvl="1" marL="384048" rtl="0" algn="l">
              <a:lnSpc>
                <a:spcPct val="90000"/>
              </a:lnSpc>
              <a:spcBef>
                <a:spcPts val="600"/>
              </a:spcBef>
              <a:spcAft>
                <a:spcPts val="0"/>
              </a:spcAft>
              <a:buSzPts val="2400"/>
              <a:buChar char="◦"/>
            </a:pPr>
            <a:r>
              <a:rPr b="1" lang="en-IN" sz="2400"/>
              <a:t>Get and set permissions</a:t>
            </a:r>
            <a:endParaRPr/>
          </a:p>
          <a:p>
            <a:pPr indent="-182880" lvl="1" marL="384048" rtl="0" algn="l">
              <a:lnSpc>
                <a:spcPct val="90000"/>
              </a:lnSpc>
              <a:spcBef>
                <a:spcPts val="600"/>
              </a:spcBef>
              <a:spcAft>
                <a:spcPts val="0"/>
              </a:spcAft>
              <a:buSzPts val="2400"/>
              <a:buChar char="◦"/>
            </a:pPr>
            <a:r>
              <a:rPr lang="en-IN" sz="2400"/>
              <a:t>Allow and deny user access</a:t>
            </a:r>
            <a:endParaRPr/>
          </a:p>
          <a:p>
            <a:pPr indent="-30479" lvl="1" marL="384048" rtl="0" algn="l">
              <a:lnSpc>
                <a:spcPct val="90000"/>
              </a:lnSpc>
              <a:spcBef>
                <a:spcPts val="600"/>
              </a:spcBef>
              <a:spcAft>
                <a:spcPts val="0"/>
              </a:spcAft>
              <a:buSzPts val="2400"/>
              <a:buNone/>
            </a:pPr>
            <a:r>
              <a:t/>
            </a:r>
            <a:endParaRPr sz="2400"/>
          </a:p>
        </p:txBody>
      </p:sp>
      <p:sp>
        <p:nvSpPr>
          <p:cNvPr id="1522" name="Google Shape;1522;p14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523" name="Google Shape;1523;p14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524" name="Google Shape;1524;p14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8" name="Shape 1528"/>
        <p:cNvGrpSpPr/>
        <p:nvPr/>
      </p:nvGrpSpPr>
      <p:grpSpPr>
        <a:xfrm>
          <a:off x="0" y="0"/>
          <a:ext cx="0" cy="0"/>
          <a:chOff x="0" y="0"/>
          <a:chExt cx="0" cy="0"/>
        </a:xfrm>
      </p:grpSpPr>
      <p:sp>
        <p:nvSpPr>
          <p:cNvPr id="1529" name="Google Shape;1529;p141"/>
          <p:cNvSpPr txBox="1"/>
          <p:nvPr>
            <p:ph type="title"/>
          </p:nvPr>
        </p:nvSpPr>
        <p:spPr>
          <a:xfrm>
            <a:off x="1179513" y="106363"/>
            <a:ext cx="7648575" cy="576262"/>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2400"/>
              <a:buFont typeface="Calibri"/>
              <a:buNone/>
            </a:pPr>
            <a:r>
              <a:rPr lang="en-IN" sz="2400"/>
              <a:t>Examples of Windows and  Unix System Calls</a:t>
            </a:r>
            <a:endParaRPr/>
          </a:p>
        </p:txBody>
      </p:sp>
      <p:sp>
        <p:nvSpPr>
          <p:cNvPr id="1530" name="Google Shape;1530;p14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531" name="Google Shape;1531;p14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532" name="Google Shape;1532;p14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descr="OS8-p61" id="1533" name="Google Shape;1533;p141"/>
          <p:cNvPicPr preferRelativeResize="0"/>
          <p:nvPr/>
        </p:nvPicPr>
        <p:blipFill rotWithShape="1">
          <a:blip r:embed="rId3">
            <a:alphaModFix/>
          </a:blip>
          <a:srcRect b="0" l="0" r="0" t="0"/>
          <a:stretch/>
        </p:blipFill>
        <p:spPr>
          <a:xfrm>
            <a:off x="0" y="836712"/>
            <a:ext cx="9144000" cy="5544616"/>
          </a:xfrm>
          <a:prstGeom prst="rect">
            <a:avLst/>
          </a:prstGeom>
          <a:noFill/>
          <a:ln>
            <a:noFill/>
          </a:ln>
        </p:spPr>
      </p:pic>
      <p:sp>
        <p:nvSpPr>
          <p:cNvPr id="1534" name="Google Shape;1534;p141"/>
          <p:cNvSpPr/>
          <p:nvPr/>
        </p:nvSpPr>
        <p:spPr>
          <a:xfrm>
            <a:off x="179512" y="1124744"/>
            <a:ext cx="8640960" cy="864096"/>
          </a:xfrm>
          <a:prstGeom prst="rect">
            <a:avLst/>
          </a:prstGeom>
          <a:noFill/>
          <a:ln cap="flat" cmpd="sng" w="38100">
            <a:solidFill>
              <a:schemeClr val="accent6"/>
            </a:solidFill>
            <a:prstDash val="solid"/>
            <a:round/>
            <a:headEnd len="sm" w="sm" type="none"/>
            <a:tailEnd len="sm" w="sm" type="none"/>
          </a:ln>
          <a:effectLst>
            <a:outerShdw blurRad="38100" rotWithShape="0" algn="br" dir="2700000" dist="25400">
              <a:srgbClr val="000000">
                <a:alpha val="6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5" name="Google Shape;1535;p141"/>
          <p:cNvSpPr/>
          <p:nvPr/>
        </p:nvSpPr>
        <p:spPr>
          <a:xfrm>
            <a:off x="107504" y="3789040"/>
            <a:ext cx="8640960" cy="864096"/>
          </a:xfrm>
          <a:prstGeom prst="rect">
            <a:avLst/>
          </a:prstGeom>
          <a:noFill/>
          <a:ln cap="flat" cmpd="sng" w="38100">
            <a:solidFill>
              <a:schemeClr val="accent6"/>
            </a:solidFill>
            <a:prstDash val="solid"/>
            <a:round/>
            <a:headEnd len="sm" w="sm" type="none"/>
            <a:tailEnd len="sm" w="sm" type="none"/>
          </a:ln>
          <a:effectLst>
            <a:outerShdw blurRad="38100" rotWithShape="0" algn="br" dir="2700000" dist="25400">
              <a:srgbClr val="000000">
                <a:alpha val="6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6" name="Google Shape;1536;p141"/>
          <p:cNvSpPr/>
          <p:nvPr/>
        </p:nvSpPr>
        <p:spPr>
          <a:xfrm>
            <a:off x="179512" y="5445224"/>
            <a:ext cx="8640960" cy="864096"/>
          </a:xfrm>
          <a:prstGeom prst="rect">
            <a:avLst/>
          </a:prstGeom>
          <a:noFill/>
          <a:ln cap="flat" cmpd="sng" w="38100">
            <a:solidFill>
              <a:schemeClr val="accent6"/>
            </a:solidFill>
            <a:prstDash val="solid"/>
            <a:round/>
            <a:headEnd len="sm" w="sm" type="none"/>
            <a:tailEnd len="sm" w="sm" type="none"/>
          </a:ln>
          <a:effectLst>
            <a:outerShdw blurRad="38100" rotWithShape="0" algn="br" dir="2700000" dist="25400">
              <a:srgbClr val="000000">
                <a:alpha val="6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0" name="Shape 1540"/>
        <p:cNvGrpSpPr/>
        <p:nvPr/>
      </p:nvGrpSpPr>
      <p:grpSpPr>
        <a:xfrm>
          <a:off x="0" y="0"/>
          <a:ext cx="0" cy="0"/>
          <a:chOff x="0" y="0"/>
          <a:chExt cx="0" cy="0"/>
        </a:xfrm>
      </p:grpSpPr>
      <p:sp>
        <p:nvSpPr>
          <p:cNvPr id="1541" name="Google Shape;1541;p142"/>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IN"/>
              <a:t>Layered File System</a:t>
            </a:r>
            <a:endParaRPr/>
          </a:p>
        </p:txBody>
      </p:sp>
      <p:pic>
        <p:nvPicPr>
          <p:cNvPr id="1542" name="Google Shape;1542;p142"/>
          <p:cNvPicPr preferRelativeResize="0"/>
          <p:nvPr>
            <p:ph idx="1" type="body"/>
          </p:nvPr>
        </p:nvPicPr>
        <p:blipFill rotWithShape="1">
          <a:blip r:embed="rId3">
            <a:alphaModFix/>
          </a:blip>
          <a:srcRect b="0" l="0" r="0" t="0"/>
          <a:stretch/>
        </p:blipFill>
        <p:spPr>
          <a:xfrm>
            <a:off x="3506367" y="1846263"/>
            <a:ext cx="2175715" cy="4022725"/>
          </a:xfrm>
          <a:prstGeom prst="rect">
            <a:avLst/>
          </a:prstGeom>
          <a:noFill/>
          <a:ln>
            <a:noFill/>
          </a:ln>
        </p:spPr>
      </p:pic>
      <p:sp>
        <p:nvSpPr>
          <p:cNvPr id="1543" name="Google Shape;1543;p14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544" name="Google Shape;1544;p14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545" name="Google Shape;1545;p14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9" name="Shape 1549"/>
        <p:cNvGrpSpPr/>
        <p:nvPr/>
      </p:nvGrpSpPr>
      <p:grpSpPr>
        <a:xfrm>
          <a:off x="0" y="0"/>
          <a:ext cx="0" cy="0"/>
          <a:chOff x="0" y="0"/>
          <a:chExt cx="0" cy="0"/>
        </a:xfrm>
      </p:grpSpPr>
      <p:sp>
        <p:nvSpPr>
          <p:cNvPr id="1550" name="Google Shape;1550;p143"/>
          <p:cNvSpPr txBox="1"/>
          <p:nvPr>
            <p:ph type="title"/>
          </p:nvPr>
        </p:nvSpPr>
        <p:spPr>
          <a:xfrm>
            <a:off x="179512" y="116632"/>
            <a:ext cx="2746648" cy="334962"/>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sz="3200"/>
              <a:t>Device Drivers</a:t>
            </a:r>
            <a:endParaRPr sz="3200"/>
          </a:p>
        </p:txBody>
      </p:sp>
      <p:sp>
        <p:nvSpPr>
          <p:cNvPr id="1551" name="Google Shape;1551;p143"/>
          <p:cNvSpPr txBox="1"/>
          <p:nvPr>
            <p:ph idx="1" type="body"/>
          </p:nvPr>
        </p:nvSpPr>
        <p:spPr>
          <a:xfrm>
            <a:off x="189654" y="609600"/>
            <a:ext cx="7620000" cy="6248400"/>
          </a:xfrm>
          <a:prstGeom prst="rect">
            <a:avLst/>
          </a:prstGeom>
          <a:noFill/>
          <a:ln>
            <a:noFill/>
          </a:ln>
        </p:spPr>
        <p:txBody>
          <a:bodyPr anchorCtr="0" anchor="t" bIns="45700" lIns="0" spcFirstLastPara="1" rIns="0" wrap="square" tIns="45700">
            <a:normAutofit lnSpcReduction="10000"/>
          </a:bodyPr>
          <a:lstStyle/>
          <a:p>
            <a:pPr indent="-152400" lvl="0" marL="91440" rtl="0" algn="l">
              <a:lnSpc>
                <a:spcPct val="90000"/>
              </a:lnSpc>
              <a:spcBef>
                <a:spcPts val="0"/>
              </a:spcBef>
              <a:spcAft>
                <a:spcPts val="0"/>
              </a:spcAft>
              <a:buSzPts val="2400"/>
              <a:buChar char=" "/>
            </a:pPr>
            <a:r>
              <a:rPr b="1" lang="en-IN" sz="2400">
                <a:solidFill>
                  <a:srgbClr val="3366FF"/>
                </a:solidFill>
              </a:rPr>
              <a:t>Device drivers </a:t>
            </a:r>
            <a:r>
              <a:rPr lang="en-IN" sz="2400"/>
              <a:t>manage I/O devices at the I/O control layer</a:t>
            </a:r>
            <a:endParaRPr/>
          </a:p>
          <a:p>
            <a:pPr indent="0" lvl="0" marL="91440" rtl="0" algn="l">
              <a:lnSpc>
                <a:spcPct val="90000"/>
              </a:lnSpc>
              <a:spcBef>
                <a:spcPts val="1400"/>
              </a:spcBef>
              <a:spcAft>
                <a:spcPts val="0"/>
              </a:spcAft>
              <a:buSzPts val="2400"/>
              <a:buNone/>
            </a:pPr>
            <a:r>
              <a:t/>
            </a:r>
            <a:endParaRPr sz="2400"/>
          </a:p>
          <a:p>
            <a:pPr indent="-152400" lvl="0" marL="91440" rtl="0" algn="l">
              <a:lnSpc>
                <a:spcPct val="90000"/>
              </a:lnSpc>
              <a:spcBef>
                <a:spcPts val="1400"/>
              </a:spcBef>
              <a:spcAft>
                <a:spcPts val="0"/>
              </a:spcAft>
              <a:buSzPts val="2400"/>
              <a:buChar char=" "/>
            </a:pPr>
            <a:r>
              <a:rPr b="1" lang="en-IN" sz="2400">
                <a:solidFill>
                  <a:srgbClr val="3366FF"/>
                </a:solidFill>
              </a:rPr>
              <a:t>Device driver</a:t>
            </a:r>
            <a:r>
              <a:rPr lang="en-IN" sz="2400">
                <a:solidFill>
                  <a:srgbClr val="3366FF"/>
                </a:solidFill>
              </a:rPr>
              <a:t> </a:t>
            </a:r>
            <a:r>
              <a:rPr lang="en-IN" sz="2400"/>
              <a:t>controls the physical device </a:t>
            </a:r>
            <a:endParaRPr/>
          </a:p>
          <a:p>
            <a:pPr indent="-152400" lvl="0" marL="91440" rtl="0" algn="l">
              <a:lnSpc>
                <a:spcPct val="90000"/>
              </a:lnSpc>
              <a:spcBef>
                <a:spcPts val="1400"/>
              </a:spcBef>
              <a:spcAft>
                <a:spcPts val="0"/>
              </a:spcAft>
              <a:buSzPts val="2400"/>
              <a:buChar char=" "/>
            </a:pPr>
            <a:r>
              <a:rPr lang="en-IN" sz="2400"/>
              <a:t>The I/O control consists of </a:t>
            </a:r>
            <a:endParaRPr/>
          </a:p>
          <a:p>
            <a:pPr indent="-182880" lvl="1" marL="384048" rtl="0" algn="l">
              <a:lnSpc>
                <a:spcPct val="90000"/>
              </a:lnSpc>
              <a:spcBef>
                <a:spcPts val="400"/>
              </a:spcBef>
              <a:spcAft>
                <a:spcPts val="0"/>
              </a:spcAft>
              <a:buSzPts val="2000"/>
              <a:buChar char="◦"/>
            </a:pPr>
            <a:r>
              <a:rPr lang="en-IN" sz="2000"/>
              <a:t>device drivers and </a:t>
            </a:r>
            <a:endParaRPr/>
          </a:p>
          <a:p>
            <a:pPr indent="-182880" lvl="1" marL="384048" rtl="0" algn="l">
              <a:lnSpc>
                <a:spcPct val="90000"/>
              </a:lnSpc>
              <a:spcBef>
                <a:spcPts val="600"/>
              </a:spcBef>
              <a:spcAft>
                <a:spcPts val="0"/>
              </a:spcAft>
              <a:buSzPts val="2000"/>
              <a:buChar char="◦"/>
            </a:pPr>
            <a:r>
              <a:rPr lang="en-IN" sz="2000"/>
              <a:t>interrupt handlers </a:t>
            </a:r>
            <a:endParaRPr/>
          </a:p>
          <a:p>
            <a:pPr indent="-182880" lvl="1" marL="384048" rtl="0" algn="l">
              <a:lnSpc>
                <a:spcPct val="90000"/>
              </a:lnSpc>
              <a:spcBef>
                <a:spcPts val="600"/>
              </a:spcBef>
              <a:spcAft>
                <a:spcPts val="0"/>
              </a:spcAft>
              <a:buSzPts val="2000"/>
              <a:buChar char="◦"/>
            </a:pPr>
            <a:r>
              <a:rPr lang="en-IN" sz="2000"/>
              <a:t>to transfer information between the main memory and the disk system. </a:t>
            </a:r>
            <a:endParaRPr sz="2000"/>
          </a:p>
          <a:p>
            <a:pPr indent="-152400" lvl="0" marL="91440" rtl="0" algn="l">
              <a:lnSpc>
                <a:spcPct val="90000"/>
              </a:lnSpc>
              <a:spcBef>
                <a:spcPts val="1600"/>
              </a:spcBef>
              <a:spcAft>
                <a:spcPts val="0"/>
              </a:spcAft>
              <a:buSzPts val="2400"/>
              <a:buChar char=" "/>
            </a:pPr>
            <a:r>
              <a:rPr lang="en-IN" sz="2400"/>
              <a:t>A device driver </a:t>
            </a:r>
            <a:endParaRPr/>
          </a:p>
          <a:p>
            <a:pPr indent="-182880" lvl="1" marL="384048" rtl="0" algn="l">
              <a:lnSpc>
                <a:spcPct val="90000"/>
              </a:lnSpc>
              <a:spcBef>
                <a:spcPts val="400"/>
              </a:spcBef>
              <a:spcAft>
                <a:spcPts val="0"/>
              </a:spcAft>
              <a:buSzPts val="2400"/>
              <a:buChar char="◦"/>
            </a:pPr>
            <a:r>
              <a:rPr lang="en-IN" sz="2400"/>
              <a:t>can be thought of as a translator.</a:t>
            </a:r>
            <a:endParaRPr/>
          </a:p>
          <a:p>
            <a:pPr indent="-182880" lvl="1" marL="384048" rtl="0" algn="l">
              <a:lnSpc>
                <a:spcPct val="90000"/>
              </a:lnSpc>
              <a:spcBef>
                <a:spcPts val="600"/>
              </a:spcBef>
              <a:spcAft>
                <a:spcPts val="0"/>
              </a:spcAft>
              <a:buSzPts val="2400"/>
              <a:buChar char="◦"/>
            </a:pPr>
            <a:r>
              <a:rPr b="1" lang="en-IN" sz="2400"/>
              <a:t>Its input consists of high level commands such as </a:t>
            </a:r>
            <a:r>
              <a:rPr b="1" lang="en-IN" sz="2400">
                <a:solidFill>
                  <a:schemeClr val="accent1"/>
                </a:solidFill>
              </a:rPr>
              <a:t>“retrieve block 123”</a:t>
            </a:r>
            <a:endParaRPr/>
          </a:p>
          <a:p>
            <a:pPr indent="-182880" lvl="1" marL="384048" rtl="0" algn="l">
              <a:lnSpc>
                <a:spcPct val="90000"/>
              </a:lnSpc>
              <a:spcBef>
                <a:spcPts val="600"/>
              </a:spcBef>
              <a:spcAft>
                <a:spcPts val="0"/>
              </a:spcAft>
              <a:buSzPts val="2400"/>
              <a:buChar char="◦"/>
            </a:pPr>
            <a:r>
              <a:rPr b="1" lang="en-IN" sz="2400"/>
              <a:t>Given commands like </a:t>
            </a:r>
            <a:r>
              <a:rPr b="1" lang="en-IN" sz="2400">
                <a:solidFill>
                  <a:schemeClr val="accent1"/>
                </a:solidFill>
              </a:rPr>
              <a:t>“read drive1, cylinder 72, track 2, sector 10, into memory location 1060” </a:t>
            </a:r>
            <a:endParaRPr/>
          </a:p>
          <a:p>
            <a:pPr indent="-182880" lvl="1" marL="384048" rtl="0" algn="l">
              <a:lnSpc>
                <a:spcPct val="90000"/>
              </a:lnSpc>
              <a:spcBef>
                <a:spcPts val="600"/>
              </a:spcBef>
              <a:spcAft>
                <a:spcPts val="0"/>
              </a:spcAft>
              <a:buSzPts val="2400"/>
              <a:buChar char="◦"/>
            </a:pPr>
            <a:r>
              <a:rPr b="1" lang="en-IN" sz="2400"/>
              <a:t>outputs low-level hardware specific commands to hardware controller</a:t>
            </a:r>
            <a:endParaRPr b="1" sz="2400">
              <a:solidFill>
                <a:srgbClr val="3366FF"/>
              </a:solidFill>
            </a:endParaRPr>
          </a:p>
          <a:p>
            <a:pPr indent="-55879" lvl="1" marL="384048" rtl="0" algn="l">
              <a:lnSpc>
                <a:spcPct val="90000"/>
              </a:lnSpc>
              <a:spcBef>
                <a:spcPts val="600"/>
              </a:spcBef>
              <a:spcAft>
                <a:spcPts val="0"/>
              </a:spcAft>
              <a:buSzPts val="2000"/>
              <a:buNone/>
            </a:pPr>
            <a:r>
              <a:t/>
            </a:r>
            <a:endParaRPr sz="2000"/>
          </a:p>
          <a:p>
            <a:pPr indent="0" lvl="0" marL="91440" rtl="0" algn="l">
              <a:lnSpc>
                <a:spcPct val="90000"/>
              </a:lnSpc>
              <a:spcBef>
                <a:spcPts val="1600"/>
              </a:spcBef>
              <a:spcAft>
                <a:spcPts val="0"/>
              </a:spcAft>
              <a:buSzPts val="2400"/>
              <a:buNone/>
            </a:pPr>
            <a:r>
              <a:t/>
            </a:r>
            <a:endParaRPr sz="2400"/>
          </a:p>
        </p:txBody>
      </p:sp>
      <p:sp>
        <p:nvSpPr>
          <p:cNvPr id="1552" name="Google Shape;1552;p14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553" name="Google Shape;1553;p14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554" name="Google Shape;1554;p14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8" name="Shape 1558"/>
        <p:cNvGrpSpPr/>
        <p:nvPr/>
      </p:nvGrpSpPr>
      <p:grpSpPr>
        <a:xfrm>
          <a:off x="0" y="0"/>
          <a:ext cx="0" cy="0"/>
          <a:chOff x="0" y="0"/>
          <a:chExt cx="0" cy="0"/>
        </a:xfrm>
      </p:grpSpPr>
      <p:sp>
        <p:nvSpPr>
          <p:cNvPr id="1559" name="Google Shape;1559;p144"/>
          <p:cNvSpPr txBox="1"/>
          <p:nvPr>
            <p:ph type="title"/>
          </p:nvPr>
        </p:nvSpPr>
        <p:spPr>
          <a:xfrm>
            <a:off x="467544" y="-1"/>
            <a:ext cx="8229600" cy="404663"/>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Calibri"/>
              <a:buNone/>
            </a:pPr>
            <a:r>
              <a:rPr lang="en-IN" sz="3200"/>
              <a:t>Device Drivers</a:t>
            </a:r>
            <a:endParaRPr sz="3200"/>
          </a:p>
        </p:txBody>
      </p:sp>
      <p:sp>
        <p:nvSpPr>
          <p:cNvPr id="1560" name="Google Shape;1560;p144"/>
          <p:cNvSpPr txBox="1"/>
          <p:nvPr>
            <p:ph idx="1" type="body"/>
          </p:nvPr>
        </p:nvSpPr>
        <p:spPr>
          <a:xfrm>
            <a:off x="157808" y="404664"/>
            <a:ext cx="5349644" cy="6453336"/>
          </a:xfrm>
          <a:prstGeom prst="rect">
            <a:avLst/>
          </a:prstGeom>
          <a:noFill/>
          <a:ln>
            <a:noFill/>
          </a:ln>
        </p:spPr>
        <p:txBody>
          <a:bodyPr anchorCtr="0" anchor="t" bIns="45700" lIns="0" spcFirstLastPara="1" rIns="0" wrap="square" tIns="45700">
            <a:noAutofit/>
          </a:bodyPr>
          <a:lstStyle/>
          <a:p>
            <a:pPr indent="-127000" lvl="0" marL="91440" rtl="0" algn="l">
              <a:lnSpc>
                <a:spcPct val="90000"/>
              </a:lnSpc>
              <a:spcBef>
                <a:spcPts val="0"/>
              </a:spcBef>
              <a:spcAft>
                <a:spcPts val="0"/>
              </a:spcAft>
              <a:buSzPts val="2000"/>
              <a:buChar char=" "/>
            </a:pPr>
            <a:r>
              <a:rPr lang="en-IN" sz="2000"/>
              <a:t>Its output consists of </a:t>
            </a:r>
            <a:endParaRPr sz="2000"/>
          </a:p>
          <a:p>
            <a:pPr indent="-182880" lvl="1" marL="384048" rtl="0" algn="l">
              <a:lnSpc>
                <a:spcPct val="90000"/>
              </a:lnSpc>
              <a:spcBef>
                <a:spcPts val="400"/>
              </a:spcBef>
              <a:spcAft>
                <a:spcPts val="0"/>
              </a:spcAft>
              <a:buSzPts val="1800"/>
              <a:buChar char="◦"/>
            </a:pPr>
            <a:r>
              <a:rPr b="1" lang="en-IN"/>
              <a:t>low level hardware specific instructions </a:t>
            </a:r>
            <a:endParaRPr b="1"/>
          </a:p>
          <a:p>
            <a:pPr indent="-182880" lvl="1" marL="384048" rtl="0" algn="l">
              <a:lnSpc>
                <a:spcPct val="90000"/>
              </a:lnSpc>
              <a:spcBef>
                <a:spcPts val="600"/>
              </a:spcBef>
              <a:spcAft>
                <a:spcPts val="0"/>
              </a:spcAft>
              <a:buSzPts val="1800"/>
              <a:buChar char="◦"/>
            </a:pPr>
            <a:r>
              <a:rPr b="1" lang="en-IN"/>
              <a:t>that are used by the hardware controller</a:t>
            </a:r>
            <a:r>
              <a:rPr lang="en-IN"/>
              <a:t> </a:t>
            </a:r>
            <a:endParaRPr/>
          </a:p>
          <a:p>
            <a:pPr indent="-182880" lvl="1" marL="384048" rtl="0" algn="l">
              <a:lnSpc>
                <a:spcPct val="90000"/>
              </a:lnSpc>
              <a:spcBef>
                <a:spcPts val="600"/>
              </a:spcBef>
              <a:spcAft>
                <a:spcPts val="0"/>
              </a:spcAft>
              <a:buSzPts val="1800"/>
              <a:buChar char="◦"/>
            </a:pPr>
            <a:r>
              <a:rPr lang="en-IN"/>
              <a:t>which interfaces I/O device to the rest of the system.</a:t>
            </a:r>
            <a:endParaRPr/>
          </a:p>
          <a:p>
            <a:pPr indent="-127000" lvl="0" marL="91440" rtl="0" algn="l">
              <a:lnSpc>
                <a:spcPct val="90000"/>
              </a:lnSpc>
              <a:spcBef>
                <a:spcPts val="1600"/>
              </a:spcBef>
              <a:spcAft>
                <a:spcPts val="0"/>
              </a:spcAft>
              <a:buSzPts val="2000"/>
              <a:buChar char=" "/>
            </a:pPr>
            <a:r>
              <a:rPr lang="en-IN" sz="2000"/>
              <a:t>The device driver </a:t>
            </a:r>
            <a:endParaRPr/>
          </a:p>
          <a:p>
            <a:pPr indent="-182880" lvl="1" marL="384048" rtl="0" algn="l">
              <a:lnSpc>
                <a:spcPct val="90000"/>
              </a:lnSpc>
              <a:spcBef>
                <a:spcPts val="400"/>
              </a:spcBef>
              <a:spcAft>
                <a:spcPts val="0"/>
              </a:spcAft>
              <a:buSzPts val="1800"/>
              <a:buChar char="◦"/>
            </a:pPr>
            <a:r>
              <a:rPr b="1" lang="en-IN"/>
              <a:t>writes specific bit patterns </a:t>
            </a:r>
            <a:endParaRPr/>
          </a:p>
          <a:p>
            <a:pPr indent="-182880" lvl="1" marL="384048" rtl="0" algn="l">
              <a:lnSpc>
                <a:spcPct val="90000"/>
              </a:lnSpc>
              <a:spcBef>
                <a:spcPts val="600"/>
              </a:spcBef>
              <a:spcAft>
                <a:spcPts val="0"/>
              </a:spcAft>
              <a:buSzPts val="1800"/>
              <a:buChar char="◦"/>
            </a:pPr>
            <a:r>
              <a:rPr b="1" lang="en-IN"/>
              <a:t>to special locations in the I/o controller’s memory </a:t>
            </a:r>
            <a:endParaRPr/>
          </a:p>
          <a:p>
            <a:pPr indent="-182880" lvl="1" marL="384048" rtl="0" algn="l">
              <a:lnSpc>
                <a:spcPct val="90000"/>
              </a:lnSpc>
              <a:spcBef>
                <a:spcPts val="600"/>
              </a:spcBef>
              <a:spcAft>
                <a:spcPts val="0"/>
              </a:spcAft>
              <a:buSzPts val="1800"/>
              <a:buChar char="◦"/>
            </a:pPr>
            <a:r>
              <a:rPr lang="en-IN"/>
              <a:t>to tell the controller on which device location to act and</a:t>
            </a:r>
            <a:endParaRPr/>
          </a:p>
          <a:p>
            <a:pPr indent="-182880" lvl="1" marL="384048" rtl="0" algn="l">
              <a:lnSpc>
                <a:spcPct val="90000"/>
              </a:lnSpc>
              <a:spcBef>
                <a:spcPts val="600"/>
              </a:spcBef>
              <a:spcAft>
                <a:spcPts val="0"/>
              </a:spcAft>
              <a:buSzPts val="1800"/>
              <a:buChar char="◦"/>
            </a:pPr>
            <a:r>
              <a:rPr lang="en-IN"/>
              <a:t>what actions to take.</a:t>
            </a:r>
            <a:endParaRPr/>
          </a:p>
          <a:p>
            <a:pPr indent="-127000" lvl="0" marL="91440" rtl="0" algn="l">
              <a:lnSpc>
                <a:spcPct val="90000"/>
              </a:lnSpc>
              <a:spcBef>
                <a:spcPts val="1600"/>
              </a:spcBef>
              <a:spcAft>
                <a:spcPts val="0"/>
              </a:spcAft>
              <a:buSzPts val="2000"/>
              <a:buChar char=" "/>
            </a:pPr>
            <a:r>
              <a:rPr lang="en-IN" sz="2000"/>
              <a:t>Device drivers are </a:t>
            </a:r>
            <a:endParaRPr/>
          </a:p>
          <a:p>
            <a:pPr indent="-182880" lvl="1" marL="384048" rtl="0" algn="l">
              <a:lnSpc>
                <a:spcPct val="90000"/>
              </a:lnSpc>
              <a:spcBef>
                <a:spcPts val="400"/>
              </a:spcBef>
              <a:spcAft>
                <a:spcPts val="0"/>
              </a:spcAft>
              <a:buSzPts val="1800"/>
              <a:buChar char="◦"/>
            </a:pPr>
            <a:r>
              <a:rPr b="1" lang="en-IN"/>
              <a:t>software modules that can be plugged into an OS to handle a particular device. </a:t>
            </a:r>
            <a:endParaRPr/>
          </a:p>
          <a:p>
            <a:pPr indent="-127000" lvl="0" marL="91440" rtl="0" algn="l">
              <a:lnSpc>
                <a:spcPct val="90000"/>
              </a:lnSpc>
              <a:spcBef>
                <a:spcPts val="1600"/>
              </a:spcBef>
              <a:spcAft>
                <a:spcPts val="0"/>
              </a:spcAft>
              <a:buSzPts val="2000"/>
              <a:buChar char=" "/>
            </a:pPr>
            <a:r>
              <a:rPr lang="en-IN" sz="2000"/>
              <a:t>Operating System takes help from </a:t>
            </a:r>
            <a:endParaRPr/>
          </a:p>
          <a:p>
            <a:pPr indent="-182880" lvl="1" marL="384048" rtl="0" algn="l">
              <a:lnSpc>
                <a:spcPct val="90000"/>
              </a:lnSpc>
              <a:spcBef>
                <a:spcPts val="400"/>
              </a:spcBef>
              <a:spcAft>
                <a:spcPts val="0"/>
              </a:spcAft>
              <a:buSzPts val="1800"/>
              <a:buChar char="◦"/>
            </a:pPr>
            <a:r>
              <a:rPr lang="en-IN"/>
              <a:t>device drivers to handle all I/O devices.</a:t>
            </a:r>
            <a:endParaRPr/>
          </a:p>
          <a:p>
            <a:pPr indent="0" lvl="0" marL="91440" rtl="0" algn="l">
              <a:lnSpc>
                <a:spcPct val="90000"/>
              </a:lnSpc>
              <a:spcBef>
                <a:spcPts val="1600"/>
              </a:spcBef>
              <a:spcAft>
                <a:spcPts val="0"/>
              </a:spcAft>
              <a:buSzPts val="2000"/>
              <a:buNone/>
            </a:pPr>
            <a:r>
              <a:t/>
            </a:r>
            <a:endParaRPr sz="2000"/>
          </a:p>
          <a:p>
            <a:pPr indent="-68579" lvl="1" marL="384048" rtl="0" algn="l">
              <a:lnSpc>
                <a:spcPct val="90000"/>
              </a:lnSpc>
              <a:spcBef>
                <a:spcPts val="400"/>
              </a:spcBef>
              <a:spcAft>
                <a:spcPts val="0"/>
              </a:spcAft>
              <a:buSzPts val="1800"/>
              <a:buNone/>
            </a:pPr>
            <a:r>
              <a:t/>
            </a:r>
            <a:endParaRPr/>
          </a:p>
        </p:txBody>
      </p:sp>
      <p:sp>
        <p:nvSpPr>
          <p:cNvPr id="1561" name="Google Shape;1561;p14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562" name="Google Shape;1562;p14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563" name="Google Shape;1563;p14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1564" name="Google Shape;1564;p144"/>
          <p:cNvPicPr preferRelativeResize="0"/>
          <p:nvPr/>
        </p:nvPicPr>
        <p:blipFill rotWithShape="1">
          <a:blip r:embed="rId3">
            <a:alphaModFix/>
          </a:blip>
          <a:srcRect b="0" l="0" r="0" t="0"/>
          <a:stretch/>
        </p:blipFill>
        <p:spPr>
          <a:xfrm>
            <a:off x="5507452" y="158792"/>
            <a:ext cx="3024336" cy="4465446"/>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8" name="Shape 1568"/>
        <p:cNvGrpSpPr/>
        <p:nvPr/>
      </p:nvGrpSpPr>
      <p:grpSpPr>
        <a:xfrm>
          <a:off x="0" y="0"/>
          <a:ext cx="0" cy="0"/>
          <a:chOff x="0" y="0"/>
          <a:chExt cx="0" cy="0"/>
        </a:xfrm>
      </p:grpSpPr>
      <p:sp>
        <p:nvSpPr>
          <p:cNvPr id="1569" name="Google Shape;1569;p145"/>
          <p:cNvSpPr txBox="1"/>
          <p:nvPr>
            <p:ph idx="1" type="body"/>
          </p:nvPr>
        </p:nvSpPr>
        <p:spPr>
          <a:xfrm>
            <a:off x="268052" y="709351"/>
            <a:ext cx="4258816" cy="5095914"/>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IN" sz="2000"/>
              <a:t>The Device Controller works like </a:t>
            </a:r>
            <a:endParaRPr sz="2000"/>
          </a:p>
          <a:p>
            <a:pPr indent="-182880" lvl="1" marL="384048" rtl="0" algn="l">
              <a:lnSpc>
                <a:spcPct val="90000"/>
              </a:lnSpc>
              <a:spcBef>
                <a:spcPts val="400"/>
              </a:spcBef>
              <a:spcAft>
                <a:spcPts val="0"/>
              </a:spcAft>
              <a:buSzPts val="1800"/>
              <a:buChar char="◦"/>
            </a:pPr>
            <a:r>
              <a:rPr b="1" lang="en-IN"/>
              <a:t>an interface between a device and a device driver</a:t>
            </a:r>
            <a:r>
              <a:rPr lang="en-IN"/>
              <a:t>. </a:t>
            </a:r>
            <a:endParaRPr/>
          </a:p>
          <a:p>
            <a:pPr indent="-127000" lvl="0" marL="91440" rtl="0" algn="l">
              <a:lnSpc>
                <a:spcPct val="90000"/>
              </a:lnSpc>
              <a:spcBef>
                <a:spcPts val="1600"/>
              </a:spcBef>
              <a:spcAft>
                <a:spcPts val="0"/>
              </a:spcAft>
              <a:buSzPts val="2000"/>
              <a:buChar char=" "/>
            </a:pPr>
            <a:r>
              <a:rPr b="1" lang="en-IN" sz="2000"/>
              <a:t>There is always a device controller and a device driver </a:t>
            </a:r>
            <a:endParaRPr b="1" sz="2000"/>
          </a:p>
          <a:p>
            <a:pPr indent="-182880" lvl="1" marL="384048" rtl="0" algn="l">
              <a:lnSpc>
                <a:spcPct val="90000"/>
              </a:lnSpc>
              <a:spcBef>
                <a:spcPts val="400"/>
              </a:spcBef>
              <a:spcAft>
                <a:spcPts val="0"/>
              </a:spcAft>
              <a:buSzPts val="1800"/>
              <a:buChar char="◦"/>
            </a:pPr>
            <a:r>
              <a:rPr lang="en-IN"/>
              <a:t>for each device to communicate with the Operating Systems. </a:t>
            </a:r>
            <a:endParaRPr/>
          </a:p>
          <a:p>
            <a:pPr indent="-127000" lvl="0" marL="91440" rtl="0" algn="l">
              <a:lnSpc>
                <a:spcPct val="90000"/>
              </a:lnSpc>
              <a:spcBef>
                <a:spcPts val="1600"/>
              </a:spcBef>
              <a:spcAft>
                <a:spcPts val="0"/>
              </a:spcAft>
              <a:buSzPts val="2000"/>
              <a:buChar char=" "/>
            </a:pPr>
            <a:r>
              <a:rPr lang="en-IN" sz="2000"/>
              <a:t>I/O units (Keyboard, mouse, printer, etc.) typically consist of </a:t>
            </a:r>
            <a:endParaRPr/>
          </a:p>
          <a:p>
            <a:pPr indent="-182880" lvl="1" marL="384048" rtl="0" algn="l">
              <a:lnSpc>
                <a:spcPct val="90000"/>
              </a:lnSpc>
              <a:spcBef>
                <a:spcPts val="400"/>
              </a:spcBef>
              <a:spcAft>
                <a:spcPts val="0"/>
              </a:spcAft>
              <a:buSzPts val="1800"/>
              <a:buChar char="◦"/>
            </a:pPr>
            <a:r>
              <a:rPr b="1" lang="en-IN"/>
              <a:t>a mechanical component and </a:t>
            </a:r>
            <a:endParaRPr/>
          </a:p>
          <a:p>
            <a:pPr indent="-182880" lvl="1" marL="384048" rtl="0" algn="l">
              <a:lnSpc>
                <a:spcPct val="90000"/>
              </a:lnSpc>
              <a:spcBef>
                <a:spcPts val="600"/>
              </a:spcBef>
              <a:spcAft>
                <a:spcPts val="0"/>
              </a:spcAft>
              <a:buSzPts val="1800"/>
              <a:buChar char="◦"/>
            </a:pPr>
            <a:r>
              <a:rPr b="1" lang="en-IN"/>
              <a:t>an electronic component </a:t>
            </a:r>
            <a:endParaRPr/>
          </a:p>
          <a:p>
            <a:pPr indent="-182880" lvl="1" marL="384048" rtl="0" algn="l">
              <a:lnSpc>
                <a:spcPct val="90000"/>
              </a:lnSpc>
              <a:spcBef>
                <a:spcPts val="600"/>
              </a:spcBef>
              <a:spcAft>
                <a:spcPts val="0"/>
              </a:spcAft>
              <a:buSzPts val="1800"/>
              <a:buChar char="◦"/>
            </a:pPr>
            <a:r>
              <a:rPr b="1" lang="en-IN"/>
              <a:t>where electronic component is called the device controller.</a:t>
            </a:r>
            <a:endParaRPr/>
          </a:p>
          <a:p>
            <a:pPr indent="-68579" lvl="1" marL="384048" rtl="0" algn="l">
              <a:lnSpc>
                <a:spcPct val="90000"/>
              </a:lnSpc>
              <a:spcBef>
                <a:spcPts val="600"/>
              </a:spcBef>
              <a:spcAft>
                <a:spcPts val="0"/>
              </a:spcAft>
              <a:buSzPts val="1800"/>
              <a:buNone/>
            </a:pPr>
            <a:r>
              <a:t/>
            </a:r>
            <a:endParaRPr/>
          </a:p>
        </p:txBody>
      </p:sp>
      <p:sp>
        <p:nvSpPr>
          <p:cNvPr id="1570" name="Google Shape;1570;p14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571" name="Google Shape;1571;p14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572" name="Google Shape;1572;p14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573" name="Google Shape;1573;p145"/>
          <p:cNvSpPr txBox="1"/>
          <p:nvPr/>
        </p:nvSpPr>
        <p:spPr>
          <a:xfrm>
            <a:off x="-252536" y="46917"/>
            <a:ext cx="4258816" cy="56207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200"/>
              <a:buFont typeface="Calibri"/>
              <a:buNone/>
            </a:pPr>
            <a:r>
              <a:rPr b="1" lang="en-IN" sz="3200">
                <a:solidFill>
                  <a:schemeClr val="dk1"/>
                </a:solidFill>
                <a:latin typeface="Calibri"/>
                <a:ea typeface="Calibri"/>
                <a:cs typeface="Calibri"/>
                <a:sym typeface="Calibri"/>
              </a:rPr>
              <a:t>Device Controllers</a:t>
            </a:r>
            <a:endParaRPr sz="3200">
              <a:solidFill>
                <a:schemeClr val="dk1"/>
              </a:solidFill>
              <a:latin typeface="Calibri"/>
              <a:ea typeface="Calibri"/>
              <a:cs typeface="Calibri"/>
              <a:sym typeface="Calibri"/>
            </a:endParaRPr>
          </a:p>
        </p:txBody>
      </p:sp>
      <p:sp>
        <p:nvSpPr>
          <p:cNvPr id="1574" name="Google Shape;1574;p145"/>
          <p:cNvSpPr/>
          <p:nvPr/>
        </p:nvSpPr>
        <p:spPr>
          <a:xfrm>
            <a:off x="395536" y="6145559"/>
            <a:ext cx="826266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400">
                <a:solidFill>
                  <a:schemeClr val="dk1"/>
                </a:solidFill>
                <a:latin typeface="Calibri"/>
                <a:ea typeface="Calibri"/>
                <a:cs typeface="Calibri"/>
                <a:sym typeface="Calibri"/>
              </a:rPr>
              <a:t>Courtesy:https://www.tutorialspoint.com/operating_system/os_io_hardware.htm</a:t>
            </a:r>
            <a:endParaRPr/>
          </a:p>
        </p:txBody>
      </p:sp>
      <p:pic>
        <p:nvPicPr>
          <p:cNvPr id="1575" name="Google Shape;1575;p145"/>
          <p:cNvPicPr preferRelativeResize="0"/>
          <p:nvPr/>
        </p:nvPicPr>
        <p:blipFill rotWithShape="1">
          <a:blip r:embed="rId3">
            <a:alphaModFix/>
          </a:blip>
          <a:srcRect b="28006" l="22409" r="24217" t="4146"/>
          <a:stretch/>
        </p:blipFill>
        <p:spPr>
          <a:xfrm>
            <a:off x="4425410" y="709351"/>
            <a:ext cx="3963014" cy="3768112"/>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9" name="Shape 1579"/>
        <p:cNvGrpSpPr/>
        <p:nvPr/>
      </p:nvGrpSpPr>
      <p:grpSpPr>
        <a:xfrm>
          <a:off x="0" y="0"/>
          <a:ext cx="0" cy="0"/>
          <a:chOff x="0" y="0"/>
          <a:chExt cx="0" cy="0"/>
        </a:xfrm>
      </p:grpSpPr>
      <p:sp>
        <p:nvSpPr>
          <p:cNvPr id="1580" name="Google Shape;1580;p146"/>
          <p:cNvSpPr txBox="1"/>
          <p:nvPr>
            <p:ph type="title"/>
          </p:nvPr>
        </p:nvSpPr>
        <p:spPr>
          <a:xfrm>
            <a:off x="192155" y="158605"/>
            <a:ext cx="3155709" cy="562074"/>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200"/>
              <a:buFont typeface="Calibri"/>
              <a:buNone/>
            </a:pPr>
            <a:r>
              <a:rPr b="1" lang="en-IN" sz="3200"/>
              <a:t>Device Controllers</a:t>
            </a:r>
            <a:endParaRPr sz="3200"/>
          </a:p>
        </p:txBody>
      </p:sp>
      <p:sp>
        <p:nvSpPr>
          <p:cNvPr id="1581" name="Google Shape;1581;p146"/>
          <p:cNvSpPr txBox="1"/>
          <p:nvPr>
            <p:ph idx="1" type="body"/>
          </p:nvPr>
        </p:nvSpPr>
        <p:spPr>
          <a:xfrm>
            <a:off x="179512" y="848360"/>
            <a:ext cx="7620000" cy="480060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b="1" lang="en-IN" sz="2400"/>
              <a:t>A Electrical component/device controller controls the device</a:t>
            </a:r>
            <a:endParaRPr/>
          </a:p>
          <a:p>
            <a:pPr indent="-182880" lvl="1" marL="384048" rtl="0" algn="l">
              <a:lnSpc>
                <a:spcPct val="90000"/>
              </a:lnSpc>
              <a:spcBef>
                <a:spcPts val="400"/>
              </a:spcBef>
              <a:spcAft>
                <a:spcPts val="0"/>
              </a:spcAft>
              <a:buSzPts val="2000"/>
              <a:buChar char="◦"/>
            </a:pPr>
            <a:r>
              <a:rPr b="1" lang="en-IN" sz="2000"/>
              <a:t>May be able to handle multiple devices. </a:t>
            </a:r>
            <a:endParaRPr b="1" sz="2000"/>
          </a:p>
          <a:p>
            <a:pPr indent="-182880" lvl="1" marL="384048" rtl="0" algn="l">
              <a:lnSpc>
                <a:spcPct val="90000"/>
              </a:lnSpc>
              <a:spcBef>
                <a:spcPts val="600"/>
              </a:spcBef>
              <a:spcAft>
                <a:spcPts val="0"/>
              </a:spcAft>
              <a:buSzPts val="2000"/>
              <a:buChar char="◦"/>
            </a:pPr>
            <a:r>
              <a:rPr b="1" lang="en-IN" sz="2000"/>
              <a:t>May be more than one controller per mechanical component. (Eg- Hard drive)</a:t>
            </a:r>
            <a:endParaRPr/>
          </a:p>
          <a:p>
            <a:pPr indent="-55879" lvl="1" marL="384048" rtl="0" algn="l">
              <a:lnSpc>
                <a:spcPct val="90000"/>
              </a:lnSpc>
              <a:spcBef>
                <a:spcPts val="600"/>
              </a:spcBef>
              <a:spcAft>
                <a:spcPts val="0"/>
              </a:spcAft>
              <a:buSzPts val="2000"/>
              <a:buNone/>
            </a:pPr>
            <a:r>
              <a:t/>
            </a:r>
            <a:endParaRPr sz="2000"/>
          </a:p>
          <a:p>
            <a:pPr indent="-152400" lvl="0" marL="91440" rtl="0" algn="l">
              <a:lnSpc>
                <a:spcPct val="90000"/>
              </a:lnSpc>
              <a:spcBef>
                <a:spcPts val="1600"/>
              </a:spcBef>
              <a:spcAft>
                <a:spcPts val="0"/>
              </a:spcAft>
              <a:buSzPts val="2400"/>
              <a:buChar char=" "/>
            </a:pPr>
            <a:r>
              <a:rPr lang="en-IN" sz="2400"/>
              <a:t>Controller’s Tasks-</a:t>
            </a:r>
            <a:endParaRPr/>
          </a:p>
          <a:p>
            <a:pPr indent="-182880" lvl="1" marL="384048" rtl="0" algn="l">
              <a:lnSpc>
                <a:spcPct val="90000"/>
              </a:lnSpc>
              <a:spcBef>
                <a:spcPts val="400"/>
              </a:spcBef>
              <a:spcAft>
                <a:spcPts val="0"/>
              </a:spcAft>
              <a:buSzPts val="2000"/>
              <a:buChar char="◦"/>
            </a:pPr>
            <a:r>
              <a:rPr lang="en-IN" sz="2000"/>
              <a:t>Convert serial bit stream to block of bytes, </a:t>
            </a:r>
            <a:endParaRPr sz="2000"/>
          </a:p>
          <a:p>
            <a:pPr indent="-182880" lvl="1" marL="384048" rtl="0" algn="l">
              <a:lnSpc>
                <a:spcPct val="90000"/>
              </a:lnSpc>
              <a:spcBef>
                <a:spcPts val="600"/>
              </a:spcBef>
              <a:spcAft>
                <a:spcPts val="0"/>
              </a:spcAft>
              <a:buSzPts val="2000"/>
              <a:buChar char="◦"/>
            </a:pPr>
            <a:r>
              <a:rPr b="1" lang="en-IN" sz="2000"/>
              <a:t>Perform error correction as necessary</a:t>
            </a:r>
            <a:endParaRPr/>
          </a:p>
          <a:p>
            <a:pPr indent="-182880" lvl="1" marL="384048" rtl="0" algn="l">
              <a:lnSpc>
                <a:spcPct val="90000"/>
              </a:lnSpc>
              <a:spcBef>
                <a:spcPts val="600"/>
              </a:spcBef>
              <a:spcAft>
                <a:spcPts val="0"/>
              </a:spcAft>
              <a:buSzPts val="2000"/>
              <a:buChar char="◦"/>
            </a:pPr>
            <a:r>
              <a:rPr b="1" lang="en-IN" sz="2000"/>
              <a:t>Make device available to main memory</a:t>
            </a:r>
            <a:endParaRPr/>
          </a:p>
          <a:p>
            <a:pPr indent="-55879" lvl="1" marL="384048" rtl="0" algn="l">
              <a:lnSpc>
                <a:spcPct val="90000"/>
              </a:lnSpc>
              <a:spcBef>
                <a:spcPts val="600"/>
              </a:spcBef>
              <a:spcAft>
                <a:spcPts val="0"/>
              </a:spcAft>
              <a:buSzPts val="2000"/>
              <a:buNone/>
            </a:pPr>
            <a:r>
              <a:t/>
            </a:r>
            <a:endParaRPr sz="2000"/>
          </a:p>
          <a:p>
            <a:pPr indent="0" lvl="0" marL="91440" rtl="0" algn="l">
              <a:lnSpc>
                <a:spcPct val="90000"/>
              </a:lnSpc>
              <a:spcBef>
                <a:spcPts val="1600"/>
              </a:spcBef>
              <a:spcAft>
                <a:spcPts val="0"/>
              </a:spcAft>
              <a:buSzPts val="2000"/>
              <a:buNone/>
            </a:pPr>
            <a:r>
              <a:t/>
            </a:r>
            <a:endParaRPr/>
          </a:p>
        </p:txBody>
      </p:sp>
      <p:sp>
        <p:nvSpPr>
          <p:cNvPr id="1582" name="Google Shape;1582;p14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583" name="Google Shape;1583;p14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584" name="Google Shape;1584;p14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585" name="Google Shape;1585;p146"/>
          <p:cNvSpPr/>
          <p:nvPr/>
        </p:nvSpPr>
        <p:spPr>
          <a:xfrm>
            <a:off x="395536" y="5904323"/>
            <a:ext cx="826266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400">
                <a:solidFill>
                  <a:schemeClr val="dk1"/>
                </a:solidFill>
                <a:latin typeface="Calibri"/>
                <a:ea typeface="Calibri"/>
                <a:cs typeface="Calibri"/>
                <a:sym typeface="Calibri"/>
              </a:rPr>
              <a:t>Courtesy:https://www.tutorialspoint.com/operating_system/os_io_hardware.htm</a:t>
            </a:r>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9" name="Shape 1589"/>
        <p:cNvGrpSpPr/>
        <p:nvPr/>
      </p:nvGrpSpPr>
      <p:grpSpPr>
        <a:xfrm>
          <a:off x="0" y="0"/>
          <a:ext cx="0" cy="0"/>
          <a:chOff x="0" y="0"/>
          <a:chExt cx="0" cy="0"/>
        </a:xfrm>
      </p:grpSpPr>
      <p:sp>
        <p:nvSpPr>
          <p:cNvPr id="1590" name="Google Shape;1590;p147"/>
          <p:cNvSpPr txBox="1"/>
          <p:nvPr>
            <p:ph type="title"/>
          </p:nvPr>
        </p:nvSpPr>
        <p:spPr>
          <a:xfrm>
            <a:off x="467544" y="116632"/>
            <a:ext cx="8229600" cy="418058"/>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IN"/>
              <a:t>Linker</a:t>
            </a:r>
            <a:endParaRPr/>
          </a:p>
        </p:txBody>
      </p:sp>
      <p:sp>
        <p:nvSpPr>
          <p:cNvPr id="1591" name="Google Shape;1591;p14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02-09-2024</a:t>
            </a:r>
            <a:endParaRPr/>
          </a:p>
        </p:txBody>
      </p:sp>
      <p:sp>
        <p:nvSpPr>
          <p:cNvPr id="1592" name="Google Shape;1592;p14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PROF. SHWETA DHAWAN CHACHRA, PROF. KIRTI SAWLANI</a:t>
            </a:r>
            <a:endParaRPr/>
          </a:p>
        </p:txBody>
      </p:sp>
      <p:sp>
        <p:nvSpPr>
          <p:cNvPr id="1593" name="Google Shape;1593;p14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594" name="Google Shape;1594;p147"/>
          <p:cNvSpPr/>
          <p:nvPr/>
        </p:nvSpPr>
        <p:spPr>
          <a:xfrm>
            <a:off x="299980" y="1196752"/>
            <a:ext cx="8520492" cy="3816429"/>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200"/>
              <a:buFont typeface="Arial"/>
              <a:buChar char="•"/>
            </a:pPr>
            <a:r>
              <a:rPr lang="en-IN" sz="2200">
                <a:solidFill>
                  <a:schemeClr val="dk1"/>
                </a:solidFill>
                <a:latin typeface="Calibri"/>
                <a:ea typeface="Calibri"/>
                <a:cs typeface="Calibri"/>
                <a:sym typeface="Calibri"/>
              </a:rPr>
              <a:t>The major tasks–</a:t>
            </a:r>
            <a:endParaRPr/>
          </a:p>
          <a:p>
            <a:pPr indent="-203200" lvl="1" marL="800100" marR="0" rtl="0" algn="l">
              <a:spcBef>
                <a:spcPts val="0"/>
              </a:spcBef>
              <a:spcAft>
                <a:spcPts val="0"/>
              </a:spcAft>
              <a:buClr>
                <a:schemeClr val="dk1"/>
              </a:buClr>
              <a:buSzPts val="2200"/>
              <a:buFont typeface="Arial"/>
              <a:buNone/>
            </a:pPr>
            <a:r>
              <a:t/>
            </a:r>
            <a:endParaRPr b="0" i="0" sz="22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200"/>
              <a:buFont typeface="Arial"/>
              <a:buChar char="•"/>
            </a:pPr>
            <a:r>
              <a:rPr b="0" i="0" lang="en-IN" sz="2200" u="none" cap="none" strike="noStrike">
                <a:solidFill>
                  <a:schemeClr val="dk1"/>
                </a:solidFill>
                <a:latin typeface="Calibri"/>
                <a:ea typeface="Calibri"/>
                <a:cs typeface="Calibri"/>
                <a:sym typeface="Calibri"/>
              </a:rPr>
              <a:t>Determines the memory locations that code from each module will occupy and relocates its instructions by adjusting absolute references</a:t>
            </a:r>
            <a:endParaRPr/>
          </a:p>
          <a:p>
            <a:pPr indent="-203200" lvl="1" marL="800100" marR="0" rtl="0" algn="l">
              <a:spcBef>
                <a:spcPts val="0"/>
              </a:spcBef>
              <a:spcAft>
                <a:spcPts val="0"/>
              </a:spcAft>
              <a:buClr>
                <a:schemeClr val="dk1"/>
              </a:buClr>
              <a:buSzPts val="2200"/>
              <a:buFont typeface="Arial"/>
              <a:buNone/>
            </a:pPr>
            <a:r>
              <a:t/>
            </a:r>
            <a:endParaRPr b="0" i="0" sz="2200" u="none" cap="none" strike="noStrike">
              <a:solidFill>
                <a:schemeClr val="dk1"/>
              </a:solidFill>
              <a:latin typeface="Calibri"/>
              <a:ea typeface="Calibri"/>
              <a:cs typeface="Calibri"/>
              <a:sym typeface="Calibri"/>
            </a:endParaRPr>
          </a:p>
          <a:p>
            <a:pPr indent="-342900" lvl="2" marL="1257300" marR="0" rtl="0" algn="l">
              <a:spcBef>
                <a:spcPts val="0"/>
              </a:spcBef>
              <a:spcAft>
                <a:spcPts val="0"/>
              </a:spcAft>
              <a:buClr>
                <a:schemeClr val="dk1"/>
              </a:buClr>
              <a:buSzPts val="2200"/>
              <a:buFont typeface="Arial"/>
              <a:buChar char="•"/>
            </a:pPr>
            <a:r>
              <a:rPr b="1" i="0" lang="en-IN" sz="2200" u="sng" cap="none" strike="noStrike">
                <a:solidFill>
                  <a:schemeClr val="dk1"/>
                </a:solidFill>
                <a:latin typeface="Calibri"/>
                <a:ea typeface="Calibri"/>
                <a:cs typeface="Calibri"/>
                <a:sym typeface="Calibri"/>
              </a:rPr>
              <a:t>To determine the memory location where these codes will be loaded, making the program instruction to have absolute references.</a:t>
            </a:r>
            <a:endParaRPr/>
          </a:p>
          <a:p>
            <a:pPr indent="-203200" lvl="1" marL="800100" marR="0" rtl="0" algn="l">
              <a:spcBef>
                <a:spcPts val="0"/>
              </a:spcBef>
              <a:spcAft>
                <a:spcPts val="0"/>
              </a:spcAft>
              <a:buClr>
                <a:schemeClr val="dk1"/>
              </a:buClr>
              <a:buSzPts val="2200"/>
              <a:buFont typeface="Arial"/>
              <a:buNone/>
            </a:pPr>
            <a:r>
              <a:t/>
            </a:r>
            <a:endParaRPr b="0" i="0" sz="22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200"/>
              <a:buFont typeface="Arial"/>
              <a:buChar char="•"/>
            </a:pPr>
            <a:r>
              <a:rPr b="1" i="0" lang="en-IN" sz="2200" u="sng" cap="none" strike="noStrike">
                <a:solidFill>
                  <a:schemeClr val="dk1"/>
                </a:solidFill>
                <a:latin typeface="Calibri"/>
                <a:ea typeface="Calibri"/>
                <a:cs typeface="Calibri"/>
                <a:sym typeface="Calibri"/>
              </a:rPr>
              <a:t>Resolves references among files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2020-07-02T08:04:47Z</dcterms:created>
  <dc:creator>Admin</dc:creator>
</cp:coreProperties>
</file>
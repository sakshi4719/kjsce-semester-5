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199.xml"/>
  <Override ContentType="application/vnd.openxmlformats-officedocument.presentationml.slide+xml" PartName="/ppt/slides/slide210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202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5.xml"/>
  <Override ContentType="application/vnd.openxmlformats-officedocument.presentationml.slide+xml" PartName="/ppt/slides/slide237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217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233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229.xml"/>
  <Override ContentType="application/vnd.openxmlformats-officedocument.presentationml.slide+xml" PartName="/ppt/slides/slide136.xml"/>
  <Override ContentType="application/vnd.openxmlformats-officedocument.presentationml.slide+xml" PartName="/ppt/slides/slide184.xml"/>
  <Override ContentType="application/vnd.openxmlformats-officedocument.presentationml.slide+xml" PartName="/ppt/slides/slide141.xml"/>
  <Override ContentType="application/vnd.openxmlformats-officedocument.presentationml.slide+xml" PartName="/ppt/slides/slide82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214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206.xml"/>
  <Override ContentType="application/vnd.openxmlformats-officedocument.presentationml.slide+xml" PartName="/ppt/slides/slide55.xml"/>
  <Override ContentType="application/vnd.openxmlformats-officedocument.presentationml.slide+xml" PartName="/ppt/slides/slide195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59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225.xml"/>
  <Override ContentType="application/vnd.openxmlformats-officedocument.presentationml.slide+xml" PartName="/ppt/slides/slide180.xml"/>
  <Override ContentType="application/vnd.openxmlformats-officedocument.presentationml.slide+xml" PartName="/ppt/slides/slide18.xml"/>
  <Override ContentType="application/vnd.openxmlformats-officedocument.presentationml.slide+xml" PartName="/ppt/slides/slide201.xml"/>
  <Override ContentType="application/vnd.openxmlformats-officedocument.presentationml.slide+xml" PartName="/ppt/slides/slide52.xml"/>
  <Override ContentType="application/vnd.openxmlformats-officedocument.presentationml.slide+xml" PartName="/ppt/slides/slide95.xml"/>
  <Override ContentType="application/vnd.openxmlformats-officedocument.presentationml.slide+xml" PartName="/ppt/slides/slide181.xml"/>
  <Override ContentType="application/vnd.openxmlformats-officedocument.presentationml.slide+xml" PartName="/ppt/slides/slide157.xml"/>
  <Override ContentType="application/vnd.openxmlformats-officedocument.presentationml.slide+xml" PartName="/ppt/slides/slide211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23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196.xml"/>
  <Override ContentType="application/vnd.openxmlformats-officedocument.presentationml.slide+xml" PartName="/ppt/slides/slide171.xml"/>
  <Override ContentType="application/vnd.openxmlformats-officedocument.presentationml.slide+xml" PartName="/ppt/slides/slide49.xml"/>
  <Override ContentType="application/vnd.openxmlformats-officedocument.presentationml.slide+xml" PartName="/ppt/slides/slide216.xml"/>
  <Override ContentType="application/vnd.openxmlformats-officedocument.presentationml.slide+xml" PartName="/ppt/slides/slide83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221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86.xml"/>
  <Override ContentType="application/vnd.openxmlformats-officedocument.presentationml.slide+xml" PartName="/ppt/slides/slide215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222.xml"/>
  <Override ContentType="application/vnd.openxmlformats-officedocument.presentationml.slide+xml" PartName="/ppt/slides/slide205.xml"/>
  <Override ContentType="application/vnd.openxmlformats-officedocument.presentationml.slide+xml" PartName="/ppt/slides/slide160.xml"/>
  <Override ContentType="application/vnd.openxmlformats-officedocument.presentationml.slide+xml" PartName="/ppt/slides/slide232.xml"/>
  <Override ContentType="application/vnd.openxmlformats-officedocument.presentationml.slide+xml" PartName="/ppt/slides/slide100.xml"/>
  <Override ContentType="application/vnd.openxmlformats-officedocument.presentationml.slide+xml" PartName="/ppt/slides/slide90.xml"/>
  <Override ContentType="application/vnd.openxmlformats-officedocument.presentationml.slide+xml" PartName="/ppt/slides/slide143.xml"/>
  <Override ContentType="application/vnd.openxmlformats-officedocument.presentationml.slide+xml" PartName="/ppt/slides/slide132.xml"/>
  <Override ContentType="application/vnd.openxmlformats-officedocument.presentationml.slide+xml" PartName="/ppt/slides/slide62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26.xml"/>
  <Override ContentType="application/vnd.openxmlformats-officedocument.presentationml.slide+xml" PartName="/ppt/slides/slide28.xml"/>
  <Override ContentType="application/vnd.openxmlformats-officedocument.presentationml.slide+xml" PartName="/ppt/slides/slide209.xml"/>
  <Override ContentType="application/vnd.openxmlformats-officedocument.presentationml.slide+xml" PartName="/ppt/slides/slide200.xml"/>
  <Override ContentType="application/vnd.openxmlformats-officedocument.presentationml.slide+xml" PartName="/ppt/slides/slide88.xml"/>
  <Override ContentType="application/vnd.openxmlformats-officedocument.presentationml.slide+xml" PartName="/ppt/slides/slide158.xml"/>
  <Override ContentType="application/vnd.openxmlformats-officedocument.presentationml.slide+xml" PartName="/ppt/slides/slide115.xml"/>
  <Override ContentType="application/vnd.openxmlformats-officedocument.presentationml.slide+xml" PartName="/ppt/slides/slide3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227.xml"/>
  <Override ContentType="application/vnd.openxmlformats-officedocument.presentationml.slide+xml" PartName="/ppt/slides/slide33.xml"/>
  <Override ContentType="application/vnd.openxmlformats-officedocument.presentationml.slide+xml" PartName="/ppt/slides/slide219.xml"/>
  <Override ContentType="application/vnd.openxmlformats-officedocument.presentationml.slide+xml" PartName="/ppt/slides/slide68.xml"/>
  <Override ContentType="application/vnd.openxmlformats-officedocument.presentationml.slide+xml" PartName="/ppt/slides/slide170.xml"/>
  <Override ContentType="application/vnd.openxmlformats-officedocument.presentationml.slide+xml" PartName="/ppt/slides/slide20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220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235.xml"/>
  <Override ContentType="application/vnd.openxmlformats-officedocument.presentationml.slide+xml" PartName="/ppt/slides/slide154.xml"/>
  <Override ContentType="application/vnd.openxmlformats-officedocument.presentationml.slide+xml" PartName="/ppt/slides/slide197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3.xml"/>
  <Override ContentType="application/vnd.openxmlformats-officedocument.presentationml.slide+xml" PartName="/ppt/slides/slide240.xml"/>
  <Override ContentType="application/vnd.openxmlformats-officedocument.presentationml.slide+xml" PartName="/ppt/slides/slide22.xml"/>
  <Override ContentType="application/vnd.openxmlformats-officedocument.presentationml.slide+xml" PartName="/ppt/slides/slide185.xml"/>
  <Override ContentType="application/vnd.openxmlformats-officedocument.presentationml.slide+xml" PartName="/ppt/slides/slide231.xml"/>
  <Override ContentType="application/vnd.openxmlformats-officedocument.presentationml.slide+xml" PartName="/ppt/slides/slide65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178.xml"/>
  <Override ContentType="application/vnd.openxmlformats-officedocument.presentationml.slide+xml" PartName="/ppt/slides/slide29.xml"/>
  <Override ContentType="application/vnd.openxmlformats-officedocument.presentationml.slide+xml" PartName="/ppt/slides/slide212.xml"/>
  <Override ContentType="application/vnd.openxmlformats-officedocument.presentationml.slide+xml" PartName="/ppt/slides/slide76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57.xml"/>
  <Override ContentType="application/vnd.openxmlformats-officedocument.presentationml.slide+xml" PartName="/ppt/slides/slide238.xml"/>
  <Override ContentType="application/vnd.openxmlformats-officedocument.presentationml.slide+xml" PartName="/ppt/slides/slide44.xml"/>
  <Override ContentType="application/vnd.openxmlformats-officedocument.presentationml.slide+xml" PartName="/ppt/slides/slide193.xml"/>
  <Override ContentType="application/vnd.openxmlformats-officedocument.presentationml.slide+xml" PartName="/ppt/slides/slide208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22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198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218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6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83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203.xml"/>
  <Override ContentType="application/vnd.openxmlformats-officedocument.presentationml.slide+xml" PartName="/ppt/slides/slide124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234.xml"/>
  <Override ContentType="application/vnd.openxmlformats-officedocument.presentationml.slide+xml" PartName="/ppt/slides/slide194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34.xml"/>
  <Override ContentType="application/vnd.openxmlformats-officedocument.presentationml.slide+xml" PartName="/ppt/slides/slide207.xml"/>
  <Override ContentType="application/vnd.openxmlformats-officedocument.presentationml.slide+xml" PartName="/ppt/slides/slide224.xml"/>
  <Override ContentType="application/vnd.openxmlformats-officedocument.presentationml.slide+xml" PartName="/ppt/slides/slide47.xml"/>
  <Override ContentType="application/vnd.openxmlformats-officedocument.presentationml.slide+xml" PartName="/ppt/slides/slide241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213.xml"/>
  <Override ContentType="application/vnd.openxmlformats-officedocument.presentationml.slide+xml" PartName="/ppt/slides/slide58.xml"/>
  <Override ContentType="application/vnd.openxmlformats-officedocument.presentationml.slide+xml" PartName="/ppt/slides/slide239.xml"/>
  <Override ContentType="application/vnd.openxmlformats-officedocument.presentationml.slide+xml" PartName="/ppt/slides/slide15.xml"/>
  <Override ContentType="application/vnd.openxmlformats-officedocument.presentationml.slide+xml" PartName="/ppt/slides/slide230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222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206.xml"/>
  <Override ContentType="application/vnd.openxmlformats-officedocument.presentationml.notesSlide+xml" PartName="/ppt/notesSlides/notesSlide230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4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96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202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3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29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38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225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213.xml"/>
  <Override ContentType="application/vnd.openxmlformats-officedocument.presentationml.notesSlide+xml" PartName="/ppt/notesSlides/notesSlide223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231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0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9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217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35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2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199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218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224.xml"/>
  <Override ContentType="application/vnd.openxmlformats-officedocument.presentationml.notesSlide+xml" PartName="/ppt/notesSlides/notesSlide241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207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8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239.xml"/>
  <Override ContentType="application/vnd.openxmlformats-officedocument.presentationml.notesSlide+xml" PartName="/ppt/notesSlides/notesSlide24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23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20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16.xml"/>
  <Override ContentType="application/vnd.openxmlformats-officedocument.presentationml.notesSlide+xml" PartName="/ppt/notesSlides/notesSlide227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98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21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36.xml"/>
  <Override ContentType="application/vnd.openxmlformats-officedocument.presentationml.notesSlide+xml" PartName="/ppt/notesSlides/notesSlide20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20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212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93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21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205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233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97.xml"/>
  <Override ContentType="application/vnd.openxmlformats-officedocument.presentationml.notesSlide+xml" PartName="/ppt/notesSlides/notesSlide221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226.xml"/>
  <Override ContentType="application/vnd.openxmlformats-officedocument.presentationml.notesSlide+xml" PartName="/ppt/notesSlides/notesSlide200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09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237.xml"/>
  <Override ContentType="application/vnd.openxmlformats-officedocument.presentationml.notesSlide+xml" PartName="/ppt/notesSlides/notesSlide211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  <p:sldId id="492" r:id="rId244"/>
    <p:sldId id="493" r:id="rId245"/>
    <p:sldId id="494" r:id="rId246"/>
    <p:sldId id="495" r:id="rId247"/>
    <p:sldId id="496" r:id="rId248"/>
  </p:sldIdLst>
  <p:sldSz cy="6858000" cx="12192000"/>
  <p:notesSz cx="6858000" cy="9144000"/>
  <p:embeddedFontLst>
    <p:embeddedFont>
      <p:font typeface="Marcellus"/>
      <p:regular r:id="rId2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250" roundtripDataSignature="AMtx7mj9zYdS1S/BhxAt47bNtoYVyAFsy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Sakshi Raut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CD2308-13C4-4FE7-93F7-315DD53755DA}">
  <a:tblStyle styleId="{57CD2308-13C4-4FE7-93F7-315DD53755D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E8E7"/>
          </a:solidFill>
        </a:fill>
      </a:tcStyle>
    </a:wholeTbl>
    <a:band1H>
      <a:tcTxStyle/>
      <a:tcStyle>
        <a:fill>
          <a:solidFill>
            <a:srgbClr val="E5CECB"/>
          </a:solidFill>
        </a:fill>
      </a:tcStyle>
    </a:band1H>
    <a:band2H>
      <a:tcTxStyle/>
    </a:band2H>
    <a:band1V>
      <a:tcTxStyle/>
      <a:tcStyle>
        <a:fill>
          <a:solidFill>
            <a:srgbClr val="E5CECB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5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5"/>
          </a:solidFill>
        </a:fill>
      </a:tcStyle>
    </a:firstRow>
    <a:neCell>
      <a:tcTxStyle/>
    </a:neCell>
    <a:nwCell>
      <a:tcTxStyle/>
    </a:nwCell>
  </a:tblStyle>
  <a:tblStyle styleId="{B17DF7C6-CB32-4517-A06D-DF6127445FCC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190" Type="http://schemas.openxmlformats.org/officeDocument/2006/relationships/slide" Target="slides/slide18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194" Type="http://schemas.openxmlformats.org/officeDocument/2006/relationships/slide" Target="slides/slide187.xml"/><Relationship Id="rId43" Type="http://schemas.openxmlformats.org/officeDocument/2006/relationships/slide" Target="slides/slide36.xml"/><Relationship Id="rId193" Type="http://schemas.openxmlformats.org/officeDocument/2006/relationships/slide" Target="slides/slide186.xml"/><Relationship Id="rId46" Type="http://schemas.openxmlformats.org/officeDocument/2006/relationships/slide" Target="slides/slide39.xml"/><Relationship Id="rId192" Type="http://schemas.openxmlformats.org/officeDocument/2006/relationships/slide" Target="slides/slide185.xml"/><Relationship Id="rId45" Type="http://schemas.openxmlformats.org/officeDocument/2006/relationships/slide" Target="slides/slide38.xml"/><Relationship Id="rId191" Type="http://schemas.openxmlformats.org/officeDocument/2006/relationships/slide" Target="slides/slide184.xml"/><Relationship Id="rId48" Type="http://schemas.openxmlformats.org/officeDocument/2006/relationships/slide" Target="slides/slide41.xml"/><Relationship Id="rId187" Type="http://schemas.openxmlformats.org/officeDocument/2006/relationships/slide" Target="slides/slide180.xml"/><Relationship Id="rId47" Type="http://schemas.openxmlformats.org/officeDocument/2006/relationships/slide" Target="slides/slide40.xml"/><Relationship Id="rId186" Type="http://schemas.openxmlformats.org/officeDocument/2006/relationships/slide" Target="slides/slide179.xml"/><Relationship Id="rId185" Type="http://schemas.openxmlformats.org/officeDocument/2006/relationships/slide" Target="slides/slide178.xml"/><Relationship Id="rId49" Type="http://schemas.openxmlformats.org/officeDocument/2006/relationships/slide" Target="slides/slide42.xml"/><Relationship Id="rId184" Type="http://schemas.openxmlformats.org/officeDocument/2006/relationships/slide" Target="slides/slide177.xml"/><Relationship Id="rId189" Type="http://schemas.openxmlformats.org/officeDocument/2006/relationships/slide" Target="slides/slide182.xml"/><Relationship Id="rId188" Type="http://schemas.openxmlformats.org/officeDocument/2006/relationships/slide" Target="slides/slide18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183" Type="http://schemas.openxmlformats.org/officeDocument/2006/relationships/slide" Target="slides/slide176.xml"/><Relationship Id="rId32" Type="http://schemas.openxmlformats.org/officeDocument/2006/relationships/slide" Target="slides/slide25.xml"/><Relationship Id="rId182" Type="http://schemas.openxmlformats.org/officeDocument/2006/relationships/slide" Target="slides/slide175.xml"/><Relationship Id="rId35" Type="http://schemas.openxmlformats.org/officeDocument/2006/relationships/slide" Target="slides/slide28.xml"/><Relationship Id="rId181" Type="http://schemas.openxmlformats.org/officeDocument/2006/relationships/slide" Target="slides/slide174.xml"/><Relationship Id="rId34" Type="http://schemas.openxmlformats.org/officeDocument/2006/relationships/slide" Target="slides/slide27.xml"/><Relationship Id="rId180" Type="http://schemas.openxmlformats.org/officeDocument/2006/relationships/slide" Target="slides/slide173.xml"/><Relationship Id="rId37" Type="http://schemas.openxmlformats.org/officeDocument/2006/relationships/slide" Target="slides/slide30.xml"/><Relationship Id="rId176" Type="http://schemas.openxmlformats.org/officeDocument/2006/relationships/slide" Target="slides/slide169.xml"/><Relationship Id="rId36" Type="http://schemas.openxmlformats.org/officeDocument/2006/relationships/slide" Target="slides/slide29.xml"/><Relationship Id="rId175" Type="http://schemas.openxmlformats.org/officeDocument/2006/relationships/slide" Target="slides/slide168.xml"/><Relationship Id="rId39" Type="http://schemas.openxmlformats.org/officeDocument/2006/relationships/slide" Target="slides/slide32.xml"/><Relationship Id="rId174" Type="http://schemas.openxmlformats.org/officeDocument/2006/relationships/slide" Target="slides/slide167.xml"/><Relationship Id="rId38" Type="http://schemas.openxmlformats.org/officeDocument/2006/relationships/slide" Target="slides/slide31.xml"/><Relationship Id="rId173" Type="http://schemas.openxmlformats.org/officeDocument/2006/relationships/slide" Target="slides/slide166.xml"/><Relationship Id="rId179" Type="http://schemas.openxmlformats.org/officeDocument/2006/relationships/slide" Target="slides/slide172.xml"/><Relationship Id="rId178" Type="http://schemas.openxmlformats.org/officeDocument/2006/relationships/slide" Target="slides/slide171.xml"/><Relationship Id="rId177" Type="http://schemas.openxmlformats.org/officeDocument/2006/relationships/slide" Target="slides/slide170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98" Type="http://schemas.openxmlformats.org/officeDocument/2006/relationships/slide" Target="slides/slide191.xml"/><Relationship Id="rId14" Type="http://schemas.openxmlformats.org/officeDocument/2006/relationships/slide" Target="slides/slide7.xml"/><Relationship Id="rId197" Type="http://schemas.openxmlformats.org/officeDocument/2006/relationships/slide" Target="slides/slide190.xml"/><Relationship Id="rId17" Type="http://schemas.openxmlformats.org/officeDocument/2006/relationships/slide" Target="slides/slide10.xml"/><Relationship Id="rId196" Type="http://schemas.openxmlformats.org/officeDocument/2006/relationships/slide" Target="slides/slide189.xml"/><Relationship Id="rId16" Type="http://schemas.openxmlformats.org/officeDocument/2006/relationships/slide" Target="slides/slide9.xml"/><Relationship Id="rId195" Type="http://schemas.openxmlformats.org/officeDocument/2006/relationships/slide" Target="slides/slide188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99" Type="http://schemas.openxmlformats.org/officeDocument/2006/relationships/slide" Target="slides/slide192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150" Type="http://schemas.openxmlformats.org/officeDocument/2006/relationships/slide" Target="slides/slide143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2.xml"/><Relationship Id="rId4" Type="http://schemas.openxmlformats.org/officeDocument/2006/relationships/tableStyles" Target="tableStyles.xml"/><Relationship Id="rId148" Type="http://schemas.openxmlformats.org/officeDocument/2006/relationships/slide" Target="slides/slide141.xml"/><Relationship Id="rId9" Type="http://schemas.openxmlformats.org/officeDocument/2006/relationships/slide" Target="slides/slide2.xml"/><Relationship Id="rId143" Type="http://schemas.openxmlformats.org/officeDocument/2006/relationships/slide" Target="slides/slide136.xml"/><Relationship Id="rId142" Type="http://schemas.openxmlformats.org/officeDocument/2006/relationships/slide" Target="slides/slide135.xml"/><Relationship Id="rId141" Type="http://schemas.openxmlformats.org/officeDocument/2006/relationships/slide" Target="slides/slide134.xml"/><Relationship Id="rId140" Type="http://schemas.openxmlformats.org/officeDocument/2006/relationships/slide" Target="slides/slide133.xml"/><Relationship Id="rId5" Type="http://schemas.openxmlformats.org/officeDocument/2006/relationships/commentAuthors" Target="commentAuthors.xml"/><Relationship Id="rId147" Type="http://schemas.openxmlformats.org/officeDocument/2006/relationships/slide" Target="slides/slide140.xml"/><Relationship Id="rId6" Type="http://schemas.openxmlformats.org/officeDocument/2006/relationships/slideMaster" Target="slideMasters/slideMaster1.xml"/><Relationship Id="rId146" Type="http://schemas.openxmlformats.org/officeDocument/2006/relationships/slide" Target="slides/slide139.xml"/><Relationship Id="rId7" Type="http://schemas.openxmlformats.org/officeDocument/2006/relationships/notesMaster" Target="notesMasters/notesMaster1.xml"/><Relationship Id="rId145" Type="http://schemas.openxmlformats.org/officeDocument/2006/relationships/slide" Target="slides/slide138.xml"/><Relationship Id="rId8" Type="http://schemas.openxmlformats.org/officeDocument/2006/relationships/slide" Target="slides/slide1.xml"/><Relationship Id="rId144" Type="http://schemas.openxmlformats.org/officeDocument/2006/relationships/slide" Target="slides/slide137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139" Type="http://schemas.openxmlformats.org/officeDocument/2006/relationships/slide" Target="slides/slide132.xml"/><Relationship Id="rId138" Type="http://schemas.openxmlformats.org/officeDocument/2006/relationships/slide" Target="slides/slide131.xml"/><Relationship Id="rId137" Type="http://schemas.openxmlformats.org/officeDocument/2006/relationships/slide" Target="slides/slide130.xml"/><Relationship Id="rId132" Type="http://schemas.openxmlformats.org/officeDocument/2006/relationships/slide" Target="slides/slide125.xml"/><Relationship Id="rId131" Type="http://schemas.openxmlformats.org/officeDocument/2006/relationships/slide" Target="slides/slide124.xml"/><Relationship Id="rId130" Type="http://schemas.openxmlformats.org/officeDocument/2006/relationships/slide" Target="slides/slide123.xml"/><Relationship Id="rId250" Type="http://customschemas.google.com/relationships/presentationmetadata" Target="metadata"/><Relationship Id="rId136" Type="http://schemas.openxmlformats.org/officeDocument/2006/relationships/slide" Target="slides/slide129.xml"/><Relationship Id="rId135" Type="http://schemas.openxmlformats.org/officeDocument/2006/relationships/slide" Target="slides/slide128.xml"/><Relationship Id="rId134" Type="http://schemas.openxmlformats.org/officeDocument/2006/relationships/slide" Target="slides/slide127.xml"/><Relationship Id="rId133" Type="http://schemas.openxmlformats.org/officeDocument/2006/relationships/slide" Target="slides/slide126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172" Type="http://schemas.openxmlformats.org/officeDocument/2006/relationships/slide" Target="slides/slide165.xml"/><Relationship Id="rId65" Type="http://schemas.openxmlformats.org/officeDocument/2006/relationships/slide" Target="slides/slide58.xml"/><Relationship Id="rId171" Type="http://schemas.openxmlformats.org/officeDocument/2006/relationships/slide" Target="slides/slide164.xml"/><Relationship Id="rId68" Type="http://schemas.openxmlformats.org/officeDocument/2006/relationships/slide" Target="slides/slide61.xml"/><Relationship Id="rId170" Type="http://schemas.openxmlformats.org/officeDocument/2006/relationships/slide" Target="slides/slide163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165" Type="http://schemas.openxmlformats.org/officeDocument/2006/relationships/slide" Target="slides/slide158.xml"/><Relationship Id="rId69" Type="http://schemas.openxmlformats.org/officeDocument/2006/relationships/slide" Target="slides/slide62.xml"/><Relationship Id="rId164" Type="http://schemas.openxmlformats.org/officeDocument/2006/relationships/slide" Target="slides/slide157.xml"/><Relationship Id="rId163" Type="http://schemas.openxmlformats.org/officeDocument/2006/relationships/slide" Target="slides/slide156.xml"/><Relationship Id="rId162" Type="http://schemas.openxmlformats.org/officeDocument/2006/relationships/slide" Target="slides/slide155.xml"/><Relationship Id="rId169" Type="http://schemas.openxmlformats.org/officeDocument/2006/relationships/slide" Target="slides/slide162.xml"/><Relationship Id="rId168" Type="http://schemas.openxmlformats.org/officeDocument/2006/relationships/slide" Target="slides/slide161.xml"/><Relationship Id="rId167" Type="http://schemas.openxmlformats.org/officeDocument/2006/relationships/slide" Target="slides/slide160.xml"/><Relationship Id="rId166" Type="http://schemas.openxmlformats.org/officeDocument/2006/relationships/slide" Target="slides/slide159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161" Type="http://schemas.openxmlformats.org/officeDocument/2006/relationships/slide" Target="slides/slide154.xml"/><Relationship Id="rId54" Type="http://schemas.openxmlformats.org/officeDocument/2006/relationships/slide" Target="slides/slide47.xml"/><Relationship Id="rId160" Type="http://schemas.openxmlformats.org/officeDocument/2006/relationships/slide" Target="slides/slide153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159" Type="http://schemas.openxmlformats.org/officeDocument/2006/relationships/slide" Target="slides/slide152.xml"/><Relationship Id="rId59" Type="http://schemas.openxmlformats.org/officeDocument/2006/relationships/slide" Target="slides/slide52.xml"/><Relationship Id="rId154" Type="http://schemas.openxmlformats.org/officeDocument/2006/relationships/slide" Target="slides/slide147.xml"/><Relationship Id="rId58" Type="http://schemas.openxmlformats.org/officeDocument/2006/relationships/slide" Target="slides/slide51.xml"/><Relationship Id="rId153" Type="http://schemas.openxmlformats.org/officeDocument/2006/relationships/slide" Target="slides/slide146.xml"/><Relationship Id="rId152" Type="http://schemas.openxmlformats.org/officeDocument/2006/relationships/slide" Target="slides/slide145.xml"/><Relationship Id="rId151" Type="http://schemas.openxmlformats.org/officeDocument/2006/relationships/slide" Target="slides/slide144.xml"/><Relationship Id="rId158" Type="http://schemas.openxmlformats.org/officeDocument/2006/relationships/slide" Target="slides/slide151.xml"/><Relationship Id="rId157" Type="http://schemas.openxmlformats.org/officeDocument/2006/relationships/slide" Target="slides/slide150.xml"/><Relationship Id="rId156" Type="http://schemas.openxmlformats.org/officeDocument/2006/relationships/slide" Target="slides/slide149.xml"/><Relationship Id="rId155" Type="http://schemas.openxmlformats.org/officeDocument/2006/relationships/slide" Target="slides/slide148.xml"/><Relationship Id="rId107" Type="http://schemas.openxmlformats.org/officeDocument/2006/relationships/slide" Target="slides/slide100.xml"/><Relationship Id="rId228" Type="http://schemas.openxmlformats.org/officeDocument/2006/relationships/slide" Target="slides/slide221.xml"/><Relationship Id="rId106" Type="http://schemas.openxmlformats.org/officeDocument/2006/relationships/slide" Target="slides/slide99.xml"/><Relationship Id="rId227" Type="http://schemas.openxmlformats.org/officeDocument/2006/relationships/slide" Target="slides/slide220.xml"/><Relationship Id="rId105" Type="http://schemas.openxmlformats.org/officeDocument/2006/relationships/slide" Target="slides/slide98.xml"/><Relationship Id="rId226" Type="http://schemas.openxmlformats.org/officeDocument/2006/relationships/slide" Target="slides/slide219.xml"/><Relationship Id="rId104" Type="http://schemas.openxmlformats.org/officeDocument/2006/relationships/slide" Target="slides/slide97.xml"/><Relationship Id="rId225" Type="http://schemas.openxmlformats.org/officeDocument/2006/relationships/slide" Target="slides/slide218.xml"/><Relationship Id="rId109" Type="http://schemas.openxmlformats.org/officeDocument/2006/relationships/slide" Target="slides/slide102.xml"/><Relationship Id="rId108" Type="http://schemas.openxmlformats.org/officeDocument/2006/relationships/slide" Target="slides/slide101.xml"/><Relationship Id="rId229" Type="http://schemas.openxmlformats.org/officeDocument/2006/relationships/slide" Target="slides/slide222.xml"/><Relationship Id="rId220" Type="http://schemas.openxmlformats.org/officeDocument/2006/relationships/slide" Target="slides/slide213.xml"/><Relationship Id="rId103" Type="http://schemas.openxmlformats.org/officeDocument/2006/relationships/slide" Target="slides/slide96.xml"/><Relationship Id="rId224" Type="http://schemas.openxmlformats.org/officeDocument/2006/relationships/slide" Target="slides/slide217.xml"/><Relationship Id="rId102" Type="http://schemas.openxmlformats.org/officeDocument/2006/relationships/slide" Target="slides/slide95.xml"/><Relationship Id="rId223" Type="http://schemas.openxmlformats.org/officeDocument/2006/relationships/slide" Target="slides/slide216.xml"/><Relationship Id="rId101" Type="http://schemas.openxmlformats.org/officeDocument/2006/relationships/slide" Target="slides/slide94.xml"/><Relationship Id="rId222" Type="http://schemas.openxmlformats.org/officeDocument/2006/relationships/slide" Target="slides/slide215.xml"/><Relationship Id="rId100" Type="http://schemas.openxmlformats.org/officeDocument/2006/relationships/slide" Target="slides/slide93.xml"/><Relationship Id="rId221" Type="http://schemas.openxmlformats.org/officeDocument/2006/relationships/slide" Target="slides/slide214.xml"/><Relationship Id="rId217" Type="http://schemas.openxmlformats.org/officeDocument/2006/relationships/slide" Target="slides/slide210.xml"/><Relationship Id="rId216" Type="http://schemas.openxmlformats.org/officeDocument/2006/relationships/slide" Target="slides/slide209.xml"/><Relationship Id="rId215" Type="http://schemas.openxmlformats.org/officeDocument/2006/relationships/slide" Target="slides/slide208.xml"/><Relationship Id="rId214" Type="http://schemas.openxmlformats.org/officeDocument/2006/relationships/slide" Target="slides/slide207.xml"/><Relationship Id="rId219" Type="http://schemas.openxmlformats.org/officeDocument/2006/relationships/slide" Target="slides/slide212.xml"/><Relationship Id="rId218" Type="http://schemas.openxmlformats.org/officeDocument/2006/relationships/slide" Target="slides/slide211.xml"/><Relationship Id="rId213" Type="http://schemas.openxmlformats.org/officeDocument/2006/relationships/slide" Target="slides/slide206.xml"/><Relationship Id="rId212" Type="http://schemas.openxmlformats.org/officeDocument/2006/relationships/slide" Target="slides/slide205.xml"/><Relationship Id="rId211" Type="http://schemas.openxmlformats.org/officeDocument/2006/relationships/slide" Target="slides/slide204.xml"/><Relationship Id="rId210" Type="http://schemas.openxmlformats.org/officeDocument/2006/relationships/slide" Target="slides/slide203.xml"/><Relationship Id="rId129" Type="http://schemas.openxmlformats.org/officeDocument/2006/relationships/slide" Target="slides/slide122.xml"/><Relationship Id="rId128" Type="http://schemas.openxmlformats.org/officeDocument/2006/relationships/slide" Target="slides/slide121.xml"/><Relationship Id="rId249" Type="http://schemas.openxmlformats.org/officeDocument/2006/relationships/font" Target="fonts/Marcellus-regular.fntdata"/><Relationship Id="rId127" Type="http://schemas.openxmlformats.org/officeDocument/2006/relationships/slide" Target="slides/slide120.xml"/><Relationship Id="rId248" Type="http://schemas.openxmlformats.org/officeDocument/2006/relationships/slide" Target="slides/slide241.xml"/><Relationship Id="rId126" Type="http://schemas.openxmlformats.org/officeDocument/2006/relationships/slide" Target="slides/slide119.xml"/><Relationship Id="rId247" Type="http://schemas.openxmlformats.org/officeDocument/2006/relationships/slide" Target="slides/slide240.xml"/><Relationship Id="rId121" Type="http://schemas.openxmlformats.org/officeDocument/2006/relationships/slide" Target="slides/slide114.xml"/><Relationship Id="rId242" Type="http://schemas.openxmlformats.org/officeDocument/2006/relationships/slide" Target="slides/slide235.xml"/><Relationship Id="rId120" Type="http://schemas.openxmlformats.org/officeDocument/2006/relationships/slide" Target="slides/slide113.xml"/><Relationship Id="rId241" Type="http://schemas.openxmlformats.org/officeDocument/2006/relationships/slide" Target="slides/slide234.xml"/><Relationship Id="rId240" Type="http://schemas.openxmlformats.org/officeDocument/2006/relationships/slide" Target="slides/slide233.xml"/><Relationship Id="rId125" Type="http://schemas.openxmlformats.org/officeDocument/2006/relationships/slide" Target="slides/slide118.xml"/><Relationship Id="rId246" Type="http://schemas.openxmlformats.org/officeDocument/2006/relationships/slide" Target="slides/slide239.xml"/><Relationship Id="rId124" Type="http://schemas.openxmlformats.org/officeDocument/2006/relationships/slide" Target="slides/slide117.xml"/><Relationship Id="rId245" Type="http://schemas.openxmlformats.org/officeDocument/2006/relationships/slide" Target="slides/slide238.xml"/><Relationship Id="rId123" Type="http://schemas.openxmlformats.org/officeDocument/2006/relationships/slide" Target="slides/slide116.xml"/><Relationship Id="rId244" Type="http://schemas.openxmlformats.org/officeDocument/2006/relationships/slide" Target="slides/slide237.xml"/><Relationship Id="rId122" Type="http://schemas.openxmlformats.org/officeDocument/2006/relationships/slide" Target="slides/slide115.xml"/><Relationship Id="rId243" Type="http://schemas.openxmlformats.org/officeDocument/2006/relationships/slide" Target="slides/slide236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99" Type="http://schemas.openxmlformats.org/officeDocument/2006/relationships/slide" Target="slides/slide92.xml"/><Relationship Id="rId98" Type="http://schemas.openxmlformats.org/officeDocument/2006/relationships/slide" Target="slides/slide91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18" Type="http://schemas.openxmlformats.org/officeDocument/2006/relationships/slide" Target="slides/slide111.xml"/><Relationship Id="rId239" Type="http://schemas.openxmlformats.org/officeDocument/2006/relationships/slide" Target="slides/slide232.xml"/><Relationship Id="rId117" Type="http://schemas.openxmlformats.org/officeDocument/2006/relationships/slide" Target="slides/slide110.xml"/><Relationship Id="rId238" Type="http://schemas.openxmlformats.org/officeDocument/2006/relationships/slide" Target="slides/slide231.xml"/><Relationship Id="rId116" Type="http://schemas.openxmlformats.org/officeDocument/2006/relationships/slide" Target="slides/slide109.xml"/><Relationship Id="rId237" Type="http://schemas.openxmlformats.org/officeDocument/2006/relationships/slide" Target="slides/slide230.xml"/><Relationship Id="rId115" Type="http://schemas.openxmlformats.org/officeDocument/2006/relationships/slide" Target="slides/slide108.xml"/><Relationship Id="rId236" Type="http://schemas.openxmlformats.org/officeDocument/2006/relationships/slide" Target="slides/slide229.xml"/><Relationship Id="rId119" Type="http://schemas.openxmlformats.org/officeDocument/2006/relationships/slide" Target="slides/slide112.xml"/><Relationship Id="rId110" Type="http://schemas.openxmlformats.org/officeDocument/2006/relationships/slide" Target="slides/slide103.xml"/><Relationship Id="rId231" Type="http://schemas.openxmlformats.org/officeDocument/2006/relationships/slide" Target="slides/slide224.xml"/><Relationship Id="rId230" Type="http://schemas.openxmlformats.org/officeDocument/2006/relationships/slide" Target="slides/slide223.xml"/><Relationship Id="rId114" Type="http://schemas.openxmlformats.org/officeDocument/2006/relationships/slide" Target="slides/slide107.xml"/><Relationship Id="rId235" Type="http://schemas.openxmlformats.org/officeDocument/2006/relationships/slide" Target="slides/slide228.xml"/><Relationship Id="rId113" Type="http://schemas.openxmlformats.org/officeDocument/2006/relationships/slide" Target="slides/slide106.xml"/><Relationship Id="rId234" Type="http://schemas.openxmlformats.org/officeDocument/2006/relationships/slide" Target="slides/slide227.xml"/><Relationship Id="rId112" Type="http://schemas.openxmlformats.org/officeDocument/2006/relationships/slide" Target="slides/slide105.xml"/><Relationship Id="rId233" Type="http://schemas.openxmlformats.org/officeDocument/2006/relationships/slide" Target="slides/slide226.xml"/><Relationship Id="rId111" Type="http://schemas.openxmlformats.org/officeDocument/2006/relationships/slide" Target="slides/slide104.xml"/><Relationship Id="rId232" Type="http://schemas.openxmlformats.org/officeDocument/2006/relationships/slide" Target="slides/slide225.xml"/><Relationship Id="rId206" Type="http://schemas.openxmlformats.org/officeDocument/2006/relationships/slide" Target="slides/slide199.xml"/><Relationship Id="rId205" Type="http://schemas.openxmlformats.org/officeDocument/2006/relationships/slide" Target="slides/slide198.xml"/><Relationship Id="rId204" Type="http://schemas.openxmlformats.org/officeDocument/2006/relationships/slide" Target="slides/slide197.xml"/><Relationship Id="rId203" Type="http://schemas.openxmlformats.org/officeDocument/2006/relationships/slide" Target="slides/slide196.xml"/><Relationship Id="rId209" Type="http://schemas.openxmlformats.org/officeDocument/2006/relationships/slide" Target="slides/slide202.xml"/><Relationship Id="rId208" Type="http://schemas.openxmlformats.org/officeDocument/2006/relationships/slide" Target="slides/slide201.xml"/><Relationship Id="rId207" Type="http://schemas.openxmlformats.org/officeDocument/2006/relationships/slide" Target="slides/slide200.xml"/><Relationship Id="rId202" Type="http://schemas.openxmlformats.org/officeDocument/2006/relationships/slide" Target="slides/slide195.xml"/><Relationship Id="rId201" Type="http://schemas.openxmlformats.org/officeDocument/2006/relationships/slide" Target="slides/slide194.xml"/><Relationship Id="rId200" Type="http://schemas.openxmlformats.org/officeDocument/2006/relationships/slide" Target="slides/slide19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11-25T10:09:49.567">
    <p:pos x="336" y="269"/>
    <p:text>easy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sREXyQ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4-11-25T10:17:54.839">
    <p:pos x="3202" y="216"/>
    <p:text>abstract data type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YsREXyU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7" name="Google Shape;727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2" name="Google Shape;932;p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3" name="Google Shape;1253;p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p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1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1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1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1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1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p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7" name="Google Shape;1657;p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3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p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p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1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1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1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9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p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p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p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1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p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4" name="Google Shape;1804;p1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p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9" name="Google Shape;1819;p1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p1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p1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9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p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1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p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5" name="Google Shape;1875;p1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7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p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9" name="Google Shape;1889;p1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p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3" name="Google Shape;1903;p1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p1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9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p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1" name="Google Shape;1931;p1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p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5" name="Google Shape;1945;p1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p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9" name="Google Shape;1959;p1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p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3" name="Google Shape;1973;p1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5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p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1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8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p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0" name="Google Shape;2000;p1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p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3" name="Google Shape;2013;p1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4" name="Shape 2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Google Shape;2025;p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6" name="Google Shape;2026;p1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p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9" name="Google Shape;2039;p1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3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p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5" name="Google Shape;2055;p1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0" name="Shape 2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" name="Google Shape;2071;p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2" name="Google Shape;2072;p1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4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p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6" name="Google Shape;2086;p1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0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Google Shape;2101;p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2" name="Google Shape;2102;p1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5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Google Shape;2116;p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7" name="Google Shape;2117;p1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0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1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2" name="Google Shape;2132;p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3" name="Google Shape;2133;p1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6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Google Shape;2147;p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8" name="Google Shape;2148;p1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2" name="Google Shape;2162;p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3" name="Google Shape;2163;p1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8" name="Google Shape;2178;p1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" name="Google Shape;2192;p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3" name="Google Shape;2193;p1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6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p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8" name="Google Shape;2208;p1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9" name="Shape 2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0" name="Google Shape;2220;p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1" name="Google Shape;2221;p1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4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p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6" name="Google Shape;2236;p1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9" name="Shape 2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0" name="Google Shape;2250;p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1" name="Google Shape;2251;p1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4" name="Shape 2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" name="Google Shape;2265;p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6" name="Google Shape;2266;p1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9" name="Shape 2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Google Shape;2280;p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1" name="Google Shape;2281;p1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3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5" name="Google Shape;2295;p1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Google Shape;2308;p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9" name="Google Shape;2309;p1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1" name="Shape 2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2" name="Google Shape;2322;p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3" name="Google Shape;2323;p1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5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p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p1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2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3" name="Google Shape;2353;p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4" name="Google Shape;2354;p1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6" name="Shape 2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7" name="Google Shape;2367;p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8" name="Google Shape;2368;p1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0" name="Shape 2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1" name="Google Shape;2381;p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2" name="Google Shape;2382;p1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4" name="Shape 2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5" name="Google Shape;2395;p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6" name="Google Shape;2396;p1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8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p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0" name="Google Shape;2410;p1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3" name="Shape 2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4" name="Google Shape;2424;p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5" name="Google Shape;2425;p1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9" name="Shape 2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0" name="Google Shape;2440;p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1" name="Google Shape;2441;p1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4" name="Shape 2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5" name="Google Shape;2455;p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6" name="Google Shape;2456;p1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9" name="Shape 2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0" name="Google Shape;2470;p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1" name="Google Shape;2471;p1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3" name="Shape 2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4" name="Google Shape;2484;p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5" name="Google Shape;2485;p1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8" name="Shape 2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9" name="Google Shape;2499;p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0" name="Google Shape;2500;p1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5" name="Shape 2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6" name="Google Shape;2516;p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7" name="Google Shape;2517;p1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2" name="Shape 2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3" name="Google Shape;2533;p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4" name="Google Shape;2534;p1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8" name="Shape 2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" name="Google Shape;2549;p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0" name="Google Shape;2550;p1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4" name="Shape 2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5" name="Google Shape;2565;p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6" name="Google Shape;2566;p1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7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8" name="Google Shape;2578;p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9" name="Google Shape;2579;p1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1" name="Shape 2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2" name="Google Shape;2592;p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3" name="Google Shape;2593;p1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5" name="Shape 2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6" name="Google Shape;2606;p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7" name="Google Shape;2607;p1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9" name="Shape 2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0" name="Google Shape;2620;p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1" name="Google Shape;2621;p1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3" name="Shape 2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4" name="Google Shape;2634;p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5" name="Google Shape;2635;p1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7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8" name="Google Shape;2648;p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9" name="Google Shape;2649;p1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1" name="Shape 2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" name="Google Shape;2662;p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3" name="Google Shape;2663;p1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5" name="Shape 2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6" name="Google Shape;2676;p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7" name="Google Shape;2677;p1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2" name="Shape 2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" name="Google Shape;2693;p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4" name="Google Shape;2694;p1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7" name="Shape 2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8" name="Google Shape;2708;p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9" name="Google Shape;2709;p1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2" name="Shape 2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" name="Google Shape;2723;p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4" name="Google Shape;2724;p1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7" name="Shape 2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8" name="Google Shape;2738;p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9" name="Google Shape;2739;p1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2" name="Shape 2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3" name="Google Shape;2753;p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4" name="Google Shape;2754;p1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6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p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8" name="Google Shape;2768;p1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3" name="Shape 2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4" name="Google Shape;2784;p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5" name="Google Shape;2785;p18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0" name="Shape 2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1" name="Google Shape;2801;p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2" name="Google Shape;2802;p1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8" name="Shape 2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9" name="Google Shape;2819;p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0" name="Google Shape;2820;p1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6" name="Shape 2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7" name="Google Shape;2837;p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8" name="Google Shape;2838;p1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0" name="Shape 2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1" name="Google Shape;2851;p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2" name="Google Shape;2852;p1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5" name="Shape 2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6" name="Google Shape;2866;p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7" name="Google Shape;2867;p1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0" name="Shape 2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1" name="Google Shape;2881;p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2" name="Google Shape;2882;p1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5" name="Shape 2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6" name="Google Shape;2896;p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7" name="Google Shape;2897;p1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0" name="Shape 2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1" name="Google Shape;2911;p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2" name="Google Shape;2912;p1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6" name="Shape 2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7" name="Google Shape;2927;p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8" name="Google Shape;2928;p1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2" name="Shape 2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3" name="Google Shape;2943;p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4" name="Google Shape;2944;p1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7" name="Shape 2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8" name="Google Shape;2958;p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9" name="Google Shape;2959;p1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2" name="Shape 2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3" name="Google Shape;2973;p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4" name="Google Shape;2974;p1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8" name="Shape 2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9" name="Google Shape;2989;p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0" name="Google Shape;2990;p1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4" name="Shape 3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5" name="Google Shape;3005;p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6" name="Google Shape;3006;p1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0" name="Shape 3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1" name="Google Shape;3021;p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2" name="Google Shape;3022;p1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4" name="Shape 3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5" name="Google Shape;3035;p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6" name="Google Shape;3036;p1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8" name="Shape 3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9" name="Google Shape;3049;p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0" name="Google Shape;3050;p1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3" name="Shape 3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4" name="Google Shape;3064;p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5" name="Google Shape;3065;p1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7" name="Shape 3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Google Shape;3078;p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9" name="Google Shape;3079;p2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1" name="Shape 3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" name="Google Shape;3092;p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3" name="Google Shape;3093;p20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9" name="Shape 3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0" name="Google Shape;3100;p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1" name="Google Shape;3101;p2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7" name="Shape 3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8" name="Google Shape;3108;p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9" name="Google Shape;3109;p2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5" name="Shape 3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6" name="Google Shape;3116;p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7" name="Google Shape;3117;p2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3" name="Shape 3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4" name="Google Shape;3124;p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5" name="Google Shape;3125;p2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1" name="Shape 3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2" name="Google Shape;3132;p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3" name="Google Shape;3133;p2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9" name="Shape 3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0" name="Google Shape;3140;p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1" name="Google Shape;3141;p20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7" name="Shape 3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8" name="Google Shape;3148;p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9" name="Google Shape;3149;p2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5" name="Shape 3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6" name="Google Shape;3156;p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7" name="Google Shape;3157;p2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3" name="Shape 3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" name="Google Shape;3164;p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5" name="Google Shape;3165;p2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1" name="Shape 3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2" name="Google Shape;3172;p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3" name="Google Shape;3173;p2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9" name="Shape 3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0" name="Google Shape;3180;p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1" name="Google Shape;3181;p2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7" name="Shape 3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8" name="Google Shape;3188;p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9" name="Google Shape;3189;p2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9" name="Shape 3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0" name="Google Shape;3200;g3191b4acc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1" name="Google Shape;3201;g3191b4acc5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2" name="Shape 3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3" name="Google Shape;3213;p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4" name="Google Shape;3214;p2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6" name="Shape 3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7" name="Google Shape;3227;p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8" name="Google Shape;3228;p2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0" name="Shape 3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1" name="Google Shape;3241;p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2" name="Google Shape;3242;p2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5" name="Shape 3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" name="Google Shape;3256;p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7" name="Google Shape;3257;p2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0" name="Shape 3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1" name="Google Shape;3271;p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2" name="Google Shape;3272;p2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5" name="Shape 3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6" name="Google Shape;3286;p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7" name="Google Shape;3287;p2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0" name="Shape 3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1" name="Google Shape;3301;p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2" name="Google Shape;3302;p2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5" name="Shape 3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6" name="Google Shape;3316;p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7" name="Google Shape;3317;p2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9" name="Shape 3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0" name="Google Shape;3330;p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1" name="Google Shape;3331;p2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3" name="Shape 3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4" name="Google Shape;3344;p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5" name="Google Shape;3345;p2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8" name="Shape 3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9" name="Google Shape;3359;p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0" name="Google Shape;3360;p2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3" name="Shape 3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4" name="Google Shape;3374;p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5" name="Google Shape;3375;p2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7" name="Shape 3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8" name="Google Shape;3388;p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9" name="Google Shape;3389;p2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2" name="Shape 3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3" name="Google Shape;3403;p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4" name="Google Shape;3404;p2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7" name="Shape 3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8" name="Google Shape;3418;p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9" name="Google Shape;3419;p2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1" name="Shape 3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2" name="Google Shape;3432;p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3" name="Google Shape;3433;p2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5" name="Shape 3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6" name="Google Shape;3446;p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7" name="Google Shape;3447;p2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9" name="Shape 3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0" name="Google Shape;3460;p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1" name="Google Shape;3461;p2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3" name="Shape 3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4" name="Google Shape;3474;p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5" name="Google Shape;3475;p2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8" name="Shape 3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9" name="Google Shape;3489;p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0" name="Google Shape;3490;p2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3" name="Shape 3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4" name="Google Shape;3504;p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5" name="Google Shape;3505;p2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7" name="Shape 3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8" name="Google Shape;3518;p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9" name="Google Shape;3519;p2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5" name="Shape 3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6" name="Google Shape;3536;p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7" name="Google Shape;3537;p2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4" name="Shape 3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5" name="Google Shape;3555;p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6" name="Google Shape;3556;p2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1" name="Shape 3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2" name="Google Shape;3572;p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3" name="Google Shape;3573;p2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5" name="Shape 3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6" name="Google Shape;3586;p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7" name="Google Shape;3587;p2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9" name="Shape 3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0" name="Google Shape;3600;p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1" name="Google Shape;3601;p2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4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4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4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1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12.jpg"/><Relationship Id="rId7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12.jpg"/><Relationship Id="rId7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1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1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2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2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18.png"/><Relationship Id="rId8" Type="http://schemas.openxmlformats.org/officeDocument/2006/relationships/image" Target="../media/image2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18.png"/><Relationship Id="rId8" Type="http://schemas.openxmlformats.org/officeDocument/2006/relationships/image" Target="../media/image2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1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1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26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26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26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27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27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27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8.jp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30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35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32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31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31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31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34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34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34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34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42.pn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42.png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41.png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41.png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41.png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4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38.png"/><Relationship Id="rId8" Type="http://schemas.openxmlformats.org/officeDocument/2006/relationships/image" Target="../media/image37.png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38.png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44.png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45.jpg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49.gif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45.jpg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45.jpg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45.jpg"/><Relationship Id="rId8" Type="http://schemas.openxmlformats.org/officeDocument/2006/relationships/image" Target="../media/image48.png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45.jpg"/><Relationship Id="rId8" Type="http://schemas.openxmlformats.org/officeDocument/2006/relationships/image" Target="../media/image48.png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45.jpg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comments" Target="../comments/comment1.xml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12.jpg"/></Relationships>
</file>

<file path=ppt/slides/_rels/slide1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52.png"/></Relationships>
</file>

<file path=ppt/slides/_rels/slide1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52.png"/></Relationships>
</file>

<file path=ppt/slides/_rels/slide1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52.png"/></Relationships>
</file>

<file path=ppt/slides/_rels/slide1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1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48.png"/></Relationships>
</file>

<file path=ppt/slides/_rels/slide1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2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2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/Relationships>
</file>

<file path=ppt/slides/_rels/slide2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/Relationships>
</file>

<file path=ppt/slides/_rels/slide2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2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2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comments" Target="../comments/comment2.xml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12.jpg"/></Relationships>
</file>

<file path=ppt/slides/_rels/slide2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2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2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51.png"/></Relationships>
</file>

<file path=ppt/slides/_rels/slide2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54.jpg"/><Relationship Id="rId8" Type="http://schemas.openxmlformats.org/officeDocument/2006/relationships/image" Target="../media/image51.png"/></Relationships>
</file>

<file path=ppt/slides/_rels/slide2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51.png"/></Relationships>
</file>

<file path=ppt/slides/_rels/slide2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51.png"/></Relationships>
</file>

<file path=ppt/slides/_rels/slide2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2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2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58.png"/></Relationships>
</file>

<file path=ppt/slides/_rels/slide2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55.jpg"/></Relationships>
</file>

<file path=ppt/slides/_rels/slide2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2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55.jpg"/><Relationship Id="rId8" Type="http://schemas.openxmlformats.org/officeDocument/2006/relationships/image" Target="../media/image58.png"/></Relationships>
</file>

<file path=ppt/slides/_rels/slide2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55.jpg"/></Relationships>
</file>

<file path=ppt/slides/_rels/slide2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2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2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2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2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52.png"/></Relationships>
</file>

<file path=ppt/slides/_rels/slide2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52.png"/></Relationships>
</file>

<file path=ppt/slides/_rels/slide2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2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2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Relationship Id="rId7" Type="http://schemas.openxmlformats.org/officeDocument/2006/relationships/image" Target="../media/image52.png"/></Relationships>
</file>

<file path=ppt/slides/_rels/slide2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2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2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_rels/slide2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Marcellus"/>
              <a:buNone/>
            </a:pPr>
            <a:r>
              <a:rPr lang="en-US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Process Synchronization</a:t>
            </a:r>
            <a:endParaRPr/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" y="2219"/>
            <a:ext cx="566958" cy="685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563" y="0"/>
            <a:ext cx="209677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91" name="Google Shape;9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35239" y="5830821"/>
            <a:ext cx="868683" cy="647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92" name="Google Shape;9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240" y="5828983"/>
            <a:ext cx="2655568" cy="66389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94" name="Google Shape;94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5" name="Google Shape;95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type="title"/>
          </p:nvPr>
        </p:nvSpPr>
        <p:spPr>
          <a:xfrm>
            <a:off x="2886143" y="539226"/>
            <a:ext cx="723153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Process Synchronization</a:t>
            </a:r>
            <a:endParaRPr sz="3200"/>
          </a:p>
        </p:txBody>
      </p:sp>
      <p:pic>
        <p:nvPicPr>
          <p:cNvPr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55010" y="4869"/>
            <a:ext cx="560709" cy="68531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02" name="Google Shape;102;p2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832" y="5835859"/>
            <a:ext cx="968545" cy="721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0586431" y="-909706"/>
            <a:ext cx="558950" cy="2338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35739" y="-19725"/>
            <a:ext cx="560710" cy="55895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550832" y="1709788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Processes can execute concurrently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 be interrupted at any time, partially completing execution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Concurrent access to shared data may result in data inconsistency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Maintaining data consistency requires mechanisms to ensure the orderly execution of cooperating processes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06" name="Google Shape;106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620" y="1335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08" name="Google Shape;108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09" name="Google Shape;109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>
            <p:ph type="title"/>
          </p:nvPr>
        </p:nvSpPr>
        <p:spPr>
          <a:xfrm>
            <a:off x="2886143" y="539226"/>
            <a:ext cx="723153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Producer Consumer Problem Revisited</a:t>
            </a:r>
            <a:endParaRPr sz="3200"/>
          </a:p>
        </p:txBody>
      </p:sp>
      <p:pic>
        <p:nvPicPr>
          <p:cNvPr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55010" y="4869"/>
            <a:ext cx="560709" cy="68531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16" name="Google Shape;116;p3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832" y="5835859"/>
            <a:ext cx="968545" cy="721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0586431" y="-909706"/>
            <a:ext cx="558950" cy="2338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35739" y="-19725"/>
            <a:ext cx="560710" cy="55895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"/>
          <p:cNvSpPr txBox="1"/>
          <p:nvPr/>
        </p:nvSpPr>
        <p:spPr>
          <a:xfrm>
            <a:off x="550832" y="1709788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Modifying the Bounded Buffer Approach for Producer and Consumer Problem.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Having a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counter</a:t>
            </a:r>
            <a:r>
              <a:rPr b="1" i="0" lang="en-US" sz="2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keeps track of the number of full buffers.</a:t>
            </a:r>
            <a:endParaRPr b="0" i="0" sz="2800" u="none" cap="none" strike="noStrike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20" name="Google Shape;12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620" y="1335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22" name="Google Shape;122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23" name="Google Shape;123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>
            <p:ph type="title"/>
          </p:nvPr>
        </p:nvSpPr>
        <p:spPr>
          <a:xfrm>
            <a:off x="2886143" y="539226"/>
            <a:ext cx="723153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Producer Consumer Problem Revisited</a:t>
            </a:r>
            <a:endParaRPr sz="3200"/>
          </a:p>
        </p:txBody>
      </p:sp>
      <p:pic>
        <p:nvPicPr>
          <p:cNvPr id="129" name="Google Shape;1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55010" y="4869"/>
            <a:ext cx="560709" cy="68531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30" name="Google Shape;130;p4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832" y="5835859"/>
            <a:ext cx="968545" cy="721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0586431" y="-909706"/>
            <a:ext cx="558950" cy="2338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35739" y="-19725"/>
            <a:ext cx="560710" cy="55895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 txBox="1"/>
          <p:nvPr/>
        </p:nvSpPr>
        <p:spPr>
          <a:xfrm>
            <a:off x="550832" y="1709788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possibility is to add an integer variable counter, initialized to 0.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Counter is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incremented every time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add a new item to the buffer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decremented every time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remove one item from the buffer. </a:t>
            </a:r>
            <a:endParaRPr b="0" i="0" sz="2800" u="none" cap="none" strike="noStrike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34" name="Google Shape;13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620" y="1335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36" name="Google Shape;136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37" name="Google Shape;137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>
            <p:ph type="title"/>
          </p:nvPr>
        </p:nvSpPr>
        <p:spPr>
          <a:xfrm>
            <a:off x="2886143" y="539226"/>
            <a:ext cx="723153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Producer Consumer Problem Revisited</a:t>
            </a:r>
            <a:endParaRPr sz="3200"/>
          </a:p>
        </p:txBody>
      </p:sp>
      <p:pic>
        <p:nvPicPr>
          <p:cNvPr id="143" name="Google Shape;1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55010" y="4869"/>
            <a:ext cx="560709" cy="68531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44" name="Google Shape;144;p5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832" y="5835859"/>
            <a:ext cx="968545" cy="721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0586431" y="-909706"/>
            <a:ext cx="558950" cy="2338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35739" y="-19725"/>
            <a:ext cx="560710" cy="55895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5"/>
          <p:cNvSpPr txBox="1"/>
          <p:nvPr/>
        </p:nvSpPr>
        <p:spPr>
          <a:xfrm>
            <a:off x="550832" y="1709788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code for the producer process can be modified as follows:</a:t>
            </a:r>
            <a:endParaRPr b="0" i="0" sz="2800" u="none" cap="none" strike="noStrike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48" name="Google Shape;14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620" y="133509"/>
            <a:ext cx="3245736" cy="81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239" y="2350291"/>
            <a:ext cx="5304234" cy="230425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51" name="Google Shape;15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52" name="Google Shape;15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6237839" y="2217421"/>
            <a:ext cx="5321815" cy="242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i="0" lang="en-US" sz="7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Earlier Approach-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5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item next_produced;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5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 (true) {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5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/* produce an item in next produced */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5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while (((in + 1) % BUFFER_SIZE) == out)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5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; /* do nothing */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5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0" lang="en-US" sz="56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buffer[in] = next_produced;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5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0" i="0" lang="en-US" sz="56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in = (in + 1) % BUFFER_SIZE;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5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-228600" lvl="4" marL="716867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 txBox="1"/>
          <p:nvPr>
            <p:ph type="title"/>
          </p:nvPr>
        </p:nvSpPr>
        <p:spPr>
          <a:xfrm>
            <a:off x="2886143" y="539226"/>
            <a:ext cx="723153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Producer Consumer Problem Revisited</a:t>
            </a:r>
            <a:endParaRPr sz="3200"/>
          </a:p>
        </p:txBody>
      </p:sp>
      <p:pic>
        <p:nvPicPr>
          <p:cNvPr id="159" name="Google Shape;1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55010" y="4869"/>
            <a:ext cx="560709" cy="68531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60" name="Google Shape;160;p6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832" y="5835859"/>
            <a:ext cx="968545" cy="721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0586431" y="-909706"/>
            <a:ext cx="558950" cy="2338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35739" y="-19725"/>
            <a:ext cx="560710" cy="55895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6"/>
          <p:cNvSpPr txBox="1"/>
          <p:nvPr/>
        </p:nvSpPr>
        <p:spPr>
          <a:xfrm>
            <a:off x="550832" y="1709788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code for the consumer process can be modified as follows:</a:t>
            </a:r>
            <a:endParaRPr b="0" i="0" sz="2800" u="none" cap="none" strike="noStrike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64" name="Google Shape;16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620" y="133509"/>
            <a:ext cx="3245736" cy="81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716" y="2283836"/>
            <a:ext cx="5644653" cy="230425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67" name="Google Shape;16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8" name="Google Shape;16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5659010" y="2283836"/>
            <a:ext cx="6096000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Earlier Approach-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item next_consumed;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 (true) {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while (in == out)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; /* do nothing */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next_consumed = buffer[out];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out = (out + 1) % BUFFER_SIZE;</a:t>
            </a:r>
            <a:b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/* consume the item in next consumed */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 txBox="1"/>
          <p:nvPr>
            <p:ph type="title"/>
          </p:nvPr>
        </p:nvSpPr>
        <p:spPr>
          <a:xfrm>
            <a:off x="2886143" y="539226"/>
            <a:ext cx="723153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Producer Consumer Problem Revisited</a:t>
            </a:r>
            <a:endParaRPr sz="3200"/>
          </a:p>
        </p:txBody>
      </p:sp>
      <p:pic>
        <p:nvPicPr>
          <p:cNvPr id="175" name="Google Shape;1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55010" y="4869"/>
            <a:ext cx="560709" cy="68531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76" name="Google Shape;176;p7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832" y="5835859"/>
            <a:ext cx="968545" cy="721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0586431" y="-909706"/>
            <a:ext cx="558950" cy="2338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35739" y="-19725"/>
            <a:ext cx="560710" cy="55895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7"/>
          <p:cNvSpPr txBox="1"/>
          <p:nvPr/>
        </p:nvSpPr>
        <p:spPr>
          <a:xfrm>
            <a:off x="550832" y="1709788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producer and consumer routines  are correct separately,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 not function correctly when executed concurrently.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that the value of the variable counter is currently 5 </a:t>
            </a:r>
            <a:endParaRPr/>
          </a:p>
        </p:txBody>
      </p:sp>
      <p:pic>
        <p:nvPicPr>
          <p:cNvPr descr="A picture containing drawing&#10;&#10;Description automatically generated" id="180" name="Google Shape;18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620" y="1335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82" name="Google Shape;18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3" name="Google Shape;18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"/>
          <p:cNvSpPr txBox="1"/>
          <p:nvPr>
            <p:ph type="title"/>
          </p:nvPr>
        </p:nvSpPr>
        <p:spPr>
          <a:xfrm>
            <a:off x="2886143" y="539226"/>
            <a:ext cx="723153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Producer Consumer Problem Revisited</a:t>
            </a:r>
            <a:endParaRPr sz="3200"/>
          </a:p>
        </p:txBody>
      </p:sp>
      <p:pic>
        <p:nvPicPr>
          <p:cNvPr id="189" name="Google Shape;1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55010" y="4869"/>
            <a:ext cx="560709" cy="68531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90" name="Google Shape;190;p8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832" y="5835859"/>
            <a:ext cx="968545" cy="721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0586431" y="-909706"/>
            <a:ext cx="558950" cy="2338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35739" y="-19725"/>
            <a:ext cx="560710" cy="55895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8"/>
          <p:cNvSpPr txBox="1"/>
          <p:nvPr/>
        </p:nvSpPr>
        <p:spPr>
          <a:xfrm>
            <a:off x="550832" y="1709788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producer and consumer processes execute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statements "counter++" and "counter--" concurrently.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Result= counter may be 4, 5, or 6!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only correct result, counter == 5, </a:t>
            </a: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is generated correctly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the producer and consumer execute separately.</a:t>
            </a:r>
            <a:endParaRPr b="1" i="0" sz="2400" u="none" cap="none" strike="noStrike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94" name="Google Shape;19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620" y="1335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96" name="Google Shape;19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7" name="Google Shape;19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 txBox="1"/>
          <p:nvPr>
            <p:ph type="title"/>
          </p:nvPr>
        </p:nvSpPr>
        <p:spPr>
          <a:xfrm>
            <a:off x="3634373" y="73982"/>
            <a:ext cx="723153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Producer Consumer Problem Revisited</a:t>
            </a:r>
            <a:endParaRPr sz="3200"/>
          </a:p>
        </p:txBody>
      </p:sp>
      <p:pic>
        <p:nvPicPr>
          <p:cNvPr id="203" name="Google Shape;20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55010" y="4869"/>
            <a:ext cx="560709" cy="68531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04" name="Google Shape;204;p9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832" y="5835859"/>
            <a:ext cx="968545" cy="721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10586431" y="-909706"/>
            <a:ext cx="558950" cy="2338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35739" y="-19725"/>
            <a:ext cx="560710" cy="55895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9"/>
          <p:cNvSpPr txBox="1"/>
          <p:nvPr/>
        </p:nvSpPr>
        <p:spPr>
          <a:xfrm>
            <a:off x="926389" y="989861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" counter++" may be implemented in machine language as –</a:t>
            </a:r>
            <a:endParaRPr/>
          </a:p>
          <a:p>
            <a:pPr indent="0" lvl="8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register1 = counter</a:t>
            </a:r>
            <a:endParaRPr/>
          </a:p>
          <a:p>
            <a:pPr indent="0" lvl="8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register1 = register1 + 1</a:t>
            </a:r>
            <a:endParaRPr/>
          </a:p>
          <a:p>
            <a:pPr indent="0" lvl="8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counter= register1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register1 is one of the local CPU registers. 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"counter--" is implemented as follows: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			register2 = counter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			register2 = register2 - 1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			counter= register2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register2 is one of the local CPU registers.</a:t>
            </a:r>
            <a:endParaRPr/>
          </a:p>
        </p:txBody>
      </p:sp>
      <p:pic>
        <p:nvPicPr>
          <p:cNvPr descr="A picture containing drawing&#10;&#10;Description automatically generated" id="208" name="Google Shape;20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620" y="1335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10" name="Google Shape;21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1" name="Google Shape;21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Producer Consumer Problem Revisited</a:t>
            </a:r>
            <a:endParaRPr sz="3600"/>
          </a:p>
        </p:txBody>
      </p:sp>
      <p:pic>
        <p:nvPicPr>
          <p:cNvPr id="217" name="Google Shape;21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19" name="Google Shape;219;p10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0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The concurrent execution of "counter++" and "counter--" is equivalent to 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A sequential execution in which the lower-level statements presented previously are interleaved in some arbitrary order. 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But the order within each high-level statement is preserved</a:t>
            </a:r>
            <a:endParaRPr sz="28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21" name="Google Shape;22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23" name="Google Shape;22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4" name="Google Shape;22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Producer Consumer Problem Revisited</a:t>
            </a:r>
            <a:endParaRPr sz="3600"/>
          </a:p>
        </p:txBody>
      </p:sp>
      <p:pic>
        <p:nvPicPr>
          <p:cNvPr id="230" name="Google Shape;23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32" name="Google Shape;232;p11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1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One such interleaving is-</a:t>
            </a:r>
            <a:endParaRPr sz="28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34" name="Google Shape;23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02229" y="1975757"/>
            <a:ext cx="8278585" cy="302078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37" name="Google Shape;23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38" name="Google Shape;23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Producer Consumer Problem Revisited</a:t>
            </a:r>
            <a:endParaRPr sz="3600"/>
          </a:p>
        </p:txBody>
      </p:sp>
      <p:pic>
        <p:nvPicPr>
          <p:cNvPr id="244" name="Google Shape;24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46" name="Google Shape;246;p12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2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Result=&gt;  "counter == 4“, incorrect state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indicating that four buffers are full,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Correct state=five buffers are full.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drawing&#10;&#10;Description automatically generated" id="248" name="Google Shape;248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90057" y="2997855"/>
            <a:ext cx="6384471" cy="189411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51" name="Google Shape;25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52" name="Google Shape;25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Producer Consumer Problem Revisited</a:t>
            </a:r>
            <a:endParaRPr sz="3600"/>
          </a:p>
        </p:txBody>
      </p:sp>
      <p:pic>
        <p:nvPicPr>
          <p:cNvPr id="258" name="Google Shape;2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60" name="Google Shape;260;p13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3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order of the statements at T4 and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T5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reversed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would arrive at the incorrect state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Result=&gt;  "counter == 6“, incorrect state 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drawing&#10;&#10;Description automatically generated" id="262" name="Google Shape;26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90057" y="2997855"/>
            <a:ext cx="6384471" cy="1894113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65" name="Google Shape;26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66" name="Google Shape;26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Producer Consumer Problem Revisited</a:t>
            </a:r>
            <a:endParaRPr sz="3600"/>
          </a:p>
        </p:txBody>
      </p:sp>
      <p:pic>
        <p:nvPicPr>
          <p:cNvPr id="272" name="Google Shape;27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74" name="Google Shape;274;p14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4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Incorrect state as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allowed both processes to manipulate the variable counter concurrently.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drawing&#10;&#10;Description automatically generated" id="276" name="Google Shape;27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78" name="Google Shape;27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79" name="Google Shape;27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Producer Consumer Problem Revisited</a:t>
            </a:r>
            <a:endParaRPr sz="3600"/>
          </a:p>
        </p:txBody>
      </p:sp>
      <p:pic>
        <p:nvPicPr>
          <p:cNvPr id="285" name="Google Shape;2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87" name="Google Shape;287;p15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5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several processes access and manipulate the same data concurrently 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outcome of the execution depends on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particular order in which the access takes place,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called a Race Condition.</a:t>
            </a:r>
            <a:endParaRPr/>
          </a:p>
        </p:txBody>
      </p:sp>
      <p:pic>
        <p:nvPicPr>
          <p:cNvPr descr="A picture containing drawing&#10;&#10;Description automatically generated" id="289" name="Google Shape;28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91" name="Google Shape;29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92" name="Google Shape;29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Producer Consumer Problem Revisited</a:t>
            </a:r>
            <a:endParaRPr sz="3600"/>
          </a:p>
        </p:txBody>
      </p:sp>
      <p:pic>
        <p:nvPicPr>
          <p:cNvPr id="298" name="Google Shape;29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00" name="Google Shape;300;p1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6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guard against the race condition,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one process at a time can be manipulating the variable counter.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 the processes must be synchronized</a:t>
            </a:r>
            <a:endParaRPr b="0" i="0" sz="2800" u="none" cap="none" strike="noStrike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02" name="Google Shape;30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04" name="Google Shape;30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05" name="Google Shape;30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Marcellus"/>
              <a:buNone/>
            </a:pPr>
            <a:r>
              <a:rPr lang="en-US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The Critical Section Problem</a:t>
            </a:r>
            <a:endParaRPr/>
          </a:p>
        </p:txBody>
      </p:sp>
      <p:pic>
        <p:nvPicPr>
          <p:cNvPr id="311" name="Google Shape;31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" y="2219"/>
            <a:ext cx="566958" cy="685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563" y="0"/>
            <a:ext cx="209677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13" name="Google Shape;31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35239" y="5830821"/>
            <a:ext cx="868683" cy="647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314" name="Google Shape;31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240" y="5828983"/>
            <a:ext cx="2655568" cy="663892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16" name="Google Shape;31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17" name="Google Shape;31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The Critical Section Problem</a:t>
            </a:r>
            <a:endParaRPr sz="3600"/>
          </a:p>
        </p:txBody>
      </p:sp>
      <p:pic>
        <p:nvPicPr>
          <p:cNvPr id="323" name="Google Shape;32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25" name="Google Shape;325;p18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8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a system consisting of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processes {Po, P1 , ... ,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Pn-1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}. 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Critical Section-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process has a segment of code, called a critical section in which the process may be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changing common variables,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updating a table,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writing a file, and so on.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drawing&#10;&#10;Description automatically generated" id="327" name="Google Shape;32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29" name="Google Shape;32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30" name="Google Shape;33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9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The Critical Section Problem</a:t>
            </a:r>
            <a:endParaRPr sz="3600"/>
          </a:p>
        </p:txBody>
      </p:sp>
      <p:pic>
        <p:nvPicPr>
          <p:cNvPr id="336" name="Google Shape;33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38" name="Google Shape;338;p19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9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one process is executing in its critical section,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other process is to be allowed to execute in its critical section. </a:t>
            </a:r>
            <a:endParaRPr/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Execution of Critical Sections by the processes is mutually exclusive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b="1" i="1"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Critical-section problem </a:t>
            </a:r>
            <a:r>
              <a:rPr b="1"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is to design a protocol that the processes can use to cooperate. </a:t>
            </a:r>
            <a:endParaRPr/>
          </a:p>
        </p:txBody>
      </p:sp>
      <p:pic>
        <p:nvPicPr>
          <p:cNvPr descr="A picture containing drawing&#10;&#10;Description automatically generated" id="340" name="Google Shape;34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42" name="Google Shape;34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43" name="Google Shape;34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0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The Critical Section Problem</a:t>
            </a:r>
            <a:endParaRPr b="1" sz="3600"/>
          </a:p>
        </p:txBody>
      </p:sp>
      <p:pic>
        <p:nvPicPr>
          <p:cNvPr id="349" name="Google Shape;34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51" name="Google Shape;351;p20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0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Entry section 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process must request permission to enter its critical section. The section of code implementing this request is the entry section.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Exit Section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critical section may be followed by an exit section.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Remaining Section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remaining code is the remaining section.</a:t>
            </a:r>
            <a:endParaRPr b="0" i="0" sz="2400" u="none" cap="none" strike="noStrike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53" name="Google Shape;35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55" name="Google Shape;35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56" name="Google Shape;35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1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The Critical Section Problem</a:t>
            </a:r>
            <a:endParaRPr sz="3600"/>
          </a:p>
        </p:txBody>
      </p:sp>
      <p:pic>
        <p:nvPicPr>
          <p:cNvPr id="362" name="Google Shape;36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64" name="Google Shape;364;p21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1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66" name="Google Shape;36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68" name="Google Shape;36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69" name="Google Shape;36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0" name="Google Shape;370;p21"/>
          <p:cNvSpPr txBox="1"/>
          <p:nvPr/>
        </p:nvSpPr>
        <p:spPr>
          <a:xfrm>
            <a:off x="822158" y="13639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 Structure of a Typical Process Pi</a:t>
            </a:r>
            <a:endParaRPr/>
          </a:p>
        </p:txBody>
      </p:sp>
      <p:pic>
        <p:nvPicPr>
          <p:cNvPr id="371" name="Google Shape;371;p21"/>
          <p:cNvPicPr preferRelativeResize="0"/>
          <p:nvPr/>
        </p:nvPicPr>
        <p:blipFill rotWithShape="1">
          <a:blip r:embed="rId7">
            <a:alphaModFix/>
          </a:blip>
          <a:srcRect b="31949" l="27587" r="37903" t="28684"/>
          <a:stretch/>
        </p:blipFill>
        <p:spPr>
          <a:xfrm>
            <a:off x="2620369" y="1901487"/>
            <a:ext cx="5909482" cy="37899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2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The Critical Section Problem</a:t>
            </a:r>
            <a:endParaRPr sz="3600"/>
          </a:p>
        </p:txBody>
      </p:sp>
      <p:pic>
        <p:nvPicPr>
          <p:cNvPr id="377" name="Google Shape;37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79" name="Google Shape;379;p22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2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81" name="Google Shape;38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83" name="Google Shape;38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84" name="Google Shape;38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5" name="Google Shape;385;p22"/>
          <p:cNvSpPr txBox="1"/>
          <p:nvPr/>
        </p:nvSpPr>
        <p:spPr>
          <a:xfrm>
            <a:off x="822158" y="13639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≡ Must Satisfy three requirements-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Mutual Exclusion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Progress</a:t>
            </a:r>
            <a:endParaRPr/>
          </a:p>
          <a:p>
            <a:pPr indent="-5143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Bounded Waiting</a:t>
            </a:r>
            <a:endParaRPr/>
          </a:p>
          <a:p>
            <a:pPr indent="-336550" lvl="0" marL="5143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3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The Critical Section Problem</a:t>
            </a:r>
            <a:endParaRPr sz="3600"/>
          </a:p>
        </p:txBody>
      </p:sp>
      <p:pic>
        <p:nvPicPr>
          <p:cNvPr id="391" name="Google Shape;39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93" name="Google Shape;393;p23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3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95" name="Google Shape;39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97" name="Google Shape;39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98" name="Google Shape;39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9" name="Google Shape;399;p23"/>
          <p:cNvSpPr txBox="1"/>
          <p:nvPr/>
        </p:nvSpPr>
        <p:spPr>
          <a:xfrm>
            <a:off x="822158" y="13639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Mutual Exclusion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Process Pi is executing in its critical section, then no other processes can be executing in their critical sections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4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The Critical Section Problem</a:t>
            </a:r>
            <a:endParaRPr sz="3600"/>
          </a:p>
        </p:txBody>
      </p:sp>
      <p:pic>
        <p:nvPicPr>
          <p:cNvPr id="405" name="Google Shape;40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07" name="Google Shape;407;p24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4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409" name="Google Shape;40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411" name="Google Shape;41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12" name="Google Shape;41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3" name="Google Shape;413;p24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2) Progress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no process is executing in its critical section and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processes  wish to enter their critical sections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only those processes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are not executing in their remainder sections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participate in deciding which will enter its critical section next.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selection cannot be postponed indefinitely.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5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The Critical Section Problem</a:t>
            </a:r>
            <a:endParaRPr sz="3600"/>
          </a:p>
        </p:txBody>
      </p:sp>
      <p:pic>
        <p:nvPicPr>
          <p:cNvPr id="419" name="Google Shape;41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21" name="Google Shape;421;p25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25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423" name="Google Shape;42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425" name="Google Shape;42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26" name="Google Shape;42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7" name="Google Shape;427;p25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2) Progress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those processes interested in entering CS , should compete to enter CS.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those processes wishing to enter CS, should compete for CS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6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The Critical Section Problem</a:t>
            </a:r>
            <a:endParaRPr sz="3600"/>
          </a:p>
        </p:txBody>
      </p:sp>
      <p:pic>
        <p:nvPicPr>
          <p:cNvPr id="433" name="Google Shape;43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35" name="Google Shape;435;p2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6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437" name="Google Shape;437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439" name="Google Shape;43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40" name="Google Shape;44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1" name="Google Shape;441;p26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3) Bounded Waiting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exists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bound, or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limit,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the number of times that other processes are allowed to enter the critical sections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a process has made a request to enter its critical section and before that request is granted.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7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The Critical Section Problem</a:t>
            </a:r>
            <a:endParaRPr sz="3600"/>
          </a:p>
        </p:txBody>
      </p:sp>
      <p:pic>
        <p:nvPicPr>
          <p:cNvPr id="447" name="Google Shape;44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49" name="Google Shape;449;p27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27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451" name="Google Shape;45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453" name="Google Shape;45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54" name="Google Shape;45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5" name="Google Shape;455;p27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3) Bounded Waiting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 After a bound/time limit , after which the process definitely will get a chance to enter CS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8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The Critical Section Problem</a:t>
            </a:r>
            <a:endParaRPr sz="3600"/>
          </a:p>
        </p:txBody>
      </p:sp>
      <p:pic>
        <p:nvPicPr>
          <p:cNvPr id="461" name="Google Shape;46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63" name="Google Shape;463;p28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28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465" name="Google Shape;465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467" name="Google Shape;46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68" name="Google Shape;46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9" name="Google Shape;469;p28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Assumption-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process is executing at a nonzero speed.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assumption concerning the relative speed of the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processes.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9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Critical-Section Handling in OS </a:t>
            </a:r>
            <a:endParaRPr sz="3600"/>
          </a:p>
        </p:txBody>
      </p:sp>
      <p:pic>
        <p:nvPicPr>
          <p:cNvPr id="475" name="Google Shape;47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77" name="Google Shape;477;p29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29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479" name="Google Shape;479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481" name="Google Shape;481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82" name="Google Shape;482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3" name="Google Shape;483;p29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approaches are used to handle critical sections in OS depending on if kernel is-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Preemptive 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Non-preemptive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0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Critical-Section Handling in OS </a:t>
            </a:r>
            <a:endParaRPr sz="3600"/>
          </a:p>
        </p:txBody>
      </p:sp>
      <p:pic>
        <p:nvPicPr>
          <p:cNvPr id="489" name="Google Shape;48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491" name="Google Shape;491;p30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0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493" name="Google Shape;493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495" name="Google Shape;495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96" name="Google Shape;496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7" name="Google Shape;497;p30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Preemptive-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allows a process to be preempted while it is running in kernel mode.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Non-preemptive-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not allow a process running in kernel mode to be preempted;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kernel-mode process will run until it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exits kernel mode, 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blocks, or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voluntarily yields control of the CPU.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1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Critical-Section Handling in OS </a:t>
            </a:r>
            <a:endParaRPr sz="3600"/>
          </a:p>
        </p:txBody>
      </p:sp>
      <p:pic>
        <p:nvPicPr>
          <p:cNvPr id="503" name="Google Shape;50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505" name="Google Shape;505;p31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31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507" name="Google Shape;507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509" name="Google Shape;509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10" name="Google Shape;510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1" name="Google Shape;511;p31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Non-preemptive kernel-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essentially free from race conditions on kernel data structures,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only one process is active in the kernel at a time.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Preemptive kernels- 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 be carefully designed to ensure that shared kernel data are free from race conditions.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especially difficult to design for SMP architectures,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in these environments it is possible for two kernel-mode processes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run simultaneously on different processors.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2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Critical-Section Handling in OS </a:t>
            </a:r>
            <a:endParaRPr sz="3600"/>
          </a:p>
        </p:txBody>
      </p:sp>
      <p:pic>
        <p:nvPicPr>
          <p:cNvPr id="517" name="Google Shape;51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519" name="Google Shape;519;p32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32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521" name="Google Shape;521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523" name="Google Shape;523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24" name="Google Shape;524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5" name="Google Shape;525;p32"/>
          <p:cNvSpPr txBox="1"/>
          <p:nvPr/>
        </p:nvSpPr>
        <p:spPr>
          <a:xfrm>
            <a:off x="822158" y="2674961"/>
            <a:ext cx="10315074" cy="996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would anyone favor a preemptive kernel over a nonpreemptive one? ?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3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Critical-Section Handling in OS </a:t>
            </a:r>
            <a:endParaRPr sz="3600"/>
          </a:p>
        </p:txBody>
      </p:sp>
      <p:pic>
        <p:nvPicPr>
          <p:cNvPr id="531" name="Google Shape;53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533" name="Google Shape;533;p33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33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535" name="Google Shape;535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537" name="Google Shape;537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38" name="Google Shape;538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9" name="Google Shape;539;p33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Why would anyone favor a preemptive kernel over a nonpreemptive one? </a:t>
            </a:r>
            <a:endParaRPr sz="2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 preemptive kernel </a:t>
            </a:r>
            <a:endParaRPr sz="2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is more suitable for real-time programming, as it will allow a real-time process to preempt a process currently running in the kernel.</a:t>
            </a:r>
            <a:endParaRPr/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may be more responsive, since there is less risk that a kernel-mode process will run for an arbitrarily long period before relinquishing the processor to waiting processes. </a:t>
            </a:r>
            <a:endParaRPr b="1" i="0" sz="2400" u="none" cap="none" strike="noStrike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4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Solutions to The Critical Section Problem</a:t>
            </a:r>
            <a:endParaRPr sz="3600"/>
          </a:p>
        </p:txBody>
      </p:sp>
      <p:pic>
        <p:nvPicPr>
          <p:cNvPr id="545" name="Google Shape;54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547" name="Google Shape;547;p34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34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549" name="Google Shape;549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551" name="Google Shape;551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52" name="Google Shape;552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3" name="Google Shape;553;p34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Based Solutions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Based Solutions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Marcellus"/>
              <a:buNone/>
            </a:pPr>
            <a:r>
              <a:rPr lang="en-US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Software Synchronization</a:t>
            </a:r>
            <a:endParaRPr/>
          </a:p>
        </p:txBody>
      </p:sp>
      <p:pic>
        <p:nvPicPr>
          <p:cNvPr id="559" name="Google Shape;55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" y="2219"/>
            <a:ext cx="566958" cy="685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563" y="0"/>
            <a:ext cx="209677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561" name="Google Shape;561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35239" y="5830821"/>
            <a:ext cx="868683" cy="647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562" name="Google Shape;562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240" y="5828983"/>
            <a:ext cx="2655568" cy="663892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564" name="Google Shape;564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65" name="Google Shape;565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6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Software Based Solutions to The Critical Section Problem</a:t>
            </a:r>
            <a:endParaRPr sz="3200"/>
          </a:p>
        </p:txBody>
      </p:sp>
      <p:pic>
        <p:nvPicPr>
          <p:cNvPr id="571" name="Google Shape;57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573" name="Google Shape;573;p3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36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575" name="Google Shape;575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577" name="Google Shape;577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78" name="Google Shape;578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9" name="Google Shape;579;p36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Based Solutions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process Solution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1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2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3/Peterson’s Solution</a:t>
            </a:r>
            <a:endParaRPr/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Process Solution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7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Software Based Solutions to The Critical Section Problem</a:t>
            </a:r>
            <a:endParaRPr sz="3200"/>
          </a:p>
        </p:txBody>
      </p:sp>
      <p:pic>
        <p:nvPicPr>
          <p:cNvPr id="585" name="Google Shape;58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587" name="Google Shape;587;p37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37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589" name="Google Shape;589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591" name="Google Shape;591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92" name="Google Shape;592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3" name="Google Shape;593;p37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Two process Solution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Assume that the load and store machine-language instructions are atomic; </a:t>
            </a:r>
            <a:endParaRPr b="0" i="0" sz="2800" u="none" cap="none" strike="noStrike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that is, cannot be interrupted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8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Software Based Solutions to The Critical Section Problem</a:t>
            </a:r>
            <a:endParaRPr sz="3200"/>
          </a:p>
        </p:txBody>
      </p:sp>
      <p:pic>
        <p:nvPicPr>
          <p:cNvPr id="599" name="Google Shape;59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601" name="Google Shape;601;p38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38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603" name="Google Shape;603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605" name="Google Shape;605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06" name="Google Shape;606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7" name="Google Shape;607;p38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8" name="Google Shape;608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26808" y="1678675"/>
            <a:ext cx="6398326" cy="3234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9"/>
          <p:cNvSpPr txBox="1"/>
          <p:nvPr>
            <p:ph type="title"/>
          </p:nvPr>
        </p:nvSpPr>
        <p:spPr>
          <a:xfrm>
            <a:off x="375710" y="0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Working of While Loop without semicolon;</a:t>
            </a:r>
            <a:endParaRPr sz="3600"/>
          </a:p>
        </p:txBody>
      </p:sp>
      <p:pic>
        <p:nvPicPr>
          <p:cNvPr id="614" name="Google Shape;61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616" name="Google Shape;616;p39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39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618" name="Google Shape;618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620" name="Google Shape;620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21" name="Google Shape;621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2" name="Google Shape;622;p39"/>
          <p:cNvSpPr/>
          <p:nvPr/>
        </p:nvSpPr>
        <p:spPr>
          <a:xfrm>
            <a:off x="778843" y="685151"/>
            <a:ext cx="10589645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Example-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#include &lt;stdio.h&gt;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int main()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{  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int n = 0;   </a:t>
            </a:r>
            <a:endParaRPr b="0" i="0" sz="1800" u="none" cap="none" strike="noStrike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	printf("enter value of n");   </a:t>
            </a:r>
            <a:endParaRPr sz="1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	scanf("%d",&amp;n); </a:t>
            </a:r>
            <a:endParaRPr sz="1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	while(n &lt; 4)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	{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		printf("Hi, Inside while loop\n");    </a:t>
            </a:r>
            <a:endParaRPr sz="1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		printf("%i\n", n);    </a:t>
            </a:r>
            <a:endParaRPr sz="1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		n++;  </a:t>
            </a:r>
            <a:endParaRPr sz="1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	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}</a:t>
            </a:r>
            <a:endParaRPr/>
          </a:p>
        </p:txBody>
      </p:sp>
      <p:pic>
        <p:nvPicPr>
          <p:cNvPr id="623" name="Google Shape;623;p39"/>
          <p:cNvPicPr preferRelativeResize="0"/>
          <p:nvPr/>
        </p:nvPicPr>
        <p:blipFill rotWithShape="1">
          <a:blip r:embed="rId7">
            <a:alphaModFix/>
          </a:blip>
          <a:srcRect b="14552" l="19720" r="48160" t="30411"/>
          <a:stretch/>
        </p:blipFill>
        <p:spPr>
          <a:xfrm>
            <a:off x="5224277" y="996288"/>
            <a:ext cx="5156498" cy="4967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0"/>
          <p:cNvSpPr txBox="1"/>
          <p:nvPr>
            <p:ph type="title"/>
          </p:nvPr>
        </p:nvSpPr>
        <p:spPr>
          <a:xfrm>
            <a:off x="375710" y="0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Working of While Loop with;</a:t>
            </a:r>
            <a:endParaRPr sz="3600"/>
          </a:p>
        </p:txBody>
      </p:sp>
      <p:pic>
        <p:nvPicPr>
          <p:cNvPr id="629" name="Google Shape;62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631" name="Google Shape;631;p40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0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633" name="Google Shape;633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635" name="Google Shape;635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36" name="Google Shape;636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7" name="Google Shape;637;p40"/>
          <p:cNvSpPr/>
          <p:nvPr/>
        </p:nvSpPr>
        <p:spPr>
          <a:xfrm>
            <a:off x="778843" y="685151"/>
            <a:ext cx="10589645" cy="2523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Marcellus"/>
                <a:ea typeface="Marcellus"/>
                <a:cs typeface="Marcellus"/>
                <a:sym typeface="Marcellus"/>
              </a:rPr>
              <a:t>Generally we Dont write a semicolon after the condition in while loop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Marcellus"/>
                <a:ea typeface="Marcellus"/>
                <a:cs typeface="Marcellus"/>
                <a:sym typeface="Marcellus"/>
              </a:rPr>
              <a:t>The problem is that the loop body becomes a semicolon, which is a do nothing statement.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Marcellus"/>
                <a:ea typeface="Marcellus"/>
                <a:cs typeface="Marcellus"/>
                <a:sym typeface="Marcellus"/>
              </a:rPr>
              <a:t>This while loop has no body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FF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1"/>
          <p:cNvSpPr txBox="1"/>
          <p:nvPr>
            <p:ph type="title"/>
          </p:nvPr>
        </p:nvSpPr>
        <p:spPr>
          <a:xfrm>
            <a:off x="401054" y="14437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Working of While Loop with;</a:t>
            </a:r>
            <a:endParaRPr sz="3600"/>
          </a:p>
        </p:txBody>
      </p:sp>
      <p:pic>
        <p:nvPicPr>
          <p:cNvPr id="643" name="Google Shape;64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645" name="Google Shape;645;p41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1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647" name="Google Shape;647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649" name="Google Shape;649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50" name="Google Shape;650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1" name="Google Shape;651;p41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41"/>
          <p:cNvSpPr txBox="1"/>
          <p:nvPr/>
        </p:nvSpPr>
        <p:spPr>
          <a:xfrm>
            <a:off x="341194" y="761167"/>
            <a:ext cx="487225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Trapped in while loop as Condition is true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Executes while loop with No body</a:t>
            </a:r>
            <a:endParaRPr b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41"/>
          <p:cNvSpPr txBox="1"/>
          <p:nvPr/>
        </p:nvSpPr>
        <p:spPr>
          <a:xfrm>
            <a:off x="5753779" y="790974"/>
            <a:ext cx="463216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 of while loop as Condition is False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Enters CS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4" name="Google Shape;654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73666" y="1961496"/>
            <a:ext cx="4612531" cy="365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2"/>
          <p:cNvSpPr txBox="1"/>
          <p:nvPr>
            <p:ph type="title"/>
          </p:nvPr>
        </p:nvSpPr>
        <p:spPr>
          <a:xfrm>
            <a:off x="375710" y="0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Working of While Loop with;</a:t>
            </a:r>
            <a:endParaRPr sz="3600"/>
          </a:p>
        </p:txBody>
      </p:sp>
      <p:pic>
        <p:nvPicPr>
          <p:cNvPr id="660" name="Google Shape;66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662" name="Google Shape;662;p42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2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664" name="Google Shape;664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666" name="Google Shape;666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67" name="Google Shape;667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8" name="Google Shape;668;p42"/>
          <p:cNvSpPr/>
          <p:nvPr/>
        </p:nvSpPr>
        <p:spPr>
          <a:xfrm>
            <a:off x="778843" y="685151"/>
            <a:ext cx="10589645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Example-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#include &lt;stdio.h&gt;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int main()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{  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int n = 0;   </a:t>
            </a:r>
            <a:endParaRPr b="0" i="0" sz="2400" u="none" cap="none" strike="noStrike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	printf("enter value of n");   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	scanf("%d",&amp;n); 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	while(n &lt; 4);  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	{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		printf("Hi, Inside while loop\n");    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		printf("%i\n", n);    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		n++;  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	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3"/>
          <p:cNvSpPr txBox="1"/>
          <p:nvPr>
            <p:ph type="title"/>
          </p:nvPr>
        </p:nvSpPr>
        <p:spPr>
          <a:xfrm>
            <a:off x="401054" y="14437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Working of While Loop with;</a:t>
            </a:r>
            <a:endParaRPr sz="3600"/>
          </a:p>
        </p:txBody>
      </p:sp>
      <p:pic>
        <p:nvPicPr>
          <p:cNvPr id="674" name="Google Shape;67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676" name="Google Shape;676;p43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43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678" name="Google Shape;678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680" name="Google Shape;680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81" name="Google Shape;681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2" name="Google Shape;682;p43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3" name="Google Shape;683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4350" y="696036"/>
            <a:ext cx="3781425" cy="472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79695" y="696036"/>
            <a:ext cx="3741619" cy="4724299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43"/>
          <p:cNvSpPr txBox="1"/>
          <p:nvPr/>
        </p:nvSpPr>
        <p:spPr>
          <a:xfrm>
            <a:off x="3975775" y="1678675"/>
            <a:ext cx="2097891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 =False,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 statement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43"/>
          <p:cNvSpPr txBox="1"/>
          <p:nvPr/>
        </p:nvSpPr>
        <p:spPr>
          <a:xfrm>
            <a:off x="9722343" y="1080685"/>
            <a:ext cx="2524977" cy="433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 =True,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Empty statement Executes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Infinite Loop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 statement doesn’t execute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44"/>
          <p:cNvSpPr txBox="1"/>
          <p:nvPr>
            <p:ph type="title"/>
          </p:nvPr>
        </p:nvSpPr>
        <p:spPr>
          <a:xfrm>
            <a:off x="401054" y="14437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Working of While Loop with;</a:t>
            </a:r>
            <a:endParaRPr sz="3600"/>
          </a:p>
        </p:txBody>
      </p:sp>
      <p:pic>
        <p:nvPicPr>
          <p:cNvPr id="692" name="Google Shape;69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694" name="Google Shape;694;p44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44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696" name="Google Shape;696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698" name="Google Shape;698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99" name="Google Shape;699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0" name="Google Shape;700;p44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1" name="Google Shape;701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4350" y="696036"/>
            <a:ext cx="3781425" cy="472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79695" y="696036"/>
            <a:ext cx="3741619" cy="4724299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44"/>
          <p:cNvSpPr txBox="1"/>
          <p:nvPr/>
        </p:nvSpPr>
        <p:spPr>
          <a:xfrm>
            <a:off x="3971041" y="1080685"/>
            <a:ext cx="2097891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 =False,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comes out of Loop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Critical Section executes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44"/>
          <p:cNvSpPr txBox="1"/>
          <p:nvPr/>
        </p:nvSpPr>
        <p:spPr>
          <a:xfrm>
            <a:off x="9722343" y="1080685"/>
            <a:ext cx="2524977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 =True,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Empty statement Executes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gets trapped in Infinite Loop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not enter Critical Section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45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Software Based Solutions to The Critical Section Problem</a:t>
            </a:r>
            <a:endParaRPr sz="3200"/>
          </a:p>
        </p:txBody>
      </p:sp>
      <p:pic>
        <p:nvPicPr>
          <p:cNvPr id="710" name="Google Shape;71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712" name="Google Shape;712;p45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45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714" name="Google Shape;714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716" name="Google Shape;716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17" name="Google Shape;717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8" name="Google Shape;718;p45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9" name="Google Shape;719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26808" y="1678675"/>
            <a:ext cx="6398326" cy="3234519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45"/>
          <p:cNvSpPr txBox="1"/>
          <p:nvPr/>
        </p:nvSpPr>
        <p:spPr>
          <a:xfrm>
            <a:off x="9089408" y="1075646"/>
            <a:ext cx="3102591" cy="443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Acts like a trap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Stopping processes to enter  into the Critical Section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Turn=Shared Common Integer/Global Integer turn initialized to 0/1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45"/>
          <p:cNvSpPr/>
          <p:nvPr/>
        </p:nvSpPr>
        <p:spPr>
          <a:xfrm>
            <a:off x="6605515" y="2183642"/>
            <a:ext cx="2483893" cy="25930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12700">
            <a:solidFill>
              <a:srgbClr val="85351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45"/>
          <p:cNvSpPr txBox="1"/>
          <p:nvPr/>
        </p:nvSpPr>
        <p:spPr>
          <a:xfrm>
            <a:off x="7633505" y="3062181"/>
            <a:ext cx="252497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Exit Code</a:t>
            </a:r>
            <a:endParaRPr b="1" sz="28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45"/>
          <p:cNvSpPr/>
          <p:nvPr/>
        </p:nvSpPr>
        <p:spPr>
          <a:xfrm>
            <a:off x="5011002" y="3195750"/>
            <a:ext cx="2483893" cy="25930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12700">
            <a:solidFill>
              <a:srgbClr val="85351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45"/>
          <p:cNvSpPr txBox="1"/>
          <p:nvPr/>
        </p:nvSpPr>
        <p:spPr>
          <a:xfrm>
            <a:off x="6584972" y="1690637"/>
            <a:ext cx="252497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Entry Code</a:t>
            </a:r>
            <a:endParaRPr b="1" sz="28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6"/>
          <p:cNvSpPr txBox="1"/>
          <p:nvPr>
            <p:ph type="title"/>
          </p:nvPr>
        </p:nvSpPr>
        <p:spPr>
          <a:xfrm>
            <a:off x="401054" y="191860"/>
            <a:ext cx="11395912" cy="3561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Marcellus"/>
              <a:buNone/>
            </a:pP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Algorithm 1 :</a:t>
            </a: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Mutual Exclusion Check</a:t>
            </a: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If P0 is executing critical section,</a:t>
            </a: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Can another process P1 enter the critical section or not? </a:t>
            </a: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endParaRPr sz="2800"/>
          </a:p>
        </p:txBody>
      </p:sp>
      <p:pic>
        <p:nvPicPr>
          <p:cNvPr id="731" name="Google Shape;73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2" name="Google Shape;732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733" name="Google Shape;733;p4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46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735" name="Google Shape;735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737" name="Google Shape;737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38" name="Google Shape;738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9" name="Google Shape;739;p46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7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Algorithm 1</a:t>
            </a:r>
            <a:endParaRPr sz="3200"/>
          </a:p>
        </p:txBody>
      </p:sp>
      <p:pic>
        <p:nvPicPr>
          <p:cNvPr id="745" name="Google Shape;7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747" name="Google Shape;747;p47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47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749" name="Google Shape;749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751" name="Google Shape;751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52" name="Google Shape;752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3" name="Google Shape;753;p47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1- Lets initialize turn with 0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54" name="Google Shape;754;p47"/>
          <p:cNvGraphicFramePr/>
          <p:nvPr/>
        </p:nvGraphicFramePr>
        <p:xfrm>
          <a:off x="981122" y="1831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4064000"/>
                <a:gridCol w="4064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P0, i=0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P1, i=1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while(turn!=0);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turn=1;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}while(1);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while(turn!=1);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turn=0;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}while(1);</a:t>
                      </a:r>
                      <a:endParaRPr sz="20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55" name="Google Shape;755;p47"/>
          <p:cNvSpPr/>
          <p:nvPr/>
        </p:nvSpPr>
        <p:spPr>
          <a:xfrm>
            <a:off x="9288382" y="563882"/>
            <a:ext cx="240482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CS=critical section</a:t>
            </a:r>
            <a:endParaRPr/>
          </a:p>
        </p:txBody>
      </p:sp>
      <p:pic>
        <p:nvPicPr>
          <p:cNvPr id="756" name="Google Shape;756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65552" y="1481416"/>
            <a:ext cx="2920621" cy="3234519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47"/>
          <p:cNvSpPr/>
          <p:nvPr/>
        </p:nvSpPr>
        <p:spPr>
          <a:xfrm>
            <a:off x="9471793" y="4238263"/>
            <a:ext cx="1665439" cy="532263"/>
          </a:xfrm>
          <a:prstGeom prst="ellipse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48"/>
          <p:cNvSpPr txBox="1"/>
          <p:nvPr>
            <p:ph type="title"/>
          </p:nvPr>
        </p:nvSpPr>
        <p:spPr>
          <a:xfrm>
            <a:off x="401054" y="191860"/>
            <a:ext cx="11395912" cy="3561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Can P1 enter CS while P0 is in CS ?</a:t>
            </a:r>
            <a:endParaRPr sz="3600"/>
          </a:p>
        </p:txBody>
      </p:sp>
      <p:pic>
        <p:nvPicPr>
          <p:cNvPr id="763" name="Google Shape;76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765" name="Google Shape;765;p48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48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767" name="Google Shape;767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769" name="Google Shape;769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70" name="Google Shape;770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1" name="Google Shape;771;p48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9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Can P1 enter CS while P0 is in CS-No</a:t>
            </a:r>
            <a:endParaRPr sz="3200"/>
          </a:p>
        </p:txBody>
      </p:sp>
      <p:pic>
        <p:nvPicPr>
          <p:cNvPr id="777" name="Google Shape;77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779" name="Google Shape;779;p49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49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781" name="Google Shape;781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783" name="Google Shape;783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84" name="Google Shape;784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5" name="Google Shape;785;p49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86" name="Google Shape;786;p49"/>
          <p:cNvGraphicFramePr/>
          <p:nvPr/>
        </p:nvGraphicFramePr>
        <p:xfrm>
          <a:off x="981122" y="1831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1541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P0, i=0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while(turn!=0);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turn=1;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}while(1);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87" name="Google Shape;787;p49"/>
          <p:cNvGraphicFramePr/>
          <p:nvPr/>
        </p:nvGraphicFramePr>
        <p:xfrm>
          <a:off x="6442500" y="17474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070000"/>
              </a:tblGrid>
              <a:tr h="6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P1, i=1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while(turn!=1);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turn=0;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}while(1);</a:t>
                      </a:r>
                      <a:endParaRPr sz="20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88" name="Google Shape;788;p49"/>
          <p:cNvSpPr txBox="1"/>
          <p:nvPr/>
        </p:nvSpPr>
        <p:spPr>
          <a:xfrm>
            <a:off x="4149031" y="1212120"/>
            <a:ext cx="2238121" cy="4985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For P0,Lets take turn=0,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while condition =false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P0 enters CS</a:t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While P0 is Inside CS, Still turn=0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P1 tries to enter the CS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49"/>
          <p:cNvSpPr txBox="1"/>
          <p:nvPr/>
        </p:nvSpPr>
        <p:spPr>
          <a:xfrm>
            <a:off x="9555819" y="1212120"/>
            <a:ext cx="2331381" cy="4370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P1 tries to enter CS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Still turn=0,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while condition =true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P1 gets trapped in an infinite loop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P1 is unable to enter CS</a:t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790" name="Google Shape;790;p49"/>
          <p:cNvSpPr/>
          <p:nvPr/>
        </p:nvSpPr>
        <p:spPr>
          <a:xfrm flipH="1" rot="8720003">
            <a:off x="6350291" y="4250041"/>
            <a:ext cx="3235845" cy="41178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570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49"/>
          <p:cNvSpPr txBox="1"/>
          <p:nvPr/>
        </p:nvSpPr>
        <p:spPr>
          <a:xfrm>
            <a:off x="1064525" y="4455932"/>
            <a:ext cx="147395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Lets initialize turn with 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50"/>
          <p:cNvSpPr txBox="1"/>
          <p:nvPr>
            <p:ph type="title"/>
          </p:nvPr>
        </p:nvSpPr>
        <p:spPr>
          <a:xfrm>
            <a:off x="401054" y="191860"/>
            <a:ext cx="11395912" cy="3561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Can P1 enter CS while P0 is in Remainder Section ?</a:t>
            </a:r>
            <a:endParaRPr sz="3600"/>
          </a:p>
        </p:txBody>
      </p:sp>
      <p:pic>
        <p:nvPicPr>
          <p:cNvPr id="797" name="Google Shape;79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799" name="Google Shape;799;p50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50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801" name="Google Shape;801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803" name="Google Shape;803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04" name="Google Shape;804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5" name="Google Shape;805;p50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1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Can P1 enter CS while P0 is in Remainder Section -Yes</a:t>
            </a:r>
            <a:endParaRPr sz="3200"/>
          </a:p>
        </p:txBody>
      </p:sp>
      <p:pic>
        <p:nvPicPr>
          <p:cNvPr id="811" name="Google Shape;81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813" name="Google Shape;813;p51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51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815" name="Google Shape;815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817" name="Google Shape;817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18" name="Google Shape;818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9" name="Google Shape;819;p51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20" name="Google Shape;820;p51"/>
          <p:cNvGraphicFramePr/>
          <p:nvPr/>
        </p:nvGraphicFramePr>
        <p:xfrm>
          <a:off x="981122" y="1831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1541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P0, i=0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while(turn!=0);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turn=1;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}while(1);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821" name="Google Shape;821;p51"/>
          <p:cNvGraphicFramePr/>
          <p:nvPr/>
        </p:nvGraphicFramePr>
        <p:xfrm>
          <a:off x="6442500" y="17474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070000"/>
              </a:tblGrid>
              <a:tr h="6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P1, i=1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while(turn!=1);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turn=0;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}while(1);</a:t>
                      </a:r>
                      <a:endParaRPr sz="20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22" name="Google Shape;822;p51"/>
          <p:cNvSpPr txBox="1"/>
          <p:nvPr/>
        </p:nvSpPr>
        <p:spPr>
          <a:xfrm>
            <a:off x="4149031" y="1212120"/>
            <a:ext cx="2279065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For P0,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After CS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Exit Code makes turn=1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Starts executing Remainder Section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Now can P1 enter CS</a:t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823" name="Google Shape;823;p51"/>
          <p:cNvSpPr txBox="1"/>
          <p:nvPr/>
        </p:nvSpPr>
        <p:spPr>
          <a:xfrm>
            <a:off x="9555819" y="1212120"/>
            <a:ext cx="2481506" cy="3447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P1 tries to enter CS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Now turn=1,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while condition =false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P1 enters CS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824" name="Google Shape;824;p51"/>
          <p:cNvSpPr/>
          <p:nvPr/>
        </p:nvSpPr>
        <p:spPr>
          <a:xfrm>
            <a:off x="994828" y="5040348"/>
            <a:ext cx="18787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CS=critical section</a:t>
            </a:r>
            <a:endParaRPr/>
          </a:p>
        </p:txBody>
      </p:sp>
      <p:sp>
        <p:nvSpPr>
          <p:cNvPr id="825" name="Google Shape;825;p51"/>
          <p:cNvSpPr/>
          <p:nvPr/>
        </p:nvSpPr>
        <p:spPr>
          <a:xfrm flipH="1" rot="9337565">
            <a:off x="5903556" y="4278151"/>
            <a:ext cx="3235845" cy="41178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570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52"/>
          <p:cNvSpPr txBox="1"/>
          <p:nvPr>
            <p:ph type="title"/>
          </p:nvPr>
        </p:nvSpPr>
        <p:spPr>
          <a:xfrm>
            <a:off x="401054" y="191860"/>
            <a:ext cx="11395912" cy="3561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Marcellus"/>
              <a:buNone/>
            </a:pP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Algorithm 1 :</a:t>
            </a: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Mutual Exclusion Check</a:t>
            </a: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Satisfied!!!!!</a:t>
            </a:r>
            <a:endParaRPr sz="2800"/>
          </a:p>
        </p:txBody>
      </p:sp>
      <p:pic>
        <p:nvPicPr>
          <p:cNvPr id="831" name="Google Shape;83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833" name="Google Shape;833;p52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52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835" name="Google Shape;835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837" name="Google Shape;837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38" name="Google Shape;838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9" name="Google Shape;839;p52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3"/>
          <p:cNvSpPr txBox="1"/>
          <p:nvPr>
            <p:ph type="title"/>
          </p:nvPr>
        </p:nvSpPr>
        <p:spPr>
          <a:xfrm>
            <a:off x="401054" y="191860"/>
            <a:ext cx="11395912" cy="3561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Can P0 enter CS immediately again after completing RS?</a:t>
            </a:r>
            <a:endParaRPr sz="3600"/>
          </a:p>
        </p:txBody>
      </p:sp>
      <p:pic>
        <p:nvPicPr>
          <p:cNvPr id="845" name="Google Shape;84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847" name="Google Shape;847;p53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53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849" name="Google Shape;849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851" name="Google Shape;851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52" name="Google Shape;852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3" name="Google Shape;853;p53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54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Marcellus"/>
              <a:buNone/>
            </a:pP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Can P0 enter CS immediately again after completing RS?-No</a:t>
            </a:r>
            <a:endParaRPr sz="2800"/>
          </a:p>
        </p:txBody>
      </p:sp>
      <p:pic>
        <p:nvPicPr>
          <p:cNvPr id="859" name="Google Shape;85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861" name="Google Shape;861;p54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54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863" name="Google Shape;863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865" name="Google Shape;865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66" name="Google Shape;866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7" name="Google Shape;867;p54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68" name="Google Shape;868;p54"/>
          <p:cNvGraphicFramePr/>
          <p:nvPr/>
        </p:nvGraphicFramePr>
        <p:xfrm>
          <a:off x="981122" y="1831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1541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P0, i=0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while(turn!=0);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turn=1;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}while(1);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69" name="Google Shape;869;p54"/>
          <p:cNvSpPr txBox="1"/>
          <p:nvPr/>
        </p:nvSpPr>
        <p:spPr>
          <a:xfrm>
            <a:off x="4149031" y="1212120"/>
            <a:ext cx="2279065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After 1</a:t>
            </a:r>
            <a:r>
              <a:rPr baseline="30000"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st</a:t>
            </a: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run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turn becomes =1,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For P0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while condition =true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P0 gets trapped in an infinite loop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P0 is unable to enter CS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870" name="Google Shape;870;p54"/>
          <p:cNvSpPr/>
          <p:nvPr/>
        </p:nvSpPr>
        <p:spPr>
          <a:xfrm>
            <a:off x="994828" y="5040348"/>
            <a:ext cx="18787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CS=critical section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55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Solutions to The Critical Section Problem</a:t>
            </a:r>
            <a:endParaRPr sz="3600"/>
          </a:p>
        </p:txBody>
      </p:sp>
      <p:pic>
        <p:nvPicPr>
          <p:cNvPr id="876" name="Google Shape;87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878" name="Google Shape;878;p55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55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880" name="Google Shape;880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882" name="Google Shape;882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83" name="Google Shape;883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4" name="Google Shape;884;p55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55"/>
          <p:cNvSpPr txBox="1"/>
          <p:nvPr/>
        </p:nvSpPr>
        <p:spPr>
          <a:xfrm>
            <a:off x="669758" y="1931564"/>
            <a:ext cx="1031507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If turn == i, then process Pi executes in critical section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turn=0, Po executes CS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turn=1, P1 executes CS</a:t>
            </a:r>
            <a:endParaRPr b="0" i="0" sz="2400" u="none" cap="none" strike="noStrike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56"/>
          <p:cNvSpPr txBox="1"/>
          <p:nvPr>
            <p:ph type="title"/>
          </p:nvPr>
        </p:nvSpPr>
        <p:spPr>
          <a:xfrm>
            <a:off x="401054" y="191860"/>
            <a:ext cx="11395912" cy="3561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Algorithm 1 :</a:t>
            </a:r>
            <a:b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Progress Requirement Check</a:t>
            </a:r>
            <a:b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b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endParaRPr sz="3600"/>
          </a:p>
        </p:txBody>
      </p:sp>
      <p:pic>
        <p:nvPicPr>
          <p:cNvPr id="891" name="Google Shape;89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893" name="Google Shape;893;p5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56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895" name="Google Shape;895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897" name="Google Shape;897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98" name="Google Shape;898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9" name="Google Shape;899;p56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57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Algorithm 1 : Progress Requirement Check</a:t>
            </a:r>
            <a:endParaRPr sz="3200"/>
          </a:p>
        </p:txBody>
      </p:sp>
      <p:pic>
        <p:nvPicPr>
          <p:cNvPr id="905" name="Google Shape;90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907" name="Google Shape;907;p57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57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909" name="Google Shape;909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911" name="Google Shape;911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12" name="Google Shape;912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3" name="Google Shape;913;p57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P0 comes out then P1 gets control to go inside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P1 comes out then P0 gets control to go outside.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P0				P1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57"/>
          <p:cNvSpPr/>
          <p:nvPr/>
        </p:nvSpPr>
        <p:spPr>
          <a:xfrm>
            <a:off x="1742881" y="2797791"/>
            <a:ext cx="2747231" cy="24566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570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57"/>
          <p:cNvSpPr/>
          <p:nvPr/>
        </p:nvSpPr>
        <p:spPr>
          <a:xfrm rot="10800000">
            <a:off x="1574302" y="3172671"/>
            <a:ext cx="3028279" cy="948952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12700">
            <a:solidFill>
              <a:srgbClr val="1570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8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Algorithm 1 : Progress Requirement Check</a:t>
            </a:r>
            <a:endParaRPr sz="3200"/>
          </a:p>
        </p:txBody>
      </p:sp>
      <p:pic>
        <p:nvPicPr>
          <p:cNvPr id="921" name="Google Shape;921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923" name="Google Shape;923;p58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58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925" name="Google Shape;925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927" name="Google Shape;927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28" name="Google Shape;928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9" name="Google Shape;929;p58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Strict Alteration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1-If a process doesn’t want to go to CS, still it goes due to alteration.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2-If P1 doesn’t want to go in CS and P0 wants to go in CS, still P0 won’t get chance.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Solution is not following progress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59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Algorithm 1 : Bounded Waiting Check</a:t>
            </a:r>
            <a:endParaRPr sz="3200"/>
          </a:p>
        </p:txBody>
      </p:sp>
      <p:pic>
        <p:nvPicPr>
          <p:cNvPr id="935" name="Google Shape;93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937" name="Google Shape;937;p59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59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939" name="Google Shape;939;p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941" name="Google Shape;941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42" name="Google Shape;942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3" name="Google Shape;943;p59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0 can go directly and Process 1 can go after process 0 into critical section. So, Bounded waiting is satisfied.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60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Solutions to The Critical Section Problem</a:t>
            </a:r>
            <a:endParaRPr sz="3600"/>
          </a:p>
        </p:txBody>
      </p:sp>
      <p:pic>
        <p:nvPicPr>
          <p:cNvPr id="949" name="Google Shape;94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951" name="Google Shape;951;p60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60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953" name="Google Shape;953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955" name="Google Shape;955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56" name="Google Shape;956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7" name="Google Shape;957;p60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60"/>
          <p:cNvSpPr txBox="1"/>
          <p:nvPr/>
        </p:nvSpPr>
        <p:spPr>
          <a:xfrm>
            <a:off x="669758" y="1931564"/>
            <a:ext cx="1031507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Mutual Exclusion is preserved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Ensures that only one process at a time can be in its critical section.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Does not satisfy, Progress Requirement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Bounded Waiting Criteria is satisfied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61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Algorithm 2</a:t>
            </a:r>
            <a:endParaRPr sz="3600"/>
          </a:p>
        </p:txBody>
      </p:sp>
      <p:pic>
        <p:nvPicPr>
          <p:cNvPr id="964" name="Google Shape;964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966" name="Google Shape;966;p61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61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968" name="Google Shape;968;p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970" name="Google Shape;970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71" name="Google Shape;971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2" name="Google Shape;972;p61"/>
          <p:cNvSpPr txBox="1"/>
          <p:nvPr/>
        </p:nvSpPr>
        <p:spPr>
          <a:xfrm>
            <a:off x="822158" y="953778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Algorithm 2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The two processes share boolean array:</a:t>
            </a:r>
            <a:endParaRPr sz="2400">
              <a:solidFill>
                <a:srgbClr val="0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Boolean flag[2]</a:t>
            </a:r>
            <a:endParaRPr/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The 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flag </a:t>
            </a: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array is used to indicate if a process is ready to enter the critical section. 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flag[i] = </a:t>
            </a:r>
            <a:r>
              <a:rPr i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true</a:t>
            </a: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  implies that process P</a:t>
            </a:r>
            <a:r>
              <a:rPr baseline="-25000"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i</a:t>
            </a: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 is ready!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Boolean array can be initialized to false.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As the process wants to enter CS, its cell can be made True.</a:t>
            </a:r>
            <a:endParaRPr sz="2400">
              <a:solidFill>
                <a:srgbClr val="0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73" name="Google Shape;973;p61"/>
          <p:cNvGraphicFramePr/>
          <p:nvPr/>
        </p:nvGraphicFramePr>
        <p:xfrm>
          <a:off x="8200560" y="426007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711200"/>
                <a:gridCol w="83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[0]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[1]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974" name="Google Shape;974;p61"/>
          <p:cNvSpPr/>
          <p:nvPr/>
        </p:nvSpPr>
        <p:spPr>
          <a:xfrm>
            <a:off x="8066872" y="3798411"/>
            <a:ext cx="29690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Boolean Array flag[2]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62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Solutions to The Critical Section Problem</a:t>
            </a:r>
            <a:endParaRPr sz="3600"/>
          </a:p>
        </p:txBody>
      </p:sp>
      <p:pic>
        <p:nvPicPr>
          <p:cNvPr id="980" name="Google Shape;98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982" name="Google Shape;982;p62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62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984" name="Google Shape;984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986" name="Google Shape;986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87" name="Google Shape;987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8" name="Google Shape;988;p62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9" name="Google Shape;989;p6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01755" y="1801506"/>
            <a:ext cx="6168787" cy="3357347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62"/>
          <p:cNvSpPr/>
          <p:nvPr/>
        </p:nvSpPr>
        <p:spPr>
          <a:xfrm>
            <a:off x="4408227" y="4776716"/>
            <a:ext cx="1665439" cy="532263"/>
          </a:xfrm>
          <a:prstGeom prst="ellipse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63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Marcellus"/>
              <a:buNone/>
            </a:pP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Algorithm 2</a:t>
            </a:r>
            <a:endParaRPr sz="2800"/>
          </a:p>
        </p:txBody>
      </p:sp>
      <p:pic>
        <p:nvPicPr>
          <p:cNvPr id="996" name="Google Shape;996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998" name="Google Shape;998;p63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63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000" name="Google Shape;1000;p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002" name="Google Shape;1002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003" name="Google Shape;1003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4" name="Google Shape;1004;p63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05" name="Google Shape;1005;p63"/>
          <p:cNvGraphicFramePr/>
          <p:nvPr/>
        </p:nvGraphicFramePr>
        <p:xfrm>
          <a:off x="981122" y="1831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631825"/>
                <a:gridCol w="3916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P0,i=0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P1,i=1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flag[0]=true;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while(flag[1]);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 flag[0]=false;</a:t>
                      </a:r>
                      <a:endParaRPr sz="24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}while(1);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flag[1]=true;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while(flag[0]);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 flag[1]=false;</a:t>
                      </a:r>
                      <a:endParaRPr sz="24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}while(1);</a:t>
                      </a:r>
                      <a:endParaRPr sz="2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1006" name="Google Shape;1006;p6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25384" y="1776384"/>
            <a:ext cx="3166281" cy="3357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64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Marcellus"/>
              <a:buNone/>
            </a:pP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Algorithm 2</a:t>
            </a:r>
            <a:endParaRPr sz="2800"/>
          </a:p>
        </p:txBody>
      </p:sp>
      <p:pic>
        <p:nvPicPr>
          <p:cNvPr id="1012" name="Google Shape;101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014" name="Google Shape;1014;p64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64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016" name="Google Shape;1016;p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018" name="Google Shape;1018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019" name="Google Shape;1019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0" name="Google Shape;1020;p64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21" name="Google Shape;1021;p64"/>
          <p:cNvGraphicFramePr/>
          <p:nvPr/>
        </p:nvGraphicFramePr>
        <p:xfrm>
          <a:off x="981122" y="1831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631825"/>
                <a:gridCol w="3916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P0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P1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flag[0]=true;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while(flag[1]);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 flag[0]=false;</a:t>
                      </a:r>
                      <a:endParaRPr sz="24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}while(1);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flag[1]=true;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while(flag[0]);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 flag[1]=false;</a:t>
                      </a:r>
                      <a:endParaRPr sz="24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}while(1);</a:t>
                      </a:r>
                      <a:endParaRPr sz="2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022" name="Google Shape;1022;p64"/>
          <p:cNvSpPr/>
          <p:nvPr/>
        </p:nvSpPr>
        <p:spPr>
          <a:xfrm>
            <a:off x="9047006" y="2419978"/>
            <a:ext cx="29690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Boolean Array flag[2]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graphicFrame>
        <p:nvGraphicFramePr>
          <p:cNvPr id="1023" name="Google Shape;1023;p64"/>
          <p:cNvGraphicFramePr/>
          <p:nvPr/>
        </p:nvGraphicFramePr>
        <p:xfrm>
          <a:off x="9592632" y="29578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711200"/>
                <a:gridCol w="83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[0]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[1]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65"/>
          <p:cNvSpPr txBox="1"/>
          <p:nvPr>
            <p:ph type="title"/>
          </p:nvPr>
        </p:nvSpPr>
        <p:spPr>
          <a:xfrm>
            <a:off x="401054" y="191860"/>
            <a:ext cx="11395912" cy="3561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Marcellus"/>
              <a:buNone/>
            </a:pP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Algorithm 2 :</a:t>
            </a: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Mutual Exclusion Check</a:t>
            </a: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If P0 is executing critical section,</a:t>
            </a: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Can another process P1 enter the critical section or not? </a:t>
            </a: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endParaRPr sz="2800"/>
          </a:p>
        </p:txBody>
      </p:sp>
      <p:pic>
        <p:nvPicPr>
          <p:cNvPr id="1029" name="Google Shape;102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031" name="Google Shape;1031;p65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2" name="Google Shape;1032;p65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033" name="Google Shape;1033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035" name="Google Shape;1035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036" name="Google Shape;1036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7" name="Google Shape;1037;p65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66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Marcellus"/>
              <a:buNone/>
            </a:pP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If P0 is executing CS,</a:t>
            </a: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Can another process P1 enter the CS or not? No</a:t>
            </a:r>
            <a:endParaRPr sz="2800"/>
          </a:p>
        </p:txBody>
      </p:sp>
      <p:pic>
        <p:nvPicPr>
          <p:cNvPr id="1043" name="Google Shape;104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4" name="Google Shape;1044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045" name="Google Shape;1045;p6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66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047" name="Google Shape;1047;p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049" name="Google Shape;1049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050" name="Google Shape;1050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1" name="Google Shape;1051;p66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52" name="Google Shape;1052;p66"/>
          <p:cNvGraphicFramePr/>
          <p:nvPr/>
        </p:nvGraphicFramePr>
        <p:xfrm>
          <a:off x="6361832" y="16263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3086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P1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flag[1]=true;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while(flag[0]);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 flag[1]=false;</a:t>
                      </a:r>
                      <a:endParaRPr sz="24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}while(1);</a:t>
                      </a:r>
                      <a:endParaRPr sz="2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053" name="Google Shape;1053;p66"/>
          <p:cNvSpPr/>
          <p:nvPr/>
        </p:nvSpPr>
        <p:spPr>
          <a:xfrm>
            <a:off x="5416701" y="5467741"/>
            <a:ext cx="29690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Boolean Array flag[2]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graphicFrame>
        <p:nvGraphicFramePr>
          <p:cNvPr id="1054" name="Google Shape;1054;p66"/>
          <p:cNvGraphicFramePr/>
          <p:nvPr/>
        </p:nvGraphicFramePr>
        <p:xfrm>
          <a:off x="3849557" y="54408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711200"/>
                <a:gridCol w="83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[0]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[1]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55" name="Google Shape;1055;p66"/>
          <p:cNvGraphicFramePr/>
          <p:nvPr/>
        </p:nvGraphicFramePr>
        <p:xfrm>
          <a:off x="272488" y="17280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24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P0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flag[0]=true;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while(flag[1]);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 flag[0]=false;</a:t>
                      </a:r>
                      <a:endParaRPr sz="24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}while(1);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056" name="Google Shape;1056;p66"/>
          <p:cNvSpPr txBox="1"/>
          <p:nvPr/>
        </p:nvSpPr>
        <p:spPr>
          <a:xfrm>
            <a:off x="3630305" y="1070382"/>
            <a:ext cx="2620370" cy="4062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For P0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It wants to enter CS, so sets flag[0]=T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It checks If his friend P1 wants to go,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As flag[1]=F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Control Comes out of while loop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P0  executes CS</a:t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7" name="Google Shape;1057;p6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89909" y="1558020"/>
            <a:ext cx="2470251" cy="3357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67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Marcellus"/>
              <a:buNone/>
            </a:pP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If P0 is executing CS,</a:t>
            </a: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Can another process P1 enter the CS or not? No</a:t>
            </a:r>
            <a:endParaRPr sz="2800"/>
          </a:p>
        </p:txBody>
      </p:sp>
      <p:pic>
        <p:nvPicPr>
          <p:cNvPr id="1063" name="Google Shape;106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4" name="Google Shape;1064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065" name="Google Shape;1065;p67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67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067" name="Google Shape;1067;p6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069" name="Google Shape;1069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070" name="Google Shape;1070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1" name="Google Shape;1071;p67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72" name="Google Shape;1072;p67"/>
          <p:cNvGraphicFramePr/>
          <p:nvPr/>
        </p:nvGraphicFramePr>
        <p:xfrm>
          <a:off x="6361832" y="16263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3086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P1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flag[1]=true;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while(flag[0]);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 flag[1]=false;</a:t>
                      </a:r>
                      <a:endParaRPr sz="24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}while(1);</a:t>
                      </a:r>
                      <a:endParaRPr sz="2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073" name="Google Shape;1073;p67"/>
          <p:cNvSpPr/>
          <p:nvPr/>
        </p:nvSpPr>
        <p:spPr>
          <a:xfrm>
            <a:off x="5416701" y="5467741"/>
            <a:ext cx="29690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Boolean Array flag[2]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graphicFrame>
        <p:nvGraphicFramePr>
          <p:cNvPr id="1074" name="Google Shape;1074;p67"/>
          <p:cNvGraphicFramePr/>
          <p:nvPr/>
        </p:nvGraphicFramePr>
        <p:xfrm>
          <a:off x="3849557" y="54408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711200"/>
                <a:gridCol w="83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[0]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[1]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075" name="Google Shape;1075;p67"/>
          <p:cNvGraphicFramePr/>
          <p:nvPr/>
        </p:nvGraphicFramePr>
        <p:xfrm>
          <a:off x="272488" y="17280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24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P0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flag[0]=true;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while(flag[1]);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 flag[0]=false;</a:t>
                      </a:r>
                      <a:endParaRPr sz="24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}while(1);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076" name="Google Shape;1076;p67"/>
          <p:cNvSpPr txBox="1"/>
          <p:nvPr/>
        </p:nvSpPr>
        <p:spPr>
          <a:xfrm>
            <a:off x="3630305" y="1070382"/>
            <a:ext cx="2620370" cy="4062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For P0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It wants to enter CS, so sets flag[0]=T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It checks If his friend P1 wants to go,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As flag[1]=F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Control Comes out of while loop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P0  executes CS</a:t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67"/>
          <p:cNvSpPr txBox="1"/>
          <p:nvPr/>
        </p:nvSpPr>
        <p:spPr>
          <a:xfrm>
            <a:off x="9703559" y="1070382"/>
            <a:ext cx="2446964" cy="4062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P1 tries to enter CS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Sets flag[1]=T,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while condition =true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P1 gets trapped in an infinite loop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P1 is unable to enter CS</a:t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graphicFrame>
        <p:nvGraphicFramePr>
          <p:cNvPr id="1078" name="Google Shape;1078;p67"/>
          <p:cNvGraphicFramePr/>
          <p:nvPr/>
        </p:nvGraphicFramePr>
        <p:xfrm>
          <a:off x="8516082" y="54677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711200"/>
                <a:gridCol w="83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[0]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[1]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68"/>
          <p:cNvSpPr txBox="1"/>
          <p:nvPr>
            <p:ph type="title"/>
          </p:nvPr>
        </p:nvSpPr>
        <p:spPr>
          <a:xfrm>
            <a:off x="401054" y="191860"/>
            <a:ext cx="11395912" cy="3561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Marcellus"/>
              <a:buNone/>
            </a:pP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Can P1 enter CS while P0 is in Remainder Section ?</a:t>
            </a:r>
            <a:endParaRPr sz="2800"/>
          </a:p>
        </p:txBody>
      </p:sp>
      <p:pic>
        <p:nvPicPr>
          <p:cNvPr id="1084" name="Google Shape;1084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5" name="Google Shape;1085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086" name="Google Shape;1086;p68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p68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088" name="Google Shape;1088;p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090" name="Google Shape;1090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091" name="Google Shape;1091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2" name="Google Shape;1092;p68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69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Marcellus"/>
              <a:buNone/>
            </a:pP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Can P1 enter CS while P0 is in Remainder Section ?Yes</a:t>
            </a:r>
            <a:endParaRPr sz="2800"/>
          </a:p>
        </p:txBody>
      </p:sp>
      <p:pic>
        <p:nvPicPr>
          <p:cNvPr id="1098" name="Google Shape;1098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100" name="Google Shape;1100;p69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69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102" name="Google Shape;1102;p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103" name="Google Shape;1103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104" name="Google Shape;1104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05" name="Google Shape;1105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6" name="Google Shape;1106;p69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07" name="Google Shape;1107;p69"/>
          <p:cNvGraphicFramePr/>
          <p:nvPr/>
        </p:nvGraphicFramePr>
        <p:xfrm>
          <a:off x="6361832" y="16263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3086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P1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flag[1]=true;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while(flag[0]);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 flag[1]=false;</a:t>
                      </a:r>
                      <a:endParaRPr sz="24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}while(1);</a:t>
                      </a:r>
                      <a:endParaRPr sz="2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08" name="Google Shape;1108;p69"/>
          <p:cNvSpPr/>
          <p:nvPr/>
        </p:nvSpPr>
        <p:spPr>
          <a:xfrm>
            <a:off x="5416701" y="5467741"/>
            <a:ext cx="29690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Boolean Array flag[2]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graphicFrame>
        <p:nvGraphicFramePr>
          <p:cNvPr id="1109" name="Google Shape;1109;p69"/>
          <p:cNvGraphicFramePr/>
          <p:nvPr/>
        </p:nvGraphicFramePr>
        <p:xfrm>
          <a:off x="3849557" y="54408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711200"/>
                <a:gridCol w="83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[0]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[1]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110" name="Google Shape;1110;p69"/>
          <p:cNvGraphicFramePr/>
          <p:nvPr/>
        </p:nvGraphicFramePr>
        <p:xfrm>
          <a:off x="272488" y="17280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24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P0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flag[0]=true;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while(flag[1]);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 flag[0]=false;</a:t>
                      </a:r>
                      <a:endParaRPr sz="24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}while(1);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11" name="Google Shape;1111;p69"/>
          <p:cNvSpPr txBox="1"/>
          <p:nvPr/>
        </p:nvSpPr>
        <p:spPr>
          <a:xfrm>
            <a:off x="3630305" y="1261454"/>
            <a:ext cx="2620370" cy="3447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For P0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After finishing CS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Sets flag[0]=false </a:t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Continues with RS</a:t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69"/>
          <p:cNvSpPr txBox="1"/>
          <p:nvPr/>
        </p:nvSpPr>
        <p:spPr>
          <a:xfrm>
            <a:off x="9703559" y="1370638"/>
            <a:ext cx="2446964" cy="3447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P1 tries to enter CS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sets flag[1]=T,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while condition =false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P1 enters CS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70"/>
          <p:cNvSpPr txBox="1"/>
          <p:nvPr>
            <p:ph type="title"/>
          </p:nvPr>
        </p:nvSpPr>
        <p:spPr>
          <a:xfrm>
            <a:off x="401054" y="191860"/>
            <a:ext cx="11395912" cy="3561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Marcellus"/>
              <a:buNone/>
            </a:pP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Algorithm 2 :</a:t>
            </a: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Mutual Exclusion Check</a:t>
            </a: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Satisfied!!!!!</a:t>
            </a:r>
            <a:endParaRPr sz="2800"/>
          </a:p>
        </p:txBody>
      </p:sp>
      <p:pic>
        <p:nvPicPr>
          <p:cNvPr id="1118" name="Google Shape;1118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9" name="Google Shape;1119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120" name="Google Shape;1120;p70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70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122" name="Google Shape;1122;p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124" name="Google Shape;1124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25" name="Google Shape;1125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6" name="Google Shape;1126;p70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71"/>
          <p:cNvSpPr txBox="1"/>
          <p:nvPr>
            <p:ph type="title"/>
          </p:nvPr>
        </p:nvSpPr>
        <p:spPr>
          <a:xfrm>
            <a:off x="401054" y="191860"/>
            <a:ext cx="11395912" cy="3561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Algorithm 2:</a:t>
            </a:r>
            <a:b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Progress Requirement Check</a:t>
            </a:r>
            <a:b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b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endParaRPr sz="3600"/>
          </a:p>
        </p:txBody>
      </p:sp>
      <p:pic>
        <p:nvPicPr>
          <p:cNvPr id="1132" name="Google Shape;113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3" name="Google Shape;1133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134" name="Google Shape;1134;p71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71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136" name="Google Shape;1136;p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Google Shape;1137;p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138" name="Google Shape;1138;p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39" name="Google Shape;1139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0" name="Google Shape;1140;p71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72"/>
          <p:cNvSpPr txBox="1"/>
          <p:nvPr>
            <p:ph type="title"/>
          </p:nvPr>
        </p:nvSpPr>
        <p:spPr>
          <a:xfrm>
            <a:off x="401054" y="191860"/>
            <a:ext cx="11395912" cy="3561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Can P0 enter CS immediately again after completing RS?</a:t>
            </a:r>
            <a:endParaRPr sz="3600"/>
          </a:p>
        </p:txBody>
      </p:sp>
      <p:pic>
        <p:nvPicPr>
          <p:cNvPr id="1146" name="Google Shape;1146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7" name="Google Shape;1147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148" name="Google Shape;1148;p72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72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150" name="Google Shape;1150;p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p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152" name="Google Shape;1152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53" name="Google Shape;1153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4" name="Google Shape;1154;p72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73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Marcellus"/>
              <a:buNone/>
            </a:pP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Can P0 enter CS immediately again after completing RS? Yes</a:t>
            </a:r>
            <a:endParaRPr sz="2800"/>
          </a:p>
        </p:txBody>
      </p:sp>
      <p:pic>
        <p:nvPicPr>
          <p:cNvPr id="1160" name="Google Shape;1160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1" name="Google Shape;1161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162" name="Google Shape;1162;p73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73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164" name="Google Shape;1164;p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7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166" name="Google Shape;1166;p7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67" name="Google Shape;1167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8" name="Google Shape;1168;p73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73"/>
          <p:cNvSpPr/>
          <p:nvPr/>
        </p:nvSpPr>
        <p:spPr>
          <a:xfrm>
            <a:off x="5416701" y="5467741"/>
            <a:ext cx="29690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Boolean Array flag[2]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graphicFrame>
        <p:nvGraphicFramePr>
          <p:cNvPr id="1170" name="Google Shape;1170;p73"/>
          <p:cNvGraphicFramePr/>
          <p:nvPr/>
        </p:nvGraphicFramePr>
        <p:xfrm>
          <a:off x="3849557" y="51397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711200"/>
                <a:gridCol w="83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[0]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[1]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171" name="Google Shape;1171;p73"/>
          <p:cNvGraphicFramePr/>
          <p:nvPr/>
        </p:nvGraphicFramePr>
        <p:xfrm>
          <a:off x="272488" y="17280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24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P0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flag[0]=true;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while(flag[1]);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 flag[0]=false;</a:t>
                      </a:r>
                      <a:endParaRPr sz="24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}while(1);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72" name="Google Shape;1172;p73"/>
          <p:cNvSpPr txBox="1"/>
          <p:nvPr/>
        </p:nvSpPr>
        <p:spPr>
          <a:xfrm>
            <a:off x="3561767" y="1729602"/>
            <a:ext cx="4531056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If His friend P1 is not interested in CS and flag[1]=F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and If P0 wants to go again , is interested, so set flag[0]=T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while loop is false 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FF0000"/>
                </a:solidFill>
                <a:latin typeface="Marcellus"/>
                <a:ea typeface="Marcellus"/>
                <a:cs typeface="Marcellus"/>
                <a:sym typeface="Marcellus"/>
              </a:rPr>
              <a:t>So P0 can enter CS any number of times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74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Algorithm 2 : Progress Requirement Check</a:t>
            </a:r>
            <a:endParaRPr sz="3600"/>
          </a:p>
        </p:txBody>
      </p:sp>
      <p:pic>
        <p:nvPicPr>
          <p:cNvPr id="1178" name="Google Shape;1178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9" name="Google Shape;1179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180" name="Google Shape;1180;p74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74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182" name="Google Shape;1182;p7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p7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184" name="Google Shape;1184;p7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85" name="Google Shape;1185;p7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6" name="Google Shape;1186;p74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P1 wants to go in CS again and immediately after executing RS, it can enter again if P2 is not interested in CS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Whichever process is interested , while others are not, gets to enter CS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Progress till now.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75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Algorithm 2 : Progress Requirement Check</a:t>
            </a:r>
            <a:endParaRPr sz="3600"/>
          </a:p>
        </p:txBody>
      </p:sp>
      <p:pic>
        <p:nvPicPr>
          <p:cNvPr id="1192" name="Google Shape;1192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3" name="Google Shape;1193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194" name="Google Shape;1194;p75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75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196" name="Google Shape;1196;p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p7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198" name="Google Shape;1198;p7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99" name="Google Shape;1199;p7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0" name="Google Shape;1200;p75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Contradiction crops up…………….Now…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76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Marcellus"/>
              <a:buNone/>
            </a:pP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If both P0,P1 want to enter CS</a:t>
            </a:r>
            <a:endParaRPr sz="2800"/>
          </a:p>
        </p:txBody>
      </p:sp>
      <p:pic>
        <p:nvPicPr>
          <p:cNvPr id="1206" name="Google Shape;1206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7" name="Google Shape;1207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208" name="Google Shape;1208;p7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76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210" name="Google Shape;1210;p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211" name="Google Shape;1211;p7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212" name="Google Shape;1212;p7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213" name="Google Shape;1213;p7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4" name="Google Shape;1214;p76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15" name="Google Shape;1215;p76"/>
          <p:cNvGraphicFramePr/>
          <p:nvPr/>
        </p:nvGraphicFramePr>
        <p:xfrm>
          <a:off x="6361832" y="16263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3086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P1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flag[1]=true;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while(flag[0]);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 flag[1]=false;</a:t>
                      </a:r>
                      <a:endParaRPr sz="24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}while(1);</a:t>
                      </a:r>
                      <a:endParaRPr sz="2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16" name="Google Shape;1216;p76"/>
          <p:cNvSpPr/>
          <p:nvPr/>
        </p:nvSpPr>
        <p:spPr>
          <a:xfrm>
            <a:off x="5416701" y="5467741"/>
            <a:ext cx="296908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Boolean Array flag[2]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graphicFrame>
        <p:nvGraphicFramePr>
          <p:cNvPr id="1217" name="Google Shape;1217;p76"/>
          <p:cNvGraphicFramePr/>
          <p:nvPr/>
        </p:nvGraphicFramePr>
        <p:xfrm>
          <a:off x="3849557" y="54408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711200"/>
                <a:gridCol w="83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[0]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[1]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218" name="Google Shape;1218;p76"/>
          <p:cNvGraphicFramePr/>
          <p:nvPr/>
        </p:nvGraphicFramePr>
        <p:xfrm>
          <a:off x="272488" y="17280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24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P0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flag[0]=true;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while(flag[1]);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 flag[0]=false;</a:t>
                      </a:r>
                      <a:endParaRPr sz="24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        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}while(1);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19" name="Google Shape;1219;p76"/>
          <p:cNvSpPr txBox="1"/>
          <p:nvPr/>
        </p:nvSpPr>
        <p:spPr>
          <a:xfrm>
            <a:off x="3630305" y="1261454"/>
            <a:ext cx="2620370" cy="2523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For P0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Gets trapped in While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Infinite Loop </a:t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P0 Doesn’t enter CS</a:t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220" name="Google Shape;1220;p76"/>
          <p:cNvSpPr txBox="1"/>
          <p:nvPr/>
        </p:nvSpPr>
        <p:spPr>
          <a:xfrm>
            <a:off x="9674647" y="1283236"/>
            <a:ext cx="2620370" cy="2523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For P1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Gets trapped in While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Infinite Loop </a:t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P1 Doesn’t enter CS</a:t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221" name="Google Shape;1221;p76"/>
          <p:cNvSpPr txBox="1"/>
          <p:nvPr/>
        </p:nvSpPr>
        <p:spPr>
          <a:xfrm>
            <a:off x="6859081" y="825268"/>
            <a:ext cx="24293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Concurrent Execution!!!</a:t>
            </a:r>
            <a:endParaRPr sz="1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77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Algorithm 2 : Progress Requirement Check</a:t>
            </a:r>
            <a:endParaRPr sz="3600"/>
          </a:p>
        </p:txBody>
      </p:sp>
      <p:pic>
        <p:nvPicPr>
          <p:cNvPr id="1227" name="Google Shape;1227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229" name="Google Shape;1229;p77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30" name="Google Shape;1230;p77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231" name="Google Shape;1231;p7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232" name="Google Shape;1232;p7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233" name="Google Shape;1233;p7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234" name="Google Shape;1234;p7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5" name="Google Shape;1235;p77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Both P0,P1 want to enter CS, Both go in infinte loop, No one gets CS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Thus, No Progress.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78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Solutions to The Critical Section Problem</a:t>
            </a:r>
            <a:endParaRPr sz="3600"/>
          </a:p>
        </p:txBody>
      </p:sp>
      <p:pic>
        <p:nvPicPr>
          <p:cNvPr id="1241" name="Google Shape;1241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2" name="Google Shape;1242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243" name="Google Shape;1243;p78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78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245" name="Google Shape;1245;p7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246" name="Google Shape;1246;p7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247" name="Google Shape;1247;p7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248" name="Google Shape;1248;p7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9" name="Google Shape;1249;p78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78"/>
          <p:cNvSpPr txBox="1"/>
          <p:nvPr/>
        </p:nvSpPr>
        <p:spPr>
          <a:xfrm>
            <a:off x="822158" y="2125943"/>
            <a:ext cx="8908696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Mutual Exclusion is preserved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Does not satisfy, Progress Requirement.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79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Solutions to The Critical Section Problem</a:t>
            </a:r>
            <a:endParaRPr sz="3600"/>
          </a:p>
        </p:txBody>
      </p:sp>
      <p:pic>
        <p:nvPicPr>
          <p:cNvPr id="1256" name="Google Shape;1256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7" name="Google Shape;1257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258" name="Google Shape;1258;p79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p79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260" name="Google Shape;1260;p7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261" name="Google Shape;1261;p7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262" name="Google Shape;1262;p7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263" name="Google Shape;1263;p7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4" name="Google Shape;1264;p79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Lets us combine the concept of 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Algorithm 1 and  Algorithm 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80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Algorithm 3</a:t>
            </a:r>
            <a:endParaRPr sz="3600"/>
          </a:p>
        </p:txBody>
      </p:sp>
      <p:pic>
        <p:nvPicPr>
          <p:cNvPr id="1270" name="Google Shape;1270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1" name="Google Shape;1271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272" name="Google Shape;1272;p80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73" name="Google Shape;1273;p80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274" name="Google Shape;1274;p8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8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276" name="Google Shape;1276;p8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277" name="Google Shape;1277;p8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8" name="Google Shape;1278;p80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Algorithm 3/Peterson’s Solution</a:t>
            </a:r>
            <a:endParaRPr sz="2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The two processes share two variables: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int turn;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Boolean flag[2]</a:t>
            </a:r>
            <a:endParaRPr/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The variable 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turn</a:t>
            </a: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 indicates whose turn it is to enter the critical section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The 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flag </a:t>
            </a: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array is used to indicate if a process is ready to enter the critical section. 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flag[i] = </a:t>
            </a:r>
            <a:r>
              <a:rPr i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true</a:t>
            </a: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  implies that process P</a:t>
            </a:r>
            <a:r>
              <a:rPr baseline="-25000"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i</a:t>
            </a: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 is ready!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81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Algorithm 3</a:t>
            </a:r>
            <a:endParaRPr sz="3600"/>
          </a:p>
        </p:txBody>
      </p:sp>
      <p:pic>
        <p:nvPicPr>
          <p:cNvPr id="1284" name="Google Shape;1284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5" name="Google Shape;1285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286" name="Google Shape;1286;p81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81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288" name="Google Shape;1288;p8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289" name="Google Shape;1289;p8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290" name="Google Shape;1290;p8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291" name="Google Shape;1291;p8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2" name="Google Shape;1292;p81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3/Peterson’s Solution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3" name="Google Shape;1293;p8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20119" y="1692322"/>
            <a:ext cx="6741993" cy="3748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82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Marcellus"/>
              <a:buNone/>
            </a:pP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Algorithm 3</a:t>
            </a:r>
            <a:endParaRPr sz="2800"/>
          </a:p>
        </p:txBody>
      </p:sp>
      <p:pic>
        <p:nvPicPr>
          <p:cNvPr id="1299" name="Google Shape;1299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0" name="Google Shape;1300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301" name="Google Shape;1301;p82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02" name="Google Shape;1302;p82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303" name="Google Shape;1303;p8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304" name="Google Shape;1304;p8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305" name="Google Shape;1305;p8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306" name="Google Shape;1306;p8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7" name="Google Shape;1307;p82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08" name="Google Shape;1308;p82"/>
          <p:cNvGraphicFramePr/>
          <p:nvPr/>
        </p:nvGraphicFramePr>
        <p:xfrm>
          <a:off x="981122" y="18174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631825"/>
                <a:gridCol w="3916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P0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P1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flag[0]=true;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turn=1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while(turn==1 &amp;&amp;</a:t>
                      </a:r>
                      <a:r>
                        <a:rPr lang="en-US" sz="2000"/>
                        <a:t> </a:t>
                      </a:r>
                      <a:r>
                        <a:rPr lang="en-US" sz="2000"/>
                        <a:t>flag[1]==T);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 flag[0]=false;</a:t>
                      </a:r>
                      <a:endParaRPr sz="2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}while(1);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flag[1]=true;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turn=0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while(turn==0 &amp;&amp; flag[0]==T);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 flag[1]=false;</a:t>
                      </a:r>
                      <a:endParaRPr sz="2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}while(1);</a:t>
                      </a:r>
                      <a:endParaRPr sz="20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1309" name="Google Shape;1309;p8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60079" y="1580813"/>
            <a:ext cx="3562066" cy="3748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83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Marcellus"/>
              <a:buNone/>
            </a:pP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Algorithm 3</a:t>
            </a:r>
            <a:endParaRPr sz="2800"/>
          </a:p>
        </p:txBody>
      </p:sp>
      <p:pic>
        <p:nvPicPr>
          <p:cNvPr id="1315" name="Google Shape;1315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6" name="Google Shape;1316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317" name="Google Shape;1317;p83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83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319" name="Google Shape;1319;p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320" name="Google Shape;1320;p8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321" name="Google Shape;1321;p8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322" name="Google Shape;1322;p8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3" name="Google Shape;1323;p83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24" name="Google Shape;1324;p83"/>
          <p:cNvGraphicFramePr/>
          <p:nvPr/>
        </p:nvGraphicFramePr>
        <p:xfrm>
          <a:off x="981122" y="18174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631825"/>
                <a:gridCol w="3916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P0</a:t>
                      </a:r>
                      <a:endParaRPr sz="20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P1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flag[0]=true;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turn=1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while(turn==1 &amp;&amp;</a:t>
                      </a:r>
                      <a:r>
                        <a:rPr lang="en-US" sz="2000"/>
                        <a:t> </a:t>
                      </a:r>
                      <a:r>
                        <a:rPr lang="en-US" sz="2000"/>
                        <a:t>flag[1]==T);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 flag[0]=false;</a:t>
                      </a:r>
                      <a:endParaRPr sz="2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}while(1);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flag[1]=true;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turn=0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while(turn==0 &amp;&amp; flag[0]==T);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 flag[1]=false;</a:t>
                      </a:r>
                      <a:endParaRPr sz="2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}while(1);</a:t>
                      </a:r>
                      <a:endParaRPr sz="20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25" name="Google Shape;1325;p83"/>
          <p:cNvSpPr/>
          <p:nvPr/>
        </p:nvSpPr>
        <p:spPr>
          <a:xfrm>
            <a:off x="9047006" y="2036099"/>
            <a:ext cx="296908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turn=0/1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Boolean Array flag[2]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graphicFrame>
        <p:nvGraphicFramePr>
          <p:cNvPr id="1326" name="Google Shape;1326;p83"/>
          <p:cNvGraphicFramePr/>
          <p:nvPr/>
        </p:nvGraphicFramePr>
        <p:xfrm>
          <a:off x="9592632" y="295789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711200"/>
                <a:gridCol w="83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[0]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[1]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84"/>
          <p:cNvSpPr txBox="1"/>
          <p:nvPr>
            <p:ph type="title"/>
          </p:nvPr>
        </p:nvSpPr>
        <p:spPr>
          <a:xfrm>
            <a:off x="401054" y="191860"/>
            <a:ext cx="11395912" cy="3561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Marcellus"/>
              <a:buNone/>
            </a:pP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Algorithm 3 :</a:t>
            </a: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Mutual Exclusion Check</a:t>
            </a: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If P0 is executing critical section,</a:t>
            </a: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Can another process P1 enter the critical section or not? </a:t>
            </a: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endParaRPr sz="2800"/>
          </a:p>
        </p:txBody>
      </p:sp>
      <p:pic>
        <p:nvPicPr>
          <p:cNvPr id="1332" name="Google Shape;1332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3" name="Google Shape;1333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334" name="Google Shape;1334;p84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35" name="Google Shape;1335;p84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336" name="Google Shape;1336;p8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337" name="Google Shape;1337;p8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338" name="Google Shape;1338;p8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339" name="Google Shape;1339;p8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0" name="Google Shape;1340;p84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85"/>
          <p:cNvSpPr txBox="1"/>
          <p:nvPr>
            <p:ph type="title"/>
          </p:nvPr>
        </p:nvSpPr>
        <p:spPr>
          <a:xfrm>
            <a:off x="375710" y="0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Marcellus"/>
              <a:buNone/>
            </a:pP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If P0 is executing CS, Can another process P1 enter the CS or not? No</a:t>
            </a:r>
            <a:endParaRPr sz="2800"/>
          </a:p>
        </p:txBody>
      </p:sp>
      <p:pic>
        <p:nvPicPr>
          <p:cNvPr id="1346" name="Google Shape;134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7" name="Google Shape;1347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348" name="Google Shape;1348;p85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49" name="Google Shape;1349;p85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350" name="Google Shape;1350;p8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351" name="Google Shape;1351;p8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352" name="Google Shape;1352;p8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353" name="Google Shape;1353;p8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4" name="Google Shape;1354;p85"/>
          <p:cNvSpPr txBox="1"/>
          <p:nvPr/>
        </p:nvSpPr>
        <p:spPr>
          <a:xfrm>
            <a:off x="508260" y="656542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85"/>
          <p:cNvSpPr/>
          <p:nvPr/>
        </p:nvSpPr>
        <p:spPr>
          <a:xfrm>
            <a:off x="5416701" y="5467741"/>
            <a:ext cx="296908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turn=1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Boolean Array flag[2]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graphicFrame>
        <p:nvGraphicFramePr>
          <p:cNvPr id="1356" name="Google Shape;1356;p85"/>
          <p:cNvGraphicFramePr/>
          <p:nvPr/>
        </p:nvGraphicFramePr>
        <p:xfrm>
          <a:off x="3849557" y="54408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711200"/>
                <a:gridCol w="83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[0]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[1]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57" name="Google Shape;1357;p85"/>
          <p:cNvSpPr txBox="1"/>
          <p:nvPr/>
        </p:nvSpPr>
        <p:spPr>
          <a:xfrm>
            <a:off x="3630305" y="1070382"/>
            <a:ext cx="2620370" cy="4370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For P0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Sets flag as true </a:t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turn=1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P1 is not interested 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while (T&amp;&amp;F);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while(F);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exits while loop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P0 executes CS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58" name="Google Shape;1358;p85"/>
          <p:cNvGraphicFramePr/>
          <p:nvPr/>
        </p:nvGraphicFramePr>
        <p:xfrm>
          <a:off x="120014" y="16386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631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P0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flag[0]=true;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turn=1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while(turn==1 &amp;&amp;</a:t>
                      </a:r>
                      <a:r>
                        <a:rPr lang="en-US" sz="2000"/>
                        <a:t> </a:t>
                      </a:r>
                      <a:r>
                        <a:rPr lang="en-US" sz="2000"/>
                        <a:t>flag[1]==T);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 flag[0]=false;</a:t>
                      </a:r>
                      <a:endParaRPr sz="2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}while(1);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359" name="Google Shape;1359;p85"/>
          <p:cNvGraphicFramePr/>
          <p:nvPr/>
        </p:nvGraphicFramePr>
        <p:xfrm>
          <a:off x="5977719" y="16386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916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P1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flag[1]=true;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turn=0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while(turn==0 &amp;&amp; flag[0]==T);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 flag[1]=false;</a:t>
                      </a:r>
                      <a:endParaRPr sz="2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}while(1);</a:t>
                      </a:r>
                      <a:endParaRPr sz="20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1360" name="Google Shape;1360;p85"/>
          <p:cNvPicPr preferRelativeResize="0"/>
          <p:nvPr/>
        </p:nvPicPr>
        <p:blipFill rotWithShape="1">
          <a:blip r:embed="rId7">
            <a:alphaModFix/>
          </a:blip>
          <a:srcRect b="13648" l="0" r="11959" t="0"/>
          <a:stretch/>
        </p:blipFill>
        <p:spPr>
          <a:xfrm>
            <a:off x="9962866" y="1580813"/>
            <a:ext cx="2147906" cy="3236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p86"/>
          <p:cNvSpPr txBox="1"/>
          <p:nvPr>
            <p:ph type="title"/>
          </p:nvPr>
        </p:nvSpPr>
        <p:spPr>
          <a:xfrm>
            <a:off x="375710" y="0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Marcellus"/>
              <a:buNone/>
            </a:pP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If P0 is executing CS, Can another process P1 enter the CS or not? No</a:t>
            </a:r>
            <a:endParaRPr sz="2800"/>
          </a:p>
        </p:txBody>
      </p:sp>
      <p:pic>
        <p:nvPicPr>
          <p:cNvPr id="1366" name="Google Shape;1366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7" name="Google Shape;1367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368" name="Google Shape;1368;p8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69" name="Google Shape;1369;p86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370" name="Google Shape;1370;p8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371" name="Google Shape;1371;p8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372" name="Google Shape;1372;p8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373" name="Google Shape;1373;p8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4" name="Google Shape;1374;p86"/>
          <p:cNvSpPr txBox="1"/>
          <p:nvPr/>
        </p:nvSpPr>
        <p:spPr>
          <a:xfrm>
            <a:off x="508260" y="656542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86"/>
          <p:cNvSpPr/>
          <p:nvPr/>
        </p:nvSpPr>
        <p:spPr>
          <a:xfrm>
            <a:off x="5416701" y="5467741"/>
            <a:ext cx="296908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turn=0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Boolean Array flag[2]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graphicFrame>
        <p:nvGraphicFramePr>
          <p:cNvPr id="1376" name="Google Shape;1376;p86"/>
          <p:cNvGraphicFramePr/>
          <p:nvPr/>
        </p:nvGraphicFramePr>
        <p:xfrm>
          <a:off x="3849557" y="54408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711200"/>
                <a:gridCol w="83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[0]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[1]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77" name="Google Shape;1377;p86"/>
          <p:cNvSpPr txBox="1"/>
          <p:nvPr/>
        </p:nvSpPr>
        <p:spPr>
          <a:xfrm>
            <a:off x="3728659" y="1930561"/>
            <a:ext cx="1786396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For P0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Interested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Already Inside CS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86"/>
          <p:cNvSpPr txBox="1"/>
          <p:nvPr/>
        </p:nvSpPr>
        <p:spPr>
          <a:xfrm>
            <a:off x="9758809" y="1338540"/>
            <a:ext cx="2129050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P1 tries to enter CS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set flag[1]=T,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turn=0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while(T&amp;&amp;T);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while(T);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gets trapped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goes in Infinte loop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graphicFrame>
        <p:nvGraphicFramePr>
          <p:cNvPr id="1379" name="Google Shape;1379;p86"/>
          <p:cNvGraphicFramePr/>
          <p:nvPr/>
        </p:nvGraphicFramePr>
        <p:xfrm>
          <a:off x="120014" y="16386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631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P0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flag[0]=true;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turn=1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while(turn==1 &amp;&amp;</a:t>
                      </a:r>
                      <a:r>
                        <a:rPr lang="en-US" sz="2000"/>
                        <a:t> </a:t>
                      </a:r>
                      <a:r>
                        <a:rPr lang="en-US" sz="2000"/>
                        <a:t>flag[1]==T);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 flag[0]=false;</a:t>
                      </a:r>
                      <a:endParaRPr sz="2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}while(1);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380" name="Google Shape;1380;p86"/>
          <p:cNvGraphicFramePr/>
          <p:nvPr/>
        </p:nvGraphicFramePr>
        <p:xfrm>
          <a:off x="5416701" y="15782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916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P1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flag[1]=true;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turn=0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while(turn==0 &amp;&amp; flag[0]==T);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 flag[1]=false;</a:t>
                      </a:r>
                      <a:endParaRPr sz="2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}while(1);</a:t>
                      </a:r>
                      <a:endParaRPr sz="20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87"/>
          <p:cNvSpPr txBox="1"/>
          <p:nvPr>
            <p:ph type="title"/>
          </p:nvPr>
        </p:nvSpPr>
        <p:spPr>
          <a:xfrm>
            <a:off x="401054" y="191860"/>
            <a:ext cx="11395912" cy="3561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Marcellus"/>
              <a:buNone/>
            </a:pP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Can P1 enter CS while P0 is in Remainder Section ?</a:t>
            </a:r>
            <a:endParaRPr sz="2800"/>
          </a:p>
        </p:txBody>
      </p:sp>
      <p:pic>
        <p:nvPicPr>
          <p:cNvPr id="1386" name="Google Shape;1386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388" name="Google Shape;1388;p87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89" name="Google Shape;1389;p87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390" name="Google Shape;1390;p8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8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392" name="Google Shape;1392;p8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393" name="Google Shape;1393;p8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4" name="Google Shape;1394;p87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88"/>
          <p:cNvSpPr txBox="1"/>
          <p:nvPr>
            <p:ph type="title"/>
          </p:nvPr>
        </p:nvSpPr>
        <p:spPr>
          <a:xfrm>
            <a:off x="375710" y="0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Marcellus"/>
              <a:buNone/>
            </a:pP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Can P1 enter CS while P0 is in Remainder Section ?Yes</a:t>
            </a:r>
            <a:endParaRPr sz="2800"/>
          </a:p>
        </p:txBody>
      </p:sp>
      <p:pic>
        <p:nvPicPr>
          <p:cNvPr id="1400" name="Google Shape;1400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1" name="Google Shape;1401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402" name="Google Shape;1402;p88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03" name="Google Shape;1403;p88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404" name="Google Shape;1404;p8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405" name="Google Shape;1405;p8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406" name="Google Shape;1406;p8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407" name="Google Shape;1407;p8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8" name="Google Shape;1408;p88"/>
          <p:cNvSpPr txBox="1"/>
          <p:nvPr/>
        </p:nvSpPr>
        <p:spPr>
          <a:xfrm>
            <a:off x="508260" y="656542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88"/>
          <p:cNvSpPr/>
          <p:nvPr/>
        </p:nvSpPr>
        <p:spPr>
          <a:xfrm>
            <a:off x="5416701" y="5467741"/>
            <a:ext cx="296908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turn=0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Boolean Array flag[2]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graphicFrame>
        <p:nvGraphicFramePr>
          <p:cNvPr id="1410" name="Google Shape;1410;p88"/>
          <p:cNvGraphicFramePr/>
          <p:nvPr/>
        </p:nvGraphicFramePr>
        <p:xfrm>
          <a:off x="3849557" y="54408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711200"/>
                <a:gridCol w="83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[0]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[1]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411" name="Google Shape;1411;p88"/>
          <p:cNvSpPr txBox="1"/>
          <p:nvPr/>
        </p:nvSpPr>
        <p:spPr>
          <a:xfrm>
            <a:off x="3630305" y="1776672"/>
            <a:ext cx="2196990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For P0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after P0 comes out of CS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Sets flag to False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88"/>
          <p:cNvSpPr txBox="1"/>
          <p:nvPr/>
        </p:nvSpPr>
        <p:spPr>
          <a:xfrm>
            <a:off x="9758809" y="1338540"/>
            <a:ext cx="212905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P1 tries to enter CS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set flag[1]=T,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turn=0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while(T&amp;&amp;F);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while(F);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control comes out of while loop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P1 Executes 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graphicFrame>
        <p:nvGraphicFramePr>
          <p:cNvPr id="1413" name="Google Shape;1413;p88"/>
          <p:cNvGraphicFramePr/>
          <p:nvPr/>
        </p:nvGraphicFramePr>
        <p:xfrm>
          <a:off x="79070" y="16386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631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P0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flag[0]=true;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turn=1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while(turn==1 &amp;&amp;</a:t>
                      </a:r>
                      <a:r>
                        <a:rPr lang="en-US" sz="2000"/>
                        <a:t> </a:t>
                      </a:r>
                      <a:r>
                        <a:rPr lang="en-US" sz="2000"/>
                        <a:t>flag[1]==T);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 flag[0]=false;</a:t>
                      </a:r>
                      <a:endParaRPr sz="2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}while(1);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414" name="Google Shape;1414;p88"/>
          <p:cNvGraphicFramePr/>
          <p:nvPr/>
        </p:nvGraphicFramePr>
        <p:xfrm>
          <a:off x="5827295" y="1546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916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P1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flag[1]=true;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turn=0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while(turn==0 &amp;&amp; flag[0]==T);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 flag[1]=false;</a:t>
                      </a:r>
                      <a:endParaRPr sz="2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}while(1);</a:t>
                      </a:r>
                      <a:endParaRPr sz="20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89"/>
          <p:cNvSpPr txBox="1"/>
          <p:nvPr>
            <p:ph type="title"/>
          </p:nvPr>
        </p:nvSpPr>
        <p:spPr>
          <a:xfrm>
            <a:off x="401054" y="191860"/>
            <a:ext cx="11395912" cy="3561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Marcellus"/>
              <a:buNone/>
            </a:pP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Algorithm 3 :</a:t>
            </a: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Mutual Exclusion Check</a:t>
            </a: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Satisfied!!!!!</a:t>
            </a:r>
            <a:endParaRPr sz="2800"/>
          </a:p>
        </p:txBody>
      </p:sp>
      <p:pic>
        <p:nvPicPr>
          <p:cNvPr id="1420" name="Google Shape;1420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1" name="Google Shape;1421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422" name="Google Shape;1422;p89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23" name="Google Shape;1423;p89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424" name="Google Shape;1424;p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425" name="Google Shape;1425;p8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426" name="Google Shape;1426;p8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427" name="Google Shape;1427;p8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8" name="Google Shape;1428;p89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90"/>
          <p:cNvSpPr txBox="1"/>
          <p:nvPr>
            <p:ph type="title"/>
          </p:nvPr>
        </p:nvSpPr>
        <p:spPr>
          <a:xfrm>
            <a:off x="401054" y="191860"/>
            <a:ext cx="11395912" cy="3561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Algorithm 3:</a:t>
            </a:r>
            <a:b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Progress Requirement Check</a:t>
            </a:r>
            <a:b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b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endParaRPr sz="3600"/>
          </a:p>
        </p:txBody>
      </p:sp>
      <p:pic>
        <p:nvPicPr>
          <p:cNvPr id="1434" name="Google Shape;1434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5" name="Google Shape;1435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436" name="Google Shape;1436;p90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37" name="Google Shape;1437;p90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438" name="Google Shape;1438;p9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p9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440" name="Google Shape;1440;p9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441" name="Google Shape;1441;p9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2" name="Google Shape;1442;p90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91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Marcellus"/>
              <a:buNone/>
            </a:pP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If both P0,P1 want to enter CS</a:t>
            </a:r>
            <a:endParaRPr sz="2800"/>
          </a:p>
        </p:txBody>
      </p:sp>
      <p:pic>
        <p:nvPicPr>
          <p:cNvPr id="1448" name="Google Shape;1448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9" name="Google Shape;1449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450" name="Google Shape;1450;p91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91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452" name="Google Shape;1452;p9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453" name="Google Shape;1453;p9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454" name="Google Shape;1454;p9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455" name="Google Shape;1455;p9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6" name="Google Shape;1456;p91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3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91"/>
          <p:cNvSpPr/>
          <p:nvPr/>
        </p:nvSpPr>
        <p:spPr>
          <a:xfrm>
            <a:off x="5416701" y="5467741"/>
            <a:ext cx="296908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turn=0/1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Boolean Array flag[2]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graphicFrame>
        <p:nvGraphicFramePr>
          <p:cNvPr id="1458" name="Google Shape;1458;p91"/>
          <p:cNvGraphicFramePr/>
          <p:nvPr/>
        </p:nvGraphicFramePr>
        <p:xfrm>
          <a:off x="3849557" y="54408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711200"/>
                <a:gridCol w="83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[0]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[1]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459" name="Google Shape;1459;p91"/>
          <p:cNvSpPr txBox="1"/>
          <p:nvPr/>
        </p:nvSpPr>
        <p:spPr>
          <a:xfrm>
            <a:off x="3630305" y="1261454"/>
            <a:ext cx="234939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For P0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Now P0 is also interested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sets flag as true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and turn=1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while(T&amp;&amp;T);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	while(T);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	P0 gets trapped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FF0000"/>
                </a:solidFill>
                <a:latin typeface="Marcellus"/>
                <a:ea typeface="Marcellus"/>
                <a:cs typeface="Marcellus"/>
                <a:sym typeface="Marcellus"/>
              </a:rPr>
              <a:t>Now Context Switch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Doesn’t enter CS</a:t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460" name="Google Shape;1460;p91"/>
          <p:cNvSpPr txBox="1"/>
          <p:nvPr/>
        </p:nvSpPr>
        <p:spPr>
          <a:xfrm>
            <a:off x="9674647" y="1283236"/>
            <a:ext cx="2620370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For P1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Suppose P1 is interested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sets flag as true and turn=0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FF0000"/>
                </a:solidFill>
                <a:latin typeface="Marcellus"/>
                <a:ea typeface="Marcellus"/>
                <a:cs typeface="Marcellus"/>
                <a:sym typeface="Marcellus"/>
              </a:rPr>
              <a:t>Context Switch occurs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accent5"/>
                </a:solidFill>
                <a:latin typeface="Marcellus"/>
                <a:ea typeface="Marcellus"/>
                <a:cs typeface="Marcellus"/>
                <a:sym typeface="Marcellus"/>
              </a:rPr>
              <a:t>As P0 had set turn as 1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Now P1 tries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while(F&amp;&amp;T);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while(F);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P1 enters CS</a:t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graphicFrame>
        <p:nvGraphicFramePr>
          <p:cNvPr id="1461" name="Google Shape;1461;p91"/>
          <p:cNvGraphicFramePr/>
          <p:nvPr/>
        </p:nvGraphicFramePr>
        <p:xfrm>
          <a:off x="65422" y="17751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631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P0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flag[0]=true;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turn=1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while(turn==1 &amp;&amp;</a:t>
                      </a:r>
                      <a:r>
                        <a:rPr lang="en-US" sz="2000"/>
                        <a:t> </a:t>
                      </a:r>
                      <a:r>
                        <a:rPr lang="en-US" sz="2000"/>
                        <a:t>flag[1]==T);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 flag[0]=false;</a:t>
                      </a:r>
                      <a:endParaRPr sz="2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}while(1);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462" name="Google Shape;1462;p91"/>
          <p:cNvGraphicFramePr/>
          <p:nvPr/>
        </p:nvGraphicFramePr>
        <p:xfrm>
          <a:off x="5813647" y="1682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916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P1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flag[1]=true;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turn=0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while(turn==0 &amp;&amp; flag[0]==T);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critical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 flag[1]=false;</a:t>
                      </a:r>
                      <a:endParaRPr sz="2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remainder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}while(1);</a:t>
                      </a:r>
                      <a:endParaRPr sz="20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463" name="Google Shape;1463;p91"/>
          <p:cNvSpPr/>
          <p:nvPr/>
        </p:nvSpPr>
        <p:spPr>
          <a:xfrm rot="402923">
            <a:off x="5495622" y="4186082"/>
            <a:ext cx="3927934" cy="1580242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5"/>
          </a:solidFill>
          <a:ln cap="flat" cmpd="sng" w="12700">
            <a:solidFill>
              <a:srgbClr val="85351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91"/>
          <p:cNvSpPr/>
          <p:nvPr/>
        </p:nvSpPr>
        <p:spPr>
          <a:xfrm>
            <a:off x="10454185" y="300251"/>
            <a:ext cx="354842" cy="911292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12700">
            <a:solidFill>
              <a:srgbClr val="85351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91"/>
          <p:cNvSpPr txBox="1"/>
          <p:nvPr/>
        </p:nvSpPr>
        <p:spPr>
          <a:xfrm>
            <a:off x="10808070" y="618541"/>
            <a:ext cx="3291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91"/>
          <p:cNvSpPr/>
          <p:nvPr/>
        </p:nvSpPr>
        <p:spPr>
          <a:xfrm rot="9870323">
            <a:off x="5099041" y="1228518"/>
            <a:ext cx="4829441" cy="1282989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5"/>
          </a:solidFill>
          <a:ln cap="flat" cmpd="sng" w="12700">
            <a:solidFill>
              <a:srgbClr val="85351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91"/>
          <p:cNvSpPr txBox="1"/>
          <p:nvPr/>
        </p:nvSpPr>
        <p:spPr>
          <a:xfrm>
            <a:off x="6401459" y="995277"/>
            <a:ext cx="3291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68" name="Google Shape;1468;p91"/>
          <p:cNvSpPr txBox="1"/>
          <p:nvPr/>
        </p:nvSpPr>
        <p:spPr>
          <a:xfrm>
            <a:off x="8903821" y="5283075"/>
            <a:ext cx="3291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92"/>
          <p:cNvSpPr txBox="1"/>
          <p:nvPr>
            <p:ph type="title"/>
          </p:nvPr>
        </p:nvSpPr>
        <p:spPr>
          <a:xfrm>
            <a:off x="401054" y="191860"/>
            <a:ext cx="11395912" cy="3561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Marcellus"/>
              <a:buNone/>
            </a:pP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Algorithm 3 :</a:t>
            </a: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Progress Check</a:t>
            </a: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Satisfied!!!!!</a:t>
            </a:r>
            <a:endParaRPr sz="2800"/>
          </a:p>
        </p:txBody>
      </p:sp>
      <p:pic>
        <p:nvPicPr>
          <p:cNvPr id="1474" name="Google Shape;1474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5" name="Google Shape;1475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476" name="Google Shape;1476;p92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77" name="Google Shape;1477;p92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478" name="Google Shape;1478;p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479" name="Google Shape;1479;p9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480" name="Google Shape;1480;p9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481" name="Google Shape;1481;p9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2" name="Google Shape;1482;p92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93"/>
          <p:cNvSpPr txBox="1"/>
          <p:nvPr>
            <p:ph type="title"/>
          </p:nvPr>
        </p:nvSpPr>
        <p:spPr>
          <a:xfrm>
            <a:off x="401054" y="191860"/>
            <a:ext cx="11395912" cy="35612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Marcellus"/>
              <a:buNone/>
            </a:pP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Algorithm 3 :</a:t>
            </a: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Bounded Waiting Check</a:t>
            </a: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b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2800">
                <a:latin typeface="Marcellus"/>
                <a:ea typeface="Marcellus"/>
                <a:cs typeface="Marcellus"/>
                <a:sym typeface="Marcellus"/>
              </a:rPr>
              <a:t>Pi will enter the critical section (progress) after at most</a:t>
            </a:r>
            <a:br>
              <a:rPr lang="en-US" sz="2800"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2800">
                <a:latin typeface="Marcellus"/>
                <a:ea typeface="Marcellus"/>
                <a:cs typeface="Marcellus"/>
                <a:sym typeface="Marcellus"/>
              </a:rPr>
              <a:t>one entry by Pj (bounded waiting) i.e. </a:t>
            </a:r>
            <a:br>
              <a:rPr lang="en-US" sz="2800"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2800">
                <a:latin typeface="Marcellus"/>
                <a:ea typeface="Marcellus"/>
                <a:cs typeface="Marcellus"/>
                <a:sym typeface="Marcellus"/>
              </a:rPr>
              <a:t>P0 will enter the critical section (progress) after at most</a:t>
            </a:r>
            <a:br>
              <a:rPr lang="en-US" sz="2800"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2800">
                <a:latin typeface="Marcellus"/>
                <a:ea typeface="Marcellus"/>
                <a:cs typeface="Marcellus"/>
                <a:sym typeface="Marcellus"/>
              </a:rPr>
              <a:t>one entry by P1 (bounded waiting).</a:t>
            </a:r>
            <a:br>
              <a:rPr lang="en-US" sz="2800">
                <a:latin typeface="Marcellus"/>
                <a:ea typeface="Marcellus"/>
                <a:cs typeface="Marcellus"/>
                <a:sym typeface="Marcellus"/>
              </a:rPr>
            </a:br>
            <a:br>
              <a:rPr lang="en-US" sz="2800"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2800">
                <a:latin typeface="Marcellus"/>
                <a:ea typeface="Marcellus"/>
                <a:cs typeface="Marcellus"/>
                <a:sym typeface="Marcellus"/>
              </a:rPr>
              <a:t>Every process gets a fair chance.</a:t>
            </a:r>
            <a:br>
              <a:rPr lang="en-US" sz="2800">
                <a:latin typeface="Marcellus"/>
                <a:ea typeface="Marcellus"/>
                <a:cs typeface="Marcellus"/>
                <a:sym typeface="Marcellus"/>
              </a:rPr>
            </a:br>
            <a:br>
              <a:rPr lang="en-US" sz="2800">
                <a:latin typeface="Marcellus"/>
                <a:ea typeface="Marcellus"/>
                <a:cs typeface="Marcellus"/>
                <a:sym typeface="Marcellus"/>
              </a:rPr>
            </a:b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Satisfied!!!!!</a:t>
            </a:r>
            <a:endParaRPr sz="2800"/>
          </a:p>
        </p:txBody>
      </p:sp>
      <p:pic>
        <p:nvPicPr>
          <p:cNvPr id="1488" name="Google Shape;1488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9" name="Google Shape;1489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490" name="Google Shape;1490;p93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93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492" name="Google Shape;1492;p9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493" name="Google Shape;1493;p9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494" name="Google Shape;1494;p9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495" name="Google Shape;1495;p9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6" name="Google Shape;1496;p93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94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Solutions to The Critical Section Problem</a:t>
            </a:r>
            <a:endParaRPr sz="3600"/>
          </a:p>
        </p:txBody>
      </p:sp>
      <p:pic>
        <p:nvPicPr>
          <p:cNvPr id="1502" name="Google Shape;1502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3" name="Google Shape;1503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504" name="Google Shape;1504;p94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05" name="Google Shape;1505;p94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506" name="Google Shape;1506;p9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507" name="Google Shape;1507;p9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508" name="Google Shape;1508;p9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509" name="Google Shape;1509;p9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0" name="Google Shape;1510;p94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Algorithm 3/Peterson’s Solution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Provable that the three  CS requirement are met: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        1.   Mutual exclusion is preserved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                P</a:t>
            </a:r>
            <a:r>
              <a:rPr baseline="-25000"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i</a:t>
            </a: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 enters CS only if: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                      either flag[j] = false or turn = i</a:t>
            </a:r>
            <a:endParaRPr sz="2400">
              <a:solidFill>
                <a:srgbClr val="0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        2.   Progress requirement is satisfied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        3.   Bounded-waiting requirement is met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9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Marcellus"/>
              <a:buNone/>
            </a:pPr>
            <a:r>
              <a:rPr lang="en-US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Hardware Synchronization</a:t>
            </a:r>
            <a:endParaRPr/>
          </a:p>
        </p:txBody>
      </p:sp>
      <p:pic>
        <p:nvPicPr>
          <p:cNvPr id="1516" name="Google Shape;1516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" y="2219"/>
            <a:ext cx="566958" cy="685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7" name="Google Shape;1517;p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563" y="0"/>
            <a:ext cx="209677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518" name="Google Shape;1518;p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35239" y="5830821"/>
            <a:ext cx="868683" cy="647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519" name="Google Shape;1519;p9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240" y="5828983"/>
            <a:ext cx="2655568" cy="663892"/>
          </a:xfrm>
          <a:prstGeom prst="rect">
            <a:avLst/>
          </a:prstGeom>
          <a:noFill/>
          <a:ln>
            <a:noFill/>
          </a:ln>
        </p:spPr>
      </p:pic>
      <p:sp>
        <p:nvSpPr>
          <p:cNvPr id="1520" name="Google Shape;1520;p9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521" name="Google Shape;1521;p9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522" name="Google Shape;1522;p9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96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Hardware Based Solutions to The CS Problem</a:t>
            </a:r>
            <a:endParaRPr sz="3600"/>
          </a:p>
        </p:txBody>
      </p:sp>
      <p:pic>
        <p:nvPicPr>
          <p:cNvPr id="1528" name="Google Shape;1528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9" name="Google Shape;1529;p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530" name="Google Shape;1530;p9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31" name="Google Shape;1531;p96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532" name="Google Shape;1532;p9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533" name="Google Shape;1533;p9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534" name="Google Shape;1534;p9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535" name="Google Shape;1535;p9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6" name="Google Shape;1536;p96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Software-based solutions such as Peterson's are not guaranteed to work on modern computer architectures.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97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Hardware Synchronization</a:t>
            </a:r>
            <a:endParaRPr sz="3600"/>
          </a:p>
        </p:txBody>
      </p:sp>
      <p:pic>
        <p:nvPicPr>
          <p:cNvPr id="1542" name="Google Shape;1542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3" name="Google Shape;1543;p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544" name="Google Shape;1544;p97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45" name="Google Shape;1545;p97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546" name="Google Shape;1546;p9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547" name="Google Shape;1547;p9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548" name="Google Shape;1548;p9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549" name="Google Shape;1549;p9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0" name="Google Shape;1550;p97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Solutions- Simple tool-a lock.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Race conditions are prevented by requiring that critical regions be protected by locks.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98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Hardware Synchronization</a:t>
            </a:r>
            <a:endParaRPr sz="3600"/>
          </a:p>
        </p:txBody>
      </p:sp>
      <p:pic>
        <p:nvPicPr>
          <p:cNvPr id="1556" name="Google Shape;1556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7" name="Google Shape;1557;p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558" name="Google Shape;1558;p98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59" name="Google Shape;1559;p98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560" name="Google Shape;1560;p9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561" name="Google Shape;1561;p9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562" name="Google Shape;1562;p9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563" name="Google Shape;1563;p9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4" name="Google Shape;1564;p98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process must acquire a lock before entering a critical section;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releases the lock when it exits the critical section.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5" name="Google Shape;1565;p9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34785" y="2404910"/>
            <a:ext cx="6477761" cy="2562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99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Hardware Synchronization</a:t>
            </a:r>
            <a:endParaRPr sz="3600"/>
          </a:p>
        </p:txBody>
      </p:sp>
      <p:pic>
        <p:nvPicPr>
          <p:cNvPr id="1571" name="Google Shape;1571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2" name="Google Shape;1572;p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573" name="Google Shape;1573;p99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74" name="Google Shape;1574;p99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575" name="Google Shape;1575;p9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576" name="Google Shape;1576;p9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577" name="Google Shape;1577;p9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578" name="Google Shape;1578;p9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9" name="Google Shape;1579;p99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Special Atomic Hardware Instructions-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Atomic = Non-Interruptable</a:t>
            </a:r>
            <a:endParaRPr b="0" i="0" sz="2000" u="none" cap="none" strike="noStrike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01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AutoNum type="arabicParenR"/>
            </a:pPr>
            <a:r>
              <a:rPr b="1"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Test Memory word and Set value-Test and Set()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AutoNum type="arabicParenR"/>
            </a:pPr>
            <a:r>
              <a:rPr b="1"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Swap contents of two memory words-Swap() </a:t>
            </a:r>
            <a:endParaRPr b="1"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p100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test_and_set  Instruction </a:t>
            </a:r>
            <a:endParaRPr sz="3600"/>
          </a:p>
        </p:txBody>
      </p:sp>
      <p:pic>
        <p:nvPicPr>
          <p:cNvPr id="1585" name="Google Shape;1585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6" name="Google Shape;1586;p1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587" name="Google Shape;1587;p100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88" name="Google Shape;1588;p100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589" name="Google Shape;1589;p10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590" name="Google Shape;1590;p10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591" name="Google Shape;1591;p10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592" name="Google Shape;1592;p10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3" name="Google Shape;1593;p100"/>
          <p:cNvSpPr txBox="1"/>
          <p:nvPr/>
        </p:nvSpPr>
        <p:spPr>
          <a:xfrm>
            <a:off x="822158" y="953778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Definition: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      boolean test_and_set (boolean *target)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         {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              boolean rv = *target;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              *target = TRUE;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              return rv: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         }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Executed atomically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If 2 test and set instructions are executed simultaneously , they will be executed sequentially in some arbitary order.</a:t>
            </a:r>
            <a:endParaRPr/>
          </a:p>
          <a:p>
            <a:pPr indent="-101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101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test_and_set  Instruction </a:t>
            </a:r>
            <a:endParaRPr sz="3600"/>
          </a:p>
        </p:txBody>
      </p:sp>
      <p:pic>
        <p:nvPicPr>
          <p:cNvPr id="1599" name="Google Shape;1599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0" name="Google Shape;1600;p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601" name="Google Shape;1601;p101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02" name="Google Shape;1602;p101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603" name="Google Shape;1603;p10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604" name="Google Shape;1604;p10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605" name="Google Shape;1605;p10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06" name="Google Shape;1606;p10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7" name="Google Shape;1607;p101"/>
          <p:cNvSpPr txBox="1"/>
          <p:nvPr/>
        </p:nvSpPr>
        <p:spPr>
          <a:xfrm>
            <a:off x="822158" y="953778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Definition: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      boolean test_and_set (boolean *target)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         {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              boolean rv = *target;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              *target = TRUE;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              return rv: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         }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Returns the original value 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of passed parameter i.e False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Set the new value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of passed parameter to </a:t>
            </a:r>
            <a:r>
              <a:rPr lang="en-US" sz="24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“TRUE”.</a:t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102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Mutual-exclusion implementation with TestAndSet ()</a:t>
            </a:r>
            <a:endParaRPr sz="3200"/>
          </a:p>
        </p:txBody>
      </p:sp>
      <p:pic>
        <p:nvPicPr>
          <p:cNvPr id="1613" name="Google Shape;1613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4" name="Google Shape;1614;p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615" name="Google Shape;1615;p102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16" name="Google Shape;1616;p102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617" name="Google Shape;1617;p10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618" name="Google Shape;1618;p10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619" name="Google Shape;1619;p10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20" name="Google Shape;1620;p10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1" name="Google Shape;1621;p102"/>
          <p:cNvSpPr txBox="1"/>
          <p:nvPr/>
        </p:nvSpPr>
        <p:spPr>
          <a:xfrm>
            <a:off x="822158" y="2060812"/>
            <a:ext cx="10315074" cy="3379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Implements mutual exclusion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Lock=Shared /Global Boolean variable 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, initialized to </a:t>
            </a:r>
            <a:r>
              <a:rPr lang="en-US" sz="24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FALSE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103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Mutual-exclusion implementation with TestAndSet ()</a:t>
            </a:r>
            <a:endParaRPr sz="3200"/>
          </a:p>
        </p:txBody>
      </p:sp>
      <p:pic>
        <p:nvPicPr>
          <p:cNvPr id="1627" name="Google Shape;1627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8" name="Google Shape;1628;p1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629" name="Google Shape;1629;p103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30" name="Google Shape;1630;p103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631" name="Google Shape;1631;p10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632" name="Google Shape;1632;p10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633" name="Google Shape;1633;p10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34" name="Google Shape;1634;p10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5" name="Google Shape;1635;p103"/>
          <p:cNvSpPr txBox="1"/>
          <p:nvPr/>
        </p:nvSpPr>
        <p:spPr>
          <a:xfrm>
            <a:off x="822158" y="953778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Solution:</a:t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1636" name="Google Shape;1636;p10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54479" y="2661142"/>
            <a:ext cx="4734755" cy="2574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p104"/>
          <p:cNvSpPr txBox="1"/>
          <p:nvPr>
            <p:ph type="title"/>
          </p:nvPr>
        </p:nvSpPr>
        <p:spPr>
          <a:xfrm>
            <a:off x="375710" y="0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Marcellus"/>
              <a:buNone/>
            </a:pP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Mutual-exclusion implementation with TestAndSet ()</a:t>
            </a:r>
            <a:endParaRPr sz="2800"/>
          </a:p>
        </p:txBody>
      </p:sp>
      <p:pic>
        <p:nvPicPr>
          <p:cNvPr id="1642" name="Google Shape;1642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3" name="Google Shape;1643;p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644" name="Google Shape;1644;p104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45" name="Google Shape;1645;p104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646" name="Google Shape;1646;p10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647" name="Google Shape;1647;p10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648" name="Google Shape;1648;p10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49" name="Google Shape;1649;p10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0" name="Google Shape;1650;p104"/>
          <p:cNvSpPr txBox="1"/>
          <p:nvPr/>
        </p:nvSpPr>
        <p:spPr>
          <a:xfrm>
            <a:off x="508260" y="656542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1" name="Google Shape;1651;p104"/>
          <p:cNvSpPr txBox="1"/>
          <p:nvPr/>
        </p:nvSpPr>
        <p:spPr>
          <a:xfrm>
            <a:off x="4567728" y="854316"/>
            <a:ext cx="2098636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P0 tries to enter CS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T&amp;S returns False and set lock=True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While(False);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P0 comes out of while 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Enter CS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652" name="Google Shape;1652;p104"/>
          <p:cNvSpPr txBox="1"/>
          <p:nvPr/>
        </p:nvSpPr>
        <p:spPr>
          <a:xfrm>
            <a:off x="9005248" y="722986"/>
            <a:ext cx="2868304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Now P1 tries to enter CS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P0 is still inside CS and lock=true 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Test&amp;Set Returns the original value of passed parameter i.e. True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While(True);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Goes in Infinte Loop/Do Nothing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so P1 cannot enter CS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graphicFrame>
        <p:nvGraphicFramePr>
          <p:cNvPr id="1653" name="Google Shape;1653;p104"/>
          <p:cNvGraphicFramePr/>
          <p:nvPr/>
        </p:nvGraphicFramePr>
        <p:xfrm>
          <a:off x="669758" y="15567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631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P0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while(TestAndSet(&amp;lock));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 critical</a:t>
                      </a:r>
                      <a:r>
                        <a:rPr lang="en-US" sz="2000"/>
                        <a:t>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 lock=FALSE;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 remainder section</a:t>
                      </a:r>
                      <a:endParaRPr sz="2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}while(1);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654" name="Google Shape;1654;p104"/>
          <p:cNvSpPr/>
          <p:nvPr/>
        </p:nvSpPr>
        <p:spPr>
          <a:xfrm flipH="1" rot="9819845">
            <a:off x="5817618" y="2530851"/>
            <a:ext cx="3167980" cy="38588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570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105"/>
          <p:cNvSpPr txBox="1"/>
          <p:nvPr>
            <p:ph type="title"/>
          </p:nvPr>
        </p:nvSpPr>
        <p:spPr>
          <a:xfrm>
            <a:off x="375710" y="0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Marcellus"/>
              <a:buNone/>
            </a:pPr>
            <a:r>
              <a:rPr lang="en-US" sz="28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Mutual-exclusion implementation with TestAndSet ()</a:t>
            </a:r>
            <a:endParaRPr sz="2800"/>
          </a:p>
        </p:txBody>
      </p:sp>
      <p:pic>
        <p:nvPicPr>
          <p:cNvPr id="1660" name="Google Shape;1660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1" name="Google Shape;1661;p1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662" name="Google Shape;1662;p105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63" name="Google Shape;1663;p105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664" name="Google Shape;1664;p10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665" name="Google Shape;1665;p10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666" name="Google Shape;1666;p10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67" name="Google Shape;1667;p10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8" name="Google Shape;1668;p105"/>
          <p:cNvSpPr txBox="1"/>
          <p:nvPr/>
        </p:nvSpPr>
        <p:spPr>
          <a:xfrm>
            <a:off x="508260" y="656542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9" name="Google Shape;1669;p105"/>
          <p:cNvSpPr txBox="1"/>
          <p:nvPr/>
        </p:nvSpPr>
        <p:spPr>
          <a:xfrm>
            <a:off x="4567728" y="854316"/>
            <a:ext cx="2098636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After completing CS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P0 makes lock=false 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Exits CS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Enters RS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670" name="Google Shape;1670;p105"/>
          <p:cNvSpPr txBox="1"/>
          <p:nvPr/>
        </p:nvSpPr>
        <p:spPr>
          <a:xfrm>
            <a:off x="9758809" y="1338540"/>
            <a:ext cx="2129050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Now P1 can enter CS as lock is false now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Comes out of while loop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Executes CS</a:t>
            </a:r>
            <a:endParaRPr/>
          </a:p>
        </p:txBody>
      </p:sp>
      <p:graphicFrame>
        <p:nvGraphicFramePr>
          <p:cNvPr id="1671" name="Google Shape;1671;p105"/>
          <p:cNvGraphicFramePr/>
          <p:nvPr/>
        </p:nvGraphicFramePr>
        <p:xfrm>
          <a:off x="669758" y="15567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{57CD2308-13C4-4FE7-93F7-315DD53755DA}</a:tableStyleId>
              </a:tblPr>
              <a:tblGrid>
                <a:gridCol w="36318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P0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do{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while(TestAndSet(&amp;lock));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 critical</a:t>
                      </a:r>
                      <a:r>
                        <a:rPr lang="en-US" sz="2000"/>
                        <a:t> section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 lock=FALSE;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         remainder section</a:t>
                      </a:r>
                      <a:endParaRPr sz="2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}while(1);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672" name="Google Shape;1672;p105"/>
          <p:cNvSpPr/>
          <p:nvPr/>
        </p:nvSpPr>
        <p:spPr>
          <a:xfrm flipH="1" rot="9819845">
            <a:off x="5794608" y="2370547"/>
            <a:ext cx="4307851" cy="38588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570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p106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swap  Instruction </a:t>
            </a:r>
            <a:endParaRPr sz="3600"/>
          </a:p>
        </p:txBody>
      </p:sp>
      <p:pic>
        <p:nvPicPr>
          <p:cNvPr id="1678" name="Google Shape;1678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9" name="Google Shape;1679;p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680" name="Google Shape;1680;p10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81" name="Google Shape;1681;p106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682" name="Google Shape;1682;p10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683" name="Google Shape;1683;p10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684" name="Google Shape;1684;p10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85" name="Google Shape;1685;p10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6" name="Google Shape;1686;p106"/>
          <p:cNvSpPr txBox="1"/>
          <p:nvPr/>
        </p:nvSpPr>
        <p:spPr>
          <a:xfrm>
            <a:off x="822158" y="953778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Definition: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Swaps the contents of 2 memory word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Executed atomically=Non-interruptable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1687" name="Google Shape;1687;p10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85801" y="1433442"/>
            <a:ext cx="6129850" cy="1763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107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Mutual-exclusion implementation with swap ()</a:t>
            </a:r>
            <a:endParaRPr sz="3200"/>
          </a:p>
        </p:txBody>
      </p:sp>
      <p:pic>
        <p:nvPicPr>
          <p:cNvPr id="1693" name="Google Shape;1693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4" name="Google Shape;1694;p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695" name="Google Shape;1695;p107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96" name="Google Shape;1696;p107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697" name="Google Shape;1697;p10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698" name="Google Shape;1698;p10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699" name="Google Shape;1699;p10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00" name="Google Shape;1700;p10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1" name="Google Shape;1701;p107"/>
          <p:cNvSpPr txBox="1"/>
          <p:nvPr/>
        </p:nvSpPr>
        <p:spPr>
          <a:xfrm>
            <a:off x="5467404" y="953777"/>
            <a:ext cx="6724595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Solution: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Key=Local Variable=Each process has its own Key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Lock=Global Variable=Common for all Processes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Both Initialized to False</a:t>
            </a:r>
            <a:endParaRPr/>
          </a:p>
          <a:p>
            <a:pPr indent="-101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1702" name="Google Shape;1702;p10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0014" y="1473562"/>
            <a:ext cx="5347390" cy="3447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108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Mutual-exclusion implementation with swap ()</a:t>
            </a:r>
            <a:endParaRPr sz="3200"/>
          </a:p>
        </p:txBody>
      </p:sp>
      <p:pic>
        <p:nvPicPr>
          <p:cNvPr id="1708" name="Google Shape;1708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9" name="Google Shape;1709;p1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710" name="Google Shape;1710;p108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711" name="Google Shape;1711;p108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712" name="Google Shape;1712;p10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713" name="Google Shape;1713;p10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714" name="Google Shape;1714;p10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15" name="Google Shape;1715;p10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6" name="Google Shape;1716;p108"/>
          <p:cNvSpPr txBox="1"/>
          <p:nvPr/>
        </p:nvSpPr>
        <p:spPr>
          <a:xfrm>
            <a:off x="822158" y="953778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Solution:</a:t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1717" name="Google Shape;1717;p10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7546" y="1293535"/>
            <a:ext cx="4189864" cy="3852247"/>
          </a:xfrm>
          <a:prstGeom prst="rect">
            <a:avLst/>
          </a:prstGeom>
          <a:noFill/>
          <a:ln>
            <a:noFill/>
          </a:ln>
        </p:spPr>
      </p:pic>
      <p:sp>
        <p:nvSpPr>
          <p:cNvPr id="1718" name="Google Shape;1718;p108"/>
          <p:cNvSpPr txBox="1"/>
          <p:nvPr/>
        </p:nvSpPr>
        <p:spPr>
          <a:xfrm>
            <a:off x="4567727" y="854316"/>
            <a:ext cx="3511747" cy="62786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Initilally (L,K)=(F,F)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P0 makes key=true so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(L,K)=(F,T)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While key is true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Swap values of Key and Lock so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(L,K)=(T,F)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Key becomes false, exits while loop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Enters CS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719" name="Google Shape;1719;p108"/>
          <p:cNvSpPr txBox="1"/>
          <p:nvPr/>
        </p:nvSpPr>
        <p:spPr>
          <a:xfrm>
            <a:off x="9130352" y="852751"/>
            <a:ext cx="2866029" cy="4493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Now P1 tries to enter CS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P1’s own key is also True Initially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Global  Lock is True as P0 is in CS</a:t>
            </a:r>
            <a:endParaRPr sz="1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Key=true so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(L,K)=(T,T)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After Swapping also,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Key will always be True, So trapped in while loop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P1 will not be able to enter CS</a:t>
            </a:r>
            <a:endParaRPr sz="18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720" name="Google Shape;1720;p108"/>
          <p:cNvSpPr/>
          <p:nvPr/>
        </p:nvSpPr>
        <p:spPr>
          <a:xfrm flipH="1" rot="6702918">
            <a:off x="6880556" y="2666928"/>
            <a:ext cx="3235845" cy="41178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570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109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Mutual-exclusion implementation with swap ()</a:t>
            </a:r>
            <a:endParaRPr sz="3200"/>
          </a:p>
        </p:txBody>
      </p:sp>
      <p:pic>
        <p:nvPicPr>
          <p:cNvPr id="1726" name="Google Shape;1726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7" name="Google Shape;1727;p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728" name="Google Shape;1728;p109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729" name="Google Shape;1729;p109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730" name="Google Shape;1730;p10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731" name="Google Shape;1731;p10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732" name="Google Shape;1732;p10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33" name="Google Shape;1733;p10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4" name="Google Shape;1734;p109"/>
          <p:cNvSpPr txBox="1"/>
          <p:nvPr/>
        </p:nvSpPr>
        <p:spPr>
          <a:xfrm>
            <a:off x="822158" y="953778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Solution:</a:t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1735" name="Google Shape;1735;p10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7546" y="1293535"/>
            <a:ext cx="4189864" cy="3852247"/>
          </a:xfrm>
          <a:prstGeom prst="rect">
            <a:avLst/>
          </a:prstGeom>
          <a:noFill/>
          <a:ln>
            <a:noFill/>
          </a:ln>
        </p:spPr>
      </p:pic>
      <p:sp>
        <p:nvSpPr>
          <p:cNvPr id="1736" name="Google Shape;1736;p109"/>
          <p:cNvSpPr txBox="1"/>
          <p:nvPr/>
        </p:nvSpPr>
        <p:spPr>
          <a:xfrm>
            <a:off x="4567727" y="854316"/>
            <a:ext cx="3511747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P0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Now, Lock=False and P0 exits CS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P0 enters RS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737" name="Google Shape;1737;p109"/>
          <p:cNvSpPr txBox="1"/>
          <p:nvPr/>
        </p:nvSpPr>
        <p:spPr>
          <a:xfrm>
            <a:off x="9130352" y="852751"/>
            <a:ext cx="2866029" cy="329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Now P1 tries to enter CS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So Pair (L,K)=(F,T)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The value will be swapped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Key will become False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Pair(L,K)=(T,F)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Control comes out of while 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Enters CS</a:t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738" name="Google Shape;1738;p109"/>
          <p:cNvSpPr/>
          <p:nvPr/>
        </p:nvSpPr>
        <p:spPr>
          <a:xfrm flipH="1" rot="10800000">
            <a:off x="6782934" y="1945519"/>
            <a:ext cx="2210937" cy="43229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570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p110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Marcellus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Hardware Synchronization</a:t>
            </a:r>
            <a:endParaRPr sz="3600"/>
          </a:p>
        </p:txBody>
      </p:sp>
      <p:pic>
        <p:nvPicPr>
          <p:cNvPr id="1744" name="Google Shape;1744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1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746" name="Google Shape;1746;p110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747" name="Google Shape;1747;p110"/>
          <p:cNvSpPr txBox="1"/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748" name="Google Shape;1748;p1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749" name="Google Shape;1749;p1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750" name="Google Shape;1750;p1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51" name="Google Shape;1751;p1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2" name="Google Shape;1752;p110"/>
          <p:cNvSpPr txBox="1"/>
          <p:nvPr/>
        </p:nvSpPr>
        <p:spPr>
          <a:xfrm>
            <a:off x="822158" y="1211543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01600" lvl="1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AutoNum type="arabicParenR"/>
            </a:pPr>
            <a:r>
              <a:rPr b="1"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Test Memory word and Set value-Test and Set()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AutoNum type="arabicParenR"/>
            </a:pPr>
            <a:r>
              <a:rPr b="1"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Swap contents of two memory words-Swap() </a:t>
            </a:r>
            <a:endParaRPr/>
          </a:p>
          <a:p>
            <a:pPr indent="-304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1"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These algorithms do not satisfy the bounded waiting requirement</a:t>
            </a:r>
            <a:endParaRPr b="1"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p111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Bounded Waiting implementation with test and set ()</a:t>
            </a:r>
            <a:endParaRPr sz="3200"/>
          </a:p>
        </p:txBody>
      </p:sp>
      <p:pic>
        <p:nvPicPr>
          <p:cNvPr id="1758" name="Google Shape;1758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9" name="Google Shape;1759;p1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760" name="Google Shape;1760;p111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761" name="Google Shape;1761;p111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762" name="Google Shape;1762;p1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763" name="Google Shape;1763;p1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764" name="Google Shape;1764;p1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65" name="Google Shape;1765;p1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6" name="Google Shape;1766;p111"/>
          <p:cNvSpPr txBox="1"/>
          <p:nvPr/>
        </p:nvSpPr>
        <p:spPr>
          <a:xfrm>
            <a:off x="822158" y="953778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Solution:</a:t>
            </a:r>
            <a:endParaRPr/>
          </a:p>
          <a:p>
            <a:pPr indent="-101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1767" name="Google Shape;1767;p1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2158" y="1569492"/>
            <a:ext cx="5919872" cy="3575714"/>
          </a:xfrm>
          <a:prstGeom prst="rect">
            <a:avLst/>
          </a:prstGeom>
          <a:noFill/>
          <a:ln>
            <a:noFill/>
          </a:ln>
        </p:spPr>
      </p:pic>
      <p:sp>
        <p:nvSpPr>
          <p:cNvPr id="1768" name="Google Shape;1768;p111"/>
          <p:cNvSpPr/>
          <p:nvPr/>
        </p:nvSpPr>
        <p:spPr>
          <a:xfrm>
            <a:off x="6037861" y="2183642"/>
            <a:ext cx="2483893" cy="25930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12700">
            <a:solidFill>
              <a:srgbClr val="85351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p111"/>
          <p:cNvSpPr txBox="1"/>
          <p:nvPr/>
        </p:nvSpPr>
        <p:spPr>
          <a:xfrm>
            <a:off x="9508388" y="3161620"/>
            <a:ext cx="252497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Exit Code</a:t>
            </a:r>
            <a:endParaRPr b="1" sz="28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0" name="Google Shape;1770;p111"/>
          <p:cNvSpPr/>
          <p:nvPr/>
        </p:nvSpPr>
        <p:spPr>
          <a:xfrm>
            <a:off x="6742030" y="3295189"/>
            <a:ext cx="2483893" cy="25930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12700">
            <a:solidFill>
              <a:srgbClr val="85351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1" name="Google Shape;1771;p111"/>
          <p:cNvSpPr txBox="1"/>
          <p:nvPr/>
        </p:nvSpPr>
        <p:spPr>
          <a:xfrm>
            <a:off x="8612255" y="2044863"/>
            <a:ext cx="252497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Entry Code</a:t>
            </a:r>
            <a:endParaRPr b="1" sz="28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5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p112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Bounded Waiting implementation with test and set ()</a:t>
            </a:r>
            <a:endParaRPr sz="3200"/>
          </a:p>
        </p:txBody>
      </p:sp>
      <p:pic>
        <p:nvPicPr>
          <p:cNvPr id="1777" name="Google Shape;1777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8" name="Google Shape;1778;p1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779" name="Google Shape;1779;p112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780" name="Google Shape;1780;p112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781" name="Google Shape;1781;p1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782" name="Google Shape;1782;p1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783" name="Google Shape;1783;p1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84" name="Google Shape;1784;p1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5" name="Google Shape;1785;p112"/>
          <p:cNvSpPr txBox="1"/>
          <p:nvPr/>
        </p:nvSpPr>
        <p:spPr>
          <a:xfrm>
            <a:off x="6605516" y="953778"/>
            <a:ext cx="4531716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Solution:</a:t>
            </a: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Satisfies all 3 critical section requirements</a:t>
            </a:r>
            <a:endParaRPr/>
          </a:p>
          <a:p>
            <a:pPr indent="-101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Shared Data strcutures/Global variables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boolean waiting[n];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boolean lock;</a:t>
            </a:r>
            <a:endParaRPr/>
          </a:p>
          <a:p>
            <a:pPr indent="-101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Both initialized to false</a:t>
            </a:r>
            <a:endParaRPr/>
          </a:p>
          <a:p>
            <a:pPr indent="-101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1786" name="Google Shape;1786;p1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8259" y="1132764"/>
            <a:ext cx="5919872" cy="3575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p113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Bounded Waiting implementation with test and set ()</a:t>
            </a:r>
            <a:endParaRPr sz="3200"/>
          </a:p>
        </p:txBody>
      </p:sp>
      <p:pic>
        <p:nvPicPr>
          <p:cNvPr id="1792" name="Google Shape;1792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3" name="Google Shape;1793;p1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794" name="Google Shape;1794;p113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795" name="Google Shape;1795;p113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796" name="Google Shape;1796;p1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797" name="Google Shape;1797;p1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798" name="Google Shape;1798;p1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99" name="Google Shape;1799;p1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0" name="Google Shape;1800;p113"/>
          <p:cNvSpPr txBox="1"/>
          <p:nvPr/>
        </p:nvSpPr>
        <p:spPr>
          <a:xfrm>
            <a:off x="6428131" y="953778"/>
            <a:ext cx="552730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Lock is initialized to False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Pi can enter its critical section only if either waiting[i]==false or key==false</a:t>
            </a:r>
            <a:endParaRPr/>
          </a:p>
          <a:p>
            <a:pPr indent="-889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The value of Key can become false only if Test&amp;Set() is executed</a:t>
            </a:r>
            <a:endParaRPr/>
          </a:p>
          <a:p>
            <a:pPr indent="-889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The 1</a:t>
            </a:r>
            <a:r>
              <a:rPr baseline="30000" lang="en-US" sz="2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st</a:t>
            </a:r>
            <a:r>
              <a:rPr lang="en-US" sz="2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process to execute the Test&amp;Set() will set key==false and lock to True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waiting[i] of Pi=False</a:t>
            </a:r>
            <a:endParaRPr sz="22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All other processes must wait</a:t>
            </a:r>
            <a:endParaRPr/>
          </a:p>
          <a:p>
            <a:pPr indent="-101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1801" name="Google Shape;1801;p1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0014" y="1132764"/>
            <a:ext cx="6308117" cy="4449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p114"/>
          <p:cNvSpPr txBox="1"/>
          <p:nvPr>
            <p:ph type="title"/>
          </p:nvPr>
        </p:nvSpPr>
        <p:spPr>
          <a:xfrm>
            <a:off x="401054" y="191861"/>
            <a:ext cx="4220803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Marcellus"/>
              <a:buNone/>
            </a:pPr>
            <a:r>
              <a:rPr lang="en-US" sz="20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Bounded Waiting implementation with test and set ()</a:t>
            </a:r>
            <a:endParaRPr sz="2000"/>
          </a:p>
        </p:txBody>
      </p:sp>
      <p:pic>
        <p:nvPicPr>
          <p:cNvPr id="1807" name="Google Shape;1807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8" name="Google Shape;1808;p1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809" name="Google Shape;1809;p114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10" name="Google Shape;1810;p114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811" name="Google Shape;1811;p1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812" name="Google Shape;1812;p1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813" name="Google Shape;1813;p1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14" name="Google Shape;1814;p1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5" name="Google Shape;1815;p114"/>
          <p:cNvSpPr txBox="1"/>
          <p:nvPr/>
        </p:nvSpPr>
        <p:spPr>
          <a:xfrm>
            <a:off x="6496369" y="0"/>
            <a:ext cx="65554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Lock=false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For Pi , waiting and Key both are True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while Condtn=True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Inside While Loop,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Key=T&amp;S(&amp;Lock)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So Key=False(Returns Original Value of Lock=False)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Lock=True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exit form While loop as Key=false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Waiting of Pi finishes=false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Enters Critical Section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Now Pj tries to enter Critical Section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waiting and key Both are True,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Lock=True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while conditn=True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Inside While Loop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Key=T&amp;S(&amp;Lock)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Key=True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Lock=True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Trapped in while loop</a:t>
            </a:r>
            <a:endParaRPr/>
          </a:p>
          <a:p>
            <a:pPr indent="-101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1397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1816" name="Google Shape;1816;p1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0014" y="1132764"/>
            <a:ext cx="6308117" cy="4449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115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Bounded Waiting implementation with test and set ()</a:t>
            </a:r>
            <a:endParaRPr sz="3200"/>
          </a:p>
        </p:txBody>
      </p:sp>
      <p:pic>
        <p:nvPicPr>
          <p:cNvPr id="1822" name="Google Shape;1822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3" name="Google Shape;1823;p1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824" name="Google Shape;1824;p115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25" name="Google Shape;1825;p115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826" name="Google Shape;1826;p1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827" name="Google Shape;1827;p1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828" name="Google Shape;1828;p1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29" name="Google Shape;1829;p1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0" name="Google Shape;1830;p115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hardware-based solutions to the CSP are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complicated for application programmers to use. </a:t>
            </a:r>
            <a:endParaRPr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Soln= Semaphore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p116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Semaphore</a:t>
            </a:r>
            <a:endParaRPr sz="3200"/>
          </a:p>
        </p:txBody>
      </p:sp>
      <p:pic>
        <p:nvPicPr>
          <p:cNvPr id="1836" name="Google Shape;1836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7" name="Google Shape;1837;p1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838" name="Google Shape;1838;p11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39" name="Google Shape;1839;p116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840" name="Google Shape;1840;p1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841" name="Google Shape;1841;p1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842" name="Google Shape;1842;p1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43" name="Google Shape;1843;p1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44" name="Google Shape;1844;p116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 synchronization tool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 semaphore S is </a:t>
            </a:r>
            <a:r>
              <a:rPr lang="en-US" sz="24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an integer variable 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that, </a:t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apart from initialization, </a:t>
            </a:r>
            <a:endParaRPr b="0" i="0" sz="2400" u="none" cap="none" strike="noStrike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is accessed only through two standard atomic operations: </a:t>
            </a:r>
            <a:endParaRPr b="0" i="0" sz="2400" u="none" cap="none" strike="noStrike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wait () and </a:t>
            </a:r>
            <a:endParaRPr b="0" i="0" sz="2400" u="none" cap="none" strike="noStrike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signal ()</a:t>
            </a:r>
            <a:endParaRPr b="0" i="0" sz="2400" u="none" cap="none" strike="noStrike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Google Shape;1849;p117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Semaphore</a:t>
            </a:r>
            <a:endParaRPr sz="3200"/>
          </a:p>
        </p:txBody>
      </p:sp>
      <p:pic>
        <p:nvPicPr>
          <p:cNvPr id="1850" name="Google Shape;1850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1" name="Google Shape;1851;p1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852" name="Google Shape;1852;p117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53" name="Google Shape;1853;p117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854" name="Google Shape;1854;p1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855" name="Google Shape;1855;p1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856" name="Google Shape;1856;p1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57" name="Google Shape;1857;p1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8" name="Google Shape;1858;p117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1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wait () operation = originally termed P </a:t>
            </a:r>
            <a:endParaRPr b="0" i="0" sz="2400" u="none" cap="none" strike="noStrike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from the Dutch </a:t>
            </a:r>
            <a:r>
              <a:rPr b="0" i="1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proberen,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Meaning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"to test“ or “to attempt”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signal() operation = originally called V </a:t>
            </a:r>
            <a:endParaRPr b="0" i="0" sz="2400" u="none" cap="none" strike="noStrike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from </a:t>
            </a:r>
            <a:r>
              <a:rPr b="0" i="1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verhogen, </a:t>
            </a:r>
            <a:endParaRPr b="0" i="1" sz="2400" u="none" cap="none" strike="noStrike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Meaning  </a:t>
            </a: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"to increment" </a:t>
            </a:r>
            <a:endParaRPr b="0" i="0" sz="2400" u="none" cap="none" strike="noStrike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2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Google Shape;1863;p118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Semaphore</a:t>
            </a:r>
            <a:endParaRPr sz="3200"/>
          </a:p>
        </p:txBody>
      </p:sp>
      <p:pic>
        <p:nvPicPr>
          <p:cNvPr id="1864" name="Google Shape;1864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5" name="Google Shape;1865;p1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866" name="Google Shape;1866;p118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67" name="Google Shape;1867;p118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868" name="Google Shape;1868;p1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869" name="Google Shape;1869;p1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870" name="Google Shape;1870;p1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71" name="Google Shape;1871;p1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2" name="Google Shape;1872;p118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Classical Definition of Wait-</a:t>
            </a:r>
            <a:endParaRPr/>
          </a:p>
          <a:p>
            <a: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wait(S) {</a:t>
            </a:r>
            <a:endParaRPr/>
          </a:p>
          <a:p>
            <a: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S &lt;= 0</a:t>
            </a:r>
            <a:endParaRPr/>
          </a:p>
          <a:p>
            <a: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 II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no-op</a:t>
            </a:r>
            <a:endParaRPr/>
          </a:p>
          <a:p>
            <a: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s--;</a:t>
            </a:r>
            <a:endParaRPr/>
          </a:p>
          <a:p>
            <a: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testing of the integer value of S (S&lt;=0), as well as its possible modification (S--), must be executed without interruption.</a:t>
            </a:r>
            <a:endParaRPr/>
          </a:p>
          <a:p>
            <a: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p119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Semaphore</a:t>
            </a:r>
            <a:endParaRPr sz="3200"/>
          </a:p>
        </p:txBody>
      </p:sp>
      <p:pic>
        <p:nvPicPr>
          <p:cNvPr id="1878" name="Google Shape;1878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9" name="Google Shape;1879;p1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880" name="Google Shape;1880;p119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81" name="Google Shape;1881;p119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882" name="Google Shape;1882;p1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883" name="Google Shape;1883;p1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884" name="Google Shape;1884;p1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85" name="Google Shape;1885;p1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6" name="Google Shape;1886;p119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Classical Definition of Signal-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signal(S) {</a:t>
            </a:r>
            <a:endParaRPr/>
          </a:p>
          <a:p>
            <a: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S++;</a:t>
            </a:r>
            <a:endParaRPr/>
          </a:p>
          <a:p>
            <a:pPr indent="0" lvl="7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0" name="Shape 1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Google Shape;1891;p120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Semaphore</a:t>
            </a:r>
            <a:endParaRPr sz="3200"/>
          </a:p>
        </p:txBody>
      </p:sp>
      <p:pic>
        <p:nvPicPr>
          <p:cNvPr id="1892" name="Google Shape;1892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3" name="Google Shape;1893;p1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894" name="Google Shape;1894;p120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95" name="Google Shape;1895;p120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896" name="Google Shape;1896;p1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897" name="Google Shape;1897;p1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898" name="Google Shape;1898;p1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99" name="Google Shape;1899;p1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0" name="Google Shape;1900;p120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All modifications to the integer value of the semaphore in the wait () and signal() operations must be executed indivisibly. </a:t>
            </a:r>
            <a:endParaRPr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is, when one process modifies the semaphore value,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no other process can simultaneously modify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same semaphore value.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p121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Usage of Semaphore</a:t>
            </a:r>
            <a:endParaRPr sz="3200"/>
          </a:p>
        </p:txBody>
      </p:sp>
      <p:pic>
        <p:nvPicPr>
          <p:cNvPr id="1906" name="Google Shape;1906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7" name="Google Shape;1907;p1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908" name="Google Shape;1908;p121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09" name="Google Shape;1909;p121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910" name="Google Shape;1910;p1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911" name="Google Shape;1911;p1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912" name="Google Shape;1912;p1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13" name="Google Shape;1913;p1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4" name="Google Shape;1914;p121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Deal with n-process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Critical Section Problem, i.e. Mutual Exclusion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binary semaphores to deal with the critical-section problem for multiple processes.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binary semaphores are known as mutex locks, as they are locks that provide mutual exclusion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Solve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Synchronization Problem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p122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Types of Semaphore</a:t>
            </a:r>
            <a:endParaRPr sz="3200"/>
          </a:p>
        </p:txBody>
      </p:sp>
      <p:pic>
        <p:nvPicPr>
          <p:cNvPr id="1920" name="Google Shape;1920;p1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1" name="Google Shape;1921;p1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922" name="Google Shape;1922;p122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23" name="Google Shape;1923;p122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924" name="Google Shape;1924;p1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925" name="Google Shape;1925;p1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926" name="Google Shape;1926;p1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27" name="Google Shape;1927;p1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8" name="Google Shape;1928;p122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Types of Semaphores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Counting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Binary </a:t>
            </a:r>
            <a:endParaRPr/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p123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Types of Semaphore</a:t>
            </a:r>
            <a:endParaRPr sz="3200"/>
          </a:p>
        </p:txBody>
      </p:sp>
      <p:pic>
        <p:nvPicPr>
          <p:cNvPr id="1934" name="Google Shape;1934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5" name="Google Shape;1935;p1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936" name="Google Shape;1936;p123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37" name="Google Shape;1937;p123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938" name="Google Shape;1938;p1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939" name="Google Shape;1939;p1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940" name="Google Shape;1940;p1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41" name="Google Shape;1941;p1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2" name="Google Shape;1942;p123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Counting Semaphore-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The value of a counting semaphore can range over an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unrestricted domain.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Binary Semaphore-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The value of a binary semaphore can range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only between 0 and 1. 	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Also known as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mutex locks</a:t>
            </a: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, </a:t>
            </a:r>
            <a:endParaRPr b="0" i="0" sz="2400" u="none" cap="none" strike="noStrike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As they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provide mutual exclusion.</a:t>
            </a:r>
            <a:endParaRPr b="0" i="0" sz="2400" u="none" cap="none" strike="noStrike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124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Counting Semaphore</a:t>
            </a:r>
            <a:endParaRPr sz="3200"/>
          </a:p>
        </p:txBody>
      </p:sp>
      <p:pic>
        <p:nvPicPr>
          <p:cNvPr id="1948" name="Google Shape;1948;p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9" name="Google Shape;1949;p1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950" name="Google Shape;1950;p124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51" name="Google Shape;1951;p124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952" name="Google Shape;1952;p1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953" name="Google Shape;1953;p1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954" name="Google Shape;1954;p1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55" name="Google Shape;1955;p1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56" name="Google Shape;1956;p124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to control access to a given resource consisting of a finite number of instances.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semaphore is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initialized to the number of resources available. </a:t>
            </a:r>
            <a:endParaRPr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p125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Counting Semaphore</a:t>
            </a:r>
            <a:endParaRPr sz="3200"/>
          </a:p>
        </p:txBody>
      </p:sp>
      <p:pic>
        <p:nvPicPr>
          <p:cNvPr id="1962" name="Google Shape;1962;p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3" name="Google Shape;1963;p1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964" name="Google Shape;1964;p125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65" name="Google Shape;1965;p125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966" name="Google Shape;1966;p1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967" name="Google Shape;1967;p1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968" name="Google Shape;1968;p1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69" name="Google Shape;1969;p1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0" name="Google Shape;1970;p125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process that wishes to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use a resource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performs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 wait() operation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the semaphore ,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thereby decrementing the count. 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 process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releases a resource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it performs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 signal() operation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incrementing the count. 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4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p126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Counting Semaphore</a:t>
            </a:r>
            <a:endParaRPr sz="3200"/>
          </a:p>
        </p:txBody>
      </p:sp>
      <p:pic>
        <p:nvPicPr>
          <p:cNvPr id="1976" name="Google Shape;1976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7" name="Google Shape;1977;p1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978" name="Google Shape;1978;p12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79" name="Google Shape;1979;p126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980" name="Google Shape;1980;p1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981" name="Google Shape;1981;p1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982" name="Google Shape;1982;p1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83" name="Google Shape;1983;p1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4" name="Google Shape;1984;p126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count for the semaphore goes to 0, all resources are being used. 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that, processes that wish to use a resource will </a:t>
            </a:r>
            <a:r>
              <a:rPr b="1" i="0" lang="en-US" sz="24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block until the count becomes greater than 0.</a:t>
            </a:r>
            <a:endParaRPr b="1" i="0" sz="2400" u="none" cap="none" strike="noStrike">
              <a:solidFill>
                <a:schemeClr val="accent5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9" name="Google Shape;1989;p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0" name="Google Shape;1990;p1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991" name="Google Shape;1991;p127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92" name="Google Shape;1992;p127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1993" name="Google Shape;1993;p1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994" name="Google Shape;1994;p1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1995" name="Google Shape;1995;p1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96" name="Google Shape;1996;p1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7" name="Google Shape;1997;p127"/>
          <p:cNvSpPr txBox="1"/>
          <p:nvPr/>
        </p:nvSpPr>
        <p:spPr>
          <a:xfrm>
            <a:off x="913771" y="548993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ISRO | ISRO CS 2017 – May | Question 78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particular time, the value of a counting semaphore is 10, it will become 7 after: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 3 V operations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 3 P operations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 5 V operations and 2 P operations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 2 V operations and 5 P operations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of the following option is correct?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Only (b)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Only(d)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Both (b) and (d)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None of these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2" name="Google Shape;2002;p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3" name="Google Shape;2003;p1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004" name="Google Shape;2004;p128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05" name="Google Shape;2005;p128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006" name="Google Shape;2006;p1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007" name="Google Shape;2007;p1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008" name="Google Shape;2008;p1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09" name="Google Shape;2009;p1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10" name="Google Shape;2010;p128"/>
          <p:cNvSpPr txBox="1"/>
          <p:nvPr/>
        </p:nvSpPr>
        <p:spPr>
          <a:xfrm>
            <a:off x="669759" y="22647"/>
            <a:ext cx="10315074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ISRO | ISRO CS 2017 – May | Question 78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particular time, the value of a counting semaphore is 10, it will become 7 after: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 3 V operations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 3 P operations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 5 V operations and 2 P operations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 2 V operations and 5 P operations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of the following option is correct?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Only (b)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Only(d)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Both (b) and (d)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None of these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Explanation: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P: Wait operation decrements the value of the counting semaphore by 1.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V: Signal operation increments the value of counting semaphore by 1.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value of the counting semaphore = 10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after 3 P operations, value of semaphore = 10-3 = 7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after 2 v operations, and 5 operations value of semaphore = 10 + 2 – 5 = 7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Hence option (C) is correct.</a:t>
            </a:r>
            <a:endParaRPr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4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5" name="Google Shape;2015;p1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6" name="Google Shape;2016;p1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017" name="Google Shape;2017;p129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18" name="Google Shape;2018;p129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019" name="Google Shape;2019;p1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020" name="Google Shape;2020;p1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021" name="Google Shape;2021;p1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22" name="Google Shape;2022;p1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3" name="Google Shape;2023;p129"/>
          <p:cNvSpPr txBox="1"/>
          <p:nvPr/>
        </p:nvSpPr>
        <p:spPr>
          <a:xfrm>
            <a:off x="710703" y="289681"/>
            <a:ext cx="10071060" cy="57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UGC-NET | UGC NET CS 2018 July – II | Question 51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a particular time of computation, the value of a counting semaphore is 10. Then 12 P operations and “x” V operations were performed on this semaphore. If the final value of semaphore is 7, x will be: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8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9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10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11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8" name="Google Shape;2028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9" name="Google Shape;2029;p1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030" name="Google Shape;2030;p130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31" name="Google Shape;2031;p130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032" name="Google Shape;2032;p1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033" name="Google Shape;2033;p1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034" name="Google Shape;2034;p1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35" name="Google Shape;2035;p1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6" name="Google Shape;2036;p130"/>
          <p:cNvSpPr txBox="1"/>
          <p:nvPr/>
        </p:nvSpPr>
        <p:spPr>
          <a:xfrm>
            <a:off x="710703" y="289681"/>
            <a:ext cx="10071060" cy="57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UGC-NET | UGC NET CS 2018 July – II | Question 51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a particular time of computation, the value of a counting semaphore is 10. Then 12 P operations and “x” V operations were performed on this semaphore. If the final value of semaphore is 7, x will be: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8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9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10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11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Explanation: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Intially the value of a counting semaphore is 10 Now 12 P operation are performed.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counting semaphore value = -2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“x” V operations were performed on this semaphore and final value of counting semaphore = 7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i.e x + (-2) = 7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9.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option (C) is correct.</a:t>
            </a:r>
            <a:endParaRPr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0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p131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Binary Semaphore</a:t>
            </a:r>
            <a:endParaRPr sz="3200"/>
          </a:p>
        </p:txBody>
      </p:sp>
      <p:pic>
        <p:nvPicPr>
          <p:cNvPr id="2042" name="Google Shape;2042;p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3" name="Google Shape;2043;p1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044" name="Google Shape;2044;p131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45" name="Google Shape;2045;p131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046" name="Google Shape;2046;p1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047" name="Google Shape;2047;p1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048" name="Google Shape;2048;p1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49" name="Google Shape;2049;p1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0" name="Google Shape;2050;p131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Mutual Exclusion using Binary Semaphore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to deal with the critical-section problem for multiple processes.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Processes share a semaphore, mutex, initialized to 1.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rgbClr val="FF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2051" name="Google Shape;2051;p131"/>
          <p:cNvPicPr preferRelativeResize="0"/>
          <p:nvPr/>
        </p:nvPicPr>
        <p:blipFill rotWithShape="1">
          <a:blip r:embed="rId7">
            <a:alphaModFix/>
          </a:blip>
          <a:srcRect b="11406" l="33252" r="35175" t="59467"/>
          <a:stretch/>
        </p:blipFill>
        <p:spPr>
          <a:xfrm>
            <a:off x="3192065" y="2784120"/>
            <a:ext cx="4832819" cy="2506561"/>
          </a:xfrm>
          <a:prstGeom prst="rect">
            <a:avLst/>
          </a:prstGeom>
          <a:noFill/>
          <a:ln>
            <a:noFill/>
          </a:ln>
        </p:spPr>
      </p:pic>
      <p:sp>
        <p:nvSpPr>
          <p:cNvPr id="2052" name="Google Shape;2052;p131"/>
          <p:cNvSpPr/>
          <p:nvPr/>
        </p:nvSpPr>
        <p:spPr>
          <a:xfrm>
            <a:off x="9130144" y="2934248"/>
            <a:ext cx="2007088" cy="193899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wait(S)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S &lt;=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 II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no-op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s--;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6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p132"/>
          <p:cNvSpPr txBox="1"/>
          <p:nvPr>
            <p:ph type="title"/>
          </p:nvPr>
        </p:nvSpPr>
        <p:spPr>
          <a:xfrm>
            <a:off x="375710" y="0"/>
            <a:ext cx="11395912" cy="2698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Mutual Exclusion using Binary Semaphore</a:t>
            </a:r>
            <a:endParaRPr sz="3200"/>
          </a:p>
        </p:txBody>
      </p:sp>
      <p:pic>
        <p:nvPicPr>
          <p:cNvPr id="2058" name="Google Shape;2058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9" name="Google Shape;2059;p1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060" name="Google Shape;2060;p132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61" name="Google Shape;2061;p132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062" name="Google Shape;2062;p1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063" name="Google Shape;2063;p1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064" name="Google Shape;2064;p1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65" name="Google Shape;2065;p1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6" name="Google Shape;2066;p132"/>
          <p:cNvSpPr txBox="1"/>
          <p:nvPr/>
        </p:nvSpPr>
        <p:spPr>
          <a:xfrm>
            <a:off x="286604" y="269837"/>
            <a:ext cx="10850628" cy="542128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P0 tries to enter the CS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P0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while(mutex&lt;=0);                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mutex=1 so Condition is False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Comes out of while loop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mutex - -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mutex=0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P1 tries to enter CS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while(mutex&lt;=0);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 is True , so P1 gets trapped in a Do Nothing Loop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P1 cannot enter CS                                    ============&gt;ME preserved</a:t>
            </a:r>
            <a:endParaRPr/>
          </a:p>
        </p:txBody>
      </p:sp>
      <p:pic>
        <p:nvPicPr>
          <p:cNvPr id="2067" name="Google Shape;2067;p132"/>
          <p:cNvPicPr preferRelativeResize="0"/>
          <p:nvPr/>
        </p:nvPicPr>
        <p:blipFill rotWithShape="1">
          <a:blip r:embed="rId7">
            <a:alphaModFix/>
          </a:blip>
          <a:srcRect b="11406" l="33252" r="44232" t="59467"/>
          <a:stretch/>
        </p:blipFill>
        <p:spPr>
          <a:xfrm>
            <a:off x="6032015" y="1078151"/>
            <a:ext cx="3084692" cy="2243516"/>
          </a:xfrm>
          <a:prstGeom prst="rect">
            <a:avLst/>
          </a:prstGeom>
          <a:noFill/>
          <a:ln>
            <a:noFill/>
          </a:ln>
        </p:spPr>
      </p:pic>
      <p:sp>
        <p:nvSpPr>
          <p:cNvPr id="2068" name="Google Shape;2068;p132"/>
          <p:cNvSpPr/>
          <p:nvPr/>
        </p:nvSpPr>
        <p:spPr>
          <a:xfrm>
            <a:off x="9130144" y="1088475"/>
            <a:ext cx="2007088" cy="193899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wait(S)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S &lt;=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 II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no-op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s--;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2069" name="Google Shape;2069;p132"/>
          <p:cNvSpPr/>
          <p:nvPr/>
        </p:nvSpPr>
        <p:spPr>
          <a:xfrm>
            <a:off x="286604" y="1115770"/>
            <a:ext cx="3957850" cy="2279176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3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Google Shape;2074;p133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Synchronization using Semaphore</a:t>
            </a:r>
            <a:endParaRPr sz="3200"/>
          </a:p>
        </p:txBody>
      </p:sp>
      <p:pic>
        <p:nvPicPr>
          <p:cNvPr id="2075" name="Google Shape;2075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6" name="Google Shape;2076;p1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077" name="Google Shape;2077;p133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78" name="Google Shape;2078;p133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079" name="Google Shape;2079;p1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080" name="Google Shape;2080;p1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081" name="Google Shape;2081;p1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82" name="Google Shape;2082;p1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3" name="Google Shape;2083;p133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also use semaphores to solve various synchronization problems.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two concurrently running processes: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P1 with a statement S1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 with a statement S2 .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we require that S2 be executed only after S1 has completed.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7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Google Shape;2088;p134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Synchronization using Semaphore</a:t>
            </a:r>
            <a:endParaRPr sz="3200"/>
          </a:p>
        </p:txBody>
      </p:sp>
      <p:pic>
        <p:nvPicPr>
          <p:cNvPr id="2089" name="Google Shape;2089;p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0" name="Google Shape;2090;p1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091" name="Google Shape;2091;p134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92" name="Google Shape;2092;p134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093" name="Google Shape;2093;p1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094" name="Google Shape;2094;p1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095" name="Google Shape;2095;p1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96" name="Google Shape;2096;p1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7" name="Google Shape;2097;p134"/>
          <p:cNvSpPr txBox="1"/>
          <p:nvPr/>
        </p:nvSpPr>
        <p:spPr>
          <a:xfrm>
            <a:off x="1310185" y="953777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P1 and P2 share a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common semaphore synch, initialized to 0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Statements inserted in P1</a:t>
            </a:r>
            <a:endParaRPr/>
          </a:p>
          <a:p>
            <a:pPr indent="0" lvl="5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S1;</a:t>
            </a:r>
            <a:endParaRPr/>
          </a:p>
          <a:p>
            <a:pPr indent="0" lvl="5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signal(synch) 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Statements inserted in P2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5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wait(synch);</a:t>
            </a:r>
            <a:endParaRPr/>
          </a:p>
          <a:p>
            <a:pPr indent="0" lvl="5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S2;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rgbClr val="FF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2098" name="Google Shape;2098;p134"/>
          <p:cNvSpPr/>
          <p:nvPr/>
        </p:nvSpPr>
        <p:spPr>
          <a:xfrm>
            <a:off x="5459107" y="2388357"/>
            <a:ext cx="409840" cy="1351129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12700">
            <a:solidFill>
              <a:srgbClr val="1570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9" name="Google Shape;2099;p134"/>
          <p:cNvSpPr/>
          <p:nvPr/>
        </p:nvSpPr>
        <p:spPr>
          <a:xfrm>
            <a:off x="9130144" y="2227796"/>
            <a:ext cx="2007088" cy="193899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wait(S)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S &lt;=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 II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no-op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s--;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3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p135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Synchronization using Semaphore</a:t>
            </a:r>
            <a:endParaRPr sz="3200"/>
          </a:p>
        </p:txBody>
      </p:sp>
      <p:pic>
        <p:nvPicPr>
          <p:cNvPr id="2105" name="Google Shape;2105;p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6" name="Google Shape;2106;p1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107" name="Google Shape;2107;p135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08" name="Google Shape;2108;p135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109" name="Google Shape;2109;p1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110" name="Google Shape;2110;p1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111" name="Google Shape;2111;p1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12" name="Google Shape;2112;p1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3" name="Google Shape;2113;p135"/>
          <p:cNvSpPr txBox="1"/>
          <p:nvPr/>
        </p:nvSpPr>
        <p:spPr>
          <a:xfrm>
            <a:off x="1310185" y="953777"/>
            <a:ext cx="4312693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/>
          </a:p>
          <a:p>
            <a:pPr indent="0" lvl="2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S1;</a:t>
            </a:r>
            <a:endParaRPr/>
          </a:p>
          <a:p>
            <a:pPr indent="0" lvl="2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signal(synch) 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wait(synch);</a:t>
            </a:r>
            <a:endParaRPr/>
          </a:p>
          <a:p>
            <a:pPr indent="0" lvl="2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S2;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4" name="Google Shape;2114;p135"/>
          <p:cNvSpPr txBox="1"/>
          <p:nvPr/>
        </p:nvSpPr>
        <p:spPr>
          <a:xfrm>
            <a:off x="5827295" y="1106177"/>
            <a:ext cx="546233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synch is initialized to 0,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 will execute S2 only after P1 has invoked signal (synch), which is after statement S1 has been executed.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0000"/>
                </a:solidFill>
                <a:latin typeface="Marcellus"/>
                <a:ea typeface="Marcellus"/>
                <a:cs typeface="Marcellus"/>
                <a:sym typeface="Marcellus"/>
              </a:rPr>
              <a:t>Else P2 will caught in infinte loop inside wait() fn</a:t>
            </a:r>
            <a:endParaRPr b="0" i="0" sz="2400" u="none" cap="none" strike="noStrike">
              <a:solidFill>
                <a:srgbClr val="FF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8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Google Shape;2119;p136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Semaphore</a:t>
            </a:r>
            <a:endParaRPr sz="3200"/>
          </a:p>
        </p:txBody>
      </p:sp>
      <p:pic>
        <p:nvPicPr>
          <p:cNvPr id="2120" name="Google Shape;2120;p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1" name="Google Shape;2121;p1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122" name="Google Shape;2122;p13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23" name="Google Shape;2123;p136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124" name="Google Shape;2124;p1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125" name="Google Shape;2125;p1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126" name="Google Shape;2126;p1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27" name="Google Shape;2127;p1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8" name="Google Shape;2128;p136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9" name="Google Shape;2129;p136"/>
          <p:cNvSpPr/>
          <p:nvPr/>
        </p:nvSpPr>
        <p:spPr>
          <a:xfrm>
            <a:off x="900753" y="1160189"/>
            <a:ext cx="9184944" cy="3060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Must guarantee that no two processes can execute  the wait() and signal() on the same semaphore at the same time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Thus, the implementation becomes the critical section problem </a:t>
            </a:r>
            <a:endParaRPr sz="2400">
              <a:solidFill>
                <a:srgbClr val="0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0000"/>
                </a:solidFill>
                <a:latin typeface="Marcellus"/>
                <a:ea typeface="Marcellus"/>
                <a:cs typeface="Marcellus"/>
                <a:sym typeface="Marcellus"/>
              </a:rPr>
              <a:t>the wait and signal code are placed in the critical section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4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p137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Busy Waiting</a:t>
            </a:r>
            <a:endParaRPr sz="3200"/>
          </a:p>
        </p:txBody>
      </p:sp>
      <p:pic>
        <p:nvPicPr>
          <p:cNvPr id="2136" name="Google Shape;2136;p1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7" name="Google Shape;2137;p1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138" name="Google Shape;2138;p137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39" name="Google Shape;2139;p137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140" name="Google Shape;2140;p1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141" name="Google Shape;2141;p1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142" name="Google Shape;2142;p1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43" name="Google Shape;2143;p1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4" name="Google Shape;2144;p137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5" name="Google Shape;2145;p137"/>
          <p:cNvSpPr/>
          <p:nvPr/>
        </p:nvSpPr>
        <p:spPr>
          <a:xfrm>
            <a:off x="900753" y="1201132"/>
            <a:ext cx="9184944" cy="31362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While a process is in its critical section, </a:t>
            </a:r>
            <a:endParaRPr sz="2400">
              <a:solidFill>
                <a:srgbClr val="0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any other process that tries to enter its critical section must loop continuously in the entry code=&gt;Infinite Loop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This continual looping is clearly a problem in a real multiprogramming system where a single CPU is shared among many processes. </a:t>
            </a:r>
            <a:endParaRPr b="0" i="0" sz="2400" u="none" cap="none" strike="noStrike">
              <a:solidFill>
                <a:srgbClr val="0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Busy waiting wastes CPU cycles that some other process might be able to use productively. </a:t>
            </a:r>
            <a:endParaRPr b="0" i="0" sz="2400" u="none" cap="none" strike="noStrike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9" name="Shape 2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" name="Google Shape;2150;p138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Busy Waiting</a:t>
            </a:r>
            <a:endParaRPr sz="3200"/>
          </a:p>
        </p:txBody>
      </p:sp>
      <p:pic>
        <p:nvPicPr>
          <p:cNvPr id="2151" name="Google Shape;2151;p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2" name="Google Shape;2152;p1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153" name="Google Shape;2153;p138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54" name="Google Shape;2154;p138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155" name="Google Shape;2155;p1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156" name="Google Shape;2156;p1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157" name="Google Shape;2157;p1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58" name="Google Shape;2158;p1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9" name="Google Shape;2159;p138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0" name="Google Shape;2160;p138"/>
          <p:cNvSpPr/>
          <p:nvPr/>
        </p:nvSpPr>
        <p:spPr>
          <a:xfrm>
            <a:off x="900753" y="1201132"/>
            <a:ext cx="9184944" cy="3060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1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Disadvantage 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Busy Waiting</a:t>
            </a:r>
            <a:endParaRPr/>
          </a:p>
          <a:p>
            <a:pPr indent="-76200" lvl="1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Software Solutions i.e.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Algo 1, Algo2, Peterson’s Solution and Semaphore definition 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all suffer from Busy Waiting</a:t>
            </a:r>
            <a:endParaRPr/>
          </a:p>
          <a:p>
            <a:pPr indent="-76200" lvl="1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4" name="Shape 2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5" name="Google Shape;2165;p139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Busy Waiting</a:t>
            </a:r>
            <a:endParaRPr sz="3200"/>
          </a:p>
        </p:txBody>
      </p:sp>
      <p:pic>
        <p:nvPicPr>
          <p:cNvPr id="2166" name="Google Shape;2166;p1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7" name="Google Shape;2167;p1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168" name="Google Shape;2168;p139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69" name="Google Shape;2169;p139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170" name="Google Shape;2170;p1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171" name="Google Shape;2171;p1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172" name="Google Shape;2172;p1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73" name="Google Shape;2173;p1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74" name="Google Shape;2174;p139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5" name="Google Shape;2175;p139"/>
          <p:cNvSpPr/>
          <p:nvPr/>
        </p:nvSpPr>
        <p:spPr>
          <a:xfrm>
            <a:off x="900753" y="1201132"/>
            <a:ext cx="9184944" cy="2932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While a process is in its critical section, </a:t>
            </a:r>
            <a:endParaRPr sz="2400">
              <a:solidFill>
                <a:srgbClr val="0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This type of semaphore is also called a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Spinlock</a:t>
            </a:r>
            <a:r>
              <a:rPr b="0" i="0" lang="en-US" sz="24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The process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"spins" while waiting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for the lock. </a:t>
            </a:r>
            <a:endParaRPr b="0" i="0" sz="2400" u="none" cap="none" strike="noStrike">
              <a:solidFill>
                <a:srgbClr val="0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Advantage of Spinlocks- 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No context switch is required when a process must wait on a lock, and a context switch may take considerable time. </a:t>
            </a:r>
            <a:endParaRPr b="1" i="0" sz="2400" u="none" cap="none" strike="noStrike">
              <a:solidFill>
                <a:srgbClr val="0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9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p140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Busy Waiting</a:t>
            </a:r>
            <a:endParaRPr sz="3200"/>
          </a:p>
        </p:txBody>
      </p:sp>
      <p:pic>
        <p:nvPicPr>
          <p:cNvPr id="2181" name="Google Shape;2181;p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2" name="Google Shape;2182;p1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183" name="Google Shape;2183;p140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84" name="Google Shape;2184;p140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185" name="Google Shape;2185;p1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186" name="Google Shape;2186;p1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187" name="Google Shape;2187;p1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88" name="Google Shape;2188;p1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9" name="Google Shape;2189;p140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0" name="Google Shape;2190;p140"/>
          <p:cNvSpPr/>
          <p:nvPr/>
        </p:nvSpPr>
        <p:spPr>
          <a:xfrm>
            <a:off x="900753" y="1210185"/>
            <a:ext cx="9184944" cy="3392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1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Thus, when locks are expected to be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held for short times, spinlocks are useful; </a:t>
            </a:r>
            <a:endParaRPr b="0" i="0" sz="2400" u="none" cap="none" strike="noStrike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76200" lvl="1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Often employed on multiprocessor systems where 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one thread can "spin" on one processor while </a:t>
            </a:r>
            <a:endParaRPr b="0" i="0" sz="2400" u="none" cap="none" strike="noStrike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2" marL="1143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another thread performs its critical section on another processor.</a:t>
            </a:r>
            <a:endParaRPr b="0" i="0" sz="2400" u="none" cap="none" strike="noStrike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4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141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Busy Waiting</a:t>
            </a:r>
            <a:endParaRPr sz="3200"/>
          </a:p>
        </p:txBody>
      </p:sp>
      <p:pic>
        <p:nvPicPr>
          <p:cNvPr id="2196" name="Google Shape;2196;p1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7" name="Google Shape;2197;p1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198" name="Google Shape;2198;p141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99" name="Google Shape;2199;p141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200" name="Google Shape;2200;p1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201" name="Google Shape;2201;p1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202" name="Google Shape;2202;p1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03" name="Google Shape;2203;p1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4" name="Google Shape;2204;p141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5" name="Google Shape;2205;p141"/>
          <p:cNvSpPr/>
          <p:nvPr/>
        </p:nvSpPr>
        <p:spPr>
          <a:xfrm>
            <a:off x="900753" y="1201132"/>
            <a:ext cx="9184944" cy="2599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Little busy waiting if critical section rarely occupied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Note that applications </a:t>
            </a:r>
            <a:r>
              <a:rPr lang="en-US" sz="24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may spend lots of time in critical sections and therefore this is not a good solution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9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p142"/>
          <p:cNvSpPr txBox="1"/>
          <p:nvPr>
            <p:ph type="title"/>
          </p:nvPr>
        </p:nvSpPr>
        <p:spPr>
          <a:xfrm>
            <a:off x="375710" y="1720410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Semaphore Implementation with no Busy waiting </a:t>
            </a:r>
            <a:endParaRPr sz="3200"/>
          </a:p>
        </p:txBody>
      </p:sp>
      <p:pic>
        <p:nvPicPr>
          <p:cNvPr id="2211" name="Google Shape;2211;p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2" name="Google Shape;2212;p1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213" name="Google Shape;2213;p142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214" name="Google Shape;2214;p142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215" name="Google Shape;2215;p1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216" name="Google Shape;2216;p1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217" name="Google Shape;2217;p1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18" name="Google Shape;2218;p1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2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" name="Google Shape;2223;p143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Semaphore Definition</a:t>
            </a:r>
            <a:endParaRPr sz="3200"/>
          </a:p>
        </p:txBody>
      </p:sp>
      <p:pic>
        <p:nvPicPr>
          <p:cNvPr id="2224" name="Google Shape;2224;p1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5" name="Google Shape;2225;p1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226" name="Google Shape;2226;p143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227" name="Google Shape;2227;p143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228" name="Google Shape;2228;p1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229" name="Google Shape;2229;p1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230" name="Google Shape;2230;p1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31" name="Google Shape;2231;p1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2" name="Google Shape;2232;p143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a semaphore as a "C' struct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semaphore has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an integer value </a:t>
            </a:r>
            <a:endParaRPr b="0" i="0" sz="24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 list of processes-”list” </a:t>
            </a:r>
            <a:endParaRPr/>
          </a:p>
        </p:txBody>
      </p:sp>
      <p:pic>
        <p:nvPicPr>
          <p:cNvPr id="2233" name="Google Shape;2233;p1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65750" y="3383079"/>
            <a:ext cx="4805757" cy="1652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7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144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Semaphore Definition</a:t>
            </a:r>
            <a:endParaRPr sz="3200"/>
          </a:p>
        </p:txBody>
      </p:sp>
      <p:pic>
        <p:nvPicPr>
          <p:cNvPr id="2239" name="Google Shape;2239;p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0" name="Google Shape;2240;p1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241" name="Google Shape;2241;p144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242" name="Google Shape;2242;p144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243" name="Google Shape;2243;p1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244" name="Google Shape;2244;p1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245" name="Google Shape;2245;p1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46" name="Google Shape;2246;p1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7" name="Google Shape;2247;p144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each semaphore there is an associated waiting queue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entry in a waiting queue has two data items: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value (of type integer)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pointer to next record in the list</a:t>
            </a:r>
            <a:endParaRPr/>
          </a:p>
        </p:txBody>
      </p:sp>
      <p:pic>
        <p:nvPicPr>
          <p:cNvPr id="2248" name="Google Shape;2248;p1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15904" y="2872071"/>
            <a:ext cx="4949925" cy="1890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2" name="Shape 2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" name="Google Shape;2253;p145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Semaphore Definition</a:t>
            </a:r>
            <a:endParaRPr sz="3200"/>
          </a:p>
        </p:txBody>
      </p:sp>
      <p:pic>
        <p:nvPicPr>
          <p:cNvPr id="2254" name="Google Shape;2254;p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5" name="Google Shape;2255;p1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256" name="Google Shape;2256;p145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257" name="Google Shape;2257;p145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258" name="Google Shape;2258;p1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259" name="Google Shape;2259;p1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260" name="Google Shape;2260;p1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61" name="Google Shape;2261;p1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2" name="Google Shape;2262;p145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Wait()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 process must wait on a semaphore, it is </a:t>
            </a:r>
            <a:r>
              <a:rPr b="0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added to the list of processes. </a:t>
            </a:r>
            <a:endParaRPr b="0" i="0" sz="20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Signal()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signal() operation </a:t>
            </a:r>
            <a:r>
              <a:rPr b="0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removes one process from the list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waiting processes and awakens that process</a:t>
            </a:r>
            <a:endParaRPr/>
          </a:p>
        </p:txBody>
      </p:sp>
      <p:pic>
        <p:nvPicPr>
          <p:cNvPr id="2263" name="Google Shape;2263;p1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15904" y="2872071"/>
            <a:ext cx="4949925" cy="1890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7" name="Shape 2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8" name="Google Shape;2268;p146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Implementation with no busy waiting</a:t>
            </a:r>
            <a:endParaRPr sz="3200"/>
          </a:p>
        </p:txBody>
      </p:sp>
      <p:pic>
        <p:nvPicPr>
          <p:cNvPr id="2269" name="Google Shape;2269;p1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0" name="Google Shape;2270;p1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271" name="Google Shape;2271;p14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272" name="Google Shape;2272;p146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273" name="Google Shape;2273;p1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274" name="Google Shape;2274;p1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275" name="Google Shape;2275;p1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76" name="Google Shape;2276;p1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7" name="Google Shape;2277;p146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modify the definition of the wait() and signal() semaphore operations.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 process executes the wait () operation and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finds that the semaphore value is not positive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it must wait.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Rather than busy waiting, the process can </a:t>
            </a:r>
            <a:r>
              <a:rPr i="1"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block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itself.</a:t>
            </a:r>
            <a:endParaRPr sz="20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8" name="Google Shape;2278;p146"/>
          <p:cNvSpPr/>
          <p:nvPr/>
        </p:nvSpPr>
        <p:spPr>
          <a:xfrm>
            <a:off x="669758" y="1733266"/>
            <a:ext cx="10999078" cy="955343"/>
          </a:xfrm>
          <a:prstGeom prst="rect">
            <a:avLst/>
          </a:prstGeom>
          <a:noFill/>
          <a:ln cap="flat" cmpd="sng" w="12700">
            <a:solidFill>
              <a:srgbClr val="85351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2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Google Shape;2283;p147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Implementation with no busy waiting</a:t>
            </a:r>
            <a:endParaRPr sz="3200"/>
          </a:p>
        </p:txBody>
      </p:sp>
      <p:pic>
        <p:nvPicPr>
          <p:cNvPr id="2284" name="Google Shape;2284;p1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5" name="Google Shape;2285;p1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286" name="Google Shape;2286;p147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287" name="Google Shape;2287;p147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288" name="Google Shape;2288;p1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289" name="Google Shape;2289;p1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290" name="Google Shape;2290;p1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91" name="Google Shape;2291;p1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2" name="Google Shape;2292;p147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operations: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66FF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block</a:t>
            </a:r>
            <a:r>
              <a:rPr b="0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wakeup</a:t>
            </a:r>
            <a:endParaRPr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6" name="Shape 2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Google Shape;2297;p148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Implementation with no busy waiting</a:t>
            </a:r>
            <a:endParaRPr sz="3200"/>
          </a:p>
        </p:txBody>
      </p:sp>
      <p:pic>
        <p:nvPicPr>
          <p:cNvPr id="2298" name="Google Shape;2298;p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9" name="Google Shape;2299;p1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300" name="Google Shape;2300;p148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301" name="Google Shape;2301;p148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302" name="Google Shape;2302;p1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303" name="Google Shape;2303;p1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304" name="Google Shape;2304;p1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305" name="Google Shape;2305;p1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6" name="Google Shape;2306;p148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operations: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66FF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block</a:t>
            </a:r>
            <a:r>
              <a:rPr b="0" i="0" lang="en-US" sz="2400" u="none" cap="none" strike="noStrike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block() operation suspends the process that invokes it.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place the process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invoking the operation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on the waiting queue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associated with the semaphore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state of the process is switched to the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waiting state. </a:t>
            </a:r>
            <a:endParaRPr b="0" i="0" sz="24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transferred to the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CPU scheduler, which selects another process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execute.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0" name="Shape 2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Google Shape;2311;p149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Implementation with no busy waiting</a:t>
            </a:r>
            <a:endParaRPr sz="3200"/>
          </a:p>
        </p:txBody>
      </p:sp>
      <p:pic>
        <p:nvPicPr>
          <p:cNvPr id="2312" name="Google Shape;2312;p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3" name="Google Shape;2313;p1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314" name="Google Shape;2314;p149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315" name="Google Shape;2315;p149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316" name="Google Shape;2316;p1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317" name="Google Shape;2317;p1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318" name="Google Shape;2318;p1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319" name="Google Shape;2319;p1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20" name="Google Shape;2320;p149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wakeup</a:t>
            </a:r>
            <a:r>
              <a:rPr lang="en-US" sz="28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process that is blocked, waiting on a semaphore S,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should be restarted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some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other process executes a signal()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process is restarted by a wakeup () operation</a:t>
            </a:r>
            <a:endParaRPr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4" name="Shape 2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5" name="Google Shape;2325;p150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Implementation with no busy waiting</a:t>
            </a:r>
            <a:endParaRPr sz="3200"/>
          </a:p>
        </p:txBody>
      </p:sp>
      <p:pic>
        <p:nvPicPr>
          <p:cNvPr id="2326" name="Google Shape;2326;p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7" name="Google Shape;2327;p1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328" name="Google Shape;2328;p150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329" name="Google Shape;2329;p150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330" name="Google Shape;2330;p1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331" name="Google Shape;2331;p1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332" name="Google Shape;2332;p1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333" name="Google Shape;2333;p1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4" name="Google Shape;2334;p150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wakeup</a:t>
            </a:r>
            <a:r>
              <a:rPr lang="en-US" sz="28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wakeup(P) operation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resumes the execution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a blocked process P.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 one of processes in the waiting queue and place it in the ready queue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Changes the process state from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waiting to ready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two operations are provided by the operating system as basic system calls.</a:t>
            </a:r>
            <a:endParaRPr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8" name="Shape 2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Google Shape;2339;p151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Implementation with no busy waiting</a:t>
            </a:r>
            <a:endParaRPr sz="3200"/>
          </a:p>
        </p:txBody>
      </p:sp>
      <p:pic>
        <p:nvPicPr>
          <p:cNvPr id="2340" name="Google Shape;2340;p1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1" name="Google Shape;2341;p1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342" name="Google Shape;2342;p151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343" name="Google Shape;2343;p151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344" name="Google Shape;2344;p1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345" name="Google Shape;2345;p1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346" name="Google Shape;2346;p1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347" name="Google Shape;2347;p1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8" name="Google Shape;2348;p151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76200" lvl="1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9" name="Google Shape;2349;p1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29565" y="1528549"/>
            <a:ext cx="4794344" cy="3257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0" name="Google Shape;2350;p15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10369" y="1705970"/>
            <a:ext cx="4274463" cy="3183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1" name="Google Shape;2351;p15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204826" y="4785716"/>
            <a:ext cx="3737680" cy="1427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5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152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Implementation with no busy waiting</a:t>
            </a:r>
            <a:endParaRPr sz="3200"/>
          </a:p>
        </p:txBody>
      </p:sp>
      <p:pic>
        <p:nvPicPr>
          <p:cNvPr id="2357" name="Google Shape;2357;p1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8" name="Google Shape;2358;p1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359" name="Google Shape;2359;p152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360" name="Google Shape;2360;p152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361" name="Google Shape;2361;p1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362" name="Google Shape;2362;p1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363" name="Google Shape;2363;p1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364" name="Google Shape;2364;p1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65" name="Google Shape;2365;p152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Semaphore values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may be negative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 semaphore value is negative, its magnitude is the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no of processes waiting on that semaphore.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Binary Semaphore values are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never negative under the classical definition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semaphores with busy waiting. 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9" name="Shape 2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0" name="Google Shape;2370;p153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Implementation with no busy waiting</a:t>
            </a:r>
            <a:endParaRPr sz="3200"/>
          </a:p>
        </p:txBody>
      </p:sp>
      <p:pic>
        <p:nvPicPr>
          <p:cNvPr id="2371" name="Google Shape;2371;p1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2" name="Google Shape;2372;p1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373" name="Google Shape;2373;p153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374" name="Google Shape;2374;p153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375" name="Google Shape;2375;p1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376" name="Google Shape;2376;p1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377" name="Google Shape;2377;p1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378" name="Google Shape;2378;p1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9" name="Google Shape;2379;p153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list of waiting processes can be easily implemented by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 link field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each process control block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(PCB). </a:t>
            </a:r>
            <a:endParaRPr b="0" i="0" sz="24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semaphore contains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integer value and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pointer to a list of PCBs.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3" name="Shape 2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4" name="Google Shape;2384;p154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Implementation with no busy waiting</a:t>
            </a:r>
            <a:endParaRPr sz="3200"/>
          </a:p>
        </p:txBody>
      </p:sp>
      <p:pic>
        <p:nvPicPr>
          <p:cNvPr id="2385" name="Google Shape;2385;p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6" name="Google Shape;2386;p1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387" name="Google Shape;2387;p154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388" name="Google Shape;2388;p154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389" name="Google Shape;2389;p1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390" name="Google Shape;2390;p1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391" name="Google Shape;2391;p1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392" name="Google Shape;2392;p1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3" name="Google Shape;2393;p154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way to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add and remove processes from the list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as to ensure bounded waiting is to use a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FIFO queue, </a:t>
            </a:r>
            <a:endParaRPr b="0" i="0" sz="24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the semaphore contains both head and tail pointers to the queue.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general, the list can use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queueing strategy.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7" name="Shape 2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8" name="Google Shape;2398;p155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Deadlock and Starvation</a:t>
            </a:r>
            <a:endParaRPr sz="3200"/>
          </a:p>
        </p:txBody>
      </p:sp>
      <p:pic>
        <p:nvPicPr>
          <p:cNvPr id="2399" name="Google Shape;2399;p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0" name="Google Shape;2400;p1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401" name="Google Shape;2401;p155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402" name="Google Shape;2402;p155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403" name="Google Shape;2403;p1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404" name="Google Shape;2404;p1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405" name="Google Shape;2405;p1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406" name="Google Shape;2406;p1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7" name="Google Shape;2407;p155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Deadlock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two or more processes are waiting indefinitely for an event that can be caused by only one of the waiting processes</a:t>
            </a:r>
            <a:endParaRPr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1" name="Shape 2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2" name="Google Shape;2412;p156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Deadlock and Starvation</a:t>
            </a:r>
            <a:endParaRPr sz="3200"/>
          </a:p>
        </p:txBody>
      </p:sp>
      <p:pic>
        <p:nvPicPr>
          <p:cNvPr id="2413" name="Google Shape;2413;p1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4" name="Google Shape;2414;p1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415" name="Google Shape;2415;p15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416" name="Google Shape;2416;p156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417" name="Google Shape;2417;p1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418" name="Google Shape;2418;p1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419" name="Google Shape;2419;p1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420" name="Google Shape;2420;p1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1" name="Google Shape;2421;p156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event in question is execution of signal operation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Let </a:t>
            </a:r>
            <a:r>
              <a:rPr b="1" i="1" lang="en-US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</a:t>
            </a:r>
            <a:r>
              <a:rPr b="1" lang="en-US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1" lang="en-US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Q</a:t>
            </a:r>
            <a:r>
              <a:rPr b="1" lang="en-US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semaphores initialized to 1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	        P</a:t>
            </a:r>
            <a:r>
              <a:rPr baseline="-2500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                            </a:t>
            </a:r>
            <a:r>
              <a:rPr i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    </a:t>
            </a: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wait(S); 	              wait(Q);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     wait(Q); 	              wait(S);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 ...		     ...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     signal(S);                 signal(Q);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signal(Q);                 signal(S);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422" name="Google Shape;2422;p1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07020" y="1778858"/>
            <a:ext cx="3784979" cy="2571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6" name="Shape 2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7" name="Google Shape;2427;p157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Deadlock and Starvation</a:t>
            </a:r>
            <a:endParaRPr sz="3200"/>
          </a:p>
        </p:txBody>
      </p:sp>
      <p:pic>
        <p:nvPicPr>
          <p:cNvPr id="2428" name="Google Shape;2428;p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9" name="Google Shape;2429;p1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430" name="Google Shape;2430;p157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431" name="Google Shape;2431;p157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432" name="Google Shape;2432;p1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433" name="Google Shape;2433;p1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434" name="Google Shape;2434;p1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435" name="Google Shape;2435;p1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36" name="Google Shape;2436;p157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	        P</a:t>
            </a:r>
            <a:r>
              <a:rPr baseline="-2500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                            </a:t>
            </a:r>
            <a:r>
              <a:rPr i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aseline="-2500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 </a:t>
            </a: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wait(S); 	              wait(Q);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     wait(Q); 	              wait(S);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 ...		     ...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     signal(S);                 		signal(Q);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signal(Q);                 		signal(S);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P0 executes wait(S) then P1 executes wait(Q)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When P0 executes wait(Q), it must wait until P1 executes signal(Q)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When P1 executes wait(S), it must wait until P0 executes signal (S)</a:t>
            </a:r>
            <a:endParaRPr/>
          </a:p>
          <a:p>
            <a:pPr indent="-101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437" name="Google Shape;2437;p157"/>
          <p:cNvCxnSpPr/>
          <p:nvPr/>
        </p:nvCxnSpPr>
        <p:spPr>
          <a:xfrm>
            <a:off x="3603009" y="1992573"/>
            <a:ext cx="2115403" cy="61414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2438" name="Google Shape;2438;p157"/>
          <p:cNvCxnSpPr/>
          <p:nvPr/>
        </p:nvCxnSpPr>
        <p:spPr>
          <a:xfrm flipH="1">
            <a:off x="3807725" y="1992573"/>
            <a:ext cx="2415983" cy="61414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2" name="Shape 2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3" name="Google Shape;2443;p158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Deadlock and Starvation</a:t>
            </a:r>
            <a:endParaRPr sz="3200"/>
          </a:p>
        </p:txBody>
      </p:sp>
      <p:pic>
        <p:nvPicPr>
          <p:cNvPr id="2444" name="Google Shape;2444;p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5" name="Google Shape;2445;p1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446" name="Google Shape;2446;p158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447" name="Google Shape;2447;p158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448" name="Google Shape;2448;p1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449" name="Google Shape;2449;p1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450" name="Google Shape;2450;p1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451" name="Google Shape;2451;p1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52" name="Google Shape;2452;p158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 b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53" name="Google Shape;2453;p158"/>
          <p:cNvSpPr/>
          <p:nvPr/>
        </p:nvSpPr>
        <p:spPr>
          <a:xfrm>
            <a:off x="996285" y="1263907"/>
            <a:ext cx="9988545" cy="2529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3366FF"/>
                </a:solidFill>
                <a:latin typeface="Marcellus"/>
                <a:ea typeface="Marcellus"/>
                <a:cs typeface="Marcellus"/>
                <a:sym typeface="Marcellus"/>
              </a:rPr>
              <a:t>Deadlock-Every process in the set is waiting for an event that can be caused only by another waiting process in the set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3366FF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3366FF"/>
                </a:solidFill>
                <a:latin typeface="Marcellus"/>
                <a:ea typeface="Marcellus"/>
                <a:cs typeface="Marcellus"/>
                <a:sym typeface="Marcellus"/>
              </a:rPr>
              <a:t>Starvation 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– </a:t>
            </a:r>
            <a:r>
              <a:rPr lang="en-US" sz="2400">
                <a:solidFill>
                  <a:srgbClr val="3366FF"/>
                </a:solidFill>
                <a:latin typeface="Marcellus"/>
                <a:ea typeface="Marcellus"/>
                <a:cs typeface="Marcellus"/>
                <a:sym typeface="Marcellus"/>
              </a:rPr>
              <a:t>indefinite blocking  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 process may never be removed from the semaphore queue in which it is suspended</a:t>
            </a:r>
            <a:endParaRPr/>
          </a:p>
          <a:p>
            <a:pPr indent="-1905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3366FF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7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" name="Google Shape;2458;p159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Classical Problems of Synchronization</a:t>
            </a:r>
            <a:endParaRPr sz="3200"/>
          </a:p>
        </p:txBody>
      </p:sp>
      <p:pic>
        <p:nvPicPr>
          <p:cNvPr id="2459" name="Google Shape;2459;p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0" name="Google Shape;2460;p1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461" name="Google Shape;2461;p159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462" name="Google Shape;2462;p159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463" name="Google Shape;2463;p1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464" name="Google Shape;2464;p1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465" name="Google Shape;2465;p1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466" name="Google Shape;2466;p1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67" name="Google Shape;2467;p159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 b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68" name="Google Shape;2468;p159"/>
          <p:cNvSpPr/>
          <p:nvPr/>
        </p:nvSpPr>
        <p:spPr>
          <a:xfrm>
            <a:off x="996285" y="1263907"/>
            <a:ext cx="9988545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Classical problems used to test newly-proposed synchronization schemes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Bounded-Buffer Problem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Readers and Writers Problem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Dining-Philosophers Problem</a:t>
            </a:r>
            <a:endParaRPr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2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p160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Semaphore Solution to Bounded-Buffer Problem</a:t>
            </a:r>
            <a:endParaRPr sz="3200"/>
          </a:p>
        </p:txBody>
      </p:sp>
      <p:pic>
        <p:nvPicPr>
          <p:cNvPr id="2474" name="Google Shape;2474;p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5" name="Google Shape;2475;p1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476" name="Google Shape;2476;p160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477" name="Google Shape;2477;p160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478" name="Google Shape;2478;p1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479" name="Google Shape;2479;p1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480" name="Google Shape;2480;p1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481" name="Google Shape;2481;p1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2" name="Google Shape;2482;p160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 b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6" name="Shape 2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7" name="Google Shape;2487;p161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Bounded-Buffer Problem</a:t>
            </a:r>
            <a:endParaRPr sz="3200"/>
          </a:p>
        </p:txBody>
      </p:sp>
      <p:pic>
        <p:nvPicPr>
          <p:cNvPr id="2488" name="Google Shape;2488;p1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9" name="Google Shape;2489;p1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490" name="Google Shape;2490;p161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491" name="Google Shape;2491;p161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492" name="Google Shape;2492;p1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493" name="Google Shape;2493;p1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494" name="Google Shape;2494;p1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495" name="Google Shape;2495;p1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96" name="Google Shape;2496;p161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 b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97" name="Google Shape;2497;p161"/>
          <p:cNvSpPr/>
          <p:nvPr/>
        </p:nvSpPr>
        <p:spPr>
          <a:xfrm>
            <a:off x="996284" y="911159"/>
            <a:ext cx="9988545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i="1"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n</a:t>
            </a: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buffers, each can hold one item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Semaphore </a:t>
            </a:r>
            <a:r>
              <a:rPr lang="en-US" sz="24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mutex</a:t>
            </a: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 </a:t>
            </a:r>
            <a:r>
              <a:rPr lang="en-US" sz="24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-&gt;Binary Semaphore </a:t>
            </a:r>
            <a:endParaRPr sz="24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Provides mutual exclusion for access to the buffer pool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i</a:t>
            </a: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nitialized to the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value 1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Semaphore </a:t>
            </a:r>
            <a:r>
              <a:rPr lang="en-US" sz="24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full</a:t>
            </a:r>
            <a:r>
              <a:rPr lang="en-US" sz="2400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 </a:t>
            </a:r>
            <a:r>
              <a:rPr lang="en-US" sz="24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-&gt;Counting Semaphore</a:t>
            </a:r>
            <a:endParaRPr sz="24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Counts no of full buffers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initialized </a:t>
            </a: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to the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value 0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Semaphore </a:t>
            </a:r>
            <a:r>
              <a:rPr lang="en-US" sz="24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empty -&gt;Counting Semaphore</a:t>
            </a:r>
            <a:endParaRPr sz="24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Counts no of empty buffers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initialized </a:t>
            </a: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to the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value n</a:t>
            </a:r>
            <a:endParaRPr/>
          </a:p>
          <a:p>
            <a:pPr indent="-1333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Assuming Buffer is empty</a:t>
            </a:r>
            <a:endParaRPr b="0" i="0" sz="2400" u="none" cap="none" strike="noStrike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1" name="Shape 2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2" name="Google Shape;2502;p162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Bounded-Buffer Problem</a:t>
            </a:r>
            <a:endParaRPr sz="3200"/>
          </a:p>
        </p:txBody>
      </p:sp>
      <p:pic>
        <p:nvPicPr>
          <p:cNvPr id="2503" name="Google Shape;2503;p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4" name="Google Shape;2504;p1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505" name="Google Shape;2505;p162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506" name="Google Shape;2506;p162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507" name="Google Shape;2507;p1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508" name="Google Shape;2508;p1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509" name="Google Shape;2509;p1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510" name="Google Shape;2510;p1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1" name="Google Shape;2511;p162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 b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12" name="Google Shape;2512;p162"/>
          <p:cNvSpPr txBox="1"/>
          <p:nvPr/>
        </p:nvSpPr>
        <p:spPr>
          <a:xfrm>
            <a:off x="1219200" y="953778"/>
            <a:ext cx="104648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structure of the producer process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 {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...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/* produce an item in next_produced */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...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wait(empty);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wait(mutex);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...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/* add next produced to the buffer */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...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signal(mutex);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signal(full);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} while (true);</a:t>
            </a:r>
            <a:b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13" name="Google Shape;2513;p162"/>
          <p:cNvSpPr/>
          <p:nvPr/>
        </p:nvSpPr>
        <p:spPr>
          <a:xfrm>
            <a:off x="7478973" y="1263907"/>
            <a:ext cx="3505857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Semaphore 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mutex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nitialized to the value 1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Semaphore full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initialized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the value 0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Semaphore 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empty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initialized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the value n</a:t>
            </a:r>
            <a:endParaRPr/>
          </a:p>
        </p:txBody>
      </p:sp>
      <p:sp>
        <p:nvSpPr>
          <p:cNvPr id="2514" name="Google Shape;2514;p162"/>
          <p:cNvSpPr/>
          <p:nvPr/>
        </p:nvSpPr>
        <p:spPr>
          <a:xfrm>
            <a:off x="8188432" y="3483412"/>
            <a:ext cx="2007088" cy="193899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wait(S)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S &lt;=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 II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no-op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s--;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8" name="Shape 2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" name="Google Shape;2519;p163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Bounded-Buffer Problem</a:t>
            </a:r>
            <a:endParaRPr sz="3200"/>
          </a:p>
        </p:txBody>
      </p:sp>
      <p:pic>
        <p:nvPicPr>
          <p:cNvPr id="2520" name="Google Shape;2520;p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1" name="Google Shape;2521;p1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522" name="Google Shape;2522;p163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523" name="Google Shape;2523;p163"/>
          <p:cNvSpPr txBox="1"/>
          <p:nvPr/>
        </p:nvSpPr>
        <p:spPr>
          <a:xfrm>
            <a:off x="669758" y="1018910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524" name="Google Shape;2524;p16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525" name="Google Shape;2525;p1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526" name="Google Shape;2526;p1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527" name="Google Shape;2527;p1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8" name="Google Shape;2528;p163"/>
          <p:cNvSpPr txBox="1"/>
          <p:nvPr/>
        </p:nvSpPr>
        <p:spPr>
          <a:xfrm>
            <a:off x="1310185" y="953778"/>
            <a:ext cx="9827047" cy="4487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 b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29" name="Google Shape;2529;p163"/>
          <p:cNvSpPr txBox="1"/>
          <p:nvPr/>
        </p:nvSpPr>
        <p:spPr>
          <a:xfrm>
            <a:off x="1219200" y="953778"/>
            <a:ext cx="104648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structure of the producer process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 {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...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/* produce an item in next_produced */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...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wait(empty);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wait(mutex);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...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/* add next produced to the buffer */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...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signal(mutex);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signal(full);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} while (true);</a:t>
            </a:r>
            <a:b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30" name="Google Shape;2530;p163"/>
          <p:cNvSpPr/>
          <p:nvPr/>
        </p:nvSpPr>
        <p:spPr>
          <a:xfrm>
            <a:off x="7478973" y="1263907"/>
            <a:ext cx="35058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Mutual Exclusion?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1" name="Google Shape;2531;p163"/>
          <p:cNvSpPr/>
          <p:nvPr/>
        </p:nvSpPr>
        <p:spPr>
          <a:xfrm>
            <a:off x="8188432" y="3483412"/>
            <a:ext cx="2007088" cy="193899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wait(S)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S &lt;=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 II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no-op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s--;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5" name="Shape 2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6" name="Google Shape;2536;p164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Bounded-Buffer Problem</a:t>
            </a:r>
            <a:endParaRPr sz="3200"/>
          </a:p>
        </p:txBody>
      </p:sp>
      <p:pic>
        <p:nvPicPr>
          <p:cNvPr id="2537" name="Google Shape;2537;p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8" name="Google Shape;2538;p1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539" name="Google Shape;2539;p164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540" name="Google Shape;2540;p164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541" name="Google Shape;2541;p1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542" name="Google Shape;2542;p1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543" name="Google Shape;2543;p1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544" name="Google Shape;2544;p1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45" name="Google Shape;2545;p164"/>
          <p:cNvSpPr txBox="1"/>
          <p:nvPr/>
        </p:nvSpPr>
        <p:spPr>
          <a:xfrm>
            <a:off x="1119717" y="969726"/>
            <a:ext cx="104648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866" lvl="0" marL="34286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structure of the consumer process</a:t>
            </a:r>
            <a:endParaRPr/>
          </a:p>
          <a:p>
            <a:pPr indent="-241265" lvl="0" marL="342866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 {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wait(full);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wait(mutex);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...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/* remove an item from buffer to next_consumed */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...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signal(mutex);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signal(empty);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...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/* consume the item in next consumed */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...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} while (true); </a:t>
            </a:r>
            <a:endParaRPr/>
          </a:p>
          <a:p>
            <a:pPr indent="-342866" lvl="0" marL="342866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6" name="Google Shape;2546;p164"/>
          <p:cNvSpPr/>
          <p:nvPr/>
        </p:nvSpPr>
        <p:spPr>
          <a:xfrm>
            <a:off x="8078660" y="1245845"/>
            <a:ext cx="3505857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Semaphore 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mutex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nitialized to the value 1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Semaphore full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initialized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the value 0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Semaphore 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empty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initialized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the value n</a:t>
            </a:r>
            <a:endParaRPr/>
          </a:p>
        </p:txBody>
      </p:sp>
      <p:sp>
        <p:nvSpPr>
          <p:cNvPr id="2547" name="Google Shape;2547;p164"/>
          <p:cNvSpPr/>
          <p:nvPr/>
        </p:nvSpPr>
        <p:spPr>
          <a:xfrm>
            <a:off x="8188432" y="3483412"/>
            <a:ext cx="2007088" cy="193899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wait(S)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S &lt;=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 II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no-op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s--;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2" name="Google Shape;2552;p165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Bounded-Buffer Problem</a:t>
            </a:r>
            <a:endParaRPr sz="3200"/>
          </a:p>
        </p:txBody>
      </p:sp>
      <p:pic>
        <p:nvPicPr>
          <p:cNvPr id="2553" name="Google Shape;2553;p1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4" name="Google Shape;2554;p1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555" name="Google Shape;2555;p165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556" name="Google Shape;2556;p165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557" name="Google Shape;2557;p1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558" name="Google Shape;2558;p1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559" name="Google Shape;2559;p1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560" name="Google Shape;2560;p1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61" name="Google Shape;2561;p165"/>
          <p:cNvSpPr txBox="1"/>
          <p:nvPr/>
        </p:nvSpPr>
        <p:spPr>
          <a:xfrm>
            <a:off x="1119717" y="969726"/>
            <a:ext cx="104648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866" lvl="0" marL="34286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structure of the consumer process</a:t>
            </a:r>
            <a:endParaRPr/>
          </a:p>
          <a:p>
            <a:pPr indent="-241265" lvl="0" marL="342866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 {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wait(full);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wait(mutex);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...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/* remove an item from buffer to next_consumed */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...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signal(mutex);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signal(empty);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...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/* consume the item in next consumed */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...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} while (true); </a:t>
            </a:r>
            <a:endParaRPr/>
          </a:p>
          <a:p>
            <a:pPr indent="-342866" lvl="0" marL="342866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2" name="Google Shape;2562;p165"/>
          <p:cNvSpPr/>
          <p:nvPr/>
        </p:nvSpPr>
        <p:spPr>
          <a:xfrm>
            <a:off x="8188432" y="3483412"/>
            <a:ext cx="2007088" cy="193899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wait(S)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S &lt;=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 II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no-op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s--;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2563" name="Google Shape;2563;p165"/>
          <p:cNvSpPr/>
          <p:nvPr/>
        </p:nvSpPr>
        <p:spPr>
          <a:xfrm>
            <a:off x="7478973" y="1263907"/>
            <a:ext cx="35058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Mutual Exclusion?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7" name="Shape 2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8" name="Google Shape;2568;p166"/>
          <p:cNvSpPr txBox="1"/>
          <p:nvPr>
            <p:ph type="title"/>
          </p:nvPr>
        </p:nvSpPr>
        <p:spPr>
          <a:xfrm>
            <a:off x="375710" y="-31968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Readers-Writers Problem</a:t>
            </a:r>
            <a:endParaRPr sz="3200"/>
          </a:p>
        </p:txBody>
      </p:sp>
      <p:pic>
        <p:nvPicPr>
          <p:cNvPr id="2569" name="Google Shape;2569;p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0" name="Google Shape;2570;p1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571" name="Google Shape;2571;p16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572" name="Google Shape;2572;p166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573" name="Google Shape;2573;p1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574" name="Google Shape;2574;p1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575" name="Google Shape;2575;p1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576" name="Google Shape;2576;p1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0" name="Shape 2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1" name="Google Shape;2581;p167"/>
          <p:cNvSpPr txBox="1"/>
          <p:nvPr>
            <p:ph type="title"/>
          </p:nvPr>
        </p:nvSpPr>
        <p:spPr>
          <a:xfrm>
            <a:off x="375710" y="-31968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Readers-Writers Problem</a:t>
            </a:r>
            <a:endParaRPr sz="3200"/>
          </a:p>
        </p:txBody>
      </p:sp>
      <p:pic>
        <p:nvPicPr>
          <p:cNvPr id="2582" name="Google Shape;2582;p1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3" name="Google Shape;2583;p1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584" name="Google Shape;2584;p167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585" name="Google Shape;2585;p167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586" name="Google Shape;2586;p16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587" name="Google Shape;2587;p1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588" name="Google Shape;2588;p1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589" name="Google Shape;2589;p1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90" name="Google Shape;2590;p167"/>
          <p:cNvSpPr txBox="1"/>
          <p:nvPr/>
        </p:nvSpPr>
        <p:spPr>
          <a:xfrm>
            <a:off x="1038052" y="696794"/>
            <a:ext cx="10488084" cy="5005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Synchronization Problem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Database/Data set/Object/File/Record is shared among a number of concurrent processes</a:t>
            </a:r>
            <a:endParaRPr/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Readers –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only read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data set; they do </a:t>
            </a:r>
            <a:r>
              <a:rPr b="1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 any updates</a:t>
            </a:r>
            <a:endParaRPr/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Writers   –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can both read and write i.e.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update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4" name="Shape 2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5" name="Google Shape;2595;p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6" name="Google Shape;2596;p1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597" name="Google Shape;2597;p168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598" name="Google Shape;2598;p168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599" name="Google Shape;2599;p1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600" name="Google Shape;2600;p1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601" name="Google Shape;2601;p1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602" name="Google Shape;2602;p1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3" name="Google Shape;2603;p168"/>
          <p:cNvSpPr txBox="1"/>
          <p:nvPr/>
        </p:nvSpPr>
        <p:spPr>
          <a:xfrm>
            <a:off x="1038052" y="696794"/>
            <a:ext cx="10488084" cy="5005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4" name="Google Shape;2604;p168"/>
          <p:cNvPicPr preferRelativeResize="0"/>
          <p:nvPr/>
        </p:nvPicPr>
        <p:blipFill rotWithShape="1">
          <a:blip r:embed="rId7">
            <a:alphaModFix/>
          </a:blip>
          <a:srcRect b="19960" l="4256" r="9868" t="2140"/>
          <a:stretch/>
        </p:blipFill>
        <p:spPr>
          <a:xfrm>
            <a:off x="1903686" y="232012"/>
            <a:ext cx="8565745" cy="5208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8" name="Shape 2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9" name="Google Shape;2609;p169"/>
          <p:cNvSpPr txBox="1"/>
          <p:nvPr>
            <p:ph type="title"/>
          </p:nvPr>
        </p:nvSpPr>
        <p:spPr>
          <a:xfrm>
            <a:off x="375710" y="-31968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Readers-Writers Problem</a:t>
            </a:r>
            <a:endParaRPr sz="3200"/>
          </a:p>
        </p:txBody>
      </p:sp>
      <p:pic>
        <p:nvPicPr>
          <p:cNvPr id="2610" name="Google Shape;2610;p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1" name="Google Shape;2611;p1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612" name="Google Shape;2612;p169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613" name="Google Shape;2613;p169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614" name="Google Shape;2614;p1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615" name="Google Shape;2615;p1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616" name="Google Shape;2616;p1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617" name="Google Shape;2617;p1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8" name="Google Shape;2618;p169"/>
          <p:cNvSpPr txBox="1"/>
          <p:nvPr/>
        </p:nvSpPr>
        <p:spPr>
          <a:xfrm>
            <a:off x="1038052" y="696794"/>
            <a:ext cx="10488084" cy="5005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–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 multiple readers to read at the same time, no adverse effects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 writer and some other process(reader/writer) access shared object simultaneously chaos may ensue</a:t>
            </a:r>
            <a:endParaRPr/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Writers must have exclusive access to the shared object</a:t>
            </a:r>
            <a:endParaRPr/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2" name="Shape 2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3" name="Google Shape;2623;p170"/>
          <p:cNvSpPr txBox="1"/>
          <p:nvPr>
            <p:ph type="title"/>
          </p:nvPr>
        </p:nvSpPr>
        <p:spPr>
          <a:xfrm>
            <a:off x="375710" y="-31968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Readers-Writers Problem</a:t>
            </a:r>
            <a:endParaRPr sz="3200"/>
          </a:p>
        </p:txBody>
      </p:sp>
      <p:pic>
        <p:nvPicPr>
          <p:cNvPr id="2624" name="Google Shape;2624;p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5" name="Google Shape;2625;p1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626" name="Google Shape;2626;p170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627" name="Google Shape;2627;p170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628" name="Google Shape;2628;p1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629" name="Google Shape;2629;p1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630" name="Google Shape;2630;p1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631" name="Google Shape;2631;p1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2" name="Google Shape;2632;p170"/>
          <p:cNvSpPr txBox="1"/>
          <p:nvPr/>
        </p:nvSpPr>
        <p:spPr>
          <a:xfrm>
            <a:off x="1038052" y="696794"/>
            <a:ext cx="10488084" cy="5005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–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R-W : Problem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W-R : Problem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W-W : Problem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R-R : No Problem</a:t>
            </a:r>
            <a:endParaRPr/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6" name="Shape 2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7" name="Google Shape;2637;p171"/>
          <p:cNvSpPr txBox="1"/>
          <p:nvPr>
            <p:ph type="title"/>
          </p:nvPr>
        </p:nvSpPr>
        <p:spPr>
          <a:xfrm>
            <a:off x="375710" y="0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Reader Writer Problem</a:t>
            </a:r>
            <a:endParaRPr/>
          </a:p>
        </p:txBody>
      </p:sp>
      <p:pic>
        <p:nvPicPr>
          <p:cNvPr id="2638" name="Google Shape;2638;p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9" name="Google Shape;2639;p1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640" name="Google Shape;2640;p171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641" name="Google Shape;2641;p171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642" name="Google Shape;2642;p1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643" name="Google Shape;2643;p1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644" name="Google Shape;2644;p1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645" name="Google Shape;2645;p1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46" name="Google Shape;2646;p171"/>
          <p:cNvSpPr txBox="1"/>
          <p:nvPr/>
        </p:nvSpPr>
        <p:spPr>
          <a:xfrm>
            <a:off x="1147234" y="945998"/>
            <a:ext cx="10488084" cy="5005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Several variations– all involving priorities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First Reader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Writer Problem-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reader will be kept waiting unless a writer has already obtained permission to use the shared object.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reader should wait for other readers to finish simply because a writer is waiting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Second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Reader Writer Problem-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 a writer is ready , that writer performs its write as soon as possible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 writer is waiting to access the object, no new readers may start reading</a:t>
            </a:r>
            <a:endParaRPr/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0" name="Shape 2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1" name="Google Shape;2651;p172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Solution to First Reader Writer Problem</a:t>
            </a:r>
            <a:endParaRPr/>
          </a:p>
        </p:txBody>
      </p:sp>
      <p:pic>
        <p:nvPicPr>
          <p:cNvPr id="2652" name="Google Shape;2652;p1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3" name="Google Shape;2653;p1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654" name="Google Shape;2654;p172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655" name="Google Shape;2655;p172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656" name="Google Shape;2656;p1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657" name="Google Shape;2657;p1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658" name="Google Shape;2658;p1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659" name="Google Shape;2659;p1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0" name="Google Shape;2660;p172"/>
          <p:cNvSpPr txBox="1"/>
          <p:nvPr/>
        </p:nvSpPr>
        <p:spPr>
          <a:xfrm>
            <a:off x="1147234" y="1111250"/>
            <a:ext cx="10488084" cy="5005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 Data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set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Semaphore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rw_mutex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Semaphore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mutex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read_count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4" name="Shape 2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5" name="Google Shape;2665;p173"/>
          <p:cNvSpPr txBox="1"/>
          <p:nvPr>
            <p:ph type="title"/>
          </p:nvPr>
        </p:nvSpPr>
        <p:spPr>
          <a:xfrm>
            <a:off x="375710" y="68240"/>
            <a:ext cx="11395912" cy="258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Readers-Writers Problem</a:t>
            </a:r>
            <a:endParaRPr sz="3200"/>
          </a:p>
        </p:txBody>
      </p:sp>
      <p:pic>
        <p:nvPicPr>
          <p:cNvPr id="2666" name="Google Shape;2666;p1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7" name="Google Shape;2667;p1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668" name="Google Shape;2668;p173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669" name="Google Shape;2669;p173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670" name="Google Shape;2670;p1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671" name="Google Shape;2671;p17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672" name="Google Shape;2672;p17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673" name="Google Shape;2673;p1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74" name="Google Shape;2674;p173"/>
          <p:cNvSpPr txBox="1"/>
          <p:nvPr/>
        </p:nvSpPr>
        <p:spPr>
          <a:xfrm>
            <a:off x="496748" y="263953"/>
            <a:ext cx="10488084" cy="46492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Semaphore</a:t>
            </a:r>
            <a:r>
              <a:rPr b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rw_mutex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Initialized to 1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Common to both reader and writers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Mutual Exclusion semaphore for the writers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Also used by 1</a:t>
            </a:r>
            <a:r>
              <a:rPr b="1" baseline="30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or Last Reader that enters or exits CS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is not used by readers who enter or exit while other readers are in their critical sections</a:t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Semaphore </a:t>
            </a:r>
            <a:r>
              <a:rPr b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mutex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Initialized to 1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ensure Mutual Exclusion when variable readcount is updated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 </a:t>
            </a:r>
            <a:r>
              <a:rPr b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read_count</a:t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Initialized to 0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Keeps a track of how many processes are currently reading the object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8" name="Shape 2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9" name="Google Shape;2679;p174"/>
          <p:cNvSpPr txBox="1"/>
          <p:nvPr>
            <p:ph type="title"/>
          </p:nvPr>
        </p:nvSpPr>
        <p:spPr>
          <a:xfrm>
            <a:off x="375710" y="0"/>
            <a:ext cx="11395912" cy="381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Readers-Writers Problem</a:t>
            </a:r>
            <a:endParaRPr sz="3200"/>
          </a:p>
        </p:txBody>
      </p:sp>
      <p:pic>
        <p:nvPicPr>
          <p:cNvPr id="2680" name="Google Shape;2680;p1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1" name="Google Shape;2681;p1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682" name="Google Shape;2682;p174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683" name="Google Shape;2683;p174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684" name="Google Shape;2684;p17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685" name="Google Shape;2685;p17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686" name="Google Shape;2686;p17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687" name="Google Shape;2687;p17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8" name="Google Shape;2688;p174"/>
          <p:cNvSpPr txBox="1"/>
          <p:nvPr/>
        </p:nvSpPr>
        <p:spPr>
          <a:xfrm>
            <a:off x="841266" y="572984"/>
            <a:ext cx="10813922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9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structure of a writer process</a:t>
            </a:r>
            <a:endParaRPr/>
          </a:p>
          <a:p>
            <a:pPr indent="-17907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7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do{</a:t>
            </a:r>
            <a:br>
              <a:rPr b="1" lang="en-US" sz="7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7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wait(rw_mutex);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7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</a:t>
            </a:r>
            <a:br>
              <a:rPr b="1" lang="en-US" sz="7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7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/* writing is performed */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7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7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signal(rw_mutex);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7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} while (true);</a:t>
            </a:r>
            <a:br>
              <a:rPr b="1" lang="en-US" sz="7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 sz="7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ct val="100000"/>
              <a:buFont typeface="Arial"/>
              <a:buNone/>
            </a:pPr>
            <a:r>
              <a:rPr lang="en-US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</p:txBody>
      </p:sp>
      <p:sp>
        <p:nvSpPr>
          <p:cNvPr id="2689" name="Google Shape;2689;p174"/>
          <p:cNvSpPr txBox="1"/>
          <p:nvPr/>
        </p:nvSpPr>
        <p:spPr>
          <a:xfrm>
            <a:off x="7683687" y="773205"/>
            <a:ext cx="4508311" cy="1208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Semaphore</a:t>
            </a: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rw_mutex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Mutual Exclusion for the writers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initialized to 1</a:t>
            </a:r>
            <a:endParaRPr/>
          </a:p>
          <a:p>
            <a:pPr indent="-1270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0" name="Google Shape;2690;p174"/>
          <p:cNvSpPr/>
          <p:nvPr/>
        </p:nvSpPr>
        <p:spPr>
          <a:xfrm>
            <a:off x="3192382" y="4497917"/>
            <a:ext cx="6096000" cy="1754326"/>
          </a:xfrm>
          <a:prstGeom prst="rect">
            <a:avLst/>
          </a:prstGeom>
          <a:gradFill>
            <a:gsLst>
              <a:gs pos="0">
                <a:srgbClr val="F9CA9D"/>
              </a:gs>
              <a:gs pos="50000">
                <a:srgbClr val="F7C18F"/>
              </a:gs>
              <a:gs pos="100000">
                <a:srgbClr val="FBBA7A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Writer process: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Writer requests the entry to critical section.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allowed i.e. wait() gives a true value, it enters and performs the write. If not allowed, it keeps on waiting.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allowed, Performs writing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exits the critical section.</a:t>
            </a:r>
            <a:endParaRPr/>
          </a:p>
        </p:txBody>
      </p:sp>
      <p:sp>
        <p:nvSpPr>
          <p:cNvPr id="2691" name="Google Shape;2691;p174"/>
          <p:cNvSpPr/>
          <p:nvPr/>
        </p:nvSpPr>
        <p:spPr>
          <a:xfrm>
            <a:off x="9288382" y="2315515"/>
            <a:ext cx="2007088" cy="193899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wait(S)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S &lt;=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 II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no-op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s--;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5" name="Shape 2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6" name="Google Shape;2696;p175"/>
          <p:cNvSpPr txBox="1"/>
          <p:nvPr>
            <p:ph type="title"/>
          </p:nvPr>
        </p:nvSpPr>
        <p:spPr>
          <a:xfrm>
            <a:off x="375710" y="0"/>
            <a:ext cx="11395912" cy="381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Readers-Writers Problem</a:t>
            </a:r>
            <a:endParaRPr sz="3200"/>
          </a:p>
        </p:txBody>
      </p:sp>
      <p:pic>
        <p:nvPicPr>
          <p:cNvPr id="2697" name="Google Shape;2697;p1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8" name="Google Shape;2698;p1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699" name="Google Shape;2699;p175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700" name="Google Shape;2700;p175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701" name="Google Shape;2701;p1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702" name="Google Shape;2702;p17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703" name="Google Shape;2703;p17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704" name="Google Shape;2704;p17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5" name="Google Shape;2705;p175"/>
          <p:cNvSpPr txBox="1"/>
          <p:nvPr/>
        </p:nvSpPr>
        <p:spPr>
          <a:xfrm>
            <a:off x="841266" y="572984"/>
            <a:ext cx="10813922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9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structure of a writer process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Char char="•"/>
            </a:pPr>
            <a:r>
              <a:rPr b="1" lang="en-US" sz="9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If a writer is in the critical section and n readers are waiting, </a:t>
            </a:r>
            <a:endParaRPr b="1" sz="9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Char char="•"/>
            </a:pPr>
            <a:r>
              <a:rPr b="1" i="0" lang="en-US" sz="9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then one reader is queued on </a:t>
            </a:r>
            <a:r>
              <a:rPr b="1" i="0" lang="en-US" sz="96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rw_mutex</a:t>
            </a:r>
            <a:r>
              <a:rPr b="1" i="0" lang="en-US" sz="9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, and n- 1 readers are queued on mutex. </a:t>
            </a:r>
            <a:endParaRPr b="1" i="0" sz="96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9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 writer executes signal (</a:t>
            </a:r>
            <a:r>
              <a:rPr b="1" lang="en-US" sz="9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rw_mutex</a:t>
            </a:r>
            <a:r>
              <a:rPr lang="en-US" sz="9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),</a:t>
            </a:r>
            <a:endParaRPr sz="9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Arial"/>
              <a:buChar char="•"/>
            </a:pPr>
            <a:r>
              <a:rPr b="1" i="0" lang="en-US" sz="9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It resumes the execution of either the waiting readers or a single waiting writer. </a:t>
            </a:r>
            <a:endParaRPr b="1" i="0" sz="9600" u="none" cap="none" strike="noStrik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Arial"/>
              <a:buChar char="•"/>
            </a:pPr>
            <a:r>
              <a:rPr b="1" i="0" lang="en-US" sz="96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The selection is made by the scheduler</a:t>
            </a:r>
            <a:endParaRPr b="1" i="0" sz="9600" u="none" cap="none" strike="noStrik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7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do{</a:t>
            </a:r>
            <a:br>
              <a:rPr b="1" lang="en-US" sz="7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7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wait(rw_mutex);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7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</a:t>
            </a:r>
            <a:br>
              <a:rPr b="1" lang="en-US" sz="7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7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/* writing is performed */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7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7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signal(rw_mutex);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7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} while (true);</a:t>
            </a:r>
            <a:br>
              <a:rPr b="1" lang="en-US" sz="7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 sz="7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2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ct val="100000"/>
              <a:buFont typeface="Arial"/>
              <a:buNone/>
            </a:pPr>
            <a:r>
              <a:rPr lang="en-US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</p:txBody>
      </p:sp>
      <p:sp>
        <p:nvSpPr>
          <p:cNvPr id="2706" name="Google Shape;2706;p175"/>
          <p:cNvSpPr txBox="1"/>
          <p:nvPr/>
        </p:nvSpPr>
        <p:spPr>
          <a:xfrm>
            <a:off x="7683688" y="3038733"/>
            <a:ext cx="4508311" cy="1208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Semaphore</a:t>
            </a: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rw_mutex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Mutual Exclusion for the writers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initialized to 1</a:t>
            </a:r>
            <a:endParaRPr/>
          </a:p>
          <a:p>
            <a:pPr indent="-1270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0" name="Shape 2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1" name="Google Shape;2711;p176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Readers-Writers Problem</a:t>
            </a:r>
            <a:endParaRPr sz="3200"/>
          </a:p>
        </p:txBody>
      </p:sp>
      <p:pic>
        <p:nvPicPr>
          <p:cNvPr id="2712" name="Google Shape;2712;p1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3" name="Google Shape;2713;p1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714" name="Google Shape;2714;p17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715" name="Google Shape;2715;p176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716" name="Google Shape;2716;p1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717" name="Google Shape;2717;p17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718" name="Google Shape;2718;p17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719" name="Google Shape;2719;p17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20" name="Google Shape;2720;p176"/>
          <p:cNvSpPr txBox="1"/>
          <p:nvPr/>
        </p:nvSpPr>
        <p:spPr>
          <a:xfrm>
            <a:off x="1121834" y="1076326"/>
            <a:ext cx="10329333" cy="5065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structure of a reader process</a:t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do {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wait(mutex);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read_count++;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if (read_count == 1)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wait(rw_mutex);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signal(mutex);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/* reading is performed */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wait(mutex);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read count--;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if (read_count == 0)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	signal(rw_mutex);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signal(mutex);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} while (true);</a:t>
            </a:r>
            <a:b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ct val="100000"/>
              <a:buFont typeface="Arial"/>
              <a:buNone/>
            </a:pPr>
            <a:r>
              <a:rPr lang="en-US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</p:txBody>
      </p:sp>
      <p:sp>
        <p:nvSpPr>
          <p:cNvPr id="2721" name="Google Shape;2721;p176"/>
          <p:cNvSpPr txBox="1"/>
          <p:nvPr/>
        </p:nvSpPr>
        <p:spPr>
          <a:xfrm>
            <a:off x="7547212" y="1111250"/>
            <a:ext cx="4088106" cy="5005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1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Semaphore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rw_mutex 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Mutual Exclusion for the writers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initialized to 1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Semaphore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mutex 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ME for readcount update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initialized to 1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read_count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initialized to 0</a:t>
            </a:r>
            <a:endParaRPr/>
          </a:p>
          <a:p>
            <a:pPr indent="-1397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5" name="Shape 2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6" name="Google Shape;2726;p177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Readers-Writers Problem</a:t>
            </a:r>
            <a:endParaRPr sz="3200"/>
          </a:p>
        </p:txBody>
      </p:sp>
      <p:pic>
        <p:nvPicPr>
          <p:cNvPr id="2727" name="Google Shape;2727;p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8" name="Google Shape;2728;p1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729" name="Google Shape;2729;p177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730" name="Google Shape;2730;p177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731" name="Google Shape;2731;p17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732" name="Google Shape;2732;p17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733" name="Google Shape;2733;p17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734" name="Google Shape;2734;p17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35" name="Google Shape;2735;p177"/>
          <p:cNvSpPr txBox="1"/>
          <p:nvPr/>
        </p:nvSpPr>
        <p:spPr>
          <a:xfrm>
            <a:off x="30013" y="876512"/>
            <a:ext cx="10329333" cy="5065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structure of a reader process</a:t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do {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wait(mutex);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read_count++;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if (read_count == 1)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wait(rw_mutex);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signal(mutex);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/* reading is performed */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wait(mutex);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read count--;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if (read_count == 0)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	signal(rw_mutex);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signal(mutex);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} while (true);</a:t>
            </a:r>
            <a:b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ct val="100000"/>
              <a:buFont typeface="Arial"/>
              <a:buNone/>
            </a:pPr>
            <a:r>
              <a:rPr lang="en-US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</p:txBody>
      </p:sp>
      <p:sp>
        <p:nvSpPr>
          <p:cNvPr id="2736" name="Google Shape;2736;p177"/>
          <p:cNvSpPr/>
          <p:nvPr/>
        </p:nvSpPr>
        <p:spPr>
          <a:xfrm>
            <a:off x="6073666" y="876512"/>
            <a:ext cx="6096000" cy="4708981"/>
          </a:xfrm>
          <a:prstGeom prst="rect">
            <a:avLst/>
          </a:prstGeom>
          <a:gradFill>
            <a:gsLst>
              <a:gs pos="0">
                <a:srgbClr val="F9CA9D"/>
              </a:gs>
              <a:gs pos="50000">
                <a:srgbClr val="F7C18F"/>
              </a:gs>
              <a:gs pos="100000">
                <a:srgbClr val="FBBA7A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Reader process: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Reader requests the entry to critical section.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allowed: 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increments the count of number of readers inside the critical section.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this reader is the first reader entering, it locks the rw_mutex semaphore to restrict the entry of writers if any reader is inside.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then, signals mutex as any other reader is allowed to enter while others are already reading.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0" name="Shape 2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1" name="Google Shape;2741;p178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Readers-Writers Problem</a:t>
            </a:r>
            <a:endParaRPr sz="3200"/>
          </a:p>
        </p:txBody>
      </p:sp>
      <p:pic>
        <p:nvPicPr>
          <p:cNvPr id="2742" name="Google Shape;2742;p1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3" name="Google Shape;2743;p1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744" name="Google Shape;2744;p178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745" name="Google Shape;2745;p178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746" name="Google Shape;2746;p17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747" name="Google Shape;2747;p17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748" name="Google Shape;2748;p17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749" name="Google Shape;2749;p17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50" name="Google Shape;2750;p178"/>
          <p:cNvSpPr txBox="1"/>
          <p:nvPr/>
        </p:nvSpPr>
        <p:spPr>
          <a:xfrm>
            <a:off x="30013" y="876512"/>
            <a:ext cx="10329333" cy="5065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structure of a reader process</a:t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do {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wait(mutex);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read_count++;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if (read_count == 1)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wait(rw_mutex);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signal(mutex);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/* reading is performed */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wait(mutex);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read count--;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if (read_count == 0)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	signal(rw_mutex);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signal(mutex);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} while (true);</a:t>
            </a:r>
            <a:b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ct val="100000"/>
              <a:buFont typeface="Arial"/>
              <a:buNone/>
            </a:pPr>
            <a:r>
              <a:rPr lang="en-US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</p:txBody>
      </p:sp>
      <p:sp>
        <p:nvSpPr>
          <p:cNvPr id="2751" name="Google Shape;2751;p178"/>
          <p:cNvSpPr/>
          <p:nvPr/>
        </p:nvSpPr>
        <p:spPr>
          <a:xfrm>
            <a:off x="6073666" y="876512"/>
            <a:ext cx="6096000" cy="3231654"/>
          </a:xfrm>
          <a:prstGeom prst="rect">
            <a:avLst/>
          </a:prstGeom>
          <a:gradFill>
            <a:gsLst>
              <a:gs pos="0">
                <a:srgbClr val="F9CA9D"/>
              </a:gs>
              <a:gs pos="50000">
                <a:srgbClr val="F7C18F"/>
              </a:gs>
              <a:gs pos="100000">
                <a:srgbClr val="FBBA7A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Reader process: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performing reading, it exits the critical section.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exiting, it checks if no more reader is inside, it signals the semaphore “rw_mutex” as now, writer can enter the critical section.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not allowed, it keeps on waiting.</a:t>
            </a:r>
            <a:endParaRPr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5" name="Shape 2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6" name="Google Shape;2756;p179"/>
          <p:cNvSpPr txBox="1"/>
          <p:nvPr>
            <p:ph type="title"/>
          </p:nvPr>
        </p:nvSpPr>
        <p:spPr>
          <a:xfrm>
            <a:off x="796088" y="0"/>
            <a:ext cx="11395912" cy="2039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Readers-Writers Problem</a:t>
            </a:r>
            <a:endParaRPr sz="3200"/>
          </a:p>
        </p:txBody>
      </p:sp>
      <p:pic>
        <p:nvPicPr>
          <p:cNvPr id="2757" name="Google Shape;2757;p1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8" name="Google Shape;2758;p1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759" name="Google Shape;2759;p179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760" name="Google Shape;2760;p179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761" name="Google Shape;2761;p17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762" name="Google Shape;2762;p17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763" name="Google Shape;2763;p17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764" name="Google Shape;2764;p17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5" name="Google Shape;2765;p179"/>
          <p:cNvSpPr txBox="1"/>
          <p:nvPr/>
        </p:nvSpPr>
        <p:spPr>
          <a:xfrm>
            <a:off x="275673" y="15542"/>
            <a:ext cx="10329333" cy="55142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structure of a reader process</a:t>
            </a:r>
            <a:endParaRPr sz="9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do {</a:t>
            </a:r>
            <a:b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wait(mutex);</a:t>
            </a:r>
            <a:b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read_count++;</a:t>
            </a:r>
            <a:b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if (read_count == 1)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wait(rw_mutex); //First reader sets rw_mutex=0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			   //So writer cannot enter CS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	//Following Readers need not enter if statement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     signal(mutex);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</a:t>
            </a:r>
            <a:b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/* reading is performed */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wait(mutex);</a:t>
            </a:r>
            <a:b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read count--;</a:t>
            </a:r>
            <a:b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if (read_count == 0)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	signal(rw_mutex); //now writers can write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		//accessed by last reader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signal(mutex);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} while (true);</a:t>
            </a:r>
            <a:b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9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" name="Google Shape;2770;p180"/>
          <p:cNvSpPr txBox="1"/>
          <p:nvPr>
            <p:ph type="title"/>
          </p:nvPr>
        </p:nvSpPr>
        <p:spPr>
          <a:xfrm>
            <a:off x="375710" y="-20518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R-W Problem </a:t>
            </a:r>
            <a:endParaRPr sz="3200"/>
          </a:p>
        </p:txBody>
      </p:sp>
      <p:pic>
        <p:nvPicPr>
          <p:cNvPr id="2771" name="Google Shape;2771;p1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2" name="Google Shape;2772;p1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773" name="Google Shape;2773;p180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774" name="Google Shape;2774;p180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775" name="Google Shape;2775;p18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776" name="Google Shape;2776;p18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777" name="Google Shape;2777;p18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778" name="Google Shape;2778;p18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79" name="Google Shape;2779;p180"/>
          <p:cNvSpPr txBox="1"/>
          <p:nvPr/>
        </p:nvSpPr>
        <p:spPr>
          <a:xfrm>
            <a:off x="204715" y="560597"/>
            <a:ext cx="4722125" cy="5065713"/>
          </a:xfrm>
          <a:prstGeom prst="rect">
            <a:avLst/>
          </a:prstGeom>
          <a:gradFill>
            <a:gsLst>
              <a:gs pos="0">
                <a:srgbClr val="A2D3E5"/>
              </a:gs>
              <a:gs pos="50000">
                <a:srgbClr val="94CCDF"/>
              </a:gs>
              <a:gs pos="100000">
                <a:srgbClr val="80C6DE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structure of a reader process</a:t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do {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wait(mutex);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read_count++;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if (read_count == 1)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wait(rw_mutex);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signal(mutex);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/* reading is performed */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wait(mutex);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read count--;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if (read_count == 0)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	signal(rw_mutex);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signal(mutex);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} while (true);</a:t>
            </a:r>
            <a:r>
              <a:rPr lang="en-US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  <p:sp>
        <p:nvSpPr>
          <p:cNvPr id="2780" name="Google Shape;2780;p180"/>
          <p:cNvSpPr txBox="1"/>
          <p:nvPr/>
        </p:nvSpPr>
        <p:spPr>
          <a:xfrm>
            <a:off x="4831307" y="866586"/>
            <a:ext cx="4088106" cy="5005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Reader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 readcount=0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Reader R1 tries to enter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 mutex so mutex=0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readcount=1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readcount is one i.e. First reader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 rw_mutex so rw_mutex=0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readcount updation finished so signal mutex, mutex=1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Reader enters CS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“Reader R1 is reading”</a:t>
            </a:r>
            <a:endParaRPr/>
          </a:p>
          <a:p>
            <a:pPr indent="-1143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1" name="Google Shape;2781;p180"/>
          <p:cNvSpPr/>
          <p:nvPr/>
        </p:nvSpPr>
        <p:spPr>
          <a:xfrm>
            <a:off x="4940488" y="4342947"/>
            <a:ext cx="6096000" cy="2062103"/>
          </a:xfrm>
          <a:prstGeom prst="rect">
            <a:avLst/>
          </a:prstGeom>
          <a:gradFill>
            <a:gsLst>
              <a:gs pos="0">
                <a:srgbClr val="F9CA9D"/>
              </a:gs>
              <a:gs pos="50000">
                <a:srgbClr val="F7C18F"/>
              </a:gs>
              <a:gs pos="100000">
                <a:srgbClr val="FBBA7A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do{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wait(rw_mutex);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/* writing is performed */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signal(rw_mutex);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} while (true);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82" name="Google Shape;2782;p180"/>
          <p:cNvSpPr txBox="1"/>
          <p:nvPr/>
        </p:nvSpPr>
        <p:spPr>
          <a:xfrm>
            <a:off x="8919413" y="806261"/>
            <a:ext cx="2740926" cy="5005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Writer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Writer tries to enter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executes his code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wait(rw_mutex)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gets trapped in infinite loop as rw_mutex was already 0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Writer cannot enter CS</a:t>
            </a:r>
            <a:endParaRPr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6" name="Shape 2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7" name="Google Shape;2787;p181"/>
          <p:cNvSpPr txBox="1"/>
          <p:nvPr>
            <p:ph type="title"/>
          </p:nvPr>
        </p:nvSpPr>
        <p:spPr>
          <a:xfrm>
            <a:off x="375710" y="-20518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W-R Problem </a:t>
            </a:r>
            <a:endParaRPr sz="3200"/>
          </a:p>
        </p:txBody>
      </p:sp>
      <p:pic>
        <p:nvPicPr>
          <p:cNvPr id="2788" name="Google Shape;2788;p1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9" name="Google Shape;2789;p1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790" name="Google Shape;2790;p181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791" name="Google Shape;2791;p181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792" name="Google Shape;2792;p18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793" name="Google Shape;2793;p18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794" name="Google Shape;2794;p18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795" name="Google Shape;2795;p18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96" name="Google Shape;2796;p181"/>
          <p:cNvSpPr txBox="1"/>
          <p:nvPr/>
        </p:nvSpPr>
        <p:spPr>
          <a:xfrm>
            <a:off x="204715" y="560597"/>
            <a:ext cx="4722125" cy="5065713"/>
          </a:xfrm>
          <a:prstGeom prst="rect">
            <a:avLst/>
          </a:prstGeom>
          <a:gradFill>
            <a:gsLst>
              <a:gs pos="0">
                <a:srgbClr val="A2D3E5"/>
              </a:gs>
              <a:gs pos="50000">
                <a:srgbClr val="94CCDF"/>
              </a:gs>
              <a:gs pos="100000">
                <a:srgbClr val="80C6DE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structure of a reader process</a:t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do {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wait(mutex);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read_count++;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if (read_count == 1)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wait(rw_mutex);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signal(mutex);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/* reading is performed */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wait(mutex);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read count--;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if (read_count == 0)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	signal(rw_mutex);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signal(mutex);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} while (true);</a:t>
            </a:r>
            <a:r>
              <a:rPr lang="en-US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  <p:sp>
        <p:nvSpPr>
          <p:cNvPr id="2797" name="Google Shape;2797;p181"/>
          <p:cNvSpPr txBox="1"/>
          <p:nvPr/>
        </p:nvSpPr>
        <p:spPr>
          <a:xfrm>
            <a:off x="5200276" y="620922"/>
            <a:ext cx="4088106" cy="5005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Writer1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Initally rw_mutex=1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Writer W1 tries to enter CS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 operation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rw_mutex becomes 0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Writer W1 enters CS</a:t>
            </a:r>
            <a:endParaRPr/>
          </a:p>
          <a:p>
            <a:pPr indent="-1143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8" name="Google Shape;2798;p181"/>
          <p:cNvSpPr/>
          <p:nvPr/>
        </p:nvSpPr>
        <p:spPr>
          <a:xfrm>
            <a:off x="4940488" y="4342947"/>
            <a:ext cx="6096000" cy="2062103"/>
          </a:xfrm>
          <a:prstGeom prst="rect">
            <a:avLst/>
          </a:prstGeom>
          <a:gradFill>
            <a:gsLst>
              <a:gs pos="0">
                <a:srgbClr val="F9CA9D"/>
              </a:gs>
              <a:gs pos="50000">
                <a:srgbClr val="F7C18F"/>
              </a:gs>
              <a:gs pos="100000">
                <a:srgbClr val="FBBA7A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do{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wait(rw_mutex);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/* writing is performed */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signal(rw_mutex);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} while (true);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99" name="Google Shape;2799;p181"/>
          <p:cNvSpPr txBox="1"/>
          <p:nvPr/>
        </p:nvSpPr>
        <p:spPr>
          <a:xfrm>
            <a:off x="8407021" y="595970"/>
            <a:ext cx="3784978" cy="3746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Reader1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 mutex=1,readcount=0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reader R1 tries to enter CS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 mutex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mutex=0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readcount=1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if section,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wait(rw_mutex)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gets trapped in infinite loop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Reader Cannot enter CS</a:t>
            </a:r>
            <a:endParaRPr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3" name="Shape 2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4" name="Google Shape;2804;p182"/>
          <p:cNvSpPr txBox="1"/>
          <p:nvPr>
            <p:ph type="title"/>
          </p:nvPr>
        </p:nvSpPr>
        <p:spPr>
          <a:xfrm>
            <a:off x="375710" y="-20518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W-W Problem </a:t>
            </a:r>
            <a:endParaRPr sz="3200"/>
          </a:p>
        </p:txBody>
      </p:sp>
      <p:pic>
        <p:nvPicPr>
          <p:cNvPr id="2805" name="Google Shape;2805;p1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6" name="Google Shape;2806;p1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807" name="Google Shape;2807;p182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808" name="Google Shape;2808;p182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809" name="Google Shape;2809;p18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810" name="Google Shape;2810;p18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811" name="Google Shape;2811;p18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812" name="Google Shape;2812;p18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3" name="Google Shape;2813;p182"/>
          <p:cNvSpPr txBox="1"/>
          <p:nvPr/>
        </p:nvSpPr>
        <p:spPr>
          <a:xfrm>
            <a:off x="204715" y="560597"/>
            <a:ext cx="4722125" cy="5065713"/>
          </a:xfrm>
          <a:prstGeom prst="rect">
            <a:avLst/>
          </a:prstGeom>
          <a:gradFill>
            <a:gsLst>
              <a:gs pos="0">
                <a:srgbClr val="A2D3E5"/>
              </a:gs>
              <a:gs pos="50000">
                <a:srgbClr val="94CCDF"/>
              </a:gs>
              <a:gs pos="100000">
                <a:srgbClr val="80C6DE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structure of a reader process</a:t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do {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wait(mutex);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read_count++;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if (read_count == 1)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wait(rw_mutex);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signal(mutex);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/* reading is performed */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wait(mutex);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read count--;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if (read_count == 0)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	signal(rw_mutex);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signal(mutex);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} while (true);</a:t>
            </a:r>
            <a:r>
              <a:rPr lang="en-US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  <p:sp>
        <p:nvSpPr>
          <p:cNvPr id="2814" name="Google Shape;2814;p182"/>
          <p:cNvSpPr txBox="1"/>
          <p:nvPr/>
        </p:nvSpPr>
        <p:spPr>
          <a:xfrm>
            <a:off x="5213445" y="866586"/>
            <a:ext cx="3705968" cy="5005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Writer1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Initally rw_mutex=1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Writer W1 tries to enter CS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 operation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rw_mutex becomes 0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Writer W1 enters CS</a:t>
            </a:r>
            <a:endParaRPr/>
          </a:p>
          <a:p>
            <a:pPr indent="-1143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5" name="Google Shape;2815;p182"/>
          <p:cNvSpPr/>
          <p:nvPr/>
        </p:nvSpPr>
        <p:spPr>
          <a:xfrm>
            <a:off x="4940488" y="4342947"/>
            <a:ext cx="6096000" cy="2062103"/>
          </a:xfrm>
          <a:prstGeom prst="rect">
            <a:avLst/>
          </a:prstGeom>
          <a:gradFill>
            <a:gsLst>
              <a:gs pos="0">
                <a:srgbClr val="F9CA9D"/>
              </a:gs>
              <a:gs pos="50000">
                <a:srgbClr val="F7C18F"/>
              </a:gs>
              <a:gs pos="100000">
                <a:srgbClr val="FBBA7A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do{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wait(rw_mutex);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/* writing is performed */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signal(rw_mutex);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} while (true);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16" name="Google Shape;2816;p182"/>
          <p:cNvSpPr txBox="1"/>
          <p:nvPr/>
        </p:nvSpPr>
        <p:spPr>
          <a:xfrm>
            <a:off x="8919412" y="806261"/>
            <a:ext cx="3076969" cy="5005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Writer2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Another Writer W2 tries to enter CS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 operation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rw_mutex was already 0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 trapped in Infinite loop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Writer2 Cannot enter CS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7" name="Google Shape;2817;p182"/>
          <p:cNvSpPr/>
          <p:nvPr/>
        </p:nvSpPr>
        <p:spPr>
          <a:xfrm>
            <a:off x="9904018" y="3601107"/>
            <a:ext cx="2007088" cy="193899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wait(S)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S &lt;=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 II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no-op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s--;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1" name="Shape 2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Google Shape;2822;p183"/>
          <p:cNvSpPr txBox="1"/>
          <p:nvPr>
            <p:ph type="title"/>
          </p:nvPr>
        </p:nvSpPr>
        <p:spPr>
          <a:xfrm>
            <a:off x="375710" y="-20518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R-R Problem </a:t>
            </a:r>
            <a:b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</a:br>
            <a:endParaRPr sz="3200"/>
          </a:p>
        </p:txBody>
      </p:sp>
      <p:pic>
        <p:nvPicPr>
          <p:cNvPr id="2823" name="Google Shape;2823;p1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4" name="Google Shape;2824;p1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825" name="Google Shape;2825;p183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826" name="Google Shape;2826;p183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827" name="Google Shape;2827;p1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828" name="Google Shape;2828;p18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829" name="Google Shape;2829;p18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830" name="Google Shape;2830;p18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31" name="Google Shape;2831;p183"/>
          <p:cNvSpPr txBox="1"/>
          <p:nvPr/>
        </p:nvSpPr>
        <p:spPr>
          <a:xfrm>
            <a:off x="204715" y="560597"/>
            <a:ext cx="4722125" cy="5065713"/>
          </a:xfrm>
          <a:prstGeom prst="rect">
            <a:avLst/>
          </a:prstGeom>
          <a:gradFill>
            <a:gsLst>
              <a:gs pos="0">
                <a:srgbClr val="A2D3E5"/>
              </a:gs>
              <a:gs pos="50000">
                <a:srgbClr val="94CCDF"/>
              </a:gs>
              <a:gs pos="100000">
                <a:srgbClr val="80C6DE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structure of a reader process</a:t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do {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wait(mutex);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read_count++;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if (read_count == 1)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wait(rw_mutex);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signal(mutex);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/* reading is performed */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wait(mutex);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read count--;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if (read_count == 0)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	signal(rw_mutex);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signal(mutex);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} while (true);</a:t>
            </a:r>
            <a:r>
              <a:rPr lang="en-US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  <p:sp>
        <p:nvSpPr>
          <p:cNvPr id="2832" name="Google Shape;2832;p183"/>
          <p:cNvSpPr txBox="1"/>
          <p:nvPr/>
        </p:nvSpPr>
        <p:spPr>
          <a:xfrm>
            <a:off x="4926840" y="368610"/>
            <a:ext cx="4088106" cy="5005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Reader1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 readcount=0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Reader R1 tries to enter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 mutex so mutex=0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readcount=1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readcount is one i.e. First reader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 rw_mutex so rw_mutex=0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readcount updation finished so signal mutex,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mutex=1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Reader enters CS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“Reader R1 is reading”</a:t>
            </a:r>
            <a:endParaRPr/>
          </a:p>
          <a:p>
            <a:pPr indent="-1143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3" name="Google Shape;2833;p183"/>
          <p:cNvSpPr/>
          <p:nvPr/>
        </p:nvSpPr>
        <p:spPr>
          <a:xfrm>
            <a:off x="4940488" y="4342947"/>
            <a:ext cx="6096000" cy="2062103"/>
          </a:xfrm>
          <a:prstGeom prst="rect">
            <a:avLst/>
          </a:prstGeom>
          <a:gradFill>
            <a:gsLst>
              <a:gs pos="0">
                <a:srgbClr val="F9CA9D"/>
              </a:gs>
              <a:gs pos="50000">
                <a:srgbClr val="F7C18F"/>
              </a:gs>
              <a:gs pos="100000">
                <a:srgbClr val="FBBA7A"/>
              </a:gs>
            </a:gsLst>
            <a:lin ang="5400000" scaled="0"/>
          </a:gradFill>
          <a:ln cap="flat" cmpd="sng" w="952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do{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wait(rw_mutex);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/* writing is performed */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...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signal(rw_mutex);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} while (true);</a:t>
            </a:r>
            <a:br>
              <a:rPr b="1" lang="en-US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34" name="Google Shape;2834;p183"/>
          <p:cNvSpPr txBox="1"/>
          <p:nvPr/>
        </p:nvSpPr>
        <p:spPr>
          <a:xfrm>
            <a:off x="8919413" y="806261"/>
            <a:ext cx="2740926" cy="5005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43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5" name="Google Shape;2835;p183"/>
          <p:cNvSpPr txBox="1"/>
          <p:nvPr/>
        </p:nvSpPr>
        <p:spPr>
          <a:xfrm>
            <a:off x="8693088" y="560597"/>
            <a:ext cx="3430135" cy="5005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Reader2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Reader R2 tries to enter CS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 mutex so mutex=0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readcount=2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not enter If section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readcount updation finished so signal mutex,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mutex=1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Reader R2 Enters CS </a:t>
            </a:r>
            <a:endParaRPr/>
          </a:p>
          <a:p>
            <a:pPr indent="-1143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9" name="Shape 2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0" name="Google Shape;2840;p184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Readers-Writers Problem</a:t>
            </a:r>
            <a:endParaRPr sz="3200"/>
          </a:p>
        </p:txBody>
      </p:sp>
      <p:pic>
        <p:nvPicPr>
          <p:cNvPr id="2841" name="Google Shape;2841;p1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2" name="Google Shape;2842;p1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843" name="Google Shape;2843;p184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844" name="Google Shape;2844;p184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845" name="Google Shape;2845;p18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846" name="Google Shape;2846;p18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847" name="Google Shape;2847;p18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848" name="Google Shape;2848;p18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49" name="Google Shape;2849;p184"/>
          <p:cNvSpPr txBox="1"/>
          <p:nvPr/>
        </p:nvSpPr>
        <p:spPr>
          <a:xfrm>
            <a:off x="736980" y="1146176"/>
            <a:ext cx="993557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Soln may lead to Starvation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Reader Writer Problem-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Writers may starve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 Reader Writer Problem-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Readers may starve</a:t>
            </a:r>
            <a:endParaRPr/>
          </a:p>
          <a:p>
            <a:pPr indent="-101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this reason, other variants of the problem have been proposed.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is solved on some systems by kernel providing reader-writer locks</a:t>
            </a:r>
            <a:endParaRPr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3" name="Shape 2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4" name="Google Shape;2854;p185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Dining-Philosophers Problem</a:t>
            </a:r>
            <a:endParaRPr sz="3200"/>
          </a:p>
        </p:txBody>
      </p:sp>
      <p:pic>
        <p:nvPicPr>
          <p:cNvPr id="2855" name="Google Shape;2855;p1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6" name="Google Shape;2856;p1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857" name="Google Shape;2857;p185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858" name="Google Shape;2858;p185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859" name="Google Shape;2859;p18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860" name="Google Shape;2860;p18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861" name="Google Shape;2861;p18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862" name="Google Shape;2862;p18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63" name="Google Shape;2863;p185"/>
          <p:cNvSpPr txBox="1"/>
          <p:nvPr/>
        </p:nvSpPr>
        <p:spPr>
          <a:xfrm>
            <a:off x="669758" y="4135272"/>
            <a:ext cx="9888686" cy="14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5 Philosophers spend their lives alternating thinking and eating</a:t>
            </a:r>
            <a:endParaRPr/>
          </a:p>
        </p:txBody>
      </p:sp>
      <p:pic>
        <p:nvPicPr>
          <p:cNvPr descr="6" id="2864" name="Google Shape;2864;p18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98308" y="1408423"/>
            <a:ext cx="4257974" cy="2406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8" name="Shape 2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9" name="Google Shape;2869;p186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Dining-Philosophers Problem</a:t>
            </a:r>
            <a:endParaRPr sz="3200"/>
          </a:p>
        </p:txBody>
      </p:sp>
      <p:pic>
        <p:nvPicPr>
          <p:cNvPr id="2870" name="Google Shape;2870;p1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1" name="Google Shape;2871;p1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872" name="Google Shape;2872;p18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873" name="Google Shape;2873;p186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874" name="Google Shape;2874;p18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875" name="Google Shape;2875;p18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876" name="Google Shape;2876;p18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877" name="Google Shape;2877;p18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78" name="Google Shape;2878;p186"/>
          <p:cNvSpPr txBox="1"/>
          <p:nvPr/>
        </p:nvSpPr>
        <p:spPr>
          <a:xfrm>
            <a:off x="669758" y="2864514"/>
            <a:ext cx="9888686" cy="2765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When thinking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Don’t interact with their neighbors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When hungry-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 philosopher needs both their right and left chopstick to eat. </a:t>
            </a:r>
            <a:endParaRPr b="0" i="0" sz="2400" u="none" cap="none" strike="noStrike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 hungry philosopher may only eat if there are both chopsticks available</a:t>
            </a:r>
            <a:endParaRPr/>
          </a:p>
        </p:txBody>
      </p:sp>
      <p:pic>
        <p:nvPicPr>
          <p:cNvPr descr="THE DINING PHILOSOPHERS PROBLEM" id="2879" name="Google Shape;2879;p18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73665" y="991614"/>
            <a:ext cx="4052973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3" name="Shape 2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" name="Google Shape;2884;p187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Dining-Philosophers Problem</a:t>
            </a:r>
            <a:endParaRPr sz="3200"/>
          </a:p>
        </p:txBody>
      </p:sp>
      <p:pic>
        <p:nvPicPr>
          <p:cNvPr id="2885" name="Google Shape;2885;p1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6" name="Google Shape;2886;p1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887" name="Google Shape;2887;p187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888" name="Google Shape;2888;p187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889" name="Google Shape;2889;p18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890" name="Google Shape;2890;p18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891" name="Google Shape;2891;p18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892" name="Google Shape;2892;p18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93" name="Google Shape;2893;p187"/>
          <p:cNvSpPr txBox="1"/>
          <p:nvPr/>
        </p:nvSpPr>
        <p:spPr>
          <a:xfrm>
            <a:off x="1238251" y="3403601"/>
            <a:ext cx="9211733" cy="2765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Occasionally try to pick up 2 chopsticks that are closest to her to eat from bowl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Chopsticks that are between her and her left and right neighbor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Pick up only one at a time</a:t>
            </a:r>
            <a:endParaRPr b="0" i="0" sz="2400" u="none" cap="none" strike="noStrike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Need both to eat, then release both when done</a:t>
            </a:r>
            <a:endParaRPr/>
          </a:p>
        </p:txBody>
      </p:sp>
      <p:pic>
        <p:nvPicPr>
          <p:cNvPr descr="6" id="2894" name="Google Shape;2894;p18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27551" y="1079500"/>
            <a:ext cx="2944283" cy="21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8" name="Shape 2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9" name="Google Shape;2899;p188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Dining-Philosophers Problem</a:t>
            </a:r>
            <a:endParaRPr sz="3200"/>
          </a:p>
        </p:txBody>
      </p:sp>
      <p:pic>
        <p:nvPicPr>
          <p:cNvPr id="2900" name="Google Shape;2900;p1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1" name="Google Shape;2901;p1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902" name="Google Shape;2902;p188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903" name="Google Shape;2903;p188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904" name="Google Shape;2904;p18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905" name="Google Shape;2905;p18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906" name="Google Shape;2906;p18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907" name="Google Shape;2907;p18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8" name="Google Shape;2908;p188"/>
          <p:cNvSpPr txBox="1"/>
          <p:nvPr/>
        </p:nvSpPr>
        <p:spPr>
          <a:xfrm>
            <a:off x="1238251" y="3403601"/>
            <a:ext cx="9211733" cy="2765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Classic Synchronization problem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Example of large class of concurrency control problems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Represents the need to allocate several resources among several processes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in a deadlock free and starvation free manner</a:t>
            </a:r>
            <a:endParaRPr/>
          </a:p>
        </p:txBody>
      </p:sp>
      <p:pic>
        <p:nvPicPr>
          <p:cNvPr descr="6" id="2909" name="Google Shape;2909;p18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27551" y="1079500"/>
            <a:ext cx="2944283" cy="21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3" name="Shape 2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4" name="Google Shape;2914;p189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Dining-Philosophers Problem</a:t>
            </a:r>
            <a:endParaRPr sz="3200"/>
          </a:p>
        </p:txBody>
      </p:sp>
      <p:pic>
        <p:nvPicPr>
          <p:cNvPr id="2915" name="Google Shape;2915;p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6" name="Google Shape;2916;p1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917" name="Google Shape;2917;p189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918" name="Google Shape;2918;p189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919" name="Google Shape;2919;p1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920" name="Google Shape;2920;p18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921" name="Google Shape;2921;p18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922" name="Google Shape;2922;p18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3" name="Google Shape;2923;p189"/>
          <p:cNvSpPr txBox="1"/>
          <p:nvPr/>
        </p:nvSpPr>
        <p:spPr>
          <a:xfrm>
            <a:off x="1238251" y="3403601"/>
            <a:ext cx="9211733" cy="2765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5 Philosophers share a common circular table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Surrounded by 5 chairs=each belonging to one philosopher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Center of table -&gt;Bowl of rice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Five single chopsticks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6" id="2924" name="Google Shape;2924;p18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27551" y="1079500"/>
            <a:ext cx="2944283" cy="2120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media.geeksforgeeks.org/wp-content/uploads/dining_philosopher_problem.png" id="2925" name="Google Shape;2925;p18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78346" y="711200"/>
            <a:ext cx="3343275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9" name="Shape 2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0" name="Google Shape;2930;p190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Dining-Philosophers Problem</a:t>
            </a:r>
            <a:endParaRPr sz="3200"/>
          </a:p>
        </p:txBody>
      </p:sp>
      <p:pic>
        <p:nvPicPr>
          <p:cNvPr id="2931" name="Google Shape;2931;p1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2" name="Google Shape;2932;p1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933" name="Google Shape;2933;p190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934" name="Google Shape;2934;p190"/>
          <p:cNvSpPr txBox="1"/>
          <p:nvPr/>
        </p:nvSpPr>
        <p:spPr>
          <a:xfrm>
            <a:off x="683406" y="1005262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935" name="Google Shape;2935;p19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936" name="Google Shape;2936;p19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937" name="Google Shape;2937;p19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938" name="Google Shape;2938;p19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39" name="Google Shape;2939;p190"/>
          <p:cNvSpPr txBox="1"/>
          <p:nvPr/>
        </p:nvSpPr>
        <p:spPr>
          <a:xfrm>
            <a:off x="1238251" y="3403601"/>
            <a:ext cx="9211733" cy="2765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Shared data?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Bowl of rice (data set)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Semaphore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Marcellus"/>
                <a:ea typeface="Marcellus"/>
                <a:cs typeface="Marcellus"/>
                <a:sym typeface="Marcellus"/>
              </a:rPr>
              <a:t>chopstick [5]</a:t>
            </a:r>
            <a:r>
              <a:rPr b="0" i="0" lang="en-US" sz="28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initialized to 1</a:t>
            </a:r>
            <a:endParaRPr/>
          </a:p>
          <a:p>
            <a:pPr indent="-508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6" id="2940" name="Google Shape;2940;p19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27551" y="1079500"/>
            <a:ext cx="2944283" cy="2120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media.geeksforgeeks.org/wp-content/uploads/dining_philosopher_problem.png" id="2941" name="Google Shape;2941;p19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78346" y="711200"/>
            <a:ext cx="3343275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5" name="Shape 2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6" name="Google Shape;2946;p191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Semaphore Solution for Dining-Philosophers Problem</a:t>
            </a:r>
            <a:endParaRPr sz="3200"/>
          </a:p>
        </p:txBody>
      </p:sp>
      <p:pic>
        <p:nvPicPr>
          <p:cNvPr id="2947" name="Google Shape;2947;p1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8" name="Google Shape;2948;p1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949" name="Google Shape;2949;p191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950" name="Google Shape;2950;p191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951" name="Google Shape;2951;p19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952" name="Google Shape;2952;p19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953" name="Google Shape;2953;p19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954" name="Google Shape;2954;p19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5" name="Google Shape;2955;p191"/>
          <p:cNvSpPr txBox="1"/>
          <p:nvPr/>
        </p:nvSpPr>
        <p:spPr>
          <a:xfrm>
            <a:off x="1238251" y="3403601"/>
            <a:ext cx="9211733" cy="2765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Grab the chopstick –By Executing wait operation on the semaphore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Release the chopstick-By executing the signal operation on the appropriate semaphore</a:t>
            </a:r>
            <a:endParaRPr/>
          </a:p>
          <a:p>
            <a:pPr indent="-228600" lvl="2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Array of Semaphores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Marcellus"/>
                <a:ea typeface="Marcellus"/>
                <a:cs typeface="Marcellus"/>
                <a:sym typeface="Marcellus"/>
              </a:rPr>
              <a:t>chopstick [5]</a:t>
            </a:r>
            <a:r>
              <a:rPr b="0" i="0" lang="en-US" sz="2400" u="none" cap="none" strike="noStrike">
                <a:solidFill>
                  <a:schemeClr val="dk1"/>
                </a:solidFill>
                <a:latin typeface="Marcellus"/>
                <a:ea typeface="Marcellus"/>
                <a:cs typeface="Marcellus"/>
                <a:sym typeface="Marcellus"/>
              </a:rPr>
              <a:t> initialized to 1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6" id="2956" name="Google Shape;2956;p19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27551" y="1079500"/>
            <a:ext cx="2944283" cy="21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0" name="Shape 2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1" name="Google Shape;2961;p192"/>
          <p:cNvSpPr txBox="1"/>
          <p:nvPr>
            <p:ph type="title"/>
          </p:nvPr>
        </p:nvSpPr>
        <p:spPr>
          <a:xfrm>
            <a:off x="375710" y="0"/>
            <a:ext cx="11395912" cy="504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Semaphore Solution for Dining-Philosophers Problem Algorithm</a:t>
            </a:r>
            <a:endParaRPr sz="3200"/>
          </a:p>
        </p:txBody>
      </p:sp>
      <p:pic>
        <p:nvPicPr>
          <p:cNvPr id="2962" name="Google Shape;2962;p1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3" name="Google Shape;2963;p1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964" name="Google Shape;2964;p192"/>
          <p:cNvPicPr preferRelativeResize="0"/>
          <p:nvPr>
            <p:ph idx="1" type="body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965" name="Google Shape;2965;p192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966" name="Google Shape;2966;p19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967" name="Google Shape;2967;p19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968" name="Google Shape;2968;p19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969" name="Google Shape;2969;p19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70" name="Google Shape;2970;p192"/>
          <p:cNvSpPr txBox="1"/>
          <p:nvPr/>
        </p:nvSpPr>
        <p:spPr>
          <a:xfrm>
            <a:off x="130978" y="409506"/>
            <a:ext cx="9476316" cy="4784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76238" lvl="0" marL="3762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structure of Philosopher</a:t>
            </a:r>
            <a:r>
              <a:rPr i="1" lang="en-US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338138" lvl="2" marL="11953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 { </a:t>
            </a:r>
            <a:endParaRPr/>
          </a:p>
          <a:p>
            <a:pPr indent="-338138" lvl="2" marL="11953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wait (chopstick[i] );</a:t>
            </a:r>
            <a:endParaRPr/>
          </a:p>
          <a:p>
            <a:pPr indent="-338138" lvl="2" marL="11953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wait (chopStick[ (i + 1) % 5] );</a:t>
            </a:r>
            <a:endParaRPr/>
          </a:p>
          <a:p>
            <a:pPr indent="-338138" lvl="2" marL="11953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indent="-338138" lvl="2" marL="11953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       //  eat</a:t>
            </a:r>
            <a:endParaRPr/>
          </a:p>
          <a:p>
            <a:pPr indent="-338138" lvl="2" marL="11953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8138" lvl="2" marL="11953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signal (chopstick[i] );</a:t>
            </a:r>
            <a:endParaRPr/>
          </a:p>
          <a:p>
            <a:pPr indent="-338138" lvl="2" marL="11953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signal (chopstick[ (i + 1) % 5] );</a:t>
            </a:r>
            <a:endParaRPr/>
          </a:p>
          <a:p>
            <a:pPr indent="-338138" lvl="2" marL="11953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indent="-338138" lvl="2" marL="11953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//  think</a:t>
            </a:r>
            <a:endParaRPr/>
          </a:p>
          <a:p>
            <a:pPr indent="-338138" lvl="2" marL="11953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8138" lvl="2" marL="11953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 while (TRUE);</a:t>
            </a:r>
            <a:endParaRPr b="0" i="0" sz="16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1" name="Google Shape;2971;p192"/>
          <p:cNvSpPr/>
          <p:nvPr/>
        </p:nvSpPr>
        <p:spPr>
          <a:xfrm>
            <a:off x="6833330" y="664068"/>
            <a:ext cx="4799462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Philosopher i has picked up the chopsticks on his sides.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the eating function is performed.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Philosopher i has eaten and put down the chopsticks on his sides.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the philosopher goes back to thinking.</a:t>
            </a:r>
            <a:endParaRPr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5" name="Shape 2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6" name="Google Shape;2976;p193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Semaphore Solution for Dining-Philosophers Problem Algorithm</a:t>
            </a:r>
            <a:endParaRPr sz="3200"/>
          </a:p>
        </p:txBody>
      </p:sp>
      <p:pic>
        <p:nvPicPr>
          <p:cNvPr id="2977" name="Google Shape;2977;p1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8" name="Google Shape;2978;p1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979" name="Google Shape;2979;p193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980" name="Google Shape;2980;p193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981" name="Google Shape;2981;p19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982" name="Google Shape;2982;p19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983" name="Google Shape;2983;p19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984" name="Google Shape;2984;p19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85" name="Google Shape;2985;p193"/>
          <p:cNvSpPr txBox="1"/>
          <p:nvPr/>
        </p:nvSpPr>
        <p:spPr>
          <a:xfrm>
            <a:off x="37638" y="907574"/>
            <a:ext cx="3442541" cy="4784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0988" lvl="0" marL="2809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 { 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wait (chopstick[i] );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wait (chopStick[ (i + 1) % 5] );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       //  eat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signal (chopstick[i] );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signal (chopstick[ (i + 1) % 5] );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//  think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 while (TRUE);</a:t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E DINING PHILOSOPHERS PROBLEM" id="2986" name="Google Shape;2986;p19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88155" y="1095314"/>
            <a:ext cx="4603844" cy="3717215"/>
          </a:xfrm>
          <a:prstGeom prst="rect">
            <a:avLst/>
          </a:prstGeom>
          <a:noFill/>
          <a:ln>
            <a:noFill/>
          </a:ln>
        </p:spPr>
      </p:pic>
      <p:sp>
        <p:nvSpPr>
          <p:cNvPr id="2987" name="Google Shape;2987;p193"/>
          <p:cNvSpPr txBox="1"/>
          <p:nvPr/>
        </p:nvSpPr>
        <p:spPr>
          <a:xfrm>
            <a:off x="3480180" y="989278"/>
            <a:ext cx="3846726" cy="4784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0988" lvl="0" marL="2809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mo"/>
              <a:buNone/>
            </a:pPr>
            <a:r>
              <a:rPr b="1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 { 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mo"/>
              <a:buNone/>
            </a:pPr>
            <a:r>
              <a:rPr b="1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i=0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mo"/>
              <a:buNone/>
            </a:pPr>
            <a:r>
              <a:rPr b="1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wait (chopstick[0] );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mo"/>
              <a:buNone/>
            </a:pPr>
            <a:r>
              <a:rPr b="1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wait (chopStick[1] );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mo"/>
              <a:buNone/>
            </a:pPr>
            <a:r>
              <a:rPr b="1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mo"/>
              <a:buNone/>
            </a:pPr>
            <a:r>
              <a:rPr b="1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       //  eat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mo"/>
              <a:buNone/>
            </a:pPr>
            <a:r>
              <a:rPr b="1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signal (chopstick[0] );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mo"/>
              <a:buNone/>
            </a:pPr>
            <a:r>
              <a:rPr b="1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signal (chopstick[1] );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mo"/>
              <a:buNone/>
            </a:pPr>
            <a:r>
              <a:rPr b="1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mo"/>
              <a:buNone/>
            </a:pPr>
            <a:r>
              <a:rPr b="1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//  think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mo"/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mo"/>
              <a:buNone/>
            </a:pPr>
            <a:r>
              <a:rPr b="1" lang="en-US" sz="17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 while (TRUE);</a:t>
            </a:r>
            <a:endParaRPr sz="17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1" name="Shape 2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2" name="Google Shape;2992;p194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Semaphore Solution for Dining-Philosophers Problem Algorithm</a:t>
            </a:r>
            <a:endParaRPr sz="3200"/>
          </a:p>
        </p:txBody>
      </p:sp>
      <p:pic>
        <p:nvPicPr>
          <p:cNvPr id="2993" name="Google Shape;2993;p1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4" name="Google Shape;2994;p1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995" name="Google Shape;2995;p194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996" name="Google Shape;2996;p194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2997" name="Google Shape;2997;p19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998" name="Google Shape;2998;p19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2999" name="Google Shape;2999;p19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000" name="Google Shape;3000;p19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HE DINING PHILOSOPHERS PROBLEM" id="3001" name="Google Shape;3001;p19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88155" y="1095314"/>
            <a:ext cx="4603844" cy="3717215"/>
          </a:xfrm>
          <a:prstGeom prst="rect">
            <a:avLst/>
          </a:prstGeom>
          <a:noFill/>
          <a:ln>
            <a:noFill/>
          </a:ln>
        </p:spPr>
      </p:pic>
      <p:sp>
        <p:nvSpPr>
          <p:cNvPr id="3002" name="Google Shape;3002;p194"/>
          <p:cNvSpPr txBox="1"/>
          <p:nvPr/>
        </p:nvSpPr>
        <p:spPr>
          <a:xfrm>
            <a:off x="13649" y="880095"/>
            <a:ext cx="4135270" cy="478472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0988" lvl="0" marL="2809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 { 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i=1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wait (chopstick[1] );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wait (chopStick[2] );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       //  eat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signal (chopstick[1] );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signal (chopstick[2] );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//  think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 while (TRUE);</a:t>
            </a:r>
            <a:endParaRPr sz="14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3" name="Google Shape;3003;p194"/>
          <p:cNvSpPr txBox="1"/>
          <p:nvPr/>
        </p:nvSpPr>
        <p:spPr>
          <a:xfrm>
            <a:off x="3159159" y="880094"/>
            <a:ext cx="4135270" cy="478472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0988" lvl="0" marL="2809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 { 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i=2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wait (chopstick[2] );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wait (chopStick[3] );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       //  eat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signal (chopstick[2] );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signal (chopstick[3] );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//  think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</a:pPr>
            <a:r>
              <a:t/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None/>
            </a:pPr>
            <a:r>
              <a:rPr b="1" lang="en-US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 while (TRUE);</a:t>
            </a:r>
            <a:endParaRPr sz="14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7" name="Shape 3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8" name="Google Shape;3008;p195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Semaphore Solution for Dining-Philosophers Problem Algorithm</a:t>
            </a:r>
            <a:endParaRPr sz="3200"/>
          </a:p>
        </p:txBody>
      </p:sp>
      <p:pic>
        <p:nvPicPr>
          <p:cNvPr id="3009" name="Google Shape;3009;p1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0" name="Google Shape;3010;p1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011" name="Google Shape;3011;p195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012" name="Google Shape;3012;p195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013" name="Google Shape;3013;p19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014" name="Google Shape;3014;p19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015" name="Google Shape;3015;p19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016" name="Google Shape;3016;p19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HE DINING PHILOSOPHERS PROBLEM" id="3017" name="Google Shape;3017;p19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88155" y="1095314"/>
            <a:ext cx="4603844" cy="3717215"/>
          </a:xfrm>
          <a:prstGeom prst="rect">
            <a:avLst/>
          </a:prstGeom>
          <a:noFill/>
          <a:ln>
            <a:noFill/>
          </a:ln>
        </p:spPr>
      </p:pic>
      <p:sp>
        <p:nvSpPr>
          <p:cNvPr id="3018" name="Google Shape;3018;p195"/>
          <p:cNvSpPr txBox="1"/>
          <p:nvPr/>
        </p:nvSpPr>
        <p:spPr>
          <a:xfrm>
            <a:off x="13649" y="880095"/>
            <a:ext cx="4135270" cy="478472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0988" lvl="0" marL="2809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 { 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i=3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wait (chopstick[3] );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wait (chopStick[4] );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       //  eat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signal (chopstick[3] );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signal (chopstick[4] );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//  think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 while (TRUE);</a:t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9" name="Google Shape;3019;p195"/>
          <p:cNvSpPr txBox="1"/>
          <p:nvPr/>
        </p:nvSpPr>
        <p:spPr>
          <a:xfrm>
            <a:off x="3632578" y="880095"/>
            <a:ext cx="4135270" cy="478472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0988" lvl="0" marL="2809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 { 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i=4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wait (chopstick[4] );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wait (chopStick[4+1%5=0] );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       //  eat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signal (chopstick[4] );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signal (chopstick[0] );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//  think</a:t>
            </a:r>
            <a:endParaRPr/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0988" lvl="0" marL="28098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mo"/>
              <a:buNone/>
            </a:pPr>
            <a:r>
              <a:rPr b="1"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 while (TRUE);</a:t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3" name="Shape 3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4" name="Google Shape;3024;p196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Semaphore Solution for Dining-Philosophers Problem Algorithm</a:t>
            </a:r>
            <a:endParaRPr sz="3200"/>
          </a:p>
        </p:txBody>
      </p:sp>
      <p:pic>
        <p:nvPicPr>
          <p:cNvPr id="3025" name="Google Shape;3025;p1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6" name="Google Shape;3026;p1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027" name="Google Shape;3027;p19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028" name="Google Shape;3028;p196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029" name="Google Shape;3029;p19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030" name="Google Shape;3030;p19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031" name="Google Shape;3031;p19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032" name="Google Shape;3032;p19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33" name="Google Shape;3033;p196"/>
          <p:cNvSpPr txBox="1"/>
          <p:nvPr/>
        </p:nvSpPr>
        <p:spPr>
          <a:xfrm>
            <a:off x="1102785" y="1119189"/>
            <a:ext cx="9476316" cy="4784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3837" lvl="1" marL="8334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problem with this algorithm?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7" name="Shape 3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8" name="Google Shape;3038;p197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Semaphore Solution for Dining-Philosophers Problem Algorithm</a:t>
            </a:r>
            <a:endParaRPr sz="3200"/>
          </a:p>
        </p:txBody>
      </p:sp>
      <p:pic>
        <p:nvPicPr>
          <p:cNvPr id="3039" name="Google Shape;3039;p1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0" name="Google Shape;3040;p1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041" name="Google Shape;3041;p197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042" name="Google Shape;3042;p197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043" name="Google Shape;3043;p19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044" name="Google Shape;3044;p19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045" name="Google Shape;3045;p19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046" name="Google Shape;3046;p19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47" name="Google Shape;3047;p197"/>
          <p:cNvSpPr txBox="1"/>
          <p:nvPr/>
        </p:nvSpPr>
        <p:spPr>
          <a:xfrm>
            <a:off x="1102785" y="1119189"/>
            <a:ext cx="10593346" cy="4784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3837" lvl="1" marL="8334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6238" lvl="1" marL="8334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 Guarantees that No two neighbors are eating simultaneously </a:t>
            </a:r>
            <a:endParaRPr/>
          </a:p>
          <a:p>
            <a:pPr indent="-223837" lvl="1" marL="8334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837" lvl="1" marL="8334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Still Must be rejected </a:t>
            </a:r>
            <a:endParaRPr/>
          </a:p>
          <a:p>
            <a:pPr indent="-376238" lvl="1" marL="8334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Why?</a:t>
            </a:r>
            <a:endParaRPr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1" name="Shape 3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2" name="Google Shape;3052;p198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Semaphore Solution for Dining-Philosophers Problem Algorithm</a:t>
            </a:r>
            <a:endParaRPr sz="3200"/>
          </a:p>
        </p:txBody>
      </p:sp>
      <p:pic>
        <p:nvPicPr>
          <p:cNvPr id="3053" name="Google Shape;3053;p1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4" name="Google Shape;3054;p1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055" name="Google Shape;3055;p198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056" name="Google Shape;3056;p198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057" name="Google Shape;3057;p19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058" name="Google Shape;3058;p19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059" name="Google Shape;3059;p19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060" name="Google Shape;3060;p19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61" name="Google Shape;3061;p198"/>
          <p:cNvSpPr txBox="1"/>
          <p:nvPr/>
        </p:nvSpPr>
        <p:spPr>
          <a:xfrm>
            <a:off x="669758" y="1119189"/>
            <a:ext cx="10657884" cy="4784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Why?</a:t>
            </a:r>
            <a:endParaRPr/>
          </a:p>
          <a:p>
            <a:pPr indent="-376238" lvl="1" marL="8334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Possibility of deadlock</a:t>
            </a:r>
            <a:endParaRPr/>
          </a:p>
          <a:p>
            <a:pPr indent="-376238" lvl="1" marL="8334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all 5 philosophers are hungry simultaneously  and each grabs left chopstick</a:t>
            </a:r>
            <a:endParaRPr/>
          </a:p>
          <a:p>
            <a:pPr indent="-376238" lvl="1" marL="8334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elements of chopsticks will be =0</a:t>
            </a:r>
            <a:endParaRPr/>
          </a:p>
          <a:p>
            <a:pPr indent="-376238" lvl="1" marL="8334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each philosopher tries to grab her right chopstick, delayed forever</a:t>
            </a:r>
            <a:endParaRPr/>
          </a:p>
          <a:p>
            <a:pPr indent="-338138" lvl="2" marL="11953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None/>
            </a:pPr>
            <a:r>
              <a:t/>
            </a:r>
            <a:endParaRPr b="0" i="0" sz="20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s://media.geeksforgeeks.org/wp-content/uploads/dining_philosopher_problem.png" id="3062" name="Google Shape;3062;p19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19415" y="3563158"/>
            <a:ext cx="3059507" cy="2614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6" name="Shape 3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7" name="Google Shape;3067;p199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Semaphore Solution for Dining-Philosophers Problem Algorithm</a:t>
            </a:r>
            <a:endParaRPr sz="3200"/>
          </a:p>
        </p:txBody>
      </p:sp>
      <p:pic>
        <p:nvPicPr>
          <p:cNvPr id="3068" name="Google Shape;3068;p1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9" name="Google Shape;3069;p1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070" name="Google Shape;3070;p199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071" name="Google Shape;3071;p199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072" name="Google Shape;3072;p19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073" name="Google Shape;3073;p19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074" name="Google Shape;3074;p19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075" name="Google Shape;3075;p19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76" name="Google Shape;3076;p199"/>
          <p:cNvSpPr txBox="1"/>
          <p:nvPr/>
        </p:nvSpPr>
        <p:spPr>
          <a:xfrm>
            <a:off x="1181101" y="1223963"/>
            <a:ext cx="8589433" cy="4860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Deadlock handling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Allow at most 4 philosophers to be sitting simultaneously at  the table.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Allow a philosopher to pick up  the forks only if both are available (picking must be done in a critical section)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 an asymmetric solution  -- 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Odd-numbered  philosopher picks  up first the left chopstick and then the right chopstick. 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Even-numbered  philosopher picks  up first the right chopstick and then the left chopstick</a:t>
            </a:r>
            <a:endParaRPr/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0" name="Shape 3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Google Shape;3081;p200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Problems with Semaphores</a:t>
            </a:r>
            <a:endParaRPr sz="3200"/>
          </a:p>
        </p:txBody>
      </p:sp>
      <p:pic>
        <p:nvPicPr>
          <p:cNvPr id="3082" name="Google Shape;3082;p2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3" name="Google Shape;3083;p2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084" name="Google Shape;3084;p200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085" name="Google Shape;3085;p200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086" name="Google Shape;3086;p20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087" name="Google Shape;3087;p20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088" name="Google Shape;3088;p20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089" name="Google Shape;3089;p20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90" name="Google Shape;3090;p200"/>
          <p:cNvSpPr txBox="1"/>
          <p:nvPr/>
        </p:nvSpPr>
        <p:spPr>
          <a:xfrm>
            <a:off x="1102784" y="1282701"/>
            <a:ext cx="9279467" cy="4860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Incorrect use of semaphore operations: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signal (mutex)  ….  wait (mutex)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wait (mutex)  …  wait (mutex)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Omitting  of wait (mutex) or signal (mutex) (or both)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Deadlock and starvation are possible.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4" name="Shape 3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Google Shape;3095;p201"/>
          <p:cNvSpPr txBox="1"/>
          <p:nvPr>
            <p:ph idx="1" type="body"/>
          </p:nvPr>
        </p:nvSpPr>
        <p:spPr>
          <a:xfrm>
            <a:off x="838200" y="341194"/>
            <a:ext cx="10515600" cy="616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Q1)The program follows to use a shared binary semaphore 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Process A 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int Y; 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A1: Y = X*2; 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A2: X = Y; 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signal(T);   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Process B 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int Z; 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B1: wait(T); 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B2: Z = X+1; 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X = Z;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 is set to 0 before either process begins execution and, as before, X is set to 5.</a:t>
            </a:r>
            <a:br>
              <a:rPr lang="en-US"/>
            </a:br>
            <a:r>
              <a:rPr lang="en-US"/>
              <a:t>Now, how many different values of X are possible after both processes finish executing?</a:t>
            </a:r>
            <a:br>
              <a:rPr lang="en-US"/>
            </a:br>
            <a:r>
              <a:rPr lang="en-US"/>
              <a:t>a) one</a:t>
            </a:r>
            <a:br>
              <a:rPr lang="en-US"/>
            </a:br>
            <a:r>
              <a:rPr lang="en-US"/>
              <a:t>b) two</a:t>
            </a:r>
            <a:br>
              <a:rPr lang="en-US"/>
            </a:br>
            <a:r>
              <a:rPr lang="en-US"/>
              <a:t>c) three</a:t>
            </a:r>
            <a:br>
              <a:rPr lang="en-US"/>
            </a:br>
            <a:r>
              <a:rPr lang="en-US"/>
              <a:t>d) four</a:t>
            </a:r>
            <a:endParaRPr/>
          </a:p>
        </p:txBody>
      </p:sp>
      <p:sp>
        <p:nvSpPr>
          <p:cNvPr id="3096" name="Google Shape;3096;p20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097" name="Google Shape;3097;p20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098" name="Google Shape;3098;p20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2" name="Shape 3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3" name="Google Shape;3103;p202"/>
          <p:cNvSpPr txBox="1"/>
          <p:nvPr>
            <p:ph idx="1" type="body"/>
          </p:nvPr>
        </p:nvSpPr>
        <p:spPr>
          <a:xfrm>
            <a:off x="838200" y="341194"/>
            <a:ext cx="10515600" cy="616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Q1)The program follows to use a shared binary semaphore 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Process A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int Y;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A1: Y = X*2;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A2: X = Y;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signal(T);  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Process B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int Z;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B1: wait(T);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B2: Z = X+1;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X = Z;</a:t>
            </a:r>
            <a:endParaRPr/>
          </a:p>
          <a:p>
            <a:pPr indent="-13081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 is set to 0 before either process begins execution and, as before, X is set to 5.</a:t>
            </a:r>
            <a:br>
              <a:rPr lang="en-US"/>
            </a:br>
            <a:r>
              <a:rPr lang="en-US"/>
              <a:t>Now, how many different values of X are possible after both processes finish executing?</a:t>
            </a:r>
            <a:br>
              <a:rPr lang="en-US"/>
            </a:br>
            <a:r>
              <a:rPr lang="en-US"/>
              <a:t>a) one</a:t>
            </a:r>
            <a:br>
              <a:rPr lang="en-US"/>
            </a:br>
            <a:r>
              <a:rPr lang="en-US"/>
              <a:t>b) two</a:t>
            </a:r>
            <a:br>
              <a:rPr lang="en-US"/>
            </a:br>
            <a:r>
              <a:rPr lang="en-US"/>
              <a:t>c) three</a:t>
            </a:r>
            <a:br>
              <a:rPr lang="en-US"/>
            </a:br>
            <a:r>
              <a:rPr lang="en-US"/>
              <a:t>d) four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Explanation: The semaphore T ensures that all the statements from A finish execution before B begins.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So now there is only one way in which statements from A and B can be interleaved:</a:t>
            </a:r>
            <a:br>
              <a:rPr lang="en-US"/>
            </a:br>
            <a:r>
              <a:rPr lang="en-US"/>
              <a:t>A1 A2 B1 B2: X = 11.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Ans c)</a:t>
            </a:r>
            <a:endParaRPr/>
          </a:p>
        </p:txBody>
      </p:sp>
      <p:sp>
        <p:nvSpPr>
          <p:cNvPr id="3104" name="Google Shape;3104;p20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105" name="Google Shape;3105;p20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106" name="Google Shape;3106;p20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0" name="Shape 3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1" name="Google Shape;3111;p203"/>
          <p:cNvSpPr txBox="1"/>
          <p:nvPr>
            <p:ph idx="1" type="body"/>
          </p:nvPr>
        </p:nvSpPr>
        <p:spPr>
          <a:xfrm>
            <a:off x="838200" y="341194"/>
            <a:ext cx="10515600" cy="616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Q2) The bounded buffer problem is also known as ____________</a:t>
            </a:r>
            <a:br>
              <a:rPr lang="en-US"/>
            </a:br>
            <a:r>
              <a:rPr lang="en-US"/>
              <a:t>a) Readers – Writers problem</a:t>
            </a:r>
            <a:br>
              <a:rPr lang="en-US"/>
            </a:br>
            <a:r>
              <a:rPr lang="en-US"/>
              <a:t>b) Dining – Philosophers problem</a:t>
            </a:r>
            <a:br>
              <a:rPr lang="en-US"/>
            </a:br>
            <a:r>
              <a:rPr lang="en-US"/>
              <a:t>c) Producer – Consumer problem</a:t>
            </a:r>
            <a:br>
              <a:rPr lang="en-US"/>
            </a:br>
            <a:r>
              <a:rPr lang="en-US"/>
              <a:t>d) None of the mentioned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en-US"/>
            </a:br>
            <a:endParaRPr/>
          </a:p>
        </p:txBody>
      </p:sp>
      <p:sp>
        <p:nvSpPr>
          <p:cNvPr id="3112" name="Google Shape;3112;p20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113" name="Google Shape;3113;p20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114" name="Google Shape;3114;p20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8" name="Shape 3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9" name="Google Shape;3119;p204"/>
          <p:cNvSpPr txBox="1"/>
          <p:nvPr>
            <p:ph idx="1" type="body"/>
          </p:nvPr>
        </p:nvSpPr>
        <p:spPr>
          <a:xfrm>
            <a:off x="838200" y="341194"/>
            <a:ext cx="10515600" cy="616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Q2) The bounded buffer problem is also known as ____________</a:t>
            </a:r>
            <a:br>
              <a:rPr lang="en-US"/>
            </a:br>
            <a:r>
              <a:rPr lang="en-US"/>
              <a:t>a) Readers – Writers problem</a:t>
            </a:r>
            <a:br>
              <a:rPr lang="en-US"/>
            </a:br>
            <a:r>
              <a:rPr lang="en-US"/>
              <a:t>b) Dining – Philosophers problem</a:t>
            </a:r>
            <a:br>
              <a:rPr lang="en-US"/>
            </a:br>
            <a:r>
              <a:rPr lang="en-US"/>
              <a:t>c) Producer – Consumer problem</a:t>
            </a:r>
            <a:br>
              <a:rPr lang="en-US"/>
            </a:br>
            <a:r>
              <a:rPr lang="en-US"/>
              <a:t>d) None of the mentioned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Answer: c</a:t>
            </a:r>
            <a:br>
              <a:rPr lang="en-US"/>
            </a:br>
            <a:endParaRPr/>
          </a:p>
        </p:txBody>
      </p:sp>
      <p:sp>
        <p:nvSpPr>
          <p:cNvPr id="3120" name="Google Shape;3120;p20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121" name="Google Shape;3121;p20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122" name="Google Shape;3122;p20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6" name="Shape 3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7" name="Google Shape;3127;p205"/>
          <p:cNvSpPr txBox="1"/>
          <p:nvPr>
            <p:ph idx="1" type="body"/>
          </p:nvPr>
        </p:nvSpPr>
        <p:spPr>
          <a:xfrm>
            <a:off x="838200" y="341194"/>
            <a:ext cx="10515600" cy="616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Q3) All processes share a semaphore variable mutex, X initialized to 1.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Each process must execute wait(mutex) before entering the critical section and signal(mutex) afterward.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Suppose a process executes in the following manner: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signal(mutex)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______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critical section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________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wait(mutex); 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In this situation _____________________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LcParenR"/>
            </a:pPr>
            <a:r>
              <a:rPr lang="en-US"/>
              <a:t>a deadlock will occur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LcParenR"/>
            </a:pPr>
            <a:r>
              <a:rPr lang="en-US"/>
              <a:t>processes will starve to enter critical section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LcParenR"/>
            </a:pPr>
            <a:r>
              <a:rPr lang="en-US"/>
              <a:t>several processes maybe executing in their critical section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LcParenR"/>
            </a:pPr>
            <a:r>
              <a:rPr lang="en-US"/>
              <a:t>all of the mentioned</a:t>
            </a:r>
            <a:endParaRPr/>
          </a:p>
        </p:txBody>
      </p:sp>
      <p:sp>
        <p:nvSpPr>
          <p:cNvPr id="3128" name="Google Shape;3128;p20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129" name="Google Shape;3129;p20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130" name="Google Shape;3130;p20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4" name="Shape 3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5" name="Google Shape;3135;p206"/>
          <p:cNvSpPr txBox="1"/>
          <p:nvPr>
            <p:ph idx="1" type="body"/>
          </p:nvPr>
        </p:nvSpPr>
        <p:spPr>
          <a:xfrm>
            <a:off x="838200" y="341194"/>
            <a:ext cx="10515600" cy="616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Q3) All processes share a semaphore variable mute, X initialized to 1.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Each process must execute wait(mutex) before entering the critical section and signal(mutex) afterward.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Suppose a process executes in the following manner: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signal(mutex)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______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critical section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________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wait(mutex); 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In this situation _____________________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LcParenR"/>
            </a:pPr>
            <a:r>
              <a:rPr lang="en-US"/>
              <a:t>a deadlock will occur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LcParenR"/>
            </a:pPr>
            <a:r>
              <a:rPr lang="en-US"/>
              <a:t>processes will starve to enter critical section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LcParenR"/>
            </a:pPr>
            <a:r>
              <a:rPr lang="en-US"/>
              <a:t>several processes maybe executing in their critical section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LcParenR"/>
            </a:pPr>
            <a:r>
              <a:rPr lang="en-US"/>
              <a:t>all of the mentioned</a:t>
            </a:r>
            <a:endParaRPr/>
          </a:p>
          <a:p>
            <a:pPr indent="-403225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Answer: c</a:t>
            </a:r>
            <a:endParaRPr/>
          </a:p>
        </p:txBody>
      </p:sp>
      <p:sp>
        <p:nvSpPr>
          <p:cNvPr id="3136" name="Google Shape;3136;p20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137" name="Google Shape;3137;p20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138" name="Google Shape;3138;p20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2" name="Shape 3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" name="Google Shape;3143;p207"/>
          <p:cNvSpPr txBox="1"/>
          <p:nvPr>
            <p:ph idx="1" type="body"/>
          </p:nvPr>
        </p:nvSpPr>
        <p:spPr>
          <a:xfrm>
            <a:off x="838200" y="341194"/>
            <a:ext cx="10515600" cy="616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Q4) All processes share a semaphore variable mutex, X initialized to 1.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Each process must execute wait(mutex) before entering the critical section and signal(mutex) afterward.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Suppose a process executes in the following manner: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waitl(mutex)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______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critical section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________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wait(mutex); 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In this situation _____________________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LcParenR"/>
            </a:pPr>
            <a:r>
              <a:rPr lang="en-US"/>
              <a:t>a deadlock will occur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LcParenR"/>
            </a:pPr>
            <a:r>
              <a:rPr lang="en-US"/>
              <a:t>processes will starve to enter critical section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LcParenR"/>
            </a:pPr>
            <a:r>
              <a:rPr lang="en-US"/>
              <a:t>several processes maybe executing in their critical section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LcParenR"/>
            </a:pPr>
            <a:r>
              <a:rPr lang="en-US"/>
              <a:t>all of the mentioned</a:t>
            </a:r>
            <a:endParaRPr/>
          </a:p>
        </p:txBody>
      </p:sp>
      <p:sp>
        <p:nvSpPr>
          <p:cNvPr id="3144" name="Google Shape;3144;p20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145" name="Google Shape;3145;p20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146" name="Google Shape;3146;p20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0" name="Shape 3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1" name="Google Shape;3151;p208"/>
          <p:cNvSpPr txBox="1"/>
          <p:nvPr>
            <p:ph idx="1" type="body"/>
          </p:nvPr>
        </p:nvSpPr>
        <p:spPr>
          <a:xfrm>
            <a:off x="838200" y="341194"/>
            <a:ext cx="10515600" cy="616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Q4) All processes share a semaphore variable mutex initialized to 1.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Each process must execute wait(mutex) before entering the critical section and signal(mutex) afterward.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Suppose a process executes in the following manner: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waitl(mutex)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______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critical section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________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wait(mutex); 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In this situation _____________________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LcParenR"/>
            </a:pPr>
            <a:r>
              <a:rPr lang="en-US"/>
              <a:t>a deadlock will occur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LcParenR"/>
            </a:pPr>
            <a:r>
              <a:rPr lang="en-US"/>
              <a:t>processes will starve to enter critical section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LcParenR"/>
            </a:pPr>
            <a:r>
              <a:rPr lang="en-US"/>
              <a:t>several processes maybe executing in their critical section</a:t>
            </a:r>
            <a:endParaRPr/>
          </a:p>
          <a:p>
            <a:pPr indent="-514350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lphaLcParenR"/>
            </a:pPr>
            <a:r>
              <a:rPr lang="en-US"/>
              <a:t>all of the mentioned</a:t>
            </a:r>
            <a:endParaRPr/>
          </a:p>
          <a:p>
            <a:pPr indent="-403225" lvl="0" marL="51435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Answer: a</a:t>
            </a:r>
            <a:endParaRPr/>
          </a:p>
        </p:txBody>
      </p:sp>
      <p:sp>
        <p:nvSpPr>
          <p:cNvPr id="3152" name="Google Shape;3152;p20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153" name="Google Shape;3153;p20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154" name="Google Shape;3154;p20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8" name="Shape 3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9" name="Google Shape;3159;p209"/>
          <p:cNvSpPr txBox="1"/>
          <p:nvPr>
            <p:ph idx="1" type="body"/>
          </p:nvPr>
        </p:nvSpPr>
        <p:spPr>
          <a:xfrm>
            <a:off x="838200" y="341194"/>
            <a:ext cx="10515600" cy="616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Q5) In the bounded buffer problem, there are the empty and full semaphores that ____________</a:t>
            </a:r>
            <a:br>
              <a:rPr lang="en-US"/>
            </a:br>
            <a:r>
              <a:rPr lang="en-US"/>
              <a:t>a) count the number of empty and full buffers</a:t>
            </a:r>
            <a:br>
              <a:rPr lang="en-US"/>
            </a:br>
            <a:r>
              <a:rPr lang="en-US"/>
              <a:t>b) count the number of empty and full memory spaces</a:t>
            </a:r>
            <a:br>
              <a:rPr lang="en-US"/>
            </a:br>
            <a:r>
              <a:rPr lang="en-US"/>
              <a:t>c) count the number of empty and full queues</a:t>
            </a:r>
            <a:br>
              <a:rPr lang="en-US"/>
            </a:br>
            <a:r>
              <a:rPr lang="en-US"/>
              <a:t>d) none of the mentioned</a:t>
            </a:r>
            <a:endParaRPr/>
          </a:p>
        </p:txBody>
      </p:sp>
      <p:sp>
        <p:nvSpPr>
          <p:cNvPr id="3160" name="Google Shape;3160;p20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161" name="Google Shape;3161;p20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162" name="Google Shape;3162;p20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6" name="Shape 3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7" name="Google Shape;3167;p210"/>
          <p:cNvSpPr txBox="1"/>
          <p:nvPr>
            <p:ph idx="1" type="body"/>
          </p:nvPr>
        </p:nvSpPr>
        <p:spPr>
          <a:xfrm>
            <a:off x="838200" y="341194"/>
            <a:ext cx="10515600" cy="616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Q5) In the bounded buffer problem, there are the empty and full semaphores that ____________</a:t>
            </a:r>
            <a:br>
              <a:rPr lang="en-US"/>
            </a:br>
            <a:r>
              <a:rPr lang="en-US"/>
              <a:t>a) count the number of empty and full buffers</a:t>
            </a:r>
            <a:br>
              <a:rPr lang="en-US"/>
            </a:br>
            <a:r>
              <a:rPr lang="en-US"/>
              <a:t>b) count the number of empty and full memory spaces</a:t>
            </a:r>
            <a:br>
              <a:rPr lang="en-US"/>
            </a:br>
            <a:r>
              <a:rPr lang="en-US"/>
              <a:t>c) count the number of empty and full queues</a:t>
            </a:r>
            <a:br>
              <a:rPr lang="en-US"/>
            </a:br>
            <a:r>
              <a:rPr lang="en-US"/>
              <a:t>d) none of the mentioned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Answer: a</a:t>
            </a:r>
            <a:endParaRPr/>
          </a:p>
        </p:txBody>
      </p:sp>
      <p:sp>
        <p:nvSpPr>
          <p:cNvPr id="3168" name="Google Shape;3168;p2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169" name="Google Shape;3169;p2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170" name="Google Shape;3170;p2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4" name="Shape 3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" name="Google Shape;3175;p211"/>
          <p:cNvSpPr txBox="1"/>
          <p:nvPr>
            <p:ph idx="1" type="body"/>
          </p:nvPr>
        </p:nvSpPr>
        <p:spPr>
          <a:xfrm>
            <a:off x="838200" y="341194"/>
            <a:ext cx="10515600" cy="616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Q6) The wait operation of the semaphore basically works on the basic _______ system call.</a:t>
            </a:r>
            <a:br>
              <a:rPr lang="en-US"/>
            </a:br>
            <a:r>
              <a:rPr lang="en-US"/>
              <a:t>a) stop()</a:t>
            </a:r>
            <a:br>
              <a:rPr lang="en-US"/>
            </a:br>
            <a:r>
              <a:rPr lang="en-US"/>
              <a:t>b) block()</a:t>
            </a:r>
            <a:br>
              <a:rPr lang="en-US"/>
            </a:br>
            <a:r>
              <a:rPr lang="en-US"/>
              <a:t>c) hold()</a:t>
            </a:r>
            <a:br>
              <a:rPr lang="en-US"/>
            </a:br>
            <a:r>
              <a:rPr lang="en-US"/>
              <a:t>d) wait()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176" name="Google Shape;3176;p2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177" name="Google Shape;3177;p2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178" name="Google Shape;3178;p2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2" name="Shape 3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3" name="Google Shape;3183;p212"/>
          <p:cNvSpPr txBox="1"/>
          <p:nvPr>
            <p:ph idx="1" type="body"/>
          </p:nvPr>
        </p:nvSpPr>
        <p:spPr>
          <a:xfrm>
            <a:off x="838200" y="341194"/>
            <a:ext cx="10515600" cy="616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Q6) The wait operation of the semaphore basically works on the basic _______ system call.</a:t>
            </a:r>
            <a:br>
              <a:rPr lang="en-US"/>
            </a:br>
            <a:r>
              <a:rPr lang="en-US"/>
              <a:t>a) stop()</a:t>
            </a:r>
            <a:br>
              <a:rPr lang="en-US"/>
            </a:br>
            <a:r>
              <a:rPr lang="en-US"/>
              <a:t>b) block()</a:t>
            </a:r>
            <a:br>
              <a:rPr lang="en-US"/>
            </a:br>
            <a:r>
              <a:rPr lang="en-US"/>
              <a:t>c) hold()</a:t>
            </a:r>
            <a:br>
              <a:rPr lang="en-US"/>
            </a:br>
            <a:r>
              <a:rPr lang="en-US"/>
              <a:t>d) wait()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Answer: b</a:t>
            </a:r>
            <a:endParaRPr/>
          </a:p>
        </p:txBody>
      </p:sp>
      <p:sp>
        <p:nvSpPr>
          <p:cNvPr id="3184" name="Google Shape;3184;p2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185" name="Google Shape;3185;p2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186" name="Google Shape;3186;p2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0" name="Shape 3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1" name="Google Shape;3191;p2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2" name="Google Shape;3192;p2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193" name="Google Shape;3193;p213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3194" name="Google Shape;3194;p2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195" name="Google Shape;3195;p2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196" name="Google Shape;3196;p2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197" name="Google Shape;3197;p2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198" name="Google Shape;3198;p213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{B17DF7C6-CB32-4517-A06D-DF6127445FCC}</a:tableStyleId>
              </a:tblPr>
              <a:tblGrid>
                <a:gridCol w="1293950"/>
                <a:gridCol w="5808450"/>
                <a:gridCol w="5089600"/>
              </a:tblGrid>
              <a:tr h="22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Features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Semaphore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Monitor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62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Definition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 semaphore is an integer variable that allows many processes in a parallel system to manage access to a common resource like a multitasking OS.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It is a synchronization process that enables threads to have mutual exclusion and the wait() for a given condition to become true.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06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Syntax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// Wait Operation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wait(Semaphore S) {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while (S&lt;=0);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S--;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}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// Signal Operation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signal(Semaphore S) {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S++;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}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monitor {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//shared variable declarations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data variables;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Procedure P1() { ... }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Procedure P2() { ... }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.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Procedure Pn() { ... }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}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Basic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Integer variable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Abstract data type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Access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When a process uses shared resources, it calls the wait() method on S, and when it releases them, it uses the signal() method on 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When a process uses shared resources in the monitor, it has to access them via procedures.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Action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The semaphore's value shows the number of shared resources available in the system.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The Monitor type includes shared variables as well as a set of procedures that operate on them.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Condition Variable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 condition variables.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It has condition variables.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2" name="Shape 3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3" name="Google Shape;3203;g3191b4acc57_0_0"/>
          <p:cNvSpPr txBox="1"/>
          <p:nvPr>
            <p:ph type="title"/>
          </p:nvPr>
        </p:nvSpPr>
        <p:spPr>
          <a:xfrm>
            <a:off x="510236" y="2639211"/>
            <a:ext cx="11395800" cy="72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Monitors</a:t>
            </a:r>
            <a:endParaRPr sz="3200"/>
          </a:p>
        </p:txBody>
      </p:sp>
      <p:pic>
        <p:nvPicPr>
          <p:cNvPr id="3204" name="Google Shape;3204;g3191b4acc5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3" y="567533"/>
            <a:ext cx="385984" cy="12236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5" name="Google Shape;3205;g3191b4acc57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4" y="1754135"/>
            <a:ext cx="176409" cy="93330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206" name="Google Shape;3206;g3191b4acc57_0_0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400" cy="72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7" name="Google Shape;3207;g3191b4acc57_0_0"/>
          <p:cNvSpPr txBox="1"/>
          <p:nvPr/>
        </p:nvSpPr>
        <p:spPr>
          <a:xfrm>
            <a:off x="669758" y="991614"/>
            <a:ext cx="10315200" cy="40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208" name="Google Shape;3208;g3191b4acc57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5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209" name="Google Shape;3209;g3191b4acc57_0_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210" name="Google Shape;3210;g3191b4acc57_0_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211" name="Google Shape;3211;g3191b4acc57_0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5" name="Shape 3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6" name="Google Shape;3216;p214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Monitors</a:t>
            </a:r>
            <a:endParaRPr sz="3200"/>
          </a:p>
        </p:txBody>
      </p:sp>
      <p:pic>
        <p:nvPicPr>
          <p:cNvPr id="3217" name="Google Shape;3217;p2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8" name="Google Shape;3218;p2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219" name="Google Shape;3219;p214"/>
          <p:cNvPicPr preferRelativeResize="0"/>
          <p:nvPr>
            <p:ph idx="1" type="body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220" name="Google Shape;3220;p214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221" name="Google Shape;3221;p2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222" name="Google Shape;3222;p2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223" name="Google Shape;3223;p2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224" name="Google Shape;3224;p2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25" name="Google Shape;3225;p214"/>
          <p:cNvSpPr txBox="1"/>
          <p:nvPr/>
        </p:nvSpPr>
        <p:spPr>
          <a:xfrm>
            <a:off x="1102784" y="1282701"/>
            <a:ext cx="9279467" cy="4860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high-level synchronization construct</a:t>
            </a:r>
            <a:endParaRPr/>
          </a:p>
          <a:p>
            <a:pPr indent="-508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programmer defined operators</a:t>
            </a:r>
            <a:endParaRPr/>
          </a:p>
          <a:p>
            <a:pPr indent="-508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9" name="Shape 3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0" name="Google Shape;3230;p215"/>
          <p:cNvSpPr txBox="1"/>
          <p:nvPr>
            <p:ph type="title"/>
          </p:nvPr>
        </p:nvSpPr>
        <p:spPr>
          <a:xfrm>
            <a:off x="375710" y="195441"/>
            <a:ext cx="11395912" cy="555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Syntax of Monitors</a:t>
            </a:r>
            <a:endParaRPr sz="3200"/>
          </a:p>
        </p:txBody>
      </p:sp>
      <p:pic>
        <p:nvPicPr>
          <p:cNvPr id="3231" name="Google Shape;3231;p2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2" name="Google Shape;3232;p2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233" name="Google Shape;3233;p215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234" name="Google Shape;3234;p215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235" name="Google Shape;3235;p2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236" name="Google Shape;3236;p2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237" name="Google Shape;3237;p2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238" name="Google Shape;3238;p2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39" name="Google Shape;3239;p215"/>
          <p:cNvSpPr txBox="1"/>
          <p:nvPr/>
        </p:nvSpPr>
        <p:spPr>
          <a:xfrm>
            <a:off x="1187561" y="569708"/>
            <a:ext cx="9279467" cy="4860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2" marL="11430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mo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monitor monitor-name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mo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mo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// shared variable declarations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mo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procedure P1 (…) { …. }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mo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procedure Pn (…) {……}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mo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Initialization code (…) { … }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mo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3" name="Shape 3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4" name="Google Shape;3244;p216"/>
          <p:cNvSpPr txBox="1"/>
          <p:nvPr>
            <p:ph type="title"/>
          </p:nvPr>
        </p:nvSpPr>
        <p:spPr>
          <a:xfrm>
            <a:off x="401054" y="191861"/>
            <a:ext cx="11395912" cy="72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Monitors</a:t>
            </a:r>
            <a:endParaRPr sz="3200"/>
          </a:p>
        </p:txBody>
      </p:sp>
      <p:pic>
        <p:nvPicPr>
          <p:cNvPr id="3245" name="Google Shape;3245;p2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6" name="Google Shape;3246;p2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247" name="Google Shape;3247;p21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248" name="Google Shape;3248;p216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249" name="Google Shape;3249;p2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250" name="Google Shape;3250;p2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251" name="Google Shape;3251;p2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252" name="Google Shape;3252;p2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53" name="Google Shape;3253;p216"/>
          <p:cNvSpPr txBox="1"/>
          <p:nvPr/>
        </p:nvSpPr>
        <p:spPr>
          <a:xfrm>
            <a:off x="1102784" y="736791"/>
            <a:ext cx="9279467" cy="4860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Declaration  of variables </a:t>
            </a:r>
            <a:endParaRPr i="1"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whose </a:t>
            </a: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value define the state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an instance of the type</a:t>
            </a:r>
            <a:endParaRPr/>
          </a:p>
          <a:p>
            <a:pPr indent="-508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Bodies of procedures </a:t>
            </a:r>
            <a:endParaRPr i="1"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</a:t>
            </a:r>
            <a:r>
              <a:rPr b="0" i="1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implement oper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ations on the type</a:t>
            </a:r>
            <a:endParaRPr/>
          </a:p>
          <a:p>
            <a:pPr indent="-508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4" name="Google Shape;3254;p216"/>
          <p:cNvSpPr txBox="1"/>
          <p:nvPr/>
        </p:nvSpPr>
        <p:spPr>
          <a:xfrm>
            <a:off x="1187561" y="3000171"/>
            <a:ext cx="9279467" cy="2430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2" marL="11430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mo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monitor monitor-name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mo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mo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// shared variable declarations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mo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procedure P1 (…) { …. }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mo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procedure Pn (…) {……}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mo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Initialization code (…) { … }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mo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8" name="Shape 3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9" name="Google Shape;3259;p217"/>
          <p:cNvSpPr txBox="1"/>
          <p:nvPr>
            <p:ph type="title"/>
          </p:nvPr>
        </p:nvSpPr>
        <p:spPr>
          <a:xfrm>
            <a:off x="375710" y="-22923"/>
            <a:ext cx="11395912" cy="555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Monitors</a:t>
            </a:r>
            <a:endParaRPr sz="3200"/>
          </a:p>
        </p:txBody>
      </p:sp>
      <p:pic>
        <p:nvPicPr>
          <p:cNvPr id="3260" name="Google Shape;3260;p2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1" name="Google Shape;3261;p2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262" name="Google Shape;3262;p217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263" name="Google Shape;3263;p217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264" name="Google Shape;3264;p2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265" name="Google Shape;3265;p2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266" name="Google Shape;3266;p2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267" name="Google Shape;3267;p2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68" name="Google Shape;3268;p217"/>
          <p:cNvSpPr txBox="1"/>
          <p:nvPr/>
        </p:nvSpPr>
        <p:spPr>
          <a:xfrm>
            <a:off x="1187561" y="569708"/>
            <a:ext cx="9279467" cy="4860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nternal variables only accessible by code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within the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procedure</a:t>
            </a:r>
            <a:endParaRPr/>
          </a:p>
          <a:p>
            <a:pPr indent="-762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Procedure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defined within the monitor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can access only those variables </a:t>
            </a:r>
            <a:endParaRPr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declared locally within the monitor and </a:t>
            </a:r>
            <a:endParaRPr b="0" i="0" sz="24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its formal parameters.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hat Is Monitors In Interprocess Communication In Operating System In HINDI  | Monitors In OS" id="3269" name="Google Shape;3269;p2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55873" y="2156346"/>
            <a:ext cx="4343400" cy="4095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3" name="Shape 3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4" name="Google Shape;3274;p218"/>
          <p:cNvSpPr txBox="1"/>
          <p:nvPr>
            <p:ph type="title"/>
          </p:nvPr>
        </p:nvSpPr>
        <p:spPr>
          <a:xfrm>
            <a:off x="375710" y="-22923"/>
            <a:ext cx="11395912" cy="555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Schematic view of a Monitor</a:t>
            </a:r>
            <a:endParaRPr sz="3200"/>
          </a:p>
        </p:txBody>
      </p:sp>
      <p:pic>
        <p:nvPicPr>
          <p:cNvPr id="3275" name="Google Shape;3275;p2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6" name="Google Shape;3276;p2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277" name="Google Shape;3277;p218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278" name="Google Shape;3278;p218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279" name="Google Shape;3279;p2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280" name="Google Shape;3280;p2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281" name="Google Shape;3281;p2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282" name="Google Shape;3282;p2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6" id="3283" name="Google Shape;3283;p2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0125" y="757684"/>
            <a:ext cx="6568017" cy="468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hat Is Monitors In Interprocess Communication In Operating System In HINDI  | Monitors In OS" id="3284" name="Google Shape;3284;p2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34297" y="1078358"/>
            <a:ext cx="4343400" cy="4362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8" name="Shape 3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9" name="Google Shape;3289;p219"/>
          <p:cNvSpPr txBox="1"/>
          <p:nvPr>
            <p:ph type="title"/>
          </p:nvPr>
        </p:nvSpPr>
        <p:spPr>
          <a:xfrm>
            <a:off x="375710" y="-22923"/>
            <a:ext cx="11395912" cy="555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Monitors</a:t>
            </a:r>
            <a:endParaRPr sz="3200"/>
          </a:p>
        </p:txBody>
      </p:sp>
      <p:pic>
        <p:nvPicPr>
          <p:cNvPr id="3290" name="Google Shape;3290;p2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1" name="Google Shape;3291;p2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292" name="Google Shape;3292;p219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293" name="Google Shape;3293;p219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294" name="Google Shape;3294;p2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295" name="Google Shape;3295;p2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296" name="Google Shape;3296;p2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297" name="Google Shape;3297;p2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98" name="Google Shape;3298;p219"/>
          <p:cNvSpPr txBox="1"/>
          <p:nvPr/>
        </p:nvSpPr>
        <p:spPr>
          <a:xfrm>
            <a:off x="1187562" y="1015412"/>
            <a:ext cx="6086696" cy="3174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the collection of condition variables and procedures combined together in a special kind of module or a package.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hat Is Monitors In Interprocess Communication In Operating System In HINDI  | Monitors In OS" id="3299" name="Google Shape;3299;p2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34297" y="1078358"/>
            <a:ext cx="4343400" cy="4362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3" name="Shape 3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4" name="Google Shape;3304;p220"/>
          <p:cNvSpPr txBox="1"/>
          <p:nvPr>
            <p:ph type="title"/>
          </p:nvPr>
        </p:nvSpPr>
        <p:spPr>
          <a:xfrm>
            <a:off x="375710" y="-22923"/>
            <a:ext cx="11395912" cy="555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Monitors</a:t>
            </a:r>
            <a:endParaRPr sz="3200"/>
          </a:p>
        </p:txBody>
      </p:sp>
      <p:pic>
        <p:nvPicPr>
          <p:cNvPr id="3305" name="Google Shape;3305;p2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6" name="Google Shape;3306;p2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307" name="Google Shape;3307;p220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08" name="Google Shape;3308;p220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309" name="Google Shape;3309;p2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310" name="Google Shape;3310;p2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311" name="Google Shape;3311;p2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312" name="Google Shape;3312;p2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13" name="Google Shape;3313;p220"/>
          <p:cNvSpPr txBox="1"/>
          <p:nvPr/>
        </p:nvSpPr>
        <p:spPr>
          <a:xfrm>
            <a:off x="1187562" y="569708"/>
            <a:ext cx="6086696" cy="4860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processes running outside the monitor can’t access the internal variable of the monitor but can call procedures of the monitor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t/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hat Is Monitors In Interprocess Communication In Operating System In HINDI  | Monitors In OS" id="3314" name="Google Shape;3314;p2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34297" y="1078358"/>
            <a:ext cx="4343400" cy="4362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8" name="Shape 3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9" name="Google Shape;3319;p221"/>
          <p:cNvSpPr txBox="1"/>
          <p:nvPr>
            <p:ph type="title"/>
          </p:nvPr>
        </p:nvSpPr>
        <p:spPr>
          <a:xfrm>
            <a:off x="375710" y="-22923"/>
            <a:ext cx="11395912" cy="555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Monitors</a:t>
            </a:r>
            <a:endParaRPr sz="3200"/>
          </a:p>
        </p:txBody>
      </p:sp>
      <p:pic>
        <p:nvPicPr>
          <p:cNvPr id="3320" name="Google Shape;3320;p2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1" name="Google Shape;3321;p2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322" name="Google Shape;3322;p221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23" name="Google Shape;3323;p221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324" name="Google Shape;3324;p2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325" name="Google Shape;3325;p2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326" name="Google Shape;3326;p2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327" name="Google Shape;3327;p2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28" name="Google Shape;3328;p221"/>
          <p:cNvSpPr txBox="1"/>
          <p:nvPr/>
        </p:nvSpPr>
        <p:spPr>
          <a:xfrm>
            <a:off x="1187561" y="1228299"/>
            <a:ext cx="9279467" cy="4202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one process at a time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can execute code inside monitors.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 ensures that </a:t>
            </a:r>
            <a:endParaRPr/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one process may be active within the monitor at a time</a:t>
            </a:r>
            <a:endParaRPr/>
          </a:p>
          <a:p>
            <a:pPr indent="-762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2" name="Shape 3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3" name="Google Shape;3333;p222"/>
          <p:cNvSpPr txBox="1"/>
          <p:nvPr>
            <p:ph type="title"/>
          </p:nvPr>
        </p:nvSpPr>
        <p:spPr>
          <a:xfrm>
            <a:off x="375710" y="-22923"/>
            <a:ext cx="11395912" cy="555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Monitors</a:t>
            </a:r>
            <a:endParaRPr sz="3200"/>
          </a:p>
        </p:txBody>
      </p:sp>
      <p:pic>
        <p:nvPicPr>
          <p:cNvPr id="3334" name="Google Shape;3334;p2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5" name="Google Shape;3335;p2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336" name="Google Shape;3336;p222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37" name="Google Shape;3337;p222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338" name="Google Shape;3338;p2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339" name="Google Shape;3339;p2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340" name="Google Shape;3340;p2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341" name="Google Shape;3341;p2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42" name="Google Shape;3342;p222"/>
          <p:cNvSpPr txBox="1"/>
          <p:nvPr/>
        </p:nvSpPr>
        <p:spPr>
          <a:xfrm>
            <a:off x="1187561" y="1228299"/>
            <a:ext cx="9279467" cy="4202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Prgmr does not need to </a:t>
            </a:r>
            <a:endParaRPr/>
          </a:p>
          <a:p>
            <a:pPr indent="-228600" lvl="1" marL="6858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the synchronization constraint explicitly</a:t>
            </a:r>
            <a:endParaRPr/>
          </a:p>
          <a:p>
            <a:pPr indent="-762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not powerful enough to model some synchronization schemes</a:t>
            </a:r>
            <a:endParaRPr/>
          </a:p>
          <a:p>
            <a:pPr indent="-762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to define additional condition construct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mo"/>
              <a:buNone/>
            </a:pPr>
            <a:r>
              <a:t/>
            </a:r>
            <a:endParaRPr b="0" i="0" sz="20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6" name="Shape 3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7" name="Google Shape;3347;p223"/>
          <p:cNvSpPr txBox="1"/>
          <p:nvPr>
            <p:ph type="title"/>
          </p:nvPr>
        </p:nvSpPr>
        <p:spPr>
          <a:xfrm>
            <a:off x="375710" y="-22923"/>
            <a:ext cx="11395912" cy="555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Condition Variables</a:t>
            </a:r>
            <a:endParaRPr sz="3200"/>
          </a:p>
        </p:txBody>
      </p:sp>
      <p:pic>
        <p:nvPicPr>
          <p:cNvPr id="3348" name="Google Shape;3348;p2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9" name="Google Shape;3349;p2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350" name="Google Shape;3350;p223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51" name="Google Shape;3351;p223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352" name="Google Shape;3352;p2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353" name="Google Shape;3353;p2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354" name="Google Shape;3354;p2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355" name="Google Shape;3355;p2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56" name="Google Shape;3356;p223"/>
          <p:cNvSpPr txBox="1"/>
          <p:nvPr/>
        </p:nvSpPr>
        <p:spPr>
          <a:xfrm>
            <a:off x="1102785" y="1150938"/>
            <a:ext cx="9696449" cy="4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Prgmr can define </a:t>
            </a:r>
            <a:r>
              <a:rPr b="1" lang="en-US" sz="20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one or more condition variables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		condition</a:t>
            </a:r>
            <a:r>
              <a:rPr b="1" lang="en-US" sz="28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20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x, y</a:t>
            </a:r>
            <a:r>
              <a:rPr b="1" lang="en-US" sz="28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Only Two operations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allowed on a condition variable: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x.wait()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x.signal()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nitors" id="3357" name="Google Shape;3357;p2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98544" y="3417651"/>
            <a:ext cx="3626339" cy="2614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1" name="Shape 3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2" name="Google Shape;3362;p224"/>
          <p:cNvSpPr txBox="1"/>
          <p:nvPr>
            <p:ph type="title"/>
          </p:nvPr>
        </p:nvSpPr>
        <p:spPr>
          <a:xfrm>
            <a:off x="375710" y="-22923"/>
            <a:ext cx="11395912" cy="555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Condition Variables</a:t>
            </a:r>
            <a:endParaRPr sz="3200"/>
          </a:p>
        </p:txBody>
      </p:sp>
      <p:pic>
        <p:nvPicPr>
          <p:cNvPr id="3363" name="Google Shape;3363;p2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4" name="Google Shape;3364;p2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365" name="Google Shape;3365;p224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66" name="Google Shape;3366;p224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367" name="Google Shape;3367;p2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368" name="Google Shape;3368;p2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369" name="Google Shape;3369;p2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370" name="Google Shape;3370;p2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71" name="Google Shape;3371;p224"/>
          <p:cNvSpPr txBox="1"/>
          <p:nvPr/>
        </p:nvSpPr>
        <p:spPr>
          <a:xfrm>
            <a:off x="788886" y="389935"/>
            <a:ext cx="9696449" cy="4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x.wait()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Process performing wait operation on any condition variable are suspended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suspended until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x.signal()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suspended processes are placed in </a:t>
            </a:r>
            <a:r>
              <a:rPr b="0" i="0" lang="en-US" sz="2400" u="sng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block queue of that condition variable.</a:t>
            </a:r>
            <a:r>
              <a:rPr b="1" i="0" lang="en-US" sz="2400" u="sng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</p:txBody>
      </p:sp>
      <p:pic>
        <p:nvPicPr>
          <p:cNvPr descr="6" id="3372" name="Google Shape;3372;p2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74585" y="2402006"/>
            <a:ext cx="7516078" cy="3850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6" name="Shape 3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7" name="Google Shape;3377;p225"/>
          <p:cNvSpPr txBox="1"/>
          <p:nvPr>
            <p:ph type="title"/>
          </p:nvPr>
        </p:nvSpPr>
        <p:spPr>
          <a:xfrm>
            <a:off x="375710" y="-22923"/>
            <a:ext cx="11395912" cy="555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Condition Variables</a:t>
            </a:r>
            <a:endParaRPr sz="3200"/>
          </a:p>
        </p:txBody>
      </p:sp>
      <p:pic>
        <p:nvPicPr>
          <p:cNvPr id="3378" name="Google Shape;3378;p2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9" name="Google Shape;3379;p2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380" name="Google Shape;3380;p225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81" name="Google Shape;3381;p225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382" name="Google Shape;3382;p2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383" name="Google Shape;3383;p2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384" name="Google Shape;3384;p2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385" name="Google Shape;3385;p2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86" name="Google Shape;3386;p225"/>
          <p:cNvSpPr txBox="1"/>
          <p:nvPr/>
        </p:nvSpPr>
        <p:spPr>
          <a:xfrm>
            <a:off x="1102785" y="1150938"/>
            <a:ext cx="9696449" cy="4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x.signal()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24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When a process performs signal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operation on condition variable,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one of the blocked processes is given chance.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resumes one of processes</a:t>
            </a:r>
            <a:r>
              <a:rPr b="0" i="0" lang="en-US" sz="2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(if any)</a:t>
            </a:r>
            <a:r>
              <a:rPr b="0" i="0" lang="en-US" sz="2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</a:t>
            </a:r>
            <a:r>
              <a:rPr b="0" i="0" lang="en-US" sz="2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invoked</a:t>
            </a:r>
            <a:r>
              <a:rPr b="0" i="0" lang="en-US" sz="24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x.wait()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no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process is suspended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then it has no effect on the variable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 of x, As if the operation was never executed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contrast to semaphore, state of semaphore always gets affected</a:t>
            </a:r>
            <a:endParaRPr/>
          </a:p>
          <a:p>
            <a:pPr indent="-762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0" name="Shape 3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1" name="Google Shape;3391;p226"/>
          <p:cNvSpPr txBox="1"/>
          <p:nvPr>
            <p:ph type="title"/>
          </p:nvPr>
        </p:nvSpPr>
        <p:spPr>
          <a:xfrm>
            <a:off x="375710" y="-22923"/>
            <a:ext cx="11395912" cy="555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Monitor with Condition Variables</a:t>
            </a:r>
            <a:endParaRPr sz="3200"/>
          </a:p>
        </p:txBody>
      </p:sp>
      <p:pic>
        <p:nvPicPr>
          <p:cNvPr id="3392" name="Google Shape;3392;p2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3" name="Google Shape;3393;p2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394" name="Google Shape;3394;p22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395" name="Google Shape;3395;p226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396" name="Google Shape;3396;p2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397" name="Google Shape;3397;p2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398" name="Google Shape;3398;p2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399" name="Google Shape;3399;p2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6" id="3400" name="Google Shape;3400;p2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05567" y="1323975"/>
            <a:ext cx="8388351" cy="4348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nitors" id="3401" name="Google Shape;3401;p2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0"/>
            <a:ext cx="3194946" cy="2303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5" name="Shape 3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6" name="Google Shape;3406;p227"/>
          <p:cNvSpPr txBox="1"/>
          <p:nvPr>
            <p:ph type="title"/>
          </p:nvPr>
        </p:nvSpPr>
        <p:spPr>
          <a:xfrm>
            <a:off x="375710" y="-22923"/>
            <a:ext cx="11395912" cy="555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Condition Variables Choices</a:t>
            </a:r>
            <a:endParaRPr sz="3200"/>
          </a:p>
        </p:txBody>
      </p:sp>
      <p:pic>
        <p:nvPicPr>
          <p:cNvPr id="3407" name="Google Shape;3407;p2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8" name="Google Shape;3408;p2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409" name="Google Shape;3409;p227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410" name="Google Shape;3410;p227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411" name="Google Shape;3411;p2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412" name="Google Shape;3412;p2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413" name="Google Shape;3413;p2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414" name="Google Shape;3414;p2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15" name="Google Shape;3415;p227"/>
          <p:cNvSpPr txBox="1"/>
          <p:nvPr/>
        </p:nvSpPr>
        <p:spPr>
          <a:xfrm>
            <a:off x="1159933" y="1179514"/>
            <a:ext cx="10433051" cy="4713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process P invokes </a:t>
            </a:r>
            <a:r>
              <a:rPr b="1" lang="en-US" sz="24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x.signal(),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process Q is suspended in </a:t>
            </a:r>
            <a:r>
              <a:rPr b="1" lang="en-US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x.wait()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Suspended process Q associated with condition x is invoked</a:t>
            </a:r>
            <a:endParaRPr b="0" i="0" sz="24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should happen next? 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6" id="3416" name="Google Shape;3416;p2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74585" y="2587035"/>
            <a:ext cx="6451551" cy="2853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0" name="Shape 3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1" name="Google Shape;3421;p228"/>
          <p:cNvSpPr txBox="1"/>
          <p:nvPr>
            <p:ph type="title"/>
          </p:nvPr>
        </p:nvSpPr>
        <p:spPr>
          <a:xfrm>
            <a:off x="375710" y="-22923"/>
            <a:ext cx="11395912" cy="555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Condition Variables Choices</a:t>
            </a:r>
            <a:endParaRPr sz="3200"/>
          </a:p>
        </p:txBody>
      </p:sp>
      <p:pic>
        <p:nvPicPr>
          <p:cNvPr id="3422" name="Google Shape;3422;p2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3" name="Google Shape;3423;p2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424" name="Google Shape;3424;p228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425" name="Google Shape;3425;p228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426" name="Google Shape;3426;p2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427" name="Google Shape;3427;p2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428" name="Google Shape;3428;p2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429" name="Google Shape;3429;p2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30" name="Google Shape;3430;p228"/>
          <p:cNvSpPr txBox="1"/>
          <p:nvPr/>
        </p:nvSpPr>
        <p:spPr>
          <a:xfrm>
            <a:off x="1159933" y="1179514"/>
            <a:ext cx="10433051" cy="4713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Q and P cannot execute in parallel. 	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If Q is resumed, then P must wait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Otherwise both P and Q will be active simultaneously within the monitor</a:t>
            </a:r>
            <a:endParaRPr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4" name="Shape 3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5" name="Google Shape;3435;p229"/>
          <p:cNvSpPr txBox="1"/>
          <p:nvPr>
            <p:ph type="title"/>
          </p:nvPr>
        </p:nvSpPr>
        <p:spPr>
          <a:xfrm>
            <a:off x="375710" y="-22923"/>
            <a:ext cx="11395912" cy="555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Condition Variables Choices</a:t>
            </a:r>
            <a:endParaRPr sz="3200"/>
          </a:p>
        </p:txBody>
      </p:sp>
      <p:pic>
        <p:nvPicPr>
          <p:cNvPr id="3436" name="Google Shape;3436;p2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7" name="Google Shape;3437;p2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438" name="Google Shape;3438;p229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439" name="Google Shape;3439;p229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440" name="Google Shape;3440;p2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441" name="Google Shape;3441;p2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442" name="Google Shape;3442;p2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443" name="Google Shape;3443;p2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44" name="Google Shape;3444;p229"/>
          <p:cNvSpPr txBox="1"/>
          <p:nvPr/>
        </p:nvSpPr>
        <p:spPr>
          <a:xfrm>
            <a:off x="1159933" y="1179514"/>
            <a:ext cx="10433051" cy="4713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Options include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Signal and wait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waits until Q either leaves the monitor or it waits for another condition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Signal and continue </a:t>
            </a: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 waits until P either leaves the monitor or it  waits for another condition</a:t>
            </a:r>
            <a:endParaRPr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8" name="Shape 3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9" name="Google Shape;3449;p230"/>
          <p:cNvSpPr txBox="1"/>
          <p:nvPr>
            <p:ph type="title"/>
          </p:nvPr>
        </p:nvSpPr>
        <p:spPr>
          <a:xfrm>
            <a:off x="375710" y="-22923"/>
            <a:ext cx="11395912" cy="555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Condition Variables Choices</a:t>
            </a:r>
            <a:endParaRPr sz="3200"/>
          </a:p>
        </p:txBody>
      </p:sp>
      <p:pic>
        <p:nvPicPr>
          <p:cNvPr id="3450" name="Google Shape;3450;p2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1" name="Google Shape;3451;p2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452" name="Google Shape;3452;p230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453" name="Google Shape;3453;p230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454" name="Google Shape;3454;p2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455" name="Google Shape;3455;p2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456" name="Google Shape;3456;p2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457" name="Google Shape;3457;p2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8" name="Google Shape;3458;p230"/>
          <p:cNvSpPr txBox="1"/>
          <p:nvPr/>
        </p:nvSpPr>
        <p:spPr>
          <a:xfrm>
            <a:off x="1159933" y="1179514"/>
            <a:ext cx="10433051" cy="4713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P was already executing in the monitor,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 2 seems more reasonable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However, If P continues, the logical condition for which Q was waiting may no longer hold by the time Q is resumed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have pros and cons – language implementer can decide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Monitors implemented in Concurrent Pascal compromise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 executing signal immediately leaves the monitor, Q is resumed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languages that do support monitors are Java, C#, Visual Basic, Ada, Mesa and concurrent Euclid.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2" name="Shape 3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3" name="Google Shape;3463;p231"/>
          <p:cNvSpPr txBox="1"/>
          <p:nvPr>
            <p:ph type="title"/>
          </p:nvPr>
        </p:nvSpPr>
        <p:spPr>
          <a:xfrm>
            <a:off x="375710" y="-22923"/>
            <a:ext cx="11395912" cy="555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Monitors</a:t>
            </a:r>
            <a:endParaRPr sz="3200"/>
          </a:p>
        </p:txBody>
      </p:sp>
      <p:pic>
        <p:nvPicPr>
          <p:cNvPr id="3464" name="Google Shape;3464;p2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5" name="Google Shape;3465;p2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466" name="Google Shape;3466;p231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467" name="Google Shape;3467;p231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468" name="Google Shape;3468;p2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469" name="Google Shape;3469;p2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470" name="Google Shape;3470;p2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471" name="Google Shape;3471;p2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72" name="Google Shape;3472;p231"/>
          <p:cNvSpPr txBox="1"/>
          <p:nvPr/>
        </p:nvSpPr>
        <p:spPr>
          <a:xfrm>
            <a:off x="1219200" y="368490"/>
            <a:ext cx="9927167" cy="5759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Advantages of Monitor:</a:t>
            </a:r>
            <a:br>
              <a:rPr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Make parallel programming easier and 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 error prone than using techniques such as semaphore.</a:t>
            </a:r>
            <a:endParaRPr/>
          </a:p>
          <a:p>
            <a:pPr indent="-61277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Disadvantages of Monitor:</a:t>
            </a:r>
            <a:br>
              <a:rPr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Monitors have to be implemented as part of the programming language . 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compiler must generate code for them. 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gives the compiler the additional burden of having to know what operating system facilities are available to control access to critical sections in concurrent processes. 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ct val="100000"/>
              <a:buFont typeface="Arial"/>
              <a:buNone/>
            </a:pPr>
            <a:r>
              <a:rPr i="1" lang="en-US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6" name="Shape 3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7" name="Google Shape;3477;p232"/>
          <p:cNvSpPr txBox="1"/>
          <p:nvPr>
            <p:ph type="title"/>
          </p:nvPr>
        </p:nvSpPr>
        <p:spPr>
          <a:xfrm>
            <a:off x="375710" y="-22923"/>
            <a:ext cx="11395912" cy="555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Monitor Solution to Dining Philosophers </a:t>
            </a:r>
            <a:endParaRPr sz="3200"/>
          </a:p>
        </p:txBody>
      </p:sp>
      <p:pic>
        <p:nvPicPr>
          <p:cNvPr id="3478" name="Google Shape;3478;p2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9" name="Google Shape;3479;p2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480" name="Google Shape;3480;p232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481" name="Google Shape;3481;p232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482" name="Google Shape;3482;p2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483" name="Google Shape;3483;p2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484" name="Google Shape;3484;p2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485" name="Google Shape;3485;p2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86" name="Google Shape;3486;p232"/>
          <p:cNvSpPr txBox="1"/>
          <p:nvPr/>
        </p:nvSpPr>
        <p:spPr>
          <a:xfrm>
            <a:off x="1159933" y="1179514"/>
            <a:ext cx="10433051" cy="4713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Deadlock free solution to Dining Philosophers Problem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distinguish amongst the 3 states in which the philosopher may be-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enum { THINKING; HUNGRY, EATING) state [5] ;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Philosopher i can set the variable state [i] = EATING only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if her two neighbors are not eating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(state [ (i +4) % 5] ! = EATING) and (state [ (i +1) % 5] != EATING)</a:t>
            </a:r>
            <a:endParaRPr b="1" i="0" sz="20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E DINING PHILOSOPHERS PROBLEM" id="3487" name="Google Shape;3487;p232"/>
          <p:cNvPicPr preferRelativeResize="0"/>
          <p:nvPr/>
        </p:nvPicPr>
        <p:blipFill rotWithShape="1">
          <a:blip r:embed="rId7">
            <a:alphaModFix/>
          </a:blip>
          <a:srcRect b="0" l="0" r="32971" t="0"/>
          <a:stretch/>
        </p:blipFill>
        <p:spPr>
          <a:xfrm>
            <a:off x="9009528" y="1291513"/>
            <a:ext cx="3085881" cy="3717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1" name="Shape 3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2" name="Google Shape;3492;p233"/>
          <p:cNvSpPr txBox="1"/>
          <p:nvPr>
            <p:ph type="title"/>
          </p:nvPr>
        </p:nvSpPr>
        <p:spPr>
          <a:xfrm>
            <a:off x="375710" y="-22923"/>
            <a:ext cx="11395912" cy="555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Monitor Solution to Dining Philosophers </a:t>
            </a:r>
            <a:endParaRPr sz="3200"/>
          </a:p>
        </p:txBody>
      </p:sp>
      <p:pic>
        <p:nvPicPr>
          <p:cNvPr id="3493" name="Google Shape;3493;p2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4" name="Google Shape;3494;p2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495" name="Google Shape;3495;p233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496" name="Google Shape;3496;p233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497" name="Google Shape;3497;p2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498" name="Google Shape;3498;p2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499" name="Google Shape;3499;p2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500" name="Google Shape;3500;p2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01" name="Google Shape;3501;p233"/>
          <p:cNvSpPr txBox="1"/>
          <p:nvPr/>
        </p:nvSpPr>
        <p:spPr>
          <a:xfrm>
            <a:off x="1159933" y="1179514"/>
            <a:ext cx="10433051" cy="4713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Philosopher i can set the variable state [i] = EATING only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if her two neighbors are not eating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(state [ (i +4) % 5] ! = EATING) and (state [ (i +1) % 5] != EATING)</a:t>
            </a:r>
            <a:endParaRPr b="1" i="0" sz="20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i=3,P3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state(i+1), state P4,Right Neighbour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state(i+4)%5,7%5,state P2,Left Neighbour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E DINING PHILOSOPHERS PROBLEM" id="3502" name="Google Shape;3502;p233"/>
          <p:cNvPicPr preferRelativeResize="0"/>
          <p:nvPr/>
        </p:nvPicPr>
        <p:blipFill rotWithShape="1">
          <a:blip r:embed="rId7">
            <a:alphaModFix/>
          </a:blip>
          <a:srcRect b="0" l="0" r="32971" t="0"/>
          <a:stretch/>
        </p:blipFill>
        <p:spPr>
          <a:xfrm>
            <a:off x="9009528" y="1291513"/>
            <a:ext cx="3085881" cy="3717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6" name="Shape 3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7" name="Google Shape;3507;p234"/>
          <p:cNvSpPr txBox="1"/>
          <p:nvPr>
            <p:ph type="title"/>
          </p:nvPr>
        </p:nvSpPr>
        <p:spPr>
          <a:xfrm>
            <a:off x="375710" y="-22923"/>
            <a:ext cx="11395912" cy="555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Monitor Solution to Dining Philosophers </a:t>
            </a:r>
            <a:endParaRPr sz="3200"/>
          </a:p>
        </p:txBody>
      </p:sp>
      <p:pic>
        <p:nvPicPr>
          <p:cNvPr id="3508" name="Google Shape;3508;p2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9" name="Google Shape;3509;p2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510" name="Google Shape;3510;p234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511" name="Google Shape;3511;p234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512" name="Google Shape;3512;p2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513" name="Google Shape;3513;p2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514" name="Google Shape;3514;p2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515" name="Google Shape;3515;p2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16" name="Google Shape;3516;p234"/>
          <p:cNvSpPr txBox="1"/>
          <p:nvPr/>
        </p:nvSpPr>
        <p:spPr>
          <a:xfrm>
            <a:off x="1159933" y="1179514"/>
            <a:ext cx="10433051" cy="4713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need to declare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 self[5];</a:t>
            </a:r>
            <a:endParaRPr/>
          </a:p>
          <a:p>
            <a:pPr indent="-101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which i</a:t>
            </a:r>
            <a:r>
              <a:rPr b="0" baseline="3000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philosopher </a:t>
            </a:r>
            <a:r>
              <a:rPr b="1" i="0" lang="en-US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can delay herself when she is hungry but is unable to obtain the chopsticks she needs.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Distribution of chopsticks is controlled by the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monitor DiningPhilosophers</a:t>
            </a:r>
            <a:endParaRPr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0" name="Shape 3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1" name="Google Shape;3521;p235"/>
          <p:cNvSpPr txBox="1"/>
          <p:nvPr>
            <p:ph type="title"/>
          </p:nvPr>
        </p:nvSpPr>
        <p:spPr>
          <a:xfrm>
            <a:off x="375710" y="-22923"/>
            <a:ext cx="11395912" cy="555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Monitor Solution to Dining Philosophers </a:t>
            </a:r>
            <a:endParaRPr sz="3200"/>
          </a:p>
        </p:txBody>
      </p:sp>
      <p:pic>
        <p:nvPicPr>
          <p:cNvPr id="3522" name="Google Shape;3522;p2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3" name="Google Shape;3523;p2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524" name="Google Shape;3524;p235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525" name="Google Shape;3525;p235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526" name="Google Shape;3526;p2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527" name="Google Shape;3527;p2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528" name="Google Shape;3528;p2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529" name="Google Shape;3529;p2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0" name="Google Shape;3530;p235"/>
          <p:cNvSpPr txBox="1"/>
          <p:nvPr/>
        </p:nvSpPr>
        <p:spPr>
          <a:xfrm>
            <a:off x="1528234" y="979488"/>
            <a:ext cx="9793817" cy="53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monitor DiningPhilosophers</a:t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enum { THINKING; HUNGRY, EATING) state [5] ;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condition self [5];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void pickup (int i) { 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 state[i] = HUNGRY;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 test(i);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 if (state[i] != EATING) 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	self[i].wait;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</p:txBody>
      </p:sp>
      <p:sp>
        <p:nvSpPr>
          <p:cNvPr id="3531" name="Google Shape;3531;p235"/>
          <p:cNvSpPr/>
          <p:nvPr/>
        </p:nvSpPr>
        <p:spPr>
          <a:xfrm>
            <a:off x="7328846" y="3301406"/>
            <a:ext cx="4594447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unable to eat, waits to be signaled 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Philosopher can delay herself when she is hungry but is unable to obtain the chopsticks she needs.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2" name="Google Shape;3532;p235"/>
          <p:cNvSpPr/>
          <p:nvPr/>
        </p:nvSpPr>
        <p:spPr>
          <a:xfrm>
            <a:off x="5609273" y="3538796"/>
            <a:ext cx="1965234" cy="2661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570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3" name="Google Shape;3533;p235"/>
          <p:cNvSpPr/>
          <p:nvPr/>
        </p:nvSpPr>
        <p:spPr>
          <a:xfrm>
            <a:off x="4626655" y="2592159"/>
            <a:ext cx="3084329" cy="2661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570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4" name="Google Shape;3534;p235"/>
          <p:cNvSpPr/>
          <p:nvPr/>
        </p:nvSpPr>
        <p:spPr>
          <a:xfrm>
            <a:off x="7840842" y="2540585"/>
            <a:ext cx="18734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Pickup chopsticks </a:t>
            </a:r>
            <a:endParaRPr/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8" name="Shape 3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9" name="Google Shape;3539;p236"/>
          <p:cNvSpPr txBox="1"/>
          <p:nvPr>
            <p:ph type="title"/>
          </p:nvPr>
        </p:nvSpPr>
        <p:spPr>
          <a:xfrm>
            <a:off x="375710" y="-22923"/>
            <a:ext cx="11395912" cy="555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Monitor Solution to Dining Philosophers </a:t>
            </a:r>
            <a:endParaRPr sz="3200"/>
          </a:p>
        </p:txBody>
      </p:sp>
      <p:pic>
        <p:nvPicPr>
          <p:cNvPr id="3540" name="Google Shape;3540;p2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1" name="Google Shape;3541;p2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542" name="Google Shape;3542;p23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543" name="Google Shape;3543;p236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544" name="Google Shape;3544;p2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545" name="Google Shape;3545;p2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546" name="Google Shape;3546;p2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547" name="Google Shape;3547;p2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8" name="Google Shape;3548;p236"/>
          <p:cNvSpPr txBox="1"/>
          <p:nvPr/>
        </p:nvSpPr>
        <p:spPr>
          <a:xfrm>
            <a:off x="662091" y="651942"/>
            <a:ext cx="9793817" cy="53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monitor DiningPhilosophers</a:t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void putdown (int i) { 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 state[i] = THINKING;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// test left and right neighbors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  test((i + 4) % 5);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  test((i + 1) % 5);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</p:txBody>
      </p:sp>
      <p:sp>
        <p:nvSpPr>
          <p:cNvPr id="3549" name="Google Shape;3549;p236"/>
          <p:cNvSpPr/>
          <p:nvPr/>
        </p:nvSpPr>
        <p:spPr>
          <a:xfrm>
            <a:off x="7294359" y="1644345"/>
            <a:ext cx="21063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Put down chopsticks</a:t>
            </a:r>
            <a:endParaRPr/>
          </a:p>
        </p:txBody>
      </p:sp>
      <p:sp>
        <p:nvSpPr>
          <p:cNvPr id="3550" name="Google Shape;3550;p236"/>
          <p:cNvSpPr/>
          <p:nvPr/>
        </p:nvSpPr>
        <p:spPr>
          <a:xfrm>
            <a:off x="4621857" y="1644345"/>
            <a:ext cx="2556865" cy="18466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570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1" name="Google Shape;3551;p236"/>
          <p:cNvSpPr/>
          <p:nvPr/>
        </p:nvSpPr>
        <p:spPr>
          <a:xfrm>
            <a:off x="5827295" y="2987642"/>
            <a:ext cx="6096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right neighbor R=(i+1)%5 is hungry and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 both of R’s neighbors are not eating,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set R’s state to eating and wake up neighbour R by  signaling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3552" name="Google Shape;3552;p236"/>
          <p:cNvSpPr/>
          <p:nvPr/>
        </p:nvSpPr>
        <p:spPr>
          <a:xfrm>
            <a:off x="4280567" y="3159676"/>
            <a:ext cx="1018966" cy="18466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570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E DINING PHILOSOPHERS PROBLEM" id="3553" name="Google Shape;3553;p236"/>
          <p:cNvPicPr preferRelativeResize="0"/>
          <p:nvPr/>
        </p:nvPicPr>
        <p:blipFill rotWithShape="1">
          <a:blip r:embed="rId7">
            <a:alphaModFix/>
          </a:blip>
          <a:srcRect b="0" l="0" r="32971" t="0"/>
          <a:stretch/>
        </p:blipFill>
        <p:spPr>
          <a:xfrm>
            <a:off x="9749786" y="403601"/>
            <a:ext cx="2370653" cy="2855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7" name="Shape 3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8" name="Google Shape;3558;p237"/>
          <p:cNvSpPr txBox="1"/>
          <p:nvPr>
            <p:ph type="title"/>
          </p:nvPr>
        </p:nvSpPr>
        <p:spPr>
          <a:xfrm>
            <a:off x="375710" y="-22923"/>
            <a:ext cx="11395912" cy="555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Monitor Solution to Dining Philosophers </a:t>
            </a:r>
            <a:endParaRPr sz="3200"/>
          </a:p>
        </p:txBody>
      </p:sp>
      <p:pic>
        <p:nvPicPr>
          <p:cNvPr id="3559" name="Google Shape;3559;p2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0" name="Google Shape;3560;p2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561" name="Google Shape;3561;p237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562" name="Google Shape;3562;p237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563" name="Google Shape;3563;p2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564" name="Google Shape;3564;p2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565" name="Google Shape;3565;p2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566" name="Google Shape;3566;p2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67" name="Google Shape;3567;p237"/>
          <p:cNvSpPr txBox="1"/>
          <p:nvPr/>
        </p:nvSpPr>
        <p:spPr>
          <a:xfrm>
            <a:off x="0" y="944563"/>
            <a:ext cx="12191999" cy="526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void test (int i) { 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  if ((state[(i + 4) % 5] != EATING) &amp;&amp; (state[i] == HUNGRY) &amp;&amp;(state[(i + 1) % 5] != EATING) ) { 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       state[i] = EATING ;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    self[i].signal () ;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  }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initialization_code() { 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 for (int i = 0; i &lt; 5; i++)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  state[i] = THINKING;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    }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3568" name="Google Shape;3568;p237"/>
          <p:cNvSpPr/>
          <p:nvPr/>
        </p:nvSpPr>
        <p:spPr>
          <a:xfrm>
            <a:off x="8065827" y="2055237"/>
            <a:ext cx="3927666" cy="187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her two neighbors are not eating and she is hungry</a:t>
            </a:r>
            <a:endParaRPr/>
          </a:p>
          <a:p>
            <a:pPr indent="-342900" lvl="2" marL="12573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I.E. if my left and right neighbors are not eating 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her state as eating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9" name="Google Shape;3569;p237"/>
          <p:cNvSpPr/>
          <p:nvPr/>
        </p:nvSpPr>
        <p:spPr>
          <a:xfrm>
            <a:off x="7165075" y="2100472"/>
            <a:ext cx="1255594" cy="30870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570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0" name="Google Shape;3570;p237"/>
          <p:cNvSpPr/>
          <p:nvPr/>
        </p:nvSpPr>
        <p:spPr>
          <a:xfrm>
            <a:off x="7165075" y="3932674"/>
            <a:ext cx="3927666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signal() has no effect during Pickup(), 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but is important to wake up waiting hungry philosophers during Putdown()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4" name="Shape 3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5" name="Google Shape;3575;p238"/>
          <p:cNvSpPr txBox="1"/>
          <p:nvPr>
            <p:ph type="title"/>
          </p:nvPr>
        </p:nvSpPr>
        <p:spPr>
          <a:xfrm>
            <a:off x="375710" y="-22923"/>
            <a:ext cx="11395912" cy="555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Solution to Dining Philosophers </a:t>
            </a:r>
            <a:endParaRPr sz="3200"/>
          </a:p>
        </p:txBody>
      </p:sp>
      <p:pic>
        <p:nvPicPr>
          <p:cNvPr id="3576" name="Google Shape;3576;p2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7" name="Google Shape;3577;p2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578" name="Google Shape;3578;p238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579" name="Google Shape;3579;p238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580" name="Google Shape;3580;p2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581" name="Google Shape;3581;p2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582" name="Google Shape;3582;p2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583" name="Google Shape;3583;p2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84" name="Google Shape;3584;p238"/>
          <p:cNvSpPr txBox="1"/>
          <p:nvPr/>
        </p:nvSpPr>
        <p:spPr>
          <a:xfrm>
            <a:off x="1219201" y="1090613"/>
            <a:ext cx="9927167" cy="526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philosopher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invokes the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operations </a:t>
            </a:r>
            <a:r>
              <a:rPr b="1"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pickup()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putdown()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following sequence: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r>
              <a:rPr b="1"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DiningPhilosophers.pickup(i)</a:t>
            </a:r>
            <a:r>
              <a:rPr b="1" lang="en-US" sz="2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EAT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lang="en-US" sz="2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r>
              <a:rPr b="1"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DiningPhilosophers.putdown(i)</a:t>
            </a:r>
            <a:r>
              <a:rPr b="1" lang="en-US" sz="2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deadlock, but starvation is possible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ct val="100000"/>
              <a:buFont typeface="Arial"/>
              <a:buNone/>
            </a:pPr>
            <a:r>
              <a:rPr i="1" lang="en-US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8" name="Shape 3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9" name="Google Shape;3589;p239"/>
          <p:cNvSpPr txBox="1"/>
          <p:nvPr>
            <p:ph type="title"/>
          </p:nvPr>
        </p:nvSpPr>
        <p:spPr>
          <a:xfrm>
            <a:off x="375710" y="-22923"/>
            <a:ext cx="11395912" cy="555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Solution to Dining Philosophers </a:t>
            </a:r>
            <a:endParaRPr sz="3200"/>
          </a:p>
        </p:txBody>
      </p:sp>
      <p:pic>
        <p:nvPicPr>
          <p:cNvPr id="3590" name="Google Shape;3590;p2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1" name="Google Shape;3591;p2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592" name="Google Shape;3592;p239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593" name="Google Shape;3593;p239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594" name="Google Shape;3594;p2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595" name="Google Shape;3595;p2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596" name="Google Shape;3596;p2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597" name="Google Shape;3597;p2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98" name="Google Shape;3598;p239"/>
          <p:cNvSpPr txBox="1"/>
          <p:nvPr/>
        </p:nvSpPr>
        <p:spPr>
          <a:xfrm>
            <a:off x="1219201" y="1090613"/>
            <a:ext cx="9927167" cy="526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philosopher, before starting to eat, must invoke the operation pickup().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act may result in the suspension of the philosopher process.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the successful completion of the operation, the philosopher may eat.</a:t>
            </a:r>
            <a:endParaRPr/>
          </a:p>
          <a:p>
            <a:pPr indent="-762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eating, philosopher invokes putdown() and start to think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i="1" lang="en-US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2" name="Shape 3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3" name="Google Shape;3603;p240"/>
          <p:cNvSpPr txBox="1"/>
          <p:nvPr>
            <p:ph type="title"/>
          </p:nvPr>
        </p:nvSpPr>
        <p:spPr>
          <a:xfrm>
            <a:off x="375710" y="-22923"/>
            <a:ext cx="11395912" cy="5551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Solution to Dining Philosophers </a:t>
            </a:r>
            <a:endParaRPr sz="3200"/>
          </a:p>
        </p:txBody>
      </p:sp>
      <p:pic>
        <p:nvPicPr>
          <p:cNvPr id="3604" name="Google Shape;3604;p2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5880674" y="567534"/>
            <a:ext cx="385984" cy="1223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5" name="Google Shape;3605;p2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4533653" y="1754134"/>
            <a:ext cx="176409" cy="933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3606" name="Google Shape;3606;p240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28421" y="5610533"/>
            <a:ext cx="968545" cy="721920"/>
          </a:xfrm>
          <a:prstGeom prst="rect">
            <a:avLst/>
          </a:prstGeom>
          <a:noFill/>
          <a:ln>
            <a:noFill/>
          </a:ln>
        </p:spPr>
      </p:pic>
      <p:sp>
        <p:nvSpPr>
          <p:cNvPr id="3607" name="Google Shape;3607;p240"/>
          <p:cNvSpPr txBox="1"/>
          <p:nvPr/>
        </p:nvSpPr>
        <p:spPr>
          <a:xfrm>
            <a:off x="669758" y="991614"/>
            <a:ext cx="10315074" cy="4017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descr="A picture containing drawing&#10;&#10;Description automatically generated" id="3608" name="Google Shape;3608;p2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014" y="5440809"/>
            <a:ext cx="3245736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3609" name="Google Shape;3609;p2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10/7/2024</a:t>
            </a:r>
            <a:endParaRPr/>
          </a:p>
        </p:txBody>
      </p:sp>
      <p:sp>
        <p:nvSpPr>
          <p:cNvPr id="3610" name="Google Shape;3610;p2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611" name="Google Shape;3611;p2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12" name="Google Shape;3612;p240"/>
          <p:cNvSpPr txBox="1"/>
          <p:nvPr/>
        </p:nvSpPr>
        <p:spPr>
          <a:xfrm>
            <a:off x="1219201" y="1090613"/>
            <a:ext cx="9927167" cy="526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Execution of Pickup(), Putdown() and test() are all mutually exclusive, i.e. only one at a time can be executing</a:t>
            </a:r>
            <a:endParaRPr/>
          </a:p>
          <a:p>
            <a:pPr indent="-508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2 neighbors are eating simultaneously </a:t>
            </a:r>
            <a:endParaRPr/>
          </a:p>
          <a:p>
            <a:pPr indent="-508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No deadlock, but starvation is possible</a:t>
            </a:r>
            <a:endParaRPr/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FF"/>
              </a:buClr>
              <a:buSzPts val="2800"/>
              <a:buFont typeface="Arial"/>
              <a:buNone/>
            </a:pPr>
            <a:r>
              <a:rPr i="1" lang="en-US" sz="2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2020-04-30T07:52:47Z</dcterms:created>
  <dc:creator>Aditi  Rajani</dc:creator>
</cp:coreProperties>
</file>